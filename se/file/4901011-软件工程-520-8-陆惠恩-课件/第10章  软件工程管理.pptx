
<file path=[Content_Types].xml><?xml version="1.0" encoding="utf-8"?>
<Types xmlns="http://schemas.openxmlformats.org/package/2006/content-types">
  <Override PartName="/ppt/slides/slide47.xml" ContentType="application/vnd.openxmlformats-officedocument.presentationml.slide+xml"/>
  <Override PartName="/ppt/slides/slide94.xml" ContentType="application/vnd.openxmlformats-officedocument.presentationml.slide+xml"/>
  <Override PartName="/ppt/tags/tag8.xml" ContentType="application/vnd.openxmlformats-officedocument.presentationml.tags+xml"/>
  <Override PartName="/ppt/tags/tag140.xml" ContentType="application/vnd.openxmlformats-officedocument.presentationml.tags+xml"/>
  <Override PartName="/ppt/tags/tag238.xml" ContentType="application/vnd.openxmlformats-officedocument.presentationml.tags+xml"/>
  <Override PartName="/ppt/tags/tag285.xml" ContentType="application/vnd.openxmlformats-officedocument.presentationml.tags+xml"/>
  <Override PartName="/ppt/slides/slide120.xml" ContentType="application/vnd.openxmlformats-officedocument.presentationml.slide+xml"/>
  <Override PartName="/ppt/notesSlides/notesSlide38.xml" ContentType="application/vnd.openxmlformats-officedocument.presentationml.notesSlide+xml"/>
  <Override PartName="/ppt/tags/tag424.xml" ContentType="application/vnd.openxmlformats-officedocument.presentationml.tags+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tags/tag216.xml" ContentType="application/vnd.openxmlformats-officedocument.presentationml.tags+xml"/>
  <Override PartName="/ppt/tags/tag263.xml" ContentType="application/vnd.openxmlformats-officedocument.presentationml.tags+xml"/>
  <Override PartName="/ppt/tags/tag402.xml" ContentType="application/vnd.openxmlformats-officedocument.presentationml.tags+xml"/>
  <Default Extension="xml" ContentType="application/xml"/>
  <Override PartName="/ppt/slides/slide50.xml" ContentType="application/vnd.openxmlformats-officedocument.presentationml.slide+xml"/>
  <Override PartName="/ppt/tags/tag38.xml" ContentType="application/vnd.openxmlformats-officedocument.presentationml.tags+xml"/>
  <Override PartName="/ppt/tags/tag85.xml" ContentType="application/vnd.openxmlformats-officedocument.presentationml.tags+xml"/>
  <Override PartName="/ppt/notesSlides/notesSlide16.xml" ContentType="application/vnd.openxmlformats-officedocument.presentationml.notesSlide+xml"/>
  <Override PartName="/ppt/tags/tag241.xml" ContentType="application/vnd.openxmlformats-officedocument.presentationml.tags+xml"/>
  <Override PartName="/ppt/notesSlides/notesSlide63.xml" ContentType="application/vnd.openxmlformats-officedocument.presentationml.notesSlide+xml"/>
  <Override PartName="/ppt/tags/tag339.xml" ContentType="application/vnd.openxmlformats-officedocument.presentationml.tags+xml"/>
  <Override PartName="/ppt/tags/tag386.xml" ContentType="application/vnd.openxmlformats-officedocument.presentationml.tags+xml"/>
  <Override PartName="/ppt/tags/tag16.xml" ContentType="application/vnd.openxmlformats-officedocument.presentationml.tags+xml"/>
  <Override PartName="/ppt/tags/tag63.xml" ContentType="application/vnd.openxmlformats-officedocument.presentationml.tags+xml"/>
  <Override PartName="/ppt/tags/tag178.xml" ContentType="application/vnd.openxmlformats-officedocument.presentationml.tags+xml"/>
  <Override PartName="/ppt/notesSlides/notesSlide41.xml" ContentType="application/vnd.openxmlformats-officedocument.presentationml.notesSlide+xml"/>
  <Override PartName="/ppt/tags/tag317.xml" ContentType="application/vnd.openxmlformats-officedocument.presentationml.tags+xml"/>
  <Override PartName="/ppt/tags/tag364.xml" ContentType="application/vnd.openxmlformats-officedocument.presentationml.tags+xml"/>
  <Override PartName="/ppt/tags/tag109.xml" ContentType="application/vnd.openxmlformats-officedocument.presentationml.tags+xml"/>
  <Override PartName="/ppt/tags/tag156.xml" ContentType="application/vnd.openxmlformats-officedocument.presentationml.tags+xml"/>
  <Override PartName="/ppt/tags/tag41.xml" ContentType="application/vnd.openxmlformats-officedocument.presentationml.tags+xml"/>
  <Override PartName="/ppt/notesSlides/notesSlide7.xml" ContentType="application/vnd.openxmlformats-officedocument.presentationml.notesSlide+xml"/>
  <Override PartName="/ppt/tags/tag279.xml" ContentType="application/vnd.openxmlformats-officedocument.presentationml.tags+xml"/>
  <Override PartName="/ppt/tags/tag342.xml" ContentType="application/vnd.openxmlformats-officedocument.presentationml.tags+xml"/>
  <Override PartName="/ppt/slides/slide88.xml" ContentType="application/vnd.openxmlformats-officedocument.presentationml.slide+xml"/>
  <Override PartName="/ppt/tags/tag134.xml" ContentType="application/vnd.openxmlformats-officedocument.presentationml.tags+xml"/>
  <Override PartName="/ppt/tags/tag181.xml" ContentType="application/vnd.openxmlformats-officedocument.presentationml.tags+xml"/>
  <Override PartName="/ppt/tags/tag320.xml" ContentType="application/vnd.openxmlformats-officedocument.presentationml.tags+xml"/>
  <Override PartName="/ppt/tags/tag418.xml" ContentType="application/vnd.openxmlformats-officedocument.presentationml.tags+xml"/>
  <Override PartName="/ppt/slides/slide19.xml" ContentType="application/vnd.openxmlformats-officedocument.presentationml.slide+xml"/>
  <Override PartName="/ppt/slides/slide66.xml" ContentType="application/vnd.openxmlformats-officedocument.presentationml.slide+xml"/>
  <Override PartName="/ppt/slides/slide114.xml" ContentType="application/vnd.openxmlformats-officedocument.presentationml.slide+xml"/>
  <Default Extension="png" ContentType="image/png"/>
  <Override PartName="/ppt/tags/tag112.xml" ContentType="application/vnd.openxmlformats-officedocument.presentationml.tags+xml"/>
  <Override PartName="/ppt/tags/tag257.xml" ContentType="application/vnd.openxmlformats-officedocument.presentationml.tags+xml"/>
  <Override PartName="/ppt/notesSlides/notesSlide79.xml" ContentType="application/vnd.openxmlformats-officedocument.presentationml.notesSlide+xml"/>
  <Override PartName="/ppt/slideLayouts/slideLayout18.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79.xml" ContentType="application/vnd.openxmlformats-officedocument.presentationml.tags+xml"/>
  <Override PartName="/ppt/notesSlides/notesSlide57.xml" ContentType="application/vnd.openxmlformats-officedocument.presentationml.notesSlide+xml"/>
  <Override PartName="/ppt/tags/tag443.xml" ContentType="application/vnd.openxmlformats-officedocument.presentationml.tags+xml"/>
  <Override PartName="/ppt/slides/slide44.xml" ContentType="application/vnd.openxmlformats-officedocument.presentationml.slide+xml"/>
  <Override PartName="/ppt/slides/slide91.xml" ContentType="application/vnd.openxmlformats-officedocument.presentationml.slide+xml"/>
  <Default Extension="emf" ContentType="image/x-emf"/>
  <Override PartName="/ppt/tags/tag235.xml" ContentType="application/vnd.openxmlformats-officedocument.presentationml.tags+xml"/>
  <Override PartName="/ppt/tags/tag282.xml" ContentType="application/vnd.openxmlformats-officedocument.presentationml.tags+xml"/>
  <Override PartName="/ppt/tags/tag421.xml" ContentType="application/vnd.openxmlformats-officedocument.presentationml.tags+xml"/>
  <Override PartName="/ppt/slides/slide22.xml" ContentType="application/vnd.openxmlformats-officedocument.presentationml.slide+xml"/>
  <Override PartName="/ppt/tags/tag57.xml" ContentType="application/vnd.openxmlformats-officedocument.presentationml.tags+xml"/>
  <Override PartName="/ppt/notesSlides/notesSlide35.xml" ContentType="application/vnd.openxmlformats-officedocument.presentationml.notesSlide+xml"/>
  <Override PartName="/ppt/tags/tag213.xml" ContentType="application/vnd.openxmlformats-officedocument.presentationml.tags+xml"/>
  <Override PartName="/ppt/tags/tag260.xml" ContentType="application/vnd.openxmlformats-officedocument.presentationml.tags+xml"/>
  <Override PartName="/ppt/tags/tag358.xml" ContentType="application/vnd.openxmlformats-officedocument.presentationml.tags+xml"/>
  <Override PartName="/ppt/notesSlides/notesSlide82.xml" ContentType="application/vnd.openxmlformats-officedocument.presentationml.notesSlide+xml"/>
  <Override PartName="/ppt/slideLayouts/slideLayout21.xml" ContentType="application/vnd.openxmlformats-officedocument.presentationml.slideLayout+xml"/>
  <Override PartName="/ppt/tags/tag35.xml" ContentType="application/vnd.openxmlformats-officedocument.presentationml.tags+xml"/>
  <Override PartName="/ppt/tags/tag82.xml" ContentType="application/vnd.openxmlformats-officedocument.presentationml.tags+xml"/>
  <Override PartName="/ppt/notesSlides/notesSlide13.xml" ContentType="application/vnd.openxmlformats-officedocument.presentationml.notesSlide+xml"/>
  <Override PartName="/ppt/tags/tag197.xml" ContentType="application/vnd.openxmlformats-officedocument.presentationml.tags+xml"/>
  <Override PartName="/ppt/notesSlides/notesSlide60.xml" ContentType="application/vnd.openxmlformats-officedocument.presentationml.notesSlide+xml"/>
  <Override PartName="/ppt/tags/tag336.xml" ContentType="application/vnd.openxmlformats-officedocument.presentationml.tags+xml"/>
  <Override PartName="/ppt/tags/tag383.xml" ContentType="application/vnd.openxmlformats-officedocument.presentationml.tags+xml"/>
  <Override PartName="/ppt/tags/tag128.xml" ContentType="application/vnd.openxmlformats-officedocument.presentationml.tags+xml"/>
  <Override PartName="/ppt/tags/tag175.xml" ContentType="application/vnd.openxmlformats-officedocument.presentationml.tags+xml"/>
  <Override PartName="/ppt/slides/slide108.xml" ContentType="application/vnd.openxmlformats-officedocument.presentationml.slide+xml"/>
  <Override PartName="/ppt/tags/tag13.xml" ContentType="application/vnd.openxmlformats-officedocument.presentationml.tags+xml"/>
  <Override PartName="/ppt/tags/tag60.xml" ContentType="application/vnd.openxmlformats-officedocument.presentationml.tags+xml"/>
  <Override PartName="/ppt/tags/tag298.xml" ContentType="application/vnd.openxmlformats-officedocument.presentationml.tags+xml"/>
  <Override PartName="/ppt/tags/tag314.xml" ContentType="application/vnd.openxmlformats-officedocument.presentationml.tags+xml"/>
  <Override PartName="/ppt/tags/tag361.xml" ContentType="application/vnd.openxmlformats-officedocument.presentationml.tags+xml"/>
  <Override PartName="/ppt/notesSlides/notesSlide4.xml" ContentType="application/vnd.openxmlformats-officedocument.presentationml.notesSlide+xml"/>
  <Override PartName="/ppt/tags/tag106.xml" ContentType="application/vnd.openxmlformats-officedocument.presentationml.tags+xml"/>
  <Override PartName="/ppt/tags/tag153.xml" ContentType="application/vnd.openxmlformats-officedocument.presentationml.tags+xml"/>
  <Override PartName="/ppt/tags/tag437.xml" ContentType="application/vnd.openxmlformats-officedocument.presentationml.tags+xml"/>
  <Override PartName="/ppt/slides/slide38.xml" ContentType="application/vnd.openxmlformats-officedocument.presentationml.slide+xml"/>
  <Override PartName="/ppt/slides/slide85.xml" ContentType="application/vnd.openxmlformats-officedocument.presentationml.slide+xml"/>
  <Override PartName="/ppt/tags/tag131.xml" ContentType="application/vnd.openxmlformats-officedocument.presentationml.tags+xml"/>
  <Override PartName="/ppt/tags/tag229.xml" ContentType="application/vnd.openxmlformats-officedocument.presentationml.tags+xml"/>
  <Override PartName="/ppt/tags/tag276.xml" ContentType="application/vnd.openxmlformats-officedocument.presentationml.tags+xml"/>
  <Override PartName="/ppt/tags/tag415.xml" ContentType="application/vnd.openxmlformats-officedocument.presentationml.tags+xml"/>
  <Override PartName="/ppt/slides/slide111.xml" ContentType="application/vnd.openxmlformats-officedocument.presentationml.slide+xml"/>
  <Override PartName="/ppt/tags/tag98.xml" ContentType="application/vnd.openxmlformats-officedocument.presentationml.tags+xml"/>
  <Override PartName="/ppt/notesSlides/notesSlide29.xml" ContentType="application/vnd.openxmlformats-officedocument.presentationml.notesSlide+xml"/>
  <Override PartName="/ppt/tags/tag207.xml" ContentType="application/vnd.openxmlformats-officedocument.presentationml.tags+xml"/>
  <Override PartName="/ppt/tags/tag254.xml" ContentType="application/vnd.openxmlformats-officedocument.presentationml.tags+xml"/>
  <Override PartName="/ppt/tags/tag399.xml" ContentType="application/vnd.openxmlformats-officedocument.presentationml.tags+xml"/>
  <Override PartName="/ppt/notesSlides/notesSlide76.xml" ContentType="application/vnd.openxmlformats-officedocument.presentationml.notesSlide+xml"/>
  <Override PartName="/ppt/slides/slide16.xml" ContentType="application/vnd.openxmlformats-officedocument.presentationml.slide+xml"/>
  <Override PartName="/ppt/slides/slide63.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Override PartName="/ppt/tags/tag440.xml" ContentType="application/vnd.openxmlformats-officedocument.presentationml.tags+xml"/>
  <Override PartName="/ppt/slides/slide41.xml" ContentType="application/vnd.openxmlformats-officedocument.presentationml.slide+xml"/>
  <Override PartName="/ppt/tags/tag29.xml" ContentType="application/vnd.openxmlformats-officedocument.presentationml.tags+xml"/>
  <Override PartName="/ppt/tags/tag76.xml" ContentType="application/vnd.openxmlformats-officedocument.presentationml.tags+xml"/>
  <Override PartName="/ppt/tags/tag232.xml" ContentType="application/vnd.openxmlformats-officedocument.presentationml.tags+xml"/>
  <Override PartName="/ppt/notesSlides/notesSlide54.xml" ContentType="application/vnd.openxmlformats-officedocument.presentationml.notesSlide+xml"/>
  <Override PartName="/ppt/tags/tag377.xml" ContentType="application/vnd.openxmlformats-officedocument.presentationml.tags+xml"/>
  <Override PartName="/ppt/tags/tag54.xml" ContentType="application/vnd.openxmlformats-officedocument.presentationml.tags+xml"/>
  <Override PartName="/ppt/notesSlides/notesSlide32.xml" ContentType="application/vnd.openxmlformats-officedocument.presentationml.notesSlide+xml"/>
  <Override PartName="/ppt/tags/tag169.xml" ContentType="application/vnd.openxmlformats-officedocument.presentationml.tags+xml"/>
  <Override PartName="/ppt/tags/tag210.xml" ContentType="application/vnd.openxmlformats-officedocument.presentationml.tags+xml"/>
  <Override PartName="/ppt/tags/tag308.xml" ContentType="application/vnd.openxmlformats-officedocument.presentationml.tags+xml"/>
  <Override PartName="/ppt/tags/tag355.xml" ContentType="application/vnd.openxmlformats-officedocument.presentationml.tags+xml"/>
  <Override PartName="/ppt/tags/tag147.xml" ContentType="application/vnd.openxmlformats-officedocument.presentationml.tags+xml"/>
  <Override PartName="/ppt/tags/tag194.xml" ContentType="application/vnd.openxmlformats-officedocument.presentationml.tags+xml"/>
  <Override PartName="/ppt/slides/slide79.xml" ContentType="application/vnd.openxmlformats-officedocument.presentationml.slide+xml"/>
  <Override PartName="/ppt/slides/slide127.xml" ContentType="application/vnd.openxmlformats-officedocument.presentationml.slide+xml"/>
  <Override PartName="/ppt/tags/tag32.xml" ContentType="application/vnd.openxmlformats-officedocument.presentationml.tags+xml"/>
  <Override PartName="/ppt/notesSlides/notesSlide10.xml" ContentType="application/vnd.openxmlformats-officedocument.presentationml.notesSlide+xml"/>
  <Override PartName="/ppt/tags/tag333.xml" ContentType="application/vnd.openxmlformats-officedocument.presentationml.tags+xml"/>
  <Override PartName="/ppt/tags/tag380.xml" ContentType="application/vnd.openxmlformats-officedocument.presentationml.tags+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125.xml" ContentType="application/vnd.openxmlformats-officedocument.presentationml.tags+xml"/>
  <Override PartName="/ppt/tags/tag172.xml" ContentType="application/vnd.openxmlformats-officedocument.presentationml.tags+xml"/>
  <Override PartName="/ppt/tags/tag311.xml" ContentType="application/vnd.openxmlformats-officedocument.presentationml.tags+xml"/>
  <Override PartName="/ppt/tags/tag409.xml" ContentType="application/vnd.openxmlformats-officedocument.presentationml.tags+xml"/>
  <Override PartName="/ppt/slideMasters/slideMaster2.xml" ContentType="application/vnd.openxmlformats-officedocument.presentationml.slideMaster+xml"/>
  <Override PartName="/ppt/slides/slide57.xml" ContentType="application/vnd.openxmlformats-officedocument.presentationml.slide+xml"/>
  <Override PartName="/ppt/slides/slide105.xml" ContentType="application/vnd.openxmlformats-officedocument.presentationml.slide+xml"/>
  <Override PartName="/ppt/notesSlides/notesSlide1.xml" ContentType="application/vnd.openxmlformats-officedocument.presentationml.notesSlide+xml"/>
  <Override PartName="/ppt/tags/tag103.xml" ContentType="application/vnd.openxmlformats-officedocument.presentationml.tags+xml"/>
  <Override PartName="/ppt/tags/tag150.xml" ContentType="application/vnd.openxmlformats-officedocument.presentationml.tags+xml"/>
  <Override PartName="/ppt/tags/tag248.xml" ContentType="application/vnd.openxmlformats-officedocument.presentationml.tags+xml"/>
  <Override PartName="/ppt/tags/tag295.xml" ContentType="application/vnd.openxmlformats-officedocument.presentationml.tags+xml"/>
  <Override PartName="/ppt/tags/tag434.xml" ContentType="application/vnd.openxmlformats-officedocument.presentationml.tags+xml"/>
  <Override PartName="/ppt/slides/slide130.xml" ContentType="application/vnd.openxmlformats-officedocument.presentationml.slide+xml"/>
  <Override PartName="/ppt/notesSlides/notesSlide48.xml" ContentType="application/vnd.openxmlformats-officedocument.presentationml.notesSlide+xml"/>
  <Override PartName="/ppt/tags/tag226.xml" ContentType="application/vnd.openxmlformats-officedocument.presentationml.tags+xml"/>
  <Override PartName="/ppt/tags/tag273.xml" ContentType="application/vnd.openxmlformats-officedocument.presentationml.tags+xml"/>
  <Override PartName="/ppt/slides/slide35.xml" ContentType="application/vnd.openxmlformats-officedocument.presentationml.slide+xml"/>
  <Override PartName="/ppt/slides/slide82.xml" ContentType="application/vnd.openxmlformats-officedocument.presentationml.slide+xml"/>
  <Override PartName="/ppt/tags/tag412.xml" ContentType="application/vnd.openxmlformats-officedocument.presentationml.tags+xml"/>
  <Override PartName="/ppt/slides/slide13.xml" ContentType="application/vnd.openxmlformats-officedocument.presentationml.slide+xml"/>
  <Override PartName="/ppt/slides/slide60.xml" ContentType="application/vnd.openxmlformats-officedocument.presentationml.slide+xml"/>
  <Override PartName="/ppt/tags/tag48.xml" ContentType="application/vnd.openxmlformats-officedocument.presentationml.tags+xml"/>
  <Override PartName="/ppt/tags/tag95.xml" ContentType="application/vnd.openxmlformats-officedocument.presentationml.tags+xml"/>
  <Override PartName="/ppt/notesSlides/notesSlide26.xml" ContentType="application/vnd.openxmlformats-officedocument.presentationml.notesSlide+xml"/>
  <Override PartName="/ppt/tags/tag188.xml" ContentType="application/vnd.openxmlformats-officedocument.presentationml.tags+xml"/>
  <Override PartName="/ppt/tags/tag204.xml" ContentType="application/vnd.openxmlformats-officedocument.presentationml.tags+xml"/>
  <Override PartName="/ppt/tags/tag251.xml" ContentType="application/vnd.openxmlformats-officedocument.presentationml.tags+xml"/>
  <Override PartName="/ppt/notesSlides/notesSlide73.xml" ContentType="application/vnd.openxmlformats-officedocument.presentationml.notesSlide+xml"/>
  <Override PartName="/ppt/tags/tag349.xml" ContentType="application/vnd.openxmlformats-officedocument.presentationml.tags+xml"/>
  <Override PartName="/ppt/tags/tag396.xml" ContentType="application/vnd.openxmlformats-officedocument.presentationml.tags+xml"/>
  <Override PartName="/ppt/slideLayouts/slideLayout12.xml" ContentType="application/vnd.openxmlformats-officedocument.presentationml.slideLayout+xml"/>
  <Override PartName="/ppt/tags/tag26.xml" ContentType="application/vnd.openxmlformats-officedocument.presentationml.tags+xml"/>
  <Override PartName="/ppt/tags/tag73.xml" ContentType="application/vnd.openxmlformats-officedocument.presentationml.tags+xml"/>
  <Override PartName="/ppt/notesSlides/notesSlide51.xml" ContentType="application/vnd.openxmlformats-officedocument.presentationml.notesSlide+xml"/>
  <Override PartName="/ppt/tags/tag327.xml" ContentType="application/vnd.openxmlformats-officedocument.presentationml.tags+xml"/>
  <Override PartName="/ppt/tags/tag374.xml" ContentType="application/vnd.openxmlformats-officedocument.presentationml.tags+xml"/>
  <Override PartName="/ppt/tags/tag119.xml" ContentType="application/vnd.openxmlformats-officedocument.presentationml.tags+xml"/>
  <Override PartName="/ppt/tags/tag166.xml" ContentType="application/vnd.openxmlformats-officedocument.presentationml.tags+xml"/>
  <Override PartName="/ppt/slides/slide98.xml" ContentType="application/vnd.openxmlformats-officedocument.presentationml.slide+xml"/>
  <Override PartName="/ppt/tags/tag51.xml" ContentType="application/vnd.openxmlformats-officedocument.presentationml.tags+xml"/>
  <Override PartName="/ppt/tags/tag289.xml" ContentType="application/vnd.openxmlformats-officedocument.presentationml.tags+xml"/>
  <Override PartName="/ppt/tags/tag305.xml" ContentType="application/vnd.openxmlformats-officedocument.presentationml.tags+xml"/>
  <Override PartName="/ppt/tags/tag352.xml" ContentType="application/vnd.openxmlformats-officedocument.presentationml.tags+xml"/>
  <Override PartName="/ppt/slides/slide124.xml" ContentType="application/vnd.openxmlformats-officedocument.presentationml.slide+xml"/>
  <Override PartName="/ppt/tags/tag144.xml" ContentType="application/vnd.openxmlformats-officedocument.presentationml.tags+xml"/>
  <Override PartName="/ppt/tags/tag191.xml" ContentType="application/vnd.openxmlformats-officedocument.presentationml.tags+xml"/>
  <Override PartName="/ppt/tags/tag330.xml" ContentType="application/vnd.openxmlformats-officedocument.presentationml.tags+xml"/>
  <Override PartName="/ppt/tags/tag428.xml" ContentType="application/vnd.openxmlformats-officedocument.presentationml.tags+xml"/>
  <Override PartName="/ppt/slides/slide29.xml" ContentType="application/vnd.openxmlformats-officedocument.presentationml.slide+xml"/>
  <Override PartName="/ppt/slides/slide76.xml" ContentType="application/vnd.openxmlformats-officedocument.presentationml.slide+xml"/>
  <Override PartName="/ppt/tags/tag122.xml" ContentType="application/vnd.openxmlformats-officedocument.presentationml.tags+xml"/>
  <Override PartName="/ppt/tags/tag267.xml" ContentType="application/vnd.openxmlformats-officedocument.presentationml.tags+xml"/>
  <Override PartName="/ppt/tags/tag406.xml" ContentType="application/vnd.openxmlformats-officedocument.presentationml.tags+xml"/>
  <Override PartName="/ppt/slides/slide4.xml" ContentType="application/vnd.openxmlformats-officedocument.presentationml.slide+xml"/>
  <Override PartName="/ppt/slides/slide54.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tags/tag89.xml" ContentType="application/vnd.openxmlformats-officedocument.presentationml.tags+xml"/>
  <Override PartName="/ppt/tags/tag245.xml" ContentType="application/vnd.openxmlformats-officedocument.presentationml.tags+xml"/>
  <Override PartName="/ppt/notesSlides/notesSlide67.xml" ContentType="application/vnd.openxmlformats-officedocument.presentationml.notesSlide+xml"/>
  <Override PartName="/ppt/tags/tag292.xml" ContentType="application/vnd.openxmlformats-officedocument.presentationml.tags+xml"/>
  <Override PartName="/ppt/tags/tag100.xml" ContentType="application/vnd.openxmlformats-officedocument.presentationml.tags+xml"/>
  <Override PartName="/ppt/notesSlides/notesSlide45.xml" ContentType="application/vnd.openxmlformats-officedocument.presentationml.notesSlide+xml"/>
  <Override PartName="/ppt/tags/tag368.xml" ContentType="application/vnd.openxmlformats-officedocument.presentationml.tags+xml"/>
  <Override PartName="/ppt/tags/tag431.xml" ContentType="application/vnd.openxmlformats-officedocument.presentationml.tags+xml"/>
  <Override PartName="/ppt/slides/slide32.xml" ContentType="application/vnd.openxmlformats-officedocument.presentationml.slide+xml"/>
  <Override PartName="/ppt/tags/tag67.xml" ContentType="application/vnd.openxmlformats-officedocument.presentationml.tags+xml"/>
  <Override PartName="/ppt/tags/tag223.xml" ContentType="application/vnd.openxmlformats-officedocument.presentationml.tags+xml"/>
  <Override PartName="/ppt/tags/tag270.xml" ContentType="application/vnd.openxmlformats-officedocument.presentationml.tags+xml"/>
  <Override PartName="/ppt/slides/slide10.xml" ContentType="application/vnd.openxmlformats-officedocument.presentationml.slide+xml"/>
  <Override PartName="/ppt/tags/tag45.xml" ContentType="application/vnd.openxmlformats-officedocument.presentationml.tags+xml"/>
  <Override PartName="/ppt/tags/tag92.xml" ContentType="application/vnd.openxmlformats-officedocument.presentationml.tags+xml"/>
  <Override PartName="/ppt/notesSlides/notesSlide23.xml" ContentType="application/vnd.openxmlformats-officedocument.presentationml.notesSlide+xml"/>
  <Override PartName="/ppt/tags/tag201.xml" ContentType="application/vnd.openxmlformats-officedocument.presentationml.tags+xml"/>
  <Override PartName="/ppt/notesSlides/notesSlide70.xml" ContentType="application/vnd.openxmlformats-officedocument.presentationml.notesSlide+xml"/>
  <Override PartName="/ppt/tags/tag346.xml" ContentType="application/vnd.openxmlformats-officedocument.presentationml.tags+xml"/>
  <Override PartName="/ppt/tags/tag393.xml" ContentType="application/vnd.openxmlformats-officedocument.presentationml.tags+xml"/>
  <Override PartName="/ppt/tags/tag138.xml" ContentType="application/vnd.openxmlformats-officedocument.presentationml.tags+xml"/>
  <Override PartName="/ppt/tags/tag185.xml" ContentType="application/vnd.openxmlformats-officedocument.presentationml.tags+xml"/>
  <Override PartName="/ppt/tags/tag324.xml" ContentType="application/vnd.openxmlformats-officedocument.presentationml.tags+xml"/>
  <Override PartName="/ppt/tags/tag371.xml" ContentType="application/vnd.openxmlformats-officedocument.presentationml.tags+xml"/>
  <Override PartName="/ppt/slides/slide118.xml" ContentType="application/vnd.openxmlformats-officedocument.presentationml.slide+xml"/>
  <Override PartName="/ppt/tags/tag23.xml" ContentType="application/vnd.openxmlformats-officedocument.presentationml.tags+xml"/>
  <Override PartName="/ppt/tags/tag70.xml" ContentType="application/vnd.openxmlformats-officedocument.presentationml.tags+xml"/>
  <Override PartName="/ppt/tags/tag116.xml" ContentType="application/vnd.openxmlformats-officedocument.presentationml.tags+xml"/>
  <Override PartName="/ppt/tags/tag163.xml" ContentType="application/vnd.openxmlformats-officedocument.presentationml.tags+xml"/>
  <Override PartName="/ppt/tags/tag9.xml" ContentType="application/vnd.openxmlformats-officedocument.presentationml.tags+xml"/>
  <Override PartName="/ppt/tags/tag302.xml" ContentType="application/vnd.openxmlformats-officedocument.presentationml.tags+xml"/>
  <Override PartName="/ppt/tags/tag447.xml" ContentType="application/vnd.openxmlformats-officedocument.presentationml.tags+xml"/>
  <Override PartName="/ppt/slides/slide48.xml" ContentType="application/vnd.openxmlformats-officedocument.presentationml.slide+xml"/>
  <Override PartName="/ppt/slides/slide95.xml" ContentType="application/vnd.openxmlformats-officedocument.presentationml.slide+xml"/>
  <Default Extension="bin" ContentType="application/vnd.openxmlformats-officedocument.oleObject"/>
  <Override PartName="/ppt/tags/tag141.xml" ContentType="application/vnd.openxmlformats-officedocument.presentationml.tags+xml"/>
  <Override PartName="/ppt/tags/tag239.xml" ContentType="application/vnd.openxmlformats-officedocument.presentationml.tags+xml"/>
  <Override PartName="/ppt/tags/tag286.xml" ContentType="application/vnd.openxmlformats-officedocument.presentationml.tags+xml"/>
  <Override PartName="/ppt/tags/tag425.xml" ContentType="application/vnd.openxmlformats-officedocument.presentationml.tags+xml"/>
  <Override PartName="/ppt/slides/slide26.xml" ContentType="application/vnd.openxmlformats-officedocument.presentationml.slide+xml"/>
  <Override PartName="/ppt/slides/slide73.xml" ContentType="application/vnd.openxmlformats-officedocument.presentationml.slide+xml"/>
  <Override PartName="/ppt/slides/slide121.xml" ContentType="application/vnd.openxmlformats-officedocument.presentationml.slide+xml"/>
  <Override PartName="/ppt/notesSlides/notesSlide39.xml" ContentType="application/vnd.openxmlformats-officedocument.presentationml.notesSlide+xml"/>
  <Override PartName="/ppt/tags/tag217.xml" ContentType="application/vnd.openxmlformats-officedocument.presentationml.tags+xml"/>
  <Override PartName="/ppt/tags/tag264.xml" ContentType="application/vnd.openxmlformats-officedocument.presentationml.tags+xml"/>
  <Override PartName="/ppt/slides/slide1.xml" ContentType="application/vnd.openxmlformats-officedocument.presentationml.slide+xml"/>
  <Override PartName="/ppt/slideLayouts/slideLayout3.xml" ContentType="application/vnd.openxmlformats-officedocument.presentationml.slideLayout+xml"/>
  <Override PartName="/ppt/tags/tag39.xml" ContentType="application/vnd.openxmlformats-officedocument.presentationml.tags+xml"/>
  <Override PartName="/ppt/tags/tag86.xml" ContentType="application/vnd.openxmlformats-officedocument.presentationml.tags+xml"/>
  <Override PartName="/ppt/notesSlides/notesSlide17.xml" ContentType="application/vnd.openxmlformats-officedocument.presentationml.notesSlide+xml"/>
  <Override PartName="/ppt/notesSlides/notesSlide64.xml" ContentType="application/vnd.openxmlformats-officedocument.presentationml.notesSlide+xml"/>
  <Override PartName="/ppt/tags/tag387.xml" ContentType="application/vnd.openxmlformats-officedocument.presentationml.tags+xml"/>
  <Override PartName="/ppt/tags/tag403.xml" ContentType="application/vnd.openxmlformats-officedocument.presentationml.tags+xml"/>
  <Override PartName="/ppt/tags/tag450.xml" ContentType="application/vnd.openxmlformats-officedocument.presentationml.tags+xml"/>
  <Override PartName="/ppt/slides/slide51.xml" ContentType="application/vnd.openxmlformats-officedocument.presentationml.slide+xml"/>
  <Override PartName="/ppt/tags/tag179.xml" ContentType="application/vnd.openxmlformats-officedocument.presentationml.tags+xml"/>
  <Override PartName="/ppt/tags/tag242.xml" ContentType="application/vnd.openxmlformats-officedocument.presentationml.tags+xml"/>
  <Override PartName="/ppt/tags/tag17.xml" ContentType="application/vnd.openxmlformats-officedocument.presentationml.tags+xml"/>
  <Override PartName="/ppt/tags/tag64.xml" ContentType="application/vnd.openxmlformats-officedocument.presentationml.tags+xml"/>
  <Override PartName="/ppt/notesSlides/notesSlide42.xml" ContentType="application/vnd.openxmlformats-officedocument.presentationml.notesSlide+xml"/>
  <Override PartName="/ppt/tags/tag220.xml" ContentType="application/vnd.openxmlformats-officedocument.presentationml.tags+xml"/>
  <Override PartName="/ppt/tags/tag318.xml" ContentType="application/vnd.openxmlformats-officedocument.presentationml.tags+xml"/>
  <Override PartName="/ppt/tags/tag365.xml" ContentType="application/vnd.openxmlformats-officedocument.presentationml.tags+xml"/>
  <Override PartName="/ppt/notesSlides/notesSlide8.xml" ContentType="application/vnd.openxmlformats-officedocument.presentationml.notesSlide+xml"/>
  <Override PartName="/ppt/notesSlides/notesSlide20.xml" ContentType="application/vnd.openxmlformats-officedocument.presentationml.notesSlide+xml"/>
  <Override PartName="/ppt/tags/tag157.xml" ContentType="application/vnd.openxmlformats-officedocument.presentationml.tags+xml"/>
  <Override PartName="/ppt/tags/tag343.xml" ContentType="application/vnd.openxmlformats-officedocument.presentationml.tags+xml"/>
  <Override PartName="/ppt/tags/tag390.xml" ContentType="application/vnd.openxmlformats-officedocument.presentationml.tags+xml"/>
  <Override PartName="/ppt/slides/slide89.xml" ContentType="application/vnd.openxmlformats-officedocument.presentationml.slide+xml"/>
  <Override PartName="/ppt/tags/tag42.xml" ContentType="application/vnd.openxmlformats-officedocument.presentationml.tags+xml"/>
  <Override PartName="/ppt/tags/tag135.xml" ContentType="application/vnd.openxmlformats-officedocument.presentationml.tags+xml"/>
  <Override PartName="/ppt/tags/tag182.xml" ContentType="application/vnd.openxmlformats-officedocument.presentationml.tags+xml"/>
  <Override PartName="/ppt/slides/slide115.xml" ContentType="application/vnd.openxmlformats-officedocument.presentationml.slide+xml"/>
  <Override PartName="/ppt/tags/tag20.xml" ContentType="application/vnd.openxmlformats-officedocument.presentationml.tags+xml"/>
  <Override PartName="/ppt/tags/tag321.xml" ContentType="application/vnd.openxmlformats-officedocument.presentationml.tags+xml"/>
  <Override PartName="/ppt/tags/tag419.xml" ContentType="application/vnd.openxmlformats-officedocument.presentationml.tags+xml"/>
  <Override PartName="/ppt/slides/slide67.xml" ContentType="application/vnd.openxmlformats-officedocument.presentationml.slide+xml"/>
  <Override PartName="/ppt/slideLayouts/slideLayout19.xml" ContentType="application/vnd.openxmlformats-officedocument.presentationml.slideLayout+xml"/>
  <Override PartName="/ppt/tags/tag6.xml" ContentType="application/vnd.openxmlformats-officedocument.presentationml.tags+xml"/>
  <Override PartName="/ppt/tags/tag113.xml" ContentType="application/vnd.openxmlformats-officedocument.presentationml.tags+xml"/>
  <Override PartName="/ppt/tags/tag160.xml" ContentType="application/vnd.openxmlformats-officedocument.presentationml.tags+xml"/>
  <Override PartName="/ppt/tags/tag258.xml" ContentType="application/vnd.openxmlformats-officedocument.presentationml.tags+xml"/>
  <Override PartName="/ppt/tags/tag444.xml" ContentType="application/vnd.openxmlformats-officedocument.presentationml.tags+xml"/>
  <Override PartName="/ppt/slides/slide45.xml" ContentType="application/vnd.openxmlformats-officedocument.presentationml.slide+xml"/>
  <Override PartName="/ppt/slides/slide92.xml" ContentType="application/vnd.openxmlformats-officedocument.presentationml.slide+xml"/>
  <Override PartName="/ppt/theme/theme3.xml" ContentType="application/vnd.openxmlformats-officedocument.theme+xml"/>
  <Override PartName="/ppt/tags/tag236.xml" ContentType="application/vnd.openxmlformats-officedocument.presentationml.tags+xml"/>
  <Override PartName="/ppt/notesSlides/notesSlide58.xml" ContentType="application/vnd.openxmlformats-officedocument.presentationml.notesSlide+xml"/>
  <Override PartName="/ppt/tags/tag283.xml" ContentType="application/vnd.openxmlformats-officedocument.presentationml.tags+xml"/>
  <Override PartName="/ppt/tags/tag58.xml" ContentType="application/vnd.openxmlformats-officedocument.presentationml.tags+xml"/>
  <Override PartName="/ppt/notesSlides/notesSlide36.xml" ContentType="application/vnd.openxmlformats-officedocument.presentationml.notesSlide+xml"/>
  <Override PartName="/ppt/tags/tag359.xml" ContentType="application/vnd.openxmlformats-officedocument.presentationml.tags+xml"/>
  <Override PartName="/ppt/tags/tag422.xml" ContentType="application/vnd.openxmlformats-officedocument.presentationml.tags+xml"/>
  <Override PartName="/ppt/notesSlides/notesSlide83.xml" ContentType="application/vnd.openxmlformats-officedocument.presentationml.notesSlide+xml"/>
  <Override PartName="/ppt/slides/slide23.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tags/tag198.xml" ContentType="application/vnd.openxmlformats-officedocument.presentationml.tags+xml"/>
  <Override PartName="/ppt/tags/tag214.xml" ContentType="application/vnd.openxmlformats-officedocument.presentationml.tags+xml"/>
  <Override PartName="/ppt/tags/tag261.xml" ContentType="application/vnd.openxmlformats-officedocument.presentationml.tags+xml"/>
  <Override PartName="/ppt/tags/tag400.xml" ContentType="application/vnd.openxmlformats-officedocument.presentationml.tags+xml"/>
  <Override PartName="/ppt/tags/tag36.xml" ContentType="application/vnd.openxmlformats-officedocument.presentationml.tags+xml"/>
  <Override PartName="/ppt/tags/tag83.xml" ContentType="application/vnd.openxmlformats-officedocument.presentationml.tags+xml"/>
  <Override PartName="/ppt/notesSlides/notesSlide14.xml" ContentType="application/vnd.openxmlformats-officedocument.presentationml.notesSlide+xml"/>
  <Override PartName="/ppt/notesSlides/notesSlide61.xml" ContentType="application/vnd.openxmlformats-officedocument.presentationml.notesSlide+xml"/>
  <Override PartName="/ppt/tags/tag337.xml" ContentType="application/vnd.openxmlformats-officedocument.presentationml.tags+xml"/>
  <Override PartName="/ppt/tags/tag384.xml" ContentType="application/vnd.openxmlformats-officedocument.presentationml.tags+xml"/>
  <Override PartName="/ppt/tags/tag14.xml" ContentType="application/vnd.openxmlformats-officedocument.presentationml.tags+xml"/>
  <Override PartName="/ppt/tags/tag61.xml" ContentType="application/vnd.openxmlformats-officedocument.presentationml.tags+xml"/>
  <Override PartName="/ppt/tags/tag129.xml" ContentType="application/vnd.openxmlformats-officedocument.presentationml.tags+xml"/>
  <Override PartName="/ppt/tags/tag176.xml" ContentType="application/vnd.openxmlformats-officedocument.presentationml.tags+xml"/>
  <Override PartName="/ppt/tags/tag315.xml" ContentType="application/vnd.openxmlformats-officedocument.presentationml.tags+xml"/>
  <Override PartName="/ppt/tags/tag362.xml" ContentType="application/vnd.openxmlformats-officedocument.presentationml.tags+xml"/>
  <Override PartName="/ppt/slides/slide109.xml" ContentType="application/vnd.openxmlformats-officedocument.presentationml.slide+xml"/>
  <Override PartName="/ppt/tags/tag50.xml" ContentType="application/vnd.openxmlformats-officedocument.presentationml.tags+xml"/>
  <Override PartName="/ppt/tags/tag107.xml" ContentType="application/vnd.openxmlformats-officedocument.presentationml.tags+xml"/>
  <Override PartName="/ppt/tags/tag154.xml" ContentType="application/vnd.openxmlformats-officedocument.presentationml.tags+xml"/>
  <Override PartName="/ppt/tags/tag299.xml" ContentType="application/vnd.openxmlformats-officedocument.presentationml.tags+xml"/>
  <Override PartName="/ppt/tags/tag304.xml" ContentType="application/vnd.openxmlformats-officedocument.presentationml.tags+xml"/>
  <Override PartName="/ppt/tags/tag351.xml" ContentType="application/vnd.openxmlformats-officedocument.presentationml.tags+xml"/>
  <Override PartName="/ppt/tags/tag438.xml" ContentType="application/vnd.openxmlformats-officedocument.presentationml.tags+xml"/>
  <Override PartName="/ppt/tags/tag449.xml" ContentType="application/vnd.openxmlformats-officedocument.presentationml.tags+xml"/>
  <Override PartName="/ppt/slides/slide97.xml" ContentType="application/vnd.openxmlformats-officedocument.presentationml.slide+xml"/>
  <Override PartName="/ppt/notesSlides/notesSlide5.xml" ContentType="application/vnd.openxmlformats-officedocument.presentationml.notesSlide+xml"/>
  <Override PartName="/ppt/tags/tag143.xml" ContentType="application/vnd.openxmlformats-officedocument.presentationml.tags+xml"/>
  <Override PartName="/ppt/tags/tag190.xml" ContentType="application/vnd.openxmlformats-officedocument.presentationml.tags+xml"/>
  <Override PartName="/ppt/tags/tag277.xml" ContentType="application/vnd.openxmlformats-officedocument.presentationml.tags+xml"/>
  <Override PartName="/ppt/tags/tag288.xml" ContentType="application/vnd.openxmlformats-officedocument.presentationml.tags+xml"/>
  <Override PartName="/ppt/tags/tag340.xml" ContentType="application/vnd.openxmlformats-officedocument.presentationml.tags+xml"/>
  <Override PartName="/ppt/tags/tag427.xml" ContentType="application/vnd.openxmlformats-officedocument.presentationml.tags+xml"/>
  <Override PartName="/ppt/slides/slide28.xml" ContentType="application/vnd.openxmlformats-officedocument.presentationml.slide+xml"/>
  <Override PartName="/ppt/slides/slide39.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23.xml" ContentType="application/vnd.openxmlformats-officedocument.presentationml.slide+xml"/>
  <Override PartName="/ppt/tags/tag132.xml" ContentType="application/vnd.openxmlformats-officedocument.presentationml.tags+xml"/>
  <Override PartName="/ppt/tags/tag219.xml" ContentType="application/vnd.openxmlformats-officedocument.presentationml.tags+xml"/>
  <Override PartName="/ppt/tags/tag266.xml" ContentType="application/vnd.openxmlformats-officedocument.presentationml.tags+xml"/>
  <Override PartName="/ppt/tags/tag416.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s/slide64.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tags/tag99.xml" ContentType="application/vnd.openxmlformats-officedocument.presentationml.tags+xml"/>
  <Override PartName="/ppt/tags/tag110.xml" ContentType="application/vnd.openxmlformats-officedocument.presentationml.tags+xml"/>
  <Override PartName="/ppt/tags/tag121.xml" ContentType="application/vnd.openxmlformats-officedocument.presentationml.tags+xml"/>
  <Override PartName="/ppt/notesSlides/notesSlide19.xml" ContentType="application/vnd.openxmlformats-officedocument.presentationml.notesSlide+xml"/>
  <Override PartName="/ppt/tags/tag208.xml" ContentType="application/vnd.openxmlformats-officedocument.presentationml.tags+xml"/>
  <Override PartName="/ppt/tags/tag255.xml" ContentType="application/vnd.openxmlformats-officedocument.presentationml.tags+xml"/>
  <Override PartName="/ppt/notesSlides/notesSlide66.xml" ContentType="application/vnd.openxmlformats-officedocument.presentationml.notesSlide+xml"/>
  <Override PartName="/ppt/tags/tag389.xml" ContentType="application/vnd.openxmlformats-officedocument.presentationml.tags+xml"/>
  <Override PartName="/ppt/tags/tag405.xml" ContentType="application/vnd.openxmlformats-officedocument.presentationml.tags+xml"/>
  <Override PartName="/ppt/notesSlides/notesSlide77.xml" ContentType="application/vnd.openxmlformats-officedocument.presentationml.notesSlide+xml"/>
  <Override PartName="/ppt/slides/slide53.xml" ContentType="application/vnd.openxmlformats-officedocument.presentationml.slide+xml"/>
  <Override PartName="/ppt/slideLayouts/slideLayout16.xml" ContentType="application/vnd.openxmlformats-officedocument.presentationml.slideLayout+xml"/>
  <Override PartName="/ppt/tags/tag3.xml" ContentType="application/vnd.openxmlformats-officedocument.presentationml.tags+xml"/>
  <Default Extension="jpeg" ContentType="image/jpeg"/>
  <Override PartName="/ppt/tags/tag77.xml" ContentType="application/vnd.openxmlformats-officedocument.presentationml.tags+xml"/>
  <Override PartName="/ppt/tags/tag88.xml" ContentType="application/vnd.openxmlformats-officedocument.presentationml.tags+xml"/>
  <Override PartName="/ppt/tags/tag233.xml" ContentType="application/vnd.openxmlformats-officedocument.presentationml.tags+xml"/>
  <Override PartName="/ppt/tags/tag244.xml" ContentType="application/vnd.openxmlformats-officedocument.presentationml.tags+xml"/>
  <Override PartName="/ppt/notesSlides/notesSlide55.xml" ContentType="application/vnd.openxmlformats-officedocument.presentationml.notesSlide+xml"/>
  <Override PartName="/ppt/tags/tag280.xml" ContentType="application/vnd.openxmlformats-officedocument.presentationml.tags+xml"/>
  <Override PartName="/ppt/tags/tag291.xml" ContentType="application/vnd.openxmlformats-officedocument.presentationml.tags+xml"/>
  <Override PartName="/ppt/tags/tag378.xml" ContentType="application/vnd.openxmlformats-officedocument.presentationml.tags+xml"/>
  <Override PartName="/ppt/tags/tag430.xml" ContentType="application/vnd.openxmlformats-officedocument.presentationml.tags+xml"/>
  <Override PartName="/ppt/tags/tag441.xml" ContentType="application/vnd.openxmlformats-officedocument.presentationml.tags+xml"/>
  <Override PartName="/ppt/slides/slide31.xml" ContentType="application/vnd.openxmlformats-officedocument.presentationml.slide+xml"/>
  <Override PartName="/ppt/slides/slide42.xml" ContentType="application/vnd.openxmlformats-officedocument.presentationml.slide+xml"/>
  <Override PartName="/ppt/tags/tag19.xml" ContentType="application/vnd.openxmlformats-officedocument.presentationml.tags+xml"/>
  <Override PartName="/ppt/tags/tag66.xml" ContentType="application/vnd.openxmlformats-officedocument.presentationml.tags+xml"/>
  <Override PartName="/ppt/notesSlides/notesSlide44.xml" ContentType="application/vnd.openxmlformats-officedocument.presentationml.notesSlide+xml"/>
  <Override PartName="/ppt/tags/tag222.xml" ContentType="application/vnd.openxmlformats-officedocument.presentationml.tags+xml"/>
  <Override PartName="/ppt/tags/tag367.xml" ContentType="application/vnd.openxmlformats-officedocument.presentationml.tags+xml"/>
  <Override PartName="/ppt/slides/slide20.xml" ContentType="application/vnd.openxmlformats-officedocument.presentationml.slide+xml"/>
  <Override PartName="/ppt/tags/tag55.xml" ContentType="application/vnd.openxmlformats-officedocument.presentationml.tags+xml"/>
  <Override PartName="/ppt/notesSlides/notesSlide22.xml" ContentType="application/vnd.openxmlformats-officedocument.presentationml.notesSlide+xml"/>
  <Override PartName="/ppt/tags/tag159.xml" ContentType="application/vnd.openxmlformats-officedocument.presentationml.tags+xml"/>
  <Override PartName="/ppt/notesSlides/notesSlide33.xml" ContentType="application/vnd.openxmlformats-officedocument.presentationml.notesSlide+xml"/>
  <Override PartName="/ppt/tags/tag211.xml" ContentType="application/vnd.openxmlformats-officedocument.presentationml.tags+xml"/>
  <Override PartName="/ppt/tags/tag309.xml" ContentType="application/vnd.openxmlformats-officedocument.presentationml.tags+xml"/>
  <Override PartName="/ppt/tags/tag345.xml" ContentType="application/vnd.openxmlformats-officedocument.presentationml.tags+xml"/>
  <Override PartName="/ppt/tags/tag356.xml" ContentType="application/vnd.openxmlformats-officedocument.presentationml.tags+xml"/>
  <Override PartName="/ppt/tags/tag392.xml" ContentType="application/vnd.openxmlformats-officedocument.presentationml.tags+xml"/>
  <Override PartName="/ppt/notesSlides/notesSlide80.xml" ContentType="application/vnd.openxmlformats-officedocument.presentationml.notesSlide+xml"/>
  <Override PartName="/ppt/tags/tag33.xml" ContentType="application/vnd.openxmlformats-officedocument.presentationml.tags+xml"/>
  <Override PartName="/ppt/tags/tag44.xml" ContentType="application/vnd.openxmlformats-officedocument.presentationml.tags+xml"/>
  <Override PartName="/ppt/tags/tag80.xml" ContentType="application/vnd.openxmlformats-officedocument.presentationml.tags+xml"/>
  <Override PartName="/ppt/notesSlides/notesSlide11.xml" ContentType="application/vnd.openxmlformats-officedocument.presentationml.notesSlide+xml"/>
  <Override PartName="/ppt/tags/tag91.xml" ContentType="application/vnd.openxmlformats-officedocument.presentationml.tags+xml"/>
  <Override PartName="/ppt/tags/tag137.xml" ContentType="application/vnd.openxmlformats-officedocument.presentationml.tags+xml"/>
  <Override PartName="/ppt/tags/tag148.xml" ContentType="application/vnd.openxmlformats-officedocument.presentationml.tags+xml"/>
  <Override PartName="/ppt/tags/tag184.xml" ContentType="application/vnd.openxmlformats-officedocument.presentationml.tags+xml"/>
  <Override PartName="/ppt/tags/tag195.xml" ContentType="application/vnd.openxmlformats-officedocument.presentationml.tags+xml"/>
  <Override PartName="/ppt/tags/tag200.xml" ContentType="application/vnd.openxmlformats-officedocument.presentationml.tags+xml"/>
  <Override PartName="/ppt/tags/tag334.xml" ContentType="application/vnd.openxmlformats-officedocument.presentationml.tags+xml"/>
  <Override PartName="/ppt/tags/tag381.xml" ContentType="application/vnd.openxmlformats-officedocument.presentationml.tags+xml"/>
  <Override PartName="/ppt/slides/slide117.xml" ContentType="application/vnd.openxmlformats-officedocument.presentationml.slide+xml"/>
  <Override PartName="/ppt/slides/slide128.xml" ContentType="application/vnd.openxmlformats-officedocument.presentationml.slide+xml"/>
  <Override PartName="/ppt/tags/tag22.xml" ContentType="application/vnd.openxmlformats-officedocument.presentationml.tags+xml"/>
  <Override PartName="/ppt/tags/tag126.xml" ContentType="application/vnd.openxmlformats-officedocument.presentationml.tags+xml"/>
  <Override PartName="/ppt/tags/tag173.xml" ContentType="application/vnd.openxmlformats-officedocument.presentationml.tags+xml"/>
  <Override PartName="/ppt/tags/tag323.xml" ContentType="application/vnd.openxmlformats-officedocument.presentationml.tags+xml"/>
  <Override PartName="/ppt/tags/tag370.xml" ContentType="application/vnd.openxmlformats-officedocument.presentationml.tags+xml"/>
  <Override PartName="/ppt/slides/slide8.xml" ContentType="application/vnd.openxmlformats-officedocument.presentationml.slide+xml"/>
  <Override PartName="/ppt/slides/slide69.xml" ContentType="application/vnd.openxmlformats-officedocument.presentationml.slide+xml"/>
  <Override PartName="/ppt/slides/slide106.xml" ContentType="application/vnd.openxmlformats-officedocument.presentationml.slide+xml"/>
  <Override PartName="/ppt/tags/tag11.xml" ContentType="application/vnd.openxmlformats-officedocument.presentationml.tags+xml"/>
  <Override PartName="/ppt/tags/tag115.xml" ContentType="application/vnd.openxmlformats-officedocument.presentationml.tags+xml"/>
  <Override PartName="/ppt/tags/tag162.xml" ContentType="application/vnd.openxmlformats-officedocument.presentationml.tags+xml"/>
  <Override PartName="/ppt/tags/tag249.xml" ContentType="application/vnd.openxmlformats-officedocument.presentationml.tags+xml"/>
  <Override PartName="/ppt/tags/tag296.xml" ContentType="application/vnd.openxmlformats-officedocument.presentationml.tags+xml"/>
  <Override PartName="/ppt/tags/tag301.xml" ContentType="application/vnd.openxmlformats-officedocument.presentationml.tags+xml"/>
  <Override PartName="/ppt/tags/tag312.xml" ContentType="application/vnd.openxmlformats-officedocument.presentationml.tags+xml"/>
  <Override PartName="/ppt/tags/tag446.xml" ContentType="application/vnd.openxmlformats-officedocument.presentationml.tags+xml"/>
  <Override PartName="/ppt/slides/slide58.xml" ContentType="application/vnd.openxmlformats-officedocument.presentationml.slide+xml"/>
  <Override PartName="/ppt/notesSlides/notesSlide2.xml" ContentType="application/vnd.openxmlformats-officedocument.presentationml.notesSlide+xml"/>
  <Override PartName="/ppt/tags/tag104.xml" ContentType="application/vnd.openxmlformats-officedocument.presentationml.tags+xml"/>
  <Override PartName="/ppt/tags/tag151.xml" ContentType="application/vnd.openxmlformats-officedocument.presentationml.tags+xml"/>
  <Override PartName="/ppt/tags/tag435.xml" ContentType="application/vnd.openxmlformats-officedocument.presentationml.tags+xml"/>
  <Override PartName="/ppt/slides/slide36.xml" ContentType="application/vnd.openxmlformats-officedocument.presentationml.slide+xml"/>
  <Override PartName="/ppt/slides/slide83.xml" ContentType="application/vnd.openxmlformats-officedocument.presentationml.slide+xml"/>
  <Override PartName="/ppt/notesSlides/notesSlide49.xml" ContentType="application/vnd.openxmlformats-officedocument.presentationml.notesSlide+xml"/>
  <Override PartName="/ppt/tags/tag227.xml" ContentType="application/vnd.openxmlformats-officedocument.presentationml.tags+xml"/>
  <Override PartName="/ppt/tags/tag274.xml" ContentType="application/vnd.openxmlformats-officedocument.presentationml.tags+xml"/>
  <Override PartName="/ppt/tags/tag413.xml" ContentType="application/vnd.openxmlformats-officedocument.presentationml.tags+xml"/>
  <Override PartName="/ppt/tags/tag49.xml" ContentType="application/vnd.openxmlformats-officedocument.presentationml.tags+xml"/>
  <Override PartName="/ppt/tags/tag96.xml" ContentType="application/vnd.openxmlformats-officedocument.presentationml.tags+xml"/>
  <Override PartName="/ppt/notesSlides/notesSlide27.xml" ContentType="application/vnd.openxmlformats-officedocument.presentationml.notesSlide+xml"/>
  <Override PartName="/ppt/tags/tag205.xml" ContentType="application/vnd.openxmlformats-officedocument.presentationml.tags+xml"/>
  <Override PartName="/ppt/tags/tag252.xml" ContentType="application/vnd.openxmlformats-officedocument.presentationml.tags+xml"/>
  <Override PartName="/ppt/tags/tag397.xml" ContentType="application/vnd.openxmlformats-officedocument.presentationml.tags+xml"/>
  <Override PartName="/ppt/notesSlides/notesSlide74.xml" ContentType="application/vnd.openxmlformats-officedocument.presentationml.notesSlide+xml"/>
  <Override PartName="/ppt/slides/slide14.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ags/tag189.xml" ContentType="application/vnd.openxmlformats-officedocument.presentationml.tags+xml"/>
  <Override PartName="/ppt/tableStyles.xml" ContentType="application/vnd.openxmlformats-officedocument.presentationml.tableStyles+xml"/>
  <Override PartName="/ppt/tags/tag27.xml" ContentType="application/vnd.openxmlformats-officedocument.presentationml.tags+xml"/>
  <Override PartName="/ppt/tags/tag74.xml" ContentType="application/vnd.openxmlformats-officedocument.presentationml.tags+xml"/>
  <Override PartName="/ppt/notesSlides/notesSlide52.xml" ContentType="application/vnd.openxmlformats-officedocument.presentationml.notesSlide+xml"/>
  <Override PartName="/ppt/tags/tag230.xml" ContentType="application/vnd.openxmlformats-officedocument.presentationml.tags+xml"/>
  <Override PartName="/ppt/tags/tag328.xml" ContentType="application/vnd.openxmlformats-officedocument.presentationml.tags+xml"/>
  <Override PartName="/ppt/tags/tag375.xml" ContentType="application/vnd.openxmlformats-officedocument.presentationml.tags+xml"/>
  <Override PartName="/ppt/tags/tag52.xml" ContentType="application/vnd.openxmlformats-officedocument.presentationml.tags+xml"/>
  <Override PartName="/ppt/notesSlides/notesSlide30.xml" ContentType="application/vnd.openxmlformats-officedocument.presentationml.notesSlide+xml"/>
  <Override PartName="/ppt/tags/tag167.xml" ContentType="application/vnd.openxmlformats-officedocument.presentationml.tags+xml"/>
  <Override PartName="/ppt/tags/tag306.xml" ContentType="application/vnd.openxmlformats-officedocument.presentationml.tags+xml"/>
  <Override PartName="/ppt/tags/tag353.xml" ContentType="application/vnd.openxmlformats-officedocument.presentationml.tags+xml"/>
  <Override PartName="/ppt/slides/slide99.xml" ContentType="application/vnd.openxmlformats-officedocument.presentationml.slide+xml"/>
  <Override PartName="/ppt/tags/tag145.xml" ContentType="application/vnd.openxmlformats-officedocument.presentationml.tags+xml"/>
  <Override PartName="/ppt/tags/tag192.xml" ContentType="application/vnd.openxmlformats-officedocument.presentationml.tags+xml"/>
  <Override PartName="/ppt/tags/tag429.xml" ContentType="application/vnd.openxmlformats-officedocument.presentationml.tags+xml"/>
  <Override PartName="/ppt/slides/slide77.xml" ContentType="application/vnd.openxmlformats-officedocument.presentationml.slide+xml"/>
  <Override PartName="/ppt/slides/slide125.xml" ContentType="application/vnd.openxmlformats-officedocument.presentationml.slide+xml"/>
  <Override PartName="/ppt/tags/tag30.xml" ContentType="application/vnd.openxmlformats-officedocument.presentationml.tags+xml"/>
  <Override PartName="/ppt/tags/tag268.xml" ContentType="application/vnd.openxmlformats-officedocument.presentationml.tags+xml"/>
  <Override PartName="/ppt/tags/tag331.xml" ContentType="application/vnd.openxmlformats-officedocument.presentationml.tags+xml"/>
  <Override PartName="/ppt/slides/slide5.xml" ContentType="application/vnd.openxmlformats-officedocument.presentationml.slide+xml"/>
  <Override PartName="/ppt/slides/slide103.xml" ContentType="application/vnd.openxmlformats-officedocument.presentationml.slide+xml"/>
  <Override PartName="/ppt/slideLayouts/slideLayout7.xml" ContentType="application/vnd.openxmlformats-officedocument.presentationml.slideLayout+xml"/>
  <Override PartName="/ppt/tags/tag123.xml" ContentType="application/vnd.openxmlformats-officedocument.presentationml.tags+xml"/>
  <Override PartName="/ppt/tags/tag170.xml" ContentType="application/vnd.openxmlformats-officedocument.presentationml.tags+xml"/>
  <Override PartName="/ppt/notesSlides/notesSlide68.xml" ContentType="application/vnd.openxmlformats-officedocument.presentationml.notesSlide+xml"/>
  <Override PartName="/ppt/tags/tag407.xml" ContentType="application/vnd.openxmlformats-officedocument.presentationml.tags+xml"/>
  <Override PartName="/ppt/slides/slide55.xml" ContentType="application/vnd.openxmlformats-officedocument.presentationml.slide+xml"/>
  <Override PartName="/ppt/tags/tag101.xml" ContentType="application/vnd.openxmlformats-officedocument.presentationml.tags+xml"/>
  <Override PartName="/ppt/tags/tag246.xml" ContentType="application/vnd.openxmlformats-officedocument.presentationml.tags+xml"/>
  <Override PartName="/ppt/tags/tag293.xml" ContentType="application/vnd.openxmlformats-officedocument.presentationml.tags+xml"/>
  <Override PartName="/ppt/tags/tag432.xml" ContentType="application/vnd.openxmlformats-officedocument.presentationml.tags+xml"/>
  <Override PartName="/ppt/slides/slide33.xml" ContentType="application/vnd.openxmlformats-officedocument.presentationml.slide+xml"/>
  <Override PartName="/ppt/slides/slide80.xml" ContentType="application/vnd.openxmlformats-officedocument.presentationml.slide+xml"/>
  <Override PartName="/ppt/tags/tag68.xml" ContentType="application/vnd.openxmlformats-officedocument.presentationml.tags+xml"/>
  <Override PartName="/ppt/notesSlides/notesSlide46.xml" ContentType="application/vnd.openxmlformats-officedocument.presentationml.notesSlide+xml"/>
  <Override PartName="/ppt/tags/tag224.xml" ContentType="application/vnd.openxmlformats-officedocument.presentationml.tags+xml"/>
  <Override PartName="/ppt/tags/tag271.xml" ContentType="application/vnd.openxmlformats-officedocument.presentationml.tags+xml"/>
  <Override PartName="/ppt/tags/tag369.xml" ContentType="application/vnd.openxmlformats-officedocument.presentationml.tags+xml"/>
  <Override PartName="/ppt/presentation.xml" ContentType="application/vnd.openxmlformats-officedocument.presentationml.presentation.main+xml"/>
  <Override PartName="/ppt/notesSlides/notesSlide24.xml" ContentType="application/vnd.openxmlformats-officedocument.presentationml.notesSlide+xml"/>
  <Override PartName="/ppt/notesSlides/notesSlide71.xml" ContentType="application/vnd.openxmlformats-officedocument.presentationml.notesSlide+xml"/>
  <Override PartName="/ppt/tags/tag347.xml" ContentType="application/vnd.openxmlformats-officedocument.presentationml.tags+xml"/>
  <Override PartName="/ppt/tags/tag394.xml" ContentType="application/vnd.openxmlformats-officedocument.presentationml.tags+xml"/>
  <Override PartName="/ppt/tags/tag410.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tags/tag46.xml" ContentType="application/vnd.openxmlformats-officedocument.presentationml.tags+xml"/>
  <Override PartName="/ppt/tags/tag93.xml" ContentType="application/vnd.openxmlformats-officedocument.presentationml.tags+xml"/>
  <Override PartName="/ppt/tags/tag139.xml" ContentType="application/vnd.openxmlformats-officedocument.presentationml.tags+xml"/>
  <Override PartName="/ppt/tags/tag186.xml" ContentType="application/vnd.openxmlformats-officedocument.presentationml.tags+xml"/>
  <Override PartName="/ppt/tags/tag202.xml" ContentType="application/vnd.openxmlformats-officedocument.presentationml.tags+xml"/>
  <Override PartName="/ppt/slides/slide119.xml" ContentType="application/vnd.openxmlformats-officedocument.presentationml.slide+xml"/>
  <Override PartName="/ppt/slideLayouts/slideLayout10.xml" ContentType="application/vnd.openxmlformats-officedocument.presentationml.slideLayout+xml"/>
  <Override PartName="/ppt/tags/tag24.xml" ContentType="application/vnd.openxmlformats-officedocument.presentationml.tags+xml"/>
  <Override PartName="/ppt/tags/tag71.xml" ContentType="application/vnd.openxmlformats-officedocument.presentationml.tags+xml"/>
  <Override PartName="/ppt/tags/tag325.xml" ContentType="application/vnd.openxmlformats-officedocument.presentationml.tags+xml"/>
  <Override PartName="/ppt/tags/tag372.xml" ContentType="application/vnd.openxmlformats-officedocument.presentationml.tags+xml"/>
  <Override PartName="/ppt/tags/tag117.xml" ContentType="application/vnd.openxmlformats-officedocument.presentationml.tags+xml"/>
  <Override PartName="/ppt/tags/tag164.xml" ContentType="application/vnd.openxmlformats-officedocument.presentationml.tags+xml"/>
  <Override PartName="/ppt/tags/tag448.xml" ContentType="application/vnd.openxmlformats-officedocument.presentationml.tags+xml"/>
  <Override PartName="/ppt/slides/slide49.xml" ContentType="application/vnd.openxmlformats-officedocument.presentationml.slide+xml"/>
  <Override PartName="/ppt/slides/slide96.xml" ContentType="application/vnd.openxmlformats-officedocument.presentationml.slide+xml"/>
  <Override PartName="/ppt/tags/tag142.xml" ContentType="application/vnd.openxmlformats-officedocument.presentationml.tags+xml"/>
  <Override PartName="/ppt/tags/tag287.xml" ContentType="application/vnd.openxmlformats-officedocument.presentationml.tags+xml"/>
  <Override PartName="/ppt/tags/tag303.xml" ContentType="application/vnd.openxmlformats-officedocument.presentationml.tags+xml"/>
  <Override PartName="/ppt/tags/tag350.xml" ContentType="application/vnd.openxmlformats-officedocument.presentationml.tags+xml"/>
  <Override PartName="/ppt/slides/slide122.xml" ContentType="application/vnd.openxmlformats-officedocument.presentationml.slide+xml"/>
  <Override PartName="/ppt/tags/tag426.xml" ContentType="application/vnd.openxmlformats-officedocument.presentationml.tags+xml"/>
  <Override PartName="/ppt/slides/slide27.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ags/tag120.xml" ContentType="application/vnd.openxmlformats-officedocument.presentationml.tags+xml"/>
  <Override PartName="/ppt/tags/tag218.xml" ContentType="application/vnd.openxmlformats-officedocument.presentationml.tags+xml"/>
  <Override PartName="/ppt/tags/tag265.xml" ContentType="application/vnd.openxmlformats-officedocument.presentationml.tags+xml"/>
  <Override PartName="/ppt/tags/tag404.xml" ContentType="application/vnd.openxmlformats-officedocument.presentationml.tags+xml"/>
  <Override PartName="/ppt/slides/slide2.xml" ContentType="application/vnd.openxmlformats-officedocument.presentationml.slide+xml"/>
  <Override PartName="/ppt/slides/slide52.xml" ContentType="application/vnd.openxmlformats-officedocument.presentationml.slide+xml"/>
  <Override PartName="/ppt/slides/slide100.xml" ContentType="application/vnd.openxmlformats-officedocument.presentationml.slide+xml"/>
  <Default Extension="wmf" ContentType="image/x-wmf"/>
  <Override PartName="/ppt/tags/tag87.xml" ContentType="application/vnd.openxmlformats-officedocument.presentationml.tags+xml"/>
  <Override PartName="/ppt/notesSlides/notesSlide18.xml" ContentType="application/vnd.openxmlformats-officedocument.presentationml.notesSlide+xml"/>
  <Override PartName="/ppt/tags/tag243.xml" ContentType="application/vnd.openxmlformats-officedocument.presentationml.tags+xml"/>
  <Override PartName="/ppt/notesSlides/notesSlide65.xml" ContentType="application/vnd.openxmlformats-officedocument.presentationml.notesSlide+xml"/>
  <Override PartName="/ppt/tags/tag290.xml" ContentType="application/vnd.openxmlformats-officedocument.presentationml.tags+xml"/>
  <Override PartName="/ppt/tags/tag388.xml" ContentType="application/vnd.openxmlformats-officedocument.presentationml.tags+xml"/>
  <Override PartName="/ppt/notesSlides/notesSlide43.xml" ContentType="application/vnd.openxmlformats-officedocument.presentationml.notesSlide+xml"/>
  <Override PartName="/ppt/tags/tag319.xml" ContentType="application/vnd.openxmlformats-officedocument.presentationml.tags+xml"/>
  <Override PartName="/ppt/tags/tag366.xml" ContentType="application/vnd.openxmlformats-officedocument.presentationml.tags+xml"/>
  <Override PartName="/ppt/slides/slide30.xml" ContentType="application/vnd.openxmlformats-officedocument.presentationml.slide+xml"/>
  <Override PartName="/ppt/tags/tag18.xml" ContentType="application/vnd.openxmlformats-officedocument.presentationml.tags+xml"/>
  <Override PartName="/ppt/tags/tag65.xml" ContentType="application/vnd.openxmlformats-officedocument.presentationml.tags+xml"/>
  <Override PartName="/ppt/tags/tag158.xml" ContentType="application/vnd.openxmlformats-officedocument.presentationml.tags+xml"/>
  <Override PartName="/ppt/tags/tag221.xml" ContentType="application/vnd.openxmlformats-officedocument.presentationml.tags+xml"/>
  <Override PartName="/ppt/tags/tag43.xml" ContentType="application/vnd.openxmlformats-officedocument.presentationml.tags+xml"/>
  <Override PartName="/ppt/notesSlides/notesSlide9.xml" ContentType="application/vnd.openxmlformats-officedocument.presentationml.notesSlide+xml"/>
  <Override PartName="/ppt/tags/tag90.xml" ContentType="application/vnd.openxmlformats-officedocument.presentationml.tags+xml"/>
  <Override PartName="/ppt/notesSlides/notesSlide21.xml" ContentType="application/vnd.openxmlformats-officedocument.presentationml.notesSlide+xml"/>
  <Override PartName="/ppt/tags/tag344.xml" ContentType="application/vnd.openxmlformats-officedocument.presentationml.tags+xml"/>
  <Override PartName="/ppt/tags/tag391.xml" ContentType="application/vnd.openxmlformats-officedocument.presentationml.tags+xml"/>
  <Override PartName="/ppt/tags/tag136.xml" ContentType="application/vnd.openxmlformats-officedocument.presentationml.tags+xml"/>
  <Override PartName="/ppt/tags/tag183.xml" ContentType="application/vnd.openxmlformats-officedocument.presentationml.tags+xml"/>
  <Override PartName="/ppt/tags/tag322.xml" ContentType="application/vnd.openxmlformats-officedocument.presentationml.tags+xml"/>
  <Override PartName="/ppt/slides/slide68.xml" ContentType="application/vnd.openxmlformats-officedocument.presentationml.slide+xml"/>
  <Override PartName="/ppt/slides/slide116.xml" ContentType="application/vnd.openxmlformats-officedocument.presentationml.slide+xml"/>
  <Override PartName="/ppt/tags/tag21.xml" ContentType="application/vnd.openxmlformats-officedocument.presentationml.tags+xml"/>
  <Override PartName="/ppt/tags/tag114.xml" ContentType="application/vnd.openxmlformats-officedocument.presentationml.tags+xml"/>
  <Override PartName="/ppt/tags/tag161.xml" ContentType="application/vnd.openxmlformats-officedocument.presentationml.tags+xml"/>
  <Override PartName="/ppt/tags/tag259.xml" ContentType="application/vnd.openxmlformats-officedocument.presentationml.tags+xml"/>
  <Override PartName="/ppt/tags/tag7.xml" ContentType="application/vnd.openxmlformats-officedocument.presentationml.tags+xml"/>
  <Override PartName="/ppt/notesSlides/notesSlide59.xml" ContentType="application/vnd.openxmlformats-officedocument.presentationml.notesSlide+xml"/>
  <Override PartName="/ppt/tags/tag300.xml" ContentType="application/vnd.openxmlformats-officedocument.presentationml.tags+xml"/>
  <Override PartName="/ppt/tags/tag445.xml" ContentType="application/vnd.openxmlformats-officedocument.presentationml.tags+xml"/>
  <Override PartName="/ppt/slides/slide46.xml" ContentType="application/vnd.openxmlformats-officedocument.presentationml.slide+xml"/>
  <Override PartName="/ppt/slides/slide93.xml" ContentType="application/vnd.openxmlformats-officedocument.presentationml.slide+xml"/>
  <Override PartName="/ppt/tags/tag237.xml" ContentType="application/vnd.openxmlformats-officedocument.presentationml.tags+xml"/>
  <Override PartName="/ppt/tags/tag284.xml" ContentType="application/vnd.openxmlformats-officedocument.presentationml.tags+xml"/>
  <Override PartName="/ppt/tags/tag423.xml" ContentType="application/vnd.openxmlformats-officedocument.presentationml.tags+xml"/>
  <Override PartName="/ppt/slides/slide24.xml" ContentType="application/vnd.openxmlformats-officedocument.presentationml.slide+xml"/>
  <Override PartName="/ppt/slides/slide71.xml" ContentType="application/vnd.openxmlformats-officedocument.presentationml.slide+xml"/>
  <Override PartName="/ppt/tags/tag59.xml" ContentType="application/vnd.openxmlformats-officedocument.presentationml.tags+xml"/>
  <Override PartName="/ppt/notesSlides/notesSlide37.xml" ContentType="application/vnd.openxmlformats-officedocument.presentationml.notesSlide+xml"/>
  <Override PartName="/ppt/tags/tag215.xml" ContentType="application/vnd.openxmlformats-officedocument.presentationml.tags+xml"/>
  <Override PartName="/ppt/tags/tag262.xml" ContentType="application/vnd.openxmlformats-officedocument.presentationml.tags+xml"/>
  <Override PartName="/ppt/notesSlides/notesSlide84.xml" ContentType="application/vnd.openxmlformats-officedocument.presentationml.notesSlide+xml"/>
  <Override PartName="/ppt/slideLayouts/slideLayout1.xml" ContentType="application/vnd.openxmlformats-officedocument.presentationml.slideLayout+xml"/>
  <Override PartName="/ppt/tags/tag37.xml" ContentType="application/vnd.openxmlformats-officedocument.presentationml.tags+xml"/>
  <Override PartName="/ppt/tags/tag84.xml" ContentType="application/vnd.openxmlformats-officedocument.presentationml.tags+xml"/>
  <Override PartName="/ppt/notesSlides/notesSlide15.xml" ContentType="application/vnd.openxmlformats-officedocument.presentationml.notesSlide+xml"/>
  <Override PartName="/ppt/tags/tag199.xml" ContentType="application/vnd.openxmlformats-officedocument.presentationml.tags+xml"/>
  <Override PartName="/ppt/notesSlides/notesSlide62.xml" ContentType="application/vnd.openxmlformats-officedocument.presentationml.notesSlide+xml"/>
  <Override PartName="/ppt/tags/tag338.xml" ContentType="application/vnd.openxmlformats-officedocument.presentationml.tags+xml"/>
  <Override PartName="/ppt/tags/tag385.xml" ContentType="application/vnd.openxmlformats-officedocument.presentationml.tags+xml"/>
  <Override PartName="/ppt/tags/tag401.xml" ContentType="application/vnd.openxmlformats-officedocument.presentationml.tags+xml"/>
  <Override PartName="/ppt/tags/tag177.xml" ContentType="application/vnd.openxmlformats-officedocument.presentationml.tags+xml"/>
  <Override PartName="/ppt/tags/tag240.xml" ContentType="application/vnd.openxmlformats-officedocument.presentationml.tags+xml"/>
  <Override PartName="/ppt/tags/tag15.xml" ContentType="application/vnd.openxmlformats-officedocument.presentationml.tags+xml"/>
  <Override PartName="/ppt/tags/tag62.xml" ContentType="application/vnd.openxmlformats-officedocument.presentationml.tags+xml"/>
  <Override PartName="/ppt/notesSlides/notesSlide40.xml" ContentType="application/vnd.openxmlformats-officedocument.presentationml.notesSlide+xml"/>
  <Override PartName="/ppt/tags/tag316.xml" ContentType="application/vnd.openxmlformats-officedocument.presentationml.tags+xml"/>
  <Override PartName="/ppt/tags/tag363.xml" ContentType="application/vnd.openxmlformats-officedocument.presentationml.tags+xml"/>
  <Override PartName="/ppt/tags/tag40.xml" ContentType="application/vnd.openxmlformats-officedocument.presentationml.tags+xml"/>
  <Override PartName="/ppt/notesSlides/notesSlide6.xml" ContentType="application/vnd.openxmlformats-officedocument.presentationml.notesSlide+xml"/>
  <Override PartName="/ppt/tags/tag108.xml" ContentType="application/vnd.openxmlformats-officedocument.presentationml.tags+xml"/>
  <Override PartName="/ppt/tags/tag155.xml" ContentType="application/vnd.openxmlformats-officedocument.presentationml.tags+xml"/>
  <Override PartName="/ppt/tags/tag341.xml" ContentType="application/vnd.openxmlformats-officedocument.presentationml.tags+xml"/>
  <Override PartName="/ppt/tags/tag439.xml" ContentType="application/vnd.openxmlformats-officedocument.presentationml.tags+xml"/>
  <Override PartName="/ppt/slides/slide87.xml" ContentType="application/vnd.openxmlformats-officedocument.presentationml.slide+xml"/>
  <Override PartName="/ppt/tags/tag133.xml" ContentType="application/vnd.openxmlformats-officedocument.presentationml.tags+xml"/>
  <Override PartName="/ppt/tags/tag180.xml" ContentType="application/vnd.openxmlformats-officedocument.presentationml.tags+xml"/>
  <Override PartName="/ppt/tags/tag278.xml" ContentType="application/vnd.openxmlformats-officedocument.presentationml.tags+xml"/>
  <Override PartName="/ppt/tags/tag417.xml" ContentType="application/vnd.openxmlformats-officedocument.presentationml.tags+xml"/>
  <Override PartName="/ppt/slides/slide113.xml" ContentType="application/vnd.openxmlformats-officedocument.presentationml.slide+xml"/>
  <Override PartName="/ppt/tags/tag209.xml" ContentType="application/vnd.openxmlformats-officedocument.presentationml.tags+xml"/>
  <Override PartName="/ppt/tags/tag256.xml" ContentType="application/vnd.openxmlformats-officedocument.presentationml.tags+xml"/>
  <Override PartName="/ppt/notesSlides/notesSlide78.xml" ContentType="application/vnd.openxmlformats-officedocument.presentationml.notesSlide+xml"/>
  <Override PartName="/ppt/slides/slide18.xml" ContentType="application/vnd.openxmlformats-officedocument.presentationml.slide+xml"/>
  <Override PartName="/ppt/slides/slide65.xml" ContentType="application/vnd.openxmlformats-officedocument.presentationml.slide+xml"/>
  <Override PartName="/ppt/slideLayouts/slideLayout17.xml" ContentType="application/vnd.openxmlformats-officedocument.presentationml.slideLayout+xml"/>
  <Override PartName="/ppt/tags/tag4.xml" ContentType="application/vnd.openxmlformats-officedocument.presentationml.tags+xml"/>
  <Override PartName="/ppt/tags/tag111.xml" ContentType="application/vnd.openxmlformats-officedocument.presentationml.tags+xml"/>
  <Override PartName="/ppt/tags/tag442.xml" ContentType="application/vnd.openxmlformats-officedocument.presentationml.tags+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tags/tag78.xml" ContentType="application/vnd.openxmlformats-officedocument.presentationml.tags+xml"/>
  <Override PartName="/ppt/tags/tag234.xml" ContentType="application/vnd.openxmlformats-officedocument.presentationml.tags+xml"/>
  <Override PartName="/ppt/notesSlides/notesSlide56.xml" ContentType="application/vnd.openxmlformats-officedocument.presentationml.notesSlide+xml"/>
  <Override PartName="/ppt/tags/tag281.xml" ContentType="application/vnd.openxmlformats-officedocument.presentationml.tags+xml"/>
  <Override PartName="/ppt/tags/tag379.xml" ContentType="application/vnd.openxmlformats-officedocument.presentationml.tags+xml"/>
  <Override PartName="/ppt/tags/tag56.xml" ContentType="application/vnd.openxmlformats-officedocument.presentationml.tags+xml"/>
  <Default Extension="docx" ContentType="application/vnd.openxmlformats-officedocument.wordprocessingml.document"/>
  <Override PartName="/ppt/notesSlides/notesSlide34.xml" ContentType="application/vnd.openxmlformats-officedocument.presentationml.notesSlide+xml"/>
  <Override PartName="/ppt/tags/tag357.xml" ContentType="application/vnd.openxmlformats-officedocument.presentationml.tags+xml"/>
  <Override PartName="/ppt/tags/tag420.xml" ContentType="application/vnd.openxmlformats-officedocument.presentationml.tags+xml"/>
  <Override PartName="/ppt/notesSlides/notesSlide81.xml" ContentType="application/vnd.openxmlformats-officedocument.presentationml.notesSlide+xml"/>
  <Override PartName="/ppt/slides/slide21.xml" ContentType="application/vnd.openxmlformats-officedocument.presentationml.slide+xml"/>
  <Override PartName="/ppt/slideLayouts/slideLayout20.xml" ContentType="application/vnd.openxmlformats-officedocument.presentationml.slideLayout+xml"/>
  <Override PartName="/ppt/tags/tag149.xml" ContentType="application/vnd.openxmlformats-officedocument.presentationml.tags+xml"/>
  <Override PartName="/ppt/tags/tag196.xml" ContentType="application/vnd.openxmlformats-officedocument.presentationml.tags+xml"/>
  <Override PartName="/ppt/tags/tag212.xml" ContentType="application/vnd.openxmlformats-officedocument.presentationml.tags+xml"/>
  <Override PartName="/docProps/custom.xml" ContentType="application/vnd.openxmlformats-officedocument.custom-properties+xml"/>
  <Override PartName="/ppt/slides/slide129.xml" ContentType="application/vnd.openxmlformats-officedocument.presentationml.slide+xml"/>
  <Override PartName="/ppt/tags/tag34.xml" ContentType="application/vnd.openxmlformats-officedocument.presentationml.tags+xml"/>
  <Override PartName="/ppt/tags/tag81.xml" ContentType="application/vnd.openxmlformats-officedocument.presentationml.tags+xml"/>
  <Override PartName="/ppt/notesSlides/notesSlide12.xml" ContentType="application/vnd.openxmlformats-officedocument.presentationml.notesSlide+xml"/>
  <Override PartName="/ppt/tags/tag335.xml" ContentType="application/vnd.openxmlformats-officedocument.presentationml.tags+xml"/>
  <Override PartName="/ppt/tags/tag382.xml" ContentType="application/vnd.openxmlformats-officedocument.presentationml.tags+xml"/>
  <Override PartName="/ppt/tags/tag12.xml" ContentType="application/vnd.openxmlformats-officedocument.presentationml.tags+xml"/>
  <Override PartName="/ppt/tags/tag127.xml" ContentType="application/vnd.openxmlformats-officedocument.presentationml.tags+xml"/>
  <Override PartName="/ppt/tags/tag174.xml" ContentType="application/vnd.openxmlformats-officedocument.presentationml.tags+xml"/>
  <Override PartName="/ppt/tags/tag313.xml" ContentType="application/vnd.openxmlformats-officedocument.presentationml.tags+xml"/>
  <Override PartName="/ppt/tags/tag360.xml" ContentType="application/vnd.openxmlformats-officedocument.presentationml.tags+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tags/tag105.xml" ContentType="application/vnd.openxmlformats-officedocument.presentationml.tags+xml"/>
  <Override PartName="/ppt/tags/tag152.xml" ContentType="application/vnd.openxmlformats-officedocument.presentationml.tags+xml"/>
  <Override PartName="/ppt/tags/tag297.xml" ContentType="application/vnd.openxmlformats-officedocument.presentationml.tags+xml"/>
  <Override PartName="/ppt/tags/tag436.xml" ContentType="application/vnd.openxmlformats-officedocument.presentationml.tags+xml"/>
  <Override PartName="/ppt/notesSlides/notesSlide3.xml" ContentType="application/vnd.openxmlformats-officedocument.presentationml.notesSlide+xml"/>
  <Override PartName="/ppt/tags/tag228.xml" ContentType="application/vnd.openxmlformats-officedocument.presentationml.tags+xml"/>
  <Override PartName="/ppt/tags/tag275.xml" ContentType="application/vnd.openxmlformats-officedocument.presentationml.tags+xml"/>
  <Override PartName="/ppt/slides/slide37.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ags/tag130.xml" ContentType="application/vnd.openxmlformats-officedocument.presentationml.tags+xml"/>
  <Override PartName="/ppt/tags/tag414.xml" ContentType="application/vnd.openxmlformats-officedocument.presentationml.tags+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tags/tag97.xml" ContentType="application/vnd.openxmlformats-officedocument.presentationml.tags+xml"/>
  <Override PartName="/ppt/notesSlides/notesSlide28.xml" ContentType="application/vnd.openxmlformats-officedocument.presentationml.notesSlide+xml"/>
  <Override PartName="/ppt/tags/tag206.xml" ContentType="application/vnd.openxmlformats-officedocument.presentationml.tags+xml"/>
  <Override PartName="/ppt/tags/tag253.xml" ContentType="application/vnd.openxmlformats-officedocument.presentationml.tags+xml"/>
  <Override PartName="/ppt/notesSlides/notesSlide75.xml" ContentType="application/vnd.openxmlformats-officedocument.presentationml.notesSlide+xml"/>
  <Override PartName="/ppt/tags/tag398.xml" ContentType="application/vnd.openxmlformats-officedocument.presentationml.tags+xml"/>
  <Override PartName="/ppt/slideLayouts/slideLayout14.xml" ContentType="application/vnd.openxmlformats-officedocument.presentationml.slideLayout+xml"/>
  <Override PartName="/ppt/tags/tag1.xml" ContentType="application/vnd.openxmlformats-officedocument.presentationml.tags+xml"/>
  <Override PartName="/ppt/tags/tag28.xml" ContentType="application/vnd.openxmlformats-officedocument.presentationml.tags+xml"/>
  <Override PartName="/ppt/tags/tag75.xml" ContentType="application/vnd.openxmlformats-officedocument.presentationml.tags+xml"/>
  <Override PartName="/ppt/notesSlides/notesSlide53.xml" ContentType="application/vnd.openxmlformats-officedocument.presentationml.notesSlide+xml"/>
  <Override PartName="/ppt/tags/tag231.xml" ContentType="application/vnd.openxmlformats-officedocument.presentationml.tags+xml"/>
  <Override PartName="/ppt/tags/tag329.xml" ContentType="application/vnd.openxmlformats-officedocument.presentationml.tags+xml"/>
  <Override PartName="/ppt/tags/tag376.xml" ContentType="application/vnd.openxmlformats-officedocument.presentationml.tags+xml"/>
  <Override PartName="/ppt/slides/slide40.xml" ContentType="application/vnd.openxmlformats-officedocument.presentationml.slide+xml"/>
  <Override PartName="/ppt/tags/tag168.xml" ContentType="application/vnd.openxmlformats-officedocument.presentationml.tags+xml"/>
  <Override PartName="/ppt/tags/tag53.xml" ContentType="application/vnd.openxmlformats-officedocument.presentationml.tags+xml"/>
  <Default Extension="vml" ContentType="application/vnd.openxmlformats-officedocument.vmlDrawing"/>
  <Override PartName="/ppt/notesSlides/notesSlide31.xml" ContentType="application/vnd.openxmlformats-officedocument.presentationml.notesSlide+xml"/>
  <Override PartName="/ppt/tags/tag307.xml" ContentType="application/vnd.openxmlformats-officedocument.presentationml.tags+xml"/>
  <Override PartName="/ppt/tags/tag354.xml" ContentType="application/vnd.openxmlformats-officedocument.presentationml.tags+xml"/>
  <Override PartName="/ppt/slides/slide126.xml" ContentType="application/vnd.openxmlformats-officedocument.presentationml.slide+xml"/>
  <Override PartName="/ppt/tags/tag31.xml" ContentType="application/vnd.openxmlformats-officedocument.presentationml.tags+xml"/>
  <Override PartName="/ppt/tags/tag146.xml" ContentType="application/vnd.openxmlformats-officedocument.presentationml.tags+xml"/>
  <Override PartName="/ppt/tags/tag193.xml" ContentType="application/vnd.openxmlformats-officedocument.presentationml.tags+xml"/>
  <Override PartName="/ppt/tags/tag332.xml" ContentType="application/vnd.openxmlformats-officedocument.presentationml.tags+xml"/>
  <Override PartName="/ppt/slides/slide78.xml" ContentType="application/vnd.openxmlformats-officedocument.presentationml.slide+xml"/>
  <Override PartName="/ppt/tags/tag124.xml" ContentType="application/vnd.openxmlformats-officedocument.presentationml.tags+xml"/>
  <Override PartName="/ppt/tags/tag171.xml" ContentType="application/vnd.openxmlformats-officedocument.presentationml.tags+xml"/>
  <Override PartName="/ppt/tags/tag269.xml" ContentType="application/vnd.openxmlformats-officedocument.presentationml.tags+xml"/>
  <Override PartName="/ppt/tags/tag408.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tags/tag247.xml" ContentType="application/vnd.openxmlformats-officedocument.presentationml.tags+xml"/>
  <Override PartName="/ppt/tags/tag294.xml" ContentType="application/vnd.openxmlformats-officedocument.presentationml.tags+xml"/>
  <Override PartName="/ppt/notesSlides/notesSlide69.xml" ContentType="application/vnd.openxmlformats-officedocument.presentationml.notesSlide+xml"/>
  <Override PartName="/ppt/tags/tag310.xml" ContentType="application/vnd.openxmlformats-officedocument.presentationml.tags+xml"/>
  <Override PartName="/ppt/slideMasters/slideMaster1.xml" ContentType="application/vnd.openxmlformats-officedocument.presentationml.slideMaster+xml"/>
  <Override PartName="/ppt/tags/tag102.xml" ContentType="application/vnd.openxmlformats-officedocument.presentationml.tags+xml"/>
  <Override PartName="/ppt/notesSlides/notesSlide47.xml" ContentType="application/vnd.openxmlformats-officedocument.presentationml.notesSlide+xml"/>
  <Override PartName="/ppt/tags/tag433.xml" ContentType="application/vnd.openxmlformats-officedocument.presentationml.tags+xml"/>
  <Override PartName="/ppt/slides/slide34.xml" ContentType="application/vnd.openxmlformats-officedocument.presentationml.slide+xml"/>
  <Override PartName="/ppt/slides/slide81.xml" ContentType="application/vnd.openxmlformats-officedocument.presentationml.slide+xml"/>
  <Override PartName="/ppt/tags/tag69.xml" ContentType="application/vnd.openxmlformats-officedocument.presentationml.tags+xml"/>
  <Override PartName="/ppt/tags/tag225.xml" ContentType="application/vnd.openxmlformats-officedocument.presentationml.tags+xml"/>
  <Override PartName="/ppt/tags/tag272.xml" ContentType="application/vnd.openxmlformats-officedocument.presentationml.tags+xml"/>
  <Override PartName="/ppt/tags/tag411.xml" ContentType="application/vnd.openxmlformats-officedocument.presentationml.tags+xml"/>
  <Default Extension="rels" ContentType="application/vnd.openxmlformats-package.relationships+xml"/>
  <Override PartName="/ppt/tags/tag47.xml" ContentType="application/vnd.openxmlformats-officedocument.presentationml.tags+xml"/>
  <Override PartName="/ppt/tags/tag94.xml" ContentType="application/vnd.openxmlformats-officedocument.presentationml.tags+xml"/>
  <Override PartName="/ppt/notesSlides/notesSlide25.xml" ContentType="application/vnd.openxmlformats-officedocument.presentationml.notesSlide+xml"/>
  <Override PartName="/ppt/tags/tag203.xml" ContentType="application/vnd.openxmlformats-officedocument.presentationml.tags+xml"/>
  <Override PartName="/ppt/tags/tag250.xml" ContentType="application/vnd.openxmlformats-officedocument.presentationml.tags+xml"/>
  <Override PartName="/ppt/notesSlides/notesSlide72.xml" ContentType="application/vnd.openxmlformats-officedocument.presentationml.notesSlide+xml"/>
  <Override PartName="/ppt/tags/tag348.xml" ContentType="application/vnd.openxmlformats-officedocument.presentationml.tags+xml"/>
  <Override PartName="/ppt/tags/tag395.xml" ContentType="application/vnd.openxmlformats-officedocument.presentationml.tags+xml"/>
  <Override PartName="/ppt/slides/slide12.xml" ContentType="application/vnd.openxmlformats-officedocument.presentationml.slide+xml"/>
  <Override PartName="/ppt/slideLayouts/slideLayout11.xml" ContentType="application/vnd.openxmlformats-officedocument.presentationml.slideLayout+xml"/>
  <Override PartName="/ppt/tags/tag187.xml" ContentType="application/vnd.openxmlformats-officedocument.presentationml.tags+xml"/>
  <Override PartName="/ppt/tags/tag25.xml" ContentType="application/vnd.openxmlformats-officedocument.presentationml.tags+xml"/>
  <Override PartName="/ppt/tags/tag72.xml" ContentType="application/vnd.openxmlformats-officedocument.presentationml.tags+xml"/>
  <Override PartName="/ppt/tags/tag118.xml" ContentType="application/vnd.openxmlformats-officedocument.presentationml.tags+xml"/>
  <Override PartName="/ppt/tags/tag165.xml" ContentType="application/vnd.openxmlformats-officedocument.presentationml.tags+xml"/>
  <Override PartName="/ppt/notesSlides/notesSlide50.xml" ContentType="application/vnd.openxmlformats-officedocument.presentationml.notesSlide+xml"/>
  <Override PartName="/ppt/tags/tag326.xml" ContentType="application/vnd.openxmlformats-officedocument.presentationml.tags+xml"/>
  <Override PartName="/ppt/tags/tag373.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133"/>
  </p:notesMasterIdLst>
  <p:sldIdLst>
    <p:sldId id="257" r:id="rId3"/>
    <p:sldId id="320" r:id="rId4"/>
    <p:sldId id="258" r:id="rId5"/>
    <p:sldId id="259" r:id="rId6"/>
    <p:sldId id="267" r:id="rId7"/>
    <p:sldId id="276" r:id="rId8"/>
    <p:sldId id="284" r:id="rId9"/>
    <p:sldId id="285" r:id="rId10"/>
    <p:sldId id="362" r:id="rId11"/>
    <p:sldId id="363" r:id="rId12"/>
    <p:sldId id="268" r:id="rId13"/>
    <p:sldId id="277" r:id="rId14"/>
    <p:sldId id="287" r:id="rId15"/>
    <p:sldId id="399" r:id="rId16"/>
    <p:sldId id="400" r:id="rId17"/>
    <p:sldId id="401" r:id="rId18"/>
    <p:sldId id="402" r:id="rId19"/>
    <p:sldId id="286" r:id="rId20"/>
    <p:sldId id="403" r:id="rId21"/>
    <p:sldId id="288" r:id="rId22"/>
    <p:sldId id="404" r:id="rId23"/>
    <p:sldId id="405" r:id="rId24"/>
    <p:sldId id="506" r:id="rId25"/>
    <p:sldId id="508" r:id="rId26"/>
    <p:sldId id="531" r:id="rId27"/>
    <p:sldId id="507" r:id="rId28"/>
    <p:sldId id="289" r:id="rId29"/>
    <p:sldId id="509" r:id="rId30"/>
    <p:sldId id="510" r:id="rId31"/>
    <p:sldId id="512" r:id="rId32"/>
    <p:sldId id="513" r:id="rId33"/>
    <p:sldId id="269" r:id="rId34"/>
    <p:sldId id="278" r:id="rId35"/>
    <p:sldId id="290" r:id="rId36"/>
    <p:sldId id="407" r:id="rId37"/>
    <p:sldId id="291" r:id="rId38"/>
    <p:sldId id="411" r:id="rId39"/>
    <p:sldId id="415" r:id="rId40"/>
    <p:sldId id="416" r:id="rId41"/>
    <p:sldId id="417" r:id="rId42"/>
    <p:sldId id="412" r:id="rId43"/>
    <p:sldId id="413" r:id="rId44"/>
    <p:sldId id="514" r:id="rId45"/>
    <p:sldId id="515" r:id="rId46"/>
    <p:sldId id="516" r:id="rId47"/>
    <p:sldId id="517" r:id="rId48"/>
    <p:sldId id="518" r:id="rId49"/>
    <p:sldId id="519" r:id="rId50"/>
    <p:sldId id="520" r:id="rId51"/>
    <p:sldId id="521" r:id="rId52"/>
    <p:sldId id="270" r:id="rId53"/>
    <p:sldId id="293" r:id="rId54"/>
    <p:sldId id="532" r:id="rId55"/>
    <p:sldId id="418" r:id="rId56"/>
    <p:sldId id="294" r:id="rId57"/>
    <p:sldId id="419" r:id="rId58"/>
    <p:sldId id="533" r:id="rId59"/>
    <p:sldId id="420" r:id="rId60"/>
    <p:sldId id="421" r:id="rId61"/>
    <p:sldId id="422" r:id="rId62"/>
    <p:sldId id="295" r:id="rId63"/>
    <p:sldId id="423" r:id="rId64"/>
    <p:sldId id="271" r:id="rId65"/>
    <p:sldId id="280" r:id="rId66"/>
    <p:sldId id="493" r:id="rId67"/>
    <p:sldId id="494" r:id="rId68"/>
    <p:sldId id="495" r:id="rId69"/>
    <p:sldId id="496" r:id="rId70"/>
    <p:sldId id="497" r:id="rId71"/>
    <p:sldId id="498" r:id="rId72"/>
    <p:sldId id="499" r:id="rId73"/>
    <p:sldId id="502" r:id="rId74"/>
    <p:sldId id="503" r:id="rId75"/>
    <p:sldId id="504" r:id="rId76"/>
    <p:sldId id="505" r:id="rId77"/>
    <p:sldId id="500" r:id="rId78"/>
    <p:sldId id="501" r:id="rId79"/>
    <p:sldId id="272" r:id="rId80"/>
    <p:sldId id="281" r:id="rId81"/>
    <p:sldId id="300" r:id="rId82"/>
    <p:sldId id="481" r:id="rId83"/>
    <p:sldId id="482" r:id="rId84"/>
    <p:sldId id="483" r:id="rId85"/>
    <p:sldId id="484" r:id="rId86"/>
    <p:sldId id="301" r:id="rId87"/>
    <p:sldId id="487" r:id="rId88"/>
    <p:sldId id="488" r:id="rId89"/>
    <p:sldId id="489" r:id="rId90"/>
    <p:sldId id="490" r:id="rId91"/>
    <p:sldId id="275" r:id="rId92"/>
    <p:sldId id="282" r:id="rId93"/>
    <p:sldId id="302" r:id="rId94"/>
    <p:sldId id="465" r:id="rId95"/>
    <p:sldId id="466" r:id="rId96"/>
    <p:sldId id="467" r:id="rId97"/>
    <p:sldId id="468" r:id="rId98"/>
    <p:sldId id="469" r:id="rId99"/>
    <p:sldId id="470" r:id="rId100"/>
    <p:sldId id="473" r:id="rId101"/>
    <p:sldId id="474" r:id="rId102"/>
    <p:sldId id="471" r:id="rId103"/>
    <p:sldId id="303" r:id="rId104"/>
    <p:sldId id="522" r:id="rId105"/>
    <p:sldId id="523" r:id="rId106"/>
    <p:sldId id="534" r:id="rId107"/>
    <p:sldId id="524" r:id="rId108"/>
    <p:sldId id="527" r:id="rId109"/>
    <p:sldId id="528" r:id="rId110"/>
    <p:sldId id="529" r:id="rId111"/>
    <p:sldId id="530" r:id="rId112"/>
    <p:sldId id="304" r:id="rId113"/>
    <p:sldId id="475" r:id="rId114"/>
    <p:sldId id="479" r:id="rId115"/>
    <p:sldId id="476" r:id="rId116"/>
    <p:sldId id="477" r:id="rId117"/>
    <p:sldId id="478" r:id="rId118"/>
    <p:sldId id="273" r:id="rId119"/>
    <p:sldId id="283" r:id="rId120"/>
    <p:sldId id="305" r:id="rId121"/>
    <p:sldId id="455" r:id="rId122"/>
    <p:sldId id="456" r:id="rId123"/>
    <p:sldId id="457" r:id="rId124"/>
    <p:sldId id="459" r:id="rId125"/>
    <p:sldId id="458" r:id="rId126"/>
    <p:sldId id="306" r:id="rId127"/>
    <p:sldId id="460" r:id="rId128"/>
    <p:sldId id="461" r:id="rId129"/>
    <p:sldId id="464" r:id="rId130"/>
    <p:sldId id="321" r:id="rId131"/>
    <p:sldId id="535" r:id="rId132"/>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055" autoAdjust="0"/>
    <p:restoredTop sz="94660"/>
  </p:normalViewPr>
  <p:slideViewPr>
    <p:cSldViewPr snapToGrid="0">
      <p:cViewPr>
        <p:scale>
          <a:sx n="80" d="100"/>
          <a:sy n="80" d="100"/>
        </p:scale>
        <p:origin x="-1542" y="-1200"/>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notesMaster" Target="notesMasters/notesMaster1.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13" Type="http://schemas.openxmlformats.org/officeDocument/2006/relationships/slide" Target="slides/slide111.xml"/><Relationship Id="rId118" Type="http://schemas.openxmlformats.org/officeDocument/2006/relationships/slide" Target="slides/slide116.xml"/><Relationship Id="rId126" Type="http://schemas.openxmlformats.org/officeDocument/2006/relationships/slide" Target="slides/slide124.xml"/><Relationship Id="rId13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slide" Target="slides/slide122.xml"/><Relationship Id="rId129" Type="http://schemas.openxmlformats.org/officeDocument/2006/relationships/slide" Target="slides/slide127.xml"/><Relationship Id="rId13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32" Type="http://schemas.openxmlformats.org/officeDocument/2006/relationships/slide" Target="slides/slide13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slide" Target="slides/slide128.xml"/><Relationship Id="rId13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theme" Target="theme/theme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4"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 Id="rId5" Type="http://schemas.openxmlformats.org/officeDocument/2006/relationships/image" Target="../media/image59.wmf"/><Relationship Id="rId4" Type="http://schemas.openxmlformats.org/officeDocument/2006/relationships/image" Target="../media/image58.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2.wmf"/><Relationship Id="rId7" Type="http://schemas.openxmlformats.org/officeDocument/2006/relationships/image" Target="../media/image66.wmf"/><Relationship Id="rId2" Type="http://schemas.openxmlformats.org/officeDocument/2006/relationships/image" Target="../media/image61.wmf"/><Relationship Id="rId1" Type="http://schemas.openxmlformats.org/officeDocument/2006/relationships/image" Target="../media/image60.wmf"/><Relationship Id="rId6" Type="http://schemas.openxmlformats.org/officeDocument/2006/relationships/image" Target="../media/image65.wmf"/><Relationship Id="rId5" Type="http://schemas.openxmlformats.org/officeDocument/2006/relationships/image" Target="../media/image64.wmf"/><Relationship Id="rId4" Type="http://schemas.openxmlformats.org/officeDocument/2006/relationships/image" Target="../media/image63.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 Id="rId4" Type="http://schemas.openxmlformats.org/officeDocument/2006/relationships/image" Target="../media/image70.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78.wmf"/><Relationship Id="rId13" Type="http://schemas.openxmlformats.org/officeDocument/2006/relationships/image" Target="../media/image83.wmf"/><Relationship Id="rId3" Type="http://schemas.openxmlformats.org/officeDocument/2006/relationships/image" Target="../media/image73.wmf"/><Relationship Id="rId7" Type="http://schemas.openxmlformats.org/officeDocument/2006/relationships/image" Target="../media/image77.wmf"/><Relationship Id="rId12" Type="http://schemas.openxmlformats.org/officeDocument/2006/relationships/image" Target="../media/image82.wmf"/><Relationship Id="rId2" Type="http://schemas.openxmlformats.org/officeDocument/2006/relationships/image" Target="../media/image72.wmf"/><Relationship Id="rId1" Type="http://schemas.openxmlformats.org/officeDocument/2006/relationships/image" Target="../media/image71.wmf"/><Relationship Id="rId6" Type="http://schemas.openxmlformats.org/officeDocument/2006/relationships/image" Target="../media/image76.wmf"/><Relationship Id="rId11" Type="http://schemas.openxmlformats.org/officeDocument/2006/relationships/image" Target="../media/image81.wmf"/><Relationship Id="rId5" Type="http://schemas.openxmlformats.org/officeDocument/2006/relationships/image" Target="../media/image75.wmf"/><Relationship Id="rId10" Type="http://schemas.openxmlformats.org/officeDocument/2006/relationships/image" Target="../media/image80.wmf"/><Relationship Id="rId4" Type="http://schemas.openxmlformats.org/officeDocument/2006/relationships/image" Target="../media/image74.wmf"/><Relationship Id="rId9" Type="http://schemas.openxmlformats.org/officeDocument/2006/relationships/image" Target="../media/image7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pPr/>
              <a:t>2017/3/30</a:t>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480660" y="1279525"/>
            <a:ext cx="6141156" cy="3454400"/>
          </a:xfrm>
        </p:spPr>
      </p:sp>
      <p:sp>
        <p:nvSpPr>
          <p:cNvPr id="6147" name="备注占位符 2"/>
          <p:cNvSpPr>
            <a:spLocks noGrp="1"/>
          </p:cNvSpPr>
          <p:nvPr>
            <p:ph type="body" idx="1"/>
          </p:nvPr>
        </p:nvSpPr>
        <p:spPr>
          <a:noFill/>
        </p:spPr>
        <p:txBody>
          <a:bodyPr anchor="t"/>
          <a:lstStyle/>
          <a:p>
            <a:pPr eaLnBrk="1" hangingPunct="1">
              <a:spcBef>
                <a:spcPct val="0"/>
              </a:spcBef>
            </a:pPr>
            <a:r>
              <a:rPr lang="zh-CN" altLang="en-US" smtClean="0">
                <a:ea typeface="宋体" panose="02010600030101010101" pitchFamily="2" charset="-122"/>
              </a:rPr>
              <a:t>模板来自于 </a:t>
            </a:r>
            <a:r>
              <a:rPr lang="en-US" altLang="zh-CN" dirty="0" smtClean="0">
                <a:ea typeface="宋体" panose="02010600030101010101" pitchFamily="2" charset="-122"/>
              </a:rPr>
              <a:t>http://docer.wps.cn</a:t>
            </a:r>
            <a:endParaRPr lang="zh-CN" altLang="en-US" smtClean="0">
              <a:ea typeface="宋体" panose="02010600030101010101" pitchFamily="2" charset="-122"/>
            </a:endParaRPr>
          </a:p>
        </p:txBody>
      </p:sp>
      <p:sp>
        <p:nvSpPr>
          <p:cNvPr id="6148" name="灯片编号占位符 3"/>
          <p:cNvSpPr txBox="1">
            <a:spLocks noGrp="1" noChangeArrowheads="1"/>
          </p:cNvSpPr>
          <p:nvPr/>
        </p:nvSpPr>
        <p:spPr bwMode="auto">
          <a:xfrm>
            <a:off x="4023992" y="9721107"/>
            <a:ext cx="3078427" cy="513507"/>
          </a:xfrm>
          <a:prstGeom prst="rect">
            <a:avLst/>
          </a:prstGeom>
          <a:noFill/>
          <a:ln w="9525">
            <a:noFill/>
            <a:miter lim="800000"/>
          </a:ln>
        </p:spPr>
        <p:txBody>
          <a:bodyPr lIns="99075" tIns="49538" rIns="99075" bIns="49538" anchor="b"/>
          <a:lstStyle/>
          <a:p>
            <a:pPr algn="r" eaLnBrk="1" hangingPunct="1">
              <a:buFont typeface="Arial" panose="020B0604020202020204" pitchFamily="34" charset="0"/>
              <a:buNone/>
            </a:pPr>
            <a:fld id="{AAED0429-06AC-4391-B511-C2D4F3A38C12}" type="slidenum">
              <a:rPr lang="zh-CN" altLang="en-US" sz="1300">
                <a:latin typeface="Calibri" panose="020F0502020204030204" charset="0"/>
                <a:ea typeface="宋体" panose="02010600030101010101" pitchFamily="2" charset="-122"/>
              </a:rPr>
              <a:pPr algn="r" eaLnBrk="1" hangingPunct="1">
                <a:buFont typeface="Arial" panose="020B0604020202020204" pitchFamily="34" charset="0"/>
                <a:buNone/>
              </a:pPr>
              <a:t>3</a:t>
            </a:fld>
            <a:endParaRPr lang="zh-CN" altLang="en-US" sz="1300" dirty="0">
              <a:latin typeface="Calibri" panose="020F050202020403020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480660" y="1279525"/>
            <a:ext cx="6141156" cy="3454400"/>
          </a:xfrm>
        </p:spPr>
      </p:sp>
      <p:sp>
        <p:nvSpPr>
          <p:cNvPr id="6147" name="备注占位符 2"/>
          <p:cNvSpPr>
            <a:spLocks noGrp="1"/>
          </p:cNvSpPr>
          <p:nvPr>
            <p:ph type="body" idx="1"/>
          </p:nvPr>
        </p:nvSpPr>
        <p:spPr>
          <a:noFill/>
        </p:spPr>
        <p:txBody>
          <a:bodyPr anchor="t"/>
          <a:lstStyle/>
          <a:p>
            <a:pPr eaLnBrk="1" hangingPunct="1">
              <a:spcBef>
                <a:spcPct val="0"/>
              </a:spcBef>
            </a:pPr>
            <a:r>
              <a:rPr lang="zh-CN" altLang="en-US" smtClean="0">
                <a:ea typeface="宋体" panose="02010600030101010101" pitchFamily="2" charset="-122"/>
              </a:rPr>
              <a:t>模板来自于 </a:t>
            </a:r>
            <a:r>
              <a:rPr lang="en-US" altLang="zh-CN" dirty="0" smtClean="0">
                <a:ea typeface="宋体" panose="02010600030101010101" pitchFamily="2" charset="-122"/>
              </a:rPr>
              <a:t>http://docer.wps.cn</a:t>
            </a:r>
            <a:endParaRPr lang="zh-CN" altLang="en-US" smtClean="0">
              <a:ea typeface="宋体" panose="02010600030101010101" pitchFamily="2" charset="-122"/>
            </a:endParaRPr>
          </a:p>
        </p:txBody>
      </p:sp>
      <p:sp>
        <p:nvSpPr>
          <p:cNvPr id="6148" name="灯片编号占位符 3"/>
          <p:cNvSpPr txBox="1">
            <a:spLocks noGrp="1" noChangeArrowheads="1"/>
          </p:cNvSpPr>
          <p:nvPr/>
        </p:nvSpPr>
        <p:spPr bwMode="auto">
          <a:xfrm>
            <a:off x="4023992" y="9721107"/>
            <a:ext cx="3078427" cy="513507"/>
          </a:xfrm>
          <a:prstGeom prst="rect">
            <a:avLst/>
          </a:prstGeom>
          <a:noFill/>
          <a:ln w="9525">
            <a:noFill/>
            <a:miter lim="800000"/>
          </a:ln>
        </p:spPr>
        <p:txBody>
          <a:bodyPr lIns="99075" tIns="49538" rIns="99075" bIns="49538" anchor="b"/>
          <a:lstStyle/>
          <a:p>
            <a:pPr algn="r" eaLnBrk="1" hangingPunct="1">
              <a:buFont typeface="Arial" panose="020B0604020202020204" pitchFamily="34" charset="0"/>
              <a:buNone/>
            </a:pPr>
            <a:fld id="{AAED0429-06AC-4391-B511-C2D4F3A38C12}" type="slidenum">
              <a:rPr lang="zh-CN" altLang="en-US" sz="1300">
                <a:latin typeface="Calibri" panose="020F0502020204030204" charset="0"/>
                <a:ea typeface="宋体" panose="02010600030101010101" pitchFamily="2" charset="-122"/>
              </a:rPr>
              <a:pPr algn="r" eaLnBrk="1" hangingPunct="1">
                <a:buFont typeface="Arial" panose="020B0604020202020204" pitchFamily="34" charset="0"/>
                <a:buNone/>
              </a:pPr>
              <a:t>4</a:t>
            </a:fld>
            <a:endParaRPr lang="zh-CN" altLang="en-US" sz="1300" dirty="0">
              <a:latin typeface="Calibri" panose="020F050202020403020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slideMaster" Target="../slideMasters/slideMaster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p>
            <a:r>
              <a:rPr lang="zh-CN" altLang="en-US" smtClean="0"/>
              <a:t>单击此处编辑母版标题样式</a:t>
            </a:r>
            <a:endParaRPr lang="zh-CN" altLang="en-US"/>
          </a:p>
        </p:txBody>
      </p:sp>
      <p:grpSp>
        <p:nvGrpSpPr>
          <p:cNvPr id="17" name="组合 16"/>
          <p:cNvGrpSpPr/>
          <p:nvPr userDrawn="1"/>
        </p:nvGrpSpPr>
        <p:grpSpPr>
          <a:xfrm>
            <a:off x="523836" y="1214422"/>
            <a:ext cx="3357586" cy="755143"/>
            <a:chOff x="523836" y="1428736"/>
            <a:chExt cx="3357586" cy="755143"/>
          </a:xfrm>
        </p:grpSpPr>
        <p:sp>
          <p:nvSpPr>
            <p:cNvPr id="18" name="任意多边形 17"/>
            <p:cNvSpPr/>
            <p:nvPr/>
          </p:nvSpPr>
          <p:spPr>
            <a:xfrm>
              <a:off x="523836" y="1428736"/>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6"/>
            <p:cNvSpPr txBox="1"/>
            <p:nvPr/>
          </p:nvSpPr>
          <p:spPr>
            <a:xfrm>
              <a:off x="809588" y="1617459"/>
              <a:ext cx="3071834"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endParaRPr lang="zh-CN" altLang="zh-CN" sz="2400" dirty="0">
                <a:solidFill>
                  <a:schemeClr val="tx1"/>
                </a:solidFill>
              </a:endParaRPr>
            </a:p>
          </p:txBody>
        </p:sp>
      </p:grpSp>
      <p:sp>
        <p:nvSpPr>
          <p:cNvPr id="7" name="矩形 6"/>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1"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grpSp>
        <p:nvGrpSpPr>
          <p:cNvPr id="3" name="组合 2"/>
          <p:cNvGrpSpPr/>
          <p:nvPr userDrawn="1"/>
        </p:nvGrpSpPr>
        <p:grpSpPr>
          <a:xfrm>
            <a:off x="403225" y="1775460"/>
            <a:ext cx="11303635" cy="4248150"/>
            <a:chOff x="1211" y="3019"/>
            <a:chExt cx="17232" cy="6690"/>
          </a:xfrm>
        </p:grpSpPr>
        <p:sp>
          <p:nvSpPr>
            <p:cNvPr id="10" name="矩形 9"/>
            <p:cNvSpPr/>
            <p:nvPr userDrawn="1"/>
          </p:nvSpPr>
          <p:spPr>
            <a:xfrm>
              <a:off x="1211" y="3245"/>
              <a:ext cx="17232" cy="63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rIns="216000" rtlCol="0" anchor="ctr"/>
            <a:lstStyle/>
            <a:p>
              <a:pPr algn="just">
                <a:lnSpc>
                  <a:spcPct val="200000"/>
                </a:lnSpc>
              </a:pPr>
              <a:endParaRPr lang="zh-CN" altLang="en-US" sz="1400">
                <a:solidFill>
                  <a:schemeClr val="tx1">
                    <a:lumMod val="75000"/>
                    <a:lumOff val="25000"/>
                  </a:schemeClr>
                </a:solidFill>
                <a:latin typeface="微软雅黑" panose="020B0503020204020204" charset="-122"/>
                <a:ea typeface="微软雅黑" panose="020B0503020204020204" charset="-122"/>
              </a:endParaRPr>
            </a:p>
          </p:txBody>
        </p:sp>
        <p:sp>
          <p:nvSpPr>
            <p:cNvPr id="11" name="矩形 10"/>
            <p:cNvSpPr/>
            <p:nvPr userDrawn="1"/>
          </p:nvSpPr>
          <p:spPr>
            <a:xfrm>
              <a:off x="1551" y="3019"/>
              <a:ext cx="1020" cy="6691"/>
            </a:xfrm>
            <a:prstGeom prst="rect">
              <a:avLst/>
            </a:prstGeom>
            <a:solidFill>
              <a:schemeClr val="accent3">
                <a:lumMod val="75000"/>
              </a:schemeClr>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a:solidFill>
                  <a:schemeClr val="bg1"/>
                </a:solidFill>
                <a:latin typeface="微软雅黑" panose="020B0503020204020204" charset="-122"/>
                <a:ea typeface="微软雅黑" panose="020B0503020204020204" charset="-122"/>
              </a:endParaRPr>
            </a:p>
          </p:txBody>
        </p:sp>
      </p:grpSp>
      <p:sp>
        <p:nvSpPr>
          <p:cNvPr id="2" name="标题 1"/>
          <p:cNvSpPr>
            <a:spLocks noGrp="1"/>
          </p:cNvSpPr>
          <p:nvPr>
            <p:ph type="title" hasCustomPrompt="1"/>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单击此处编辑母版标题样式1</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nvGrpSpPr>
          <p:cNvPr id="12" name="组合 11"/>
          <p:cNvGrpSpPr/>
          <p:nvPr userDrawn="1"/>
        </p:nvGrpSpPr>
        <p:grpSpPr>
          <a:xfrm>
            <a:off x="0" y="665480"/>
            <a:ext cx="12192000" cy="964565"/>
            <a:chOff x="0" y="-127"/>
            <a:chExt cx="19200" cy="1519"/>
          </a:xfrm>
        </p:grpSpPr>
        <p:cxnSp>
          <p:nvCxnSpPr>
            <p:cNvPr id="13" name="直接连接符 12"/>
            <p:cNvCxnSpPr/>
            <p:nvPr userDrawn="1"/>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32" name="矩形 31"/>
            <p:cNvSpPr/>
            <p:nvPr userDrawn="1"/>
          </p:nvSpPr>
          <p:spPr>
            <a:xfrm>
              <a:off x="0" y="434"/>
              <a:ext cx="16437"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1" name="矩形 20"/>
            <p:cNvSpPr/>
            <p:nvPr userDrawn="1"/>
          </p:nvSpPr>
          <p:spPr>
            <a:xfrm>
              <a:off x="18066" y="434"/>
              <a:ext cx="1134"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userDrawn="1"/>
          </p:nvSpPr>
          <p:spPr>
            <a:xfrm>
              <a:off x="16230" y="-127"/>
              <a:ext cx="2022" cy="1519"/>
            </a:xfrm>
            <a:prstGeom prst="rect">
              <a:avLst/>
            </a:prstGeom>
            <a:solidFill>
              <a:schemeClr val="bg2">
                <a:lumMod val="90000"/>
                <a:alpha val="85000"/>
              </a:scheme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endPar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endParaRPr>
            </a:p>
          </p:txBody>
        </p:sp>
      </p:gr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1_图片与标题">
    <p:spTree>
      <p:nvGrpSpPr>
        <p:cNvPr id="1" name=""/>
        <p:cNvGrpSpPr/>
        <p:nvPr/>
      </p:nvGrpSpPr>
      <p:grpSpPr>
        <a:xfrm>
          <a:off x="0" y="0"/>
          <a:ext cx="0" cy="0"/>
          <a:chOff x="0" y="0"/>
          <a:chExt cx="0" cy="0"/>
        </a:xfrm>
      </p:grpSpPr>
      <p:sp>
        <p:nvSpPr>
          <p:cNvPr id="8" name="矩形 7"/>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grpSp>
        <p:nvGrpSpPr>
          <p:cNvPr id="3" name="组合 2"/>
          <p:cNvGrpSpPr/>
          <p:nvPr userDrawn="1"/>
        </p:nvGrpSpPr>
        <p:grpSpPr>
          <a:xfrm>
            <a:off x="403225" y="1775460"/>
            <a:ext cx="11303635" cy="4248150"/>
            <a:chOff x="1211" y="3019"/>
            <a:chExt cx="17232" cy="6690"/>
          </a:xfrm>
        </p:grpSpPr>
        <p:sp>
          <p:nvSpPr>
            <p:cNvPr id="10" name="矩形 9"/>
            <p:cNvSpPr/>
            <p:nvPr userDrawn="1"/>
          </p:nvSpPr>
          <p:spPr>
            <a:xfrm>
              <a:off x="1211" y="3245"/>
              <a:ext cx="17232" cy="63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rIns="216000" rtlCol="0" anchor="ctr"/>
            <a:lstStyle/>
            <a:p>
              <a:pPr algn="just">
                <a:lnSpc>
                  <a:spcPct val="200000"/>
                </a:lnSpc>
              </a:pPr>
              <a:endParaRPr lang="zh-CN" altLang="en-US" sz="1400">
                <a:solidFill>
                  <a:schemeClr val="tx1">
                    <a:lumMod val="75000"/>
                    <a:lumOff val="25000"/>
                  </a:schemeClr>
                </a:solidFill>
                <a:latin typeface="微软雅黑" panose="020B0503020204020204" charset="-122"/>
                <a:ea typeface="微软雅黑" panose="020B0503020204020204" charset="-122"/>
              </a:endParaRPr>
            </a:p>
          </p:txBody>
        </p:sp>
        <p:sp>
          <p:nvSpPr>
            <p:cNvPr id="11" name="矩形 10"/>
            <p:cNvSpPr/>
            <p:nvPr userDrawn="1"/>
          </p:nvSpPr>
          <p:spPr>
            <a:xfrm>
              <a:off x="1551" y="3019"/>
              <a:ext cx="1020" cy="6691"/>
            </a:xfrm>
            <a:prstGeom prst="rect">
              <a:avLst/>
            </a:prstGeom>
            <a:solidFill>
              <a:schemeClr val="accent3">
                <a:lumMod val="75000"/>
              </a:schemeClr>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a:solidFill>
                  <a:schemeClr val="bg1"/>
                </a:solidFill>
                <a:latin typeface="微软雅黑" panose="020B0503020204020204" charset="-122"/>
                <a:ea typeface="微软雅黑" panose="020B0503020204020204" charset="-122"/>
              </a:endParaRPr>
            </a:p>
          </p:txBody>
        </p:sp>
      </p:grpSp>
      <p:sp>
        <p:nvSpPr>
          <p:cNvPr id="2" name="标题 1"/>
          <p:cNvSpPr>
            <a:spLocks noGrp="1"/>
          </p:cNvSpPr>
          <p:nvPr>
            <p:ph type="title" hasCustomPrompt="1"/>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单击此处编辑母版标题样式1</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nvGrpSpPr>
          <p:cNvPr id="12" name="组合 11"/>
          <p:cNvGrpSpPr/>
          <p:nvPr userDrawn="1"/>
        </p:nvGrpSpPr>
        <p:grpSpPr>
          <a:xfrm>
            <a:off x="0" y="665480"/>
            <a:ext cx="12192000" cy="964565"/>
            <a:chOff x="0" y="-127"/>
            <a:chExt cx="19200" cy="1519"/>
          </a:xfrm>
        </p:grpSpPr>
        <p:cxnSp>
          <p:nvCxnSpPr>
            <p:cNvPr id="13" name="直接连接符 12"/>
            <p:cNvCxnSpPr/>
            <p:nvPr userDrawn="1"/>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32" name="矩形 31"/>
            <p:cNvSpPr/>
            <p:nvPr userDrawn="1"/>
          </p:nvSpPr>
          <p:spPr>
            <a:xfrm>
              <a:off x="0" y="434"/>
              <a:ext cx="16437"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1" name="矩形 20"/>
            <p:cNvSpPr/>
            <p:nvPr userDrawn="1"/>
          </p:nvSpPr>
          <p:spPr>
            <a:xfrm>
              <a:off x="18066" y="434"/>
              <a:ext cx="1134"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userDrawn="1"/>
          </p:nvSpPr>
          <p:spPr>
            <a:xfrm>
              <a:off x="16230" y="-127"/>
              <a:ext cx="2022" cy="1519"/>
            </a:xfrm>
            <a:prstGeom prst="rect">
              <a:avLst/>
            </a:prstGeom>
            <a:solidFill>
              <a:schemeClr val="bg2">
                <a:lumMod val="90000"/>
                <a:alpha val="85000"/>
              </a:scheme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endPar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endParaRPr>
            </a:p>
          </p:txBody>
        </p:sp>
      </p:gr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p>
            <a:r>
              <a:rPr lang="zh-CN" altLang="en-US" smtClean="0"/>
              <a:t>单击此处编辑母版标题样式</a:t>
            </a:r>
            <a:endParaRPr lang="zh-CN" altLang="en-US"/>
          </a:p>
        </p:txBody>
      </p:sp>
      <p:grpSp>
        <p:nvGrpSpPr>
          <p:cNvPr id="17" name="组合 16"/>
          <p:cNvGrpSpPr/>
          <p:nvPr userDrawn="1"/>
        </p:nvGrpSpPr>
        <p:grpSpPr>
          <a:xfrm>
            <a:off x="523836" y="1214422"/>
            <a:ext cx="3357586" cy="755143"/>
            <a:chOff x="523836" y="1428736"/>
            <a:chExt cx="3357586" cy="755143"/>
          </a:xfrm>
        </p:grpSpPr>
        <p:sp>
          <p:nvSpPr>
            <p:cNvPr id="18" name="任意多边形 17"/>
            <p:cNvSpPr/>
            <p:nvPr/>
          </p:nvSpPr>
          <p:spPr>
            <a:xfrm>
              <a:off x="523836" y="1428736"/>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6"/>
            <p:cNvSpPr txBox="1"/>
            <p:nvPr/>
          </p:nvSpPr>
          <p:spPr>
            <a:xfrm>
              <a:off x="809588" y="1617459"/>
              <a:ext cx="3071834"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endParaRPr lang="zh-CN" altLang="zh-CN" sz="2400" dirty="0">
                <a:solidFill>
                  <a:schemeClr val="tx1"/>
                </a:solidFill>
              </a:endParaRPr>
            </a:p>
          </p:txBody>
        </p:sp>
      </p:grpSp>
      <p:sp>
        <p:nvSpPr>
          <p:cNvPr id="7" name="矩形 6"/>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1"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4"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7"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754063" y="6373017"/>
            <a:ext cx="2743200" cy="365125"/>
          </a:xfrm>
          <a:prstGeom prst="rect">
            <a:avLst/>
          </a:prstGeom>
        </p:spPr>
        <p:txBody>
          <a:bodyPr/>
          <a:lstStyle/>
          <a:p>
            <a:fld id="{13D0CE79-49FB-443D-BEF8-6B709DE8FD0C}" type="datetimeFigureOut">
              <a:rPr lang="zh-CN" altLang="en-US" smtClean="0"/>
              <a:pPr/>
              <a:t>2017/3/30</a:t>
            </a:fld>
            <a:endParaRPr lang="zh-CN" altLang="en-US"/>
          </a:p>
        </p:txBody>
      </p:sp>
      <p:sp>
        <p:nvSpPr>
          <p:cNvPr id="4" name="页脚占位符 3"/>
          <p:cNvSpPr>
            <a:spLocks noGrp="1"/>
          </p:cNvSpPr>
          <p:nvPr>
            <p:ph type="ftr" sz="quarter" idx="11"/>
          </p:nvPr>
        </p:nvSpPr>
        <p:spPr>
          <a:xfrm>
            <a:off x="4037013" y="6373017"/>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91563" y="6373017"/>
            <a:ext cx="2743200" cy="365125"/>
          </a:xfrm>
          <a:prstGeom prst="rect">
            <a:avLst/>
          </a:prstGeom>
        </p:spPr>
        <p:txBody>
          <a:bodyPr/>
          <a:lstStyle/>
          <a:p>
            <a:fld id="{EF906490-237C-474C-BA2E-D98840BC1F8F}" type="slidenum">
              <a:rPr lang="zh-CN" altLang="en-US" smtClean="0"/>
              <a:pPr/>
              <a:t>‹#›</a:t>
            </a:fld>
            <a:endParaRPr lang="zh-CN" altLang="en-US"/>
          </a:p>
        </p:txBody>
      </p:sp>
      <p:sp>
        <p:nvSpPr>
          <p:cNvPr id="7" name="内容占位符 6"/>
          <p:cNvSpPr>
            <a:spLocks noGrp="1"/>
          </p:cNvSpPr>
          <p:nvPr>
            <p:ph sz="quarter" idx="13"/>
          </p:nvPr>
        </p:nvSpPr>
        <p:spPr>
          <a:xfrm>
            <a:off x="754063" y="477520"/>
            <a:ext cx="10680700" cy="5635413"/>
          </a:xfrm>
          <a:prstGeom prst="rect">
            <a:avLst/>
          </a:prstGeom>
        </p:spPr>
        <p:txBody>
          <a:bodyPr/>
          <a:lstStyle>
            <a:lvl1pPr marL="0" indent="0">
              <a:buNone/>
              <a:defRPr/>
            </a:lvl1pPr>
          </a:lstStyle>
          <a:p>
            <a:pPr lvl="0"/>
            <a:r>
              <a:rPr lang="zh-CN" altLang="en-US" dirty="0" smtClean="0"/>
              <a:t>单击此处编辑母版文本样式</a:t>
            </a:r>
          </a:p>
          <a:p>
            <a:pPr lvl="4"/>
            <a:r>
              <a:rPr lang="zh-CN" altLang="en-US" dirty="0" smtClean="0"/>
              <a:t>第二级</a:t>
            </a:r>
          </a:p>
          <a:p>
            <a:pPr lvl="6"/>
            <a:r>
              <a:rPr lang="zh-CN" altLang="en-US" dirty="0" smtClean="0"/>
              <a:t>第三级</a:t>
            </a:r>
          </a:p>
          <a:p>
            <a:pPr lvl="7"/>
            <a:r>
              <a:rPr lang="zh-CN" altLang="en-US" dirty="0" smtClean="0"/>
              <a:t>第四级</a:t>
            </a:r>
          </a:p>
          <a:p>
            <a:pPr lvl="8"/>
            <a:r>
              <a:rPr lang="zh-CN" altLang="en-US" dirty="0" smtClean="0"/>
              <a:t>第五级</a:t>
            </a:r>
          </a:p>
        </p:txBody>
      </p:sp>
      <p:sp>
        <p:nvSpPr>
          <p:cNvPr id="6"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1_首页">
    <p:bg>
      <p:bgPr>
        <a:solidFill>
          <a:schemeClr val="bg1"/>
        </a:solidFill>
        <a:effectLst/>
      </p:bgPr>
    </p:bg>
    <p:spTree>
      <p:nvGrpSpPr>
        <p:cNvPr id="1" name=""/>
        <p:cNvGrpSpPr/>
        <p:nvPr/>
      </p:nvGrpSpPr>
      <p:grpSpPr>
        <a:xfrm>
          <a:off x="0" y="0"/>
          <a:ext cx="0" cy="0"/>
          <a:chOff x="0" y="0"/>
          <a:chExt cx="0" cy="0"/>
        </a:xfrm>
      </p:grpSpPr>
      <p:sp>
        <p:nvSpPr>
          <p:cNvPr id="31" name="矩形 30"/>
          <p:cNvSpPr/>
          <p:nvPr userDrawn="1">
            <p:custDataLst>
              <p:tags r:id="rId1"/>
            </p:custDataLst>
          </p:nvPr>
        </p:nvSpPr>
        <p:spPr>
          <a:xfrm>
            <a:off x="0" y="-1"/>
            <a:ext cx="12192000" cy="35528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2"/>
          <p:cNvSpPr txBox="1">
            <a:spLocks noChangeArrowheads="1"/>
          </p:cNvSpPr>
          <p:nvPr userDrawn="1">
            <p:custDataLst>
              <p:tags r:id="rId2"/>
            </p:custDataLst>
          </p:nvPr>
        </p:nvSpPr>
        <p:spPr bwMode="auto">
          <a:xfrm>
            <a:off x="2254956" y="1411817"/>
            <a:ext cx="4670777" cy="3073400"/>
          </a:xfrm>
          <a:prstGeom prst="rect">
            <a:avLst/>
          </a:prstGeom>
          <a:noFill/>
          <a:ln w="9525">
            <a:noFill/>
            <a:miter lim="800000"/>
            <a:headEnd/>
            <a:tailEnd/>
          </a:ln>
        </p:spPr>
        <p:txBody>
          <a:bodyPr lIns="145143" tIns="72571" rIns="145143" bIns="72571"/>
          <a:lstStyle/>
          <a:p>
            <a:pPr eaLnBrk="1" hangingPunct="1"/>
            <a:r>
              <a:rPr lang="en-US" altLang="zh-CN" sz="21400" dirty="0">
                <a:latin typeface="Arial" charset="0"/>
                <a:cs typeface="Arial" charset="0"/>
              </a:rPr>
              <a:t>T</a:t>
            </a:r>
            <a:endParaRPr lang="zh-CN" altLang="en-US" sz="21400" dirty="0">
              <a:latin typeface="Arial" charset="0"/>
              <a:cs typeface="Arial" charset="0"/>
            </a:endParaRPr>
          </a:p>
        </p:txBody>
      </p:sp>
      <p:sp>
        <p:nvSpPr>
          <p:cNvPr id="21" name="TextBox 20"/>
          <p:cNvSpPr txBox="1"/>
          <p:nvPr userDrawn="1">
            <p:custDataLst>
              <p:tags r:id="rId3"/>
            </p:custDataLst>
          </p:nvPr>
        </p:nvSpPr>
        <p:spPr>
          <a:xfrm>
            <a:off x="4591757" y="1873252"/>
            <a:ext cx="6019799" cy="1299633"/>
          </a:xfrm>
          <a:prstGeom prst="rect">
            <a:avLst/>
          </a:prstGeom>
          <a:noFill/>
        </p:spPr>
        <p:txBody>
          <a:bodyPr lIns="145143" tIns="72571" rIns="145143" bIns="72571">
            <a:normAutofit lnSpcReduction="10000"/>
          </a:bodyPr>
          <a:lstStyle/>
          <a:p>
            <a:pPr>
              <a:defRPr/>
            </a:pPr>
            <a:r>
              <a:rPr lang="zh-CN" altLang="en-US" sz="7600" dirty="0">
                <a:solidFill>
                  <a:srgbClr val="FF0080"/>
                </a:solidFill>
                <a:latin typeface="+mj-ea"/>
                <a:ea typeface="+mj-ea"/>
              </a:rPr>
              <a:t>谢</a:t>
            </a:r>
            <a:r>
              <a:rPr lang="zh-CN" altLang="en-US" sz="7600" dirty="0">
                <a:solidFill>
                  <a:srgbClr val="FF8000"/>
                </a:solidFill>
                <a:latin typeface="+mj-ea"/>
                <a:ea typeface="+mj-ea"/>
              </a:rPr>
              <a:t>谢</a:t>
            </a:r>
            <a:r>
              <a:rPr lang="zh-CN" altLang="en-US" sz="7600" dirty="0">
                <a:solidFill>
                  <a:srgbClr val="FFC000"/>
                </a:solidFill>
                <a:latin typeface="+mj-ea"/>
                <a:ea typeface="+mj-ea"/>
              </a:rPr>
              <a:t>观</a:t>
            </a:r>
            <a:r>
              <a:rPr lang="zh-CN" altLang="en-US" sz="7600" dirty="0">
                <a:solidFill>
                  <a:srgbClr val="92D050"/>
                </a:solidFill>
                <a:latin typeface="+mj-ea"/>
                <a:ea typeface="+mj-ea"/>
              </a:rPr>
              <a:t>看</a:t>
            </a:r>
          </a:p>
        </p:txBody>
      </p:sp>
      <p:sp>
        <p:nvSpPr>
          <p:cNvPr id="22" name="TextBox 4"/>
          <p:cNvSpPr txBox="1">
            <a:spLocks noChangeArrowheads="1"/>
          </p:cNvSpPr>
          <p:nvPr userDrawn="1">
            <p:custDataLst>
              <p:tags r:id="rId4"/>
            </p:custDataLst>
          </p:nvPr>
        </p:nvSpPr>
        <p:spPr bwMode="auto">
          <a:xfrm>
            <a:off x="4222045" y="2980267"/>
            <a:ext cx="6268156" cy="984251"/>
          </a:xfrm>
          <a:prstGeom prst="rect">
            <a:avLst/>
          </a:prstGeom>
          <a:noFill/>
          <a:ln w="9525">
            <a:noFill/>
            <a:miter lim="800000"/>
            <a:headEnd/>
            <a:tailEnd/>
          </a:ln>
        </p:spPr>
        <p:txBody>
          <a:bodyPr lIns="145143" tIns="72571" rIns="145143" bIns="72571"/>
          <a:lstStyle/>
          <a:p>
            <a:pPr eaLnBrk="1" hangingPunct="1"/>
            <a:r>
              <a:rPr lang="en-US" altLang="zh-CN" sz="5700" b="1" dirty="0">
                <a:latin typeface="Arial" charset="0"/>
                <a:cs typeface="Arial" charset="0"/>
              </a:rPr>
              <a:t>HANK   YOU!</a:t>
            </a:r>
            <a:endParaRPr lang="zh-CN" altLang="en-US" sz="5700" b="1" dirty="0">
              <a:latin typeface="Arial" charset="0"/>
              <a:cs typeface="Arial" charset="0"/>
            </a:endParaRPr>
          </a:p>
        </p:txBody>
      </p:sp>
      <p:sp>
        <p:nvSpPr>
          <p:cNvPr id="23" name="直角三角形 22"/>
          <p:cNvSpPr/>
          <p:nvPr userDrawn="1">
            <p:custDataLst>
              <p:tags r:id="rId5"/>
            </p:custDataLst>
          </p:nvPr>
        </p:nvSpPr>
        <p:spPr>
          <a:xfrm rot="1665221">
            <a:off x="10301111" y="4826000"/>
            <a:ext cx="259644" cy="391584"/>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4" name="直角三角形 23"/>
          <p:cNvSpPr/>
          <p:nvPr userDrawn="1">
            <p:custDataLst>
              <p:tags r:id="rId6"/>
            </p:custDataLst>
          </p:nvPr>
        </p:nvSpPr>
        <p:spPr>
          <a:xfrm rot="9441503">
            <a:off x="10947401" y="4068233"/>
            <a:ext cx="496711" cy="745067"/>
          </a:xfrm>
          <a:prstGeom prst="rtTriangle">
            <a:avLst/>
          </a:prstGeom>
          <a:solidFill>
            <a:srgbClr val="FF008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5" name="直角三角形 24"/>
          <p:cNvSpPr/>
          <p:nvPr userDrawn="1">
            <p:custDataLst>
              <p:tags r:id="rId7"/>
            </p:custDataLst>
          </p:nvPr>
        </p:nvSpPr>
        <p:spPr>
          <a:xfrm rot="14258978">
            <a:off x="7802740" y="4298951"/>
            <a:ext cx="376767"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6" name="直角三角形 25"/>
          <p:cNvSpPr/>
          <p:nvPr userDrawn="1">
            <p:custDataLst>
              <p:tags r:id="rId8"/>
            </p:custDataLst>
          </p:nvPr>
        </p:nvSpPr>
        <p:spPr>
          <a:xfrm rot="1312468">
            <a:off x="9214556" y="4974167"/>
            <a:ext cx="406400" cy="609600"/>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7" name="直角三角形 26"/>
          <p:cNvSpPr/>
          <p:nvPr userDrawn="1">
            <p:custDataLst>
              <p:tags r:id="rId9"/>
            </p:custDataLst>
          </p:nvPr>
        </p:nvSpPr>
        <p:spPr>
          <a:xfrm rot="14258978">
            <a:off x="1666170" y="4439710"/>
            <a:ext cx="378884"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8" name="直角三角形 27"/>
          <p:cNvSpPr/>
          <p:nvPr userDrawn="1">
            <p:custDataLst>
              <p:tags r:id="rId10"/>
            </p:custDataLst>
          </p:nvPr>
        </p:nvSpPr>
        <p:spPr>
          <a:xfrm rot="4526379">
            <a:off x="3207104" y="5064125"/>
            <a:ext cx="141816" cy="381001"/>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9" name="直角三角形 28"/>
          <p:cNvSpPr/>
          <p:nvPr userDrawn="1">
            <p:custDataLst>
              <p:tags r:id="rId11"/>
            </p:custDataLst>
          </p:nvPr>
        </p:nvSpPr>
        <p:spPr>
          <a:xfrm rot="1665221">
            <a:off x="5012267" y="4514851"/>
            <a:ext cx="632178" cy="952500"/>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Tree>
    <p:extLst>
      <p:ext uri="{BB962C8B-B14F-4D97-AF65-F5344CB8AC3E}">
        <p14:creationId xmlns:p14="http://schemas.microsoft.com/office/powerpoint/2010/main" xmlns="" val="4223807772"/>
      </p:ext>
    </p:extLst>
  </p:cSld>
  <p:clrMapOvr>
    <a:masterClrMapping/>
  </p:clrMapOvr>
  <p:transition>
    <p:randomBar dir="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image" Target="../media/image1.png"/><Relationship Id="rId5" Type="http://schemas.openxmlformats.org/officeDocument/2006/relationships/slideLayout" Target="../slideLayouts/slideLayout18.xml"/><Relationship Id="rId10" Type="http://schemas.openxmlformats.org/officeDocument/2006/relationships/theme" Target="../theme/theme2.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11" cstate="print"/>
          <a:srcRect l="20452" r="17427" b="5390"/>
          <a:stretch>
            <a:fillRect/>
          </a:stretch>
        </p:blipFill>
        <p:spPr>
          <a:xfrm rot="16200000" flipV="1">
            <a:off x="-100248" y="100244"/>
            <a:ext cx="863601" cy="663109"/>
          </a:xfrm>
          <a:custGeom>
            <a:avLst/>
            <a:gdLst>
              <a:gd name="connsiteX0" fmla="*/ 1007279 w 1007279"/>
              <a:gd name="connsiteY0" fmla="*/ 773431 h 773431"/>
              <a:gd name="connsiteX1" fmla="*/ 1007279 w 1007279"/>
              <a:gd name="connsiteY1" fmla="*/ 0 h 773431"/>
              <a:gd name="connsiteX2" fmla="*/ 404691 w 1007279"/>
              <a:gd name="connsiteY2" fmla="*/ 0 h 773431"/>
              <a:gd name="connsiteX3" fmla="*/ 473879 w 1007279"/>
              <a:gd name="connsiteY3" fmla="*/ 45011 h 773431"/>
              <a:gd name="connsiteX4" fmla="*/ 0 w 1007279"/>
              <a:gd name="connsiteY4" fmla="*/ 773431 h 773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279" h="773431">
                <a:moveTo>
                  <a:pt x="1007279" y="773431"/>
                </a:moveTo>
                <a:lnTo>
                  <a:pt x="1007279" y="0"/>
                </a:lnTo>
                <a:lnTo>
                  <a:pt x="404691" y="0"/>
                </a:lnTo>
                <a:lnTo>
                  <a:pt x="473879" y="45011"/>
                </a:lnTo>
                <a:lnTo>
                  <a:pt x="0" y="773431"/>
                </a:lnTo>
                <a:close/>
              </a:path>
            </a:pathLst>
          </a:custGeom>
        </p:spPr>
      </p:pic>
      <p:sp>
        <p:nvSpPr>
          <p:cNvPr id="9" name="灯片编号占位符 8"/>
          <p:cNvSpPr txBox="1"/>
          <p:nvPr userDrawn="1"/>
        </p:nvSpPr>
        <p:spPr>
          <a:xfrm>
            <a:off x="8795068" y="5897402"/>
            <a:ext cx="2743200" cy="365125"/>
          </a:xfrm>
          <a:prstGeom prst="rect">
            <a:avLst/>
          </a:prstGeom>
        </p:spPr>
        <p:txBody>
          <a:bodyPr/>
          <a:lstStyle>
            <a:lvl1pPr>
              <a:defRPr b="1">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F906490-237C-474C-BA2E-D98840BC1F8F}" type="slidenum">
              <a:rPr kumimoji="0" lang="zh-CN" altLang="en-US" sz="1800" b="1" i="0" u="none" strike="noStrike" kern="1200" cap="none" spc="0" normalizeH="0" baseline="0" noProof="0" smtClean="0">
                <a:ln>
                  <a:noFill/>
                </a:ln>
                <a:solidFill>
                  <a:schemeClr val="bg1"/>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a:t>
            </a:fld>
            <a:endParaRPr kumimoji="0" lang="zh-CN" altLang="en-US" sz="1800" b="1" i="0" u="none" strike="noStrike" kern="1200" cap="none" spc="0" normalizeH="0" baseline="0" noProof="0">
              <a:ln>
                <a:noFill/>
              </a:ln>
              <a:solidFill>
                <a:schemeClr val="bg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Lst>
  <p:hf hdr="0" ftr="0" dt="0"/>
  <p:txStyles>
    <p:titleStyle>
      <a:lvl1pPr algn="l" rtl="0" eaLnBrk="1" fontAlgn="base" hangingPunct="1">
        <a:lnSpc>
          <a:spcPct val="90000"/>
        </a:lnSpc>
        <a:spcBef>
          <a:spcPct val="0"/>
        </a:spcBef>
        <a:spcAft>
          <a:spcPct val="0"/>
        </a:spcAft>
        <a:defRPr sz="3600" kern="1200">
          <a:solidFill>
            <a:schemeClr val="accent1"/>
          </a:solidFill>
          <a:latin typeface="+mj-lt"/>
          <a:ea typeface="+mj-ea"/>
          <a:cs typeface="+mj-cs"/>
        </a:defRPr>
      </a:lvl1pPr>
      <a:lvl2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2pPr>
      <a:lvl3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3pPr>
      <a:lvl4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4pPr>
      <a:lvl5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5pPr>
      <a:lvl6pPr marL="4572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6pPr>
      <a:lvl7pPr marL="9144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7pPr>
      <a:lvl8pPr marL="13716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8pPr>
      <a:lvl9pPr marL="18288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9pPr>
    </p:titleStyle>
    <p:bodyStyle>
      <a:lvl1pPr marL="0" indent="-179705" algn="l" rtl="0" eaLnBrk="1" fontAlgn="base" hangingPunct="1">
        <a:lnSpc>
          <a:spcPct val="150000"/>
        </a:lnSpc>
        <a:spcBef>
          <a:spcPts val="1800"/>
        </a:spcBef>
        <a:spcAft>
          <a:spcPct val="0"/>
        </a:spcAft>
        <a:buClr>
          <a:schemeClr val="tx1"/>
        </a:buClr>
        <a:buSzPct val="80000"/>
        <a:buFont typeface="Wingdings" panose="05000000000000000000" pitchFamily="2" charset="2"/>
        <a:buChar char="ü"/>
        <a:defRPr sz="2400" kern="1200">
          <a:solidFill>
            <a:schemeClr val="tx1"/>
          </a:solidFill>
          <a:latin typeface="+mn-lt"/>
          <a:ea typeface="+mn-ea"/>
          <a:cs typeface="+mn-cs"/>
        </a:defRPr>
      </a:lvl1pPr>
      <a:lvl2pPr marL="0" indent="0" algn="l" rtl="0" eaLnBrk="1" fontAlgn="base" hangingPunct="1">
        <a:lnSpc>
          <a:spcPct val="130000"/>
        </a:lnSpc>
        <a:spcBef>
          <a:spcPct val="0"/>
        </a:spcBef>
        <a:spcAft>
          <a:spcPct val="0"/>
        </a:spcAft>
        <a:buClr>
          <a:schemeClr val="tx1"/>
        </a:buClr>
        <a:buSzPct val="80000"/>
        <a:buFont typeface="Wingdings" panose="05000000000000000000" pitchFamily="2" charset="2"/>
        <a:buChar char="ü"/>
        <a:defRPr sz="2000" kern="1200">
          <a:solidFill>
            <a:schemeClr val="tx1"/>
          </a:solidFill>
          <a:latin typeface="+mn-lt"/>
          <a:ea typeface="+mn-ea"/>
          <a:cs typeface="+mn-cs"/>
        </a:defRPr>
      </a:lvl2pPr>
      <a:lvl3pPr marL="0" indent="0" algn="l" rtl="0" eaLnBrk="1" fontAlgn="base" hangingPunct="1">
        <a:spcBef>
          <a:spcPts val="500"/>
        </a:spcBef>
        <a:spcAft>
          <a:spcPct val="0"/>
        </a:spcAft>
        <a:buClr>
          <a:schemeClr val="tx1"/>
        </a:buClr>
        <a:buSzPct val="80000"/>
        <a:buFont typeface="Wingdings" panose="05000000000000000000" pitchFamily="2" charset="2"/>
        <a:buChar char="ü"/>
        <a:defRPr sz="1800" kern="1200">
          <a:solidFill>
            <a:srgbClr val="262626"/>
          </a:solidFill>
          <a:latin typeface="+mn-lt"/>
          <a:ea typeface="+mn-ea"/>
          <a:cs typeface="+mn-cs"/>
        </a:defRPr>
      </a:lvl3pPr>
      <a:lvl4pPr marL="0" indent="0" algn="l" rtl="0" eaLnBrk="1" fontAlgn="base" hangingPunct="1">
        <a:spcBef>
          <a:spcPts val="500"/>
        </a:spcBef>
        <a:spcAft>
          <a:spcPct val="0"/>
        </a:spcAft>
        <a:buClr>
          <a:schemeClr val="tx1"/>
        </a:buClr>
        <a:buSzPct val="80000"/>
        <a:buFont typeface="Wingdings" panose="05000000000000000000" pitchFamily="2" charset="2"/>
        <a:buChar char="ü"/>
        <a:defRPr sz="1800" kern="1200">
          <a:solidFill>
            <a:srgbClr val="262626"/>
          </a:solidFill>
          <a:latin typeface="+mn-lt"/>
          <a:ea typeface="+mn-ea"/>
          <a:cs typeface="+mn-cs"/>
        </a:defRPr>
      </a:lvl4pPr>
      <a:lvl5pPr marL="360045" indent="-179705" algn="l" rtl="0" eaLnBrk="1" fontAlgn="base" hangingPunct="1">
        <a:lnSpc>
          <a:spcPct val="150000"/>
        </a:lnSpc>
        <a:spcBef>
          <a:spcPts val="500"/>
        </a:spcBef>
        <a:spcAft>
          <a:spcPct val="0"/>
        </a:spcAft>
        <a:buClr>
          <a:schemeClr val="tx1"/>
        </a:buClr>
        <a:buSzPct val="80000"/>
        <a:buFont typeface="Wingdings" panose="05000000000000000000" pitchFamily="2" charset="2"/>
        <a:buChar char="ü"/>
        <a:defRPr kern="1200">
          <a:solidFill>
            <a:schemeClr val="tx1"/>
          </a:solidFill>
          <a:latin typeface="+mn-lt"/>
          <a:ea typeface="+mn-ea"/>
          <a:cs typeface="+mn-cs"/>
        </a:defRPr>
      </a:lvl5pPr>
      <a:lvl6pPr marL="0" indent="0" algn="l" defTabSz="914400" rtl="0" eaLnBrk="1" latinLnBrk="0" hangingPunct="1">
        <a:lnSpc>
          <a:spcPct val="9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6pPr>
      <a:lvl7pPr marL="72009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7pPr>
      <a:lvl8pPr marL="1080135"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8pPr>
      <a:lvl9pPr marL="144018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2.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7.xml"/><Relationship Id="rId5" Type="http://schemas.openxmlformats.org/officeDocument/2006/relationships/tags" Target="../tags/tag16.xml"/><Relationship Id="rId4" Type="http://schemas.openxmlformats.org/officeDocument/2006/relationships/tags" Target="../tags/tag15.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17.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20.xml"/><Relationship Id="rId7" Type="http://schemas.openxmlformats.org/officeDocument/2006/relationships/slideLayout" Target="../slideLayouts/slideLayout1.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5.png"/><Relationship Id="rId5" Type="http://schemas.openxmlformats.org/officeDocument/2006/relationships/tags" Target="../tags/tag22.xml"/><Relationship Id="rId10" Type="http://schemas.openxmlformats.org/officeDocument/2006/relationships/image" Target="../media/image4.png"/><Relationship Id="rId4" Type="http://schemas.openxmlformats.org/officeDocument/2006/relationships/tags" Target="../tags/tag21.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2.xml"/><Relationship Id="rId3" Type="http://schemas.openxmlformats.org/officeDocument/2006/relationships/tags" Target="../tags/tag26.xml"/><Relationship Id="rId7" Type="http://schemas.openxmlformats.org/officeDocument/2006/relationships/slideLayout" Target="../slideLayouts/slideLayout1.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image" Target="../media/image5.png"/><Relationship Id="rId5" Type="http://schemas.openxmlformats.org/officeDocument/2006/relationships/tags" Target="../tags/tag28.xml"/><Relationship Id="rId10" Type="http://schemas.openxmlformats.org/officeDocument/2006/relationships/image" Target="../media/image4.png"/><Relationship Id="rId4" Type="http://schemas.openxmlformats.org/officeDocument/2006/relationships/tags" Target="../tags/tag27.xml"/><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0.xml"/></Relationships>
</file>

<file path=ppt/slides/_rels/slide6.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tags" Target="../tags/tag43.xml"/><Relationship Id="rId18" Type="http://schemas.openxmlformats.org/officeDocument/2006/relationships/tags" Target="../tags/tag48.xml"/><Relationship Id="rId3" Type="http://schemas.openxmlformats.org/officeDocument/2006/relationships/tags" Target="../tags/tag33.xml"/><Relationship Id="rId7" Type="http://schemas.openxmlformats.org/officeDocument/2006/relationships/tags" Target="../tags/tag37.xml"/><Relationship Id="rId12" Type="http://schemas.openxmlformats.org/officeDocument/2006/relationships/tags" Target="../tags/tag42.xml"/><Relationship Id="rId17" Type="http://schemas.openxmlformats.org/officeDocument/2006/relationships/tags" Target="../tags/tag47.xml"/><Relationship Id="rId2" Type="http://schemas.openxmlformats.org/officeDocument/2006/relationships/tags" Target="../tags/tag32.xml"/><Relationship Id="rId16" Type="http://schemas.openxmlformats.org/officeDocument/2006/relationships/tags" Target="../tags/tag46.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tags" Target="../tags/tag41.xml"/><Relationship Id="rId5" Type="http://schemas.openxmlformats.org/officeDocument/2006/relationships/tags" Target="../tags/tag35.xml"/><Relationship Id="rId15" Type="http://schemas.openxmlformats.org/officeDocument/2006/relationships/tags" Target="../tags/tag45.xml"/><Relationship Id="rId10" Type="http://schemas.openxmlformats.org/officeDocument/2006/relationships/tags" Target="../tags/tag40.xml"/><Relationship Id="rId19" Type="http://schemas.openxmlformats.org/officeDocument/2006/relationships/slideLayout" Target="../slideLayouts/slideLayout18.xml"/><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tags" Target="../tags/tag44.xml"/></Relationships>
</file>

<file path=ppt/slides/_rels/slide7.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slideLayout" Target="../slideLayouts/slideLayout18.xml"/><Relationship Id="rId4" Type="http://schemas.openxmlformats.org/officeDocument/2006/relationships/tags" Target="../tags/tag52.xml"/></Relationships>
</file>

<file path=ppt/slides/_rels/slide8.xml.rels><?xml version="1.0" encoding="UTF-8" standalone="yes"?>
<Relationships xmlns="http://schemas.openxmlformats.org/package/2006/relationships"><Relationship Id="rId8" Type="http://schemas.openxmlformats.org/officeDocument/2006/relationships/tags" Target="../tags/tag60.xml"/><Relationship Id="rId3" Type="http://schemas.openxmlformats.org/officeDocument/2006/relationships/tags" Target="../tags/tag55.xml"/><Relationship Id="rId7" Type="http://schemas.openxmlformats.org/officeDocument/2006/relationships/tags" Target="../tags/tag59.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9"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8" Type="http://schemas.openxmlformats.org/officeDocument/2006/relationships/tags" Target="../tags/tag68.xml"/><Relationship Id="rId3" Type="http://schemas.openxmlformats.org/officeDocument/2006/relationships/tags" Target="../tags/tag63.xml"/><Relationship Id="rId7" Type="http://schemas.openxmlformats.org/officeDocument/2006/relationships/tags" Target="../tags/tag67.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9"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8" Type="http://schemas.openxmlformats.org/officeDocument/2006/relationships/tags" Target="../tags/tag76.xml"/><Relationship Id="rId3" Type="http://schemas.openxmlformats.org/officeDocument/2006/relationships/tags" Target="../tags/tag71.xml"/><Relationship Id="rId7" Type="http://schemas.openxmlformats.org/officeDocument/2006/relationships/tags" Target="../tags/tag75.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9"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7.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79.xml"/><Relationship Id="rId1" Type="http://schemas.openxmlformats.org/officeDocument/2006/relationships/tags" Target="../tags/tag78.xml"/><Relationship Id="rId5" Type="http://schemas.openxmlformats.org/officeDocument/2006/relationships/image" Target="../media/image7.jpeg"/><Relationship Id="rId4"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9.xml"/><Relationship Id="rId3" Type="http://schemas.openxmlformats.org/officeDocument/2006/relationships/tags" Target="../tags/tag82.xml"/><Relationship Id="rId7" Type="http://schemas.openxmlformats.org/officeDocument/2006/relationships/slideLayout" Target="../slideLayouts/slideLayout18.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10.xml"/><Relationship Id="rId7" Type="http://schemas.openxmlformats.org/officeDocument/2006/relationships/oleObject" Target="../embeddings/oleObject3.bin"/><Relationship Id="rId2" Type="http://schemas.openxmlformats.org/officeDocument/2006/relationships/slideLayout" Target="../slideLayouts/slideLayout18.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oleObject" Target="../embeddings/oleObject1.bin"/><Relationship Id="rId4" Type="http://schemas.openxmlformats.org/officeDocument/2006/relationships/image" Target="../media/image13.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8.xml"/><Relationship Id="rId1" Type="http://schemas.openxmlformats.org/officeDocument/2006/relationships/tags" Target="../tags/tag86.xml"/><Relationship Id="rId4" Type="http://schemas.openxmlformats.org/officeDocument/2006/relationships/image" Target="../media/image14.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tags" Target="../tags/tag88.xml"/><Relationship Id="rId7" Type="http://schemas.openxmlformats.org/officeDocument/2006/relationships/notesSlide" Target="../notesSlides/notesSlide13.xml"/><Relationship Id="rId2" Type="http://schemas.openxmlformats.org/officeDocument/2006/relationships/tags" Target="../tags/tag87.xml"/><Relationship Id="rId1" Type="http://schemas.openxmlformats.org/officeDocument/2006/relationships/vmlDrawing" Target="../drawings/vmlDrawing2.vml"/><Relationship Id="rId6" Type="http://schemas.openxmlformats.org/officeDocument/2006/relationships/slideLayout" Target="../slideLayouts/slideLayout18.xml"/><Relationship Id="rId5" Type="http://schemas.openxmlformats.org/officeDocument/2006/relationships/tags" Target="../tags/tag90.xml"/><Relationship Id="rId4" Type="http://schemas.openxmlformats.org/officeDocument/2006/relationships/tags" Target="../tags/tag89.xml"/><Relationship Id="rId9" Type="http://schemas.openxmlformats.org/officeDocument/2006/relationships/oleObject" Target="../embeddings/oleObject6.bin"/></Relationships>
</file>

<file path=ppt/slides/_rels/slide23.xml.rels><?xml version="1.0" encoding="UTF-8" standalone="yes"?>
<Relationships xmlns="http://schemas.openxmlformats.org/package/2006/relationships"><Relationship Id="rId8" Type="http://schemas.openxmlformats.org/officeDocument/2006/relationships/tags" Target="../tags/tag98.xml"/><Relationship Id="rId13" Type="http://schemas.openxmlformats.org/officeDocument/2006/relationships/notesSlide" Target="../notesSlides/notesSlide14.xml"/><Relationship Id="rId3" Type="http://schemas.openxmlformats.org/officeDocument/2006/relationships/tags" Target="../tags/tag93.xml"/><Relationship Id="rId7" Type="http://schemas.openxmlformats.org/officeDocument/2006/relationships/tags" Target="../tags/tag97.xml"/><Relationship Id="rId12" Type="http://schemas.openxmlformats.org/officeDocument/2006/relationships/slideLayout" Target="../slideLayouts/slideLayout18.xml"/><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tags" Target="../tags/tag96.xml"/><Relationship Id="rId11" Type="http://schemas.openxmlformats.org/officeDocument/2006/relationships/tags" Target="../tags/tag101.xml"/><Relationship Id="rId5" Type="http://schemas.openxmlformats.org/officeDocument/2006/relationships/tags" Target="../tags/tag95.xml"/><Relationship Id="rId10" Type="http://schemas.openxmlformats.org/officeDocument/2006/relationships/tags" Target="../tags/tag100.xml"/><Relationship Id="rId4" Type="http://schemas.openxmlformats.org/officeDocument/2006/relationships/tags" Target="../tags/tag94.xml"/><Relationship Id="rId9" Type="http://schemas.openxmlformats.org/officeDocument/2006/relationships/tags" Target="../tags/tag9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8.xml"/><Relationship Id="rId1" Type="http://schemas.openxmlformats.org/officeDocument/2006/relationships/vmlDrawing" Target="../drawings/vmlDrawing3.vml"/><Relationship Id="rId4" Type="http://schemas.openxmlformats.org/officeDocument/2006/relationships/oleObject" Target="../embeddings/oleObject8.bin"/></Relationships>
</file>

<file path=ppt/slides/_rels/slide26.xml.rels><?xml version="1.0" encoding="UTF-8" standalone="yes"?>
<Relationships xmlns="http://schemas.openxmlformats.org/package/2006/relationships"><Relationship Id="rId8" Type="http://schemas.openxmlformats.org/officeDocument/2006/relationships/tags" Target="../tags/tag108.xml"/><Relationship Id="rId13" Type="http://schemas.openxmlformats.org/officeDocument/2006/relationships/slideLayout" Target="../slideLayouts/slideLayout18.xml"/><Relationship Id="rId3" Type="http://schemas.openxmlformats.org/officeDocument/2006/relationships/tags" Target="../tags/tag103.xml"/><Relationship Id="rId7" Type="http://schemas.openxmlformats.org/officeDocument/2006/relationships/tags" Target="../tags/tag107.xml"/><Relationship Id="rId12" Type="http://schemas.openxmlformats.org/officeDocument/2006/relationships/tags" Target="../tags/tag112.xml"/><Relationship Id="rId2" Type="http://schemas.openxmlformats.org/officeDocument/2006/relationships/tags" Target="../tags/tag102.xml"/><Relationship Id="rId1" Type="http://schemas.openxmlformats.org/officeDocument/2006/relationships/vmlDrawing" Target="../drawings/vmlDrawing4.vml"/><Relationship Id="rId6" Type="http://schemas.openxmlformats.org/officeDocument/2006/relationships/tags" Target="../tags/tag106.xml"/><Relationship Id="rId11" Type="http://schemas.openxmlformats.org/officeDocument/2006/relationships/tags" Target="../tags/tag111.xml"/><Relationship Id="rId5" Type="http://schemas.openxmlformats.org/officeDocument/2006/relationships/tags" Target="../tags/tag105.xml"/><Relationship Id="rId15" Type="http://schemas.openxmlformats.org/officeDocument/2006/relationships/oleObject" Target="../embeddings/oleObject9.bin"/><Relationship Id="rId10" Type="http://schemas.openxmlformats.org/officeDocument/2006/relationships/tags" Target="../tags/tag110.xml"/><Relationship Id="rId4" Type="http://schemas.openxmlformats.org/officeDocument/2006/relationships/tags" Target="../tags/tag104.xml"/><Relationship Id="rId9" Type="http://schemas.openxmlformats.org/officeDocument/2006/relationships/tags" Target="../tags/tag109.xml"/><Relationship Id="rId14"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8" Type="http://schemas.openxmlformats.org/officeDocument/2006/relationships/tags" Target="../tags/tag120.xml"/><Relationship Id="rId13" Type="http://schemas.openxmlformats.org/officeDocument/2006/relationships/tags" Target="../tags/tag125.xml"/><Relationship Id="rId3" Type="http://schemas.openxmlformats.org/officeDocument/2006/relationships/tags" Target="../tags/tag115.xml"/><Relationship Id="rId7" Type="http://schemas.openxmlformats.org/officeDocument/2006/relationships/tags" Target="../tags/tag119.xml"/><Relationship Id="rId12" Type="http://schemas.openxmlformats.org/officeDocument/2006/relationships/tags" Target="../tags/tag124.xml"/><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tags" Target="../tags/tag118.xml"/><Relationship Id="rId11" Type="http://schemas.openxmlformats.org/officeDocument/2006/relationships/tags" Target="../tags/tag123.xml"/><Relationship Id="rId5" Type="http://schemas.openxmlformats.org/officeDocument/2006/relationships/tags" Target="../tags/tag117.xml"/><Relationship Id="rId15" Type="http://schemas.openxmlformats.org/officeDocument/2006/relationships/notesSlide" Target="../notesSlides/notesSlide18.xml"/><Relationship Id="rId10" Type="http://schemas.openxmlformats.org/officeDocument/2006/relationships/tags" Target="../tags/tag122.xml"/><Relationship Id="rId4" Type="http://schemas.openxmlformats.org/officeDocument/2006/relationships/tags" Target="../tags/tag116.xml"/><Relationship Id="rId9" Type="http://schemas.openxmlformats.org/officeDocument/2006/relationships/tags" Target="../tags/tag121.xml"/><Relationship Id="rId14"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8.xml"/><Relationship Id="rId1" Type="http://schemas.openxmlformats.org/officeDocument/2006/relationships/vmlDrawing" Target="../drawings/vmlDrawing5.vml"/><Relationship Id="rId6" Type="http://schemas.openxmlformats.org/officeDocument/2006/relationships/oleObject" Target="../embeddings/oleObject12.bin"/><Relationship Id="rId5" Type="http://schemas.openxmlformats.org/officeDocument/2006/relationships/oleObject" Target="../embeddings/oleObject11.bin"/><Relationship Id="rId4" Type="http://schemas.openxmlformats.org/officeDocument/2006/relationships/oleObject" Target="../embeddings/oleObject10.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8.xml"/><Relationship Id="rId1" Type="http://schemas.openxmlformats.org/officeDocument/2006/relationships/vmlDrawing" Target="../drawings/vmlDrawing6.vml"/><Relationship Id="rId4" Type="http://schemas.openxmlformats.org/officeDocument/2006/relationships/oleObject" Target="../embeddings/oleObject13.bin"/></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6.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8" Type="http://schemas.openxmlformats.org/officeDocument/2006/relationships/tags" Target="../tags/tag134.xml"/><Relationship Id="rId13" Type="http://schemas.openxmlformats.org/officeDocument/2006/relationships/notesSlide" Target="../notesSlides/notesSlide23.xml"/><Relationship Id="rId3" Type="http://schemas.openxmlformats.org/officeDocument/2006/relationships/tags" Target="../tags/tag129.xml"/><Relationship Id="rId7" Type="http://schemas.openxmlformats.org/officeDocument/2006/relationships/tags" Target="../tags/tag133.xml"/><Relationship Id="rId12" Type="http://schemas.openxmlformats.org/officeDocument/2006/relationships/slideLayout" Target="../slideLayouts/slideLayout18.xml"/><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tags" Target="../tags/tag132.xml"/><Relationship Id="rId11" Type="http://schemas.openxmlformats.org/officeDocument/2006/relationships/tags" Target="../tags/tag137.xml"/><Relationship Id="rId5" Type="http://schemas.openxmlformats.org/officeDocument/2006/relationships/tags" Target="../tags/tag131.xml"/><Relationship Id="rId10" Type="http://schemas.openxmlformats.org/officeDocument/2006/relationships/tags" Target="../tags/tag136.xml"/><Relationship Id="rId4" Type="http://schemas.openxmlformats.org/officeDocument/2006/relationships/tags" Target="../tags/tag130.xml"/><Relationship Id="rId9" Type="http://schemas.openxmlformats.org/officeDocument/2006/relationships/tags" Target="../tags/tag13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8.xml"/><Relationship Id="rId1" Type="http://schemas.openxmlformats.org/officeDocument/2006/relationships/vmlDrawing" Target="../drawings/vmlDrawing7.vml"/><Relationship Id="rId5" Type="http://schemas.openxmlformats.org/officeDocument/2006/relationships/package" Target="../embeddings/Microsoft_Office_Word___1.docx"/><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3" Type="http://schemas.openxmlformats.org/officeDocument/2006/relationships/tags" Target="../tags/tag140.xml"/><Relationship Id="rId7" Type="http://schemas.openxmlformats.org/officeDocument/2006/relationships/image" Target="../media/image29.png"/><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notesSlide" Target="../notesSlides/notesSlide26.xml"/><Relationship Id="rId5" Type="http://schemas.openxmlformats.org/officeDocument/2006/relationships/slideLayout" Target="../slideLayouts/slideLayout18.xml"/><Relationship Id="rId4" Type="http://schemas.openxmlformats.org/officeDocument/2006/relationships/tags" Target="../tags/tag141.xml"/></Relationships>
</file>

<file path=ppt/slides/_rels/slide38.xml.rels><?xml version="1.0" encoding="UTF-8" standalone="yes"?>
<Relationships xmlns="http://schemas.openxmlformats.org/package/2006/relationships"><Relationship Id="rId3" Type="http://schemas.openxmlformats.org/officeDocument/2006/relationships/tags" Target="../tags/tag144.xml"/><Relationship Id="rId7" Type="http://schemas.openxmlformats.org/officeDocument/2006/relationships/image" Target="../media/image29.png"/><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notesSlide" Target="../notesSlides/notesSlide27.xml"/><Relationship Id="rId5" Type="http://schemas.openxmlformats.org/officeDocument/2006/relationships/slideLayout" Target="../slideLayouts/slideLayout18.xml"/><Relationship Id="rId4" Type="http://schemas.openxmlformats.org/officeDocument/2006/relationships/tags" Target="../tags/tag145.xml"/></Relationships>
</file>

<file path=ppt/slides/_rels/slide39.xml.rels><?xml version="1.0" encoding="UTF-8" standalone="yes"?>
<Relationships xmlns="http://schemas.openxmlformats.org/package/2006/relationships"><Relationship Id="rId3" Type="http://schemas.openxmlformats.org/officeDocument/2006/relationships/tags" Target="../tags/tag148.xml"/><Relationship Id="rId7" Type="http://schemas.openxmlformats.org/officeDocument/2006/relationships/image" Target="../media/image29.png"/><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notesSlide" Target="../notesSlides/notesSlide28.xml"/><Relationship Id="rId5" Type="http://schemas.openxmlformats.org/officeDocument/2006/relationships/slideLayout" Target="../slideLayouts/slideLayout18.xml"/><Relationship Id="rId4" Type="http://schemas.openxmlformats.org/officeDocument/2006/relationships/tags" Target="../tags/tag149.xml"/></Relationships>
</file>

<file path=ppt/slides/_rels/slide40.xml.rels><?xml version="1.0" encoding="UTF-8" standalone="yes"?>
<Relationships xmlns="http://schemas.openxmlformats.org/package/2006/relationships"><Relationship Id="rId3" Type="http://schemas.openxmlformats.org/officeDocument/2006/relationships/tags" Target="../tags/tag152.xml"/><Relationship Id="rId7" Type="http://schemas.openxmlformats.org/officeDocument/2006/relationships/image" Target="../media/image29.png"/><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notesSlide" Target="../notesSlides/notesSlide29.xml"/><Relationship Id="rId5" Type="http://schemas.openxmlformats.org/officeDocument/2006/relationships/slideLayout" Target="../slideLayouts/slideLayout18.xml"/><Relationship Id="rId4" Type="http://schemas.openxmlformats.org/officeDocument/2006/relationships/tags" Target="../tags/tag153.xml"/></Relationships>
</file>

<file path=ppt/slides/_rels/slide41.xml.rels><?xml version="1.0" encoding="UTF-8" standalone="yes"?>
<Relationships xmlns="http://schemas.openxmlformats.org/package/2006/relationships"><Relationship Id="rId8" Type="http://schemas.openxmlformats.org/officeDocument/2006/relationships/tags" Target="../tags/tag161.xml"/><Relationship Id="rId3" Type="http://schemas.openxmlformats.org/officeDocument/2006/relationships/tags" Target="../tags/tag156.xml"/><Relationship Id="rId7" Type="http://schemas.openxmlformats.org/officeDocument/2006/relationships/tags" Target="../tags/tag160.xml"/><Relationship Id="rId12" Type="http://schemas.openxmlformats.org/officeDocument/2006/relationships/notesSlide" Target="../notesSlides/notesSlide30.xml"/><Relationship Id="rId2" Type="http://schemas.openxmlformats.org/officeDocument/2006/relationships/tags" Target="../tags/tag155.xml"/><Relationship Id="rId1" Type="http://schemas.openxmlformats.org/officeDocument/2006/relationships/tags" Target="../tags/tag154.xml"/><Relationship Id="rId6" Type="http://schemas.openxmlformats.org/officeDocument/2006/relationships/tags" Target="../tags/tag159.xml"/><Relationship Id="rId11" Type="http://schemas.openxmlformats.org/officeDocument/2006/relationships/slideLayout" Target="../slideLayouts/slideLayout18.xml"/><Relationship Id="rId5" Type="http://schemas.openxmlformats.org/officeDocument/2006/relationships/tags" Target="../tags/tag158.xml"/><Relationship Id="rId10" Type="http://schemas.openxmlformats.org/officeDocument/2006/relationships/tags" Target="../tags/tag163.xml"/><Relationship Id="rId4" Type="http://schemas.openxmlformats.org/officeDocument/2006/relationships/tags" Target="../tags/tag157.xml"/><Relationship Id="rId9" Type="http://schemas.openxmlformats.org/officeDocument/2006/relationships/tags" Target="../tags/tag162.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64.xml"/><Relationship Id="rId1" Type="http://schemas.openxmlformats.org/officeDocument/2006/relationships/vmlDrawing" Target="../drawings/vmlDrawing8.vml"/><Relationship Id="rId5" Type="http://schemas.openxmlformats.org/officeDocument/2006/relationships/oleObject" Target="../embeddings/oleObject14.bin"/><Relationship Id="rId4" Type="http://schemas.openxmlformats.org/officeDocument/2006/relationships/notesSlide" Target="../notesSlides/notesSlide3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65.xml"/><Relationship Id="rId1" Type="http://schemas.openxmlformats.org/officeDocument/2006/relationships/vmlDrawing" Target="../drawings/vmlDrawing9.vml"/><Relationship Id="rId5" Type="http://schemas.openxmlformats.org/officeDocument/2006/relationships/oleObject" Target="../embeddings/oleObject15.bin"/><Relationship Id="rId4" Type="http://schemas.openxmlformats.org/officeDocument/2006/relationships/notesSlide" Target="../notesSlides/notesSlide33.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8.xml"/><Relationship Id="rId1" Type="http://schemas.openxmlformats.org/officeDocument/2006/relationships/tags" Target="../tags/tag166.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67.xml"/><Relationship Id="rId1" Type="http://schemas.openxmlformats.org/officeDocument/2006/relationships/vmlDrawing" Target="../drawings/vmlDrawing10.vml"/><Relationship Id="rId5" Type="http://schemas.openxmlformats.org/officeDocument/2006/relationships/oleObject" Target="../embeddings/oleObject16.bin"/><Relationship Id="rId4" Type="http://schemas.openxmlformats.org/officeDocument/2006/relationships/notesSlide" Target="../notesSlides/notesSlide35.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8.xml"/><Relationship Id="rId1" Type="http://schemas.openxmlformats.org/officeDocument/2006/relationships/tags" Target="../tags/tag168.xml"/><Relationship Id="rId4" Type="http://schemas.openxmlformats.org/officeDocument/2006/relationships/image" Target="../media/image29.png"/></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8.xml"/><Relationship Id="rId1" Type="http://schemas.openxmlformats.org/officeDocument/2006/relationships/tags" Target="../tags/tag169.xml"/><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8.xml"/><Relationship Id="rId1" Type="http://schemas.openxmlformats.org/officeDocument/2006/relationships/tags" Target="../tags/tag170.xml"/><Relationship Id="rId4" Type="http://schemas.openxmlformats.org/officeDocument/2006/relationships/image" Target="../media/image34.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71.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73.xml"/><Relationship Id="rId1" Type="http://schemas.openxmlformats.org/officeDocument/2006/relationships/tags" Target="../tags/tag172.xml"/><Relationship Id="rId5" Type="http://schemas.openxmlformats.org/officeDocument/2006/relationships/image" Target="../media/image35.jpeg"/><Relationship Id="rId4"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74.xml"/><Relationship Id="rId1" Type="http://schemas.openxmlformats.org/officeDocument/2006/relationships/vmlDrawing" Target="../drawings/vmlDrawing11.vml"/><Relationship Id="rId4" Type="http://schemas.openxmlformats.org/officeDocument/2006/relationships/package" Target="../embeddings/Microsoft_Office_Word___2.docx"/></Relationships>
</file>

<file path=ppt/slides/_rels/slide54.xml.rels><?xml version="1.0" encoding="UTF-8" standalone="yes"?>
<Relationships xmlns="http://schemas.openxmlformats.org/package/2006/relationships"><Relationship Id="rId8" Type="http://schemas.openxmlformats.org/officeDocument/2006/relationships/tags" Target="../tags/tag182.xml"/><Relationship Id="rId13" Type="http://schemas.openxmlformats.org/officeDocument/2006/relationships/tags" Target="../tags/tag187.xml"/><Relationship Id="rId3" Type="http://schemas.openxmlformats.org/officeDocument/2006/relationships/tags" Target="../tags/tag177.xml"/><Relationship Id="rId7" Type="http://schemas.openxmlformats.org/officeDocument/2006/relationships/tags" Target="../tags/tag181.xml"/><Relationship Id="rId12" Type="http://schemas.openxmlformats.org/officeDocument/2006/relationships/tags" Target="../tags/tag186.xml"/><Relationship Id="rId2" Type="http://schemas.openxmlformats.org/officeDocument/2006/relationships/tags" Target="../tags/tag176.xml"/><Relationship Id="rId1" Type="http://schemas.openxmlformats.org/officeDocument/2006/relationships/tags" Target="../tags/tag175.xml"/><Relationship Id="rId6" Type="http://schemas.openxmlformats.org/officeDocument/2006/relationships/tags" Target="../tags/tag180.xml"/><Relationship Id="rId11" Type="http://schemas.openxmlformats.org/officeDocument/2006/relationships/tags" Target="../tags/tag185.xml"/><Relationship Id="rId5" Type="http://schemas.openxmlformats.org/officeDocument/2006/relationships/tags" Target="../tags/tag179.xml"/><Relationship Id="rId15" Type="http://schemas.openxmlformats.org/officeDocument/2006/relationships/notesSlide" Target="../notesSlides/notesSlide41.xml"/><Relationship Id="rId10" Type="http://schemas.openxmlformats.org/officeDocument/2006/relationships/tags" Target="../tags/tag184.xml"/><Relationship Id="rId4" Type="http://schemas.openxmlformats.org/officeDocument/2006/relationships/tags" Target="../tags/tag178.xml"/><Relationship Id="rId9" Type="http://schemas.openxmlformats.org/officeDocument/2006/relationships/tags" Target="../tags/tag183.xml"/><Relationship Id="rId14"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3" Type="http://schemas.openxmlformats.org/officeDocument/2006/relationships/tags" Target="../tags/tag190.xml"/><Relationship Id="rId7" Type="http://schemas.openxmlformats.org/officeDocument/2006/relationships/image" Target="../media/image38.png"/><Relationship Id="rId2" Type="http://schemas.openxmlformats.org/officeDocument/2006/relationships/tags" Target="../tags/tag189.xml"/><Relationship Id="rId1" Type="http://schemas.openxmlformats.org/officeDocument/2006/relationships/tags" Target="../tags/tag188.xml"/><Relationship Id="rId6" Type="http://schemas.openxmlformats.org/officeDocument/2006/relationships/notesSlide" Target="../notesSlides/notesSlide43.xml"/><Relationship Id="rId5" Type="http://schemas.openxmlformats.org/officeDocument/2006/relationships/slideLayout" Target="../slideLayouts/slideLayout18.xml"/><Relationship Id="rId4" Type="http://schemas.openxmlformats.org/officeDocument/2006/relationships/tags" Target="../tags/tag191.xml"/></Relationships>
</file>

<file path=ppt/slides/_rels/slide57.xml.rels><?xml version="1.0" encoding="UTF-8" standalone="yes"?>
<Relationships xmlns="http://schemas.openxmlformats.org/package/2006/relationships"><Relationship Id="rId3" Type="http://schemas.openxmlformats.org/officeDocument/2006/relationships/tags" Target="../tags/tag194.xml"/><Relationship Id="rId7" Type="http://schemas.openxmlformats.org/officeDocument/2006/relationships/slideLayout" Target="../slideLayouts/slideLayout18.xml"/><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tags" Target="../tags/tag197.xml"/><Relationship Id="rId5" Type="http://schemas.openxmlformats.org/officeDocument/2006/relationships/tags" Target="../tags/tag196.xml"/><Relationship Id="rId4" Type="http://schemas.openxmlformats.org/officeDocument/2006/relationships/tags" Target="../tags/tag195.xml"/></Relationships>
</file>

<file path=ppt/slides/_rels/slide58.xml.rels><?xml version="1.0" encoding="UTF-8" standalone="yes"?>
<Relationships xmlns="http://schemas.openxmlformats.org/package/2006/relationships"><Relationship Id="rId3" Type="http://schemas.openxmlformats.org/officeDocument/2006/relationships/tags" Target="../tags/tag200.xml"/><Relationship Id="rId7" Type="http://schemas.openxmlformats.org/officeDocument/2006/relationships/image" Target="../media/image39.png"/><Relationship Id="rId2" Type="http://schemas.openxmlformats.org/officeDocument/2006/relationships/tags" Target="../tags/tag199.xml"/><Relationship Id="rId1" Type="http://schemas.openxmlformats.org/officeDocument/2006/relationships/tags" Target="../tags/tag198.xml"/><Relationship Id="rId6" Type="http://schemas.openxmlformats.org/officeDocument/2006/relationships/notesSlide" Target="../notesSlides/notesSlide44.xml"/><Relationship Id="rId5" Type="http://schemas.openxmlformats.org/officeDocument/2006/relationships/slideLayout" Target="../slideLayouts/slideLayout18.xml"/><Relationship Id="rId4" Type="http://schemas.openxmlformats.org/officeDocument/2006/relationships/tags" Target="../tags/tag201.xml"/></Relationships>
</file>

<file path=ppt/slides/_rels/slide59.xml.rels><?xml version="1.0" encoding="UTF-8" standalone="yes"?>
<Relationships xmlns="http://schemas.openxmlformats.org/package/2006/relationships"><Relationship Id="rId3" Type="http://schemas.openxmlformats.org/officeDocument/2006/relationships/tags" Target="../tags/tag204.xml"/><Relationship Id="rId7" Type="http://schemas.openxmlformats.org/officeDocument/2006/relationships/image" Target="../media/image40.png"/><Relationship Id="rId2" Type="http://schemas.openxmlformats.org/officeDocument/2006/relationships/tags" Target="../tags/tag203.xml"/><Relationship Id="rId1" Type="http://schemas.openxmlformats.org/officeDocument/2006/relationships/tags" Target="../tags/tag202.xml"/><Relationship Id="rId6" Type="http://schemas.openxmlformats.org/officeDocument/2006/relationships/notesSlide" Target="../notesSlides/notesSlide45.xml"/><Relationship Id="rId5" Type="http://schemas.openxmlformats.org/officeDocument/2006/relationships/slideLayout" Target="../slideLayouts/slideLayout18.xml"/><Relationship Id="rId4" Type="http://schemas.openxmlformats.org/officeDocument/2006/relationships/tags" Target="../tags/tag205.xml"/></Relationships>
</file>

<file path=ppt/slides/_rels/slide6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6.xml"/><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07.xml"/><Relationship Id="rId1" Type="http://schemas.openxmlformats.org/officeDocument/2006/relationships/tags" Target="../tags/tag206.xml"/><Relationship Id="rId4" Type="http://schemas.openxmlformats.org/officeDocument/2006/relationships/notesSlide" Target="../notesSlides/notesSlide4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08.xml"/></Relationships>
</file>

<file path=ppt/slides/_rels/slide6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9.xml"/><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tags" Target="../tags/tag211.xml"/><Relationship Id="rId7" Type="http://schemas.openxmlformats.org/officeDocument/2006/relationships/image" Target="../media/image43.jpeg"/><Relationship Id="rId2" Type="http://schemas.openxmlformats.org/officeDocument/2006/relationships/tags" Target="../tags/tag210.xml"/><Relationship Id="rId1" Type="http://schemas.openxmlformats.org/officeDocument/2006/relationships/tags" Target="../tags/tag209.xml"/><Relationship Id="rId6" Type="http://schemas.openxmlformats.org/officeDocument/2006/relationships/notesSlide" Target="../notesSlides/notesSlide51.xml"/><Relationship Id="rId5" Type="http://schemas.openxmlformats.org/officeDocument/2006/relationships/slideLayout" Target="../slideLayouts/slideLayout16.xml"/><Relationship Id="rId10" Type="http://schemas.openxmlformats.org/officeDocument/2006/relationships/image" Target="../media/image46.png"/><Relationship Id="rId4" Type="http://schemas.openxmlformats.org/officeDocument/2006/relationships/tags" Target="../tags/tag212.xml"/><Relationship Id="rId9" Type="http://schemas.openxmlformats.org/officeDocument/2006/relationships/image" Target="../media/image45.jpeg"/></Relationships>
</file>

<file path=ppt/slides/_rels/slide67.xml.rels><?xml version="1.0" encoding="UTF-8" standalone="yes"?>
<Relationships xmlns="http://schemas.openxmlformats.org/package/2006/relationships"><Relationship Id="rId8" Type="http://schemas.openxmlformats.org/officeDocument/2006/relationships/tags" Target="../tags/tag220.xml"/><Relationship Id="rId13" Type="http://schemas.openxmlformats.org/officeDocument/2006/relationships/tags" Target="../tags/tag225.xml"/><Relationship Id="rId3" Type="http://schemas.openxmlformats.org/officeDocument/2006/relationships/tags" Target="../tags/tag215.xml"/><Relationship Id="rId7" Type="http://schemas.openxmlformats.org/officeDocument/2006/relationships/tags" Target="../tags/tag219.xml"/><Relationship Id="rId12" Type="http://schemas.openxmlformats.org/officeDocument/2006/relationships/tags" Target="../tags/tag224.xml"/><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tags" Target="../tags/tag218.xml"/><Relationship Id="rId11" Type="http://schemas.openxmlformats.org/officeDocument/2006/relationships/tags" Target="../tags/tag223.xml"/><Relationship Id="rId5" Type="http://schemas.openxmlformats.org/officeDocument/2006/relationships/tags" Target="../tags/tag217.xml"/><Relationship Id="rId15" Type="http://schemas.openxmlformats.org/officeDocument/2006/relationships/notesSlide" Target="../notesSlides/notesSlide52.xml"/><Relationship Id="rId10" Type="http://schemas.openxmlformats.org/officeDocument/2006/relationships/tags" Target="../tags/tag222.xml"/><Relationship Id="rId4" Type="http://schemas.openxmlformats.org/officeDocument/2006/relationships/tags" Target="../tags/tag216.xml"/><Relationship Id="rId9" Type="http://schemas.openxmlformats.org/officeDocument/2006/relationships/tags" Target="../tags/tag221.xml"/><Relationship Id="rId14" Type="http://schemas.openxmlformats.org/officeDocument/2006/relationships/slideLayout" Target="../slideLayouts/slideLayout1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6.xml"/></Relationships>
</file>

<file path=ppt/slides/_rels/slide69.xml.rels><?xml version="1.0" encoding="UTF-8" standalone="yes"?>
<Relationships xmlns="http://schemas.openxmlformats.org/package/2006/relationships"><Relationship Id="rId8" Type="http://schemas.openxmlformats.org/officeDocument/2006/relationships/tags" Target="../tags/tag233.xml"/><Relationship Id="rId13" Type="http://schemas.openxmlformats.org/officeDocument/2006/relationships/tags" Target="../tags/tag238.xml"/><Relationship Id="rId3" Type="http://schemas.openxmlformats.org/officeDocument/2006/relationships/tags" Target="../tags/tag228.xml"/><Relationship Id="rId7" Type="http://schemas.openxmlformats.org/officeDocument/2006/relationships/tags" Target="../tags/tag232.xml"/><Relationship Id="rId12" Type="http://schemas.openxmlformats.org/officeDocument/2006/relationships/tags" Target="../tags/tag237.xml"/><Relationship Id="rId17" Type="http://schemas.openxmlformats.org/officeDocument/2006/relationships/notesSlide" Target="../notesSlides/notesSlide54.xml"/><Relationship Id="rId2" Type="http://schemas.openxmlformats.org/officeDocument/2006/relationships/tags" Target="../tags/tag227.xml"/><Relationship Id="rId16" Type="http://schemas.openxmlformats.org/officeDocument/2006/relationships/slideLayout" Target="../slideLayouts/slideLayout16.xml"/><Relationship Id="rId1" Type="http://schemas.openxmlformats.org/officeDocument/2006/relationships/tags" Target="../tags/tag226.xml"/><Relationship Id="rId6" Type="http://schemas.openxmlformats.org/officeDocument/2006/relationships/tags" Target="../tags/tag231.xml"/><Relationship Id="rId11" Type="http://schemas.openxmlformats.org/officeDocument/2006/relationships/tags" Target="../tags/tag236.xml"/><Relationship Id="rId5" Type="http://schemas.openxmlformats.org/officeDocument/2006/relationships/tags" Target="../tags/tag230.xml"/><Relationship Id="rId15" Type="http://schemas.openxmlformats.org/officeDocument/2006/relationships/tags" Target="../tags/tag240.xml"/><Relationship Id="rId10" Type="http://schemas.openxmlformats.org/officeDocument/2006/relationships/tags" Target="../tags/tag235.xml"/><Relationship Id="rId4" Type="http://schemas.openxmlformats.org/officeDocument/2006/relationships/tags" Target="../tags/tag229.xml"/><Relationship Id="rId9" Type="http://schemas.openxmlformats.org/officeDocument/2006/relationships/tags" Target="../tags/tag234.xml"/><Relationship Id="rId14" Type="http://schemas.openxmlformats.org/officeDocument/2006/relationships/tags" Target="../tags/tag239.xml"/></Relationships>
</file>

<file path=ppt/slides/_rels/slide70.xml.rels><?xml version="1.0" encoding="UTF-8" standalone="yes"?>
<Relationships xmlns="http://schemas.openxmlformats.org/package/2006/relationships"><Relationship Id="rId3" Type="http://schemas.openxmlformats.org/officeDocument/2006/relationships/tags" Target="../tags/tag243.xml"/><Relationship Id="rId2" Type="http://schemas.openxmlformats.org/officeDocument/2006/relationships/tags" Target="../tags/tag242.xml"/><Relationship Id="rId1" Type="http://schemas.openxmlformats.org/officeDocument/2006/relationships/tags" Target="../tags/tag241.xml"/><Relationship Id="rId6" Type="http://schemas.openxmlformats.org/officeDocument/2006/relationships/notesSlide" Target="../notesSlides/notesSlide55.xml"/><Relationship Id="rId5" Type="http://schemas.openxmlformats.org/officeDocument/2006/relationships/slideLayout" Target="../slideLayouts/slideLayout16.xml"/><Relationship Id="rId4" Type="http://schemas.openxmlformats.org/officeDocument/2006/relationships/tags" Target="../tags/tag244.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6.xml"/><Relationship Id="rId1" Type="http://schemas.openxmlformats.org/officeDocument/2006/relationships/tags" Target="../tags/tag245.xml"/></Relationships>
</file>

<file path=ppt/slides/_rels/slide72.xml.rels><?xml version="1.0" encoding="UTF-8" standalone="yes"?>
<Relationships xmlns="http://schemas.openxmlformats.org/package/2006/relationships"><Relationship Id="rId8" Type="http://schemas.openxmlformats.org/officeDocument/2006/relationships/tags" Target="../tags/tag253.xml"/><Relationship Id="rId13" Type="http://schemas.openxmlformats.org/officeDocument/2006/relationships/tags" Target="../tags/tag258.xml"/><Relationship Id="rId3" Type="http://schemas.openxmlformats.org/officeDocument/2006/relationships/tags" Target="../tags/tag248.xml"/><Relationship Id="rId7" Type="http://schemas.openxmlformats.org/officeDocument/2006/relationships/tags" Target="../tags/tag252.xml"/><Relationship Id="rId12" Type="http://schemas.openxmlformats.org/officeDocument/2006/relationships/tags" Target="../tags/tag257.xml"/><Relationship Id="rId17" Type="http://schemas.openxmlformats.org/officeDocument/2006/relationships/notesSlide" Target="../notesSlides/notesSlide57.xml"/><Relationship Id="rId2" Type="http://schemas.openxmlformats.org/officeDocument/2006/relationships/tags" Target="../tags/tag247.xml"/><Relationship Id="rId16" Type="http://schemas.openxmlformats.org/officeDocument/2006/relationships/slideLayout" Target="../slideLayouts/slideLayout16.xml"/><Relationship Id="rId1" Type="http://schemas.openxmlformats.org/officeDocument/2006/relationships/tags" Target="../tags/tag246.xml"/><Relationship Id="rId6" Type="http://schemas.openxmlformats.org/officeDocument/2006/relationships/tags" Target="../tags/tag251.xml"/><Relationship Id="rId11" Type="http://schemas.openxmlformats.org/officeDocument/2006/relationships/tags" Target="../tags/tag256.xml"/><Relationship Id="rId5" Type="http://schemas.openxmlformats.org/officeDocument/2006/relationships/tags" Target="../tags/tag250.xml"/><Relationship Id="rId15" Type="http://schemas.openxmlformats.org/officeDocument/2006/relationships/tags" Target="../tags/tag260.xml"/><Relationship Id="rId10" Type="http://schemas.openxmlformats.org/officeDocument/2006/relationships/tags" Target="../tags/tag255.xml"/><Relationship Id="rId4" Type="http://schemas.openxmlformats.org/officeDocument/2006/relationships/tags" Target="../tags/tag249.xml"/><Relationship Id="rId9" Type="http://schemas.openxmlformats.org/officeDocument/2006/relationships/tags" Target="../tags/tag254.xml"/><Relationship Id="rId14" Type="http://schemas.openxmlformats.org/officeDocument/2006/relationships/tags" Target="../tags/tag259.xml"/></Relationships>
</file>

<file path=ppt/slides/_rels/slide7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8.xml"/><Relationship Id="rId1" Type="http://schemas.openxmlformats.org/officeDocument/2006/relationships/slideLayout" Target="../slideLayouts/slideLayout16.xml"/></Relationships>
</file>

<file path=ppt/slides/_rels/slide74.xml.rels><?xml version="1.0" encoding="UTF-8" standalone="yes"?>
<Relationships xmlns="http://schemas.openxmlformats.org/package/2006/relationships"><Relationship Id="rId8" Type="http://schemas.openxmlformats.org/officeDocument/2006/relationships/notesSlide" Target="../notesSlides/notesSlide59.xml"/><Relationship Id="rId3" Type="http://schemas.openxmlformats.org/officeDocument/2006/relationships/tags" Target="../tags/tag263.xml"/><Relationship Id="rId7" Type="http://schemas.openxmlformats.org/officeDocument/2006/relationships/slideLayout" Target="../slideLayouts/slideLayout16.xml"/><Relationship Id="rId2" Type="http://schemas.openxmlformats.org/officeDocument/2006/relationships/tags" Target="../tags/tag262.xml"/><Relationship Id="rId1" Type="http://schemas.openxmlformats.org/officeDocument/2006/relationships/tags" Target="../tags/tag261.xml"/><Relationship Id="rId6" Type="http://schemas.openxmlformats.org/officeDocument/2006/relationships/tags" Target="../tags/tag266.xml"/><Relationship Id="rId5" Type="http://schemas.openxmlformats.org/officeDocument/2006/relationships/tags" Target="../tags/tag265.xml"/><Relationship Id="rId4" Type="http://schemas.openxmlformats.org/officeDocument/2006/relationships/tags" Target="../tags/tag264.xml"/></Relationships>
</file>

<file path=ppt/slides/_rels/slide75.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tags" Target="../tags/tag269.xml"/><Relationship Id="rId7" Type="http://schemas.openxmlformats.org/officeDocument/2006/relationships/tags" Target="../tags/tag273.xml"/><Relationship Id="rId2" Type="http://schemas.openxmlformats.org/officeDocument/2006/relationships/tags" Target="../tags/tag268.xml"/><Relationship Id="rId1" Type="http://schemas.openxmlformats.org/officeDocument/2006/relationships/tags" Target="../tags/tag267.xml"/><Relationship Id="rId6" Type="http://schemas.openxmlformats.org/officeDocument/2006/relationships/tags" Target="../tags/tag272.xml"/><Relationship Id="rId5" Type="http://schemas.openxmlformats.org/officeDocument/2006/relationships/tags" Target="../tags/tag271.xml"/><Relationship Id="rId4" Type="http://schemas.openxmlformats.org/officeDocument/2006/relationships/tags" Target="../tags/tag270.xml"/><Relationship Id="rId9" Type="http://schemas.openxmlformats.org/officeDocument/2006/relationships/notesSlide" Target="../notesSlides/notesSlide60.xml"/></Relationships>
</file>

<file path=ppt/slides/_rels/slide7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1.xml"/><Relationship Id="rId1" Type="http://schemas.openxmlformats.org/officeDocument/2006/relationships/slideLayout" Target="../slideLayouts/slideLayout1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6.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7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7.xml"/></Relationships>
</file>

<file path=ppt/slides/_rels/slide80.xml.rels><?xml version="1.0" encoding="UTF-8" standalone="yes"?>
<Relationships xmlns="http://schemas.openxmlformats.org/package/2006/relationships"><Relationship Id="rId8" Type="http://schemas.openxmlformats.org/officeDocument/2006/relationships/tags" Target="../tags/tag282.xml"/><Relationship Id="rId3" Type="http://schemas.openxmlformats.org/officeDocument/2006/relationships/tags" Target="../tags/tag277.xml"/><Relationship Id="rId7" Type="http://schemas.openxmlformats.org/officeDocument/2006/relationships/tags" Target="../tags/tag281.xml"/><Relationship Id="rId12" Type="http://schemas.openxmlformats.org/officeDocument/2006/relationships/notesSlide" Target="../notesSlides/notesSlide64.xml"/><Relationship Id="rId2" Type="http://schemas.openxmlformats.org/officeDocument/2006/relationships/tags" Target="../tags/tag276.xml"/><Relationship Id="rId1" Type="http://schemas.openxmlformats.org/officeDocument/2006/relationships/tags" Target="../tags/tag275.xml"/><Relationship Id="rId6" Type="http://schemas.openxmlformats.org/officeDocument/2006/relationships/tags" Target="../tags/tag280.xml"/><Relationship Id="rId11" Type="http://schemas.openxmlformats.org/officeDocument/2006/relationships/slideLayout" Target="../slideLayouts/slideLayout18.xml"/><Relationship Id="rId5" Type="http://schemas.openxmlformats.org/officeDocument/2006/relationships/tags" Target="../tags/tag279.xml"/><Relationship Id="rId10" Type="http://schemas.openxmlformats.org/officeDocument/2006/relationships/tags" Target="../tags/tag284.xml"/><Relationship Id="rId4" Type="http://schemas.openxmlformats.org/officeDocument/2006/relationships/tags" Target="../tags/tag278.xml"/><Relationship Id="rId9" Type="http://schemas.openxmlformats.org/officeDocument/2006/relationships/tags" Target="../tags/tag283.xml"/></Relationships>
</file>

<file path=ppt/slides/_rels/slide8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5.xml"/><Relationship Id="rId1" Type="http://schemas.openxmlformats.org/officeDocument/2006/relationships/slideLayout" Target="../slideLayouts/slideLayout18.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8.xml"/><Relationship Id="rId1" Type="http://schemas.openxmlformats.org/officeDocument/2006/relationships/tags" Target="../tags/tag28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8.xml"/></Relationships>
</file>

<file path=ppt/slides/_rels/slide84.xml.rels><?xml version="1.0" encoding="UTF-8" standalone="yes"?>
<Relationships xmlns="http://schemas.openxmlformats.org/package/2006/relationships"><Relationship Id="rId8" Type="http://schemas.openxmlformats.org/officeDocument/2006/relationships/tags" Target="../tags/tag293.xml"/><Relationship Id="rId13" Type="http://schemas.openxmlformats.org/officeDocument/2006/relationships/tags" Target="../tags/tag298.xml"/><Relationship Id="rId18" Type="http://schemas.openxmlformats.org/officeDocument/2006/relationships/tags" Target="../tags/tag303.xml"/><Relationship Id="rId3" Type="http://schemas.openxmlformats.org/officeDocument/2006/relationships/tags" Target="../tags/tag288.xml"/><Relationship Id="rId7" Type="http://schemas.openxmlformats.org/officeDocument/2006/relationships/tags" Target="../tags/tag292.xml"/><Relationship Id="rId12" Type="http://schemas.openxmlformats.org/officeDocument/2006/relationships/tags" Target="../tags/tag297.xml"/><Relationship Id="rId17" Type="http://schemas.openxmlformats.org/officeDocument/2006/relationships/tags" Target="../tags/tag302.xml"/><Relationship Id="rId2" Type="http://schemas.openxmlformats.org/officeDocument/2006/relationships/tags" Target="../tags/tag287.xml"/><Relationship Id="rId16" Type="http://schemas.openxmlformats.org/officeDocument/2006/relationships/tags" Target="../tags/tag301.xml"/><Relationship Id="rId20" Type="http://schemas.openxmlformats.org/officeDocument/2006/relationships/notesSlide" Target="../notesSlides/notesSlide68.xml"/><Relationship Id="rId1" Type="http://schemas.openxmlformats.org/officeDocument/2006/relationships/tags" Target="../tags/tag286.xml"/><Relationship Id="rId6" Type="http://schemas.openxmlformats.org/officeDocument/2006/relationships/tags" Target="../tags/tag291.xml"/><Relationship Id="rId11" Type="http://schemas.openxmlformats.org/officeDocument/2006/relationships/tags" Target="../tags/tag296.xml"/><Relationship Id="rId5" Type="http://schemas.openxmlformats.org/officeDocument/2006/relationships/tags" Target="../tags/tag290.xml"/><Relationship Id="rId15" Type="http://schemas.openxmlformats.org/officeDocument/2006/relationships/tags" Target="../tags/tag300.xml"/><Relationship Id="rId10" Type="http://schemas.openxmlformats.org/officeDocument/2006/relationships/tags" Target="../tags/tag295.xml"/><Relationship Id="rId19" Type="http://schemas.openxmlformats.org/officeDocument/2006/relationships/slideLayout" Target="../slideLayouts/slideLayout18.xml"/><Relationship Id="rId4" Type="http://schemas.openxmlformats.org/officeDocument/2006/relationships/tags" Target="../tags/tag289.xml"/><Relationship Id="rId9" Type="http://schemas.openxmlformats.org/officeDocument/2006/relationships/tags" Target="../tags/tag294.xml"/><Relationship Id="rId14" Type="http://schemas.openxmlformats.org/officeDocument/2006/relationships/tags" Target="../tags/tag299.xml"/></Relationships>
</file>

<file path=ppt/slides/_rels/slide8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9.xml"/><Relationship Id="rId1" Type="http://schemas.openxmlformats.org/officeDocument/2006/relationships/slideLayout" Target="../slideLayouts/slideLayout18.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8.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8.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8.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04.xml"/></Relationships>
</file>

<file path=ppt/slides/_rels/slide9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slideLayout" Target="../slideLayouts/slideLayout16.xml"/><Relationship Id="rId1" Type="http://schemas.openxmlformats.org/officeDocument/2006/relationships/tags" Target="../tags/tag305.xml"/></Relationships>
</file>

<file path=ppt/slides/_rels/slide9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8.xml"/></Relationships>
</file>

<file path=ppt/slides/_rels/slide93.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tags" Target="../tags/tag308.xml"/><Relationship Id="rId7" Type="http://schemas.openxmlformats.org/officeDocument/2006/relationships/tags" Target="../tags/tag312.xml"/><Relationship Id="rId2" Type="http://schemas.openxmlformats.org/officeDocument/2006/relationships/tags" Target="../tags/tag307.xml"/><Relationship Id="rId1" Type="http://schemas.openxmlformats.org/officeDocument/2006/relationships/tags" Target="../tags/tag306.xml"/><Relationship Id="rId6" Type="http://schemas.openxmlformats.org/officeDocument/2006/relationships/tags" Target="../tags/tag311.xml"/><Relationship Id="rId5" Type="http://schemas.openxmlformats.org/officeDocument/2006/relationships/tags" Target="../tags/tag310.xml"/><Relationship Id="rId4" Type="http://schemas.openxmlformats.org/officeDocument/2006/relationships/tags" Target="../tags/tag309.xml"/></Relationships>
</file>

<file path=ppt/slides/_rels/slide94.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tags" Target="../tags/tag315.xml"/><Relationship Id="rId7" Type="http://schemas.openxmlformats.org/officeDocument/2006/relationships/tags" Target="../tags/tag319.xml"/><Relationship Id="rId2" Type="http://schemas.openxmlformats.org/officeDocument/2006/relationships/tags" Target="../tags/tag314.xml"/><Relationship Id="rId1" Type="http://schemas.openxmlformats.org/officeDocument/2006/relationships/tags" Target="../tags/tag313.xml"/><Relationship Id="rId6" Type="http://schemas.openxmlformats.org/officeDocument/2006/relationships/tags" Target="../tags/tag318.xml"/><Relationship Id="rId5" Type="http://schemas.openxmlformats.org/officeDocument/2006/relationships/tags" Target="../tags/tag317.xml"/><Relationship Id="rId4" Type="http://schemas.openxmlformats.org/officeDocument/2006/relationships/tags" Target="../tags/tag316.xml"/></Relationships>
</file>

<file path=ppt/slides/_rels/slide95.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tags" Target="../tags/tag322.xml"/><Relationship Id="rId7" Type="http://schemas.openxmlformats.org/officeDocument/2006/relationships/tags" Target="../tags/tag326.xml"/><Relationship Id="rId2" Type="http://schemas.openxmlformats.org/officeDocument/2006/relationships/tags" Target="../tags/tag321.xml"/><Relationship Id="rId1" Type="http://schemas.openxmlformats.org/officeDocument/2006/relationships/tags" Target="../tags/tag320.xml"/><Relationship Id="rId6" Type="http://schemas.openxmlformats.org/officeDocument/2006/relationships/tags" Target="../tags/tag325.xml"/><Relationship Id="rId5" Type="http://schemas.openxmlformats.org/officeDocument/2006/relationships/tags" Target="../tags/tag324.xml"/><Relationship Id="rId4" Type="http://schemas.openxmlformats.org/officeDocument/2006/relationships/tags" Target="../tags/tag32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8.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18.xml"/></Relationships>
</file>

<file path=ppt/slides/_rels/slide99.xml.rels><?xml version="1.0" encoding="UTF-8" standalone="yes"?>
<Relationships xmlns="http://schemas.openxmlformats.org/package/2006/relationships"><Relationship Id="rId8" Type="http://schemas.openxmlformats.org/officeDocument/2006/relationships/tags" Target="../tags/tag334.xml"/><Relationship Id="rId13" Type="http://schemas.openxmlformats.org/officeDocument/2006/relationships/tags" Target="../tags/tag339.xml"/><Relationship Id="rId18" Type="http://schemas.openxmlformats.org/officeDocument/2006/relationships/tags" Target="../tags/tag344.xml"/><Relationship Id="rId3" Type="http://schemas.openxmlformats.org/officeDocument/2006/relationships/tags" Target="../tags/tag329.xml"/><Relationship Id="rId7" Type="http://schemas.openxmlformats.org/officeDocument/2006/relationships/tags" Target="../tags/tag333.xml"/><Relationship Id="rId12" Type="http://schemas.openxmlformats.org/officeDocument/2006/relationships/tags" Target="../tags/tag338.xml"/><Relationship Id="rId17" Type="http://schemas.openxmlformats.org/officeDocument/2006/relationships/tags" Target="../tags/tag343.xml"/><Relationship Id="rId2" Type="http://schemas.openxmlformats.org/officeDocument/2006/relationships/tags" Target="../tags/tag328.xml"/><Relationship Id="rId16" Type="http://schemas.openxmlformats.org/officeDocument/2006/relationships/tags" Target="../tags/tag342.xml"/><Relationship Id="rId1" Type="http://schemas.openxmlformats.org/officeDocument/2006/relationships/tags" Target="../tags/tag327.xml"/><Relationship Id="rId6" Type="http://schemas.openxmlformats.org/officeDocument/2006/relationships/tags" Target="../tags/tag332.xml"/><Relationship Id="rId11" Type="http://schemas.openxmlformats.org/officeDocument/2006/relationships/tags" Target="../tags/tag337.xml"/><Relationship Id="rId5" Type="http://schemas.openxmlformats.org/officeDocument/2006/relationships/tags" Target="../tags/tag331.xml"/><Relationship Id="rId15" Type="http://schemas.openxmlformats.org/officeDocument/2006/relationships/tags" Target="../tags/tag341.xml"/><Relationship Id="rId10" Type="http://schemas.openxmlformats.org/officeDocument/2006/relationships/tags" Target="../tags/tag336.xml"/><Relationship Id="rId19" Type="http://schemas.openxmlformats.org/officeDocument/2006/relationships/slideLayout" Target="../slideLayouts/slideLayout18.xml"/><Relationship Id="rId4" Type="http://schemas.openxmlformats.org/officeDocument/2006/relationships/tags" Target="../tags/tag330.xml"/><Relationship Id="rId9" Type="http://schemas.openxmlformats.org/officeDocument/2006/relationships/tags" Target="../tags/tag335.xml"/><Relationship Id="rId14" Type="http://schemas.openxmlformats.org/officeDocument/2006/relationships/tags" Target="../tags/tag34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10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slideLayout" Target="../slideLayouts/slideLayout18.xml"/><Relationship Id="rId1" Type="http://schemas.openxmlformats.org/officeDocument/2006/relationships/tags" Target="../tags/tag345.xml"/></Relationships>
</file>

<file path=ppt/slides/_rels/slide103.xml.rels><?xml version="1.0" encoding="UTF-8" standalone="yes"?>
<Relationships xmlns="http://schemas.openxmlformats.org/package/2006/relationships"><Relationship Id="rId8" Type="http://schemas.openxmlformats.org/officeDocument/2006/relationships/tags" Target="../tags/tag353.xml"/><Relationship Id="rId13" Type="http://schemas.openxmlformats.org/officeDocument/2006/relationships/tags" Target="../tags/tag358.xml"/><Relationship Id="rId3" Type="http://schemas.openxmlformats.org/officeDocument/2006/relationships/tags" Target="../tags/tag348.xml"/><Relationship Id="rId7" Type="http://schemas.openxmlformats.org/officeDocument/2006/relationships/tags" Target="../tags/tag352.xml"/><Relationship Id="rId12" Type="http://schemas.openxmlformats.org/officeDocument/2006/relationships/tags" Target="../tags/tag357.xml"/><Relationship Id="rId2" Type="http://schemas.openxmlformats.org/officeDocument/2006/relationships/tags" Target="../tags/tag347.xml"/><Relationship Id="rId1" Type="http://schemas.openxmlformats.org/officeDocument/2006/relationships/tags" Target="../tags/tag346.xml"/><Relationship Id="rId6" Type="http://schemas.openxmlformats.org/officeDocument/2006/relationships/tags" Target="../tags/tag351.xml"/><Relationship Id="rId11" Type="http://schemas.openxmlformats.org/officeDocument/2006/relationships/tags" Target="../tags/tag356.xml"/><Relationship Id="rId5" Type="http://schemas.openxmlformats.org/officeDocument/2006/relationships/tags" Target="../tags/tag350.xml"/><Relationship Id="rId15" Type="http://schemas.openxmlformats.org/officeDocument/2006/relationships/slideLayout" Target="../slideLayouts/slideLayout18.xml"/><Relationship Id="rId10" Type="http://schemas.openxmlformats.org/officeDocument/2006/relationships/tags" Target="../tags/tag355.xml"/><Relationship Id="rId4" Type="http://schemas.openxmlformats.org/officeDocument/2006/relationships/tags" Target="../tags/tag349.xml"/><Relationship Id="rId9" Type="http://schemas.openxmlformats.org/officeDocument/2006/relationships/tags" Target="../tags/tag354.xml"/><Relationship Id="rId14" Type="http://schemas.openxmlformats.org/officeDocument/2006/relationships/tags" Target="../tags/tag359.xml"/></Relationships>
</file>

<file path=ppt/slides/_rels/slide10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slideLayout" Target="../slideLayouts/slideLayout18.xml"/><Relationship Id="rId1" Type="http://schemas.openxmlformats.org/officeDocument/2006/relationships/tags" Target="../tags/tag36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6.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oleObject" Target="../embeddings/oleObject17.bin"/><Relationship Id="rId7" Type="http://schemas.openxmlformats.org/officeDocument/2006/relationships/oleObject" Target="../embeddings/oleObject21.bin"/><Relationship Id="rId2" Type="http://schemas.openxmlformats.org/officeDocument/2006/relationships/slideLayout" Target="../slideLayouts/slideLayout18.xml"/><Relationship Id="rId1" Type="http://schemas.openxmlformats.org/officeDocument/2006/relationships/vmlDrawing" Target="../drawings/vmlDrawing12.vml"/><Relationship Id="rId6" Type="http://schemas.openxmlformats.org/officeDocument/2006/relationships/oleObject" Target="../embeddings/oleObject20.bin"/><Relationship Id="rId5" Type="http://schemas.openxmlformats.org/officeDocument/2006/relationships/oleObject" Target="../embeddings/oleObject19.bin"/><Relationship Id="rId10" Type="http://schemas.openxmlformats.org/officeDocument/2006/relationships/oleObject" Target="../embeddings/oleObject24.bin"/><Relationship Id="rId4" Type="http://schemas.openxmlformats.org/officeDocument/2006/relationships/oleObject" Target="../embeddings/oleObject18.bin"/><Relationship Id="rId9" Type="http://schemas.openxmlformats.org/officeDocument/2006/relationships/oleObject" Target="../embeddings/oleObject23.bin"/></Relationships>
</file>

<file path=ppt/slides/_rels/slide107.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oleObject" Target="../embeddings/oleObject25.bin"/><Relationship Id="rId7" Type="http://schemas.openxmlformats.org/officeDocument/2006/relationships/oleObject" Target="../embeddings/oleObject29.bin"/><Relationship Id="rId2" Type="http://schemas.openxmlformats.org/officeDocument/2006/relationships/slideLayout" Target="../slideLayouts/slideLayout18.xml"/><Relationship Id="rId1" Type="http://schemas.openxmlformats.org/officeDocument/2006/relationships/vmlDrawing" Target="../drawings/vmlDrawing13.vml"/><Relationship Id="rId6" Type="http://schemas.openxmlformats.org/officeDocument/2006/relationships/oleObject" Target="../embeddings/oleObject28.bin"/><Relationship Id="rId5" Type="http://schemas.openxmlformats.org/officeDocument/2006/relationships/oleObject" Target="../embeddings/oleObject27.bin"/><Relationship Id="rId4" Type="http://schemas.openxmlformats.org/officeDocument/2006/relationships/oleObject" Target="../embeddings/oleObject26.bin"/><Relationship Id="rId9" Type="http://schemas.openxmlformats.org/officeDocument/2006/relationships/oleObject" Target="../embeddings/oleObject31.bin"/></Relationships>
</file>

<file path=ppt/slides/_rels/slide108.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oleObject" Target="../embeddings/oleObject32.bin"/><Relationship Id="rId7" Type="http://schemas.openxmlformats.org/officeDocument/2006/relationships/oleObject" Target="../embeddings/oleObject36.bin"/><Relationship Id="rId2" Type="http://schemas.openxmlformats.org/officeDocument/2006/relationships/slideLayout" Target="../slideLayouts/slideLayout18.xml"/><Relationship Id="rId1" Type="http://schemas.openxmlformats.org/officeDocument/2006/relationships/vmlDrawing" Target="../drawings/vmlDrawing14.vml"/><Relationship Id="rId6" Type="http://schemas.openxmlformats.org/officeDocument/2006/relationships/oleObject" Target="../embeddings/oleObject35.bin"/><Relationship Id="rId5" Type="http://schemas.openxmlformats.org/officeDocument/2006/relationships/oleObject" Target="../embeddings/oleObject34.bin"/><Relationship Id="rId4" Type="http://schemas.openxmlformats.org/officeDocument/2006/relationships/oleObject" Target="../embeddings/oleObject33.bin"/></Relationships>
</file>

<file path=ppt/slides/_rels/slide109.xml.rels><?xml version="1.0" encoding="UTF-8" standalone="yes"?>
<Relationships xmlns="http://schemas.openxmlformats.org/package/2006/relationships"><Relationship Id="rId8" Type="http://schemas.openxmlformats.org/officeDocument/2006/relationships/oleObject" Target="../embeddings/oleObject42.bin"/><Relationship Id="rId13" Type="http://schemas.openxmlformats.org/officeDocument/2006/relationships/oleObject" Target="../embeddings/oleObject47.bin"/><Relationship Id="rId3" Type="http://schemas.openxmlformats.org/officeDocument/2006/relationships/image" Target="../media/image27.png"/><Relationship Id="rId7" Type="http://schemas.openxmlformats.org/officeDocument/2006/relationships/oleObject" Target="../embeddings/oleObject41.bin"/><Relationship Id="rId12" Type="http://schemas.openxmlformats.org/officeDocument/2006/relationships/oleObject" Target="../embeddings/oleObject46.bin"/><Relationship Id="rId2" Type="http://schemas.openxmlformats.org/officeDocument/2006/relationships/slideLayout" Target="../slideLayouts/slideLayout18.xml"/><Relationship Id="rId16" Type="http://schemas.openxmlformats.org/officeDocument/2006/relationships/oleObject" Target="../embeddings/oleObject50.bin"/><Relationship Id="rId1" Type="http://schemas.openxmlformats.org/officeDocument/2006/relationships/vmlDrawing" Target="../drawings/vmlDrawing15.vml"/><Relationship Id="rId6" Type="http://schemas.openxmlformats.org/officeDocument/2006/relationships/oleObject" Target="../embeddings/oleObject40.bin"/><Relationship Id="rId11" Type="http://schemas.openxmlformats.org/officeDocument/2006/relationships/oleObject" Target="../embeddings/oleObject45.bin"/><Relationship Id="rId5" Type="http://schemas.openxmlformats.org/officeDocument/2006/relationships/oleObject" Target="../embeddings/oleObject39.bin"/><Relationship Id="rId15" Type="http://schemas.openxmlformats.org/officeDocument/2006/relationships/oleObject" Target="../embeddings/oleObject49.bin"/><Relationship Id="rId10" Type="http://schemas.openxmlformats.org/officeDocument/2006/relationships/oleObject" Target="../embeddings/oleObject44.bin"/><Relationship Id="rId4" Type="http://schemas.openxmlformats.org/officeDocument/2006/relationships/oleObject" Target="../embeddings/oleObject38.bin"/><Relationship Id="rId9" Type="http://schemas.openxmlformats.org/officeDocument/2006/relationships/oleObject" Target="../embeddings/oleObject43.bin"/><Relationship Id="rId14" Type="http://schemas.openxmlformats.org/officeDocument/2006/relationships/oleObject" Target="../embeddings/oleObject48.bin"/></Relationships>
</file>

<file path=ppt/slides/_rels/slide110.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18.xml"/></Relationships>
</file>

<file path=ppt/slides/_rels/slide111.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8.xml"/></Relationships>
</file>

<file path=ppt/slides/_rels/slide112.xml.rels><?xml version="1.0" encoding="UTF-8" standalone="yes"?>
<Relationships xmlns="http://schemas.openxmlformats.org/package/2006/relationships"><Relationship Id="rId8" Type="http://schemas.openxmlformats.org/officeDocument/2006/relationships/tags" Target="../tags/tag368.xml"/><Relationship Id="rId13" Type="http://schemas.openxmlformats.org/officeDocument/2006/relationships/tags" Target="../tags/tag373.xml"/><Relationship Id="rId18" Type="http://schemas.openxmlformats.org/officeDocument/2006/relationships/tags" Target="../tags/tag378.xml"/><Relationship Id="rId3" Type="http://schemas.openxmlformats.org/officeDocument/2006/relationships/tags" Target="../tags/tag363.xml"/><Relationship Id="rId7" Type="http://schemas.openxmlformats.org/officeDocument/2006/relationships/tags" Target="../tags/tag367.xml"/><Relationship Id="rId12" Type="http://schemas.openxmlformats.org/officeDocument/2006/relationships/tags" Target="../tags/tag372.xml"/><Relationship Id="rId17" Type="http://schemas.openxmlformats.org/officeDocument/2006/relationships/tags" Target="../tags/tag377.xml"/><Relationship Id="rId2" Type="http://schemas.openxmlformats.org/officeDocument/2006/relationships/tags" Target="../tags/tag362.xml"/><Relationship Id="rId16" Type="http://schemas.openxmlformats.org/officeDocument/2006/relationships/tags" Target="../tags/tag376.xml"/><Relationship Id="rId1" Type="http://schemas.openxmlformats.org/officeDocument/2006/relationships/tags" Target="../tags/tag361.xml"/><Relationship Id="rId6" Type="http://schemas.openxmlformats.org/officeDocument/2006/relationships/tags" Target="../tags/tag366.xml"/><Relationship Id="rId11" Type="http://schemas.openxmlformats.org/officeDocument/2006/relationships/tags" Target="../tags/tag371.xml"/><Relationship Id="rId5" Type="http://schemas.openxmlformats.org/officeDocument/2006/relationships/tags" Target="../tags/tag365.xml"/><Relationship Id="rId15" Type="http://schemas.openxmlformats.org/officeDocument/2006/relationships/tags" Target="../tags/tag375.xml"/><Relationship Id="rId10" Type="http://schemas.openxmlformats.org/officeDocument/2006/relationships/tags" Target="../tags/tag370.xml"/><Relationship Id="rId19" Type="http://schemas.openxmlformats.org/officeDocument/2006/relationships/slideLayout" Target="../slideLayouts/slideLayout18.xml"/><Relationship Id="rId4" Type="http://schemas.openxmlformats.org/officeDocument/2006/relationships/tags" Target="../tags/tag364.xml"/><Relationship Id="rId9" Type="http://schemas.openxmlformats.org/officeDocument/2006/relationships/tags" Target="../tags/tag369.xml"/><Relationship Id="rId14" Type="http://schemas.openxmlformats.org/officeDocument/2006/relationships/tags" Target="../tags/tag374.xml"/></Relationships>
</file>

<file path=ppt/slides/_rels/slide113.xml.rels><?xml version="1.0" encoding="UTF-8" standalone="yes"?>
<Relationships xmlns="http://schemas.openxmlformats.org/package/2006/relationships"><Relationship Id="rId8" Type="http://schemas.openxmlformats.org/officeDocument/2006/relationships/tags" Target="../tags/tag386.xml"/><Relationship Id="rId13" Type="http://schemas.openxmlformats.org/officeDocument/2006/relationships/tags" Target="../tags/tag391.xml"/><Relationship Id="rId18" Type="http://schemas.openxmlformats.org/officeDocument/2006/relationships/tags" Target="../tags/tag396.xml"/><Relationship Id="rId3" Type="http://schemas.openxmlformats.org/officeDocument/2006/relationships/tags" Target="../tags/tag381.xml"/><Relationship Id="rId7" Type="http://schemas.openxmlformats.org/officeDocument/2006/relationships/tags" Target="../tags/tag385.xml"/><Relationship Id="rId12" Type="http://schemas.openxmlformats.org/officeDocument/2006/relationships/tags" Target="../tags/tag390.xml"/><Relationship Id="rId17" Type="http://schemas.openxmlformats.org/officeDocument/2006/relationships/tags" Target="../tags/tag395.xml"/><Relationship Id="rId2" Type="http://schemas.openxmlformats.org/officeDocument/2006/relationships/tags" Target="../tags/tag380.xml"/><Relationship Id="rId16" Type="http://schemas.openxmlformats.org/officeDocument/2006/relationships/tags" Target="../tags/tag394.xml"/><Relationship Id="rId1" Type="http://schemas.openxmlformats.org/officeDocument/2006/relationships/tags" Target="../tags/tag379.xml"/><Relationship Id="rId6" Type="http://schemas.openxmlformats.org/officeDocument/2006/relationships/tags" Target="../tags/tag384.xml"/><Relationship Id="rId11" Type="http://schemas.openxmlformats.org/officeDocument/2006/relationships/tags" Target="../tags/tag389.xml"/><Relationship Id="rId5" Type="http://schemas.openxmlformats.org/officeDocument/2006/relationships/tags" Target="../tags/tag383.xml"/><Relationship Id="rId15" Type="http://schemas.openxmlformats.org/officeDocument/2006/relationships/tags" Target="../tags/tag393.xml"/><Relationship Id="rId10" Type="http://schemas.openxmlformats.org/officeDocument/2006/relationships/tags" Target="../tags/tag388.xml"/><Relationship Id="rId19" Type="http://schemas.openxmlformats.org/officeDocument/2006/relationships/slideLayout" Target="../slideLayouts/slideLayout18.xml"/><Relationship Id="rId4" Type="http://schemas.openxmlformats.org/officeDocument/2006/relationships/tags" Target="../tags/tag382.xml"/><Relationship Id="rId9" Type="http://schemas.openxmlformats.org/officeDocument/2006/relationships/tags" Target="../tags/tag387.xml"/><Relationship Id="rId14" Type="http://schemas.openxmlformats.org/officeDocument/2006/relationships/tags" Target="../tags/tag392.xml"/></Relationships>
</file>

<file path=ppt/slides/_rels/slide11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8.xml"/></Relationships>
</file>

<file path=ppt/slides/_rels/slide115.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8.xml"/></Relationships>
</file>

<file path=ppt/slides/_rels/slide116.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18.xml"/></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97.xml"/></Relationships>
</file>

<file path=ppt/slides/_rels/slide118.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74.xml"/><Relationship Id="rId1" Type="http://schemas.openxmlformats.org/officeDocument/2006/relationships/slideLayout" Target="../slideLayouts/slideLayout16.xml"/></Relationships>
</file>

<file path=ppt/slides/_rels/slide11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5.xml"/><Relationship Id="rId1" Type="http://schemas.openxmlformats.org/officeDocument/2006/relationships/slideLayout" Target="../slideLayouts/slideLayout18.xml"/></Relationships>
</file>

<file path=ppt/slides/_rels/slide120.xml.rels><?xml version="1.0" encoding="UTF-8" standalone="yes"?>
<Relationships xmlns="http://schemas.openxmlformats.org/package/2006/relationships"><Relationship Id="rId8" Type="http://schemas.openxmlformats.org/officeDocument/2006/relationships/tags" Target="../tags/tag405.xml"/><Relationship Id="rId13" Type="http://schemas.openxmlformats.org/officeDocument/2006/relationships/tags" Target="../tags/tag410.xml"/><Relationship Id="rId18" Type="http://schemas.openxmlformats.org/officeDocument/2006/relationships/tags" Target="../tags/tag415.xml"/><Relationship Id="rId3" Type="http://schemas.openxmlformats.org/officeDocument/2006/relationships/tags" Target="../tags/tag400.xml"/><Relationship Id="rId7" Type="http://schemas.openxmlformats.org/officeDocument/2006/relationships/tags" Target="../tags/tag404.xml"/><Relationship Id="rId12" Type="http://schemas.openxmlformats.org/officeDocument/2006/relationships/tags" Target="../tags/tag409.xml"/><Relationship Id="rId17" Type="http://schemas.openxmlformats.org/officeDocument/2006/relationships/tags" Target="../tags/tag414.xml"/><Relationship Id="rId2" Type="http://schemas.openxmlformats.org/officeDocument/2006/relationships/tags" Target="../tags/tag399.xml"/><Relationship Id="rId16" Type="http://schemas.openxmlformats.org/officeDocument/2006/relationships/tags" Target="../tags/tag413.xml"/><Relationship Id="rId20" Type="http://schemas.openxmlformats.org/officeDocument/2006/relationships/notesSlide" Target="../notesSlides/notesSlide76.xml"/><Relationship Id="rId1" Type="http://schemas.openxmlformats.org/officeDocument/2006/relationships/tags" Target="../tags/tag398.xml"/><Relationship Id="rId6" Type="http://schemas.openxmlformats.org/officeDocument/2006/relationships/tags" Target="../tags/tag403.xml"/><Relationship Id="rId11" Type="http://schemas.openxmlformats.org/officeDocument/2006/relationships/tags" Target="../tags/tag408.xml"/><Relationship Id="rId5" Type="http://schemas.openxmlformats.org/officeDocument/2006/relationships/tags" Target="../tags/tag402.xml"/><Relationship Id="rId15" Type="http://schemas.openxmlformats.org/officeDocument/2006/relationships/tags" Target="../tags/tag412.xml"/><Relationship Id="rId10" Type="http://schemas.openxmlformats.org/officeDocument/2006/relationships/tags" Target="../tags/tag407.xml"/><Relationship Id="rId19" Type="http://schemas.openxmlformats.org/officeDocument/2006/relationships/slideLayout" Target="../slideLayouts/slideLayout18.xml"/><Relationship Id="rId4" Type="http://schemas.openxmlformats.org/officeDocument/2006/relationships/tags" Target="../tags/tag401.xml"/><Relationship Id="rId9" Type="http://schemas.openxmlformats.org/officeDocument/2006/relationships/tags" Target="../tags/tag406.xml"/><Relationship Id="rId14" Type="http://schemas.openxmlformats.org/officeDocument/2006/relationships/tags" Target="../tags/tag411.xml"/></Relationships>
</file>

<file path=ppt/slides/_rels/slide121.xml.rels><?xml version="1.0" encoding="UTF-8" standalone="yes"?>
<Relationships xmlns="http://schemas.openxmlformats.org/package/2006/relationships"><Relationship Id="rId8" Type="http://schemas.openxmlformats.org/officeDocument/2006/relationships/tags" Target="../tags/tag423.xml"/><Relationship Id="rId13" Type="http://schemas.openxmlformats.org/officeDocument/2006/relationships/tags" Target="../tags/tag428.xml"/><Relationship Id="rId18" Type="http://schemas.openxmlformats.org/officeDocument/2006/relationships/notesSlide" Target="../notesSlides/notesSlide77.xml"/><Relationship Id="rId3" Type="http://schemas.openxmlformats.org/officeDocument/2006/relationships/tags" Target="../tags/tag418.xml"/><Relationship Id="rId7" Type="http://schemas.openxmlformats.org/officeDocument/2006/relationships/tags" Target="../tags/tag422.xml"/><Relationship Id="rId12" Type="http://schemas.openxmlformats.org/officeDocument/2006/relationships/tags" Target="../tags/tag427.xml"/><Relationship Id="rId17" Type="http://schemas.openxmlformats.org/officeDocument/2006/relationships/slideLayout" Target="../slideLayouts/slideLayout18.xml"/><Relationship Id="rId2" Type="http://schemas.openxmlformats.org/officeDocument/2006/relationships/tags" Target="../tags/tag417.xml"/><Relationship Id="rId16" Type="http://schemas.openxmlformats.org/officeDocument/2006/relationships/tags" Target="../tags/tag431.xml"/><Relationship Id="rId1" Type="http://schemas.openxmlformats.org/officeDocument/2006/relationships/tags" Target="../tags/tag416.xml"/><Relationship Id="rId6" Type="http://schemas.openxmlformats.org/officeDocument/2006/relationships/tags" Target="../tags/tag421.xml"/><Relationship Id="rId11" Type="http://schemas.openxmlformats.org/officeDocument/2006/relationships/tags" Target="../tags/tag426.xml"/><Relationship Id="rId5" Type="http://schemas.openxmlformats.org/officeDocument/2006/relationships/tags" Target="../tags/tag420.xml"/><Relationship Id="rId15" Type="http://schemas.openxmlformats.org/officeDocument/2006/relationships/tags" Target="../tags/tag430.xml"/><Relationship Id="rId10" Type="http://schemas.openxmlformats.org/officeDocument/2006/relationships/tags" Target="../tags/tag425.xml"/><Relationship Id="rId4" Type="http://schemas.openxmlformats.org/officeDocument/2006/relationships/tags" Target="../tags/tag419.xml"/><Relationship Id="rId9" Type="http://schemas.openxmlformats.org/officeDocument/2006/relationships/tags" Target="../tags/tag424.xml"/><Relationship Id="rId14" Type="http://schemas.openxmlformats.org/officeDocument/2006/relationships/tags" Target="../tags/tag429.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8.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8.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8.xml"/></Relationships>
</file>

<file path=ppt/slides/_rels/slide125.xml.rels><?xml version="1.0" encoding="UTF-8" standalone="yes"?>
<Relationships xmlns="http://schemas.openxmlformats.org/package/2006/relationships"><Relationship Id="rId8" Type="http://schemas.openxmlformats.org/officeDocument/2006/relationships/tags" Target="../tags/tag439.xml"/><Relationship Id="rId13" Type="http://schemas.openxmlformats.org/officeDocument/2006/relationships/tags" Target="../tags/tag444.xml"/><Relationship Id="rId18" Type="http://schemas.openxmlformats.org/officeDocument/2006/relationships/tags" Target="../tags/tag449.xml"/><Relationship Id="rId3" Type="http://schemas.openxmlformats.org/officeDocument/2006/relationships/tags" Target="../tags/tag434.xml"/><Relationship Id="rId7" Type="http://schemas.openxmlformats.org/officeDocument/2006/relationships/tags" Target="../tags/tag438.xml"/><Relationship Id="rId12" Type="http://schemas.openxmlformats.org/officeDocument/2006/relationships/tags" Target="../tags/tag443.xml"/><Relationship Id="rId17" Type="http://schemas.openxmlformats.org/officeDocument/2006/relationships/tags" Target="../tags/tag448.xml"/><Relationship Id="rId2" Type="http://schemas.openxmlformats.org/officeDocument/2006/relationships/tags" Target="../tags/tag433.xml"/><Relationship Id="rId16" Type="http://schemas.openxmlformats.org/officeDocument/2006/relationships/tags" Target="../tags/tag447.xml"/><Relationship Id="rId20" Type="http://schemas.openxmlformats.org/officeDocument/2006/relationships/notesSlide" Target="../notesSlides/notesSlide81.xml"/><Relationship Id="rId1" Type="http://schemas.openxmlformats.org/officeDocument/2006/relationships/tags" Target="../tags/tag432.xml"/><Relationship Id="rId6" Type="http://schemas.openxmlformats.org/officeDocument/2006/relationships/tags" Target="../tags/tag437.xml"/><Relationship Id="rId11" Type="http://schemas.openxmlformats.org/officeDocument/2006/relationships/tags" Target="../tags/tag442.xml"/><Relationship Id="rId5" Type="http://schemas.openxmlformats.org/officeDocument/2006/relationships/tags" Target="../tags/tag436.xml"/><Relationship Id="rId15" Type="http://schemas.openxmlformats.org/officeDocument/2006/relationships/tags" Target="../tags/tag446.xml"/><Relationship Id="rId10" Type="http://schemas.openxmlformats.org/officeDocument/2006/relationships/tags" Target="../tags/tag441.xml"/><Relationship Id="rId19" Type="http://schemas.openxmlformats.org/officeDocument/2006/relationships/slideLayout" Target="../slideLayouts/slideLayout18.xml"/><Relationship Id="rId4" Type="http://schemas.openxmlformats.org/officeDocument/2006/relationships/tags" Target="../tags/tag435.xml"/><Relationship Id="rId9" Type="http://schemas.openxmlformats.org/officeDocument/2006/relationships/tags" Target="../tags/tag440.xml"/><Relationship Id="rId14" Type="http://schemas.openxmlformats.org/officeDocument/2006/relationships/tags" Target="../tags/tag445.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8.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8.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8.xml"/></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450.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H_Picture_1"/>
          <p:cNvSpPr/>
          <p:nvPr>
            <p:custDataLst>
              <p:tags r:id="rId2"/>
            </p:custDataLst>
          </p:nvPr>
        </p:nvSpPr>
        <p:spPr>
          <a:xfrm>
            <a:off x="2397843" y="1061577"/>
            <a:ext cx="9794157" cy="4218037"/>
          </a:xfrm>
          <a:custGeom>
            <a:avLst/>
            <a:gdLst>
              <a:gd name="connsiteX0" fmla="*/ 0 w 7345618"/>
              <a:gd name="connsiteY0" fmla="*/ 0 h 4218037"/>
              <a:gd name="connsiteX1" fmla="*/ 7345618 w 7345618"/>
              <a:gd name="connsiteY1" fmla="*/ 0 h 4218037"/>
              <a:gd name="connsiteX2" fmla="*/ 7345618 w 7345618"/>
              <a:gd name="connsiteY2" fmla="*/ 4218037 h 4218037"/>
              <a:gd name="connsiteX3" fmla="*/ 2604652 w 7345618"/>
              <a:gd name="connsiteY3" fmla="*/ 4218037 h 4218037"/>
            </a:gdLst>
            <a:ahLst/>
            <a:cxnLst>
              <a:cxn ang="0">
                <a:pos x="connsiteX0" y="connsiteY0"/>
              </a:cxn>
              <a:cxn ang="0">
                <a:pos x="connsiteX1" y="connsiteY1"/>
              </a:cxn>
              <a:cxn ang="0">
                <a:pos x="connsiteX2" y="connsiteY2"/>
              </a:cxn>
              <a:cxn ang="0">
                <a:pos x="connsiteX3" y="connsiteY3"/>
              </a:cxn>
            </a:cxnLst>
            <a:rect l="l" t="t" r="r" b="b"/>
            <a:pathLst>
              <a:path w="7345618" h="4218037">
                <a:moveTo>
                  <a:pt x="0" y="0"/>
                </a:moveTo>
                <a:lnTo>
                  <a:pt x="7345618" y="0"/>
                </a:lnTo>
                <a:lnTo>
                  <a:pt x="7345618" y="4218037"/>
                </a:lnTo>
                <a:lnTo>
                  <a:pt x="2604652" y="4218037"/>
                </a:lnTo>
                <a:close/>
              </a:path>
            </a:pathLst>
          </a:custGeom>
          <a:blipFill dpi="0" rotWithShape="1">
            <a:blip r:embed="rId7" cstate="print">
              <a:alphaModFix amt="80000"/>
            </a:blip>
            <a:srcRect/>
            <a:stretch>
              <a:fillRect t="-3066" b="-2835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MH_Text_1"/>
          <p:cNvSpPr/>
          <p:nvPr>
            <p:custDataLst>
              <p:tags r:id="rId3"/>
            </p:custDataLst>
          </p:nvPr>
        </p:nvSpPr>
        <p:spPr>
          <a:xfrm>
            <a:off x="4643" y="1060521"/>
            <a:ext cx="5308601" cy="4234460"/>
          </a:xfrm>
          <a:custGeom>
            <a:avLst/>
            <a:gdLst>
              <a:gd name="connsiteX0" fmla="*/ 0 w 3905250"/>
              <a:gd name="connsiteY0" fmla="*/ 0 h 4204068"/>
              <a:gd name="connsiteX1" fmla="*/ 1314884 w 3905250"/>
              <a:gd name="connsiteY1" fmla="*/ 0 h 4204068"/>
              <a:gd name="connsiteX2" fmla="*/ 3905250 w 3905250"/>
              <a:gd name="connsiteY2" fmla="*/ 4204068 h 4204068"/>
              <a:gd name="connsiteX3" fmla="*/ 0 w 3905250"/>
              <a:gd name="connsiteY3" fmla="*/ 4204068 h 4204068"/>
            </a:gdLst>
            <a:ahLst/>
            <a:cxnLst>
              <a:cxn ang="0">
                <a:pos x="connsiteX0" y="connsiteY0"/>
              </a:cxn>
              <a:cxn ang="0">
                <a:pos x="connsiteX1" y="connsiteY1"/>
              </a:cxn>
              <a:cxn ang="0">
                <a:pos x="connsiteX2" y="connsiteY2"/>
              </a:cxn>
              <a:cxn ang="0">
                <a:pos x="connsiteX3" y="connsiteY3"/>
              </a:cxn>
            </a:cxnLst>
            <a:rect l="l" t="t" r="r" b="b"/>
            <a:pathLst>
              <a:path w="3905250" h="4204068">
                <a:moveTo>
                  <a:pt x="0" y="0"/>
                </a:moveTo>
                <a:lnTo>
                  <a:pt x="1314884" y="0"/>
                </a:lnTo>
                <a:lnTo>
                  <a:pt x="3905250" y="4204068"/>
                </a:lnTo>
                <a:lnTo>
                  <a:pt x="0" y="4204068"/>
                </a:lnTo>
                <a:close/>
              </a:path>
            </a:pathLst>
          </a:cu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0000" tIns="0" rIns="0" bIns="144000" rtlCol="0" anchor="b" anchorCtr="0">
            <a:normAutofit/>
          </a:bodyPr>
          <a:lstStyle/>
          <a:p>
            <a:pPr>
              <a:lnSpc>
                <a:spcPct val="120000"/>
              </a:lnSpc>
            </a:pPr>
            <a:endParaRPr lang="en-US" altLang="zh-CN" sz="2000" dirty="0" smtClean="0">
              <a:solidFill>
                <a:srgbClr val="292929"/>
              </a:solidFill>
              <a:latin typeface="Calibri" panose="020F0502020204030204" charset="0"/>
            </a:endParaRPr>
          </a:p>
        </p:txBody>
      </p:sp>
      <p:cxnSp>
        <p:nvCxnSpPr>
          <p:cNvPr id="9" name="MH_Other_2"/>
          <p:cNvCxnSpPr/>
          <p:nvPr>
            <p:custDataLst>
              <p:tags r:id="rId4"/>
            </p:custDataLst>
          </p:nvPr>
        </p:nvCxnSpPr>
        <p:spPr>
          <a:xfrm>
            <a:off x="1200897" y="0"/>
            <a:ext cx="5683044" cy="685800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2" name="MH_Other_3"/>
          <p:cNvSpPr/>
          <p:nvPr>
            <p:custDataLst>
              <p:tags r:id="rId5"/>
            </p:custDataLst>
          </p:nvPr>
        </p:nvSpPr>
        <p:spPr>
          <a:xfrm>
            <a:off x="5404987" y="4717307"/>
            <a:ext cx="6787015" cy="385547"/>
          </a:xfrm>
          <a:custGeom>
            <a:avLst/>
            <a:gdLst>
              <a:gd name="connsiteX0" fmla="*/ 0 w 5090261"/>
              <a:gd name="connsiteY0" fmla="*/ 0 h 385547"/>
              <a:gd name="connsiteX1" fmla="*/ 5090261 w 5090261"/>
              <a:gd name="connsiteY1" fmla="*/ 0 h 385547"/>
              <a:gd name="connsiteX2" fmla="*/ 5090261 w 5090261"/>
              <a:gd name="connsiteY2" fmla="*/ 385547 h 385547"/>
              <a:gd name="connsiteX3" fmla="*/ 240311 w 5090261"/>
              <a:gd name="connsiteY3" fmla="*/ 385547 h 385547"/>
            </a:gdLst>
            <a:ahLst/>
            <a:cxnLst>
              <a:cxn ang="0">
                <a:pos x="connsiteX0" y="connsiteY0"/>
              </a:cxn>
              <a:cxn ang="0">
                <a:pos x="connsiteX1" y="connsiteY1"/>
              </a:cxn>
              <a:cxn ang="0">
                <a:pos x="connsiteX2" y="connsiteY2"/>
              </a:cxn>
              <a:cxn ang="0">
                <a:pos x="connsiteX3" y="connsiteY3"/>
              </a:cxn>
            </a:cxnLst>
            <a:rect l="l" t="t" r="r" b="b"/>
            <a:pathLst>
              <a:path w="5090261" h="385547">
                <a:moveTo>
                  <a:pt x="0" y="0"/>
                </a:moveTo>
                <a:lnTo>
                  <a:pt x="5090261" y="0"/>
                </a:lnTo>
                <a:lnTo>
                  <a:pt x="5090261" y="385547"/>
                </a:lnTo>
                <a:lnTo>
                  <a:pt x="240311" y="385547"/>
                </a:lnTo>
                <a:close/>
              </a:path>
            </a:pathLst>
          </a:custGeom>
          <a:solidFill>
            <a:srgbClr val="66CC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324000" rtlCol="0" anchor="ctr"/>
          <a:lstStyle/>
          <a:p>
            <a:pPr algn="r"/>
            <a:endParaRPr lang="zh-CN" altLang="en-US" dirty="0">
              <a:solidFill>
                <a:srgbClr val="292929"/>
              </a:solidFill>
            </a:endParaRPr>
          </a:p>
        </p:txBody>
      </p:sp>
      <p:sp>
        <p:nvSpPr>
          <p:cNvPr id="10" name="TextBox 9"/>
          <p:cNvSpPr txBox="1"/>
          <p:nvPr/>
        </p:nvSpPr>
        <p:spPr>
          <a:xfrm>
            <a:off x="201928" y="2586439"/>
            <a:ext cx="3866607" cy="2616200"/>
          </a:xfrm>
          <a:prstGeom prst="rect">
            <a:avLst/>
          </a:prstGeom>
          <a:noFill/>
        </p:spPr>
        <p:txBody>
          <a:bodyPr wrap="square" rtlCol="0">
            <a:spAutoFit/>
          </a:bodyPr>
          <a:lstStyle/>
          <a:p>
            <a:r>
              <a:rPr lang="zh-CN" altLang="en-US" sz="8000" b="1" spc="50" dirty="0" smtClean="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软件</a:t>
            </a:r>
            <a:endParaRPr lang="en-US" altLang="zh-CN" sz="8000" b="1" spc="50" dirty="0" smtClean="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endParaRPr>
          </a:p>
          <a:p>
            <a:pPr algn="r"/>
            <a:r>
              <a:rPr lang="zh-CN" altLang="en-US" sz="8000" b="1" spc="50" dirty="0" smtClean="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工程</a:t>
            </a:r>
            <a:endParaRPr lang="zh-CN" altLang="en-US"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ustDataLst>
      <p:tags r:id="rId1"/>
    </p:custDataLst>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a:solidFill>
                  <a:srgbClr val="FF0000"/>
                </a:solidFill>
              </a:rPr>
              <a:t>10  </a:t>
            </a:r>
            <a:r>
              <a:rPr lang="zh-CN" altLang="en-US">
                <a:solidFill>
                  <a:srgbClr val="FF0000"/>
                </a:solidFill>
              </a:rPr>
              <a:t>软件工程管理</a:t>
            </a: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本章概述</a:t>
            </a:r>
          </a:p>
        </p:txBody>
      </p:sp>
      <p:sp>
        <p:nvSpPr>
          <p:cNvPr id="100" name="文本框 99"/>
          <p:cNvSpPr txBox="1"/>
          <p:nvPr/>
        </p:nvSpPr>
        <p:spPr>
          <a:xfrm>
            <a:off x="1537335" y="2679700"/>
            <a:ext cx="9437370" cy="2148840"/>
          </a:xfrm>
          <a:prstGeom prst="rect">
            <a:avLst/>
          </a:prstGeom>
          <a:noFill/>
          <a:ln w="9525">
            <a:noFill/>
          </a:ln>
        </p:spPr>
        <p:txBody>
          <a:bodyPr wrap="square">
            <a:spAutoFit/>
          </a:bodyPr>
          <a:lstStyle/>
          <a:p>
            <a:pPr marL="0" indent="0" algn="l" fontAlgn="auto">
              <a:lnSpc>
                <a:spcPct val="150000"/>
              </a:lnSpc>
            </a:pPr>
            <a:r>
              <a:rPr lang="en-US" altLang="zh-CN" dirty="0">
                <a:latin typeface="微软雅黑" panose="020B0503020204020204" charset="-122"/>
                <a:ea typeface="微软雅黑" panose="020B0503020204020204" charset="-122"/>
                <a:sym typeface="+mn-ea"/>
              </a:rPr>
              <a:t>       </a:t>
            </a:r>
            <a:r>
              <a:rPr lang="en-US" altLang="zh-CN" dirty="0" err="1">
                <a:latin typeface="微软雅黑" panose="020B0503020204020204" charset="-122"/>
                <a:ea typeface="微软雅黑" panose="020B0503020204020204" charset="-122"/>
                <a:sym typeface="+mn-ea"/>
              </a:rPr>
              <a:t>软件工程学的主要内容是软件开发技术和软件工程管理技术</a:t>
            </a:r>
            <a:r>
              <a:rPr lang="en-US" altLang="zh-CN">
                <a:latin typeface="微软雅黑" panose="020B0503020204020204" charset="-122"/>
                <a:ea typeface="微软雅黑" panose="020B0503020204020204" charset="-122"/>
                <a:sym typeface="+mn-ea"/>
              </a:rPr>
              <a:t>。本章将集中介绍与软件工程管理技术有关的知识。软件工程管理是通过计划、组织和控制等一系列活动，合理地配置和使用各种资源，以达到既定目标的过程。软件工程管理在项目的任何技术活动开始之前就要进行，并且贯穿于整个软件生存周期。</a:t>
            </a:r>
          </a:p>
          <a:p>
            <a:pPr marL="0" indent="0" algn="l" fontAlgn="auto">
              <a:lnSpc>
                <a:spcPct val="150000"/>
              </a:lnSpc>
            </a:pPr>
            <a:r>
              <a:rPr lang="en-US" altLang="zh-CN">
                <a:latin typeface="微软雅黑" panose="020B0503020204020204" charset="-122"/>
                <a:ea typeface="微软雅黑" panose="020B0503020204020204" charset="-122"/>
                <a:sym typeface="+mn-ea"/>
              </a:rPr>
              <a:t>★ 本章重点：</a:t>
            </a:r>
            <a:r>
              <a:rPr lang="en-US" altLang="zh-CN">
                <a:solidFill>
                  <a:srgbClr val="C00000"/>
                </a:solidFill>
                <a:latin typeface="微软雅黑" panose="020B0503020204020204" charset="-122"/>
                <a:ea typeface="微软雅黑" panose="020B0503020204020204" charset="-122"/>
                <a:sym typeface="+mn-ea"/>
              </a:rPr>
              <a:t>进度计划的制定；软件配置管理；软件质量保证。</a:t>
            </a:r>
          </a:p>
        </p:txBody>
      </p:sp>
      <p:sp>
        <p:nvSpPr>
          <p:cNvPr id="7" name="文本框 6"/>
          <p:cNvSpPr txBox="1"/>
          <p:nvPr/>
        </p:nvSpPr>
        <p:spPr>
          <a:xfrm>
            <a:off x="754380" y="3094990"/>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软件工程管理</a:t>
            </a:r>
          </a:p>
        </p:txBody>
      </p:sp>
    </p:spTree>
    <p:custDataLst>
      <p:tags r:id="rId1"/>
    </p:custDataLst>
  </p:cSld>
  <p:clrMapOvr>
    <a:masterClrMapping/>
  </p:clrMapOvr>
  <p:transition>
    <p:wedg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任意多边形 17"/>
          <p:cNvSpPr/>
          <p:nvPr>
            <p:custDataLst>
              <p:tags r:id="rId2"/>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sp>
        <p:nvSpPr>
          <p:cNvPr id="5123" name="Text Box 20"/>
          <p:cNvSpPr txBox="1">
            <a:spLocks noChangeArrowheads="1"/>
          </p:cNvSpPr>
          <p:nvPr>
            <p:custDataLst>
              <p:tags r:id="rId3"/>
            </p:custDataLst>
          </p:nvPr>
        </p:nvSpPr>
        <p:spPr bwMode="auto">
          <a:xfrm>
            <a:off x="1794269" y="1781267"/>
            <a:ext cx="2415116" cy="489585"/>
          </a:xfrm>
          <a:prstGeom prst="rect">
            <a:avLst/>
          </a:prstGeom>
          <a:noFill/>
          <a:ln w="9525">
            <a:noFill/>
            <a:miter lim="800000"/>
          </a:ln>
          <a:effectLst/>
        </p:spPr>
        <p:txBody>
          <a:bodyPr>
            <a:spAutoFit/>
          </a:bodyPr>
          <a:lstStyle/>
          <a:p>
            <a:pPr algn="dist" eaLnBrk="1" hangingPunct="1">
              <a:buFont typeface="Arial" panose="020B0604020202020204" pitchFamily="34" charset="0"/>
              <a:buNone/>
            </a:pPr>
            <a:r>
              <a:rPr lang="zh-CN" altLang="en-US" sz="2400" dirty="0">
                <a:solidFill>
                  <a:srgbClr val="FFFFFF"/>
                </a:solidFill>
                <a:latin typeface="Arial Black" panose="020B0A04020102020204" pitchFamily="34" charset="0"/>
                <a:ea typeface="华文新魏" panose="02010800040101010101" pitchFamily="2" charset="-122"/>
              </a:rPr>
              <a:t>Contents</a:t>
            </a:r>
          </a:p>
        </p:txBody>
      </p:sp>
      <p:sp>
        <p:nvSpPr>
          <p:cNvPr id="5124" name="文本框 20"/>
          <p:cNvSpPr txBox="1">
            <a:spLocks noChangeArrowheads="1"/>
          </p:cNvSpPr>
          <p:nvPr>
            <p:custDataLst>
              <p:tags r:id="rId4"/>
            </p:custDataLst>
          </p:nvPr>
        </p:nvSpPr>
        <p:spPr bwMode="auto">
          <a:xfrm>
            <a:off x="178820" y="828675"/>
            <a:ext cx="1797049" cy="822960"/>
          </a:xfrm>
          <a:prstGeom prst="rect">
            <a:avLst/>
          </a:prstGeom>
          <a:noFill/>
          <a:ln w="9525">
            <a:noFill/>
            <a:miter lim="800000"/>
          </a:ln>
        </p:spPr>
        <p:txBody>
          <a:bodyPr>
            <a:spAutoFit/>
          </a:bodyPr>
          <a:lstStyle/>
          <a:p>
            <a:pPr algn="ctr" eaLnBrk="1" hangingPunct="1">
              <a:buFont typeface="Arial" panose="020B0604020202020204" pitchFamily="34" charset="0"/>
              <a:buNone/>
            </a:pPr>
            <a:r>
              <a:rPr lang="zh-CN" altLang="en-US" sz="4800" dirty="0">
                <a:solidFill>
                  <a:srgbClr val="FFFFFF"/>
                </a:solidFill>
                <a:latin typeface="微软雅黑" panose="020B0503020204020204" charset="-122"/>
              </a:rPr>
              <a:t>目录</a:t>
            </a:r>
          </a:p>
        </p:txBody>
      </p:sp>
      <p:cxnSp>
        <p:nvCxnSpPr>
          <p:cNvPr id="5125" name="直接连接符 22"/>
          <p:cNvCxnSpPr>
            <a:cxnSpLocks noChangeShapeType="1"/>
          </p:cNvCxnSpPr>
          <p:nvPr>
            <p:custDataLst>
              <p:tags r:id="rId5"/>
            </p:custDataLst>
          </p:nvPr>
        </p:nvCxnSpPr>
        <p:spPr bwMode="auto">
          <a:xfrm>
            <a:off x="762001" y="1628775"/>
            <a:ext cx="3240617" cy="0"/>
          </a:xfrm>
          <a:prstGeom prst="line">
            <a:avLst/>
          </a:prstGeom>
          <a:noFill/>
          <a:ln w="9525">
            <a:solidFill>
              <a:srgbClr val="FFFFFF"/>
            </a:solidFill>
            <a:prstDash val="sysDash"/>
            <a:round/>
          </a:ln>
        </p:spPr>
      </p:cxnSp>
      <p:cxnSp>
        <p:nvCxnSpPr>
          <p:cNvPr id="5126" name="直接连接符 24"/>
          <p:cNvCxnSpPr>
            <a:cxnSpLocks noChangeShapeType="1"/>
          </p:cNvCxnSpPr>
          <p:nvPr>
            <p:custDataLst>
              <p:tags r:id="rId6"/>
            </p:custDataLst>
          </p:nvPr>
        </p:nvCxnSpPr>
        <p:spPr bwMode="auto">
          <a:xfrm>
            <a:off x="1761067" y="534989"/>
            <a:ext cx="0" cy="2124075"/>
          </a:xfrm>
          <a:prstGeom prst="line">
            <a:avLst/>
          </a:prstGeom>
          <a:noFill/>
          <a:ln w="9525">
            <a:solidFill>
              <a:srgbClr val="FFFFFF"/>
            </a:solidFill>
            <a:prstDash val="sysDash"/>
            <a:round/>
          </a:ln>
        </p:spPr>
      </p:cxnSp>
      <p:grpSp>
        <p:nvGrpSpPr>
          <p:cNvPr id="17" name="组合 16"/>
          <p:cNvGrpSpPr/>
          <p:nvPr/>
        </p:nvGrpSpPr>
        <p:grpSpPr>
          <a:xfrm>
            <a:off x="5469255" y="1536700"/>
            <a:ext cx="5085080" cy="611505"/>
            <a:chOff x="8728" y="2565"/>
            <a:chExt cx="8008" cy="963"/>
          </a:xfrm>
        </p:grpSpPr>
        <p:pic>
          <p:nvPicPr>
            <p:cNvPr id="47" name="图片 14"/>
            <p:cNvPicPr>
              <a:picLocks noChangeAspect="1"/>
            </p:cNvPicPr>
            <p:nvPr/>
          </p:nvPicPr>
          <p:blipFill>
            <a:blip r:embed="rId9" cstate="print"/>
            <a:stretch>
              <a:fillRect/>
            </a:stretch>
          </p:blipFill>
          <p:spPr>
            <a:xfrm>
              <a:off x="8728" y="2565"/>
              <a:ext cx="963" cy="963"/>
            </a:xfrm>
            <a:prstGeom prst="rect">
              <a:avLst/>
            </a:prstGeom>
            <a:noFill/>
            <a:ln w="9525">
              <a:noFill/>
            </a:ln>
          </p:spPr>
        </p:pic>
        <p:sp>
          <p:nvSpPr>
            <p:cNvPr id="48" name="椭圆 47"/>
            <p:cNvSpPr/>
            <p:nvPr/>
          </p:nvSpPr>
          <p:spPr>
            <a:xfrm>
              <a:off x="8728" y="2565"/>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2" name="组合 20"/>
            <p:cNvGrpSpPr/>
            <p:nvPr/>
          </p:nvGrpSpPr>
          <p:grpSpPr>
            <a:xfrm>
              <a:off x="9883" y="2565"/>
              <a:ext cx="6853" cy="960"/>
              <a:chOff x="6004452" y="1971917"/>
              <a:chExt cx="3406249" cy="610204"/>
            </a:xfrm>
          </p:grpSpPr>
          <p:pic>
            <p:nvPicPr>
              <p:cNvPr id="50" name="图片 10"/>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51" name="圆角矩形 50"/>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2" name="文本框 19"/>
            <p:cNvSpPr txBox="1"/>
            <p:nvPr/>
          </p:nvSpPr>
          <p:spPr>
            <a:xfrm>
              <a:off x="10325" y="2660"/>
              <a:ext cx="6217"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zh-CN" sz="2400" b="1" dirty="0">
                  <a:solidFill>
                    <a:schemeClr val="bg1"/>
                  </a:solidFill>
                  <a:latin typeface="微软雅黑" panose="020B0503020204020204" charset="-122"/>
                  <a:ea typeface="微软雅黑" panose="020B0503020204020204" charset="-122"/>
                </a:rPr>
                <a:t>软件工程管理概述</a:t>
              </a:r>
            </a:p>
          </p:txBody>
        </p:sp>
        <p:sp>
          <p:nvSpPr>
            <p:cNvPr id="53" name="文本框 21"/>
            <p:cNvSpPr txBox="1"/>
            <p:nvPr/>
          </p:nvSpPr>
          <p:spPr>
            <a:xfrm>
              <a:off x="8788" y="2700"/>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01</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6" name="组合 15"/>
          <p:cNvGrpSpPr/>
          <p:nvPr/>
        </p:nvGrpSpPr>
        <p:grpSpPr>
          <a:xfrm>
            <a:off x="4735830" y="2659380"/>
            <a:ext cx="4772025" cy="612775"/>
            <a:chOff x="7754" y="4005"/>
            <a:chExt cx="7515" cy="965"/>
          </a:xfrm>
        </p:grpSpPr>
        <p:pic>
          <p:nvPicPr>
            <p:cNvPr id="54" name="图片 24"/>
            <p:cNvPicPr>
              <a:picLocks noChangeAspect="1"/>
            </p:cNvPicPr>
            <p:nvPr/>
          </p:nvPicPr>
          <p:blipFill>
            <a:blip r:embed="rId9" cstate="print"/>
            <a:stretch>
              <a:fillRect/>
            </a:stretch>
          </p:blipFill>
          <p:spPr>
            <a:xfrm>
              <a:off x="7754" y="4005"/>
              <a:ext cx="963" cy="965"/>
            </a:xfrm>
            <a:prstGeom prst="rect">
              <a:avLst/>
            </a:prstGeom>
            <a:noFill/>
            <a:ln w="9525">
              <a:noFill/>
            </a:ln>
          </p:spPr>
        </p:pic>
        <p:sp>
          <p:nvSpPr>
            <p:cNvPr id="55" name="椭圆 54"/>
            <p:cNvSpPr/>
            <p:nvPr/>
          </p:nvSpPr>
          <p:spPr>
            <a:xfrm>
              <a:off x="7754" y="4005"/>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3" name="组合 26"/>
            <p:cNvGrpSpPr/>
            <p:nvPr/>
          </p:nvGrpSpPr>
          <p:grpSpPr>
            <a:xfrm>
              <a:off x="8909" y="4005"/>
              <a:ext cx="6360" cy="963"/>
              <a:chOff x="6004452" y="1971917"/>
              <a:chExt cx="3406249" cy="610204"/>
            </a:xfrm>
          </p:grpSpPr>
          <p:pic>
            <p:nvPicPr>
              <p:cNvPr id="57" name="图片 29"/>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58" name="圆角矩形 57"/>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9" name="文本框 27"/>
            <p:cNvSpPr txBox="1"/>
            <p:nvPr/>
          </p:nvSpPr>
          <p:spPr>
            <a:xfrm>
              <a:off x="9352" y="4103"/>
              <a:ext cx="522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软件规模估算</a:t>
              </a:r>
            </a:p>
          </p:txBody>
        </p:sp>
        <p:sp>
          <p:nvSpPr>
            <p:cNvPr id="60" name="文本框 28"/>
            <p:cNvSpPr txBox="1"/>
            <p:nvPr/>
          </p:nvSpPr>
          <p:spPr>
            <a:xfrm>
              <a:off x="7814" y="4143"/>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02</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5" name="组合 14"/>
          <p:cNvGrpSpPr/>
          <p:nvPr/>
        </p:nvGrpSpPr>
        <p:grpSpPr>
          <a:xfrm>
            <a:off x="4002405" y="3767455"/>
            <a:ext cx="4770755" cy="612775"/>
            <a:chOff x="6616" y="5448"/>
            <a:chExt cx="7513" cy="965"/>
          </a:xfrm>
        </p:grpSpPr>
        <p:pic>
          <p:nvPicPr>
            <p:cNvPr id="61" name="图片 32"/>
            <p:cNvPicPr>
              <a:picLocks noChangeAspect="1"/>
            </p:cNvPicPr>
            <p:nvPr/>
          </p:nvPicPr>
          <p:blipFill>
            <a:blip r:embed="rId9" cstate="print"/>
            <a:stretch>
              <a:fillRect/>
            </a:stretch>
          </p:blipFill>
          <p:spPr>
            <a:xfrm>
              <a:off x="6616" y="5448"/>
              <a:ext cx="963" cy="965"/>
            </a:xfrm>
            <a:prstGeom prst="rect">
              <a:avLst/>
            </a:prstGeom>
            <a:noFill/>
            <a:ln w="9525">
              <a:noFill/>
            </a:ln>
          </p:spPr>
        </p:pic>
        <p:sp>
          <p:nvSpPr>
            <p:cNvPr id="62" name="椭圆 61"/>
            <p:cNvSpPr/>
            <p:nvPr/>
          </p:nvSpPr>
          <p:spPr>
            <a:xfrm>
              <a:off x="6616" y="5448"/>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4" name="组合 34"/>
            <p:cNvGrpSpPr/>
            <p:nvPr/>
          </p:nvGrpSpPr>
          <p:grpSpPr>
            <a:xfrm>
              <a:off x="7771" y="5448"/>
              <a:ext cx="6358" cy="962"/>
              <a:chOff x="6004452" y="1971917"/>
              <a:chExt cx="3406249" cy="610204"/>
            </a:xfrm>
          </p:grpSpPr>
          <p:pic>
            <p:nvPicPr>
              <p:cNvPr id="64" name="图片 37"/>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65" name="圆角矩形 64"/>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66" name="文本框 35"/>
            <p:cNvSpPr txBox="1"/>
            <p:nvPr/>
          </p:nvSpPr>
          <p:spPr>
            <a:xfrm>
              <a:off x="8213" y="5545"/>
              <a:ext cx="5916"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进度计划</a:t>
              </a:r>
            </a:p>
          </p:txBody>
        </p:sp>
        <p:sp>
          <p:nvSpPr>
            <p:cNvPr id="67" name="文本框 36"/>
            <p:cNvSpPr txBox="1"/>
            <p:nvPr/>
          </p:nvSpPr>
          <p:spPr>
            <a:xfrm>
              <a:off x="6676" y="5585"/>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03</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6" name="组合 5"/>
          <p:cNvGrpSpPr/>
          <p:nvPr/>
        </p:nvGrpSpPr>
        <p:grpSpPr>
          <a:xfrm>
            <a:off x="3216910" y="4869180"/>
            <a:ext cx="4683760" cy="611505"/>
            <a:chOff x="5228" y="7274"/>
            <a:chExt cx="7100" cy="963"/>
          </a:xfrm>
        </p:grpSpPr>
        <p:pic>
          <p:nvPicPr>
            <p:cNvPr id="68" name="图片 40"/>
            <p:cNvPicPr>
              <a:picLocks noChangeAspect="1"/>
            </p:cNvPicPr>
            <p:nvPr/>
          </p:nvPicPr>
          <p:blipFill>
            <a:blip r:embed="rId9" cstate="print"/>
            <a:stretch>
              <a:fillRect/>
            </a:stretch>
          </p:blipFill>
          <p:spPr>
            <a:xfrm>
              <a:off x="5228" y="7274"/>
              <a:ext cx="963" cy="963"/>
            </a:xfrm>
            <a:prstGeom prst="rect">
              <a:avLst/>
            </a:prstGeom>
            <a:noFill/>
            <a:ln w="9525">
              <a:noFill/>
            </a:ln>
          </p:spPr>
        </p:pic>
        <p:sp>
          <p:nvSpPr>
            <p:cNvPr id="69" name="椭圆 68"/>
            <p:cNvSpPr/>
            <p:nvPr/>
          </p:nvSpPr>
          <p:spPr>
            <a:xfrm>
              <a:off x="5228" y="7274"/>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5" name="组合 42"/>
            <p:cNvGrpSpPr/>
            <p:nvPr/>
          </p:nvGrpSpPr>
          <p:grpSpPr>
            <a:xfrm>
              <a:off x="6383" y="7274"/>
              <a:ext cx="5945" cy="960"/>
              <a:chOff x="6004452" y="1971917"/>
              <a:chExt cx="3406249" cy="610204"/>
            </a:xfrm>
          </p:grpSpPr>
          <p:pic>
            <p:nvPicPr>
              <p:cNvPr id="71" name="图片 45"/>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72" name="圆角矩形 71"/>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73" name="文本框 43"/>
            <p:cNvSpPr txBox="1"/>
            <p:nvPr/>
          </p:nvSpPr>
          <p:spPr>
            <a:xfrm>
              <a:off x="6825" y="7371"/>
              <a:ext cx="522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人员组织</a:t>
              </a:r>
            </a:p>
          </p:txBody>
        </p:sp>
        <p:sp>
          <p:nvSpPr>
            <p:cNvPr id="74" name="文本框 44"/>
            <p:cNvSpPr txBox="1"/>
            <p:nvPr/>
          </p:nvSpPr>
          <p:spPr>
            <a:xfrm>
              <a:off x="5288" y="7411"/>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04</a:t>
              </a:r>
              <a:endParaRPr lang="zh-CN" altLang="en-US" sz="2400" b="1" dirty="0">
                <a:solidFill>
                  <a:schemeClr val="bg1"/>
                </a:solidFill>
                <a:latin typeface="微软雅黑" panose="020B0503020204020204" charset="-122"/>
                <a:ea typeface="微软雅黑" panose="020B0503020204020204" charset="-122"/>
              </a:endParaRPr>
            </a:p>
          </p:txBody>
        </p:sp>
      </p:grpSp>
    </p:spTree>
    <p:custDataLst>
      <p:tags r:id="rId1"/>
    </p:custDataLst>
  </p:cSld>
  <p:clrMapOvr>
    <a:masterClrMapping/>
  </p:clrMapOvr>
  <p:transition>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任意多边形 17"/>
          <p:cNvSpPr/>
          <p:nvPr>
            <p:custDataLst>
              <p:tags r:id="rId2"/>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sp>
        <p:nvSpPr>
          <p:cNvPr id="5123" name="Text Box 20"/>
          <p:cNvSpPr txBox="1">
            <a:spLocks noChangeArrowheads="1"/>
          </p:cNvSpPr>
          <p:nvPr>
            <p:custDataLst>
              <p:tags r:id="rId3"/>
            </p:custDataLst>
          </p:nvPr>
        </p:nvSpPr>
        <p:spPr bwMode="auto">
          <a:xfrm>
            <a:off x="1794269" y="1781267"/>
            <a:ext cx="2415116" cy="489585"/>
          </a:xfrm>
          <a:prstGeom prst="rect">
            <a:avLst/>
          </a:prstGeom>
          <a:noFill/>
          <a:ln w="9525">
            <a:noFill/>
            <a:miter lim="800000"/>
          </a:ln>
          <a:effectLst/>
        </p:spPr>
        <p:txBody>
          <a:bodyPr>
            <a:spAutoFit/>
          </a:bodyPr>
          <a:lstStyle/>
          <a:p>
            <a:pPr algn="dist" eaLnBrk="1" hangingPunct="1">
              <a:buFont typeface="Arial" panose="020B0604020202020204" pitchFamily="34" charset="0"/>
              <a:buNone/>
            </a:pPr>
            <a:r>
              <a:rPr lang="zh-CN" altLang="en-US" sz="2400" dirty="0">
                <a:solidFill>
                  <a:srgbClr val="FFFFFF"/>
                </a:solidFill>
                <a:latin typeface="Arial Black" panose="020B0A04020102020204" pitchFamily="34" charset="0"/>
                <a:ea typeface="华文新魏" panose="02010800040101010101" pitchFamily="2" charset="-122"/>
              </a:rPr>
              <a:t>Contents</a:t>
            </a:r>
          </a:p>
        </p:txBody>
      </p:sp>
      <p:sp>
        <p:nvSpPr>
          <p:cNvPr id="5124" name="文本框 20"/>
          <p:cNvSpPr txBox="1">
            <a:spLocks noChangeArrowheads="1"/>
          </p:cNvSpPr>
          <p:nvPr>
            <p:custDataLst>
              <p:tags r:id="rId4"/>
            </p:custDataLst>
          </p:nvPr>
        </p:nvSpPr>
        <p:spPr bwMode="auto">
          <a:xfrm>
            <a:off x="178820" y="828675"/>
            <a:ext cx="1797049" cy="822960"/>
          </a:xfrm>
          <a:prstGeom prst="rect">
            <a:avLst/>
          </a:prstGeom>
          <a:noFill/>
          <a:ln w="9525">
            <a:noFill/>
            <a:miter lim="800000"/>
          </a:ln>
        </p:spPr>
        <p:txBody>
          <a:bodyPr>
            <a:spAutoFit/>
          </a:bodyPr>
          <a:lstStyle/>
          <a:p>
            <a:pPr algn="ctr" eaLnBrk="1" hangingPunct="1">
              <a:buFont typeface="Arial" panose="020B0604020202020204" pitchFamily="34" charset="0"/>
              <a:buNone/>
            </a:pPr>
            <a:r>
              <a:rPr lang="zh-CN" altLang="en-US" sz="4800" dirty="0">
                <a:solidFill>
                  <a:srgbClr val="FFFFFF"/>
                </a:solidFill>
                <a:latin typeface="微软雅黑" panose="020B0503020204020204" charset="-122"/>
              </a:rPr>
              <a:t>目录</a:t>
            </a:r>
          </a:p>
        </p:txBody>
      </p:sp>
      <p:cxnSp>
        <p:nvCxnSpPr>
          <p:cNvPr id="5125" name="直接连接符 22"/>
          <p:cNvCxnSpPr>
            <a:cxnSpLocks noChangeShapeType="1"/>
          </p:cNvCxnSpPr>
          <p:nvPr>
            <p:custDataLst>
              <p:tags r:id="rId5"/>
            </p:custDataLst>
          </p:nvPr>
        </p:nvCxnSpPr>
        <p:spPr bwMode="auto">
          <a:xfrm>
            <a:off x="762001" y="1628775"/>
            <a:ext cx="3240617" cy="0"/>
          </a:xfrm>
          <a:prstGeom prst="line">
            <a:avLst/>
          </a:prstGeom>
          <a:noFill/>
          <a:ln w="9525">
            <a:solidFill>
              <a:srgbClr val="FFFFFF"/>
            </a:solidFill>
            <a:prstDash val="sysDash"/>
            <a:round/>
          </a:ln>
        </p:spPr>
      </p:cxnSp>
      <p:cxnSp>
        <p:nvCxnSpPr>
          <p:cNvPr id="5126" name="直接连接符 24"/>
          <p:cNvCxnSpPr>
            <a:cxnSpLocks noChangeShapeType="1"/>
          </p:cNvCxnSpPr>
          <p:nvPr>
            <p:custDataLst>
              <p:tags r:id="rId6"/>
            </p:custDataLst>
          </p:nvPr>
        </p:nvCxnSpPr>
        <p:spPr bwMode="auto">
          <a:xfrm>
            <a:off x="1761067" y="534989"/>
            <a:ext cx="0" cy="2124075"/>
          </a:xfrm>
          <a:prstGeom prst="line">
            <a:avLst/>
          </a:prstGeom>
          <a:noFill/>
          <a:ln w="9525">
            <a:solidFill>
              <a:srgbClr val="FFFFFF"/>
            </a:solidFill>
            <a:prstDash val="sysDash"/>
            <a:round/>
          </a:ln>
        </p:spPr>
      </p:cxnSp>
      <p:grpSp>
        <p:nvGrpSpPr>
          <p:cNvPr id="17" name="组合 16"/>
          <p:cNvGrpSpPr/>
          <p:nvPr/>
        </p:nvGrpSpPr>
        <p:grpSpPr>
          <a:xfrm>
            <a:off x="5469255" y="1536700"/>
            <a:ext cx="5085080" cy="611505"/>
            <a:chOff x="8728" y="2565"/>
            <a:chExt cx="8008" cy="963"/>
          </a:xfrm>
        </p:grpSpPr>
        <p:pic>
          <p:nvPicPr>
            <p:cNvPr id="47" name="图片 14"/>
            <p:cNvPicPr>
              <a:picLocks noChangeAspect="1"/>
            </p:cNvPicPr>
            <p:nvPr/>
          </p:nvPicPr>
          <p:blipFill>
            <a:blip r:embed="rId9" cstate="print"/>
            <a:stretch>
              <a:fillRect/>
            </a:stretch>
          </p:blipFill>
          <p:spPr>
            <a:xfrm>
              <a:off x="8728" y="2565"/>
              <a:ext cx="963" cy="963"/>
            </a:xfrm>
            <a:prstGeom prst="rect">
              <a:avLst/>
            </a:prstGeom>
            <a:noFill/>
            <a:ln w="9525">
              <a:noFill/>
            </a:ln>
          </p:spPr>
        </p:pic>
        <p:sp>
          <p:nvSpPr>
            <p:cNvPr id="48" name="椭圆 47"/>
            <p:cNvSpPr/>
            <p:nvPr/>
          </p:nvSpPr>
          <p:spPr>
            <a:xfrm>
              <a:off x="8728" y="2565"/>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2" name="组合 20"/>
            <p:cNvGrpSpPr/>
            <p:nvPr/>
          </p:nvGrpSpPr>
          <p:grpSpPr>
            <a:xfrm>
              <a:off x="9883" y="2565"/>
              <a:ext cx="6853" cy="960"/>
              <a:chOff x="6004452" y="1971917"/>
              <a:chExt cx="3406249" cy="610204"/>
            </a:xfrm>
          </p:grpSpPr>
          <p:pic>
            <p:nvPicPr>
              <p:cNvPr id="50" name="图片 10"/>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51" name="圆角矩形 50"/>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2" name="文本框 19"/>
            <p:cNvSpPr txBox="1"/>
            <p:nvPr/>
          </p:nvSpPr>
          <p:spPr>
            <a:xfrm>
              <a:off x="10325" y="2660"/>
              <a:ext cx="6217"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zh-CN" sz="2400" b="1" dirty="0">
                  <a:solidFill>
                    <a:schemeClr val="bg1"/>
                  </a:solidFill>
                  <a:latin typeface="微软雅黑" panose="020B0503020204020204" charset="-122"/>
                  <a:ea typeface="微软雅黑" panose="020B0503020204020204" charset="-122"/>
                </a:rPr>
                <a:t>软件配置管理</a:t>
              </a:r>
            </a:p>
          </p:txBody>
        </p:sp>
        <p:sp>
          <p:nvSpPr>
            <p:cNvPr id="53" name="文本框 21"/>
            <p:cNvSpPr txBox="1"/>
            <p:nvPr/>
          </p:nvSpPr>
          <p:spPr>
            <a:xfrm>
              <a:off x="8788" y="2700"/>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05</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6" name="组合 15"/>
          <p:cNvGrpSpPr/>
          <p:nvPr/>
        </p:nvGrpSpPr>
        <p:grpSpPr>
          <a:xfrm>
            <a:off x="4735830" y="2659380"/>
            <a:ext cx="4772025" cy="612775"/>
            <a:chOff x="7754" y="4005"/>
            <a:chExt cx="7515" cy="965"/>
          </a:xfrm>
        </p:grpSpPr>
        <p:pic>
          <p:nvPicPr>
            <p:cNvPr id="54" name="图片 24"/>
            <p:cNvPicPr>
              <a:picLocks noChangeAspect="1"/>
            </p:cNvPicPr>
            <p:nvPr/>
          </p:nvPicPr>
          <p:blipFill>
            <a:blip r:embed="rId9" cstate="print"/>
            <a:stretch>
              <a:fillRect/>
            </a:stretch>
          </p:blipFill>
          <p:spPr>
            <a:xfrm>
              <a:off x="7754" y="4005"/>
              <a:ext cx="963" cy="965"/>
            </a:xfrm>
            <a:prstGeom prst="rect">
              <a:avLst/>
            </a:prstGeom>
            <a:noFill/>
            <a:ln w="9525">
              <a:noFill/>
            </a:ln>
          </p:spPr>
        </p:pic>
        <p:sp>
          <p:nvSpPr>
            <p:cNvPr id="55" name="椭圆 54"/>
            <p:cNvSpPr/>
            <p:nvPr/>
          </p:nvSpPr>
          <p:spPr>
            <a:xfrm>
              <a:off x="7754" y="4005"/>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3" name="组合 26"/>
            <p:cNvGrpSpPr/>
            <p:nvPr/>
          </p:nvGrpSpPr>
          <p:grpSpPr>
            <a:xfrm>
              <a:off x="8909" y="4005"/>
              <a:ext cx="6360" cy="963"/>
              <a:chOff x="6004452" y="1971917"/>
              <a:chExt cx="3406249" cy="610204"/>
            </a:xfrm>
          </p:grpSpPr>
          <p:pic>
            <p:nvPicPr>
              <p:cNvPr id="57" name="图片 29"/>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58" name="圆角矩形 57"/>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9" name="文本框 27"/>
            <p:cNvSpPr txBox="1"/>
            <p:nvPr/>
          </p:nvSpPr>
          <p:spPr>
            <a:xfrm>
              <a:off x="9352" y="4103"/>
              <a:ext cx="522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软件质量保证</a:t>
              </a:r>
            </a:p>
          </p:txBody>
        </p:sp>
        <p:sp>
          <p:nvSpPr>
            <p:cNvPr id="60" name="文本框 28"/>
            <p:cNvSpPr txBox="1"/>
            <p:nvPr/>
          </p:nvSpPr>
          <p:spPr>
            <a:xfrm>
              <a:off x="7814" y="4143"/>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06</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5" name="组合 14"/>
          <p:cNvGrpSpPr/>
          <p:nvPr/>
        </p:nvGrpSpPr>
        <p:grpSpPr>
          <a:xfrm>
            <a:off x="4002405" y="3767455"/>
            <a:ext cx="4770755" cy="612775"/>
            <a:chOff x="6616" y="5448"/>
            <a:chExt cx="7513" cy="965"/>
          </a:xfrm>
        </p:grpSpPr>
        <p:pic>
          <p:nvPicPr>
            <p:cNvPr id="61" name="图片 32"/>
            <p:cNvPicPr>
              <a:picLocks noChangeAspect="1"/>
            </p:cNvPicPr>
            <p:nvPr/>
          </p:nvPicPr>
          <p:blipFill>
            <a:blip r:embed="rId9" cstate="print"/>
            <a:stretch>
              <a:fillRect/>
            </a:stretch>
          </p:blipFill>
          <p:spPr>
            <a:xfrm>
              <a:off x="6616" y="5448"/>
              <a:ext cx="963" cy="965"/>
            </a:xfrm>
            <a:prstGeom prst="rect">
              <a:avLst/>
            </a:prstGeom>
            <a:noFill/>
            <a:ln w="9525">
              <a:noFill/>
            </a:ln>
          </p:spPr>
        </p:pic>
        <p:sp>
          <p:nvSpPr>
            <p:cNvPr id="62" name="椭圆 61"/>
            <p:cNvSpPr/>
            <p:nvPr/>
          </p:nvSpPr>
          <p:spPr>
            <a:xfrm>
              <a:off x="6616" y="5448"/>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4" name="组合 34"/>
            <p:cNvGrpSpPr/>
            <p:nvPr/>
          </p:nvGrpSpPr>
          <p:grpSpPr>
            <a:xfrm>
              <a:off x="7771" y="5448"/>
              <a:ext cx="6358" cy="962"/>
              <a:chOff x="6004452" y="1971917"/>
              <a:chExt cx="3406249" cy="610204"/>
            </a:xfrm>
          </p:grpSpPr>
          <p:pic>
            <p:nvPicPr>
              <p:cNvPr id="64" name="图片 37"/>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65" name="圆角矩形 64"/>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66" name="文本框 35"/>
            <p:cNvSpPr txBox="1"/>
            <p:nvPr/>
          </p:nvSpPr>
          <p:spPr>
            <a:xfrm>
              <a:off x="8213" y="5545"/>
              <a:ext cx="5916"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软件开发风险管理</a:t>
              </a:r>
            </a:p>
          </p:txBody>
        </p:sp>
        <p:sp>
          <p:nvSpPr>
            <p:cNvPr id="67" name="文本框 36"/>
            <p:cNvSpPr txBox="1"/>
            <p:nvPr/>
          </p:nvSpPr>
          <p:spPr>
            <a:xfrm>
              <a:off x="6676" y="5585"/>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07</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6" name="组合 5"/>
          <p:cNvGrpSpPr/>
          <p:nvPr/>
        </p:nvGrpSpPr>
        <p:grpSpPr>
          <a:xfrm>
            <a:off x="3216910" y="4869180"/>
            <a:ext cx="4683760" cy="611505"/>
            <a:chOff x="5228" y="7274"/>
            <a:chExt cx="7100" cy="963"/>
          </a:xfrm>
        </p:grpSpPr>
        <p:pic>
          <p:nvPicPr>
            <p:cNvPr id="68" name="图片 40"/>
            <p:cNvPicPr>
              <a:picLocks noChangeAspect="1"/>
            </p:cNvPicPr>
            <p:nvPr/>
          </p:nvPicPr>
          <p:blipFill>
            <a:blip r:embed="rId9" cstate="print"/>
            <a:stretch>
              <a:fillRect/>
            </a:stretch>
          </p:blipFill>
          <p:spPr>
            <a:xfrm>
              <a:off x="5228" y="7274"/>
              <a:ext cx="963" cy="963"/>
            </a:xfrm>
            <a:prstGeom prst="rect">
              <a:avLst/>
            </a:prstGeom>
            <a:noFill/>
            <a:ln w="9525">
              <a:noFill/>
            </a:ln>
          </p:spPr>
        </p:pic>
        <p:sp>
          <p:nvSpPr>
            <p:cNvPr id="69" name="椭圆 68"/>
            <p:cNvSpPr/>
            <p:nvPr/>
          </p:nvSpPr>
          <p:spPr>
            <a:xfrm>
              <a:off x="5228" y="7274"/>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5" name="组合 42"/>
            <p:cNvGrpSpPr/>
            <p:nvPr/>
          </p:nvGrpSpPr>
          <p:grpSpPr>
            <a:xfrm>
              <a:off x="6383" y="7274"/>
              <a:ext cx="5945" cy="960"/>
              <a:chOff x="6004452" y="1971917"/>
              <a:chExt cx="3406249" cy="610204"/>
            </a:xfrm>
          </p:grpSpPr>
          <p:pic>
            <p:nvPicPr>
              <p:cNvPr id="71" name="图片 45"/>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72" name="圆角矩形 71"/>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73" name="文本框 43"/>
            <p:cNvSpPr txBox="1"/>
            <p:nvPr/>
          </p:nvSpPr>
          <p:spPr>
            <a:xfrm>
              <a:off x="6825" y="7371"/>
              <a:ext cx="5503"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软件工程标准与软件文档</a:t>
              </a:r>
            </a:p>
          </p:txBody>
        </p:sp>
        <p:sp>
          <p:nvSpPr>
            <p:cNvPr id="74" name="文本框 44"/>
            <p:cNvSpPr txBox="1"/>
            <p:nvPr/>
          </p:nvSpPr>
          <p:spPr>
            <a:xfrm>
              <a:off x="5288" y="7411"/>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08</a:t>
              </a:r>
              <a:endParaRPr lang="zh-CN" altLang="en-US" sz="2400" b="1" dirty="0">
                <a:solidFill>
                  <a:schemeClr val="bg1"/>
                </a:solidFill>
                <a:latin typeface="微软雅黑" panose="020B0503020204020204" charset="-122"/>
                <a:ea typeface="微软雅黑" panose="020B0503020204020204" charset="-122"/>
              </a:endParaRPr>
            </a:p>
          </p:txBody>
        </p:sp>
      </p:grpSp>
    </p:spTree>
    <p:custDataLst>
      <p:tags r:id="rId1"/>
    </p:custDataLst>
  </p:cSld>
  <p:clrMapOvr>
    <a:masterClrMapping/>
  </p:clrMapOvr>
  <p:transition>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1</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软件工程管理概述</a:t>
            </a:r>
          </a:p>
        </p:txBody>
      </p:sp>
      <p:grpSp>
        <p:nvGrpSpPr>
          <p:cNvPr id="7" name="组合 6"/>
          <p:cNvGrpSpPr/>
          <p:nvPr/>
        </p:nvGrpSpPr>
        <p:grpSpPr>
          <a:xfrm>
            <a:off x="6459855" y="4224020"/>
            <a:ext cx="3712845" cy="913130"/>
            <a:chOff x="9459" y="7137"/>
            <a:chExt cx="5847" cy="1438"/>
          </a:xfrm>
        </p:grpSpPr>
        <p:sp>
          <p:nvSpPr>
            <p:cNvPr id="8" name="文本框 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软件产品的特点</a:t>
              </a:r>
            </a:p>
          </p:txBody>
        </p:sp>
        <p:sp>
          <p:nvSpPr>
            <p:cNvPr id="9" name="文本框 8"/>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软件工程管理的重要性</a:t>
              </a:r>
            </a:p>
          </p:txBody>
        </p:sp>
      </p:grpSp>
      <p:sp>
        <p:nvSpPr>
          <p:cNvPr id="13" name="文本框 12"/>
          <p:cNvSpPr txBox="1"/>
          <p:nvPr/>
        </p:nvSpPr>
        <p:spPr>
          <a:xfrm>
            <a:off x="6459855" y="5229860"/>
            <a:ext cx="418782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软件工程管理的内容</a:t>
            </a:r>
          </a:p>
        </p:txBody>
      </p:sp>
    </p:spTree>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10.</a:t>
            </a:r>
            <a:r>
              <a:rPr lang="zh-CN" altLang="en-US">
                <a:solidFill>
                  <a:srgbClr val="FF0000"/>
                </a:solidFill>
              </a:rPr>
              <a:t>1 软件工程管理概述</a:t>
            </a:r>
          </a:p>
        </p:txBody>
      </p:sp>
      <p:sp>
        <p:nvSpPr>
          <p:cNvPr id="29" name="TextBox 6"/>
          <p:cNvSpPr txBox="1"/>
          <p:nvPr/>
        </p:nvSpPr>
        <p:spPr>
          <a:xfrm>
            <a:off x="809625"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10.1.1  </a:t>
            </a:r>
            <a:r>
              <a:rPr lang="zh-CN" altLang="en-US" sz="2400" dirty="0" smtClean="0">
                <a:solidFill>
                  <a:schemeClr val="tx1"/>
                </a:solidFill>
              </a:rPr>
              <a:t>软件产品的特点</a:t>
            </a:r>
          </a:p>
        </p:txBody>
      </p:sp>
      <p:grpSp>
        <p:nvGrpSpPr>
          <p:cNvPr id="2" name="组合 1"/>
          <p:cNvGrpSpPr/>
          <p:nvPr/>
        </p:nvGrpSpPr>
        <p:grpSpPr>
          <a:xfrm>
            <a:off x="848995" y="2176780"/>
            <a:ext cx="10807065" cy="4259580"/>
            <a:chOff x="1337" y="3428"/>
            <a:chExt cx="17019" cy="6708"/>
          </a:xfrm>
        </p:grpSpPr>
        <p:sp>
          <p:nvSpPr>
            <p:cNvPr id="16" name="Oval 15"/>
            <p:cNvSpPr>
              <a:spLocks noChangeArrowheads="1"/>
            </p:cNvSpPr>
            <p:nvPr>
              <p:custDataLst>
                <p:tags r:id="rId1"/>
              </p:custDataLst>
            </p:nvPr>
          </p:nvSpPr>
          <p:spPr bwMode="auto">
            <a:xfrm>
              <a:off x="1609" y="3997"/>
              <a:ext cx="4966" cy="5012"/>
            </a:xfrm>
            <a:prstGeom prst="ellipse">
              <a:avLst/>
            </a:prstGeom>
            <a:noFill/>
            <a:ln w="19050">
              <a:solidFill>
                <a:srgbClr val="4F5A71">
                  <a:alpha val="50000"/>
                </a:srgbClr>
              </a:solidFill>
              <a:round/>
            </a:ln>
            <a:effectLst/>
            <a:extLst>
              <a:ext uri="{909E8E84-426E-40DD-AFC4-6F175D3DCCD1}">
                <a14:hiddenFill xmlns:a14="http://schemas.microsoft.com/office/drawing/2010/main" xmlns="">
                  <a:solidFill>
                    <a:srgbClr val="4F5A71"/>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3" name="Line 16"/>
            <p:cNvSpPr>
              <a:spLocks noChangeShapeType="1"/>
            </p:cNvSpPr>
            <p:nvPr>
              <p:custDataLst>
                <p:tags r:id="rId2"/>
              </p:custDataLst>
            </p:nvPr>
          </p:nvSpPr>
          <p:spPr bwMode="gray">
            <a:xfrm>
              <a:off x="1337" y="6514"/>
              <a:ext cx="5486" cy="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4" name="Line 17"/>
            <p:cNvSpPr>
              <a:spLocks noChangeShapeType="1"/>
            </p:cNvSpPr>
            <p:nvPr>
              <p:custDataLst>
                <p:tags r:id="rId3"/>
              </p:custDataLst>
            </p:nvPr>
          </p:nvSpPr>
          <p:spPr bwMode="gray">
            <a:xfrm>
              <a:off x="4080" y="3627"/>
              <a:ext cx="0" cy="577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5" name="Oval 10"/>
            <p:cNvSpPr>
              <a:spLocks noChangeArrowheads="1"/>
            </p:cNvSpPr>
            <p:nvPr>
              <p:custDataLst>
                <p:tags r:id="rId4"/>
              </p:custDataLst>
            </p:nvPr>
          </p:nvSpPr>
          <p:spPr bwMode="gray">
            <a:xfrm>
              <a:off x="1881" y="4281"/>
              <a:ext cx="4393" cy="4427"/>
            </a:xfrm>
            <a:prstGeom prst="ellipse">
              <a:avLst/>
            </a:prstGeom>
            <a:noFill/>
            <a:ln w="9525">
              <a:solidFill>
                <a:srgbClr val="4F5A71">
                  <a:alpha val="50000"/>
                </a:srgbClr>
              </a:solidFill>
              <a:round/>
            </a:ln>
            <a:effectLst/>
            <a:extLst>
              <a:ext uri="{909E8E84-426E-40DD-AFC4-6F175D3DCCD1}">
                <a14:hiddenFill xmlns:a14="http://schemas.microsoft.com/office/drawing/2010/main" xmlns="">
                  <a:solidFill>
                    <a:srgbClr val="4F5A71">
                      <a:alpha val="64999"/>
                    </a:srgbClr>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7" name="Oval 13"/>
            <p:cNvSpPr>
              <a:spLocks noChangeArrowheads="1"/>
            </p:cNvSpPr>
            <p:nvPr>
              <p:custDataLst>
                <p:tags r:id="rId5"/>
              </p:custDataLst>
            </p:nvPr>
          </p:nvSpPr>
          <p:spPr bwMode="gray">
            <a:xfrm>
              <a:off x="2383" y="4812"/>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51" name="KSO_GT1"/>
            <p:cNvSpPr>
              <a:spLocks noChangeArrowheads="1"/>
            </p:cNvSpPr>
            <p:nvPr>
              <p:custDataLst>
                <p:tags r:id="rId6"/>
              </p:custDataLst>
            </p:nvPr>
          </p:nvSpPr>
          <p:spPr bwMode="gray">
            <a:xfrm>
              <a:off x="2989" y="5430"/>
              <a:ext cx="2155" cy="2201"/>
            </a:xfrm>
            <a:prstGeom prst="ellipse">
              <a:avLst/>
            </a:prstGeom>
            <a:solidFill>
              <a:srgbClr val="4F5A71"/>
            </a:solidFill>
            <a:ln>
              <a:noFill/>
            </a:ln>
            <a:effectLst/>
          </p:spPr>
          <p:txBody>
            <a:bodyPr wrap="square" lIns="0" tIns="0" rIns="0" bIns="0" anchor="ctr">
              <a:normAutofit lnSpcReduction="10000"/>
            </a:bodyPr>
            <a:lstStyle/>
            <a:p>
              <a:pPr algn="ctr">
                <a:defRPr/>
              </a:pPr>
              <a:r>
                <a:rPr lang="en-US" altLang="zh-CN" sz="2400" kern="0" dirty="0">
                  <a:solidFill>
                    <a:srgbClr val="FFFFFF"/>
                  </a:solidFill>
                  <a:latin typeface="Arial" panose="020B0604020202020204" pitchFamily="34" charset="0"/>
                  <a:ea typeface="宋体" panose="02010600030101010101" pitchFamily="2" charset="-122"/>
                  <a:cs typeface="黑体" panose="02010609060101010101" pitchFamily="49" charset="-122"/>
                  <a:sym typeface="+mn-ea"/>
                </a:rPr>
                <a:t>软件</a:t>
              </a:r>
            </a:p>
            <a:p>
              <a:pPr algn="ctr">
                <a:defRPr/>
              </a:pPr>
              <a:r>
                <a:rPr lang="en-US" altLang="zh-CN" sz="2400" kern="0" dirty="0">
                  <a:solidFill>
                    <a:srgbClr val="FFFFFF"/>
                  </a:solidFill>
                  <a:latin typeface="Arial" panose="020B0604020202020204" pitchFamily="34" charset="0"/>
                  <a:ea typeface="宋体" panose="02010600030101010101" pitchFamily="2" charset="-122"/>
                  <a:cs typeface="黑体" panose="02010609060101010101" pitchFamily="49" charset="-122"/>
                  <a:sym typeface="+mn-ea"/>
                </a:rPr>
                <a:t>产品</a:t>
              </a:r>
            </a:p>
            <a:p>
              <a:pPr algn="ctr">
                <a:defRPr/>
              </a:pPr>
              <a:r>
                <a:rPr lang="en-US" altLang="zh-CN" sz="2400" kern="0" dirty="0">
                  <a:solidFill>
                    <a:srgbClr val="FFFFFF"/>
                  </a:solidFill>
                  <a:latin typeface="Arial" panose="020B0604020202020204" pitchFamily="34" charset="0"/>
                  <a:ea typeface="宋体" panose="02010600030101010101" pitchFamily="2" charset="-122"/>
                  <a:cs typeface="黑体" panose="02010609060101010101" pitchFamily="49" charset="-122"/>
                  <a:sym typeface="+mn-ea"/>
                </a:rPr>
                <a:t>的特点</a:t>
              </a:r>
            </a:p>
          </p:txBody>
        </p:sp>
        <p:sp>
          <p:nvSpPr>
            <p:cNvPr id="30" name="Oval 19"/>
            <p:cNvSpPr>
              <a:spLocks noChangeArrowheads="1"/>
            </p:cNvSpPr>
            <p:nvPr>
              <p:custDataLst>
                <p:tags r:id="rId7"/>
              </p:custDataLst>
            </p:nvPr>
          </p:nvSpPr>
          <p:spPr bwMode="gray">
            <a:xfrm>
              <a:off x="4744" y="3927"/>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1" name="文本框 20"/>
            <p:cNvSpPr txBox="1"/>
            <p:nvPr>
              <p:custDataLst>
                <p:tags r:id="rId8"/>
              </p:custDataLst>
            </p:nvPr>
          </p:nvSpPr>
          <p:spPr>
            <a:xfrm>
              <a:off x="5337" y="3428"/>
              <a:ext cx="12674" cy="895"/>
            </a:xfrm>
            <a:prstGeom prst="rect">
              <a:avLst/>
            </a:prstGeom>
            <a:noFill/>
          </p:spPr>
          <p:txBody>
            <a:bodyPr wrap="square" lIns="0" rIns="0">
              <a:normAutofit/>
            </a:bodyPr>
            <a:lstStyle/>
            <a:p>
              <a:pPr>
                <a:lnSpc>
                  <a:spcPct val="130000"/>
                </a:lnSpc>
                <a:spcBef>
                  <a:spcPts val="600"/>
                </a:spcBef>
                <a:defRPr/>
              </a:pPr>
              <a:r>
                <a:rPr dirty="0"/>
                <a:t>（1）软件是逻辑产品，具有高度的抽象性。</a:t>
              </a:r>
            </a:p>
          </p:txBody>
        </p:sp>
        <p:sp>
          <p:nvSpPr>
            <p:cNvPr id="19" name="Oval 19"/>
            <p:cNvSpPr>
              <a:spLocks noChangeArrowheads="1"/>
            </p:cNvSpPr>
            <p:nvPr>
              <p:custDataLst>
                <p:tags r:id="rId9"/>
              </p:custDataLst>
            </p:nvPr>
          </p:nvSpPr>
          <p:spPr bwMode="gray">
            <a:xfrm>
              <a:off x="5822" y="4710"/>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2" name="文本框 21"/>
            <p:cNvSpPr txBox="1"/>
            <p:nvPr>
              <p:custDataLst>
                <p:tags r:id="rId10"/>
              </p:custDataLst>
            </p:nvPr>
          </p:nvSpPr>
          <p:spPr>
            <a:xfrm>
              <a:off x="6575" y="4517"/>
              <a:ext cx="11533" cy="783"/>
            </a:xfrm>
            <a:prstGeom prst="rect">
              <a:avLst/>
            </a:prstGeom>
            <a:noFill/>
          </p:spPr>
          <p:txBody>
            <a:bodyPr wrap="square" lIns="0" rIns="0">
              <a:normAutofit/>
            </a:bodyPr>
            <a:lstStyle/>
            <a:p>
              <a:pPr>
                <a:lnSpc>
                  <a:spcPct val="130000"/>
                </a:lnSpc>
                <a:spcBef>
                  <a:spcPts val="600"/>
                </a:spcBef>
                <a:defRPr/>
              </a:pPr>
              <a:r>
                <a:rPr dirty="0"/>
                <a:t>（2）同一功能的软件可以有多样性。</a:t>
              </a:r>
            </a:p>
          </p:txBody>
        </p:sp>
        <p:sp>
          <p:nvSpPr>
            <p:cNvPr id="20" name="Oval 19"/>
            <p:cNvSpPr>
              <a:spLocks noChangeArrowheads="1"/>
            </p:cNvSpPr>
            <p:nvPr>
              <p:custDataLst>
                <p:tags r:id="rId11"/>
              </p:custDataLst>
            </p:nvPr>
          </p:nvSpPr>
          <p:spPr bwMode="gray">
            <a:xfrm>
              <a:off x="6311" y="5745"/>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 name="文本框 4"/>
            <p:cNvSpPr txBox="1"/>
            <p:nvPr>
              <p:custDataLst>
                <p:tags r:id="rId12"/>
              </p:custDataLst>
            </p:nvPr>
          </p:nvSpPr>
          <p:spPr>
            <a:xfrm>
              <a:off x="7269" y="5431"/>
              <a:ext cx="11087" cy="710"/>
            </a:xfrm>
            <a:prstGeom prst="rect">
              <a:avLst/>
            </a:prstGeom>
            <a:noFill/>
          </p:spPr>
          <p:txBody>
            <a:bodyPr wrap="square" lIns="0" rIns="0">
              <a:normAutofit/>
            </a:bodyPr>
            <a:lstStyle/>
            <a:p>
              <a:pPr>
                <a:lnSpc>
                  <a:spcPct val="130000"/>
                </a:lnSpc>
                <a:spcBef>
                  <a:spcPts val="600"/>
                </a:spcBef>
                <a:defRPr/>
              </a:pPr>
              <a:r>
                <a:rPr dirty="0"/>
                <a:t>（3）软件生产过程复杂，具有易错性。</a:t>
              </a:r>
            </a:p>
          </p:txBody>
        </p:sp>
        <p:sp>
          <p:nvSpPr>
            <p:cNvPr id="23" name="Oval 19"/>
            <p:cNvSpPr>
              <a:spLocks noChangeArrowheads="1"/>
            </p:cNvSpPr>
            <p:nvPr>
              <p:custDataLst>
                <p:tags r:id="rId13"/>
              </p:custDataLst>
            </p:nvPr>
          </p:nvSpPr>
          <p:spPr bwMode="gray">
            <a:xfrm>
              <a:off x="6325" y="6861"/>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6" name="文本框 5"/>
            <p:cNvSpPr txBox="1"/>
            <p:nvPr>
              <p:custDataLst>
                <p:tags r:id="rId14"/>
              </p:custDataLst>
            </p:nvPr>
          </p:nvSpPr>
          <p:spPr>
            <a:xfrm>
              <a:off x="7275" y="6332"/>
              <a:ext cx="10736" cy="1299"/>
            </a:xfrm>
            <a:prstGeom prst="rect">
              <a:avLst/>
            </a:prstGeom>
            <a:noFill/>
          </p:spPr>
          <p:txBody>
            <a:bodyPr wrap="square" lIns="0" rIns="0">
              <a:normAutofit/>
            </a:bodyPr>
            <a:lstStyle/>
            <a:p>
              <a:pPr>
                <a:lnSpc>
                  <a:spcPct val="130000"/>
                </a:lnSpc>
                <a:spcBef>
                  <a:spcPts val="600"/>
                </a:spcBef>
                <a:defRPr/>
              </a:pPr>
              <a:r>
                <a:rPr dirty="0"/>
                <a:t>（4）软件开发和维护主要是根据用户需求“定制”的，其过程具有复杂性和易变性。</a:t>
              </a:r>
            </a:p>
          </p:txBody>
        </p:sp>
        <p:sp>
          <p:nvSpPr>
            <p:cNvPr id="24" name="Oval 19"/>
            <p:cNvSpPr>
              <a:spLocks noChangeArrowheads="1"/>
            </p:cNvSpPr>
            <p:nvPr>
              <p:custDataLst>
                <p:tags r:id="rId15"/>
              </p:custDataLst>
            </p:nvPr>
          </p:nvSpPr>
          <p:spPr bwMode="gray">
            <a:xfrm>
              <a:off x="5805" y="7926"/>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8" name="文本框 37"/>
            <p:cNvSpPr txBox="1"/>
            <p:nvPr>
              <p:custDataLst>
                <p:tags r:id="rId16"/>
              </p:custDataLst>
            </p:nvPr>
          </p:nvSpPr>
          <p:spPr>
            <a:xfrm>
              <a:off x="6707" y="7528"/>
              <a:ext cx="11151" cy="1287"/>
            </a:xfrm>
            <a:prstGeom prst="rect">
              <a:avLst/>
            </a:prstGeom>
            <a:noFill/>
          </p:spPr>
          <p:txBody>
            <a:bodyPr wrap="square" lIns="0" rIns="0">
              <a:normAutofit/>
            </a:bodyPr>
            <a:lstStyle/>
            <a:p>
              <a:pPr>
                <a:lnSpc>
                  <a:spcPct val="130000"/>
                </a:lnSpc>
                <a:spcBef>
                  <a:spcPts val="600"/>
                </a:spcBef>
                <a:defRPr/>
              </a:pPr>
              <a:r>
                <a:rPr lang="zh-CN" altLang="en-US" dirty="0"/>
                <a:t>（5）软件的开发和运行经常受到计算机系统环境的限制，因而软件有安全性和可移植性等问题。</a:t>
              </a:r>
            </a:p>
          </p:txBody>
        </p:sp>
        <p:sp>
          <p:nvSpPr>
            <p:cNvPr id="25" name="Oval 19"/>
            <p:cNvSpPr>
              <a:spLocks noChangeArrowheads="1"/>
            </p:cNvSpPr>
            <p:nvPr>
              <p:custDataLst>
                <p:tags r:id="rId17"/>
              </p:custDataLst>
            </p:nvPr>
          </p:nvSpPr>
          <p:spPr bwMode="gray">
            <a:xfrm>
              <a:off x="4685" y="8682"/>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9" name="文本框 38"/>
            <p:cNvSpPr txBox="1"/>
            <p:nvPr>
              <p:custDataLst>
                <p:tags r:id="rId18"/>
              </p:custDataLst>
            </p:nvPr>
          </p:nvSpPr>
          <p:spPr>
            <a:xfrm>
              <a:off x="5337" y="8815"/>
              <a:ext cx="13018" cy="1321"/>
            </a:xfrm>
            <a:prstGeom prst="rect">
              <a:avLst/>
            </a:prstGeom>
            <a:noFill/>
          </p:spPr>
          <p:txBody>
            <a:bodyPr wrap="square" lIns="0" rIns="0">
              <a:normAutofit/>
            </a:bodyPr>
            <a:lstStyle/>
            <a:p>
              <a:pPr>
                <a:lnSpc>
                  <a:spcPct val="130000"/>
                </a:lnSpc>
                <a:spcBef>
                  <a:spcPts val="600"/>
                </a:spcBef>
                <a:defRPr/>
              </a:pPr>
              <a:r>
                <a:rPr lang="zh-CN" altLang="en-US" dirty="0"/>
                <a:t>（6）软件生产有许多新技术需要软件工程师进一步研究和实践，如“软件复用”“自动生成代码”等新的软件工具或新的软件开发环境等。</a:t>
              </a:r>
            </a:p>
          </p:txBody>
        </p:sp>
      </p:grpSp>
    </p:spTree>
  </p:cSld>
  <p:clrMapOvr>
    <a:masterClrMapping/>
  </p:clrMapOvr>
  <p:transition>
    <p:pull di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10.</a:t>
            </a:r>
            <a:r>
              <a:rPr lang="zh-CN" altLang="en-US">
                <a:solidFill>
                  <a:srgbClr val="FF0000"/>
                </a:solidFill>
              </a:rPr>
              <a:t>1 软件工程管理概述</a:t>
            </a:r>
          </a:p>
        </p:txBody>
      </p:sp>
      <p:sp>
        <p:nvSpPr>
          <p:cNvPr id="29" name="TextBox 6"/>
          <p:cNvSpPr txBox="1"/>
          <p:nvPr/>
        </p:nvSpPr>
        <p:spPr>
          <a:xfrm>
            <a:off x="809625"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10.1.2  </a:t>
            </a:r>
            <a:r>
              <a:rPr lang="zh-CN" altLang="en-US" sz="2400" dirty="0" smtClean="0">
                <a:solidFill>
                  <a:schemeClr val="tx1"/>
                </a:solidFill>
              </a:rPr>
              <a:t>软件工程管理的重要性</a:t>
            </a:r>
          </a:p>
        </p:txBody>
      </p:sp>
      <p:sp>
        <p:nvSpPr>
          <p:cNvPr id="2" name="MH_Text_1"/>
          <p:cNvSpPr/>
          <p:nvPr>
            <p:custDataLst>
              <p:tags r:id="rId1"/>
            </p:custDataLst>
          </p:nvPr>
        </p:nvSpPr>
        <p:spPr bwMode="auto">
          <a:xfrm>
            <a:off x="1938020" y="2204720"/>
            <a:ext cx="7830820" cy="1253490"/>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108000" tIns="46800" rIns="108000" bIns="46800" anchor="ctr"/>
          <a:lstStyle/>
          <a:p>
            <a:pPr indent="457200">
              <a:lnSpc>
                <a:spcPct val="120000"/>
              </a:lnSpc>
            </a:pPr>
            <a:r>
              <a:rPr smtClean="0">
                <a:latin typeface="+mn-ea"/>
              </a:rPr>
              <a:t>由于软件本身的复杂性，软件工程将软件开发划分为若干个阶段，每个阶段完成不同的任务、采取不同的方法。为此，软件工程管理需要有相应的管理策略。</a:t>
            </a:r>
          </a:p>
        </p:txBody>
      </p:sp>
      <p:sp>
        <p:nvSpPr>
          <p:cNvPr id="4" name="MH_Other_1"/>
          <p:cNvSpPr txBox="1">
            <a:spLocks noChangeArrowheads="1"/>
          </p:cNvSpPr>
          <p:nvPr>
            <p:custDataLst>
              <p:tags r:id="rId2"/>
            </p:custDataLst>
          </p:nvPr>
        </p:nvSpPr>
        <p:spPr bwMode="auto">
          <a:xfrm>
            <a:off x="945360" y="1527383"/>
            <a:ext cx="992717" cy="2400300"/>
          </a:xfrm>
          <a:prstGeom prst="rect">
            <a:avLst/>
          </a:prstGeom>
          <a:noFill/>
          <a:ln w="9525">
            <a:noFill/>
            <a:miter lim="800000"/>
          </a:ln>
        </p:spPr>
        <p:txBody>
          <a:bodyPr anchor="ctr"/>
          <a:lstStyle/>
          <a:p>
            <a:pPr algn="ctr" eaLnBrk="1" hangingPunct="1"/>
            <a:r>
              <a:rPr lang="en-US" altLang="zh-CN" sz="15000" b="1" dirty="0">
                <a:solidFill>
                  <a:srgbClr val="01AFEE"/>
                </a:solidFill>
                <a:latin typeface="MS PMincho" panose="02020600040205080304" pitchFamily="18" charset="-128"/>
                <a:ea typeface="MS PMincho" panose="02020600040205080304" pitchFamily="18" charset="-128"/>
              </a:rPr>
              <a:t>1</a:t>
            </a:r>
            <a:endParaRPr lang="zh-CN" altLang="en-US" sz="15000" b="1" dirty="0">
              <a:solidFill>
                <a:srgbClr val="01AFEE"/>
              </a:solidFill>
              <a:latin typeface="MS PMincho" panose="02020600040205080304" pitchFamily="18" charset="-128"/>
              <a:ea typeface="MS PMincho" panose="02020600040205080304" pitchFamily="18" charset="-128"/>
            </a:endParaRPr>
          </a:p>
        </p:txBody>
      </p:sp>
      <p:sp>
        <p:nvSpPr>
          <p:cNvPr id="5" name="MH_Text_2"/>
          <p:cNvSpPr/>
          <p:nvPr>
            <p:custDataLst>
              <p:tags r:id="rId3"/>
            </p:custDataLst>
          </p:nvPr>
        </p:nvSpPr>
        <p:spPr bwMode="auto">
          <a:xfrm>
            <a:off x="2637155" y="3926840"/>
            <a:ext cx="8609965" cy="2226945"/>
          </a:xfrm>
          <a:custGeom>
            <a:avLst/>
            <a:gdLst>
              <a:gd name="T0" fmla="*/ 0 w 3882059"/>
              <a:gd name="T1" fmla="*/ 0 h 805263"/>
              <a:gd name="T2" fmla="*/ 18915162 w 3882059"/>
              <a:gd name="T3" fmla="*/ 0 h 805263"/>
              <a:gd name="T4" fmla="*/ 18915162 w 3882059"/>
              <a:gd name="T5" fmla="*/ 12673192 h 805263"/>
              <a:gd name="T6" fmla="*/ 0 w 3882059"/>
              <a:gd name="T7" fmla="*/ 12673192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360000" tIns="180000" rIns="180000" bIns="180000" anchor="ctr"/>
          <a:lstStyle/>
          <a:p>
            <a:pPr indent="457200">
              <a:lnSpc>
                <a:spcPct val="120000"/>
              </a:lnSpc>
            </a:pPr>
            <a:r>
              <a:rPr smtClean="0">
                <a:latin typeface="+mn-ea"/>
              </a:rPr>
              <a:t>由于软件产品的特殊性，软件工程管理涉及很多学科，如系统工程学、标准化、管理学、逻辑学、数学等。对软件工程的管理，人们还缺乏经验和技术。实际上，人们都在自觉或不自觉地进行管理，但管理的好坏不一样。</a:t>
            </a:r>
          </a:p>
          <a:p>
            <a:pPr indent="457200">
              <a:lnSpc>
                <a:spcPct val="120000"/>
              </a:lnSpc>
            </a:pPr>
            <a:r>
              <a:rPr smtClean="0">
                <a:latin typeface="+mn-ea"/>
              </a:rPr>
              <a:t>随着软件规模的不断增大，软件开发人员日益增加，开发时间不断增长，软件工程管理的难度逐步增加。由于软件开发管理不善而造成的后果通常很严重。因此软件工程管理非常重要。</a:t>
            </a:r>
          </a:p>
        </p:txBody>
      </p:sp>
      <p:sp>
        <p:nvSpPr>
          <p:cNvPr id="7" name="MH_Other_2"/>
          <p:cNvSpPr txBox="1">
            <a:spLocks noChangeArrowheads="1"/>
          </p:cNvSpPr>
          <p:nvPr>
            <p:custDataLst>
              <p:tags r:id="rId4"/>
            </p:custDataLst>
          </p:nvPr>
        </p:nvSpPr>
        <p:spPr bwMode="auto">
          <a:xfrm>
            <a:off x="1644825" y="3321050"/>
            <a:ext cx="992717" cy="2400300"/>
          </a:xfrm>
          <a:prstGeom prst="rect">
            <a:avLst/>
          </a:prstGeom>
          <a:noFill/>
          <a:ln w="9525">
            <a:noFill/>
            <a:miter lim="800000"/>
          </a:ln>
        </p:spPr>
        <p:txBody>
          <a:bodyPr anchor="ctr"/>
          <a:lstStyle/>
          <a:p>
            <a:pPr algn="ctr" eaLnBrk="1" hangingPunct="1"/>
            <a:r>
              <a:rPr lang="en-US" altLang="zh-CN" sz="15000" b="1">
                <a:solidFill>
                  <a:srgbClr val="01AFEE"/>
                </a:solidFill>
                <a:latin typeface="MS PMincho" panose="02020600040205080304" pitchFamily="18" charset="-128"/>
                <a:ea typeface="MS PMincho" panose="02020600040205080304" pitchFamily="18" charset="-128"/>
              </a:rPr>
              <a:t>2</a:t>
            </a:r>
            <a:endParaRPr lang="zh-CN" altLang="en-US" sz="15000" b="1">
              <a:solidFill>
                <a:srgbClr val="01AFEE"/>
              </a:solidFill>
              <a:latin typeface="MS PMincho" panose="02020600040205080304" pitchFamily="18" charset="-128"/>
              <a:ea typeface="MS PMincho" panose="02020600040205080304" pitchFamily="18" charset="-128"/>
            </a:endParaRPr>
          </a:p>
        </p:txBody>
      </p:sp>
    </p:spTree>
  </p:cSld>
  <p:clrMapOvr>
    <a:masterClrMapping/>
  </p:clrMapOvr>
  <p:transition>
    <p:pull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10.</a:t>
            </a:r>
            <a:r>
              <a:rPr lang="zh-CN" altLang="en-US">
                <a:solidFill>
                  <a:srgbClr val="FF0000"/>
                </a:solidFill>
              </a:rPr>
              <a:t>1 软件工程管理概述</a:t>
            </a:r>
          </a:p>
        </p:txBody>
      </p:sp>
      <p:sp>
        <p:nvSpPr>
          <p:cNvPr id="29" name="TextBox 6"/>
          <p:cNvSpPr txBox="1"/>
          <p:nvPr/>
        </p:nvSpPr>
        <p:spPr>
          <a:xfrm>
            <a:off x="809625"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10.1.3  </a:t>
            </a:r>
            <a:r>
              <a:rPr lang="zh-CN" altLang="en-US" sz="2400" dirty="0" smtClean="0">
                <a:solidFill>
                  <a:schemeClr val="tx1"/>
                </a:solidFill>
              </a:rPr>
              <a:t>软件工程管理的内容</a:t>
            </a:r>
          </a:p>
        </p:txBody>
      </p:sp>
      <p:grpSp>
        <p:nvGrpSpPr>
          <p:cNvPr id="6" name="组合 5"/>
          <p:cNvGrpSpPr/>
          <p:nvPr/>
        </p:nvGrpSpPr>
        <p:grpSpPr>
          <a:xfrm>
            <a:off x="15240" y="2698750"/>
            <a:ext cx="11342370" cy="3031490"/>
            <a:chOff x="0" y="2130426"/>
            <a:chExt cx="20414482" cy="3635294"/>
          </a:xfrm>
        </p:grpSpPr>
        <p:sp>
          <p:nvSpPr>
            <p:cNvPr id="7" name="MH_Other_1"/>
            <p:cNvSpPr/>
            <p:nvPr>
              <p:custDataLst>
                <p:tags r:id="rId1"/>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8" name="MH_Other_2"/>
            <p:cNvSpPr/>
            <p:nvPr>
              <p:custDataLst>
                <p:tags r:id="rId2"/>
              </p:custDataLst>
            </p:nvPr>
          </p:nvSpPr>
          <p:spPr bwMode="auto">
            <a:xfrm>
              <a:off x="4083582" y="5593626"/>
              <a:ext cx="16330900" cy="172094"/>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3"/>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9" name="MH_Other_4"/>
            <p:cNvSpPr>
              <a:spLocks noChangeArrowheads="1"/>
            </p:cNvSpPr>
            <p:nvPr>
              <p:custDataLst>
                <p:tags r:id="rId4"/>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5"/>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6"/>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7"/>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8"/>
              </p:custDataLst>
            </p:nvPr>
          </p:nvSpPr>
          <p:spPr bwMode="auto">
            <a:xfrm>
              <a:off x="7455138" y="2959135"/>
              <a:ext cx="11926163" cy="1386651"/>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sz="2000" dirty="0" smtClean="0">
                  <a:solidFill>
                    <a:schemeClr val="tx1"/>
                  </a:solidFill>
                  <a:latin typeface="微软雅黑" panose="020B0503020204020204" charset="-122"/>
                  <a:ea typeface="微软雅黑" panose="020B0503020204020204" charset="-122"/>
                </a:rPr>
                <a:t>软件工程管理的内容包括</a:t>
              </a:r>
              <a:r>
                <a:rPr lang="da-DK" altLang="zh-CN" sz="2000" b="1" dirty="0" smtClean="0">
                  <a:solidFill>
                    <a:srgbClr val="00B050"/>
                  </a:solidFill>
                  <a:latin typeface="微软雅黑" panose="020B0503020204020204" charset="-122"/>
                  <a:ea typeface="微软雅黑" panose="020B0503020204020204" charset="-122"/>
                </a:rPr>
                <a:t>对软件开发成本、控制、开发人员、组织机构、用户、软件开发文档、软件质量等方面的管理。</a:t>
              </a:r>
              <a:r>
                <a:rPr lang="da-DK" altLang="zh-CN" sz="2000" dirty="0" smtClean="0">
                  <a:solidFill>
                    <a:schemeClr val="tx1"/>
                  </a:solidFill>
                  <a:latin typeface="微软雅黑" panose="020B0503020204020204" charset="-122"/>
                  <a:ea typeface="微软雅黑" panose="020B0503020204020204" charset="-122"/>
                </a:rPr>
                <a:t>软件开发成本的估算主要是对软件规模的估算，从而估算开发所需要的时间、人员和经费。</a:t>
              </a:r>
            </a:p>
          </p:txBody>
        </p:sp>
      </p:grpSp>
    </p:spTree>
  </p:cSld>
  <p:clrMapOvr>
    <a:masterClrMapping/>
  </p:clrMapOvr>
  <p:transition>
    <p:pull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10.</a:t>
            </a:r>
            <a:r>
              <a:rPr lang="zh-CN" altLang="en-US">
                <a:solidFill>
                  <a:srgbClr val="FF0000"/>
                </a:solidFill>
              </a:rPr>
              <a:t>1 软件工程管理概述</a:t>
            </a:r>
          </a:p>
        </p:txBody>
      </p:sp>
      <p:sp>
        <p:nvSpPr>
          <p:cNvPr id="29" name="TextBox 6"/>
          <p:cNvSpPr txBox="1"/>
          <p:nvPr/>
        </p:nvSpPr>
        <p:spPr>
          <a:xfrm>
            <a:off x="809625"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10.1.3  </a:t>
            </a:r>
            <a:r>
              <a:rPr lang="zh-CN" altLang="en-US" sz="2400" dirty="0" smtClean="0">
                <a:solidFill>
                  <a:schemeClr val="tx1"/>
                </a:solidFill>
              </a:rPr>
              <a:t>软件工程管理的内容</a:t>
            </a:r>
          </a:p>
        </p:txBody>
      </p:sp>
      <p:grpSp>
        <p:nvGrpSpPr>
          <p:cNvPr id="6" name="组合 5"/>
          <p:cNvGrpSpPr/>
          <p:nvPr/>
        </p:nvGrpSpPr>
        <p:grpSpPr>
          <a:xfrm>
            <a:off x="15240" y="2698750"/>
            <a:ext cx="11327765" cy="3044825"/>
            <a:chOff x="0" y="2130426"/>
            <a:chExt cx="20388195" cy="3651285"/>
          </a:xfrm>
        </p:grpSpPr>
        <p:sp>
          <p:nvSpPr>
            <p:cNvPr id="7" name="MH_Other_1"/>
            <p:cNvSpPr/>
            <p:nvPr>
              <p:custDataLst>
                <p:tags r:id="rId1"/>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8" name="MH_Other_2"/>
            <p:cNvSpPr/>
            <p:nvPr>
              <p:custDataLst>
                <p:tags r:id="rId2"/>
              </p:custDataLst>
            </p:nvPr>
          </p:nvSpPr>
          <p:spPr bwMode="auto">
            <a:xfrm>
              <a:off x="4083582" y="5593626"/>
              <a:ext cx="16304613" cy="18808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3"/>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9" name="MH_Other_4"/>
            <p:cNvSpPr>
              <a:spLocks noChangeArrowheads="1"/>
            </p:cNvSpPr>
            <p:nvPr>
              <p:custDataLst>
                <p:tags r:id="rId4"/>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5"/>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6"/>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7"/>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8"/>
              </p:custDataLst>
            </p:nvPr>
          </p:nvSpPr>
          <p:spPr bwMode="auto">
            <a:xfrm>
              <a:off x="7456280" y="2567514"/>
              <a:ext cx="12144456" cy="1386651"/>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控制包括软件</a:t>
              </a:r>
              <a:r>
                <a:rPr lang="da-DK" altLang="zh-CN" b="1" dirty="0" smtClean="0">
                  <a:solidFill>
                    <a:srgbClr val="00B050"/>
                  </a:solidFill>
                  <a:latin typeface="微软雅黑" panose="020B0503020204020204" charset="-122"/>
                  <a:ea typeface="微软雅黑" panose="020B0503020204020204" charset="-122"/>
                </a:rPr>
                <a:t>开发进度控制、人员控制、经费控制和质量控制。</a:t>
              </a:r>
              <a:r>
                <a:rPr lang="da-DK" altLang="zh-CN" dirty="0" smtClean="0">
                  <a:solidFill>
                    <a:schemeClr val="tx1"/>
                  </a:solidFill>
                  <a:latin typeface="微软雅黑" panose="020B0503020204020204" charset="-122"/>
                  <a:ea typeface="微软雅黑" panose="020B0503020204020204" charset="-122"/>
                </a:rPr>
                <a:t>由于软件产品的特殊性和软件工程的不成熟，制定软件进度计划比较困难。</a:t>
              </a:r>
              <a:r>
                <a:rPr lang="da-DK" altLang="zh-CN" b="1" dirty="0" smtClean="0">
                  <a:solidFill>
                    <a:srgbClr val="00B050"/>
                  </a:solidFill>
                  <a:latin typeface="微软雅黑" panose="020B0503020204020204" charset="-122"/>
                  <a:ea typeface="微软雅黑" panose="020B0503020204020204" charset="-122"/>
                </a:rPr>
                <a:t>通常把一个大的开发任务分为若干期工程。</a:t>
              </a:r>
              <a:r>
                <a:rPr lang="da-DK" altLang="zh-CN" dirty="0" smtClean="0">
                  <a:solidFill>
                    <a:schemeClr val="tx1"/>
                  </a:solidFill>
                  <a:latin typeface="微软雅黑" panose="020B0503020204020204" charset="-122"/>
                  <a:ea typeface="微软雅黑" panose="020B0503020204020204" charset="-122"/>
                </a:rPr>
                <a:t>例如分一期工程、二期工程等。</a:t>
              </a:r>
              <a:r>
                <a:rPr lang="da-DK" altLang="zh-CN" b="1" dirty="0" smtClean="0">
                  <a:solidFill>
                    <a:srgbClr val="00B050"/>
                  </a:solidFill>
                  <a:latin typeface="微软雅黑" panose="020B0503020204020204" charset="-122"/>
                  <a:ea typeface="微软雅黑" panose="020B0503020204020204" charset="-122"/>
                </a:rPr>
                <a:t>然后再制定各期工程的具体计划，这样才能保证计划实际可行，便于控制。</a:t>
              </a:r>
              <a:r>
                <a:rPr lang="da-DK" altLang="zh-CN" dirty="0" smtClean="0">
                  <a:solidFill>
                    <a:schemeClr val="tx1"/>
                  </a:solidFill>
                  <a:latin typeface="微软雅黑" panose="020B0503020204020204" charset="-122"/>
                  <a:ea typeface="微软雅黑" panose="020B0503020204020204" charset="-122"/>
                </a:rPr>
                <a:t>在制定计划时要适当留有余地。</a:t>
              </a:r>
            </a:p>
          </p:txBody>
        </p:sp>
      </p:grpSp>
    </p:spTree>
  </p:cSld>
  <p:clrMapOvr>
    <a:masterClrMapping/>
  </p:clrMapOvr>
  <p:transition>
    <p:pull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10.</a:t>
            </a:r>
            <a:r>
              <a:rPr lang="zh-CN" altLang="en-US">
                <a:solidFill>
                  <a:srgbClr val="FF0000"/>
                </a:solidFill>
              </a:rPr>
              <a:t>1 软件工程管理概述</a:t>
            </a:r>
          </a:p>
        </p:txBody>
      </p:sp>
      <p:sp>
        <p:nvSpPr>
          <p:cNvPr id="29" name="TextBox 6"/>
          <p:cNvSpPr txBox="1"/>
          <p:nvPr/>
        </p:nvSpPr>
        <p:spPr>
          <a:xfrm>
            <a:off x="809625"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10.1.3  </a:t>
            </a:r>
            <a:r>
              <a:rPr lang="zh-CN" altLang="en-US" sz="2400" dirty="0" smtClean="0">
                <a:solidFill>
                  <a:schemeClr val="tx1"/>
                </a:solidFill>
              </a:rPr>
              <a:t>软件工程管理的内容</a:t>
            </a:r>
          </a:p>
        </p:txBody>
      </p:sp>
      <p:grpSp>
        <p:nvGrpSpPr>
          <p:cNvPr id="6" name="组合 5"/>
          <p:cNvGrpSpPr/>
          <p:nvPr/>
        </p:nvGrpSpPr>
        <p:grpSpPr>
          <a:xfrm>
            <a:off x="15240" y="2698750"/>
            <a:ext cx="11127740" cy="3016250"/>
            <a:chOff x="0" y="2130426"/>
            <a:chExt cx="20028181" cy="3617018"/>
          </a:xfrm>
        </p:grpSpPr>
        <p:sp>
          <p:nvSpPr>
            <p:cNvPr id="7" name="MH_Other_1"/>
            <p:cNvSpPr/>
            <p:nvPr>
              <p:custDataLst>
                <p:tags r:id="rId1"/>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8" name="MH_Other_2"/>
            <p:cNvSpPr/>
            <p:nvPr>
              <p:custDataLst>
                <p:tags r:id="rId2"/>
              </p:custDataLst>
            </p:nvPr>
          </p:nvSpPr>
          <p:spPr bwMode="auto">
            <a:xfrm>
              <a:off x="4083582" y="5593626"/>
              <a:ext cx="15944599" cy="153818"/>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3"/>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9" name="MH_Other_4"/>
            <p:cNvSpPr>
              <a:spLocks noChangeArrowheads="1"/>
            </p:cNvSpPr>
            <p:nvPr>
              <p:custDataLst>
                <p:tags r:id="rId4"/>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5"/>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6"/>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7"/>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8"/>
              </p:custDataLst>
            </p:nvPr>
          </p:nvSpPr>
          <p:spPr bwMode="auto">
            <a:xfrm>
              <a:off x="7510347" y="2496361"/>
              <a:ext cx="11870160" cy="1386650"/>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sz="2400" dirty="0" smtClean="0">
                  <a:solidFill>
                    <a:schemeClr val="tx1"/>
                  </a:solidFill>
                  <a:latin typeface="微软雅黑" panose="020B0503020204020204" charset="-122"/>
                  <a:ea typeface="微软雅黑" panose="020B0503020204020204" charset="-122"/>
                </a:rPr>
                <a:t>软件工程管理很大程度上是通过对文档资料的管理来实现的。因此，</a:t>
              </a:r>
              <a:r>
                <a:rPr lang="da-DK" altLang="zh-CN" sz="2400" b="1" dirty="0" smtClean="0">
                  <a:solidFill>
                    <a:srgbClr val="00B050"/>
                  </a:solidFill>
                  <a:latin typeface="微软雅黑" panose="020B0503020204020204" charset="-122"/>
                  <a:ea typeface="微软雅黑" panose="020B0503020204020204" charset="-122"/>
                </a:rPr>
                <a:t>要把开发过程中的初步设计、中间过程和最后结果建立一套完整的文档资料。</a:t>
              </a:r>
              <a:r>
                <a:rPr lang="da-DK" altLang="zh-CN" sz="2400" dirty="0" smtClean="0">
                  <a:solidFill>
                    <a:schemeClr val="tx1"/>
                  </a:solidFill>
                  <a:latin typeface="微软雅黑" panose="020B0503020204020204" charset="-122"/>
                  <a:ea typeface="微软雅黑" panose="020B0503020204020204" charset="-122"/>
                </a:rPr>
                <a:t>文档标准化是文档管理的一个重要方面。</a:t>
              </a:r>
            </a:p>
          </p:txBody>
        </p:sp>
      </p:grpSp>
    </p:spTree>
  </p:cSld>
  <p:clrMapOvr>
    <a:masterClrMapping/>
  </p:clrMapOvr>
  <p:transition>
    <p:pull di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2</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软件规模估算</a:t>
            </a:r>
          </a:p>
        </p:txBody>
      </p:sp>
      <p:grpSp>
        <p:nvGrpSpPr>
          <p:cNvPr id="11" name="组合 10"/>
          <p:cNvGrpSpPr/>
          <p:nvPr/>
        </p:nvGrpSpPr>
        <p:grpSpPr>
          <a:xfrm>
            <a:off x="6443980" y="4224020"/>
            <a:ext cx="3712845" cy="913130"/>
            <a:chOff x="9459" y="7137"/>
            <a:chExt cx="5847" cy="143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软件开发成本估算方法</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代码行技术</a:t>
              </a:r>
            </a:p>
          </p:txBody>
        </p:sp>
      </p:grpSp>
      <p:grpSp>
        <p:nvGrpSpPr>
          <p:cNvPr id="3" name="组合 2"/>
          <p:cNvGrpSpPr/>
          <p:nvPr/>
        </p:nvGrpSpPr>
        <p:grpSpPr>
          <a:xfrm>
            <a:off x="6443980" y="5229860"/>
            <a:ext cx="3712845" cy="913130"/>
            <a:chOff x="9459" y="7137"/>
            <a:chExt cx="5847" cy="1438"/>
          </a:xfrm>
        </p:grpSpPr>
        <p:sp>
          <p:nvSpPr>
            <p:cNvPr id="5" name="文本框 4"/>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功能点技术</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COCOMO2模型</a:t>
              </a:r>
            </a:p>
          </p:txBody>
        </p:sp>
      </p:grpSp>
    </p:spTree>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rPr>
              <a:t>10.2  </a:t>
            </a:r>
            <a:r>
              <a:rPr lang="zh-CN" altLang="en-US" dirty="0" smtClean="0">
                <a:solidFill>
                  <a:srgbClr val="FF0000"/>
                </a:solidFill>
              </a:rPr>
              <a:t>软件规模估算</a:t>
            </a:r>
            <a:br>
              <a:rPr lang="zh-CN" altLang="en-US" dirty="0" smtClean="0">
                <a:solidFill>
                  <a:srgbClr val="FF0000"/>
                </a:solidFill>
              </a:rPr>
            </a:br>
            <a:endParaRPr lang="zh-CN" altLang="en-US" dirty="0">
              <a:solidFill>
                <a:srgbClr val="FF0000"/>
              </a:solidFill>
            </a:endParaRPr>
          </a:p>
        </p:txBody>
      </p:sp>
      <p:sp>
        <p:nvSpPr>
          <p:cNvPr id="5122" name="MH_Desc_1"/>
          <p:cNvSpPr>
            <a:spLocks noChangeArrowheads="1"/>
          </p:cNvSpPr>
          <p:nvPr/>
        </p:nvSpPr>
        <p:spPr bwMode="auto">
          <a:xfrm>
            <a:off x="230418" y="1710441"/>
            <a:ext cx="7235190" cy="4092882"/>
          </a:xfrm>
          <a:prstGeom prst="roundRect">
            <a:avLst/>
          </a:prstGeom>
          <a:noFill/>
          <a:ln w="28575">
            <a:solidFill>
              <a:schemeClr val="accent1"/>
            </a:solidFill>
            <a:prstDash val="sysDash"/>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rIns="90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eaLnBrk="1" fontAlgn="auto" hangingPunct="1">
              <a:lnSpc>
                <a:spcPct val="130000"/>
              </a:lnSpc>
              <a:spcAft>
                <a:spcPts val="1200"/>
              </a:spcAft>
              <a:defRPr/>
            </a:pPr>
            <a:r>
              <a:rPr lang="en-US" altLang="zh-CN">
                <a:latin typeface="微软雅黑" panose="020B0503020204020204" charset="-122"/>
                <a:ea typeface="微软雅黑" panose="020B0503020204020204" charset="-122"/>
                <a:sym typeface="+mn-ea"/>
              </a:rPr>
              <a:t>在计算机技术发展的早期，软件的成本只占系统总成本的很小的比例。因此，在估算软件成本时，即使误差较大也无关紧要。但</a:t>
            </a:r>
            <a:r>
              <a:rPr lang="en-US" altLang="zh-CN" b="1">
                <a:solidFill>
                  <a:schemeClr val="accent6">
                    <a:lumMod val="50000"/>
                  </a:schemeClr>
                </a:solidFill>
                <a:latin typeface="微软雅黑" panose="020B0503020204020204" charset="-122"/>
                <a:ea typeface="微软雅黑" panose="020B0503020204020204" charset="-122"/>
                <a:sym typeface="+mn-ea"/>
              </a:rPr>
              <a:t>现在软件已成为整个计算机系统中成本最高的部分。</a:t>
            </a:r>
            <a:r>
              <a:rPr lang="en-US" altLang="zh-CN">
                <a:latin typeface="微软雅黑" panose="020B0503020204020204" charset="-122"/>
                <a:ea typeface="微软雅黑" panose="020B0503020204020204" charset="-122"/>
                <a:sym typeface="+mn-ea"/>
              </a:rPr>
              <a:t>若软件开发成本的估算出现较大的误差，可能会使盈利变为亏损。由于软件的成本涉及的因素较多，因而难以对其做出准确的估算。</a:t>
            </a:r>
          </a:p>
          <a:p>
            <a:pPr indent="457200" algn="l" eaLnBrk="1" fontAlgn="auto" hangingPunct="1">
              <a:lnSpc>
                <a:spcPct val="130000"/>
              </a:lnSpc>
              <a:spcAft>
                <a:spcPts val="1200"/>
              </a:spcAft>
              <a:defRPr/>
            </a:pPr>
            <a:r>
              <a:rPr lang="en-US" altLang="zh-CN">
                <a:latin typeface="微软雅黑" panose="020B0503020204020204" charset="-122"/>
                <a:ea typeface="微软雅黑" panose="020B0503020204020204" charset="-122"/>
                <a:sym typeface="+mn-ea"/>
              </a:rPr>
              <a:t>软件项目开始之前，要估算软件开发所需要的工作量和时间，首先需要估算软件的规模。</a:t>
            </a:r>
            <a:r>
              <a:rPr lang="en-US" altLang="zh-CN" b="1">
                <a:solidFill>
                  <a:schemeClr val="accent6">
                    <a:lumMod val="50000"/>
                  </a:schemeClr>
                </a:solidFill>
                <a:latin typeface="微软雅黑" panose="020B0503020204020204" charset="-122"/>
                <a:ea typeface="微软雅黑" panose="020B0503020204020204" charset="-122"/>
                <a:sym typeface="+mn-ea"/>
              </a:rPr>
              <a:t>估算软件规模的主要技术是代码行技术和功能点技术。</a:t>
            </a:r>
            <a:r>
              <a:rPr lang="en-US" altLang="zh-CN">
                <a:latin typeface="微软雅黑" panose="020B0503020204020204" charset="-122"/>
                <a:ea typeface="微软雅黑" panose="020B0503020204020204" charset="-122"/>
                <a:sym typeface="+mn-ea"/>
              </a:rPr>
              <a:t>可以使用多种不同的方法进行软件开发成本的估算，对估算结果的比较，有助于暴露不同方法之间不一致的地方，从而更准确地估算出软件成本。</a:t>
            </a:r>
          </a:p>
        </p:txBody>
      </p:sp>
      <p:pic>
        <p:nvPicPr>
          <p:cNvPr id="9" name="图片 8" descr="d3aa784549c18a24cee6ca585d4d2ed55af7f4f5.jpg"/>
          <p:cNvPicPr>
            <a:picLocks noChangeAspect="1"/>
          </p:cNvPicPr>
          <p:nvPr/>
        </p:nvPicPr>
        <p:blipFill>
          <a:blip r:embed="rId3" cstate="print"/>
          <a:stretch>
            <a:fillRect/>
          </a:stretch>
        </p:blipFill>
        <p:spPr>
          <a:xfrm flipH="1">
            <a:off x="7589021" y="1773501"/>
            <a:ext cx="4602979" cy="3641835"/>
          </a:xfrm>
          <a:prstGeom prst="rect">
            <a:avLst/>
          </a:prstGeom>
        </p:spPr>
      </p:pic>
    </p:spTree>
  </p:cSld>
  <p:clrMapOvr>
    <a:masterClrMapping/>
  </p:clrMapOvr>
  <p:transition>
    <p:wipe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10.2 </a:t>
            </a:r>
            <a:r>
              <a:rPr lang="zh-CN" altLang="en-US">
                <a:solidFill>
                  <a:srgbClr val="FF0000"/>
                </a:solidFill>
              </a:rPr>
              <a:t>软件规模估算</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10.2.1  软件开发成本估算方法</a:t>
            </a:r>
          </a:p>
        </p:txBody>
      </p:sp>
      <p:sp>
        <p:nvSpPr>
          <p:cNvPr id="5" name="矩形 4"/>
          <p:cNvSpPr/>
          <p:nvPr/>
        </p:nvSpPr>
        <p:spPr>
          <a:xfrm>
            <a:off x="0" y="2262505"/>
            <a:ext cx="12192000" cy="3315335"/>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MH_Picture_1"/>
          <p:cNvSpPr>
            <a:spLocks noChangeArrowheads="1"/>
          </p:cNvSpPr>
          <p:nvPr>
            <p:custDataLst>
              <p:tags r:id="rId1"/>
            </p:custDataLst>
          </p:nvPr>
        </p:nvSpPr>
        <p:spPr bwMode="auto">
          <a:xfrm>
            <a:off x="7198360" y="2417445"/>
            <a:ext cx="4827270" cy="3006090"/>
          </a:xfrm>
          <a:prstGeom prst="flowChartInputOutput">
            <a:avLst/>
          </a:prstGeom>
          <a:blipFill dpi="0" rotWithShape="1">
            <a:blip r:embed="rId5" cstate="print"/>
            <a:srcRect/>
            <a:stretch>
              <a:fillRect/>
            </a:stretch>
          </a:blipFill>
          <a:ln w="9525">
            <a:noFill/>
            <a:miter lim="800000"/>
          </a:ln>
        </p:spPr>
        <p:txBody>
          <a:bodyPr anchor="ctr"/>
          <a:lstStyle/>
          <a:p>
            <a:pPr algn="ctr" eaLnBrk="1" hangingPunct="1">
              <a:buFont typeface="Arial" panose="020B0604020202020204" pitchFamily="34" charset="0"/>
              <a:buNone/>
            </a:pPr>
            <a:endParaRPr lang="zh-CN" altLang="en-US">
              <a:solidFill>
                <a:srgbClr val="FFFFFF"/>
              </a:solidFill>
            </a:endParaRPr>
          </a:p>
        </p:txBody>
      </p:sp>
      <p:sp>
        <p:nvSpPr>
          <p:cNvPr id="7" name="MH_Text_1"/>
          <p:cNvSpPr>
            <a:spLocks noChangeArrowheads="1"/>
          </p:cNvSpPr>
          <p:nvPr>
            <p:custDataLst>
              <p:tags r:id="rId2"/>
            </p:custDataLst>
          </p:nvPr>
        </p:nvSpPr>
        <p:spPr bwMode="auto">
          <a:xfrm>
            <a:off x="236220" y="2360295"/>
            <a:ext cx="7099935" cy="2934335"/>
          </a:xfrm>
          <a:prstGeom prst="rect">
            <a:avLst/>
          </a:prstGeom>
          <a:noFill/>
          <a:ln w="9525">
            <a:noFill/>
            <a:miter lim="800000"/>
          </a:ln>
        </p:spPr>
        <p:txBody>
          <a:bodyPr lIns="180000" tIns="108000" rIns="180000" bIns="108000" anchor="ctr"/>
          <a:lstStyle/>
          <a:p>
            <a:pPr indent="457200" fontAlgn="auto">
              <a:lnSpc>
                <a:spcPct val="150000"/>
              </a:lnSpc>
            </a:pPr>
            <a:r>
              <a:rPr lang="zh-CN" altLang="en-US" dirty="0" smtClean="0">
                <a:solidFill>
                  <a:schemeClr val="bg1"/>
                </a:solidFill>
              </a:rPr>
              <a:t>为了使开发项目能在规定的时间内、不超过预算的情况下完成，较准确的成本预算和严格的管理控制是关键。一个项目是否开发，经济上是否可行，主要取决于</a:t>
            </a:r>
            <a:r>
              <a:rPr lang="zh-CN" altLang="en-US" b="1" dirty="0" smtClean="0">
                <a:solidFill>
                  <a:srgbClr val="FFFF00"/>
                </a:solidFill>
              </a:rPr>
              <a:t>对成本的估算</a:t>
            </a:r>
            <a:r>
              <a:rPr lang="zh-CN" altLang="en-US" dirty="0" smtClean="0">
                <a:solidFill>
                  <a:schemeClr val="bg1"/>
                </a:solidFill>
              </a:rPr>
              <a:t>。对于一个大型的软件项目，由于项目的复杂性，开发成本的估算不是一件简单的事。</a:t>
            </a:r>
          </a:p>
          <a:p>
            <a:pPr indent="457200" fontAlgn="auto">
              <a:lnSpc>
                <a:spcPct val="150000"/>
              </a:lnSpc>
            </a:pPr>
            <a:r>
              <a:rPr lang="zh-CN" altLang="en-US" dirty="0" smtClean="0">
                <a:solidFill>
                  <a:schemeClr val="bg1"/>
                </a:solidFill>
              </a:rPr>
              <a:t>软件开发成本估算方法主要有</a:t>
            </a:r>
            <a:r>
              <a:rPr lang="zh-CN" altLang="en-US" b="1" dirty="0" smtClean="0">
                <a:solidFill>
                  <a:srgbClr val="FFFF00"/>
                </a:solidFill>
              </a:rPr>
              <a:t>自顶向下估算方法、自底向上估算方法、差别估算方法、专家估算法、类推估算法、算式估算法等。</a:t>
            </a:r>
          </a:p>
        </p:txBody>
      </p:sp>
    </p:spTree>
  </p:cSld>
  <p:clrMapOvr>
    <a:masterClrMapping/>
  </p:clrMapOvr>
  <p:transition>
    <p:wipe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10.2 </a:t>
            </a:r>
            <a:r>
              <a:rPr lang="zh-CN" altLang="en-US">
                <a:solidFill>
                  <a:srgbClr val="FF0000"/>
                </a:solidFill>
              </a:rPr>
              <a:t>软件规模估算</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10.2.1  软件开发成本估算方法</a:t>
            </a:r>
          </a:p>
        </p:txBody>
      </p:sp>
      <p:grpSp>
        <p:nvGrpSpPr>
          <p:cNvPr id="22" name="组合 21"/>
          <p:cNvGrpSpPr/>
          <p:nvPr/>
        </p:nvGrpSpPr>
        <p:grpSpPr>
          <a:xfrm>
            <a:off x="684399" y="1969463"/>
            <a:ext cx="11069955" cy="2406015"/>
            <a:chOff x="1840" y="2871"/>
            <a:chExt cx="17433" cy="3789"/>
          </a:xfrm>
        </p:grpSpPr>
        <p:cxnSp>
          <p:nvCxnSpPr>
            <p:cNvPr id="23" name="MH_Other_4"/>
            <p:cNvCxnSpPr/>
            <p:nvPr/>
          </p:nvCxnSpPr>
          <p:spPr>
            <a:xfrm flipH="1">
              <a:off x="2680" y="3183"/>
              <a:ext cx="1545" cy="1450"/>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4"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5" name="MH_SubTitle_2"/>
            <p:cNvSpPr txBox="1">
              <a:spLocks noChangeArrowheads="1"/>
            </p:cNvSpPr>
            <p:nvPr/>
          </p:nvSpPr>
          <p:spPr bwMode="auto">
            <a:xfrm>
              <a:off x="3730" y="2871"/>
              <a:ext cx="15543" cy="378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6">
                      <a:lumMod val="60000"/>
                      <a:lumOff val="40000"/>
                    </a:schemeClr>
                  </a:solidFill>
                  <a:ea typeface="微软雅黑" panose="020B0503020204020204" charset="-122"/>
                </a:rPr>
                <a:t>自顶向下估算方法</a:t>
              </a:r>
            </a:p>
            <a:p>
              <a:pPr indent="457200" fontAlgn="auto">
                <a:lnSpc>
                  <a:spcPct val="120000"/>
                </a:lnSpc>
              </a:pPr>
              <a:r>
                <a:rPr lang="zh-CN" altLang="en-US" b="1" dirty="0">
                  <a:solidFill>
                    <a:srgbClr val="00B0F0"/>
                  </a:solidFill>
                  <a:ea typeface="微软雅黑" panose="020B0503020204020204" charset="-122"/>
                </a:rPr>
                <a:t>估算人员参照以前完成的项目所耗费的总成本或总工作量，来推算将要开发的软件的总成本或总工作量，然后把它们按阶段、步骤和工作单元进行分配，这种方法称为自顶向下估算方法。</a:t>
              </a:r>
              <a:r>
                <a:rPr lang="zh-CN" altLang="en-US" dirty="0">
                  <a:solidFill>
                    <a:schemeClr val="tx1"/>
                  </a:solidFill>
                  <a:ea typeface="微软雅黑" panose="020B0503020204020204" charset="-122"/>
                </a:rPr>
                <a:t>自顶向下估算方法的主要优点是对系统级工作重视，不会遗漏系统级工作的成本估算。例如，集成、用户手册和配置管理等工作，估算工作量小、速度快。该方法的缺点是往往不清楚较低层次工作的技术性困难问题，而这些困难往往会使成本增加。</a:t>
              </a:r>
            </a:p>
          </p:txBody>
        </p:sp>
        <p:sp>
          <p:nvSpPr>
            <p:cNvPr id="26"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a:solidFill>
                    <a:schemeClr val="accent6">
                      <a:lumMod val="60000"/>
                      <a:lumOff val="40000"/>
                    </a:schemeClr>
                  </a:solidFill>
                  <a:latin typeface="Agency FB" panose="020B0503020202020204" pitchFamily="34" charset="0"/>
                  <a:ea typeface="微软雅黑" panose="020B0503020204020204" charset="-122"/>
                </a:rPr>
                <a:t>1</a:t>
              </a:r>
            </a:p>
          </p:txBody>
        </p:sp>
      </p:grpSp>
      <p:grpSp>
        <p:nvGrpSpPr>
          <p:cNvPr id="8" name="组合 7"/>
          <p:cNvGrpSpPr/>
          <p:nvPr/>
        </p:nvGrpSpPr>
        <p:grpSpPr>
          <a:xfrm>
            <a:off x="708660" y="4375150"/>
            <a:ext cx="11070590" cy="1727200"/>
            <a:chOff x="1840" y="2871"/>
            <a:chExt cx="17434" cy="2720"/>
          </a:xfrm>
        </p:grpSpPr>
        <p:cxnSp>
          <p:nvCxnSpPr>
            <p:cNvPr id="9" name="MH_Other_4"/>
            <p:cNvCxnSpPr/>
            <p:nvPr/>
          </p:nvCxnSpPr>
          <p:spPr>
            <a:xfrm flipH="1">
              <a:off x="2680" y="3183"/>
              <a:ext cx="1545" cy="1450"/>
            </a:xfrm>
            <a:prstGeom prst="line">
              <a:avLst/>
            </a:prstGeom>
            <a:ln w="38100">
              <a:solidFill>
                <a:srgbClr val="58B933"/>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58B93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692" y="2871"/>
              <a:ext cx="15582" cy="272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92D050"/>
                  </a:solidFill>
                  <a:ea typeface="微软雅黑" panose="020B0503020204020204" charset="-122"/>
                </a:rPr>
                <a:t>自底向上估算方法</a:t>
              </a:r>
            </a:p>
            <a:p>
              <a:pPr indent="457200" fontAlgn="auto">
                <a:lnSpc>
                  <a:spcPct val="120000"/>
                </a:lnSpc>
              </a:pPr>
              <a:r>
                <a:rPr lang="zh-CN" altLang="en-US" dirty="0">
                  <a:solidFill>
                    <a:srgbClr val="00B0F0"/>
                  </a:solidFill>
                  <a:ea typeface="微软雅黑" panose="020B0503020204020204" charset="-122"/>
                </a:rPr>
                <a:t>这种方法是将每一部分的估算工作交给负责该部分工作的人来做，其优点是估算较为准确，</a:t>
              </a:r>
              <a:r>
                <a:rPr lang="zh-CN" altLang="en-US" dirty="0">
                  <a:solidFill>
                    <a:schemeClr val="tx1"/>
                  </a:solidFill>
                  <a:ea typeface="微软雅黑" panose="020B0503020204020204" charset="-122"/>
                </a:rPr>
                <a:t>缺点是往往会缺少对软件开发系统级工作量的估算。</a:t>
              </a:r>
            </a:p>
            <a:p>
              <a:pPr indent="457200" fontAlgn="auto">
                <a:lnSpc>
                  <a:spcPct val="120000"/>
                </a:lnSpc>
              </a:pPr>
              <a:r>
                <a:rPr lang="zh-CN" altLang="en-US" dirty="0">
                  <a:solidFill>
                    <a:schemeClr val="tx1"/>
                  </a:solidFill>
                  <a:ea typeface="微软雅黑" panose="020B0503020204020204" charset="-122"/>
                </a:rPr>
                <a:t>可见，</a:t>
              </a:r>
              <a:r>
                <a:rPr lang="zh-CN" altLang="en-US" b="1" dirty="0">
                  <a:solidFill>
                    <a:srgbClr val="C00000"/>
                  </a:solidFill>
                  <a:ea typeface="微软雅黑" panose="020B0503020204020204" charset="-122"/>
                </a:rPr>
                <a:t>最好采用自顶向下与自底向上结合的方法来估算开发成本。</a:t>
              </a:r>
            </a:p>
          </p:txBody>
        </p:sp>
        <p:sp>
          <p:nvSpPr>
            <p:cNvPr id="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58B933"/>
                  </a:solidFill>
                  <a:latin typeface="Agency FB" panose="020B0503020202020204" pitchFamily="34" charset="0"/>
                  <a:ea typeface="微软雅黑" panose="020B0503020204020204" charset="-122"/>
                </a:rPr>
                <a:t>2</a:t>
              </a:r>
            </a:p>
          </p:txBody>
        </p:sp>
      </p:grpSp>
    </p:spTree>
  </p:cSld>
  <p:clrMapOvr>
    <a:masterClrMapping/>
  </p:clrMapOvr>
  <p:transition>
    <p:wipe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10.2 </a:t>
            </a:r>
            <a:r>
              <a:rPr lang="zh-CN" altLang="en-US">
                <a:solidFill>
                  <a:srgbClr val="FF0000"/>
                </a:solidFill>
              </a:rPr>
              <a:t>软件规模估算</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10.2.1  软件开发成本估算方法</a:t>
            </a:r>
          </a:p>
        </p:txBody>
      </p:sp>
      <p:grpSp>
        <p:nvGrpSpPr>
          <p:cNvPr id="12" name="组合 11"/>
          <p:cNvGrpSpPr/>
          <p:nvPr/>
        </p:nvGrpSpPr>
        <p:grpSpPr>
          <a:xfrm>
            <a:off x="778379" y="4208626"/>
            <a:ext cx="10424795" cy="1694815"/>
            <a:chOff x="1630" y="5726"/>
            <a:chExt cx="16417" cy="2669"/>
          </a:xfrm>
        </p:grpSpPr>
        <p:cxnSp>
          <p:nvCxnSpPr>
            <p:cNvPr id="13" name="MH_Other_1"/>
            <p:cNvCxnSpPr/>
            <p:nvPr/>
          </p:nvCxnSpPr>
          <p:spPr>
            <a:xfrm flipH="1">
              <a:off x="2470" y="6041"/>
              <a:ext cx="1545" cy="145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4"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5" name="MH_SubTitle_1"/>
            <p:cNvSpPr txBox="1">
              <a:spLocks noChangeArrowheads="1"/>
            </p:cNvSpPr>
            <p:nvPr/>
          </p:nvSpPr>
          <p:spPr bwMode="auto">
            <a:xfrm>
              <a:off x="3207" y="6041"/>
              <a:ext cx="14840" cy="2354"/>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2060"/>
                  </a:solidFill>
                </a:rPr>
                <a:t>专家估算法</a:t>
              </a:r>
            </a:p>
            <a:p>
              <a:pPr indent="457200" fontAlgn="auto">
                <a:lnSpc>
                  <a:spcPct val="120000"/>
                </a:lnSpc>
              </a:pPr>
              <a:r>
                <a:rPr lang="zh-CN" altLang="en-US" dirty="0">
                  <a:ea typeface="微软雅黑" panose="020B0503020204020204" charset="-122"/>
                </a:rPr>
                <a:t>依靠一个或多个专家对要求的项目做出估算，其精确性取决于专家对估算项目的定性参数的了解和他们的</a:t>
              </a:r>
              <a:r>
                <a:rPr lang="zh-CN" altLang="en-US" b="1" dirty="0">
                  <a:solidFill>
                    <a:srgbClr val="00B0F0"/>
                  </a:solidFill>
                  <a:ea typeface="微软雅黑" panose="020B0503020204020204" charset="-122"/>
                </a:rPr>
                <a:t>经验</a:t>
              </a:r>
              <a:r>
                <a:rPr lang="zh-CN" altLang="en-US" dirty="0">
                  <a:ea typeface="微软雅黑" panose="020B0503020204020204" charset="-122"/>
                </a:rPr>
                <a:t>。</a:t>
              </a:r>
            </a:p>
          </p:txBody>
        </p:sp>
        <p:sp>
          <p:nvSpPr>
            <p:cNvPr id="16"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2060"/>
                  </a:solidFill>
                  <a:latin typeface="Agency FB" panose="020B0503020202020204" pitchFamily="34" charset="0"/>
                  <a:ea typeface="微软雅黑" panose="020B0503020204020204" charset="-122"/>
                </a:rPr>
                <a:t>4</a:t>
              </a:r>
            </a:p>
          </p:txBody>
        </p:sp>
      </p:grpSp>
      <p:grpSp>
        <p:nvGrpSpPr>
          <p:cNvPr id="4" name="组合 3"/>
          <p:cNvGrpSpPr/>
          <p:nvPr/>
        </p:nvGrpSpPr>
        <p:grpSpPr>
          <a:xfrm>
            <a:off x="778379" y="2322523"/>
            <a:ext cx="10425430" cy="1748790"/>
            <a:chOff x="1840" y="2871"/>
            <a:chExt cx="16418" cy="2754"/>
          </a:xfrm>
        </p:grpSpPr>
        <p:cxnSp>
          <p:nvCxnSpPr>
            <p:cNvPr id="5" name="MH_Other_4"/>
            <p:cNvCxnSpPr/>
            <p:nvPr/>
          </p:nvCxnSpPr>
          <p:spPr>
            <a:xfrm flipH="1">
              <a:off x="2680" y="3183"/>
              <a:ext cx="1545" cy="145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7" name="MH_SubTitle_2"/>
            <p:cNvSpPr txBox="1">
              <a:spLocks noChangeArrowheads="1"/>
            </p:cNvSpPr>
            <p:nvPr/>
          </p:nvSpPr>
          <p:spPr bwMode="auto">
            <a:xfrm>
              <a:off x="3582" y="3183"/>
              <a:ext cx="14676" cy="244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C00000"/>
                  </a:solidFill>
                  <a:ea typeface="微软雅黑" panose="020B0503020204020204" charset="-122"/>
                </a:rPr>
                <a:t>差别估算方法</a:t>
              </a:r>
            </a:p>
            <a:p>
              <a:pPr indent="457200" fontAlgn="auto">
                <a:lnSpc>
                  <a:spcPct val="120000"/>
                </a:lnSpc>
              </a:pPr>
              <a:r>
                <a:rPr lang="zh-CN" altLang="en-US" b="1" dirty="0">
                  <a:solidFill>
                    <a:srgbClr val="00B0F0"/>
                  </a:solidFill>
                  <a:ea typeface="微软雅黑" panose="020B0503020204020204" charset="-122"/>
                </a:rPr>
                <a:t>差别估算是将开发项目与一个或多个已完成的类似项目进行比较，找出与类似项目的若干不同之处，并估算每个不同之处对成本的影响，从而推导出开发项目的总成本。</a:t>
              </a:r>
              <a:r>
                <a:rPr lang="zh-CN" altLang="en-US" dirty="0">
                  <a:solidFill>
                    <a:schemeClr val="tx1"/>
                  </a:solidFill>
                  <a:ea typeface="微软雅黑" panose="020B0503020204020204" charset="-122"/>
                </a:rPr>
                <a:t>该方法的优点是可以提高估算的准确度，缺点是不容易明确“差别”的界限。</a:t>
              </a:r>
            </a:p>
          </p:txBody>
        </p:sp>
        <p:sp>
          <p:nvSpPr>
            <p:cNvPr id="27"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C00000"/>
                  </a:solidFill>
                  <a:latin typeface="Agency FB" panose="020B0503020202020204" pitchFamily="34" charset="0"/>
                  <a:ea typeface="微软雅黑" panose="020B0503020204020204" charset="-122"/>
                </a:rPr>
                <a:t>3</a:t>
              </a:r>
            </a:p>
          </p:txBody>
        </p:sp>
      </p:grpSp>
    </p:spTree>
  </p:cSld>
  <p:clrMapOvr>
    <a:masterClrMapping/>
  </p:clrMapOvr>
  <p:transition>
    <p:wipe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10.2 </a:t>
            </a:r>
            <a:r>
              <a:rPr lang="zh-CN" altLang="en-US">
                <a:solidFill>
                  <a:srgbClr val="FF0000"/>
                </a:solidFill>
              </a:rPr>
              <a:t>软件规模估算</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10.2.1  软件开发成本估算方法</a:t>
            </a:r>
          </a:p>
        </p:txBody>
      </p:sp>
      <p:grpSp>
        <p:nvGrpSpPr>
          <p:cNvPr id="17" name="组合 16"/>
          <p:cNvGrpSpPr/>
          <p:nvPr/>
        </p:nvGrpSpPr>
        <p:grpSpPr>
          <a:xfrm>
            <a:off x="802509" y="2214726"/>
            <a:ext cx="10515600" cy="1521460"/>
            <a:chOff x="1630" y="5716"/>
            <a:chExt cx="16560" cy="2396"/>
          </a:xfrm>
        </p:grpSpPr>
        <p:cxnSp>
          <p:nvCxnSpPr>
            <p:cNvPr id="18"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9"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0" name="MH_SubTitle_1"/>
            <p:cNvSpPr txBox="1">
              <a:spLocks noChangeArrowheads="1"/>
            </p:cNvSpPr>
            <p:nvPr/>
          </p:nvSpPr>
          <p:spPr bwMode="auto">
            <a:xfrm>
              <a:off x="3370" y="5716"/>
              <a:ext cx="14820" cy="2396"/>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类推估算法</a:t>
              </a:r>
            </a:p>
            <a:p>
              <a:pPr indent="457200" fontAlgn="auto">
                <a:lnSpc>
                  <a:spcPct val="120000"/>
                </a:lnSpc>
              </a:pPr>
              <a:r>
                <a:rPr lang="zh-CN" altLang="en-US" dirty="0">
                  <a:ea typeface="微软雅黑" panose="020B0503020204020204" charset="-122"/>
                </a:rPr>
                <a:t>自顶向下的方法中，</a:t>
              </a:r>
              <a:r>
                <a:rPr lang="zh-CN" altLang="en-US" b="1" dirty="0">
                  <a:solidFill>
                    <a:srgbClr val="00B0F0"/>
                  </a:solidFill>
                  <a:ea typeface="微软雅黑" panose="020B0503020204020204" charset="-122"/>
                </a:rPr>
                <a:t>将估算项目与类似项目进行直接比较，</a:t>
              </a:r>
              <a:r>
                <a:rPr lang="zh-CN" altLang="en-US" dirty="0">
                  <a:ea typeface="微软雅黑" panose="020B0503020204020204" charset="-122"/>
                </a:rPr>
                <a:t>得到结果。自底向上的方法中，</a:t>
              </a:r>
              <a:r>
                <a:rPr lang="zh-CN" altLang="en-US" b="1" dirty="0">
                  <a:solidFill>
                    <a:srgbClr val="00B0F0"/>
                  </a:solidFill>
                  <a:ea typeface="微软雅黑" panose="020B0503020204020204" charset="-122"/>
                </a:rPr>
                <a:t>在具有相似条件的相同工作阶段之间进行比较，</a:t>
              </a:r>
              <a:r>
                <a:rPr lang="zh-CN" altLang="en-US" dirty="0">
                  <a:ea typeface="微软雅黑" panose="020B0503020204020204" charset="-122"/>
                </a:rPr>
                <a:t>得到结果。</a:t>
              </a:r>
            </a:p>
          </p:txBody>
        </p:sp>
        <p:sp>
          <p:nvSpPr>
            <p:cNvPr id="21"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5</a:t>
              </a:r>
            </a:p>
          </p:txBody>
        </p:sp>
      </p:grpSp>
      <p:grpSp>
        <p:nvGrpSpPr>
          <p:cNvPr id="2" name="组合 1"/>
          <p:cNvGrpSpPr/>
          <p:nvPr/>
        </p:nvGrpSpPr>
        <p:grpSpPr>
          <a:xfrm>
            <a:off x="835529" y="3736186"/>
            <a:ext cx="10521315" cy="1914525"/>
            <a:chOff x="1630" y="5726"/>
            <a:chExt cx="16569" cy="3015"/>
          </a:xfrm>
        </p:grpSpPr>
        <p:cxnSp>
          <p:nvCxnSpPr>
            <p:cNvPr id="8" name="MH_Other_1"/>
            <p:cNvCxnSpPr/>
            <p:nvPr/>
          </p:nvCxnSpPr>
          <p:spPr>
            <a:xfrm flipH="1">
              <a:off x="2470" y="6041"/>
              <a:ext cx="1545" cy="145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0" name="MH_SubTitle_1"/>
            <p:cNvSpPr txBox="1">
              <a:spLocks noChangeArrowheads="1"/>
            </p:cNvSpPr>
            <p:nvPr/>
          </p:nvSpPr>
          <p:spPr bwMode="auto">
            <a:xfrm>
              <a:off x="3229" y="6041"/>
              <a:ext cx="14970" cy="270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pPr>
              <a:r>
                <a:rPr lang="zh-CN" altLang="en-US" sz="2000" b="1" dirty="0">
                  <a:solidFill>
                    <a:schemeClr val="accent2">
                      <a:lumMod val="60000"/>
                      <a:lumOff val="40000"/>
                    </a:schemeClr>
                  </a:solidFill>
                </a:rPr>
                <a:t>算式估算法</a:t>
              </a:r>
            </a:p>
            <a:p>
              <a:pPr indent="457200" fontAlgn="auto">
                <a:lnSpc>
                  <a:spcPct val="130000"/>
                </a:lnSpc>
              </a:pPr>
              <a:r>
                <a:rPr lang="zh-CN" altLang="en-US" dirty="0">
                  <a:ea typeface="微软雅黑" panose="020B0503020204020204" charset="-122"/>
                </a:rPr>
                <a:t>专家估算法和类推估算法的缺点在于，它们依靠带有一定盲目性和主观性的猜测对项目进行估算。算式估算法则是企图避免主观因素的影响，用于估算的方法有两种基本类型：</a:t>
              </a:r>
              <a:r>
                <a:rPr lang="zh-CN" altLang="en-US" b="1" dirty="0">
                  <a:solidFill>
                    <a:srgbClr val="00B0F0"/>
                  </a:solidFill>
                  <a:ea typeface="微软雅黑" panose="020B0503020204020204" charset="-122"/>
                </a:rPr>
                <a:t>由理论导出和由经验得出。</a:t>
              </a:r>
            </a:p>
          </p:txBody>
        </p:sp>
        <p:sp>
          <p:nvSpPr>
            <p:cNvPr id="22"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2">
                      <a:lumMod val="60000"/>
                      <a:lumOff val="40000"/>
                    </a:schemeClr>
                  </a:solidFill>
                  <a:latin typeface="Agency FB" panose="020B0503020202020204" pitchFamily="34" charset="0"/>
                  <a:ea typeface="微软雅黑" panose="020B0503020204020204" charset="-122"/>
                </a:rPr>
                <a:t>6</a:t>
              </a:r>
            </a:p>
          </p:txBody>
        </p:sp>
      </p:grpSp>
    </p:spTree>
  </p:cSld>
  <p:clrMapOvr>
    <a:masterClrMapping/>
  </p:clrMapOvr>
  <p:transition>
    <p:wipe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10.2 </a:t>
            </a:r>
            <a:r>
              <a:rPr lang="zh-CN" altLang="en-US">
                <a:solidFill>
                  <a:srgbClr val="FF0000"/>
                </a:solidFill>
              </a:rPr>
              <a:t>软件规模估算</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10.2.2  代码行技术</a:t>
            </a:r>
          </a:p>
        </p:txBody>
      </p:sp>
      <p:grpSp>
        <p:nvGrpSpPr>
          <p:cNvPr id="4" name="组合 3"/>
          <p:cNvGrpSpPr/>
          <p:nvPr/>
        </p:nvGrpSpPr>
        <p:grpSpPr>
          <a:xfrm>
            <a:off x="0" y="2412365"/>
            <a:ext cx="12192000" cy="3074035"/>
            <a:chOff x="0" y="3848"/>
            <a:chExt cx="19200" cy="4841"/>
          </a:xfrm>
        </p:grpSpPr>
        <p:sp>
          <p:nvSpPr>
            <p:cNvPr id="5" name="矩形 4"/>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568" y="4143"/>
              <a:ext cx="12200" cy="4071"/>
            </a:xfrm>
            <a:prstGeom prst="rect">
              <a:avLst/>
            </a:prstGeom>
          </p:spPr>
          <p:txBody>
            <a:bodyPr wrap="square">
              <a:spAutoFit/>
            </a:bodyPr>
            <a:lstStyle/>
            <a:p>
              <a:pPr indent="457200">
                <a:lnSpc>
                  <a:spcPct val="150000"/>
                </a:lnSpc>
                <a:defRPr/>
              </a:pPr>
              <a:r>
                <a:rPr lang="zh-CN" altLang="en-US" b="1" kern="0" dirty="0" smtClean="0">
                  <a:solidFill>
                    <a:srgbClr val="FFFF00"/>
                  </a:solidFill>
                  <a:latin typeface="微软雅黑" panose="020B0503020204020204" charset="-122"/>
                  <a:ea typeface="微软雅黑" panose="020B0503020204020204" charset="-122"/>
                  <a:cs typeface="宋体" panose="02010600030101010101" pitchFamily="2" charset="-122"/>
                  <a:sym typeface="+mn-ea"/>
                </a:rPr>
                <a:t>代码行（</a:t>
              </a:r>
              <a:r>
                <a:rPr lang="en-US" altLang="zh-CN" b="1" kern="0" dirty="0" smtClean="0">
                  <a:solidFill>
                    <a:srgbClr val="FFFF00"/>
                  </a:solidFill>
                  <a:latin typeface="微软雅黑" panose="020B0503020204020204" charset="-122"/>
                  <a:ea typeface="微软雅黑" panose="020B0503020204020204" charset="-122"/>
                  <a:cs typeface="宋体" panose="02010600030101010101" pitchFamily="2" charset="-122"/>
                  <a:sym typeface="+mn-ea"/>
                </a:rPr>
                <a:t>Line of Code</a:t>
              </a:r>
              <a:r>
                <a:rPr lang="zh-CN" altLang="en-US" b="1" kern="0" dirty="0" smtClean="0">
                  <a:solidFill>
                    <a:srgbClr val="FFFF00"/>
                  </a:solidFill>
                  <a:latin typeface="微软雅黑" panose="020B0503020204020204" charset="-122"/>
                  <a:ea typeface="微软雅黑" panose="020B0503020204020204" charset="-122"/>
                  <a:cs typeface="宋体" panose="02010600030101010101" pitchFamily="2" charset="-122"/>
                  <a:sym typeface="+mn-ea"/>
                </a:rPr>
                <a:t>，</a:t>
              </a:r>
              <a:r>
                <a:rPr lang="en-US" altLang="zh-CN" b="1" kern="0" dirty="0" smtClean="0">
                  <a:solidFill>
                    <a:srgbClr val="FFFF00"/>
                  </a:solidFill>
                  <a:latin typeface="微软雅黑" panose="020B0503020204020204" charset="-122"/>
                  <a:ea typeface="微软雅黑" panose="020B0503020204020204" charset="-122"/>
                  <a:cs typeface="宋体" panose="02010600030101010101" pitchFamily="2" charset="-122"/>
                  <a:sym typeface="+mn-ea"/>
                </a:rPr>
                <a:t>LOC</a:t>
              </a:r>
              <a:r>
                <a:rPr lang="zh-CN" altLang="en-US" b="1" kern="0" dirty="0" smtClean="0">
                  <a:solidFill>
                    <a:srgbClr val="FFFF00"/>
                  </a:solidFill>
                  <a:latin typeface="微软雅黑" panose="020B0503020204020204" charset="-122"/>
                  <a:ea typeface="微软雅黑" panose="020B0503020204020204" charset="-122"/>
                  <a:cs typeface="宋体" panose="02010600030101010101" pitchFamily="2" charset="-122"/>
                  <a:sym typeface="+mn-ea"/>
                </a:rPr>
                <a:t>）技术是一个相对简单的定量估算软件规模的方法。</a:t>
              </a:r>
              <a:r>
                <a:rPr lang="zh-CN" altLang="en-US"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该方法先根据以往经验及历史数据，估算出将要编写的软件的源代码行数，然后以每行的平均成本乘上估计的总行数，估算出总的成本。</a:t>
              </a:r>
              <a:endPar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defRPr/>
              </a:pPr>
              <a:r>
                <a:rPr lang="zh-CN" altLang="en-US" b="1" kern="0" dirty="0" smtClean="0">
                  <a:solidFill>
                    <a:srgbClr val="FFFF00"/>
                  </a:solidFill>
                  <a:latin typeface="微软雅黑" panose="020B0503020204020204" charset="-122"/>
                  <a:ea typeface="微软雅黑" panose="020B0503020204020204" charset="-122"/>
                  <a:cs typeface="宋体" panose="02010600030101010101" pitchFamily="2" charset="-122"/>
                  <a:sym typeface="+mn-ea"/>
                </a:rPr>
                <a:t>软件各项功能需要的代码行数和开发成本应分别估算。</a:t>
              </a:r>
              <a:r>
                <a:rPr lang="zh-CN" altLang="en-US"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程序较小时，代码规模的估算单位是行数（</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LOC</a:t>
              </a:r>
              <a:r>
                <a:rPr lang="zh-CN" altLang="en-US"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）；程序较大时，代码规模的估算单位是千行数（</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KLOC</a:t>
              </a:r>
              <a:r>
                <a:rPr lang="zh-CN" altLang="en-US"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）。代码行的每行成本与开发工作的复杂性和工资水平有关。</a:t>
              </a:r>
            </a:p>
          </p:txBody>
        </p:sp>
      </p:grpSp>
      <p:pic>
        <p:nvPicPr>
          <p:cNvPr id="7" name="图片 6" descr="timg.jpg"/>
          <p:cNvPicPr>
            <a:picLocks noChangeAspect="1"/>
          </p:cNvPicPr>
          <p:nvPr/>
        </p:nvPicPr>
        <p:blipFill>
          <a:blip r:embed="rId3" cstate="print"/>
          <a:stretch>
            <a:fillRect/>
          </a:stretch>
        </p:blipFill>
        <p:spPr>
          <a:xfrm>
            <a:off x="8382000" y="2636520"/>
            <a:ext cx="3515360" cy="2636520"/>
          </a:xfrm>
          <a:prstGeom prst="rect">
            <a:avLst/>
          </a:prstGeom>
        </p:spPr>
      </p:pic>
    </p:spTree>
  </p:cSld>
  <p:clrMapOvr>
    <a:masterClrMapping/>
  </p:clrMapOvr>
  <p:transition>
    <p:wipe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10.2 </a:t>
            </a:r>
            <a:r>
              <a:rPr lang="zh-CN" altLang="en-US">
                <a:solidFill>
                  <a:srgbClr val="FF0000"/>
                </a:solidFill>
              </a:rPr>
              <a:t>软件规模估算</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10.2.2  代码行技术</a:t>
            </a:r>
          </a:p>
        </p:txBody>
      </p:sp>
      <p:grpSp>
        <p:nvGrpSpPr>
          <p:cNvPr id="2" name="组合 1"/>
          <p:cNvGrpSpPr/>
          <p:nvPr/>
        </p:nvGrpSpPr>
        <p:grpSpPr>
          <a:xfrm>
            <a:off x="858719" y="2168525"/>
            <a:ext cx="10474835" cy="3646805"/>
            <a:chOff x="2302" y="2925"/>
            <a:chExt cx="13436" cy="5743"/>
          </a:xfrm>
        </p:grpSpPr>
        <p:sp>
          <p:nvSpPr>
            <p:cNvPr id="7" name="MH_Other_1"/>
            <p:cNvSpPr/>
            <p:nvPr>
              <p:custDataLst>
                <p:tags r:id="rId1"/>
              </p:custDataLst>
            </p:nvPr>
          </p:nvSpPr>
          <p:spPr>
            <a:xfrm>
              <a:off x="3621" y="4345"/>
              <a:ext cx="10704" cy="1405"/>
            </a:xfrm>
            <a:custGeom>
              <a:avLst/>
              <a:gdLst>
                <a:gd name="connsiteX0" fmla="*/ 0 w 6192688"/>
                <a:gd name="connsiteY0" fmla="*/ 0 h 1261899"/>
                <a:gd name="connsiteX1" fmla="*/ 1656183 w 6192688"/>
                <a:gd name="connsiteY1" fmla="*/ 0 h 1261899"/>
                <a:gd name="connsiteX2" fmla="*/ 4179979 w 6192688"/>
                <a:gd name="connsiteY2" fmla="*/ 0 h 1261899"/>
                <a:gd name="connsiteX3" fmla="*/ 6192688 w 6192688"/>
                <a:gd name="connsiteY3" fmla="*/ 0 h 1261899"/>
                <a:gd name="connsiteX4" fmla="*/ 6192688 w 6192688"/>
                <a:gd name="connsiteY4" fmla="*/ 72008 h 1261899"/>
                <a:gd name="connsiteX5" fmla="*/ 4176343 w 6192688"/>
                <a:gd name="connsiteY5" fmla="*/ 72008 h 1261899"/>
                <a:gd name="connsiteX6" fmla="*/ 2918081 w 6192688"/>
                <a:gd name="connsiteY6" fmla="*/ 1261899 h 1261899"/>
                <a:gd name="connsiteX7" fmla="*/ 1659819 w 6192688"/>
                <a:gd name="connsiteY7" fmla="*/ 72008 h 1261899"/>
                <a:gd name="connsiteX8" fmla="*/ 0 w 6192688"/>
                <a:gd name="connsiteY8" fmla="*/ 72008 h 1261899"/>
                <a:gd name="connsiteX9" fmla="*/ 91440 w 6192688"/>
                <a:gd name="connsiteY9" fmla="*/ 91440 h 1261899"/>
                <a:gd name="connsiteX0-1" fmla="*/ 1656183 w 6192688"/>
                <a:gd name="connsiteY0-2" fmla="*/ 0 h 1261899"/>
                <a:gd name="connsiteX1-3" fmla="*/ 4179979 w 6192688"/>
                <a:gd name="connsiteY1-4" fmla="*/ 0 h 1261899"/>
                <a:gd name="connsiteX2-5" fmla="*/ 6192688 w 6192688"/>
                <a:gd name="connsiteY2-6" fmla="*/ 0 h 1261899"/>
                <a:gd name="connsiteX3-7" fmla="*/ 6192688 w 6192688"/>
                <a:gd name="connsiteY3-8" fmla="*/ 72008 h 1261899"/>
                <a:gd name="connsiteX4-9" fmla="*/ 4176343 w 6192688"/>
                <a:gd name="connsiteY4-10" fmla="*/ 72008 h 1261899"/>
                <a:gd name="connsiteX5-11" fmla="*/ 2918081 w 6192688"/>
                <a:gd name="connsiteY5-12" fmla="*/ 1261899 h 1261899"/>
                <a:gd name="connsiteX6-13" fmla="*/ 1659819 w 6192688"/>
                <a:gd name="connsiteY6-14" fmla="*/ 72008 h 1261899"/>
                <a:gd name="connsiteX7-15" fmla="*/ 0 w 6192688"/>
                <a:gd name="connsiteY7-16" fmla="*/ 72008 h 1261899"/>
                <a:gd name="connsiteX8-17" fmla="*/ 91440 w 6192688"/>
                <a:gd name="connsiteY8-18" fmla="*/ 91440 h 1261899"/>
                <a:gd name="connsiteX0-19" fmla="*/ 4179979 w 6192688"/>
                <a:gd name="connsiteY0-20" fmla="*/ 0 h 1261899"/>
                <a:gd name="connsiteX1-21" fmla="*/ 6192688 w 6192688"/>
                <a:gd name="connsiteY1-22" fmla="*/ 0 h 1261899"/>
                <a:gd name="connsiteX2-23" fmla="*/ 6192688 w 6192688"/>
                <a:gd name="connsiteY2-24" fmla="*/ 72008 h 1261899"/>
                <a:gd name="connsiteX3-25" fmla="*/ 4176343 w 6192688"/>
                <a:gd name="connsiteY3-26" fmla="*/ 72008 h 1261899"/>
                <a:gd name="connsiteX4-27" fmla="*/ 2918081 w 6192688"/>
                <a:gd name="connsiteY4-28" fmla="*/ 1261899 h 1261899"/>
                <a:gd name="connsiteX5-29" fmla="*/ 1659819 w 6192688"/>
                <a:gd name="connsiteY5-30" fmla="*/ 72008 h 1261899"/>
                <a:gd name="connsiteX6-31" fmla="*/ 0 w 6192688"/>
                <a:gd name="connsiteY6-32" fmla="*/ 72008 h 1261899"/>
                <a:gd name="connsiteX7-33" fmla="*/ 91440 w 6192688"/>
                <a:gd name="connsiteY7-34" fmla="*/ 91440 h 1261899"/>
                <a:gd name="connsiteX0-35" fmla="*/ 6192688 w 6192688"/>
                <a:gd name="connsiteY0-36" fmla="*/ 0 h 1261899"/>
                <a:gd name="connsiteX1-37" fmla="*/ 6192688 w 6192688"/>
                <a:gd name="connsiteY1-38" fmla="*/ 72008 h 1261899"/>
                <a:gd name="connsiteX2-39" fmla="*/ 4176343 w 6192688"/>
                <a:gd name="connsiteY2-40" fmla="*/ 72008 h 1261899"/>
                <a:gd name="connsiteX3-41" fmla="*/ 2918081 w 6192688"/>
                <a:gd name="connsiteY3-42" fmla="*/ 1261899 h 1261899"/>
                <a:gd name="connsiteX4-43" fmla="*/ 1659819 w 6192688"/>
                <a:gd name="connsiteY4-44" fmla="*/ 72008 h 1261899"/>
                <a:gd name="connsiteX5-45" fmla="*/ 0 w 6192688"/>
                <a:gd name="connsiteY5-46" fmla="*/ 72008 h 1261899"/>
                <a:gd name="connsiteX6-47" fmla="*/ 91440 w 6192688"/>
                <a:gd name="connsiteY6-48" fmla="*/ 91440 h 1261899"/>
                <a:gd name="connsiteX0-49" fmla="*/ 6192688 w 6192688"/>
                <a:gd name="connsiteY0-50" fmla="*/ 7233 h 1197124"/>
                <a:gd name="connsiteX1-51" fmla="*/ 4176343 w 6192688"/>
                <a:gd name="connsiteY1-52" fmla="*/ 7233 h 1197124"/>
                <a:gd name="connsiteX2-53" fmla="*/ 2918081 w 6192688"/>
                <a:gd name="connsiteY2-54" fmla="*/ 1197124 h 1197124"/>
                <a:gd name="connsiteX3-55" fmla="*/ 1659819 w 6192688"/>
                <a:gd name="connsiteY3-56" fmla="*/ 7233 h 1197124"/>
                <a:gd name="connsiteX4-57" fmla="*/ 0 w 6192688"/>
                <a:gd name="connsiteY4-58" fmla="*/ 7233 h 1197124"/>
                <a:gd name="connsiteX5-59" fmla="*/ 91440 w 6192688"/>
                <a:gd name="connsiteY5-60" fmla="*/ 26665 h 1197124"/>
                <a:gd name="connsiteX0-61" fmla="*/ 6101248 w 6101248"/>
                <a:gd name="connsiteY0-62" fmla="*/ 0 h 1189891"/>
                <a:gd name="connsiteX1-63" fmla="*/ 4084903 w 6101248"/>
                <a:gd name="connsiteY1-64" fmla="*/ 0 h 1189891"/>
                <a:gd name="connsiteX2-65" fmla="*/ 2826641 w 6101248"/>
                <a:gd name="connsiteY2-66" fmla="*/ 1189891 h 1189891"/>
                <a:gd name="connsiteX3-67" fmla="*/ 1568379 w 6101248"/>
                <a:gd name="connsiteY3-68" fmla="*/ 0 h 1189891"/>
                <a:gd name="connsiteX4-69" fmla="*/ 0 w 6101248"/>
                <a:gd name="connsiteY4-70" fmla="*/ 19432 h 1189891"/>
                <a:gd name="connsiteX0-71" fmla="*/ 6144791 w 6144791"/>
                <a:gd name="connsiteY0-72" fmla="*/ 0 h 1189891"/>
                <a:gd name="connsiteX1-73" fmla="*/ 4128446 w 6144791"/>
                <a:gd name="connsiteY1-74" fmla="*/ 0 h 1189891"/>
                <a:gd name="connsiteX2-75" fmla="*/ 2870184 w 6144791"/>
                <a:gd name="connsiteY2-76" fmla="*/ 1189891 h 1189891"/>
                <a:gd name="connsiteX3-77" fmla="*/ 1611922 w 6144791"/>
                <a:gd name="connsiteY3-78" fmla="*/ 0 h 1189891"/>
                <a:gd name="connsiteX4-79" fmla="*/ 0 w 6144791"/>
                <a:gd name="connsiteY4-80" fmla="*/ 4918 h 1189891"/>
                <a:gd name="connsiteX0-81" fmla="*/ 9163763 w 9163763"/>
                <a:gd name="connsiteY0-82" fmla="*/ 14515 h 1189891"/>
                <a:gd name="connsiteX1-83" fmla="*/ 4128446 w 9163763"/>
                <a:gd name="connsiteY1-84" fmla="*/ 0 h 1189891"/>
                <a:gd name="connsiteX2-85" fmla="*/ 2870184 w 9163763"/>
                <a:gd name="connsiteY2-86" fmla="*/ 1189891 h 1189891"/>
                <a:gd name="connsiteX3-87" fmla="*/ 1611922 w 9163763"/>
                <a:gd name="connsiteY3-88" fmla="*/ 0 h 1189891"/>
                <a:gd name="connsiteX4-89" fmla="*/ 0 w 9163763"/>
                <a:gd name="connsiteY4-90" fmla="*/ 4918 h 1189891"/>
                <a:gd name="connsiteX0-91" fmla="*/ 5938570 w 5938570"/>
                <a:gd name="connsiteY0-92" fmla="*/ 14516 h 1189891"/>
                <a:gd name="connsiteX1-93" fmla="*/ 4128446 w 5938570"/>
                <a:gd name="connsiteY1-94" fmla="*/ 0 h 1189891"/>
                <a:gd name="connsiteX2-95" fmla="*/ 2870184 w 5938570"/>
                <a:gd name="connsiteY2-96" fmla="*/ 1189891 h 1189891"/>
                <a:gd name="connsiteX3-97" fmla="*/ 1611922 w 5938570"/>
                <a:gd name="connsiteY3-98" fmla="*/ 0 h 1189891"/>
                <a:gd name="connsiteX4-99" fmla="*/ 0 w 5938570"/>
                <a:gd name="connsiteY4-100" fmla="*/ 4918 h 118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938570" h="1189891">
                  <a:moveTo>
                    <a:pt x="5938570" y="14516"/>
                  </a:moveTo>
                  <a:lnTo>
                    <a:pt x="4128446" y="0"/>
                  </a:lnTo>
                  <a:cubicBezTo>
                    <a:pt x="4092690" y="663472"/>
                    <a:pt x="3542913" y="1189891"/>
                    <a:pt x="2870184" y="1189891"/>
                  </a:cubicBezTo>
                  <a:cubicBezTo>
                    <a:pt x="2197455" y="1189891"/>
                    <a:pt x="1647677" y="663471"/>
                    <a:pt x="1611922" y="0"/>
                  </a:cubicBezTo>
                  <a:lnTo>
                    <a:pt x="0" y="4918"/>
                  </a:lnTo>
                </a:path>
              </a:pathLst>
            </a:custGeom>
            <a:noFill/>
            <a:ln w="76200" cmpd="thinThick">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FFFFFF"/>
                </a:solidFill>
              </a:endParaRPr>
            </a:p>
          </p:txBody>
        </p:sp>
        <p:sp>
          <p:nvSpPr>
            <p:cNvPr id="9" name="MH_Title_1"/>
            <p:cNvSpPr/>
            <p:nvPr>
              <p:custDataLst>
                <p:tags r:id="rId2"/>
              </p:custDataLst>
            </p:nvPr>
          </p:nvSpPr>
          <p:spPr>
            <a:xfrm>
              <a:off x="6953" y="2925"/>
              <a:ext cx="3772" cy="2465"/>
            </a:xfrm>
            <a:prstGeom prst="ellipse">
              <a:avLst/>
            </a:prstGeom>
            <a:solidFill>
              <a:schemeClr val="accent6">
                <a:lumMod val="40000"/>
                <a:lumOff val="60000"/>
              </a:schemeClr>
            </a:solidFill>
            <a:ln w="127000" cmpd="thinThick">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sz="3200" b="1" dirty="0" smtClean="0">
                  <a:solidFill>
                    <a:schemeClr val="tx1"/>
                  </a:solidFill>
                  <a:sym typeface="+mn-ea"/>
                </a:rPr>
                <a:t>代码行技术</a:t>
              </a:r>
              <a:endParaRPr lang="zh-CN" altLang="en-US" sz="3200" b="1" dirty="0">
                <a:solidFill>
                  <a:schemeClr val="tx1"/>
                </a:solidFill>
                <a:latin typeface="微软雅黑" panose="020B0503020204020204" charset="-122"/>
                <a:ea typeface="微软雅黑" panose="020B0503020204020204" charset="-122"/>
              </a:endParaRPr>
            </a:p>
          </p:txBody>
        </p:sp>
        <p:sp>
          <p:nvSpPr>
            <p:cNvPr id="10" name="MH_SubTitle_1"/>
            <p:cNvSpPr/>
            <p:nvPr>
              <p:custDataLst>
                <p:tags r:id="rId3"/>
              </p:custDataLst>
            </p:nvPr>
          </p:nvSpPr>
          <p:spPr>
            <a:xfrm>
              <a:off x="3123" y="3732"/>
              <a:ext cx="3112" cy="1118"/>
            </a:xfrm>
            <a:prstGeom prst="roundRect">
              <a:avLst>
                <a:gd name="adj" fmla="val 3013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2800" b="1" dirty="0" smtClean="0">
                  <a:solidFill>
                    <a:schemeClr val="tx2">
                      <a:lumMod val="75000"/>
                    </a:schemeClr>
                  </a:solidFill>
                  <a:latin typeface="微软雅黑" panose="020B0503020204020204" charset="-122"/>
                  <a:ea typeface="微软雅黑" panose="020B0503020204020204" charset="-122"/>
                </a:rPr>
                <a:t>优点</a:t>
              </a:r>
            </a:p>
          </p:txBody>
        </p:sp>
        <p:sp>
          <p:nvSpPr>
            <p:cNvPr id="11" name="MH_Text_1"/>
            <p:cNvSpPr txBox="1">
              <a:spLocks noChangeArrowheads="1"/>
            </p:cNvSpPr>
            <p:nvPr>
              <p:custDataLst>
                <p:tags r:id="rId4"/>
              </p:custDataLst>
            </p:nvPr>
          </p:nvSpPr>
          <p:spPr bwMode="auto">
            <a:xfrm>
              <a:off x="2302" y="5782"/>
              <a:ext cx="4653" cy="2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norm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nSpc>
                  <a:spcPct val="130000"/>
                </a:lnSpc>
                <a:defRPr/>
              </a:pPr>
              <a:r>
                <a:rPr lang="en-US" altLang="zh-CN" sz="2000" dirty="0" smtClean="0"/>
                <a:t>        </a:t>
              </a:r>
              <a:r>
                <a:rPr lang="zh-CN" altLang="en-US" sz="2000" dirty="0" smtClean="0"/>
                <a:t>代码行是所有软件开发项目都有的“产品”，很容易计算；已有大量的基于代码行的文献资料和数据。</a:t>
              </a:r>
            </a:p>
          </p:txBody>
        </p:sp>
        <p:sp>
          <p:nvSpPr>
            <p:cNvPr id="12" name="MH_SubTitle_1"/>
            <p:cNvSpPr/>
            <p:nvPr>
              <p:custDataLst>
                <p:tags r:id="rId5"/>
              </p:custDataLst>
            </p:nvPr>
          </p:nvSpPr>
          <p:spPr>
            <a:xfrm>
              <a:off x="11400" y="3732"/>
              <a:ext cx="2988" cy="1118"/>
            </a:xfrm>
            <a:prstGeom prst="roundRect">
              <a:avLst>
                <a:gd name="adj" fmla="val 36824"/>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2800" b="1" dirty="0" smtClean="0">
                  <a:solidFill>
                    <a:schemeClr val="tx2">
                      <a:lumMod val="75000"/>
                    </a:schemeClr>
                  </a:solidFill>
                  <a:latin typeface="微软雅黑" panose="020B0503020204020204" charset="-122"/>
                  <a:ea typeface="微软雅黑" panose="020B0503020204020204" charset="-122"/>
                </a:rPr>
                <a:t>缺点</a:t>
              </a:r>
            </a:p>
          </p:txBody>
        </p:sp>
        <p:sp>
          <p:nvSpPr>
            <p:cNvPr id="13" name="MH_Text_1"/>
            <p:cNvSpPr txBox="1">
              <a:spLocks noChangeArrowheads="1"/>
            </p:cNvSpPr>
            <p:nvPr>
              <p:custDataLst>
                <p:tags r:id="rId6"/>
              </p:custDataLst>
            </p:nvPr>
          </p:nvSpPr>
          <p:spPr bwMode="auto">
            <a:xfrm>
              <a:off x="10585" y="5782"/>
              <a:ext cx="5153" cy="24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no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nSpc>
                  <a:spcPct val="120000"/>
                </a:lnSpc>
              </a:pPr>
              <a:r>
                <a:rPr lang="en-US" sz="2000" dirty="0" smtClean="0"/>
                <a:t>         </a:t>
              </a:r>
              <a:r>
                <a:rPr sz="2000" dirty="0" smtClean="0"/>
                <a:t>用不同语言实现同一软件产品时所需要的代码行数并不相同，代码行技术不适用于非过程性语言。</a:t>
              </a:r>
            </a:p>
          </p:txBody>
        </p:sp>
      </p:grpSp>
    </p:spTree>
  </p:cSld>
  <p:clrMapOvr>
    <a:masterClrMapping/>
  </p:clrMapOvr>
  <p:transition>
    <p:wipe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olidFill>
                  <a:srgbClr val="FF0000"/>
                </a:solidFill>
              </a:rPr>
              <a:t>10.2 </a:t>
            </a:r>
            <a:r>
              <a:rPr lang="zh-CN" altLang="en-US" dirty="0">
                <a:solidFill>
                  <a:srgbClr val="FF0000"/>
                </a:solidFill>
              </a:rPr>
              <a:t>软件规模估算</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10.2.2  代码行技术</a:t>
            </a:r>
          </a:p>
        </p:txBody>
      </p:sp>
      <p:pic>
        <p:nvPicPr>
          <p:cNvPr id="32" name="图片 31" descr="timg (1).jpg"/>
          <p:cNvPicPr>
            <a:picLocks noChangeAspect="1"/>
          </p:cNvPicPr>
          <p:nvPr/>
        </p:nvPicPr>
        <p:blipFill>
          <a:blip r:embed="rId4" cstate="print"/>
          <a:srcRect b="5556"/>
          <a:stretch>
            <a:fillRect/>
          </a:stretch>
        </p:blipFill>
        <p:spPr>
          <a:xfrm>
            <a:off x="7560244" y="2453640"/>
            <a:ext cx="4295352" cy="3185160"/>
          </a:xfrm>
          <a:prstGeom prst="rect">
            <a:avLst/>
          </a:prstGeom>
        </p:spPr>
      </p:pic>
      <p:sp>
        <p:nvSpPr>
          <p:cNvPr id="33" name="矩形 32"/>
          <p:cNvSpPr/>
          <p:nvPr/>
        </p:nvSpPr>
        <p:spPr>
          <a:xfrm>
            <a:off x="563880" y="2145664"/>
            <a:ext cx="6964680" cy="3831818"/>
          </a:xfrm>
          <a:prstGeom prst="rect">
            <a:avLst/>
          </a:prstGeom>
          <a:solidFill>
            <a:schemeClr val="accent4">
              <a:lumMod val="20000"/>
              <a:lumOff val="80000"/>
              <a:alpha val="70000"/>
            </a:schemeClr>
          </a:solidFill>
        </p:spPr>
        <p:txBody>
          <a:bodyPr wrap="square">
            <a:spAutoFit/>
          </a:bodyPr>
          <a:lstStyle/>
          <a:p>
            <a:pPr indent="457200">
              <a:lnSpc>
                <a:spcPct val="150000"/>
              </a:lnSpc>
            </a:pPr>
            <a:r>
              <a:rPr lang="zh-CN" altLang="en-US" dirty="0" smtClean="0"/>
              <a:t>每项功能的工作量（人天）等于代码行数除以每人每天设计的行数；每项功能的成本等于代码行数乘以每行成本。最后分别计算出工作量的合计数和成本的合计数。</a:t>
            </a:r>
          </a:p>
          <a:p>
            <a:pPr indent="457200">
              <a:lnSpc>
                <a:spcPct val="150000"/>
              </a:lnSpc>
            </a:pPr>
            <a:r>
              <a:rPr lang="zh-CN" altLang="en-US" dirty="0" smtClean="0"/>
              <a:t>为了使软件规模的估算更符合实际情况，可由多名有经验的软件工程师分别做出估算。每个人都估算程序规模的最小值（</a:t>
            </a:r>
            <a:r>
              <a:rPr lang="en-US" altLang="zh-CN" dirty="0" smtClean="0"/>
              <a:t>a</a:t>
            </a:r>
            <a:r>
              <a:rPr lang="zh-CN" altLang="en-US" dirty="0" smtClean="0"/>
              <a:t>）、最大值（</a:t>
            </a:r>
            <a:r>
              <a:rPr lang="en-US" altLang="zh-CN" dirty="0" smtClean="0"/>
              <a:t>b</a:t>
            </a:r>
            <a:r>
              <a:rPr lang="zh-CN" altLang="en-US" dirty="0" smtClean="0"/>
              <a:t>）和最可能的值（</a:t>
            </a:r>
            <a:r>
              <a:rPr lang="en-US" altLang="zh-CN" dirty="0" smtClean="0"/>
              <a:t>m</a:t>
            </a:r>
            <a:r>
              <a:rPr lang="zh-CN" altLang="en-US" dirty="0" smtClean="0"/>
              <a:t>），分别计算这</a:t>
            </a:r>
            <a:r>
              <a:rPr lang="en-US" altLang="zh-CN" dirty="0" smtClean="0"/>
              <a:t>3</a:t>
            </a:r>
            <a:r>
              <a:rPr lang="zh-CN" altLang="en-US" dirty="0" smtClean="0"/>
              <a:t>种值的平均值    ， ， ，再用下式计算程序规模的估算值：</a:t>
            </a:r>
            <a:endParaRPr lang="en-US" altLang="zh-CN" dirty="0" smtClean="0"/>
          </a:p>
          <a:p>
            <a:endParaRPr lang="en-US" dirty="0" smtClean="0"/>
          </a:p>
          <a:p>
            <a:endParaRPr lang="en-US" dirty="0" smtClean="0"/>
          </a:p>
          <a:p>
            <a:r>
              <a:rPr lang="zh-CN" altLang="en-US" dirty="0" smtClean="0"/>
              <a:t>开发软件时要注意不断积累有关数据，以使今后的估算更准确。</a:t>
            </a:r>
          </a:p>
        </p:txBody>
      </p:sp>
      <p:sp>
        <p:nvSpPr>
          <p:cNvPr id="16413" name="Rectangle 29"/>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412" name="对象 245"/>
          <p:cNvGraphicFramePr>
            <a:graphicFrameLocks noChangeAspect="1"/>
          </p:cNvGraphicFramePr>
          <p:nvPr/>
        </p:nvGraphicFramePr>
        <p:xfrm>
          <a:off x="6568440" y="4251960"/>
          <a:ext cx="304800" cy="413738"/>
        </p:xfrm>
        <a:graphic>
          <a:graphicData uri="http://schemas.openxmlformats.org/presentationml/2006/ole">
            <p:oleObj spid="_x0000_s16412" r:id="rId5" imgW="114102" imgH="190170" progId="Equation.DSMT4">
              <p:embed/>
            </p:oleObj>
          </a:graphicData>
        </a:graphic>
      </p:graphicFrame>
      <p:sp>
        <p:nvSpPr>
          <p:cNvPr id="16415" name="Rectangle 31"/>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414" name="对象 246"/>
          <p:cNvGraphicFramePr>
            <a:graphicFrameLocks noChangeAspect="1"/>
          </p:cNvGraphicFramePr>
          <p:nvPr/>
        </p:nvGraphicFramePr>
        <p:xfrm>
          <a:off x="6873240" y="4236720"/>
          <a:ext cx="338866" cy="441960"/>
        </p:xfrm>
        <a:graphic>
          <a:graphicData uri="http://schemas.openxmlformats.org/presentationml/2006/ole">
            <p:oleObj spid="_x0000_s16414" r:id="rId6" imgW="139518" imgH="215619" progId="Equation.DSMT4">
              <p:embed/>
            </p:oleObj>
          </a:graphicData>
        </a:graphic>
      </p:graphicFrame>
      <p:sp>
        <p:nvSpPr>
          <p:cNvPr id="16417" name="Rectangle 33"/>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416" name="对象 247"/>
          <p:cNvGraphicFramePr>
            <a:graphicFrameLocks noChangeAspect="1"/>
          </p:cNvGraphicFramePr>
          <p:nvPr/>
        </p:nvGraphicFramePr>
        <p:xfrm>
          <a:off x="7162800" y="4206240"/>
          <a:ext cx="333756" cy="453614"/>
        </p:xfrm>
        <a:graphic>
          <a:graphicData uri="http://schemas.openxmlformats.org/presentationml/2006/ole">
            <p:oleObj spid="_x0000_s16416" r:id="rId7" imgW="152268" imgH="190335" progId="Equation.DSMT4">
              <p:embed/>
            </p:oleObj>
          </a:graphicData>
        </a:graphic>
      </p:graphicFrame>
      <p:sp>
        <p:nvSpPr>
          <p:cNvPr id="16419" name="Rectangle 3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418" name="对象 248"/>
          <p:cNvGraphicFramePr>
            <a:graphicFrameLocks noChangeAspect="1"/>
          </p:cNvGraphicFramePr>
          <p:nvPr/>
        </p:nvGraphicFramePr>
        <p:xfrm>
          <a:off x="3093720" y="4983479"/>
          <a:ext cx="1569720" cy="713509"/>
        </p:xfrm>
        <a:graphic>
          <a:graphicData uri="http://schemas.openxmlformats.org/presentationml/2006/ole">
            <p:oleObj spid="_x0000_s16418" r:id="rId8" imgW="837836" imgH="380835" progId="Equation.DSMT4">
              <p:embed/>
            </p:oleObj>
          </a:graphicData>
        </a:graphic>
      </p:graphicFrame>
    </p:spTree>
  </p:cSld>
  <p:clrMapOvr>
    <a:masterClrMapping/>
  </p:clrMapOvr>
  <p:transition>
    <p:wipe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2412365"/>
            <a:ext cx="12192000" cy="3074035"/>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p:txBody>
          <a:bodyPr/>
          <a:lstStyle/>
          <a:p>
            <a:r>
              <a:rPr lang="en-US" altLang="zh-CN" dirty="0">
                <a:solidFill>
                  <a:srgbClr val="FF0000"/>
                </a:solidFill>
              </a:rPr>
              <a:t>10.2 </a:t>
            </a:r>
            <a:r>
              <a:rPr lang="zh-CN" altLang="en-US" dirty="0">
                <a:solidFill>
                  <a:srgbClr val="FF0000"/>
                </a:solidFill>
              </a:rPr>
              <a:t>软件规模估算</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10.2.3  功能点技术</a:t>
            </a:r>
          </a:p>
        </p:txBody>
      </p:sp>
      <p:sp>
        <p:nvSpPr>
          <p:cNvPr id="4" name="MH_Text_1"/>
          <p:cNvSpPr txBox="1"/>
          <p:nvPr>
            <p:custDataLst>
              <p:tags r:id="rId1"/>
            </p:custDataLst>
          </p:nvPr>
        </p:nvSpPr>
        <p:spPr>
          <a:xfrm>
            <a:off x="739124" y="2703089"/>
            <a:ext cx="5721050" cy="2542836"/>
          </a:xfrm>
          <a:prstGeom prst="roundRect">
            <a:avLst/>
          </a:prstGeom>
          <a:noFill/>
        </p:spPr>
        <p:txBody>
          <a:bodyPr lIns="0" tIns="0" rIns="0" bIns="0">
            <a:noAutofit/>
          </a:bodyPr>
          <a:lstStyle/>
          <a:p>
            <a:pPr indent="457200">
              <a:lnSpc>
                <a:spcPct val="150000"/>
              </a:lnSpc>
            </a:pPr>
            <a:r>
              <a:rPr lang="zh-CN" altLang="en-US" sz="2400" dirty="0" smtClean="0">
                <a:solidFill>
                  <a:schemeClr val="bg1"/>
                </a:solidFill>
              </a:rPr>
              <a:t>  功能点技术依据对软件信息域特性和软件复杂性的评估结果，估算软件规模。这种方法以功能点为单位来度量软件的规模。</a:t>
            </a:r>
          </a:p>
        </p:txBody>
      </p:sp>
      <p:pic>
        <p:nvPicPr>
          <p:cNvPr id="5" name="图片 4" descr="u=1964387185,742777218&amp;fm=21&amp;gp=0.jpg"/>
          <p:cNvPicPr>
            <a:picLocks noChangeAspect="1"/>
          </p:cNvPicPr>
          <p:nvPr/>
        </p:nvPicPr>
        <p:blipFill>
          <a:blip r:embed="rId4" cstate="print"/>
          <a:stretch>
            <a:fillRect/>
          </a:stretch>
        </p:blipFill>
        <p:spPr>
          <a:xfrm>
            <a:off x="6962094" y="2649649"/>
            <a:ext cx="3963205" cy="2716215"/>
          </a:xfrm>
          <a:prstGeom prst="plaque">
            <a:avLst/>
          </a:prstGeom>
        </p:spPr>
      </p:pic>
    </p:spTree>
  </p:cSld>
  <p:clrMapOvr>
    <a:masterClrMapping/>
  </p:clrMapOvr>
  <p:transition>
    <p:wipe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10.2 </a:t>
            </a:r>
            <a:r>
              <a:rPr lang="zh-CN" altLang="en-US" dirty="0" smtClean="0">
                <a:solidFill>
                  <a:srgbClr val="FF0000"/>
                </a:solidFill>
                <a:sym typeface="+mn-ea"/>
              </a:rPr>
              <a:t>软件规模估算</a:t>
            </a:r>
            <a:r>
              <a:rPr lang="zh-CN" altLang="en-US" dirty="0">
                <a:solidFill>
                  <a:srgbClr val="FF0000"/>
                </a:solidFill>
              </a:rPr>
              <a:t/>
            </a:r>
            <a:br>
              <a:rPr lang="zh-CN" altLang="en-US" dirty="0">
                <a:solidFill>
                  <a:srgbClr val="FF0000"/>
                </a:solidFill>
              </a:rPr>
            </a:br>
            <a:endParaRPr lang="zh-CN" altLang="en-US" dirty="0">
              <a:solidFill>
                <a:srgbClr val="FF0000"/>
              </a:solidFill>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sym typeface="+mn-ea"/>
              </a:rPr>
              <a:t>10.2.3  功能点技术</a:t>
            </a:r>
            <a:endParaRPr sz="2400" dirty="0" smtClean="0">
              <a:solidFill>
                <a:schemeClr val="tx1"/>
              </a:solidFill>
            </a:endParaRPr>
          </a:p>
        </p:txBody>
      </p:sp>
      <p:grpSp>
        <p:nvGrpSpPr>
          <p:cNvPr id="4" name="组合 3"/>
          <p:cNvGrpSpPr/>
          <p:nvPr/>
        </p:nvGrpSpPr>
        <p:grpSpPr>
          <a:xfrm>
            <a:off x="1039319" y="3069630"/>
            <a:ext cx="4716746" cy="937260"/>
            <a:chOff x="1188" y="3092"/>
            <a:chExt cx="6974" cy="1476"/>
          </a:xfrm>
        </p:grpSpPr>
        <p:grpSp>
          <p:nvGrpSpPr>
            <p:cNvPr id="28" name="组合 27"/>
            <p:cNvGrpSpPr/>
            <p:nvPr/>
          </p:nvGrpSpPr>
          <p:grpSpPr>
            <a:xfrm>
              <a:off x="1188" y="3092"/>
              <a:ext cx="6974" cy="930"/>
              <a:chOff x="508000" y="3196191"/>
              <a:chExt cx="4428470" cy="59055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1</a:t>
                </a: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nvSpPr>
            <p:spPr bwMode="auto">
              <a:xfrm>
                <a:off x="960505" y="3291441"/>
                <a:ext cx="3975965"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输入项数（Inp）</a:t>
                </a:r>
              </a:p>
            </p:txBody>
          </p:sp>
        </p:grpSp>
        <p:sp>
          <p:nvSpPr>
            <p:cNvPr id="35" name="矩形 34"/>
            <p:cNvSpPr>
              <a:spLocks noChangeArrowheads="1"/>
            </p:cNvSpPr>
            <p:nvPr/>
          </p:nvSpPr>
          <p:spPr bwMode="auto">
            <a:xfrm>
              <a:off x="1893" y="3848"/>
              <a:ext cx="5200" cy="7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用户向软件输入的项目数。</a:t>
              </a:r>
            </a:p>
          </p:txBody>
        </p:sp>
      </p:grpSp>
      <p:grpSp>
        <p:nvGrpSpPr>
          <p:cNvPr id="36" name="组合 35"/>
          <p:cNvGrpSpPr/>
          <p:nvPr/>
        </p:nvGrpSpPr>
        <p:grpSpPr>
          <a:xfrm>
            <a:off x="1027444" y="4017075"/>
            <a:ext cx="5448354" cy="1303020"/>
            <a:chOff x="1188" y="3092"/>
            <a:chExt cx="8056" cy="2052"/>
          </a:xfrm>
        </p:grpSpPr>
        <p:grpSp>
          <p:nvGrpSpPr>
            <p:cNvPr id="37" name="组合 36"/>
            <p:cNvGrpSpPr/>
            <p:nvPr/>
          </p:nvGrpSpPr>
          <p:grpSpPr>
            <a:xfrm>
              <a:off x="1188" y="3092"/>
              <a:ext cx="7741" cy="930"/>
              <a:chOff x="508000" y="3196191"/>
              <a:chExt cx="4915730" cy="590550"/>
            </a:xfrm>
          </p:grpSpPr>
          <p:sp>
            <p:nvSpPr>
              <p:cNvPr id="3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2</a:t>
                </a:r>
              </a:p>
            </p:txBody>
          </p:sp>
          <p:cxnSp>
            <p:nvCxnSpPr>
              <p:cNvPr id="39" name="直接连接符 3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960521" y="3291441"/>
                <a:ext cx="4463209"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输出项数（Out）</a:t>
                </a:r>
              </a:p>
            </p:txBody>
          </p:sp>
        </p:grpSp>
        <p:sp>
          <p:nvSpPr>
            <p:cNvPr id="41" name="矩形 40"/>
            <p:cNvSpPr>
              <a:spLocks noChangeArrowheads="1"/>
            </p:cNvSpPr>
            <p:nvPr/>
          </p:nvSpPr>
          <p:spPr bwMode="auto">
            <a:xfrm>
              <a:off x="1893" y="3848"/>
              <a:ext cx="7351"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软件向用户输出的项目数。例如，报表、屏幕、出错信息等。报表内的数据项个数不单独计算。</a:t>
              </a:r>
            </a:p>
          </p:txBody>
        </p:sp>
      </p:grpSp>
      <p:grpSp>
        <p:nvGrpSpPr>
          <p:cNvPr id="2" name="组合 1"/>
          <p:cNvGrpSpPr/>
          <p:nvPr/>
        </p:nvGrpSpPr>
        <p:grpSpPr>
          <a:xfrm>
            <a:off x="1039319" y="5214899"/>
            <a:ext cx="5775206" cy="941705"/>
            <a:chOff x="1188" y="3092"/>
            <a:chExt cx="8539" cy="1483"/>
          </a:xfrm>
        </p:grpSpPr>
        <p:grpSp>
          <p:nvGrpSpPr>
            <p:cNvPr id="5" name="组合 4"/>
            <p:cNvGrpSpPr/>
            <p:nvPr/>
          </p:nvGrpSpPr>
          <p:grpSpPr>
            <a:xfrm>
              <a:off x="1188" y="3092"/>
              <a:ext cx="6974" cy="930"/>
              <a:chOff x="508000" y="3196191"/>
              <a:chExt cx="4428470" cy="590550"/>
            </a:xfrm>
          </p:grpSpPr>
          <p:sp>
            <p:nvSpPr>
              <p:cNvPr id="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3</a:t>
                </a:r>
              </a:p>
            </p:txBody>
          </p:sp>
          <p:cxnSp>
            <p:nvCxnSpPr>
              <p:cNvPr id="9" name="直接连接符 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960505" y="3291441"/>
                <a:ext cx="3975965"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查询数（Inq）</a:t>
                </a:r>
              </a:p>
            </p:txBody>
          </p:sp>
        </p:grpSp>
        <p:sp>
          <p:nvSpPr>
            <p:cNvPr id="11" name="矩形 10"/>
            <p:cNvSpPr>
              <a:spLocks noChangeArrowheads="1"/>
            </p:cNvSpPr>
            <p:nvPr/>
          </p:nvSpPr>
          <p:spPr bwMode="auto">
            <a:xfrm>
              <a:off x="1893" y="3848"/>
              <a:ext cx="7834" cy="7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查询是一次输入，它导致软件产生某种即时响应。</a:t>
              </a:r>
            </a:p>
          </p:txBody>
        </p:sp>
      </p:grpSp>
      <p:grpSp>
        <p:nvGrpSpPr>
          <p:cNvPr id="12" name="组合 11"/>
          <p:cNvGrpSpPr/>
          <p:nvPr/>
        </p:nvGrpSpPr>
        <p:grpSpPr>
          <a:xfrm>
            <a:off x="6395095" y="3069630"/>
            <a:ext cx="5100226" cy="1303020"/>
            <a:chOff x="1188" y="3092"/>
            <a:chExt cx="7541" cy="2052"/>
          </a:xfrm>
        </p:grpSpPr>
        <p:grpSp>
          <p:nvGrpSpPr>
            <p:cNvPr id="13" name="组合 12"/>
            <p:cNvGrpSpPr/>
            <p:nvPr/>
          </p:nvGrpSpPr>
          <p:grpSpPr>
            <a:xfrm>
              <a:off x="1188" y="3092"/>
              <a:ext cx="6974" cy="930"/>
              <a:chOff x="508000" y="3196191"/>
              <a:chExt cx="4428470" cy="590550"/>
            </a:xfrm>
          </p:grpSpPr>
          <p:sp>
            <p:nvSpPr>
              <p:cNvPr id="14"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4</a:t>
                </a:r>
              </a:p>
            </p:txBody>
          </p:sp>
          <p:cxnSp>
            <p:nvCxnSpPr>
              <p:cNvPr id="15" name="直接连接符 14"/>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6" name="矩形 15"/>
              <p:cNvSpPr>
                <a:spLocks noChangeArrowheads="1"/>
              </p:cNvSpPr>
              <p:nvPr/>
            </p:nvSpPr>
            <p:spPr bwMode="auto">
              <a:xfrm>
                <a:off x="960505" y="3291441"/>
                <a:ext cx="3975965"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主文件数（Maf）</a:t>
                </a:r>
              </a:p>
            </p:txBody>
          </p:sp>
        </p:grpSp>
        <p:sp>
          <p:nvSpPr>
            <p:cNvPr id="17" name="矩形 16"/>
            <p:cNvSpPr>
              <a:spLocks noChangeArrowheads="1"/>
            </p:cNvSpPr>
            <p:nvPr/>
          </p:nvSpPr>
          <p:spPr bwMode="auto">
            <a:xfrm>
              <a:off x="1893" y="3848"/>
              <a:ext cx="6836"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主文件是数据的一个逻辑组合，它可能是大型数据库的一部分或一个独立的文件。</a:t>
              </a:r>
            </a:p>
          </p:txBody>
        </p:sp>
      </p:grpSp>
      <p:grpSp>
        <p:nvGrpSpPr>
          <p:cNvPr id="18" name="组合 17"/>
          <p:cNvGrpSpPr/>
          <p:nvPr/>
        </p:nvGrpSpPr>
        <p:grpSpPr>
          <a:xfrm>
            <a:off x="6395095" y="4517430"/>
            <a:ext cx="5365349" cy="937260"/>
            <a:chOff x="1188" y="3092"/>
            <a:chExt cx="7933" cy="1476"/>
          </a:xfrm>
        </p:grpSpPr>
        <p:grpSp>
          <p:nvGrpSpPr>
            <p:cNvPr id="19" name="组合 18"/>
            <p:cNvGrpSpPr/>
            <p:nvPr/>
          </p:nvGrpSpPr>
          <p:grpSpPr>
            <a:xfrm>
              <a:off x="1188" y="3092"/>
              <a:ext cx="6974" cy="930"/>
              <a:chOff x="508000" y="3196191"/>
              <a:chExt cx="4428470" cy="590550"/>
            </a:xfrm>
          </p:grpSpPr>
          <p:sp>
            <p:nvSpPr>
              <p:cNvPr id="20"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5</a:t>
                </a:r>
              </a:p>
            </p:txBody>
          </p:sp>
          <p:cxnSp>
            <p:nvCxnSpPr>
              <p:cNvPr id="21" name="直接连接符 20"/>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2" name="矩形 21"/>
              <p:cNvSpPr>
                <a:spLocks noChangeArrowheads="1"/>
              </p:cNvSpPr>
              <p:nvPr/>
            </p:nvSpPr>
            <p:spPr bwMode="auto">
              <a:xfrm>
                <a:off x="960505" y="3291441"/>
                <a:ext cx="3975965"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外部接口数（Inf）</a:t>
                </a:r>
              </a:p>
            </p:txBody>
          </p:sp>
        </p:grpSp>
        <p:sp>
          <p:nvSpPr>
            <p:cNvPr id="23" name="矩形 22"/>
            <p:cNvSpPr>
              <a:spLocks noChangeArrowheads="1"/>
            </p:cNvSpPr>
            <p:nvPr/>
          </p:nvSpPr>
          <p:spPr bwMode="auto">
            <a:xfrm>
              <a:off x="1893" y="3848"/>
              <a:ext cx="7228" cy="7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系统利用外部接口向其他系统传送信息。</a:t>
              </a:r>
            </a:p>
          </p:txBody>
        </p:sp>
      </p:grpSp>
      <p:sp>
        <p:nvSpPr>
          <p:cNvPr id="25" name="文本框 24"/>
          <p:cNvSpPr txBox="1"/>
          <p:nvPr/>
        </p:nvSpPr>
        <p:spPr>
          <a:xfrm>
            <a:off x="3419302" y="2130070"/>
            <a:ext cx="7696002" cy="1006429"/>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smtClean="0">
                <a:latin typeface="微软雅黑" panose="020B0503020204020204" charset="-122"/>
                <a:ea typeface="微软雅黑" panose="020B0503020204020204" charset="-122"/>
                <a:sym typeface="+mn-ea"/>
              </a:rPr>
              <a:t>  </a:t>
            </a:r>
            <a:r>
              <a:rPr dirty="0" smtClean="0">
                <a:latin typeface="微软雅黑" panose="020B0503020204020204" charset="-122"/>
                <a:ea typeface="微软雅黑" panose="020B0503020204020204" charset="-122"/>
                <a:sym typeface="+mn-ea"/>
              </a:rPr>
              <a:t>功能点技术定义了信息域的</a:t>
            </a:r>
            <a:r>
              <a:rPr dirty="0">
                <a:latin typeface="微软雅黑" panose="020B0503020204020204" charset="-122"/>
                <a:ea typeface="微软雅黑" panose="020B0503020204020204" charset="-122"/>
                <a:sym typeface="+mn-ea"/>
              </a:rPr>
              <a:t>5个特性，每个特性按照不同复杂等级和不同的技术复杂性分配不同的功能点系数，</a:t>
            </a:r>
            <a:r>
              <a:rPr dirty="0" smtClean="0">
                <a:latin typeface="微软雅黑" panose="020B0503020204020204" charset="-122"/>
                <a:ea typeface="微软雅黑" panose="020B0503020204020204" charset="-122"/>
                <a:sym typeface="+mn-ea"/>
              </a:rPr>
              <a:t>由此计算出软件的功能点数</a:t>
            </a:r>
            <a:r>
              <a:rPr lang="zh-CN" altLang="en-US" dirty="0" smtClean="0">
                <a:latin typeface="微软雅黑" panose="020B0503020204020204" charset="-122"/>
                <a:ea typeface="微软雅黑" panose="020B0503020204020204" charset="-122"/>
                <a:sym typeface="+mn-ea"/>
              </a:rPr>
              <a:t>来</a:t>
            </a:r>
            <a:r>
              <a:rPr dirty="0" smtClean="0">
                <a:latin typeface="微软雅黑" panose="020B0503020204020204" charset="-122"/>
                <a:ea typeface="微软雅黑" panose="020B0503020204020204" charset="-122"/>
                <a:sym typeface="+mn-ea"/>
              </a:rPr>
              <a:t>度量软件的规模</a:t>
            </a:r>
            <a:r>
              <a:rPr dirty="0">
                <a:latin typeface="微软雅黑" panose="020B0503020204020204" charset="-122"/>
                <a:ea typeface="微软雅黑" panose="020B0503020204020204" charset="-122"/>
                <a:sym typeface="+mn-ea"/>
              </a:rPr>
              <a:t>。</a:t>
            </a:r>
          </a:p>
        </p:txBody>
      </p:sp>
      <p:sp>
        <p:nvSpPr>
          <p:cNvPr id="42" name="TextBox 6"/>
          <p:cNvSpPr txBox="1"/>
          <p:nvPr/>
        </p:nvSpPr>
        <p:spPr>
          <a:xfrm>
            <a:off x="824415" y="2137631"/>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1</a:t>
            </a:r>
            <a:r>
              <a:rPr lang="zh-CN" altLang="en-US" sz="2400" dirty="0" smtClean="0"/>
              <a:t>．信息域特性</a:t>
            </a:r>
          </a:p>
        </p:txBody>
      </p:sp>
    </p:spTree>
  </p:cSld>
  <p:clrMapOvr>
    <a:masterClrMapping/>
  </p:clrMapOvr>
  <p:transition>
    <p:wipe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10.2 </a:t>
            </a:r>
            <a:r>
              <a:rPr lang="zh-CN" altLang="en-US" dirty="0" smtClean="0">
                <a:solidFill>
                  <a:srgbClr val="FF0000"/>
                </a:solidFill>
                <a:sym typeface="+mn-ea"/>
              </a:rPr>
              <a:t>软件规模估算</a:t>
            </a:r>
            <a:r>
              <a:rPr lang="zh-CN" altLang="en-US" dirty="0">
                <a:solidFill>
                  <a:srgbClr val="FF0000"/>
                </a:solidFill>
              </a:rPr>
              <a:t/>
            </a:r>
            <a:br>
              <a:rPr lang="zh-CN" altLang="en-US" dirty="0">
                <a:solidFill>
                  <a:srgbClr val="FF0000"/>
                </a:solidFill>
              </a:rPr>
            </a:br>
            <a:endParaRPr lang="zh-CN" altLang="en-US"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sym typeface="+mn-ea"/>
              </a:rPr>
              <a:t>10.2.3  </a:t>
            </a:r>
            <a:r>
              <a:rPr lang="zh-CN" altLang="en-US" sz="2400" dirty="0" smtClean="0">
                <a:solidFill>
                  <a:schemeClr val="tx1"/>
                </a:solidFill>
                <a:sym typeface="+mn-ea"/>
              </a:rPr>
              <a:t>功能点技术</a:t>
            </a:r>
            <a:endParaRPr lang="zh-CN" altLang="en-US" sz="2400" dirty="0" smtClean="0">
              <a:solidFill>
                <a:schemeClr val="tx1"/>
              </a:solidFill>
            </a:endParaRPr>
          </a:p>
        </p:txBody>
      </p:sp>
      <p:grpSp>
        <p:nvGrpSpPr>
          <p:cNvPr id="4" name="组合 3"/>
          <p:cNvGrpSpPr/>
          <p:nvPr/>
        </p:nvGrpSpPr>
        <p:grpSpPr>
          <a:xfrm>
            <a:off x="769620" y="2260305"/>
            <a:ext cx="11437620" cy="3808095"/>
            <a:chOff x="1188" y="2742"/>
            <a:chExt cx="18012" cy="5997"/>
          </a:xfrm>
        </p:grpSpPr>
        <p:grpSp>
          <p:nvGrpSpPr>
            <p:cNvPr id="5" name="组合 15"/>
            <p:cNvGrpSpPr/>
            <p:nvPr/>
          </p:nvGrpSpPr>
          <p:grpSpPr>
            <a:xfrm flipH="1">
              <a:off x="10152" y="2742"/>
              <a:ext cx="9048" cy="1533"/>
              <a:chOff x="1" y="3428100"/>
              <a:chExt cx="5745603" cy="973302"/>
            </a:xfrm>
          </p:grpSpPr>
          <p:sp>
            <p:nvSpPr>
              <p:cNvPr id="7" name="MH_SubTitle_2"/>
              <p:cNvSpPr/>
              <p:nvPr>
                <p:custDataLst>
                  <p:tags r:id="rId3"/>
                </p:custDataLst>
              </p:nvPr>
            </p:nvSpPr>
            <p:spPr>
              <a:xfrm>
                <a:off x="1501900" y="3551342"/>
                <a:ext cx="424370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dirty="0" smtClean="0"/>
                  <a:t>计算未调整的功能点数</a:t>
                </a:r>
                <a:r>
                  <a:rPr lang="en-US" sz="2400" dirty="0" smtClean="0"/>
                  <a:t>UFP</a:t>
                </a:r>
                <a:endPar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endParaRPr>
              </a:p>
            </p:txBody>
          </p:sp>
          <p:sp>
            <p:nvSpPr>
              <p:cNvPr id="8" name="MH_Other_5"/>
              <p:cNvSpPr/>
              <p:nvPr>
                <p:custDataLst>
                  <p:tags r:id="rId4"/>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a:t>
                </a:r>
                <a:r>
                  <a:rPr lang="en-US" sz="3200" dirty="0" smtClean="0">
                    <a:solidFill>
                      <a:srgbClr val="FFFFFF"/>
                    </a:solidFill>
                    <a:latin typeface="Impact" panose="020B0806030902050204" pitchFamily="34" charset="0"/>
                    <a:ea typeface="微软雅黑" panose="020B0503020204020204" charset="-122"/>
                  </a:rPr>
                  <a:t>1</a:t>
                </a:r>
                <a:endParaRPr lang="en-US" sz="3200" dirty="0">
                  <a:solidFill>
                    <a:srgbClr val="FFFFFF"/>
                  </a:solidFill>
                  <a:latin typeface="Impact" panose="020B0806030902050204" pitchFamily="34" charset="0"/>
                  <a:ea typeface="微软雅黑" panose="020B0503020204020204" charset="-122"/>
                </a:endParaRPr>
              </a:p>
            </p:txBody>
          </p:sp>
          <p:sp>
            <p:nvSpPr>
              <p:cNvPr id="9" name="MH_Other_6"/>
              <p:cNvSpPr/>
              <p:nvPr>
                <p:custDataLst>
                  <p:tags r:id="rId5"/>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6" name="MH_Desc_1"/>
            <p:cNvSpPr/>
            <p:nvPr>
              <p:custDataLst>
                <p:tags r:id="rId2"/>
              </p:custDataLst>
            </p:nvPr>
          </p:nvSpPr>
          <p:spPr>
            <a:xfrm>
              <a:off x="1188" y="3261"/>
              <a:ext cx="9108" cy="5478"/>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endParaRPr lang="en-US" altLang="zh-CN" dirty="0" smtClean="0">
                <a:solidFill>
                  <a:schemeClr val="tx1"/>
                </a:solidFill>
                <a:latin typeface="微软雅黑" panose="020B0503020204020204" charset="-122"/>
                <a:ea typeface="微软雅黑" panose="020B0503020204020204" charset="-122"/>
                <a:sym typeface="+mn-ea"/>
              </a:endParaRPr>
            </a:p>
            <a:p>
              <a:pPr indent="457200">
                <a:lnSpc>
                  <a:spcPct val="120000"/>
                </a:lnSpc>
              </a:pPr>
              <a:r>
                <a:rPr lang="zh-CN" altLang="en-US" dirty="0" smtClean="0">
                  <a:solidFill>
                    <a:schemeClr val="tx1"/>
                  </a:solidFill>
                  <a:latin typeface="微软雅黑" panose="020B0503020204020204" charset="-122"/>
                  <a:ea typeface="微软雅黑" panose="020B0503020204020204" charset="-122"/>
                  <a:sym typeface="+mn-ea"/>
                </a:rPr>
                <a:t>首先，把每个信息域特性都分成</a:t>
              </a:r>
              <a:r>
                <a:rPr lang="en-US" altLang="zh-CN" dirty="0" smtClean="0">
                  <a:solidFill>
                    <a:schemeClr val="tx1"/>
                  </a:solidFill>
                  <a:latin typeface="微软雅黑" panose="020B0503020204020204" charset="-122"/>
                  <a:ea typeface="微软雅黑" panose="020B0503020204020204" charset="-122"/>
                  <a:sym typeface="+mn-ea"/>
                </a:rPr>
                <a:t>3</a:t>
              </a:r>
              <a:r>
                <a:rPr lang="zh-CN" altLang="en-US" dirty="0" smtClean="0">
                  <a:solidFill>
                    <a:schemeClr val="tx1"/>
                  </a:solidFill>
                  <a:latin typeface="微软雅黑" panose="020B0503020204020204" charset="-122"/>
                  <a:ea typeface="微软雅黑" panose="020B0503020204020204" charset="-122"/>
                  <a:sym typeface="+mn-ea"/>
                </a:rPr>
                <a:t>个等级：简单级、平均级和复杂级。根据不同的等级，为每个特性分配一个功能点系数。</a:t>
              </a:r>
            </a:p>
            <a:p>
              <a:pPr indent="457200">
                <a:lnSpc>
                  <a:spcPct val="120000"/>
                </a:lnSpc>
              </a:pPr>
              <a:r>
                <a:rPr lang="zh-CN" altLang="en-US" dirty="0" smtClean="0">
                  <a:solidFill>
                    <a:schemeClr val="tx1"/>
                  </a:solidFill>
                  <a:latin typeface="微软雅黑" panose="020B0503020204020204" charset="-122"/>
                  <a:ea typeface="微软雅黑" panose="020B0503020204020204" charset="-122"/>
                  <a:sym typeface="+mn-ea"/>
                </a:rPr>
                <a:t>假设，一个平均级的输入按</a:t>
              </a:r>
              <a:r>
                <a:rPr lang="en-US" altLang="zh-CN" dirty="0" smtClean="0">
                  <a:solidFill>
                    <a:schemeClr val="tx1"/>
                  </a:solidFill>
                  <a:latin typeface="微软雅黑" panose="020B0503020204020204" charset="-122"/>
                  <a:ea typeface="微软雅黑" panose="020B0503020204020204" charset="-122"/>
                  <a:sym typeface="+mn-ea"/>
                </a:rPr>
                <a:t>4</a:t>
              </a:r>
              <a:r>
                <a:rPr lang="zh-CN" altLang="en-US" dirty="0" smtClean="0">
                  <a:solidFill>
                    <a:schemeClr val="tx1"/>
                  </a:solidFill>
                  <a:latin typeface="微软雅黑" panose="020B0503020204020204" charset="-122"/>
                  <a:ea typeface="微软雅黑" panose="020B0503020204020204" charset="-122"/>
                  <a:sym typeface="+mn-ea"/>
                </a:rPr>
                <a:t>个功能点计算，一个简单级的输入项是</a:t>
              </a:r>
              <a:r>
                <a:rPr lang="en-US" altLang="zh-CN" dirty="0" smtClean="0">
                  <a:solidFill>
                    <a:schemeClr val="tx1"/>
                  </a:solidFill>
                  <a:latin typeface="微软雅黑" panose="020B0503020204020204" charset="-122"/>
                  <a:ea typeface="微软雅黑" panose="020B0503020204020204" charset="-122"/>
                  <a:sym typeface="+mn-ea"/>
                </a:rPr>
                <a:t>3</a:t>
              </a:r>
              <a:r>
                <a:rPr lang="zh-CN" altLang="en-US" dirty="0" smtClean="0">
                  <a:solidFill>
                    <a:schemeClr val="tx1"/>
                  </a:solidFill>
                  <a:latin typeface="微软雅黑" panose="020B0503020204020204" charset="-122"/>
                  <a:ea typeface="微软雅黑" panose="020B0503020204020204" charset="-122"/>
                  <a:sym typeface="+mn-ea"/>
                </a:rPr>
                <a:t>个功能点，一个复杂级的输入项是</a:t>
              </a:r>
              <a:r>
                <a:rPr lang="en-US" altLang="zh-CN" dirty="0" smtClean="0">
                  <a:solidFill>
                    <a:schemeClr val="tx1"/>
                  </a:solidFill>
                  <a:latin typeface="微软雅黑" panose="020B0503020204020204" charset="-122"/>
                  <a:ea typeface="微软雅黑" panose="020B0503020204020204" charset="-122"/>
                  <a:sym typeface="+mn-ea"/>
                </a:rPr>
                <a:t>6</a:t>
              </a:r>
              <a:r>
                <a:rPr lang="zh-CN" altLang="en-US" dirty="0" smtClean="0">
                  <a:solidFill>
                    <a:schemeClr val="tx1"/>
                  </a:solidFill>
                  <a:latin typeface="微软雅黑" panose="020B0503020204020204" charset="-122"/>
                  <a:ea typeface="微软雅黑" panose="020B0503020204020204" charset="-122"/>
                  <a:sym typeface="+mn-ea"/>
                </a:rPr>
                <a:t>个功能点，如表</a:t>
              </a:r>
              <a:r>
                <a:rPr lang="en-US" altLang="zh-CN" dirty="0" smtClean="0">
                  <a:solidFill>
                    <a:schemeClr val="tx1"/>
                  </a:solidFill>
                  <a:latin typeface="微软雅黑" panose="020B0503020204020204" charset="-122"/>
                  <a:ea typeface="微软雅黑" panose="020B0503020204020204" charset="-122"/>
                  <a:sym typeface="+mn-ea"/>
                </a:rPr>
                <a:t>10-1</a:t>
              </a:r>
              <a:r>
                <a:rPr lang="zh-CN" altLang="en-US" dirty="0" smtClean="0">
                  <a:solidFill>
                    <a:schemeClr val="tx1"/>
                  </a:solidFill>
                  <a:latin typeface="微软雅黑" panose="020B0503020204020204" charset="-122"/>
                  <a:ea typeface="微软雅黑" panose="020B0503020204020204" charset="-122"/>
                  <a:sym typeface="+mn-ea"/>
                </a:rPr>
                <a:t>所示。</a:t>
              </a:r>
              <a:endParaRPr lang="en-US" altLang="zh-CN" dirty="0" smtClean="0">
                <a:solidFill>
                  <a:schemeClr val="tx1"/>
                </a:solidFill>
                <a:latin typeface="微软雅黑" panose="020B0503020204020204" charset="-122"/>
                <a:ea typeface="微软雅黑" panose="020B0503020204020204" charset="-122"/>
                <a:sym typeface="+mn-ea"/>
              </a:endParaRPr>
            </a:p>
            <a:p>
              <a:pPr indent="457200">
                <a:lnSpc>
                  <a:spcPct val="120000"/>
                </a:lnSpc>
              </a:pPr>
              <a:r>
                <a:rPr lang="zh-CN" altLang="en-US" dirty="0" smtClean="0">
                  <a:solidFill>
                    <a:schemeClr val="tx1"/>
                  </a:solidFill>
                  <a:latin typeface="微软雅黑" panose="020B0503020204020204" charset="-122"/>
                  <a:ea typeface="微软雅黑" panose="020B0503020204020204" charset="-122"/>
                  <a:sym typeface="+mn-ea"/>
                </a:rPr>
                <a:t>然后，用下式计算未调整的功能点数</a:t>
              </a:r>
              <a:r>
                <a:rPr lang="en-US" altLang="zh-CN" dirty="0" smtClean="0">
                  <a:solidFill>
                    <a:schemeClr val="tx1"/>
                  </a:solidFill>
                  <a:latin typeface="微软雅黑" panose="020B0503020204020204" charset="-122"/>
                  <a:ea typeface="微软雅黑" panose="020B0503020204020204" charset="-122"/>
                  <a:sym typeface="+mn-ea"/>
                </a:rPr>
                <a:t>UFP</a:t>
              </a:r>
              <a:r>
                <a:rPr lang="zh-CN" altLang="en-US" dirty="0" smtClean="0">
                  <a:solidFill>
                    <a:schemeClr val="tx1"/>
                  </a:solidFill>
                  <a:latin typeface="微软雅黑" panose="020B0503020204020204" charset="-122"/>
                  <a:ea typeface="微软雅黑" panose="020B0503020204020204" charset="-122"/>
                  <a:sym typeface="+mn-ea"/>
                </a:rPr>
                <a:t>：</a:t>
              </a:r>
              <a:endParaRPr lang="en-US" altLang="zh-CN" dirty="0" smtClean="0">
                <a:solidFill>
                  <a:schemeClr val="tx1"/>
                </a:solidFill>
                <a:latin typeface="微软雅黑" panose="020B0503020204020204" charset="-122"/>
                <a:ea typeface="微软雅黑" panose="020B0503020204020204" charset="-122"/>
                <a:sym typeface="+mn-ea"/>
              </a:endParaRPr>
            </a:p>
            <a:p>
              <a:pPr indent="457200">
                <a:lnSpc>
                  <a:spcPct val="120000"/>
                </a:lnSpc>
              </a:pPr>
              <a:endParaRPr lang="zh-CN" altLang="en-US" dirty="0" smtClean="0">
                <a:solidFill>
                  <a:schemeClr val="tx1"/>
                </a:solidFill>
                <a:latin typeface="微软雅黑" panose="020B0503020204020204" charset="-122"/>
                <a:ea typeface="微软雅黑" panose="020B0503020204020204" charset="-122"/>
                <a:sym typeface="+mn-ea"/>
              </a:endParaRPr>
            </a:p>
            <a:p>
              <a:pPr indent="457200">
                <a:lnSpc>
                  <a:spcPct val="120000"/>
                </a:lnSpc>
              </a:pPr>
              <a:r>
                <a:rPr lang="zh-CN" altLang="en-US" dirty="0" smtClean="0">
                  <a:solidFill>
                    <a:schemeClr val="tx1"/>
                  </a:solidFill>
                  <a:latin typeface="微软雅黑" panose="020B0503020204020204" charset="-122"/>
                  <a:ea typeface="微软雅黑" panose="020B0503020204020204" charset="-122"/>
                  <a:sym typeface="+mn-ea"/>
                </a:rPr>
                <a:t>其中，  （</a:t>
              </a:r>
              <a:r>
                <a:rPr lang="en-US" altLang="zh-CN" dirty="0" smtClean="0">
                  <a:solidFill>
                    <a:schemeClr val="tx1"/>
                  </a:solidFill>
                  <a:latin typeface="微软雅黑" panose="020B0503020204020204" charset="-122"/>
                  <a:ea typeface="微软雅黑" panose="020B0503020204020204" charset="-122"/>
                  <a:sym typeface="+mn-ea"/>
                </a:rPr>
                <a:t>1≤i≤5</a:t>
              </a:r>
              <a:r>
                <a:rPr lang="zh-CN" altLang="en-US" dirty="0" smtClean="0">
                  <a:solidFill>
                    <a:schemeClr val="tx1"/>
                  </a:solidFill>
                  <a:latin typeface="微软雅黑" panose="020B0503020204020204" charset="-122"/>
                  <a:ea typeface="微软雅黑" panose="020B0503020204020204" charset="-122"/>
                  <a:sym typeface="+mn-ea"/>
                </a:rPr>
                <a:t>）是信息域特性系数，其值由相应特性的复杂级别决定。</a:t>
              </a:r>
            </a:p>
            <a:p>
              <a:pPr indent="457200">
                <a:lnSpc>
                  <a:spcPct val="120000"/>
                </a:lnSpc>
              </a:pPr>
              <a:endParaRPr lang="zh-CN" altLang="en-US" dirty="0" smtClean="0">
                <a:solidFill>
                  <a:schemeClr val="tx1"/>
                </a:solidFill>
                <a:latin typeface="微软雅黑" panose="020B0503020204020204" charset="-122"/>
                <a:ea typeface="微软雅黑" panose="020B0503020204020204" charset="-122"/>
                <a:sym typeface="+mn-ea"/>
              </a:endParaRPr>
            </a:p>
          </p:txBody>
        </p:sp>
      </p:grpSp>
      <p:sp>
        <p:nvSpPr>
          <p:cNvPr id="10242"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241" name="对象 249"/>
          <p:cNvGraphicFramePr>
            <a:graphicFrameLocks noChangeAspect="1"/>
          </p:cNvGraphicFramePr>
          <p:nvPr/>
        </p:nvGraphicFramePr>
        <p:xfrm>
          <a:off x="1371600" y="4985650"/>
          <a:ext cx="4998720" cy="333248"/>
        </p:xfrm>
        <a:graphic>
          <a:graphicData uri="http://schemas.openxmlformats.org/presentationml/2006/ole">
            <p:oleObj spid="_x0000_s10241" r:id="rId8" imgW="2994601" imgH="203024" progId="Equation.DSMT4">
              <p:embed/>
            </p:oleObj>
          </a:graphicData>
        </a:graphic>
      </p:graphicFrame>
      <p:graphicFrame>
        <p:nvGraphicFramePr>
          <p:cNvPr id="13" name="表格 12"/>
          <p:cNvGraphicFramePr>
            <a:graphicFrameLocks noGrp="1"/>
          </p:cNvGraphicFramePr>
          <p:nvPr/>
        </p:nvGraphicFramePr>
        <p:xfrm>
          <a:off x="6736080" y="3329318"/>
          <a:ext cx="5105400" cy="2606358"/>
        </p:xfrm>
        <a:graphic>
          <a:graphicData uri="http://schemas.openxmlformats.org/drawingml/2006/table">
            <a:tbl>
              <a:tblPr/>
              <a:tblGrid>
                <a:gridCol w="2292820"/>
                <a:gridCol w="962023"/>
                <a:gridCol w="851272"/>
                <a:gridCol w="999285"/>
              </a:tblGrid>
              <a:tr h="977383">
                <a:tc>
                  <a:txBody>
                    <a:bodyPr/>
                    <a:lstStyle/>
                    <a:p>
                      <a:pPr indent="266700" algn="just">
                        <a:spcAft>
                          <a:spcPts val="0"/>
                        </a:spcAft>
                      </a:pPr>
                      <a:r>
                        <a:rPr lang="en-US" sz="1400" kern="500" dirty="0">
                          <a:latin typeface="Times New Roman"/>
                          <a:ea typeface="宋体"/>
                        </a:rPr>
                        <a:t>               </a:t>
                      </a:r>
                      <a:r>
                        <a:rPr lang="zh-CN" sz="1400" kern="500" dirty="0">
                          <a:latin typeface="Times New Roman"/>
                          <a:ea typeface="宋体"/>
                        </a:rPr>
                        <a:t>复杂类别</a:t>
                      </a:r>
                    </a:p>
                    <a:p>
                      <a:pPr indent="266700" algn="just">
                        <a:spcAft>
                          <a:spcPts val="0"/>
                        </a:spcAft>
                      </a:pPr>
                      <a:r>
                        <a:rPr lang="zh-CN" sz="1400" kern="500" dirty="0">
                          <a:latin typeface="Times New Roman"/>
                          <a:ea typeface="宋体"/>
                        </a:rPr>
                        <a:t>特性系数</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solidFill>
                      <a:srgbClr val="FADCE9"/>
                    </a:solidFill>
                  </a:tcPr>
                </a:tc>
                <a:tc>
                  <a:txBody>
                    <a:bodyPr/>
                    <a:lstStyle/>
                    <a:p>
                      <a:pPr indent="266700" algn="ctr">
                        <a:spcAft>
                          <a:spcPts val="0"/>
                        </a:spcAft>
                      </a:pPr>
                      <a:r>
                        <a:rPr lang="zh-CN" sz="1400" kern="500" dirty="0">
                          <a:latin typeface="Times New Roman"/>
                          <a:ea typeface="宋体"/>
                        </a:rPr>
                        <a:t>简单</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indent="266700" algn="ctr">
                        <a:spcAft>
                          <a:spcPts val="0"/>
                        </a:spcAft>
                      </a:pPr>
                      <a:r>
                        <a:rPr lang="zh-CN" sz="1400" kern="500" dirty="0">
                          <a:latin typeface="Times New Roman"/>
                          <a:ea typeface="宋体"/>
                        </a:rPr>
                        <a:t>平均</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indent="266700" algn="ctr">
                        <a:spcAft>
                          <a:spcPts val="0"/>
                        </a:spcAft>
                      </a:pPr>
                      <a:r>
                        <a:rPr lang="zh-CN" sz="1400" kern="500">
                          <a:latin typeface="Times New Roman"/>
                          <a:ea typeface="宋体"/>
                        </a:rPr>
                        <a:t>复杂</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r>
              <a:tr h="325795">
                <a:tc>
                  <a:txBody>
                    <a:bodyPr/>
                    <a:lstStyle/>
                    <a:p>
                      <a:pPr indent="285750" algn="just">
                        <a:spcAft>
                          <a:spcPts val="0"/>
                        </a:spcAft>
                      </a:pPr>
                      <a:r>
                        <a:rPr lang="zh-CN" sz="1400" kern="500">
                          <a:latin typeface="Times New Roman"/>
                          <a:ea typeface="宋体"/>
                        </a:rPr>
                        <a:t>输入项系数</a:t>
                      </a:r>
                      <a:r>
                        <a:rPr lang="en-US" sz="1400" i="1" kern="500">
                          <a:latin typeface="Times New Roman"/>
                          <a:ea typeface="宋体"/>
                        </a:rPr>
                        <a:t>a</a:t>
                      </a:r>
                      <a:r>
                        <a:rPr lang="en-US" sz="1400" kern="500" baseline="-25000">
                          <a:latin typeface="Times New Roman"/>
                          <a:ea typeface="宋体"/>
                        </a:rPr>
                        <a:t>1</a:t>
                      </a:r>
                      <a:endParaRPr lang="zh-CN" sz="14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400" kern="500" dirty="0">
                          <a:latin typeface="Times New Roman"/>
                          <a:ea typeface="宋体"/>
                        </a:rPr>
                        <a:t>3</a:t>
                      </a:r>
                      <a:endParaRPr lang="zh-CN" sz="1400" kern="5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400" kern="500" dirty="0">
                          <a:latin typeface="Times New Roman"/>
                          <a:ea typeface="宋体"/>
                        </a:rPr>
                        <a:t>4</a:t>
                      </a:r>
                      <a:endParaRPr lang="zh-CN" sz="1400" kern="5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400" kern="500">
                          <a:latin typeface="Times New Roman"/>
                          <a:ea typeface="宋体"/>
                        </a:rPr>
                        <a:t>6</a:t>
                      </a:r>
                      <a:endParaRPr lang="zh-CN" sz="14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5795">
                <a:tc>
                  <a:txBody>
                    <a:bodyPr/>
                    <a:lstStyle/>
                    <a:p>
                      <a:pPr indent="285750" algn="just">
                        <a:spcAft>
                          <a:spcPts val="0"/>
                        </a:spcAft>
                      </a:pPr>
                      <a:r>
                        <a:rPr lang="zh-CN" sz="1400" kern="500">
                          <a:latin typeface="Times New Roman"/>
                          <a:ea typeface="宋体"/>
                        </a:rPr>
                        <a:t>输出项系数</a:t>
                      </a:r>
                      <a:r>
                        <a:rPr lang="en-US" sz="1400" i="1" kern="500">
                          <a:latin typeface="Times New Roman"/>
                          <a:ea typeface="宋体"/>
                        </a:rPr>
                        <a:t>a</a:t>
                      </a:r>
                      <a:r>
                        <a:rPr lang="en-US" sz="1400" kern="500" baseline="-25000">
                          <a:latin typeface="Times New Roman"/>
                          <a:ea typeface="宋体"/>
                        </a:rPr>
                        <a:t>2</a:t>
                      </a:r>
                      <a:endParaRPr lang="zh-CN" sz="14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400" kern="500">
                          <a:latin typeface="Times New Roman"/>
                          <a:ea typeface="宋体"/>
                        </a:rPr>
                        <a:t>4</a:t>
                      </a:r>
                      <a:endParaRPr lang="zh-CN" sz="14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400" kern="500">
                          <a:latin typeface="Times New Roman"/>
                          <a:ea typeface="宋体"/>
                        </a:rPr>
                        <a:t>5</a:t>
                      </a:r>
                      <a:endParaRPr lang="zh-CN" sz="14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400" kern="500">
                          <a:latin typeface="Times New Roman"/>
                          <a:ea typeface="宋体"/>
                        </a:rPr>
                        <a:t>7</a:t>
                      </a:r>
                      <a:endParaRPr lang="zh-CN" sz="14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5795">
                <a:tc>
                  <a:txBody>
                    <a:bodyPr/>
                    <a:lstStyle/>
                    <a:p>
                      <a:pPr indent="285750" algn="just">
                        <a:spcAft>
                          <a:spcPts val="0"/>
                        </a:spcAft>
                      </a:pPr>
                      <a:r>
                        <a:rPr lang="zh-CN" sz="1400" kern="500">
                          <a:latin typeface="Times New Roman"/>
                          <a:ea typeface="宋体"/>
                        </a:rPr>
                        <a:t>查询系数</a:t>
                      </a:r>
                      <a:r>
                        <a:rPr lang="en-US" sz="1400" i="1" kern="500">
                          <a:latin typeface="Times New Roman"/>
                          <a:ea typeface="宋体"/>
                        </a:rPr>
                        <a:t>a</a:t>
                      </a:r>
                      <a:r>
                        <a:rPr lang="en-US" sz="1400" kern="500" baseline="-25000">
                          <a:latin typeface="Times New Roman"/>
                          <a:ea typeface="宋体"/>
                        </a:rPr>
                        <a:t>3</a:t>
                      </a:r>
                      <a:endParaRPr lang="zh-CN" sz="14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400" kern="500">
                          <a:latin typeface="Times New Roman"/>
                          <a:ea typeface="宋体"/>
                        </a:rPr>
                        <a:t>3</a:t>
                      </a:r>
                      <a:endParaRPr lang="zh-CN" sz="14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400" kern="500">
                          <a:latin typeface="Times New Roman"/>
                          <a:ea typeface="宋体"/>
                        </a:rPr>
                        <a:t>4</a:t>
                      </a:r>
                      <a:endParaRPr lang="zh-CN" sz="14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400" kern="500">
                          <a:latin typeface="Times New Roman"/>
                          <a:ea typeface="宋体"/>
                        </a:rPr>
                        <a:t>6</a:t>
                      </a:r>
                      <a:endParaRPr lang="zh-CN" sz="14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5795">
                <a:tc>
                  <a:txBody>
                    <a:bodyPr/>
                    <a:lstStyle/>
                    <a:p>
                      <a:pPr indent="285750" algn="just">
                        <a:spcAft>
                          <a:spcPts val="0"/>
                        </a:spcAft>
                      </a:pPr>
                      <a:r>
                        <a:rPr lang="zh-CN" sz="1400" kern="500">
                          <a:latin typeface="Times New Roman"/>
                          <a:ea typeface="宋体"/>
                        </a:rPr>
                        <a:t>文件系数</a:t>
                      </a:r>
                      <a:r>
                        <a:rPr lang="en-US" sz="1400" i="1" kern="500">
                          <a:latin typeface="Times New Roman"/>
                          <a:ea typeface="宋体"/>
                        </a:rPr>
                        <a:t>a</a:t>
                      </a:r>
                      <a:r>
                        <a:rPr lang="en-US" sz="1400" kern="500" baseline="-25000">
                          <a:latin typeface="Times New Roman"/>
                          <a:ea typeface="宋体"/>
                        </a:rPr>
                        <a:t>4</a:t>
                      </a:r>
                      <a:endParaRPr lang="zh-CN" sz="14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400" kern="500">
                          <a:latin typeface="Times New Roman"/>
                          <a:ea typeface="宋体"/>
                        </a:rPr>
                        <a:t>7</a:t>
                      </a:r>
                      <a:endParaRPr lang="zh-CN" sz="14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400" kern="500">
                          <a:latin typeface="Times New Roman"/>
                          <a:ea typeface="宋体"/>
                        </a:rPr>
                        <a:t>10</a:t>
                      </a:r>
                      <a:endParaRPr lang="zh-CN" sz="14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400" kern="500">
                          <a:latin typeface="Times New Roman"/>
                          <a:ea typeface="宋体"/>
                        </a:rPr>
                        <a:t>15</a:t>
                      </a:r>
                      <a:endParaRPr lang="zh-CN" sz="14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5795">
                <a:tc>
                  <a:txBody>
                    <a:bodyPr/>
                    <a:lstStyle/>
                    <a:p>
                      <a:pPr indent="285750" algn="just">
                        <a:spcAft>
                          <a:spcPts val="0"/>
                        </a:spcAft>
                      </a:pPr>
                      <a:r>
                        <a:rPr lang="zh-CN" sz="1400" kern="500">
                          <a:latin typeface="Times New Roman"/>
                          <a:ea typeface="宋体"/>
                        </a:rPr>
                        <a:t>接口系数</a:t>
                      </a:r>
                      <a:r>
                        <a:rPr lang="en-US" sz="1400" i="1" kern="500">
                          <a:latin typeface="Times New Roman"/>
                          <a:ea typeface="宋体"/>
                        </a:rPr>
                        <a:t>a</a:t>
                      </a:r>
                      <a:r>
                        <a:rPr lang="en-US" sz="1400" kern="500" baseline="-25000">
                          <a:latin typeface="Times New Roman"/>
                          <a:ea typeface="宋体"/>
                        </a:rPr>
                        <a:t>5</a:t>
                      </a:r>
                      <a:endParaRPr lang="zh-CN" sz="14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400" kern="500">
                          <a:latin typeface="Times New Roman"/>
                          <a:ea typeface="宋体"/>
                        </a:rPr>
                        <a:t>5</a:t>
                      </a:r>
                      <a:endParaRPr lang="zh-CN" sz="14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400" kern="500">
                          <a:latin typeface="Times New Roman"/>
                          <a:ea typeface="宋体"/>
                        </a:rPr>
                        <a:t>7</a:t>
                      </a:r>
                      <a:endParaRPr lang="zh-CN" sz="14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400" kern="500" dirty="0">
                          <a:latin typeface="Times New Roman"/>
                          <a:ea typeface="宋体"/>
                        </a:rPr>
                        <a:t>10</a:t>
                      </a:r>
                      <a:endParaRPr lang="zh-CN" sz="1400" kern="5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0244"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243" name="对象 250"/>
          <p:cNvGraphicFramePr>
            <a:graphicFrameLocks noChangeAspect="1"/>
          </p:cNvGraphicFramePr>
          <p:nvPr/>
        </p:nvGraphicFramePr>
        <p:xfrm>
          <a:off x="1828800" y="5280355"/>
          <a:ext cx="304800" cy="350520"/>
        </p:xfrm>
        <a:graphic>
          <a:graphicData uri="http://schemas.openxmlformats.org/presentationml/2006/ole">
            <p:oleObj spid="_x0000_s10243" r:id="rId9" imgW="139579" imgH="203024" progId="Equation.DSMT4">
              <p:embed/>
            </p:oleObj>
          </a:graphicData>
        </a:graphic>
      </p:graphicFrame>
      <p:sp>
        <p:nvSpPr>
          <p:cNvPr id="15" name="TextBox 6"/>
          <p:cNvSpPr txBox="1"/>
          <p:nvPr/>
        </p:nvSpPr>
        <p:spPr>
          <a:xfrm>
            <a:off x="705662" y="1959502"/>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2</a:t>
            </a:r>
            <a:r>
              <a:rPr lang="zh-CN" altLang="en-US" sz="2400" dirty="0" smtClean="0"/>
              <a:t>．估算功能点的步骤</a:t>
            </a:r>
          </a:p>
        </p:txBody>
      </p:sp>
    </p:spTree>
  </p:cSld>
  <p:clrMapOvr>
    <a:masterClrMapping/>
  </p:clrMapOvr>
  <p:transition>
    <p:wipe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10.2 </a:t>
            </a:r>
            <a:r>
              <a:rPr lang="zh-CN" altLang="en-US" dirty="0" smtClean="0">
                <a:solidFill>
                  <a:srgbClr val="FF0000"/>
                </a:solidFill>
                <a:sym typeface="+mn-ea"/>
              </a:rPr>
              <a:t>软件规模估算</a:t>
            </a:r>
            <a:r>
              <a:rPr lang="zh-CN" altLang="en-US" dirty="0">
                <a:solidFill>
                  <a:srgbClr val="FF0000"/>
                </a:solidFill>
              </a:rPr>
              <a:t/>
            </a:r>
            <a:br>
              <a:rPr lang="zh-CN" altLang="en-US" dirty="0">
                <a:solidFill>
                  <a:srgbClr val="FF0000"/>
                </a:solidFill>
              </a:rPr>
            </a:br>
            <a:endParaRPr lang="zh-CN" altLang="en-US"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sym typeface="+mn-ea"/>
              </a:rPr>
              <a:t>10.2.3  </a:t>
            </a:r>
            <a:r>
              <a:rPr lang="zh-CN" altLang="en-US" sz="2400" dirty="0" smtClean="0">
                <a:solidFill>
                  <a:schemeClr val="tx1"/>
                </a:solidFill>
                <a:sym typeface="+mn-ea"/>
              </a:rPr>
              <a:t>功能点技术</a:t>
            </a:r>
            <a:endParaRPr lang="zh-CN" altLang="en-US" sz="2400" dirty="0" smtClean="0">
              <a:solidFill>
                <a:schemeClr val="tx1"/>
              </a:solidFill>
            </a:endParaRPr>
          </a:p>
        </p:txBody>
      </p:sp>
      <p:grpSp>
        <p:nvGrpSpPr>
          <p:cNvPr id="4" name="组合 3"/>
          <p:cNvGrpSpPr/>
          <p:nvPr/>
        </p:nvGrpSpPr>
        <p:grpSpPr>
          <a:xfrm>
            <a:off x="15240" y="2698750"/>
            <a:ext cx="12026265" cy="3043555"/>
            <a:chOff x="0" y="2130426"/>
            <a:chExt cx="21645385" cy="3649762"/>
          </a:xfrm>
        </p:grpSpPr>
        <p:sp>
          <p:nvSpPr>
            <p:cNvPr id="5" name="MH_Other_1"/>
            <p:cNvSpPr/>
            <p:nvPr>
              <p:custDataLst>
                <p:tags r:id="rId4"/>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6" name="MH_Other_2"/>
            <p:cNvSpPr/>
            <p:nvPr>
              <p:custDataLst>
                <p:tags r:id="rId5"/>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3"/>
            <p:cNvSpPr/>
            <p:nvPr>
              <p:custDataLst>
                <p:tags r:id="rId6"/>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8" name="MH_Other_4"/>
            <p:cNvSpPr>
              <a:spLocks noChangeArrowheads="1"/>
            </p:cNvSpPr>
            <p:nvPr>
              <p:custDataLst>
                <p:tags r:id="rId7"/>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9" name="MH_Other_5"/>
            <p:cNvSpPr>
              <a:spLocks noChangeArrowheads="1"/>
            </p:cNvSpPr>
            <p:nvPr>
              <p:custDataLst>
                <p:tags r:id="rId8"/>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0" name="MH_Other_6"/>
            <p:cNvSpPr>
              <a:spLocks noChangeArrowheads="1"/>
            </p:cNvSpPr>
            <p:nvPr>
              <p:custDataLst>
                <p:tags r:id="rId9"/>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7"/>
            <p:cNvSpPr/>
            <p:nvPr>
              <p:custDataLst>
                <p:tags r:id="rId10"/>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Text_1"/>
            <p:cNvSpPr/>
            <p:nvPr>
              <p:custDataLst>
                <p:tags r:id="rId11"/>
              </p:custDataLst>
            </p:nvPr>
          </p:nvSpPr>
          <p:spPr bwMode="auto">
            <a:xfrm>
              <a:off x="7402564" y="2512688"/>
              <a:ext cx="13383360" cy="2796146"/>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zh-CN" altLang="en-US" dirty="0" smtClean="0">
                  <a:solidFill>
                    <a:schemeClr val="tx1"/>
                  </a:solidFill>
                  <a:latin typeface="微软雅黑" panose="020B0503020204020204" charset="-122"/>
                  <a:ea typeface="微软雅黑" panose="020B0503020204020204" charset="-122"/>
                </a:rPr>
                <a:t>先对软件工程的</a:t>
              </a:r>
              <a:r>
                <a:rPr lang="en-US" altLang="zh-CN" dirty="0" smtClean="0">
                  <a:solidFill>
                    <a:schemeClr val="tx1"/>
                  </a:solidFill>
                  <a:latin typeface="微软雅黑" panose="020B0503020204020204" charset="-122"/>
                  <a:ea typeface="微软雅黑" panose="020B0503020204020204" charset="-122"/>
                </a:rPr>
                <a:t>14</a:t>
              </a:r>
              <a:r>
                <a:rPr lang="zh-CN" altLang="en-US" dirty="0" smtClean="0">
                  <a:solidFill>
                    <a:schemeClr val="tx1"/>
                  </a:solidFill>
                  <a:latin typeface="微软雅黑" panose="020B0503020204020204" charset="-122"/>
                  <a:ea typeface="微软雅黑" panose="020B0503020204020204" charset="-122"/>
                </a:rPr>
                <a:t>种主要技术因素，按照项目的工作情况，分别考虑它们可能会对软件规模大小产生的不同影响。为了度量这</a:t>
              </a:r>
              <a:r>
                <a:rPr lang="en-US" altLang="zh-CN" dirty="0" smtClean="0">
                  <a:solidFill>
                    <a:schemeClr val="tx1"/>
                  </a:solidFill>
                  <a:latin typeface="微软雅黑" panose="020B0503020204020204" charset="-122"/>
                  <a:ea typeface="微软雅黑" panose="020B0503020204020204" charset="-122"/>
                </a:rPr>
                <a:t>14</a:t>
              </a:r>
              <a:r>
                <a:rPr lang="zh-CN" altLang="en-US" dirty="0" smtClean="0">
                  <a:solidFill>
                    <a:schemeClr val="tx1"/>
                  </a:solidFill>
                  <a:latin typeface="微软雅黑" panose="020B0503020204020204" charset="-122"/>
                  <a:ea typeface="微软雅黑" panose="020B0503020204020204" charset="-122"/>
                </a:rPr>
                <a:t>种技术因子，为每种技术因子分配一个从</a:t>
              </a:r>
              <a:r>
                <a:rPr lang="en-US" altLang="zh-CN" dirty="0" smtClean="0">
                  <a:solidFill>
                    <a:schemeClr val="tx1"/>
                  </a:solidFill>
                  <a:latin typeface="微软雅黑" panose="020B0503020204020204" charset="-122"/>
                  <a:ea typeface="微软雅黑" panose="020B0503020204020204" charset="-122"/>
                </a:rPr>
                <a:t>0</a:t>
              </a:r>
              <a:r>
                <a:rPr lang="zh-CN" altLang="en-US" dirty="0" smtClean="0">
                  <a:solidFill>
                    <a:schemeClr val="tx1"/>
                  </a:solidFill>
                  <a:latin typeface="微软雅黑" panose="020B0503020204020204" charset="-122"/>
                  <a:ea typeface="微软雅黑" panose="020B0503020204020204" charset="-122"/>
                </a:rPr>
                <a:t>到</a:t>
              </a:r>
              <a:r>
                <a:rPr lang="en-US" altLang="zh-CN" dirty="0" smtClean="0">
                  <a:solidFill>
                    <a:schemeClr val="tx1"/>
                  </a:solidFill>
                  <a:latin typeface="微软雅黑" panose="020B0503020204020204" charset="-122"/>
                  <a:ea typeface="微软雅黑" panose="020B0503020204020204" charset="-122"/>
                </a:rPr>
                <a:t>5</a:t>
              </a:r>
              <a:r>
                <a:rPr lang="zh-CN" altLang="en-US" dirty="0" smtClean="0">
                  <a:solidFill>
                    <a:schemeClr val="tx1"/>
                  </a:solidFill>
                  <a:latin typeface="微软雅黑" panose="020B0503020204020204" charset="-122"/>
                  <a:ea typeface="微软雅黑" panose="020B0503020204020204" charset="-122"/>
                </a:rPr>
                <a:t>的值。</a:t>
              </a:r>
              <a:r>
                <a:rPr lang="en-US" altLang="zh-CN" dirty="0" smtClean="0">
                  <a:solidFill>
                    <a:schemeClr val="tx1"/>
                  </a:solidFill>
                  <a:latin typeface="微软雅黑" panose="020B0503020204020204" charset="-122"/>
                  <a:ea typeface="微软雅黑" panose="020B0503020204020204" charset="-122"/>
                </a:rPr>
                <a:t>0</a:t>
              </a:r>
              <a:r>
                <a:rPr lang="zh-CN" altLang="en-US" dirty="0" smtClean="0">
                  <a:solidFill>
                    <a:schemeClr val="tx1"/>
                  </a:solidFill>
                  <a:latin typeface="微软雅黑" panose="020B0503020204020204" charset="-122"/>
                  <a:ea typeface="微软雅黑" panose="020B0503020204020204" charset="-122"/>
                </a:rPr>
                <a:t>表示不存在或对软件规模没有影响，</a:t>
              </a:r>
              <a:r>
                <a:rPr lang="en-US" altLang="zh-CN" dirty="0" smtClean="0">
                  <a:solidFill>
                    <a:schemeClr val="tx1"/>
                  </a:solidFill>
                  <a:latin typeface="微软雅黑" panose="020B0503020204020204" charset="-122"/>
                  <a:ea typeface="微软雅黑" panose="020B0503020204020204" charset="-122"/>
                </a:rPr>
                <a:t>5</a:t>
              </a:r>
              <a:r>
                <a:rPr lang="zh-CN" altLang="en-US" dirty="0" smtClean="0">
                  <a:solidFill>
                    <a:schemeClr val="tx1"/>
                  </a:solidFill>
                  <a:latin typeface="微软雅黑" panose="020B0503020204020204" charset="-122"/>
                  <a:ea typeface="微软雅黑" panose="020B0503020204020204" charset="-122"/>
                </a:rPr>
                <a:t>表示对本项目的软件规模有很大影响。</a:t>
              </a:r>
            </a:p>
            <a:p>
              <a:pPr indent="457200">
                <a:lnSpc>
                  <a:spcPct val="130000"/>
                </a:lnSpc>
                <a:defRPr/>
              </a:pPr>
              <a:r>
                <a:rPr lang="zh-CN" altLang="en-US" dirty="0" smtClean="0">
                  <a:solidFill>
                    <a:schemeClr val="tx1"/>
                  </a:solidFill>
                  <a:latin typeface="微软雅黑" panose="020B0503020204020204" charset="-122"/>
                  <a:ea typeface="微软雅黑" panose="020B0503020204020204" charset="-122"/>
                </a:rPr>
                <a:t>表</a:t>
              </a:r>
              <a:r>
                <a:rPr lang="en-US" altLang="zh-CN" dirty="0" smtClean="0">
                  <a:solidFill>
                    <a:schemeClr val="tx1"/>
                  </a:solidFill>
                  <a:latin typeface="微软雅黑" panose="020B0503020204020204" charset="-122"/>
                  <a:ea typeface="微软雅黑" panose="020B0503020204020204" charset="-122"/>
                </a:rPr>
                <a:t>10-2</a:t>
              </a:r>
              <a:r>
                <a:rPr lang="zh-CN" altLang="en-US" dirty="0" smtClean="0">
                  <a:solidFill>
                    <a:schemeClr val="tx1"/>
                  </a:solidFill>
                  <a:latin typeface="微软雅黑" panose="020B0503020204020204" charset="-122"/>
                  <a:ea typeface="微软雅黑" panose="020B0503020204020204" charset="-122"/>
                </a:rPr>
                <a:t>列出了全部</a:t>
              </a:r>
              <a:r>
                <a:rPr lang="en-US" altLang="zh-CN" dirty="0" smtClean="0">
                  <a:solidFill>
                    <a:schemeClr val="tx1"/>
                  </a:solidFill>
                  <a:latin typeface="微软雅黑" panose="020B0503020204020204" charset="-122"/>
                  <a:ea typeface="微软雅黑" panose="020B0503020204020204" charset="-122"/>
                </a:rPr>
                <a:t>14</a:t>
              </a:r>
              <a:r>
                <a:rPr lang="zh-CN" altLang="en-US" dirty="0" smtClean="0">
                  <a:solidFill>
                    <a:schemeClr val="tx1"/>
                  </a:solidFill>
                  <a:latin typeface="微软雅黑" panose="020B0503020204020204" charset="-122"/>
                  <a:ea typeface="微软雅黑" panose="020B0503020204020204" charset="-122"/>
                </a:rPr>
                <a:t>种技术因素，并用</a:t>
              </a:r>
              <a:r>
                <a:rPr lang="en-US" altLang="zh-CN" dirty="0" err="1" smtClean="0">
                  <a:solidFill>
                    <a:schemeClr val="tx1"/>
                  </a:solidFill>
                  <a:latin typeface="微软雅黑" panose="020B0503020204020204" charset="-122"/>
                  <a:ea typeface="微软雅黑" panose="020B0503020204020204" charset="-122"/>
                </a:rPr>
                <a:t>Fi</a:t>
              </a:r>
              <a:r>
                <a:rPr lang="zh-CN" altLang="en-US" dirty="0" smtClean="0">
                  <a:solidFill>
                    <a:schemeClr val="tx1"/>
                  </a:solidFill>
                  <a:latin typeface="微软雅黑" panose="020B0503020204020204" charset="-122"/>
                  <a:ea typeface="微软雅黑" panose="020B0503020204020204" charset="-122"/>
                </a:rPr>
                <a:t>（</a:t>
              </a:r>
              <a:r>
                <a:rPr lang="en-US" altLang="zh-CN" dirty="0" smtClean="0">
                  <a:solidFill>
                    <a:schemeClr val="tx1"/>
                  </a:solidFill>
                  <a:latin typeface="微软雅黑" panose="020B0503020204020204" charset="-122"/>
                  <a:ea typeface="微软雅黑" panose="020B0503020204020204" charset="-122"/>
                </a:rPr>
                <a:t>1≤i≤14</a:t>
              </a:r>
              <a:r>
                <a:rPr lang="zh-CN" altLang="en-US" dirty="0" smtClean="0">
                  <a:solidFill>
                    <a:schemeClr val="tx1"/>
                  </a:solidFill>
                  <a:latin typeface="微软雅黑" panose="020B0503020204020204" charset="-122"/>
                  <a:ea typeface="微软雅黑" panose="020B0503020204020204" charset="-122"/>
                </a:rPr>
                <a:t>）代表这些因素，根据项目的具体情况将各技术因子分配的值填在“技术因子值”栏内。</a:t>
              </a:r>
            </a:p>
          </p:txBody>
        </p:sp>
      </p:grpSp>
      <p:grpSp>
        <p:nvGrpSpPr>
          <p:cNvPr id="18" name="组合 15"/>
          <p:cNvGrpSpPr/>
          <p:nvPr/>
        </p:nvGrpSpPr>
        <p:grpSpPr>
          <a:xfrm flipH="1">
            <a:off x="6446520" y="1732280"/>
            <a:ext cx="5745480" cy="973455"/>
            <a:chOff x="1" y="3428100"/>
            <a:chExt cx="5745603" cy="973302"/>
          </a:xfrm>
        </p:grpSpPr>
        <p:sp>
          <p:nvSpPr>
            <p:cNvPr id="19" name="MH_SubTitle_2"/>
            <p:cNvSpPr/>
            <p:nvPr>
              <p:custDataLst>
                <p:tags r:id="rId1"/>
              </p:custDataLst>
            </p:nvPr>
          </p:nvSpPr>
          <p:spPr>
            <a:xfrm>
              <a:off x="1501900" y="3551342"/>
              <a:ext cx="424370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dirty="0" smtClean="0"/>
                <a:t>计算技术复杂性因子</a:t>
              </a:r>
              <a:r>
                <a:rPr lang="en-US" altLang="zh-CN" sz="2400" dirty="0" smtClean="0"/>
                <a:t>TCF</a:t>
              </a:r>
            </a:p>
          </p:txBody>
        </p:sp>
        <p:sp>
          <p:nvSpPr>
            <p:cNvPr id="20" name="MH_Other_5"/>
            <p:cNvSpPr/>
            <p:nvPr>
              <p:custDataLst>
                <p:tags r:id="rId2"/>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a:t>
              </a:r>
              <a:r>
                <a:rPr lang="en-US" sz="3200" dirty="0" smtClean="0">
                  <a:solidFill>
                    <a:srgbClr val="FFFFFF"/>
                  </a:solidFill>
                  <a:latin typeface="Impact" panose="020B0806030902050204" pitchFamily="34" charset="0"/>
                  <a:ea typeface="微软雅黑" panose="020B0503020204020204" charset="-122"/>
                </a:rPr>
                <a:t>2</a:t>
              </a:r>
              <a:endParaRPr lang="en-US" sz="3200" dirty="0">
                <a:solidFill>
                  <a:srgbClr val="FFFFFF"/>
                </a:solidFill>
                <a:latin typeface="Impact" panose="020B0806030902050204" pitchFamily="34" charset="0"/>
                <a:ea typeface="微软雅黑" panose="020B0503020204020204" charset="-122"/>
              </a:endParaRPr>
            </a:p>
          </p:txBody>
        </p:sp>
        <p:sp>
          <p:nvSpPr>
            <p:cNvPr id="21" name="MH_Other_6"/>
            <p:cNvSpPr/>
            <p:nvPr>
              <p:custDataLst>
                <p:tags r:id="rId3"/>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Tree>
  </p:cSld>
  <p:clrMapOvr>
    <a:masterClrMapping/>
  </p:clrMapOvr>
  <p:transition>
    <p:wipe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10.2 </a:t>
            </a:r>
            <a:r>
              <a:rPr lang="zh-CN" altLang="en-US" dirty="0" smtClean="0">
                <a:solidFill>
                  <a:srgbClr val="FF0000"/>
                </a:solidFill>
                <a:sym typeface="+mn-ea"/>
              </a:rPr>
              <a:t>软件规模估算</a:t>
            </a:r>
            <a:endParaRPr lang="zh-CN" altLang="en-US"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sym typeface="+mn-ea"/>
              </a:rPr>
              <a:t>10.2.3  </a:t>
            </a:r>
            <a:r>
              <a:rPr lang="zh-CN" altLang="en-US" sz="2400" dirty="0" smtClean="0">
                <a:solidFill>
                  <a:schemeClr val="tx1"/>
                </a:solidFill>
                <a:sym typeface="+mn-ea"/>
              </a:rPr>
              <a:t>功能点技术</a:t>
            </a:r>
            <a:endParaRPr lang="zh-CN" altLang="en-US" sz="2400" dirty="0" smtClean="0">
              <a:solidFill>
                <a:schemeClr val="tx1"/>
              </a:solidFill>
            </a:endParaRPr>
          </a:p>
        </p:txBody>
      </p:sp>
      <p:sp>
        <p:nvSpPr>
          <p:cNvPr id="10242"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244"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表格 15"/>
          <p:cNvGraphicFramePr>
            <a:graphicFrameLocks noGrp="1"/>
          </p:cNvGraphicFramePr>
          <p:nvPr/>
        </p:nvGraphicFramePr>
        <p:xfrm>
          <a:off x="1697183" y="1999777"/>
          <a:ext cx="9097488" cy="4386940"/>
        </p:xfrm>
        <a:graphic>
          <a:graphicData uri="http://schemas.openxmlformats.org/drawingml/2006/table">
            <a:tbl>
              <a:tblPr/>
              <a:tblGrid>
                <a:gridCol w="2007215"/>
                <a:gridCol w="3013275"/>
                <a:gridCol w="2110273"/>
                <a:gridCol w="1966725"/>
              </a:tblGrid>
              <a:tr h="487448">
                <a:tc>
                  <a:txBody>
                    <a:bodyPr/>
                    <a:lstStyle/>
                    <a:p>
                      <a:pPr indent="266700" algn="ctr">
                        <a:spcAft>
                          <a:spcPts val="0"/>
                        </a:spcAft>
                      </a:pPr>
                      <a:r>
                        <a:rPr lang="zh-CN" sz="1600" kern="500" dirty="0">
                          <a:latin typeface="Times New Roman"/>
                          <a:ea typeface="宋体"/>
                        </a:rPr>
                        <a:t>序</a:t>
                      </a:r>
                      <a:r>
                        <a:rPr lang="en-US" sz="1600" kern="500" dirty="0">
                          <a:latin typeface="Times New Roman"/>
                          <a:ea typeface="宋体"/>
                        </a:rPr>
                        <a:t>  </a:t>
                      </a:r>
                      <a:r>
                        <a:rPr lang="zh-CN" sz="1600" kern="500" dirty="0">
                          <a:latin typeface="Times New Roman"/>
                          <a:ea typeface="宋体"/>
                        </a:rPr>
                        <a:t>号</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indent="266700" algn="ctr">
                        <a:spcAft>
                          <a:spcPts val="0"/>
                        </a:spcAft>
                      </a:pPr>
                      <a:r>
                        <a:rPr lang="zh-CN" sz="1600" kern="500">
                          <a:latin typeface="Times New Roman"/>
                          <a:ea typeface="宋体"/>
                        </a:rPr>
                        <a:t>技术因素</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indent="266700" algn="ctr">
                        <a:spcAft>
                          <a:spcPts val="0"/>
                        </a:spcAft>
                      </a:pPr>
                      <a:r>
                        <a:rPr lang="en-US" sz="1600" i="1" kern="500" dirty="0" err="1">
                          <a:latin typeface="Times New Roman"/>
                          <a:ea typeface="宋体"/>
                        </a:rPr>
                        <a:t>F</a:t>
                      </a:r>
                      <a:r>
                        <a:rPr lang="en-US" sz="1600" i="1" kern="500" baseline="-25000" dirty="0" err="1">
                          <a:latin typeface="Times New Roman"/>
                          <a:ea typeface="宋体"/>
                        </a:rPr>
                        <a:t>i</a:t>
                      </a:r>
                      <a:endParaRPr lang="zh-CN" sz="1600" kern="5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indent="266700" algn="ctr">
                        <a:spcAft>
                          <a:spcPts val="0"/>
                        </a:spcAft>
                      </a:pPr>
                      <a:r>
                        <a:rPr lang="zh-CN" sz="1600" kern="500">
                          <a:latin typeface="Times New Roman"/>
                          <a:ea typeface="宋体"/>
                        </a:rPr>
                        <a:t>技术因子值</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r>
              <a:tr h="243724">
                <a:tc>
                  <a:txBody>
                    <a:bodyPr/>
                    <a:lstStyle/>
                    <a:p>
                      <a:pPr indent="266700" algn="ctr">
                        <a:spcAft>
                          <a:spcPts val="0"/>
                        </a:spcAft>
                      </a:pPr>
                      <a:r>
                        <a:rPr lang="en-US" sz="1600" kern="500">
                          <a:latin typeface="Times New Roman"/>
                          <a:ea typeface="宋体"/>
                        </a:rPr>
                        <a:t>1</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zh-CN" sz="1600" kern="500">
                          <a:latin typeface="Times New Roman"/>
                          <a:ea typeface="宋体"/>
                        </a:rPr>
                        <a:t>数据通信</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600" i="1" kern="500">
                          <a:latin typeface="Times New Roman"/>
                          <a:ea typeface="宋体"/>
                        </a:rPr>
                        <a:t>F</a:t>
                      </a:r>
                      <a:r>
                        <a:rPr lang="en-US" sz="1600" kern="500" baseline="-25000">
                          <a:latin typeface="Times New Roman"/>
                          <a:ea typeface="宋体"/>
                        </a:rPr>
                        <a:t>1</a:t>
                      </a:r>
                      <a:endParaRPr lang="zh-CN"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7448">
                <a:tc>
                  <a:txBody>
                    <a:bodyPr/>
                    <a:lstStyle/>
                    <a:p>
                      <a:pPr indent="266700" algn="ctr">
                        <a:spcAft>
                          <a:spcPts val="0"/>
                        </a:spcAft>
                      </a:pPr>
                      <a:r>
                        <a:rPr lang="en-US" sz="1600" kern="500">
                          <a:latin typeface="Times New Roman"/>
                          <a:ea typeface="宋体"/>
                        </a:rPr>
                        <a:t>2</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zh-CN" sz="1600" kern="500">
                          <a:latin typeface="Times New Roman"/>
                          <a:ea typeface="宋体"/>
                        </a:rPr>
                        <a:t>分布式数据处理</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600" i="1" kern="500">
                          <a:latin typeface="Times New Roman"/>
                          <a:ea typeface="宋体"/>
                        </a:rPr>
                        <a:t>F</a:t>
                      </a:r>
                      <a:r>
                        <a:rPr lang="en-US" sz="1600" kern="500" baseline="-25000">
                          <a:latin typeface="Times New Roman"/>
                          <a:ea typeface="宋体"/>
                        </a:rPr>
                        <a:t>2</a:t>
                      </a:r>
                      <a:endParaRPr lang="zh-CN"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3724">
                <a:tc>
                  <a:txBody>
                    <a:bodyPr/>
                    <a:lstStyle/>
                    <a:p>
                      <a:pPr indent="266700" algn="ctr">
                        <a:spcAft>
                          <a:spcPts val="0"/>
                        </a:spcAft>
                      </a:pPr>
                      <a:r>
                        <a:rPr lang="en-US" sz="1600" kern="500">
                          <a:latin typeface="Times New Roman"/>
                          <a:ea typeface="宋体"/>
                        </a:rPr>
                        <a:t>3</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zh-CN" sz="1600" kern="500">
                          <a:latin typeface="Times New Roman"/>
                          <a:ea typeface="宋体"/>
                        </a:rPr>
                        <a:t>性能标准</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600" i="1" kern="500">
                          <a:latin typeface="Times New Roman"/>
                          <a:ea typeface="宋体"/>
                        </a:rPr>
                        <a:t>F</a:t>
                      </a:r>
                      <a:r>
                        <a:rPr lang="en-US" sz="1600" kern="500" baseline="-25000">
                          <a:latin typeface="Times New Roman"/>
                          <a:ea typeface="宋体"/>
                        </a:rPr>
                        <a:t>3</a:t>
                      </a:r>
                      <a:endParaRPr lang="zh-CN"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4548">
                <a:tc>
                  <a:txBody>
                    <a:bodyPr/>
                    <a:lstStyle/>
                    <a:p>
                      <a:pPr indent="266700" algn="ctr">
                        <a:spcAft>
                          <a:spcPts val="0"/>
                        </a:spcAft>
                      </a:pPr>
                      <a:r>
                        <a:rPr lang="en-US" sz="1600" kern="500">
                          <a:latin typeface="Times New Roman"/>
                          <a:ea typeface="宋体"/>
                        </a:rPr>
                        <a:t>4</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zh-CN" sz="1600" kern="500">
                          <a:latin typeface="Times New Roman"/>
                          <a:ea typeface="宋体"/>
                        </a:rPr>
                        <a:t>高负荷的硬件</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600" i="1" kern="500">
                          <a:latin typeface="Times New Roman"/>
                          <a:ea typeface="宋体"/>
                        </a:rPr>
                        <a:t>F</a:t>
                      </a:r>
                      <a:r>
                        <a:rPr lang="en-US" sz="1600" kern="500" baseline="-25000">
                          <a:latin typeface="Times New Roman"/>
                          <a:ea typeface="宋体"/>
                        </a:rPr>
                        <a:t>4</a:t>
                      </a:r>
                      <a:endParaRPr lang="zh-CN"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3724">
                <a:tc>
                  <a:txBody>
                    <a:bodyPr/>
                    <a:lstStyle/>
                    <a:p>
                      <a:pPr indent="266700" algn="ctr">
                        <a:spcAft>
                          <a:spcPts val="0"/>
                        </a:spcAft>
                      </a:pPr>
                      <a:r>
                        <a:rPr lang="en-US" sz="1600" kern="500">
                          <a:latin typeface="Times New Roman"/>
                          <a:ea typeface="宋体"/>
                        </a:rPr>
                        <a:t>5</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zh-CN" sz="1600" kern="500">
                          <a:latin typeface="Times New Roman"/>
                          <a:ea typeface="宋体"/>
                        </a:rPr>
                        <a:t>高处理率</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600" i="1" kern="500">
                          <a:latin typeface="Times New Roman"/>
                          <a:ea typeface="宋体"/>
                        </a:rPr>
                        <a:t>F</a:t>
                      </a:r>
                      <a:r>
                        <a:rPr lang="en-US" sz="1600" kern="500" baseline="-25000">
                          <a:latin typeface="Times New Roman"/>
                          <a:ea typeface="宋体"/>
                        </a:rPr>
                        <a:t>5</a:t>
                      </a:r>
                      <a:endParaRPr lang="zh-CN"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4548">
                <a:tc>
                  <a:txBody>
                    <a:bodyPr/>
                    <a:lstStyle/>
                    <a:p>
                      <a:pPr indent="266700" algn="ctr">
                        <a:spcAft>
                          <a:spcPts val="0"/>
                        </a:spcAft>
                      </a:pPr>
                      <a:r>
                        <a:rPr lang="en-US" sz="1600" kern="500">
                          <a:latin typeface="Times New Roman"/>
                          <a:ea typeface="宋体"/>
                        </a:rPr>
                        <a:t>6</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zh-CN" sz="1600" kern="500">
                          <a:latin typeface="Times New Roman"/>
                          <a:ea typeface="宋体"/>
                        </a:rPr>
                        <a:t>联机数据输入</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600" i="1" kern="500">
                          <a:latin typeface="Times New Roman"/>
                          <a:ea typeface="宋体"/>
                        </a:rPr>
                        <a:t>F</a:t>
                      </a:r>
                      <a:r>
                        <a:rPr lang="en-US" sz="1600" kern="500" baseline="-25000">
                          <a:latin typeface="Times New Roman"/>
                          <a:ea typeface="宋体"/>
                        </a:rPr>
                        <a:t>6</a:t>
                      </a:r>
                      <a:endParaRPr lang="zh-CN"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4548">
                <a:tc>
                  <a:txBody>
                    <a:bodyPr/>
                    <a:lstStyle/>
                    <a:p>
                      <a:pPr indent="266700" algn="ctr">
                        <a:spcAft>
                          <a:spcPts val="0"/>
                        </a:spcAft>
                      </a:pPr>
                      <a:r>
                        <a:rPr lang="en-US" sz="1600" kern="500">
                          <a:latin typeface="Times New Roman"/>
                          <a:ea typeface="宋体"/>
                        </a:rPr>
                        <a:t>7</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zh-CN" sz="1600" kern="500">
                          <a:latin typeface="Times New Roman"/>
                          <a:ea typeface="宋体"/>
                        </a:rPr>
                        <a:t>终端用户效率</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600" i="1" kern="500">
                          <a:latin typeface="Times New Roman"/>
                          <a:ea typeface="宋体"/>
                        </a:rPr>
                        <a:t>F</a:t>
                      </a:r>
                      <a:r>
                        <a:rPr lang="en-US" sz="1600" kern="500" baseline="-25000">
                          <a:latin typeface="Times New Roman"/>
                          <a:ea typeface="宋体"/>
                        </a:rPr>
                        <a:t>7</a:t>
                      </a:r>
                      <a:endParaRPr lang="zh-CN"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3724">
                <a:tc>
                  <a:txBody>
                    <a:bodyPr/>
                    <a:lstStyle/>
                    <a:p>
                      <a:pPr indent="266700" algn="ctr">
                        <a:spcAft>
                          <a:spcPts val="0"/>
                        </a:spcAft>
                      </a:pPr>
                      <a:r>
                        <a:rPr lang="en-US" sz="1600" kern="500">
                          <a:latin typeface="Times New Roman"/>
                          <a:ea typeface="宋体"/>
                        </a:rPr>
                        <a:t>8</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zh-CN" sz="1600" kern="500">
                          <a:latin typeface="Times New Roman"/>
                          <a:ea typeface="宋体"/>
                        </a:rPr>
                        <a:t>联机更新</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600" i="1" kern="500">
                          <a:latin typeface="Times New Roman"/>
                          <a:ea typeface="宋体"/>
                        </a:rPr>
                        <a:t>F</a:t>
                      </a:r>
                      <a:r>
                        <a:rPr lang="en-US" sz="1600" kern="500" baseline="-25000">
                          <a:latin typeface="Times New Roman"/>
                          <a:ea typeface="宋体"/>
                        </a:rPr>
                        <a:t>8</a:t>
                      </a:r>
                      <a:endParaRPr lang="zh-CN"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3724">
                <a:tc>
                  <a:txBody>
                    <a:bodyPr/>
                    <a:lstStyle/>
                    <a:p>
                      <a:pPr indent="266700" algn="ctr">
                        <a:spcAft>
                          <a:spcPts val="0"/>
                        </a:spcAft>
                      </a:pPr>
                      <a:r>
                        <a:rPr lang="en-US" sz="1600" kern="500">
                          <a:latin typeface="Times New Roman"/>
                          <a:ea typeface="宋体"/>
                        </a:rPr>
                        <a:t>9</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zh-CN" sz="1600" kern="500">
                          <a:latin typeface="Times New Roman"/>
                          <a:ea typeface="宋体"/>
                        </a:rPr>
                        <a:t>复杂的计算</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600" i="1" kern="500">
                          <a:latin typeface="Times New Roman"/>
                          <a:ea typeface="宋体"/>
                        </a:rPr>
                        <a:t>F</a:t>
                      </a:r>
                      <a:r>
                        <a:rPr lang="en-US" sz="1600" kern="500" baseline="-25000">
                          <a:latin typeface="Times New Roman"/>
                          <a:ea typeface="宋体"/>
                        </a:rPr>
                        <a:t>9</a:t>
                      </a:r>
                      <a:endParaRPr lang="zh-CN"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3724">
                <a:tc>
                  <a:txBody>
                    <a:bodyPr/>
                    <a:lstStyle/>
                    <a:p>
                      <a:pPr indent="266700" algn="ctr">
                        <a:spcAft>
                          <a:spcPts val="0"/>
                        </a:spcAft>
                      </a:pPr>
                      <a:r>
                        <a:rPr lang="en-US" sz="1600" kern="500">
                          <a:latin typeface="Times New Roman"/>
                          <a:ea typeface="宋体"/>
                        </a:rPr>
                        <a:t>10</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zh-CN" sz="1600" kern="500">
                          <a:latin typeface="Times New Roman"/>
                          <a:ea typeface="宋体"/>
                        </a:rPr>
                        <a:t>可重用性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600" i="1" kern="500">
                          <a:latin typeface="Times New Roman"/>
                          <a:ea typeface="宋体"/>
                        </a:rPr>
                        <a:t>F</a:t>
                      </a:r>
                      <a:r>
                        <a:rPr lang="en-US" sz="1600" kern="500" baseline="-25000">
                          <a:latin typeface="Times New Roman"/>
                          <a:ea typeface="宋体"/>
                        </a:rPr>
                        <a:t>10</a:t>
                      </a:r>
                      <a:endParaRPr lang="zh-CN"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3724">
                <a:tc>
                  <a:txBody>
                    <a:bodyPr/>
                    <a:lstStyle/>
                    <a:p>
                      <a:pPr indent="266700" algn="ctr">
                        <a:spcAft>
                          <a:spcPts val="0"/>
                        </a:spcAft>
                      </a:pPr>
                      <a:r>
                        <a:rPr lang="en-US" sz="1600" kern="500">
                          <a:latin typeface="Times New Roman"/>
                          <a:ea typeface="宋体"/>
                        </a:rPr>
                        <a:t>11</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zh-CN" sz="1600" kern="500">
                          <a:latin typeface="Times New Roman"/>
                          <a:ea typeface="宋体"/>
                        </a:rPr>
                        <a:t>安装方便</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600" i="1" kern="500">
                          <a:latin typeface="Times New Roman"/>
                          <a:ea typeface="宋体"/>
                        </a:rPr>
                        <a:t>F</a:t>
                      </a:r>
                      <a:r>
                        <a:rPr lang="en-US" sz="1600" kern="500" baseline="-25000">
                          <a:latin typeface="Times New Roman"/>
                          <a:ea typeface="宋体"/>
                        </a:rPr>
                        <a:t>11</a:t>
                      </a:r>
                      <a:endParaRPr lang="zh-CN"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3724">
                <a:tc>
                  <a:txBody>
                    <a:bodyPr/>
                    <a:lstStyle/>
                    <a:p>
                      <a:pPr indent="266700" algn="ctr">
                        <a:spcAft>
                          <a:spcPts val="0"/>
                        </a:spcAft>
                      </a:pPr>
                      <a:r>
                        <a:rPr lang="en-US" sz="1600" kern="500">
                          <a:latin typeface="Times New Roman"/>
                          <a:ea typeface="宋体"/>
                        </a:rPr>
                        <a:t>12</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zh-CN" sz="1600" kern="500">
                          <a:latin typeface="Times New Roman"/>
                          <a:ea typeface="宋体"/>
                        </a:rPr>
                        <a:t>操作方便</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600" i="1" kern="500">
                          <a:latin typeface="Times New Roman"/>
                          <a:ea typeface="宋体"/>
                        </a:rPr>
                        <a:t>F</a:t>
                      </a:r>
                      <a:r>
                        <a:rPr lang="en-US" sz="1600" kern="500" baseline="-25000">
                          <a:latin typeface="Times New Roman"/>
                          <a:ea typeface="宋体"/>
                        </a:rPr>
                        <a:t>12</a:t>
                      </a:r>
                      <a:endParaRPr lang="zh-CN"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3724">
                <a:tc>
                  <a:txBody>
                    <a:bodyPr/>
                    <a:lstStyle/>
                    <a:p>
                      <a:pPr indent="266700" algn="ctr">
                        <a:spcAft>
                          <a:spcPts val="0"/>
                        </a:spcAft>
                      </a:pPr>
                      <a:r>
                        <a:rPr lang="en-US" sz="1600" kern="500">
                          <a:latin typeface="Times New Roman"/>
                          <a:ea typeface="宋体"/>
                        </a:rPr>
                        <a:t>13</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zh-CN" sz="1600" kern="500">
                          <a:latin typeface="Times New Roman"/>
                          <a:ea typeface="宋体"/>
                        </a:rPr>
                        <a:t>可移植性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600" i="1" kern="500">
                          <a:latin typeface="Times New Roman"/>
                          <a:ea typeface="宋体"/>
                        </a:rPr>
                        <a:t>F</a:t>
                      </a:r>
                      <a:r>
                        <a:rPr lang="en-US" sz="1600" kern="500" baseline="-25000">
                          <a:latin typeface="Times New Roman"/>
                          <a:ea typeface="宋体"/>
                        </a:rPr>
                        <a:t>13</a:t>
                      </a:r>
                      <a:endParaRPr lang="zh-CN"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3724">
                <a:tc>
                  <a:txBody>
                    <a:bodyPr/>
                    <a:lstStyle/>
                    <a:p>
                      <a:pPr indent="266700" algn="ctr">
                        <a:spcAft>
                          <a:spcPts val="0"/>
                        </a:spcAft>
                      </a:pPr>
                      <a:r>
                        <a:rPr lang="en-US" sz="1600" kern="500">
                          <a:latin typeface="Times New Roman"/>
                          <a:ea typeface="宋体"/>
                        </a:rPr>
                        <a:t>14</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zh-CN" sz="1600" kern="500">
                          <a:latin typeface="Times New Roman"/>
                          <a:ea typeface="宋体"/>
                        </a:rPr>
                        <a:t>可维护性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600" i="1" kern="500">
                          <a:latin typeface="Times New Roman"/>
                          <a:ea typeface="宋体"/>
                        </a:rPr>
                        <a:t>F</a:t>
                      </a:r>
                      <a:r>
                        <a:rPr lang="en-US" sz="1600" kern="500" baseline="-25000">
                          <a:latin typeface="Times New Roman"/>
                          <a:ea typeface="宋体"/>
                        </a:rPr>
                        <a:t>14</a:t>
                      </a:r>
                      <a:endParaRPr lang="zh-CN"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078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07879" name="Rectangle 7"/>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矩形 11"/>
          <p:cNvSpPr/>
          <p:nvPr/>
        </p:nvSpPr>
        <p:spPr>
          <a:xfrm>
            <a:off x="5339239" y="1486786"/>
            <a:ext cx="2416046" cy="369332"/>
          </a:xfrm>
          <a:prstGeom prst="rect">
            <a:avLst/>
          </a:prstGeom>
        </p:spPr>
        <p:txBody>
          <a:bodyPr wrap="none">
            <a:spAutoFit/>
          </a:bodyPr>
          <a:lstStyle/>
          <a:p>
            <a:r>
              <a:rPr lang="zh-CN" altLang="en-US" dirty="0" smtClean="0"/>
              <a:t>表</a:t>
            </a:r>
            <a:r>
              <a:rPr lang="en-US" dirty="0" smtClean="0"/>
              <a:t>10-2  14</a:t>
            </a:r>
            <a:r>
              <a:rPr lang="zh-CN" altLang="en-US" dirty="0" smtClean="0"/>
              <a:t>种技术因素</a:t>
            </a:r>
            <a:endParaRPr lang="zh-CN" altLang="en-US" dirty="0"/>
          </a:p>
        </p:txBody>
      </p:sp>
    </p:spTree>
  </p:cSld>
  <p:clrMapOvr>
    <a:masterClrMapping/>
  </p:clrMapOvr>
  <p:transition>
    <p:wipe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54063" y="261258"/>
            <a:ext cx="8415337" cy="855290"/>
          </a:xfrm>
        </p:spPr>
        <p:txBody>
          <a:bodyPr/>
          <a:lstStyle/>
          <a:p>
            <a:r>
              <a:rPr lang="en-US" altLang="zh-CN" dirty="0" smtClean="0">
                <a:solidFill>
                  <a:srgbClr val="FF0000"/>
                </a:solidFill>
                <a:sym typeface="+mn-ea"/>
              </a:rPr>
              <a:t>10.2 </a:t>
            </a:r>
            <a:r>
              <a:rPr lang="zh-CN" altLang="en-US" dirty="0" smtClean="0">
                <a:solidFill>
                  <a:srgbClr val="FF0000"/>
                </a:solidFill>
                <a:sym typeface="+mn-ea"/>
              </a:rPr>
              <a:t>软件规模估算</a:t>
            </a:r>
            <a:endParaRPr lang="zh-CN" altLang="en-US" dirty="0">
              <a:solidFill>
                <a:srgbClr val="FF0000"/>
              </a:solidFill>
            </a:endParaRPr>
          </a:p>
        </p:txBody>
      </p:sp>
      <p:sp>
        <p:nvSpPr>
          <p:cNvPr id="4"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sym typeface="+mn-ea"/>
              </a:rPr>
              <a:t>10.2.3  </a:t>
            </a:r>
            <a:r>
              <a:rPr lang="zh-CN" altLang="en-US" sz="2400" dirty="0" smtClean="0">
                <a:solidFill>
                  <a:schemeClr val="tx1"/>
                </a:solidFill>
                <a:sym typeface="+mn-ea"/>
              </a:rPr>
              <a:t>功能点技术</a:t>
            </a:r>
            <a:endParaRPr lang="zh-CN" altLang="en-US" sz="2400" dirty="0" smtClean="0">
              <a:solidFill>
                <a:schemeClr val="tx1"/>
              </a:solidFill>
            </a:endParaRPr>
          </a:p>
        </p:txBody>
      </p:sp>
      <p:sp>
        <p:nvSpPr>
          <p:cNvPr id="5" name="文本框 99"/>
          <p:cNvSpPr txBox="1"/>
          <p:nvPr/>
        </p:nvSpPr>
        <p:spPr>
          <a:xfrm>
            <a:off x="1927751" y="2623798"/>
            <a:ext cx="8558159" cy="3166824"/>
          </a:xfrm>
          <a:prstGeom prst="roundRect">
            <a:avLst/>
          </a:prstGeom>
          <a:noFill/>
          <a:ln w="9525">
            <a:solidFill>
              <a:schemeClr val="accent2"/>
            </a:solidFill>
            <a:prstDash val="sysDot"/>
          </a:ln>
        </p:spPr>
        <p:txBody>
          <a:bodyPr wrap="square">
            <a:spAutoFit/>
          </a:bodyPr>
          <a:lstStyle/>
          <a:p>
            <a:pPr indent="457200">
              <a:lnSpc>
                <a:spcPct val="150000"/>
              </a:lnSpc>
            </a:pPr>
            <a:r>
              <a:rPr lang="zh-CN" altLang="en-US" sz="2000" dirty="0" smtClean="0">
                <a:latin typeface="微软雅黑" panose="020B0503020204020204" charset="-122"/>
                <a:ea typeface="微软雅黑" panose="020B0503020204020204" charset="-122"/>
                <a:cs typeface="宋体" panose="02010600030101010101" pitchFamily="2" charset="-122"/>
              </a:rPr>
              <a:t>然后，用下式计算技术因素对软件规模的综合影响程度</a:t>
            </a:r>
            <a:r>
              <a:rPr lang="en-US" altLang="zh-CN" sz="2000" dirty="0" smtClean="0">
                <a:latin typeface="微软雅黑" panose="020B0503020204020204" charset="-122"/>
                <a:ea typeface="微软雅黑" panose="020B0503020204020204" charset="-122"/>
                <a:cs typeface="宋体" panose="02010600030101010101" pitchFamily="2" charset="-122"/>
              </a:rPr>
              <a:t>DI</a:t>
            </a:r>
            <a:r>
              <a:rPr lang="zh-CN" altLang="en-US" sz="2000" dirty="0" smtClean="0">
                <a:latin typeface="微软雅黑" panose="020B0503020204020204" charset="-122"/>
                <a:ea typeface="微软雅黑" panose="020B0503020204020204" charset="-122"/>
                <a:cs typeface="宋体" panose="02010600030101010101" pitchFamily="2" charset="-122"/>
              </a:rPr>
              <a:t>：</a:t>
            </a:r>
            <a:endParaRPr lang="en-US" altLang="zh-CN" sz="2000" dirty="0" smtClean="0">
              <a:latin typeface="微软雅黑" panose="020B0503020204020204" charset="-122"/>
              <a:ea typeface="微软雅黑" panose="020B0503020204020204" charset="-122"/>
              <a:cs typeface="宋体" panose="02010600030101010101" pitchFamily="2" charset="-122"/>
            </a:endParaRPr>
          </a:p>
          <a:p>
            <a:pPr indent="457200">
              <a:lnSpc>
                <a:spcPct val="150000"/>
              </a:lnSpc>
            </a:pPr>
            <a:endParaRPr lang="zh-CN" altLang="en-US" sz="2000" dirty="0" smtClean="0">
              <a:latin typeface="微软雅黑" panose="020B0503020204020204" charset="-122"/>
              <a:ea typeface="微软雅黑" panose="020B0503020204020204" charset="-122"/>
              <a:cs typeface="宋体" panose="02010600030101010101" pitchFamily="2" charset="-122"/>
            </a:endParaRPr>
          </a:p>
          <a:p>
            <a:pPr indent="457200">
              <a:lnSpc>
                <a:spcPct val="150000"/>
              </a:lnSpc>
            </a:pPr>
            <a:r>
              <a:rPr lang="zh-CN" altLang="en-US" sz="2000" dirty="0" smtClean="0">
                <a:latin typeface="微软雅黑" panose="020B0503020204020204" charset="-122"/>
                <a:ea typeface="微软雅黑" panose="020B0503020204020204" charset="-122"/>
                <a:cs typeface="宋体" panose="02010600030101010101" pitchFamily="2" charset="-122"/>
              </a:rPr>
              <a:t>技术复杂性因子</a:t>
            </a:r>
            <a:r>
              <a:rPr lang="en-US" altLang="zh-CN" sz="2000" dirty="0" smtClean="0">
                <a:latin typeface="微软雅黑" panose="020B0503020204020204" charset="-122"/>
                <a:ea typeface="微软雅黑" panose="020B0503020204020204" charset="-122"/>
                <a:cs typeface="宋体" panose="02010600030101010101" pitchFamily="2" charset="-122"/>
              </a:rPr>
              <a:t>TCF</a:t>
            </a:r>
            <a:r>
              <a:rPr lang="zh-CN" altLang="en-US" sz="2000" dirty="0" smtClean="0">
                <a:latin typeface="微软雅黑" panose="020B0503020204020204" charset="-122"/>
                <a:ea typeface="微软雅黑" panose="020B0503020204020204" charset="-122"/>
                <a:cs typeface="宋体" panose="02010600030101010101" pitchFamily="2" charset="-122"/>
              </a:rPr>
              <a:t>由下式计算：</a:t>
            </a:r>
            <a:endParaRPr lang="en-US" altLang="zh-CN" sz="2000" dirty="0" smtClean="0">
              <a:latin typeface="微软雅黑" panose="020B0503020204020204" charset="-122"/>
              <a:ea typeface="微软雅黑" panose="020B0503020204020204" charset="-122"/>
              <a:cs typeface="宋体" panose="02010600030101010101" pitchFamily="2" charset="-122"/>
            </a:endParaRPr>
          </a:p>
          <a:p>
            <a:pPr indent="457200">
              <a:lnSpc>
                <a:spcPct val="150000"/>
              </a:lnSpc>
            </a:pPr>
            <a:endParaRPr lang="zh-CN" altLang="en-US" sz="2000" dirty="0" smtClean="0">
              <a:latin typeface="微软雅黑" panose="020B0503020204020204" charset="-122"/>
              <a:ea typeface="微软雅黑" panose="020B0503020204020204" charset="-122"/>
              <a:cs typeface="宋体" panose="02010600030101010101" pitchFamily="2" charset="-122"/>
            </a:endParaRPr>
          </a:p>
          <a:p>
            <a:pPr indent="457200">
              <a:lnSpc>
                <a:spcPct val="150000"/>
              </a:lnSpc>
            </a:pPr>
            <a:r>
              <a:rPr lang="zh-CN" altLang="en-US" sz="2000" dirty="0" smtClean="0">
                <a:latin typeface="微软雅黑" panose="020B0503020204020204" charset="-122"/>
                <a:ea typeface="微软雅黑" panose="020B0503020204020204" charset="-122"/>
                <a:cs typeface="宋体" panose="02010600030101010101" pitchFamily="2" charset="-122"/>
              </a:rPr>
              <a:t>由于</a:t>
            </a:r>
            <a:r>
              <a:rPr lang="en-US" altLang="zh-CN" sz="2000" dirty="0" smtClean="0">
                <a:latin typeface="微软雅黑" panose="020B0503020204020204" charset="-122"/>
                <a:ea typeface="微软雅黑" panose="020B0503020204020204" charset="-122"/>
                <a:cs typeface="宋体" panose="02010600030101010101" pitchFamily="2" charset="-122"/>
              </a:rPr>
              <a:t>DI</a:t>
            </a:r>
            <a:r>
              <a:rPr lang="zh-CN" altLang="en-US" sz="2000" dirty="0" smtClean="0">
                <a:latin typeface="微软雅黑" panose="020B0503020204020204" charset="-122"/>
                <a:ea typeface="微软雅黑" panose="020B0503020204020204" charset="-122"/>
                <a:cs typeface="宋体" panose="02010600030101010101" pitchFamily="2" charset="-122"/>
              </a:rPr>
              <a:t>的值是</a:t>
            </a:r>
            <a:r>
              <a:rPr lang="en-US" altLang="zh-CN" sz="2000" dirty="0" smtClean="0">
                <a:latin typeface="微软雅黑" panose="020B0503020204020204" charset="-122"/>
                <a:ea typeface="微软雅黑" panose="020B0503020204020204" charset="-122"/>
                <a:cs typeface="宋体" panose="02010600030101010101" pitchFamily="2" charset="-122"/>
              </a:rPr>
              <a:t>14</a:t>
            </a:r>
            <a:r>
              <a:rPr lang="zh-CN" altLang="en-US" sz="2000" dirty="0" smtClean="0">
                <a:latin typeface="微软雅黑" panose="020B0503020204020204" charset="-122"/>
                <a:ea typeface="微软雅黑" panose="020B0503020204020204" charset="-122"/>
                <a:cs typeface="宋体" panose="02010600030101010101" pitchFamily="2" charset="-122"/>
              </a:rPr>
              <a:t>种技术因素值之和，因而</a:t>
            </a:r>
            <a:r>
              <a:rPr lang="en-US" altLang="zh-CN" sz="2000" dirty="0" smtClean="0">
                <a:latin typeface="微软雅黑" panose="020B0503020204020204" charset="-122"/>
                <a:ea typeface="微软雅黑" panose="020B0503020204020204" charset="-122"/>
                <a:cs typeface="宋体" panose="02010600030101010101" pitchFamily="2" charset="-122"/>
              </a:rPr>
              <a:t>DI</a:t>
            </a:r>
            <a:r>
              <a:rPr lang="zh-CN" altLang="en-US" sz="2000" dirty="0" smtClean="0">
                <a:latin typeface="微软雅黑" panose="020B0503020204020204" charset="-122"/>
                <a:ea typeface="微软雅黑" panose="020B0503020204020204" charset="-122"/>
                <a:cs typeface="宋体" panose="02010600030101010101" pitchFamily="2" charset="-122"/>
              </a:rPr>
              <a:t>的值在</a:t>
            </a:r>
            <a:r>
              <a:rPr lang="en-US" altLang="zh-CN" sz="2000" dirty="0" smtClean="0">
                <a:latin typeface="微软雅黑" panose="020B0503020204020204" charset="-122"/>
                <a:ea typeface="微软雅黑" panose="020B0503020204020204" charset="-122"/>
                <a:cs typeface="宋体" panose="02010600030101010101" pitchFamily="2" charset="-122"/>
              </a:rPr>
              <a:t>0</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smtClean="0">
                <a:latin typeface="微软雅黑" panose="020B0503020204020204" charset="-122"/>
                <a:ea typeface="微软雅黑" panose="020B0503020204020204" charset="-122"/>
                <a:cs typeface="宋体" panose="02010600030101010101" pitchFamily="2" charset="-122"/>
              </a:rPr>
              <a:t>70</a:t>
            </a:r>
            <a:r>
              <a:rPr lang="zh-CN" altLang="en-US" sz="2000" dirty="0" smtClean="0">
                <a:latin typeface="微软雅黑" panose="020B0503020204020204" charset="-122"/>
                <a:ea typeface="微软雅黑" panose="020B0503020204020204" charset="-122"/>
                <a:cs typeface="宋体" panose="02010600030101010101" pitchFamily="2" charset="-122"/>
              </a:rPr>
              <a:t>之间，</a:t>
            </a:r>
            <a:r>
              <a:rPr lang="en-US" altLang="zh-CN" sz="2000" dirty="0" smtClean="0">
                <a:latin typeface="微软雅黑" panose="020B0503020204020204" charset="-122"/>
                <a:ea typeface="微软雅黑" panose="020B0503020204020204" charset="-122"/>
                <a:cs typeface="宋体" panose="02010600030101010101" pitchFamily="2" charset="-122"/>
              </a:rPr>
              <a:t>TCF</a:t>
            </a:r>
            <a:r>
              <a:rPr lang="zh-CN" altLang="en-US" sz="2000" dirty="0" smtClean="0">
                <a:latin typeface="微软雅黑" panose="020B0503020204020204" charset="-122"/>
                <a:ea typeface="微软雅黑" panose="020B0503020204020204" charset="-122"/>
                <a:cs typeface="宋体" panose="02010600030101010101" pitchFamily="2" charset="-122"/>
              </a:rPr>
              <a:t>的值在</a:t>
            </a:r>
            <a:r>
              <a:rPr lang="en-US" altLang="zh-CN" sz="2000" dirty="0" smtClean="0">
                <a:latin typeface="微软雅黑" panose="020B0503020204020204" charset="-122"/>
                <a:ea typeface="微软雅黑" panose="020B0503020204020204" charset="-122"/>
                <a:cs typeface="宋体" panose="02010600030101010101" pitchFamily="2" charset="-122"/>
              </a:rPr>
              <a:t>0.65</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smtClean="0">
                <a:latin typeface="微软雅黑" panose="020B0503020204020204" charset="-122"/>
                <a:ea typeface="微软雅黑" panose="020B0503020204020204" charset="-122"/>
                <a:cs typeface="宋体" panose="02010600030101010101" pitchFamily="2" charset="-122"/>
              </a:rPr>
              <a:t>1.35</a:t>
            </a:r>
            <a:r>
              <a:rPr lang="zh-CN" altLang="en-US" sz="2000" dirty="0" smtClean="0">
                <a:latin typeface="微软雅黑" panose="020B0503020204020204" charset="-122"/>
                <a:ea typeface="微软雅黑" panose="020B0503020204020204" charset="-122"/>
                <a:cs typeface="宋体" panose="02010600030101010101" pitchFamily="2" charset="-122"/>
              </a:rPr>
              <a:t>之间。</a:t>
            </a:r>
          </a:p>
        </p:txBody>
      </p:sp>
      <p:graphicFrame>
        <p:nvGraphicFramePr>
          <p:cNvPr id="6" name="对象 251"/>
          <p:cNvGraphicFramePr>
            <a:graphicFrameLocks noChangeAspect="1"/>
          </p:cNvGraphicFramePr>
          <p:nvPr/>
        </p:nvGraphicFramePr>
        <p:xfrm>
          <a:off x="5391792" y="3200788"/>
          <a:ext cx="1386840" cy="698593"/>
        </p:xfrm>
        <a:graphic>
          <a:graphicData uri="http://schemas.openxmlformats.org/presentationml/2006/ole">
            <p:oleObj spid="_x0000_s388098" name="Equation" r:id="rId3" imgW="583947" imgH="393529" progId="Equation.DSMT4">
              <p:embed/>
            </p:oleObj>
          </a:graphicData>
        </a:graphic>
      </p:graphicFrame>
      <p:graphicFrame>
        <p:nvGraphicFramePr>
          <p:cNvPr id="7" name="对象 252"/>
          <p:cNvGraphicFramePr>
            <a:graphicFrameLocks noChangeAspect="1"/>
          </p:cNvGraphicFramePr>
          <p:nvPr/>
        </p:nvGraphicFramePr>
        <p:xfrm>
          <a:off x="4683826" y="4242059"/>
          <a:ext cx="2818507" cy="365760"/>
        </p:xfrm>
        <a:graphic>
          <a:graphicData uri="http://schemas.openxmlformats.org/presentationml/2006/ole">
            <p:oleObj spid="_x0000_s388099" r:id="rId4" imgW="1242982" imgH="164885" progId="Equation.DSMT4">
              <p:embed/>
            </p:oleObj>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10.2 </a:t>
            </a:r>
            <a:r>
              <a:rPr lang="zh-CN" altLang="en-US" dirty="0" smtClean="0">
                <a:solidFill>
                  <a:srgbClr val="FF0000"/>
                </a:solidFill>
                <a:sym typeface="+mn-ea"/>
              </a:rPr>
              <a:t>软件规模估算</a:t>
            </a:r>
            <a:r>
              <a:rPr lang="zh-CN" altLang="en-US" dirty="0">
                <a:solidFill>
                  <a:srgbClr val="FF0000"/>
                </a:solidFill>
              </a:rPr>
              <a:t/>
            </a:r>
            <a:br>
              <a:rPr lang="zh-CN" altLang="en-US" dirty="0">
                <a:solidFill>
                  <a:srgbClr val="FF0000"/>
                </a:solidFill>
              </a:rPr>
            </a:br>
            <a:endParaRPr lang="zh-CN" altLang="en-US"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sym typeface="+mn-ea"/>
              </a:rPr>
              <a:t>10.2.3  </a:t>
            </a:r>
            <a:r>
              <a:rPr lang="zh-CN" altLang="en-US" sz="2400" dirty="0" smtClean="0">
                <a:solidFill>
                  <a:schemeClr val="tx1"/>
                </a:solidFill>
                <a:sym typeface="+mn-ea"/>
              </a:rPr>
              <a:t>功能点技术</a:t>
            </a:r>
            <a:endParaRPr lang="zh-CN" altLang="en-US" sz="2400" dirty="0" smtClean="0">
              <a:solidFill>
                <a:schemeClr val="tx1"/>
              </a:solidFill>
            </a:endParaRPr>
          </a:p>
        </p:txBody>
      </p:sp>
      <p:grpSp>
        <p:nvGrpSpPr>
          <p:cNvPr id="4" name="组合 3"/>
          <p:cNvGrpSpPr/>
          <p:nvPr/>
        </p:nvGrpSpPr>
        <p:grpSpPr>
          <a:xfrm>
            <a:off x="15240" y="2698750"/>
            <a:ext cx="12026265" cy="3043555"/>
            <a:chOff x="0" y="2130426"/>
            <a:chExt cx="21645385" cy="3649762"/>
          </a:xfrm>
        </p:grpSpPr>
        <p:sp>
          <p:nvSpPr>
            <p:cNvPr id="5" name="MH_Other_1"/>
            <p:cNvSpPr/>
            <p:nvPr>
              <p:custDataLst>
                <p:tags r:id="rId5"/>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6" name="MH_Other_2"/>
            <p:cNvSpPr/>
            <p:nvPr>
              <p:custDataLst>
                <p:tags r:id="rId6"/>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3"/>
            <p:cNvSpPr/>
            <p:nvPr>
              <p:custDataLst>
                <p:tags r:id="rId7"/>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8" name="MH_Other_4"/>
            <p:cNvSpPr>
              <a:spLocks noChangeArrowheads="1"/>
            </p:cNvSpPr>
            <p:nvPr>
              <p:custDataLst>
                <p:tags r:id="rId8"/>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9" name="MH_Other_5"/>
            <p:cNvSpPr>
              <a:spLocks noChangeArrowheads="1"/>
            </p:cNvSpPr>
            <p:nvPr>
              <p:custDataLst>
                <p:tags r:id="rId9"/>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0" name="MH_Other_6"/>
            <p:cNvSpPr>
              <a:spLocks noChangeArrowheads="1"/>
            </p:cNvSpPr>
            <p:nvPr>
              <p:custDataLst>
                <p:tags r:id="rId10"/>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7"/>
            <p:cNvSpPr/>
            <p:nvPr>
              <p:custDataLst>
                <p:tags r:id="rId11"/>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Text_1"/>
            <p:cNvSpPr/>
            <p:nvPr>
              <p:custDataLst>
                <p:tags r:id="rId12"/>
              </p:custDataLst>
            </p:nvPr>
          </p:nvSpPr>
          <p:spPr bwMode="auto">
            <a:xfrm>
              <a:off x="7402564" y="2841646"/>
              <a:ext cx="13383360" cy="2796146"/>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zh-CN" altLang="en-US" dirty="0" smtClean="0">
                  <a:solidFill>
                    <a:schemeClr val="tx1"/>
                  </a:solidFill>
                  <a:latin typeface="微软雅黑" panose="020B0503020204020204" charset="-122"/>
                  <a:ea typeface="微软雅黑" panose="020B0503020204020204" charset="-122"/>
                </a:rPr>
                <a:t>功能点数</a:t>
              </a:r>
              <a:r>
                <a:rPr lang="en-US" altLang="zh-CN" dirty="0" smtClean="0">
                  <a:solidFill>
                    <a:schemeClr val="tx1"/>
                  </a:solidFill>
                  <a:latin typeface="微软雅黑" panose="020B0503020204020204" charset="-122"/>
                  <a:ea typeface="微软雅黑" panose="020B0503020204020204" charset="-122"/>
                </a:rPr>
                <a:t>FP</a:t>
              </a:r>
              <a:r>
                <a:rPr lang="zh-CN" altLang="en-US" dirty="0" smtClean="0">
                  <a:solidFill>
                    <a:schemeClr val="tx1"/>
                  </a:solidFill>
                  <a:latin typeface="微软雅黑" panose="020B0503020204020204" charset="-122"/>
                  <a:ea typeface="微软雅黑" panose="020B0503020204020204" charset="-122"/>
                </a:rPr>
                <a:t>用下式计算：</a:t>
              </a:r>
              <a:endParaRPr lang="en-US" altLang="zh-CN" dirty="0" smtClean="0">
                <a:solidFill>
                  <a:schemeClr val="tx1"/>
                </a:solidFill>
                <a:latin typeface="微软雅黑" panose="020B0503020204020204" charset="-122"/>
                <a:ea typeface="微软雅黑" panose="020B0503020204020204" charset="-122"/>
              </a:endParaRPr>
            </a:p>
            <a:p>
              <a:pPr indent="457200">
                <a:lnSpc>
                  <a:spcPct val="130000"/>
                </a:lnSpc>
                <a:defRPr/>
              </a:pPr>
              <a:endParaRPr lang="zh-CN" altLang="en-US" dirty="0" smtClean="0">
                <a:solidFill>
                  <a:schemeClr val="tx1"/>
                </a:solidFill>
                <a:latin typeface="微软雅黑" panose="020B0503020204020204" charset="-122"/>
                <a:ea typeface="微软雅黑" panose="020B0503020204020204" charset="-122"/>
              </a:endParaRPr>
            </a:p>
            <a:p>
              <a:pPr indent="457200">
                <a:lnSpc>
                  <a:spcPct val="130000"/>
                </a:lnSpc>
                <a:defRPr/>
              </a:pPr>
              <a:r>
                <a:rPr lang="zh-CN" altLang="en-US" dirty="0" smtClean="0">
                  <a:solidFill>
                    <a:schemeClr val="tx1"/>
                  </a:solidFill>
                  <a:latin typeface="微软雅黑" panose="020B0503020204020204" charset="-122"/>
                  <a:ea typeface="微软雅黑" panose="020B0503020204020204" charset="-122"/>
                </a:rPr>
                <a:t>功能点数与所选用的程序设计语言无关。因此，功能点技术比代码行技术更合理些。但是，在判断信息域特性复杂级别和技术因素的影响程度时，存在相当大的主观因素。</a:t>
              </a:r>
            </a:p>
          </p:txBody>
        </p:sp>
      </p:grpSp>
      <p:grpSp>
        <p:nvGrpSpPr>
          <p:cNvPr id="13" name="组合 15"/>
          <p:cNvGrpSpPr/>
          <p:nvPr/>
        </p:nvGrpSpPr>
        <p:grpSpPr>
          <a:xfrm flipH="1">
            <a:off x="6446520" y="1732280"/>
            <a:ext cx="5745480" cy="973455"/>
            <a:chOff x="1" y="3428100"/>
            <a:chExt cx="5745603" cy="973302"/>
          </a:xfrm>
        </p:grpSpPr>
        <p:sp>
          <p:nvSpPr>
            <p:cNvPr id="14" name="MH_SubTitle_2"/>
            <p:cNvSpPr/>
            <p:nvPr>
              <p:custDataLst>
                <p:tags r:id="rId2"/>
              </p:custDataLst>
            </p:nvPr>
          </p:nvSpPr>
          <p:spPr>
            <a:xfrm>
              <a:off x="1501900" y="3551342"/>
              <a:ext cx="424370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dirty="0" smtClean="0"/>
                <a:t>计算功能点数</a:t>
              </a:r>
              <a:r>
                <a:rPr lang="en-US" altLang="zh-CN" sz="2400" dirty="0" smtClean="0"/>
                <a:t>FP</a:t>
              </a:r>
            </a:p>
          </p:txBody>
        </p:sp>
        <p:sp>
          <p:nvSpPr>
            <p:cNvPr id="15"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a:t>
              </a:r>
              <a:r>
                <a:rPr lang="en-US" sz="3200" dirty="0" smtClean="0">
                  <a:solidFill>
                    <a:srgbClr val="FFFFFF"/>
                  </a:solidFill>
                  <a:latin typeface="Impact" panose="020B0806030902050204" pitchFamily="34" charset="0"/>
                  <a:ea typeface="微软雅黑" panose="020B0503020204020204" charset="-122"/>
                </a:rPr>
                <a:t>3</a:t>
              </a:r>
              <a:endParaRPr lang="en-US" sz="3200" dirty="0">
                <a:solidFill>
                  <a:srgbClr val="FFFFFF"/>
                </a:solidFill>
                <a:latin typeface="Impact" panose="020B0806030902050204" pitchFamily="34" charset="0"/>
                <a:ea typeface="微软雅黑" panose="020B0503020204020204" charset="-122"/>
              </a:endParaRPr>
            </a:p>
          </p:txBody>
        </p:sp>
        <p:sp>
          <p:nvSpPr>
            <p:cNvPr id="16"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04802"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04801" name="对象 253"/>
          <p:cNvGraphicFramePr>
            <a:graphicFrameLocks noChangeAspect="1"/>
          </p:cNvGraphicFramePr>
          <p:nvPr/>
        </p:nvGraphicFramePr>
        <p:xfrm>
          <a:off x="6858000" y="3611880"/>
          <a:ext cx="2173941" cy="381000"/>
        </p:xfrm>
        <a:graphic>
          <a:graphicData uri="http://schemas.openxmlformats.org/presentationml/2006/ole">
            <p:oleObj spid="_x0000_s204801" r:id="rId15" imgW="925894" imgH="164885" progId="Equation.DSMT4">
              <p:embed/>
            </p:oleObj>
          </a:graphicData>
        </a:graphic>
      </p:graphicFrame>
    </p:spTree>
  </p:cSld>
  <p:clrMapOvr>
    <a:masterClrMapping/>
  </p:clrMapOvr>
  <p:transition>
    <p:wipe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10.2 </a:t>
            </a:r>
            <a:r>
              <a:rPr lang="zh-CN" altLang="en-US">
                <a:solidFill>
                  <a:srgbClr val="FF0000"/>
                </a:solidFill>
              </a:rPr>
              <a:t>软件规模估算</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10.2.4  COCOMO2模型</a:t>
            </a:r>
          </a:p>
        </p:txBody>
      </p:sp>
      <p:grpSp>
        <p:nvGrpSpPr>
          <p:cNvPr id="4" name="组合 3"/>
          <p:cNvGrpSpPr/>
          <p:nvPr/>
        </p:nvGrpSpPr>
        <p:grpSpPr>
          <a:xfrm>
            <a:off x="0" y="2412365"/>
            <a:ext cx="12192000" cy="3074035"/>
            <a:chOff x="0" y="3848"/>
            <a:chExt cx="19200" cy="4841"/>
          </a:xfrm>
        </p:grpSpPr>
        <p:sp>
          <p:nvSpPr>
            <p:cNvPr id="5" name="矩形 4"/>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568" y="4143"/>
              <a:ext cx="12008" cy="4071"/>
            </a:xfrm>
            <a:prstGeom prst="rect">
              <a:avLst/>
            </a:prstGeom>
          </p:spPr>
          <p:txBody>
            <a:bodyPr wrap="square">
              <a:spAutoFit/>
            </a:bodyPr>
            <a:lstStyle/>
            <a:p>
              <a:pPr indent="457200">
                <a:lnSpc>
                  <a:spcPct val="150000"/>
                </a:lnSpc>
                <a:defRPr/>
              </a:pPr>
              <a:r>
                <a:rPr lang="zh-CN" altLang="en-US"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软件开发工作量是软件规模（</a:t>
              </a:r>
              <a:r>
                <a:rPr lang="en-US" altLang="zh-CN"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KLOC</a:t>
              </a:r>
              <a:r>
                <a:rPr lang="zh-CN" altLang="en-US"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）的函数，工作量的单位通常是人月。</a:t>
              </a:r>
              <a:r>
                <a:rPr lang="en-US" altLang="zh-CN"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COCOMO</a:t>
              </a:r>
              <a:r>
                <a:rPr lang="zh-CN" altLang="en-US"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模型是一种软件开发工作量估算模型。</a:t>
              </a:r>
            </a:p>
            <a:p>
              <a:pPr indent="457200">
                <a:lnSpc>
                  <a:spcPct val="150000"/>
                </a:lnSpc>
                <a:defRPr/>
              </a:pPr>
              <a:r>
                <a:rPr lang="en-US" altLang="zh-CN"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COCOMO</a:t>
              </a:r>
              <a:r>
                <a:rPr lang="zh-CN" altLang="en-US"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是构造性成本模型（</a:t>
              </a:r>
              <a:r>
                <a:rPr lang="en-US" altLang="zh-CN"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Constructive Cost Model</a:t>
              </a:r>
              <a:r>
                <a:rPr lang="zh-CN" altLang="en-US"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）的英文缩写，是</a:t>
              </a:r>
              <a:r>
                <a:rPr lang="en-US" altLang="zh-CN"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Boehm</a:t>
              </a:r>
              <a:r>
                <a:rPr lang="zh-CN" altLang="en-US"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于</a:t>
              </a:r>
              <a:r>
                <a:rPr lang="en-US" altLang="zh-CN"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1981</a:t>
              </a:r>
              <a:r>
                <a:rPr lang="zh-CN" altLang="en-US"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年提出的。它是一种层次结构的软件估算模型，是最精确、最易于使用的软件成本估算方法之一。</a:t>
              </a:r>
              <a:r>
                <a:rPr lang="en-US" altLang="zh-CN"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1997</a:t>
              </a:r>
              <a:r>
                <a:rPr lang="zh-CN" altLang="en-US"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年</a:t>
              </a:r>
              <a:r>
                <a:rPr lang="en-US" altLang="zh-CN"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Boehm</a:t>
              </a:r>
              <a:r>
                <a:rPr lang="zh-CN" altLang="en-US"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等人提出的</a:t>
              </a:r>
              <a:r>
                <a:rPr lang="en-US" altLang="zh-CN"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COCOMO2</a:t>
              </a:r>
              <a:r>
                <a:rPr lang="zh-CN" altLang="en-US"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模型，是</a:t>
              </a:r>
              <a:r>
                <a:rPr lang="en-US" altLang="zh-CN"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COCOMO</a:t>
              </a:r>
              <a:r>
                <a:rPr lang="zh-CN" altLang="en-US"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模型的修订版。</a:t>
              </a:r>
            </a:p>
          </p:txBody>
        </p:sp>
      </p:grpSp>
      <p:pic>
        <p:nvPicPr>
          <p:cNvPr id="7" name="图片 6" descr="u=1919803524,1164694154&amp;fm=214&amp;gp=0.jpg"/>
          <p:cNvPicPr>
            <a:picLocks noChangeAspect="1"/>
          </p:cNvPicPr>
          <p:nvPr/>
        </p:nvPicPr>
        <p:blipFill>
          <a:blip r:embed="rId3" cstate="print"/>
          <a:stretch>
            <a:fillRect/>
          </a:stretch>
        </p:blipFill>
        <p:spPr>
          <a:xfrm>
            <a:off x="7968508" y="2682239"/>
            <a:ext cx="4026749" cy="2499361"/>
          </a:xfrm>
          <a:prstGeom prst="rect">
            <a:avLst/>
          </a:prstGeom>
        </p:spPr>
      </p:pic>
    </p:spTree>
  </p:cSld>
  <p:clrMapOvr>
    <a:masterClrMapping/>
  </p:clrMapOvr>
  <p:transition>
    <p:wipe dir="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10.2 </a:t>
            </a:r>
            <a:r>
              <a:rPr lang="zh-CN" altLang="en-US">
                <a:solidFill>
                  <a:srgbClr val="FF0000"/>
                </a:solidFill>
              </a:rPr>
              <a:t>软件规模估算</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10.2.4  COCOMO2模型</a:t>
            </a:r>
          </a:p>
        </p:txBody>
      </p:sp>
      <p:grpSp>
        <p:nvGrpSpPr>
          <p:cNvPr id="4" name="组合 3"/>
          <p:cNvGrpSpPr/>
          <p:nvPr/>
        </p:nvGrpSpPr>
        <p:grpSpPr>
          <a:xfrm>
            <a:off x="904306" y="2702709"/>
            <a:ext cx="10515600" cy="3930650"/>
            <a:chOff x="1218" y="3051"/>
            <a:chExt cx="16560" cy="6190"/>
          </a:xfrm>
        </p:grpSpPr>
        <p:grpSp>
          <p:nvGrpSpPr>
            <p:cNvPr id="5" name="组合 18"/>
            <p:cNvGrpSpPr/>
            <p:nvPr/>
          </p:nvGrpSpPr>
          <p:grpSpPr>
            <a:xfrm>
              <a:off x="6899" y="3375"/>
              <a:ext cx="4500" cy="4200"/>
              <a:chOff x="3529044" y="1886732"/>
              <a:chExt cx="4781534" cy="4078163"/>
            </a:xfrm>
          </p:grpSpPr>
          <p:sp>
            <p:nvSpPr>
              <p:cNvPr id="12" name="MH_SubTitle_1"/>
              <p:cNvSpPr/>
              <p:nvPr>
                <p:custDataLst>
                  <p:tags r:id="rId7"/>
                </p:custDataLst>
              </p:nvPr>
            </p:nvSpPr>
            <p:spPr bwMode="auto">
              <a:xfrm>
                <a:off x="3529044" y="1895601"/>
                <a:ext cx="2566956" cy="3084306"/>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13" name="MH_SubTitle_3"/>
              <p:cNvSpPr/>
              <p:nvPr>
                <p:custDataLst>
                  <p:tags r:id="rId8"/>
                </p:custDataLst>
              </p:nvPr>
            </p:nvSpPr>
            <p:spPr bwMode="auto">
              <a:xfrm>
                <a:off x="3952860" y="4561024"/>
                <a:ext cx="4124636" cy="1368306"/>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14" name="MH_Other_1"/>
              <p:cNvSpPr/>
              <p:nvPr>
                <p:custDataLst>
                  <p:tags r:id="rId9"/>
                </p:custDataLst>
              </p:nvPr>
            </p:nvSpPr>
            <p:spPr bwMode="auto">
              <a:xfrm>
                <a:off x="5827579" y="1886732"/>
                <a:ext cx="2482999" cy="2992886"/>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grpSp>
            <p:nvGrpSpPr>
              <p:cNvPr id="15" name="组合 14"/>
              <p:cNvGrpSpPr/>
              <p:nvPr/>
            </p:nvGrpSpPr>
            <p:grpSpPr>
              <a:xfrm>
                <a:off x="3568838" y="2222360"/>
                <a:ext cx="4560555" cy="3742535"/>
                <a:chOff x="3568838" y="2222360"/>
                <a:chExt cx="4560555" cy="3742535"/>
              </a:xfrm>
            </p:grpSpPr>
            <p:sp>
              <p:nvSpPr>
                <p:cNvPr id="17" name="MH_SubTitle_2"/>
                <p:cNvSpPr/>
                <p:nvPr>
                  <p:custDataLst>
                    <p:tags r:id="rId11"/>
                  </p:custDataLst>
                </p:nvPr>
              </p:nvSpPr>
              <p:spPr>
                <a:xfrm rot="3733167">
                  <a:off x="3859969" y="1931229"/>
                  <a:ext cx="3742535" cy="4324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smtClean="0">
                      <a:solidFill>
                        <a:schemeClr val="tx1"/>
                      </a:solidFill>
                      <a:latin typeface="微软雅黑" panose="020B0503020204020204" charset="-122"/>
                      <a:ea typeface="微软雅黑" panose="020B0503020204020204" charset="-122"/>
                    </a:rPr>
                    <a:t>早期设计模型</a:t>
                  </a:r>
                  <a:endParaRPr lang="zh-CN" altLang="en-US" sz="2000" dirty="0">
                    <a:solidFill>
                      <a:schemeClr val="tx1"/>
                    </a:solidFill>
                    <a:latin typeface="微软雅黑" panose="020B0503020204020204" charset="-122"/>
                    <a:ea typeface="微软雅黑" panose="020B0503020204020204" charset="-122"/>
                  </a:endParaRPr>
                </a:p>
              </p:txBody>
            </p:sp>
            <p:sp>
              <p:nvSpPr>
                <p:cNvPr id="18" name="MH_Other_2"/>
                <p:cNvSpPr/>
                <p:nvPr>
                  <p:custDataLst>
                    <p:tags r:id="rId12"/>
                  </p:custDataLst>
                </p:nvPr>
              </p:nvSpPr>
              <p:spPr>
                <a:xfrm rot="10873167">
                  <a:off x="3932989" y="2261238"/>
                  <a:ext cx="3919715" cy="32882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smtClean="0">
                      <a:solidFill>
                        <a:schemeClr val="tx1"/>
                      </a:solidFill>
                      <a:latin typeface="微软雅黑" panose="020B0503020204020204" charset="-122"/>
                      <a:ea typeface="微软雅黑" panose="020B0503020204020204" charset="-122"/>
                    </a:rPr>
                    <a:t>后期设计模型</a:t>
                  </a:r>
                  <a:endParaRPr lang="zh-CN" altLang="en-US" sz="2000" dirty="0">
                    <a:solidFill>
                      <a:schemeClr val="tx1"/>
                    </a:solidFill>
                    <a:latin typeface="微软雅黑" panose="020B0503020204020204" charset="-122"/>
                    <a:ea typeface="微软雅黑" panose="020B0503020204020204" charset="-122"/>
                  </a:endParaRPr>
                </a:p>
              </p:txBody>
            </p:sp>
            <p:sp>
              <p:nvSpPr>
                <p:cNvPr id="19" name="MH_Other_3"/>
                <p:cNvSpPr/>
                <p:nvPr>
                  <p:custDataLst>
                    <p:tags r:id="rId13"/>
                  </p:custDataLst>
                </p:nvPr>
              </p:nvSpPr>
              <p:spPr>
                <a:xfrm rot="18073167">
                  <a:off x="4272288" y="1979262"/>
                  <a:ext cx="3528582" cy="41856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gd name="adj" fmla="val 10883097"/>
                    </a:avLst>
                  </a:prstTxWarp>
                  <a:normAutofit/>
                </a:bodyPr>
                <a:lstStyle/>
                <a:p>
                  <a:pPr algn="ctr">
                    <a:defRPr/>
                  </a:pPr>
                  <a:r>
                    <a:rPr lang="zh-CN" altLang="en-US" sz="2000" dirty="0" smtClean="0">
                      <a:solidFill>
                        <a:schemeClr val="tx1"/>
                      </a:solidFill>
                      <a:latin typeface="微软雅黑" panose="020B0503020204020204" charset="-122"/>
                      <a:ea typeface="微软雅黑" panose="020B0503020204020204" charset="-122"/>
                    </a:rPr>
                    <a:t>应用系统组成模型</a:t>
                  </a:r>
                  <a:endParaRPr lang="zh-CN" altLang="en-US" sz="2000" dirty="0">
                    <a:solidFill>
                      <a:schemeClr val="tx1"/>
                    </a:solidFill>
                    <a:latin typeface="微软雅黑" panose="020B0503020204020204" charset="-122"/>
                    <a:ea typeface="微软雅黑" panose="020B0503020204020204" charset="-122"/>
                  </a:endParaRPr>
                </a:p>
              </p:txBody>
            </p:sp>
          </p:grpSp>
          <p:sp>
            <p:nvSpPr>
              <p:cNvPr id="16" name="MH_Title_1"/>
              <p:cNvSpPr/>
              <p:nvPr>
                <p:custDataLst>
                  <p:tags r:id="rId10"/>
                </p:custDataLst>
              </p:nvPr>
            </p:nvSpPr>
            <p:spPr>
              <a:xfrm>
                <a:off x="4473783" y="2682073"/>
                <a:ext cx="2940298" cy="2466846"/>
              </a:xfrm>
              <a:prstGeom prst="ellipse">
                <a:avLst/>
              </a:prstGeom>
              <a:solidFill>
                <a:srgbClr val="92D05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rPr>
                  <a:t>系统说明文档</a:t>
                </a:r>
              </a:p>
            </p:txBody>
          </p:sp>
        </p:grpSp>
        <p:sp>
          <p:nvSpPr>
            <p:cNvPr id="6" name="MH_Other_2"/>
            <p:cNvSpPr/>
            <p:nvPr>
              <p:custDataLst>
                <p:tags r:id="rId1"/>
              </p:custDataLst>
            </p:nvPr>
          </p:nvSpPr>
          <p:spPr>
            <a:xfrm rot="16200000" flipH="1" flipV="1">
              <a:off x="10843" y="2941"/>
              <a:ext cx="494" cy="1067"/>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7" name="MH_SubTitle_4"/>
            <p:cNvSpPr txBox="1"/>
            <p:nvPr>
              <p:custDataLst>
                <p:tags r:id="rId2"/>
              </p:custDataLst>
            </p:nvPr>
          </p:nvSpPr>
          <p:spPr bwMode="auto">
            <a:xfrm>
              <a:off x="11794" y="3051"/>
              <a:ext cx="5984" cy="30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30000"/>
                </a:lnSpc>
                <a:defRPr/>
              </a:pPr>
              <a:r>
                <a:rPr lang="zh-CN" altLang="en-US" sz="2000" b="1" dirty="0" smtClean="0">
                  <a:solidFill>
                    <a:srgbClr val="00B0F0"/>
                  </a:solidFill>
                  <a:latin typeface="微软雅黑" panose="020B0503020204020204" charset="-122"/>
                  <a:ea typeface="微软雅黑" panose="020B0503020204020204" charset="-122"/>
                </a:rPr>
                <a:t>早期设计模型</a:t>
              </a:r>
              <a:endParaRPr lang="en-US" altLang="zh-CN" sz="2000" dirty="0" smtClean="0"/>
            </a:p>
            <a:p>
              <a:pPr fontAlgn="auto">
                <a:lnSpc>
                  <a:spcPct val="130000"/>
                </a:lnSpc>
                <a:defRPr/>
              </a:pPr>
              <a:r>
                <a:rPr lang="zh-CN" altLang="en-US" sz="2000" dirty="0" smtClean="0"/>
                <a:t>          用于软件结构设计阶段。</a:t>
              </a:r>
              <a:endParaRPr lang="zh-CN" altLang="en-US" sz="2000" dirty="0" smtClean="0">
                <a:sym typeface="+mn-ea"/>
              </a:endParaRPr>
            </a:p>
          </p:txBody>
        </p:sp>
        <p:sp>
          <p:nvSpPr>
            <p:cNvPr id="8" name="MH_Other_2"/>
            <p:cNvSpPr/>
            <p:nvPr>
              <p:custDataLst>
                <p:tags r:id="rId3"/>
              </p:custDataLst>
            </p:nvPr>
          </p:nvSpPr>
          <p:spPr>
            <a:xfrm rot="5400000" flipV="1">
              <a:off x="6718" y="3182"/>
              <a:ext cx="620" cy="1094"/>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9" name="MH_SubTitle_4"/>
            <p:cNvSpPr txBox="1"/>
            <p:nvPr>
              <p:custDataLst>
                <p:tags r:id="rId4"/>
              </p:custDataLst>
            </p:nvPr>
          </p:nvSpPr>
          <p:spPr bwMode="auto">
            <a:xfrm>
              <a:off x="1218" y="3111"/>
              <a:ext cx="5282" cy="41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r">
                <a:lnSpc>
                  <a:spcPct val="130000"/>
                </a:lnSpc>
                <a:defRPr/>
              </a:pPr>
              <a:r>
                <a:rPr lang="zh-CN" altLang="en-US" sz="2000" b="1" dirty="0" smtClean="0">
                  <a:solidFill>
                    <a:srgbClr val="00B0F0"/>
                  </a:solidFill>
                  <a:latin typeface="微软雅黑" panose="020B0503020204020204" charset="-122"/>
                  <a:ea typeface="微软雅黑" panose="020B0503020204020204" charset="-122"/>
                </a:rPr>
                <a:t>应用系统组成模型</a:t>
              </a:r>
            </a:p>
            <a:p>
              <a:pPr>
                <a:lnSpc>
                  <a:spcPct val="130000"/>
                </a:lnSpc>
                <a:defRPr/>
              </a:pPr>
              <a:r>
                <a:rPr lang="zh-CN" altLang="en-US" sz="2000" dirty="0" smtClean="0"/>
                <a:t>         用于估算构建原型的工作量，这种模型考虑到大量使用已有构件的情况。</a:t>
              </a:r>
            </a:p>
          </p:txBody>
        </p:sp>
        <p:sp>
          <p:nvSpPr>
            <p:cNvPr id="10" name="MH_Other_2"/>
            <p:cNvSpPr/>
            <p:nvPr>
              <p:custDataLst>
                <p:tags r:id="rId5"/>
              </p:custDataLst>
            </p:nvPr>
          </p:nvSpPr>
          <p:spPr>
            <a:xfrm rot="16200000">
              <a:off x="6958" y="6393"/>
              <a:ext cx="338" cy="2138"/>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11" name="MH_SubTitle_4"/>
            <p:cNvSpPr txBox="1"/>
            <p:nvPr>
              <p:custDataLst>
                <p:tags r:id="rId6"/>
              </p:custDataLst>
            </p:nvPr>
          </p:nvSpPr>
          <p:spPr bwMode="auto">
            <a:xfrm>
              <a:off x="3581" y="7293"/>
              <a:ext cx="8978" cy="19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l">
                <a:lnSpc>
                  <a:spcPct val="130000"/>
                </a:lnSpc>
                <a:defRPr/>
              </a:pPr>
              <a:r>
                <a:rPr lang="en-US" altLang="zh-CN" sz="2000" b="1" dirty="0" smtClean="0">
                  <a:solidFill>
                    <a:srgbClr val="00B0F0"/>
                  </a:solidFill>
                  <a:latin typeface="微软雅黑" panose="020B0503020204020204" charset="-122"/>
                  <a:ea typeface="微软雅黑" panose="020B0503020204020204" charset="-122"/>
                </a:rPr>
                <a:t>                       </a:t>
              </a:r>
              <a:r>
                <a:rPr lang="zh-CN" altLang="en-US" sz="2000" b="1" dirty="0" smtClean="0">
                  <a:solidFill>
                    <a:srgbClr val="00B0F0"/>
                  </a:solidFill>
                  <a:latin typeface="微软雅黑" panose="020B0503020204020204" charset="-122"/>
                  <a:ea typeface="微软雅黑" panose="020B0503020204020204" charset="-122"/>
                </a:rPr>
                <a:t>后期设计模型</a:t>
              </a:r>
              <a:endParaRPr lang="zh-CN" altLang="en-US" sz="2000" dirty="0" smtClean="0"/>
            </a:p>
            <a:p>
              <a:pPr>
                <a:lnSpc>
                  <a:spcPct val="130000"/>
                </a:lnSpc>
                <a:defRPr/>
              </a:pPr>
              <a:r>
                <a:rPr lang="zh-CN" altLang="en-US" sz="2000" dirty="0" smtClean="0"/>
                <a:t>        用于软件结构设计完成之后的软件开发阶段。</a:t>
              </a:r>
            </a:p>
          </p:txBody>
        </p:sp>
      </p:grpSp>
      <p:grpSp>
        <p:nvGrpSpPr>
          <p:cNvPr id="20" name="组合 19"/>
          <p:cNvGrpSpPr/>
          <p:nvPr/>
        </p:nvGrpSpPr>
        <p:grpSpPr>
          <a:xfrm>
            <a:off x="1231207" y="1923679"/>
            <a:ext cx="9955530" cy="772160"/>
            <a:chOff x="1188" y="3071"/>
            <a:chExt cx="15678" cy="1216"/>
          </a:xfrm>
        </p:grpSpPr>
        <p:sp>
          <p:nvSpPr>
            <p:cNvPr id="21" name="圆角矩形"/>
            <p:cNvSpPr/>
            <p:nvPr/>
          </p:nvSpPr>
          <p:spPr>
            <a:xfrm>
              <a:off x="1188" y="3071"/>
              <a:ext cx="15678" cy="1216"/>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23" name="文本框 5"/>
            <p:cNvSpPr txBox="1"/>
            <p:nvPr/>
          </p:nvSpPr>
          <p:spPr>
            <a:xfrm>
              <a:off x="1213" y="3143"/>
              <a:ext cx="15466" cy="1018"/>
            </a:xfrm>
            <a:prstGeom prst="rect">
              <a:avLst/>
            </a:prstGeom>
            <a:noFill/>
          </p:spPr>
          <p:txBody>
            <a:bodyPr wrap="square" rtlCol="0">
              <a:spAutoFit/>
            </a:bodyPr>
            <a:lstStyle/>
            <a:p>
              <a:r>
                <a:rPr lang="en-US" altLang="zh-CN" dirty="0" smtClean="0">
                  <a:solidFill>
                    <a:schemeClr val="bg2">
                      <a:lumMod val="50000"/>
                    </a:schemeClr>
                  </a:solidFill>
                  <a:sym typeface="+mn-ea"/>
                </a:rPr>
                <a:t>       </a:t>
              </a:r>
              <a:r>
                <a:rPr lang="en-US" dirty="0" smtClean="0">
                  <a:latin typeface="微软雅黑" pitchFamily="34" charset="-122"/>
                  <a:ea typeface="微软雅黑" pitchFamily="34" charset="-122"/>
                </a:rPr>
                <a:t>COCOMO2</a:t>
              </a:r>
              <a:r>
                <a:rPr lang="zh-CN" altLang="en-US" dirty="0" smtClean="0">
                  <a:latin typeface="微软雅黑" pitchFamily="34" charset="-122"/>
                  <a:ea typeface="微软雅黑" pitchFamily="34" charset="-122"/>
                </a:rPr>
                <a:t>模型分为</a:t>
              </a:r>
              <a:r>
                <a:rPr lang="en-US" dirty="0" smtClean="0">
                  <a:latin typeface="微软雅黑" pitchFamily="34" charset="-122"/>
                  <a:ea typeface="微软雅黑" pitchFamily="34" charset="-122"/>
                </a:rPr>
                <a:t>3</a:t>
              </a:r>
              <a:r>
                <a:rPr lang="zh-CN" altLang="en-US" dirty="0" smtClean="0">
                  <a:latin typeface="微软雅黑" pitchFamily="34" charset="-122"/>
                  <a:ea typeface="微软雅黑" pitchFamily="34" charset="-122"/>
                </a:rPr>
                <a:t>个层次，在估算软件开发工作量时，对软件细节问题考虑的详尽程度逐层增加。这</a:t>
              </a:r>
              <a:r>
                <a:rPr lang="en-US" dirty="0" smtClean="0">
                  <a:latin typeface="微软雅黑" pitchFamily="34" charset="-122"/>
                  <a:ea typeface="微软雅黑" pitchFamily="34" charset="-122"/>
                </a:rPr>
                <a:t>3</a:t>
              </a:r>
              <a:r>
                <a:rPr lang="zh-CN" altLang="en-US" dirty="0" smtClean="0">
                  <a:latin typeface="微软雅黑" pitchFamily="34" charset="-122"/>
                  <a:ea typeface="微软雅黑" pitchFamily="34" charset="-122"/>
                </a:rPr>
                <a:t>个估算模型的层次分别是：</a:t>
              </a:r>
              <a:endParaRPr lang="zh-CN" altLang="en-US" dirty="0">
                <a:latin typeface="微软雅黑" pitchFamily="34" charset="-122"/>
                <a:ea typeface="微软雅黑" pitchFamily="34" charset="-122"/>
              </a:endParaRPr>
            </a:p>
          </p:txBody>
        </p:sp>
      </p:grpSp>
    </p:spTree>
  </p:cSld>
  <p:clrMapOvr>
    <a:masterClrMapping/>
  </p:clrMapOvr>
  <p:transition>
    <p:wipe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10.2 </a:t>
            </a:r>
            <a:r>
              <a:rPr lang="zh-CN" altLang="en-US">
                <a:solidFill>
                  <a:srgbClr val="FF0000"/>
                </a:solidFill>
              </a:rPr>
              <a:t>软件规模估算</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10.2.4  COCOMO2模型</a:t>
            </a:r>
          </a:p>
        </p:txBody>
      </p:sp>
      <p:sp>
        <p:nvSpPr>
          <p:cNvPr id="4" name="文本框 99"/>
          <p:cNvSpPr txBox="1"/>
          <p:nvPr/>
        </p:nvSpPr>
        <p:spPr>
          <a:xfrm>
            <a:off x="1143001" y="2066317"/>
            <a:ext cx="10165080" cy="4188381"/>
          </a:xfrm>
          <a:prstGeom prst="roundRect">
            <a:avLst/>
          </a:prstGeom>
          <a:noFill/>
          <a:ln w="9525">
            <a:solidFill>
              <a:schemeClr val="accent2"/>
            </a:solidFill>
            <a:prstDash val="sysDot"/>
          </a:ln>
        </p:spPr>
        <p:txBody>
          <a:bodyPr wrap="square">
            <a:spAutoFit/>
          </a:bodyPr>
          <a:lstStyle/>
          <a:p>
            <a:pPr indent="457200">
              <a:lnSpc>
                <a:spcPct val="150000"/>
              </a:lnSpc>
            </a:pPr>
            <a:r>
              <a:rPr lang="en-US" altLang="zh-CN" sz="2000" dirty="0" smtClean="0">
                <a:latin typeface="微软雅黑" panose="020B0503020204020204" charset="-122"/>
                <a:ea typeface="微软雅黑" panose="020B0503020204020204" charset="-122"/>
                <a:cs typeface="宋体" panose="02010600030101010101" pitchFamily="2" charset="-122"/>
              </a:rPr>
              <a:t>COCOMO2</a:t>
            </a:r>
            <a:r>
              <a:rPr lang="zh-CN" altLang="en-US" sz="2000" dirty="0" smtClean="0">
                <a:latin typeface="微软雅黑" panose="020B0503020204020204" charset="-122"/>
                <a:ea typeface="微软雅黑" panose="020B0503020204020204" charset="-122"/>
                <a:cs typeface="宋体" panose="02010600030101010101" pitchFamily="2" charset="-122"/>
              </a:rPr>
              <a:t>模型把软件开发工作量表示成千行代码数（</a:t>
            </a:r>
            <a:r>
              <a:rPr lang="en-US" altLang="zh-CN" sz="2000" dirty="0" smtClean="0">
                <a:latin typeface="微软雅黑" panose="020B0503020204020204" charset="-122"/>
                <a:ea typeface="微软雅黑" panose="020B0503020204020204" charset="-122"/>
                <a:cs typeface="宋体" panose="02010600030101010101" pitchFamily="2" charset="-122"/>
              </a:rPr>
              <a:t>KLOC</a:t>
            </a:r>
            <a:r>
              <a:rPr lang="zh-CN" altLang="en-US" sz="2000" dirty="0" smtClean="0">
                <a:latin typeface="微软雅黑" panose="020B0503020204020204" charset="-122"/>
                <a:ea typeface="微软雅黑" panose="020B0503020204020204" charset="-122"/>
                <a:cs typeface="宋体" panose="02010600030101010101" pitchFamily="2" charset="-122"/>
              </a:rPr>
              <a:t>）的非线性函数：</a:t>
            </a:r>
            <a:endParaRPr lang="en-US" altLang="zh-CN" sz="2000" dirty="0" smtClean="0">
              <a:latin typeface="微软雅黑" panose="020B0503020204020204" charset="-122"/>
              <a:ea typeface="微软雅黑" panose="020B0503020204020204" charset="-122"/>
              <a:cs typeface="宋体" panose="02010600030101010101" pitchFamily="2" charset="-122"/>
            </a:endParaRPr>
          </a:p>
          <a:p>
            <a:pPr indent="457200">
              <a:lnSpc>
                <a:spcPct val="150000"/>
              </a:lnSpc>
            </a:pPr>
            <a:endParaRPr lang="zh-CN" altLang="en-US" sz="2000" dirty="0" smtClean="0">
              <a:latin typeface="微软雅黑" panose="020B0503020204020204" charset="-122"/>
              <a:ea typeface="微软雅黑" panose="020B0503020204020204" charset="-122"/>
              <a:cs typeface="宋体" panose="02010600030101010101" pitchFamily="2" charset="-122"/>
            </a:endParaRPr>
          </a:p>
          <a:p>
            <a:pPr indent="457200">
              <a:lnSpc>
                <a:spcPct val="150000"/>
              </a:lnSpc>
            </a:pPr>
            <a:r>
              <a:rPr lang="zh-CN" altLang="en-US" sz="2000" dirty="0" smtClean="0">
                <a:latin typeface="微软雅黑" panose="020B0503020204020204" charset="-122"/>
                <a:ea typeface="微软雅黑" panose="020B0503020204020204" charset="-122"/>
                <a:cs typeface="宋体" panose="02010600030101010101" pitchFamily="2" charset="-122"/>
              </a:rPr>
              <a:t>其中，</a:t>
            </a:r>
            <a:r>
              <a:rPr lang="en-US" altLang="zh-CN" sz="2000" dirty="0" smtClean="0">
                <a:latin typeface="微软雅黑" panose="020B0503020204020204" charset="-122"/>
                <a:ea typeface="微软雅黑" panose="020B0503020204020204" charset="-122"/>
                <a:cs typeface="宋体" panose="02010600030101010101" pitchFamily="2" charset="-122"/>
              </a:rPr>
              <a:t>E</a:t>
            </a:r>
            <a:r>
              <a:rPr lang="zh-CN" altLang="en-US" sz="2000" dirty="0" smtClean="0">
                <a:latin typeface="微软雅黑" panose="020B0503020204020204" charset="-122"/>
                <a:ea typeface="微软雅黑" panose="020B0503020204020204" charset="-122"/>
                <a:cs typeface="宋体" panose="02010600030101010101" pitchFamily="2" charset="-122"/>
              </a:rPr>
              <a:t>是开发工作量（以人月为单位）；</a:t>
            </a:r>
            <a:r>
              <a:rPr lang="en-US" altLang="zh-CN" sz="2000" dirty="0" smtClean="0">
                <a:latin typeface="微软雅黑" panose="020B0503020204020204" charset="-122"/>
                <a:ea typeface="微软雅黑" panose="020B0503020204020204" charset="-122"/>
                <a:cs typeface="宋体" panose="02010600030101010101" pitchFamily="2" charset="-122"/>
              </a:rPr>
              <a:t>a</a:t>
            </a:r>
            <a:r>
              <a:rPr lang="zh-CN" altLang="en-US" sz="2000" dirty="0" smtClean="0">
                <a:latin typeface="微软雅黑" panose="020B0503020204020204" charset="-122"/>
                <a:ea typeface="微软雅黑" panose="020B0503020204020204" charset="-122"/>
                <a:cs typeface="宋体" panose="02010600030101010101" pitchFamily="2" charset="-122"/>
              </a:rPr>
              <a:t>是模型系数；</a:t>
            </a:r>
            <a:r>
              <a:rPr lang="en-US" altLang="zh-CN" sz="2000" dirty="0" smtClean="0">
                <a:latin typeface="微软雅黑" panose="020B0503020204020204" charset="-122"/>
                <a:ea typeface="微软雅黑" panose="020B0503020204020204" charset="-122"/>
                <a:cs typeface="宋体" panose="02010600030101010101" pitchFamily="2" charset="-122"/>
              </a:rPr>
              <a:t>KLOC</a:t>
            </a:r>
            <a:r>
              <a:rPr lang="zh-CN" altLang="en-US" sz="2000" dirty="0" smtClean="0">
                <a:latin typeface="微软雅黑" panose="020B0503020204020204" charset="-122"/>
                <a:ea typeface="微软雅黑" panose="020B0503020204020204" charset="-122"/>
                <a:cs typeface="宋体" panose="02010600030101010101" pitchFamily="2" charset="-122"/>
              </a:rPr>
              <a:t>是估算的源代码行数（以千行为单位）；</a:t>
            </a:r>
            <a:r>
              <a:rPr lang="en-US" altLang="zh-CN" sz="2000" dirty="0" smtClean="0">
                <a:latin typeface="微软雅黑" panose="020B0503020204020204" charset="-122"/>
                <a:ea typeface="微软雅黑" panose="020B0503020204020204" charset="-122"/>
                <a:cs typeface="宋体" panose="02010600030101010101" pitchFamily="2" charset="-122"/>
              </a:rPr>
              <a:t>b</a:t>
            </a:r>
            <a:r>
              <a:rPr lang="zh-CN" altLang="en-US" sz="2000" dirty="0" smtClean="0">
                <a:latin typeface="微软雅黑" panose="020B0503020204020204" charset="-122"/>
                <a:ea typeface="微软雅黑" panose="020B0503020204020204" charset="-122"/>
                <a:cs typeface="宋体" panose="02010600030101010101" pitchFamily="2" charset="-122"/>
              </a:rPr>
              <a:t>是模型指数；   （          ）是成本因素。</a:t>
            </a:r>
          </a:p>
          <a:p>
            <a:pPr indent="457200">
              <a:lnSpc>
                <a:spcPct val="150000"/>
              </a:lnSpc>
            </a:pPr>
            <a:r>
              <a:rPr lang="zh-CN" altLang="en-US" sz="2000" dirty="0" smtClean="0">
                <a:latin typeface="微软雅黑" panose="020B0503020204020204" charset="-122"/>
                <a:ea typeface="微软雅黑" panose="020B0503020204020204" charset="-122"/>
                <a:cs typeface="宋体" panose="02010600030101010101" pitchFamily="2" charset="-122"/>
              </a:rPr>
              <a:t>每个成本因素都根据其重要程度和对工作量影响的大小被赋予一定的数值，称为工作量系数。这些成本因素对任何一个项目的开发工作都有影响，应该重视。</a:t>
            </a:r>
          </a:p>
          <a:p>
            <a:pPr indent="457200">
              <a:lnSpc>
                <a:spcPct val="150000"/>
              </a:lnSpc>
            </a:pPr>
            <a:r>
              <a:rPr lang="en-US" altLang="zh-CN" sz="2000" dirty="0" smtClean="0">
                <a:latin typeface="微软雅黑" panose="020B0503020204020204" charset="-122"/>
                <a:ea typeface="微软雅黑" panose="020B0503020204020204" charset="-122"/>
                <a:cs typeface="宋体" panose="02010600030101010101" pitchFamily="2" charset="-122"/>
              </a:rPr>
              <a:t>Boehm</a:t>
            </a:r>
            <a:r>
              <a:rPr lang="zh-CN" altLang="en-US" sz="2000" dirty="0" smtClean="0">
                <a:latin typeface="微软雅黑" panose="020B0503020204020204" charset="-122"/>
                <a:ea typeface="微软雅黑" panose="020B0503020204020204" charset="-122"/>
                <a:cs typeface="宋体" panose="02010600030101010101" pitchFamily="2" charset="-122"/>
              </a:rPr>
              <a:t>把成本因素划分为</a:t>
            </a:r>
            <a:r>
              <a:rPr lang="zh-CN" altLang="en-US" sz="2000" b="1" dirty="0" smtClean="0">
                <a:solidFill>
                  <a:schemeClr val="accent6">
                    <a:lumMod val="50000"/>
                  </a:schemeClr>
                </a:solidFill>
                <a:latin typeface="微软雅黑" panose="020B0503020204020204" charset="-122"/>
                <a:ea typeface="微软雅黑" panose="020B0503020204020204" charset="-122"/>
                <a:cs typeface="宋体" panose="02010600030101010101" pitchFamily="2" charset="-122"/>
              </a:rPr>
              <a:t>产品因素、平台因素、人员因素和项目因素</a:t>
            </a:r>
            <a:r>
              <a:rPr lang="en-US" altLang="zh-CN" sz="2000" dirty="0" smtClean="0">
                <a:latin typeface="微软雅黑" panose="020B0503020204020204" charset="-122"/>
                <a:ea typeface="微软雅黑" panose="020B0503020204020204" charset="-122"/>
                <a:cs typeface="宋体" panose="02010600030101010101" pitchFamily="2" charset="-122"/>
              </a:rPr>
              <a:t>4</a:t>
            </a:r>
            <a:r>
              <a:rPr lang="zh-CN" altLang="en-US" sz="2000" dirty="0" smtClean="0">
                <a:latin typeface="微软雅黑" panose="020B0503020204020204" charset="-122"/>
                <a:ea typeface="微软雅黑" panose="020B0503020204020204" charset="-122"/>
                <a:cs typeface="宋体" panose="02010600030101010101" pitchFamily="2" charset="-122"/>
              </a:rPr>
              <a:t>类。表</a:t>
            </a:r>
            <a:r>
              <a:rPr lang="en-US" altLang="zh-CN" sz="2000" dirty="0" smtClean="0">
                <a:latin typeface="微软雅黑" panose="020B0503020204020204" charset="-122"/>
                <a:ea typeface="微软雅黑" panose="020B0503020204020204" charset="-122"/>
                <a:cs typeface="宋体" panose="02010600030101010101" pitchFamily="2" charset="-122"/>
              </a:rPr>
              <a:t>10-3</a:t>
            </a:r>
            <a:r>
              <a:rPr lang="zh-CN" altLang="en-US" sz="2000" dirty="0" smtClean="0">
                <a:latin typeface="微软雅黑" panose="020B0503020204020204" charset="-122"/>
                <a:ea typeface="微软雅黑" panose="020B0503020204020204" charset="-122"/>
                <a:cs typeface="宋体" panose="02010600030101010101" pitchFamily="2" charset="-122"/>
              </a:rPr>
              <a:t>列出了</a:t>
            </a:r>
            <a:r>
              <a:rPr lang="en-US" altLang="zh-CN" sz="2000" dirty="0" smtClean="0">
                <a:latin typeface="微软雅黑" panose="020B0503020204020204" charset="-122"/>
                <a:ea typeface="微软雅黑" panose="020B0503020204020204" charset="-122"/>
                <a:cs typeface="宋体" panose="02010600030101010101" pitchFamily="2" charset="-122"/>
              </a:rPr>
              <a:t>COCOMO2</a:t>
            </a:r>
            <a:r>
              <a:rPr lang="zh-CN" altLang="en-US" sz="2000" dirty="0" smtClean="0">
                <a:latin typeface="微软雅黑" panose="020B0503020204020204" charset="-122"/>
                <a:ea typeface="微软雅黑" panose="020B0503020204020204" charset="-122"/>
                <a:cs typeface="宋体" panose="02010600030101010101" pitchFamily="2" charset="-122"/>
              </a:rPr>
              <a:t>模型使用的成本因素及与之相联系的工作量系数。</a:t>
            </a:r>
          </a:p>
        </p:txBody>
      </p:sp>
      <p:sp>
        <p:nvSpPr>
          <p:cNvPr id="21709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17089" name="对象 256"/>
          <p:cNvGraphicFramePr>
            <a:graphicFrameLocks noChangeAspect="1"/>
          </p:cNvGraphicFramePr>
          <p:nvPr/>
        </p:nvGraphicFramePr>
        <p:xfrm>
          <a:off x="6095999" y="3784275"/>
          <a:ext cx="885713" cy="289560"/>
        </p:xfrm>
        <a:graphic>
          <a:graphicData uri="http://schemas.openxmlformats.org/presentationml/2006/ole">
            <p:oleObj spid="_x0000_s217089" r:id="rId4" imgW="494656" imgH="164885" progId="Equation.DSMT4">
              <p:embed/>
            </p:oleObj>
          </a:graphicData>
        </a:graphic>
      </p:graphicFrame>
      <p:sp>
        <p:nvSpPr>
          <p:cNvPr id="217092"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17091" name="对象 255"/>
          <p:cNvGraphicFramePr>
            <a:graphicFrameLocks noChangeAspect="1"/>
          </p:cNvGraphicFramePr>
          <p:nvPr/>
        </p:nvGraphicFramePr>
        <p:xfrm>
          <a:off x="5562600" y="3753795"/>
          <a:ext cx="472440" cy="374694"/>
        </p:xfrm>
        <a:graphic>
          <a:graphicData uri="http://schemas.openxmlformats.org/presentationml/2006/ole">
            <p:oleObj spid="_x0000_s217091" r:id="rId5" imgW="139579" imgH="203024" progId="Equation.DSMT4">
              <p:embed/>
            </p:oleObj>
          </a:graphicData>
        </a:graphic>
      </p:graphicFrame>
      <p:sp>
        <p:nvSpPr>
          <p:cNvPr id="217094" name="Rectangle 6"/>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17093" name="对象 254"/>
          <p:cNvGraphicFramePr>
            <a:graphicFrameLocks noChangeAspect="1"/>
          </p:cNvGraphicFramePr>
          <p:nvPr/>
        </p:nvGraphicFramePr>
        <p:xfrm>
          <a:off x="4785360" y="2717475"/>
          <a:ext cx="2194560" cy="681644"/>
        </p:xfrm>
        <a:graphic>
          <a:graphicData uri="http://schemas.openxmlformats.org/presentationml/2006/ole">
            <p:oleObj spid="_x0000_s217093" r:id="rId6" imgW="1256755" imgH="393529" progId="Equation.DSMT4">
              <p:embed/>
            </p:oleObj>
          </a:graphicData>
        </a:graphic>
      </p:graphicFrame>
    </p:spTree>
  </p:cSld>
  <p:clrMapOvr>
    <a:masterClrMapping/>
  </p:clrMapOvr>
  <p:transition>
    <p:wipe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10.2 </a:t>
            </a:r>
            <a:r>
              <a:rPr lang="zh-CN" altLang="en-US">
                <a:solidFill>
                  <a:srgbClr val="FF0000"/>
                </a:solidFill>
              </a:rPr>
              <a:t>软件规模估算</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10.2.4  COCOMO2模型</a:t>
            </a:r>
          </a:p>
        </p:txBody>
      </p:sp>
      <p:graphicFrame>
        <p:nvGraphicFramePr>
          <p:cNvPr id="4" name="表格 3"/>
          <p:cNvGraphicFramePr>
            <a:graphicFrameLocks noGrp="1"/>
          </p:cNvGraphicFramePr>
          <p:nvPr/>
        </p:nvGraphicFramePr>
        <p:xfrm>
          <a:off x="609602" y="1965960"/>
          <a:ext cx="10774675" cy="4358640"/>
        </p:xfrm>
        <a:graphic>
          <a:graphicData uri="http://schemas.openxmlformats.org/drawingml/2006/table">
            <a:tbl>
              <a:tblPr/>
              <a:tblGrid>
                <a:gridCol w="1263779"/>
                <a:gridCol w="2510282"/>
                <a:gridCol w="1180058"/>
                <a:gridCol w="1180058"/>
                <a:gridCol w="1180058"/>
                <a:gridCol w="1180058"/>
                <a:gridCol w="1180058"/>
                <a:gridCol w="1100324"/>
              </a:tblGrid>
              <a:tr h="229402">
                <a:tc rowSpan="2">
                  <a:txBody>
                    <a:bodyPr/>
                    <a:lstStyle/>
                    <a:p>
                      <a:pPr indent="266700" algn="ctr">
                        <a:spcAft>
                          <a:spcPts val="0"/>
                        </a:spcAft>
                      </a:pPr>
                      <a:r>
                        <a:rPr lang="zh-CN" sz="1400" kern="500" dirty="0">
                          <a:latin typeface="Times New Roman"/>
                          <a:ea typeface="宋体"/>
                        </a:rPr>
                        <a:t>类型</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rowSpan="2">
                  <a:txBody>
                    <a:bodyPr/>
                    <a:lstStyle/>
                    <a:p>
                      <a:pPr indent="266700" algn="ctr">
                        <a:spcAft>
                          <a:spcPts val="0"/>
                        </a:spcAft>
                      </a:pPr>
                      <a:r>
                        <a:rPr lang="zh-CN" sz="1400" kern="500">
                          <a:latin typeface="Times New Roman"/>
                          <a:ea typeface="宋体"/>
                        </a:rPr>
                        <a:t>成本因素</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gridSpan="6">
                  <a:txBody>
                    <a:bodyPr/>
                    <a:lstStyle/>
                    <a:p>
                      <a:pPr indent="266700" algn="ctr">
                        <a:spcAft>
                          <a:spcPts val="0"/>
                        </a:spcAft>
                      </a:pPr>
                      <a:r>
                        <a:rPr lang="zh-CN" sz="1400" kern="500" dirty="0">
                          <a:latin typeface="Times New Roman"/>
                          <a:ea typeface="宋体"/>
                        </a:rPr>
                        <a:t>级</a:t>
                      </a:r>
                      <a:r>
                        <a:rPr lang="en-US" sz="1400" kern="500" dirty="0">
                          <a:latin typeface="Times New Roman"/>
                          <a:ea typeface="宋体"/>
                        </a:rPr>
                        <a:t>    </a:t>
                      </a:r>
                      <a:r>
                        <a:rPr lang="zh-CN" sz="1400" kern="500" dirty="0">
                          <a:latin typeface="Times New Roman"/>
                          <a:ea typeface="宋体"/>
                        </a:rPr>
                        <a:t>别</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229402">
                <a:tc vMerge="1">
                  <a:txBody>
                    <a:bodyPr/>
                    <a:lstStyle/>
                    <a:p>
                      <a:endParaRPr lang="zh-CN" altLang="en-US"/>
                    </a:p>
                  </a:txBody>
                  <a:tcPr/>
                </a:tc>
                <a:tc vMerge="1">
                  <a:txBody>
                    <a:bodyPr/>
                    <a:lstStyle/>
                    <a:p>
                      <a:endParaRPr lang="zh-CN" altLang="en-US"/>
                    </a:p>
                  </a:txBody>
                  <a:tcPr/>
                </a:tc>
                <a:tc>
                  <a:txBody>
                    <a:bodyPr/>
                    <a:lstStyle/>
                    <a:p>
                      <a:pPr indent="266700" algn="ctr">
                        <a:spcAft>
                          <a:spcPts val="0"/>
                        </a:spcAft>
                      </a:pPr>
                      <a:r>
                        <a:rPr lang="zh-CN" sz="1400" kern="500">
                          <a:latin typeface="Times New Roman"/>
                          <a:ea typeface="宋体"/>
                        </a:rPr>
                        <a:t>甚低</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indent="266700" algn="ctr">
                        <a:spcAft>
                          <a:spcPts val="0"/>
                        </a:spcAft>
                      </a:pPr>
                      <a:r>
                        <a:rPr lang="zh-CN" sz="1400" kern="500">
                          <a:latin typeface="Times New Roman"/>
                          <a:ea typeface="宋体"/>
                        </a:rPr>
                        <a:t>低</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indent="266700" algn="ctr">
                        <a:spcAft>
                          <a:spcPts val="0"/>
                        </a:spcAft>
                      </a:pPr>
                      <a:r>
                        <a:rPr lang="zh-CN" sz="1400" kern="500">
                          <a:latin typeface="Times New Roman"/>
                          <a:ea typeface="宋体"/>
                        </a:rPr>
                        <a:t>正常</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indent="266700" algn="ctr">
                        <a:spcAft>
                          <a:spcPts val="0"/>
                        </a:spcAft>
                      </a:pPr>
                      <a:r>
                        <a:rPr lang="zh-CN" sz="1400" kern="500">
                          <a:latin typeface="Times New Roman"/>
                          <a:ea typeface="宋体"/>
                        </a:rPr>
                        <a:t>高</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indent="266700" algn="ctr">
                        <a:spcAft>
                          <a:spcPts val="0"/>
                        </a:spcAft>
                      </a:pPr>
                      <a:r>
                        <a:rPr lang="zh-CN" sz="1400" kern="500">
                          <a:latin typeface="Times New Roman"/>
                          <a:ea typeface="宋体"/>
                        </a:rPr>
                        <a:t>甚高</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indent="266700" algn="ctr">
                        <a:spcAft>
                          <a:spcPts val="0"/>
                        </a:spcAft>
                      </a:pPr>
                      <a:r>
                        <a:rPr lang="zh-CN" sz="1400" kern="500">
                          <a:latin typeface="Times New Roman"/>
                          <a:ea typeface="宋体"/>
                        </a:rPr>
                        <a:t>特高</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r>
              <a:tr h="1147011">
                <a:tc>
                  <a:txBody>
                    <a:bodyPr/>
                    <a:lstStyle/>
                    <a:p>
                      <a:pPr indent="266700" algn="ctr">
                        <a:spcAft>
                          <a:spcPts val="0"/>
                        </a:spcAft>
                      </a:pPr>
                      <a:r>
                        <a:rPr lang="zh-CN" sz="1400" kern="500">
                          <a:latin typeface="Times New Roman"/>
                          <a:ea typeface="宋体"/>
                        </a:rPr>
                        <a:t>产品因素</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1400" kern="500">
                          <a:latin typeface="Times New Roman"/>
                          <a:ea typeface="宋体"/>
                        </a:rPr>
                        <a:t>1</a:t>
                      </a:r>
                      <a:r>
                        <a:rPr lang="zh-CN" sz="1400" kern="500">
                          <a:latin typeface="Times New Roman"/>
                          <a:ea typeface="宋体"/>
                        </a:rPr>
                        <a:t>．要求的可靠性</a:t>
                      </a:r>
                    </a:p>
                    <a:p>
                      <a:pPr indent="266700" algn="just">
                        <a:spcAft>
                          <a:spcPts val="0"/>
                        </a:spcAft>
                      </a:pPr>
                      <a:r>
                        <a:rPr lang="en-US" sz="1400" kern="500">
                          <a:latin typeface="Times New Roman"/>
                          <a:ea typeface="宋体"/>
                        </a:rPr>
                        <a:t>2</a:t>
                      </a:r>
                      <a:r>
                        <a:rPr lang="zh-CN" sz="1400" kern="500">
                          <a:latin typeface="Times New Roman"/>
                          <a:ea typeface="宋体"/>
                        </a:rPr>
                        <a:t>．数据库规模</a:t>
                      </a:r>
                    </a:p>
                    <a:p>
                      <a:pPr indent="266700" algn="just">
                        <a:spcAft>
                          <a:spcPts val="0"/>
                        </a:spcAft>
                      </a:pPr>
                      <a:r>
                        <a:rPr lang="en-US" sz="1400" kern="500">
                          <a:latin typeface="Times New Roman"/>
                          <a:ea typeface="宋体"/>
                        </a:rPr>
                        <a:t>3</a:t>
                      </a:r>
                      <a:r>
                        <a:rPr lang="zh-CN" sz="1400" kern="500">
                          <a:latin typeface="Times New Roman"/>
                          <a:ea typeface="宋体"/>
                        </a:rPr>
                        <a:t>．产品复杂程度</a:t>
                      </a:r>
                    </a:p>
                    <a:p>
                      <a:pPr indent="266700" algn="just">
                        <a:spcAft>
                          <a:spcPts val="0"/>
                        </a:spcAft>
                      </a:pPr>
                      <a:r>
                        <a:rPr lang="en-US" sz="1400" kern="500">
                          <a:latin typeface="Times New Roman"/>
                          <a:ea typeface="宋体"/>
                        </a:rPr>
                        <a:t>4</a:t>
                      </a:r>
                      <a:r>
                        <a:rPr lang="zh-CN" sz="1400" kern="500">
                          <a:latin typeface="Times New Roman"/>
                          <a:ea typeface="宋体"/>
                        </a:rPr>
                        <a:t>．要求的可重用性</a:t>
                      </a:r>
                    </a:p>
                    <a:p>
                      <a:pPr indent="266700" algn="just">
                        <a:spcAft>
                          <a:spcPts val="0"/>
                        </a:spcAft>
                      </a:pPr>
                      <a:r>
                        <a:rPr lang="en-US" sz="1400" kern="500">
                          <a:latin typeface="Times New Roman"/>
                          <a:ea typeface="宋体"/>
                        </a:rPr>
                        <a:t>5</a:t>
                      </a:r>
                      <a:r>
                        <a:rPr lang="zh-CN" sz="1400" kern="500">
                          <a:latin typeface="Times New Roman"/>
                          <a:ea typeface="宋体"/>
                        </a:rPr>
                        <a:t>．需要的文档量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400" kern="500">
                          <a:latin typeface="Times New Roman"/>
                          <a:ea typeface="宋体"/>
                        </a:rPr>
                        <a:t>0.75</a:t>
                      </a:r>
                    </a:p>
                    <a:p>
                      <a:pPr indent="266700" algn="ctr">
                        <a:spcAft>
                          <a:spcPts val="0"/>
                        </a:spcAft>
                      </a:pPr>
                      <a:r>
                        <a:rPr lang="zh-CN" sz="1400" kern="500">
                          <a:latin typeface="Times New Roman"/>
                          <a:ea typeface="宋体"/>
                        </a:rPr>
                        <a:t>0.75</a:t>
                      </a:r>
                    </a:p>
                    <a:p>
                      <a:pPr indent="266700" algn="ctr">
                        <a:spcAft>
                          <a:spcPts val="0"/>
                        </a:spcAft>
                      </a:pPr>
                      <a:r>
                        <a:rPr lang="en-US" sz="1400" kern="500">
                          <a:latin typeface="Times New Roman"/>
                          <a:ea typeface="宋体"/>
                        </a:rPr>
                        <a:t>0.89</a:t>
                      </a:r>
                      <a:endParaRPr lang="zh-CN" sz="14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400" kern="500">
                          <a:latin typeface="Times New Roman"/>
                          <a:ea typeface="宋体"/>
                        </a:rPr>
                        <a:t>0.88</a:t>
                      </a:r>
                    </a:p>
                    <a:p>
                      <a:pPr indent="266700" algn="ctr">
                        <a:spcAft>
                          <a:spcPts val="0"/>
                        </a:spcAft>
                      </a:pPr>
                      <a:r>
                        <a:rPr lang="zh-CN" sz="1400" kern="500">
                          <a:latin typeface="Times New Roman"/>
                          <a:ea typeface="宋体"/>
                        </a:rPr>
                        <a:t>0.93</a:t>
                      </a:r>
                    </a:p>
                    <a:p>
                      <a:pPr indent="266700" algn="ctr">
                        <a:spcAft>
                          <a:spcPts val="0"/>
                        </a:spcAft>
                      </a:pPr>
                      <a:r>
                        <a:rPr lang="zh-CN" sz="1400" kern="500">
                          <a:latin typeface="Times New Roman"/>
                          <a:ea typeface="宋体"/>
                        </a:rPr>
                        <a:t>0.88</a:t>
                      </a:r>
                    </a:p>
                    <a:p>
                      <a:pPr indent="266700" algn="ctr">
                        <a:spcAft>
                          <a:spcPts val="0"/>
                        </a:spcAft>
                      </a:pPr>
                      <a:r>
                        <a:rPr lang="zh-CN" sz="1400" kern="500">
                          <a:latin typeface="Times New Roman"/>
                          <a:ea typeface="宋体"/>
                        </a:rPr>
                        <a:t>0.91</a:t>
                      </a:r>
                    </a:p>
                    <a:p>
                      <a:pPr indent="266700" algn="ctr">
                        <a:spcAft>
                          <a:spcPts val="0"/>
                        </a:spcAft>
                      </a:pPr>
                      <a:r>
                        <a:rPr lang="zh-CN" sz="1400" kern="500">
                          <a:latin typeface="Times New Roman"/>
                          <a:ea typeface="宋体"/>
                        </a:rPr>
                        <a:t>0.95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400" kern="500">
                          <a:latin typeface="Times New Roman"/>
                          <a:ea typeface="宋体"/>
                        </a:rPr>
                        <a:t>1.00</a:t>
                      </a:r>
                    </a:p>
                    <a:p>
                      <a:pPr indent="266700" algn="ctr">
                        <a:spcAft>
                          <a:spcPts val="0"/>
                        </a:spcAft>
                      </a:pPr>
                      <a:r>
                        <a:rPr lang="zh-CN" sz="1400" kern="500">
                          <a:latin typeface="Times New Roman"/>
                          <a:ea typeface="宋体"/>
                        </a:rPr>
                        <a:t>1.00</a:t>
                      </a:r>
                    </a:p>
                    <a:p>
                      <a:pPr indent="266700" algn="ctr">
                        <a:spcAft>
                          <a:spcPts val="0"/>
                        </a:spcAft>
                      </a:pPr>
                      <a:r>
                        <a:rPr lang="zh-CN" sz="1400" kern="500">
                          <a:latin typeface="Times New Roman"/>
                          <a:ea typeface="宋体"/>
                        </a:rPr>
                        <a:t>1.00</a:t>
                      </a:r>
                    </a:p>
                    <a:p>
                      <a:pPr indent="266700" algn="ctr">
                        <a:spcAft>
                          <a:spcPts val="0"/>
                        </a:spcAft>
                      </a:pPr>
                      <a:r>
                        <a:rPr lang="zh-CN" sz="1400" kern="500">
                          <a:latin typeface="Times New Roman"/>
                          <a:ea typeface="宋体"/>
                        </a:rPr>
                        <a:t>1.00</a:t>
                      </a:r>
                    </a:p>
                    <a:p>
                      <a:pPr indent="266700" algn="ctr">
                        <a:spcAft>
                          <a:spcPts val="0"/>
                        </a:spcAft>
                      </a:pPr>
                      <a:r>
                        <a:rPr lang="zh-CN" sz="1400" kern="500">
                          <a:latin typeface="Times New Roman"/>
                          <a:ea typeface="宋体"/>
                        </a:rPr>
                        <a:t>1.00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400" kern="500">
                          <a:latin typeface="Times New Roman"/>
                          <a:ea typeface="宋体"/>
                        </a:rPr>
                        <a:t>1.15</a:t>
                      </a:r>
                    </a:p>
                    <a:p>
                      <a:pPr indent="266700" algn="ctr">
                        <a:spcAft>
                          <a:spcPts val="0"/>
                        </a:spcAft>
                      </a:pPr>
                      <a:r>
                        <a:rPr lang="zh-CN" sz="1400" kern="500">
                          <a:latin typeface="Times New Roman"/>
                          <a:ea typeface="宋体"/>
                        </a:rPr>
                        <a:t>1.09</a:t>
                      </a:r>
                    </a:p>
                    <a:p>
                      <a:pPr indent="266700" algn="ctr">
                        <a:spcAft>
                          <a:spcPts val="0"/>
                        </a:spcAft>
                      </a:pPr>
                      <a:r>
                        <a:rPr lang="zh-CN" sz="1400" kern="500">
                          <a:latin typeface="Times New Roman"/>
                          <a:ea typeface="宋体"/>
                        </a:rPr>
                        <a:t>1.15</a:t>
                      </a:r>
                    </a:p>
                    <a:p>
                      <a:pPr indent="266700" algn="ctr">
                        <a:spcAft>
                          <a:spcPts val="0"/>
                        </a:spcAft>
                      </a:pPr>
                      <a:r>
                        <a:rPr lang="zh-CN" sz="1400" kern="500">
                          <a:latin typeface="Times New Roman"/>
                          <a:ea typeface="宋体"/>
                        </a:rPr>
                        <a:t>1.14</a:t>
                      </a:r>
                    </a:p>
                    <a:p>
                      <a:pPr indent="266700" algn="ctr">
                        <a:spcAft>
                          <a:spcPts val="0"/>
                        </a:spcAft>
                      </a:pPr>
                      <a:r>
                        <a:rPr lang="zh-CN" sz="1400" kern="500">
                          <a:latin typeface="Times New Roman"/>
                          <a:ea typeface="宋体"/>
                        </a:rPr>
                        <a:t>1.06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400" kern="500">
                          <a:latin typeface="Times New Roman"/>
                          <a:ea typeface="宋体"/>
                        </a:rPr>
                        <a:t>1.39</a:t>
                      </a:r>
                    </a:p>
                    <a:p>
                      <a:pPr indent="266700" algn="ctr">
                        <a:spcAft>
                          <a:spcPts val="0"/>
                        </a:spcAft>
                      </a:pPr>
                      <a:r>
                        <a:rPr lang="zh-CN" sz="1400" kern="500">
                          <a:latin typeface="Times New Roman"/>
                          <a:ea typeface="宋体"/>
                        </a:rPr>
                        <a:t>1.19</a:t>
                      </a:r>
                    </a:p>
                    <a:p>
                      <a:pPr indent="266700" algn="ctr">
                        <a:spcAft>
                          <a:spcPts val="0"/>
                        </a:spcAft>
                      </a:pPr>
                      <a:r>
                        <a:rPr lang="zh-CN" sz="1400" kern="500">
                          <a:latin typeface="Times New Roman"/>
                          <a:ea typeface="宋体"/>
                        </a:rPr>
                        <a:t>1.30</a:t>
                      </a:r>
                    </a:p>
                    <a:p>
                      <a:pPr indent="266700" algn="ctr">
                        <a:spcAft>
                          <a:spcPts val="0"/>
                        </a:spcAft>
                      </a:pPr>
                      <a:r>
                        <a:rPr lang="zh-CN" sz="1400" kern="500">
                          <a:latin typeface="Times New Roman"/>
                          <a:ea typeface="宋体"/>
                        </a:rPr>
                        <a:t>1.29</a:t>
                      </a:r>
                    </a:p>
                    <a:p>
                      <a:pPr indent="266700" algn="ctr">
                        <a:spcAft>
                          <a:spcPts val="0"/>
                        </a:spcAft>
                      </a:pPr>
                      <a:r>
                        <a:rPr lang="zh-CN" sz="1400" kern="500">
                          <a:latin typeface="Times New Roman"/>
                          <a:ea typeface="宋体"/>
                        </a:rPr>
                        <a:t>1.13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zh-CN" sz="1400" kern="500">
                        <a:latin typeface="Times New Roman"/>
                        <a:ea typeface="宋体"/>
                      </a:endParaRPr>
                    </a:p>
                    <a:p>
                      <a:pPr indent="266700" algn="ctr">
                        <a:spcAft>
                          <a:spcPts val="0"/>
                        </a:spcAft>
                      </a:pPr>
                      <a:r>
                        <a:rPr lang="zh-CN" sz="1400" kern="500">
                          <a:latin typeface="Times New Roman"/>
                          <a:ea typeface="宋体"/>
                        </a:rPr>
                        <a:t>1.66</a:t>
                      </a:r>
                    </a:p>
                    <a:p>
                      <a:pPr indent="266700" algn="ctr">
                        <a:spcAft>
                          <a:spcPts val="0"/>
                        </a:spcAft>
                      </a:pPr>
                      <a:r>
                        <a:rPr lang="zh-CN" sz="1400" kern="500">
                          <a:latin typeface="Times New Roman"/>
                          <a:ea typeface="宋体"/>
                        </a:rPr>
                        <a:t>1.49</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88206">
                <a:tc>
                  <a:txBody>
                    <a:bodyPr/>
                    <a:lstStyle/>
                    <a:p>
                      <a:pPr indent="266700" algn="ctr">
                        <a:spcAft>
                          <a:spcPts val="0"/>
                        </a:spcAft>
                      </a:pPr>
                      <a:r>
                        <a:rPr lang="zh-CN" sz="1400" kern="500">
                          <a:latin typeface="Times New Roman"/>
                          <a:ea typeface="宋体"/>
                        </a:rPr>
                        <a:t>平台因素</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1400" kern="500">
                          <a:latin typeface="Times New Roman"/>
                          <a:ea typeface="宋体"/>
                        </a:rPr>
                        <a:t>6</a:t>
                      </a:r>
                      <a:r>
                        <a:rPr lang="zh-CN" sz="1400" kern="500">
                          <a:latin typeface="Times New Roman"/>
                          <a:ea typeface="宋体"/>
                        </a:rPr>
                        <a:t>．执行时间约束</a:t>
                      </a:r>
                    </a:p>
                    <a:p>
                      <a:pPr indent="266700" algn="just">
                        <a:spcAft>
                          <a:spcPts val="0"/>
                        </a:spcAft>
                      </a:pPr>
                      <a:r>
                        <a:rPr lang="en-US" sz="1400" kern="500">
                          <a:latin typeface="Times New Roman"/>
                          <a:ea typeface="宋体"/>
                        </a:rPr>
                        <a:t>7</a:t>
                      </a:r>
                      <a:r>
                        <a:rPr lang="zh-CN" sz="1400" kern="500">
                          <a:latin typeface="Times New Roman"/>
                          <a:ea typeface="宋体"/>
                        </a:rPr>
                        <a:t>．主存约束</a:t>
                      </a:r>
                    </a:p>
                    <a:p>
                      <a:pPr indent="266700" algn="just">
                        <a:spcAft>
                          <a:spcPts val="0"/>
                        </a:spcAft>
                      </a:pPr>
                      <a:r>
                        <a:rPr lang="en-US" sz="1400" kern="500">
                          <a:latin typeface="Times New Roman"/>
                          <a:ea typeface="宋体"/>
                        </a:rPr>
                        <a:t>8</a:t>
                      </a:r>
                      <a:r>
                        <a:rPr lang="zh-CN" sz="1400" kern="500">
                          <a:latin typeface="Times New Roman"/>
                          <a:ea typeface="宋体"/>
                        </a:rPr>
                        <a:t>．平台变动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4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zh-CN" sz="1400" kern="500">
                        <a:latin typeface="Times New Roman"/>
                        <a:ea typeface="宋体"/>
                      </a:endParaRPr>
                    </a:p>
                    <a:p>
                      <a:pPr indent="266700" algn="ctr">
                        <a:spcAft>
                          <a:spcPts val="0"/>
                        </a:spcAft>
                      </a:pPr>
                      <a:r>
                        <a:rPr lang="zh-CN" sz="1400" kern="500">
                          <a:latin typeface="Times New Roman"/>
                          <a:ea typeface="宋体"/>
                        </a:rPr>
                        <a:t>0.87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400" kern="500">
                          <a:latin typeface="Times New Roman"/>
                          <a:ea typeface="宋体"/>
                        </a:rPr>
                        <a:t>1.00</a:t>
                      </a:r>
                    </a:p>
                    <a:p>
                      <a:pPr indent="266700" algn="ctr">
                        <a:spcAft>
                          <a:spcPts val="0"/>
                        </a:spcAft>
                      </a:pPr>
                      <a:r>
                        <a:rPr lang="zh-CN" sz="1400" kern="500">
                          <a:latin typeface="Times New Roman"/>
                          <a:ea typeface="宋体"/>
                        </a:rPr>
                        <a:t>1.00</a:t>
                      </a:r>
                    </a:p>
                    <a:p>
                      <a:pPr indent="266700" algn="ctr">
                        <a:spcAft>
                          <a:spcPts val="0"/>
                        </a:spcAft>
                      </a:pPr>
                      <a:r>
                        <a:rPr lang="zh-CN" sz="1400" kern="500">
                          <a:latin typeface="Times New Roman"/>
                          <a:ea typeface="宋体"/>
                        </a:rPr>
                        <a:t>1.00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400" kern="500">
                          <a:latin typeface="Times New Roman"/>
                          <a:ea typeface="宋体"/>
                        </a:rPr>
                        <a:t>1.11</a:t>
                      </a:r>
                    </a:p>
                    <a:p>
                      <a:pPr indent="266700" algn="ctr">
                        <a:spcAft>
                          <a:spcPts val="0"/>
                        </a:spcAft>
                      </a:pPr>
                      <a:r>
                        <a:rPr lang="zh-CN" sz="1400" kern="500">
                          <a:latin typeface="Times New Roman"/>
                          <a:ea typeface="宋体"/>
                        </a:rPr>
                        <a:t>1.06</a:t>
                      </a:r>
                    </a:p>
                    <a:p>
                      <a:pPr indent="266700" algn="ctr">
                        <a:spcAft>
                          <a:spcPts val="0"/>
                        </a:spcAft>
                      </a:pPr>
                      <a:r>
                        <a:rPr lang="zh-CN" sz="1400" kern="500">
                          <a:latin typeface="Times New Roman"/>
                          <a:ea typeface="宋体"/>
                        </a:rPr>
                        <a:t>1.15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400" kern="500">
                          <a:latin typeface="Times New Roman"/>
                          <a:ea typeface="宋体"/>
                        </a:rPr>
                        <a:t>1.31</a:t>
                      </a:r>
                    </a:p>
                    <a:p>
                      <a:pPr indent="266700" algn="ctr">
                        <a:spcAft>
                          <a:spcPts val="0"/>
                        </a:spcAft>
                      </a:pPr>
                      <a:r>
                        <a:rPr lang="zh-CN" sz="1400" kern="500">
                          <a:latin typeface="Times New Roman"/>
                          <a:ea typeface="宋体"/>
                        </a:rPr>
                        <a:t>1.21</a:t>
                      </a:r>
                    </a:p>
                    <a:p>
                      <a:pPr indent="266700" algn="ctr">
                        <a:spcAft>
                          <a:spcPts val="0"/>
                        </a:spcAft>
                      </a:pPr>
                      <a:r>
                        <a:rPr lang="zh-CN" sz="1400" kern="500">
                          <a:latin typeface="Times New Roman"/>
                          <a:ea typeface="宋体"/>
                        </a:rPr>
                        <a:t>1.30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400" kern="500">
                          <a:latin typeface="Times New Roman"/>
                          <a:ea typeface="宋体"/>
                        </a:rPr>
                        <a:t>1.67</a:t>
                      </a:r>
                    </a:p>
                    <a:p>
                      <a:pPr indent="266700" algn="ctr">
                        <a:spcAft>
                          <a:spcPts val="0"/>
                        </a:spcAft>
                      </a:pPr>
                      <a:r>
                        <a:rPr lang="zh-CN" sz="1400" kern="500">
                          <a:latin typeface="Times New Roman"/>
                          <a:ea typeface="宋体"/>
                        </a:rPr>
                        <a:t>1.57</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76413">
                <a:tc>
                  <a:txBody>
                    <a:bodyPr/>
                    <a:lstStyle/>
                    <a:p>
                      <a:pPr indent="266700" algn="ctr">
                        <a:spcAft>
                          <a:spcPts val="0"/>
                        </a:spcAft>
                      </a:pPr>
                      <a:r>
                        <a:rPr lang="zh-CN" sz="1400" kern="500">
                          <a:latin typeface="Times New Roman"/>
                          <a:ea typeface="宋体"/>
                        </a:rPr>
                        <a:t>人员因素</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1400" kern="500">
                          <a:latin typeface="Times New Roman"/>
                          <a:ea typeface="宋体"/>
                        </a:rPr>
                        <a:t>9</a:t>
                      </a:r>
                      <a:r>
                        <a:rPr lang="zh-CN" sz="1400" kern="500">
                          <a:latin typeface="Times New Roman"/>
                          <a:ea typeface="宋体"/>
                        </a:rPr>
                        <a:t>．分析员能力</a:t>
                      </a:r>
                    </a:p>
                    <a:p>
                      <a:pPr indent="266700" algn="just">
                        <a:spcAft>
                          <a:spcPts val="0"/>
                        </a:spcAft>
                      </a:pPr>
                      <a:r>
                        <a:rPr lang="en-US" sz="1400" kern="500">
                          <a:latin typeface="Times New Roman"/>
                          <a:ea typeface="宋体"/>
                        </a:rPr>
                        <a:t>10</a:t>
                      </a:r>
                      <a:r>
                        <a:rPr lang="zh-CN" sz="1400" kern="500">
                          <a:latin typeface="Times New Roman"/>
                          <a:ea typeface="宋体"/>
                        </a:rPr>
                        <a:t>．程序员能力</a:t>
                      </a:r>
                    </a:p>
                    <a:p>
                      <a:pPr indent="266700" algn="just">
                        <a:spcAft>
                          <a:spcPts val="0"/>
                        </a:spcAft>
                      </a:pPr>
                      <a:r>
                        <a:rPr lang="en-US" sz="1400" kern="500">
                          <a:latin typeface="Times New Roman"/>
                          <a:ea typeface="宋体"/>
                        </a:rPr>
                        <a:t>11</a:t>
                      </a:r>
                      <a:r>
                        <a:rPr lang="zh-CN" sz="1400" kern="500">
                          <a:latin typeface="Times New Roman"/>
                          <a:ea typeface="宋体"/>
                        </a:rPr>
                        <a:t>．应用领域经验</a:t>
                      </a:r>
                    </a:p>
                    <a:p>
                      <a:pPr indent="266700" algn="just">
                        <a:spcAft>
                          <a:spcPts val="0"/>
                        </a:spcAft>
                      </a:pPr>
                      <a:r>
                        <a:rPr lang="en-US" sz="1400" kern="500">
                          <a:latin typeface="Times New Roman"/>
                          <a:ea typeface="宋体"/>
                        </a:rPr>
                        <a:t>12</a:t>
                      </a:r>
                      <a:r>
                        <a:rPr lang="zh-CN" sz="1400" kern="500">
                          <a:latin typeface="Times New Roman"/>
                          <a:ea typeface="宋体"/>
                        </a:rPr>
                        <a:t>．平台经验</a:t>
                      </a:r>
                    </a:p>
                    <a:p>
                      <a:pPr indent="266700" algn="just">
                        <a:spcAft>
                          <a:spcPts val="0"/>
                        </a:spcAft>
                      </a:pPr>
                      <a:r>
                        <a:rPr lang="en-US" sz="1400" kern="500">
                          <a:latin typeface="Times New Roman"/>
                          <a:ea typeface="宋体"/>
                        </a:rPr>
                        <a:t>13</a:t>
                      </a:r>
                      <a:r>
                        <a:rPr lang="zh-CN" sz="1400" kern="500">
                          <a:latin typeface="Times New Roman"/>
                          <a:ea typeface="宋体"/>
                        </a:rPr>
                        <a:t>．语言和工具经验</a:t>
                      </a:r>
                    </a:p>
                    <a:p>
                      <a:pPr indent="266700" algn="just">
                        <a:spcAft>
                          <a:spcPts val="0"/>
                        </a:spcAft>
                      </a:pPr>
                      <a:r>
                        <a:rPr lang="en-US" sz="1400" kern="500">
                          <a:latin typeface="Times New Roman"/>
                          <a:ea typeface="宋体"/>
                        </a:rPr>
                        <a:t>14</a:t>
                      </a:r>
                      <a:r>
                        <a:rPr lang="zh-CN" sz="1400" kern="500">
                          <a:latin typeface="Times New Roman"/>
                          <a:ea typeface="宋体"/>
                        </a:rPr>
                        <a:t>．人员连续性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400" kern="500">
                          <a:latin typeface="Times New Roman"/>
                          <a:ea typeface="宋体"/>
                        </a:rPr>
                        <a:t>1.50</a:t>
                      </a:r>
                    </a:p>
                    <a:p>
                      <a:pPr indent="266700" algn="ctr">
                        <a:spcAft>
                          <a:spcPts val="0"/>
                        </a:spcAft>
                      </a:pPr>
                      <a:r>
                        <a:rPr lang="zh-CN" sz="1400" kern="500">
                          <a:latin typeface="Times New Roman"/>
                          <a:ea typeface="宋体"/>
                        </a:rPr>
                        <a:t>1.37</a:t>
                      </a:r>
                    </a:p>
                    <a:p>
                      <a:pPr indent="266700" algn="ctr">
                        <a:spcAft>
                          <a:spcPts val="0"/>
                        </a:spcAft>
                      </a:pPr>
                      <a:r>
                        <a:rPr lang="zh-CN" sz="1400" kern="500">
                          <a:latin typeface="Times New Roman"/>
                          <a:ea typeface="宋体"/>
                        </a:rPr>
                        <a:t>1.22</a:t>
                      </a:r>
                    </a:p>
                    <a:p>
                      <a:pPr indent="266700" algn="ctr">
                        <a:spcAft>
                          <a:spcPts val="0"/>
                        </a:spcAft>
                      </a:pPr>
                      <a:r>
                        <a:rPr lang="zh-CN" sz="1400" kern="500">
                          <a:latin typeface="Times New Roman"/>
                          <a:ea typeface="宋体"/>
                        </a:rPr>
                        <a:t>1.24</a:t>
                      </a:r>
                    </a:p>
                    <a:p>
                      <a:pPr indent="266700" algn="ctr">
                        <a:spcAft>
                          <a:spcPts val="0"/>
                        </a:spcAft>
                      </a:pPr>
                      <a:r>
                        <a:rPr lang="zh-CN" sz="1400" kern="500">
                          <a:latin typeface="Times New Roman"/>
                          <a:ea typeface="宋体"/>
                        </a:rPr>
                        <a:t>1.25</a:t>
                      </a:r>
                    </a:p>
                    <a:p>
                      <a:pPr indent="266700" algn="ctr">
                        <a:spcAft>
                          <a:spcPts val="0"/>
                        </a:spcAft>
                      </a:pPr>
                      <a:r>
                        <a:rPr lang="zh-CN" sz="1400" kern="500">
                          <a:latin typeface="Times New Roman"/>
                          <a:ea typeface="宋体"/>
                        </a:rPr>
                        <a:t>1.24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400" kern="500">
                          <a:latin typeface="Times New Roman"/>
                          <a:ea typeface="宋体"/>
                        </a:rPr>
                        <a:t>1.22</a:t>
                      </a:r>
                    </a:p>
                    <a:p>
                      <a:pPr indent="266700" algn="ctr">
                        <a:spcAft>
                          <a:spcPts val="0"/>
                        </a:spcAft>
                      </a:pPr>
                      <a:r>
                        <a:rPr lang="zh-CN" sz="1400" kern="500">
                          <a:latin typeface="Times New Roman"/>
                          <a:ea typeface="宋体"/>
                        </a:rPr>
                        <a:t>1.16</a:t>
                      </a:r>
                    </a:p>
                    <a:p>
                      <a:pPr indent="266700" algn="ctr">
                        <a:spcAft>
                          <a:spcPts val="0"/>
                        </a:spcAft>
                      </a:pPr>
                      <a:r>
                        <a:rPr lang="zh-CN" sz="1400" kern="500">
                          <a:latin typeface="Times New Roman"/>
                          <a:ea typeface="宋体"/>
                        </a:rPr>
                        <a:t>1.10</a:t>
                      </a:r>
                    </a:p>
                    <a:p>
                      <a:pPr indent="266700" algn="ctr">
                        <a:spcAft>
                          <a:spcPts val="0"/>
                        </a:spcAft>
                      </a:pPr>
                      <a:r>
                        <a:rPr lang="zh-CN" sz="1400" kern="500">
                          <a:latin typeface="Times New Roman"/>
                          <a:ea typeface="宋体"/>
                        </a:rPr>
                        <a:t>1.10</a:t>
                      </a:r>
                    </a:p>
                    <a:p>
                      <a:pPr indent="266700" algn="ctr">
                        <a:spcAft>
                          <a:spcPts val="0"/>
                        </a:spcAft>
                      </a:pPr>
                      <a:r>
                        <a:rPr lang="zh-CN" sz="1400" kern="500">
                          <a:latin typeface="Times New Roman"/>
                          <a:ea typeface="宋体"/>
                        </a:rPr>
                        <a:t>1.12</a:t>
                      </a:r>
                    </a:p>
                    <a:p>
                      <a:pPr indent="266700" algn="ctr">
                        <a:spcAft>
                          <a:spcPts val="0"/>
                        </a:spcAft>
                      </a:pPr>
                      <a:r>
                        <a:rPr lang="zh-CN" sz="1400" kern="500">
                          <a:latin typeface="Times New Roman"/>
                          <a:ea typeface="宋体"/>
                        </a:rPr>
                        <a:t>1.10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400" kern="500">
                          <a:latin typeface="Times New Roman"/>
                          <a:ea typeface="宋体"/>
                        </a:rPr>
                        <a:t>1.00</a:t>
                      </a:r>
                    </a:p>
                    <a:p>
                      <a:pPr indent="266700" algn="ctr">
                        <a:spcAft>
                          <a:spcPts val="0"/>
                        </a:spcAft>
                      </a:pPr>
                      <a:r>
                        <a:rPr lang="zh-CN" sz="1400" kern="500">
                          <a:latin typeface="Times New Roman"/>
                          <a:ea typeface="宋体"/>
                        </a:rPr>
                        <a:t>1.00</a:t>
                      </a:r>
                    </a:p>
                    <a:p>
                      <a:pPr indent="266700" algn="ctr">
                        <a:spcAft>
                          <a:spcPts val="0"/>
                        </a:spcAft>
                      </a:pPr>
                      <a:r>
                        <a:rPr lang="zh-CN" sz="1400" kern="500">
                          <a:latin typeface="Times New Roman"/>
                          <a:ea typeface="宋体"/>
                        </a:rPr>
                        <a:t>1.00</a:t>
                      </a:r>
                    </a:p>
                    <a:p>
                      <a:pPr indent="266700" algn="ctr">
                        <a:spcAft>
                          <a:spcPts val="0"/>
                        </a:spcAft>
                      </a:pPr>
                      <a:r>
                        <a:rPr lang="zh-CN" sz="1400" kern="500">
                          <a:latin typeface="Times New Roman"/>
                          <a:ea typeface="宋体"/>
                        </a:rPr>
                        <a:t>1.00</a:t>
                      </a:r>
                    </a:p>
                    <a:p>
                      <a:pPr indent="266700" algn="ctr">
                        <a:spcAft>
                          <a:spcPts val="0"/>
                        </a:spcAft>
                      </a:pPr>
                      <a:r>
                        <a:rPr lang="zh-CN" sz="1400" kern="500">
                          <a:latin typeface="Times New Roman"/>
                          <a:ea typeface="宋体"/>
                        </a:rPr>
                        <a:t>1.00</a:t>
                      </a:r>
                    </a:p>
                    <a:p>
                      <a:pPr indent="266700" algn="ctr">
                        <a:spcAft>
                          <a:spcPts val="0"/>
                        </a:spcAft>
                      </a:pPr>
                      <a:r>
                        <a:rPr lang="zh-CN" sz="1400" kern="500">
                          <a:latin typeface="Times New Roman"/>
                          <a:ea typeface="宋体"/>
                        </a:rPr>
                        <a:t>1.00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400" kern="500">
                          <a:latin typeface="Times New Roman"/>
                          <a:ea typeface="宋体"/>
                        </a:rPr>
                        <a:t>0.83</a:t>
                      </a:r>
                    </a:p>
                    <a:p>
                      <a:pPr indent="266700" algn="ctr">
                        <a:spcAft>
                          <a:spcPts val="0"/>
                        </a:spcAft>
                      </a:pPr>
                      <a:r>
                        <a:rPr lang="zh-CN" sz="1400" kern="500">
                          <a:latin typeface="Times New Roman"/>
                          <a:ea typeface="宋体"/>
                        </a:rPr>
                        <a:t>0.87</a:t>
                      </a:r>
                    </a:p>
                    <a:p>
                      <a:pPr indent="266700" algn="ctr">
                        <a:spcAft>
                          <a:spcPts val="0"/>
                        </a:spcAft>
                      </a:pPr>
                      <a:r>
                        <a:rPr lang="zh-CN" sz="1400" kern="500">
                          <a:latin typeface="Times New Roman"/>
                          <a:ea typeface="宋体"/>
                        </a:rPr>
                        <a:t>0.89</a:t>
                      </a:r>
                    </a:p>
                    <a:p>
                      <a:pPr indent="266700" algn="ctr">
                        <a:spcAft>
                          <a:spcPts val="0"/>
                        </a:spcAft>
                      </a:pPr>
                      <a:r>
                        <a:rPr lang="zh-CN" sz="1400" kern="500">
                          <a:latin typeface="Times New Roman"/>
                          <a:ea typeface="宋体"/>
                        </a:rPr>
                        <a:t>0.92</a:t>
                      </a:r>
                    </a:p>
                    <a:p>
                      <a:pPr indent="266700" algn="ctr">
                        <a:spcAft>
                          <a:spcPts val="0"/>
                        </a:spcAft>
                      </a:pPr>
                      <a:r>
                        <a:rPr lang="zh-CN" sz="1400" kern="500">
                          <a:latin typeface="Times New Roman"/>
                          <a:ea typeface="宋体"/>
                        </a:rPr>
                        <a:t>0.88</a:t>
                      </a:r>
                    </a:p>
                    <a:p>
                      <a:pPr indent="266700" algn="ctr">
                        <a:spcAft>
                          <a:spcPts val="0"/>
                        </a:spcAft>
                      </a:pPr>
                      <a:r>
                        <a:rPr lang="zh-CN" sz="1400" kern="500">
                          <a:latin typeface="Times New Roman"/>
                          <a:ea typeface="宋体"/>
                        </a:rPr>
                        <a:t>0.92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400" kern="500">
                          <a:latin typeface="Times New Roman"/>
                          <a:ea typeface="宋体"/>
                        </a:rPr>
                        <a:t>0.67</a:t>
                      </a:r>
                    </a:p>
                    <a:p>
                      <a:pPr indent="266700" algn="ctr">
                        <a:spcAft>
                          <a:spcPts val="0"/>
                        </a:spcAft>
                      </a:pPr>
                      <a:r>
                        <a:rPr lang="zh-CN" sz="1400" kern="500">
                          <a:latin typeface="Times New Roman"/>
                          <a:ea typeface="宋体"/>
                        </a:rPr>
                        <a:t>0.74</a:t>
                      </a:r>
                    </a:p>
                    <a:p>
                      <a:pPr indent="266700" algn="ctr">
                        <a:spcAft>
                          <a:spcPts val="0"/>
                        </a:spcAft>
                      </a:pPr>
                      <a:r>
                        <a:rPr lang="zh-CN" sz="1400" kern="500">
                          <a:latin typeface="Times New Roman"/>
                          <a:ea typeface="宋体"/>
                        </a:rPr>
                        <a:t>0.81</a:t>
                      </a:r>
                    </a:p>
                    <a:p>
                      <a:pPr indent="266700" algn="ctr">
                        <a:spcAft>
                          <a:spcPts val="0"/>
                        </a:spcAft>
                      </a:pPr>
                      <a:r>
                        <a:rPr lang="zh-CN" sz="1400" kern="500">
                          <a:latin typeface="Times New Roman"/>
                          <a:ea typeface="宋体"/>
                        </a:rPr>
                        <a:t>0.84</a:t>
                      </a:r>
                    </a:p>
                    <a:p>
                      <a:pPr indent="266700" algn="ctr">
                        <a:spcAft>
                          <a:spcPts val="0"/>
                        </a:spcAft>
                      </a:pPr>
                      <a:r>
                        <a:rPr lang="zh-CN" sz="1400" kern="500">
                          <a:latin typeface="Times New Roman"/>
                          <a:ea typeface="宋体"/>
                        </a:rPr>
                        <a:t>0.81</a:t>
                      </a:r>
                    </a:p>
                    <a:p>
                      <a:pPr indent="266700" algn="ctr">
                        <a:spcAft>
                          <a:spcPts val="0"/>
                        </a:spcAft>
                      </a:pPr>
                      <a:r>
                        <a:rPr lang="zh-CN" sz="1400" kern="500">
                          <a:latin typeface="Times New Roman"/>
                          <a:ea typeface="宋体"/>
                        </a:rPr>
                        <a:t>0.84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zh-CN" sz="14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88206">
                <a:tc>
                  <a:txBody>
                    <a:bodyPr/>
                    <a:lstStyle/>
                    <a:p>
                      <a:pPr indent="266700" algn="ctr">
                        <a:spcAft>
                          <a:spcPts val="0"/>
                        </a:spcAft>
                      </a:pPr>
                      <a:r>
                        <a:rPr lang="zh-CN" sz="1400" kern="500">
                          <a:latin typeface="Times New Roman"/>
                          <a:ea typeface="宋体"/>
                        </a:rPr>
                        <a:t>项目因素</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1400" kern="500">
                          <a:latin typeface="Times New Roman"/>
                          <a:ea typeface="宋体"/>
                        </a:rPr>
                        <a:t>15</a:t>
                      </a:r>
                      <a:r>
                        <a:rPr lang="zh-CN" sz="1400" kern="500">
                          <a:latin typeface="Times New Roman"/>
                          <a:ea typeface="宋体"/>
                        </a:rPr>
                        <a:t>．使用软件工具</a:t>
                      </a:r>
                    </a:p>
                    <a:p>
                      <a:pPr indent="266700" algn="just">
                        <a:spcAft>
                          <a:spcPts val="0"/>
                        </a:spcAft>
                      </a:pPr>
                      <a:r>
                        <a:rPr lang="en-US" sz="1400" kern="500">
                          <a:latin typeface="Times New Roman"/>
                          <a:ea typeface="宋体"/>
                        </a:rPr>
                        <a:t>16</a:t>
                      </a:r>
                      <a:r>
                        <a:rPr lang="zh-CN" sz="1400" kern="500">
                          <a:latin typeface="Times New Roman"/>
                          <a:ea typeface="宋体"/>
                        </a:rPr>
                        <a:t>．多地点开发</a:t>
                      </a:r>
                    </a:p>
                    <a:p>
                      <a:pPr indent="266700" algn="just">
                        <a:spcAft>
                          <a:spcPts val="0"/>
                        </a:spcAft>
                      </a:pPr>
                      <a:r>
                        <a:rPr lang="en-US" sz="1400" kern="500">
                          <a:latin typeface="Times New Roman"/>
                          <a:ea typeface="宋体"/>
                        </a:rPr>
                        <a:t>17</a:t>
                      </a:r>
                      <a:r>
                        <a:rPr lang="zh-CN" sz="1400" kern="500">
                          <a:latin typeface="Times New Roman"/>
                          <a:ea typeface="宋体"/>
                        </a:rPr>
                        <a:t>．开发进度限制</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400" kern="500">
                          <a:latin typeface="Times New Roman"/>
                          <a:ea typeface="宋体"/>
                        </a:rPr>
                        <a:t>1.24</a:t>
                      </a:r>
                    </a:p>
                    <a:p>
                      <a:pPr indent="266700" algn="ctr">
                        <a:spcAft>
                          <a:spcPts val="0"/>
                        </a:spcAft>
                      </a:pPr>
                      <a:r>
                        <a:rPr lang="zh-CN" sz="1400" kern="500">
                          <a:latin typeface="Times New Roman"/>
                          <a:ea typeface="宋体"/>
                        </a:rPr>
                        <a:t>1.25</a:t>
                      </a:r>
                    </a:p>
                    <a:p>
                      <a:pPr indent="266700" algn="ctr">
                        <a:spcAft>
                          <a:spcPts val="0"/>
                        </a:spcAft>
                      </a:pPr>
                      <a:r>
                        <a:rPr lang="zh-CN" sz="1400" kern="500">
                          <a:latin typeface="Times New Roman"/>
                          <a:ea typeface="宋体"/>
                        </a:rPr>
                        <a:t>1.29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400" kern="500">
                          <a:latin typeface="Times New Roman"/>
                          <a:ea typeface="宋体"/>
                        </a:rPr>
                        <a:t>1.12</a:t>
                      </a:r>
                    </a:p>
                    <a:p>
                      <a:pPr indent="266700" algn="ctr">
                        <a:spcAft>
                          <a:spcPts val="0"/>
                        </a:spcAft>
                      </a:pPr>
                      <a:r>
                        <a:rPr lang="zh-CN" sz="1400" kern="500">
                          <a:latin typeface="Times New Roman"/>
                          <a:ea typeface="宋体"/>
                        </a:rPr>
                        <a:t>1.10</a:t>
                      </a:r>
                    </a:p>
                    <a:p>
                      <a:pPr indent="266700" algn="ctr">
                        <a:spcAft>
                          <a:spcPts val="0"/>
                        </a:spcAft>
                      </a:pPr>
                      <a:r>
                        <a:rPr lang="zh-CN" sz="1400" kern="500">
                          <a:latin typeface="Times New Roman"/>
                          <a:ea typeface="宋体"/>
                        </a:rPr>
                        <a:t>1.10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400" kern="500">
                          <a:latin typeface="Times New Roman"/>
                          <a:ea typeface="宋体"/>
                        </a:rPr>
                        <a:t>1.00</a:t>
                      </a:r>
                    </a:p>
                    <a:p>
                      <a:pPr indent="266700" algn="ctr">
                        <a:spcAft>
                          <a:spcPts val="0"/>
                        </a:spcAft>
                      </a:pPr>
                      <a:r>
                        <a:rPr lang="zh-CN" sz="1400" kern="500">
                          <a:latin typeface="Times New Roman"/>
                          <a:ea typeface="宋体"/>
                        </a:rPr>
                        <a:t>1.00</a:t>
                      </a:r>
                    </a:p>
                    <a:p>
                      <a:pPr indent="266700" algn="ctr">
                        <a:spcAft>
                          <a:spcPts val="0"/>
                        </a:spcAft>
                      </a:pPr>
                      <a:r>
                        <a:rPr lang="zh-CN" sz="1400" kern="500">
                          <a:latin typeface="Times New Roman"/>
                          <a:ea typeface="宋体"/>
                        </a:rPr>
                        <a:t>1.00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400" kern="500">
                          <a:latin typeface="Times New Roman"/>
                          <a:ea typeface="宋体"/>
                        </a:rPr>
                        <a:t>0.86</a:t>
                      </a:r>
                    </a:p>
                    <a:p>
                      <a:pPr indent="266700" algn="ctr">
                        <a:spcAft>
                          <a:spcPts val="0"/>
                        </a:spcAft>
                      </a:pPr>
                      <a:r>
                        <a:rPr lang="zh-CN" sz="1400" kern="500">
                          <a:latin typeface="Times New Roman"/>
                          <a:ea typeface="宋体"/>
                        </a:rPr>
                        <a:t>0.92</a:t>
                      </a:r>
                    </a:p>
                    <a:p>
                      <a:pPr indent="266700" algn="ctr">
                        <a:spcAft>
                          <a:spcPts val="0"/>
                        </a:spcAft>
                      </a:pPr>
                      <a:r>
                        <a:rPr lang="zh-CN" sz="1400" kern="500">
                          <a:latin typeface="Times New Roman"/>
                          <a:ea typeface="宋体"/>
                        </a:rPr>
                        <a:t>1.00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400" kern="500">
                          <a:latin typeface="Times New Roman"/>
                          <a:ea typeface="宋体"/>
                        </a:rPr>
                        <a:t>0.72</a:t>
                      </a:r>
                    </a:p>
                    <a:p>
                      <a:pPr indent="266700" algn="ctr">
                        <a:spcAft>
                          <a:spcPts val="0"/>
                        </a:spcAft>
                      </a:pPr>
                      <a:r>
                        <a:rPr lang="zh-CN" sz="1400" kern="500">
                          <a:latin typeface="Times New Roman"/>
                          <a:ea typeface="宋体"/>
                        </a:rPr>
                        <a:t>0.84</a:t>
                      </a:r>
                    </a:p>
                    <a:p>
                      <a:pPr indent="266700" algn="ctr">
                        <a:spcAft>
                          <a:spcPts val="0"/>
                        </a:spcAft>
                      </a:pPr>
                      <a:r>
                        <a:rPr lang="zh-CN" sz="1400" kern="500">
                          <a:latin typeface="Times New Roman"/>
                          <a:ea typeface="宋体"/>
                        </a:rPr>
                        <a:t>1.00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zh-CN" sz="1400" kern="500" dirty="0">
                        <a:latin typeface="Times New Roman"/>
                        <a:ea typeface="宋体"/>
                      </a:endParaRPr>
                    </a:p>
                    <a:p>
                      <a:pPr indent="266700" algn="ctr">
                        <a:spcAft>
                          <a:spcPts val="0"/>
                        </a:spcAft>
                      </a:pPr>
                      <a:r>
                        <a:rPr lang="zh-CN" sz="1400" kern="500" dirty="0">
                          <a:latin typeface="Times New Roman"/>
                          <a:ea typeface="宋体"/>
                        </a:rPr>
                        <a:t>0.78</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矩形 4"/>
          <p:cNvSpPr/>
          <p:nvPr/>
        </p:nvSpPr>
        <p:spPr>
          <a:xfrm>
            <a:off x="4629141" y="1510536"/>
            <a:ext cx="3313728" cy="369332"/>
          </a:xfrm>
          <a:prstGeom prst="rect">
            <a:avLst/>
          </a:prstGeom>
        </p:spPr>
        <p:txBody>
          <a:bodyPr wrap="none">
            <a:spAutoFit/>
          </a:bodyPr>
          <a:lstStyle/>
          <a:p>
            <a:r>
              <a:rPr lang="zh-CN" altLang="en-US" dirty="0" smtClean="0"/>
              <a:t>表</a:t>
            </a:r>
            <a:r>
              <a:rPr lang="en-US" dirty="0" smtClean="0"/>
              <a:t>10-3  </a:t>
            </a:r>
            <a:r>
              <a:rPr lang="zh-CN" altLang="en-US" dirty="0" smtClean="0"/>
              <a:t>成本因素及工作量系数</a:t>
            </a:r>
            <a:endParaRPr lang="zh-CN" altLang="en-US" dirty="0"/>
          </a:p>
        </p:txBody>
      </p:sp>
    </p:spTree>
  </p:cSld>
  <p:clrMapOvr>
    <a:masterClrMapping/>
  </p:clrMapOvr>
  <p:transition>
    <p:wipe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olidFill>
                  <a:srgbClr val="FF0000"/>
                </a:solidFill>
              </a:rPr>
              <a:t>10.2 </a:t>
            </a:r>
            <a:r>
              <a:rPr lang="zh-CN" altLang="en-US" dirty="0">
                <a:solidFill>
                  <a:srgbClr val="FF0000"/>
                </a:solidFill>
              </a:rPr>
              <a:t>软件规模估算</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10.2.4  COCOMO2模型</a:t>
            </a:r>
          </a:p>
        </p:txBody>
      </p:sp>
      <p:sp>
        <p:nvSpPr>
          <p:cNvPr id="4" name="文本框 99"/>
          <p:cNvSpPr txBox="1"/>
          <p:nvPr/>
        </p:nvSpPr>
        <p:spPr>
          <a:xfrm>
            <a:off x="899161" y="2108657"/>
            <a:ext cx="10165080" cy="4137303"/>
          </a:xfrm>
          <a:prstGeom prst="roundRect">
            <a:avLst/>
          </a:prstGeom>
          <a:noFill/>
          <a:ln w="9525">
            <a:solidFill>
              <a:schemeClr val="accent2"/>
            </a:solidFill>
            <a:prstDash val="sysDot"/>
          </a:ln>
        </p:spPr>
        <p:txBody>
          <a:bodyPr wrap="square" tIns="0" bIns="0">
            <a:spAutoFit/>
          </a:bodyPr>
          <a:lstStyle/>
          <a:p>
            <a:pPr indent="457200">
              <a:lnSpc>
                <a:spcPct val="150000"/>
              </a:lnSpc>
            </a:pPr>
            <a:r>
              <a:rPr lang="zh-CN" altLang="en-US" dirty="0" smtClean="0">
                <a:latin typeface="微软雅黑" panose="020B0503020204020204" charset="-122"/>
                <a:ea typeface="微软雅黑" panose="020B0503020204020204" charset="-122"/>
                <a:cs typeface="宋体" panose="02010600030101010101" pitchFamily="2" charset="-122"/>
              </a:rPr>
              <a:t>为了计算模型指数</a:t>
            </a:r>
            <a:r>
              <a:rPr lang="en-US" altLang="zh-CN" dirty="0" smtClean="0">
                <a:latin typeface="微软雅黑" panose="020B0503020204020204" charset="-122"/>
                <a:ea typeface="微软雅黑" panose="020B0503020204020204" charset="-122"/>
                <a:cs typeface="宋体" panose="02010600030101010101" pitchFamily="2" charset="-122"/>
              </a:rPr>
              <a:t>b</a:t>
            </a:r>
            <a:r>
              <a:rPr lang="zh-CN" altLang="en-US" dirty="0" smtClean="0">
                <a:latin typeface="微软雅黑" panose="020B0503020204020204" charset="-122"/>
                <a:ea typeface="微软雅黑" panose="020B0503020204020204" charset="-122"/>
                <a:cs typeface="宋体" panose="02010600030101010101" pitchFamily="2" charset="-122"/>
              </a:rPr>
              <a:t>，</a:t>
            </a:r>
            <a:r>
              <a:rPr lang="en-US" altLang="zh-CN" dirty="0" smtClean="0">
                <a:latin typeface="微软雅黑" panose="020B0503020204020204" charset="-122"/>
                <a:ea typeface="微软雅黑" panose="020B0503020204020204" charset="-122"/>
                <a:cs typeface="宋体" panose="02010600030101010101" pitchFamily="2" charset="-122"/>
              </a:rPr>
              <a:t>COCOMO2</a:t>
            </a:r>
            <a:r>
              <a:rPr lang="zh-CN" altLang="en-US" dirty="0" smtClean="0">
                <a:latin typeface="微软雅黑" panose="020B0503020204020204" charset="-122"/>
                <a:ea typeface="微软雅黑" panose="020B0503020204020204" charset="-122"/>
                <a:cs typeface="宋体" panose="02010600030101010101" pitchFamily="2" charset="-122"/>
              </a:rPr>
              <a:t>模型使用了</a:t>
            </a:r>
            <a:r>
              <a:rPr lang="en-US" altLang="zh-CN" dirty="0" smtClean="0">
                <a:latin typeface="微软雅黑" panose="020B0503020204020204" charset="-122"/>
                <a:ea typeface="微软雅黑" panose="020B0503020204020204" charset="-122"/>
                <a:cs typeface="宋体" panose="02010600030101010101" pitchFamily="2" charset="-122"/>
              </a:rPr>
              <a:t>5</a:t>
            </a:r>
            <a:r>
              <a:rPr lang="zh-CN" altLang="en-US" dirty="0" smtClean="0">
                <a:latin typeface="微软雅黑" panose="020B0503020204020204" charset="-122"/>
                <a:ea typeface="微软雅黑" panose="020B0503020204020204" charset="-122"/>
                <a:cs typeface="宋体" panose="02010600030101010101" pitchFamily="2" charset="-122"/>
              </a:rPr>
              <a:t>个分级因素</a:t>
            </a:r>
            <a:r>
              <a:rPr lang="en-US" altLang="zh-CN" dirty="0" err="1" smtClean="0">
                <a:latin typeface="微软雅黑" panose="020B0503020204020204" charset="-122"/>
                <a:ea typeface="微软雅黑" panose="020B0503020204020204" charset="-122"/>
                <a:cs typeface="宋体" panose="02010600030101010101" pitchFamily="2" charset="-122"/>
              </a:rPr>
              <a:t>Wi</a:t>
            </a:r>
            <a:r>
              <a:rPr lang="zh-CN" altLang="en-US" dirty="0" smtClean="0">
                <a:latin typeface="微软雅黑" panose="020B0503020204020204" charset="-122"/>
                <a:ea typeface="微软雅黑" panose="020B0503020204020204" charset="-122"/>
                <a:cs typeface="宋体" panose="02010600030101010101" pitchFamily="2" charset="-122"/>
              </a:rPr>
              <a:t>（</a:t>
            </a:r>
            <a:r>
              <a:rPr lang="en-US" altLang="zh-CN" dirty="0" smtClean="0">
                <a:latin typeface="微软雅黑" panose="020B0503020204020204" charset="-122"/>
                <a:ea typeface="微软雅黑" panose="020B0503020204020204" charset="-122"/>
                <a:cs typeface="宋体" panose="02010600030101010101" pitchFamily="2" charset="-122"/>
              </a:rPr>
              <a:t>1≤i≤5</a:t>
            </a:r>
            <a:r>
              <a:rPr lang="zh-CN" altLang="en-US" dirty="0" smtClean="0">
                <a:latin typeface="微软雅黑" panose="020B0503020204020204" charset="-122"/>
                <a:ea typeface="微软雅黑" panose="020B0503020204020204" charset="-122"/>
                <a:cs typeface="宋体" panose="02010600030101010101" pitchFamily="2" charset="-122"/>
              </a:rPr>
              <a:t>），其中每个成本因素都划分为</a:t>
            </a:r>
            <a:r>
              <a:rPr lang="en-US" altLang="zh-CN" dirty="0" smtClean="0">
                <a:latin typeface="微软雅黑" panose="020B0503020204020204" charset="-122"/>
                <a:ea typeface="微软雅黑" panose="020B0503020204020204" charset="-122"/>
                <a:cs typeface="宋体" panose="02010600030101010101" pitchFamily="2" charset="-122"/>
              </a:rPr>
              <a:t>6</a:t>
            </a:r>
            <a:r>
              <a:rPr lang="zh-CN" altLang="en-US" dirty="0" smtClean="0">
                <a:latin typeface="微软雅黑" panose="020B0503020204020204" charset="-122"/>
                <a:ea typeface="微软雅黑" panose="020B0503020204020204" charset="-122"/>
                <a:cs typeface="宋体" panose="02010600030101010101" pitchFamily="2" charset="-122"/>
              </a:rPr>
              <a:t>个级别，每个级别的分级因素</a:t>
            </a:r>
            <a:r>
              <a:rPr lang="en-US" altLang="zh-CN" dirty="0" err="1" smtClean="0">
                <a:latin typeface="微软雅黑" panose="020B0503020204020204" charset="-122"/>
                <a:ea typeface="微软雅黑" panose="020B0503020204020204" charset="-122"/>
                <a:cs typeface="宋体" panose="02010600030101010101" pitchFamily="2" charset="-122"/>
              </a:rPr>
              <a:t>Wi</a:t>
            </a:r>
            <a:r>
              <a:rPr lang="zh-CN" altLang="en-US" dirty="0" smtClean="0">
                <a:latin typeface="微软雅黑" panose="020B0503020204020204" charset="-122"/>
                <a:ea typeface="微软雅黑" panose="020B0503020204020204" charset="-122"/>
                <a:cs typeface="宋体" panose="02010600030101010101" pitchFamily="2" charset="-122"/>
              </a:rPr>
              <a:t>取值如下：甚低</a:t>
            </a:r>
            <a:r>
              <a:rPr lang="en-US" altLang="zh-CN" dirty="0" err="1" smtClean="0">
                <a:latin typeface="微软雅黑" panose="020B0503020204020204" charset="-122"/>
                <a:ea typeface="微软雅黑" panose="020B0503020204020204" charset="-122"/>
                <a:cs typeface="宋体" panose="02010600030101010101" pitchFamily="2" charset="-122"/>
              </a:rPr>
              <a:t>Wi</a:t>
            </a:r>
            <a:r>
              <a:rPr lang="en-US" altLang="zh-CN" dirty="0" smtClean="0">
                <a:latin typeface="微软雅黑" panose="020B0503020204020204" charset="-122"/>
                <a:ea typeface="微软雅黑" panose="020B0503020204020204" charset="-122"/>
                <a:cs typeface="宋体" panose="02010600030101010101" pitchFamily="2" charset="-122"/>
              </a:rPr>
              <a:t> =5</a:t>
            </a:r>
            <a:r>
              <a:rPr lang="zh-CN" altLang="en-US" dirty="0" smtClean="0">
                <a:latin typeface="微软雅黑" panose="020B0503020204020204" charset="-122"/>
                <a:ea typeface="微软雅黑" panose="020B0503020204020204" charset="-122"/>
                <a:cs typeface="宋体" panose="02010600030101010101" pitchFamily="2" charset="-122"/>
              </a:rPr>
              <a:t>，低</a:t>
            </a:r>
            <a:r>
              <a:rPr lang="en-US" altLang="zh-CN" dirty="0" err="1" smtClean="0">
                <a:latin typeface="微软雅黑" panose="020B0503020204020204" charset="-122"/>
                <a:ea typeface="微软雅黑" panose="020B0503020204020204" charset="-122"/>
                <a:cs typeface="宋体" panose="02010600030101010101" pitchFamily="2" charset="-122"/>
              </a:rPr>
              <a:t>Wi</a:t>
            </a:r>
            <a:r>
              <a:rPr lang="en-US" altLang="zh-CN" dirty="0" smtClean="0">
                <a:latin typeface="微软雅黑" panose="020B0503020204020204" charset="-122"/>
                <a:ea typeface="微软雅黑" panose="020B0503020204020204" charset="-122"/>
                <a:cs typeface="宋体" panose="02010600030101010101" pitchFamily="2" charset="-122"/>
              </a:rPr>
              <a:t> =4</a:t>
            </a:r>
            <a:r>
              <a:rPr lang="zh-CN" altLang="en-US" dirty="0" smtClean="0">
                <a:latin typeface="微软雅黑" panose="020B0503020204020204" charset="-122"/>
                <a:ea typeface="微软雅黑" panose="020B0503020204020204" charset="-122"/>
                <a:cs typeface="宋体" panose="02010600030101010101" pitchFamily="2" charset="-122"/>
              </a:rPr>
              <a:t>，正常</a:t>
            </a:r>
            <a:r>
              <a:rPr lang="en-US" altLang="zh-CN" dirty="0" err="1" smtClean="0">
                <a:latin typeface="微软雅黑" panose="020B0503020204020204" charset="-122"/>
                <a:ea typeface="微软雅黑" panose="020B0503020204020204" charset="-122"/>
                <a:cs typeface="宋体" panose="02010600030101010101" pitchFamily="2" charset="-122"/>
              </a:rPr>
              <a:t>Wi</a:t>
            </a:r>
            <a:r>
              <a:rPr lang="en-US" altLang="zh-CN" dirty="0" smtClean="0">
                <a:latin typeface="微软雅黑" panose="020B0503020204020204" charset="-122"/>
                <a:ea typeface="微软雅黑" panose="020B0503020204020204" charset="-122"/>
                <a:cs typeface="宋体" panose="02010600030101010101" pitchFamily="2" charset="-122"/>
              </a:rPr>
              <a:t> =3</a:t>
            </a:r>
            <a:r>
              <a:rPr lang="zh-CN" altLang="en-US" dirty="0" smtClean="0">
                <a:latin typeface="微软雅黑" panose="020B0503020204020204" charset="-122"/>
                <a:ea typeface="微软雅黑" panose="020B0503020204020204" charset="-122"/>
                <a:cs typeface="宋体" panose="02010600030101010101" pitchFamily="2" charset="-122"/>
              </a:rPr>
              <a:t>，高</a:t>
            </a:r>
            <a:r>
              <a:rPr lang="en-US" altLang="zh-CN" dirty="0" err="1" smtClean="0">
                <a:latin typeface="微软雅黑" panose="020B0503020204020204" charset="-122"/>
                <a:ea typeface="微软雅黑" panose="020B0503020204020204" charset="-122"/>
                <a:cs typeface="宋体" panose="02010600030101010101" pitchFamily="2" charset="-122"/>
              </a:rPr>
              <a:t>Wi</a:t>
            </a:r>
            <a:r>
              <a:rPr lang="en-US" altLang="zh-CN" dirty="0" smtClean="0">
                <a:latin typeface="微软雅黑" panose="020B0503020204020204" charset="-122"/>
                <a:ea typeface="微软雅黑" panose="020B0503020204020204" charset="-122"/>
                <a:cs typeface="宋体" panose="02010600030101010101" pitchFamily="2" charset="-122"/>
              </a:rPr>
              <a:t> =2</a:t>
            </a:r>
            <a:r>
              <a:rPr lang="zh-CN" altLang="en-US" dirty="0" smtClean="0">
                <a:latin typeface="微软雅黑" panose="020B0503020204020204" charset="-122"/>
                <a:ea typeface="微软雅黑" panose="020B0503020204020204" charset="-122"/>
                <a:cs typeface="宋体" panose="02010600030101010101" pitchFamily="2" charset="-122"/>
              </a:rPr>
              <a:t>，甚高</a:t>
            </a:r>
            <a:r>
              <a:rPr lang="en-US" altLang="zh-CN" dirty="0" err="1" smtClean="0">
                <a:latin typeface="微软雅黑" panose="020B0503020204020204" charset="-122"/>
                <a:ea typeface="微软雅黑" panose="020B0503020204020204" charset="-122"/>
                <a:cs typeface="宋体" panose="02010600030101010101" pitchFamily="2" charset="-122"/>
              </a:rPr>
              <a:t>Wi</a:t>
            </a:r>
            <a:r>
              <a:rPr lang="en-US" altLang="zh-CN" dirty="0" smtClean="0">
                <a:latin typeface="微软雅黑" panose="020B0503020204020204" charset="-122"/>
                <a:ea typeface="微软雅黑" panose="020B0503020204020204" charset="-122"/>
                <a:cs typeface="宋体" panose="02010600030101010101" pitchFamily="2" charset="-122"/>
              </a:rPr>
              <a:t> =1</a:t>
            </a:r>
            <a:r>
              <a:rPr lang="zh-CN" altLang="en-US" dirty="0" smtClean="0">
                <a:latin typeface="微软雅黑" panose="020B0503020204020204" charset="-122"/>
                <a:ea typeface="微软雅黑" panose="020B0503020204020204" charset="-122"/>
                <a:cs typeface="宋体" panose="02010600030101010101" pitchFamily="2" charset="-122"/>
              </a:rPr>
              <a:t>，特高</a:t>
            </a:r>
            <a:r>
              <a:rPr lang="en-US" altLang="zh-CN" dirty="0" err="1" smtClean="0">
                <a:latin typeface="微软雅黑" panose="020B0503020204020204" charset="-122"/>
                <a:ea typeface="微软雅黑" panose="020B0503020204020204" charset="-122"/>
                <a:cs typeface="宋体" panose="02010600030101010101" pitchFamily="2" charset="-122"/>
              </a:rPr>
              <a:t>Wi</a:t>
            </a:r>
            <a:r>
              <a:rPr lang="en-US" altLang="zh-CN" dirty="0" smtClean="0">
                <a:latin typeface="微软雅黑" panose="020B0503020204020204" charset="-122"/>
                <a:ea typeface="微软雅黑" panose="020B0503020204020204" charset="-122"/>
                <a:cs typeface="宋体" panose="02010600030101010101" pitchFamily="2" charset="-122"/>
              </a:rPr>
              <a:t> =0</a:t>
            </a:r>
            <a:r>
              <a:rPr lang="zh-CN" altLang="en-US" dirty="0" smtClean="0">
                <a:latin typeface="微软雅黑" panose="020B0503020204020204" charset="-122"/>
                <a:ea typeface="微软雅黑" panose="020B0503020204020204" charset="-122"/>
                <a:cs typeface="宋体" panose="02010600030101010101" pitchFamily="2" charset="-122"/>
              </a:rPr>
              <a:t>。然后用下式计算</a:t>
            </a:r>
            <a:r>
              <a:rPr lang="en-US" altLang="zh-CN" dirty="0" smtClean="0">
                <a:latin typeface="微软雅黑" panose="020B0503020204020204" charset="-122"/>
                <a:ea typeface="微软雅黑" panose="020B0503020204020204" charset="-122"/>
                <a:cs typeface="宋体" panose="02010600030101010101" pitchFamily="2" charset="-122"/>
              </a:rPr>
              <a:t>b</a:t>
            </a:r>
            <a:r>
              <a:rPr lang="zh-CN" altLang="en-US" dirty="0" smtClean="0">
                <a:latin typeface="微软雅黑" panose="020B0503020204020204" charset="-122"/>
                <a:ea typeface="微软雅黑" panose="020B0503020204020204" charset="-122"/>
                <a:cs typeface="宋体" panose="02010600030101010101" pitchFamily="2" charset="-122"/>
              </a:rPr>
              <a:t>的值：</a:t>
            </a:r>
            <a:endParaRPr lang="en-US" altLang="zh-CN" dirty="0" smtClean="0">
              <a:latin typeface="微软雅黑" panose="020B0503020204020204" charset="-122"/>
              <a:ea typeface="微软雅黑" panose="020B0503020204020204" charset="-122"/>
              <a:cs typeface="宋体" panose="02010600030101010101" pitchFamily="2" charset="-122"/>
            </a:endParaRPr>
          </a:p>
          <a:p>
            <a:pPr indent="457200">
              <a:lnSpc>
                <a:spcPct val="150000"/>
              </a:lnSpc>
            </a:pPr>
            <a:endParaRPr lang="zh-CN" altLang="en-US" dirty="0" smtClean="0">
              <a:latin typeface="微软雅黑" panose="020B0503020204020204" charset="-122"/>
              <a:ea typeface="微软雅黑" panose="020B0503020204020204" charset="-122"/>
              <a:cs typeface="宋体" panose="02010600030101010101" pitchFamily="2" charset="-122"/>
            </a:endParaRPr>
          </a:p>
          <a:p>
            <a:pPr indent="457200">
              <a:lnSpc>
                <a:spcPct val="150000"/>
              </a:lnSpc>
            </a:pPr>
            <a:r>
              <a:rPr lang="zh-CN" altLang="en-US" dirty="0" smtClean="0">
                <a:latin typeface="微软雅黑" panose="020B0503020204020204" charset="-122"/>
                <a:ea typeface="微软雅黑" panose="020B0503020204020204" charset="-122"/>
                <a:cs typeface="宋体" panose="02010600030101010101" pitchFamily="2" charset="-122"/>
              </a:rPr>
              <a:t>因而，</a:t>
            </a:r>
            <a:r>
              <a:rPr lang="en-US" altLang="zh-CN" dirty="0" smtClean="0">
                <a:latin typeface="微软雅黑" panose="020B0503020204020204" charset="-122"/>
                <a:ea typeface="微软雅黑" panose="020B0503020204020204" charset="-122"/>
                <a:cs typeface="宋体" panose="02010600030101010101" pitchFamily="2" charset="-122"/>
              </a:rPr>
              <a:t>b</a:t>
            </a:r>
            <a:r>
              <a:rPr lang="zh-CN" altLang="en-US" dirty="0" smtClean="0">
                <a:latin typeface="微软雅黑" panose="020B0503020204020204" charset="-122"/>
                <a:ea typeface="微软雅黑" panose="020B0503020204020204" charset="-122"/>
                <a:cs typeface="宋体" panose="02010600030101010101" pitchFamily="2" charset="-122"/>
              </a:rPr>
              <a:t>的取值范围为</a:t>
            </a:r>
            <a:r>
              <a:rPr lang="en-US" altLang="zh-CN" dirty="0" smtClean="0">
                <a:latin typeface="微软雅黑" panose="020B0503020204020204" charset="-122"/>
                <a:ea typeface="微软雅黑" panose="020B0503020204020204" charset="-122"/>
                <a:cs typeface="宋体" panose="02010600030101010101" pitchFamily="2" charset="-122"/>
              </a:rPr>
              <a:t>1.01</a:t>
            </a:r>
            <a:r>
              <a:rPr lang="zh-CN" altLang="en-US" dirty="0" smtClean="0">
                <a:latin typeface="微软雅黑" panose="020B0503020204020204" charset="-122"/>
                <a:ea typeface="微软雅黑" panose="020B0503020204020204" charset="-122"/>
                <a:cs typeface="宋体" panose="02010600030101010101" pitchFamily="2" charset="-122"/>
              </a:rPr>
              <a:t>～</a:t>
            </a:r>
            <a:r>
              <a:rPr lang="en-US" altLang="zh-CN" dirty="0" smtClean="0">
                <a:latin typeface="微软雅黑" panose="020B0503020204020204" charset="-122"/>
                <a:ea typeface="微软雅黑" panose="020B0503020204020204" charset="-122"/>
                <a:cs typeface="宋体" panose="02010600030101010101" pitchFamily="2" charset="-122"/>
              </a:rPr>
              <a:t>1.26</a:t>
            </a:r>
            <a:r>
              <a:rPr lang="zh-CN" altLang="en-US" dirty="0" smtClean="0">
                <a:latin typeface="微软雅黑" panose="020B0503020204020204" charset="-122"/>
                <a:ea typeface="微软雅黑" panose="020B0503020204020204" charset="-122"/>
                <a:cs typeface="宋体" panose="02010600030101010101" pitchFamily="2" charset="-122"/>
              </a:rPr>
              <a:t>。</a:t>
            </a:r>
          </a:p>
          <a:p>
            <a:pPr indent="457200">
              <a:lnSpc>
                <a:spcPct val="150000"/>
              </a:lnSpc>
            </a:pPr>
            <a:r>
              <a:rPr lang="en-US" altLang="zh-CN" dirty="0" smtClean="0">
                <a:latin typeface="微软雅黑" panose="020B0503020204020204" charset="-122"/>
                <a:ea typeface="微软雅黑" panose="020B0503020204020204" charset="-122"/>
                <a:cs typeface="宋体" panose="02010600030101010101" pitchFamily="2" charset="-122"/>
              </a:rPr>
              <a:t>COCOMO2</a:t>
            </a:r>
            <a:r>
              <a:rPr lang="zh-CN" altLang="en-US" dirty="0" smtClean="0">
                <a:latin typeface="微软雅黑" panose="020B0503020204020204" charset="-122"/>
                <a:ea typeface="微软雅黑" panose="020B0503020204020204" charset="-122"/>
                <a:cs typeface="宋体" panose="02010600030101010101" pitchFamily="2" charset="-122"/>
              </a:rPr>
              <a:t>使用的</a:t>
            </a:r>
            <a:r>
              <a:rPr lang="en-US" altLang="zh-CN" dirty="0" smtClean="0">
                <a:latin typeface="微软雅黑" panose="020B0503020204020204" charset="-122"/>
                <a:ea typeface="微软雅黑" panose="020B0503020204020204" charset="-122"/>
                <a:cs typeface="宋体" panose="02010600030101010101" pitchFamily="2" charset="-122"/>
              </a:rPr>
              <a:t>5</a:t>
            </a:r>
            <a:r>
              <a:rPr lang="zh-CN" altLang="en-US" dirty="0" smtClean="0">
                <a:latin typeface="微软雅黑" panose="020B0503020204020204" charset="-122"/>
                <a:ea typeface="微软雅黑" panose="020B0503020204020204" charset="-122"/>
                <a:cs typeface="宋体" panose="02010600030101010101" pitchFamily="2" charset="-122"/>
              </a:rPr>
              <a:t>个分级因素分别是项目先例性、开发灵活性、风险排除度、项目组凝聚力和过程成熟度。</a:t>
            </a:r>
          </a:p>
          <a:p>
            <a:pPr indent="457200">
              <a:lnSpc>
                <a:spcPct val="150000"/>
              </a:lnSpc>
            </a:pPr>
            <a:r>
              <a:rPr lang="zh-CN" altLang="en-US" dirty="0" smtClean="0">
                <a:latin typeface="微软雅黑" panose="020B0503020204020204" charset="-122"/>
                <a:ea typeface="微软雅黑" panose="020B0503020204020204" charset="-122"/>
                <a:cs typeface="宋体" panose="02010600030101010101" pitchFamily="2" charset="-122"/>
              </a:rPr>
              <a:t>在估算工作量的方程中，模型系数</a:t>
            </a:r>
            <a:r>
              <a:rPr lang="en-US" altLang="zh-CN" dirty="0" smtClean="0">
                <a:latin typeface="微软雅黑" panose="020B0503020204020204" charset="-122"/>
                <a:ea typeface="微软雅黑" panose="020B0503020204020204" charset="-122"/>
                <a:cs typeface="宋体" panose="02010600030101010101" pitchFamily="2" charset="-122"/>
              </a:rPr>
              <a:t>a</a:t>
            </a:r>
            <a:r>
              <a:rPr lang="zh-CN" altLang="en-US" dirty="0" smtClean="0">
                <a:latin typeface="微软雅黑" panose="020B0503020204020204" charset="-122"/>
                <a:ea typeface="微软雅黑" panose="020B0503020204020204" charset="-122"/>
                <a:cs typeface="宋体" panose="02010600030101010101" pitchFamily="2" charset="-122"/>
              </a:rPr>
              <a:t>的典型值为</a:t>
            </a:r>
            <a:r>
              <a:rPr lang="en-US" altLang="zh-CN" dirty="0" smtClean="0">
                <a:latin typeface="微软雅黑" panose="020B0503020204020204" charset="-122"/>
                <a:ea typeface="微软雅黑" panose="020B0503020204020204" charset="-122"/>
                <a:cs typeface="宋体" panose="02010600030101010101" pitchFamily="2" charset="-122"/>
              </a:rPr>
              <a:t>3.0</a:t>
            </a:r>
            <a:r>
              <a:rPr lang="zh-CN" altLang="en-US" dirty="0" smtClean="0">
                <a:latin typeface="微软雅黑" panose="020B0503020204020204" charset="-122"/>
                <a:ea typeface="微软雅黑" panose="020B0503020204020204" charset="-122"/>
                <a:cs typeface="宋体" panose="02010600030101010101" pitchFamily="2" charset="-122"/>
              </a:rPr>
              <a:t>，应根据经验数据确定一个适合本组织当前开发的项目类型的数值。</a:t>
            </a:r>
          </a:p>
        </p:txBody>
      </p:sp>
      <p:sp>
        <p:nvSpPr>
          <p:cNvPr id="210946"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10945" name="对象 257"/>
          <p:cNvGraphicFramePr>
            <a:graphicFrameLocks noChangeAspect="1"/>
          </p:cNvGraphicFramePr>
          <p:nvPr/>
        </p:nvGraphicFramePr>
        <p:xfrm>
          <a:off x="4776849" y="3491734"/>
          <a:ext cx="2090854" cy="685800"/>
        </p:xfrm>
        <a:graphic>
          <a:graphicData uri="http://schemas.openxmlformats.org/presentationml/2006/ole">
            <p:oleObj spid="_x0000_s210945" r:id="rId4" imgW="1193282" imgH="393529" progId="Equation.DSMT4">
              <p:embed/>
            </p:oleObj>
          </a:graphicData>
        </a:graphic>
      </p:graphicFrame>
    </p:spTree>
  </p:cSld>
  <p:clrMapOvr>
    <a:masterClrMapping/>
  </p:clrMapOvr>
  <p:transition>
    <p:wipe dir="u"/>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3</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进度计划</a:t>
            </a:r>
          </a:p>
        </p:txBody>
      </p:sp>
      <p:grpSp>
        <p:nvGrpSpPr>
          <p:cNvPr id="11" name="组合 10"/>
          <p:cNvGrpSpPr/>
          <p:nvPr/>
        </p:nvGrpSpPr>
        <p:grpSpPr>
          <a:xfrm>
            <a:off x="6258560" y="4224020"/>
            <a:ext cx="3712845" cy="913130"/>
            <a:chOff x="9459" y="7137"/>
            <a:chExt cx="5847" cy="143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Gantt图</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工程网络技术</a:t>
              </a:r>
            </a:p>
          </p:txBody>
        </p:sp>
      </p:grpSp>
    </p:spTree>
  </p:cSld>
  <p:clrMapOvr>
    <a:masterClrMapping/>
  </p:clrMapOvr>
  <p:transition spd="slow">
    <p:wip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2185061"/>
            <a:ext cx="12192000" cy="3301340"/>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p:txBody>
          <a:bodyPr/>
          <a:lstStyle/>
          <a:p>
            <a:r>
              <a:rPr lang="en-US" altLang="zh-CN" dirty="0" smtClean="0">
                <a:solidFill>
                  <a:srgbClr val="FF0000"/>
                </a:solidFill>
                <a:sym typeface="+mn-ea"/>
              </a:rPr>
              <a:t>10.3  </a:t>
            </a:r>
            <a:r>
              <a:rPr lang="zh-CN" altLang="en-US" dirty="0" smtClean="0">
                <a:solidFill>
                  <a:srgbClr val="FF0000"/>
                </a:solidFill>
                <a:sym typeface="+mn-ea"/>
              </a:rPr>
              <a:t>进度计划</a:t>
            </a:r>
            <a:r>
              <a:rPr lang="en-US" dirty="0" smtClean="0">
                <a:solidFill>
                  <a:schemeClr val="tx1"/>
                </a:solidFill>
              </a:rPr>
              <a:t/>
            </a:r>
            <a:br>
              <a:rPr lang="en-US" dirty="0" smtClean="0">
                <a:solidFill>
                  <a:schemeClr val="tx1"/>
                </a:solidFill>
              </a:rPr>
            </a:br>
            <a:endParaRPr lang="zh-CN" altLang="en-US" dirty="0">
              <a:solidFill>
                <a:srgbClr val="FF0000"/>
              </a:solidFill>
            </a:endParaRPr>
          </a:p>
        </p:txBody>
      </p:sp>
      <p:sp>
        <p:nvSpPr>
          <p:cNvPr id="8" name="文本框 7"/>
          <p:cNvSpPr txBox="1"/>
          <p:nvPr/>
        </p:nvSpPr>
        <p:spPr>
          <a:xfrm>
            <a:off x="4419225" y="2272705"/>
            <a:ext cx="6850380" cy="3194721"/>
          </a:xfrm>
          <a:prstGeom prst="rect">
            <a:avLst/>
          </a:prstGeom>
          <a:noFill/>
        </p:spPr>
        <p:txBody>
          <a:bodyPr wrap="square" rtlCol="0">
            <a:spAutoFit/>
          </a:bodyPr>
          <a:lstStyle/>
          <a:p>
            <a:pPr fontAlgn="auto">
              <a:lnSpc>
                <a:spcPct val="120000"/>
              </a:lnSpc>
            </a:pPr>
            <a:r>
              <a:rPr lang="en-US" altLang="zh-CN" sz="2800" dirty="0">
                <a:solidFill>
                  <a:schemeClr val="bg1"/>
                </a:solidFill>
                <a:latin typeface="楷体" panose="02010609060101010101" charset="-122"/>
                <a:ea typeface="楷体" panose="02010609060101010101" charset="-122"/>
              </a:rPr>
              <a:t>    </a:t>
            </a:r>
            <a:r>
              <a:rPr lang="zh-CN" altLang="en-US" sz="2800" dirty="0">
                <a:solidFill>
                  <a:schemeClr val="bg1"/>
                </a:solidFill>
                <a:latin typeface="楷体" panose="02010609060101010101" charset="-122"/>
                <a:ea typeface="楷体" panose="02010609060101010101" charset="-122"/>
              </a:rPr>
              <a:t>为进行软件项目管理，需要定义当前项目的任务集合，识别关键任务，制定一个详细的进度表，规定完成各项任务的起止日期，督促项目进度，保证项目按期完成。制定项目进度计划可使用Gantt图和工程网络技术。</a:t>
            </a:r>
          </a:p>
        </p:txBody>
      </p:sp>
      <p:pic>
        <p:nvPicPr>
          <p:cNvPr id="11" name="图片 10" descr="A000220150318O84PPIC.png"/>
          <p:cNvPicPr>
            <a:picLocks noChangeAspect="1"/>
          </p:cNvPicPr>
          <p:nvPr/>
        </p:nvPicPr>
        <p:blipFill>
          <a:blip r:embed="rId3" cstate="print"/>
          <a:stretch>
            <a:fillRect/>
          </a:stretch>
        </p:blipFill>
        <p:spPr>
          <a:xfrm>
            <a:off x="856199" y="2289317"/>
            <a:ext cx="3214710" cy="2993724"/>
          </a:xfrm>
          <a:prstGeom prst="rect">
            <a:avLst/>
          </a:prstGeom>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to="" calcmode="lin" valueType="num">
                                      <p:cBhvr>
                                        <p:cTn id="7" dur="1" fill="hold"/>
                                        <p:tgtEl>
                                          <p:spTgt spid="11"/>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to="" calcmode="lin" valueType="num">
                                      <p:cBhvr>
                                        <p:cTn id="12" dur="1" fill="hold"/>
                                        <p:tgtEl>
                                          <p:spTgt spid="8"/>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dirty="0">
                <a:solidFill>
                  <a:srgbClr val="FF0000"/>
                </a:solidFill>
                <a:sym typeface="+mn-ea"/>
              </a:rPr>
              <a:t>10.3  进度计划</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10.3.1  Gantt图</a:t>
            </a:r>
          </a:p>
        </p:txBody>
      </p:sp>
      <p:grpSp>
        <p:nvGrpSpPr>
          <p:cNvPr id="2" name="组合 1"/>
          <p:cNvGrpSpPr/>
          <p:nvPr/>
        </p:nvGrpSpPr>
        <p:grpSpPr>
          <a:xfrm>
            <a:off x="1182939" y="2909455"/>
            <a:ext cx="9540476" cy="3239536"/>
            <a:chOff x="1213945" y="2861632"/>
            <a:chExt cx="9540476" cy="3239536"/>
          </a:xfrm>
        </p:grpSpPr>
        <p:cxnSp>
          <p:nvCxnSpPr>
            <p:cNvPr id="4" name="MH_Other_1"/>
            <p:cNvCxnSpPr/>
            <p:nvPr>
              <p:custDataLst>
                <p:tags r:id="rId1"/>
              </p:custDataLst>
            </p:nvPr>
          </p:nvCxnSpPr>
          <p:spPr>
            <a:xfrm>
              <a:off x="2057400" y="4747934"/>
              <a:ext cx="8077200" cy="0"/>
            </a:xfrm>
            <a:prstGeom prst="line">
              <a:avLst/>
            </a:prstGeom>
            <a:ln>
              <a:solidFill>
                <a:schemeClr val="tx1">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 name="MH_SubTitle_1"/>
            <p:cNvSpPr/>
            <p:nvPr>
              <p:custDataLst>
                <p:tags r:id="rId2"/>
              </p:custDataLst>
            </p:nvPr>
          </p:nvSpPr>
          <p:spPr>
            <a:xfrm>
              <a:off x="1524770" y="2862061"/>
              <a:ext cx="2759075" cy="1286481"/>
            </a:xfrm>
            <a:prstGeom prst="rect">
              <a:avLst/>
            </a:prstGeom>
            <a:solidFill>
              <a:srgbClr val="FFBF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indent="457200">
                <a:lnSpc>
                  <a:spcPct val="130000"/>
                </a:lnSpc>
              </a:pPr>
              <a:r>
                <a:rPr lang="zh-CN" altLang="en-US" dirty="0" smtClean="0">
                  <a:solidFill>
                    <a:schemeClr val="tx1"/>
                  </a:solidFill>
                </a:rPr>
                <a:t>任务分解成子任务的情况。</a:t>
              </a:r>
            </a:p>
          </p:txBody>
        </p:sp>
        <p:cxnSp>
          <p:nvCxnSpPr>
            <p:cNvPr id="6" name="MH_Other_2"/>
            <p:cNvCxnSpPr/>
            <p:nvPr>
              <p:custDataLst>
                <p:tags r:id="rId3"/>
              </p:custDataLst>
            </p:nvPr>
          </p:nvCxnSpPr>
          <p:spPr>
            <a:xfrm flipV="1">
              <a:off x="2934132" y="4185225"/>
              <a:ext cx="0" cy="562710"/>
            </a:xfrm>
            <a:prstGeom prst="straightConnector1">
              <a:avLst/>
            </a:prstGeom>
            <a:ln>
              <a:solidFill>
                <a:srgbClr val="FFBF53"/>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MH_Other_3"/>
            <p:cNvSpPr/>
            <p:nvPr>
              <p:custDataLst>
                <p:tags r:id="rId4"/>
              </p:custDataLst>
            </p:nvPr>
          </p:nvSpPr>
          <p:spPr>
            <a:xfrm flipH="1">
              <a:off x="2767960" y="4341950"/>
              <a:ext cx="332348" cy="249261"/>
            </a:xfrm>
            <a:prstGeom prst="ellipse">
              <a:avLst/>
            </a:prstGeom>
            <a:solidFill>
              <a:srgbClr val="FFBF5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EFFFF"/>
                </a:solidFill>
                <a:latin typeface="Calibri" panose="020F0502020204030204" charset="0"/>
              </a:endParaRPr>
            </a:p>
          </p:txBody>
        </p:sp>
        <p:sp>
          <p:nvSpPr>
            <p:cNvPr id="8" name="MH_SubTitle_2"/>
            <p:cNvSpPr/>
            <p:nvPr>
              <p:custDataLst>
                <p:tags r:id="rId5"/>
              </p:custDataLst>
            </p:nvPr>
          </p:nvSpPr>
          <p:spPr>
            <a:xfrm>
              <a:off x="4641920" y="2862061"/>
              <a:ext cx="2941798" cy="1286481"/>
            </a:xfrm>
            <a:prstGeom prst="rect">
              <a:avLst/>
            </a:prstGeom>
            <a:solidFill>
              <a:srgbClr val="02B3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indent="457200">
                <a:lnSpc>
                  <a:spcPct val="130000"/>
                </a:lnSpc>
              </a:pPr>
              <a:r>
                <a:rPr lang="zh-CN" altLang="en-US" dirty="0" smtClean="0">
                  <a:solidFill>
                    <a:schemeClr val="tx1"/>
                  </a:solidFill>
                </a:rPr>
                <a:t>每个任务的开始时间和完成时间，线段的长度表示完成任务所需的时间。</a:t>
              </a:r>
            </a:p>
          </p:txBody>
        </p:sp>
        <p:cxnSp>
          <p:nvCxnSpPr>
            <p:cNvPr id="9" name="MH_Other_4"/>
            <p:cNvCxnSpPr/>
            <p:nvPr>
              <p:custDataLst>
                <p:tags r:id="rId6"/>
              </p:custDataLst>
            </p:nvPr>
          </p:nvCxnSpPr>
          <p:spPr>
            <a:xfrm flipV="1">
              <a:off x="6102160" y="4185225"/>
              <a:ext cx="0" cy="562710"/>
            </a:xfrm>
            <a:prstGeom prst="straightConnector1">
              <a:avLst/>
            </a:prstGeom>
            <a:ln>
              <a:solidFill>
                <a:srgbClr val="02B3C3"/>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 name="MH_Other_5"/>
            <p:cNvSpPr/>
            <p:nvPr>
              <p:custDataLst>
                <p:tags r:id="rId7"/>
              </p:custDataLst>
            </p:nvPr>
          </p:nvSpPr>
          <p:spPr>
            <a:xfrm flipH="1">
              <a:off x="5935987" y="4341950"/>
              <a:ext cx="332348" cy="249261"/>
            </a:xfrm>
            <a:prstGeom prst="ellipse">
              <a:avLst/>
            </a:prstGeom>
            <a:solidFill>
              <a:srgbClr val="02B3C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EFFFF"/>
                </a:solidFill>
                <a:latin typeface="Calibri" panose="020F0502020204030204" charset="0"/>
              </a:endParaRPr>
            </a:p>
          </p:txBody>
        </p:sp>
        <p:sp>
          <p:nvSpPr>
            <p:cNvPr id="11" name="MH_SubTitle_3"/>
            <p:cNvSpPr/>
            <p:nvPr>
              <p:custDataLst>
                <p:tags r:id="rId8"/>
              </p:custDataLst>
            </p:nvPr>
          </p:nvSpPr>
          <p:spPr>
            <a:xfrm>
              <a:off x="7879100" y="2861632"/>
              <a:ext cx="2875321" cy="1286910"/>
            </a:xfrm>
            <a:prstGeom prst="rect">
              <a:avLst/>
            </a:prstGeom>
            <a:solidFill>
              <a:srgbClr val="EF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indent="457200">
                <a:lnSpc>
                  <a:spcPct val="120000"/>
                </a:lnSpc>
              </a:pPr>
              <a:r>
                <a:rPr lang="zh-CN" altLang="en-US" dirty="0" smtClean="0">
                  <a:solidFill>
                    <a:schemeClr val="tx1"/>
                  </a:solidFill>
                </a:rPr>
                <a:t>子任务之间的并行和串行关系。</a:t>
              </a:r>
            </a:p>
          </p:txBody>
        </p:sp>
        <p:cxnSp>
          <p:nvCxnSpPr>
            <p:cNvPr id="12" name="MH_Other_6"/>
            <p:cNvCxnSpPr/>
            <p:nvPr>
              <p:custDataLst>
                <p:tags r:id="rId9"/>
              </p:custDataLst>
            </p:nvPr>
          </p:nvCxnSpPr>
          <p:spPr>
            <a:xfrm flipV="1">
              <a:off x="9234563" y="4185225"/>
              <a:ext cx="0" cy="562710"/>
            </a:xfrm>
            <a:prstGeom prst="straightConnector1">
              <a:avLst/>
            </a:prstGeom>
            <a:ln>
              <a:solidFill>
                <a:srgbClr val="EF7373"/>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3" name="MH_Other_7"/>
            <p:cNvSpPr/>
            <p:nvPr>
              <p:custDataLst>
                <p:tags r:id="rId10"/>
              </p:custDataLst>
            </p:nvPr>
          </p:nvSpPr>
          <p:spPr>
            <a:xfrm flipH="1">
              <a:off x="9068390" y="4341950"/>
              <a:ext cx="332348" cy="249261"/>
            </a:xfrm>
            <a:prstGeom prst="ellipse">
              <a:avLst/>
            </a:prstGeom>
            <a:solidFill>
              <a:srgbClr val="EF737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EFFFF"/>
                </a:solidFill>
                <a:latin typeface="Calibri" panose="020F0502020204030204" charset="0"/>
              </a:endParaRPr>
            </a:p>
          </p:txBody>
        </p:sp>
        <p:sp>
          <p:nvSpPr>
            <p:cNvPr id="14" name="MH_Title_1"/>
            <p:cNvSpPr txBox="1"/>
            <p:nvPr>
              <p:custDataLst>
                <p:tags r:id="rId11"/>
              </p:custDataLst>
            </p:nvPr>
          </p:nvSpPr>
          <p:spPr>
            <a:xfrm>
              <a:off x="1213945" y="4787988"/>
              <a:ext cx="9535160" cy="1313180"/>
            </a:xfrm>
            <a:prstGeom prst="rect">
              <a:avLst/>
            </a:prstGeom>
            <a:noFill/>
          </p:spPr>
          <p:txBody>
            <a:bodyPr wrap="square" rtlCol="0" anchor="ctr">
              <a:normAutofit/>
            </a:bodyPr>
            <a:lstStyle/>
            <a:p>
              <a:pPr indent="457200">
                <a:lnSpc>
                  <a:spcPct val="140000"/>
                </a:lnSpc>
              </a:pPr>
              <a:r>
                <a:rPr lang="en-US" altLang="zh-CN" dirty="0" smtClean="0"/>
                <a:t> </a:t>
              </a:r>
              <a:r>
                <a:rPr lang="zh-CN" altLang="en-US" dirty="0" smtClean="0"/>
                <a:t>Gantt图表示了任务之间的并行和串行关系，简单明了，易画易读易改，使用十分方便。由于图上显示了年月时间，用它来检查工程完成的情况十分直观方便，但是它不能显示各项子任务之间的依赖关系，以及哪些是关键子任务等，要弥补这一不足，可采用工程网络技术。</a:t>
              </a:r>
            </a:p>
          </p:txBody>
        </p:sp>
      </p:grpSp>
      <p:sp>
        <p:nvSpPr>
          <p:cNvPr id="100" name="文本框 99"/>
          <p:cNvSpPr txBox="1"/>
          <p:nvPr/>
        </p:nvSpPr>
        <p:spPr>
          <a:xfrm>
            <a:off x="1385545" y="1980664"/>
            <a:ext cx="9670382" cy="794064"/>
          </a:xfrm>
          <a:prstGeom prst="rect">
            <a:avLst/>
          </a:prstGeom>
          <a:solidFill>
            <a:schemeClr val="accent3">
              <a:lumMod val="20000"/>
              <a:lumOff val="80000"/>
            </a:schemeClr>
          </a:solidFill>
          <a:ln w="9525">
            <a:noFill/>
          </a:ln>
        </p:spPr>
        <p:txBody>
          <a:bodyPr wrap="square">
            <a:spAutoFit/>
          </a:bodyPr>
          <a:lstStyle/>
          <a:p>
            <a:pPr algn="l" fontAlgn="auto">
              <a:lnSpc>
                <a:spcPct val="120000"/>
              </a:lnSpc>
            </a:pPr>
            <a:r>
              <a:rPr lang="en-US" altLang="zh-CN" sz="2000" b="0" u="none">
                <a:latin typeface="宋体" panose="02010600030101010101" pitchFamily="2" charset="-122"/>
                <a:ea typeface="宋体" panose="02010600030101010101" pitchFamily="2" charset="-122"/>
                <a:cs typeface="宋体" panose="02010600030101010101" pitchFamily="2" charset="-122"/>
              </a:rPr>
              <a:t>    </a:t>
            </a:r>
            <a:r>
              <a:rPr>
                <a:latin typeface="微软雅黑" panose="020B0503020204020204" charset="-122"/>
                <a:ea typeface="微软雅黑" panose="020B0503020204020204" charset="-122"/>
                <a:sym typeface="+mn-ea"/>
              </a:rPr>
              <a:t>Gantt图（横道图或甘特图）是安排工程进度计划的简单工具，它把任务分解成子任务，常用水平线来描述每个子任务的进度安排。该方法简单易懂、一目了然。</a:t>
            </a:r>
          </a:p>
        </p:txBody>
      </p:sp>
    </p:spTree>
  </p:cSld>
  <p:clrMapOvr>
    <a:masterClrMapping/>
  </p:clrMapOvr>
  <p:transition>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10.3  进度计划</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10.3.1  Gantt图</a:t>
            </a:r>
          </a:p>
        </p:txBody>
      </p:sp>
      <p:grpSp>
        <p:nvGrpSpPr>
          <p:cNvPr id="16" name="组合 15"/>
          <p:cNvGrpSpPr/>
          <p:nvPr/>
        </p:nvGrpSpPr>
        <p:grpSpPr>
          <a:xfrm>
            <a:off x="714375" y="2016125"/>
            <a:ext cx="9812020" cy="4049395"/>
            <a:chOff x="1239" y="3150"/>
            <a:chExt cx="15452" cy="6377"/>
          </a:xfrm>
        </p:grpSpPr>
        <p:sp>
          <p:nvSpPr>
            <p:cNvPr id="22" name="TextBox 21"/>
            <p:cNvSpPr txBox="1"/>
            <p:nvPr/>
          </p:nvSpPr>
          <p:spPr>
            <a:xfrm>
              <a:off x="3169" y="3419"/>
              <a:ext cx="13522" cy="624"/>
            </a:xfrm>
            <a:prstGeom prst="rect">
              <a:avLst/>
            </a:prstGeom>
            <a:noFill/>
          </p:spPr>
          <p:txBody>
            <a:bodyPr wrap="square">
              <a:spAutoFit/>
            </a:bodyPr>
            <a:lstStyle/>
            <a:p>
              <a:r>
                <a:rPr sz="2000" dirty="0" smtClean="0">
                  <a:sym typeface="+mn-ea"/>
                </a:rPr>
                <a:t>Gantt图用于安排软件工程进度计划。</a:t>
              </a:r>
            </a:p>
          </p:txBody>
        </p:sp>
        <p:sp>
          <p:nvSpPr>
            <p:cNvPr id="24" name="矩形 23"/>
            <p:cNvSpPr>
              <a:spLocks noChangeAspect="1"/>
            </p:cNvSpPr>
            <p:nvPr/>
          </p:nvSpPr>
          <p:spPr>
            <a:xfrm>
              <a:off x="1332" y="4275"/>
              <a:ext cx="8046" cy="5252"/>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239" y="3150"/>
              <a:ext cx="1931" cy="1125"/>
              <a:chOff x="2592137" y="1357292"/>
              <a:chExt cx="1071579"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770737" y="1178692"/>
                <a:ext cx="714379" cy="1071579"/>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664931" y="1467148"/>
                <a:ext cx="998232" cy="457203"/>
              </a:xfrm>
              <a:prstGeom prst="rect">
                <a:avLst/>
              </a:prstGeom>
              <a:noFill/>
            </p:spPr>
            <p:txBody>
              <a:bodyPr wrap="square" rtlCol="0">
                <a:spAutoFit/>
              </a:bodyPr>
              <a:lstStyle/>
              <a:p>
                <a:r>
                  <a:rPr sz="2400" dirty="0" smtClean="0">
                    <a:solidFill>
                      <a:schemeClr val="bg1"/>
                    </a:solidFill>
                    <a:sym typeface="+mn-ea"/>
                  </a:rPr>
                  <a:t>图10-1</a:t>
                </a: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485" y="4499"/>
              <a:ext cx="7701" cy="4857"/>
            </a:xfrm>
            <a:prstGeom prst="rect">
              <a:avLst/>
            </a:prstGeom>
            <a:solidFill>
              <a:schemeClr val="bg1">
                <a:lumMod val="95000"/>
              </a:schemeClr>
            </a:solidFill>
          </p:spPr>
          <p:txBody>
            <a:bodyPr wrap="square">
              <a:spAutoFit/>
            </a:bodyPr>
            <a:lstStyle/>
            <a:p>
              <a:pPr fontAlgn="auto">
                <a:lnSpc>
                  <a:spcPct val="120000"/>
                </a:lnSpc>
              </a:pPr>
              <a:r>
                <a:rPr lang="en-US" altLang="en-US" dirty="0" smtClean="0">
                  <a:latin typeface="Times New Roman" panose="02020603050405020304" charset="0"/>
                  <a:ea typeface="宋体" panose="02010600030101010101" pitchFamily="2" charset="-122"/>
                </a:rPr>
                <a:t>         在Gantt图中，每一项任务的开始时间和结束时间先均用空心小三角形表示，两者用横线相连，令人一目了然。当活动开始时，将横线左边的小三角形涂黑；当活动结束时，再把横线右边的小三角形涂黑。从图10-1中可以很容易地看出，需求分析工作从2005年1月开始，到2月底已经完成；测试计划、编写文档工作从2月初开始，概要设计也已经开始，这三项工作尚未完成；其他几项工作还未开始。</a:t>
              </a:r>
            </a:p>
          </p:txBody>
        </p:sp>
      </p:grpSp>
      <p:graphicFrame>
        <p:nvGraphicFramePr>
          <p:cNvPr id="17" name="对象 16"/>
          <p:cNvGraphicFramePr>
            <a:graphicFrameLocks/>
          </p:cNvGraphicFramePr>
          <p:nvPr/>
        </p:nvGraphicFramePr>
        <p:xfrm>
          <a:off x="6069965" y="2730183"/>
          <a:ext cx="5570855" cy="3728720"/>
        </p:xfrm>
        <a:graphic>
          <a:graphicData uri="http://schemas.openxmlformats.org/presentationml/2006/ole">
            <p:oleObj spid="_x0000_s1025" r:id="rId5" imgW="4574715" imgH="3085846" progId="Word.Document.12">
              <p:embed/>
            </p:oleObj>
          </a:graphicData>
        </a:graphic>
      </p:graphicFrame>
      <p:sp>
        <p:nvSpPr>
          <p:cNvPr id="13" name="矩形 12"/>
          <p:cNvSpPr/>
          <p:nvPr/>
        </p:nvSpPr>
        <p:spPr>
          <a:xfrm>
            <a:off x="7871033" y="5833155"/>
            <a:ext cx="2031325" cy="369332"/>
          </a:xfrm>
          <a:prstGeom prst="rect">
            <a:avLst/>
          </a:prstGeom>
        </p:spPr>
        <p:txBody>
          <a:bodyPr wrap="none">
            <a:spAutoFit/>
          </a:bodyPr>
          <a:lstStyle/>
          <a:p>
            <a:r>
              <a:rPr lang="zh-CN" altLang="en-US" dirty="0" smtClean="0"/>
              <a:t>图</a:t>
            </a:r>
            <a:r>
              <a:rPr lang="en-US" dirty="0" smtClean="0"/>
              <a:t>10-1  Gantt</a:t>
            </a:r>
            <a:r>
              <a:rPr lang="zh-CN" altLang="en-US" dirty="0" smtClean="0"/>
              <a:t>图例</a:t>
            </a:r>
            <a:endParaRPr lang="zh-CN" altLang="en-US" dirty="0"/>
          </a:p>
        </p:txBody>
      </p:sp>
    </p:spTree>
  </p:cSld>
  <p:clrMapOvr>
    <a:masterClrMapping/>
  </p:clrMapOvr>
  <p:transition>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10.3  </a:t>
            </a:r>
            <a:r>
              <a:rPr lang="zh-CN" altLang="en-US" dirty="0" smtClean="0">
                <a:solidFill>
                  <a:srgbClr val="FF0000"/>
                </a:solidFill>
                <a:sym typeface="+mn-ea"/>
              </a:rPr>
              <a:t>进度计划</a:t>
            </a:r>
            <a:endParaRPr lang="zh-CN" altLang="en-US"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10.3.2  工程网络技术</a:t>
            </a:r>
          </a:p>
        </p:txBody>
      </p:sp>
      <p:pic>
        <p:nvPicPr>
          <p:cNvPr id="5" name="图片 4" descr="93336d6e0099c11fa1ff0f6b3f7be2a2daacf962.jpg"/>
          <p:cNvPicPr>
            <a:picLocks noChangeAspect="1"/>
          </p:cNvPicPr>
          <p:nvPr/>
        </p:nvPicPr>
        <p:blipFill>
          <a:blip r:embed="rId3" cstate="print"/>
          <a:stretch>
            <a:fillRect/>
          </a:stretch>
        </p:blipFill>
        <p:spPr>
          <a:xfrm>
            <a:off x="6416567" y="2207000"/>
            <a:ext cx="5160579" cy="3550479"/>
          </a:xfrm>
          <a:prstGeom prst="rect">
            <a:avLst/>
          </a:prstGeom>
        </p:spPr>
      </p:pic>
      <p:sp>
        <p:nvSpPr>
          <p:cNvPr id="9" name="矩形 8"/>
          <p:cNvSpPr/>
          <p:nvPr/>
        </p:nvSpPr>
        <p:spPr>
          <a:xfrm>
            <a:off x="926275" y="2907665"/>
            <a:ext cx="5490400" cy="2862322"/>
          </a:xfrm>
          <a:prstGeom prst="rect">
            <a:avLst/>
          </a:prstGeom>
          <a:solidFill>
            <a:schemeClr val="accent4">
              <a:lumMod val="20000"/>
              <a:lumOff val="80000"/>
              <a:alpha val="70000"/>
            </a:schemeClr>
          </a:solidFill>
        </p:spPr>
        <p:txBody>
          <a:bodyPr wrap="square">
            <a:spAutoFit/>
          </a:bodyPr>
          <a:lstStyle/>
          <a:p>
            <a:pPr indent="457200">
              <a:lnSpc>
                <a:spcPct val="150000"/>
              </a:lnSpc>
            </a:pPr>
            <a:r>
              <a:rPr lang="zh-CN" altLang="en-US" sz="2000" dirty="0" smtClean="0"/>
              <a:t>工程网络技术又称PERT（Program Evaluation and Review Technique）技术，是指利用PERT图制定进度计划。如果把一个工程项目分解成许多子任务（作业），并且这些子任务之间的依赖关系又比较复杂时，可以用</a:t>
            </a:r>
            <a:r>
              <a:rPr lang="zh-CN" altLang="en-US" sz="2000" b="1" dirty="0" smtClean="0">
                <a:solidFill>
                  <a:srgbClr val="FF0000"/>
                </a:solidFill>
              </a:rPr>
              <a:t>工程网络图</a:t>
            </a:r>
            <a:r>
              <a:rPr lang="zh-CN" altLang="en-US" sz="2000" dirty="0" smtClean="0"/>
              <a:t>表示。</a:t>
            </a:r>
          </a:p>
        </p:txBody>
      </p:sp>
    </p:spTree>
  </p:cSld>
  <p:clrMapOvr>
    <a:masterClrMapping/>
  </p:clrMapOvr>
  <p:transition>
    <p:wipe dir="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10.3  </a:t>
            </a:r>
            <a:r>
              <a:rPr lang="zh-CN" altLang="en-US" dirty="0" smtClean="0">
                <a:solidFill>
                  <a:srgbClr val="FF0000"/>
                </a:solidFill>
                <a:sym typeface="+mn-ea"/>
              </a:rPr>
              <a:t>进度计划</a:t>
            </a:r>
            <a:endParaRPr lang="zh-CN" altLang="en-US"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10.3.2  工程网络技术</a:t>
            </a:r>
          </a:p>
        </p:txBody>
      </p:sp>
      <p:grpSp>
        <p:nvGrpSpPr>
          <p:cNvPr id="12" name="组合 11"/>
          <p:cNvGrpSpPr/>
          <p:nvPr/>
        </p:nvGrpSpPr>
        <p:grpSpPr>
          <a:xfrm>
            <a:off x="0" y="2187377"/>
            <a:ext cx="5838825" cy="973303"/>
            <a:chOff x="1" y="4292380"/>
            <a:chExt cx="5838825" cy="973303"/>
          </a:xfrm>
        </p:grpSpPr>
        <p:sp>
          <p:nvSpPr>
            <p:cNvPr id="8" name="MH_SubTitle_3"/>
            <p:cNvSpPr/>
            <p:nvPr>
              <p:custDataLst>
                <p:tags r:id="rId2"/>
              </p:custDataLst>
            </p:nvPr>
          </p:nvSpPr>
          <p:spPr>
            <a:xfrm>
              <a:off x="1501776" y="4415570"/>
              <a:ext cx="4337050" cy="733425"/>
            </a:xfrm>
            <a:prstGeom prst="homePlate">
              <a:avLst/>
            </a:prstGeom>
            <a:solidFill>
              <a:srgbClr val="1ECE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dirty="0" smtClean="0">
                  <a:latin typeface="微软雅黑" panose="020B0503020204020204" charset="-122"/>
                  <a:ea typeface="微软雅黑" panose="020B0503020204020204" charset="-122"/>
                </a:rPr>
                <a:t>工程网络图</a:t>
              </a:r>
            </a:p>
          </p:txBody>
        </p:sp>
        <p:sp>
          <p:nvSpPr>
            <p:cNvPr id="2" name="MH_Other_3"/>
            <p:cNvSpPr/>
            <p:nvPr>
              <p:custDataLst>
                <p:tags r:id="rId3"/>
              </p:custDataLst>
            </p:nvPr>
          </p:nvSpPr>
          <p:spPr>
            <a:xfrm>
              <a:off x="1" y="4293960"/>
              <a:ext cx="1006593" cy="971723"/>
            </a:xfrm>
            <a:prstGeom prst="rect">
              <a:avLst/>
            </a:prstGeom>
            <a:solidFill>
              <a:srgbClr val="1ECE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3200" dirty="0">
                <a:solidFill>
                  <a:srgbClr val="FFFFFF"/>
                </a:solidFill>
                <a:latin typeface="Impact" panose="020B0806030902050204" pitchFamily="34" charset="0"/>
                <a:ea typeface="微软雅黑" panose="020B0503020204020204" charset="-122"/>
              </a:endParaRPr>
            </a:p>
          </p:txBody>
        </p:sp>
        <p:sp>
          <p:nvSpPr>
            <p:cNvPr id="10" name="MH_Other_4"/>
            <p:cNvSpPr/>
            <p:nvPr>
              <p:custDataLst>
                <p:tags r:id="rId4"/>
              </p:custDataLst>
            </p:nvPr>
          </p:nvSpPr>
          <p:spPr>
            <a:xfrm>
              <a:off x="987065" y="429238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15B0C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1" name="MH_Desc_1"/>
          <p:cNvSpPr/>
          <p:nvPr>
            <p:custDataLst>
              <p:tags r:id="rId1"/>
            </p:custDataLst>
          </p:nvPr>
        </p:nvSpPr>
        <p:spPr>
          <a:xfrm>
            <a:off x="7184566" y="2439090"/>
            <a:ext cx="4466326" cy="368808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endParaRPr lang="en-US" altLang="zh-CN" sz="1600" dirty="0" smtClean="0">
              <a:solidFill>
                <a:schemeClr val="tx1"/>
              </a:solidFill>
              <a:latin typeface="微软雅黑" panose="020B0503020204020204" charset="-122"/>
              <a:ea typeface="微软雅黑" panose="020B0503020204020204" charset="-122"/>
            </a:endParaRPr>
          </a:p>
          <a:p>
            <a:pPr indent="457200">
              <a:lnSpc>
                <a:spcPct val="120000"/>
              </a:lnSpc>
            </a:pPr>
            <a:endParaRPr lang="en-US" altLang="zh-CN" sz="1600" dirty="0" smtClean="0">
              <a:solidFill>
                <a:schemeClr val="tx1"/>
              </a:solidFill>
              <a:latin typeface="微软雅黑" panose="020B0503020204020204" charset="-122"/>
              <a:ea typeface="微软雅黑" panose="020B0503020204020204" charset="-122"/>
            </a:endParaRPr>
          </a:p>
          <a:p>
            <a:pPr indent="457200">
              <a:lnSpc>
                <a:spcPct val="130000"/>
              </a:lnSpc>
              <a:buNone/>
            </a:pPr>
            <a:r>
              <a:rPr sz="1600" dirty="0" smtClean="0">
                <a:solidFill>
                  <a:schemeClr val="tx1"/>
                </a:solidFill>
                <a:latin typeface="微软雅黑" panose="020B0503020204020204" charset="-122"/>
                <a:ea typeface="微软雅黑" panose="020B0503020204020204" charset="-122"/>
              </a:rPr>
              <a:t>该图用圆圈表示事件（子任务的开始或结束），能明显地表示各个子任务之间的依赖关系。事件是可以明确定义的时间点，本身并不消耗时间和资源。用有向弧或箭头表示一个事件结束，另一个事件开始。用开始事件的编号和结束事件的编号表示一个子任务，箭头上方的数字表示该子任务的持续时间，箭头下方括号中的数字表示该子任务允许的机动时间。例如，在图10-2中，任务3-4的持续时间为3，机动时间为0。</a:t>
            </a:r>
          </a:p>
          <a:p>
            <a:pPr indent="457200">
              <a:lnSpc>
                <a:spcPct val="120000"/>
              </a:lnSpc>
            </a:pPr>
            <a:endParaRPr lang="zh-CN" altLang="en-US" sz="1600" dirty="0" smtClean="0">
              <a:solidFill>
                <a:schemeClr val="tx1"/>
              </a:solidFill>
            </a:endParaRPr>
          </a:p>
          <a:p>
            <a:pPr indent="457200">
              <a:lnSpc>
                <a:spcPct val="120000"/>
              </a:lnSpc>
            </a:pPr>
            <a:endParaRPr lang="zh-CN" altLang="en-US" sz="1600" dirty="0">
              <a:solidFill>
                <a:schemeClr val="tx1"/>
              </a:solidFill>
              <a:latin typeface="微软雅黑" panose="020B0503020204020204" charset="-122"/>
              <a:ea typeface="微软雅黑" panose="020B0503020204020204" charset="-122"/>
            </a:endParaRPr>
          </a:p>
        </p:txBody>
      </p:sp>
      <p:pic>
        <p:nvPicPr>
          <p:cNvPr id="13" name="Picture 2" descr="9"/>
          <p:cNvPicPr>
            <a:picLocks noChangeAspect="1" noChangeArrowheads="1"/>
          </p:cNvPicPr>
          <p:nvPr/>
        </p:nvPicPr>
        <p:blipFill>
          <a:blip r:embed="rId7" cstate="print"/>
          <a:srcRect/>
          <a:stretch>
            <a:fillRect/>
          </a:stretch>
        </p:blipFill>
        <p:spPr bwMode="auto">
          <a:xfrm>
            <a:off x="610392" y="3564180"/>
            <a:ext cx="6484932" cy="2325980"/>
          </a:xfrm>
          <a:prstGeom prst="rect">
            <a:avLst/>
          </a:prstGeom>
          <a:noFill/>
          <a:ln w="9525">
            <a:noFill/>
            <a:miter lim="800000"/>
            <a:headEnd/>
            <a:tailEnd/>
          </a:ln>
        </p:spPr>
      </p:pic>
      <p:sp>
        <p:nvSpPr>
          <p:cNvPr id="14" name="矩形 13"/>
          <p:cNvSpPr/>
          <p:nvPr/>
        </p:nvSpPr>
        <p:spPr>
          <a:xfrm>
            <a:off x="2296768" y="5892532"/>
            <a:ext cx="2159566" cy="369332"/>
          </a:xfrm>
          <a:prstGeom prst="rect">
            <a:avLst/>
          </a:prstGeom>
        </p:spPr>
        <p:txBody>
          <a:bodyPr wrap="none">
            <a:spAutoFit/>
          </a:bodyPr>
          <a:lstStyle/>
          <a:p>
            <a:r>
              <a:rPr lang="zh-CN" altLang="en-US" dirty="0" smtClean="0"/>
              <a:t>图</a:t>
            </a:r>
            <a:r>
              <a:rPr lang="en-US" dirty="0" smtClean="0"/>
              <a:t>10-2  </a:t>
            </a:r>
            <a:r>
              <a:rPr lang="zh-CN" altLang="en-US" dirty="0" smtClean="0"/>
              <a:t>工程网络图</a:t>
            </a:r>
            <a:endParaRPr lang="zh-CN" altLang="en-US" dirty="0"/>
          </a:p>
        </p:txBody>
      </p:sp>
    </p:spTree>
  </p:cSld>
  <p:clrMapOvr>
    <a:masterClrMapping/>
  </p:clrMapOvr>
  <p:transition>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10.3  </a:t>
            </a:r>
            <a:r>
              <a:rPr lang="zh-CN" altLang="en-US" dirty="0" smtClean="0">
                <a:solidFill>
                  <a:srgbClr val="FF0000"/>
                </a:solidFill>
                <a:sym typeface="+mn-ea"/>
              </a:rPr>
              <a:t>进度计划</a:t>
            </a:r>
            <a:endParaRPr lang="zh-CN" altLang="en-US"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10.3.2  工程网络技术</a:t>
            </a:r>
          </a:p>
        </p:txBody>
      </p:sp>
      <p:grpSp>
        <p:nvGrpSpPr>
          <p:cNvPr id="12" name="组合 11"/>
          <p:cNvGrpSpPr/>
          <p:nvPr/>
        </p:nvGrpSpPr>
        <p:grpSpPr>
          <a:xfrm>
            <a:off x="0" y="2187377"/>
            <a:ext cx="5838825" cy="973303"/>
            <a:chOff x="1" y="4292380"/>
            <a:chExt cx="5838825" cy="973303"/>
          </a:xfrm>
        </p:grpSpPr>
        <p:sp>
          <p:nvSpPr>
            <p:cNvPr id="8" name="MH_SubTitle_3"/>
            <p:cNvSpPr/>
            <p:nvPr>
              <p:custDataLst>
                <p:tags r:id="rId2"/>
              </p:custDataLst>
            </p:nvPr>
          </p:nvSpPr>
          <p:spPr>
            <a:xfrm>
              <a:off x="1501776" y="4415570"/>
              <a:ext cx="4337050" cy="733425"/>
            </a:xfrm>
            <a:prstGeom prst="homePlate">
              <a:avLst/>
            </a:prstGeom>
            <a:solidFill>
              <a:srgbClr val="1ECE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dirty="0" smtClean="0">
                  <a:latin typeface="微软雅黑" panose="020B0503020204020204" charset="-122"/>
                  <a:ea typeface="微软雅黑" panose="020B0503020204020204" charset="-122"/>
                </a:rPr>
                <a:t>工程网络图</a:t>
              </a:r>
            </a:p>
          </p:txBody>
        </p:sp>
        <p:sp>
          <p:nvSpPr>
            <p:cNvPr id="2" name="MH_Other_3"/>
            <p:cNvSpPr/>
            <p:nvPr>
              <p:custDataLst>
                <p:tags r:id="rId3"/>
              </p:custDataLst>
            </p:nvPr>
          </p:nvSpPr>
          <p:spPr>
            <a:xfrm>
              <a:off x="1" y="4293960"/>
              <a:ext cx="1006593" cy="971723"/>
            </a:xfrm>
            <a:prstGeom prst="rect">
              <a:avLst/>
            </a:prstGeom>
            <a:solidFill>
              <a:srgbClr val="1ECE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3200" dirty="0">
                <a:solidFill>
                  <a:srgbClr val="FFFFFF"/>
                </a:solidFill>
                <a:latin typeface="Impact" panose="020B0806030902050204" pitchFamily="34" charset="0"/>
                <a:ea typeface="微软雅黑" panose="020B0503020204020204" charset="-122"/>
              </a:endParaRPr>
            </a:p>
          </p:txBody>
        </p:sp>
        <p:sp>
          <p:nvSpPr>
            <p:cNvPr id="10" name="MH_Other_4"/>
            <p:cNvSpPr/>
            <p:nvPr>
              <p:custDataLst>
                <p:tags r:id="rId4"/>
              </p:custDataLst>
            </p:nvPr>
          </p:nvSpPr>
          <p:spPr>
            <a:xfrm>
              <a:off x="987065" y="429238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15B0C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1" name="MH_Desc_1"/>
          <p:cNvSpPr/>
          <p:nvPr>
            <p:custDataLst>
              <p:tags r:id="rId1"/>
            </p:custDataLst>
          </p:nvPr>
        </p:nvSpPr>
        <p:spPr>
          <a:xfrm>
            <a:off x="7232072" y="2807215"/>
            <a:ext cx="4691957" cy="3344199"/>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表示事件的圆圈分左右两部分，左部中的数字表示事件的序号。圆圈的右部又划分为上下两部分，上部分中的数字表示前一子任务结束或后一子任务开始的最早时刻（EET）；下部分中的数字则表示前一子任务结束或后一子任务开始的最迟时刻（LET）。</a:t>
            </a:r>
          </a:p>
        </p:txBody>
      </p:sp>
      <p:pic>
        <p:nvPicPr>
          <p:cNvPr id="14" name="Picture 2" descr="9"/>
          <p:cNvPicPr>
            <a:picLocks noChangeAspect="1" noChangeArrowheads="1"/>
          </p:cNvPicPr>
          <p:nvPr/>
        </p:nvPicPr>
        <p:blipFill>
          <a:blip r:embed="rId7" cstate="print"/>
          <a:srcRect/>
          <a:stretch>
            <a:fillRect/>
          </a:stretch>
        </p:blipFill>
        <p:spPr bwMode="auto">
          <a:xfrm>
            <a:off x="479763" y="3587931"/>
            <a:ext cx="6484932" cy="2325980"/>
          </a:xfrm>
          <a:prstGeom prst="rect">
            <a:avLst/>
          </a:prstGeom>
          <a:noFill/>
          <a:ln w="9525">
            <a:noFill/>
            <a:miter lim="800000"/>
            <a:headEnd/>
            <a:tailEnd/>
          </a:ln>
        </p:spPr>
      </p:pic>
      <p:sp>
        <p:nvSpPr>
          <p:cNvPr id="15" name="矩形 14"/>
          <p:cNvSpPr/>
          <p:nvPr/>
        </p:nvSpPr>
        <p:spPr>
          <a:xfrm>
            <a:off x="2296768" y="5892532"/>
            <a:ext cx="2159566" cy="369332"/>
          </a:xfrm>
          <a:prstGeom prst="rect">
            <a:avLst/>
          </a:prstGeom>
        </p:spPr>
        <p:txBody>
          <a:bodyPr wrap="none">
            <a:spAutoFit/>
          </a:bodyPr>
          <a:lstStyle/>
          <a:p>
            <a:r>
              <a:rPr lang="zh-CN" altLang="en-US" dirty="0" smtClean="0"/>
              <a:t>图</a:t>
            </a:r>
            <a:r>
              <a:rPr lang="en-US" dirty="0" smtClean="0"/>
              <a:t>10-2  </a:t>
            </a:r>
            <a:r>
              <a:rPr lang="zh-CN" altLang="en-US" dirty="0" smtClean="0"/>
              <a:t>工程网络图</a:t>
            </a:r>
            <a:endParaRPr lang="zh-CN" altLang="en-US" dirty="0"/>
          </a:p>
        </p:txBody>
      </p:sp>
    </p:spTree>
  </p:cSld>
  <p:clrMapOvr>
    <a:masterClrMapping/>
  </p:clrMapOvr>
  <p:transition>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10.3  </a:t>
            </a:r>
            <a:r>
              <a:rPr lang="zh-CN" altLang="en-US" dirty="0" smtClean="0">
                <a:solidFill>
                  <a:srgbClr val="FF0000"/>
                </a:solidFill>
                <a:sym typeface="+mn-ea"/>
              </a:rPr>
              <a:t>进度计划</a:t>
            </a:r>
            <a:endParaRPr lang="zh-CN" altLang="en-US"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10.3.2  工程网络技术</a:t>
            </a:r>
          </a:p>
        </p:txBody>
      </p:sp>
      <p:grpSp>
        <p:nvGrpSpPr>
          <p:cNvPr id="12" name="组合 11"/>
          <p:cNvGrpSpPr/>
          <p:nvPr/>
        </p:nvGrpSpPr>
        <p:grpSpPr>
          <a:xfrm>
            <a:off x="0" y="2187377"/>
            <a:ext cx="5838825" cy="973303"/>
            <a:chOff x="1" y="4292380"/>
            <a:chExt cx="5838825" cy="973303"/>
          </a:xfrm>
        </p:grpSpPr>
        <p:sp>
          <p:nvSpPr>
            <p:cNvPr id="8" name="MH_SubTitle_3"/>
            <p:cNvSpPr/>
            <p:nvPr>
              <p:custDataLst>
                <p:tags r:id="rId2"/>
              </p:custDataLst>
            </p:nvPr>
          </p:nvSpPr>
          <p:spPr>
            <a:xfrm>
              <a:off x="1501776" y="4415570"/>
              <a:ext cx="4337050" cy="733425"/>
            </a:xfrm>
            <a:prstGeom prst="homePlate">
              <a:avLst/>
            </a:prstGeom>
            <a:solidFill>
              <a:srgbClr val="1ECE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dirty="0" smtClean="0">
                  <a:latin typeface="微软雅黑" panose="020B0503020204020204" charset="-122"/>
                  <a:ea typeface="微软雅黑" panose="020B0503020204020204" charset="-122"/>
                </a:rPr>
                <a:t>工程网络图</a:t>
              </a:r>
            </a:p>
          </p:txBody>
        </p:sp>
        <p:sp>
          <p:nvSpPr>
            <p:cNvPr id="2" name="MH_Other_3"/>
            <p:cNvSpPr/>
            <p:nvPr>
              <p:custDataLst>
                <p:tags r:id="rId3"/>
              </p:custDataLst>
            </p:nvPr>
          </p:nvSpPr>
          <p:spPr>
            <a:xfrm>
              <a:off x="1" y="4293960"/>
              <a:ext cx="1006593" cy="971723"/>
            </a:xfrm>
            <a:prstGeom prst="rect">
              <a:avLst/>
            </a:prstGeom>
            <a:solidFill>
              <a:srgbClr val="1ECE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3200" dirty="0">
                <a:solidFill>
                  <a:srgbClr val="FFFFFF"/>
                </a:solidFill>
                <a:latin typeface="Impact" panose="020B0806030902050204" pitchFamily="34" charset="0"/>
                <a:ea typeface="微软雅黑" panose="020B0503020204020204" charset="-122"/>
              </a:endParaRPr>
            </a:p>
          </p:txBody>
        </p:sp>
        <p:sp>
          <p:nvSpPr>
            <p:cNvPr id="10" name="MH_Other_4"/>
            <p:cNvSpPr/>
            <p:nvPr>
              <p:custDataLst>
                <p:tags r:id="rId4"/>
              </p:custDataLst>
            </p:nvPr>
          </p:nvSpPr>
          <p:spPr>
            <a:xfrm>
              <a:off x="987065" y="429238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15B0C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1" name="MH_Desc_1"/>
          <p:cNvSpPr/>
          <p:nvPr>
            <p:custDataLst>
              <p:tags r:id="rId1"/>
            </p:custDataLst>
          </p:nvPr>
        </p:nvSpPr>
        <p:spPr>
          <a:xfrm>
            <a:off x="7243948" y="2640965"/>
            <a:ext cx="4680082" cy="368808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30000"/>
              </a:lnSpc>
              <a:buNone/>
            </a:pPr>
            <a:r>
              <a:rPr dirty="0" smtClean="0">
                <a:solidFill>
                  <a:schemeClr val="tx1"/>
                </a:solidFill>
                <a:latin typeface="微软雅黑" panose="020B0503020204020204" charset="-122"/>
                <a:ea typeface="微软雅黑" panose="020B0503020204020204" charset="-122"/>
              </a:rPr>
              <a:t>工程网络图只有一个开始点和一个终止点，开始点没有流入的箭头，最早时刻定义为零；终止点没有流出的箭头，其最迟时刻就是它的最早时刻。中间的事件圆表示在它之前的子任务已经完成，在它之后的子任务可以开始，如图10-2所示。</a:t>
            </a:r>
          </a:p>
        </p:txBody>
      </p:sp>
      <p:pic>
        <p:nvPicPr>
          <p:cNvPr id="14" name="Picture 2" descr="9"/>
          <p:cNvPicPr>
            <a:picLocks noChangeAspect="1" noChangeArrowheads="1"/>
          </p:cNvPicPr>
          <p:nvPr/>
        </p:nvPicPr>
        <p:blipFill>
          <a:blip r:embed="rId7" cstate="print"/>
          <a:srcRect/>
          <a:stretch>
            <a:fillRect/>
          </a:stretch>
        </p:blipFill>
        <p:spPr bwMode="auto">
          <a:xfrm>
            <a:off x="479763" y="3587931"/>
            <a:ext cx="6484932" cy="2325980"/>
          </a:xfrm>
          <a:prstGeom prst="rect">
            <a:avLst/>
          </a:prstGeom>
          <a:noFill/>
          <a:ln w="9525">
            <a:noFill/>
            <a:miter lim="800000"/>
            <a:headEnd/>
            <a:tailEnd/>
          </a:ln>
        </p:spPr>
      </p:pic>
      <p:sp>
        <p:nvSpPr>
          <p:cNvPr id="15" name="矩形 14"/>
          <p:cNvSpPr/>
          <p:nvPr/>
        </p:nvSpPr>
        <p:spPr>
          <a:xfrm>
            <a:off x="2296768" y="5892532"/>
            <a:ext cx="2159566" cy="369332"/>
          </a:xfrm>
          <a:prstGeom prst="rect">
            <a:avLst/>
          </a:prstGeom>
        </p:spPr>
        <p:txBody>
          <a:bodyPr wrap="none">
            <a:spAutoFit/>
          </a:bodyPr>
          <a:lstStyle/>
          <a:p>
            <a:r>
              <a:rPr lang="zh-CN" altLang="en-US" dirty="0" smtClean="0"/>
              <a:t>图</a:t>
            </a:r>
            <a:r>
              <a:rPr lang="en-US" dirty="0" smtClean="0"/>
              <a:t>10-2  </a:t>
            </a:r>
            <a:r>
              <a:rPr lang="zh-CN" altLang="en-US" dirty="0" smtClean="0"/>
              <a:t>工程网络图</a:t>
            </a:r>
            <a:endParaRPr lang="zh-CN" altLang="en-US" dirty="0"/>
          </a:p>
        </p:txBody>
      </p:sp>
    </p:spTree>
  </p:cSld>
  <p:clrMapOvr>
    <a:masterClrMapping/>
  </p:clrMapOvr>
  <p:transition>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10.3  </a:t>
            </a:r>
            <a:r>
              <a:rPr lang="zh-CN" altLang="en-US" dirty="0" smtClean="0">
                <a:solidFill>
                  <a:srgbClr val="FF0000"/>
                </a:solidFill>
                <a:sym typeface="+mn-ea"/>
              </a:rPr>
              <a:t>进度计划</a:t>
            </a:r>
            <a:endParaRPr lang="zh-CN" altLang="en-US"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10.3.2  工程网络技术</a:t>
            </a:r>
          </a:p>
        </p:txBody>
      </p:sp>
      <p:grpSp>
        <p:nvGrpSpPr>
          <p:cNvPr id="12" name="组合 11"/>
          <p:cNvGrpSpPr/>
          <p:nvPr/>
        </p:nvGrpSpPr>
        <p:grpSpPr>
          <a:xfrm>
            <a:off x="0" y="2187377"/>
            <a:ext cx="5838825" cy="973303"/>
            <a:chOff x="1" y="4292380"/>
            <a:chExt cx="5838825" cy="973303"/>
          </a:xfrm>
        </p:grpSpPr>
        <p:sp>
          <p:nvSpPr>
            <p:cNvPr id="8" name="MH_SubTitle_3"/>
            <p:cNvSpPr/>
            <p:nvPr>
              <p:custDataLst>
                <p:tags r:id="rId2"/>
              </p:custDataLst>
            </p:nvPr>
          </p:nvSpPr>
          <p:spPr>
            <a:xfrm>
              <a:off x="1501776" y="4415570"/>
              <a:ext cx="4337050" cy="733425"/>
            </a:xfrm>
            <a:prstGeom prst="homePlate">
              <a:avLst/>
            </a:prstGeom>
            <a:solidFill>
              <a:srgbClr val="1ECE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dirty="0" smtClean="0">
                  <a:latin typeface="微软雅黑" panose="020B0503020204020204" charset="-122"/>
                  <a:ea typeface="微软雅黑" panose="020B0503020204020204" charset="-122"/>
                </a:rPr>
                <a:t>工程网络图</a:t>
              </a:r>
            </a:p>
          </p:txBody>
        </p:sp>
        <p:sp>
          <p:nvSpPr>
            <p:cNvPr id="2" name="MH_Other_3"/>
            <p:cNvSpPr/>
            <p:nvPr>
              <p:custDataLst>
                <p:tags r:id="rId3"/>
              </p:custDataLst>
            </p:nvPr>
          </p:nvSpPr>
          <p:spPr>
            <a:xfrm>
              <a:off x="1" y="4293960"/>
              <a:ext cx="1006593" cy="971723"/>
            </a:xfrm>
            <a:prstGeom prst="rect">
              <a:avLst/>
            </a:prstGeom>
            <a:solidFill>
              <a:srgbClr val="1ECEE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3200" dirty="0">
                <a:solidFill>
                  <a:srgbClr val="FFFFFF"/>
                </a:solidFill>
                <a:latin typeface="Impact" panose="020B0806030902050204" pitchFamily="34" charset="0"/>
                <a:ea typeface="微软雅黑" panose="020B0503020204020204" charset="-122"/>
              </a:endParaRPr>
            </a:p>
          </p:txBody>
        </p:sp>
        <p:sp>
          <p:nvSpPr>
            <p:cNvPr id="10" name="MH_Other_4"/>
            <p:cNvSpPr/>
            <p:nvPr>
              <p:custDataLst>
                <p:tags r:id="rId4"/>
              </p:custDataLst>
            </p:nvPr>
          </p:nvSpPr>
          <p:spPr>
            <a:xfrm>
              <a:off x="987065" y="429238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15B0C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1" name="MH_Desc_1"/>
          <p:cNvSpPr/>
          <p:nvPr>
            <p:custDataLst>
              <p:tags r:id="rId1"/>
            </p:custDataLst>
          </p:nvPr>
        </p:nvSpPr>
        <p:spPr>
          <a:xfrm>
            <a:off x="7137070" y="2640965"/>
            <a:ext cx="4786960" cy="368808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30000"/>
              </a:lnSpc>
              <a:buNone/>
            </a:pPr>
            <a:r>
              <a:rPr dirty="0" smtClean="0">
                <a:solidFill>
                  <a:schemeClr val="tx1"/>
                </a:solidFill>
                <a:latin typeface="微软雅黑" panose="020B0503020204020204" charset="-122"/>
                <a:ea typeface="微软雅黑" panose="020B0503020204020204" charset="-122"/>
              </a:rPr>
              <a:t>工程网络图中还可以有一些虚线箭头表示虚拟子任务。这些虚拟子任务实际并不存在，只是表示子任务之间存在依赖关系。例如，图10-2中有虚拟子任务4-8，表示只有在任务4-8和任务5-8都结束后，事件8才能开始，虚拟子任务4-8本身并不花费时间。</a:t>
            </a:r>
          </a:p>
        </p:txBody>
      </p:sp>
      <p:pic>
        <p:nvPicPr>
          <p:cNvPr id="13" name="Picture 2" descr="9"/>
          <p:cNvPicPr>
            <a:picLocks noChangeAspect="1" noChangeArrowheads="1"/>
          </p:cNvPicPr>
          <p:nvPr/>
        </p:nvPicPr>
        <p:blipFill>
          <a:blip r:embed="rId7" cstate="print"/>
          <a:srcRect/>
          <a:stretch>
            <a:fillRect/>
          </a:stretch>
        </p:blipFill>
        <p:spPr bwMode="auto">
          <a:xfrm>
            <a:off x="479763" y="3587931"/>
            <a:ext cx="6484932" cy="2325980"/>
          </a:xfrm>
          <a:prstGeom prst="rect">
            <a:avLst/>
          </a:prstGeom>
          <a:noFill/>
          <a:ln w="9525">
            <a:noFill/>
            <a:miter lim="800000"/>
            <a:headEnd/>
            <a:tailEnd/>
          </a:ln>
        </p:spPr>
      </p:pic>
      <p:sp>
        <p:nvSpPr>
          <p:cNvPr id="14" name="矩形 13"/>
          <p:cNvSpPr/>
          <p:nvPr/>
        </p:nvSpPr>
        <p:spPr>
          <a:xfrm>
            <a:off x="2296768" y="5892532"/>
            <a:ext cx="2159566" cy="369332"/>
          </a:xfrm>
          <a:prstGeom prst="rect">
            <a:avLst/>
          </a:prstGeom>
        </p:spPr>
        <p:txBody>
          <a:bodyPr wrap="none">
            <a:spAutoFit/>
          </a:bodyPr>
          <a:lstStyle/>
          <a:p>
            <a:r>
              <a:rPr lang="zh-CN" altLang="en-US" dirty="0" smtClean="0"/>
              <a:t>图</a:t>
            </a:r>
            <a:r>
              <a:rPr lang="en-US" dirty="0" smtClean="0"/>
              <a:t>10-2  </a:t>
            </a:r>
            <a:r>
              <a:rPr lang="zh-CN" altLang="en-US" dirty="0" smtClean="0"/>
              <a:t>工程网络图</a:t>
            </a:r>
            <a:endParaRPr lang="zh-CN" altLang="en-US" dirty="0"/>
          </a:p>
        </p:txBody>
      </p:sp>
    </p:spTree>
  </p:cSld>
  <p:clrMapOvr>
    <a:masterClrMapping/>
  </p:clrMapOvr>
  <p:transition>
    <p:wipe dir="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10.3  </a:t>
            </a:r>
            <a:r>
              <a:rPr lang="zh-CN" altLang="en-US" dirty="0" smtClean="0">
                <a:solidFill>
                  <a:srgbClr val="FF0000"/>
                </a:solidFill>
                <a:sym typeface="+mn-ea"/>
              </a:rPr>
              <a:t>进度计划</a:t>
            </a:r>
            <a:endParaRPr lang="zh-CN" altLang="en-US"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10.3.2  工程网络技术</a:t>
            </a:r>
          </a:p>
        </p:txBody>
      </p:sp>
      <p:grpSp>
        <p:nvGrpSpPr>
          <p:cNvPr id="4" name="组合 3"/>
          <p:cNvGrpSpPr/>
          <p:nvPr/>
        </p:nvGrpSpPr>
        <p:grpSpPr>
          <a:xfrm>
            <a:off x="3275965" y="3009514"/>
            <a:ext cx="8916035" cy="3014980"/>
            <a:chOff x="2172" y="3247"/>
            <a:chExt cx="14041" cy="4748"/>
          </a:xfrm>
        </p:grpSpPr>
        <p:sp>
          <p:nvSpPr>
            <p:cNvPr id="5" name="任意多边形 4"/>
            <p:cNvSpPr/>
            <p:nvPr>
              <p:custDataLst>
                <p:tags r:id="rId1"/>
              </p:custDataLst>
            </p:nvPr>
          </p:nvSpPr>
          <p:spPr>
            <a:xfrm>
              <a:off x="2172" y="3247"/>
              <a:ext cx="2587" cy="4748"/>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6" name="圆角矩形 5"/>
            <p:cNvSpPr/>
            <p:nvPr>
              <p:custDataLst>
                <p:tags r:id="rId2"/>
              </p:custDataLst>
            </p:nvPr>
          </p:nvSpPr>
          <p:spPr>
            <a:xfrm>
              <a:off x="4126" y="3757"/>
              <a:ext cx="10522" cy="774"/>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endParaRPr lang="zh-CN" altLang="en-US" sz="1800">
                <a:solidFill>
                  <a:schemeClr val="tx1"/>
                </a:solidFill>
              </a:endParaRPr>
            </a:p>
          </p:txBody>
        </p:sp>
        <p:sp>
          <p:nvSpPr>
            <p:cNvPr id="7" name="椭圆 6"/>
            <p:cNvSpPr/>
            <p:nvPr>
              <p:custDataLst>
                <p:tags r:id="rId3"/>
              </p:custDataLst>
            </p:nvPr>
          </p:nvSpPr>
          <p:spPr>
            <a:xfrm>
              <a:off x="4126" y="3692"/>
              <a:ext cx="1017" cy="9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8" name="文本框 54"/>
            <p:cNvSpPr txBox="1">
              <a:spLocks noChangeArrowheads="1"/>
            </p:cNvSpPr>
            <p:nvPr>
              <p:custDataLst>
                <p:tags r:id="rId4"/>
              </p:custDataLst>
            </p:nvPr>
          </p:nvSpPr>
          <p:spPr bwMode="auto">
            <a:xfrm>
              <a:off x="5410" y="3870"/>
              <a:ext cx="6202" cy="5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zh-CN" altLang="en-US" sz="1800" b="1" dirty="0" smtClean="0">
                  <a:latin typeface="+mn-lt"/>
                  <a:ea typeface="+mn-ea"/>
                </a:rPr>
                <a:t>考虑进入该事件的所有作业。</a:t>
              </a:r>
            </a:p>
          </p:txBody>
        </p:sp>
        <p:sp>
          <p:nvSpPr>
            <p:cNvPr id="9" name="圆角矩形 8"/>
            <p:cNvSpPr/>
            <p:nvPr>
              <p:custDataLst>
                <p:tags r:id="rId5"/>
              </p:custDataLst>
            </p:nvPr>
          </p:nvSpPr>
          <p:spPr>
            <a:xfrm>
              <a:off x="2901" y="5334"/>
              <a:ext cx="11803" cy="774"/>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endParaRPr lang="zh-CN" altLang="en-US" sz="1800">
                <a:solidFill>
                  <a:schemeClr val="tx1"/>
                </a:solidFill>
              </a:endParaRPr>
            </a:p>
          </p:txBody>
        </p:sp>
        <p:sp>
          <p:nvSpPr>
            <p:cNvPr id="10" name="椭圆 9"/>
            <p:cNvSpPr/>
            <p:nvPr>
              <p:custDataLst>
                <p:tags r:id="rId6"/>
              </p:custDataLst>
            </p:nvPr>
          </p:nvSpPr>
          <p:spPr>
            <a:xfrm>
              <a:off x="2871" y="5272"/>
              <a:ext cx="1017" cy="9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1" name="文本框 55"/>
            <p:cNvSpPr txBox="1">
              <a:spLocks noChangeArrowheads="1"/>
            </p:cNvSpPr>
            <p:nvPr>
              <p:custDataLst>
                <p:tags r:id="rId7"/>
              </p:custDataLst>
            </p:nvPr>
          </p:nvSpPr>
          <p:spPr bwMode="auto">
            <a:xfrm>
              <a:off x="4163" y="5483"/>
              <a:ext cx="10714" cy="6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zh-CN" altLang="en-US" sz="1800" b="1" dirty="0" smtClean="0">
                  <a:latin typeface="+mn-lt"/>
                  <a:ea typeface="+mn-ea"/>
                </a:rPr>
                <a:t>对每个作业都计算它的持续时间与起始事件的</a:t>
              </a:r>
              <a:r>
                <a:rPr lang="en-US" altLang="zh-CN" sz="1800" b="1" dirty="0" smtClean="0">
                  <a:latin typeface="+mn-lt"/>
                  <a:ea typeface="+mn-ea"/>
                </a:rPr>
                <a:t>EET</a:t>
              </a:r>
              <a:r>
                <a:rPr lang="zh-CN" altLang="en-US" sz="1800" b="1" dirty="0" smtClean="0">
                  <a:latin typeface="+mn-lt"/>
                  <a:ea typeface="+mn-ea"/>
                </a:rPr>
                <a:t>之和。</a:t>
              </a:r>
            </a:p>
          </p:txBody>
        </p:sp>
        <p:sp>
          <p:nvSpPr>
            <p:cNvPr id="12" name="圆角矩形 11"/>
            <p:cNvSpPr/>
            <p:nvPr>
              <p:custDataLst>
                <p:tags r:id="rId8"/>
              </p:custDataLst>
            </p:nvPr>
          </p:nvSpPr>
          <p:spPr>
            <a:xfrm>
              <a:off x="4163" y="6869"/>
              <a:ext cx="10597" cy="776"/>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endParaRPr lang="zh-CN" altLang="en-US" sz="1800">
                <a:solidFill>
                  <a:schemeClr val="tx1"/>
                </a:solidFill>
              </a:endParaRPr>
            </a:p>
          </p:txBody>
        </p:sp>
        <p:sp>
          <p:nvSpPr>
            <p:cNvPr id="13" name="椭圆 12"/>
            <p:cNvSpPr/>
            <p:nvPr>
              <p:custDataLst>
                <p:tags r:id="rId9"/>
              </p:custDataLst>
            </p:nvPr>
          </p:nvSpPr>
          <p:spPr>
            <a:xfrm>
              <a:off x="4129" y="6804"/>
              <a:ext cx="1017" cy="9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4" name="文本框 56"/>
            <p:cNvSpPr txBox="1">
              <a:spLocks noChangeArrowheads="1"/>
            </p:cNvSpPr>
            <p:nvPr>
              <p:custDataLst>
                <p:tags r:id="rId10"/>
              </p:custDataLst>
            </p:nvPr>
          </p:nvSpPr>
          <p:spPr bwMode="auto">
            <a:xfrm>
              <a:off x="5410" y="6999"/>
              <a:ext cx="10803" cy="54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zh-CN" altLang="en-US" sz="1800" b="1" dirty="0" smtClean="0">
                  <a:latin typeface="+mn-lt"/>
                  <a:ea typeface="+mn-ea"/>
                </a:rPr>
                <a:t>选取上述和数中的最大值，作为该事件的最早时刻</a:t>
              </a:r>
              <a:r>
                <a:rPr lang="en-US" altLang="zh-CN" sz="1800" b="1" dirty="0" smtClean="0">
                  <a:latin typeface="+mn-lt"/>
                  <a:ea typeface="+mn-ea"/>
                </a:rPr>
                <a:t>EET</a:t>
              </a:r>
              <a:r>
                <a:rPr lang="zh-CN" altLang="en-US" sz="1800" b="1" dirty="0" smtClean="0">
                  <a:latin typeface="+mn-lt"/>
                  <a:ea typeface="+mn-ea"/>
                </a:rPr>
                <a:t>。</a:t>
              </a:r>
            </a:p>
          </p:txBody>
        </p:sp>
        <p:sp>
          <p:nvSpPr>
            <p:cNvPr id="15" name="文本框 44"/>
            <p:cNvSpPr txBox="1"/>
            <p:nvPr/>
          </p:nvSpPr>
          <p:spPr>
            <a:xfrm>
              <a:off x="4394" y="3774"/>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1</a:t>
              </a:r>
              <a:endParaRPr lang="zh-CN" altLang="en-US" sz="2400" b="1" dirty="0">
                <a:solidFill>
                  <a:schemeClr val="bg1"/>
                </a:solidFill>
                <a:latin typeface="微软雅黑" panose="020B0503020204020204" charset="-122"/>
                <a:ea typeface="微软雅黑" panose="020B0503020204020204" charset="-122"/>
              </a:endParaRPr>
            </a:p>
          </p:txBody>
        </p:sp>
        <p:sp>
          <p:nvSpPr>
            <p:cNvPr id="16" name="文本框 44"/>
            <p:cNvSpPr txBox="1"/>
            <p:nvPr/>
          </p:nvSpPr>
          <p:spPr>
            <a:xfrm>
              <a:off x="3135" y="5340"/>
              <a:ext cx="488"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sz="2400" b="1" dirty="0">
                  <a:solidFill>
                    <a:schemeClr val="bg1"/>
                  </a:solidFill>
                  <a:latin typeface="微软雅黑" panose="020B0503020204020204" charset="-122"/>
                  <a:ea typeface="微软雅黑" panose="020B0503020204020204" charset="-122"/>
                </a:rPr>
                <a:t>2</a:t>
              </a:r>
            </a:p>
          </p:txBody>
        </p:sp>
        <p:sp>
          <p:nvSpPr>
            <p:cNvPr id="17" name="文本框 44"/>
            <p:cNvSpPr txBox="1"/>
            <p:nvPr/>
          </p:nvSpPr>
          <p:spPr>
            <a:xfrm>
              <a:off x="4394" y="6869"/>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8" name="组合 17"/>
          <p:cNvGrpSpPr/>
          <p:nvPr/>
        </p:nvGrpSpPr>
        <p:grpSpPr>
          <a:xfrm>
            <a:off x="497519" y="3196516"/>
            <a:ext cx="2578100" cy="2773680"/>
            <a:chOff x="881" y="2735"/>
            <a:chExt cx="4060" cy="4368"/>
          </a:xfrm>
        </p:grpSpPr>
        <p:sp>
          <p:nvSpPr>
            <p:cNvPr id="19" name="圆角矩形"/>
            <p:cNvSpPr/>
            <p:nvPr/>
          </p:nvSpPr>
          <p:spPr>
            <a:xfrm>
              <a:off x="1188" y="3071"/>
              <a:ext cx="3753" cy="3700"/>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dirty="0">
                  <a:solidFill>
                    <a:schemeClr val="bg2">
                      <a:lumMod val="50000"/>
                    </a:schemeClr>
                  </a:solidFill>
                </a:rPr>
                <a:t>   </a:t>
              </a:r>
              <a:endParaRPr lang="zh-CN" altLang="en-US">
                <a:solidFill>
                  <a:schemeClr val="bg2">
                    <a:lumMod val="50000"/>
                  </a:schemeClr>
                </a:solidFill>
              </a:endParaRPr>
            </a:p>
          </p:txBody>
        </p:sp>
        <p:sp>
          <p:nvSpPr>
            <p:cNvPr id="20"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21" name="文本框 5"/>
            <p:cNvSpPr txBox="1"/>
            <p:nvPr/>
          </p:nvSpPr>
          <p:spPr>
            <a:xfrm>
              <a:off x="1213" y="3119"/>
              <a:ext cx="3579" cy="3984"/>
            </a:xfrm>
            <a:prstGeom prst="rect">
              <a:avLst/>
            </a:prstGeom>
            <a:noFill/>
          </p:spPr>
          <p:txBody>
            <a:bodyPr wrap="square" rtlCol="0">
              <a:spAutoFit/>
            </a:bodyPr>
            <a:lstStyle/>
            <a:p>
              <a:pPr>
                <a:lnSpc>
                  <a:spcPct val="110000"/>
                </a:lnSpc>
              </a:pPr>
              <a:r>
                <a:rPr lang="zh-CN" altLang="en-US" dirty="0" smtClean="0">
                  <a:latin typeface="微软雅黑" panose="020B0503020204020204" charset="-122"/>
                  <a:ea typeface="微软雅黑" panose="020B0503020204020204" charset="-122"/>
                  <a:sym typeface="+mn-ea"/>
                </a:rPr>
                <a:t>        事件的最早时刻（</a:t>
              </a:r>
              <a:r>
                <a:rPr lang="en-US" dirty="0" smtClean="0">
                  <a:latin typeface="微软雅黑" panose="020B0503020204020204" charset="-122"/>
                  <a:ea typeface="微软雅黑" panose="020B0503020204020204" charset="-122"/>
                  <a:sym typeface="+mn-ea"/>
                </a:rPr>
                <a:t>EET</a:t>
              </a:r>
              <a:r>
                <a:rPr lang="zh-CN" altLang="en-US" dirty="0" smtClean="0">
                  <a:latin typeface="微软雅黑" panose="020B0503020204020204" charset="-122"/>
                  <a:ea typeface="微软雅黑" panose="020B0503020204020204" charset="-122"/>
                  <a:sym typeface="+mn-ea"/>
                </a:rPr>
                <a:t>）是该事件可以开始的最早时间。工程网络图由开始点沿着事件发生的顺序，使用</a:t>
              </a:r>
              <a:r>
                <a:rPr lang="en-US" dirty="0" smtClean="0">
                  <a:latin typeface="微软雅黑" panose="020B0503020204020204" charset="-122"/>
                  <a:ea typeface="微软雅黑" panose="020B0503020204020204" charset="-122"/>
                  <a:sym typeface="+mn-ea"/>
                </a:rPr>
                <a:t>3</a:t>
              </a:r>
              <a:r>
                <a:rPr lang="zh-CN" altLang="en-US" dirty="0" smtClean="0">
                  <a:latin typeface="微软雅黑" panose="020B0503020204020204" charset="-122"/>
                  <a:ea typeface="微软雅黑" panose="020B0503020204020204" charset="-122"/>
                  <a:sym typeface="+mn-ea"/>
                </a:rPr>
                <a:t>条简单规则来计算最早时刻。</a:t>
              </a:r>
            </a:p>
            <a:p>
              <a:pPr marL="0" indent="0" algn="l" fontAlgn="auto">
                <a:lnSpc>
                  <a:spcPct val="110000"/>
                </a:lnSpc>
              </a:pPr>
              <a:endParaRPr dirty="0">
                <a:latin typeface="微软雅黑" panose="020B0503020204020204" charset="-122"/>
                <a:ea typeface="微软雅黑" panose="020B0503020204020204" charset="-122"/>
                <a:sym typeface="+mn-ea"/>
              </a:endParaRPr>
            </a:p>
          </p:txBody>
        </p:sp>
      </p:grpSp>
      <p:sp>
        <p:nvSpPr>
          <p:cNvPr id="22" name="TextBox 6"/>
          <p:cNvSpPr txBox="1"/>
          <p:nvPr/>
        </p:nvSpPr>
        <p:spPr>
          <a:xfrm>
            <a:off x="824415" y="2137631"/>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1</a:t>
            </a:r>
            <a:r>
              <a:rPr lang="zh-CN" altLang="en-US" sz="2400" dirty="0" smtClean="0"/>
              <a:t>．计算最早时刻（</a:t>
            </a:r>
            <a:r>
              <a:rPr lang="en-US" sz="2400" dirty="0" smtClean="0"/>
              <a:t>EET</a:t>
            </a:r>
            <a:r>
              <a:rPr lang="zh-CN" altLang="en-US" sz="2400" dirty="0" smtClean="0"/>
              <a:t>）</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10.3  </a:t>
            </a:r>
            <a:r>
              <a:rPr lang="zh-CN" altLang="en-US" dirty="0" smtClean="0">
                <a:solidFill>
                  <a:srgbClr val="FF0000"/>
                </a:solidFill>
                <a:sym typeface="+mn-ea"/>
              </a:rPr>
              <a:t>进度计划</a:t>
            </a:r>
            <a:endParaRPr lang="zh-CN" altLang="en-US"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10.3.2  工程网络技术</a:t>
            </a:r>
          </a:p>
        </p:txBody>
      </p:sp>
      <p:sp>
        <p:nvSpPr>
          <p:cNvPr id="5" name="MH_Text_1"/>
          <p:cNvSpPr/>
          <p:nvPr>
            <p:custDataLst>
              <p:tags r:id="rId2"/>
            </p:custDataLst>
          </p:nvPr>
        </p:nvSpPr>
        <p:spPr>
          <a:xfrm>
            <a:off x="1591293" y="2883474"/>
            <a:ext cx="9518667" cy="3242768"/>
          </a:xfrm>
          <a:prstGeom prst="rect">
            <a:avLst/>
          </a:prstGeom>
          <a:noFill/>
          <a:ln w="12700" cap="flat" cmpd="sng" algn="ctr">
            <a:noFill/>
            <a:prstDash val="solid"/>
            <a:miter lim="800000"/>
          </a:ln>
          <a:effectLst/>
        </p:spPr>
        <p:txBody>
          <a:bodyPr anchor="ctr">
            <a:normAutofit lnSpcReduction="10000"/>
          </a:bodyPr>
          <a:lstStyle/>
          <a:p>
            <a:pPr>
              <a:lnSpc>
                <a:spcPct val="130000"/>
              </a:lnSpc>
            </a:pPr>
            <a:r>
              <a:rPr lang="zh-CN" altLang="en-US" dirty="0" smtClean="0">
                <a:latin typeface="微软雅黑" panose="020B0503020204020204" charset="-122"/>
                <a:ea typeface="微软雅黑" panose="020B0503020204020204" charset="-122"/>
                <a:sym typeface="+mn-ea"/>
              </a:rPr>
              <a:t>       例如，作业</a:t>
            </a:r>
            <a:r>
              <a:rPr lang="en-US" altLang="zh-CN" dirty="0" smtClean="0">
                <a:latin typeface="微软雅黑" panose="020B0503020204020204" charset="-122"/>
                <a:ea typeface="微软雅黑" panose="020B0503020204020204" charset="-122"/>
                <a:sym typeface="+mn-ea"/>
              </a:rPr>
              <a:t>2-3</a:t>
            </a:r>
            <a:r>
              <a:rPr lang="zh-CN" altLang="en-US" dirty="0" smtClean="0">
                <a:latin typeface="微软雅黑" panose="020B0503020204020204" charset="-122"/>
                <a:ea typeface="微软雅黑" panose="020B0503020204020204" charset="-122"/>
                <a:sym typeface="+mn-ea"/>
              </a:rPr>
              <a:t>由事件</a:t>
            </a:r>
            <a:r>
              <a:rPr lang="en-US" altLang="zh-CN" dirty="0" smtClean="0">
                <a:latin typeface="微软雅黑" panose="020B0503020204020204" charset="-122"/>
                <a:ea typeface="微软雅黑" panose="020B0503020204020204" charset="-122"/>
                <a:sym typeface="+mn-ea"/>
              </a:rPr>
              <a:t>2</a:t>
            </a:r>
            <a:r>
              <a:rPr lang="zh-CN" altLang="en-US" dirty="0" smtClean="0">
                <a:latin typeface="微软雅黑" panose="020B0503020204020204" charset="-122"/>
                <a:ea typeface="微软雅黑" panose="020B0503020204020204" charset="-122"/>
                <a:sym typeface="+mn-ea"/>
              </a:rPr>
              <a:t>开始，到事件</a:t>
            </a:r>
            <a:r>
              <a:rPr lang="en-US" altLang="zh-CN" dirty="0" smtClean="0">
                <a:latin typeface="微软雅黑" panose="020B0503020204020204" charset="-122"/>
                <a:ea typeface="微软雅黑" panose="020B0503020204020204" charset="-122"/>
                <a:sym typeface="+mn-ea"/>
              </a:rPr>
              <a:t>3</a:t>
            </a:r>
            <a:r>
              <a:rPr lang="zh-CN" altLang="en-US" dirty="0" smtClean="0">
                <a:latin typeface="微软雅黑" panose="020B0503020204020204" charset="-122"/>
                <a:ea typeface="微软雅黑" panose="020B0503020204020204" charset="-122"/>
                <a:sym typeface="+mn-ea"/>
              </a:rPr>
              <a:t>结束。事件</a:t>
            </a:r>
            <a:r>
              <a:rPr lang="en-US" altLang="zh-CN" dirty="0" smtClean="0">
                <a:latin typeface="微软雅黑" panose="020B0503020204020204" charset="-122"/>
                <a:ea typeface="微软雅黑" panose="020B0503020204020204" charset="-122"/>
                <a:sym typeface="+mn-ea"/>
              </a:rPr>
              <a:t>2</a:t>
            </a:r>
            <a:r>
              <a:rPr lang="zh-CN" altLang="en-US" dirty="0" smtClean="0">
                <a:latin typeface="微软雅黑" panose="020B0503020204020204" charset="-122"/>
                <a:ea typeface="微软雅黑" panose="020B0503020204020204" charset="-122"/>
                <a:sym typeface="+mn-ea"/>
              </a:rPr>
              <a:t>的最早时刻为</a:t>
            </a:r>
            <a:r>
              <a:rPr lang="en-US" altLang="zh-CN" dirty="0" smtClean="0">
                <a:latin typeface="微软雅黑" panose="020B0503020204020204" charset="-122"/>
                <a:ea typeface="微软雅黑" panose="020B0503020204020204" charset="-122"/>
                <a:sym typeface="+mn-ea"/>
              </a:rPr>
              <a:t>2</a:t>
            </a:r>
            <a:r>
              <a:rPr lang="zh-CN" altLang="en-US" dirty="0" smtClean="0">
                <a:latin typeface="微软雅黑" panose="020B0503020204020204" charset="-122"/>
                <a:ea typeface="微软雅黑" panose="020B0503020204020204" charset="-122"/>
                <a:sym typeface="+mn-ea"/>
              </a:rPr>
              <a:t>，只有一个作业进入事件</a:t>
            </a:r>
            <a:r>
              <a:rPr lang="en-US" altLang="zh-CN" dirty="0" smtClean="0">
                <a:latin typeface="微软雅黑" panose="020B0503020204020204" charset="-122"/>
                <a:ea typeface="微软雅黑" panose="020B0503020204020204" charset="-122"/>
                <a:sym typeface="+mn-ea"/>
              </a:rPr>
              <a:t>3</a:t>
            </a:r>
            <a:r>
              <a:rPr lang="zh-CN" altLang="en-US" dirty="0" smtClean="0">
                <a:latin typeface="微软雅黑" panose="020B0503020204020204" charset="-122"/>
                <a:ea typeface="微软雅黑" panose="020B0503020204020204" charset="-122"/>
                <a:sym typeface="+mn-ea"/>
              </a:rPr>
              <a:t>，作业</a:t>
            </a:r>
            <a:r>
              <a:rPr lang="en-US" altLang="zh-CN" dirty="0" smtClean="0">
                <a:latin typeface="微软雅黑" panose="020B0503020204020204" charset="-122"/>
                <a:ea typeface="微软雅黑" panose="020B0503020204020204" charset="-122"/>
                <a:sym typeface="+mn-ea"/>
              </a:rPr>
              <a:t>2-3</a:t>
            </a:r>
            <a:r>
              <a:rPr lang="zh-CN" altLang="en-US" dirty="0" smtClean="0">
                <a:latin typeface="微软雅黑" panose="020B0503020204020204" charset="-122"/>
                <a:ea typeface="微软雅黑" panose="020B0503020204020204" charset="-122"/>
                <a:sym typeface="+mn-ea"/>
              </a:rPr>
              <a:t>的持续时间为</a:t>
            </a:r>
            <a:r>
              <a:rPr lang="en-US" altLang="zh-CN" dirty="0" smtClean="0">
                <a:latin typeface="微软雅黑" panose="020B0503020204020204" charset="-122"/>
                <a:ea typeface="微软雅黑" panose="020B0503020204020204" charset="-122"/>
                <a:sym typeface="+mn-ea"/>
              </a:rPr>
              <a:t>4</a:t>
            </a:r>
            <a:r>
              <a:rPr lang="zh-CN" altLang="en-US" dirty="0" smtClean="0">
                <a:latin typeface="微软雅黑" panose="020B0503020204020204" charset="-122"/>
                <a:ea typeface="微软雅黑" panose="020B0503020204020204" charset="-122"/>
                <a:sym typeface="+mn-ea"/>
              </a:rPr>
              <a:t>，所以事件</a:t>
            </a:r>
            <a:r>
              <a:rPr lang="en-US" altLang="zh-CN" dirty="0" smtClean="0">
                <a:latin typeface="微软雅黑" panose="020B0503020204020204" charset="-122"/>
                <a:ea typeface="微软雅黑" panose="020B0503020204020204" charset="-122"/>
                <a:sym typeface="+mn-ea"/>
              </a:rPr>
              <a:t>3</a:t>
            </a:r>
            <a:r>
              <a:rPr lang="zh-CN" altLang="en-US" dirty="0" smtClean="0">
                <a:latin typeface="微软雅黑" panose="020B0503020204020204" charset="-122"/>
                <a:ea typeface="微软雅黑" panose="020B0503020204020204" charset="-122"/>
                <a:sym typeface="+mn-ea"/>
              </a:rPr>
              <a:t>的最早时间为</a:t>
            </a:r>
            <a:r>
              <a:rPr lang="en-US" altLang="zh-CN" dirty="0" smtClean="0">
                <a:latin typeface="微软雅黑" panose="020B0503020204020204" charset="-122"/>
                <a:ea typeface="微软雅黑" panose="020B0503020204020204" charset="-122"/>
                <a:sym typeface="+mn-ea"/>
              </a:rPr>
              <a:t>2+4=6</a:t>
            </a:r>
            <a:r>
              <a:rPr lang="zh-CN" altLang="en-US" dirty="0" smtClean="0">
                <a:latin typeface="微软雅黑" panose="020B0503020204020204" charset="-122"/>
                <a:ea typeface="微软雅黑" panose="020B0503020204020204" charset="-122"/>
                <a:sym typeface="+mn-ea"/>
              </a:rPr>
              <a:t>。</a:t>
            </a:r>
          </a:p>
          <a:p>
            <a:pPr>
              <a:lnSpc>
                <a:spcPct val="130000"/>
              </a:lnSpc>
            </a:pPr>
            <a:r>
              <a:rPr lang="zh-CN" altLang="en-US" dirty="0" smtClean="0">
                <a:latin typeface="微软雅黑" panose="020B0503020204020204" charset="-122"/>
                <a:ea typeface="微软雅黑" panose="020B0503020204020204" charset="-122"/>
                <a:sym typeface="+mn-ea"/>
              </a:rPr>
              <a:t>       作业</a:t>
            </a:r>
            <a:r>
              <a:rPr lang="en-US" altLang="zh-CN" dirty="0" smtClean="0">
                <a:latin typeface="微软雅黑" panose="020B0503020204020204" charset="-122"/>
                <a:ea typeface="微软雅黑" panose="020B0503020204020204" charset="-122"/>
                <a:sym typeface="+mn-ea"/>
              </a:rPr>
              <a:t>3-5</a:t>
            </a:r>
            <a:r>
              <a:rPr lang="zh-CN" altLang="en-US" dirty="0" smtClean="0">
                <a:latin typeface="微软雅黑" panose="020B0503020204020204" charset="-122"/>
                <a:ea typeface="微软雅黑" panose="020B0503020204020204" charset="-122"/>
                <a:sym typeface="+mn-ea"/>
              </a:rPr>
              <a:t>的持续时间为</a:t>
            </a:r>
            <a:r>
              <a:rPr lang="en-US" altLang="zh-CN" dirty="0" smtClean="0">
                <a:latin typeface="微软雅黑" panose="020B0503020204020204" charset="-122"/>
                <a:ea typeface="微软雅黑" panose="020B0503020204020204" charset="-122"/>
                <a:sym typeface="+mn-ea"/>
              </a:rPr>
              <a:t>1</a:t>
            </a:r>
            <a:r>
              <a:rPr lang="zh-CN" altLang="en-US" dirty="0" smtClean="0">
                <a:latin typeface="微软雅黑" panose="020B0503020204020204" charset="-122"/>
                <a:ea typeface="微软雅黑" panose="020B0503020204020204" charset="-122"/>
                <a:sym typeface="+mn-ea"/>
              </a:rPr>
              <a:t>，事件</a:t>
            </a:r>
            <a:r>
              <a:rPr lang="en-US" altLang="zh-CN" dirty="0" smtClean="0">
                <a:latin typeface="微软雅黑" panose="020B0503020204020204" charset="-122"/>
                <a:ea typeface="微软雅黑" panose="020B0503020204020204" charset="-122"/>
                <a:sym typeface="+mn-ea"/>
              </a:rPr>
              <a:t>3</a:t>
            </a:r>
            <a:r>
              <a:rPr lang="zh-CN" altLang="en-US" dirty="0" smtClean="0">
                <a:latin typeface="微软雅黑" panose="020B0503020204020204" charset="-122"/>
                <a:ea typeface="微软雅黑" panose="020B0503020204020204" charset="-122"/>
                <a:sym typeface="+mn-ea"/>
              </a:rPr>
              <a:t>的最早时刻为</a:t>
            </a:r>
            <a:r>
              <a:rPr lang="en-US" altLang="zh-CN" dirty="0" smtClean="0">
                <a:latin typeface="微软雅黑" panose="020B0503020204020204" charset="-122"/>
                <a:ea typeface="微软雅黑" panose="020B0503020204020204" charset="-122"/>
                <a:sym typeface="+mn-ea"/>
              </a:rPr>
              <a:t>6</a:t>
            </a:r>
            <a:r>
              <a:rPr lang="zh-CN" altLang="en-US" dirty="0" smtClean="0">
                <a:latin typeface="微软雅黑" panose="020B0503020204020204" charset="-122"/>
                <a:ea typeface="微软雅黑" panose="020B0503020204020204" charset="-122"/>
                <a:sym typeface="+mn-ea"/>
              </a:rPr>
              <a:t>，事件</a:t>
            </a:r>
            <a:r>
              <a:rPr lang="en-US" altLang="zh-CN" dirty="0" smtClean="0">
                <a:latin typeface="微软雅黑" panose="020B0503020204020204" charset="-122"/>
                <a:ea typeface="微软雅黑" panose="020B0503020204020204" charset="-122"/>
                <a:sym typeface="+mn-ea"/>
              </a:rPr>
              <a:t>5</a:t>
            </a:r>
            <a:r>
              <a:rPr lang="zh-CN" altLang="en-US" dirty="0" smtClean="0">
                <a:latin typeface="微软雅黑" panose="020B0503020204020204" charset="-122"/>
                <a:ea typeface="微软雅黑" panose="020B0503020204020204" charset="-122"/>
                <a:sym typeface="+mn-ea"/>
              </a:rPr>
              <a:t>只有一个作业进入，事件</a:t>
            </a:r>
            <a:r>
              <a:rPr lang="en-US" altLang="zh-CN" dirty="0" smtClean="0">
                <a:latin typeface="微软雅黑" panose="020B0503020204020204" charset="-122"/>
                <a:ea typeface="微软雅黑" panose="020B0503020204020204" charset="-122"/>
                <a:sym typeface="+mn-ea"/>
              </a:rPr>
              <a:t>5</a:t>
            </a:r>
            <a:r>
              <a:rPr lang="zh-CN" altLang="en-US" dirty="0" smtClean="0">
                <a:latin typeface="微软雅黑" panose="020B0503020204020204" charset="-122"/>
                <a:ea typeface="微软雅黑" panose="020B0503020204020204" charset="-122"/>
                <a:sym typeface="+mn-ea"/>
              </a:rPr>
              <a:t>的最早时刻为</a:t>
            </a:r>
            <a:r>
              <a:rPr lang="en-US" altLang="zh-CN" dirty="0" smtClean="0">
                <a:latin typeface="微软雅黑" panose="020B0503020204020204" charset="-122"/>
                <a:ea typeface="微软雅黑" panose="020B0503020204020204" charset="-122"/>
                <a:sym typeface="+mn-ea"/>
              </a:rPr>
              <a:t>6+1=7</a:t>
            </a:r>
            <a:r>
              <a:rPr lang="zh-CN" altLang="en-US" dirty="0" smtClean="0">
                <a:latin typeface="微软雅黑" panose="020B0503020204020204" charset="-122"/>
                <a:ea typeface="微软雅黑" panose="020B0503020204020204" charset="-122"/>
                <a:sym typeface="+mn-ea"/>
              </a:rPr>
              <a:t>。</a:t>
            </a:r>
          </a:p>
          <a:p>
            <a:pPr>
              <a:lnSpc>
                <a:spcPct val="130000"/>
              </a:lnSpc>
            </a:pPr>
            <a:r>
              <a:rPr lang="zh-CN" altLang="en-US" dirty="0" smtClean="0">
                <a:latin typeface="微软雅黑" panose="020B0503020204020204" charset="-122"/>
                <a:ea typeface="微软雅黑" panose="020B0503020204020204" charset="-122"/>
                <a:sym typeface="+mn-ea"/>
              </a:rPr>
              <a:t>       作业</a:t>
            </a:r>
            <a:r>
              <a:rPr lang="en-US" altLang="zh-CN" dirty="0" smtClean="0">
                <a:latin typeface="微软雅黑" panose="020B0503020204020204" charset="-122"/>
                <a:ea typeface="微软雅黑" panose="020B0503020204020204" charset="-122"/>
                <a:sym typeface="+mn-ea"/>
              </a:rPr>
              <a:t>5-8</a:t>
            </a:r>
            <a:r>
              <a:rPr lang="zh-CN" altLang="en-US" dirty="0" smtClean="0">
                <a:latin typeface="微软雅黑" panose="020B0503020204020204" charset="-122"/>
                <a:ea typeface="微软雅黑" panose="020B0503020204020204" charset="-122"/>
                <a:sym typeface="+mn-ea"/>
              </a:rPr>
              <a:t>进入事件</a:t>
            </a:r>
            <a:r>
              <a:rPr lang="en-US" altLang="zh-CN" dirty="0" smtClean="0">
                <a:latin typeface="微软雅黑" panose="020B0503020204020204" charset="-122"/>
                <a:ea typeface="微软雅黑" panose="020B0503020204020204" charset="-122"/>
                <a:sym typeface="+mn-ea"/>
              </a:rPr>
              <a:t>8</a:t>
            </a:r>
            <a:r>
              <a:rPr lang="zh-CN" altLang="en-US" dirty="0" smtClean="0">
                <a:latin typeface="微软雅黑" panose="020B0503020204020204" charset="-122"/>
                <a:ea typeface="微软雅黑" panose="020B0503020204020204" charset="-122"/>
                <a:sym typeface="+mn-ea"/>
              </a:rPr>
              <a:t>，持续时间为</a:t>
            </a:r>
            <a:r>
              <a:rPr lang="en-US" altLang="zh-CN" dirty="0" smtClean="0">
                <a:latin typeface="微软雅黑" panose="020B0503020204020204" charset="-122"/>
                <a:ea typeface="微软雅黑" panose="020B0503020204020204" charset="-122"/>
                <a:sym typeface="+mn-ea"/>
              </a:rPr>
              <a:t>1</a:t>
            </a:r>
            <a:r>
              <a:rPr lang="zh-CN" altLang="en-US" dirty="0" smtClean="0">
                <a:latin typeface="微软雅黑" panose="020B0503020204020204" charset="-122"/>
                <a:ea typeface="微软雅黑" panose="020B0503020204020204" charset="-122"/>
                <a:sym typeface="+mn-ea"/>
              </a:rPr>
              <a:t>，事件</a:t>
            </a:r>
            <a:r>
              <a:rPr lang="en-US" altLang="zh-CN" dirty="0" smtClean="0">
                <a:latin typeface="微软雅黑" panose="020B0503020204020204" charset="-122"/>
                <a:ea typeface="微软雅黑" panose="020B0503020204020204" charset="-122"/>
                <a:sym typeface="+mn-ea"/>
              </a:rPr>
              <a:t>5</a:t>
            </a:r>
            <a:r>
              <a:rPr lang="zh-CN" altLang="en-US" dirty="0" smtClean="0">
                <a:latin typeface="微软雅黑" panose="020B0503020204020204" charset="-122"/>
                <a:ea typeface="微软雅黑" panose="020B0503020204020204" charset="-122"/>
                <a:sym typeface="+mn-ea"/>
              </a:rPr>
              <a:t>的最早时刻为</a:t>
            </a:r>
            <a:r>
              <a:rPr lang="en-US" altLang="zh-CN" dirty="0" smtClean="0">
                <a:latin typeface="微软雅黑" panose="020B0503020204020204" charset="-122"/>
                <a:ea typeface="微软雅黑" panose="020B0503020204020204" charset="-122"/>
                <a:sym typeface="+mn-ea"/>
              </a:rPr>
              <a:t>7</a:t>
            </a:r>
            <a:r>
              <a:rPr lang="zh-CN" altLang="en-US" dirty="0" smtClean="0">
                <a:latin typeface="微软雅黑" panose="020B0503020204020204" charset="-122"/>
                <a:ea typeface="微软雅黑" panose="020B0503020204020204" charset="-122"/>
                <a:sym typeface="+mn-ea"/>
              </a:rPr>
              <a:t>，</a:t>
            </a:r>
            <a:r>
              <a:rPr lang="en-US" altLang="zh-CN" dirty="0" smtClean="0">
                <a:latin typeface="微软雅黑" panose="020B0503020204020204" charset="-122"/>
                <a:ea typeface="微软雅黑" panose="020B0503020204020204" charset="-122"/>
                <a:sym typeface="+mn-ea"/>
              </a:rPr>
              <a:t>7+1=8</a:t>
            </a:r>
            <a:r>
              <a:rPr lang="zh-CN" altLang="en-US" dirty="0" smtClean="0">
                <a:latin typeface="微软雅黑" panose="020B0503020204020204" charset="-122"/>
                <a:ea typeface="微软雅黑" panose="020B0503020204020204" charset="-122"/>
                <a:sym typeface="+mn-ea"/>
              </a:rPr>
              <a:t>；虚拟作业</a:t>
            </a:r>
            <a:r>
              <a:rPr lang="en-US" altLang="zh-CN" dirty="0" smtClean="0">
                <a:latin typeface="微软雅黑" panose="020B0503020204020204" charset="-122"/>
                <a:ea typeface="微软雅黑" panose="020B0503020204020204" charset="-122"/>
                <a:sym typeface="+mn-ea"/>
              </a:rPr>
              <a:t>4-8</a:t>
            </a:r>
            <a:r>
              <a:rPr lang="zh-CN" altLang="en-US" dirty="0" smtClean="0">
                <a:latin typeface="微软雅黑" panose="020B0503020204020204" charset="-122"/>
                <a:ea typeface="微软雅黑" panose="020B0503020204020204" charset="-122"/>
                <a:sym typeface="+mn-ea"/>
              </a:rPr>
              <a:t>也进入事件</a:t>
            </a:r>
            <a:r>
              <a:rPr lang="en-US" altLang="zh-CN" dirty="0" smtClean="0">
                <a:latin typeface="微软雅黑" panose="020B0503020204020204" charset="-122"/>
                <a:ea typeface="微软雅黑" panose="020B0503020204020204" charset="-122"/>
                <a:sym typeface="+mn-ea"/>
              </a:rPr>
              <a:t>8</a:t>
            </a:r>
            <a:r>
              <a:rPr lang="zh-CN" altLang="en-US" dirty="0" smtClean="0">
                <a:latin typeface="微软雅黑" panose="020B0503020204020204" charset="-122"/>
                <a:ea typeface="微软雅黑" panose="020B0503020204020204" charset="-122"/>
                <a:sym typeface="+mn-ea"/>
              </a:rPr>
              <a:t>，持续时间为</a:t>
            </a:r>
            <a:r>
              <a:rPr lang="en-US" altLang="zh-CN" dirty="0" smtClean="0">
                <a:latin typeface="微软雅黑" panose="020B0503020204020204" charset="-122"/>
                <a:ea typeface="微软雅黑" panose="020B0503020204020204" charset="-122"/>
                <a:sym typeface="+mn-ea"/>
              </a:rPr>
              <a:t>0</a:t>
            </a:r>
            <a:r>
              <a:rPr lang="zh-CN" altLang="en-US" dirty="0" smtClean="0">
                <a:latin typeface="微软雅黑" panose="020B0503020204020204" charset="-122"/>
                <a:ea typeface="微软雅黑" panose="020B0503020204020204" charset="-122"/>
                <a:sym typeface="+mn-ea"/>
              </a:rPr>
              <a:t>，事件</a:t>
            </a:r>
            <a:r>
              <a:rPr lang="en-US" altLang="zh-CN" dirty="0" smtClean="0">
                <a:latin typeface="微软雅黑" panose="020B0503020204020204" charset="-122"/>
                <a:ea typeface="微软雅黑" panose="020B0503020204020204" charset="-122"/>
                <a:sym typeface="+mn-ea"/>
              </a:rPr>
              <a:t>4</a:t>
            </a:r>
            <a:r>
              <a:rPr lang="zh-CN" altLang="en-US" dirty="0" smtClean="0">
                <a:latin typeface="微软雅黑" panose="020B0503020204020204" charset="-122"/>
                <a:ea typeface="微软雅黑" panose="020B0503020204020204" charset="-122"/>
                <a:sym typeface="+mn-ea"/>
              </a:rPr>
              <a:t>的最早时刻为</a:t>
            </a:r>
            <a:r>
              <a:rPr lang="en-US" altLang="zh-CN" dirty="0" smtClean="0">
                <a:latin typeface="微软雅黑" panose="020B0503020204020204" charset="-122"/>
                <a:ea typeface="微软雅黑" panose="020B0503020204020204" charset="-122"/>
                <a:sym typeface="+mn-ea"/>
              </a:rPr>
              <a:t>9</a:t>
            </a:r>
            <a:r>
              <a:rPr lang="zh-CN" altLang="en-US" dirty="0" smtClean="0">
                <a:latin typeface="微软雅黑" panose="020B0503020204020204" charset="-122"/>
                <a:ea typeface="微软雅黑" panose="020B0503020204020204" charset="-122"/>
                <a:sym typeface="+mn-ea"/>
              </a:rPr>
              <a:t>，</a:t>
            </a:r>
            <a:r>
              <a:rPr lang="en-US" altLang="zh-CN" dirty="0" smtClean="0">
                <a:latin typeface="微软雅黑" panose="020B0503020204020204" charset="-122"/>
                <a:ea typeface="微软雅黑" panose="020B0503020204020204" charset="-122"/>
                <a:sym typeface="+mn-ea"/>
              </a:rPr>
              <a:t>9+0=9</a:t>
            </a:r>
            <a:r>
              <a:rPr lang="zh-CN" altLang="en-US" dirty="0" smtClean="0">
                <a:latin typeface="微软雅黑" panose="020B0503020204020204" charset="-122"/>
                <a:ea typeface="微软雅黑" panose="020B0503020204020204" charset="-122"/>
                <a:sym typeface="+mn-ea"/>
              </a:rPr>
              <a:t>。根据第</a:t>
            </a:r>
            <a:r>
              <a:rPr lang="en-US" altLang="zh-CN" dirty="0" smtClean="0">
                <a:latin typeface="微软雅黑" panose="020B0503020204020204" charset="-122"/>
                <a:ea typeface="微软雅黑" panose="020B0503020204020204" charset="-122"/>
                <a:sym typeface="+mn-ea"/>
              </a:rPr>
              <a:t>3</a:t>
            </a:r>
            <a:r>
              <a:rPr lang="zh-CN" altLang="en-US" dirty="0" smtClean="0">
                <a:latin typeface="微软雅黑" panose="020B0503020204020204" charset="-122"/>
                <a:ea typeface="微软雅黑" panose="020B0503020204020204" charset="-122"/>
                <a:sym typeface="+mn-ea"/>
              </a:rPr>
              <a:t>条规则，事件</a:t>
            </a:r>
            <a:r>
              <a:rPr lang="en-US" altLang="zh-CN" dirty="0" smtClean="0">
                <a:latin typeface="微软雅黑" panose="020B0503020204020204" charset="-122"/>
                <a:ea typeface="微软雅黑" panose="020B0503020204020204" charset="-122"/>
                <a:sym typeface="+mn-ea"/>
              </a:rPr>
              <a:t>8</a:t>
            </a:r>
            <a:r>
              <a:rPr lang="zh-CN" altLang="en-US" dirty="0" smtClean="0">
                <a:latin typeface="微软雅黑" panose="020B0503020204020204" charset="-122"/>
                <a:ea typeface="微软雅黑" panose="020B0503020204020204" charset="-122"/>
                <a:sym typeface="+mn-ea"/>
              </a:rPr>
              <a:t>的最早时刻为</a:t>
            </a:r>
          </a:p>
          <a:p>
            <a:pPr>
              <a:lnSpc>
                <a:spcPct val="130000"/>
              </a:lnSpc>
            </a:pPr>
            <a:endParaRPr lang="en-US" altLang="zh-CN" dirty="0" smtClean="0">
              <a:latin typeface="微软雅黑" panose="020B0503020204020204" charset="-122"/>
              <a:ea typeface="微软雅黑" panose="020B0503020204020204" charset="-122"/>
              <a:sym typeface="+mn-ea"/>
            </a:endParaRPr>
          </a:p>
          <a:p>
            <a:pPr>
              <a:lnSpc>
                <a:spcPct val="130000"/>
              </a:lnSpc>
            </a:pPr>
            <a:r>
              <a:rPr lang="zh-CN" altLang="en-US" dirty="0" smtClean="0">
                <a:latin typeface="微软雅黑" panose="020B0503020204020204" charset="-122"/>
                <a:ea typeface="微软雅黑" panose="020B0503020204020204" charset="-122"/>
                <a:sym typeface="+mn-ea"/>
              </a:rPr>
              <a:t>       按照此方法，算出所有事件的最早时刻，写在每个圆圈的右上部分内。</a:t>
            </a:r>
          </a:p>
        </p:txBody>
      </p:sp>
      <p:sp>
        <p:nvSpPr>
          <p:cNvPr id="84994"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4996"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nvGraphicFramePr>
        <p:xfrm>
          <a:off x="4268980" y="5155000"/>
          <a:ext cx="3595763" cy="377508"/>
        </p:xfrm>
        <a:graphic>
          <a:graphicData uri="http://schemas.openxmlformats.org/presentationml/2006/ole">
            <p:oleObj spid="_x0000_s84997" name="公式" r:id="rId5" imgW="1676160" imgH="203040" progId="">
              <p:embed/>
            </p:oleObj>
          </a:graphicData>
        </a:graphic>
      </p:graphicFrame>
      <p:sp>
        <p:nvSpPr>
          <p:cNvPr id="10" name="TextBox 6"/>
          <p:cNvSpPr txBox="1"/>
          <p:nvPr/>
        </p:nvSpPr>
        <p:spPr>
          <a:xfrm>
            <a:off x="824415" y="2137631"/>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1</a:t>
            </a:r>
            <a:r>
              <a:rPr lang="zh-CN" altLang="en-US" sz="2400" dirty="0" smtClean="0"/>
              <a:t>．计算最早时刻（</a:t>
            </a:r>
            <a:r>
              <a:rPr lang="en-US" sz="2400" dirty="0" smtClean="0"/>
              <a:t>EET</a:t>
            </a:r>
            <a:r>
              <a:rPr lang="zh-CN" altLang="en-US" sz="2400" dirty="0" smtClean="0"/>
              <a:t>）</a:t>
            </a:r>
          </a:p>
        </p:txBody>
      </p:sp>
      <p:sp>
        <p:nvSpPr>
          <p:cNvPr id="12" name="矩形 11"/>
          <p:cNvSpPr>
            <a:spLocks noChangeAspect="1"/>
          </p:cNvSpPr>
          <p:nvPr/>
        </p:nvSpPr>
        <p:spPr>
          <a:xfrm>
            <a:off x="1330878" y="2873829"/>
            <a:ext cx="9784426" cy="3230088"/>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Tree>
  </p:cSld>
  <p:clrMapOvr>
    <a:masterClrMapping/>
  </p:clrMapOvr>
  <p:transition>
    <p:wipe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10.3  </a:t>
            </a:r>
            <a:r>
              <a:rPr lang="zh-CN" altLang="en-US" dirty="0" smtClean="0">
                <a:solidFill>
                  <a:srgbClr val="FF0000"/>
                </a:solidFill>
                <a:sym typeface="+mn-ea"/>
              </a:rPr>
              <a:t>进度计划</a:t>
            </a:r>
            <a:endParaRPr lang="zh-CN" altLang="en-US"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10.3.2  工程网络技术</a:t>
            </a:r>
          </a:p>
        </p:txBody>
      </p:sp>
      <p:sp>
        <p:nvSpPr>
          <p:cNvPr id="21" name="文本框 99"/>
          <p:cNvSpPr txBox="1"/>
          <p:nvPr/>
        </p:nvSpPr>
        <p:spPr>
          <a:xfrm>
            <a:off x="1436411" y="3122674"/>
            <a:ext cx="9512638" cy="2723823"/>
          </a:xfrm>
          <a:prstGeom prst="rect">
            <a:avLst/>
          </a:prstGeom>
          <a:solidFill>
            <a:schemeClr val="accent3">
              <a:lumMod val="20000"/>
              <a:lumOff val="80000"/>
            </a:schemeClr>
          </a:solidFill>
          <a:ln w="9525">
            <a:noFill/>
          </a:ln>
        </p:spPr>
        <p:txBody>
          <a:bodyPr wrap="square">
            <a:spAutoFit/>
          </a:bodyPr>
          <a:lstStyle/>
          <a:p>
            <a:pPr>
              <a:lnSpc>
                <a:spcPct val="130000"/>
              </a:lnSpc>
            </a:pPr>
            <a:r>
              <a:rPr lang="zh-CN" altLang="en-US" dirty="0" smtClean="0">
                <a:latin typeface="微软雅黑" panose="020B0503020204020204" charset="-122"/>
                <a:ea typeface="微软雅黑" panose="020B0503020204020204" charset="-122"/>
                <a:sym typeface="+mn-ea"/>
              </a:rPr>
              <a:t>       从结束点开始，计算出每个事件的最迟时刻（</a:t>
            </a:r>
            <a:r>
              <a:rPr lang="en-US" dirty="0" smtClean="0">
                <a:latin typeface="微软雅黑" panose="020B0503020204020204" charset="-122"/>
                <a:ea typeface="微软雅黑" panose="020B0503020204020204" charset="-122"/>
                <a:sym typeface="+mn-ea"/>
              </a:rPr>
              <a:t>LET</a:t>
            </a:r>
            <a:r>
              <a:rPr lang="zh-CN" altLang="en-US" dirty="0" smtClean="0">
                <a:latin typeface="微软雅黑" panose="020B0503020204020204" charset="-122"/>
                <a:ea typeface="微软雅黑" panose="020B0503020204020204" charset="-122"/>
                <a:sym typeface="+mn-ea"/>
              </a:rPr>
              <a:t>），写在圆圈的右下部分内。事件的最迟时刻是在不影响工程进度的前提下，该事件最晚可以发生的时刻。</a:t>
            </a:r>
          </a:p>
          <a:p>
            <a:pPr>
              <a:lnSpc>
                <a:spcPct val="130000"/>
              </a:lnSpc>
            </a:pPr>
            <a:r>
              <a:rPr lang="zh-CN" altLang="en-US" dirty="0" smtClean="0">
                <a:latin typeface="微软雅黑" panose="020B0503020204020204" charset="-122"/>
                <a:ea typeface="微软雅黑" panose="020B0503020204020204" charset="-122"/>
                <a:sym typeface="+mn-ea"/>
              </a:rPr>
              <a:t>       结束点的最迟时刻就是它的最早时刻。其他点的最迟时刻按作业的逆向顺序，使用下述规则进行计算：</a:t>
            </a:r>
            <a:endParaRPr lang="en-US" altLang="zh-CN" dirty="0" smtClean="0">
              <a:latin typeface="微软雅黑" panose="020B0503020204020204" charset="-122"/>
              <a:ea typeface="微软雅黑" panose="020B0503020204020204" charset="-122"/>
              <a:sym typeface="+mn-ea"/>
            </a:endParaRPr>
          </a:p>
          <a:p>
            <a:pPr lvl="1"/>
            <a:r>
              <a:rPr lang="zh-CN" altLang="en-US" dirty="0" smtClean="0"/>
              <a:t>（</a:t>
            </a:r>
            <a:r>
              <a:rPr lang="en-US" altLang="zh-CN" dirty="0" smtClean="0"/>
              <a:t>1</a:t>
            </a:r>
            <a:r>
              <a:rPr lang="zh-CN" altLang="en-US" dirty="0" smtClean="0"/>
              <a:t>）考虑离开该事件的所有作业。</a:t>
            </a:r>
          </a:p>
          <a:p>
            <a:pPr lvl="1"/>
            <a:r>
              <a:rPr lang="zh-CN" altLang="en-US" dirty="0" smtClean="0"/>
              <a:t>（</a:t>
            </a:r>
            <a:r>
              <a:rPr lang="en-US" altLang="zh-CN" dirty="0" smtClean="0"/>
              <a:t>2</a:t>
            </a:r>
            <a:r>
              <a:rPr lang="zh-CN" altLang="en-US" dirty="0" smtClean="0"/>
              <a:t>）从每个作业的结束事件的最迟时刻中减去该作业的持续时间。</a:t>
            </a:r>
          </a:p>
          <a:p>
            <a:pPr lvl="1"/>
            <a:r>
              <a:rPr lang="zh-CN" altLang="en-US" dirty="0" smtClean="0"/>
              <a:t>（</a:t>
            </a:r>
            <a:r>
              <a:rPr lang="en-US" altLang="zh-CN" dirty="0" smtClean="0"/>
              <a:t>3</a:t>
            </a:r>
            <a:r>
              <a:rPr lang="zh-CN" altLang="en-US" dirty="0" smtClean="0"/>
              <a:t>）选取上述差数中的最小值，作为该事件的最迟时刻</a:t>
            </a:r>
            <a:r>
              <a:rPr lang="en-US" dirty="0" smtClean="0"/>
              <a:t>LET</a:t>
            </a:r>
            <a:r>
              <a:rPr lang="zh-CN" altLang="en-US" dirty="0" smtClean="0"/>
              <a:t>。</a:t>
            </a:r>
          </a:p>
          <a:p>
            <a:pPr>
              <a:lnSpc>
                <a:spcPct val="130000"/>
              </a:lnSpc>
            </a:pPr>
            <a:endParaRPr lang="zh-CN" altLang="en-US" dirty="0" smtClean="0">
              <a:latin typeface="微软雅黑" panose="020B0503020204020204" charset="-122"/>
              <a:ea typeface="微软雅黑" panose="020B0503020204020204" charset="-122"/>
              <a:sym typeface="+mn-ea"/>
            </a:endParaRPr>
          </a:p>
        </p:txBody>
      </p:sp>
      <p:sp>
        <p:nvSpPr>
          <p:cNvPr id="22" name="矩形 21"/>
          <p:cNvSpPr>
            <a:spLocks noChangeAspect="1"/>
          </p:cNvSpPr>
          <p:nvPr/>
        </p:nvSpPr>
        <p:spPr>
          <a:xfrm>
            <a:off x="1330878" y="3006403"/>
            <a:ext cx="9784426" cy="2919384"/>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23" name="TextBox 6"/>
          <p:cNvSpPr txBox="1"/>
          <p:nvPr/>
        </p:nvSpPr>
        <p:spPr>
          <a:xfrm>
            <a:off x="824415" y="2137631"/>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2</a:t>
            </a:r>
            <a:r>
              <a:rPr lang="zh-CN" altLang="en-US" sz="2400" dirty="0" smtClean="0"/>
              <a:t>．计算最迟时刻（</a:t>
            </a:r>
            <a:r>
              <a:rPr lang="en-US" sz="2400" dirty="0" smtClean="0"/>
              <a:t>LET</a:t>
            </a:r>
            <a:r>
              <a:rPr lang="zh-CN" altLang="en-US" sz="2400" dirty="0" smtClean="0"/>
              <a:t>）</a:t>
            </a:r>
          </a:p>
        </p:txBody>
      </p:sp>
    </p:spTree>
  </p:cSld>
  <p:clrMapOvr>
    <a:masterClrMapping/>
  </p:clrMapOvr>
  <p:transition>
    <p:wipe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10.3  </a:t>
            </a:r>
            <a:r>
              <a:rPr lang="zh-CN" altLang="en-US" dirty="0" smtClean="0">
                <a:solidFill>
                  <a:srgbClr val="FF0000"/>
                </a:solidFill>
                <a:sym typeface="+mn-ea"/>
              </a:rPr>
              <a:t>进度计划</a:t>
            </a:r>
            <a:endParaRPr lang="zh-CN" altLang="en-US"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10.3.2  工程网络技术</a:t>
            </a:r>
          </a:p>
        </p:txBody>
      </p:sp>
      <p:sp>
        <p:nvSpPr>
          <p:cNvPr id="5" name="MH_Text_1"/>
          <p:cNvSpPr/>
          <p:nvPr>
            <p:custDataLst>
              <p:tags r:id="rId2"/>
            </p:custDataLst>
          </p:nvPr>
        </p:nvSpPr>
        <p:spPr>
          <a:xfrm>
            <a:off x="972859" y="3182586"/>
            <a:ext cx="10137102" cy="2658655"/>
          </a:xfrm>
          <a:prstGeom prst="rect">
            <a:avLst/>
          </a:prstGeom>
          <a:noFill/>
          <a:ln w="12700" cap="flat" cmpd="sng" algn="ctr">
            <a:solidFill>
              <a:srgbClr val="CC0066"/>
            </a:solidFill>
            <a:prstDash val="solid"/>
            <a:miter lim="800000"/>
          </a:ln>
          <a:effectLst/>
        </p:spPr>
        <p:txBody>
          <a:bodyPr anchor="ctr">
            <a:normAutofit/>
          </a:bodyPr>
          <a:lstStyle/>
          <a:p>
            <a:pPr>
              <a:lnSpc>
                <a:spcPct val="130000"/>
              </a:lnSpc>
            </a:pPr>
            <a:r>
              <a:rPr lang="zh-CN" altLang="en-US" dirty="0" smtClean="0">
                <a:latin typeface="微软雅黑" panose="020B0503020204020204" charset="-122"/>
                <a:ea typeface="微软雅黑" panose="020B0503020204020204" charset="-122"/>
                <a:sym typeface="+mn-ea"/>
              </a:rPr>
              <a:t>       例如，图</a:t>
            </a:r>
            <a:r>
              <a:rPr lang="en-US" altLang="zh-CN" dirty="0" smtClean="0">
                <a:latin typeface="微软雅黑" panose="020B0503020204020204" charset="-122"/>
                <a:ea typeface="微软雅黑" panose="020B0503020204020204" charset="-122"/>
                <a:sym typeface="+mn-ea"/>
              </a:rPr>
              <a:t>10-2</a:t>
            </a:r>
            <a:r>
              <a:rPr lang="zh-CN" altLang="en-US" dirty="0" smtClean="0">
                <a:latin typeface="微软雅黑" panose="020B0503020204020204" charset="-122"/>
                <a:ea typeface="微软雅黑" panose="020B0503020204020204" charset="-122"/>
                <a:sym typeface="+mn-ea"/>
              </a:rPr>
              <a:t>中事件</a:t>
            </a:r>
            <a:r>
              <a:rPr lang="en-US" altLang="zh-CN" dirty="0" smtClean="0">
                <a:latin typeface="微软雅黑" panose="020B0503020204020204" charset="-122"/>
                <a:ea typeface="微软雅黑" panose="020B0503020204020204" charset="-122"/>
                <a:sym typeface="+mn-ea"/>
              </a:rPr>
              <a:t>10</a:t>
            </a:r>
            <a:r>
              <a:rPr lang="zh-CN" altLang="en-US" dirty="0" smtClean="0">
                <a:latin typeface="微软雅黑" panose="020B0503020204020204" charset="-122"/>
                <a:ea typeface="微软雅黑" panose="020B0503020204020204" charset="-122"/>
                <a:sym typeface="+mn-ea"/>
              </a:rPr>
              <a:t>，离开它的作业只有一个，是作业</a:t>
            </a:r>
            <a:r>
              <a:rPr lang="en-US" altLang="zh-CN" dirty="0" smtClean="0">
                <a:latin typeface="微软雅黑" panose="020B0503020204020204" charset="-122"/>
                <a:ea typeface="微软雅黑" panose="020B0503020204020204" charset="-122"/>
                <a:sym typeface="+mn-ea"/>
              </a:rPr>
              <a:t>10-11</a:t>
            </a:r>
            <a:r>
              <a:rPr lang="zh-CN" altLang="en-US" dirty="0" smtClean="0">
                <a:latin typeface="微软雅黑" panose="020B0503020204020204" charset="-122"/>
                <a:ea typeface="微软雅黑" panose="020B0503020204020204" charset="-122"/>
                <a:sym typeface="+mn-ea"/>
              </a:rPr>
              <a:t>，持续时间为</a:t>
            </a:r>
            <a:r>
              <a:rPr lang="en-US" altLang="zh-CN" dirty="0" smtClean="0">
                <a:latin typeface="微软雅黑" panose="020B0503020204020204" charset="-122"/>
                <a:ea typeface="微软雅黑" panose="020B0503020204020204" charset="-122"/>
                <a:sym typeface="+mn-ea"/>
              </a:rPr>
              <a:t>1</a:t>
            </a:r>
            <a:r>
              <a:rPr lang="zh-CN" altLang="en-US" dirty="0" smtClean="0">
                <a:latin typeface="微软雅黑" panose="020B0503020204020204" charset="-122"/>
                <a:ea typeface="微软雅黑" panose="020B0503020204020204" charset="-122"/>
                <a:sym typeface="+mn-ea"/>
              </a:rPr>
              <a:t>，结束事件的最迟时刻为</a:t>
            </a:r>
            <a:r>
              <a:rPr lang="en-US" altLang="zh-CN" dirty="0" smtClean="0">
                <a:latin typeface="微软雅黑" panose="020B0503020204020204" charset="-122"/>
                <a:ea typeface="微软雅黑" panose="020B0503020204020204" charset="-122"/>
                <a:sym typeface="+mn-ea"/>
              </a:rPr>
              <a:t>15</a:t>
            </a:r>
            <a:r>
              <a:rPr lang="zh-CN" altLang="en-US" dirty="0" smtClean="0">
                <a:latin typeface="微软雅黑" panose="020B0503020204020204" charset="-122"/>
                <a:ea typeface="微软雅黑" panose="020B0503020204020204" charset="-122"/>
                <a:sym typeface="+mn-ea"/>
              </a:rPr>
              <a:t>，因而事件</a:t>
            </a:r>
            <a:r>
              <a:rPr lang="en-US" altLang="zh-CN" dirty="0" smtClean="0">
                <a:latin typeface="微软雅黑" panose="020B0503020204020204" charset="-122"/>
                <a:ea typeface="微软雅黑" panose="020B0503020204020204" charset="-122"/>
                <a:sym typeface="+mn-ea"/>
              </a:rPr>
              <a:t>10</a:t>
            </a:r>
            <a:r>
              <a:rPr lang="zh-CN" altLang="en-US" dirty="0" smtClean="0">
                <a:latin typeface="微软雅黑" panose="020B0503020204020204" charset="-122"/>
                <a:ea typeface="微软雅黑" panose="020B0503020204020204" charset="-122"/>
                <a:sym typeface="+mn-ea"/>
              </a:rPr>
              <a:t>的最迟时刻为 </a:t>
            </a:r>
            <a:r>
              <a:rPr lang="en-US" altLang="zh-CN" dirty="0" smtClean="0">
                <a:latin typeface="微软雅黑" panose="020B0503020204020204" charset="-122"/>
                <a:ea typeface="微软雅黑" panose="020B0503020204020204" charset="-122"/>
                <a:sym typeface="+mn-ea"/>
              </a:rPr>
              <a:t>15-1=14</a:t>
            </a:r>
            <a:r>
              <a:rPr lang="zh-CN" altLang="en-US" dirty="0" smtClean="0">
                <a:latin typeface="微软雅黑" panose="020B0503020204020204" charset="-122"/>
                <a:ea typeface="微软雅黑" panose="020B0503020204020204" charset="-122"/>
                <a:sym typeface="+mn-ea"/>
              </a:rPr>
              <a:t>。</a:t>
            </a:r>
          </a:p>
          <a:p>
            <a:pPr>
              <a:lnSpc>
                <a:spcPct val="130000"/>
              </a:lnSpc>
            </a:pPr>
            <a:r>
              <a:rPr lang="zh-CN" altLang="en-US" dirty="0" smtClean="0">
                <a:latin typeface="微软雅黑" panose="020B0503020204020204" charset="-122"/>
                <a:ea typeface="微软雅黑" panose="020B0503020204020204" charset="-122"/>
                <a:sym typeface="+mn-ea"/>
              </a:rPr>
              <a:t>       同理，事件</a:t>
            </a:r>
            <a:r>
              <a:rPr lang="en-US" altLang="zh-CN" dirty="0" smtClean="0">
                <a:latin typeface="微软雅黑" panose="020B0503020204020204" charset="-122"/>
                <a:ea typeface="微软雅黑" panose="020B0503020204020204" charset="-122"/>
                <a:sym typeface="+mn-ea"/>
              </a:rPr>
              <a:t>7</a:t>
            </a:r>
            <a:r>
              <a:rPr lang="zh-CN" altLang="en-US" dirty="0" smtClean="0">
                <a:latin typeface="微软雅黑" panose="020B0503020204020204" charset="-122"/>
                <a:ea typeface="微软雅黑" panose="020B0503020204020204" charset="-122"/>
                <a:sym typeface="+mn-ea"/>
              </a:rPr>
              <a:t>的最迟时刻为</a:t>
            </a:r>
            <a:r>
              <a:rPr lang="en-US" altLang="zh-CN" dirty="0" smtClean="0">
                <a:latin typeface="微软雅黑" panose="020B0503020204020204" charset="-122"/>
                <a:ea typeface="微软雅黑" panose="020B0503020204020204" charset="-122"/>
                <a:sym typeface="+mn-ea"/>
              </a:rPr>
              <a:t>14-2=12</a:t>
            </a:r>
            <a:r>
              <a:rPr lang="zh-CN" altLang="en-US" dirty="0" smtClean="0">
                <a:latin typeface="微软雅黑" panose="020B0503020204020204" charset="-122"/>
                <a:ea typeface="微软雅黑" panose="020B0503020204020204" charset="-122"/>
                <a:sym typeface="+mn-ea"/>
              </a:rPr>
              <a:t>；事件</a:t>
            </a:r>
            <a:r>
              <a:rPr lang="en-US" altLang="zh-CN" dirty="0" smtClean="0">
                <a:latin typeface="微软雅黑" panose="020B0503020204020204" charset="-122"/>
                <a:ea typeface="微软雅黑" panose="020B0503020204020204" charset="-122"/>
                <a:sym typeface="+mn-ea"/>
              </a:rPr>
              <a:t>8</a:t>
            </a:r>
            <a:r>
              <a:rPr lang="zh-CN" altLang="en-US" dirty="0" smtClean="0">
                <a:latin typeface="微软雅黑" panose="020B0503020204020204" charset="-122"/>
                <a:ea typeface="微软雅黑" panose="020B0503020204020204" charset="-122"/>
                <a:sym typeface="+mn-ea"/>
              </a:rPr>
              <a:t>的最迟时刻为</a:t>
            </a:r>
            <a:r>
              <a:rPr lang="en-US" altLang="zh-CN" dirty="0" smtClean="0">
                <a:latin typeface="微软雅黑" panose="020B0503020204020204" charset="-122"/>
                <a:ea typeface="微软雅黑" panose="020B0503020204020204" charset="-122"/>
                <a:sym typeface="+mn-ea"/>
              </a:rPr>
              <a:t>14-1=13</a:t>
            </a:r>
            <a:r>
              <a:rPr lang="zh-CN" altLang="en-US" dirty="0" smtClean="0">
                <a:latin typeface="微软雅黑" panose="020B0503020204020204" charset="-122"/>
                <a:ea typeface="微软雅黑" panose="020B0503020204020204" charset="-122"/>
                <a:sym typeface="+mn-ea"/>
              </a:rPr>
              <a:t>。</a:t>
            </a:r>
          </a:p>
          <a:p>
            <a:pPr>
              <a:lnSpc>
                <a:spcPct val="130000"/>
              </a:lnSpc>
            </a:pPr>
            <a:r>
              <a:rPr lang="zh-CN" altLang="en-US" dirty="0" smtClean="0">
                <a:latin typeface="微软雅黑" panose="020B0503020204020204" charset="-122"/>
                <a:ea typeface="微软雅黑" panose="020B0503020204020204" charset="-122"/>
                <a:sym typeface="+mn-ea"/>
              </a:rPr>
              <a:t>       离开事件</a:t>
            </a:r>
            <a:r>
              <a:rPr lang="en-US" altLang="zh-CN" dirty="0" smtClean="0">
                <a:latin typeface="微软雅黑" panose="020B0503020204020204" charset="-122"/>
                <a:ea typeface="微软雅黑" panose="020B0503020204020204" charset="-122"/>
                <a:sym typeface="+mn-ea"/>
              </a:rPr>
              <a:t>4</a:t>
            </a:r>
            <a:r>
              <a:rPr lang="zh-CN" altLang="en-US" dirty="0" smtClean="0">
                <a:latin typeface="微软雅黑" panose="020B0503020204020204" charset="-122"/>
                <a:ea typeface="微软雅黑" panose="020B0503020204020204" charset="-122"/>
                <a:sym typeface="+mn-ea"/>
              </a:rPr>
              <a:t>的作业有两个：作业</a:t>
            </a:r>
            <a:r>
              <a:rPr lang="en-US" altLang="zh-CN" dirty="0" smtClean="0">
                <a:latin typeface="微软雅黑" panose="020B0503020204020204" charset="-122"/>
                <a:ea typeface="微软雅黑" panose="020B0503020204020204" charset="-122"/>
                <a:sym typeface="+mn-ea"/>
              </a:rPr>
              <a:t>4-7</a:t>
            </a:r>
            <a:r>
              <a:rPr lang="zh-CN" altLang="en-US" dirty="0" smtClean="0">
                <a:latin typeface="微软雅黑" panose="020B0503020204020204" charset="-122"/>
                <a:ea typeface="微软雅黑" panose="020B0503020204020204" charset="-122"/>
                <a:sym typeface="+mn-ea"/>
              </a:rPr>
              <a:t>和虚拟作业</a:t>
            </a:r>
            <a:r>
              <a:rPr lang="en-US" altLang="zh-CN" dirty="0" smtClean="0">
                <a:latin typeface="微软雅黑" panose="020B0503020204020204" charset="-122"/>
                <a:ea typeface="微软雅黑" panose="020B0503020204020204" charset="-122"/>
                <a:sym typeface="+mn-ea"/>
              </a:rPr>
              <a:t>4-8</a:t>
            </a:r>
            <a:r>
              <a:rPr lang="zh-CN" altLang="en-US" dirty="0" smtClean="0">
                <a:latin typeface="微软雅黑" panose="020B0503020204020204" charset="-122"/>
                <a:ea typeface="微软雅黑" panose="020B0503020204020204" charset="-122"/>
                <a:sym typeface="+mn-ea"/>
              </a:rPr>
              <a:t>，持续时间分别为</a:t>
            </a:r>
            <a:r>
              <a:rPr lang="en-US" altLang="zh-CN" dirty="0" smtClean="0">
                <a:latin typeface="微软雅黑" panose="020B0503020204020204" charset="-122"/>
                <a:ea typeface="微软雅黑" panose="020B0503020204020204" charset="-122"/>
                <a:sym typeface="+mn-ea"/>
              </a:rPr>
              <a:t>3</a:t>
            </a:r>
            <a:r>
              <a:rPr lang="zh-CN" altLang="en-US" dirty="0" smtClean="0">
                <a:latin typeface="微软雅黑" panose="020B0503020204020204" charset="-122"/>
                <a:ea typeface="微软雅黑" panose="020B0503020204020204" charset="-122"/>
                <a:sym typeface="+mn-ea"/>
              </a:rPr>
              <a:t>和</a:t>
            </a:r>
            <a:r>
              <a:rPr lang="en-US" altLang="zh-CN" dirty="0" smtClean="0">
                <a:latin typeface="微软雅黑" panose="020B0503020204020204" charset="-122"/>
                <a:ea typeface="微软雅黑" panose="020B0503020204020204" charset="-122"/>
                <a:sym typeface="+mn-ea"/>
              </a:rPr>
              <a:t>0</a:t>
            </a:r>
            <a:r>
              <a:rPr lang="zh-CN" altLang="en-US" dirty="0" smtClean="0">
                <a:latin typeface="微软雅黑" panose="020B0503020204020204" charset="-122"/>
                <a:ea typeface="微软雅黑" panose="020B0503020204020204" charset="-122"/>
                <a:sym typeface="+mn-ea"/>
              </a:rPr>
              <a:t>，因而，事件</a:t>
            </a:r>
            <a:r>
              <a:rPr lang="en-US" altLang="zh-CN" dirty="0" smtClean="0">
                <a:latin typeface="微软雅黑" panose="020B0503020204020204" charset="-122"/>
                <a:ea typeface="微软雅黑" panose="020B0503020204020204" charset="-122"/>
                <a:sym typeface="+mn-ea"/>
              </a:rPr>
              <a:t>4</a:t>
            </a:r>
            <a:r>
              <a:rPr lang="zh-CN" altLang="en-US" dirty="0" smtClean="0">
                <a:latin typeface="微软雅黑" panose="020B0503020204020204" charset="-122"/>
                <a:ea typeface="微软雅黑" panose="020B0503020204020204" charset="-122"/>
                <a:sym typeface="+mn-ea"/>
              </a:rPr>
              <a:t>的最迟时刻为：</a:t>
            </a:r>
            <a:endParaRPr lang="en-US" altLang="zh-CN" dirty="0" smtClean="0">
              <a:latin typeface="微软雅黑" panose="020B0503020204020204" charset="-122"/>
              <a:ea typeface="微软雅黑" panose="020B0503020204020204" charset="-122"/>
              <a:sym typeface="+mn-ea"/>
            </a:endParaRPr>
          </a:p>
          <a:p>
            <a:pPr>
              <a:lnSpc>
                <a:spcPct val="130000"/>
              </a:lnSpc>
            </a:pPr>
            <a:endParaRPr lang="zh-CN" altLang="en-US" dirty="0" smtClean="0">
              <a:latin typeface="微软雅黑" panose="020B0503020204020204" charset="-122"/>
              <a:ea typeface="微软雅黑" panose="020B0503020204020204" charset="-122"/>
              <a:sym typeface="+mn-ea"/>
            </a:endParaRPr>
          </a:p>
        </p:txBody>
      </p:sp>
      <p:graphicFrame>
        <p:nvGraphicFramePr>
          <p:cNvPr id="7" name="对象 6"/>
          <p:cNvGraphicFramePr>
            <a:graphicFrameLocks noChangeAspect="1"/>
          </p:cNvGraphicFramePr>
          <p:nvPr/>
        </p:nvGraphicFramePr>
        <p:xfrm>
          <a:off x="4333306" y="5233884"/>
          <a:ext cx="3082608" cy="351578"/>
        </p:xfrm>
        <a:graphic>
          <a:graphicData uri="http://schemas.openxmlformats.org/presentationml/2006/ole">
            <p:oleObj spid="_x0000_s229377" name="公式" r:id="rId5" imgW="1777680" imgH="203040" progId="">
              <p:embed/>
            </p:oleObj>
          </a:graphicData>
        </a:graphic>
      </p:graphicFrame>
      <p:sp>
        <p:nvSpPr>
          <p:cNvPr id="8" name="TextBox 6"/>
          <p:cNvSpPr txBox="1"/>
          <p:nvPr/>
        </p:nvSpPr>
        <p:spPr>
          <a:xfrm>
            <a:off x="824415" y="2137631"/>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2</a:t>
            </a:r>
            <a:r>
              <a:rPr lang="zh-CN" altLang="en-US" sz="2400" dirty="0" smtClean="0"/>
              <a:t>．计算最迟时刻（</a:t>
            </a:r>
            <a:r>
              <a:rPr lang="en-US" sz="2400" dirty="0" smtClean="0"/>
              <a:t>LET</a:t>
            </a:r>
            <a:r>
              <a:rPr lang="zh-CN" altLang="en-US" sz="2400" dirty="0" smtClean="0"/>
              <a:t>）</a:t>
            </a:r>
          </a:p>
        </p:txBody>
      </p:sp>
    </p:spTree>
  </p:cSld>
  <p:clrMapOvr>
    <a:masterClrMapping/>
  </p:clrMapOvr>
  <p:transition>
    <p:wipe dir="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10.3  </a:t>
            </a:r>
            <a:r>
              <a:rPr lang="zh-CN" altLang="en-US" dirty="0" smtClean="0">
                <a:solidFill>
                  <a:srgbClr val="FF0000"/>
                </a:solidFill>
                <a:sym typeface="+mn-ea"/>
              </a:rPr>
              <a:t>进度计划</a:t>
            </a:r>
            <a:endParaRPr lang="zh-CN" altLang="en-US"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10.3.2  工程网络技术</a:t>
            </a:r>
          </a:p>
        </p:txBody>
      </p:sp>
      <p:sp>
        <p:nvSpPr>
          <p:cNvPr id="5" name="MH_Text_1"/>
          <p:cNvSpPr/>
          <p:nvPr>
            <p:custDataLst>
              <p:tags r:id="rId1"/>
            </p:custDataLst>
          </p:nvPr>
        </p:nvSpPr>
        <p:spPr>
          <a:xfrm>
            <a:off x="913483" y="3061612"/>
            <a:ext cx="10137102" cy="2796486"/>
          </a:xfrm>
          <a:prstGeom prst="rect">
            <a:avLst/>
          </a:prstGeom>
          <a:noFill/>
          <a:ln w="12700" cap="flat" cmpd="sng" algn="ctr">
            <a:solidFill>
              <a:srgbClr val="CC0066"/>
            </a:solidFill>
            <a:prstDash val="solid"/>
            <a:miter lim="800000"/>
          </a:ln>
          <a:effectLst/>
        </p:spPr>
        <p:txBody>
          <a:bodyPr anchor="ctr">
            <a:normAutofit/>
          </a:bodyPr>
          <a:lstStyle/>
          <a:p>
            <a:pPr>
              <a:lnSpc>
                <a:spcPct val="130000"/>
              </a:lnSpc>
            </a:pPr>
            <a:r>
              <a:rPr lang="zh-CN" altLang="en-US" dirty="0" smtClean="0">
                <a:latin typeface="微软雅黑" panose="020B0503020204020204" charset="-122"/>
                <a:ea typeface="微软雅黑" panose="020B0503020204020204" charset="-122"/>
                <a:sym typeface="+mn-ea"/>
              </a:rPr>
              <a:t>       在图</a:t>
            </a:r>
            <a:r>
              <a:rPr lang="en-US" altLang="zh-CN" dirty="0" smtClean="0">
                <a:latin typeface="微软雅黑" panose="020B0503020204020204" charset="-122"/>
                <a:ea typeface="微软雅黑" panose="020B0503020204020204" charset="-122"/>
                <a:sym typeface="+mn-ea"/>
              </a:rPr>
              <a:t>10-2</a:t>
            </a:r>
            <a:r>
              <a:rPr lang="zh-CN" altLang="en-US" dirty="0" smtClean="0">
                <a:latin typeface="微软雅黑" panose="020B0503020204020204" charset="-122"/>
                <a:ea typeface="微软雅黑" panose="020B0503020204020204" charset="-122"/>
                <a:sym typeface="+mn-ea"/>
              </a:rPr>
              <a:t>中，有几个事件的最早时刻和最迟时刻相同，这些事件定义了关键路径，在图中用粗线箭头表示。关键路径上的事件必须准时开始，关键路径上的作业是关键作业，它的实际持续时间不能超过预先估计的时间，否则工程不能准时结束。</a:t>
            </a:r>
          </a:p>
          <a:p>
            <a:pPr>
              <a:lnSpc>
                <a:spcPct val="130000"/>
              </a:lnSpc>
            </a:pPr>
            <a:r>
              <a:rPr lang="zh-CN" altLang="en-US" dirty="0" smtClean="0">
                <a:latin typeface="微软雅黑" panose="020B0503020204020204" charset="-122"/>
                <a:ea typeface="微软雅黑" panose="020B0503020204020204" charset="-122"/>
                <a:sym typeface="+mn-ea"/>
              </a:rPr>
              <a:t>       工程项目管理人员应该密切注视关键作业的进展情况，如果关键作业开始的时间比预定的时间晚，则会使最终完成项目的时间最迟；如果希望缩短工期，应当想法使关键作业的持续时间减少。</a:t>
            </a:r>
          </a:p>
        </p:txBody>
      </p:sp>
      <p:sp>
        <p:nvSpPr>
          <p:cNvPr id="7" name="TextBox 6"/>
          <p:cNvSpPr txBox="1"/>
          <p:nvPr/>
        </p:nvSpPr>
        <p:spPr>
          <a:xfrm>
            <a:off x="824415" y="2137631"/>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3</a:t>
            </a:r>
            <a:r>
              <a:rPr lang="zh-CN" altLang="en-US" sz="2400" dirty="0" smtClean="0"/>
              <a:t>．关键路径</a:t>
            </a:r>
          </a:p>
        </p:txBody>
      </p:sp>
    </p:spTree>
  </p:cSld>
  <p:clrMapOvr>
    <a:masterClrMapping/>
  </p:clrMapOvr>
  <p:transition>
    <p:wipe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10.3  </a:t>
            </a:r>
            <a:r>
              <a:rPr lang="zh-CN" altLang="en-US" dirty="0" smtClean="0">
                <a:solidFill>
                  <a:srgbClr val="FF0000"/>
                </a:solidFill>
                <a:sym typeface="+mn-ea"/>
              </a:rPr>
              <a:t>进度计划</a:t>
            </a:r>
            <a:endParaRPr lang="zh-CN" altLang="en-US"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10.3.2  工程网络技术</a:t>
            </a:r>
          </a:p>
        </p:txBody>
      </p:sp>
      <p:sp>
        <p:nvSpPr>
          <p:cNvPr id="5" name="MH_Text_1"/>
          <p:cNvSpPr/>
          <p:nvPr>
            <p:custDataLst>
              <p:tags r:id="rId2"/>
            </p:custDataLst>
          </p:nvPr>
        </p:nvSpPr>
        <p:spPr>
          <a:xfrm>
            <a:off x="984735" y="2883482"/>
            <a:ext cx="10137102" cy="3242768"/>
          </a:xfrm>
          <a:prstGeom prst="rect">
            <a:avLst/>
          </a:prstGeom>
          <a:noFill/>
          <a:ln w="12700" cap="flat" cmpd="sng" algn="ctr">
            <a:solidFill>
              <a:srgbClr val="CC0066"/>
            </a:solidFill>
            <a:prstDash val="solid"/>
            <a:miter lim="800000"/>
          </a:ln>
          <a:effectLst/>
        </p:spPr>
        <p:txBody>
          <a:bodyPr anchor="ctr">
            <a:normAutofit lnSpcReduction="10000"/>
          </a:bodyPr>
          <a:lstStyle/>
          <a:p>
            <a:pPr>
              <a:lnSpc>
                <a:spcPct val="130000"/>
              </a:lnSpc>
            </a:pPr>
            <a:r>
              <a:rPr lang="zh-CN" altLang="en-US" dirty="0" smtClean="0">
                <a:latin typeface="微软雅黑" panose="020B0503020204020204" charset="-122"/>
                <a:ea typeface="微软雅黑" panose="020B0503020204020204" charset="-122"/>
                <a:sym typeface="+mn-ea"/>
              </a:rPr>
              <a:t>       不在关键路径上的作业有一定的机动时间，实际开始时间可以比预定时间晚一点，或者实际持续时间可以比预定的持续时间长一些，而并不影响工程的结束时间。</a:t>
            </a:r>
          </a:p>
          <a:p>
            <a:pPr>
              <a:lnSpc>
                <a:spcPct val="130000"/>
              </a:lnSpc>
            </a:pPr>
            <a:r>
              <a:rPr lang="zh-CN" altLang="en-US" dirty="0" smtClean="0">
                <a:latin typeface="微软雅黑" panose="020B0503020204020204" charset="-122"/>
                <a:ea typeface="微软雅黑" panose="020B0503020204020204" charset="-122"/>
                <a:sym typeface="+mn-ea"/>
              </a:rPr>
              <a:t>       一个作业可以有的机动时间等于它的结束事件的最迟时刻减去它的开始事件的最早时刻，再减去这个作业的持续时间：</a:t>
            </a:r>
          </a:p>
          <a:p>
            <a:pPr>
              <a:lnSpc>
                <a:spcPct val="130000"/>
              </a:lnSpc>
            </a:pPr>
            <a:r>
              <a:rPr lang="zh-CN" altLang="en-US" dirty="0" smtClean="0">
                <a:latin typeface="微软雅黑" panose="020B0503020204020204" charset="-122"/>
                <a:ea typeface="微软雅黑" panose="020B0503020204020204" charset="-122"/>
                <a:sym typeface="+mn-ea"/>
              </a:rPr>
              <a:t>                                                           </a:t>
            </a:r>
            <a:r>
              <a:rPr lang="en-US" altLang="zh-CN" dirty="0" smtClean="0">
                <a:latin typeface="微软雅黑" panose="020B0503020204020204" charset="-122"/>
                <a:ea typeface="微软雅黑" panose="020B0503020204020204" charset="-122"/>
                <a:sym typeface="+mn-ea"/>
              </a:rPr>
              <a:t> </a:t>
            </a:r>
            <a:endParaRPr lang="zh-CN" altLang="en-US" dirty="0" smtClean="0">
              <a:latin typeface="微软雅黑" panose="020B0503020204020204" charset="-122"/>
              <a:ea typeface="微软雅黑" panose="020B0503020204020204" charset="-122"/>
              <a:sym typeface="+mn-ea"/>
            </a:endParaRPr>
          </a:p>
          <a:p>
            <a:pPr>
              <a:lnSpc>
                <a:spcPct val="130000"/>
              </a:lnSpc>
            </a:pPr>
            <a:r>
              <a:rPr lang="zh-CN" altLang="en-US" dirty="0" smtClean="0">
                <a:latin typeface="微软雅黑" panose="020B0503020204020204" charset="-122"/>
                <a:ea typeface="微软雅黑" panose="020B0503020204020204" charset="-122"/>
                <a:sym typeface="+mn-ea"/>
              </a:rPr>
              <a:t>       在工程网络图中，每个作业的机动时间写在该作业的箭头下面的括号里，如图</a:t>
            </a:r>
            <a:r>
              <a:rPr lang="en-US" altLang="zh-CN" dirty="0" smtClean="0">
                <a:latin typeface="微软雅黑" panose="020B0503020204020204" charset="-122"/>
                <a:ea typeface="微软雅黑" panose="020B0503020204020204" charset="-122"/>
                <a:sym typeface="+mn-ea"/>
              </a:rPr>
              <a:t>10-2</a:t>
            </a:r>
            <a:r>
              <a:rPr lang="zh-CN" altLang="en-US" dirty="0" smtClean="0">
                <a:latin typeface="微软雅黑" panose="020B0503020204020204" charset="-122"/>
                <a:ea typeface="微软雅黑" panose="020B0503020204020204" charset="-122"/>
                <a:sym typeface="+mn-ea"/>
              </a:rPr>
              <a:t>所示。关键路径上作业的机动时间为</a:t>
            </a:r>
            <a:r>
              <a:rPr lang="en-US" altLang="zh-CN" dirty="0" smtClean="0">
                <a:latin typeface="微软雅黑" panose="020B0503020204020204" charset="-122"/>
                <a:ea typeface="微软雅黑" panose="020B0503020204020204" charset="-122"/>
                <a:sym typeface="+mn-ea"/>
              </a:rPr>
              <a:t>0</a:t>
            </a:r>
            <a:r>
              <a:rPr lang="zh-CN" altLang="en-US" dirty="0" smtClean="0">
                <a:latin typeface="微软雅黑" panose="020B0503020204020204" charset="-122"/>
                <a:ea typeface="微软雅黑" panose="020B0503020204020204" charset="-122"/>
                <a:sym typeface="+mn-ea"/>
              </a:rPr>
              <a:t>。</a:t>
            </a:r>
          </a:p>
          <a:p>
            <a:pPr>
              <a:lnSpc>
                <a:spcPct val="130000"/>
              </a:lnSpc>
            </a:pPr>
            <a:r>
              <a:rPr lang="zh-CN" altLang="en-US" dirty="0" smtClean="0">
                <a:latin typeface="微软雅黑" panose="020B0503020204020204" charset="-122"/>
                <a:ea typeface="微软雅黑" panose="020B0503020204020204" charset="-122"/>
                <a:sym typeface="+mn-ea"/>
              </a:rPr>
              <a:t>       在制定进度计划时，仔细考虑和利用网络图中的机动时间，往往能安排出既节省资源又不影响竣工时间的进度表。</a:t>
            </a:r>
          </a:p>
        </p:txBody>
      </p:sp>
      <p:graphicFrame>
        <p:nvGraphicFramePr>
          <p:cNvPr id="7" name="对象 6"/>
          <p:cNvGraphicFramePr>
            <a:graphicFrameLocks noChangeAspect="1"/>
          </p:cNvGraphicFramePr>
          <p:nvPr/>
        </p:nvGraphicFramePr>
        <p:xfrm>
          <a:off x="4060246" y="4007802"/>
          <a:ext cx="4612584" cy="396557"/>
        </p:xfrm>
        <a:graphic>
          <a:graphicData uri="http://schemas.openxmlformats.org/presentationml/2006/ole">
            <p:oleObj spid="_x0000_s225281" name="公式" r:id="rId5" imgW="2806560" imgH="241200" progId="">
              <p:embed/>
            </p:oleObj>
          </a:graphicData>
        </a:graphic>
      </p:graphicFrame>
      <p:sp>
        <p:nvSpPr>
          <p:cNvPr id="8" name="TextBox 7"/>
          <p:cNvSpPr txBox="1"/>
          <p:nvPr/>
        </p:nvSpPr>
        <p:spPr>
          <a:xfrm>
            <a:off x="824415" y="2137631"/>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4</a:t>
            </a:r>
            <a:r>
              <a:rPr lang="zh-CN" altLang="en-US" sz="2400" dirty="0" smtClean="0"/>
              <a:t>．机动时间</a:t>
            </a:r>
          </a:p>
        </p:txBody>
      </p:sp>
    </p:spTree>
  </p:cSld>
  <p:clrMapOvr>
    <a:masterClrMapping/>
  </p:clrMapOvr>
  <p:transition>
    <p:wipe dir="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10.3  </a:t>
            </a:r>
            <a:r>
              <a:rPr lang="zh-CN" altLang="en-US" dirty="0" smtClean="0">
                <a:solidFill>
                  <a:srgbClr val="FF0000"/>
                </a:solidFill>
                <a:sym typeface="+mn-ea"/>
              </a:rPr>
              <a:t>进度计划</a:t>
            </a:r>
            <a:endParaRPr lang="zh-CN" altLang="en-US"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10.3.2  工程网络技术</a:t>
            </a:r>
          </a:p>
        </p:txBody>
      </p:sp>
      <p:sp>
        <p:nvSpPr>
          <p:cNvPr id="4" name="MH_Text_1"/>
          <p:cNvSpPr/>
          <p:nvPr>
            <p:custDataLst>
              <p:tags r:id="rId1"/>
            </p:custDataLst>
          </p:nvPr>
        </p:nvSpPr>
        <p:spPr>
          <a:xfrm>
            <a:off x="712519" y="4548249"/>
            <a:ext cx="10616541" cy="1616068"/>
          </a:xfrm>
          <a:prstGeom prst="roundRect">
            <a:avLst/>
          </a:prstGeom>
          <a:ln>
            <a:noFill/>
          </a:ln>
        </p:spPr>
        <p:txBody>
          <a:bodyPr vert="horz" wrap="square" anchor="t" anchorCtr="0">
            <a:noAutofit/>
          </a:bodyPr>
          <a:lstStyle/>
          <a:p>
            <a:pPr indent="457200">
              <a:lnSpc>
                <a:spcPct val="130000"/>
              </a:lnSpc>
            </a:pPr>
            <a:r>
              <a:rPr lang="zh-CN" altLang="en-US" dirty="0" smtClean="0">
                <a:latin typeface="微软雅黑" panose="020B0503020204020204" pitchFamily="34" charset="-122"/>
                <a:ea typeface="微软雅黑" panose="020B0503020204020204" pitchFamily="34" charset="-122"/>
              </a:rPr>
              <a:t>对于不在关键路径上的任务，可根据实际情况调整其开始时间，这样做既不影响整个工程的进度，又可减少工作人员。将网络图和</a:t>
            </a:r>
            <a:r>
              <a:rPr lang="en-US" altLang="zh-CN" dirty="0" smtClean="0">
                <a:latin typeface="微软雅黑" panose="020B0503020204020204" pitchFamily="34" charset="-122"/>
                <a:ea typeface="微软雅黑" panose="020B0503020204020204" pitchFamily="34" charset="-122"/>
              </a:rPr>
              <a:t>Gantt</a:t>
            </a:r>
            <a:r>
              <a:rPr lang="zh-CN" altLang="en-US" dirty="0" smtClean="0">
                <a:latin typeface="微软雅黑" panose="020B0503020204020204" pitchFamily="34" charset="-122"/>
                <a:ea typeface="微软雅黑" panose="020B0503020204020204" pitchFamily="34" charset="-122"/>
              </a:rPr>
              <a:t>图结合起来安排进度，有时可以节省不少的人力。例如在图</a:t>
            </a:r>
            <a:r>
              <a:rPr lang="en-US" altLang="zh-CN" dirty="0" smtClean="0">
                <a:latin typeface="微软雅黑" panose="020B0503020204020204" pitchFamily="34" charset="-122"/>
                <a:ea typeface="微软雅黑" panose="020B0503020204020204" pitchFamily="34" charset="-122"/>
              </a:rPr>
              <a:t>10-2</a:t>
            </a:r>
            <a:r>
              <a:rPr lang="zh-CN" altLang="en-US" dirty="0" smtClean="0">
                <a:latin typeface="微软雅黑" panose="020B0503020204020204" pitchFamily="34" charset="-122"/>
                <a:ea typeface="微软雅黑" panose="020B0503020204020204" pitchFamily="34" charset="-122"/>
              </a:rPr>
              <a:t>中，作业</a:t>
            </a:r>
            <a:r>
              <a:rPr lang="en-US" altLang="zh-CN" dirty="0" smtClean="0">
                <a:latin typeface="微软雅黑" panose="020B0503020204020204" pitchFamily="34" charset="-122"/>
                <a:ea typeface="微软雅黑" panose="020B0503020204020204" pitchFamily="34" charset="-122"/>
              </a:rPr>
              <a:t>3-5</a:t>
            </a:r>
            <a:r>
              <a:rPr lang="zh-CN" altLang="en-US" dirty="0" smtClean="0">
                <a:latin typeface="微软雅黑" panose="020B0503020204020204" pitchFamily="34" charset="-122"/>
                <a:ea typeface="微软雅黑" panose="020B0503020204020204" pitchFamily="34" charset="-122"/>
              </a:rPr>
              <a:t>和作业</a:t>
            </a:r>
            <a:r>
              <a:rPr lang="en-US" altLang="zh-CN" dirty="0" smtClean="0">
                <a:latin typeface="微软雅黑" panose="020B0503020204020204" pitchFamily="34" charset="-122"/>
                <a:ea typeface="微软雅黑" panose="020B0503020204020204" pitchFamily="34" charset="-122"/>
              </a:rPr>
              <a:t>3-6</a:t>
            </a:r>
            <a:r>
              <a:rPr lang="zh-CN" altLang="en-US" dirty="0" smtClean="0">
                <a:latin typeface="微软雅黑" panose="020B0503020204020204" pitchFamily="34" charset="-122"/>
                <a:ea typeface="微软雅黑" panose="020B0503020204020204" pitchFamily="34" charset="-122"/>
              </a:rPr>
              <a:t>本来是两个并行的作业，由于可以在时间安排上错开进行，如果由一组人员可以先后完成这两个作业，就节省了一组人力。其他作业也一样，应仔细研究是否能节省人力。</a:t>
            </a:r>
          </a:p>
        </p:txBody>
      </p:sp>
      <p:pic>
        <p:nvPicPr>
          <p:cNvPr id="5" name="Picture 2" descr="9"/>
          <p:cNvPicPr>
            <a:picLocks noChangeAspect="1" noChangeArrowheads="1"/>
          </p:cNvPicPr>
          <p:nvPr/>
        </p:nvPicPr>
        <p:blipFill>
          <a:blip r:embed="rId4" cstate="print"/>
          <a:srcRect/>
          <a:stretch>
            <a:fillRect/>
          </a:stretch>
        </p:blipFill>
        <p:spPr bwMode="auto">
          <a:xfrm>
            <a:off x="2634453" y="2042555"/>
            <a:ext cx="6789612" cy="2435261"/>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10.3  </a:t>
            </a:r>
            <a:r>
              <a:rPr lang="zh-CN" altLang="en-US" dirty="0" smtClean="0">
                <a:solidFill>
                  <a:srgbClr val="FF0000"/>
                </a:solidFill>
                <a:sym typeface="+mn-ea"/>
              </a:rPr>
              <a:t>进度计划</a:t>
            </a:r>
            <a:endParaRPr lang="zh-CN" altLang="en-US"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10.3.2  工程网络技术</a:t>
            </a:r>
          </a:p>
        </p:txBody>
      </p:sp>
      <p:sp>
        <p:nvSpPr>
          <p:cNvPr id="4" name="文本框 99"/>
          <p:cNvSpPr txBox="1"/>
          <p:nvPr/>
        </p:nvSpPr>
        <p:spPr>
          <a:xfrm>
            <a:off x="623653" y="2302349"/>
            <a:ext cx="6716112" cy="3725630"/>
          </a:xfrm>
          <a:prstGeom prst="roundRect">
            <a:avLst/>
          </a:prstGeom>
          <a:noFill/>
          <a:ln w="9525">
            <a:noFill/>
            <a:prstDash val="sysDot"/>
          </a:ln>
        </p:spPr>
        <p:txBody>
          <a:bodyPr wrap="square">
            <a:spAutoFit/>
          </a:bodyPr>
          <a:lstStyle/>
          <a:p>
            <a:pPr indent="457200">
              <a:lnSpc>
                <a:spcPct val="150000"/>
              </a:lnSpc>
            </a:pPr>
            <a:r>
              <a:rPr lang="zh-CN" altLang="en-US" dirty="0" smtClean="0">
                <a:latin typeface="微软雅黑" panose="020B0503020204020204" pitchFamily="34" charset="-122"/>
                <a:ea typeface="微软雅黑" panose="020B0503020204020204" pitchFamily="34" charset="-122"/>
                <a:cs typeface="宋体" panose="02010600030101010101" pitchFamily="2" charset="-122"/>
              </a:rPr>
              <a:t>争取缩短关键路径上的某些任务的耗时数，以便缩短整个工程的工期。</a:t>
            </a:r>
          </a:p>
          <a:p>
            <a:pPr indent="457200">
              <a:lnSpc>
                <a:spcPct val="150000"/>
              </a:lnSpc>
            </a:pPr>
            <a:r>
              <a:rPr lang="zh-CN" altLang="en-US" dirty="0" smtClean="0">
                <a:latin typeface="微软雅黑" panose="020B0503020204020204" pitchFamily="34" charset="-122"/>
                <a:ea typeface="微软雅黑" panose="020B0503020204020204" pitchFamily="34" charset="-122"/>
                <a:cs typeface="宋体" panose="02010600030101010101" pitchFamily="2" charset="-122"/>
              </a:rPr>
              <a:t>利用工程网络图和</a:t>
            </a:r>
            <a:r>
              <a:rPr lang="en-US" altLang="zh-CN" dirty="0" smtClean="0">
                <a:latin typeface="微软雅黑" panose="020B0503020204020204" pitchFamily="34" charset="-122"/>
                <a:ea typeface="微软雅黑" panose="020B0503020204020204" pitchFamily="34" charset="-122"/>
                <a:cs typeface="宋体" panose="02010600030101010101" pitchFamily="2" charset="-122"/>
              </a:rPr>
              <a:t>Gantt</a:t>
            </a:r>
            <a:r>
              <a:rPr lang="zh-CN" altLang="en-US" dirty="0" smtClean="0">
                <a:latin typeface="微软雅黑" panose="020B0503020204020204" pitchFamily="34" charset="-122"/>
                <a:ea typeface="微软雅黑" panose="020B0503020204020204" pitchFamily="34" charset="-122"/>
                <a:cs typeface="宋体" panose="02010600030101010101" pitchFamily="2" charset="-122"/>
              </a:rPr>
              <a:t>图可以制定出合理的进度计划，并能科学合理地管理软件开发的进展情况。一般来说，</a:t>
            </a:r>
            <a:r>
              <a:rPr lang="en-US" altLang="zh-CN" dirty="0" smtClean="0">
                <a:latin typeface="微软雅黑" panose="020B0503020204020204" pitchFamily="34" charset="-122"/>
                <a:ea typeface="微软雅黑" panose="020B0503020204020204" pitchFamily="34" charset="-122"/>
                <a:cs typeface="宋体" panose="02010600030101010101" pitchFamily="2" charset="-122"/>
              </a:rPr>
              <a:t>Gantt</a:t>
            </a:r>
            <a:r>
              <a:rPr lang="zh-CN" altLang="en-US" dirty="0" smtClean="0">
                <a:latin typeface="微软雅黑" panose="020B0503020204020204" pitchFamily="34" charset="-122"/>
                <a:ea typeface="微软雅黑" panose="020B0503020204020204" pitchFamily="34" charset="-122"/>
                <a:cs typeface="宋体" panose="02010600030101010101" pitchFamily="2" charset="-122"/>
              </a:rPr>
              <a:t>图适用于简单的软件项目，而对各项任务的相互依赖关系较为复杂的软件项目，使用网络技术较为适宜。有时可同时使用这两种方法，互相比较，取长补短，随时调整，更好地安排项目进度。</a:t>
            </a:r>
          </a:p>
        </p:txBody>
      </p:sp>
      <p:pic>
        <p:nvPicPr>
          <p:cNvPr id="5" name="图片 4" descr="A000220150322C72PPIC.png"/>
          <p:cNvPicPr>
            <a:picLocks noChangeAspect="1"/>
          </p:cNvPicPr>
          <p:nvPr/>
        </p:nvPicPr>
        <p:blipFill>
          <a:blip r:embed="rId3" cstate="print"/>
          <a:stretch>
            <a:fillRect/>
          </a:stretch>
        </p:blipFill>
        <p:spPr>
          <a:xfrm>
            <a:off x="7659584" y="2019301"/>
            <a:ext cx="4532416" cy="3918771"/>
          </a:xfrm>
          <a:prstGeom prst="rect">
            <a:avLst/>
          </a:prstGeom>
        </p:spPr>
      </p:pic>
    </p:spTree>
  </p:cSld>
  <p:clrMapOvr>
    <a:masterClrMapping/>
  </p:clrMapOvr>
  <p:transition>
    <p:wipe dir="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10.3  </a:t>
            </a:r>
            <a:r>
              <a:rPr lang="zh-CN" altLang="en-US" dirty="0" smtClean="0">
                <a:solidFill>
                  <a:srgbClr val="FF0000"/>
                </a:solidFill>
                <a:sym typeface="+mn-ea"/>
              </a:rPr>
              <a:t>进度计划</a:t>
            </a:r>
            <a:endParaRPr lang="zh-CN" altLang="en-US"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10.3.2  工程网络技术</a:t>
            </a:r>
          </a:p>
        </p:txBody>
      </p:sp>
      <p:sp>
        <p:nvSpPr>
          <p:cNvPr id="4" name="MH_Text_1"/>
          <p:cNvSpPr/>
          <p:nvPr>
            <p:custDataLst>
              <p:tags r:id="rId1"/>
            </p:custDataLst>
          </p:nvPr>
        </p:nvSpPr>
        <p:spPr>
          <a:xfrm>
            <a:off x="409904" y="2727435"/>
            <a:ext cx="5123793" cy="2963917"/>
          </a:xfrm>
          <a:prstGeom prst="roundRect">
            <a:avLst/>
          </a:prstGeom>
          <a:ln>
            <a:noFill/>
          </a:ln>
        </p:spPr>
        <p:txBody>
          <a:bodyPr vert="horz" wrap="square" anchor="t" anchorCtr="0">
            <a:noAutofit/>
          </a:bodyPr>
          <a:lstStyle/>
          <a:p>
            <a:pPr indent="457200">
              <a:lnSpc>
                <a:spcPct val="130000"/>
              </a:lnSpc>
            </a:pPr>
            <a:r>
              <a:rPr lang="zh-CN" altLang="en-US" dirty="0" smtClean="0">
                <a:latin typeface="微软雅黑" panose="020B0503020204020204" pitchFamily="34" charset="-122"/>
                <a:ea typeface="微软雅黑" panose="020B0503020204020204" pitchFamily="34" charset="-122"/>
              </a:rPr>
              <a:t>对于图</a:t>
            </a:r>
            <a:r>
              <a:rPr lang="en-US" altLang="zh-CN" dirty="0" smtClean="0">
                <a:latin typeface="微软雅黑" panose="020B0503020204020204" pitchFamily="34" charset="-122"/>
                <a:ea typeface="微软雅黑" panose="020B0503020204020204" pitchFamily="34" charset="-122"/>
              </a:rPr>
              <a:t>10-2</a:t>
            </a:r>
            <a:r>
              <a:rPr lang="zh-CN" altLang="en-US" dirty="0" smtClean="0">
                <a:latin typeface="微软雅黑" panose="020B0503020204020204" pitchFamily="34" charset="-122"/>
                <a:ea typeface="微软雅黑" panose="020B0503020204020204" pitchFamily="34" charset="-122"/>
              </a:rPr>
              <a:t>所示的工程中各项任务的进度安排，可用</a:t>
            </a:r>
            <a:r>
              <a:rPr lang="en-US" altLang="zh-CN" dirty="0" smtClean="0">
                <a:latin typeface="微软雅黑" panose="020B0503020204020204" pitchFamily="34" charset="-122"/>
                <a:ea typeface="微软雅黑" panose="020B0503020204020204" pitchFamily="34" charset="-122"/>
              </a:rPr>
              <a:t>Gantt</a:t>
            </a:r>
            <a:r>
              <a:rPr lang="zh-CN" altLang="en-US" dirty="0" smtClean="0">
                <a:latin typeface="微软雅黑" panose="020B0503020204020204" pitchFamily="34" charset="-122"/>
                <a:ea typeface="微软雅黑" panose="020B0503020204020204" pitchFamily="34" charset="-122"/>
              </a:rPr>
              <a:t>图画出，如图</a:t>
            </a:r>
            <a:r>
              <a:rPr lang="en-US" altLang="zh-CN" dirty="0" smtClean="0">
                <a:latin typeface="微软雅黑" panose="020B0503020204020204" pitchFamily="34" charset="-122"/>
                <a:ea typeface="微软雅黑" panose="020B0503020204020204" pitchFamily="34" charset="-122"/>
              </a:rPr>
              <a:t>10-3</a:t>
            </a:r>
            <a:r>
              <a:rPr lang="zh-CN" altLang="en-US" dirty="0" smtClean="0">
                <a:latin typeface="微软雅黑" panose="020B0503020204020204" pitchFamily="34" charset="-122"/>
                <a:ea typeface="微软雅黑" panose="020B0503020204020204" pitchFamily="34" charset="-122"/>
              </a:rPr>
              <a:t>所示。这里应当首先将关键路径上的任务进度安排好，再考虑其他任务的进度安排。由于任务</a:t>
            </a:r>
            <a:r>
              <a:rPr lang="en-US" altLang="zh-CN" dirty="0" smtClean="0">
                <a:latin typeface="微软雅黑" panose="020B0503020204020204" pitchFamily="34" charset="-122"/>
                <a:ea typeface="微软雅黑" panose="020B0503020204020204" pitchFamily="34" charset="-122"/>
              </a:rPr>
              <a:t>3-5</a:t>
            </a:r>
            <a:r>
              <a:rPr lang="zh-CN" altLang="en-US" dirty="0" smtClean="0">
                <a:latin typeface="微软雅黑" panose="020B0503020204020204" pitchFamily="34" charset="-122"/>
                <a:ea typeface="微软雅黑" panose="020B0503020204020204" pitchFamily="34" charset="-122"/>
              </a:rPr>
              <a:t>和任务</a:t>
            </a:r>
            <a:r>
              <a:rPr lang="en-US" altLang="zh-CN" dirty="0" smtClean="0">
                <a:latin typeface="微软雅黑" panose="020B0503020204020204" pitchFamily="34" charset="-122"/>
                <a:ea typeface="微软雅黑" panose="020B0503020204020204" pitchFamily="34" charset="-122"/>
              </a:rPr>
              <a:t>3-6</a:t>
            </a:r>
            <a:r>
              <a:rPr lang="zh-CN" altLang="en-US" dirty="0" smtClean="0">
                <a:latin typeface="微软雅黑" panose="020B0503020204020204" pitchFamily="34" charset="-122"/>
                <a:ea typeface="微软雅黑" panose="020B0503020204020204" pitchFamily="34" charset="-122"/>
              </a:rPr>
              <a:t>的进度安排可以有一定的机动时间，如果把这两项任务的执行时间错开，可以节省人力，那不是更好吗？</a:t>
            </a:r>
          </a:p>
        </p:txBody>
      </p:sp>
      <p:pic>
        <p:nvPicPr>
          <p:cNvPr id="7" name="图片 276"/>
          <p:cNvPicPr>
            <a:picLocks noChangeAspect="1" noChangeArrowheads="1"/>
          </p:cNvPicPr>
          <p:nvPr/>
        </p:nvPicPr>
        <p:blipFill>
          <a:blip r:embed="rId4" cstate="print"/>
          <a:srcRect/>
          <a:stretch>
            <a:fillRect/>
          </a:stretch>
        </p:blipFill>
        <p:spPr bwMode="auto">
          <a:xfrm>
            <a:off x="5599214" y="1764099"/>
            <a:ext cx="5429903" cy="4177862"/>
          </a:xfrm>
          <a:prstGeom prst="rect">
            <a:avLst/>
          </a:prstGeom>
          <a:noFill/>
          <a:ln w="9525">
            <a:noFill/>
            <a:miter lim="800000"/>
            <a:headEnd/>
            <a:tailEnd/>
          </a:ln>
        </p:spPr>
      </p:pic>
      <p:sp>
        <p:nvSpPr>
          <p:cNvPr id="8" name="矩形 7"/>
          <p:cNvSpPr/>
          <p:nvPr/>
        </p:nvSpPr>
        <p:spPr>
          <a:xfrm>
            <a:off x="6759568" y="5951908"/>
            <a:ext cx="3185487" cy="369332"/>
          </a:xfrm>
          <a:prstGeom prst="rect">
            <a:avLst/>
          </a:prstGeom>
        </p:spPr>
        <p:txBody>
          <a:bodyPr wrap="none">
            <a:spAutoFit/>
          </a:bodyPr>
          <a:lstStyle/>
          <a:p>
            <a:r>
              <a:rPr lang="zh-CN" altLang="en-US" dirty="0" smtClean="0"/>
              <a:t>图</a:t>
            </a:r>
            <a:r>
              <a:rPr lang="en-US" dirty="0" smtClean="0"/>
              <a:t>10-3  </a:t>
            </a:r>
            <a:r>
              <a:rPr lang="zh-CN" altLang="en-US" dirty="0" smtClean="0"/>
              <a:t>图</a:t>
            </a:r>
            <a:r>
              <a:rPr lang="en-US" dirty="0" smtClean="0"/>
              <a:t>10-2</a:t>
            </a:r>
            <a:r>
              <a:rPr lang="zh-CN" altLang="en-US" dirty="0" smtClean="0"/>
              <a:t>工程的</a:t>
            </a:r>
            <a:r>
              <a:rPr lang="en-US" dirty="0" smtClean="0"/>
              <a:t>Gantt</a:t>
            </a:r>
            <a:r>
              <a:rPr lang="zh-CN" altLang="en-US" dirty="0" smtClean="0"/>
              <a:t>图</a:t>
            </a:r>
            <a:endParaRPr lang="zh-CN" altLang="en-US" dirty="0"/>
          </a:p>
        </p:txBody>
      </p:sp>
    </p:spTree>
  </p:cSld>
  <p:clrMapOvr>
    <a:masterClrMapping/>
  </p:clrMapOvr>
  <p:transition>
    <p:wipe dir="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10.3  </a:t>
            </a:r>
            <a:r>
              <a:rPr lang="zh-CN" altLang="en-US" dirty="0" smtClean="0">
                <a:solidFill>
                  <a:srgbClr val="FF0000"/>
                </a:solidFill>
                <a:sym typeface="+mn-ea"/>
              </a:rPr>
              <a:t>进度计划</a:t>
            </a:r>
            <a:endParaRPr lang="zh-CN" altLang="en-US"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10.3.2  工程网络技术</a:t>
            </a:r>
          </a:p>
        </p:txBody>
      </p:sp>
      <p:sp>
        <p:nvSpPr>
          <p:cNvPr id="4" name="MH_Text_1"/>
          <p:cNvSpPr/>
          <p:nvPr>
            <p:custDataLst>
              <p:tags r:id="rId1"/>
            </p:custDataLst>
          </p:nvPr>
        </p:nvSpPr>
        <p:spPr>
          <a:xfrm>
            <a:off x="6274677" y="2238703"/>
            <a:ext cx="5076496" cy="4020207"/>
          </a:xfrm>
          <a:prstGeom prst="roundRect">
            <a:avLst/>
          </a:prstGeom>
          <a:ln>
            <a:noFill/>
          </a:ln>
        </p:spPr>
        <p:txBody>
          <a:bodyPr vert="horz" wrap="square" anchor="t" anchorCtr="0">
            <a:noAutofit/>
          </a:bodyPr>
          <a:lstStyle/>
          <a:p>
            <a:pPr indent="457200">
              <a:lnSpc>
                <a:spcPct val="130000"/>
              </a:lnSpc>
            </a:pPr>
            <a:r>
              <a:rPr lang="zh-CN" altLang="en-US" dirty="0" smtClean="0">
                <a:latin typeface="微软雅黑" panose="020B0503020204020204" pitchFamily="34" charset="-122"/>
                <a:ea typeface="微软雅黑" panose="020B0503020204020204" pitchFamily="34" charset="-122"/>
              </a:rPr>
              <a:t>在工程网络图</a:t>
            </a:r>
            <a:r>
              <a:rPr lang="en-US" altLang="zh-CN" dirty="0" smtClean="0">
                <a:latin typeface="微软雅黑" panose="020B0503020204020204" pitchFamily="34" charset="-122"/>
                <a:ea typeface="微软雅黑" panose="020B0503020204020204" pitchFamily="34" charset="-122"/>
              </a:rPr>
              <a:t>10-2</a:t>
            </a:r>
            <a:r>
              <a:rPr lang="zh-CN" altLang="en-US" dirty="0" smtClean="0">
                <a:latin typeface="微软雅黑" panose="020B0503020204020204" pitchFamily="34" charset="-122"/>
                <a:ea typeface="微软雅黑" panose="020B0503020204020204" pitchFamily="34" charset="-122"/>
              </a:rPr>
              <a:t>中有</a:t>
            </a:r>
            <a:r>
              <a:rPr lang="en-US" altLang="zh-CN" dirty="0" smtClean="0">
                <a:latin typeface="微软雅黑" panose="020B0503020204020204" pitchFamily="34" charset="-122"/>
                <a:ea typeface="微软雅黑" panose="020B0503020204020204" pitchFamily="34" charset="-122"/>
              </a:rPr>
              <a:t>3</a:t>
            </a:r>
            <a:r>
              <a:rPr lang="zh-CN" altLang="en-US" dirty="0" smtClean="0">
                <a:latin typeface="微软雅黑" panose="020B0503020204020204" pitchFamily="34" charset="-122"/>
                <a:ea typeface="微软雅黑" panose="020B0503020204020204" pitchFamily="34" charset="-122"/>
              </a:rPr>
              <a:t>条执行路径，不仔细考虑的话，需要三组人员来完成任务。这里，关键路径上的任务必须确保每个任务顺序按时进行。而两条非关键路径上的任务，由于执行任务所需要的时间较少，实际执行的时间又有一定的机动灵活余地，如果任务执行者可以调剂的话，通过适当安排，只需一组人员就可完成这两条非关键路径上的所有任务，如图</a:t>
            </a:r>
            <a:r>
              <a:rPr lang="en-US" altLang="zh-CN" dirty="0" smtClean="0">
                <a:latin typeface="微软雅黑" panose="020B0503020204020204" pitchFamily="34" charset="-122"/>
                <a:ea typeface="微软雅黑" panose="020B0503020204020204" pitchFamily="34" charset="-122"/>
              </a:rPr>
              <a:t>10-3</a:t>
            </a:r>
            <a:r>
              <a:rPr lang="zh-CN" altLang="en-US" dirty="0" smtClean="0">
                <a:latin typeface="微软雅黑" panose="020B0503020204020204" pitchFamily="34" charset="-122"/>
                <a:ea typeface="微软雅黑" panose="020B0503020204020204" pitchFamily="34" charset="-122"/>
              </a:rPr>
              <a:t>所示。执行顺序为：任务</a:t>
            </a:r>
            <a:r>
              <a:rPr lang="en-US" altLang="zh-CN" dirty="0" smtClean="0">
                <a:latin typeface="微软雅黑" panose="020B0503020204020204" pitchFamily="34" charset="-122"/>
                <a:ea typeface="微软雅黑" panose="020B0503020204020204" pitchFamily="34" charset="-122"/>
              </a:rPr>
              <a:t>3-5</a:t>
            </a:r>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3-6</a:t>
            </a:r>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5-8</a:t>
            </a:r>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6-9</a:t>
            </a:r>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8-10</a:t>
            </a:r>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9-10</a:t>
            </a:r>
            <a:r>
              <a:rPr lang="zh-CN" altLang="en-US" dirty="0" smtClean="0">
                <a:latin typeface="微软雅黑" panose="020B0503020204020204" pitchFamily="34" charset="-122"/>
                <a:ea typeface="微软雅黑" panose="020B0503020204020204" pitchFamily="34" charset="-122"/>
              </a:rPr>
              <a:t>。</a:t>
            </a:r>
          </a:p>
        </p:txBody>
      </p:sp>
      <p:pic>
        <p:nvPicPr>
          <p:cNvPr id="232450" name="图片 276"/>
          <p:cNvPicPr>
            <a:picLocks noChangeAspect="1" noChangeArrowheads="1"/>
          </p:cNvPicPr>
          <p:nvPr/>
        </p:nvPicPr>
        <p:blipFill>
          <a:blip r:embed="rId4" cstate="print"/>
          <a:srcRect/>
          <a:stretch>
            <a:fillRect/>
          </a:stretch>
        </p:blipFill>
        <p:spPr bwMode="auto">
          <a:xfrm>
            <a:off x="849084" y="2096608"/>
            <a:ext cx="5429903" cy="4177862"/>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4</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人员组织</a:t>
            </a:r>
          </a:p>
        </p:txBody>
      </p:sp>
      <p:grpSp>
        <p:nvGrpSpPr>
          <p:cNvPr id="7" name="组合 6"/>
          <p:cNvGrpSpPr/>
          <p:nvPr/>
        </p:nvGrpSpPr>
        <p:grpSpPr>
          <a:xfrm>
            <a:off x="6188075" y="4224020"/>
            <a:ext cx="3712845" cy="913130"/>
            <a:chOff x="9459" y="7137"/>
            <a:chExt cx="5847" cy="1438"/>
          </a:xfrm>
        </p:grpSpPr>
        <p:sp>
          <p:nvSpPr>
            <p:cNvPr id="8" name="文本框 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开发人员</a:t>
              </a:r>
            </a:p>
          </p:txBody>
        </p:sp>
        <p:sp>
          <p:nvSpPr>
            <p:cNvPr id="9" name="文本框 8"/>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组织机构</a:t>
              </a:r>
            </a:p>
          </p:txBody>
        </p:sp>
      </p:grpSp>
      <p:sp>
        <p:nvSpPr>
          <p:cNvPr id="13" name="文本框 12"/>
          <p:cNvSpPr txBox="1"/>
          <p:nvPr/>
        </p:nvSpPr>
        <p:spPr>
          <a:xfrm>
            <a:off x="6188075" y="5229860"/>
            <a:ext cx="418782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用户</a:t>
            </a:r>
          </a:p>
        </p:txBody>
      </p:sp>
    </p:spTree>
  </p:cSld>
  <p:clrMapOvr>
    <a:masterClrMapping/>
  </p:clrMapOvr>
  <p:transition spd="slow">
    <p:wip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olidFill>
                  <a:srgbClr val="FF0000"/>
                </a:solidFill>
                <a:sym typeface="+mn-ea"/>
              </a:rPr>
              <a:t>10</a:t>
            </a:r>
            <a:r>
              <a:rPr lang="en-US" dirty="0">
                <a:solidFill>
                  <a:srgbClr val="FF0000"/>
                </a:solidFill>
                <a:sym typeface="+mn-ea"/>
              </a:rPr>
              <a:t>.4  </a:t>
            </a:r>
            <a:r>
              <a:rPr lang="zh-CN" altLang="en-US" dirty="0">
                <a:solidFill>
                  <a:srgbClr val="FF0000"/>
                </a:solidFill>
                <a:sym typeface="+mn-ea"/>
              </a:rPr>
              <a:t>人员组织</a:t>
            </a: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10.4.</a:t>
            </a:r>
            <a:r>
              <a:rPr sz="2400" dirty="0" smtClean="0">
                <a:solidFill>
                  <a:schemeClr val="tx1"/>
                </a:solidFill>
              </a:rPr>
              <a:t>1  开发人员</a:t>
            </a:r>
          </a:p>
        </p:txBody>
      </p:sp>
      <p:grpSp>
        <p:nvGrpSpPr>
          <p:cNvPr id="27" name="组合 26"/>
          <p:cNvGrpSpPr/>
          <p:nvPr/>
        </p:nvGrpSpPr>
        <p:grpSpPr>
          <a:xfrm>
            <a:off x="727420" y="2670409"/>
            <a:ext cx="7953441" cy="3214752"/>
            <a:chOff x="727432" y="2470670"/>
            <a:chExt cx="7953584" cy="3448823"/>
          </a:xfrm>
        </p:grpSpPr>
        <p:sp>
          <p:nvSpPr>
            <p:cNvPr id="23" name="MH_SubTitle_1"/>
            <p:cNvSpPr txBox="1"/>
            <p:nvPr>
              <p:custDataLst>
                <p:tags r:id="rId1"/>
              </p:custDataLst>
            </p:nvPr>
          </p:nvSpPr>
          <p:spPr>
            <a:xfrm rot="20640000">
              <a:off x="1784342" y="5475384"/>
              <a:ext cx="3528921" cy="444109"/>
            </a:xfrm>
            <a:prstGeom prst="rect">
              <a:avLst/>
            </a:prstGeom>
            <a:noFill/>
          </p:spPr>
          <p:txBody>
            <a:bodyPr vert="horz" wrap="square" lIns="0" tIns="0" rIns="0" bIns="0" rtlCol="0" anchor="ctr" anchorCtr="0">
              <a:normAutofit/>
            </a:bodyPr>
            <a:lstStyle/>
            <a:p>
              <a:pPr algn="ctr"/>
              <a:r>
                <a:rPr lang="en-US" altLang="zh-CN" sz="1400" dirty="0" smtClean="0">
                  <a:solidFill>
                    <a:srgbClr val="4F4F4F"/>
                  </a:solidFill>
                  <a:latin typeface="微软雅黑" panose="020B0503020204020204" charset="-122"/>
                  <a:ea typeface="微软雅黑" panose="020B0503020204020204" charset="-122"/>
                </a:rPr>
                <a:t> </a:t>
              </a:r>
              <a:endParaRPr lang="zh-CN" altLang="en-US" sz="1400" dirty="0">
                <a:solidFill>
                  <a:srgbClr val="4F4F4F"/>
                </a:solidFill>
                <a:latin typeface="微软雅黑" panose="020B0503020204020204" charset="-122"/>
                <a:ea typeface="微软雅黑" panose="020B0503020204020204" charset="-122"/>
              </a:endParaRPr>
            </a:p>
          </p:txBody>
        </p:sp>
        <p:sp>
          <p:nvSpPr>
            <p:cNvPr id="24" name="MH_Text_1"/>
            <p:cNvSpPr txBox="1"/>
            <p:nvPr>
              <p:custDataLst>
                <p:tags r:id="rId2"/>
              </p:custDataLst>
            </p:nvPr>
          </p:nvSpPr>
          <p:spPr>
            <a:xfrm>
              <a:off x="727432" y="2470670"/>
              <a:ext cx="7953584" cy="3403221"/>
            </a:xfrm>
            <a:prstGeom prst="rect">
              <a:avLst/>
            </a:prstGeom>
            <a:noFill/>
          </p:spPr>
          <p:txBody>
            <a:bodyPr wrap="square" lIns="36000" tIns="46800" rIns="36000" rtlCol="0" anchor="t" anchorCtr="0">
              <a:noAutofit/>
            </a:bodyPr>
            <a:lstStyle/>
            <a:p>
              <a:pPr lvl="0" indent="457200">
                <a:lnSpc>
                  <a:spcPct val="130000"/>
                </a:lnSpc>
              </a:pPr>
              <a:r>
                <a:rPr lang="zh-CN" altLang="en-US" sz="2000" dirty="0" smtClean="0"/>
                <a:t>软件开发人员一般分为</a:t>
              </a:r>
              <a:r>
                <a:rPr lang="zh-CN" altLang="en-US" sz="2000" b="1" dirty="0" smtClean="0">
                  <a:solidFill>
                    <a:srgbClr val="00B050"/>
                  </a:solidFill>
                </a:rPr>
                <a:t>项目负责人、系统分析员、高级程序员、程序员、初级程序员、资料员和其他辅助人员。</a:t>
              </a:r>
              <a:r>
                <a:rPr lang="zh-CN" altLang="en-US" sz="2000" dirty="0" smtClean="0"/>
                <a:t>这里，系统分析员和高级程序员是高级技术人员；后面几种是低级技术人员。根据项目规模的大小，有的人可能身兼数职，但职责必须明确。</a:t>
              </a:r>
            </a:p>
            <a:p>
              <a:pPr lvl="0" indent="457200">
                <a:lnSpc>
                  <a:spcPct val="130000"/>
                </a:lnSpc>
              </a:pPr>
              <a:r>
                <a:rPr lang="zh-CN" sz="2000" dirty="0" smtClean="0">
                  <a:latin typeface="微软雅黑" panose="020B0503020204020204" charset="-122"/>
                  <a:ea typeface="微软雅黑" panose="020B0503020204020204" charset="-122"/>
                  <a:cs typeface="Times New Roman" panose="02020603050405020304" charset="0"/>
                </a:rPr>
                <a:t>参加软件生存周期各个阶段活动的人员，既要有分工又要互相联系。因此，要求各类人员既能胜任工作，又要能很好地相互配合。没有一个和谐的工作环境，很难完成一个复杂的软件项目。</a:t>
              </a:r>
            </a:p>
          </p:txBody>
        </p:sp>
      </p:grpSp>
      <p:pic>
        <p:nvPicPr>
          <p:cNvPr id="12" name="图片 11" descr="timgCA1KUKI1.jpg"/>
          <p:cNvPicPr>
            <a:picLocks noChangeAspect="1"/>
          </p:cNvPicPr>
          <p:nvPr/>
        </p:nvPicPr>
        <p:blipFill>
          <a:blip r:embed="rId5" cstate="print">
            <a:clrChange>
              <a:clrFrom>
                <a:srgbClr val="FFFFFF"/>
              </a:clrFrom>
              <a:clrTo>
                <a:srgbClr val="FFFFFF">
                  <a:alpha val="0"/>
                </a:srgbClr>
              </a:clrTo>
            </a:clrChange>
          </a:blip>
          <a:srcRect l="21989" r="27877" b="9736"/>
          <a:stretch>
            <a:fillRect/>
          </a:stretch>
        </p:blipFill>
        <p:spPr>
          <a:xfrm>
            <a:off x="8668988" y="1543282"/>
            <a:ext cx="2755075" cy="4679388"/>
          </a:xfrm>
          <a:prstGeom prst="rect">
            <a:avLst/>
          </a:prstGeom>
        </p:spPr>
      </p:pic>
    </p:spTree>
  </p:cSld>
  <p:clrMapOvr>
    <a:masterClrMapping/>
  </p:clrMapOvr>
  <p:transition>
    <p:wedg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54063" y="261258"/>
            <a:ext cx="8415337" cy="855290"/>
          </a:xfrm>
        </p:spPr>
        <p:txBody>
          <a:bodyPr/>
          <a:lstStyle/>
          <a:p>
            <a:r>
              <a:rPr lang="en-US" altLang="zh-CN" dirty="0">
                <a:solidFill>
                  <a:srgbClr val="FF0000"/>
                </a:solidFill>
                <a:sym typeface="+mn-ea"/>
              </a:rPr>
              <a:t>10</a:t>
            </a:r>
            <a:r>
              <a:rPr lang="en-US" dirty="0">
                <a:solidFill>
                  <a:srgbClr val="FF0000"/>
                </a:solidFill>
                <a:sym typeface="+mn-ea"/>
              </a:rPr>
              <a:t>.4  </a:t>
            </a:r>
            <a:r>
              <a:rPr lang="zh-CN" altLang="en-US" dirty="0">
                <a:solidFill>
                  <a:srgbClr val="FF0000"/>
                </a:solidFill>
                <a:sym typeface="+mn-ea"/>
              </a:rPr>
              <a:t>人员组织</a:t>
            </a:r>
          </a:p>
        </p:txBody>
      </p:sp>
      <p:sp>
        <p:nvSpPr>
          <p:cNvPr id="4"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10.4.</a:t>
            </a:r>
            <a:r>
              <a:rPr sz="2400" dirty="0" smtClean="0">
                <a:solidFill>
                  <a:schemeClr val="tx1"/>
                </a:solidFill>
              </a:rPr>
              <a:t>1  开发人员</a:t>
            </a:r>
          </a:p>
        </p:txBody>
      </p:sp>
      <p:sp>
        <p:nvSpPr>
          <p:cNvPr id="5" name="MH_Text_1"/>
          <p:cNvSpPr txBox="1"/>
          <p:nvPr>
            <p:custDataLst>
              <p:tags r:id="rId2"/>
            </p:custDataLst>
          </p:nvPr>
        </p:nvSpPr>
        <p:spPr>
          <a:xfrm>
            <a:off x="727421" y="2017275"/>
            <a:ext cx="10328506" cy="630926"/>
          </a:xfrm>
          <a:prstGeom prst="rect">
            <a:avLst/>
          </a:prstGeom>
          <a:noFill/>
        </p:spPr>
        <p:txBody>
          <a:bodyPr wrap="square" lIns="36000" tIns="46800" rIns="36000" rtlCol="0" anchor="t" anchorCtr="0">
            <a:noAutofit/>
          </a:bodyPr>
          <a:lstStyle/>
          <a:p>
            <a:pPr lvl="0" indent="457200">
              <a:lnSpc>
                <a:spcPct val="130000"/>
              </a:lnSpc>
            </a:pPr>
            <a:r>
              <a:rPr lang="zh-CN" dirty="0" smtClean="0">
                <a:latin typeface="微软雅黑" panose="020B0503020204020204" charset="-122"/>
                <a:ea typeface="微软雅黑" panose="020B0503020204020204" charset="-122"/>
                <a:cs typeface="Times New Roman" panose="02020603050405020304" charset="0"/>
              </a:rPr>
              <a:t>图10-4列出了各类开发人员在软件工程各阶段的参加程度。</a:t>
            </a:r>
          </a:p>
        </p:txBody>
      </p:sp>
      <p:graphicFrame>
        <p:nvGraphicFramePr>
          <p:cNvPr id="389122" name="Object 2" descr="image13"/>
          <p:cNvGraphicFramePr>
            <a:graphicFrameLocks/>
          </p:cNvGraphicFramePr>
          <p:nvPr/>
        </p:nvGraphicFramePr>
        <p:xfrm>
          <a:off x="2950729" y="2565073"/>
          <a:ext cx="6798912" cy="4993574"/>
        </p:xfrm>
        <a:graphic>
          <a:graphicData uri="http://schemas.openxmlformats.org/presentationml/2006/ole">
            <p:oleObj spid="_x0000_s389122" name="文档" r:id="rId4" imgW="3363731" imgH="2841582" progId="Word.Document.12">
              <p:embed/>
            </p:oleObj>
          </a:graphicData>
        </a:graphic>
      </p:graphicFrame>
      <p:sp>
        <p:nvSpPr>
          <p:cNvPr id="7" name="矩形 6"/>
          <p:cNvSpPr/>
          <p:nvPr/>
        </p:nvSpPr>
        <p:spPr>
          <a:xfrm>
            <a:off x="3877268" y="6011285"/>
            <a:ext cx="4698722" cy="369332"/>
          </a:xfrm>
          <a:prstGeom prst="rect">
            <a:avLst/>
          </a:prstGeom>
        </p:spPr>
        <p:txBody>
          <a:bodyPr wrap="none">
            <a:spAutoFit/>
          </a:bodyPr>
          <a:lstStyle/>
          <a:p>
            <a:r>
              <a:rPr lang="zh-CN" altLang="en-US" dirty="0" smtClean="0"/>
              <a:t>图</a:t>
            </a:r>
            <a:r>
              <a:rPr lang="en-US" dirty="0" smtClean="0"/>
              <a:t>10-4  </a:t>
            </a:r>
            <a:r>
              <a:rPr lang="zh-CN" altLang="en-US" dirty="0" smtClean="0"/>
              <a:t>各类人员在软件工程各阶段参加程度</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olidFill>
                  <a:srgbClr val="FF0000"/>
                </a:solidFill>
                <a:sym typeface="+mn-ea"/>
              </a:rPr>
              <a:t>10</a:t>
            </a:r>
            <a:r>
              <a:rPr lang="en-US" dirty="0">
                <a:solidFill>
                  <a:srgbClr val="FF0000"/>
                </a:solidFill>
                <a:sym typeface="+mn-ea"/>
              </a:rPr>
              <a:t>.4  </a:t>
            </a:r>
            <a:r>
              <a:rPr lang="zh-CN" altLang="en-US">
                <a:solidFill>
                  <a:srgbClr val="FF0000"/>
                </a:solidFill>
                <a:sym typeface="+mn-ea"/>
              </a:rPr>
              <a:t>人员组织</a:t>
            </a: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10.4.</a:t>
            </a:r>
            <a:r>
              <a:rPr sz="2400" dirty="0" smtClean="0">
                <a:solidFill>
                  <a:schemeClr val="tx1"/>
                </a:solidFill>
              </a:rPr>
              <a:t>1  开发人员</a:t>
            </a:r>
          </a:p>
        </p:txBody>
      </p:sp>
      <p:grpSp>
        <p:nvGrpSpPr>
          <p:cNvPr id="2" name="组合 1"/>
          <p:cNvGrpSpPr/>
          <p:nvPr/>
        </p:nvGrpSpPr>
        <p:grpSpPr>
          <a:xfrm>
            <a:off x="970280" y="2433955"/>
            <a:ext cx="10251440" cy="3686810"/>
            <a:chOff x="1387" y="3375"/>
            <a:chExt cx="16144" cy="5806"/>
          </a:xfrm>
        </p:grpSpPr>
        <p:grpSp>
          <p:nvGrpSpPr>
            <p:cNvPr id="14" name="组合 13"/>
            <p:cNvGrpSpPr/>
            <p:nvPr/>
          </p:nvGrpSpPr>
          <p:grpSpPr>
            <a:xfrm>
              <a:off x="6890" y="3375"/>
              <a:ext cx="4510" cy="4163"/>
              <a:chOff x="3519414" y="1886732"/>
              <a:chExt cx="4791164" cy="4042598"/>
            </a:xfrm>
          </p:grpSpPr>
          <p:sp>
            <p:nvSpPr>
              <p:cNvPr id="15" name="MH_SubTitle_1"/>
              <p:cNvSpPr/>
              <p:nvPr>
                <p:custDataLst>
                  <p:tags r:id="rId7"/>
                </p:custDataLst>
              </p:nvPr>
            </p:nvSpPr>
            <p:spPr bwMode="auto">
              <a:xfrm>
                <a:off x="3529044" y="1895601"/>
                <a:ext cx="2566956" cy="3084306"/>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16" name="MH_SubTitle_3"/>
              <p:cNvSpPr/>
              <p:nvPr>
                <p:custDataLst>
                  <p:tags r:id="rId8"/>
                </p:custDataLst>
              </p:nvPr>
            </p:nvSpPr>
            <p:spPr bwMode="auto">
              <a:xfrm>
                <a:off x="3952860" y="4561024"/>
                <a:ext cx="4124636" cy="1368306"/>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17" name="MH_Other_1"/>
              <p:cNvSpPr/>
              <p:nvPr>
                <p:custDataLst>
                  <p:tags r:id="rId9"/>
                </p:custDataLst>
              </p:nvPr>
            </p:nvSpPr>
            <p:spPr bwMode="auto">
              <a:xfrm>
                <a:off x="5827579" y="1886732"/>
                <a:ext cx="2482999" cy="2992886"/>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grpSp>
            <p:nvGrpSpPr>
              <p:cNvPr id="18" name="组合 12"/>
              <p:cNvGrpSpPr/>
              <p:nvPr/>
            </p:nvGrpSpPr>
            <p:grpSpPr>
              <a:xfrm>
                <a:off x="3519414" y="2255891"/>
                <a:ext cx="4659111" cy="3419799"/>
                <a:chOff x="3519414" y="2255891"/>
                <a:chExt cx="4659111" cy="3419799"/>
              </a:xfrm>
            </p:grpSpPr>
            <p:sp>
              <p:nvSpPr>
                <p:cNvPr id="5" name="MH_SubTitle_2"/>
                <p:cNvSpPr/>
                <p:nvPr>
                  <p:custDataLst>
                    <p:tags r:id="rId11"/>
                  </p:custDataLst>
                </p:nvPr>
              </p:nvSpPr>
              <p:spPr>
                <a:xfrm rot="3673167">
                  <a:off x="4060059" y="1846853"/>
                  <a:ext cx="3243870" cy="43251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系统分析员</a:t>
                  </a:r>
                </a:p>
              </p:txBody>
            </p:sp>
            <p:sp>
              <p:nvSpPr>
                <p:cNvPr id="21" name="MH_Other_2"/>
                <p:cNvSpPr/>
                <p:nvPr>
                  <p:custDataLst>
                    <p:tags r:id="rId12"/>
                  </p:custDataLst>
                </p:nvPr>
              </p:nvSpPr>
              <p:spPr>
                <a:xfrm rot="10873167">
                  <a:off x="3932990" y="2255891"/>
                  <a:ext cx="3919715" cy="3288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程序员</a:t>
                  </a:r>
                </a:p>
              </p:txBody>
            </p:sp>
            <p:sp>
              <p:nvSpPr>
                <p:cNvPr id="22" name="MH_Other_3"/>
                <p:cNvSpPr/>
                <p:nvPr>
                  <p:custDataLst>
                    <p:tags r:id="rId13"/>
                  </p:custDataLst>
                </p:nvPr>
              </p:nvSpPr>
              <p:spPr>
                <a:xfrm rot="17773167">
                  <a:off x="4394009" y="1891174"/>
                  <a:ext cx="3243871" cy="43251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gd name="adj" fmla="val 11072600"/>
                    </a:avLst>
                  </a:prstTxWarp>
                  <a:normAutofit/>
                </a:bodyPr>
                <a:lstStyle/>
                <a:p>
                  <a:pPr algn="ctr">
                    <a:defRPr/>
                  </a:pPr>
                  <a:r>
                    <a:rPr lang="zh-CN" altLang="zh-CN" sz="2000" dirty="0">
                      <a:solidFill>
                        <a:schemeClr val="tx1"/>
                      </a:solidFill>
                      <a:latin typeface="微软雅黑" panose="020B0503020204020204" charset="-122"/>
                      <a:ea typeface="微软雅黑" panose="020B0503020204020204" charset="-122"/>
                    </a:rPr>
                    <a:t>项目负责人</a:t>
                  </a:r>
                </a:p>
              </p:txBody>
            </p:sp>
          </p:grpSp>
          <p:sp>
            <p:nvSpPr>
              <p:cNvPr id="8" name="MH_Title_1"/>
              <p:cNvSpPr/>
              <p:nvPr>
                <p:custDataLst>
                  <p:tags r:id="rId10"/>
                </p:custDataLst>
              </p:nvPr>
            </p:nvSpPr>
            <p:spPr>
              <a:xfrm>
                <a:off x="4473783" y="2682073"/>
                <a:ext cx="2940298" cy="2466846"/>
              </a:xfrm>
              <a:prstGeom prst="ellipse">
                <a:avLst/>
              </a:prstGeom>
              <a:solidFill>
                <a:srgbClr val="92D05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lnSpcReduction="10000"/>
              </a:bodyPr>
              <a:lstStyle/>
              <a:p>
                <a:pPr algn="ctr">
                  <a:lnSpc>
                    <a:spcPct val="120000"/>
                  </a:lnSpc>
                  <a:spcBef>
                    <a:spcPts val="450"/>
                  </a:spcBef>
                  <a:spcAft>
                    <a:spcPts val="450"/>
                  </a:spcAft>
                  <a:defRPr/>
                </a:pPr>
                <a:r>
                  <a:rPr sz="2800" b="1" dirty="0" smtClean="0">
                    <a:solidFill>
                      <a:schemeClr val="bg1"/>
                    </a:solidFill>
                    <a:sym typeface="+mn-ea"/>
                  </a:rPr>
                  <a:t>开发</a:t>
                </a:r>
              </a:p>
              <a:p>
                <a:pPr algn="ctr">
                  <a:lnSpc>
                    <a:spcPct val="120000"/>
                  </a:lnSpc>
                  <a:spcBef>
                    <a:spcPts val="450"/>
                  </a:spcBef>
                  <a:spcAft>
                    <a:spcPts val="450"/>
                  </a:spcAft>
                  <a:defRPr/>
                </a:pPr>
                <a:r>
                  <a:rPr sz="2800" b="1" dirty="0" smtClean="0">
                    <a:solidFill>
                      <a:schemeClr val="bg1"/>
                    </a:solidFill>
                    <a:sym typeface="+mn-ea"/>
                  </a:rPr>
                  <a:t>人员</a:t>
                </a:r>
                <a:endParaRPr lang="zh-CN" altLang="en-US" sz="2800" b="1" dirty="0" smtClean="0">
                  <a:solidFill>
                    <a:schemeClr val="bg1"/>
                  </a:solidFill>
                  <a:latin typeface="微软雅黑" panose="020B0503020204020204" charset="-122"/>
                  <a:ea typeface="微软雅黑" panose="020B0503020204020204" charset="-122"/>
                  <a:sym typeface="+mn-ea"/>
                </a:endParaRPr>
              </a:p>
            </p:txBody>
          </p:sp>
        </p:grpSp>
        <p:sp>
          <p:nvSpPr>
            <p:cNvPr id="23" name="MH_Other_2"/>
            <p:cNvSpPr/>
            <p:nvPr>
              <p:custDataLst>
                <p:tags r:id="rId1"/>
              </p:custDataLst>
            </p:nvPr>
          </p:nvSpPr>
          <p:spPr>
            <a:xfrm rot="16200000" flipH="1" flipV="1">
              <a:off x="11314" y="3291"/>
              <a:ext cx="620" cy="1238"/>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24" name="MH_SubTitle_4"/>
            <p:cNvSpPr txBox="1"/>
            <p:nvPr>
              <p:custDataLst>
                <p:tags r:id="rId2"/>
              </p:custDataLst>
            </p:nvPr>
          </p:nvSpPr>
          <p:spPr bwMode="auto">
            <a:xfrm>
              <a:off x="12243" y="3522"/>
              <a:ext cx="5288" cy="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30000"/>
                </a:lnSpc>
                <a:defRPr/>
              </a:pPr>
              <a:r>
                <a:rPr lang="zh-CN" altLang="en-US" sz="2000" b="1" dirty="0" smtClean="0">
                  <a:solidFill>
                    <a:srgbClr val="00B0F0"/>
                  </a:solidFill>
                  <a:latin typeface="微软雅黑" panose="020B0503020204020204" charset="-122"/>
                  <a:ea typeface="微软雅黑" panose="020B0503020204020204" charset="-122"/>
                </a:rPr>
                <a:t>系统分析员</a:t>
              </a:r>
            </a:p>
            <a:p>
              <a:pPr>
                <a:lnSpc>
                  <a:spcPct val="120000"/>
                </a:lnSpc>
                <a:defRPr/>
              </a:pPr>
              <a:r>
                <a:rPr lang="zh-CN" altLang="en-US" sz="2000" dirty="0" smtClean="0"/>
                <a:t>        系统分析员需要有概括能力、分析能力和社交活动能力。</a:t>
              </a:r>
            </a:p>
          </p:txBody>
        </p:sp>
        <p:sp>
          <p:nvSpPr>
            <p:cNvPr id="25" name="MH_Other_2"/>
            <p:cNvSpPr/>
            <p:nvPr>
              <p:custDataLst>
                <p:tags r:id="rId3"/>
              </p:custDataLst>
            </p:nvPr>
          </p:nvSpPr>
          <p:spPr>
            <a:xfrm rot="5400000" flipV="1">
              <a:off x="6534" y="3291"/>
              <a:ext cx="620" cy="1238"/>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26" name="MH_SubTitle_4"/>
            <p:cNvSpPr txBox="1"/>
            <p:nvPr>
              <p:custDataLst>
                <p:tags r:id="rId4"/>
              </p:custDataLst>
            </p:nvPr>
          </p:nvSpPr>
          <p:spPr bwMode="auto">
            <a:xfrm>
              <a:off x="1387" y="3522"/>
              <a:ext cx="4838" cy="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r">
                <a:lnSpc>
                  <a:spcPct val="130000"/>
                </a:lnSpc>
                <a:defRPr/>
              </a:pPr>
              <a:r>
                <a:rPr lang="zh-CN" altLang="en-US" sz="2000" b="1" dirty="0" smtClean="0">
                  <a:solidFill>
                    <a:srgbClr val="00B0F0"/>
                  </a:solidFill>
                  <a:latin typeface="微软雅黑" panose="020B0503020204020204" charset="-122"/>
                  <a:ea typeface="微软雅黑" panose="020B0503020204020204" charset="-122"/>
                </a:rPr>
                <a:t>项目负责人</a:t>
              </a:r>
            </a:p>
            <a:p>
              <a:pPr algn="l">
                <a:lnSpc>
                  <a:spcPct val="130000"/>
                </a:lnSpc>
                <a:defRPr/>
              </a:pPr>
              <a:r>
                <a:rPr lang="zh-CN" altLang="en-US" sz="2000" dirty="0" smtClean="0"/>
                <a:t>        项目负责人需要具有组织能力、判断能力和对重大问题做出决策的能力。</a:t>
              </a:r>
            </a:p>
          </p:txBody>
        </p:sp>
        <p:sp>
          <p:nvSpPr>
            <p:cNvPr id="27" name="MH_Other_2"/>
            <p:cNvSpPr/>
            <p:nvPr>
              <p:custDataLst>
                <p:tags r:id="rId5"/>
              </p:custDataLst>
            </p:nvPr>
          </p:nvSpPr>
          <p:spPr>
            <a:xfrm rot="16200000">
              <a:off x="7518" y="6638"/>
              <a:ext cx="338" cy="2138"/>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28" name="MH_SubTitle_4"/>
            <p:cNvSpPr txBox="1"/>
            <p:nvPr>
              <p:custDataLst>
                <p:tags r:id="rId6"/>
              </p:custDataLst>
            </p:nvPr>
          </p:nvSpPr>
          <p:spPr bwMode="auto">
            <a:xfrm>
              <a:off x="3621" y="7538"/>
              <a:ext cx="8843" cy="16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lnSpc>
                  <a:spcPct val="130000"/>
                </a:lnSpc>
                <a:defRPr/>
              </a:pPr>
              <a:r>
                <a:rPr lang="zh-CN" altLang="en-US" sz="2000" b="1" dirty="0" smtClean="0">
                  <a:solidFill>
                    <a:srgbClr val="00B0F0"/>
                  </a:solidFill>
                  <a:latin typeface="微软雅黑" panose="020B0503020204020204" charset="-122"/>
                  <a:ea typeface="微软雅黑" panose="020B0503020204020204" charset="-122"/>
                </a:rPr>
                <a:t>程序员</a:t>
              </a:r>
              <a:endParaRPr lang="zh-CN" altLang="en-US" sz="2000" dirty="0" smtClean="0"/>
            </a:p>
            <a:p>
              <a:pPr>
                <a:lnSpc>
                  <a:spcPct val="110000"/>
                </a:lnSpc>
                <a:defRPr/>
              </a:pPr>
              <a:r>
                <a:rPr lang="zh-CN" altLang="en-US" sz="2000" dirty="0" smtClean="0"/>
                <a:t>           程序员需要有熟练的编程能力等。</a:t>
              </a:r>
            </a:p>
          </p:txBody>
        </p:sp>
      </p:gr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olidFill>
                  <a:srgbClr val="FF0000"/>
                </a:solidFill>
                <a:sym typeface="+mn-ea"/>
              </a:rPr>
              <a:t>10</a:t>
            </a:r>
            <a:r>
              <a:rPr lang="en-US" dirty="0">
                <a:solidFill>
                  <a:srgbClr val="FF0000"/>
                </a:solidFill>
                <a:sym typeface="+mn-ea"/>
              </a:rPr>
              <a:t>.4  </a:t>
            </a:r>
            <a:r>
              <a:rPr lang="zh-CN" altLang="en-US">
                <a:solidFill>
                  <a:srgbClr val="FF0000"/>
                </a:solidFill>
                <a:sym typeface="+mn-ea"/>
              </a:rPr>
              <a:t>人员组织</a:t>
            </a: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10.4.</a:t>
            </a:r>
            <a:r>
              <a:rPr sz="2400" dirty="0" smtClean="0">
                <a:solidFill>
                  <a:schemeClr val="tx1"/>
                </a:solidFill>
              </a:rPr>
              <a:t>2  组织机构</a:t>
            </a:r>
          </a:p>
        </p:txBody>
      </p:sp>
      <p:sp>
        <p:nvSpPr>
          <p:cNvPr id="13" name="矩形 12"/>
          <p:cNvSpPr/>
          <p:nvPr/>
        </p:nvSpPr>
        <p:spPr>
          <a:xfrm>
            <a:off x="1014246" y="2110762"/>
            <a:ext cx="10068911" cy="4206240"/>
          </a:xfrm>
          <a:prstGeom prst="rect">
            <a:avLst/>
          </a:prstGeom>
          <a:ln>
            <a:noFill/>
          </a:ln>
        </p:spPr>
        <p:txBody>
          <a:bodyPr wrap="square">
            <a:spAutoFit/>
          </a:bodyPr>
          <a:lstStyle/>
          <a:p>
            <a:pPr indent="457200" fontAlgn="auto">
              <a:lnSpc>
                <a:spcPct val="150000"/>
              </a:lnSpc>
            </a:pPr>
            <a:r>
              <a:rPr dirty="0" smtClean="0">
                <a:latin typeface="微软雅黑" panose="020B0503020204020204" charset="-122"/>
                <a:ea typeface="微软雅黑" panose="020B0503020204020204" charset="-122"/>
                <a:cs typeface="宋体" panose="02010600030101010101" pitchFamily="2" charset="-122"/>
                <a:sym typeface="+mn-ea"/>
              </a:rPr>
              <a:t>开发人员不能只是一个简单的集合，要求具有好的组织结</a:t>
            </a:r>
          </a:p>
          <a:p>
            <a:pPr indent="0" fontAlgn="auto">
              <a:lnSpc>
                <a:spcPct val="150000"/>
              </a:lnSpc>
            </a:pPr>
            <a:r>
              <a:rPr dirty="0" smtClean="0">
                <a:latin typeface="微软雅黑" panose="020B0503020204020204" charset="-122"/>
                <a:ea typeface="微软雅黑" panose="020B0503020204020204" charset="-122"/>
                <a:cs typeface="宋体" panose="02010600030101010101" pitchFamily="2" charset="-122"/>
                <a:sym typeface="+mn-ea"/>
              </a:rPr>
              <a:t>构：合理的人员分工和有效的通信。软件开发的组织机构没有统</a:t>
            </a:r>
          </a:p>
          <a:p>
            <a:pPr indent="0" fontAlgn="auto">
              <a:lnSpc>
                <a:spcPct val="150000"/>
              </a:lnSpc>
            </a:pPr>
            <a:r>
              <a:rPr dirty="0" smtClean="0">
                <a:latin typeface="微软雅黑" panose="020B0503020204020204" charset="-122"/>
                <a:ea typeface="微软雅黑" panose="020B0503020204020204" charset="-122"/>
                <a:cs typeface="宋体" panose="02010600030101010101" pitchFamily="2" charset="-122"/>
                <a:sym typeface="+mn-ea"/>
              </a:rPr>
              <a:t>一的模式，通常可采用以下3种组织结构的模式。</a:t>
            </a:r>
          </a:p>
          <a:p>
            <a:pPr marL="285750" indent="-285750" fontAlgn="auto">
              <a:lnSpc>
                <a:spcPct val="150000"/>
              </a:lnSpc>
              <a:buFont typeface="Wingdings" panose="05000000000000000000" charset="0"/>
              <a:buChar char="Ø"/>
            </a:pPr>
            <a:r>
              <a:rPr b="1" dirty="0" smtClean="0">
                <a:solidFill>
                  <a:schemeClr val="accent6">
                    <a:lumMod val="50000"/>
                  </a:schemeClr>
                </a:solidFill>
                <a:latin typeface="微软雅黑" panose="020B0503020204020204" charset="-122"/>
                <a:ea typeface="微软雅黑" panose="020B0503020204020204" charset="-122"/>
                <a:cs typeface="宋体" panose="02010600030101010101" pitchFamily="2" charset="-122"/>
                <a:sym typeface="+mn-ea"/>
              </a:rPr>
              <a:t>按课题划分的模式（Project Format）。</a:t>
            </a:r>
          </a:p>
          <a:p>
            <a:pPr marL="285750" indent="-285750" fontAlgn="auto">
              <a:lnSpc>
                <a:spcPct val="150000"/>
              </a:lnSpc>
              <a:buFont typeface="Wingdings" panose="05000000000000000000" charset="0"/>
              <a:buChar char="Ø"/>
            </a:pPr>
            <a:r>
              <a:rPr b="1" dirty="0" smtClean="0">
                <a:solidFill>
                  <a:schemeClr val="accent6">
                    <a:lumMod val="50000"/>
                  </a:schemeClr>
                </a:solidFill>
                <a:latin typeface="微软雅黑" panose="020B0503020204020204" charset="-122"/>
                <a:ea typeface="微软雅黑" panose="020B0503020204020204" charset="-122"/>
                <a:cs typeface="宋体" panose="02010600030101010101" pitchFamily="2" charset="-122"/>
                <a:sym typeface="+mn-ea"/>
              </a:rPr>
              <a:t>按职能划分的模式（Functional Format）。</a:t>
            </a:r>
          </a:p>
          <a:p>
            <a:pPr marL="285750" indent="-285750" fontAlgn="auto">
              <a:lnSpc>
                <a:spcPct val="150000"/>
              </a:lnSpc>
              <a:buFont typeface="Wingdings" panose="05000000000000000000" charset="0"/>
              <a:buChar char="Ø"/>
            </a:pPr>
            <a:r>
              <a:rPr b="1" dirty="0" smtClean="0">
                <a:solidFill>
                  <a:schemeClr val="accent6">
                    <a:lumMod val="50000"/>
                  </a:schemeClr>
                </a:solidFill>
                <a:latin typeface="微软雅黑" panose="020B0503020204020204" charset="-122"/>
                <a:ea typeface="微软雅黑" panose="020B0503020204020204" charset="-122"/>
                <a:cs typeface="宋体" panose="02010600030101010101" pitchFamily="2" charset="-122"/>
                <a:sym typeface="+mn-ea"/>
              </a:rPr>
              <a:t>矩阵形模式（Matrix Format）。</a:t>
            </a:r>
          </a:p>
          <a:p>
            <a:pPr indent="457200" fontAlgn="auto">
              <a:lnSpc>
                <a:spcPct val="150000"/>
              </a:lnSpc>
            </a:pPr>
            <a:r>
              <a:rPr dirty="0" smtClean="0">
                <a:latin typeface="微软雅黑" panose="020B0503020204020204" charset="-122"/>
                <a:ea typeface="微软雅黑" panose="020B0503020204020204" charset="-122"/>
                <a:cs typeface="宋体" panose="02010600030101010101" pitchFamily="2" charset="-122"/>
                <a:sym typeface="+mn-ea"/>
              </a:rPr>
              <a:t>矩阵形模式是将前两种模式结合起来：一方面，按工作性质成立一些专门组，如开发组、业务组、测试组等；另一方面，每个项目有负责人，每个人属于某个课题组，参加该项目的工作。</a:t>
            </a:r>
          </a:p>
          <a:p>
            <a:pPr indent="457200" fontAlgn="auto">
              <a:lnSpc>
                <a:spcPct val="150000"/>
              </a:lnSpc>
            </a:pPr>
            <a:r>
              <a:rPr dirty="0" smtClean="0">
                <a:latin typeface="微软雅黑" panose="020B0503020204020204" charset="-122"/>
                <a:ea typeface="微软雅黑" panose="020B0503020204020204" charset="-122"/>
                <a:cs typeface="宋体" panose="02010600030101010101" pitchFamily="2" charset="-122"/>
                <a:sym typeface="+mn-ea"/>
              </a:rPr>
              <a:t>通常程序设计工作是按小组进行的，程序设计小组的组织形式可以有3种：</a:t>
            </a:r>
            <a:r>
              <a:rPr b="1" dirty="0" smtClean="0">
                <a:solidFill>
                  <a:schemeClr val="accent6">
                    <a:lumMod val="50000"/>
                  </a:schemeClr>
                </a:solidFill>
                <a:latin typeface="微软雅黑" panose="020B0503020204020204" charset="-122"/>
                <a:ea typeface="微软雅黑" panose="020B0503020204020204" charset="-122"/>
                <a:cs typeface="宋体" panose="02010600030101010101" pitchFamily="2" charset="-122"/>
                <a:sym typeface="+mn-ea"/>
              </a:rPr>
              <a:t>主程序员组、民主制程序员组、层次式小组。</a:t>
            </a:r>
          </a:p>
        </p:txBody>
      </p:sp>
      <p:pic>
        <p:nvPicPr>
          <p:cNvPr id="2" name="图片 1" descr="timg"/>
          <p:cNvPicPr>
            <a:picLocks noChangeAspect="1"/>
          </p:cNvPicPr>
          <p:nvPr/>
        </p:nvPicPr>
        <p:blipFill>
          <a:blip r:embed="rId3" cstate="print"/>
          <a:stretch>
            <a:fillRect/>
          </a:stretch>
        </p:blipFill>
        <p:spPr>
          <a:xfrm rot="461887">
            <a:off x="7855325" y="2352800"/>
            <a:ext cx="2939507" cy="1959671"/>
          </a:xfrm>
          <a:prstGeom prst="rect">
            <a:avLst/>
          </a:prstGeom>
        </p:spPr>
      </p:pic>
    </p:spTree>
  </p:cSld>
  <p:clrMapOvr>
    <a:masterClrMapping/>
  </p:clrMapOvr>
  <p:transition>
    <p:wedg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olidFill>
                  <a:srgbClr val="FF0000"/>
                </a:solidFill>
                <a:sym typeface="+mn-ea"/>
              </a:rPr>
              <a:t>10</a:t>
            </a:r>
            <a:r>
              <a:rPr lang="en-US" dirty="0">
                <a:solidFill>
                  <a:srgbClr val="FF0000"/>
                </a:solidFill>
                <a:sym typeface="+mn-ea"/>
              </a:rPr>
              <a:t>.4  </a:t>
            </a:r>
            <a:r>
              <a:rPr lang="zh-CN" altLang="en-US" dirty="0">
                <a:solidFill>
                  <a:srgbClr val="FF0000"/>
                </a:solidFill>
                <a:sym typeface="+mn-ea"/>
              </a:rPr>
              <a:t>人员组织</a:t>
            </a: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10.4.</a:t>
            </a:r>
            <a:r>
              <a:rPr sz="2400" dirty="0" smtClean="0">
                <a:solidFill>
                  <a:schemeClr val="tx1"/>
                </a:solidFill>
              </a:rPr>
              <a:t>2  组织机构</a:t>
            </a:r>
          </a:p>
        </p:txBody>
      </p:sp>
      <p:grpSp>
        <p:nvGrpSpPr>
          <p:cNvPr id="15" name="组合 14"/>
          <p:cNvGrpSpPr/>
          <p:nvPr/>
        </p:nvGrpSpPr>
        <p:grpSpPr>
          <a:xfrm>
            <a:off x="769620" y="1725930"/>
            <a:ext cx="11437620" cy="4522470"/>
            <a:chOff x="1188" y="2742"/>
            <a:chExt cx="18012" cy="7122"/>
          </a:xfrm>
        </p:grpSpPr>
        <p:grpSp>
          <p:nvGrpSpPr>
            <p:cNvPr id="16" name="组合 15"/>
            <p:cNvGrpSpPr/>
            <p:nvPr/>
          </p:nvGrpSpPr>
          <p:grpSpPr>
            <a:xfrm flipH="1">
              <a:off x="11305" y="2742"/>
              <a:ext cx="7895" cy="1533"/>
              <a:chOff x="1" y="3428100"/>
              <a:chExt cx="5013433" cy="973302"/>
            </a:xfrm>
          </p:grpSpPr>
          <p:sp>
            <p:nvSpPr>
              <p:cNvPr id="6"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主程序员组</a:t>
                </a:r>
              </a:p>
            </p:txBody>
          </p:sp>
          <p:sp>
            <p:nvSpPr>
              <p:cNvPr id="8"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1</a:t>
                </a:r>
              </a:p>
            </p:txBody>
          </p:sp>
          <p:sp>
            <p:nvSpPr>
              <p:cNvPr id="21"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1"/>
              </p:custDataLst>
            </p:nvPr>
          </p:nvSpPr>
          <p:spPr>
            <a:xfrm>
              <a:off x="1188" y="3481"/>
              <a:ext cx="10212" cy="6383"/>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如果程序设计小组的大多数软件开发人员是比较缺乏经验的人员，而程序设计过程中又有许多事务性工作（如大量信息的存储和更新），则可采取“主程序员组”的组织方法，也就是说，</a:t>
              </a:r>
              <a:r>
                <a:rPr b="1" dirty="0" smtClean="0">
                  <a:solidFill>
                    <a:schemeClr val="accent6">
                      <a:lumMod val="50000"/>
                    </a:schemeClr>
                  </a:solidFill>
                  <a:latin typeface="微软雅黑" panose="020B0503020204020204" charset="-122"/>
                  <a:ea typeface="微软雅黑" panose="020B0503020204020204" charset="-122"/>
                </a:rPr>
                <a:t>用经验多、能力强、技术好的程序员作为主程序员。同时，其他人多做些事务性工作，为主程序员提供充分的支持，而所有的联络工作都通过一两个人（程序管理员）来进行。</a:t>
              </a:r>
              <a:r>
                <a:rPr dirty="0" smtClean="0">
                  <a:solidFill>
                    <a:schemeClr val="tx1"/>
                  </a:solidFill>
                  <a:latin typeface="微软雅黑" panose="020B0503020204020204" charset="-122"/>
                  <a:ea typeface="微软雅黑" panose="020B0503020204020204" charset="-122"/>
                </a:rPr>
                <a:t>“主程序员组”的核心有3个人。</a:t>
              </a:r>
            </a:p>
            <a:p>
              <a:pPr indent="457200">
                <a:lnSpc>
                  <a:spcPct val="120000"/>
                </a:lnSpc>
              </a:pPr>
              <a:r>
                <a:rPr dirty="0" smtClean="0">
                  <a:solidFill>
                    <a:schemeClr val="tx1"/>
                  </a:solidFill>
                  <a:latin typeface="微软雅黑" panose="020B0503020204020204" charset="-122"/>
                  <a:ea typeface="微软雅黑" panose="020B0503020204020204" charset="-122"/>
                </a:rPr>
                <a:t>另外，</a:t>
              </a:r>
              <a:r>
                <a:rPr b="1" dirty="0" smtClean="0">
                  <a:solidFill>
                    <a:schemeClr val="accent6">
                      <a:lumMod val="50000"/>
                    </a:schemeClr>
                  </a:solidFill>
                  <a:latin typeface="微软雅黑" panose="020B0503020204020204" charset="-122"/>
                  <a:ea typeface="微软雅黑" panose="020B0503020204020204" charset="-122"/>
                </a:rPr>
                <a:t>须配备一些临时或长期的工作人员，</a:t>
              </a:r>
              <a:r>
                <a:rPr dirty="0" smtClean="0">
                  <a:solidFill>
                    <a:schemeClr val="tx1"/>
                  </a:solidFill>
                  <a:latin typeface="微软雅黑" panose="020B0503020204020204" charset="-122"/>
                  <a:ea typeface="微软雅黑" panose="020B0503020204020204" charset="-122"/>
                </a:rPr>
                <a:t>如项目管理员、工具员、文档编辑、语言和系统专家、测试员、后援程序员等。</a:t>
              </a:r>
            </a:p>
            <a:p>
              <a:pPr indent="457200">
                <a:lnSpc>
                  <a:spcPct val="120000"/>
                </a:lnSpc>
              </a:pPr>
              <a:r>
                <a:rPr dirty="0" smtClean="0">
                  <a:solidFill>
                    <a:schemeClr val="tx1"/>
                  </a:solidFill>
                  <a:latin typeface="微软雅黑" panose="020B0503020204020204" charset="-122"/>
                  <a:ea typeface="微软雅黑" panose="020B0503020204020204" charset="-122"/>
                </a:rPr>
                <a:t>使用“主程序员组”的组织方式，</a:t>
              </a:r>
              <a:r>
                <a:rPr b="1" dirty="0" smtClean="0">
                  <a:solidFill>
                    <a:schemeClr val="accent6">
                      <a:lumMod val="50000"/>
                    </a:schemeClr>
                  </a:solidFill>
                  <a:latin typeface="微软雅黑" panose="020B0503020204020204" charset="-122"/>
                  <a:ea typeface="微软雅黑" panose="020B0503020204020204" charset="-122"/>
                </a:rPr>
                <a:t>可提高生产率，减少总的人年（或人月）数。</a:t>
              </a:r>
            </a:p>
          </p:txBody>
        </p:sp>
      </p:grpSp>
      <p:pic>
        <p:nvPicPr>
          <p:cNvPr id="2" name="图片 1" descr="A000220150321H86PPIC"/>
          <p:cNvPicPr>
            <a:picLocks noChangeAspect="1"/>
          </p:cNvPicPr>
          <p:nvPr/>
        </p:nvPicPr>
        <p:blipFill>
          <a:blip r:embed="rId7" cstate="print"/>
          <a:stretch>
            <a:fillRect/>
          </a:stretch>
        </p:blipFill>
        <p:spPr>
          <a:xfrm>
            <a:off x="7660640" y="2908935"/>
            <a:ext cx="3862070" cy="3226435"/>
          </a:xfrm>
          <a:prstGeom prst="rect">
            <a:avLst/>
          </a:prstGeom>
        </p:spPr>
      </p:pic>
    </p:spTree>
  </p:cSld>
  <p:clrMapOvr>
    <a:masterClrMapping/>
  </p:clrMapOvr>
  <p:transition>
    <p:wedg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ph type="title"/>
          </p:nvPr>
        </p:nvSpPr>
        <p:spPr>
          <a:xfrm>
            <a:off x="754063" y="261258"/>
            <a:ext cx="8415337" cy="855290"/>
          </a:xfrm>
        </p:spPr>
        <p:txBody>
          <a:bodyPr/>
          <a:lstStyle/>
          <a:p>
            <a:r>
              <a:rPr lang="en-US" altLang="zh-CN" dirty="0">
                <a:solidFill>
                  <a:srgbClr val="FF0000"/>
                </a:solidFill>
                <a:sym typeface="+mn-ea"/>
              </a:rPr>
              <a:t>10</a:t>
            </a:r>
            <a:r>
              <a:rPr lang="en-US" dirty="0">
                <a:solidFill>
                  <a:srgbClr val="FF0000"/>
                </a:solidFill>
                <a:sym typeface="+mn-ea"/>
              </a:rPr>
              <a:t>.4  </a:t>
            </a:r>
            <a:r>
              <a:rPr lang="zh-CN" altLang="en-US" dirty="0">
                <a:solidFill>
                  <a:srgbClr val="FF0000"/>
                </a:solidFill>
                <a:sym typeface="+mn-ea"/>
              </a:rPr>
              <a:t>人员组织</a:t>
            </a:r>
          </a:p>
        </p:txBody>
      </p:sp>
      <p:sp>
        <p:nvSpPr>
          <p:cNvPr id="6"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10.4.</a:t>
            </a:r>
            <a:r>
              <a:rPr sz="2400" dirty="0" smtClean="0">
                <a:solidFill>
                  <a:schemeClr val="tx1"/>
                </a:solidFill>
              </a:rPr>
              <a:t>2  组织机构</a:t>
            </a:r>
          </a:p>
        </p:txBody>
      </p:sp>
      <p:grpSp>
        <p:nvGrpSpPr>
          <p:cNvPr id="7" name="组合 6"/>
          <p:cNvGrpSpPr/>
          <p:nvPr/>
        </p:nvGrpSpPr>
        <p:grpSpPr>
          <a:xfrm>
            <a:off x="1153090" y="2078181"/>
            <a:ext cx="3006353" cy="4168239"/>
            <a:chOff x="1877485" y="2084459"/>
            <a:chExt cx="2205567" cy="3378129"/>
          </a:xfrm>
        </p:grpSpPr>
        <p:sp>
          <p:nvSpPr>
            <p:cNvPr id="8" name="MH_Text_1"/>
            <p:cNvSpPr>
              <a:spLocks/>
            </p:cNvSpPr>
            <p:nvPr>
              <p:custDataLst>
                <p:tags r:id="rId5"/>
              </p:custDataLst>
            </p:nvPr>
          </p:nvSpPr>
          <p:spPr bwMode="auto">
            <a:xfrm>
              <a:off x="1877485" y="2813050"/>
              <a:ext cx="2205567" cy="2649538"/>
            </a:xfrm>
            <a:custGeom>
              <a:avLst/>
              <a:gdLst>
                <a:gd name="T0" fmla="*/ 0 w 1295400"/>
                <a:gd name="T1" fmla="*/ 0 h 2074333"/>
                <a:gd name="T2" fmla="*/ 2112895 w 1295400"/>
                <a:gd name="T3" fmla="*/ 0 h 2074333"/>
                <a:gd name="T4" fmla="*/ 2112895 w 1295400"/>
                <a:gd name="T5" fmla="*/ 3225415 h 2074333"/>
                <a:gd name="T6" fmla="*/ 1954069 w 1295400"/>
                <a:gd name="T7" fmla="*/ 3384282 h 2074333"/>
                <a:gd name="T8" fmla="*/ 158826 w 1295400"/>
                <a:gd name="T9" fmla="*/ 3384282 h 2074333"/>
                <a:gd name="T10" fmla="*/ 0 w 1295400"/>
                <a:gd name="T11" fmla="*/ 3225415 h 2074333"/>
                <a:gd name="T12" fmla="*/ 0 60000 65536"/>
                <a:gd name="T13" fmla="*/ 0 60000 65536"/>
                <a:gd name="T14" fmla="*/ 0 60000 65536"/>
                <a:gd name="T15" fmla="*/ 0 60000 65536"/>
                <a:gd name="T16" fmla="*/ 0 60000 65536"/>
                <a:gd name="T17" fmla="*/ 0 60000 65536"/>
                <a:gd name="T18" fmla="*/ 0 w 1295400"/>
                <a:gd name="T19" fmla="*/ 0 h 2074333"/>
                <a:gd name="T20" fmla="*/ 1295400 w 1295400"/>
                <a:gd name="T21" fmla="*/ 2074333 h 2074333"/>
              </a:gdLst>
              <a:ahLst/>
              <a:cxnLst>
                <a:cxn ang="T12">
                  <a:pos x="T0" y="T1"/>
                </a:cxn>
                <a:cxn ang="T13">
                  <a:pos x="T2" y="T3"/>
                </a:cxn>
                <a:cxn ang="T14">
                  <a:pos x="T4" y="T5"/>
                </a:cxn>
                <a:cxn ang="T15">
                  <a:pos x="T6" y="T7"/>
                </a:cxn>
                <a:cxn ang="T16">
                  <a:pos x="T8" y="T9"/>
                </a:cxn>
                <a:cxn ang="T17">
                  <a:pos x="T10" y="T11"/>
                </a:cxn>
              </a:cxnLst>
              <a:rect l="T18" t="T19" r="T20" b="T21"/>
              <a:pathLst>
                <a:path w="1295400" h="2074333">
                  <a:moveTo>
                    <a:pt x="0" y="0"/>
                  </a:moveTo>
                  <a:lnTo>
                    <a:pt x="1295400" y="0"/>
                  </a:lnTo>
                  <a:lnTo>
                    <a:pt x="1295400" y="1976958"/>
                  </a:lnTo>
                  <a:cubicBezTo>
                    <a:pt x="1295400" y="2030737"/>
                    <a:pt x="1251804" y="2074333"/>
                    <a:pt x="1198025" y="2074333"/>
                  </a:cubicBezTo>
                  <a:lnTo>
                    <a:pt x="97375" y="2074333"/>
                  </a:lnTo>
                  <a:cubicBezTo>
                    <a:pt x="43596" y="2074333"/>
                    <a:pt x="0" y="2030737"/>
                    <a:pt x="0" y="1976958"/>
                  </a:cubicBezTo>
                  <a:lnTo>
                    <a:pt x="0" y="0"/>
                  </a:lnTo>
                  <a:close/>
                </a:path>
              </a:pathLst>
            </a:custGeom>
            <a:solidFill>
              <a:srgbClr val="1F9C93"/>
            </a:solidFill>
            <a:ln w="9525">
              <a:noFill/>
              <a:miter lim="800000"/>
              <a:headEnd/>
              <a:tailEnd/>
            </a:ln>
          </p:spPr>
          <p:txBody>
            <a:bodyPr anchor="ctr"/>
            <a:lstStyle/>
            <a:p>
              <a:pPr algn="ctr">
                <a:lnSpc>
                  <a:spcPct val="130000"/>
                </a:lnSpc>
              </a:pPr>
              <a:r>
                <a:rPr lang="zh-CN" altLang="en-US" dirty="0" smtClean="0">
                  <a:solidFill>
                    <a:schemeClr val="bg1"/>
                  </a:solidFill>
                </a:rPr>
                <a:t>应由经验丰富、能力较强的高级程序员担任，全面负责系统的设计、编码、测试和安装工作。主程序员组的制度突出了主程序员的领导，责任集中在少数人身上，有利于提高软件质量</a:t>
              </a:r>
              <a:endParaRPr lang="da-DK" altLang="zh-CN" dirty="0">
                <a:solidFill>
                  <a:schemeClr val="bg1"/>
                </a:solidFill>
                <a:ea typeface="微软雅黑" pitchFamily="34" charset="-122"/>
              </a:endParaRPr>
            </a:p>
          </p:txBody>
        </p:sp>
        <p:sp>
          <p:nvSpPr>
            <p:cNvPr id="9" name="MH_SubTitle_1"/>
            <p:cNvSpPr>
              <a:spLocks noChangeArrowheads="1"/>
            </p:cNvSpPr>
            <p:nvPr>
              <p:custDataLst>
                <p:tags r:id="rId6"/>
              </p:custDataLst>
            </p:nvPr>
          </p:nvSpPr>
          <p:spPr bwMode="auto">
            <a:xfrm>
              <a:off x="1877485" y="2084459"/>
              <a:ext cx="2205567" cy="728591"/>
            </a:xfrm>
            <a:prstGeom prst="rect">
              <a:avLst/>
            </a:prstGeom>
            <a:solidFill>
              <a:srgbClr val="BDAFAF">
                <a:alpha val="32156"/>
              </a:srgbClr>
            </a:solidFill>
            <a:ln w="9525">
              <a:noFill/>
              <a:miter lim="800000"/>
              <a:headEnd/>
              <a:tailEnd/>
            </a:ln>
          </p:spPr>
          <p:txBody>
            <a:bodyPr lIns="36000" tIns="36000" rIns="36000" bIns="36000" anchor="ctr"/>
            <a:lstStyle/>
            <a:p>
              <a:pPr algn="ctr"/>
              <a:r>
                <a:rPr lang="zh-CN" altLang="en-US" sz="2400" dirty="0" smtClean="0"/>
                <a:t>主程序员</a:t>
              </a:r>
              <a:endParaRPr lang="zh-CN" altLang="en-US" sz="2400" b="1" dirty="0">
                <a:solidFill>
                  <a:srgbClr val="1F9C93"/>
                </a:solidFill>
                <a:ea typeface="微软雅黑" pitchFamily="34" charset="-122"/>
              </a:endParaRPr>
            </a:p>
          </p:txBody>
        </p:sp>
      </p:grpSp>
      <p:grpSp>
        <p:nvGrpSpPr>
          <p:cNvPr id="10" name="组合 9"/>
          <p:cNvGrpSpPr/>
          <p:nvPr/>
        </p:nvGrpSpPr>
        <p:grpSpPr>
          <a:xfrm>
            <a:off x="4411328" y="2078181"/>
            <a:ext cx="3006353" cy="4168239"/>
            <a:chOff x="4993218" y="2084459"/>
            <a:chExt cx="2205567" cy="3378129"/>
          </a:xfrm>
        </p:grpSpPr>
        <p:sp>
          <p:nvSpPr>
            <p:cNvPr id="11" name="MH_Text_2"/>
            <p:cNvSpPr>
              <a:spLocks/>
            </p:cNvSpPr>
            <p:nvPr>
              <p:custDataLst>
                <p:tags r:id="rId3"/>
              </p:custDataLst>
            </p:nvPr>
          </p:nvSpPr>
          <p:spPr bwMode="auto">
            <a:xfrm>
              <a:off x="4993218" y="2813050"/>
              <a:ext cx="2205567" cy="2649538"/>
            </a:xfrm>
            <a:custGeom>
              <a:avLst/>
              <a:gdLst>
                <a:gd name="T0" fmla="*/ 0 w 1295400"/>
                <a:gd name="T1" fmla="*/ 0 h 2074333"/>
                <a:gd name="T2" fmla="*/ 2112895 w 1295400"/>
                <a:gd name="T3" fmla="*/ 0 h 2074333"/>
                <a:gd name="T4" fmla="*/ 2112895 w 1295400"/>
                <a:gd name="T5" fmla="*/ 3225415 h 2074333"/>
                <a:gd name="T6" fmla="*/ 1954069 w 1295400"/>
                <a:gd name="T7" fmla="*/ 3384282 h 2074333"/>
                <a:gd name="T8" fmla="*/ 158826 w 1295400"/>
                <a:gd name="T9" fmla="*/ 3384282 h 2074333"/>
                <a:gd name="T10" fmla="*/ 0 w 1295400"/>
                <a:gd name="T11" fmla="*/ 3225415 h 2074333"/>
                <a:gd name="T12" fmla="*/ 0 60000 65536"/>
                <a:gd name="T13" fmla="*/ 0 60000 65536"/>
                <a:gd name="T14" fmla="*/ 0 60000 65536"/>
                <a:gd name="T15" fmla="*/ 0 60000 65536"/>
                <a:gd name="T16" fmla="*/ 0 60000 65536"/>
                <a:gd name="T17" fmla="*/ 0 60000 65536"/>
                <a:gd name="T18" fmla="*/ 0 w 1295400"/>
                <a:gd name="T19" fmla="*/ 0 h 2074333"/>
                <a:gd name="T20" fmla="*/ 1295400 w 1295400"/>
                <a:gd name="T21" fmla="*/ 2074333 h 2074333"/>
              </a:gdLst>
              <a:ahLst/>
              <a:cxnLst>
                <a:cxn ang="T12">
                  <a:pos x="T0" y="T1"/>
                </a:cxn>
                <a:cxn ang="T13">
                  <a:pos x="T2" y="T3"/>
                </a:cxn>
                <a:cxn ang="T14">
                  <a:pos x="T4" y="T5"/>
                </a:cxn>
                <a:cxn ang="T15">
                  <a:pos x="T6" y="T7"/>
                </a:cxn>
                <a:cxn ang="T16">
                  <a:pos x="T8" y="T9"/>
                </a:cxn>
                <a:cxn ang="T17">
                  <a:pos x="T10" y="T11"/>
                </a:cxn>
              </a:cxnLst>
              <a:rect l="T18" t="T19" r="T20" b="T21"/>
              <a:pathLst>
                <a:path w="1295400" h="2074333">
                  <a:moveTo>
                    <a:pt x="0" y="0"/>
                  </a:moveTo>
                  <a:lnTo>
                    <a:pt x="1295400" y="0"/>
                  </a:lnTo>
                  <a:lnTo>
                    <a:pt x="1295400" y="1976958"/>
                  </a:lnTo>
                  <a:cubicBezTo>
                    <a:pt x="1295400" y="2030737"/>
                    <a:pt x="1251804" y="2074333"/>
                    <a:pt x="1198025" y="2074333"/>
                  </a:cubicBezTo>
                  <a:lnTo>
                    <a:pt x="97375" y="2074333"/>
                  </a:lnTo>
                  <a:cubicBezTo>
                    <a:pt x="43596" y="2074333"/>
                    <a:pt x="0" y="2030737"/>
                    <a:pt x="0" y="1976958"/>
                  </a:cubicBezTo>
                  <a:lnTo>
                    <a:pt x="0" y="0"/>
                  </a:lnTo>
                  <a:close/>
                </a:path>
              </a:pathLst>
            </a:custGeom>
            <a:solidFill>
              <a:srgbClr val="DA3126"/>
            </a:solidFill>
            <a:ln w="9525">
              <a:noFill/>
              <a:miter lim="800000"/>
              <a:headEnd/>
              <a:tailEnd/>
            </a:ln>
          </p:spPr>
          <p:txBody>
            <a:bodyPr anchor="ctr"/>
            <a:lstStyle/>
            <a:p>
              <a:pPr algn="ctr">
                <a:lnSpc>
                  <a:spcPct val="130000"/>
                </a:lnSpc>
              </a:pPr>
              <a:r>
                <a:rPr lang="zh-CN" altLang="en-US" dirty="0" smtClean="0">
                  <a:solidFill>
                    <a:schemeClr val="bg1"/>
                  </a:solidFill>
                </a:rPr>
                <a:t>也应由技术熟练、富于经验者担任，协助主程序员工作，设计测试方案和分析测试结果，以验证主程序员的工作</a:t>
              </a:r>
              <a:endParaRPr lang="da-DK" altLang="zh-CN" dirty="0">
                <a:solidFill>
                  <a:schemeClr val="bg1"/>
                </a:solidFill>
                <a:ea typeface="微软雅黑" pitchFamily="34" charset="-122"/>
              </a:endParaRPr>
            </a:p>
          </p:txBody>
        </p:sp>
        <p:sp>
          <p:nvSpPr>
            <p:cNvPr id="12" name="MH_SubTitle_2"/>
            <p:cNvSpPr>
              <a:spLocks noChangeArrowheads="1"/>
            </p:cNvSpPr>
            <p:nvPr>
              <p:custDataLst>
                <p:tags r:id="rId4"/>
              </p:custDataLst>
            </p:nvPr>
          </p:nvSpPr>
          <p:spPr bwMode="auto">
            <a:xfrm>
              <a:off x="4993218" y="2084459"/>
              <a:ext cx="2205567" cy="728591"/>
            </a:xfrm>
            <a:prstGeom prst="rect">
              <a:avLst/>
            </a:prstGeom>
            <a:solidFill>
              <a:srgbClr val="BDAFAF">
                <a:alpha val="32156"/>
              </a:srgbClr>
            </a:solidFill>
            <a:ln w="9525">
              <a:noFill/>
              <a:miter lim="800000"/>
              <a:headEnd/>
              <a:tailEnd/>
            </a:ln>
          </p:spPr>
          <p:txBody>
            <a:bodyPr lIns="36000" tIns="36000" rIns="36000" bIns="36000" anchor="ctr"/>
            <a:lstStyle/>
            <a:p>
              <a:pPr algn="ctr"/>
              <a:r>
                <a:rPr lang="zh-CN" altLang="en-US" sz="2400" dirty="0" smtClean="0"/>
                <a:t>辅助程序员</a:t>
              </a:r>
              <a:endParaRPr lang="zh-CN" altLang="en-US" sz="2400" b="1" dirty="0">
                <a:solidFill>
                  <a:srgbClr val="DA3126"/>
                </a:solidFill>
                <a:ea typeface="微软雅黑" pitchFamily="34" charset="-122"/>
              </a:endParaRPr>
            </a:p>
          </p:txBody>
        </p:sp>
      </p:grpSp>
      <p:grpSp>
        <p:nvGrpSpPr>
          <p:cNvPr id="13" name="组合 12"/>
          <p:cNvGrpSpPr/>
          <p:nvPr/>
        </p:nvGrpSpPr>
        <p:grpSpPr>
          <a:xfrm>
            <a:off x="7681439" y="2078182"/>
            <a:ext cx="3006353" cy="4156363"/>
            <a:chOff x="8108951" y="2094084"/>
            <a:chExt cx="2205567" cy="3368504"/>
          </a:xfrm>
        </p:grpSpPr>
        <p:sp>
          <p:nvSpPr>
            <p:cNvPr id="14" name="MH_Text_3"/>
            <p:cNvSpPr>
              <a:spLocks/>
            </p:cNvSpPr>
            <p:nvPr>
              <p:custDataLst>
                <p:tags r:id="rId1"/>
              </p:custDataLst>
            </p:nvPr>
          </p:nvSpPr>
          <p:spPr bwMode="auto">
            <a:xfrm>
              <a:off x="8108951" y="2813050"/>
              <a:ext cx="2205567" cy="2649538"/>
            </a:xfrm>
            <a:custGeom>
              <a:avLst/>
              <a:gdLst>
                <a:gd name="T0" fmla="*/ 0 w 1295400"/>
                <a:gd name="T1" fmla="*/ 0 h 2074333"/>
                <a:gd name="T2" fmla="*/ 2112895 w 1295400"/>
                <a:gd name="T3" fmla="*/ 0 h 2074333"/>
                <a:gd name="T4" fmla="*/ 2112895 w 1295400"/>
                <a:gd name="T5" fmla="*/ 3225415 h 2074333"/>
                <a:gd name="T6" fmla="*/ 1954069 w 1295400"/>
                <a:gd name="T7" fmla="*/ 3384282 h 2074333"/>
                <a:gd name="T8" fmla="*/ 158826 w 1295400"/>
                <a:gd name="T9" fmla="*/ 3384282 h 2074333"/>
                <a:gd name="T10" fmla="*/ 0 w 1295400"/>
                <a:gd name="T11" fmla="*/ 3225415 h 2074333"/>
                <a:gd name="T12" fmla="*/ 0 60000 65536"/>
                <a:gd name="T13" fmla="*/ 0 60000 65536"/>
                <a:gd name="T14" fmla="*/ 0 60000 65536"/>
                <a:gd name="T15" fmla="*/ 0 60000 65536"/>
                <a:gd name="T16" fmla="*/ 0 60000 65536"/>
                <a:gd name="T17" fmla="*/ 0 60000 65536"/>
                <a:gd name="T18" fmla="*/ 0 w 1295400"/>
                <a:gd name="T19" fmla="*/ 0 h 2074333"/>
                <a:gd name="T20" fmla="*/ 1295400 w 1295400"/>
                <a:gd name="T21" fmla="*/ 2074333 h 2074333"/>
              </a:gdLst>
              <a:ahLst/>
              <a:cxnLst>
                <a:cxn ang="T12">
                  <a:pos x="T0" y="T1"/>
                </a:cxn>
                <a:cxn ang="T13">
                  <a:pos x="T2" y="T3"/>
                </a:cxn>
                <a:cxn ang="T14">
                  <a:pos x="T4" y="T5"/>
                </a:cxn>
                <a:cxn ang="T15">
                  <a:pos x="T6" y="T7"/>
                </a:cxn>
                <a:cxn ang="T16">
                  <a:pos x="T8" y="T9"/>
                </a:cxn>
                <a:cxn ang="T17">
                  <a:pos x="T10" y="T11"/>
                </a:cxn>
              </a:cxnLst>
              <a:rect l="T18" t="T19" r="T20" b="T21"/>
              <a:pathLst>
                <a:path w="1295400" h="2074333">
                  <a:moveTo>
                    <a:pt x="0" y="0"/>
                  </a:moveTo>
                  <a:lnTo>
                    <a:pt x="1295400" y="0"/>
                  </a:lnTo>
                  <a:lnTo>
                    <a:pt x="1295400" y="1976958"/>
                  </a:lnTo>
                  <a:cubicBezTo>
                    <a:pt x="1295400" y="2030737"/>
                    <a:pt x="1251804" y="2074333"/>
                    <a:pt x="1198025" y="2074333"/>
                  </a:cubicBezTo>
                  <a:lnTo>
                    <a:pt x="97375" y="2074333"/>
                  </a:lnTo>
                  <a:cubicBezTo>
                    <a:pt x="43596" y="2074333"/>
                    <a:pt x="0" y="2030737"/>
                    <a:pt x="0" y="1976958"/>
                  </a:cubicBezTo>
                  <a:lnTo>
                    <a:pt x="0" y="0"/>
                  </a:lnTo>
                  <a:close/>
                </a:path>
              </a:pathLst>
            </a:custGeom>
            <a:solidFill>
              <a:srgbClr val="F06F3C"/>
            </a:solidFill>
            <a:ln w="9525">
              <a:noFill/>
              <a:miter lim="800000"/>
              <a:headEnd/>
              <a:tailEnd/>
            </a:ln>
          </p:spPr>
          <p:txBody>
            <a:bodyPr anchor="ctr"/>
            <a:lstStyle/>
            <a:p>
              <a:pPr algn="ctr">
                <a:lnSpc>
                  <a:spcPct val="130000"/>
                </a:lnSpc>
              </a:pPr>
              <a:r>
                <a:rPr lang="zh-CN" altLang="en-US" dirty="0" smtClean="0">
                  <a:solidFill>
                    <a:schemeClr val="bg1"/>
                  </a:solidFill>
                </a:rPr>
                <a:t>负责保管和维护所有的软件文档资料，帮助收集软件的数据，并在研究、分析和评价文档资料的准备方面进行协助工作。如提交程序、保存运行记录、管理软件配置等</a:t>
              </a:r>
              <a:endParaRPr lang="da-DK" altLang="zh-CN" dirty="0">
                <a:solidFill>
                  <a:schemeClr val="bg1"/>
                </a:solidFill>
                <a:ea typeface="微软雅黑" pitchFamily="34" charset="-122"/>
              </a:endParaRPr>
            </a:p>
          </p:txBody>
        </p:sp>
        <p:sp>
          <p:nvSpPr>
            <p:cNvPr id="15" name="MH_SubTitle_3"/>
            <p:cNvSpPr>
              <a:spLocks noChangeArrowheads="1"/>
            </p:cNvSpPr>
            <p:nvPr>
              <p:custDataLst>
                <p:tags r:id="rId2"/>
              </p:custDataLst>
            </p:nvPr>
          </p:nvSpPr>
          <p:spPr bwMode="auto">
            <a:xfrm>
              <a:off x="8108951" y="2094084"/>
              <a:ext cx="2205567" cy="718967"/>
            </a:xfrm>
            <a:prstGeom prst="rect">
              <a:avLst/>
            </a:prstGeom>
            <a:solidFill>
              <a:srgbClr val="BDAFAF">
                <a:alpha val="32156"/>
              </a:srgbClr>
            </a:solidFill>
            <a:ln w="9525">
              <a:noFill/>
              <a:miter lim="800000"/>
              <a:headEnd/>
              <a:tailEnd/>
            </a:ln>
          </p:spPr>
          <p:txBody>
            <a:bodyPr lIns="36000" tIns="36000" rIns="36000" bIns="36000" anchor="ctr"/>
            <a:lstStyle/>
            <a:p>
              <a:pPr algn="ctr"/>
              <a:r>
                <a:rPr lang="zh-CN" altLang="en-US" sz="2400" dirty="0" smtClean="0"/>
                <a:t>程序管理员</a:t>
              </a:r>
              <a:endParaRPr lang="zh-CN" altLang="en-US" sz="2400" b="1" dirty="0">
                <a:solidFill>
                  <a:srgbClr val="F06F3C"/>
                </a:solidFill>
                <a:ea typeface="微软雅黑" pitchFamily="34" charset="-122"/>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olidFill>
                  <a:srgbClr val="FF0000"/>
                </a:solidFill>
                <a:sym typeface="+mn-ea"/>
              </a:rPr>
              <a:t>10</a:t>
            </a:r>
            <a:r>
              <a:rPr lang="en-US" dirty="0">
                <a:solidFill>
                  <a:srgbClr val="FF0000"/>
                </a:solidFill>
                <a:sym typeface="+mn-ea"/>
              </a:rPr>
              <a:t>.4  </a:t>
            </a:r>
            <a:r>
              <a:rPr lang="zh-CN" altLang="en-US">
                <a:solidFill>
                  <a:srgbClr val="FF0000"/>
                </a:solidFill>
                <a:sym typeface="+mn-ea"/>
              </a:rPr>
              <a:t>人员组织</a:t>
            </a: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10.4.</a:t>
            </a:r>
            <a:r>
              <a:rPr sz="2400" dirty="0" smtClean="0">
                <a:solidFill>
                  <a:schemeClr val="tx1"/>
                </a:solidFill>
              </a:rPr>
              <a:t>2  组织机构</a:t>
            </a:r>
          </a:p>
        </p:txBody>
      </p:sp>
      <p:grpSp>
        <p:nvGrpSpPr>
          <p:cNvPr id="15" name="组合 14"/>
          <p:cNvGrpSpPr/>
          <p:nvPr/>
        </p:nvGrpSpPr>
        <p:grpSpPr>
          <a:xfrm>
            <a:off x="769620" y="1725930"/>
            <a:ext cx="11437620" cy="4409440"/>
            <a:chOff x="1188" y="2742"/>
            <a:chExt cx="18012" cy="6944"/>
          </a:xfrm>
        </p:grpSpPr>
        <p:grpSp>
          <p:nvGrpSpPr>
            <p:cNvPr id="16" name="组合 15"/>
            <p:cNvGrpSpPr/>
            <p:nvPr/>
          </p:nvGrpSpPr>
          <p:grpSpPr>
            <a:xfrm flipH="1">
              <a:off x="11305" y="2742"/>
              <a:ext cx="7895" cy="1533"/>
              <a:chOff x="1" y="3428100"/>
              <a:chExt cx="5013433" cy="973302"/>
            </a:xfrm>
          </p:grpSpPr>
          <p:sp>
            <p:nvSpPr>
              <p:cNvPr id="6"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民主制程序员组</a:t>
                </a:r>
              </a:p>
            </p:txBody>
          </p:sp>
          <p:sp>
            <p:nvSpPr>
              <p:cNvPr id="8"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2</a:t>
                </a:r>
              </a:p>
            </p:txBody>
          </p:sp>
          <p:sp>
            <p:nvSpPr>
              <p:cNvPr id="21"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1"/>
              </p:custDataLst>
            </p:nvPr>
          </p:nvSpPr>
          <p:spPr>
            <a:xfrm>
              <a:off x="1188" y="3625"/>
              <a:ext cx="9795" cy="6061"/>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民主制程序员组的</a:t>
              </a:r>
              <a:r>
                <a:rPr b="1" dirty="0" smtClean="0">
                  <a:solidFill>
                    <a:schemeClr val="accent6">
                      <a:lumMod val="50000"/>
                    </a:schemeClr>
                  </a:solidFill>
                  <a:latin typeface="微软雅黑" panose="020B0503020204020204" charset="-122"/>
                  <a:ea typeface="微软雅黑" panose="020B0503020204020204" charset="-122"/>
                </a:rPr>
                <a:t>程序设计成员完全平等，享有充分的民主，通过协商做出技术决策，发现错误时，每个人都积极主动地想方法，攻克难关。</a:t>
              </a:r>
              <a:r>
                <a:rPr dirty="0" smtClean="0">
                  <a:solidFill>
                    <a:schemeClr val="tx1"/>
                  </a:solidFill>
                  <a:latin typeface="微软雅黑" panose="020B0503020204020204" charset="-122"/>
                  <a:ea typeface="微软雅黑" panose="020B0503020204020204" charset="-122"/>
                </a:rPr>
                <a:t>很显然，这种组织机构</a:t>
              </a:r>
              <a:r>
                <a:rPr b="1" dirty="0" smtClean="0">
                  <a:solidFill>
                    <a:schemeClr val="accent6">
                      <a:lumMod val="50000"/>
                    </a:schemeClr>
                  </a:solidFill>
                  <a:latin typeface="微软雅黑" panose="020B0503020204020204" charset="-122"/>
                  <a:ea typeface="微软雅黑" panose="020B0503020204020204" charset="-122"/>
                </a:rPr>
                <a:t>对调动积极性和个人的创造性是很值得称道的。</a:t>
              </a:r>
              <a:r>
                <a:rPr dirty="0" smtClean="0">
                  <a:solidFill>
                    <a:schemeClr val="tx1"/>
                  </a:solidFill>
                  <a:latin typeface="微软雅黑" panose="020B0503020204020204" charset="-122"/>
                  <a:ea typeface="微软雅黑" panose="020B0503020204020204" charset="-122"/>
                </a:rPr>
                <a:t>但是，这种组织也有缺点，如果小组有n个人，通信的信道有 条，小组人数多的话，通信量会非常大。如果组织内有缺乏经验的新手或技术水平不高的成员，可能难以完成任务。</a:t>
              </a:r>
            </a:p>
          </p:txBody>
        </p:sp>
      </p:grpSp>
      <p:pic>
        <p:nvPicPr>
          <p:cNvPr id="4" name="图片 3" descr="A000220150322A39PPIC"/>
          <p:cNvPicPr>
            <a:picLocks noChangeAspect="1"/>
          </p:cNvPicPr>
          <p:nvPr/>
        </p:nvPicPr>
        <p:blipFill>
          <a:blip r:embed="rId7" cstate="print"/>
          <a:stretch>
            <a:fillRect/>
          </a:stretch>
        </p:blipFill>
        <p:spPr>
          <a:xfrm>
            <a:off x="7592060" y="3298190"/>
            <a:ext cx="4253230" cy="2296160"/>
          </a:xfrm>
          <a:prstGeom prst="rect">
            <a:avLst/>
          </a:prstGeom>
        </p:spPr>
      </p:pic>
    </p:spTree>
  </p:cSld>
  <p:clrMapOvr>
    <a:masterClrMapping/>
  </p:clrMapOvr>
  <p:transition>
    <p:wedg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olidFill>
                  <a:srgbClr val="FF0000"/>
                </a:solidFill>
                <a:sym typeface="+mn-ea"/>
              </a:rPr>
              <a:t>10</a:t>
            </a:r>
            <a:r>
              <a:rPr lang="en-US" dirty="0">
                <a:solidFill>
                  <a:srgbClr val="FF0000"/>
                </a:solidFill>
                <a:sym typeface="+mn-ea"/>
              </a:rPr>
              <a:t>.4  </a:t>
            </a:r>
            <a:r>
              <a:rPr lang="zh-CN" altLang="en-US">
                <a:solidFill>
                  <a:srgbClr val="FF0000"/>
                </a:solidFill>
                <a:sym typeface="+mn-ea"/>
              </a:rPr>
              <a:t>人员组织</a:t>
            </a: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10.4.</a:t>
            </a:r>
            <a:r>
              <a:rPr sz="2400" dirty="0" smtClean="0">
                <a:solidFill>
                  <a:schemeClr val="tx1"/>
                </a:solidFill>
              </a:rPr>
              <a:t>2  组织机构</a:t>
            </a:r>
          </a:p>
        </p:txBody>
      </p:sp>
      <p:grpSp>
        <p:nvGrpSpPr>
          <p:cNvPr id="15" name="组合 14"/>
          <p:cNvGrpSpPr/>
          <p:nvPr/>
        </p:nvGrpSpPr>
        <p:grpSpPr>
          <a:xfrm>
            <a:off x="769620" y="1725930"/>
            <a:ext cx="11437620" cy="4409440"/>
            <a:chOff x="1188" y="2742"/>
            <a:chExt cx="18012" cy="6944"/>
          </a:xfrm>
        </p:grpSpPr>
        <p:grpSp>
          <p:nvGrpSpPr>
            <p:cNvPr id="16" name="组合 15"/>
            <p:cNvGrpSpPr/>
            <p:nvPr/>
          </p:nvGrpSpPr>
          <p:grpSpPr>
            <a:xfrm flipH="1">
              <a:off x="11305" y="2742"/>
              <a:ext cx="7895" cy="1533"/>
              <a:chOff x="1" y="3428100"/>
              <a:chExt cx="5013433" cy="973302"/>
            </a:xfrm>
          </p:grpSpPr>
          <p:sp>
            <p:nvSpPr>
              <p:cNvPr id="6"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层次式小组</a:t>
                </a:r>
              </a:p>
            </p:txBody>
          </p:sp>
          <p:sp>
            <p:nvSpPr>
              <p:cNvPr id="8"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3</a:t>
                </a:r>
              </a:p>
            </p:txBody>
          </p:sp>
          <p:sp>
            <p:nvSpPr>
              <p:cNvPr id="21"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1"/>
              </p:custDataLst>
            </p:nvPr>
          </p:nvSpPr>
          <p:spPr>
            <a:xfrm>
              <a:off x="1188" y="3625"/>
              <a:ext cx="9795" cy="6061"/>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sym typeface="+mn-ea"/>
                </a:rPr>
                <a:t>这种小组中，</a:t>
              </a:r>
              <a:r>
                <a:rPr b="1" dirty="0" smtClean="0">
                  <a:solidFill>
                    <a:schemeClr val="accent6">
                      <a:lumMod val="50000"/>
                    </a:schemeClr>
                  </a:solidFill>
                  <a:latin typeface="微软雅黑" panose="020B0503020204020204" charset="-122"/>
                  <a:ea typeface="微软雅黑" panose="020B0503020204020204" charset="-122"/>
                  <a:sym typeface="+mn-ea"/>
                </a:rPr>
                <a:t>组长负责全组工作，直接领导2～3名高级程序员，每位高级程序员管理若干程序员。</a:t>
              </a:r>
              <a:r>
                <a:rPr dirty="0" smtClean="0">
                  <a:solidFill>
                    <a:schemeClr val="tx1"/>
                  </a:solidFill>
                  <a:latin typeface="微软雅黑" panose="020B0503020204020204" charset="-122"/>
                  <a:ea typeface="微软雅黑" panose="020B0503020204020204" charset="-122"/>
                  <a:sym typeface="+mn-ea"/>
                </a:rPr>
                <a:t>这种小组比较适合于完成层次结构的课题。</a:t>
              </a:r>
              <a:endParaRPr dirty="0" smtClean="0">
                <a:solidFill>
                  <a:schemeClr val="tx1"/>
                </a:solidFill>
                <a:latin typeface="微软雅黑" panose="020B0503020204020204" charset="-122"/>
                <a:ea typeface="微软雅黑" panose="020B0503020204020204" charset="-122"/>
              </a:endParaRPr>
            </a:p>
            <a:p>
              <a:pPr indent="457200">
                <a:lnSpc>
                  <a:spcPct val="120000"/>
                </a:lnSpc>
              </a:pPr>
              <a:r>
                <a:rPr dirty="0" smtClean="0">
                  <a:solidFill>
                    <a:schemeClr val="tx1"/>
                  </a:solidFill>
                  <a:latin typeface="微软雅黑" panose="020B0503020204020204" charset="-122"/>
                  <a:ea typeface="微软雅黑" panose="020B0503020204020204" charset="-122"/>
                  <a:sym typeface="+mn-ea"/>
                </a:rPr>
                <a:t>一般来讲，程序设计小组的成员以2～8名为宜。如果项目规模较大，一个小组不能在预定时间内完成任务，则可使用多个程序设计小组，每个小组在一定程度上独立自主地完成工程中的部分任务。这时，系统的概要设计工作特别重要，应保证各部分之间的接口定义良好，并且越简单越好。</a:t>
              </a:r>
              <a:endParaRPr dirty="0" smtClean="0">
                <a:solidFill>
                  <a:schemeClr val="tx1"/>
                </a:solidFill>
                <a:latin typeface="微软雅黑" panose="020B0503020204020204" charset="-122"/>
                <a:ea typeface="微软雅黑" panose="020B0503020204020204" charset="-122"/>
              </a:endParaRPr>
            </a:p>
          </p:txBody>
        </p:sp>
      </p:grpSp>
      <p:pic>
        <p:nvPicPr>
          <p:cNvPr id="2" name="图片 1" descr="A000220150320J61PPIC"/>
          <p:cNvPicPr>
            <a:picLocks noChangeAspect="1"/>
          </p:cNvPicPr>
          <p:nvPr/>
        </p:nvPicPr>
        <p:blipFill>
          <a:blip r:embed="rId7" cstate="print"/>
          <a:stretch>
            <a:fillRect/>
          </a:stretch>
        </p:blipFill>
        <p:spPr>
          <a:xfrm>
            <a:off x="7377430" y="3321685"/>
            <a:ext cx="4411345" cy="2294255"/>
          </a:xfrm>
          <a:prstGeom prst="rect">
            <a:avLst/>
          </a:prstGeom>
        </p:spPr>
      </p:pic>
    </p:spTree>
  </p:cSld>
  <p:clrMapOvr>
    <a:masterClrMapping/>
  </p:clrMapOvr>
  <p:transition>
    <p:wedg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olidFill>
                  <a:srgbClr val="FF0000"/>
                </a:solidFill>
                <a:sym typeface="+mn-ea"/>
              </a:rPr>
              <a:t>10</a:t>
            </a:r>
            <a:r>
              <a:rPr lang="en-US" dirty="0">
                <a:solidFill>
                  <a:srgbClr val="FF0000"/>
                </a:solidFill>
                <a:sym typeface="+mn-ea"/>
              </a:rPr>
              <a:t>.4  </a:t>
            </a:r>
            <a:r>
              <a:rPr lang="zh-CN" altLang="en-US">
                <a:solidFill>
                  <a:srgbClr val="FF0000"/>
                </a:solidFill>
                <a:sym typeface="+mn-ea"/>
              </a:rPr>
              <a:t>人员组织</a:t>
            </a: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10.4.</a:t>
            </a:r>
            <a:r>
              <a:rPr sz="2400" dirty="0" smtClean="0">
                <a:solidFill>
                  <a:schemeClr val="tx1"/>
                </a:solidFill>
              </a:rPr>
              <a:t>2  组织机构</a:t>
            </a:r>
          </a:p>
        </p:txBody>
      </p:sp>
      <p:pic>
        <p:nvPicPr>
          <p:cNvPr id="2" name="图片 1" descr="A000220150322J65PPIC"/>
          <p:cNvPicPr>
            <a:picLocks noChangeAspect="1"/>
          </p:cNvPicPr>
          <p:nvPr/>
        </p:nvPicPr>
        <p:blipFill>
          <a:blip r:embed="rId3" cstate="print"/>
          <a:stretch>
            <a:fillRect/>
          </a:stretch>
        </p:blipFill>
        <p:spPr>
          <a:xfrm>
            <a:off x="623570" y="2150745"/>
            <a:ext cx="5269865" cy="3862705"/>
          </a:xfrm>
          <a:prstGeom prst="rect">
            <a:avLst/>
          </a:prstGeom>
        </p:spPr>
      </p:pic>
      <p:sp>
        <p:nvSpPr>
          <p:cNvPr id="100" name="文本框 99"/>
          <p:cNvSpPr txBox="1"/>
          <p:nvPr/>
        </p:nvSpPr>
        <p:spPr>
          <a:xfrm>
            <a:off x="6214745" y="2647950"/>
            <a:ext cx="5407025" cy="2634594"/>
          </a:xfrm>
          <a:prstGeom prst="roundRect">
            <a:avLst/>
          </a:prstGeom>
          <a:noFill/>
          <a:ln w="9525">
            <a:solidFill>
              <a:schemeClr val="accent2"/>
            </a:solidFill>
            <a:prstDash val="sysDot"/>
          </a:ln>
        </p:spPr>
        <p:txBody>
          <a:bodyPr wrap="square">
            <a:spAutoFit/>
          </a:bodyPr>
          <a:lstStyle/>
          <a:p>
            <a:pPr marL="0" indent="457200" algn="l" fontAlgn="auto">
              <a:lnSpc>
                <a:spcPct val="150000"/>
              </a:lnSpc>
            </a:pPr>
            <a:r>
              <a:rPr lang="zh-CN" altLang="en-US" sz="2000" u="none" dirty="0">
                <a:latin typeface="微软雅黑" panose="020B0503020204020204" charset="-122"/>
                <a:ea typeface="微软雅黑" panose="020B0503020204020204" charset="-122"/>
                <a:cs typeface="宋体" panose="02010600030101010101" pitchFamily="2" charset="-122"/>
              </a:rPr>
              <a:t>把主程序员组和民主制程序员组的优点结合起来，根据软件项目的规模大小，安排适当的程序设计小组的成员和人数，合理地、层次式地进行管理，有利于提高软件工程的质量和效率。</a:t>
            </a:r>
          </a:p>
        </p:txBody>
      </p:sp>
    </p:spTree>
  </p:cSld>
  <p:clrMapOvr>
    <a:masterClrMapping/>
  </p:clrMapOvr>
  <p:transition>
    <p:wedg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olidFill>
                  <a:srgbClr val="FF0000"/>
                </a:solidFill>
                <a:sym typeface="+mn-ea"/>
              </a:rPr>
              <a:t>10</a:t>
            </a:r>
            <a:r>
              <a:rPr lang="en-US" dirty="0">
                <a:solidFill>
                  <a:srgbClr val="FF0000"/>
                </a:solidFill>
                <a:sym typeface="+mn-ea"/>
              </a:rPr>
              <a:t>.4  </a:t>
            </a:r>
            <a:r>
              <a:rPr lang="zh-CN" altLang="en-US">
                <a:solidFill>
                  <a:srgbClr val="FF0000"/>
                </a:solidFill>
                <a:sym typeface="+mn-ea"/>
              </a:rPr>
              <a:t>人员组织</a:t>
            </a:r>
          </a:p>
        </p:txBody>
      </p:sp>
      <p:sp>
        <p:nvSpPr>
          <p:cNvPr id="29" name="TextBox 6"/>
          <p:cNvSpPr txBox="1"/>
          <p:nvPr/>
        </p:nvSpPr>
        <p:spPr>
          <a:xfrm>
            <a:off x="78740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10.4.</a:t>
            </a:r>
            <a:r>
              <a:rPr sz="2400" dirty="0" smtClean="0">
                <a:solidFill>
                  <a:schemeClr val="tx1"/>
                </a:solidFill>
              </a:rPr>
              <a:t>3  用户</a:t>
            </a:r>
          </a:p>
        </p:txBody>
      </p:sp>
      <p:grpSp>
        <p:nvGrpSpPr>
          <p:cNvPr id="13" name="组合 12"/>
          <p:cNvGrpSpPr/>
          <p:nvPr/>
        </p:nvGrpSpPr>
        <p:grpSpPr>
          <a:xfrm>
            <a:off x="0" y="2247265"/>
            <a:ext cx="12192000" cy="1517015"/>
            <a:chOff x="0" y="3732"/>
            <a:chExt cx="19200" cy="2389"/>
          </a:xfrm>
        </p:grpSpPr>
        <p:cxnSp>
          <p:nvCxnSpPr>
            <p:cNvPr id="11" name="MH_Other_1"/>
            <p:cNvCxnSpPr/>
            <p:nvPr>
              <p:custDataLst>
                <p:tags r:id="rId1"/>
              </p:custDataLst>
            </p:nvPr>
          </p:nvCxnSpPr>
          <p:spPr>
            <a:xfrm>
              <a:off x="0" y="6121"/>
              <a:ext cx="19200" cy="0"/>
            </a:xfrm>
            <a:prstGeom prst="line">
              <a:avLst/>
            </a:prstGeom>
            <a:ln w="28575">
              <a:solidFill>
                <a:srgbClr val="DD6855"/>
              </a:solidFill>
            </a:ln>
          </p:spPr>
          <p:style>
            <a:lnRef idx="1">
              <a:schemeClr val="accent1"/>
            </a:lnRef>
            <a:fillRef idx="0">
              <a:schemeClr val="accent1"/>
            </a:fillRef>
            <a:effectRef idx="0">
              <a:schemeClr val="accent1"/>
            </a:effectRef>
            <a:fontRef idx="minor">
              <a:schemeClr val="tx1"/>
            </a:fontRef>
          </p:style>
        </p:cxnSp>
        <p:sp>
          <p:nvSpPr>
            <p:cNvPr id="12" name="MH_Text_1"/>
            <p:cNvSpPr/>
            <p:nvPr>
              <p:custDataLst>
                <p:tags r:id="rId2"/>
              </p:custDataLst>
            </p:nvPr>
          </p:nvSpPr>
          <p:spPr>
            <a:xfrm>
              <a:off x="2385" y="3732"/>
              <a:ext cx="15647" cy="2223"/>
            </a:xfrm>
            <a:prstGeom prst="rect">
              <a:avLst/>
            </a:prstGeom>
            <a:solidFill>
              <a:srgbClr val="DD6855"/>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90000" rIns="180000" bIns="90000" anchor="ctr">
              <a:normAutofit/>
            </a:bodyPr>
            <a:lstStyle/>
            <a:p>
              <a:pPr indent="457200" fontAlgn="auto">
                <a:lnSpc>
                  <a:spcPct val="130000"/>
                </a:lnSpc>
              </a:pPr>
              <a:r>
                <a:rPr dirty="0" smtClean="0">
                  <a:solidFill>
                    <a:schemeClr val="bg1"/>
                  </a:solidFill>
                  <a:latin typeface="微软雅黑" panose="020B0503020204020204" charset="-122"/>
                  <a:ea typeface="微软雅黑" panose="020B0503020204020204" charset="-122"/>
                </a:rPr>
                <a:t>软件是为用户开发的，在开发过程中必须自始至终得到用户的密切合作和支持。开发人员要特别注意与用户多沟通，了解用户的心理和动态，防止来自用户的各种干扰和阻力。其干扰和阻力主要有以下几种：</a:t>
              </a:r>
            </a:p>
          </p:txBody>
        </p:sp>
      </p:grpSp>
      <p:grpSp>
        <p:nvGrpSpPr>
          <p:cNvPr id="14" name="组合 13"/>
          <p:cNvGrpSpPr/>
          <p:nvPr/>
        </p:nvGrpSpPr>
        <p:grpSpPr>
          <a:xfrm>
            <a:off x="940435" y="4312920"/>
            <a:ext cx="10311372" cy="1303020"/>
            <a:chOff x="1188" y="3092"/>
            <a:chExt cx="15246" cy="2052"/>
          </a:xfrm>
        </p:grpSpPr>
        <p:grpSp>
          <p:nvGrpSpPr>
            <p:cNvPr id="28" name="组合 27"/>
            <p:cNvGrpSpPr/>
            <p:nvPr/>
          </p:nvGrpSpPr>
          <p:grpSpPr>
            <a:xfrm>
              <a:off x="1188" y="3092"/>
              <a:ext cx="6974" cy="930"/>
              <a:chOff x="508000" y="3196191"/>
              <a:chExt cx="4428470" cy="59055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1</a:t>
                </a:r>
              </a:p>
            </p:txBody>
          </p:sp>
          <p:cxnSp>
            <p:nvCxnSpPr>
              <p:cNvPr id="15" name="直接连接符 14"/>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6" name="矩形 15"/>
              <p:cNvSpPr>
                <a:spLocks noChangeArrowheads="1"/>
              </p:cNvSpPr>
              <p:nvPr/>
            </p:nvSpPr>
            <p:spPr bwMode="auto">
              <a:xfrm>
                <a:off x="960505" y="3291441"/>
                <a:ext cx="3975965"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不积极配合</a:t>
                </a:r>
              </a:p>
            </p:txBody>
          </p:sp>
        </p:grpSp>
        <p:sp>
          <p:nvSpPr>
            <p:cNvPr id="35" name="矩形 34"/>
            <p:cNvSpPr>
              <a:spLocks noChangeArrowheads="1"/>
            </p:cNvSpPr>
            <p:nvPr/>
          </p:nvSpPr>
          <p:spPr bwMode="auto">
            <a:xfrm>
              <a:off x="1893" y="3848"/>
              <a:ext cx="14541"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用户在行动上表现为消极、漠不关心或不配合。在需求分析阶段，做好这部分人的工作是很重要的，要通过他们中的业务骨干真正了解用户的要求。</a:t>
              </a:r>
            </a:p>
          </p:txBody>
        </p:sp>
      </p:grpSp>
    </p:spTree>
  </p:cSld>
  <p:clrMapOvr>
    <a:masterClrMapping/>
  </p:clrMapOvr>
  <p:transition>
    <p:wedge/>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olidFill>
                  <a:srgbClr val="FF0000"/>
                </a:solidFill>
                <a:sym typeface="+mn-ea"/>
              </a:rPr>
              <a:t>10</a:t>
            </a:r>
            <a:r>
              <a:rPr lang="en-US" dirty="0">
                <a:solidFill>
                  <a:srgbClr val="FF0000"/>
                </a:solidFill>
                <a:sym typeface="+mn-ea"/>
              </a:rPr>
              <a:t>.4  </a:t>
            </a:r>
            <a:r>
              <a:rPr lang="zh-CN" altLang="en-US">
                <a:solidFill>
                  <a:srgbClr val="FF0000"/>
                </a:solidFill>
                <a:sym typeface="+mn-ea"/>
              </a:rPr>
              <a:t>人员组织</a:t>
            </a: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10.4.</a:t>
            </a:r>
            <a:r>
              <a:rPr sz="2400" dirty="0" smtClean="0">
                <a:solidFill>
                  <a:schemeClr val="tx1"/>
                </a:solidFill>
              </a:rPr>
              <a:t>3  用户</a:t>
            </a:r>
          </a:p>
        </p:txBody>
      </p:sp>
      <p:grpSp>
        <p:nvGrpSpPr>
          <p:cNvPr id="14" name="组合 13"/>
          <p:cNvGrpSpPr/>
          <p:nvPr/>
        </p:nvGrpSpPr>
        <p:grpSpPr>
          <a:xfrm>
            <a:off x="1062990" y="2293620"/>
            <a:ext cx="10397266" cy="1303020"/>
            <a:chOff x="1188" y="3092"/>
            <a:chExt cx="15373" cy="2052"/>
          </a:xfrm>
        </p:grpSpPr>
        <p:grpSp>
          <p:nvGrpSpPr>
            <p:cNvPr id="28" name="组合 27"/>
            <p:cNvGrpSpPr/>
            <p:nvPr/>
          </p:nvGrpSpPr>
          <p:grpSpPr>
            <a:xfrm>
              <a:off x="1188" y="3092"/>
              <a:ext cx="6974" cy="930"/>
              <a:chOff x="508000" y="3196191"/>
              <a:chExt cx="4428470" cy="59055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2</a:t>
                </a:r>
              </a:p>
            </p:txBody>
          </p:sp>
          <p:cxnSp>
            <p:nvCxnSpPr>
              <p:cNvPr id="15" name="直接连接符 14"/>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6" name="矩形 15"/>
              <p:cNvSpPr>
                <a:spLocks noChangeArrowheads="1"/>
              </p:cNvSpPr>
              <p:nvPr/>
            </p:nvSpPr>
            <p:spPr bwMode="auto">
              <a:xfrm>
                <a:off x="960505" y="3291441"/>
                <a:ext cx="3975965"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求快求全</a:t>
                </a:r>
              </a:p>
            </p:txBody>
          </p:sp>
        </p:grpSp>
        <p:sp>
          <p:nvSpPr>
            <p:cNvPr id="35" name="矩形 34"/>
            <p:cNvSpPr>
              <a:spLocks noChangeArrowheads="1"/>
            </p:cNvSpPr>
            <p:nvPr/>
          </p:nvSpPr>
          <p:spPr bwMode="auto">
            <a:xfrm>
              <a:off x="1893" y="3848"/>
              <a:ext cx="14668"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用户中的部分人员急切希望马上就能用上计算机软件，应当让他们认识到开发一个软件项目不是一朝一夕就能完成的，软件工程不是靠人多就能加快速度的；同时还要让他们认识到软件系统不能贪大求全。</a:t>
              </a:r>
            </a:p>
          </p:txBody>
        </p:sp>
      </p:grpSp>
      <p:grpSp>
        <p:nvGrpSpPr>
          <p:cNvPr id="2" name="组合 1"/>
          <p:cNvGrpSpPr/>
          <p:nvPr/>
        </p:nvGrpSpPr>
        <p:grpSpPr>
          <a:xfrm>
            <a:off x="1062990" y="3766820"/>
            <a:ext cx="10458136" cy="2034540"/>
            <a:chOff x="1188" y="3092"/>
            <a:chExt cx="15463" cy="3204"/>
          </a:xfrm>
        </p:grpSpPr>
        <p:grpSp>
          <p:nvGrpSpPr>
            <p:cNvPr id="4" name="组合 3"/>
            <p:cNvGrpSpPr/>
            <p:nvPr/>
          </p:nvGrpSpPr>
          <p:grpSpPr>
            <a:xfrm>
              <a:off x="1188" y="3092"/>
              <a:ext cx="6974" cy="930"/>
              <a:chOff x="508000" y="3196191"/>
              <a:chExt cx="4428470" cy="590550"/>
            </a:xfrm>
          </p:grpSpPr>
          <p:sp>
            <p:nvSpPr>
              <p:cNvPr id="5"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3</a:t>
                </a: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nvSpPr>
            <p:spPr bwMode="auto">
              <a:xfrm>
                <a:off x="960505" y="3291441"/>
                <a:ext cx="3975965"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功能的变化</a:t>
                </a:r>
              </a:p>
            </p:txBody>
          </p:sp>
        </p:grpSp>
        <p:sp>
          <p:nvSpPr>
            <p:cNvPr id="8" name="矩形 7"/>
            <p:cNvSpPr>
              <a:spLocks noChangeArrowheads="1"/>
            </p:cNvSpPr>
            <p:nvPr/>
          </p:nvSpPr>
          <p:spPr bwMode="auto">
            <a:xfrm>
              <a:off x="1893" y="3848"/>
              <a:ext cx="14758" cy="24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在软件开发过程中，用户可能会不断提出新的要求和修改以前提出的要求。从软件工程的角度讲，不希望有这种变化。但实际上，不允许用户变更所提出的要求是不可能的。因为每个人对事物的认识要有个过程，不可能一下子提出全面的、正确的要求。对来自用户的这种变化要正确对待，要向用户解释软件工程的规律，并在可能的条件下，部分或有条件地满足用户的合理要求。</a:t>
              </a:r>
            </a:p>
          </p:txBody>
        </p:sp>
      </p:grpSp>
    </p:spTree>
  </p:cSld>
  <p:clrMapOvr>
    <a:masterClrMapping/>
  </p:clrMapOvr>
  <p:transition>
    <p:wedg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5</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软件配置管理</a:t>
            </a:r>
          </a:p>
        </p:txBody>
      </p:sp>
      <p:grpSp>
        <p:nvGrpSpPr>
          <p:cNvPr id="11" name="组合 10"/>
          <p:cNvGrpSpPr/>
          <p:nvPr/>
        </p:nvGrpSpPr>
        <p:grpSpPr>
          <a:xfrm>
            <a:off x="6718935" y="4224020"/>
            <a:ext cx="3712845" cy="913130"/>
            <a:chOff x="9459" y="7137"/>
            <a:chExt cx="5847" cy="143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标识变更</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控制变更</a:t>
              </a:r>
            </a:p>
          </p:txBody>
        </p:sp>
      </p:grpSp>
      <p:grpSp>
        <p:nvGrpSpPr>
          <p:cNvPr id="3" name="组合 2"/>
          <p:cNvGrpSpPr/>
          <p:nvPr/>
        </p:nvGrpSpPr>
        <p:grpSpPr>
          <a:xfrm>
            <a:off x="6718935" y="5229860"/>
            <a:ext cx="3712845" cy="913130"/>
            <a:chOff x="9459" y="7137"/>
            <a:chExt cx="5847" cy="1438"/>
          </a:xfrm>
        </p:grpSpPr>
        <p:sp>
          <p:nvSpPr>
            <p:cNvPr id="5" name="文本框 4"/>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配置审计</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配置状态报告</a:t>
              </a:r>
            </a:p>
          </p:txBody>
        </p:sp>
      </p:grpSp>
    </p:spTree>
  </p:cSld>
  <p:clrMapOvr>
    <a:masterClrMapping/>
  </p:clrMapOvr>
  <p:transition spd="slow">
    <p:wipe/>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2185061"/>
            <a:ext cx="12192000" cy="3301340"/>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p:txBody>
          <a:bodyPr/>
          <a:lstStyle/>
          <a:p>
            <a:r>
              <a:rPr lang="en-US" altLang="zh-CN" dirty="0" smtClean="0">
                <a:solidFill>
                  <a:srgbClr val="FF0000"/>
                </a:solidFill>
                <a:sym typeface="+mn-ea"/>
              </a:rPr>
              <a:t>10.5  </a:t>
            </a:r>
            <a:r>
              <a:rPr lang="zh-CN" altLang="en-US" dirty="0" smtClean="0">
                <a:solidFill>
                  <a:srgbClr val="FF0000"/>
                </a:solidFill>
                <a:sym typeface="+mn-ea"/>
              </a:rPr>
              <a:t>软件配置管理</a:t>
            </a:r>
            <a:br>
              <a:rPr lang="zh-CN" altLang="en-US" dirty="0" smtClean="0">
                <a:solidFill>
                  <a:srgbClr val="FF0000"/>
                </a:solidFill>
                <a:sym typeface="+mn-ea"/>
              </a:rPr>
            </a:br>
            <a:endParaRPr lang="zh-CN" altLang="en-US" dirty="0">
              <a:solidFill>
                <a:srgbClr val="FF0000"/>
              </a:solidFill>
              <a:sym typeface="+mn-ea"/>
            </a:endParaRPr>
          </a:p>
        </p:txBody>
      </p:sp>
      <p:pic>
        <p:nvPicPr>
          <p:cNvPr id="2" name="图片 1" descr="A000220150319F73PPIC"/>
          <p:cNvPicPr>
            <a:picLocks noChangeAspect="1"/>
          </p:cNvPicPr>
          <p:nvPr/>
        </p:nvPicPr>
        <p:blipFill>
          <a:blip r:embed="rId3" cstate="print"/>
          <a:stretch>
            <a:fillRect/>
          </a:stretch>
        </p:blipFill>
        <p:spPr>
          <a:xfrm>
            <a:off x="6807272" y="2149248"/>
            <a:ext cx="5184775" cy="3079750"/>
          </a:xfrm>
          <a:prstGeom prst="rect">
            <a:avLst/>
          </a:prstGeom>
        </p:spPr>
      </p:pic>
      <p:sp>
        <p:nvSpPr>
          <p:cNvPr id="100" name="文本框 99"/>
          <p:cNvSpPr txBox="1"/>
          <p:nvPr/>
        </p:nvSpPr>
        <p:spPr>
          <a:xfrm>
            <a:off x="607372" y="2497353"/>
            <a:ext cx="6114062" cy="2758202"/>
          </a:xfrm>
          <a:prstGeom prst="roundRect">
            <a:avLst/>
          </a:prstGeom>
          <a:noFill/>
          <a:ln w="9525">
            <a:noFill/>
            <a:prstDash val="sysDot"/>
          </a:ln>
        </p:spPr>
        <p:txBody>
          <a:bodyPr wrap="square">
            <a:spAutoFit/>
          </a:bodyPr>
          <a:lstStyle/>
          <a:p>
            <a:pPr marL="0" indent="457200" algn="l" fontAlgn="auto">
              <a:lnSpc>
                <a:spcPct val="130000"/>
              </a:lnSpc>
            </a:pPr>
            <a:r>
              <a:rPr lang="zh-CN" altLang="en-US" sz="2000" b="0" u="none" dirty="0">
                <a:solidFill>
                  <a:schemeClr val="bg1"/>
                </a:solidFill>
                <a:latin typeface="微软雅黑" panose="020B0503020204020204" charset="-122"/>
                <a:ea typeface="微软雅黑" panose="020B0503020204020204" charset="-122"/>
                <a:cs typeface="宋体" panose="02010600030101010101" pitchFamily="2" charset="-122"/>
              </a:rPr>
              <a:t>在计算机软件开发过程中，软件变更是不可避免的。如果不能适当地控制和管理变更，势必造成混乱并产生许多严重的错误。</a:t>
            </a:r>
          </a:p>
          <a:p>
            <a:pPr marL="0" indent="457200" algn="l" fontAlgn="auto">
              <a:lnSpc>
                <a:spcPct val="130000"/>
              </a:lnSpc>
            </a:pPr>
            <a:r>
              <a:rPr lang="zh-CN" altLang="en-US" sz="2000" b="1" u="none" dirty="0">
                <a:solidFill>
                  <a:schemeClr val="bg1"/>
                </a:solidFill>
                <a:latin typeface="微软雅黑" panose="020B0503020204020204" charset="-122"/>
                <a:ea typeface="微软雅黑" panose="020B0503020204020204" charset="-122"/>
                <a:cs typeface="宋体" panose="02010600030101010101" pitchFamily="2" charset="-122"/>
              </a:rPr>
              <a:t>软件配置</a:t>
            </a:r>
            <a:r>
              <a:rPr lang="zh-CN" altLang="en-US" sz="2000" b="0" u="none" dirty="0">
                <a:solidFill>
                  <a:schemeClr val="bg1"/>
                </a:solidFill>
                <a:latin typeface="微软雅黑" panose="020B0503020204020204" charset="-122"/>
                <a:ea typeface="微软雅黑" panose="020B0503020204020204" charset="-122"/>
                <a:cs typeface="宋体" panose="02010600030101010101" pitchFamily="2" charset="-122"/>
              </a:rPr>
              <a:t>（Software Configuration）是软件产品在软件开发或运行过程中产生的全部信息。这些信息随着软件开发运行工作的进展而不断变更。</a:t>
            </a:r>
          </a:p>
        </p:txBody>
      </p:sp>
    </p:spTree>
  </p:cSld>
  <p:clrMapOvr>
    <a:masterClrMapping/>
  </p:clrMapOvr>
  <p:transition>
    <p:pull dir="rd"/>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10.5  </a:t>
            </a:r>
            <a:r>
              <a:rPr lang="zh-CN" altLang="en-US" dirty="0" smtClean="0">
                <a:solidFill>
                  <a:srgbClr val="FF0000"/>
                </a:solidFill>
                <a:sym typeface="+mn-ea"/>
              </a:rPr>
              <a:t>软件配置管理</a:t>
            </a:r>
            <a:endParaRPr lang="zh-CN" altLang="en-US" dirty="0">
              <a:solidFill>
                <a:srgbClr val="FF0000"/>
              </a:solidFill>
            </a:endParaRPr>
          </a:p>
        </p:txBody>
      </p:sp>
      <p:grpSp>
        <p:nvGrpSpPr>
          <p:cNvPr id="2" name="组合 1"/>
          <p:cNvGrpSpPr/>
          <p:nvPr/>
        </p:nvGrpSpPr>
        <p:grpSpPr>
          <a:xfrm>
            <a:off x="754380" y="2155901"/>
            <a:ext cx="6268720" cy="819150"/>
            <a:chOff x="1145" y="3666"/>
            <a:chExt cx="9872" cy="1290"/>
          </a:xfrm>
        </p:grpSpPr>
        <p:sp>
          <p:nvSpPr>
            <p:cNvPr id="7" name="Oval 5"/>
            <p:cNvSpPr/>
            <p:nvPr/>
          </p:nvSpPr>
          <p:spPr>
            <a:xfrm>
              <a:off x="1145" y="3736"/>
              <a:ext cx="1223" cy="1220"/>
            </a:xfrm>
            <a:prstGeom prst="ellipse">
              <a:avLst/>
            </a:prstGeom>
            <a:solidFill>
              <a:srgbClr val="58BDA8"/>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9" name="Freeform 7"/>
            <p:cNvSpPr>
              <a:spLocks noEditPoints="1"/>
            </p:cNvSpPr>
            <p:nvPr/>
          </p:nvSpPr>
          <p:spPr bwMode="auto">
            <a:xfrm>
              <a:off x="1437" y="4026"/>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sp>
          <p:nvSpPr>
            <p:cNvPr id="18" name="矩形 17"/>
            <p:cNvSpPr/>
            <p:nvPr/>
          </p:nvSpPr>
          <p:spPr>
            <a:xfrm>
              <a:off x="2562" y="4350"/>
              <a:ext cx="8455" cy="60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文档、计算机程序单元、文字材料及测试结果等。</a:t>
              </a:r>
            </a:p>
          </p:txBody>
        </p:sp>
        <p:sp>
          <p:nvSpPr>
            <p:cNvPr id="35857" name="文本框 18"/>
            <p:cNvSpPr txBox="1"/>
            <p:nvPr/>
          </p:nvSpPr>
          <p:spPr>
            <a:xfrm>
              <a:off x="2562" y="3666"/>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机器不可执行形式</a:t>
              </a:r>
            </a:p>
          </p:txBody>
        </p:sp>
      </p:grpSp>
      <p:grpSp>
        <p:nvGrpSpPr>
          <p:cNvPr id="12" name="组合 11"/>
          <p:cNvGrpSpPr/>
          <p:nvPr/>
        </p:nvGrpSpPr>
        <p:grpSpPr>
          <a:xfrm>
            <a:off x="754380" y="4785436"/>
            <a:ext cx="5826125" cy="813435"/>
            <a:chOff x="6622" y="7984"/>
            <a:chExt cx="9175" cy="1281"/>
          </a:xfrm>
        </p:grpSpPr>
        <p:grpSp>
          <p:nvGrpSpPr>
            <p:cNvPr id="15" name="组合 14"/>
            <p:cNvGrpSpPr/>
            <p:nvPr/>
          </p:nvGrpSpPr>
          <p:grpSpPr>
            <a:xfrm>
              <a:off x="6622" y="7984"/>
              <a:ext cx="9175" cy="1281"/>
              <a:chOff x="1145" y="5803"/>
              <a:chExt cx="9175" cy="1281"/>
            </a:xfrm>
          </p:grpSpPr>
          <p:sp>
            <p:nvSpPr>
              <p:cNvPr id="10" name="Oval 21"/>
              <p:cNvSpPr/>
              <p:nvPr/>
            </p:nvSpPr>
            <p:spPr>
              <a:xfrm>
                <a:off x="1145" y="5861"/>
                <a:ext cx="1223" cy="1223"/>
              </a:xfrm>
              <a:prstGeom prst="ellipse">
                <a:avLst/>
              </a:prstGeom>
              <a:solidFill>
                <a:srgbClr val="EF4150"/>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20" name="矩形 19"/>
              <p:cNvSpPr/>
              <p:nvPr/>
            </p:nvSpPr>
            <p:spPr>
              <a:xfrm>
                <a:off x="2562" y="6478"/>
                <a:ext cx="7758" cy="60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程序内包含的数据或程序外的数据。</a:t>
                </a:r>
              </a:p>
            </p:txBody>
          </p:sp>
          <p:sp>
            <p:nvSpPr>
              <p:cNvPr id="35859" name="文本框 20"/>
              <p:cNvSpPr txBox="1"/>
              <p:nvPr/>
            </p:nvSpPr>
            <p:spPr>
              <a:xfrm>
                <a:off x="2562" y="5803"/>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数据</a:t>
                </a:r>
              </a:p>
            </p:txBody>
          </p:sp>
        </p:grpSp>
        <p:sp>
          <p:nvSpPr>
            <p:cNvPr id="4" name="Freeform 7"/>
            <p:cNvSpPr>
              <a:spLocks noEditPoints="1"/>
            </p:cNvSpPr>
            <p:nvPr/>
          </p:nvSpPr>
          <p:spPr bwMode="auto">
            <a:xfrm>
              <a:off x="6915" y="8333"/>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grpSp>
      <p:grpSp>
        <p:nvGrpSpPr>
          <p:cNvPr id="11" name="组合 10"/>
          <p:cNvGrpSpPr/>
          <p:nvPr/>
        </p:nvGrpSpPr>
        <p:grpSpPr>
          <a:xfrm>
            <a:off x="754380" y="3423996"/>
            <a:ext cx="6268720" cy="820420"/>
            <a:chOff x="10037" y="3658"/>
            <a:chExt cx="9872" cy="1292"/>
          </a:xfrm>
        </p:grpSpPr>
        <p:sp>
          <p:nvSpPr>
            <p:cNvPr id="16" name="Oval 26"/>
            <p:cNvSpPr/>
            <p:nvPr/>
          </p:nvSpPr>
          <p:spPr>
            <a:xfrm>
              <a:off x="10037" y="3727"/>
              <a:ext cx="1223" cy="1223"/>
            </a:xfrm>
            <a:prstGeom prst="ellipse">
              <a:avLst/>
            </a:prstGeom>
            <a:solidFill>
              <a:schemeClr val="accent2"/>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24" name="矩形 23"/>
            <p:cNvSpPr/>
            <p:nvPr/>
          </p:nvSpPr>
          <p:spPr>
            <a:xfrm>
              <a:off x="11427" y="4344"/>
              <a:ext cx="8482" cy="60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机器可读代码及存储在机器可读介质上的数据库。</a:t>
              </a:r>
            </a:p>
          </p:txBody>
        </p:sp>
        <p:sp>
          <p:nvSpPr>
            <p:cNvPr id="35863" name="文本框 24"/>
            <p:cNvSpPr txBox="1"/>
            <p:nvPr/>
          </p:nvSpPr>
          <p:spPr>
            <a:xfrm>
              <a:off x="11427" y="3658"/>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机器可执行形式</a:t>
              </a:r>
            </a:p>
          </p:txBody>
        </p:sp>
        <p:sp>
          <p:nvSpPr>
            <p:cNvPr id="8" name="Freeform 7"/>
            <p:cNvSpPr>
              <a:spLocks noEditPoints="1"/>
            </p:cNvSpPr>
            <p:nvPr/>
          </p:nvSpPr>
          <p:spPr bwMode="auto">
            <a:xfrm>
              <a:off x="10330" y="4018"/>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grpSp>
      <p:sp>
        <p:nvSpPr>
          <p:cNvPr id="100" name="文本框 99"/>
          <p:cNvSpPr txBox="1"/>
          <p:nvPr/>
        </p:nvSpPr>
        <p:spPr>
          <a:xfrm>
            <a:off x="6896272" y="1880146"/>
            <a:ext cx="4697730" cy="3820620"/>
          </a:xfrm>
          <a:prstGeom prst="roundRect">
            <a:avLst/>
          </a:prstGeom>
          <a:noFill/>
          <a:ln w="9525">
            <a:solidFill>
              <a:schemeClr val="accent2"/>
            </a:solidFill>
            <a:prstDash val="sysDot"/>
          </a:ln>
        </p:spPr>
        <p:txBody>
          <a:bodyPr wrap="square">
            <a:spAutoFit/>
          </a:bodyPr>
          <a:lstStyle/>
          <a:p>
            <a:pPr marL="0" indent="457200" algn="l" fontAlgn="auto">
              <a:lnSpc>
                <a:spcPct val="130000"/>
              </a:lnSpc>
            </a:pPr>
            <a:r>
              <a:rPr lang="zh-CN" altLang="en-US" sz="2400" b="0" u="none" dirty="0" smtClean="0">
                <a:latin typeface="微软雅黑" panose="020B0503020204020204" charset="-122"/>
                <a:ea typeface="微软雅黑" panose="020B0503020204020204" charset="-122"/>
                <a:cs typeface="宋体" panose="02010600030101010101" pitchFamily="2" charset="-122"/>
              </a:rPr>
              <a:t>大部分</a:t>
            </a:r>
            <a:r>
              <a:rPr lang="zh-CN" altLang="en-US" sz="2400" b="0" u="none" dirty="0">
                <a:latin typeface="微软雅黑" panose="020B0503020204020204" charset="-122"/>
                <a:ea typeface="微软雅黑" panose="020B0503020204020204" charset="-122"/>
                <a:cs typeface="宋体" panose="02010600030101010101" pitchFamily="2" charset="-122"/>
              </a:rPr>
              <a:t>软件配置都是文字材料，其中有定义阶段和开发阶段为软件开发人员内部使用而写的文档，开发阶段为用户写的技术资料或手册，还有供维护阶段使用的内部参考材料，如测试结果等。</a:t>
            </a:r>
          </a:p>
        </p:txBody>
      </p:sp>
      <p:sp>
        <p:nvSpPr>
          <p:cNvPr id="21" name="文本框 99"/>
          <p:cNvSpPr txBox="1"/>
          <p:nvPr/>
        </p:nvSpPr>
        <p:spPr>
          <a:xfrm>
            <a:off x="374741" y="1343777"/>
            <a:ext cx="10669311" cy="415788"/>
          </a:xfrm>
          <a:prstGeom prst="roundRect">
            <a:avLst/>
          </a:prstGeom>
          <a:noFill/>
          <a:ln w="9525">
            <a:noFill/>
            <a:prstDash val="sysDot"/>
          </a:ln>
        </p:spPr>
        <p:txBody>
          <a:bodyPr wrap="square">
            <a:spAutoFit/>
          </a:bodyPr>
          <a:lstStyle/>
          <a:p>
            <a:pPr marL="0" indent="0" algn="l" fontAlgn="auto">
              <a:lnSpc>
                <a:spcPct val="110000"/>
              </a:lnSpc>
            </a:pPr>
            <a:r>
              <a:rPr lang="en-US" dirty="0">
                <a:latin typeface="微软雅黑" panose="020B0503020204020204" charset="-122"/>
                <a:ea typeface="微软雅黑" panose="020B0503020204020204" charset="-122"/>
                <a:sym typeface="+mn-ea"/>
              </a:rPr>
              <a:t>       </a:t>
            </a:r>
            <a:r>
              <a:rPr dirty="0">
                <a:latin typeface="微软雅黑" panose="020B0503020204020204" charset="-122"/>
                <a:ea typeface="微软雅黑" panose="020B0503020204020204" charset="-122"/>
                <a:sym typeface="+mn-ea"/>
              </a:rPr>
              <a:t>软件过程中产生的全部信息，</a:t>
            </a:r>
            <a:r>
              <a:rPr dirty="0" smtClean="0">
                <a:latin typeface="微软雅黑" panose="020B0503020204020204" charset="-122"/>
                <a:ea typeface="微软雅黑" panose="020B0503020204020204" charset="-122"/>
                <a:sym typeface="+mn-ea"/>
              </a:rPr>
              <a:t>可以分为</a:t>
            </a:r>
            <a:r>
              <a:rPr dirty="0">
                <a:latin typeface="微软雅黑" panose="020B0503020204020204" charset="-122"/>
                <a:ea typeface="微软雅黑" panose="020B0503020204020204" charset="-122"/>
                <a:sym typeface="+mn-ea"/>
              </a:rPr>
              <a:t>3类</a:t>
            </a:r>
            <a:r>
              <a:rPr dirty="0" smtClean="0">
                <a:latin typeface="微软雅黑" panose="020B0503020204020204" charset="-122"/>
                <a:ea typeface="微软雅黑" panose="020B0503020204020204" charset="-122"/>
                <a:sym typeface="+mn-ea"/>
              </a:rPr>
              <a:t>。</a:t>
            </a:r>
            <a:endParaRPr lang="zh-CN" altLang="en-US" b="0" u="none" dirty="0">
              <a:latin typeface="微软雅黑" panose="020B0503020204020204" charset="-122"/>
              <a:ea typeface="微软雅黑" panose="020B0503020204020204" charset="-122"/>
              <a:cs typeface="宋体" panose="02010600030101010101" pitchFamily="2" charset="-122"/>
            </a:endParaRP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to="" calcmode="lin" valueType="num">
                                      <p:cBhvr>
                                        <p:cTn id="12" dur="1" fill="hold"/>
                                        <p:tgtEl>
                                          <p:spTgt spid="11"/>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 to="" calcmode="lin" valueType="num">
                                      <p:cBhvr>
                                        <p:cTn id="17" dur="1" fill="hold"/>
                                        <p:tgtEl>
                                          <p:spTgt spid="12"/>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10.5  </a:t>
            </a:r>
            <a:r>
              <a:rPr lang="zh-CN" altLang="en-US" dirty="0" smtClean="0">
                <a:solidFill>
                  <a:srgbClr val="FF0000"/>
                </a:solidFill>
                <a:sym typeface="+mn-ea"/>
              </a:rPr>
              <a:t>软件配置管理</a:t>
            </a:r>
            <a:endParaRPr lang="zh-CN" altLang="en-US" dirty="0">
              <a:solidFill>
                <a:srgbClr val="FF0000"/>
              </a:solidFill>
            </a:endParaRPr>
          </a:p>
        </p:txBody>
      </p:sp>
      <p:sp>
        <p:nvSpPr>
          <p:cNvPr id="4" name="矩形 3"/>
          <p:cNvSpPr/>
          <p:nvPr/>
        </p:nvSpPr>
        <p:spPr>
          <a:xfrm>
            <a:off x="0" y="2396358"/>
            <a:ext cx="12192000" cy="3149419"/>
          </a:xfrm>
          <a:prstGeom prst="rect">
            <a:avLst/>
          </a:prstGeom>
          <a:solidFill>
            <a:schemeClr val="accent3">
              <a:lumMod val="75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27050" y="2598420"/>
            <a:ext cx="7533640" cy="2862322"/>
          </a:xfrm>
          <a:prstGeom prst="rect">
            <a:avLst/>
          </a:prstGeom>
        </p:spPr>
        <p:txBody>
          <a:bodyPr wrap="square">
            <a:spAutoFit/>
          </a:bodyPr>
          <a:lstStyle/>
          <a:p>
            <a:pPr indent="457200" fontAlgn="auto">
              <a:lnSpc>
                <a:spcPct val="150000"/>
              </a:lnSpc>
            </a:pPr>
            <a:r>
              <a:rPr lang="zh-CN" altLang="en-US" sz="2000" b="1" dirty="0" smtClean="0">
                <a:solidFill>
                  <a:srgbClr val="FFFF00"/>
                </a:solidFill>
                <a:latin typeface="+mn-ea"/>
              </a:rPr>
              <a:t>软件配置管理（Software Configuration Management，SCM）是在软件的整个生存周期内管理变更的一组活动。</a:t>
            </a:r>
            <a:r>
              <a:rPr lang="zh-CN" altLang="en-US" sz="2000" dirty="0" smtClean="0">
                <a:solidFill>
                  <a:schemeClr val="bg1"/>
                </a:solidFill>
                <a:latin typeface="+mn-ea"/>
              </a:rPr>
              <a:t>软件配置与软件维护不同。软件维护是在软件交付给用户使用以后，根据用户的需要修改软件。软件配置管理是在软件项目定义时就开始，一直到软件退役后才停止的控制活动。软件配置管理的目的是使软件变更所产生的错误达到最少，从而有效地提高软件生产率。</a:t>
            </a:r>
          </a:p>
        </p:txBody>
      </p:sp>
      <p:grpSp>
        <p:nvGrpSpPr>
          <p:cNvPr id="15" name="组合 14"/>
          <p:cNvGrpSpPr/>
          <p:nvPr/>
        </p:nvGrpSpPr>
        <p:grpSpPr>
          <a:xfrm>
            <a:off x="8527680" y="1397847"/>
            <a:ext cx="2870791" cy="4403864"/>
            <a:chOff x="1512023" y="798757"/>
            <a:chExt cx="3849385" cy="5378884"/>
          </a:xfrm>
        </p:grpSpPr>
        <p:sp>
          <p:nvSpPr>
            <p:cNvPr id="16" name="MH_Picture_1"/>
            <p:cNvSpPr/>
            <p:nvPr>
              <p:custDataLst>
                <p:tags r:id="rId1"/>
              </p:custDataLst>
            </p:nvPr>
          </p:nvSpPr>
          <p:spPr>
            <a:xfrm>
              <a:off x="1891766" y="798757"/>
              <a:ext cx="3244175" cy="2433130"/>
            </a:xfrm>
            <a:prstGeom prst="ellipse">
              <a:avLst/>
            </a:prstGeom>
            <a:blipFill dpi="0" rotWithShape="1">
              <a:blip r:embed="rId7" cstate="print"/>
              <a:srcRect/>
              <a:stretch>
                <a:fillRect/>
              </a:stretch>
            </a:blipFill>
            <a:ln w="25400" cap="flat" cmpd="sng" algn="ctr">
              <a:solidFill>
                <a:sysClr val="window" lastClr="FFFFFF">
                  <a:lumMod val="95000"/>
                </a:sys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smtClean="0">
                <a:ln>
                  <a:noFill/>
                </a:ln>
                <a:solidFill>
                  <a:sysClr val="window" lastClr="FFFFFF"/>
                </a:solidFill>
                <a:effectLst/>
                <a:uLnTx/>
                <a:uFillTx/>
                <a:latin typeface="Calibri" panose="020F0502020204030204"/>
                <a:ea typeface="+mn-ea"/>
                <a:cs typeface="+mn-cs"/>
              </a:endParaRPr>
            </a:p>
          </p:txBody>
        </p:sp>
        <p:sp>
          <p:nvSpPr>
            <p:cNvPr id="17" name="MH_Picture_2"/>
            <p:cNvSpPr/>
            <p:nvPr>
              <p:custDataLst>
                <p:tags r:id="rId2"/>
              </p:custDataLst>
            </p:nvPr>
          </p:nvSpPr>
          <p:spPr>
            <a:xfrm>
              <a:off x="1512023" y="2739752"/>
              <a:ext cx="2687517" cy="2015638"/>
            </a:xfrm>
            <a:prstGeom prst="ellipse">
              <a:avLst/>
            </a:prstGeom>
            <a:blipFill dpi="0" rotWithShape="1">
              <a:blip r:embed="rId8" cstate="print"/>
              <a:srcRect/>
              <a:stretch>
                <a:fillRect/>
              </a:stretch>
            </a:blipFill>
            <a:ln w="25400" cap="flat" cmpd="sng" algn="ctr">
              <a:solidFill>
                <a:sysClr val="window" lastClr="FFFFFF">
                  <a:lumMod val="95000"/>
                </a:sys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smtClean="0">
                <a:ln>
                  <a:noFill/>
                </a:ln>
                <a:solidFill>
                  <a:sysClr val="window" lastClr="FFFFFF"/>
                </a:solidFill>
                <a:effectLst/>
                <a:uLnTx/>
                <a:uFillTx/>
                <a:latin typeface="Calibri" panose="020F0502020204030204"/>
                <a:ea typeface="+mn-ea"/>
                <a:cs typeface="+mn-cs"/>
              </a:endParaRPr>
            </a:p>
          </p:txBody>
        </p:sp>
        <p:sp>
          <p:nvSpPr>
            <p:cNvPr id="18" name="MH_Picture_3"/>
            <p:cNvSpPr/>
            <p:nvPr>
              <p:custDataLst>
                <p:tags r:id="rId3"/>
              </p:custDataLst>
            </p:nvPr>
          </p:nvSpPr>
          <p:spPr>
            <a:xfrm>
              <a:off x="3393049" y="4072548"/>
              <a:ext cx="1968359" cy="1476270"/>
            </a:xfrm>
            <a:prstGeom prst="ellipse">
              <a:avLst/>
            </a:prstGeom>
            <a:blipFill dpi="0" rotWithShape="1">
              <a:blip r:embed="rId9" cstate="print"/>
              <a:srcRect/>
              <a:stretch>
                <a:fillRect/>
              </a:stretch>
            </a:blipFill>
            <a:ln w="25400" cap="flat" cmpd="sng" algn="ctr">
              <a:solidFill>
                <a:sysClr val="window" lastClr="FFFFFF">
                  <a:lumMod val="95000"/>
                </a:sys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smtClean="0">
                <a:ln>
                  <a:noFill/>
                </a:ln>
                <a:solidFill>
                  <a:sysClr val="window" lastClr="FFFFFF"/>
                </a:solidFill>
                <a:effectLst/>
                <a:uLnTx/>
                <a:uFillTx/>
                <a:latin typeface="Calibri" panose="020F0502020204030204"/>
                <a:ea typeface="+mn-ea"/>
                <a:cs typeface="+mn-cs"/>
              </a:endParaRPr>
            </a:p>
          </p:txBody>
        </p:sp>
        <p:sp>
          <p:nvSpPr>
            <p:cNvPr id="19" name="MH_Picture_4"/>
            <p:cNvSpPr/>
            <p:nvPr>
              <p:custDataLst>
                <p:tags r:id="rId4"/>
              </p:custDataLst>
            </p:nvPr>
          </p:nvSpPr>
          <p:spPr>
            <a:xfrm>
              <a:off x="2812931" y="5143326"/>
              <a:ext cx="1379085" cy="1034315"/>
            </a:xfrm>
            <a:prstGeom prst="ellipse">
              <a:avLst/>
            </a:prstGeom>
            <a:blipFill dpi="0" rotWithShape="1">
              <a:blip r:embed="rId10" cstate="print"/>
              <a:srcRect/>
              <a:stretch>
                <a:fillRect/>
              </a:stretch>
            </a:blipFill>
            <a:ln w="25400" cap="flat" cmpd="sng" algn="ctr">
              <a:solidFill>
                <a:sysClr val="window" lastClr="FFFFFF">
                  <a:lumMod val="95000"/>
                </a:sys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smtClean="0">
                <a:ln>
                  <a:noFill/>
                </a:ln>
                <a:solidFill>
                  <a:sysClr val="window" lastClr="FFFFFF"/>
                </a:solidFill>
                <a:effectLst/>
                <a:uLnTx/>
                <a:uFillTx/>
                <a:latin typeface="Calibri" panose="020F0502020204030204"/>
                <a:ea typeface="+mn-ea"/>
                <a:cs typeface="+mn-cs"/>
              </a:endParaRPr>
            </a:p>
          </p:txBody>
        </p:sp>
      </p:grpSp>
    </p:spTree>
  </p:cSld>
  <p:clrMapOvr>
    <a:masterClrMapping/>
  </p:clrMapOvr>
  <p:transition>
    <p:pull dir="rd"/>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10.5  </a:t>
            </a:r>
            <a:r>
              <a:rPr lang="zh-CN" altLang="en-US" dirty="0" smtClean="0">
                <a:solidFill>
                  <a:srgbClr val="FF0000"/>
                </a:solidFill>
                <a:sym typeface="+mn-ea"/>
              </a:rPr>
              <a:t>软件配置管理</a:t>
            </a:r>
            <a:endParaRPr lang="zh-CN" altLang="en-US" dirty="0">
              <a:solidFill>
                <a:srgbClr val="FF0000"/>
              </a:solidFill>
            </a:endParaRPr>
          </a:p>
        </p:txBody>
      </p:sp>
      <p:grpSp>
        <p:nvGrpSpPr>
          <p:cNvPr id="9" name="组合 8"/>
          <p:cNvGrpSpPr/>
          <p:nvPr/>
        </p:nvGrpSpPr>
        <p:grpSpPr>
          <a:xfrm>
            <a:off x="1543792" y="1603169"/>
            <a:ext cx="9310254" cy="4144488"/>
            <a:chOff x="1192" y="3455"/>
            <a:chExt cx="12830" cy="4797"/>
          </a:xfrm>
        </p:grpSpPr>
        <p:grpSp>
          <p:nvGrpSpPr>
            <p:cNvPr id="10" name="组合 9"/>
            <p:cNvGrpSpPr/>
            <p:nvPr/>
          </p:nvGrpSpPr>
          <p:grpSpPr>
            <a:xfrm>
              <a:off x="3880" y="3455"/>
              <a:ext cx="10142" cy="932"/>
              <a:chOff x="2579663" y="2103762"/>
              <a:chExt cx="6440375" cy="591820"/>
            </a:xfrm>
          </p:grpSpPr>
          <p:sp>
            <p:nvSpPr>
              <p:cNvPr id="11" name="MH_Other_5"/>
              <p:cNvSpPr>
                <a:spLocks noChangeShapeType="1"/>
              </p:cNvSpPr>
              <p:nvPr>
                <p:custDataLst>
                  <p:tags r:id="rId12"/>
                </p:custDataLst>
              </p:nvPr>
            </p:nvSpPr>
            <p:spPr bwMode="black">
              <a:xfrm flipV="1">
                <a:off x="2579663" y="2654942"/>
                <a:ext cx="6440375" cy="40640"/>
              </a:xfrm>
              <a:prstGeom prst="line">
                <a:avLst/>
              </a:prstGeom>
              <a:noFill/>
              <a:ln w="9525">
                <a:solidFill>
                  <a:srgbClr val="BCBCBC"/>
                </a:solidFill>
                <a:prstDash val="dash"/>
                <a:round/>
                <a:tailEnd type="oval"/>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292929"/>
                      </a:outerShdw>
                    </a:effectLst>
                  </a14:hiddenEffects>
                </a:ext>
              </a:extLst>
            </p:spPr>
            <p:txBody>
              <a:bodyPr wrap="none" anchor="ctr"/>
              <a:lstStyle/>
              <a:p>
                <a:pPr eaLnBrk="1" fontAlgn="auto" hangingPunct="1">
                  <a:spcBef>
                    <a:spcPts val="0"/>
                  </a:spcBef>
                  <a:spcAft>
                    <a:spcPts val="0"/>
                  </a:spcAft>
                  <a:defRPr/>
                </a:pPr>
                <a:endParaRPr lang="zh-CN" altLang="en-US" sz="1350" b="1">
                  <a:solidFill>
                    <a:srgbClr val="002060"/>
                  </a:solidFill>
                  <a:latin typeface="微软雅黑" panose="020B0503020204020204" charset="-122"/>
                  <a:ea typeface="微软雅黑" panose="020B0503020204020204" charset="-122"/>
                </a:endParaRPr>
              </a:p>
            </p:txBody>
          </p:sp>
          <p:sp>
            <p:nvSpPr>
              <p:cNvPr id="12" name="MH_SubTitle_1"/>
              <p:cNvSpPr txBox="1">
                <a:spLocks noChangeArrowheads="1"/>
              </p:cNvSpPr>
              <p:nvPr>
                <p:custDataLst>
                  <p:tags r:id="rId13"/>
                </p:custDataLst>
              </p:nvPr>
            </p:nvSpPr>
            <p:spPr bwMode="auto">
              <a:xfrm>
                <a:off x="3250935" y="2103762"/>
                <a:ext cx="4636527" cy="551180"/>
              </a:xfrm>
              <a:prstGeom prst="rect">
                <a:avLst/>
              </a:prstGeom>
              <a:noFill/>
              <a:ln w="9525">
                <a:noFill/>
                <a:miter lim="800000"/>
              </a:ln>
            </p:spPr>
            <p:txBody>
              <a:bodyPr lIns="216000" tIns="34290" rIns="68580" bIns="34290" anchor="ctr"/>
              <a:lstStyle/>
              <a:p>
                <a:r>
                  <a:rPr lang="zh-CN" altLang="en-US" sz="2000" b="1" dirty="0" smtClean="0">
                    <a:solidFill>
                      <a:srgbClr val="002060"/>
                    </a:solidFill>
                    <a:latin typeface="微软雅黑" panose="020B0503020204020204" charset="-122"/>
                    <a:ea typeface="微软雅黑" panose="020B0503020204020204" charset="-122"/>
                    <a:cs typeface="宋体" panose="02010600030101010101" pitchFamily="2" charset="-122"/>
                  </a:rPr>
                  <a:t>标识变更</a:t>
                </a:r>
              </a:p>
            </p:txBody>
          </p:sp>
        </p:grpSp>
        <p:grpSp>
          <p:nvGrpSpPr>
            <p:cNvPr id="13" name="组合 12"/>
            <p:cNvGrpSpPr/>
            <p:nvPr/>
          </p:nvGrpSpPr>
          <p:grpSpPr>
            <a:xfrm>
              <a:off x="1192" y="3820"/>
              <a:ext cx="3713" cy="4432"/>
              <a:chOff x="95208" y="1988874"/>
              <a:chExt cx="2957288" cy="3617951"/>
            </a:xfrm>
          </p:grpSpPr>
          <p:sp>
            <p:nvSpPr>
              <p:cNvPr id="14" name="MH_Other_1"/>
              <p:cNvSpPr/>
              <p:nvPr>
                <p:custDataLst>
                  <p:tags r:id="rId7"/>
                </p:custDataLst>
              </p:nvPr>
            </p:nvSpPr>
            <p:spPr bwMode="gray">
              <a:xfrm>
                <a:off x="1079643" y="1988874"/>
                <a:ext cx="1380280" cy="1213059"/>
              </a:xfrm>
              <a:custGeom>
                <a:avLst/>
                <a:gdLst>
                  <a:gd name="T0" fmla="*/ 0 w 1118"/>
                  <a:gd name="T1" fmla="*/ 0 h 1020"/>
                  <a:gd name="T2" fmla="*/ 6 w 1118"/>
                  <a:gd name="T3" fmla="*/ 793 h 1020"/>
                  <a:gd name="T4" fmla="*/ 551 w 1118"/>
                  <a:gd name="T5" fmla="*/ 1020 h 1020"/>
                  <a:gd name="T6" fmla="*/ 1118 w 1118"/>
                  <a:gd name="T7" fmla="*/ 470 h 1020"/>
                  <a:gd name="T8" fmla="*/ 0 w 1118"/>
                  <a:gd name="T9" fmla="*/ 0 h 1020"/>
                </a:gdLst>
                <a:ahLst/>
                <a:cxnLst>
                  <a:cxn ang="0">
                    <a:pos x="T0" y="T1"/>
                  </a:cxn>
                  <a:cxn ang="0">
                    <a:pos x="T2" y="T3"/>
                  </a:cxn>
                  <a:cxn ang="0">
                    <a:pos x="T4" y="T5"/>
                  </a:cxn>
                  <a:cxn ang="0">
                    <a:pos x="T6" y="T7"/>
                  </a:cxn>
                  <a:cxn ang="0">
                    <a:pos x="T8" y="T9"/>
                  </a:cxn>
                </a:cxnLst>
                <a:rect l="0" t="0" r="r" b="b"/>
                <a:pathLst>
                  <a:path w="1118" h="1020">
                    <a:moveTo>
                      <a:pt x="0" y="0"/>
                    </a:moveTo>
                    <a:cubicBezTo>
                      <a:pt x="2" y="393"/>
                      <a:pt x="6" y="793"/>
                      <a:pt x="6" y="793"/>
                    </a:cubicBezTo>
                    <a:cubicBezTo>
                      <a:pt x="117" y="797"/>
                      <a:pt x="326" y="808"/>
                      <a:pt x="551" y="1020"/>
                    </a:cubicBezTo>
                    <a:lnTo>
                      <a:pt x="1118" y="470"/>
                    </a:lnTo>
                    <a:cubicBezTo>
                      <a:pt x="1002" y="359"/>
                      <a:pt x="669" y="3"/>
                      <a:pt x="0" y="0"/>
                    </a:cubicBezTo>
                    <a:close/>
                  </a:path>
                </a:pathLst>
              </a:custGeom>
              <a:solidFill>
                <a:srgbClr val="0070C0"/>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144000" bIns="180000" anchor="ctr">
                <a:normAutofit/>
              </a:bodyPr>
              <a:lstStyle/>
              <a:p>
                <a:pPr algn="ctr" eaLnBrk="1" hangingPunct="1">
                  <a:lnSpc>
                    <a:spcPct val="120000"/>
                  </a:lnSpc>
                  <a:spcBef>
                    <a:spcPts val="450"/>
                  </a:spcBef>
                  <a:spcAft>
                    <a:spcPts val="450"/>
                  </a:spcAft>
                  <a:defRPr/>
                </a:pPr>
                <a:r>
                  <a:rPr lang="en-US" altLang="zh-CN" sz="3200" dirty="0">
                    <a:solidFill>
                      <a:srgbClr val="FFFFFF"/>
                    </a:solidFill>
                    <a:latin typeface="微软雅黑" panose="020B0503020204020204" charset="-122"/>
                    <a:ea typeface="微软雅黑" panose="020B0503020204020204" charset="-122"/>
                    <a:cs typeface="Arial" panose="020B0604020202020204" pitchFamily="34" charset="0"/>
                  </a:rPr>
                  <a:t>1</a:t>
                </a: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5" name="MH_Other_2"/>
              <p:cNvSpPr/>
              <p:nvPr>
                <p:custDataLst>
                  <p:tags r:id="rId8"/>
                </p:custDataLst>
              </p:nvPr>
            </p:nvSpPr>
            <p:spPr bwMode="gray">
              <a:xfrm>
                <a:off x="1073271" y="4427236"/>
                <a:ext cx="1371519" cy="1179589"/>
              </a:xfrm>
              <a:custGeom>
                <a:avLst/>
                <a:gdLst>
                  <a:gd name="T0" fmla="*/ 0 w 1110"/>
                  <a:gd name="T1" fmla="*/ 228 h 1030"/>
                  <a:gd name="T2" fmla="*/ 4 w 1110"/>
                  <a:gd name="T3" fmla="*/ 1018 h 1030"/>
                  <a:gd name="T4" fmla="*/ 1110 w 1110"/>
                  <a:gd name="T5" fmla="*/ 559 h 1030"/>
                  <a:gd name="T6" fmla="*/ 552 w 1110"/>
                  <a:gd name="T7" fmla="*/ 0 h 1030"/>
                  <a:gd name="T8" fmla="*/ 0 w 1110"/>
                  <a:gd name="T9" fmla="*/ 228 h 1030"/>
                </a:gdLst>
                <a:ahLst/>
                <a:cxnLst>
                  <a:cxn ang="0">
                    <a:pos x="T0" y="T1"/>
                  </a:cxn>
                  <a:cxn ang="0">
                    <a:pos x="T2" y="T3"/>
                  </a:cxn>
                  <a:cxn ang="0">
                    <a:pos x="T4" y="T5"/>
                  </a:cxn>
                  <a:cxn ang="0">
                    <a:pos x="T6" y="T7"/>
                  </a:cxn>
                  <a:cxn ang="0">
                    <a:pos x="T8" y="T9"/>
                  </a:cxn>
                </a:cxnLst>
                <a:rect l="0" t="0" r="r" b="b"/>
                <a:pathLst>
                  <a:path w="1110" h="1030">
                    <a:moveTo>
                      <a:pt x="0" y="228"/>
                    </a:moveTo>
                    <a:cubicBezTo>
                      <a:pt x="2" y="623"/>
                      <a:pt x="4" y="1018"/>
                      <a:pt x="4" y="1018"/>
                    </a:cubicBezTo>
                    <a:cubicBezTo>
                      <a:pt x="478" y="1030"/>
                      <a:pt x="849" y="814"/>
                      <a:pt x="1110" y="559"/>
                    </a:cubicBezTo>
                    <a:lnTo>
                      <a:pt x="552" y="0"/>
                    </a:lnTo>
                    <a:cubicBezTo>
                      <a:pt x="355" y="184"/>
                      <a:pt x="180" y="220"/>
                      <a:pt x="0" y="228"/>
                    </a:cubicBezTo>
                    <a:close/>
                  </a:path>
                </a:pathLst>
              </a:custGeom>
              <a:solidFill>
                <a:srgbClr val="0070C0"/>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144000" rIns="108000" bIns="0" anchor="ctr">
                <a:normAutofit/>
              </a:bodyPr>
              <a:lstStyle/>
              <a:p>
                <a:pPr algn="ctr" eaLnBrk="1" hangingPunct="1">
                  <a:lnSpc>
                    <a:spcPct val="120000"/>
                  </a:lnSpc>
                  <a:spcBef>
                    <a:spcPts val="450"/>
                  </a:spcBef>
                  <a:spcAft>
                    <a:spcPts val="450"/>
                  </a:spcAft>
                  <a:defRPr/>
                </a:pPr>
                <a:r>
                  <a:rPr lang="en-US" altLang="zh-CN" sz="3200" dirty="0">
                    <a:solidFill>
                      <a:srgbClr val="FFFFFF"/>
                    </a:solidFill>
                    <a:latin typeface="微软雅黑" panose="020B0503020204020204" charset="-122"/>
                    <a:ea typeface="微软雅黑" panose="020B0503020204020204" charset="-122"/>
                    <a:cs typeface="Arial" panose="020B0604020202020204" pitchFamily="34" charset="0"/>
                  </a:rPr>
                  <a:t>4</a:t>
                </a: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6" name="MH_Other_3"/>
              <p:cNvSpPr/>
              <p:nvPr>
                <p:custDataLst>
                  <p:tags r:id="rId9"/>
                </p:custDataLst>
              </p:nvPr>
            </p:nvSpPr>
            <p:spPr bwMode="gray">
              <a:xfrm>
                <a:off x="1793833" y="2602155"/>
                <a:ext cx="1258663" cy="1196741"/>
              </a:xfrm>
              <a:custGeom>
                <a:avLst/>
                <a:gdLst>
                  <a:gd name="T0" fmla="*/ 0 w 1017"/>
                  <a:gd name="T1" fmla="*/ 554 h 1091"/>
                  <a:gd name="T2" fmla="*/ 225 w 1017"/>
                  <a:gd name="T3" fmla="*/ 1091 h 1091"/>
                  <a:gd name="T4" fmla="*/ 1017 w 1017"/>
                  <a:gd name="T5" fmla="*/ 1091 h 1091"/>
                  <a:gd name="T6" fmla="*/ 566 w 1017"/>
                  <a:gd name="T7" fmla="*/ 0 h 1091"/>
                  <a:gd name="T8" fmla="*/ 0 w 1017"/>
                  <a:gd name="T9" fmla="*/ 554 h 1091"/>
                </a:gdLst>
                <a:ahLst/>
                <a:cxnLst>
                  <a:cxn ang="0">
                    <a:pos x="T0" y="T1"/>
                  </a:cxn>
                  <a:cxn ang="0">
                    <a:pos x="T2" y="T3"/>
                  </a:cxn>
                  <a:cxn ang="0">
                    <a:pos x="T4" y="T5"/>
                  </a:cxn>
                  <a:cxn ang="0">
                    <a:pos x="T6" y="T7"/>
                  </a:cxn>
                  <a:cxn ang="0">
                    <a:pos x="T8" y="T9"/>
                  </a:cxn>
                </a:cxnLst>
                <a:rect l="0" t="0" r="r" b="b"/>
                <a:pathLst>
                  <a:path w="1017" h="1091">
                    <a:moveTo>
                      <a:pt x="0" y="554"/>
                    </a:moveTo>
                    <a:cubicBezTo>
                      <a:pt x="194" y="770"/>
                      <a:pt x="216" y="957"/>
                      <a:pt x="225" y="1091"/>
                    </a:cubicBezTo>
                    <a:lnTo>
                      <a:pt x="1017" y="1091"/>
                    </a:lnTo>
                    <a:cubicBezTo>
                      <a:pt x="1001" y="626"/>
                      <a:pt x="833" y="260"/>
                      <a:pt x="566" y="0"/>
                    </a:cubicBezTo>
                    <a:lnTo>
                      <a:pt x="0" y="554"/>
                    </a:lnTo>
                    <a:close/>
                  </a:path>
                </a:pathLst>
              </a:custGeom>
              <a:solidFill>
                <a:srgbClr val="0070C0"/>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216000" tIns="216000" rIns="0" bIns="0" anchor="ctr">
                <a:normAutofit/>
              </a:bodyPr>
              <a:lstStyle/>
              <a:p>
                <a:pPr algn="ctr" eaLnBrk="1" hangingPunct="1">
                  <a:lnSpc>
                    <a:spcPct val="120000"/>
                  </a:lnSpc>
                  <a:spcBef>
                    <a:spcPts val="450"/>
                  </a:spcBef>
                  <a:spcAft>
                    <a:spcPts val="450"/>
                  </a:spcAft>
                  <a:defRPr/>
                </a:pPr>
                <a:r>
                  <a:rPr lang="en-US" altLang="zh-CN" sz="3200" dirty="0">
                    <a:solidFill>
                      <a:srgbClr val="FFFFFF"/>
                    </a:solidFill>
                    <a:latin typeface="微软雅黑" panose="020B0503020204020204" charset="-122"/>
                    <a:ea typeface="微软雅黑" panose="020B0503020204020204" charset="-122"/>
                    <a:cs typeface="Arial" panose="020B0604020202020204" pitchFamily="34" charset="0"/>
                  </a:rPr>
                  <a:t>2</a:t>
                </a: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7" name="MH_Other_4"/>
              <p:cNvSpPr/>
              <p:nvPr>
                <p:custDataLst>
                  <p:tags r:id="rId10"/>
                </p:custDataLst>
              </p:nvPr>
            </p:nvSpPr>
            <p:spPr bwMode="gray">
              <a:xfrm>
                <a:off x="1793833" y="3830532"/>
                <a:ext cx="1255032" cy="1220902"/>
              </a:xfrm>
              <a:custGeom>
                <a:avLst/>
                <a:gdLst>
                  <a:gd name="T0" fmla="*/ 223 w 1016"/>
                  <a:gd name="T1" fmla="*/ 0 h 1114"/>
                  <a:gd name="T2" fmla="*/ 0 w 1016"/>
                  <a:gd name="T3" fmla="*/ 550 h 1114"/>
                  <a:gd name="T4" fmla="*/ 559 w 1016"/>
                  <a:gd name="T5" fmla="*/ 1114 h 1114"/>
                  <a:gd name="T6" fmla="*/ 1016 w 1016"/>
                  <a:gd name="T7" fmla="*/ 4 h 1114"/>
                  <a:gd name="T8" fmla="*/ 223 w 1016"/>
                  <a:gd name="T9" fmla="*/ 0 h 1114"/>
                </a:gdLst>
                <a:ahLst/>
                <a:cxnLst>
                  <a:cxn ang="0">
                    <a:pos x="T0" y="T1"/>
                  </a:cxn>
                  <a:cxn ang="0">
                    <a:pos x="T2" y="T3"/>
                  </a:cxn>
                  <a:cxn ang="0">
                    <a:pos x="T4" y="T5"/>
                  </a:cxn>
                  <a:cxn ang="0">
                    <a:pos x="T6" y="T7"/>
                  </a:cxn>
                  <a:cxn ang="0">
                    <a:pos x="T8" y="T9"/>
                  </a:cxn>
                </a:cxnLst>
                <a:rect l="0" t="0" r="r" b="b"/>
                <a:pathLst>
                  <a:path w="1016" h="1114">
                    <a:moveTo>
                      <a:pt x="223" y="0"/>
                    </a:moveTo>
                    <a:cubicBezTo>
                      <a:pt x="229" y="193"/>
                      <a:pt x="163" y="384"/>
                      <a:pt x="0" y="550"/>
                    </a:cubicBezTo>
                    <a:lnTo>
                      <a:pt x="559" y="1114"/>
                    </a:lnTo>
                    <a:cubicBezTo>
                      <a:pt x="763" y="892"/>
                      <a:pt x="1012" y="541"/>
                      <a:pt x="1016" y="4"/>
                    </a:cubicBezTo>
                    <a:lnTo>
                      <a:pt x="223" y="0"/>
                    </a:lnTo>
                    <a:close/>
                  </a:path>
                </a:pathLst>
              </a:custGeom>
              <a:solidFill>
                <a:srgbClr val="0070C0"/>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108000" anchor="ctr">
                <a:normAutofit/>
              </a:bodyPr>
              <a:lstStyle/>
              <a:p>
                <a:pPr algn="ctr" eaLnBrk="1" hangingPunct="1">
                  <a:lnSpc>
                    <a:spcPct val="120000"/>
                  </a:lnSpc>
                  <a:spcBef>
                    <a:spcPts val="450"/>
                  </a:spcBef>
                  <a:spcAft>
                    <a:spcPts val="450"/>
                  </a:spcAft>
                  <a:defRPr/>
                </a:pPr>
                <a:r>
                  <a:rPr lang="en-US" altLang="zh-CN" sz="3200" dirty="0">
                    <a:solidFill>
                      <a:srgbClr val="FFFFFF"/>
                    </a:solidFill>
                    <a:latin typeface="微软雅黑" panose="020B0503020204020204" charset="-122"/>
                    <a:ea typeface="微软雅黑" panose="020B0503020204020204" charset="-122"/>
                    <a:cs typeface="Arial" panose="020B0604020202020204" pitchFamily="34" charset="0"/>
                  </a:rPr>
                  <a:t>3</a:t>
                </a: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8" name="MH_Title_1"/>
              <p:cNvSpPr>
                <a:spLocks noChangeArrowheads="1"/>
              </p:cNvSpPr>
              <p:nvPr>
                <p:custDataLst>
                  <p:tags r:id="rId11"/>
                </p:custDataLst>
              </p:nvPr>
            </p:nvSpPr>
            <p:spPr bwMode="gray">
              <a:xfrm>
                <a:off x="95208" y="2786058"/>
                <a:ext cx="1970645" cy="1952630"/>
              </a:xfrm>
              <a:prstGeom prst="ellipse">
                <a:avLst/>
              </a:prstGeom>
              <a:solidFill>
                <a:srgbClr val="0070C0"/>
              </a:solidFill>
              <a:ln w="190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20000"/>
                  </a:lnSpc>
                  <a:defRPr/>
                </a:pPr>
                <a:r>
                  <a:rPr lang="zh-CN" altLang="en-US" sz="2400" b="1" dirty="0" smtClean="0"/>
                  <a:t>软件配置管理的任务</a:t>
                </a:r>
              </a:p>
            </p:txBody>
          </p:sp>
        </p:grpSp>
        <p:grpSp>
          <p:nvGrpSpPr>
            <p:cNvPr id="19" name="组合 18"/>
            <p:cNvGrpSpPr/>
            <p:nvPr/>
          </p:nvGrpSpPr>
          <p:grpSpPr>
            <a:xfrm>
              <a:off x="4792" y="4655"/>
              <a:ext cx="9228" cy="970"/>
              <a:chOff x="2579663" y="2079632"/>
              <a:chExt cx="5860531" cy="615950"/>
            </a:xfrm>
          </p:grpSpPr>
          <p:sp>
            <p:nvSpPr>
              <p:cNvPr id="20" name="MH_Other_5"/>
              <p:cNvSpPr>
                <a:spLocks noChangeShapeType="1"/>
              </p:cNvSpPr>
              <p:nvPr>
                <p:custDataLst>
                  <p:tags r:id="rId5"/>
                </p:custDataLst>
              </p:nvPr>
            </p:nvSpPr>
            <p:spPr bwMode="black">
              <a:xfrm flipV="1">
                <a:off x="2579663" y="2668277"/>
                <a:ext cx="5860531" cy="27305"/>
              </a:xfrm>
              <a:prstGeom prst="line">
                <a:avLst/>
              </a:prstGeom>
              <a:noFill/>
              <a:ln w="9525">
                <a:solidFill>
                  <a:srgbClr val="BCBCBC"/>
                </a:solidFill>
                <a:prstDash val="dash"/>
                <a:round/>
                <a:tailEnd type="oval"/>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292929"/>
                      </a:outerShdw>
                    </a:effectLst>
                  </a14:hiddenEffects>
                </a:ext>
              </a:extLst>
            </p:spPr>
            <p:txBody>
              <a:bodyPr wrap="none" anchor="ctr"/>
              <a:lstStyle/>
              <a:p>
                <a:pPr eaLnBrk="1" fontAlgn="auto" hangingPunct="1">
                  <a:spcBef>
                    <a:spcPts val="0"/>
                  </a:spcBef>
                  <a:spcAft>
                    <a:spcPts val="0"/>
                  </a:spcAft>
                  <a:defRPr/>
                </a:pPr>
                <a:endParaRPr lang="zh-CN" altLang="en-US" sz="1350" b="1">
                  <a:solidFill>
                    <a:srgbClr val="002060"/>
                  </a:solidFill>
                  <a:latin typeface="微软雅黑" panose="020B0503020204020204" charset="-122"/>
                  <a:ea typeface="微软雅黑" panose="020B0503020204020204" charset="-122"/>
                </a:endParaRPr>
              </a:p>
            </p:txBody>
          </p:sp>
          <p:sp>
            <p:nvSpPr>
              <p:cNvPr id="21" name="MH_SubTitle_1"/>
              <p:cNvSpPr txBox="1">
                <a:spLocks noChangeArrowheads="1"/>
              </p:cNvSpPr>
              <p:nvPr>
                <p:custDataLst>
                  <p:tags r:id="rId6"/>
                </p:custDataLst>
              </p:nvPr>
            </p:nvSpPr>
            <p:spPr bwMode="auto">
              <a:xfrm>
                <a:off x="2671678" y="2079632"/>
                <a:ext cx="5427630" cy="615950"/>
              </a:xfrm>
              <a:prstGeom prst="rect">
                <a:avLst/>
              </a:prstGeom>
              <a:noFill/>
              <a:ln w="9525">
                <a:noFill/>
                <a:miter lim="800000"/>
              </a:ln>
            </p:spPr>
            <p:txBody>
              <a:bodyPr lIns="216000" tIns="34290" rIns="68580" bIns="34290" anchor="ctr"/>
              <a:lstStyle/>
              <a:p>
                <a:r>
                  <a:rPr lang="zh-CN" altLang="en-US" sz="2000" b="1" dirty="0" smtClean="0">
                    <a:solidFill>
                      <a:srgbClr val="002060"/>
                    </a:solidFill>
                    <a:latin typeface="微软雅黑" panose="020B0503020204020204" charset="-122"/>
                    <a:ea typeface="微软雅黑" panose="020B0503020204020204" charset="-122"/>
                    <a:cs typeface="宋体" panose="02010600030101010101" pitchFamily="2" charset="-122"/>
                  </a:rPr>
                  <a:t>控制软件配置的全部变动，即“控制变更”</a:t>
                </a:r>
              </a:p>
            </p:txBody>
          </p:sp>
        </p:grpSp>
        <p:grpSp>
          <p:nvGrpSpPr>
            <p:cNvPr id="22" name="组合 21"/>
            <p:cNvGrpSpPr/>
            <p:nvPr/>
          </p:nvGrpSpPr>
          <p:grpSpPr>
            <a:xfrm>
              <a:off x="4792" y="5850"/>
              <a:ext cx="9229" cy="958"/>
              <a:chOff x="2579663" y="2079632"/>
              <a:chExt cx="5861107" cy="608330"/>
            </a:xfrm>
          </p:grpSpPr>
          <p:sp>
            <p:nvSpPr>
              <p:cNvPr id="23" name="MH_Other_5"/>
              <p:cNvSpPr>
                <a:spLocks noChangeShapeType="1"/>
              </p:cNvSpPr>
              <p:nvPr>
                <p:custDataLst>
                  <p:tags r:id="rId3"/>
                </p:custDataLst>
              </p:nvPr>
            </p:nvSpPr>
            <p:spPr bwMode="black">
              <a:xfrm flipV="1">
                <a:off x="2579663" y="2687327"/>
                <a:ext cx="5861107" cy="635"/>
              </a:xfrm>
              <a:prstGeom prst="line">
                <a:avLst/>
              </a:prstGeom>
              <a:noFill/>
              <a:ln w="9525">
                <a:solidFill>
                  <a:srgbClr val="BCBCBC"/>
                </a:solidFill>
                <a:prstDash val="dash"/>
                <a:round/>
                <a:tailEnd type="oval"/>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292929"/>
                      </a:outerShdw>
                    </a:effectLst>
                  </a14:hiddenEffects>
                </a:ext>
              </a:extLst>
            </p:spPr>
            <p:txBody>
              <a:bodyPr wrap="none" anchor="ctr"/>
              <a:lstStyle/>
              <a:p>
                <a:pPr eaLnBrk="1" fontAlgn="auto" hangingPunct="1">
                  <a:spcBef>
                    <a:spcPts val="0"/>
                  </a:spcBef>
                  <a:spcAft>
                    <a:spcPts val="0"/>
                  </a:spcAft>
                  <a:defRPr/>
                </a:pPr>
                <a:endParaRPr lang="zh-CN" altLang="en-US" sz="1350" b="1">
                  <a:solidFill>
                    <a:srgbClr val="002060"/>
                  </a:solidFill>
                  <a:latin typeface="微软雅黑" panose="020B0503020204020204" charset="-122"/>
                  <a:ea typeface="微软雅黑" panose="020B0503020204020204" charset="-122"/>
                </a:endParaRPr>
              </a:p>
            </p:txBody>
          </p:sp>
          <p:sp>
            <p:nvSpPr>
              <p:cNvPr id="24" name="MH_SubTitle_1"/>
              <p:cNvSpPr txBox="1">
                <a:spLocks noChangeArrowheads="1"/>
              </p:cNvSpPr>
              <p:nvPr>
                <p:custDataLst>
                  <p:tags r:id="rId4"/>
                </p:custDataLst>
              </p:nvPr>
            </p:nvSpPr>
            <p:spPr bwMode="auto">
              <a:xfrm>
                <a:off x="2671677" y="2079632"/>
                <a:ext cx="4847101" cy="608330"/>
              </a:xfrm>
              <a:prstGeom prst="rect">
                <a:avLst/>
              </a:prstGeom>
              <a:noFill/>
              <a:ln w="9525">
                <a:noFill/>
                <a:miter lim="800000"/>
              </a:ln>
            </p:spPr>
            <p:txBody>
              <a:bodyPr lIns="216000" tIns="34290" rIns="68580" bIns="34290" anchor="ctr"/>
              <a:lstStyle/>
              <a:p>
                <a:r>
                  <a:rPr lang="zh-CN" altLang="en-US" sz="2000" b="1" dirty="0" smtClean="0">
                    <a:solidFill>
                      <a:srgbClr val="002060"/>
                    </a:solidFill>
                    <a:latin typeface="微软雅黑" panose="020B0503020204020204" charset="-122"/>
                    <a:ea typeface="微软雅黑" panose="020B0503020204020204" charset="-122"/>
                    <a:cs typeface="宋体" panose="02010600030101010101" pitchFamily="2" charset="-122"/>
                  </a:rPr>
                  <a:t>确保变更正确地实现</a:t>
                </a:r>
              </a:p>
            </p:txBody>
          </p:sp>
        </p:grpSp>
        <p:grpSp>
          <p:nvGrpSpPr>
            <p:cNvPr id="25" name="组合 24"/>
            <p:cNvGrpSpPr/>
            <p:nvPr/>
          </p:nvGrpSpPr>
          <p:grpSpPr>
            <a:xfrm>
              <a:off x="3358" y="7137"/>
              <a:ext cx="10663" cy="922"/>
              <a:chOff x="2579663" y="2110752"/>
              <a:chExt cx="6770672" cy="585166"/>
            </a:xfrm>
          </p:grpSpPr>
          <p:sp>
            <p:nvSpPr>
              <p:cNvPr id="26" name="MH_Other_5"/>
              <p:cNvSpPr>
                <a:spLocks noChangeShapeType="1"/>
              </p:cNvSpPr>
              <p:nvPr>
                <p:custDataLst>
                  <p:tags r:id="rId1"/>
                </p:custDataLst>
              </p:nvPr>
            </p:nvSpPr>
            <p:spPr bwMode="black">
              <a:xfrm>
                <a:off x="2579663" y="2695283"/>
                <a:ext cx="6770672" cy="635"/>
              </a:xfrm>
              <a:prstGeom prst="line">
                <a:avLst/>
              </a:prstGeom>
              <a:noFill/>
              <a:ln w="9525">
                <a:solidFill>
                  <a:srgbClr val="BCBCBC"/>
                </a:solidFill>
                <a:prstDash val="dash"/>
                <a:round/>
                <a:tailEnd type="oval"/>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292929"/>
                      </a:outerShdw>
                    </a:effectLst>
                  </a14:hiddenEffects>
                </a:ext>
              </a:extLst>
            </p:spPr>
            <p:txBody>
              <a:bodyPr wrap="none" anchor="ctr"/>
              <a:lstStyle/>
              <a:p>
                <a:pPr eaLnBrk="1" fontAlgn="auto" hangingPunct="1">
                  <a:spcBef>
                    <a:spcPts val="0"/>
                  </a:spcBef>
                  <a:spcAft>
                    <a:spcPts val="0"/>
                  </a:spcAft>
                  <a:defRPr/>
                </a:pPr>
                <a:endParaRPr lang="zh-CN" altLang="en-US" sz="1350" b="1">
                  <a:solidFill>
                    <a:srgbClr val="002060"/>
                  </a:solidFill>
                  <a:latin typeface="微软雅黑" panose="020B0503020204020204" charset="-122"/>
                  <a:ea typeface="微软雅黑" panose="020B0503020204020204" charset="-122"/>
                </a:endParaRPr>
              </a:p>
            </p:txBody>
          </p:sp>
          <p:sp>
            <p:nvSpPr>
              <p:cNvPr id="27" name="MH_SubTitle_1"/>
              <p:cNvSpPr txBox="1">
                <a:spLocks noChangeArrowheads="1"/>
              </p:cNvSpPr>
              <p:nvPr>
                <p:custDataLst>
                  <p:tags r:id="rId2"/>
                </p:custDataLst>
              </p:nvPr>
            </p:nvSpPr>
            <p:spPr bwMode="auto">
              <a:xfrm>
                <a:off x="3582450" y="2110752"/>
                <a:ext cx="3728346" cy="584532"/>
              </a:xfrm>
              <a:prstGeom prst="rect">
                <a:avLst/>
              </a:prstGeom>
              <a:noFill/>
              <a:ln w="9525">
                <a:noFill/>
                <a:miter lim="800000"/>
              </a:ln>
            </p:spPr>
            <p:txBody>
              <a:bodyPr lIns="216000" tIns="34290" rIns="68580" bIns="34290" anchor="ctr"/>
              <a:lstStyle/>
              <a:p>
                <a:pPr algn="l"/>
                <a:r>
                  <a:rPr lang="zh-CN" altLang="en-US" sz="2000" b="1" dirty="0" smtClean="0">
                    <a:solidFill>
                      <a:srgbClr val="002060"/>
                    </a:solidFill>
                    <a:latin typeface="微软雅黑" panose="020B0503020204020204" charset="-122"/>
                    <a:ea typeface="微软雅黑" panose="020B0503020204020204" charset="-122"/>
                    <a:cs typeface="宋体" panose="02010600030101010101" pitchFamily="2" charset="-122"/>
                  </a:rPr>
                  <a:t>报告配置的变更</a:t>
                </a:r>
              </a:p>
            </p:txBody>
          </p:sp>
        </p:grpSp>
      </p:grpSp>
    </p:spTree>
  </p:cSld>
  <p:clrMapOvr>
    <a:masterClrMapping/>
  </p:clrMapOvr>
  <p:transition>
    <p:pull dir="rd"/>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10.5  </a:t>
            </a:r>
            <a:r>
              <a:rPr lang="zh-CN" altLang="en-US" dirty="0" smtClean="0">
                <a:solidFill>
                  <a:srgbClr val="FF0000"/>
                </a:solidFill>
                <a:sym typeface="+mn-ea"/>
              </a:rPr>
              <a:t>软件配置管理</a:t>
            </a:r>
            <a:endParaRPr lang="zh-CN" altLang="en-US" dirty="0">
              <a:solidFill>
                <a:srgbClr val="FF0000"/>
              </a:solidFill>
            </a:endParaRPr>
          </a:p>
        </p:txBody>
      </p:sp>
      <p:sp>
        <p:nvSpPr>
          <p:cNvPr id="6" name="MH_Desc_1"/>
          <p:cNvSpPr>
            <a:spLocks noChangeArrowheads="1"/>
          </p:cNvSpPr>
          <p:nvPr/>
        </p:nvSpPr>
        <p:spPr bwMode="auto">
          <a:xfrm>
            <a:off x="3310829" y="2747260"/>
            <a:ext cx="5929885" cy="3133033"/>
          </a:xfrm>
          <a:prstGeom prst="roundRect">
            <a:avLst>
              <a:gd name="adj" fmla="val 8912"/>
            </a:avLst>
          </a:prstGeom>
          <a:solidFill>
            <a:srgbClr val="E85252"/>
          </a:solidFill>
          <a:ln>
            <a:noFill/>
          </a:ln>
          <a:extLst>
            <a:ext uri="{91240B29-F687-4F45-9708-019B960494DF}">
              <a14:hiddenLine xmlns:a14="http://schemas.microsoft.com/office/drawing/2010/main" xmlns="" w="9525">
                <a:solidFill>
                  <a:srgbClr val="000000"/>
                </a:solidFill>
                <a:round/>
              </a14:hiddenLine>
            </a:ext>
          </a:extLst>
        </p:spPr>
        <p:txBody>
          <a:bodyPr lIns="144000" tIns="180000" rIns="144000" bIns="18000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dirty="0">
                <a:solidFill>
                  <a:schemeClr val="bg1"/>
                </a:solidFill>
                <a:latin typeface="微软雅黑" panose="020B0503020204020204" charset="-122"/>
                <a:ea typeface="微软雅黑" panose="020B0503020204020204" charset="-122"/>
              </a:rPr>
              <a:t>软件配置是软件在某一具体时刻的瞬时写照。软件配置项（Software Configuration Item，SCI）是软件工程生存周期中不断产生的信息项，它是软件配置管理的基本单位。随着软件工程的进展，软件配置在不断地变更，因而配置管理首先要标识这种变更。</a:t>
            </a:r>
          </a:p>
        </p:txBody>
      </p:sp>
      <p:sp>
        <p:nvSpPr>
          <p:cNvPr id="3076" name="MH_Other_1"/>
          <p:cNvSpPr>
            <a:spLocks noChangeArrowheads="1"/>
          </p:cNvSpPr>
          <p:nvPr/>
        </p:nvSpPr>
        <p:spPr bwMode="auto">
          <a:xfrm>
            <a:off x="1293560" y="1931228"/>
            <a:ext cx="1930446" cy="1844040"/>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11500" dirty="0">
                <a:solidFill>
                  <a:srgbClr val="E85252"/>
                </a:solidFill>
                <a:latin typeface="方正姚体" panose="02010601030101010101" pitchFamily="2" charset="-122"/>
                <a:ea typeface="方正姚体" panose="02010601030101010101" pitchFamily="2" charset="-122"/>
              </a:rPr>
              <a:t>“</a:t>
            </a:r>
          </a:p>
        </p:txBody>
      </p:sp>
      <p:sp>
        <p:nvSpPr>
          <p:cNvPr id="3077" name="MH_Other_2"/>
          <p:cNvSpPr>
            <a:spLocks noChangeArrowheads="1"/>
          </p:cNvSpPr>
          <p:nvPr/>
        </p:nvSpPr>
        <p:spPr bwMode="auto">
          <a:xfrm>
            <a:off x="9185294" y="5169929"/>
            <a:ext cx="1930446" cy="1844040"/>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11500">
                <a:solidFill>
                  <a:srgbClr val="E85252"/>
                </a:solidFill>
                <a:latin typeface="方正姚体" panose="02010601030101010101" pitchFamily="2" charset="-122"/>
                <a:ea typeface="方正姚体" panose="02010601030101010101" pitchFamily="2" charset="-122"/>
              </a:rPr>
              <a:t>”</a:t>
            </a:r>
          </a:p>
        </p:txBody>
      </p:sp>
      <p:sp>
        <p:nvSpPr>
          <p:cNvPr id="8" name="TextBox 7"/>
          <p:cNvSpPr txBox="1"/>
          <p:nvPr/>
        </p:nvSpPr>
        <p:spPr>
          <a:xfrm>
            <a:off x="824415" y="1496381"/>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1</a:t>
            </a:r>
            <a:r>
              <a:rPr lang="zh-CN" altLang="en-US" sz="2400" dirty="0" smtClean="0"/>
              <a:t>．标识变更</a:t>
            </a:r>
          </a:p>
        </p:txBody>
      </p:sp>
    </p:spTree>
  </p:cSld>
  <p:clrMapOvr>
    <a:masterClrMapping/>
  </p:clrMapOvr>
  <p:transition>
    <p:pull dir="rd"/>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10.5  </a:t>
            </a:r>
            <a:r>
              <a:rPr lang="zh-CN" altLang="en-US" dirty="0" smtClean="0">
                <a:solidFill>
                  <a:srgbClr val="FF0000"/>
                </a:solidFill>
                <a:sym typeface="+mn-ea"/>
              </a:rPr>
              <a:t>软件配置管理</a:t>
            </a:r>
            <a:endParaRPr lang="zh-CN" altLang="en-US" dirty="0">
              <a:solidFill>
                <a:srgbClr val="FF0000"/>
              </a:solidFill>
            </a:endParaRPr>
          </a:p>
        </p:txBody>
      </p:sp>
      <p:grpSp>
        <p:nvGrpSpPr>
          <p:cNvPr id="2" name="组合 1"/>
          <p:cNvGrpSpPr/>
          <p:nvPr/>
        </p:nvGrpSpPr>
        <p:grpSpPr>
          <a:xfrm>
            <a:off x="1557482" y="2607145"/>
            <a:ext cx="10180320" cy="3135630"/>
            <a:chOff x="2060" y="3526"/>
            <a:chExt cx="16032" cy="4938"/>
          </a:xfrm>
        </p:grpSpPr>
        <p:sp>
          <p:nvSpPr>
            <p:cNvPr id="4" name="MH_Other_1"/>
            <p:cNvSpPr>
              <a:spLocks noChangeArrowheads="1"/>
            </p:cNvSpPr>
            <p:nvPr>
              <p:custDataLst>
                <p:tags r:id="rId1"/>
              </p:custDataLst>
            </p:nvPr>
          </p:nvSpPr>
          <p:spPr bwMode="auto">
            <a:xfrm>
              <a:off x="2060" y="3526"/>
              <a:ext cx="1060" cy="795"/>
            </a:xfrm>
            <a:prstGeom prst="rect">
              <a:avLst/>
            </a:prstGeom>
            <a:solidFill>
              <a:srgbClr val="25B4E9"/>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5" name="MH_Other_2"/>
            <p:cNvSpPr>
              <a:spLocks noChangeArrowheads="1"/>
            </p:cNvSpPr>
            <p:nvPr>
              <p:custDataLst>
                <p:tags r:id="rId2"/>
              </p:custDataLst>
            </p:nvPr>
          </p:nvSpPr>
          <p:spPr bwMode="auto">
            <a:xfrm>
              <a:off x="3180" y="3691"/>
              <a:ext cx="840" cy="63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 name="MH_Other_3"/>
            <p:cNvSpPr>
              <a:spLocks noChangeArrowheads="1"/>
            </p:cNvSpPr>
            <p:nvPr>
              <p:custDataLst>
                <p:tags r:id="rId3"/>
              </p:custDataLst>
            </p:nvPr>
          </p:nvSpPr>
          <p:spPr bwMode="auto">
            <a:xfrm>
              <a:off x="2300" y="4366"/>
              <a:ext cx="820" cy="61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 name="MH_Other_4"/>
            <p:cNvSpPr>
              <a:spLocks noChangeArrowheads="1"/>
            </p:cNvSpPr>
            <p:nvPr>
              <p:custDataLst>
                <p:tags r:id="rId4"/>
              </p:custDataLst>
            </p:nvPr>
          </p:nvSpPr>
          <p:spPr bwMode="auto">
            <a:xfrm>
              <a:off x="3180" y="4366"/>
              <a:ext cx="1060" cy="52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SubTitle_1"/>
            <p:cNvSpPr/>
            <p:nvPr>
              <p:custDataLst>
                <p:tags r:id="rId5"/>
              </p:custDataLst>
            </p:nvPr>
          </p:nvSpPr>
          <p:spPr>
            <a:xfrm>
              <a:off x="4684" y="3613"/>
              <a:ext cx="7464" cy="1280"/>
            </a:xfrm>
            <a:prstGeom prst="rect">
              <a:avLst/>
            </a:prstGeom>
          </p:spPr>
          <p:txBody>
            <a:bodyPr lIns="0" tIns="0" rIns="0" bIns="0" anchor="ctr">
              <a:noAutofit/>
            </a:bodyPr>
            <a:lstStyle/>
            <a:p>
              <a:pPr>
                <a:lnSpc>
                  <a:spcPct val="140000"/>
                </a:lnSpc>
                <a:defRPr/>
              </a:pPr>
              <a:r>
                <a:rPr lang="zh-CN" altLang="en-US" sz="1600" dirty="0" smtClean="0">
                  <a:solidFill>
                    <a:srgbClr val="000000"/>
                  </a:solidFill>
                  <a:latin typeface="微软雅黑" panose="020B0503020204020204" charset="-122"/>
                  <a:ea typeface="微软雅黑" panose="020B0503020204020204" charset="-122"/>
                  <a:sym typeface="+mn-ea"/>
                </a:rPr>
                <a:t>       （1）以可理解、可预见的方式确定一个有条理的文档结构；</a:t>
              </a:r>
            </a:p>
          </p:txBody>
        </p:sp>
        <p:sp>
          <p:nvSpPr>
            <p:cNvPr id="9" name="MH_Other_5"/>
            <p:cNvSpPr>
              <a:spLocks noChangeArrowheads="1"/>
            </p:cNvSpPr>
            <p:nvPr>
              <p:custDataLst>
                <p:tags r:id="rId6"/>
              </p:custDataLst>
            </p:nvPr>
          </p:nvSpPr>
          <p:spPr bwMode="auto">
            <a:xfrm>
              <a:off x="7327" y="7009"/>
              <a:ext cx="1060" cy="795"/>
            </a:xfrm>
            <a:prstGeom prst="rect">
              <a:avLst/>
            </a:prstGeom>
            <a:solidFill>
              <a:srgbClr val="4FB469"/>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03</a:t>
              </a:r>
              <a:endParaRPr lang="zh-CN" altLang="en-US" sz="2400" b="1" dirty="0">
                <a:solidFill>
                  <a:srgbClr val="FFFFFF"/>
                </a:solidFill>
                <a:ea typeface="微软雅黑" panose="020B0503020204020204" charset="-122"/>
              </a:endParaRPr>
            </a:p>
          </p:txBody>
        </p:sp>
        <p:sp>
          <p:nvSpPr>
            <p:cNvPr id="10" name="MH_Other_6"/>
            <p:cNvSpPr>
              <a:spLocks noChangeArrowheads="1"/>
            </p:cNvSpPr>
            <p:nvPr>
              <p:custDataLst>
                <p:tags r:id="rId7"/>
              </p:custDataLst>
            </p:nvPr>
          </p:nvSpPr>
          <p:spPr bwMode="auto">
            <a:xfrm>
              <a:off x="8447" y="7174"/>
              <a:ext cx="840" cy="63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1" name="MH_Other_7"/>
            <p:cNvSpPr>
              <a:spLocks noChangeArrowheads="1"/>
            </p:cNvSpPr>
            <p:nvPr>
              <p:custDataLst>
                <p:tags r:id="rId8"/>
              </p:custDataLst>
            </p:nvPr>
          </p:nvSpPr>
          <p:spPr bwMode="auto">
            <a:xfrm>
              <a:off x="7567" y="7849"/>
              <a:ext cx="820" cy="61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Other_8"/>
            <p:cNvSpPr>
              <a:spLocks noChangeArrowheads="1"/>
            </p:cNvSpPr>
            <p:nvPr>
              <p:custDataLst>
                <p:tags r:id="rId9"/>
              </p:custDataLst>
            </p:nvPr>
          </p:nvSpPr>
          <p:spPr bwMode="auto">
            <a:xfrm>
              <a:off x="8447" y="7849"/>
              <a:ext cx="1060" cy="52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SubTitle_3"/>
            <p:cNvSpPr/>
            <p:nvPr>
              <p:custDataLst>
                <p:tags r:id="rId10"/>
              </p:custDataLst>
            </p:nvPr>
          </p:nvSpPr>
          <p:spPr>
            <a:xfrm>
              <a:off x="9996" y="7184"/>
              <a:ext cx="8096" cy="1280"/>
            </a:xfrm>
            <a:prstGeom prst="rect">
              <a:avLst/>
            </a:prstGeom>
          </p:spPr>
          <p:txBody>
            <a:bodyPr lIns="0" tIns="0" rIns="0" bIns="0" anchor="ctr">
              <a:noAutofit/>
            </a:bodyPr>
            <a:lstStyle/>
            <a:p>
              <a:pPr>
                <a:lnSpc>
                  <a:spcPct val="130000"/>
                </a:lnSpc>
                <a:defRPr/>
              </a:pPr>
              <a:r>
                <a:rPr lang="zh-CN" altLang="en-US" sz="1600" dirty="0" smtClean="0">
                  <a:solidFill>
                    <a:srgbClr val="000000"/>
                  </a:solidFill>
                  <a:latin typeface="微软雅黑" panose="020B0503020204020204" charset="-122"/>
                  <a:ea typeface="微软雅黑" panose="020B0503020204020204" charset="-122"/>
                  <a:sym typeface="+mn-ea"/>
                </a:rPr>
                <a:t>        （3）对各种变更提供控制设施。</a:t>
              </a:r>
            </a:p>
          </p:txBody>
        </p:sp>
        <p:sp>
          <p:nvSpPr>
            <p:cNvPr id="14" name="MH_Other_9"/>
            <p:cNvSpPr>
              <a:spLocks noChangeArrowheads="1"/>
            </p:cNvSpPr>
            <p:nvPr>
              <p:custDataLst>
                <p:tags r:id="rId11"/>
              </p:custDataLst>
            </p:nvPr>
          </p:nvSpPr>
          <p:spPr bwMode="auto">
            <a:xfrm>
              <a:off x="4720" y="5287"/>
              <a:ext cx="1060" cy="795"/>
            </a:xfrm>
            <a:prstGeom prst="rect">
              <a:avLst/>
            </a:prstGeom>
            <a:solidFill>
              <a:schemeClr val="accent5">
                <a:lumMod val="75000"/>
              </a:schemeClr>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02</a:t>
              </a:r>
              <a:endParaRPr lang="zh-CN" altLang="en-US" sz="2400" b="1" dirty="0">
                <a:solidFill>
                  <a:srgbClr val="FFFFFF"/>
                </a:solidFill>
                <a:ea typeface="微软雅黑" panose="020B0503020204020204" charset="-122"/>
              </a:endParaRPr>
            </a:p>
          </p:txBody>
        </p:sp>
        <p:sp>
          <p:nvSpPr>
            <p:cNvPr id="15" name="MH_Other_10"/>
            <p:cNvSpPr>
              <a:spLocks noChangeArrowheads="1"/>
            </p:cNvSpPr>
            <p:nvPr>
              <p:custDataLst>
                <p:tags r:id="rId12"/>
              </p:custDataLst>
            </p:nvPr>
          </p:nvSpPr>
          <p:spPr bwMode="auto">
            <a:xfrm>
              <a:off x="5840" y="5452"/>
              <a:ext cx="840" cy="63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6" name="MH_Other_11"/>
            <p:cNvSpPr>
              <a:spLocks noChangeArrowheads="1"/>
            </p:cNvSpPr>
            <p:nvPr>
              <p:custDataLst>
                <p:tags r:id="rId13"/>
              </p:custDataLst>
            </p:nvPr>
          </p:nvSpPr>
          <p:spPr bwMode="auto">
            <a:xfrm>
              <a:off x="4960" y="6127"/>
              <a:ext cx="820" cy="61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7" name="MH_Other_12"/>
            <p:cNvSpPr>
              <a:spLocks noChangeArrowheads="1"/>
            </p:cNvSpPr>
            <p:nvPr>
              <p:custDataLst>
                <p:tags r:id="rId14"/>
              </p:custDataLst>
            </p:nvPr>
          </p:nvSpPr>
          <p:spPr bwMode="auto">
            <a:xfrm>
              <a:off x="5840" y="6127"/>
              <a:ext cx="1060" cy="52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SubTitle_2"/>
            <p:cNvSpPr/>
            <p:nvPr>
              <p:custDataLst>
                <p:tags r:id="rId15"/>
              </p:custDataLst>
            </p:nvPr>
          </p:nvSpPr>
          <p:spPr>
            <a:xfrm>
              <a:off x="7290" y="5330"/>
              <a:ext cx="8906" cy="1280"/>
            </a:xfrm>
            <a:prstGeom prst="rect">
              <a:avLst/>
            </a:prstGeom>
          </p:spPr>
          <p:txBody>
            <a:bodyPr lIns="0" tIns="0" rIns="0" bIns="0" anchor="ctr">
              <a:noAutofit/>
            </a:bodyPr>
            <a:lstStyle/>
            <a:p>
              <a:pPr lvl="0" algn="just">
                <a:lnSpc>
                  <a:spcPct val="120000"/>
                </a:lnSpc>
                <a:spcBef>
                  <a:spcPct val="0"/>
                </a:spcBef>
              </a:pPr>
              <a:r>
                <a:rPr lang="zh-CN" altLang="en-US" sz="1600" dirty="0" smtClean="0">
                  <a:solidFill>
                    <a:srgbClr val="000000"/>
                  </a:solidFill>
                  <a:latin typeface="微软雅黑" panose="020B0503020204020204" charset="-122"/>
                  <a:ea typeface="微软雅黑" panose="020B0503020204020204" charset="-122"/>
                  <a:sym typeface="+mn-ea"/>
                </a:rPr>
                <a:t>       （2） 提供调节、修改的方法，并协助追溯各种变更；</a:t>
              </a:r>
            </a:p>
          </p:txBody>
        </p:sp>
      </p:grpSp>
      <p:grpSp>
        <p:nvGrpSpPr>
          <p:cNvPr id="33" name="组合 32"/>
          <p:cNvGrpSpPr/>
          <p:nvPr/>
        </p:nvGrpSpPr>
        <p:grpSpPr>
          <a:xfrm>
            <a:off x="1075904" y="1545071"/>
            <a:ext cx="3570605" cy="606425"/>
            <a:chOff x="881" y="2735"/>
            <a:chExt cx="5623" cy="955"/>
          </a:xfrm>
        </p:grpSpPr>
        <p:sp>
          <p:nvSpPr>
            <p:cNvPr id="167" name="圆角矩形"/>
            <p:cNvSpPr/>
            <p:nvPr/>
          </p:nvSpPr>
          <p:spPr>
            <a:xfrm>
              <a:off x="1188" y="3071"/>
              <a:ext cx="5316" cy="619"/>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dirty="0">
                  <a:solidFill>
                    <a:schemeClr val="bg2">
                      <a:lumMod val="50000"/>
                    </a:schemeClr>
                  </a:solidFill>
                </a:rPr>
                <a:t>   </a:t>
              </a:r>
              <a:endParaRPr lang="zh-CN" altLang="en-US">
                <a:solidFill>
                  <a:schemeClr val="bg2">
                    <a:lumMod val="50000"/>
                  </a:schemeClr>
                </a:solidFill>
              </a:endParaRPr>
            </a:p>
          </p:txBody>
        </p:sp>
        <p:sp>
          <p:nvSpPr>
            <p:cNvPr id="19"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20" name="文本框 19"/>
            <p:cNvSpPr txBox="1"/>
            <p:nvPr/>
          </p:nvSpPr>
          <p:spPr>
            <a:xfrm>
              <a:off x="1189" y="3071"/>
              <a:ext cx="5315" cy="619"/>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a:latin typeface="微软雅黑" panose="020B0503020204020204" charset="-122"/>
                  <a:ea typeface="微软雅黑" panose="020B0503020204020204" charset="-122"/>
                  <a:sym typeface="+mn-ea"/>
                </a:rPr>
                <a:t> 标识变更的主要目标是：</a:t>
              </a:r>
            </a:p>
          </p:txBody>
        </p:sp>
      </p:grpSp>
    </p:spTree>
  </p:cSld>
  <p:clrMapOvr>
    <a:masterClrMapping/>
  </p:clrMapOvr>
  <p:transition>
    <p:pull dir="rd"/>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10.5  </a:t>
            </a:r>
            <a:r>
              <a:rPr lang="zh-CN" altLang="en-US" dirty="0" smtClean="0">
                <a:solidFill>
                  <a:srgbClr val="FF0000"/>
                </a:solidFill>
                <a:sym typeface="+mn-ea"/>
              </a:rPr>
              <a:t>软件配置管理</a:t>
            </a:r>
            <a:endParaRPr lang="zh-CN" altLang="en-US" dirty="0">
              <a:solidFill>
                <a:srgbClr val="FF0000"/>
              </a:solidFill>
            </a:endParaRPr>
          </a:p>
        </p:txBody>
      </p:sp>
      <p:sp>
        <p:nvSpPr>
          <p:cNvPr id="2" name="MH_Text_1"/>
          <p:cNvSpPr/>
          <p:nvPr>
            <p:custDataLst>
              <p:tags r:id="rId1"/>
            </p:custDataLst>
          </p:nvPr>
        </p:nvSpPr>
        <p:spPr bwMode="auto">
          <a:xfrm>
            <a:off x="1722120" y="1729238"/>
            <a:ext cx="8335645" cy="1699895"/>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108000" tIns="46800" rIns="108000" bIns="46800" anchor="ctr"/>
          <a:lstStyle/>
          <a:p>
            <a:pPr indent="457200" fontAlgn="auto">
              <a:lnSpc>
                <a:spcPct val="130000"/>
              </a:lnSpc>
            </a:pPr>
            <a:r>
              <a:rPr smtClean="0">
                <a:latin typeface="+mn-ea"/>
              </a:rPr>
              <a:t>在软件工程中，对软件配置进行管理有一个基本概念——基线，基线是通过了正式复审的软件配置。美国电气与电子工程师学会（IEEE）</a:t>
            </a:r>
            <a:r>
              <a:rPr b="1" smtClean="0">
                <a:solidFill>
                  <a:srgbClr val="00B050"/>
                </a:solidFill>
                <a:latin typeface="+mn-ea"/>
              </a:rPr>
              <a:t>对基线的定义是：“已经通过了正式复审的规格说明或中间产品，它可以作为进一步开发的基础，并且只有通过正式的变化控制才能改变它。”</a:t>
            </a:r>
          </a:p>
        </p:txBody>
      </p:sp>
      <p:sp>
        <p:nvSpPr>
          <p:cNvPr id="4" name="MH_Other_1"/>
          <p:cNvSpPr txBox="1">
            <a:spLocks noChangeArrowheads="1"/>
          </p:cNvSpPr>
          <p:nvPr>
            <p:custDataLst>
              <p:tags r:id="rId2"/>
            </p:custDataLst>
          </p:nvPr>
        </p:nvSpPr>
        <p:spPr bwMode="auto">
          <a:xfrm>
            <a:off x="807565" y="1029041"/>
            <a:ext cx="992717" cy="2400300"/>
          </a:xfrm>
          <a:prstGeom prst="rect">
            <a:avLst/>
          </a:prstGeom>
          <a:noFill/>
          <a:ln w="9525">
            <a:noFill/>
            <a:miter lim="800000"/>
          </a:ln>
        </p:spPr>
        <p:txBody>
          <a:bodyPr anchor="ctr"/>
          <a:lstStyle/>
          <a:p>
            <a:pPr algn="ctr" eaLnBrk="1" hangingPunct="1"/>
            <a:r>
              <a:rPr lang="en-US" altLang="zh-CN" sz="15000" b="1" dirty="0">
                <a:solidFill>
                  <a:srgbClr val="01AFEE"/>
                </a:solidFill>
                <a:latin typeface="MS PMincho" panose="02020600040205080304" pitchFamily="18" charset="-128"/>
                <a:ea typeface="MS PMincho" panose="02020600040205080304" pitchFamily="18" charset="-128"/>
              </a:rPr>
              <a:t>1</a:t>
            </a:r>
            <a:endParaRPr lang="zh-CN" altLang="en-US" sz="15000" b="1">
              <a:solidFill>
                <a:srgbClr val="01AFEE"/>
              </a:solidFill>
              <a:latin typeface="MS PMincho" panose="02020600040205080304" pitchFamily="18" charset="-128"/>
              <a:ea typeface="MS PMincho" panose="02020600040205080304" pitchFamily="18" charset="-128"/>
            </a:endParaRPr>
          </a:p>
        </p:txBody>
      </p:sp>
      <p:sp>
        <p:nvSpPr>
          <p:cNvPr id="5" name="MH_Text_2"/>
          <p:cNvSpPr/>
          <p:nvPr>
            <p:custDataLst>
              <p:tags r:id="rId3"/>
            </p:custDataLst>
          </p:nvPr>
        </p:nvSpPr>
        <p:spPr bwMode="auto">
          <a:xfrm>
            <a:off x="2135505" y="3765048"/>
            <a:ext cx="8909050" cy="2104390"/>
          </a:xfrm>
          <a:custGeom>
            <a:avLst/>
            <a:gdLst>
              <a:gd name="T0" fmla="*/ 0 w 3882059"/>
              <a:gd name="T1" fmla="*/ 0 h 805263"/>
              <a:gd name="T2" fmla="*/ 18915162 w 3882059"/>
              <a:gd name="T3" fmla="*/ 0 h 805263"/>
              <a:gd name="T4" fmla="*/ 18915162 w 3882059"/>
              <a:gd name="T5" fmla="*/ 12673192 h 805263"/>
              <a:gd name="T6" fmla="*/ 0 w 3882059"/>
              <a:gd name="T7" fmla="*/ 12673192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360000" tIns="180000" rIns="180000" bIns="180000" anchor="ctr"/>
          <a:lstStyle/>
          <a:p>
            <a:pPr indent="457200" fontAlgn="auto">
              <a:lnSpc>
                <a:spcPct val="130000"/>
              </a:lnSpc>
            </a:pPr>
            <a:r>
              <a:rPr smtClean="0">
                <a:latin typeface="+mn-ea"/>
              </a:rPr>
              <a:t>在软件配置项变为基线之前，可以迅速地修改它。一旦建立了基线，就必须应用特定的、正式的过程来评估、实现和验证每个变更（不能随意地修改基线）。</a:t>
            </a:r>
          </a:p>
          <a:p>
            <a:pPr indent="457200" fontAlgn="auto">
              <a:lnSpc>
                <a:spcPct val="130000"/>
              </a:lnSpc>
            </a:pPr>
            <a:r>
              <a:rPr smtClean="0">
                <a:latin typeface="+mn-ea"/>
              </a:rPr>
              <a:t>为便于在配置项各层次中进行追溯，应确定好全部文档的格式、内容及控制机构。</a:t>
            </a:r>
            <a:r>
              <a:rPr b="1" smtClean="0">
                <a:solidFill>
                  <a:srgbClr val="00B050"/>
                </a:solidFill>
                <a:latin typeface="+mn-ea"/>
              </a:rPr>
              <a:t>要用同一种编号体制提供软件配置项的信息，以便对所有产品、文档和介质指定合适的标识号。</a:t>
            </a:r>
            <a:r>
              <a:rPr smtClean="0">
                <a:latin typeface="+mn-ea"/>
              </a:rPr>
              <a:t>注意，标识方式要有利于控制变更，要便于增删和修改。</a:t>
            </a:r>
          </a:p>
        </p:txBody>
      </p:sp>
      <p:sp>
        <p:nvSpPr>
          <p:cNvPr id="7" name="MH_Other_2"/>
          <p:cNvSpPr txBox="1">
            <a:spLocks noChangeArrowheads="1"/>
          </p:cNvSpPr>
          <p:nvPr>
            <p:custDataLst>
              <p:tags r:id="rId4"/>
            </p:custDataLst>
          </p:nvPr>
        </p:nvSpPr>
        <p:spPr bwMode="auto">
          <a:xfrm>
            <a:off x="1247140" y="2990348"/>
            <a:ext cx="1073150" cy="2400300"/>
          </a:xfrm>
          <a:prstGeom prst="rect">
            <a:avLst/>
          </a:prstGeom>
          <a:noFill/>
          <a:ln w="9525">
            <a:noFill/>
            <a:miter lim="800000"/>
          </a:ln>
        </p:spPr>
        <p:txBody>
          <a:bodyPr anchor="ctr"/>
          <a:lstStyle/>
          <a:p>
            <a:pPr algn="ctr" eaLnBrk="1" hangingPunct="1"/>
            <a:r>
              <a:rPr lang="en-US" altLang="zh-CN" sz="15000" b="1" dirty="0">
                <a:solidFill>
                  <a:srgbClr val="01AFEE"/>
                </a:solidFill>
                <a:latin typeface="MS PMincho" panose="02020600040205080304" pitchFamily="18" charset="-128"/>
                <a:ea typeface="MS PMincho" panose="02020600040205080304" pitchFamily="18" charset="-128"/>
              </a:rPr>
              <a:t>2</a:t>
            </a:r>
            <a:endParaRPr lang="zh-CN" altLang="en-US" sz="15000" b="1">
              <a:solidFill>
                <a:srgbClr val="01AFEE"/>
              </a:solidFill>
              <a:latin typeface="MS PMincho" panose="02020600040205080304" pitchFamily="18" charset="-128"/>
              <a:ea typeface="MS PMincho" panose="02020600040205080304" pitchFamily="18" charset="-128"/>
            </a:endParaRPr>
          </a:p>
        </p:txBody>
      </p:sp>
    </p:spTree>
  </p:cSld>
  <p:clrMapOvr>
    <a:masterClrMapping/>
  </p:clrMapOvr>
  <p:transition>
    <p:pull dir="rd"/>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10.5  </a:t>
            </a:r>
            <a:r>
              <a:rPr lang="zh-CN" altLang="en-US" dirty="0" smtClean="0">
                <a:solidFill>
                  <a:srgbClr val="FF0000"/>
                </a:solidFill>
                <a:sym typeface="+mn-ea"/>
              </a:rPr>
              <a:t>软件配置管理</a:t>
            </a:r>
            <a:endParaRPr lang="zh-CN" altLang="en-US" dirty="0">
              <a:solidFill>
                <a:srgbClr val="FF0000"/>
              </a:solidFill>
            </a:endParaRPr>
          </a:p>
        </p:txBody>
      </p:sp>
      <p:sp>
        <p:nvSpPr>
          <p:cNvPr id="2" name="文本框 1"/>
          <p:cNvSpPr txBox="1"/>
          <p:nvPr/>
        </p:nvSpPr>
        <p:spPr>
          <a:xfrm>
            <a:off x="478155" y="2942078"/>
            <a:ext cx="5831205" cy="2585085"/>
          </a:xfrm>
          <a:prstGeom prst="rect">
            <a:avLst/>
          </a:prstGeom>
          <a:noFill/>
        </p:spPr>
        <p:txBody>
          <a:bodyPr wrap="square" rtlCol="0" anchor="t">
            <a:spAutoFit/>
          </a:bodyPr>
          <a:lstStyle/>
          <a:p>
            <a:pPr marL="285750" indent="-285750" fontAlgn="auto">
              <a:lnSpc>
                <a:spcPct val="130000"/>
              </a:lnSpc>
              <a:buFont typeface="Wingdings" panose="05000000000000000000" charset="0"/>
              <a:buChar char="Ø"/>
            </a:pPr>
            <a:r>
              <a:rPr lang="zh-CN" altLang="en-US"/>
              <a:t>系统规格说明书；</a:t>
            </a:r>
          </a:p>
          <a:p>
            <a:pPr marL="285750" indent="-285750" fontAlgn="auto">
              <a:lnSpc>
                <a:spcPct val="130000"/>
              </a:lnSpc>
              <a:buFont typeface="Wingdings" panose="05000000000000000000" charset="0"/>
              <a:buChar char="Ø"/>
            </a:pPr>
            <a:r>
              <a:rPr lang="zh-CN" altLang="en-US"/>
              <a:t>软件项目实施计划；</a:t>
            </a:r>
          </a:p>
          <a:p>
            <a:pPr marL="285750" indent="-285750" fontAlgn="auto">
              <a:lnSpc>
                <a:spcPct val="130000"/>
              </a:lnSpc>
              <a:buFont typeface="Wingdings" panose="05000000000000000000" charset="0"/>
              <a:buChar char="Ø"/>
            </a:pPr>
            <a:r>
              <a:rPr lang="zh-CN" altLang="en-US"/>
              <a:t>软件需求规格说明书；</a:t>
            </a:r>
          </a:p>
          <a:p>
            <a:pPr marL="285750" indent="-285750" fontAlgn="auto">
              <a:lnSpc>
                <a:spcPct val="130000"/>
              </a:lnSpc>
              <a:buFont typeface="Wingdings" panose="05000000000000000000" charset="0"/>
              <a:buChar char="Ø"/>
            </a:pPr>
            <a:r>
              <a:rPr lang="zh-CN" altLang="en-US"/>
              <a:t>设计规格说明书（数据设计、体系结构设计、</a:t>
            </a:r>
          </a:p>
          <a:p>
            <a:pPr indent="0" fontAlgn="auto">
              <a:lnSpc>
                <a:spcPct val="130000"/>
              </a:lnSpc>
              <a:buFont typeface="Wingdings" panose="05000000000000000000" charset="0"/>
              <a:buNone/>
            </a:pPr>
            <a:r>
              <a:rPr lang="zh-CN" altLang="en-US"/>
              <a:t>模块设计、接口设计和对象描述）；</a:t>
            </a:r>
          </a:p>
          <a:p>
            <a:pPr marL="285750" indent="-285750" fontAlgn="auto">
              <a:lnSpc>
                <a:spcPct val="130000"/>
              </a:lnSpc>
              <a:buFont typeface="Wingdings" panose="05000000000000000000" charset="0"/>
              <a:buChar char="Ø"/>
            </a:pPr>
            <a:r>
              <a:rPr lang="zh-CN" altLang="en-US"/>
              <a:t>源代码清单；</a:t>
            </a:r>
          </a:p>
          <a:p>
            <a:pPr marL="285750" indent="-285750" fontAlgn="auto">
              <a:lnSpc>
                <a:spcPct val="130000"/>
              </a:lnSpc>
              <a:buFont typeface="Wingdings" panose="05000000000000000000" charset="0"/>
              <a:buChar char="Ø"/>
            </a:pPr>
            <a:r>
              <a:rPr lang="zh-CN" altLang="en-US">
                <a:sym typeface="+mn-ea"/>
              </a:rPr>
              <a:t>测试计划和过程、测试用例和测试结果记录；</a:t>
            </a:r>
            <a:endParaRPr lang="zh-CN" altLang="en-US"/>
          </a:p>
        </p:txBody>
      </p:sp>
      <p:sp>
        <p:nvSpPr>
          <p:cNvPr id="4" name="文本框 3"/>
          <p:cNvSpPr txBox="1"/>
          <p:nvPr/>
        </p:nvSpPr>
        <p:spPr>
          <a:xfrm>
            <a:off x="5758180" y="2942078"/>
            <a:ext cx="6240780" cy="2585085"/>
          </a:xfrm>
          <a:prstGeom prst="rect">
            <a:avLst/>
          </a:prstGeom>
          <a:noFill/>
        </p:spPr>
        <p:txBody>
          <a:bodyPr wrap="square" rtlCol="0">
            <a:spAutoFit/>
          </a:bodyPr>
          <a:lstStyle/>
          <a:p>
            <a:pPr marL="285750" indent="-285750" fontAlgn="auto">
              <a:lnSpc>
                <a:spcPct val="130000"/>
              </a:lnSpc>
              <a:buFont typeface="Wingdings" panose="05000000000000000000" charset="0"/>
              <a:buChar char="Ø"/>
            </a:pPr>
            <a:r>
              <a:rPr lang="zh-CN" altLang="en-US">
                <a:sym typeface="+mn-ea"/>
              </a:rPr>
              <a:t>操作和安装手册；</a:t>
            </a:r>
            <a:endParaRPr lang="zh-CN" altLang="en-US"/>
          </a:p>
          <a:p>
            <a:pPr marL="285750" indent="-285750" fontAlgn="auto">
              <a:lnSpc>
                <a:spcPct val="130000"/>
              </a:lnSpc>
              <a:buFont typeface="Wingdings" panose="05000000000000000000" charset="0"/>
              <a:buChar char="Ø"/>
            </a:pPr>
            <a:r>
              <a:rPr lang="zh-CN" altLang="en-US">
                <a:sym typeface="+mn-ea"/>
              </a:rPr>
              <a:t>可执行程序（可执行程序模块、连接模块）；</a:t>
            </a:r>
            <a:endParaRPr lang="zh-CN" altLang="en-US"/>
          </a:p>
          <a:p>
            <a:pPr marL="285750" indent="-285750" fontAlgn="auto">
              <a:lnSpc>
                <a:spcPct val="130000"/>
              </a:lnSpc>
              <a:buFont typeface="Wingdings" panose="05000000000000000000" charset="0"/>
              <a:buChar char="Ø"/>
            </a:pPr>
            <a:r>
              <a:rPr lang="zh-CN" altLang="en-US">
                <a:sym typeface="+mn-ea"/>
              </a:rPr>
              <a:t>数据库描述（模式和文件结构、初始内容）；</a:t>
            </a:r>
            <a:endParaRPr lang="zh-CN" altLang="en-US"/>
          </a:p>
          <a:p>
            <a:pPr marL="285750" indent="-285750" fontAlgn="auto">
              <a:lnSpc>
                <a:spcPct val="130000"/>
              </a:lnSpc>
              <a:buFont typeface="Wingdings" panose="05000000000000000000" charset="0"/>
              <a:buChar char="Ø"/>
            </a:pPr>
            <a:r>
              <a:rPr lang="zh-CN" altLang="en-US">
                <a:sym typeface="+mn-ea"/>
              </a:rPr>
              <a:t>用户手册；</a:t>
            </a:r>
            <a:endParaRPr lang="zh-CN" altLang="en-US"/>
          </a:p>
          <a:p>
            <a:pPr marL="285750" indent="-285750" fontAlgn="auto">
              <a:lnSpc>
                <a:spcPct val="130000"/>
              </a:lnSpc>
              <a:buFont typeface="Wingdings" panose="05000000000000000000" charset="0"/>
              <a:buChar char="Ø"/>
            </a:pPr>
            <a:r>
              <a:rPr lang="zh-CN" altLang="en-US">
                <a:sym typeface="+mn-ea"/>
              </a:rPr>
              <a:t>维护文档（软件问题报告、维护请求和工程变更次序）；</a:t>
            </a:r>
            <a:endParaRPr lang="zh-CN" altLang="en-US"/>
          </a:p>
          <a:p>
            <a:pPr marL="285750" indent="-285750" fontAlgn="auto">
              <a:lnSpc>
                <a:spcPct val="130000"/>
              </a:lnSpc>
              <a:buFont typeface="Wingdings" panose="05000000000000000000" charset="0"/>
              <a:buChar char="Ø"/>
            </a:pPr>
            <a:r>
              <a:rPr lang="zh-CN" altLang="en-US">
                <a:sym typeface="+mn-ea"/>
              </a:rPr>
              <a:t>软件工程标准；</a:t>
            </a:r>
            <a:endParaRPr lang="zh-CN" altLang="en-US"/>
          </a:p>
          <a:p>
            <a:pPr marL="285750" indent="-285750" fontAlgn="auto">
              <a:lnSpc>
                <a:spcPct val="130000"/>
              </a:lnSpc>
              <a:buFont typeface="Wingdings" panose="05000000000000000000" charset="0"/>
              <a:buChar char="Ø"/>
            </a:pPr>
            <a:r>
              <a:rPr lang="zh-CN" altLang="en-US">
                <a:sym typeface="+mn-ea"/>
              </a:rPr>
              <a:t>项目开发小结。</a:t>
            </a:r>
            <a:endParaRPr lang="zh-CN" altLang="en-US"/>
          </a:p>
        </p:txBody>
      </p:sp>
      <p:sp>
        <p:nvSpPr>
          <p:cNvPr id="5" name="文本框 4"/>
          <p:cNvSpPr txBox="1"/>
          <p:nvPr/>
        </p:nvSpPr>
        <p:spPr>
          <a:xfrm>
            <a:off x="4439920" y="1750818"/>
            <a:ext cx="3020060" cy="803910"/>
          </a:xfrm>
          <a:prstGeom prst="rect">
            <a:avLst/>
          </a:prstGeom>
          <a:solidFill>
            <a:schemeClr val="accent3">
              <a:lumMod val="20000"/>
              <a:lumOff val="80000"/>
            </a:schemeClr>
          </a:solidFill>
        </p:spPr>
        <p:txBody>
          <a:bodyPr wrap="square" rtlCol="0" anchor="t">
            <a:spAutoFit/>
          </a:bodyPr>
          <a:lstStyle/>
          <a:p>
            <a:pPr indent="0" fontAlgn="auto">
              <a:lnSpc>
                <a:spcPct val="130000"/>
              </a:lnSpc>
              <a:buFont typeface="Wingdings" panose="05000000000000000000" charset="0"/>
              <a:buNone/>
            </a:pPr>
            <a:r>
              <a:rPr lang="zh-CN" altLang="en-US">
                <a:sym typeface="+mn-ea"/>
              </a:rPr>
              <a:t>以下软件配置项是软件配置管理的对象，并可形成基线。</a:t>
            </a:r>
            <a:endParaRPr lang="zh-CN" altLang="en-US"/>
          </a:p>
        </p:txBody>
      </p:sp>
      <p:cxnSp>
        <p:nvCxnSpPr>
          <p:cNvPr id="20" name="MH_Other_12"/>
          <p:cNvCxnSpPr/>
          <p:nvPr>
            <p:custDataLst>
              <p:tags r:id="rId1"/>
            </p:custDataLst>
          </p:nvPr>
        </p:nvCxnSpPr>
        <p:spPr>
          <a:xfrm>
            <a:off x="0" y="2689983"/>
            <a:ext cx="12206605" cy="22860"/>
          </a:xfrm>
          <a:prstGeom prst="line">
            <a:avLst/>
          </a:prstGeom>
          <a:ln w="28575"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pull dir="rd"/>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10.5  </a:t>
            </a:r>
            <a:r>
              <a:rPr lang="zh-CN" altLang="en-US" dirty="0" smtClean="0">
                <a:solidFill>
                  <a:srgbClr val="FF0000"/>
                </a:solidFill>
                <a:sym typeface="+mn-ea"/>
              </a:rPr>
              <a:t>软件配置管理</a:t>
            </a:r>
            <a:endParaRPr lang="zh-CN" altLang="en-US" dirty="0">
              <a:solidFill>
                <a:srgbClr val="FF0000"/>
              </a:solidFill>
            </a:endParaRPr>
          </a:p>
        </p:txBody>
      </p:sp>
      <p:grpSp>
        <p:nvGrpSpPr>
          <p:cNvPr id="2" name="组合 1"/>
          <p:cNvGrpSpPr/>
          <p:nvPr/>
        </p:nvGrpSpPr>
        <p:grpSpPr>
          <a:xfrm>
            <a:off x="1224972" y="3058402"/>
            <a:ext cx="10180320" cy="2993390"/>
            <a:chOff x="2060" y="3526"/>
            <a:chExt cx="16032" cy="4714"/>
          </a:xfrm>
        </p:grpSpPr>
        <p:sp>
          <p:nvSpPr>
            <p:cNvPr id="4" name="MH_Other_1"/>
            <p:cNvSpPr>
              <a:spLocks noChangeArrowheads="1"/>
            </p:cNvSpPr>
            <p:nvPr>
              <p:custDataLst>
                <p:tags r:id="rId1"/>
              </p:custDataLst>
            </p:nvPr>
          </p:nvSpPr>
          <p:spPr bwMode="auto">
            <a:xfrm>
              <a:off x="2060" y="3526"/>
              <a:ext cx="1060" cy="795"/>
            </a:xfrm>
            <a:prstGeom prst="rect">
              <a:avLst/>
            </a:prstGeom>
            <a:solidFill>
              <a:srgbClr val="25B4E9"/>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5" name="MH_Other_2"/>
            <p:cNvSpPr>
              <a:spLocks noChangeArrowheads="1"/>
            </p:cNvSpPr>
            <p:nvPr>
              <p:custDataLst>
                <p:tags r:id="rId2"/>
              </p:custDataLst>
            </p:nvPr>
          </p:nvSpPr>
          <p:spPr bwMode="auto">
            <a:xfrm>
              <a:off x="3180" y="3691"/>
              <a:ext cx="840" cy="63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 name="MH_Other_3"/>
            <p:cNvSpPr>
              <a:spLocks noChangeArrowheads="1"/>
            </p:cNvSpPr>
            <p:nvPr>
              <p:custDataLst>
                <p:tags r:id="rId3"/>
              </p:custDataLst>
            </p:nvPr>
          </p:nvSpPr>
          <p:spPr bwMode="auto">
            <a:xfrm>
              <a:off x="2300" y="4366"/>
              <a:ext cx="820" cy="61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 name="MH_Other_4"/>
            <p:cNvSpPr>
              <a:spLocks noChangeArrowheads="1"/>
            </p:cNvSpPr>
            <p:nvPr>
              <p:custDataLst>
                <p:tags r:id="rId4"/>
              </p:custDataLst>
            </p:nvPr>
          </p:nvSpPr>
          <p:spPr bwMode="auto">
            <a:xfrm>
              <a:off x="3180" y="4366"/>
              <a:ext cx="1060" cy="52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SubTitle_1"/>
            <p:cNvSpPr/>
            <p:nvPr>
              <p:custDataLst>
                <p:tags r:id="rId5"/>
              </p:custDataLst>
            </p:nvPr>
          </p:nvSpPr>
          <p:spPr>
            <a:xfrm>
              <a:off x="4684" y="3613"/>
              <a:ext cx="7464" cy="1280"/>
            </a:xfrm>
            <a:prstGeom prst="rect">
              <a:avLst/>
            </a:prstGeom>
          </p:spPr>
          <p:txBody>
            <a:bodyPr lIns="0" tIns="0" rIns="0" bIns="0" anchor="ctr">
              <a:noAutofit/>
            </a:bodyPr>
            <a:lstStyle/>
            <a:p>
              <a:pPr>
                <a:lnSpc>
                  <a:spcPct val="140000"/>
                </a:lnSpc>
                <a:defRPr/>
              </a:pPr>
              <a:r>
                <a:rPr lang="zh-CN" altLang="en-US" sz="1600" dirty="0" smtClean="0">
                  <a:solidFill>
                    <a:srgbClr val="000000"/>
                  </a:solidFill>
                  <a:latin typeface="微软雅黑" panose="020B0503020204020204" charset="-122"/>
                  <a:ea typeface="微软雅黑" panose="020B0503020204020204" charset="-122"/>
                  <a:sym typeface="+mn-ea"/>
                </a:rPr>
                <a:t>       （1）为全部软件配置建立一个专门的软件库。</a:t>
              </a:r>
            </a:p>
          </p:txBody>
        </p:sp>
        <p:sp>
          <p:nvSpPr>
            <p:cNvPr id="9" name="MH_Other_5"/>
            <p:cNvSpPr>
              <a:spLocks noChangeArrowheads="1"/>
            </p:cNvSpPr>
            <p:nvPr>
              <p:custDataLst>
                <p:tags r:id="rId6"/>
              </p:custDataLst>
            </p:nvPr>
          </p:nvSpPr>
          <p:spPr bwMode="auto">
            <a:xfrm>
              <a:off x="7327" y="6785"/>
              <a:ext cx="1060" cy="795"/>
            </a:xfrm>
            <a:prstGeom prst="rect">
              <a:avLst/>
            </a:prstGeom>
            <a:solidFill>
              <a:srgbClr val="4FB469"/>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0" name="MH_Other_6"/>
            <p:cNvSpPr>
              <a:spLocks noChangeArrowheads="1"/>
            </p:cNvSpPr>
            <p:nvPr>
              <p:custDataLst>
                <p:tags r:id="rId7"/>
              </p:custDataLst>
            </p:nvPr>
          </p:nvSpPr>
          <p:spPr bwMode="auto">
            <a:xfrm>
              <a:off x="8447" y="6950"/>
              <a:ext cx="840" cy="63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1" name="MH_Other_7"/>
            <p:cNvSpPr>
              <a:spLocks noChangeArrowheads="1"/>
            </p:cNvSpPr>
            <p:nvPr>
              <p:custDataLst>
                <p:tags r:id="rId8"/>
              </p:custDataLst>
            </p:nvPr>
          </p:nvSpPr>
          <p:spPr bwMode="auto">
            <a:xfrm>
              <a:off x="7567" y="7625"/>
              <a:ext cx="820" cy="61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Other_8"/>
            <p:cNvSpPr>
              <a:spLocks noChangeArrowheads="1"/>
            </p:cNvSpPr>
            <p:nvPr>
              <p:custDataLst>
                <p:tags r:id="rId9"/>
              </p:custDataLst>
            </p:nvPr>
          </p:nvSpPr>
          <p:spPr bwMode="auto">
            <a:xfrm>
              <a:off x="8447" y="7625"/>
              <a:ext cx="1060" cy="52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SubTitle_3"/>
            <p:cNvSpPr/>
            <p:nvPr>
              <p:custDataLst>
                <p:tags r:id="rId10"/>
              </p:custDataLst>
            </p:nvPr>
          </p:nvSpPr>
          <p:spPr>
            <a:xfrm>
              <a:off x="9996" y="6960"/>
              <a:ext cx="8096" cy="1280"/>
            </a:xfrm>
            <a:prstGeom prst="rect">
              <a:avLst/>
            </a:prstGeom>
          </p:spPr>
          <p:txBody>
            <a:bodyPr lIns="0" tIns="0" rIns="0" bIns="0" anchor="ctr">
              <a:noAutofit/>
            </a:bodyPr>
            <a:lstStyle/>
            <a:p>
              <a:pPr>
                <a:lnSpc>
                  <a:spcPct val="130000"/>
                </a:lnSpc>
                <a:defRPr/>
              </a:pPr>
              <a:r>
                <a:rPr lang="zh-CN" altLang="en-US" sz="1600" dirty="0" smtClean="0">
                  <a:solidFill>
                    <a:srgbClr val="000000"/>
                  </a:solidFill>
                  <a:latin typeface="微软雅黑" panose="020B0503020204020204" charset="-122"/>
                  <a:ea typeface="微软雅黑" panose="020B0503020204020204" charset="-122"/>
                  <a:sym typeface="+mn-ea"/>
                </a:rPr>
                <a:t>        （3）由可靠的计算机终端访问的文档检索设备及文字处理设备支持的联机软件库。</a:t>
              </a:r>
            </a:p>
          </p:txBody>
        </p:sp>
        <p:sp>
          <p:nvSpPr>
            <p:cNvPr id="14" name="MH_Other_9"/>
            <p:cNvSpPr>
              <a:spLocks noChangeArrowheads="1"/>
            </p:cNvSpPr>
            <p:nvPr>
              <p:custDataLst>
                <p:tags r:id="rId11"/>
              </p:custDataLst>
            </p:nvPr>
          </p:nvSpPr>
          <p:spPr bwMode="auto">
            <a:xfrm>
              <a:off x="4720" y="5119"/>
              <a:ext cx="1060" cy="795"/>
            </a:xfrm>
            <a:prstGeom prst="rect">
              <a:avLst/>
            </a:prstGeom>
            <a:solidFill>
              <a:schemeClr val="accent5">
                <a:lumMod val="75000"/>
              </a:schemeClr>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02</a:t>
              </a:r>
              <a:endParaRPr lang="zh-CN" altLang="en-US" sz="2400" b="1" dirty="0">
                <a:solidFill>
                  <a:srgbClr val="FFFFFF"/>
                </a:solidFill>
                <a:ea typeface="微软雅黑" panose="020B0503020204020204" charset="-122"/>
              </a:endParaRPr>
            </a:p>
          </p:txBody>
        </p:sp>
        <p:sp>
          <p:nvSpPr>
            <p:cNvPr id="15" name="MH_Other_10"/>
            <p:cNvSpPr>
              <a:spLocks noChangeArrowheads="1"/>
            </p:cNvSpPr>
            <p:nvPr>
              <p:custDataLst>
                <p:tags r:id="rId12"/>
              </p:custDataLst>
            </p:nvPr>
          </p:nvSpPr>
          <p:spPr bwMode="auto">
            <a:xfrm>
              <a:off x="5840" y="5284"/>
              <a:ext cx="840" cy="63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6" name="MH_Other_11"/>
            <p:cNvSpPr>
              <a:spLocks noChangeArrowheads="1"/>
            </p:cNvSpPr>
            <p:nvPr>
              <p:custDataLst>
                <p:tags r:id="rId13"/>
              </p:custDataLst>
            </p:nvPr>
          </p:nvSpPr>
          <p:spPr bwMode="auto">
            <a:xfrm>
              <a:off x="4960" y="5959"/>
              <a:ext cx="820" cy="61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7" name="MH_Other_12"/>
            <p:cNvSpPr>
              <a:spLocks noChangeArrowheads="1"/>
            </p:cNvSpPr>
            <p:nvPr>
              <p:custDataLst>
                <p:tags r:id="rId14"/>
              </p:custDataLst>
            </p:nvPr>
          </p:nvSpPr>
          <p:spPr bwMode="auto">
            <a:xfrm>
              <a:off x="5840" y="5959"/>
              <a:ext cx="1060" cy="52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SubTitle_2"/>
            <p:cNvSpPr/>
            <p:nvPr>
              <p:custDataLst>
                <p:tags r:id="rId15"/>
              </p:custDataLst>
            </p:nvPr>
          </p:nvSpPr>
          <p:spPr>
            <a:xfrm>
              <a:off x="7290" y="5162"/>
              <a:ext cx="8906" cy="1280"/>
            </a:xfrm>
            <a:prstGeom prst="rect">
              <a:avLst/>
            </a:prstGeom>
          </p:spPr>
          <p:txBody>
            <a:bodyPr lIns="0" tIns="0" rIns="0" bIns="0" anchor="ctr">
              <a:noAutofit/>
            </a:bodyPr>
            <a:lstStyle/>
            <a:p>
              <a:pPr lvl="0" algn="just">
                <a:lnSpc>
                  <a:spcPct val="120000"/>
                </a:lnSpc>
                <a:spcBef>
                  <a:spcPct val="0"/>
                </a:spcBef>
              </a:pPr>
              <a:r>
                <a:rPr lang="zh-CN" altLang="en-US" sz="1600" dirty="0" smtClean="0">
                  <a:solidFill>
                    <a:srgbClr val="000000"/>
                  </a:solidFill>
                  <a:latin typeface="微软雅黑" panose="020B0503020204020204" charset="-122"/>
                  <a:ea typeface="微软雅黑" panose="020B0503020204020204" charset="-122"/>
                  <a:sym typeface="+mn-ea"/>
                </a:rPr>
                <a:t>       （2）把全部软件文档以及每个配置的其他成分都视为已建成的文档库的组成部分。</a:t>
              </a:r>
            </a:p>
          </p:txBody>
        </p:sp>
      </p:grpSp>
      <p:sp>
        <p:nvSpPr>
          <p:cNvPr id="20" name="文本框 19"/>
          <p:cNvSpPr txBox="1"/>
          <p:nvPr/>
        </p:nvSpPr>
        <p:spPr>
          <a:xfrm>
            <a:off x="1400389" y="2193691"/>
            <a:ext cx="9667413" cy="701731"/>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在软件的生存周期中对软件配置项进行变更的评价及核准的机制，称为控制变更。实施文档控制的方法大致有以下3种：</a:t>
            </a:r>
          </a:p>
        </p:txBody>
      </p:sp>
      <p:sp>
        <p:nvSpPr>
          <p:cNvPr id="23" name="TextBox 22"/>
          <p:cNvSpPr txBox="1"/>
          <p:nvPr/>
        </p:nvSpPr>
        <p:spPr>
          <a:xfrm>
            <a:off x="824415" y="1496381"/>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2</a:t>
            </a:r>
            <a:r>
              <a:rPr lang="zh-CN" altLang="en-US" sz="2400" dirty="0" smtClean="0"/>
              <a:t>．控制变更</a:t>
            </a:r>
          </a:p>
        </p:txBody>
      </p:sp>
    </p:spTree>
  </p:cSld>
  <p:clrMapOvr>
    <a:masterClrMapping/>
  </p:clrMapOvr>
  <p:transition>
    <p:pull dir="rd"/>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10.5  </a:t>
            </a:r>
            <a:r>
              <a:rPr lang="zh-CN" altLang="en-US" dirty="0" smtClean="0">
                <a:solidFill>
                  <a:srgbClr val="FF0000"/>
                </a:solidFill>
                <a:sym typeface="+mn-ea"/>
              </a:rPr>
              <a:t>软件配置管理</a:t>
            </a:r>
            <a:endParaRPr lang="zh-CN" altLang="en-US" dirty="0">
              <a:solidFill>
                <a:srgbClr val="FF0000"/>
              </a:solidFill>
            </a:endParaRPr>
          </a:p>
        </p:txBody>
      </p:sp>
      <p:grpSp>
        <p:nvGrpSpPr>
          <p:cNvPr id="2" name="组合 1"/>
          <p:cNvGrpSpPr/>
          <p:nvPr/>
        </p:nvGrpSpPr>
        <p:grpSpPr>
          <a:xfrm>
            <a:off x="700708" y="1710192"/>
            <a:ext cx="10873161" cy="4026097"/>
            <a:chOff x="4698" y="5747"/>
            <a:chExt cx="13505" cy="4694"/>
          </a:xfrm>
        </p:grpSpPr>
        <p:grpSp>
          <p:nvGrpSpPr>
            <p:cNvPr id="36" name="组合 35"/>
            <p:cNvGrpSpPr/>
            <p:nvPr/>
          </p:nvGrpSpPr>
          <p:grpSpPr>
            <a:xfrm>
              <a:off x="13345" y="5863"/>
              <a:ext cx="4858" cy="4334"/>
              <a:chOff x="5868863" y="2685141"/>
              <a:chExt cx="3586468" cy="2387283"/>
            </a:xfrm>
          </p:grpSpPr>
          <p:sp>
            <p:nvSpPr>
              <p:cNvPr id="38" name="圆角矩形标注 37"/>
              <p:cNvSpPr/>
              <p:nvPr/>
            </p:nvSpPr>
            <p:spPr>
              <a:xfrm>
                <a:off x="5868863" y="2696081"/>
                <a:ext cx="3585885" cy="2376343"/>
              </a:xfrm>
              <a:prstGeom prst="wedgeRoundRectCallout">
                <a:avLst>
                  <a:gd name="adj1" fmla="val -63928"/>
                  <a:gd name="adj2" fmla="val 7929"/>
                  <a:gd name="adj3" fmla="val 16667"/>
                </a:avLst>
              </a:prstGeom>
            </p:spPr>
            <p:style>
              <a:lnRef idx="2">
                <a:schemeClr val="accent1"/>
              </a:lnRef>
              <a:fillRef idx="1">
                <a:schemeClr val="lt1"/>
              </a:fillRef>
              <a:effectRef idx="0">
                <a:schemeClr val="accent1"/>
              </a:effectRef>
              <a:fontRef idx="minor">
                <a:schemeClr val="dk1"/>
              </a:fontRef>
            </p:style>
            <p:txBody>
              <a:bodyPr anchor="ctr"/>
              <a:lstStyle/>
              <a:p>
                <a:pPr algn="ctr" defTabSz="1234440">
                  <a:defRPr/>
                </a:pPr>
                <a:endParaRPr lang="zh-CN" altLang="en-US"/>
              </a:p>
            </p:txBody>
          </p:sp>
          <p:sp>
            <p:nvSpPr>
              <p:cNvPr id="39" name="TextBox 17"/>
              <p:cNvSpPr txBox="1"/>
              <p:nvPr/>
            </p:nvSpPr>
            <p:spPr>
              <a:xfrm>
                <a:off x="6078496" y="2685141"/>
                <a:ext cx="3376835" cy="2249672"/>
              </a:xfrm>
              <a:prstGeom prst="rect">
                <a:avLst/>
              </a:prstGeom>
              <a:noFill/>
            </p:spPr>
            <p:txBody>
              <a:bodyPr wrap="square" rtlCol="0">
                <a:spAutoFit/>
              </a:bodyPr>
              <a:lstStyle/>
              <a:p>
                <a:pPr>
                  <a:lnSpc>
                    <a:spcPct val="150000"/>
                  </a:lnSpc>
                </a:pPr>
                <a:endParaRPr lang="en-US" altLang="zh-CN" sz="900" dirty="0">
                  <a:solidFill>
                    <a:schemeClr val="tx1">
                      <a:lumMod val="65000"/>
                      <a:lumOff val="35000"/>
                    </a:schemeClr>
                  </a:solidFill>
                  <a:latin typeface="微软雅黑" panose="020B0503020204020204" charset="-122"/>
                  <a:ea typeface="微软雅黑" panose="020B0503020204020204" charset="-122"/>
                </a:endParaRPr>
              </a:p>
              <a:p>
                <a:pPr fontAlgn="auto">
                  <a:lnSpc>
                    <a:spcPct val="130000"/>
                  </a:lnSpc>
                </a:pPr>
                <a:r>
                  <a:rPr lang="zh-CN" altLang="zh-CN" dirty="0">
                    <a:solidFill>
                      <a:schemeClr val="tx1">
                        <a:lumMod val="65000"/>
                        <a:lumOff val="35000"/>
                      </a:schemeClr>
                    </a:solidFill>
                    <a:latin typeface="微软雅黑" panose="020B0503020204020204" charset="-122"/>
                    <a:ea typeface="微软雅黑" panose="020B0503020204020204" charset="-122"/>
                  </a:rPr>
                  <a:t>      </a:t>
                </a:r>
                <a:r>
                  <a:rPr lang="zh-CN" altLang="zh-CN" b="1" dirty="0">
                    <a:solidFill>
                      <a:srgbClr val="00B050"/>
                    </a:solidFill>
                    <a:latin typeface="微软雅黑" panose="020B0503020204020204" charset="-122"/>
                    <a:ea typeface="微软雅黑" panose="020B0503020204020204" charset="-122"/>
                  </a:rPr>
                  <a:t>实行配置管理意味着对配置的每一种变动都要有复查及批准手续。</a:t>
                </a:r>
                <a:r>
                  <a:rPr lang="zh-CN" altLang="zh-CN" dirty="0">
                    <a:latin typeface="微软雅黑" panose="020B0503020204020204" charset="-122"/>
                    <a:ea typeface="微软雅黑" panose="020B0503020204020204" charset="-122"/>
                  </a:rPr>
                  <a:t>变动控制越正规，复查及批准手续就越麻烦。</a:t>
                </a:r>
              </a:p>
              <a:p>
                <a:pPr fontAlgn="auto">
                  <a:lnSpc>
                    <a:spcPct val="130000"/>
                  </a:lnSpc>
                </a:pPr>
                <a:r>
                  <a:rPr lang="zh-CN" altLang="zh-CN" dirty="0">
                    <a:latin typeface="微软雅黑" panose="020B0503020204020204" charset="-122"/>
                    <a:ea typeface="微软雅黑" panose="020B0503020204020204" charset="-122"/>
                  </a:rPr>
                  <a:t>       </a:t>
                </a:r>
                <a:r>
                  <a:rPr lang="zh-CN" altLang="zh-CN" b="1" dirty="0">
                    <a:solidFill>
                      <a:srgbClr val="00B050"/>
                    </a:solidFill>
                    <a:latin typeface="微软雅黑" panose="020B0503020204020204" charset="-122"/>
                    <a:ea typeface="微软雅黑" panose="020B0503020204020204" charset="-122"/>
                  </a:rPr>
                  <a:t>变更控制包括建立控制点和建立报告与审查制度。</a:t>
                </a:r>
                <a:r>
                  <a:rPr lang="zh-CN" altLang="zh-CN" dirty="0">
                    <a:latin typeface="微软雅黑" panose="020B0503020204020204" charset="-122"/>
                    <a:ea typeface="微软雅黑" panose="020B0503020204020204" charset="-122"/>
                  </a:rPr>
                  <a:t>对于一个大型软件来说，不加控制的变更很快就会引起混乱。因此变更控制是一项最重要的软件配置管理任务。</a:t>
                </a:r>
              </a:p>
            </p:txBody>
          </p:sp>
        </p:grpSp>
        <p:pic>
          <p:nvPicPr>
            <p:cNvPr id="41" name="图片 19" descr="administrator.png"/>
            <p:cNvPicPr>
              <a:picLocks noChangeAspect="1"/>
            </p:cNvPicPr>
            <p:nvPr/>
          </p:nvPicPr>
          <p:blipFill>
            <a:blip r:embed="rId3" cstate="print"/>
            <a:srcRect/>
            <a:stretch>
              <a:fillRect/>
            </a:stretch>
          </p:blipFill>
          <p:spPr bwMode="auto">
            <a:xfrm>
              <a:off x="9831" y="6108"/>
              <a:ext cx="3225" cy="3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42" name="组合 41"/>
            <p:cNvGrpSpPr/>
            <p:nvPr/>
          </p:nvGrpSpPr>
          <p:grpSpPr>
            <a:xfrm>
              <a:off x="4698" y="5747"/>
              <a:ext cx="4791" cy="4694"/>
              <a:chOff x="-126583" y="2691160"/>
              <a:chExt cx="3402957" cy="2979969"/>
            </a:xfrm>
          </p:grpSpPr>
          <p:sp>
            <p:nvSpPr>
              <p:cNvPr id="43" name="圆角矩形标注 42"/>
              <p:cNvSpPr/>
              <p:nvPr/>
            </p:nvSpPr>
            <p:spPr>
              <a:xfrm>
                <a:off x="-126583" y="2691160"/>
                <a:ext cx="3402957" cy="2826761"/>
              </a:xfrm>
              <a:prstGeom prst="wedgeRoundRectCallout">
                <a:avLst>
                  <a:gd name="adj1" fmla="val 62636"/>
                  <a:gd name="adj2" fmla="val 8421"/>
                  <a:gd name="adj3" fmla="val 16667"/>
                </a:avLst>
              </a:prstGeom>
            </p:spPr>
            <p:style>
              <a:lnRef idx="2">
                <a:schemeClr val="accent1"/>
              </a:lnRef>
              <a:fillRef idx="1">
                <a:schemeClr val="lt1"/>
              </a:fillRef>
              <a:effectRef idx="0">
                <a:schemeClr val="accent1"/>
              </a:effectRef>
              <a:fontRef idx="minor">
                <a:schemeClr val="dk1"/>
              </a:fontRef>
            </p:style>
            <p:txBody>
              <a:bodyPr anchor="ctr"/>
              <a:lstStyle/>
              <a:p>
                <a:pPr algn="ctr" defTabSz="1234440">
                  <a:defRPr/>
                </a:pPr>
                <a:endParaRPr lang="zh-CN" altLang="en-US"/>
              </a:p>
            </p:txBody>
          </p:sp>
          <p:sp>
            <p:nvSpPr>
              <p:cNvPr id="44" name="TextBox 2"/>
              <p:cNvSpPr txBox="1"/>
              <p:nvPr/>
            </p:nvSpPr>
            <p:spPr>
              <a:xfrm>
                <a:off x="-72975" y="2937184"/>
                <a:ext cx="3287005" cy="2733945"/>
              </a:xfrm>
              <a:prstGeom prst="rect">
                <a:avLst/>
              </a:prstGeom>
              <a:noFill/>
            </p:spPr>
            <p:txBody>
              <a:bodyPr wrap="square" rtlCol="0">
                <a:spAutoFit/>
              </a:bodyPr>
              <a:lstStyle/>
              <a:p>
                <a:pPr fontAlgn="auto">
                  <a:lnSpc>
                    <a:spcPct val="130000"/>
                  </a:lnSpc>
                </a:pPr>
                <a:r>
                  <a:rPr lang="en-US" altLang="zh-CN" dirty="0">
                    <a:solidFill>
                      <a:schemeClr val="tx1">
                        <a:lumMod val="65000"/>
                        <a:lumOff val="35000"/>
                      </a:schemeClr>
                    </a:solidFill>
                    <a:latin typeface="微软雅黑" panose="020B0503020204020204" charset="-122"/>
                    <a:ea typeface="微软雅黑" panose="020B0503020204020204" charset="-122"/>
                  </a:rPr>
                  <a:t>       </a:t>
                </a:r>
                <a:r>
                  <a:rPr lang="zh-CN" altLang="zh-CN" dirty="0">
                    <a:solidFill>
                      <a:schemeClr val="tx2">
                        <a:lumMod val="75000"/>
                      </a:schemeClr>
                    </a:solidFill>
                    <a:latin typeface="微软雅黑" panose="020B0503020204020204" charset="-122"/>
                    <a:ea typeface="微软雅黑" panose="020B0503020204020204" charset="-122"/>
                  </a:rPr>
                  <a:t>无论采取何种方法进行文档控制，都应建立一个</a:t>
                </a:r>
                <a:r>
                  <a:rPr lang="zh-CN" altLang="zh-CN" b="1" dirty="0">
                    <a:solidFill>
                      <a:srgbClr val="00B050"/>
                    </a:solidFill>
                    <a:latin typeface="微软雅黑" panose="020B0503020204020204" charset="-122"/>
                    <a:ea typeface="微软雅黑" panose="020B0503020204020204" charset="-122"/>
                  </a:rPr>
                  <a:t>参考系统</a:t>
                </a:r>
                <a:r>
                  <a:rPr lang="zh-CN" altLang="zh-CN" dirty="0">
                    <a:solidFill>
                      <a:schemeClr val="tx2">
                        <a:lumMod val="75000"/>
                      </a:schemeClr>
                    </a:solidFill>
                    <a:latin typeface="微软雅黑" panose="020B0503020204020204" charset="-122"/>
                    <a:ea typeface="微软雅黑" panose="020B0503020204020204" charset="-122"/>
                  </a:rPr>
                  <a:t>。</a:t>
                </a:r>
                <a:r>
                  <a:rPr lang="zh-CN" altLang="zh-CN" b="1" dirty="0">
                    <a:solidFill>
                      <a:srgbClr val="00B050"/>
                    </a:solidFill>
                    <a:latin typeface="微软雅黑" panose="020B0503020204020204" charset="-122"/>
                    <a:ea typeface="微软雅黑" panose="020B0503020204020204" charset="-122"/>
                  </a:rPr>
                  <a:t>每个文档都应有单独编号，包括单独的项目标识号、配置单元项标识号、修改级号以及属性编号等。</a:t>
                </a:r>
              </a:p>
              <a:p>
                <a:pPr fontAlgn="auto">
                  <a:lnSpc>
                    <a:spcPct val="130000"/>
                  </a:lnSpc>
                </a:pPr>
                <a:r>
                  <a:rPr lang="zh-CN" altLang="zh-CN" dirty="0">
                    <a:solidFill>
                      <a:schemeClr val="tx2">
                        <a:lumMod val="75000"/>
                      </a:schemeClr>
                    </a:solidFill>
                    <a:latin typeface="微软雅黑" panose="020B0503020204020204" charset="-122"/>
                    <a:ea typeface="微软雅黑" panose="020B0503020204020204" charset="-122"/>
                    <a:sym typeface="+mn-ea"/>
                  </a:rPr>
                  <a:t>       一般来说，控制变更可以建立</a:t>
                </a:r>
                <a:r>
                  <a:rPr lang="zh-CN" altLang="zh-CN" b="1" dirty="0">
                    <a:solidFill>
                      <a:srgbClr val="00B050"/>
                    </a:solidFill>
                    <a:latin typeface="微软雅黑" panose="020B0503020204020204" charset="-122"/>
                    <a:ea typeface="微软雅黑" panose="020B0503020204020204" charset="-122"/>
                    <a:sym typeface="+mn-ea"/>
                  </a:rPr>
                  <a:t>单项控制、管理控制及正式控制3种不同的类型。</a:t>
                </a:r>
                <a:r>
                  <a:rPr lang="zh-CN" altLang="zh-CN" dirty="0">
                    <a:solidFill>
                      <a:schemeClr val="tx2">
                        <a:lumMod val="75000"/>
                      </a:schemeClr>
                    </a:solidFill>
                    <a:latin typeface="微软雅黑" panose="020B0503020204020204" charset="-122"/>
                    <a:ea typeface="微软雅黑" panose="020B0503020204020204" charset="-122"/>
                    <a:sym typeface="+mn-ea"/>
                  </a:rPr>
                  <a:t>其中以正式控制最正规，管理控制次之。</a:t>
                </a:r>
                <a:endParaRPr lang="zh-CN" altLang="zh-CN" dirty="0">
                  <a:solidFill>
                    <a:schemeClr val="tx2">
                      <a:lumMod val="75000"/>
                    </a:schemeClr>
                  </a:solidFill>
                  <a:latin typeface="微软雅黑" panose="020B0503020204020204" charset="-122"/>
                  <a:ea typeface="微软雅黑" panose="020B0503020204020204" charset="-122"/>
                </a:endParaRPr>
              </a:p>
              <a:p>
                <a:pPr fontAlgn="auto">
                  <a:lnSpc>
                    <a:spcPct val="130000"/>
                  </a:lnSpc>
                </a:pPr>
                <a:endParaRPr lang="zh-CN" altLang="zh-CN" dirty="0">
                  <a:solidFill>
                    <a:schemeClr val="tx2">
                      <a:lumMod val="75000"/>
                    </a:schemeClr>
                  </a:solidFill>
                  <a:latin typeface="微软雅黑" panose="020B0503020204020204" charset="-122"/>
                  <a:ea typeface="微软雅黑" panose="020B0503020204020204" charset="-122"/>
                </a:endParaRPr>
              </a:p>
            </p:txBody>
          </p:sp>
        </p:grpSp>
      </p:grpSp>
    </p:spTree>
  </p:cSld>
  <p:clrMapOvr>
    <a:masterClrMapping/>
  </p:clrMapOvr>
  <p:transition>
    <p:pull dir="rd"/>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10.5  </a:t>
            </a:r>
            <a:r>
              <a:rPr lang="zh-CN" altLang="en-US" dirty="0" smtClean="0">
                <a:solidFill>
                  <a:srgbClr val="FF0000"/>
                </a:solidFill>
                <a:sym typeface="+mn-ea"/>
              </a:rPr>
              <a:t>软件配置管理</a:t>
            </a:r>
            <a:endParaRPr lang="zh-CN" altLang="en-US" dirty="0">
              <a:solidFill>
                <a:srgbClr val="FF0000"/>
              </a:solidFill>
            </a:endParaRPr>
          </a:p>
        </p:txBody>
      </p:sp>
      <p:grpSp>
        <p:nvGrpSpPr>
          <p:cNvPr id="2" name="组合 1"/>
          <p:cNvGrpSpPr/>
          <p:nvPr/>
        </p:nvGrpSpPr>
        <p:grpSpPr>
          <a:xfrm>
            <a:off x="1358597" y="2027650"/>
            <a:ext cx="9392920" cy="3449955"/>
            <a:chOff x="1341" y="2925"/>
            <a:chExt cx="14792" cy="5433"/>
          </a:xfrm>
        </p:grpSpPr>
        <p:sp>
          <p:nvSpPr>
            <p:cNvPr id="5" name="MH_Other_1"/>
            <p:cNvSpPr/>
            <p:nvPr>
              <p:custDataLst>
                <p:tags r:id="rId1"/>
              </p:custDataLst>
            </p:nvPr>
          </p:nvSpPr>
          <p:spPr>
            <a:xfrm>
              <a:off x="3621" y="4345"/>
              <a:ext cx="10704" cy="1405"/>
            </a:xfrm>
            <a:custGeom>
              <a:avLst/>
              <a:gdLst>
                <a:gd name="connsiteX0" fmla="*/ 0 w 6192688"/>
                <a:gd name="connsiteY0" fmla="*/ 0 h 1261899"/>
                <a:gd name="connsiteX1" fmla="*/ 1656183 w 6192688"/>
                <a:gd name="connsiteY1" fmla="*/ 0 h 1261899"/>
                <a:gd name="connsiteX2" fmla="*/ 4179979 w 6192688"/>
                <a:gd name="connsiteY2" fmla="*/ 0 h 1261899"/>
                <a:gd name="connsiteX3" fmla="*/ 6192688 w 6192688"/>
                <a:gd name="connsiteY3" fmla="*/ 0 h 1261899"/>
                <a:gd name="connsiteX4" fmla="*/ 6192688 w 6192688"/>
                <a:gd name="connsiteY4" fmla="*/ 72008 h 1261899"/>
                <a:gd name="connsiteX5" fmla="*/ 4176343 w 6192688"/>
                <a:gd name="connsiteY5" fmla="*/ 72008 h 1261899"/>
                <a:gd name="connsiteX6" fmla="*/ 2918081 w 6192688"/>
                <a:gd name="connsiteY6" fmla="*/ 1261899 h 1261899"/>
                <a:gd name="connsiteX7" fmla="*/ 1659819 w 6192688"/>
                <a:gd name="connsiteY7" fmla="*/ 72008 h 1261899"/>
                <a:gd name="connsiteX8" fmla="*/ 0 w 6192688"/>
                <a:gd name="connsiteY8" fmla="*/ 72008 h 1261899"/>
                <a:gd name="connsiteX9" fmla="*/ 91440 w 6192688"/>
                <a:gd name="connsiteY9" fmla="*/ 91440 h 1261899"/>
                <a:gd name="connsiteX0-1" fmla="*/ 1656183 w 6192688"/>
                <a:gd name="connsiteY0-2" fmla="*/ 0 h 1261899"/>
                <a:gd name="connsiteX1-3" fmla="*/ 4179979 w 6192688"/>
                <a:gd name="connsiteY1-4" fmla="*/ 0 h 1261899"/>
                <a:gd name="connsiteX2-5" fmla="*/ 6192688 w 6192688"/>
                <a:gd name="connsiteY2-6" fmla="*/ 0 h 1261899"/>
                <a:gd name="connsiteX3-7" fmla="*/ 6192688 w 6192688"/>
                <a:gd name="connsiteY3-8" fmla="*/ 72008 h 1261899"/>
                <a:gd name="connsiteX4-9" fmla="*/ 4176343 w 6192688"/>
                <a:gd name="connsiteY4-10" fmla="*/ 72008 h 1261899"/>
                <a:gd name="connsiteX5-11" fmla="*/ 2918081 w 6192688"/>
                <a:gd name="connsiteY5-12" fmla="*/ 1261899 h 1261899"/>
                <a:gd name="connsiteX6-13" fmla="*/ 1659819 w 6192688"/>
                <a:gd name="connsiteY6-14" fmla="*/ 72008 h 1261899"/>
                <a:gd name="connsiteX7-15" fmla="*/ 0 w 6192688"/>
                <a:gd name="connsiteY7-16" fmla="*/ 72008 h 1261899"/>
                <a:gd name="connsiteX8-17" fmla="*/ 91440 w 6192688"/>
                <a:gd name="connsiteY8-18" fmla="*/ 91440 h 1261899"/>
                <a:gd name="connsiteX0-19" fmla="*/ 4179979 w 6192688"/>
                <a:gd name="connsiteY0-20" fmla="*/ 0 h 1261899"/>
                <a:gd name="connsiteX1-21" fmla="*/ 6192688 w 6192688"/>
                <a:gd name="connsiteY1-22" fmla="*/ 0 h 1261899"/>
                <a:gd name="connsiteX2-23" fmla="*/ 6192688 w 6192688"/>
                <a:gd name="connsiteY2-24" fmla="*/ 72008 h 1261899"/>
                <a:gd name="connsiteX3-25" fmla="*/ 4176343 w 6192688"/>
                <a:gd name="connsiteY3-26" fmla="*/ 72008 h 1261899"/>
                <a:gd name="connsiteX4-27" fmla="*/ 2918081 w 6192688"/>
                <a:gd name="connsiteY4-28" fmla="*/ 1261899 h 1261899"/>
                <a:gd name="connsiteX5-29" fmla="*/ 1659819 w 6192688"/>
                <a:gd name="connsiteY5-30" fmla="*/ 72008 h 1261899"/>
                <a:gd name="connsiteX6-31" fmla="*/ 0 w 6192688"/>
                <a:gd name="connsiteY6-32" fmla="*/ 72008 h 1261899"/>
                <a:gd name="connsiteX7-33" fmla="*/ 91440 w 6192688"/>
                <a:gd name="connsiteY7-34" fmla="*/ 91440 h 1261899"/>
                <a:gd name="connsiteX0-35" fmla="*/ 6192688 w 6192688"/>
                <a:gd name="connsiteY0-36" fmla="*/ 0 h 1261899"/>
                <a:gd name="connsiteX1-37" fmla="*/ 6192688 w 6192688"/>
                <a:gd name="connsiteY1-38" fmla="*/ 72008 h 1261899"/>
                <a:gd name="connsiteX2-39" fmla="*/ 4176343 w 6192688"/>
                <a:gd name="connsiteY2-40" fmla="*/ 72008 h 1261899"/>
                <a:gd name="connsiteX3-41" fmla="*/ 2918081 w 6192688"/>
                <a:gd name="connsiteY3-42" fmla="*/ 1261899 h 1261899"/>
                <a:gd name="connsiteX4-43" fmla="*/ 1659819 w 6192688"/>
                <a:gd name="connsiteY4-44" fmla="*/ 72008 h 1261899"/>
                <a:gd name="connsiteX5-45" fmla="*/ 0 w 6192688"/>
                <a:gd name="connsiteY5-46" fmla="*/ 72008 h 1261899"/>
                <a:gd name="connsiteX6-47" fmla="*/ 91440 w 6192688"/>
                <a:gd name="connsiteY6-48" fmla="*/ 91440 h 1261899"/>
                <a:gd name="connsiteX0-49" fmla="*/ 6192688 w 6192688"/>
                <a:gd name="connsiteY0-50" fmla="*/ 7233 h 1197124"/>
                <a:gd name="connsiteX1-51" fmla="*/ 4176343 w 6192688"/>
                <a:gd name="connsiteY1-52" fmla="*/ 7233 h 1197124"/>
                <a:gd name="connsiteX2-53" fmla="*/ 2918081 w 6192688"/>
                <a:gd name="connsiteY2-54" fmla="*/ 1197124 h 1197124"/>
                <a:gd name="connsiteX3-55" fmla="*/ 1659819 w 6192688"/>
                <a:gd name="connsiteY3-56" fmla="*/ 7233 h 1197124"/>
                <a:gd name="connsiteX4-57" fmla="*/ 0 w 6192688"/>
                <a:gd name="connsiteY4-58" fmla="*/ 7233 h 1197124"/>
                <a:gd name="connsiteX5-59" fmla="*/ 91440 w 6192688"/>
                <a:gd name="connsiteY5-60" fmla="*/ 26665 h 1197124"/>
                <a:gd name="connsiteX0-61" fmla="*/ 6101248 w 6101248"/>
                <a:gd name="connsiteY0-62" fmla="*/ 0 h 1189891"/>
                <a:gd name="connsiteX1-63" fmla="*/ 4084903 w 6101248"/>
                <a:gd name="connsiteY1-64" fmla="*/ 0 h 1189891"/>
                <a:gd name="connsiteX2-65" fmla="*/ 2826641 w 6101248"/>
                <a:gd name="connsiteY2-66" fmla="*/ 1189891 h 1189891"/>
                <a:gd name="connsiteX3-67" fmla="*/ 1568379 w 6101248"/>
                <a:gd name="connsiteY3-68" fmla="*/ 0 h 1189891"/>
                <a:gd name="connsiteX4-69" fmla="*/ 0 w 6101248"/>
                <a:gd name="connsiteY4-70" fmla="*/ 19432 h 1189891"/>
                <a:gd name="connsiteX0-71" fmla="*/ 6144791 w 6144791"/>
                <a:gd name="connsiteY0-72" fmla="*/ 0 h 1189891"/>
                <a:gd name="connsiteX1-73" fmla="*/ 4128446 w 6144791"/>
                <a:gd name="connsiteY1-74" fmla="*/ 0 h 1189891"/>
                <a:gd name="connsiteX2-75" fmla="*/ 2870184 w 6144791"/>
                <a:gd name="connsiteY2-76" fmla="*/ 1189891 h 1189891"/>
                <a:gd name="connsiteX3-77" fmla="*/ 1611922 w 6144791"/>
                <a:gd name="connsiteY3-78" fmla="*/ 0 h 1189891"/>
                <a:gd name="connsiteX4-79" fmla="*/ 0 w 6144791"/>
                <a:gd name="connsiteY4-80" fmla="*/ 4918 h 1189891"/>
                <a:gd name="connsiteX0-81" fmla="*/ 9163763 w 9163763"/>
                <a:gd name="connsiteY0-82" fmla="*/ 14515 h 1189891"/>
                <a:gd name="connsiteX1-83" fmla="*/ 4128446 w 9163763"/>
                <a:gd name="connsiteY1-84" fmla="*/ 0 h 1189891"/>
                <a:gd name="connsiteX2-85" fmla="*/ 2870184 w 9163763"/>
                <a:gd name="connsiteY2-86" fmla="*/ 1189891 h 1189891"/>
                <a:gd name="connsiteX3-87" fmla="*/ 1611922 w 9163763"/>
                <a:gd name="connsiteY3-88" fmla="*/ 0 h 1189891"/>
                <a:gd name="connsiteX4-89" fmla="*/ 0 w 9163763"/>
                <a:gd name="connsiteY4-90" fmla="*/ 4918 h 1189891"/>
                <a:gd name="connsiteX0-91" fmla="*/ 5938570 w 5938570"/>
                <a:gd name="connsiteY0-92" fmla="*/ 14516 h 1189891"/>
                <a:gd name="connsiteX1-93" fmla="*/ 4128446 w 5938570"/>
                <a:gd name="connsiteY1-94" fmla="*/ 0 h 1189891"/>
                <a:gd name="connsiteX2-95" fmla="*/ 2870184 w 5938570"/>
                <a:gd name="connsiteY2-96" fmla="*/ 1189891 h 1189891"/>
                <a:gd name="connsiteX3-97" fmla="*/ 1611922 w 5938570"/>
                <a:gd name="connsiteY3-98" fmla="*/ 0 h 1189891"/>
                <a:gd name="connsiteX4-99" fmla="*/ 0 w 5938570"/>
                <a:gd name="connsiteY4-100" fmla="*/ 4918 h 118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938570" h="1189891">
                  <a:moveTo>
                    <a:pt x="5938570" y="14516"/>
                  </a:moveTo>
                  <a:lnTo>
                    <a:pt x="4128446" y="0"/>
                  </a:lnTo>
                  <a:cubicBezTo>
                    <a:pt x="4092690" y="663472"/>
                    <a:pt x="3542913" y="1189891"/>
                    <a:pt x="2870184" y="1189891"/>
                  </a:cubicBezTo>
                  <a:cubicBezTo>
                    <a:pt x="2197455" y="1189891"/>
                    <a:pt x="1647677" y="663471"/>
                    <a:pt x="1611922" y="0"/>
                  </a:cubicBezTo>
                  <a:lnTo>
                    <a:pt x="0" y="4918"/>
                  </a:lnTo>
                </a:path>
              </a:pathLst>
            </a:custGeom>
            <a:noFill/>
            <a:ln w="76200" cmpd="thinThick">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FFFFFF"/>
                </a:solidFill>
              </a:endParaRPr>
            </a:p>
          </p:txBody>
        </p:sp>
        <p:sp>
          <p:nvSpPr>
            <p:cNvPr id="9" name="MH_Title_1"/>
            <p:cNvSpPr/>
            <p:nvPr>
              <p:custDataLst>
                <p:tags r:id="rId2"/>
              </p:custDataLst>
            </p:nvPr>
          </p:nvSpPr>
          <p:spPr>
            <a:xfrm>
              <a:off x="6953" y="2925"/>
              <a:ext cx="3772" cy="2465"/>
            </a:xfrm>
            <a:prstGeom prst="ellipse">
              <a:avLst/>
            </a:prstGeom>
            <a:solidFill>
              <a:schemeClr val="accent5">
                <a:lumMod val="60000"/>
                <a:lumOff val="40000"/>
              </a:schemeClr>
            </a:solidFill>
            <a:ln w="127000" cmpd="thinThick">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3200" b="1" dirty="0">
                  <a:solidFill>
                    <a:schemeClr val="tx1"/>
                  </a:solidFill>
                  <a:latin typeface="微软雅黑" panose="020B0503020204020204" charset="-122"/>
                  <a:ea typeface="微软雅黑" panose="020B0503020204020204" charset="-122"/>
                </a:rPr>
                <a:t>变更控制</a:t>
              </a:r>
            </a:p>
          </p:txBody>
        </p:sp>
        <p:sp>
          <p:nvSpPr>
            <p:cNvPr id="10" name="MH_SubTitle_1"/>
            <p:cNvSpPr/>
            <p:nvPr>
              <p:custDataLst>
                <p:tags r:id="rId3"/>
              </p:custDataLst>
            </p:nvPr>
          </p:nvSpPr>
          <p:spPr>
            <a:xfrm>
              <a:off x="2538" y="3732"/>
              <a:ext cx="3697" cy="1118"/>
            </a:xfrm>
            <a:prstGeom prst="roundRect">
              <a:avLst>
                <a:gd name="adj" fmla="val 3013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2800" b="1" dirty="0" smtClean="0">
                  <a:solidFill>
                    <a:schemeClr val="tx2">
                      <a:lumMod val="75000"/>
                    </a:schemeClr>
                  </a:solidFill>
                  <a:latin typeface="微软雅黑" panose="020B0503020204020204" charset="-122"/>
                  <a:ea typeface="微软雅黑" panose="020B0503020204020204" charset="-122"/>
                </a:rPr>
                <a:t>存取控制</a:t>
              </a:r>
            </a:p>
          </p:txBody>
        </p:sp>
        <p:sp>
          <p:nvSpPr>
            <p:cNvPr id="11" name="MH_Text_1"/>
            <p:cNvSpPr txBox="1">
              <a:spLocks noChangeArrowheads="1"/>
            </p:cNvSpPr>
            <p:nvPr>
              <p:custDataLst>
                <p:tags r:id="rId4"/>
              </p:custDataLst>
            </p:nvPr>
          </p:nvSpPr>
          <p:spPr bwMode="auto">
            <a:xfrm>
              <a:off x="1341" y="5557"/>
              <a:ext cx="5612" cy="280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norm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marL="0" indent="0" algn="l" fontAlgn="auto">
                <a:lnSpc>
                  <a:spcPct val="130000"/>
                </a:lnSpc>
              </a:pPr>
              <a:r>
                <a:rPr lang="en-US" altLang="zh-CN" sz="2000" dirty="0" smtClean="0"/>
                <a:t>     </a:t>
              </a:r>
              <a:r>
                <a:rPr sz="2000">
                  <a:latin typeface="微软雅黑" panose="020B0503020204020204" charset="-122"/>
                  <a:ea typeface="微软雅黑" panose="020B0503020204020204" charset="-122"/>
                </a:rPr>
                <a:t>  存取控制（访问控制）管理各个用户具有存取和修改一个特定软件配置对象的权限。</a:t>
              </a:r>
            </a:p>
          </p:txBody>
        </p:sp>
        <p:sp>
          <p:nvSpPr>
            <p:cNvPr id="12" name="MH_SubTitle_1"/>
            <p:cNvSpPr/>
            <p:nvPr>
              <p:custDataLst>
                <p:tags r:id="rId5"/>
              </p:custDataLst>
            </p:nvPr>
          </p:nvSpPr>
          <p:spPr>
            <a:xfrm>
              <a:off x="11400" y="3732"/>
              <a:ext cx="3875" cy="1118"/>
            </a:xfrm>
            <a:prstGeom prst="roundRect">
              <a:avLst>
                <a:gd name="adj" fmla="val 36824"/>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2800" b="1" dirty="0" smtClean="0">
                  <a:solidFill>
                    <a:schemeClr val="tx2">
                      <a:lumMod val="75000"/>
                    </a:schemeClr>
                  </a:solidFill>
                  <a:latin typeface="微软雅黑" panose="020B0503020204020204" charset="-122"/>
                  <a:ea typeface="微软雅黑" panose="020B0503020204020204" charset="-122"/>
                  <a:sym typeface="+mn-ea"/>
                </a:rPr>
                <a:t>同步控制</a:t>
              </a:r>
            </a:p>
          </p:txBody>
        </p:sp>
        <p:sp>
          <p:nvSpPr>
            <p:cNvPr id="13" name="MH_Text_1"/>
            <p:cNvSpPr txBox="1">
              <a:spLocks noChangeArrowheads="1"/>
            </p:cNvSpPr>
            <p:nvPr>
              <p:custDataLst>
                <p:tags r:id="rId6"/>
              </p:custDataLst>
            </p:nvPr>
          </p:nvSpPr>
          <p:spPr bwMode="auto">
            <a:xfrm>
              <a:off x="10725" y="5557"/>
              <a:ext cx="5408" cy="27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no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nSpc>
                  <a:spcPct val="120000"/>
                </a:lnSpc>
              </a:pPr>
              <a:r>
                <a:rPr lang="en-US" sz="2000" dirty="0" smtClean="0"/>
                <a:t>        </a:t>
              </a:r>
              <a:r>
                <a:rPr sz="2000">
                  <a:latin typeface="微软雅黑" panose="020B0503020204020204" charset="-122"/>
                  <a:ea typeface="微软雅黑" panose="020B0503020204020204" charset="-122"/>
                  <a:sym typeface="+mn-ea"/>
                </a:rPr>
                <a:t>同步控制可用来确保由不同用户所执行的并发变更不会互相覆盖。</a:t>
              </a:r>
            </a:p>
          </p:txBody>
        </p:sp>
      </p:grpSp>
    </p:spTree>
  </p:cSld>
  <p:clrMapOvr>
    <a:masterClrMapping/>
  </p:clrMapOvr>
  <p:transition>
    <p:pull dir="rd"/>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10.5  </a:t>
            </a:r>
            <a:r>
              <a:rPr lang="zh-CN" altLang="en-US" dirty="0" smtClean="0">
                <a:solidFill>
                  <a:srgbClr val="FF0000"/>
                </a:solidFill>
                <a:sym typeface="+mn-ea"/>
              </a:rPr>
              <a:t>软件配置管理</a:t>
            </a:r>
            <a:endParaRPr lang="zh-CN" altLang="en-US" dirty="0">
              <a:solidFill>
                <a:srgbClr val="FF0000"/>
              </a:solidFill>
            </a:endParaRPr>
          </a:p>
        </p:txBody>
      </p:sp>
      <p:grpSp>
        <p:nvGrpSpPr>
          <p:cNvPr id="2" name="组合 1"/>
          <p:cNvGrpSpPr/>
          <p:nvPr/>
        </p:nvGrpSpPr>
        <p:grpSpPr>
          <a:xfrm>
            <a:off x="1485181" y="3866377"/>
            <a:ext cx="9071983" cy="2541266"/>
            <a:chOff x="1564218" y="2547939"/>
            <a:chExt cx="9567805" cy="2538411"/>
          </a:xfrm>
        </p:grpSpPr>
        <p:sp>
          <p:nvSpPr>
            <p:cNvPr id="4" name="MH_Other_1"/>
            <p:cNvSpPr/>
            <p:nvPr>
              <p:custDataLst>
                <p:tags r:id="rId1"/>
              </p:custDataLst>
            </p:nvPr>
          </p:nvSpPr>
          <p:spPr>
            <a:xfrm rot="21439215">
              <a:off x="3045884" y="3808414"/>
              <a:ext cx="1631949" cy="1239837"/>
            </a:xfrm>
            <a:prstGeom prst="roundRect">
              <a:avLst>
                <a:gd name="adj" fmla="val 18567"/>
              </a:avLst>
            </a:prstGeom>
            <a:solidFill>
              <a:srgbClr val="D3D3D3"/>
            </a:solidFill>
            <a:ln>
              <a:solidFill>
                <a:srgbClr val="B2B2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6000" dirty="0">
                <a:solidFill>
                  <a:srgbClr val="FFFFFF"/>
                </a:solidFill>
                <a:latin typeface="方正姚体" panose="02010601030101010101" pitchFamily="2" charset="-122"/>
                <a:ea typeface="方正姚体" panose="02010601030101010101" pitchFamily="2" charset="-122"/>
              </a:endParaRPr>
            </a:p>
          </p:txBody>
        </p:sp>
        <p:cxnSp>
          <p:nvCxnSpPr>
            <p:cNvPr id="5" name="MH_Other_2"/>
            <p:cNvCxnSpPr>
              <a:stCxn id="4" idx="3"/>
            </p:cNvCxnSpPr>
            <p:nvPr>
              <p:custDataLst>
                <p:tags r:id="rId2"/>
              </p:custDataLst>
            </p:nvPr>
          </p:nvCxnSpPr>
          <p:spPr>
            <a:xfrm flipV="1">
              <a:off x="4677833" y="4395788"/>
              <a:ext cx="1422400" cy="4762"/>
            </a:xfrm>
            <a:prstGeom prst="straightConnector1">
              <a:avLst/>
            </a:prstGeom>
            <a:ln>
              <a:solidFill>
                <a:srgbClr val="B2B2B2"/>
              </a:solidFill>
              <a:tailEnd type="triangle"/>
            </a:ln>
          </p:spPr>
          <p:style>
            <a:lnRef idx="1">
              <a:schemeClr val="accent1"/>
            </a:lnRef>
            <a:fillRef idx="0">
              <a:schemeClr val="accent1"/>
            </a:fillRef>
            <a:effectRef idx="0">
              <a:schemeClr val="accent1"/>
            </a:effectRef>
            <a:fontRef idx="minor">
              <a:schemeClr val="tx1"/>
            </a:fontRef>
          </p:style>
        </p:cxnSp>
        <p:sp>
          <p:nvSpPr>
            <p:cNvPr id="6" name="MH_Other_3"/>
            <p:cNvSpPr/>
            <p:nvPr>
              <p:custDataLst>
                <p:tags r:id="rId3"/>
              </p:custDataLst>
            </p:nvPr>
          </p:nvSpPr>
          <p:spPr>
            <a:xfrm rot="183635">
              <a:off x="2637367" y="2547939"/>
              <a:ext cx="1634067" cy="1239837"/>
            </a:xfrm>
            <a:prstGeom prst="roundRect">
              <a:avLst>
                <a:gd name="adj" fmla="val 18567"/>
              </a:avLst>
            </a:prstGeom>
            <a:solidFill>
              <a:srgbClr val="F06C55"/>
            </a:solidFill>
            <a:ln>
              <a:solidFill>
                <a:srgbClr val="E93C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6000" dirty="0">
                <a:solidFill>
                  <a:srgbClr val="FFFFFF"/>
                </a:solidFill>
                <a:latin typeface="方正姚体" panose="02010601030101010101" pitchFamily="2" charset="-122"/>
                <a:ea typeface="方正姚体" panose="02010601030101010101" pitchFamily="2" charset="-122"/>
              </a:endParaRPr>
            </a:p>
          </p:txBody>
        </p:sp>
        <p:cxnSp>
          <p:nvCxnSpPr>
            <p:cNvPr id="7" name="MH_Other_4"/>
            <p:cNvCxnSpPr/>
            <p:nvPr>
              <p:custDataLst>
                <p:tags r:id="rId4"/>
              </p:custDataLst>
            </p:nvPr>
          </p:nvCxnSpPr>
          <p:spPr>
            <a:xfrm>
              <a:off x="4286251" y="3074988"/>
              <a:ext cx="1784349" cy="0"/>
            </a:xfrm>
            <a:prstGeom prst="straightConnector1">
              <a:avLst/>
            </a:prstGeom>
            <a:ln>
              <a:solidFill>
                <a:srgbClr val="E93C1F"/>
              </a:solidFill>
              <a:tailEnd type="triangle"/>
            </a:ln>
          </p:spPr>
          <p:style>
            <a:lnRef idx="1">
              <a:schemeClr val="accent1"/>
            </a:lnRef>
            <a:fillRef idx="0">
              <a:schemeClr val="accent1"/>
            </a:fillRef>
            <a:effectRef idx="0">
              <a:schemeClr val="accent1"/>
            </a:effectRef>
            <a:fontRef idx="minor">
              <a:schemeClr val="tx1"/>
            </a:fontRef>
          </p:style>
        </p:cxnSp>
        <p:sp>
          <p:nvSpPr>
            <p:cNvPr id="8" name="MH_Other_5"/>
            <p:cNvSpPr/>
            <p:nvPr>
              <p:custDataLst>
                <p:tags r:id="rId5"/>
              </p:custDataLst>
            </p:nvPr>
          </p:nvSpPr>
          <p:spPr>
            <a:xfrm>
              <a:off x="1564218" y="3100388"/>
              <a:ext cx="1286933" cy="1985962"/>
            </a:xfrm>
            <a:custGeom>
              <a:avLst/>
              <a:gdLst>
                <a:gd name="connsiteX0" fmla="*/ 217182 w 965707"/>
                <a:gd name="connsiteY0" fmla="*/ 0 h 1986527"/>
                <a:gd name="connsiteX1" fmla="*/ 432892 w 965707"/>
                <a:gd name="connsiteY1" fmla="*/ 215710 h 1986527"/>
                <a:gd name="connsiteX2" fmla="*/ 428510 w 965707"/>
                <a:gd name="connsiteY2" fmla="*/ 259183 h 1986527"/>
                <a:gd name="connsiteX3" fmla="*/ 426677 w 965707"/>
                <a:gd name="connsiteY3" fmla="*/ 265085 h 1986527"/>
                <a:gd name="connsiteX4" fmla="*/ 691433 w 965707"/>
                <a:gd name="connsiteY4" fmla="*/ 70895 h 1986527"/>
                <a:gd name="connsiteX5" fmla="*/ 727149 w 965707"/>
                <a:gd name="connsiteY5" fmla="*/ 76387 h 1986527"/>
                <a:gd name="connsiteX6" fmla="*/ 787596 w 965707"/>
                <a:gd name="connsiteY6" fmla="*/ 158799 h 1986527"/>
                <a:gd name="connsiteX7" fmla="*/ 782104 w 965707"/>
                <a:gd name="connsiteY7" fmla="*/ 194515 h 1986527"/>
                <a:gd name="connsiteX8" fmla="*/ 453481 w 965707"/>
                <a:gd name="connsiteY8" fmla="*/ 435549 h 1986527"/>
                <a:gd name="connsiteX9" fmla="*/ 874061 w 965707"/>
                <a:gd name="connsiteY9" fmla="*/ 181449 h 1986527"/>
                <a:gd name="connsiteX10" fmla="*/ 909154 w 965707"/>
                <a:gd name="connsiteY10" fmla="*/ 190109 h 1986527"/>
                <a:gd name="connsiteX11" fmla="*/ 962021 w 965707"/>
                <a:gd name="connsiteY11" fmla="*/ 277611 h 1986527"/>
                <a:gd name="connsiteX12" fmla="*/ 953361 w 965707"/>
                <a:gd name="connsiteY12" fmla="*/ 312705 h 1986527"/>
                <a:gd name="connsiteX13" fmla="*/ 384793 w 965707"/>
                <a:gd name="connsiteY13" fmla="*/ 656215 h 1986527"/>
                <a:gd name="connsiteX14" fmla="*/ 384793 w 965707"/>
                <a:gd name="connsiteY14" fmla="*/ 1131649 h 1986527"/>
                <a:gd name="connsiteX15" fmla="*/ 381842 w 965707"/>
                <a:gd name="connsiteY15" fmla="*/ 1146266 h 1986527"/>
                <a:gd name="connsiteX16" fmla="*/ 387708 w 965707"/>
                <a:gd name="connsiteY16" fmla="*/ 1152370 h 1986527"/>
                <a:gd name="connsiteX17" fmla="*/ 442440 w 965707"/>
                <a:gd name="connsiteY17" fmla="*/ 1292303 h 1986527"/>
                <a:gd name="connsiteX18" fmla="*/ 445419 w 965707"/>
                <a:gd name="connsiteY18" fmla="*/ 1293537 h 1986527"/>
                <a:gd name="connsiteX19" fmla="*/ 453847 w 965707"/>
                <a:gd name="connsiteY19" fmla="*/ 1313884 h 1986527"/>
                <a:gd name="connsiteX20" fmla="*/ 453847 w 965707"/>
                <a:gd name="connsiteY20" fmla="*/ 1951177 h 1986527"/>
                <a:gd name="connsiteX21" fmla="*/ 425072 w 965707"/>
                <a:gd name="connsiteY21" fmla="*/ 1979952 h 1986527"/>
                <a:gd name="connsiteX22" fmla="*/ 309975 w 965707"/>
                <a:gd name="connsiteY22" fmla="*/ 1979952 h 1986527"/>
                <a:gd name="connsiteX23" fmla="*/ 281200 w 965707"/>
                <a:gd name="connsiteY23" fmla="*/ 1951177 h 1986527"/>
                <a:gd name="connsiteX24" fmla="*/ 281200 w 965707"/>
                <a:gd name="connsiteY24" fmla="*/ 1342234 h 1986527"/>
                <a:gd name="connsiteX25" fmla="*/ 230924 w 965707"/>
                <a:gd name="connsiteY25" fmla="*/ 1213693 h 1986527"/>
                <a:gd name="connsiteX26" fmla="*/ 227782 w 965707"/>
                <a:gd name="connsiteY26" fmla="*/ 1195782 h 1986527"/>
                <a:gd name="connsiteX27" fmla="*/ 172672 w 965707"/>
                <a:gd name="connsiteY27" fmla="*/ 1195782 h 1986527"/>
                <a:gd name="connsiteX28" fmla="*/ 172672 w 965707"/>
                <a:gd name="connsiteY28" fmla="*/ 1958468 h 1986527"/>
                <a:gd name="connsiteX29" fmla="*/ 144613 w 965707"/>
                <a:gd name="connsiteY29" fmla="*/ 1986527 h 1986527"/>
                <a:gd name="connsiteX30" fmla="*/ 32381 w 965707"/>
                <a:gd name="connsiteY30" fmla="*/ 1986527 h 1986527"/>
                <a:gd name="connsiteX31" fmla="*/ 4322 w 965707"/>
                <a:gd name="connsiteY31" fmla="*/ 1958468 h 1986527"/>
                <a:gd name="connsiteX32" fmla="*/ 4322 w 965707"/>
                <a:gd name="connsiteY32" fmla="*/ 1169537 h 1986527"/>
                <a:gd name="connsiteX33" fmla="*/ 7911 w 965707"/>
                <a:gd name="connsiteY33" fmla="*/ 1160872 h 1986527"/>
                <a:gd name="connsiteX34" fmla="*/ 5040 w 965707"/>
                <a:gd name="connsiteY34" fmla="*/ 1156613 h 1986527"/>
                <a:gd name="connsiteX35" fmla="*/ 0 w 965707"/>
                <a:gd name="connsiteY35" fmla="*/ 1131649 h 1986527"/>
                <a:gd name="connsiteX36" fmla="*/ 0 w 965707"/>
                <a:gd name="connsiteY36" fmla="*/ 514378 h 1986527"/>
                <a:gd name="connsiteX37" fmla="*/ 64133 w 965707"/>
                <a:gd name="connsiteY37" fmla="*/ 450245 h 1986527"/>
                <a:gd name="connsiteX38" fmla="*/ 174233 w 965707"/>
                <a:gd name="connsiteY38" fmla="*/ 450245 h 1986527"/>
                <a:gd name="connsiteX39" fmla="*/ 203629 w 965707"/>
                <a:gd name="connsiteY39" fmla="*/ 428684 h 1986527"/>
                <a:gd name="connsiteX40" fmla="*/ 133218 w 965707"/>
                <a:gd name="connsiteY40" fmla="*/ 414469 h 1986527"/>
                <a:gd name="connsiteX41" fmla="*/ 1472 w 965707"/>
                <a:gd name="connsiteY41" fmla="*/ 215710 h 1986527"/>
                <a:gd name="connsiteX42" fmla="*/ 217182 w 965707"/>
                <a:gd name="connsiteY42" fmla="*/ 0 h 198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65707" h="1986527">
                  <a:moveTo>
                    <a:pt x="217182" y="0"/>
                  </a:moveTo>
                  <a:cubicBezTo>
                    <a:pt x="336315" y="0"/>
                    <a:pt x="432892" y="96577"/>
                    <a:pt x="432892" y="215710"/>
                  </a:cubicBezTo>
                  <a:cubicBezTo>
                    <a:pt x="432892" y="230602"/>
                    <a:pt x="431383" y="245141"/>
                    <a:pt x="428510" y="259183"/>
                  </a:cubicBezTo>
                  <a:lnTo>
                    <a:pt x="426677" y="265085"/>
                  </a:lnTo>
                  <a:lnTo>
                    <a:pt x="691433" y="70895"/>
                  </a:lnTo>
                  <a:cubicBezTo>
                    <a:pt x="702812" y="62549"/>
                    <a:pt x="718803" y="65008"/>
                    <a:pt x="727149" y="76387"/>
                  </a:cubicBezTo>
                  <a:lnTo>
                    <a:pt x="787596" y="158799"/>
                  </a:lnTo>
                  <a:cubicBezTo>
                    <a:pt x="795942" y="170178"/>
                    <a:pt x="793483" y="186169"/>
                    <a:pt x="782104" y="194515"/>
                  </a:cubicBezTo>
                  <a:lnTo>
                    <a:pt x="453481" y="435549"/>
                  </a:lnTo>
                  <a:lnTo>
                    <a:pt x="874061" y="181449"/>
                  </a:lnTo>
                  <a:cubicBezTo>
                    <a:pt x="886143" y="174150"/>
                    <a:pt x="901855" y="178027"/>
                    <a:pt x="909154" y="190109"/>
                  </a:cubicBezTo>
                  <a:lnTo>
                    <a:pt x="962021" y="277611"/>
                  </a:lnTo>
                  <a:cubicBezTo>
                    <a:pt x="969320" y="289694"/>
                    <a:pt x="965443" y="305405"/>
                    <a:pt x="953361" y="312705"/>
                  </a:cubicBezTo>
                  <a:lnTo>
                    <a:pt x="384793" y="656215"/>
                  </a:lnTo>
                  <a:lnTo>
                    <a:pt x="384793" y="1131649"/>
                  </a:lnTo>
                  <a:lnTo>
                    <a:pt x="381842" y="1146266"/>
                  </a:lnTo>
                  <a:lnTo>
                    <a:pt x="387708" y="1152370"/>
                  </a:lnTo>
                  <a:lnTo>
                    <a:pt x="442440" y="1292303"/>
                  </a:lnTo>
                  <a:lnTo>
                    <a:pt x="445419" y="1293537"/>
                  </a:lnTo>
                  <a:cubicBezTo>
                    <a:pt x="450626" y="1298744"/>
                    <a:pt x="453847" y="1305938"/>
                    <a:pt x="453847" y="1313884"/>
                  </a:cubicBezTo>
                  <a:lnTo>
                    <a:pt x="453847" y="1951177"/>
                  </a:lnTo>
                  <a:cubicBezTo>
                    <a:pt x="453847" y="1967069"/>
                    <a:pt x="440964" y="1979952"/>
                    <a:pt x="425072" y="1979952"/>
                  </a:cubicBezTo>
                  <a:lnTo>
                    <a:pt x="309975" y="1979952"/>
                  </a:lnTo>
                  <a:cubicBezTo>
                    <a:pt x="294083" y="1979952"/>
                    <a:pt x="281200" y="1967069"/>
                    <a:pt x="281200" y="1951177"/>
                  </a:cubicBezTo>
                  <a:lnTo>
                    <a:pt x="281200" y="1342234"/>
                  </a:lnTo>
                  <a:lnTo>
                    <a:pt x="230924" y="1213693"/>
                  </a:lnTo>
                  <a:lnTo>
                    <a:pt x="227782" y="1195782"/>
                  </a:lnTo>
                  <a:lnTo>
                    <a:pt x="172672" y="1195782"/>
                  </a:lnTo>
                  <a:lnTo>
                    <a:pt x="172672" y="1958468"/>
                  </a:lnTo>
                  <a:cubicBezTo>
                    <a:pt x="172672" y="1973965"/>
                    <a:pt x="160110" y="1986527"/>
                    <a:pt x="144613" y="1986527"/>
                  </a:cubicBezTo>
                  <a:lnTo>
                    <a:pt x="32381" y="1986527"/>
                  </a:lnTo>
                  <a:cubicBezTo>
                    <a:pt x="16884" y="1986527"/>
                    <a:pt x="4322" y="1973965"/>
                    <a:pt x="4322" y="1958468"/>
                  </a:cubicBezTo>
                  <a:lnTo>
                    <a:pt x="4322" y="1169537"/>
                  </a:lnTo>
                  <a:lnTo>
                    <a:pt x="7911" y="1160872"/>
                  </a:lnTo>
                  <a:lnTo>
                    <a:pt x="5040" y="1156613"/>
                  </a:lnTo>
                  <a:cubicBezTo>
                    <a:pt x="1795" y="1148940"/>
                    <a:pt x="0" y="1140504"/>
                    <a:pt x="0" y="1131649"/>
                  </a:cubicBezTo>
                  <a:lnTo>
                    <a:pt x="0" y="514378"/>
                  </a:lnTo>
                  <a:cubicBezTo>
                    <a:pt x="0" y="478958"/>
                    <a:pt x="28713" y="450245"/>
                    <a:pt x="64133" y="450245"/>
                  </a:cubicBezTo>
                  <a:lnTo>
                    <a:pt x="174233" y="450245"/>
                  </a:lnTo>
                  <a:lnTo>
                    <a:pt x="203629" y="428684"/>
                  </a:lnTo>
                  <a:lnTo>
                    <a:pt x="133218" y="414469"/>
                  </a:lnTo>
                  <a:cubicBezTo>
                    <a:pt x="55797" y="381722"/>
                    <a:pt x="1472" y="305060"/>
                    <a:pt x="1472" y="215710"/>
                  </a:cubicBezTo>
                  <a:cubicBezTo>
                    <a:pt x="1472" y="96577"/>
                    <a:pt x="98049" y="0"/>
                    <a:pt x="217182" y="0"/>
                  </a:cubicBezTo>
                  <a:close/>
                </a:path>
              </a:pathLst>
            </a:cu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9" name="MH_Text_2"/>
            <p:cNvSpPr txBox="1"/>
            <p:nvPr>
              <p:custDataLst>
                <p:tags r:id="rId6"/>
              </p:custDataLst>
            </p:nvPr>
          </p:nvSpPr>
          <p:spPr>
            <a:xfrm>
              <a:off x="6142900" y="2671834"/>
              <a:ext cx="4629149" cy="877888"/>
            </a:xfrm>
            <a:prstGeom prst="rect">
              <a:avLst/>
            </a:prstGeom>
            <a:noFill/>
          </p:spPr>
          <p:txBody>
            <a:bodyPr lIns="0" tIns="0" rIns="0" bIns="0">
              <a:normAutofit/>
            </a:bodyPr>
            <a:lstStyle>
              <a:defPPr>
                <a:defRPr lang="zh-CN"/>
              </a:defPPr>
              <a:lvl1pPr>
                <a:lnSpc>
                  <a:spcPct val="130000"/>
                </a:lnSpc>
                <a:defRPr sz="1200"/>
              </a:lvl1pPr>
            </a:lstStyle>
            <a:p>
              <a:pPr>
                <a:lnSpc>
                  <a:spcPct val="150000"/>
                </a:lnSpc>
              </a:pPr>
              <a:r>
                <a:rPr lang="en-US" altLang="zh-CN" sz="1800" dirty="0" smtClean="0"/>
                <a:t>       </a:t>
              </a:r>
              <a:r>
                <a:rPr lang="zh-CN" altLang="en-US" sz="1800" dirty="0" smtClean="0"/>
                <a:t>正式的技术复审关注被修改后的配置对象的技术正确性。</a:t>
              </a:r>
            </a:p>
          </p:txBody>
        </p:sp>
        <p:sp>
          <p:nvSpPr>
            <p:cNvPr id="10" name="MH_Text_1"/>
            <p:cNvSpPr txBox="1"/>
            <p:nvPr>
              <p:custDataLst>
                <p:tags r:id="rId7"/>
              </p:custDataLst>
            </p:nvPr>
          </p:nvSpPr>
          <p:spPr>
            <a:xfrm>
              <a:off x="6142994" y="3959861"/>
              <a:ext cx="4989029" cy="876584"/>
            </a:xfrm>
            <a:prstGeom prst="rect">
              <a:avLst/>
            </a:prstGeom>
            <a:noFill/>
          </p:spPr>
          <p:txBody>
            <a:bodyPr lIns="0" tIns="0" rIns="0" bIns="0">
              <a:noAutofit/>
            </a:bodyPr>
            <a:lstStyle>
              <a:defPPr>
                <a:defRPr lang="zh-CN"/>
              </a:defPPr>
              <a:lvl1pPr>
                <a:lnSpc>
                  <a:spcPct val="130000"/>
                </a:lnSpc>
                <a:defRPr sz="1200"/>
              </a:lvl1pPr>
            </a:lstStyle>
            <a:p>
              <a:pPr>
                <a:lnSpc>
                  <a:spcPct val="150000"/>
                </a:lnSpc>
              </a:pPr>
              <a:r>
                <a:rPr lang="en-US" altLang="zh-CN" sz="1800" dirty="0" smtClean="0"/>
                <a:t>        </a:t>
              </a:r>
              <a:r>
                <a:rPr lang="zh-CN" altLang="en-US" sz="1800" dirty="0" smtClean="0"/>
                <a:t>软件配置复审对技术复审进行补充。如检查配置项的变更标识是否完整、正确、明显等。</a:t>
              </a:r>
            </a:p>
          </p:txBody>
        </p:sp>
      </p:grpSp>
      <p:sp>
        <p:nvSpPr>
          <p:cNvPr id="11" name="矩形 10"/>
          <p:cNvSpPr/>
          <p:nvPr/>
        </p:nvSpPr>
        <p:spPr>
          <a:xfrm>
            <a:off x="961400" y="1948227"/>
            <a:ext cx="10215245" cy="1874520"/>
          </a:xfrm>
          <a:prstGeom prst="rect">
            <a:avLst/>
          </a:prstGeom>
        </p:spPr>
        <p:txBody>
          <a:bodyPr wrap="square">
            <a:spAutoFit/>
          </a:bodyPr>
          <a:lstStyle/>
          <a:p>
            <a:pPr indent="457200">
              <a:lnSpc>
                <a:spcPct val="150000"/>
              </a:lnSpc>
            </a:pPr>
            <a:r>
              <a:rPr sz="2400" b="1" dirty="0" smtClean="0">
                <a:solidFill>
                  <a:schemeClr val="accent6">
                    <a:lumMod val="50000"/>
                  </a:schemeClr>
                </a:solidFill>
                <a:latin typeface="+mn-ea"/>
              </a:rPr>
              <a:t>审计工作</a:t>
            </a:r>
            <a:r>
              <a:rPr dirty="0" smtClean="0">
                <a:latin typeface="+mn-ea"/>
              </a:rPr>
              <a:t>的主要目的是要保证基线在技术与管理上的完整性和正确性，保证对软件配置项（SCI）所做的变动是服从需求规定的。审计工作是变动控制人员批准SCI的先决条件。</a:t>
            </a:r>
            <a:r>
              <a:rPr b="1" dirty="0" smtClean="0">
                <a:solidFill>
                  <a:srgbClr val="00B050"/>
                </a:solidFill>
                <a:latin typeface="+mn-ea"/>
              </a:rPr>
              <a:t>在软件生存期内，必须不断地进行配置审计工作，不要等到最后才进行。</a:t>
            </a:r>
          </a:p>
          <a:p>
            <a:pPr indent="457200">
              <a:lnSpc>
                <a:spcPct val="150000"/>
              </a:lnSpc>
            </a:pPr>
            <a:r>
              <a:rPr dirty="0" smtClean="0">
                <a:latin typeface="+mn-ea"/>
              </a:rPr>
              <a:t>配置审计要采取正式的技术复审和软件配置复审两方面措施。</a:t>
            </a:r>
          </a:p>
        </p:txBody>
      </p:sp>
      <p:sp>
        <p:nvSpPr>
          <p:cNvPr id="12" name="TextBox 11"/>
          <p:cNvSpPr txBox="1"/>
          <p:nvPr/>
        </p:nvSpPr>
        <p:spPr>
          <a:xfrm>
            <a:off x="824415" y="1496381"/>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3</a:t>
            </a:r>
            <a:r>
              <a:rPr lang="zh-CN" altLang="en-US" sz="2400" dirty="0" smtClean="0"/>
              <a:t>．配置审计</a:t>
            </a:r>
          </a:p>
        </p:txBody>
      </p:sp>
    </p:spTree>
  </p:cSld>
  <p:clrMapOvr>
    <a:masterClrMapping/>
  </p:clrMapOvr>
  <p:transition>
    <p:pull dir="rd"/>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10.5  </a:t>
            </a:r>
            <a:r>
              <a:rPr lang="zh-CN" altLang="en-US" dirty="0" smtClean="0">
                <a:solidFill>
                  <a:srgbClr val="FF0000"/>
                </a:solidFill>
                <a:sym typeface="+mn-ea"/>
              </a:rPr>
              <a:t>软件配置管理</a:t>
            </a:r>
            <a:endParaRPr lang="zh-CN" altLang="en-US" dirty="0">
              <a:solidFill>
                <a:srgbClr val="FF0000"/>
              </a:solidFill>
            </a:endParaRPr>
          </a:p>
        </p:txBody>
      </p:sp>
      <p:sp>
        <p:nvSpPr>
          <p:cNvPr id="100" name="文本框 99"/>
          <p:cNvSpPr txBox="1"/>
          <p:nvPr/>
        </p:nvSpPr>
        <p:spPr>
          <a:xfrm>
            <a:off x="899810" y="2171388"/>
            <a:ext cx="10322372" cy="1458861"/>
          </a:xfrm>
          <a:prstGeom prst="rect">
            <a:avLst/>
          </a:prstGeom>
          <a:noFill/>
          <a:ln w="9525">
            <a:noFill/>
          </a:ln>
        </p:spPr>
        <p:txBody>
          <a:bodyPr wrap="square">
            <a:spAutoFit/>
          </a:bodyPr>
          <a:lstStyle/>
          <a:p>
            <a:pPr marL="0" indent="457200" algn="l" fontAlgn="auto">
              <a:lnSpc>
                <a:spcPct val="120000"/>
              </a:lnSpc>
            </a:pPr>
            <a:r>
              <a:rPr sz="2000" b="1" u="none" dirty="0" smtClean="0">
                <a:solidFill>
                  <a:schemeClr val="accent6">
                    <a:lumMod val="50000"/>
                  </a:schemeClr>
                </a:solidFill>
                <a:latin typeface="微软雅黑" panose="020B0503020204020204" charset="-122"/>
                <a:ea typeface="微软雅黑" panose="020B0503020204020204" charset="-122"/>
              </a:rPr>
              <a:t>软件配置状态报告</a:t>
            </a:r>
            <a:r>
              <a:rPr b="0" u="none" dirty="0" smtClean="0">
                <a:latin typeface="微软雅黑" panose="020B0503020204020204" charset="-122"/>
                <a:ea typeface="微软雅黑" panose="020B0503020204020204" charset="-122"/>
              </a:rPr>
              <a:t>主要是回答</a:t>
            </a:r>
            <a:r>
              <a:rPr b="0" u="none" dirty="0">
                <a:latin typeface="微软雅黑" panose="020B0503020204020204" charset="-122"/>
                <a:ea typeface="微软雅黑" panose="020B0503020204020204" charset="-122"/>
              </a:rPr>
              <a:t>“发生了什么情况”“谁做的这件事”“什么时候发生这一情况”“它将影响哪些其他事物”等问题。配置状态报告从每个软件配置管理中获取信息，建立数据库，便可产生报告。通过对软件配置变更的记录及报告的复查，便能确定何时做过何种变动，何种元素已被添加到已批准的基线，以及在给定的时刻配置处于何种状态等。</a:t>
            </a:r>
          </a:p>
        </p:txBody>
      </p:sp>
      <p:sp>
        <p:nvSpPr>
          <p:cNvPr id="4" name="文本框 99"/>
          <p:cNvSpPr txBox="1"/>
          <p:nvPr/>
        </p:nvSpPr>
        <p:spPr>
          <a:xfrm>
            <a:off x="899810" y="3809427"/>
            <a:ext cx="6245247" cy="2419124"/>
          </a:xfrm>
          <a:prstGeom prst="rect">
            <a:avLst/>
          </a:prstGeom>
          <a:noFill/>
          <a:ln w="9525">
            <a:noFill/>
          </a:ln>
        </p:spPr>
        <p:txBody>
          <a:bodyPr wrap="square">
            <a:spAutoFit/>
          </a:bodyPr>
          <a:lstStyle/>
          <a:p>
            <a:pPr marL="0" indent="457200" algn="l" fontAlgn="auto">
              <a:lnSpc>
                <a:spcPct val="120000"/>
              </a:lnSpc>
            </a:pPr>
            <a:r>
              <a:rPr b="0" u="none" dirty="0">
                <a:latin typeface="微软雅黑" panose="020B0503020204020204" charset="-122"/>
                <a:ea typeface="微软雅黑" panose="020B0503020204020204" charset="-122"/>
                <a:cs typeface="宋体" panose="02010600030101010101" pitchFamily="2" charset="-122"/>
              </a:rPr>
              <a:t>例如，随着软件工程生存期的推进，软件系统的版本不断更新。</a:t>
            </a:r>
            <a:r>
              <a:rPr b="1" u="none" dirty="0">
                <a:solidFill>
                  <a:schemeClr val="accent6">
                    <a:lumMod val="50000"/>
                  </a:schemeClr>
                </a:solidFill>
                <a:latin typeface="微软雅黑" panose="020B0503020204020204" charset="-122"/>
                <a:ea typeface="微软雅黑" panose="020B0503020204020204" charset="-122"/>
                <a:cs typeface="宋体" panose="02010600030101010101" pitchFamily="2" charset="-122"/>
              </a:rPr>
              <a:t>可将不断变更的版本进行编号，在哪种版本的基础上做不大的改动时，就在这种版本号的后面加点号和序号；</a:t>
            </a:r>
            <a:r>
              <a:rPr b="0" u="none" dirty="0">
                <a:latin typeface="微软雅黑" panose="020B0503020204020204" charset="-122"/>
                <a:ea typeface="微软雅黑" panose="020B0503020204020204" charset="-122"/>
                <a:cs typeface="宋体" panose="02010600030101010101" pitchFamily="2" charset="-122"/>
              </a:rPr>
              <a:t>改动较大时，版本序号变大。如版本1.0、版本1.1、版本1.1.1、版本1.1.2；版本1.2、版本1.3、版本1.4；版本2.0、版本2.1等。每种版本是在哪个版本的基础上，做了何种变动等都要详细加以记录。</a:t>
            </a:r>
          </a:p>
        </p:txBody>
      </p:sp>
      <p:pic>
        <p:nvPicPr>
          <p:cNvPr id="2" name="图片 1" descr="A000220150321F57PPIC"/>
          <p:cNvPicPr>
            <a:picLocks noChangeAspect="1"/>
          </p:cNvPicPr>
          <p:nvPr/>
        </p:nvPicPr>
        <p:blipFill>
          <a:blip r:embed="rId3" cstate="print"/>
          <a:stretch>
            <a:fillRect/>
          </a:stretch>
        </p:blipFill>
        <p:spPr>
          <a:xfrm>
            <a:off x="6915815" y="3845206"/>
            <a:ext cx="4291564" cy="2104332"/>
          </a:xfrm>
          <a:prstGeom prst="rect">
            <a:avLst/>
          </a:prstGeom>
        </p:spPr>
      </p:pic>
      <p:sp>
        <p:nvSpPr>
          <p:cNvPr id="6" name="TextBox 5"/>
          <p:cNvSpPr txBox="1"/>
          <p:nvPr/>
        </p:nvSpPr>
        <p:spPr>
          <a:xfrm>
            <a:off x="824415" y="1496381"/>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4</a:t>
            </a:r>
            <a:r>
              <a:rPr lang="zh-CN" altLang="en-US" sz="2400" dirty="0" smtClean="0"/>
              <a:t>．配置状态报告</a:t>
            </a:r>
          </a:p>
        </p:txBody>
      </p:sp>
    </p:spTree>
  </p:cSld>
  <p:clrMapOvr>
    <a:masterClrMapping/>
  </p:clrMapOvr>
  <p:transition>
    <p:pull dir="rd"/>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10.5  </a:t>
            </a:r>
            <a:r>
              <a:rPr lang="zh-CN" altLang="en-US" dirty="0" smtClean="0">
                <a:solidFill>
                  <a:srgbClr val="FF0000"/>
                </a:solidFill>
                <a:sym typeface="+mn-ea"/>
              </a:rPr>
              <a:t>软件配置管理</a:t>
            </a:r>
            <a:endParaRPr lang="zh-CN" altLang="en-US" dirty="0">
              <a:solidFill>
                <a:srgbClr val="FF0000"/>
              </a:solidFill>
            </a:endParaRPr>
          </a:p>
        </p:txBody>
      </p:sp>
      <p:grpSp>
        <p:nvGrpSpPr>
          <p:cNvPr id="2" name="组合 1"/>
          <p:cNvGrpSpPr/>
          <p:nvPr/>
        </p:nvGrpSpPr>
        <p:grpSpPr>
          <a:xfrm>
            <a:off x="1774844" y="2008893"/>
            <a:ext cx="8533765" cy="4003040"/>
            <a:chOff x="9359" y="6193"/>
            <a:chExt cx="7613" cy="5750"/>
          </a:xfrm>
        </p:grpSpPr>
        <p:sp>
          <p:nvSpPr>
            <p:cNvPr id="4" name="MH_Other_1"/>
            <p:cNvSpPr/>
            <p:nvPr/>
          </p:nvSpPr>
          <p:spPr>
            <a:xfrm>
              <a:off x="9359" y="6193"/>
              <a:ext cx="7178" cy="4297"/>
            </a:xfrm>
            <a:prstGeom prst="roundRect">
              <a:avLst>
                <a:gd name="adj" fmla="val 3901"/>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5" name="MH_Other_2"/>
            <p:cNvSpPr/>
            <p:nvPr/>
          </p:nvSpPr>
          <p:spPr>
            <a:xfrm>
              <a:off x="9794" y="6640"/>
              <a:ext cx="7178" cy="5303"/>
            </a:xfrm>
            <a:custGeom>
              <a:avLst/>
              <a:gdLst>
                <a:gd name="connsiteX0" fmla="*/ 106446 w 4557485"/>
                <a:gd name="connsiteY0" fmla="*/ 0 h 3367314"/>
                <a:gd name="connsiteX1" fmla="*/ 4451039 w 4557485"/>
                <a:gd name="connsiteY1" fmla="*/ 0 h 3367314"/>
                <a:gd name="connsiteX2" fmla="*/ 4557485 w 4557485"/>
                <a:gd name="connsiteY2" fmla="*/ 106446 h 3367314"/>
                <a:gd name="connsiteX3" fmla="*/ 4557485 w 4557485"/>
                <a:gd name="connsiteY3" fmla="*/ 2622239 h 3367314"/>
                <a:gd name="connsiteX4" fmla="*/ 4451039 w 4557485"/>
                <a:gd name="connsiteY4" fmla="*/ 2728685 h 3367314"/>
                <a:gd name="connsiteX5" fmla="*/ 3773714 w 4557485"/>
                <a:gd name="connsiteY5" fmla="*/ 2728685 h 3367314"/>
                <a:gd name="connsiteX6" fmla="*/ 3773714 w 4557485"/>
                <a:gd name="connsiteY6" fmla="*/ 3367314 h 3367314"/>
                <a:gd name="connsiteX7" fmla="*/ 3135085 w 4557485"/>
                <a:gd name="connsiteY7" fmla="*/ 2728685 h 3367314"/>
                <a:gd name="connsiteX8" fmla="*/ 106446 w 4557485"/>
                <a:gd name="connsiteY8" fmla="*/ 2728685 h 3367314"/>
                <a:gd name="connsiteX9" fmla="*/ 0 w 4557485"/>
                <a:gd name="connsiteY9" fmla="*/ 2622239 h 3367314"/>
                <a:gd name="connsiteX10" fmla="*/ 0 w 4557485"/>
                <a:gd name="connsiteY10" fmla="*/ 106446 h 3367314"/>
                <a:gd name="connsiteX11" fmla="*/ 106446 w 4557485"/>
                <a:gd name="connsiteY11" fmla="*/ 0 h 3367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7485" h="3367314">
                  <a:moveTo>
                    <a:pt x="106446" y="0"/>
                  </a:moveTo>
                  <a:lnTo>
                    <a:pt x="4451039" y="0"/>
                  </a:lnTo>
                  <a:cubicBezTo>
                    <a:pt x="4509828" y="0"/>
                    <a:pt x="4557485" y="47657"/>
                    <a:pt x="4557485" y="106446"/>
                  </a:cubicBezTo>
                  <a:lnTo>
                    <a:pt x="4557485" y="2622239"/>
                  </a:lnTo>
                  <a:cubicBezTo>
                    <a:pt x="4557485" y="2681028"/>
                    <a:pt x="4509828" y="2728685"/>
                    <a:pt x="4451039" y="2728685"/>
                  </a:cubicBezTo>
                  <a:lnTo>
                    <a:pt x="3773714" y="2728685"/>
                  </a:lnTo>
                  <a:lnTo>
                    <a:pt x="3773714" y="3367314"/>
                  </a:lnTo>
                  <a:lnTo>
                    <a:pt x="3135085" y="2728685"/>
                  </a:lnTo>
                  <a:lnTo>
                    <a:pt x="106446" y="2728685"/>
                  </a:lnTo>
                  <a:cubicBezTo>
                    <a:pt x="47657" y="2728685"/>
                    <a:pt x="0" y="2681028"/>
                    <a:pt x="0" y="2622239"/>
                  </a:cubicBezTo>
                  <a:lnTo>
                    <a:pt x="0" y="106446"/>
                  </a:lnTo>
                  <a:cubicBezTo>
                    <a:pt x="0" y="47657"/>
                    <a:pt x="47657" y="0"/>
                    <a:pt x="106446" y="0"/>
                  </a:cubicBez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3077" name="MH_Desc_1"/>
            <p:cNvSpPr>
              <a:spLocks noChangeArrowheads="1"/>
            </p:cNvSpPr>
            <p:nvPr/>
          </p:nvSpPr>
          <p:spPr bwMode="auto">
            <a:xfrm>
              <a:off x="10846" y="7210"/>
              <a:ext cx="5115" cy="320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dirty="0">
                  <a:solidFill>
                    <a:schemeClr val="tx1"/>
                  </a:solidFill>
                  <a:latin typeface="微软雅黑" panose="020B0503020204020204" charset="-122"/>
                  <a:ea typeface="微软雅黑" panose="020B0503020204020204" charset="-122"/>
                </a:rPr>
                <a:t>综上所述，软件配置管理是对软件工程的定义、开发、维护阶段的一种重要补充。软件工程过程中某一阶段的变更，都会引起软件配置的变更，对这种变更必须严格加以控制和管理。必须保持配置，并把精确、清晰的信息传递到软件工程过程的下一步骤。</a:t>
              </a:r>
            </a:p>
          </p:txBody>
        </p:sp>
        <p:sp>
          <p:nvSpPr>
            <p:cNvPr id="3078" name="MH_Other_3"/>
            <p:cNvSpPr/>
            <p:nvPr/>
          </p:nvSpPr>
          <p:spPr bwMode="auto">
            <a:xfrm>
              <a:off x="10174" y="7253"/>
              <a:ext cx="593" cy="450"/>
            </a:xfrm>
            <a:custGeom>
              <a:avLst/>
              <a:gdLst>
                <a:gd name="T0" fmla="*/ 373803 w 376733"/>
                <a:gd name="T1" fmla="*/ 1221 h 285293"/>
                <a:gd name="T2" fmla="*/ 376238 w 376733"/>
                <a:gd name="T3" fmla="*/ 3663 h 285293"/>
                <a:gd name="T4" fmla="*/ 368933 w 376733"/>
                <a:gd name="T5" fmla="*/ 17096 h 285293"/>
                <a:gd name="T6" fmla="*/ 334231 w 376733"/>
                <a:gd name="T7" fmla="*/ 83649 h 285293"/>
                <a:gd name="T8" fmla="*/ 322663 w 376733"/>
                <a:gd name="T9" fmla="*/ 146538 h 285293"/>
                <a:gd name="T10" fmla="*/ 339710 w 376733"/>
                <a:gd name="T11" fmla="*/ 214923 h 285293"/>
                <a:gd name="T12" fmla="*/ 344581 w 376733"/>
                <a:gd name="T13" fmla="*/ 238735 h 285293"/>
                <a:gd name="T14" fmla="*/ 319619 w 376733"/>
                <a:gd name="T15" fmla="*/ 264380 h 285293"/>
                <a:gd name="T16" fmla="*/ 272742 w 376733"/>
                <a:gd name="T17" fmla="*/ 277201 h 285293"/>
                <a:gd name="T18" fmla="*/ 227691 w 376733"/>
                <a:gd name="T19" fmla="*/ 263769 h 285293"/>
                <a:gd name="T20" fmla="*/ 204557 w 376733"/>
                <a:gd name="T21" fmla="*/ 213091 h 285293"/>
                <a:gd name="T22" fmla="*/ 230735 w 376733"/>
                <a:gd name="T23" fmla="*/ 123336 h 285293"/>
                <a:gd name="T24" fmla="*/ 309879 w 376733"/>
                <a:gd name="T25" fmla="*/ 36024 h 285293"/>
                <a:gd name="T26" fmla="*/ 373803 w 376733"/>
                <a:gd name="T27" fmla="*/ 1221 h 285293"/>
                <a:gd name="T28" fmla="*/ 235606 w 376733"/>
                <a:gd name="T29" fmla="*/ 0 h 285293"/>
                <a:gd name="T30" fmla="*/ 242302 w 376733"/>
                <a:gd name="T31" fmla="*/ 2442 h 285293"/>
                <a:gd name="T32" fmla="*/ 232562 w 376733"/>
                <a:gd name="T33" fmla="*/ 14653 h 285293"/>
                <a:gd name="T34" fmla="*/ 159506 w 376733"/>
                <a:gd name="T35" fmla="*/ 101355 h 285293"/>
                <a:gd name="T36" fmla="*/ 136372 w 376733"/>
                <a:gd name="T37" fmla="*/ 175846 h 285293"/>
                <a:gd name="T38" fmla="*/ 140633 w 376733"/>
                <a:gd name="T39" fmla="*/ 219808 h 285293"/>
                <a:gd name="T40" fmla="*/ 144894 w 376733"/>
                <a:gd name="T41" fmla="*/ 240567 h 285293"/>
                <a:gd name="T42" fmla="*/ 121152 w 376733"/>
                <a:gd name="T43" fmla="*/ 272927 h 285293"/>
                <a:gd name="T44" fmla="*/ 77318 w 376733"/>
                <a:gd name="T45" fmla="*/ 285750 h 285293"/>
                <a:gd name="T46" fmla="*/ 28614 w 376733"/>
                <a:gd name="T47" fmla="*/ 268043 h 285293"/>
                <a:gd name="T48" fmla="*/ 0 w 376733"/>
                <a:gd name="T49" fmla="*/ 216144 h 285293"/>
                <a:gd name="T50" fmla="*/ 10959 w 376733"/>
                <a:gd name="T51" fmla="*/ 176456 h 285293"/>
                <a:gd name="T52" fmla="*/ 54184 w 376733"/>
                <a:gd name="T53" fmla="*/ 116620 h 285293"/>
                <a:gd name="T54" fmla="*/ 123586 w 376733"/>
                <a:gd name="T55" fmla="*/ 50067 h 285293"/>
                <a:gd name="T56" fmla="*/ 194816 w 376733"/>
                <a:gd name="T57" fmla="*/ 11601 h 285293"/>
                <a:gd name="T58" fmla="*/ 235606 w 376733"/>
                <a:gd name="T59" fmla="*/ 0 h 2852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76733" h="285293">
                  <a:moveTo>
                    <a:pt x="374295" y="1219"/>
                  </a:moveTo>
                  <a:cubicBezTo>
                    <a:pt x="375920" y="1219"/>
                    <a:pt x="376733" y="2032"/>
                    <a:pt x="376733" y="3657"/>
                  </a:cubicBezTo>
                  <a:cubicBezTo>
                    <a:pt x="376733" y="6096"/>
                    <a:pt x="374295" y="10566"/>
                    <a:pt x="369418" y="17069"/>
                  </a:cubicBezTo>
                  <a:cubicBezTo>
                    <a:pt x="353975" y="36576"/>
                    <a:pt x="342392" y="58725"/>
                    <a:pt x="334671" y="83515"/>
                  </a:cubicBezTo>
                  <a:cubicBezTo>
                    <a:pt x="326949" y="108305"/>
                    <a:pt x="323088" y="129235"/>
                    <a:pt x="323088" y="146304"/>
                  </a:cubicBezTo>
                  <a:cubicBezTo>
                    <a:pt x="323088" y="163373"/>
                    <a:pt x="328778" y="186131"/>
                    <a:pt x="340157" y="214579"/>
                  </a:cubicBezTo>
                  <a:cubicBezTo>
                    <a:pt x="343408" y="221894"/>
                    <a:pt x="345034" y="229819"/>
                    <a:pt x="345034" y="238353"/>
                  </a:cubicBezTo>
                  <a:cubicBezTo>
                    <a:pt x="345034" y="246888"/>
                    <a:pt x="336703" y="255422"/>
                    <a:pt x="320040" y="263957"/>
                  </a:cubicBezTo>
                  <a:cubicBezTo>
                    <a:pt x="303378" y="272491"/>
                    <a:pt x="287732" y="276758"/>
                    <a:pt x="273101" y="276758"/>
                  </a:cubicBezTo>
                  <a:cubicBezTo>
                    <a:pt x="258471" y="276758"/>
                    <a:pt x="243434" y="272288"/>
                    <a:pt x="227991" y="263347"/>
                  </a:cubicBezTo>
                  <a:cubicBezTo>
                    <a:pt x="212548" y="254406"/>
                    <a:pt x="204826" y="237541"/>
                    <a:pt x="204826" y="212750"/>
                  </a:cubicBezTo>
                  <a:cubicBezTo>
                    <a:pt x="204826" y="187960"/>
                    <a:pt x="213564" y="158089"/>
                    <a:pt x="231039" y="123139"/>
                  </a:cubicBezTo>
                  <a:cubicBezTo>
                    <a:pt x="248514" y="88189"/>
                    <a:pt x="274930" y="59131"/>
                    <a:pt x="310287" y="35966"/>
                  </a:cubicBezTo>
                  <a:cubicBezTo>
                    <a:pt x="345644" y="12801"/>
                    <a:pt x="366980" y="1219"/>
                    <a:pt x="374295" y="1219"/>
                  </a:cubicBezTo>
                  <a:close/>
                  <a:moveTo>
                    <a:pt x="235916" y="0"/>
                  </a:moveTo>
                  <a:cubicBezTo>
                    <a:pt x="240386" y="0"/>
                    <a:pt x="242621" y="813"/>
                    <a:pt x="242621" y="2438"/>
                  </a:cubicBezTo>
                  <a:cubicBezTo>
                    <a:pt x="242621" y="4877"/>
                    <a:pt x="239370" y="8941"/>
                    <a:pt x="232868" y="14630"/>
                  </a:cubicBezTo>
                  <a:cubicBezTo>
                    <a:pt x="199543" y="42265"/>
                    <a:pt x="175159" y="71120"/>
                    <a:pt x="159716" y="101193"/>
                  </a:cubicBezTo>
                  <a:cubicBezTo>
                    <a:pt x="144272" y="131267"/>
                    <a:pt x="136551" y="156057"/>
                    <a:pt x="136551" y="175565"/>
                  </a:cubicBezTo>
                  <a:cubicBezTo>
                    <a:pt x="136551" y="195072"/>
                    <a:pt x="137973" y="209702"/>
                    <a:pt x="140818" y="219456"/>
                  </a:cubicBezTo>
                  <a:cubicBezTo>
                    <a:pt x="143663" y="229209"/>
                    <a:pt x="145085" y="236118"/>
                    <a:pt x="145085" y="240182"/>
                  </a:cubicBezTo>
                  <a:cubicBezTo>
                    <a:pt x="145085" y="253187"/>
                    <a:pt x="137160" y="263957"/>
                    <a:pt x="121311" y="272491"/>
                  </a:cubicBezTo>
                  <a:cubicBezTo>
                    <a:pt x="105461" y="281025"/>
                    <a:pt x="90831" y="285293"/>
                    <a:pt x="77420" y="285293"/>
                  </a:cubicBezTo>
                  <a:cubicBezTo>
                    <a:pt x="64008" y="285293"/>
                    <a:pt x="47752" y="279400"/>
                    <a:pt x="28652" y="267614"/>
                  </a:cubicBezTo>
                  <a:cubicBezTo>
                    <a:pt x="9551" y="255829"/>
                    <a:pt x="0" y="238557"/>
                    <a:pt x="0" y="215798"/>
                  </a:cubicBezTo>
                  <a:cubicBezTo>
                    <a:pt x="0" y="202793"/>
                    <a:pt x="3658" y="189585"/>
                    <a:pt x="10973" y="176174"/>
                  </a:cubicBezTo>
                  <a:cubicBezTo>
                    <a:pt x="18288" y="162763"/>
                    <a:pt x="32716" y="142849"/>
                    <a:pt x="54255" y="116433"/>
                  </a:cubicBezTo>
                  <a:cubicBezTo>
                    <a:pt x="75794" y="90017"/>
                    <a:pt x="98959" y="67869"/>
                    <a:pt x="123749" y="49987"/>
                  </a:cubicBezTo>
                  <a:cubicBezTo>
                    <a:pt x="148540" y="32105"/>
                    <a:pt x="172314" y="19304"/>
                    <a:pt x="195072" y="11582"/>
                  </a:cubicBezTo>
                  <a:cubicBezTo>
                    <a:pt x="217831" y="3861"/>
                    <a:pt x="231445" y="0"/>
                    <a:pt x="235916" y="0"/>
                  </a:cubicBezTo>
                  <a:close/>
                </a:path>
              </a:pathLst>
            </a:custGeom>
            <a:solidFill>
              <a:srgbClr val="AD1717"/>
            </a:soli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079" name="MH_Other_4"/>
            <p:cNvSpPr/>
            <p:nvPr/>
          </p:nvSpPr>
          <p:spPr bwMode="auto">
            <a:xfrm rot="10800000">
              <a:off x="15904" y="9978"/>
              <a:ext cx="593" cy="447"/>
            </a:xfrm>
            <a:custGeom>
              <a:avLst/>
              <a:gdLst>
                <a:gd name="T0" fmla="*/ 373803 w 376733"/>
                <a:gd name="T1" fmla="*/ 1214 h 285293"/>
                <a:gd name="T2" fmla="*/ 376238 w 376733"/>
                <a:gd name="T3" fmla="*/ 3643 h 285293"/>
                <a:gd name="T4" fmla="*/ 368933 w 376733"/>
                <a:gd name="T5" fmla="*/ 17001 h 285293"/>
                <a:gd name="T6" fmla="*/ 334231 w 376733"/>
                <a:gd name="T7" fmla="*/ 83184 h 285293"/>
                <a:gd name="T8" fmla="*/ 322663 w 376733"/>
                <a:gd name="T9" fmla="*/ 145724 h 285293"/>
                <a:gd name="T10" fmla="*/ 339710 w 376733"/>
                <a:gd name="T11" fmla="*/ 213728 h 285293"/>
                <a:gd name="T12" fmla="*/ 344581 w 376733"/>
                <a:gd name="T13" fmla="*/ 237408 h 285293"/>
                <a:gd name="T14" fmla="*/ 319619 w 376733"/>
                <a:gd name="T15" fmla="*/ 262911 h 285293"/>
                <a:gd name="T16" fmla="*/ 272742 w 376733"/>
                <a:gd name="T17" fmla="*/ 275661 h 285293"/>
                <a:gd name="T18" fmla="*/ 227691 w 376733"/>
                <a:gd name="T19" fmla="*/ 262303 h 285293"/>
                <a:gd name="T20" fmla="*/ 204557 w 376733"/>
                <a:gd name="T21" fmla="*/ 211907 h 285293"/>
                <a:gd name="T22" fmla="*/ 230735 w 376733"/>
                <a:gd name="T23" fmla="*/ 122651 h 285293"/>
                <a:gd name="T24" fmla="*/ 309879 w 376733"/>
                <a:gd name="T25" fmla="*/ 35823 h 285293"/>
                <a:gd name="T26" fmla="*/ 373803 w 376733"/>
                <a:gd name="T27" fmla="*/ 1214 h 285293"/>
                <a:gd name="T28" fmla="*/ 235606 w 376733"/>
                <a:gd name="T29" fmla="*/ 0 h 285293"/>
                <a:gd name="T30" fmla="*/ 242302 w 376733"/>
                <a:gd name="T31" fmla="*/ 2428 h 285293"/>
                <a:gd name="T32" fmla="*/ 232562 w 376733"/>
                <a:gd name="T33" fmla="*/ 14572 h 285293"/>
                <a:gd name="T34" fmla="*/ 159506 w 376733"/>
                <a:gd name="T35" fmla="*/ 100792 h 285293"/>
                <a:gd name="T36" fmla="*/ 136372 w 376733"/>
                <a:gd name="T37" fmla="*/ 174869 h 285293"/>
                <a:gd name="T38" fmla="*/ 140633 w 376733"/>
                <a:gd name="T39" fmla="*/ 218586 h 285293"/>
                <a:gd name="T40" fmla="*/ 144894 w 376733"/>
                <a:gd name="T41" fmla="*/ 239230 h 285293"/>
                <a:gd name="T42" fmla="*/ 121152 w 376733"/>
                <a:gd name="T43" fmla="*/ 271411 h 285293"/>
                <a:gd name="T44" fmla="*/ 77318 w 376733"/>
                <a:gd name="T45" fmla="*/ 284162 h 285293"/>
                <a:gd name="T46" fmla="*/ 28614 w 376733"/>
                <a:gd name="T47" fmla="*/ 266553 h 285293"/>
                <a:gd name="T48" fmla="*/ 0 w 376733"/>
                <a:gd name="T49" fmla="*/ 214943 h 285293"/>
                <a:gd name="T50" fmla="*/ 10959 w 376733"/>
                <a:gd name="T51" fmla="*/ 175476 h 285293"/>
                <a:gd name="T52" fmla="*/ 54184 w 376733"/>
                <a:gd name="T53" fmla="*/ 115971 h 285293"/>
                <a:gd name="T54" fmla="*/ 123586 w 376733"/>
                <a:gd name="T55" fmla="*/ 49789 h 285293"/>
                <a:gd name="T56" fmla="*/ 194816 w 376733"/>
                <a:gd name="T57" fmla="*/ 11536 h 285293"/>
                <a:gd name="T58" fmla="*/ 235606 w 376733"/>
                <a:gd name="T59" fmla="*/ 0 h 2852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76733" h="285293">
                  <a:moveTo>
                    <a:pt x="374295" y="1219"/>
                  </a:moveTo>
                  <a:cubicBezTo>
                    <a:pt x="375920" y="1219"/>
                    <a:pt x="376733" y="2032"/>
                    <a:pt x="376733" y="3657"/>
                  </a:cubicBezTo>
                  <a:cubicBezTo>
                    <a:pt x="376733" y="6096"/>
                    <a:pt x="374295" y="10566"/>
                    <a:pt x="369418" y="17069"/>
                  </a:cubicBezTo>
                  <a:cubicBezTo>
                    <a:pt x="353975" y="36576"/>
                    <a:pt x="342392" y="58725"/>
                    <a:pt x="334671" y="83515"/>
                  </a:cubicBezTo>
                  <a:cubicBezTo>
                    <a:pt x="326949" y="108305"/>
                    <a:pt x="323088" y="129235"/>
                    <a:pt x="323088" y="146304"/>
                  </a:cubicBezTo>
                  <a:cubicBezTo>
                    <a:pt x="323088" y="163373"/>
                    <a:pt x="328778" y="186131"/>
                    <a:pt x="340157" y="214579"/>
                  </a:cubicBezTo>
                  <a:cubicBezTo>
                    <a:pt x="343408" y="221894"/>
                    <a:pt x="345034" y="229819"/>
                    <a:pt x="345034" y="238353"/>
                  </a:cubicBezTo>
                  <a:cubicBezTo>
                    <a:pt x="345034" y="246888"/>
                    <a:pt x="336703" y="255422"/>
                    <a:pt x="320040" y="263957"/>
                  </a:cubicBezTo>
                  <a:cubicBezTo>
                    <a:pt x="303378" y="272491"/>
                    <a:pt x="287732" y="276758"/>
                    <a:pt x="273101" y="276758"/>
                  </a:cubicBezTo>
                  <a:cubicBezTo>
                    <a:pt x="258471" y="276758"/>
                    <a:pt x="243434" y="272288"/>
                    <a:pt x="227991" y="263347"/>
                  </a:cubicBezTo>
                  <a:cubicBezTo>
                    <a:pt x="212548" y="254406"/>
                    <a:pt x="204826" y="237541"/>
                    <a:pt x="204826" y="212750"/>
                  </a:cubicBezTo>
                  <a:cubicBezTo>
                    <a:pt x="204826" y="187960"/>
                    <a:pt x="213564" y="158089"/>
                    <a:pt x="231039" y="123139"/>
                  </a:cubicBezTo>
                  <a:cubicBezTo>
                    <a:pt x="248514" y="88189"/>
                    <a:pt x="274930" y="59131"/>
                    <a:pt x="310287" y="35966"/>
                  </a:cubicBezTo>
                  <a:cubicBezTo>
                    <a:pt x="345644" y="12801"/>
                    <a:pt x="366980" y="1219"/>
                    <a:pt x="374295" y="1219"/>
                  </a:cubicBezTo>
                  <a:close/>
                  <a:moveTo>
                    <a:pt x="235916" y="0"/>
                  </a:moveTo>
                  <a:cubicBezTo>
                    <a:pt x="240386" y="0"/>
                    <a:pt x="242621" y="813"/>
                    <a:pt x="242621" y="2438"/>
                  </a:cubicBezTo>
                  <a:cubicBezTo>
                    <a:pt x="242621" y="4877"/>
                    <a:pt x="239370" y="8941"/>
                    <a:pt x="232868" y="14630"/>
                  </a:cubicBezTo>
                  <a:cubicBezTo>
                    <a:pt x="199543" y="42265"/>
                    <a:pt x="175159" y="71120"/>
                    <a:pt x="159716" y="101193"/>
                  </a:cubicBezTo>
                  <a:cubicBezTo>
                    <a:pt x="144272" y="131267"/>
                    <a:pt x="136551" y="156057"/>
                    <a:pt x="136551" y="175565"/>
                  </a:cubicBezTo>
                  <a:cubicBezTo>
                    <a:pt x="136551" y="195072"/>
                    <a:pt x="137973" y="209702"/>
                    <a:pt x="140818" y="219456"/>
                  </a:cubicBezTo>
                  <a:cubicBezTo>
                    <a:pt x="143663" y="229209"/>
                    <a:pt x="145085" y="236118"/>
                    <a:pt x="145085" y="240182"/>
                  </a:cubicBezTo>
                  <a:cubicBezTo>
                    <a:pt x="145085" y="253187"/>
                    <a:pt x="137160" y="263957"/>
                    <a:pt x="121311" y="272491"/>
                  </a:cubicBezTo>
                  <a:cubicBezTo>
                    <a:pt x="105461" y="281025"/>
                    <a:pt x="90831" y="285293"/>
                    <a:pt x="77420" y="285293"/>
                  </a:cubicBezTo>
                  <a:cubicBezTo>
                    <a:pt x="64008" y="285293"/>
                    <a:pt x="47752" y="279400"/>
                    <a:pt x="28652" y="267614"/>
                  </a:cubicBezTo>
                  <a:cubicBezTo>
                    <a:pt x="9551" y="255829"/>
                    <a:pt x="0" y="238557"/>
                    <a:pt x="0" y="215798"/>
                  </a:cubicBezTo>
                  <a:cubicBezTo>
                    <a:pt x="0" y="202793"/>
                    <a:pt x="3658" y="189585"/>
                    <a:pt x="10973" y="176174"/>
                  </a:cubicBezTo>
                  <a:cubicBezTo>
                    <a:pt x="18288" y="162763"/>
                    <a:pt x="32716" y="142849"/>
                    <a:pt x="54255" y="116433"/>
                  </a:cubicBezTo>
                  <a:cubicBezTo>
                    <a:pt x="75794" y="90017"/>
                    <a:pt x="98959" y="67869"/>
                    <a:pt x="123749" y="49987"/>
                  </a:cubicBezTo>
                  <a:cubicBezTo>
                    <a:pt x="148540" y="32105"/>
                    <a:pt x="172314" y="19304"/>
                    <a:pt x="195072" y="11582"/>
                  </a:cubicBezTo>
                  <a:cubicBezTo>
                    <a:pt x="217831" y="3861"/>
                    <a:pt x="231445" y="0"/>
                    <a:pt x="235916" y="0"/>
                  </a:cubicBezTo>
                  <a:close/>
                </a:path>
              </a:pathLst>
            </a:custGeom>
            <a:solidFill>
              <a:srgbClr val="AD1717"/>
            </a:soli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Tree>
  </p:cSld>
  <p:clrMapOvr>
    <a:masterClrMapping/>
  </p:clrMapOvr>
  <p:transition>
    <p:pull dir="rd"/>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6</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软件质量保证</a:t>
            </a:r>
          </a:p>
        </p:txBody>
      </p:sp>
      <p:grpSp>
        <p:nvGrpSpPr>
          <p:cNvPr id="11" name="组合 10"/>
          <p:cNvGrpSpPr/>
          <p:nvPr/>
        </p:nvGrpSpPr>
        <p:grpSpPr>
          <a:xfrm>
            <a:off x="6718935" y="4224020"/>
            <a:ext cx="3712845" cy="913130"/>
            <a:chOff x="9459" y="7137"/>
            <a:chExt cx="5847" cy="143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软件质量的特性</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软件质量保证措施</a:t>
              </a:r>
            </a:p>
          </p:txBody>
        </p:sp>
      </p:grpSp>
    </p:spTree>
  </p:cSld>
  <p:clrMapOvr>
    <a:masterClrMapping/>
  </p:clrMapOvr>
  <p:transition spd="slow">
    <p:wipe/>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10.6 软件质量保证</a:t>
            </a:r>
            <a:endParaRPr lang="zh-CN" altLang="en-US">
              <a:solidFill>
                <a:srgbClr val="FF0000"/>
              </a:solidFill>
            </a:endParaRP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lang="zh-CN" altLang="en-US" b="1" kern="0">
                <a:ln>
                  <a:noFill/>
                </a:ln>
                <a:effectLst/>
                <a:uLnTx/>
                <a:uFillTx/>
                <a:latin typeface="微软雅黑" panose="020B0503020204020204" charset="-122"/>
                <a:ea typeface="微软雅黑" panose="020B0503020204020204" charset="-122"/>
                <a:sym typeface="+mn-ea"/>
              </a:rPr>
              <a:t>软件质量保证</a:t>
            </a:r>
            <a:endPar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endParaRPr>
          </a:p>
        </p:txBody>
      </p:sp>
      <p:sp>
        <p:nvSpPr>
          <p:cNvPr id="7" name="文本框 6"/>
          <p:cNvSpPr txBox="1"/>
          <p:nvPr/>
        </p:nvSpPr>
        <p:spPr>
          <a:xfrm>
            <a:off x="754380" y="2716530"/>
            <a:ext cx="476250" cy="2211705"/>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sym typeface="+mn-ea"/>
              </a:rPr>
              <a:t>10.6 软件质量保证</a:t>
            </a:r>
            <a:endParaRPr lang="zh-CN" altLang="en-US" spc="160"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543050" y="2192020"/>
            <a:ext cx="9864090" cy="3261360"/>
          </a:xfrm>
          <a:prstGeom prst="rect">
            <a:avLst/>
          </a:prstGeom>
          <a:noFill/>
        </p:spPr>
        <p:txBody>
          <a:bodyPr wrap="square" rtlCol="0" anchor="t">
            <a:spAutoFit/>
          </a:bodyPr>
          <a:lstStyle/>
          <a:p>
            <a:pPr fontAlgn="auto">
              <a:lnSpc>
                <a:spcPct val="130000"/>
              </a:lnSpc>
            </a:pPr>
            <a:r>
              <a:rPr lang="en-US" altLang="zh-CN" sz="2000" dirty="0">
                <a:latin typeface="微软雅黑" panose="020B0503020204020204" charset="-122"/>
                <a:ea typeface="微软雅黑" panose="020B0503020204020204" charset="-122"/>
              </a:rPr>
              <a:t>       </a:t>
            </a:r>
            <a:r>
              <a:rPr lang="zh-CN" altLang="en-US" sz="2000">
                <a:latin typeface="微软雅黑" panose="020B0503020204020204" charset="-122"/>
                <a:ea typeface="微软雅黑" panose="020B0503020204020204" charset="-122"/>
              </a:rPr>
              <a:t>计算机软件质量是软件的一些内部特性的组合，质量不是在软件产品中被测试出来的，而是在软件开发和生产过程中形成的。</a:t>
            </a:r>
          </a:p>
          <a:p>
            <a:pPr fontAlgn="auto">
              <a:lnSpc>
                <a:spcPct val="130000"/>
              </a:lnSpc>
            </a:pPr>
            <a:r>
              <a:rPr lang="zh-CN" altLang="en-US" sz="2000">
                <a:latin typeface="微软雅黑" panose="020B0503020204020204" charset="-122"/>
                <a:ea typeface="微软雅黑" panose="020B0503020204020204" charset="-122"/>
              </a:rPr>
              <a:t>       国家标准GB/T 11457—2006《信息技术 软件工程术语》对软件质量（Software Quality）的定义为：</a:t>
            </a:r>
            <a:r>
              <a:rPr lang="zh-CN" altLang="en-US" sz="2000" b="1">
                <a:solidFill>
                  <a:schemeClr val="accent6">
                    <a:lumMod val="50000"/>
                  </a:schemeClr>
                </a:solidFill>
                <a:latin typeface="微软雅黑" panose="020B0503020204020204" charset="-122"/>
                <a:ea typeface="微软雅黑" panose="020B0503020204020204" charset="-122"/>
              </a:rPr>
              <a:t>软件产品中能满足给定需要的性质和特性的总体，例如符合规格说明；软件具有所期望的各种属性的组合程度；顾客和用户觉得软件满足其综合期望的程度；确定软件在使用中将满足顾客预期要求的程度。</a:t>
            </a:r>
          </a:p>
          <a:p>
            <a:pPr fontAlgn="auto">
              <a:lnSpc>
                <a:spcPct val="130000"/>
              </a:lnSpc>
            </a:pPr>
            <a:r>
              <a:rPr lang="zh-CN" altLang="en-US" sz="2000">
                <a:latin typeface="微软雅黑" panose="020B0503020204020204" charset="-122"/>
                <a:ea typeface="微软雅黑" panose="020B0503020204020204" charset="-122"/>
              </a:rPr>
              <a:t>       为保证软件充分满足用户要求而进行的有计划、有组织的活动称为软件质量保证，其目的是生产高质量的软件。</a:t>
            </a:r>
          </a:p>
        </p:txBody>
      </p:sp>
    </p:spTree>
  </p:cSld>
  <p:clrMapOvr>
    <a:masterClrMapping/>
  </p:clrMapOvr>
  <p:transition>
    <p:wheel spokes="3"/>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10.6  软件配置管理</a:t>
            </a:r>
            <a:r>
              <a:rPr lang="zh-CN" altLang="en-US" dirty="0" smtClean="0">
                <a:solidFill>
                  <a:schemeClr val="tx1"/>
                </a:solidFill>
              </a:rPr>
              <a:t/>
            </a:r>
            <a:br>
              <a:rPr lang="zh-CN" altLang="en-US" dirty="0" smtClean="0">
                <a:solidFill>
                  <a:schemeClr val="tx1"/>
                </a:solidFill>
              </a:rPr>
            </a:br>
            <a:endParaRPr lang="zh-CN" altLang="en-US">
              <a:solidFill>
                <a:srgbClr val="FF0000"/>
              </a:solidFill>
            </a:endParaRPr>
          </a:p>
        </p:txBody>
      </p:sp>
      <p:sp>
        <p:nvSpPr>
          <p:cNvPr id="2"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10.6.1  软件质量的特性</a:t>
            </a:r>
          </a:p>
        </p:txBody>
      </p:sp>
      <p:grpSp>
        <p:nvGrpSpPr>
          <p:cNvPr id="4" name="组合 3"/>
          <p:cNvGrpSpPr/>
          <p:nvPr/>
        </p:nvGrpSpPr>
        <p:grpSpPr>
          <a:xfrm>
            <a:off x="2649880" y="2748257"/>
            <a:ext cx="8916035" cy="3014980"/>
            <a:chOff x="2172" y="3247"/>
            <a:chExt cx="14041" cy="4748"/>
          </a:xfrm>
        </p:grpSpPr>
        <p:sp>
          <p:nvSpPr>
            <p:cNvPr id="12" name="任意多边形 11"/>
            <p:cNvSpPr/>
            <p:nvPr>
              <p:custDataLst>
                <p:tags r:id="rId1"/>
              </p:custDataLst>
            </p:nvPr>
          </p:nvSpPr>
          <p:spPr>
            <a:xfrm>
              <a:off x="2172" y="3247"/>
              <a:ext cx="2587" cy="4748"/>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4" name="圆角矩形 13"/>
            <p:cNvSpPr/>
            <p:nvPr>
              <p:custDataLst>
                <p:tags r:id="rId2"/>
              </p:custDataLst>
            </p:nvPr>
          </p:nvSpPr>
          <p:spPr>
            <a:xfrm>
              <a:off x="4126" y="3757"/>
              <a:ext cx="11359" cy="774"/>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endParaRPr lang="zh-CN" altLang="en-US" sz="1800">
                <a:solidFill>
                  <a:schemeClr val="tx1"/>
                </a:solidFill>
              </a:endParaRPr>
            </a:p>
          </p:txBody>
        </p:sp>
        <p:sp>
          <p:nvSpPr>
            <p:cNvPr id="15" name="椭圆 14"/>
            <p:cNvSpPr/>
            <p:nvPr>
              <p:custDataLst>
                <p:tags r:id="rId3"/>
              </p:custDataLst>
            </p:nvPr>
          </p:nvSpPr>
          <p:spPr>
            <a:xfrm>
              <a:off x="4126" y="3692"/>
              <a:ext cx="1017" cy="9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47" name="文本框 54"/>
            <p:cNvSpPr txBox="1">
              <a:spLocks noChangeArrowheads="1"/>
            </p:cNvSpPr>
            <p:nvPr>
              <p:custDataLst>
                <p:tags r:id="rId4"/>
              </p:custDataLst>
            </p:nvPr>
          </p:nvSpPr>
          <p:spPr bwMode="auto">
            <a:xfrm>
              <a:off x="5410" y="3870"/>
              <a:ext cx="6202" cy="5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n-lt"/>
                  <a:ea typeface="+mn-ea"/>
                </a:rPr>
                <a:t>软件功能必须满足用户规定的需求。</a:t>
              </a:r>
            </a:p>
          </p:txBody>
        </p:sp>
        <p:sp>
          <p:nvSpPr>
            <p:cNvPr id="16" name="圆角矩形 15"/>
            <p:cNvSpPr/>
            <p:nvPr>
              <p:custDataLst>
                <p:tags r:id="rId5"/>
              </p:custDataLst>
            </p:nvPr>
          </p:nvSpPr>
          <p:spPr>
            <a:xfrm>
              <a:off x="2901" y="5334"/>
              <a:ext cx="12602" cy="774"/>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endParaRPr lang="zh-CN" altLang="en-US" sz="1800">
                <a:solidFill>
                  <a:schemeClr val="tx1"/>
                </a:solidFill>
              </a:endParaRPr>
            </a:p>
          </p:txBody>
        </p:sp>
        <p:sp>
          <p:nvSpPr>
            <p:cNvPr id="17" name="椭圆 16"/>
            <p:cNvSpPr/>
            <p:nvPr>
              <p:custDataLst>
                <p:tags r:id="rId6"/>
              </p:custDataLst>
            </p:nvPr>
          </p:nvSpPr>
          <p:spPr>
            <a:xfrm>
              <a:off x="2871" y="5272"/>
              <a:ext cx="1017" cy="9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48" name="文本框 55"/>
            <p:cNvSpPr txBox="1">
              <a:spLocks noChangeArrowheads="1"/>
            </p:cNvSpPr>
            <p:nvPr>
              <p:custDataLst>
                <p:tags r:id="rId7"/>
              </p:custDataLst>
            </p:nvPr>
          </p:nvSpPr>
          <p:spPr bwMode="auto">
            <a:xfrm>
              <a:off x="4163" y="5483"/>
              <a:ext cx="10714" cy="6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n-lt"/>
                  <a:ea typeface="+mn-ea"/>
                </a:rPr>
                <a:t>软件应遵守规定标准所定义的一系列开发准则。</a:t>
              </a:r>
            </a:p>
          </p:txBody>
        </p:sp>
        <p:sp>
          <p:nvSpPr>
            <p:cNvPr id="18" name="圆角矩形 17"/>
            <p:cNvSpPr/>
            <p:nvPr>
              <p:custDataLst>
                <p:tags r:id="rId8"/>
              </p:custDataLst>
            </p:nvPr>
          </p:nvSpPr>
          <p:spPr>
            <a:xfrm>
              <a:off x="4163" y="6869"/>
              <a:ext cx="11228" cy="776"/>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endParaRPr lang="zh-CN" altLang="en-US" sz="1800">
                <a:solidFill>
                  <a:schemeClr val="tx1"/>
                </a:solidFill>
              </a:endParaRPr>
            </a:p>
          </p:txBody>
        </p:sp>
        <p:sp>
          <p:nvSpPr>
            <p:cNvPr id="19" name="椭圆 18"/>
            <p:cNvSpPr/>
            <p:nvPr>
              <p:custDataLst>
                <p:tags r:id="rId9"/>
              </p:custDataLst>
            </p:nvPr>
          </p:nvSpPr>
          <p:spPr>
            <a:xfrm>
              <a:off x="4129" y="6804"/>
              <a:ext cx="1017" cy="9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49" name="文本框 56"/>
            <p:cNvSpPr txBox="1">
              <a:spLocks noChangeArrowheads="1"/>
            </p:cNvSpPr>
            <p:nvPr>
              <p:custDataLst>
                <p:tags r:id="rId10"/>
              </p:custDataLst>
            </p:nvPr>
          </p:nvSpPr>
          <p:spPr bwMode="auto">
            <a:xfrm>
              <a:off x="5410" y="6999"/>
              <a:ext cx="10803" cy="54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a:latin typeface="+mn-lt"/>
                  <a:ea typeface="+mn-ea"/>
                </a:rPr>
                <a:t>软件应满足某些隐含的需求，例如可理解性、可维护性等。</a:t>
              </a:r>
            </a:p>
          </p:txBody>
        </p:sp>
        <p:sp>
          <p:nvSpPr>
            <p:cNvPr id="66" name="文本框 44"/>
            <p:cNvSpPr txBox="1"/>
            <p:nvPr/>
          </p:nvSpPr>
          <p:spPr>
            <a:xfrm>
              <a:off x="4394" y="3774"/>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1</a:t>
              </a:r>
              <a:endParaRPr lang="zh-CN" altLang="en-US" sz="2400" b="1" dirty="0">
                <a:solidFill>
                  <a:schemeClr val="bg1"/>
                </a:solidFill>
                <a:latin typeface="微软雅黑" panose="020B0503020204020204" charset="-122"/>
                <a:ea typeface="微软雅黑" panose="020B0503020204020204" charset="-122"/>
              </a:endParaRPr>
            </a:p>
          </p:txBody>
        </p:sp>
        <p:sp>
          <p:nvSpPr>
            <p:cNvPr id="23" name="文本框 44"/>
            <p:cNvSpPr txBox="1"/>
            <p:nvPr/>
          </p:nvSpPr>
          <p:spPr>
            <a:xfrm>
              <a:off x="3135" y="5340"/>
              <a:ext cx="488"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sz="2400" b="1" dirty="0">
                  <a:solidFill>
                    <a:schemeClr val="bg1"/>
                  </a:solidFill>
                  <a:latin typeface="微软雅黑" panose="020B0503020204020204" charset="-122"/>
                  <a:ea typeface="微软雅黑" panose="020B0503020204020204" charset="-122"/>
                </a:rPr>
                <a:t>2</a:t>
              </a:r>
            </a:p>
          </p:txBody>
        </p:sp>
        <p:sp>
          <p:nvSpPr>
            <p:cNvPr id="24" name="文本框 44"/>
            <p:cNvSpPr txBox="1"/>
            <p:nvPr/>
          </p:nvSpPr>
          <p:spPr>
            <a:xfrm>
              <a:off x="4394" y="6869"/>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33" name="组合 32"/>
          <p:cNvGrpSpPr/>
          <p:nvPr/>
        </p:nvGrpSpPr>
        <p:grpSpPr>
          <a:xfrm>
            <a:off x="478122" y="3230361"/>
            <a:ext cx="2039620" cy="2220595"/>
            <a:chOff x="881" y="2735"/>
            <a:chExt cx="3212" cy="3497"/>
          </a:xfrm>
        </p:grpSpPr>
        <p:sp>
          <p:nvSpPr>
            <p:cNvPr id="167" name="圆角矩形"/>
            <p:cNvSpPr/>
            <p:nvPr/>
          </p:nvSpPr>
          <p:spPr>
            <a:xfrm>
              <a:off x="1188" y="3071"/>
              <a:ext cx="2736" cy="316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dirty="0">
                  <a:solidFill>
                    <a:schemeClr val="bg2">
                      <a:lumMod val="50000"/>
                    </a:schemeClr>
                  </a:solidFill>
                </a:rPr>
                <a:t>   </a:t>
              </a:r>
              <a:endParaRPr lang="zh-CN" altLang="en-US">
                <a:solidFill>
                  <a:schemeClr val="bg2">
                    <a:lumMod val="50000"/>
                  </a:schemeClr>
                </a:solidFill>
              </a:endParaRPr>
            </a:p>
          </p:txBody>
        </p:sp>
        <p:sp>
          <p:nvSpPr>
            <p:cNvPr id="5"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6" name="文本框 5"/>
            <p:cNvSpPr txBox="1"/>
            <p:nvPr/>
          </p:nvSpPr>
          <p:spPr>
            <a:xfrm>
              <a:off x="1189" y="3071"/>
              <a:ext cx="2904" cy="3024"/>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软件质量是指软件满足明确规定或隐含定义的需求的程度。软件质量的要点如下：</a:t>
              </a:r>
            </a:p>
          </p:txBody>
        </p:sp>
      </p:grpSp>
    </p:spTree>
  </p:cSld>
  <p:clrMapOvr>
    <a:masterClrMapping/>
  </p:clrMapOvr>
  <p:transition>
    <p:wheel spokes="3"/>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2420108"/>
            <a:ext cx="8003969" cy="3149419"/>
          </a:xfrm>
          <a:prstGeom prst="rect">
            <a:avLst/>
          </a:prstGeom>
          <a:solidFill>
            <a:schemeClr val="accent3">
              <a:lumMod val="75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p:txBody>
          <a:bodyPr/>
          <a:lstStyle/>
          <a:p>
            <a:r>
              <a:rPr lang="zh-CN" altLang="en-US">
                <a:solidFill>
                  <a:srgbClr val="FF0000"/>
                </a:solidFill>
                <a:sym typeface="+mn-ea"/>
              </a:rPr>
              <a:t>10.6  软件配置管理</a:t>
            </a:r>
            <a:r>
              <a:rPr lang="zh-CN" altLang="en-US" dirty="0" smtClean="0">
                <a:solidFill>
                  <a:schemeClr val="tx1"/>
                </a:solidFill>
              </a:rPr>
              <a:t/>
            </a:r>
            <a:br>
              <a:rPr lang="zh-CN" altLang="en-US" dirty="0" smtClean="0">
                <a:solidFill>
                  <a:schemeClr val="tx1"/>
                </a:solidFill>
              </a:rPr>
            </a:br>
            <a:endParaRPr lang="zh-CN" altLang="en-US">
              <a:solidFill>
                <a:srgbClr val="FF0000"/>
              </a:solidFill>
            </a:endParaRPr>
          </a:p>
        </p:txBody>
      </p:sp>
      <p:sp>
        <p:nvSpPr>
          <p:cNvPr id="2"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10.6.1  软件质量的特性</a:t>
            </a:r>
          </a:p>
        </p:txBody>
      </p:sp>
      <p:sp>
        <p:nvSpPr>
          <p:cNvPr id="5122" name="MH_Desc_1"/>
          <p:cNvSpPr>
            <a:spLocks noChangeArrowheads="1"/>
          </p:cNvSpPr>
          <p:nvPr/>
        </p:nvSpPr>
        <p:spPr bwMode="auto">
          <a:xfrm>
            <a:off x="349258" y="2176025"/>
            <a:ext cx="7235190" cy="3642360"/>
          </a:xfrm>
          <a:prstGeom prst="roundRect">
            <a:avLst/>
          </a:prstGeom>
          <a:noFill/>
          <a:ln w="28575">
            <a:noFill/>
            <a:prstDash val="sysDash"/>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rIns="90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eaLnBrk="1" fontAlgn="auto" hangingPunct="1">
              <a:lnSpc>
                <a:spcPct val="130000"/>
              </a:lnSpc>
              <a:spcAft>
                <a:spcPts val="1200"/>
              </a:spcAft>
              <a:defRPr/>
            </a:pPr>
            <a:r>
              <a:rPr lang="en-US" altLang="zh-CN" dirty="0" err="1">
                <a:solidFill>
                  <a:schemeClr val="bg1"/>
                </a:solidFill>
                <a:latin typeface="微软雅黑" panose="020B0503020204020204" charset="-122"/>
                <a:ea typeface="微软雅黑" panose="020B0503020204020204" charset="-122"/>
                <a:sym typeface="+mn-ea"/>
              </a:rPr>
              <a:t>评价软件质量的关键，要定出评定质量的指标和评定优劣的标准</a:t>
            </a:r>
            <a:r>
              <a:rPr lang="en-US" altLang="zh-CN" dirty="0">
                <a:solidFill>
                  <a:schemeClr val="bg1"/>
                </a:solidFill>
                <a:latin typeface="微软雅黑" panose="020B0503020204020204" charset="-122"/>
                <a:ea typeface="微软雅黑" panose="020B0503020204020204" charset="-122"/>
                <a:sym typeface="+mn-ea"/>
              </a:rPr>
              <a:t>。</a:t>
            </a:r>
            <a:r>
              <a:rPr lang="en-US" altLang="zh-CN" dirty="0" err="1">
                <a:solidFill>
                  <a:schemeClr val="bg1"/>
                </a:solidFill>
                <a:latin typeface="微软雅黑" panose="020B0503020204020204" charset="-122"/>
                <a:ea typeface="微软雅黑" panose="020B0503020204020204" charset="-122"/>
                <a:sym typeface="+mn-ea"/>
              </a:rPr>
              <a:t>软件工程质量保证体系应遵循国家相关的法律、法规及标准，如国家标准GB</a:t>
            </a:r>
            <a:r>
              <a:rPr lang="en-US" altLang="zh-CN" dirty="0">
                <a:solidFill>
                  <a:schemeClr val="bg1"/>
                </a:solidFill>
                <a:latin typeface="微软雅黑" panose="020B0503020204020204" charset="-122"/>
                <a:ea typeface="微软雅黑" panose="020B0503020204020204" charset="-122"/>
                <a:sym typeface="+mn-ea"/>
              </a:rPr>
              <a:t>/T 25000.1—2010《软件工程 </a:t>
            </a:r>
            <a:r>
              <a:rPr lang="en-US" altLang="zh-CN" dirty="0" err="1">
                <a:solidFill>
                  <a:schemeClr val="bg1"/>
                </a:solidFill>
                <a:latin typeface="微软雅黑" panose="020B0503020204020204" charset="-122"/>
                <a:ea typeface="微软雅黑" panose="020B0503020204020204" charset="-122"/>
                <a:sym typeface="+mn-ea"/>
              </a:rPr>
              <a:t>软件产品质量要求和评价（SQuaRE）SQuaRE指南</a:t>
            </a:r>
            <a:r>
              <a:rPr lang="en-US" altLang="zh-CN" dirty="0">
                <a:solidFill>
                  <a:schemeClr val="bg1"/>
                </a:solidFill>
                <a:latin typeface="微软雅黑" panose="020B0503020204020204" charset="-122"/>
                <a:ea typeface="微软雅黑" panose="020B0503020204020204" charset="-122"/>
                <a:sym typeface="+mn-ea"/>
              </a:rPr>
              <a:t>》、ISO/IEC 25021—2012《系统和软件工程 </a:t>
            </a:r>
            <a:r>
              <a:rPr lang="en-US" altLang="zh-CN" dirty="0" err="1">
                <a:solidFill>
                  <a:schemeClr val="bg1"/>
                </a:solidFill>
                <a:latin typeface="微软雅黑" panose="020B0503020204020204" charset="-122"/>
                <a:ea typeface="微软雅黑" panose="020B0503020204020204" charset="-122"/>
                <a:sym typeface="+mn-ea"/>
              </a:rPr>
              <a:t>系统和软件质量要求和评估（SQuaRE）质量评估要素</a:t>
            </a:r>
            <a:r>
              <a:rPr lang="en-US" altLang="zh-CN" dirty="0">
                <a:solidFill>
                  <a:schemeClr val="bg1"/>
                </a:solidFill>
                <a:latin typeface="微软雅黑" panose="020B0503020204020204" charset="-122"/>
                <a:ea typeface="微软雅黑" panose="020B0503020204020204" charset="-122"/>
                <a:sym typeface="+mn-ea"/>
              </a:rPr>
              <a:t>》，</a:t>
            </a:r>
            <a:r>
              <a:rPr lang="en-US" altLang="zh-CN" dirty="0" err="1">
                <a:solidFill>
                  <a:schemeClr val="bg1"/>
                </a:solidFill>
                <a:latin typeface="微软雅黑" panose="020B0503020204020204" charset="-122"/>
                <a:ea typeface="微软雅黑" panose="020B0503020204020204" charset="-122"/>
                <a:sym typeface="+mn-ea"/>
              </a:rPr>
              <a:t>国际标准ISO</a:t>
            </a:r>
            <a:r>
              <a:rPr lang="en-US" altLang="zh-CN" dirty="0">
                <a:solidFill>
                  <a:schemeClr val="bg1"/>
                </a:solidFill>
                <a:latin typeface="微软雅黑" panose="020B0503020204020204" charset="-122"/>
                <a:ea typeface="微软雅黑" panose="020B0503020204020204" charset="-122"/>
                <a:sym typeface="+mn-ea"/>
              </a:rPr>
              <a:t> 9001—2015《质量管理体系 </a:t>
            </a:r>
            <a:r>
              <a:rPr lang="en-US" altLang="zh-CN" dirty="0" err="1">
                <a:solidFill>
                  <a:schemeClr val="bg1"/>
                </a:solidFill>
                <a:latin typeface="微软雅黑" panose="020B0503020204020204" charset="-122"/>
                <a:ea typeface="微软雅黑" panose="020B0503020204020204" charset="-122"/>
                <a:sym typeface="+mn-ea"/>
              </a:rPr>
              <a:t>要求》等</a:t>
            </a:r>
            <a:r>
              <a:rPr lang="en-US" altLang="zh-CN" dirty="0">
                <a:solidFill>
                  <a:schemeClr val="bg1"/>
                </a:solidFill>
                <a:latin typeface="微软雅黑" panose="020B0503020204020204" charset="-122"/>
                <a:ea typeface="微软雅黑" panose="020B0503020204020204" charset="-122"/>
                <a:sym typeface="+mn-ea"/>
              </a:rPr>
              <a:t>。</a:t>
            </a:r>
            <a:r>
              <a:rPr lang="en-US" altLang="zh-CN" dirty="0" err="1">
                <a:solidFill>
                  <a:schemeClr val="bg1"/>
                </a:solidFill>
                <a:latin typeface="微软雅黑" panose="020B0503020204020204" charset="-122"/>
                <a:ea typeface="微软雅黑" panose="020B0503020204020204" charset="-122"/>
                <a:sym typeface="+mn-ea"/>
              </a:rPr>
              <a:t>这些标准的基本思想是：质量不是在产品检验中得到的，而是在生产的全过程中形成的</a:t>
            </a:r>
            <a:r>
              <a:rPr lang="en-US" altLang="zh-CN" dirty="0">
                <a:solidFill>
                  <a:schemeClr val="bg1"/>
                </a:solidFill>
                <a:latin typeface="微软雅黑" panose="020B0503020204020204" charset="-122"/>
                <a:ea typeface="微软雅黑" panose="020B0503020204020204" charset="-122"/>
                <a:sym typeface="+mn-ea"/>
              </a:rPr>
              <a:t>。</a:t>
            </a:r>
          </a:p>
        </p:txBody>
      </p:sp>
      <p:pic>
        <p:nvPicPr>
          <p:cNvPr id="9" name="图片 8" descr="d3aa784549c18a24cee6ca585d4d2ed55af7f4f5.jpg"/>
          <p:cNvPicPr>
            <a:picLocks noChangeAspect="1"/>
          </p:cNvPicPr>
          <p:nvPr/>
        </p:nvPicPr>
        <p:blipFill>
          <a:blip r:embed="rId3" cstate="print"/>
          <a:stretch>
            <a:fillRect/>
          </a:stretch>
        </p:blipFill>
        <p:spPr>
          <a:xfrm flipH="1">
            <a:off x="8003968" y="2386940"/>
            <a:ext cx="4188031" cy="3181357"/>
          </a:xfrm>
          <a:prstGeom prst="rect">
            <a:avLst/>
          </a:prstGeom>
        </p:spPr>
      </p:pic>
    </p:spTree>
  </p:cSld>
  <p:clrMapOvr>
    <a:masterClrMapping/>
  </p:clrMapOvr>
  <p:transition>
    <p:wheel spokes="3"/>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10.6  软件配置管理</a:t>
            </a:r>
            <a:r>
              <a:rPr lang="zh-CN" altLang="en-US" dirty="0" smtClean="0">
                <a:solidFill>
                  <a:schemeClr val="tx1"/>
                </a:solidFill>
              </a:rPr>
              <a:t/>
            </a:r>
            <a:br>
              <a:rPr lang="zh-CN" altLang="en-US" dirty="0" smtClean="0">
                <a:solidFill>
                  <a:schemeClr val="tx1"/>
                </a:solidFill>
              </a:rPr>
            </a:br>
            <a:endParaRPr lang="zh-CN" altLang="en-US">
              <a:solidFill>
                <a:srgbClr val="FF0000"/>
              </a:solidFill>
            </a:endParaRPr>
          </a:p>
        </p:txBody>
      </p:sp>
      <p:sp>
        <p:nvSpPr>
          <p:cNvPr id="2"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10.6.1  软件质量的特性</a:t>
            </a:r>
          </a:p>
        </p:txBody>
      </p:sp>
      <p:sp>
        <p:nvSpPr>
          <p:cNvPr id="5" name="MH_Text_1"/>
          <p:cNvSpPr/>
          <p:nvPr>
            <p:custDataLst>
              <p:tags r:id="rId1"/>
            </p:custDataLst>
          </p:nvPr>
        </p:nvSpPr>
        <p:spPr>
          <a:xfrm>
            <a:off x="1108710" y="1969770"/>
            <a:ext cx="9975215" cy="165227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457200">
              <a:lnSpc>
                <a:spcPct val="130000"/>
              </a:lnSpc>
            </a:pPr>
            <a:r>
              <a:rPr dirty="0" smtClean="0">
                <a:solidFill>
                  <a:schemeClr val="tx1"/>
                </a:solidFill>
                <a:latin typeface="+mn-ea"/>
              </a:rPr>
              <a:t>ISO（国际标准化组织）和IEC（国际电工委员会）是世界性的标准化专门机构。国家标准GB/T 16260.1—2006《软件工程 产品质量 第1部分:质量模型》等同于国际标准ISO/IEC 9126-1-2001，IDT，规定软件质量模型由质量特性、质量子特性等组成。以下介绍其中规定的软件质量特性和质量子特性。软件质量特性由以下6个方面来衡量。</a:t>
            </a:r>
          </a:p>
        </p:txBody>
      </p:sp>
      <p:cxnSp>
        <p:nvCxnSpPr>
          <p:cNvPr id="4" name="直接连接符 3"/>
          <p:cNvCxnSpPr/>
          <p:nvPr/>
        </p:nvCxnSpPr>
        <p:spPr>
          <a:xfrm>
            <a:off x="0" y="3772535"/>
            <a:ext cx="12162155" cy="7620"/>
          </a:xfrm>
          <a:prstGeom prst="line">
            <a:avLst/>
          </a:prstGeom>
          <a:ln w="28575" cmpd="sng">
            <a:solidFill>
              <a:schemeClr val="accent5">
                <a:lumMod val="7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749300" y="4296410"/>
            <a:ext cx="11183842" cy="1303020"/>
            <a:chOff x="1188" y="3092"/>
            <a:chExt cx="16536" cy="2052"/>
          </a:xfrm>
        </p:grpSpPr>
        <p:grpSp>
          <p:nvGrpSpPr>
            <p:cNvPr id="28" name="组合 27"/>
            <p:cNvGrpSpPr/>
            <p:nvPr/>
          </p:nvGrpSpPr>
          <p:grpSpPr>
            <a:xfrm>
              <a:off x="1188" y="3092"/>
              <a:ext cx="6974" cy="930"/>
              <a:chOff x="508000" y="3196191"/>
              <a:chExt cx="4428470" cy="59055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1</a:t>
                </a:r>
              </a:p>
            </p:txBody>
          </p:sp>
          <p:cxnSp>
            <p:nvCxnSpPr>
              <p:cNvPr id="7" name="直接连接符 6"/>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960505" y="3291441"/>
                <a:ext cx="3975965"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功能性</a:t>
                </a:r>
              </a:p>
            </p:txBody>
          </p:sp>
        </p:grpSp>
        <p:sp>
          <p:nvSpPr>
            <p:cNvPr id="35" name="矩形 34"/>
            <p:cNvSpPr>
              <a:spLocks noChangeArrowheads="1"/>
            </p:cNvSpPr>
            <p:nvPr/>
          </p:nvSpPr>
          <p:spPr bwMode="auto">
            <a:xfrm>
              <a:off x="1893" y="3848"/>
              <a:ext cx="15831"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功能性是指软件的功能达到它的设计规范和能满足用户需求的程度。如软件产品的准确性（包括计算的精度）、两个或两个以上系统可相互操作的能力、安全性等。</a:t>
              </a:r>
            </a:p>
          </p:txBody>
        </p:sp>
      </p:grpSp>
    </p:spTree>
  </p:cSld>
  <p:clrMapOvr>
    <a:masterClrMapping/>
  </p:clrMapOvr>
  <p:transition>
    <p:wheel spokes="3"/>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10.6  软件配置管理</a:t>
            </a:r>
            <a:r>
              <a:rPr lang="zh-CN" altLang="en-US" dirty="0" smtClean="0">
                <a:solidFill>
                  <a:schemeClr val="tx1"/>
                </a:solidFill>
              </a:rPr>
              <a:t/>
            </a:r>
            <a:br>
              <a:rPr lang="zh-CN" altLang="en-US" dirty="0" smtClean="0">
                <a:solidFill>
                  <a:schemeClr val="tx1"/>
                </a:solidFill>
              </a:rPr>
            </a:br>
            <a:endParaRPr lang="zh-CN" altLang="en-US">
              <a:solidFill>
                <a:srgbClr val="FF0000"/>
              </a:solidFill>
            </a:endParaRPr>
          </a:p>
        </p:txBody>
      </p:sp>
      <p:sp>
        <p:nvSpPr>
          <p:cNvPr id="2"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10.6.1  软件质量的特性</a:t>
            </a:r>
          </a:p>
        </p:txBody>
      </p:sp>
      <p:grpSp>
        <p:nvGrpSpPr>
          <p:cNvPr id="36" name="组合 35"/>
          <p:cNvGrpSpPr/>
          <p:nvPr/>
        </p:nvGrpSpPr>
        <p:grpSpPr>
          <a:xfrm>
            <a:off x="617220" y="2096135"/>
            <a:ext cx="5235316" cy="1668780"/>
            <a:chOff x="1188" y="3092"/>
            <a:chExt cx="7741" cy="2628"/>
          </a:xfrm>
        </p:grpSpPr>
        <p:grpSp>
          <p:nvGrpSpPr>
            <p:cNvPr id="37" name="组合 36"/>
            <p:cNvGrpSpPr/>
            <p:nvPr/>
          </p:nvGrpSpPr>
          <p:grpSpPr>
            <a:xfrm>
              <a:off x="1188" y="3092"/>
              <a:ext cx="7741" cy="930"/>
              <a:chOff x="508000" y="3196191"/>
              <a:chExt cx="4915730" cy="590550"/>
            </a:xfrm>
          </p:grpSpPr>
          <p:sp>
            <p:nvSpPr>
              <p:cNvPr id="3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2</a:t>
                </a:r>
              </a:p>
            </p:txBody>
          </p:sp>
          <p:cxnSp>
            <p:nvCxnSpPr>
              <p:cNvPr id="39" name="直接连接符 3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960521" y="3291441"/>
                <a:ext cx="4463209"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可靠性</a:t>
                </a:r>
              </a:p>
            </p:txBody>
          </p:sp>
        </p:grpSp>
        <p:sp>
          <p:nvSpPr>
            <p:cNvPr id="41" name="矩形 40"/>
            <p:cNvSpPr>
              <a:spLocks noChangeArrowheads="1"/>
            </p:cNvSpPr>
            <p:nvPr/>
          </p:nvSpPr>
          <p:spPr bwMode="auto">
            <a:xfrm>
              <a:off x="1893" y="3848"/>
              <a:ext cx="6268" cy="18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可靠性是指在规定的时间和规定的条件下，软件能够实现所要求的功能的能力以及不引起系统失效的概率。</a:t>
              </a:r>
            </a:p>
          </p:txBody>
        </p:sp>
      </p:grpSp>
      <p:grpSp>
        <p:nvGrpSpPr>
          <p:cNvPr id="4" name="组合 3"/>
          <p:cNvGrpSpPr/>
          <p:nvPr/>
        </p:nvGrpSpPr>
        <p:grpSpPr>
          <a:xfrm>
            <a:off x="617220" y="4156710"/>
            <a:ext cx="4902061" cy="1303020"/>
            <a:chOff x="1188" y="3092"/>
            <a:chExt cx="7248" cy="2052"/>
          </a:xfrm>
        </p:grpSpPr>
        <p:grpSp>
          <p:nvGrpSpPr>
            <p:cNvPr id="6" name="组合 5"/>
            <p:cNvGrpSpPr/>
            <p:nvPr/>
          </p:nvGrpSpPr>
          <p:grpSpPr>
            <a:xfrm>
              <a:off x="1188" y="3092"/>
              <a:ext cx="6974" cy="930"/>
              <a:chOff x="508000" y="3196191"/>
              <a:chExt cx="4428470" cy="590550"/>
            </a:xfrm>
          </p:grpSpPr>
          <p:sp>
            <p:nvSpPr>
              <p:cNvPr id="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3</a:t>
                </a:r>
              </a:p>
            </p:txBody>
          </p:sp>
          <p:cxnSp>
            <p:nvCxnSpPr>
              <p:cNvPr id="9" name="直接连接符 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960505" y="3291441"/>
                <a:ext cx="3975965"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易使用性</a:t>
                </a:r>
              </a:p>
            </p:txBody>
          </p:sp>
        </p:grpSp>
        <p:sp>
          <p:nvSpPr>
            <p:cNvPr id="11" name="矩形 10"/>
            <p:cNvSpPr>
              <a:spLocks noChangeArrowheads="1"/>
            </p:cNvSpPr>
            <p:nvPr/>
          </p:nvSpPr>
          <p:spPr bwMode="auto">
            <a:xfrm>
              <a:off x="1893" y="3848"/>
              <a:ext cx="6543"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易使用性是指用户学习、操作、准备输入和理解输出的难易程度。</a:t>
              </a:r>
            </a:p>
          </p:txBody>
        </p:sp>
      </p:grpSp>
      <p:grpSp>
        <p:nvGrpSpPr>
          <p:cNvPr id="7" name="组合 6"/>
          <p:cNvGrpSpPr/>
          <p:nvPr/>
        </p:nvGrpSpPr>
        <p:grpSpPr>
          <a:xfrm>
            <a:off x="6153150" y="1924685"/>
            <a:ext cx="5235316" cy="1303020"/>
            <a:chOff x="1188" y="3092"/>
            <a:chExt cx="7741" cy="2052"/>
          </a:xfrm>
        </p:grpSpPr>
        <p:grpSp>
          <p:nvGrpSpPr>
            <p:cNvPr id="12" name="组合 11"/>
            <p:cNvGrpSpPr/>
            <p:nvPr/>
          </p:nvGrpSpPr>
          <p:grpSpPr>
            <a:xfrm>
              <a:off x="1188" y="3092"/>
              <a:ext cx="7741" cy="930"/>
              <a:chOff x="508000" y="3196191"/>
              <a:chExt cx="4915730" cy="590550"/>
            </a:xfrm>
          </p:grpSpPr>
          <p:sp>
            <p:nvSpPr>
              <p:cNvPr id="13"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4</a:t>
                </a:r>
              </a:p>
            </p:txBody>
          </p:sp>
          <p:cxnSp>
            <p:nvCxnSpPr>
              <p:cNvPr id="14" name="直接连接符 13"/>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5" name="矩形 14"/>
              <p:cNvSpPr>
                <a:spLocks noChangeArrowheads="1"/>
              </p:cNvSpPr>
              <p:nvPr/>
            </p:nvSpPr>
            <p:spPr bwMode="auto">
              <a:xfrm>
                <a:off x="960521" y="3291441"/>
                <a:ext cx="4463209"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效率</a:t>
                </a:r>
              </a:p>
            </p:txBody>
          </p:sp>
        </p:grpSp>
        <p:sp>
          <p:nvSpPr>
            <p:cNvPr id="16" name="矩形 15"/>
            <p:cNvSpPr>
              <a:spLocks noChangeArrowheads="1"/>
            </p:cNvSpPr>
            <p:nvPr/>
          </p:nvSpPr>
          <p:spPr bwMode="auto">
            <a:xfrm>
              <a:off x="1893" y="3848"/>
              <a:ext cx="7035"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效率是指软件实现某种功能所需计算机资源的多少及执行其功能时使用资源的持续时间的多少。</a:t>
              </a:r>
            </a:p>
          </p:txBody>
        </p:sp>
      </p:grpSp>
      <p:grpSp>
        <p:nvGrpSpPr>
          <p:cNvPr id="17" name="组合 16"/>
          <p:cNvGrpSpPr/>
          <p:nvPr/>
        </p:nvGrpSpPr>
        <p:grpSpPr>
          <a:xfrm>
            <a:off x="6153150" y="3532505"/>
            <a:ext cx="4931820" cy="937260"/>
            <a:chOff x="1188" y="3092"/>
            <a:chExt cx="7292" cy="1476"/>
          </a:xfrm>
        </p:grpSpPr>
        <p:grpSp>
          <p:nvGrpSpPr>
            <p:cNvPr id="18" name="组合 17"/>
            <p:cNvGrpSpPr/>
            <p:nvPr/>
          </p:nvGrpSpPr>
          <p:grpSpPr>
            <a:xfrm>
              <a:off x="1188" y="3092"/>
              <a:ext cx="6974" cy="930"/>
              <a:chOff x="508000" y="3196191"/>
              <a:chExt cx="4428470" cy="590550"/>
            </a:xfrm>
          </p:grpSpPr>
          <p:sp>
            <p:nvSpPr>
              <p:cNvPr id="19"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5</a:t>
                </a:r>
              </a:p>
            </p:txBody>
          </p:sp>
          <p:cxnSp>
            <p:nvCxnSpPr>
              <p:cNvPr id="20" name="直接连接符 19"/>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1" name="矩形 20"/>
              <p:cNvSpPr>
                <a:spLocks noChangeArrowheads="1"/>
              </p:cNvSpPr>
              <p:nvPr/>
            </p:nvSpPr>
            <p:spPr bwMode="auto">
              <a:xfrm>
                <a:off x="960505" y="3291441"/>
                <a:ext cx="3975965"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可维护性</a:t>
                </a:r>
              </a:p>
            </p:txBody>
          </p:sp>
        </p:grpSp>
        <p:sp>
          <p:nvSpPr>
            <p:cNvPr id="22" name="矩形 21"/>
            <p:cNvSpPr>
              <a:spLocks noChangeArrowheads="1"/>
            </p:cNvSpPr>
            <p:nvPr/>
          </p:nvSpPr>
          <p:spPr bwMode="auto">
            <a:xfrm>
              <a:off x="1893" y="3848"/>
              <a:ext cx="6587" cy="7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可维护性是指进行必要修改的难易程度。</a:t>
              </a:r>
            </a:p>
          </p:txBody>
        </p:sp>
      </p:grpSp>
      <p:grpSp>
        <p:nvGrpSpPr>
          <p:cNvPr id="23" name="组合 22"/>
          <p:cNvGrpSpPr/>
          <p:nvPr/>
        </p:nvGrpSpPr>
        <p:grpSpPr>
          <a:xfrm>
            <a:off x="6153150" y="4747260"/>
            <a:ext cx="5129985" cy="1303020"/>
            <a:chOff x="1188" y="3092"/>
            <a:chExt cx="7585" cy="2052"/>
          </a:xfrm>
        </p:grpSpPr>
        <p:grpSp>
          <p:nvGrpSpPr>
            <p:cNvPr id="24" name="组合 23"/>
            <p:cNvGrpSpPr/>
            <p:nvPr/>
          </p:nvGrpSpPr>
          <p:grpSpPr>
            <a:xfrm>
              <a:off x="1188" y="3092"/>
              <a:ext cx="6974" cy="930"/>
              <a:chOff x="508000" y="3196191"/>
              <a:chExt cx="4428470" cy="590550"/>
            </a:xfrm>
          </p:grpSpPr>
          <p:sp>
            <p:nvSpPr>
              <p:cNvPr id="25"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6</a:t>
                </a:r>
              </a:p>
            </p:txBody>
          </p:sp>
          <p:cxnSp>
            <p:nvCxnSpPr>
              <p:cNvPr id="26" name="直接连接符 2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7" name="矩形 26"/>
              <p:cNvSpPr>
                <a:spLocks noChangeArrowheads="1"/>
              </p:cNvSpPr>
              <p:nvPr/>
            </p:nvSpPr>
            <p:spPr bwMode="auto">
              <a:xfrm>
                <a:off x="960505" y="3291441"/>
                <a:ext cx="3975965"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可移植性</a:t>
                </a:r>
              </a:p>
            </p:txBody>
          </p:sp>
        </p:grpSp>
        <p:sp>
          <p:nvSpPr>
            <p:cNvPr id="28" name="矩形 27"/>
            <p:cNvSpPr>
              <a:spLocks noChangeArrowheads="1"/>
            </p:cNvSpPr>
            <p:nvPr/>
          </p:nvSpPr>
          <p:spPr bwMode="auto">
            <a:xfrm>
              <a:off x="1893" y="3848"/>
              <a:ext cx="6880"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可移植性是指软件从一个计算机环境转移到另一个计算机环境下的运行能力。</a:t>
              </a:r>
            </a:p>
          </p:txBody>
        </p:sp>
      </p:grpSp>
    </p:spTree>
  </p:cSld>
  <p:clrMapOvr>
    <a:masterClrMapping/>
  </p:clrMapOvr>
  <p:transition>
    <p:wheel spokes="3"/>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10.6  软件配置管理</a:t>
            </a:r>
            <a:r>
              <a:rPr lang="zh-CN" altLang="en-US" dirty="0" smtClean="0">
                <a:solidFill>
                  <a:schemeClr val="tx1"/>
                </a:solidFill>
              </a:rPr>
              <a:t/>
            </a:r>
            <a:br>
              <a:rPr lang="zh-CN" altLang="en-US" dirty="0" smtClean="0">
                <a:solidFill>
                  <a:schemeClr val="tx1"/>
                </a:solidFill>
              </a:rPr>
            </a:br>
            <a:endParaRPr lang="zh-CN" altLang="en-US">
              <a:solidFill>
                <a:srgbClr val="FF0000"/>
              </a:solidFill>
            </a:endParaRPr>
          </a:p>
        </p:txBody>
      </p:sp>
      <p:sp>
        <p:nvSpPr>
          <p:cNvPr id="2"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10.6.1  软件质量的特性</a:t>
            </a:r>
          </a:p>
        </p:txBody>
      </p:sp>
      <p:grpSp>
        <p:nvGrpSpPr>
          <p:cNvPr id="33" name="组合 32"/>
          <p:cNvGrpSpPr/>
          <p:nvPr/>
        </p:nvGrpSpPr>
        <p:grpSpPr>
          <a:xfrm>
            <a:off x="6237654" y="1116553"/>
            <a:ext cx="5023485" cy="908685"/>
            <a:chOff x="881" y="2735"/>
            <a:chExt cx="7911" cy="1431"/>
          </a:xfrm>
        </p:grpSpPr>
        <p:sp>
          <p:nvSpPr>
            <p:cNvPr id="167" name="圆角矩形"/>
            <p:cNvSpPr/>
            <p:nvPr/>
          </p:nvSpPr>
          <p:spPr>
            <a:xfrm>
              <a:off x="1188" y="3071"/>
              <a:ext cx="7604" cy="1095"/>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5"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6" name="文本框 5"/>
            <p:cNvSpPr txBox="1"/>
            <p:nvPr/>
          </p:nvSpPr>
          <p:spPr>
            <a:xfrm>
              <a:off x="1189" y="3071"/>
              <a:ext cx="7603" cy="1094"/>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上述各个软件质量特性分别包含的质量子特性如下。</a:t>
              </a:r>
            </a:p>
          </p:txBody>
        </p:sp>
      </p:grpSp>
      <p:sp>
        <p:nvSpPr>
          <p:cNvPr id="4" name="Oval 15"/>
          <p:cNvSpPr>
            <a:spLocks noChangeArrowheads="1"/>
          </p:cNvSpPr>
          <p:nvPr>
            <p:custDataLst>
              <p:tags r:id="rId1"/>
            </p:custDataLst>
          </p:nvPr>
        </p:nvSpPr>
        <p:spPr bwMode="auto">
          <a:xfrm>
            <a:off x="1266190" y="2544445"/>
            <a:ext cx="3153410" cy="3182620"/>
          </a:xfrm>
          <a:prstGeom prst="ellipse">
            <a:avLst/>
          </a:prstGeom>
          <a:noFill/>
          <a:ln w="19050">
            <a:solidFill>
              <a:srgbClr val="4F5A71">
                <a:alpha val="50000"/>
              </a:srgbClr>
            </a:solidFill>
            <a:round/>
          </a:ln>
          <a:effectLst/>
          <a:extLst>
            <a:ext uri="{909E8E84-426E-40DD-AFC4-6F175D3DCCD1}">
              <a14:hiddenFill xmlns:a14="http://schemas.microsoft.com/office/drawing/2010/main" xmlns="">
                <a:solidFill>
                  <a:srgbClr val="4F5A71"/>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7" name="Line 16"/>
          <p:cNvSpPr>
            <a:spLocks noChangeShapeType="1"/>
          </p:cNvSpPr>
          <p:nvPr>
            <p:custDataLst>
              <p:tags r:id="rId2"/>
            </p:custDataLst>
          </p:nvPr>
        </p:nvSpPr>
        <p:spPr bwMode="gray">
          <a:xfrm>
            <a:off x="1093470" y="4142740"/>
            <a:ext cx="3483610" cy="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4" name="Line 17"/>
          <p:cNvSpPr>
            <a:spLocks noChangeShapeType="1"/>
          </p:cNvSpPr>
          <p:nvPr>
            <p:custDataLst>
              <p:tags r:id="rId3"/>
            </p:custDataLst>
          </p:nvPr>
        </p:nvSpPr>
        <p:spPr bwMode="gray">
          <a:xfrm>
            <a:off x="2835275" y="2309495"/>
            <a:ext cx="0" cy="366395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5" name="Oval 10"/>
          <p:cNvSpPr>
            <a:spLocks noChangeArrowheads="1"/>
          </p:cNvSpPr>
          <p:nvPr>
            <p:custDataLst>
              <p:tags r:id="rId4"/>
            </p:custDataLst>
          </p:nvPr>
        </p:nvSpPr>
        <p:spPr bwMode="gray">
          <a:xfrm>
            <a:off x="1438910" y="2724785"/>
            <a:ext cx="2789555" cy="2811145"/>
          </a:xfrm>
          <a:prstGeom prst="ellipse">
            <a:avLst/>
          </a:prstGeom>
          <a:noFill/>
          <a:ln w="9525">
            <a:solidFill>
              <a:srgbClr val="4F5A71">
                <a:alpha val="50000"/>
              </a:srgbClr>
            </a:solidFill>
            <a:round/>
          </a:ln>
          <a:effectLst/>
          <a:extLst>
            <a:ext uri="{909E8E84-426E-40DD-AFC4-6F175D3DCCD1}">
              <a14:hiddenFill xmlns:a14="http://schemas.microsoft.com/office/drawing/2010/main" xmlns="">
                <a:solidFill>
                  <a:srgbClr val="4F5A71">
                    <a:alpha val="64999"/>
                  </a:srgbClr>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7" name="Oval 13"/>
          <p:cNvSpPr>
            <a:spLocks noChangeArrowheads="1"/>
          </p:cNvSpPr>
          <p:nvPr>
            <p:custDataLst>
              <p:tags r:id="rId5"/>
            </p:custDataLst>
          </p:nvPr>
        </p:nvSpPr>
        <p:spPr bwMode="gray">
          <a:xfrm>
            <a:off x="1757680" y="3061970"/>
            <a:ext cx="2137410" cy="2181860"/>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51" name="KSO_GT1"/>
          <p:cNvSpPr>
            <a:spLocks noChangeArrowheads="1"/>
          </p:cNvSpPr>
          <p:nvPr>
            <p:custDataLst>
              <p:tags r:id="rId6"/>
            </p:custDataLst>
          </p:nvPr>
        </p:nvSpPr>
        <p:spPr bwMode="gray">
          <a:xfrm>
            <a:off x="2142490" y="3454400"/>
            <a:ext cx="1368425" cy="1397635"/>
          </a:xfrm>
          <a:prstGeom prst="ellipse">
            <a:avLst/>
          </a:prstGeom>
          <a:solidFill>
            <a:srgbClr val="4F5A71"/>
          </a:solidFill>
          <a:ln>
            <a:noFill/>
          </a:ln>
          <a:effectLst/>
        </p:spPr>
        <p:txBody>
          <a:bodyPr wrap="square" lIns="0" tIns="0" rIns="0" bIns="0" anchor="ctr">
            <a:normAutofit fontScale="90000"/>
          </a:bodyPr>
          <a:lstStyle/>
          <a:p>
            <a:pPr algn="ctr">
              <a:defRPr/>
            </a:pPr>
            <a:r>
              <a:rPr lang="zh-CN" altLang="en-US" sz="2800" kern="0" dirty="0">
                <a:solidFill>
                  <a:srgbClr val="FFFFFF"/>
                </a:solidFill>
                <a:latin typeface="Arial" panose="020B0604020202020204" pitchFamily="34" charset="0"/>
                <a:ea typeface="宋体" panose="02010600030101010101" pitchFamily="2" charset="-122"/>
                <a:cs typeface="黑体" panose="02010609060101010101" pitchFamily="49" charset="-122"/>
              </a:rPr>
              <a:t>质量</a:t>
            </a:r>
          </a:p>
          <a:p>
            <a:pPr algn="ctr">
              <a:defRPr/>
            </a:pPr>
            <a:r>
              <a:rPr lang="zh-CN" altLang="en-US" sz="2800" kern="0" dirty="0">
                <a:solidFill>
                  <a:srgbClr val="FFFFFF"/>
                </a:solidFill>
                <a:latin typeface="Arial" panose="020B0604020202020204" pitchFamily="34" charset="0"/>
                <a:ea typeface="宋体" panose="02010600030101010101" pitchFamily="2" charset="-122"/>
                <a:cs typeface="黑体" panose="02010609060101010101" pitchFamily="49" charset="-122"/>
              </a:rPr>
              <a:t>子特性</a:t>
            </a:r>
          </a:p>
        </p:txBody>
      </p:sp>
      <p:sp>
        <p:nvSpPr>
          <p:cNvPr id="30" name="Oval 19"/>
          <p:cNvSpPr>
            <a:spLocks noChangeArrowheads="1"/>
          </p:cNvSpPr>
          <p:nvPr>
            <p:custDataLst>
              <p:tags r:id="rId7"/>
            </p:custDataLst>
          </p:nvPr>
        </p:nvSpPr>
        <p:spPr bwMode="gray">
          <a:xfrm>
            <a:off x="3256915" y="2499995"/>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1" name="文本框 20"/>
          <p:cNvSpPr txBox="1"/>
          <p:nvPr>
            <p:custDataLst>
              <p:tags r:id="rId8"/>
            </p:custDataLst>
          </p:nvPr>
        </p:nvSpPr>
        <p:spPr>
          <a:xfrm>
            <a:off x="3743325" y="2324100"/>
            <a:ext cx="7166610" cy="487680"/>
          </a:xfrm>
          <a:prstGeom prst="rect">
            <a:avLst/>
          </a:prstGeom>
          <a:noFill/>
        </p:spPr>
        <p:txBody>
          <a:bodyPr wrap="square" lIns="0" rIns="0">
            <a:normAutofit/>
          </a:bodyPr>
          <a:lstStyle/>
          <a:p>
            <a:pPr>
              <a:lnSpc>
                <a:spcPct val="130000"/>
              </a:lnSpc>
              <a:spcBef>
                <a:spcPts val="600"/>
              </a:spcBef>
              <a:defRPr/>
            </a:pPr>
            <a:r>
              <a:rPr dirty="0"/>
              <a:t>（1）功能性：适合性、准确性、互用性、安全性。</a:t>
            </a:r>
          </a:p>
        </p:txBody>
      </p:sp>
      <p:sp>
        <p:nvSpPr>
          <p:cNvPr id="19" name="Oval 19"/>
          <p:cNvSpPr>
            <a:spLocks noChangeArrowheads="1"/>
          </p:cNvSpPr>
          <p:nvPr>
            <p:custDataLst>
              <p:tags r:id="rId9"/>
            </p:custDataLst>
          </p:nvPr>
        </p:nvSpPr>
        <p:spPr bwMode="gray">
          <a:xfrm>
            <a:off x="3941445" y="2997200"/>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2" name="文本框 21"/>
          <p:cNvSpPr txBox="1"/>
          <p:nvPr>
            <p:custDataLst>
              <p:tags r:id="rId10"/>
            </p:custDataLst>
          </p:nvPr>
        </p:nvSpPr>
        <p:spPr>
          <a:xfrm>
            <a:off x="4412615" y="2860040"/>
            <a:ext cx="6770370" cy="487680"/>
          </a:xfrm>
          <a:prstGeom prst="rect">
            <a:avLst/>
          </a:prstGeom>
          <a:noFill/>
        </p:spPr>
        <p:txBody>
          <a:bodyPr wrap="square" lIns="0" rIns="0">
            <a:normAutofit/>
          </a:bodyPr>
          <a:lstStyle/>
          <a:p>
            <a:pPr>
              <a:lnSpc>
                <a:spcPct val="130000"/>
              </a:lnSpc>
              <a:spcBef>
                <a:spcPts val="600"/>
              </a:spcBef>
              <a:defRPr/>
            </a:pPr>
            <a:r>
              <a:rPr dirty="0"/>
              <a:t>（2）可靠性：成熟性、容错性、易恢复性。</a:t>
            </a:r>
          </a:p>
        </p:txBody>
      </p:sp>
      <p:sp>
        <p:nvSpPr>
          <p:cNvPr id="20" name="Oval 19"/>
          <p:cNvSpPr>
            <a:spLocks noChangeArrowheads="1"/>
          </p:cNvSpPr>
          <p:nvPr>
            <p:custDataLst>
              <p:tags r:id="rId11"/>
            </p:custDataLst>
          </p:nvPr>
        </p:nvSpPr>
        <p:spPr bwMode="gray">
          <a:xfrm>
            <a:off x="4251960" y="3654425"/>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8" name="文本框 27"/>
          <p:cNvSpPr txBox="1"/>
          <p:nvPr>
            <p:custDataLst>
              <p:tags r:id="rId12"/>
            </p:custDataLst>
          </p:nvPr>
        </p:nvSpPr>
        <p:spPr>
          <a:xfrm>
            <a:off x="4751705" y="3548380"/>
            <a:ext cx="5789930" cy="487680"/>
          </a:xfrm>
          <a:prstGeom prst="rect">
            <a:avLst/>
          </a:prstGeom>
          <a:noFill/>
        </p:spPr>
        <p:txBody>
          <a:bodyPr wrap="square" lIns="0" rIns="0">
            <a:normAutofit/>
          </a:bodyPr>
          <a:lstStyle/>
          <a:p>
            <a:pPr>
              <a:lnSpc>
                <a:spcPct val="130000"/>
              </a:lnSpc>
              <a:spcBef>
                <a:spcPts val="600"/>
              </a:spcBef>
              <a:defRPr/>
            </a:pPr>
            <a:r>
              <a:rPr lang="zh-CN" altLang="en-US" dirty="0"/>
              <a:t>（3）易使用性：易理解性、易学性、易操作性。</a:t>
            </a:r>
          </a:p>
        </p:txBody>
      </p:sp>
      <p:sp>
        <p:nvSpPr>
          <p:cNvPr id="23" name="Oval 19"/>
          <p:cNvSpPr>
            <a:spLocks noChangeArrowheads="1"/>
          </p:cNvSpPr>
          <p:nvPr>
            <p:custDataLst>
              <p:tags r:id="rId13"/>
            </p:custDataLst>
          </p:nvPr>
        </p:nvSpPr>
        <p:spPr bwMode="gray">
          <a:xfrm>
            <a:off x="4260850" y="4363085"/>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1" name="文本框 30"/>
          <p:cNvSpPr txBox="1"/>
          <p:nvPr>
            <p:custDataLst>
              <p:tags r:id="rId14"/>
            </p:custDataLst>
          </p:nvPr>
        </p:nvSpPr>
        <p:spPr>
          <a:xfrm>
            <a:off x="4762500" y="4270375"/>
            <a:ext cx="5779770" cy="487680"/>
          </a:xfrm>
          <a:prstGeom prst="rect">
            <a:avLst/>
          </a:prstGeom>
          <a:noFill/>
        </p:spPr>
        <p:txBody>
          <a:bodyPr wrap="square" lIns="0" rIns="0">
            <a:normAutofit/>
          </a:bodyPr>
          <a:lstStyle/>
          <a:p>
            <a:pPr>
              <a:lnSpc>
                <a:spcPct val="130000"/>
              </a:lnSpc>
              <a:spcBef>
                <a:spcPts val="600"/>
              </a:spcBef>
              <a:defRPr/>
            </a:pPr>
            <a:r>
              <a:rPr lang="zh-CN" altLang="en-US" dirty="0"/>
              <a:t>（4）效率：资源效率、时间效率。</a:t>
            </a:r>
          </a:p>
        </p:txBody>
      </p:sp>
      <p:sp>
        <p:nvSpPr>
          <p:cNvPr id="24" name="Oval 19"/>
          <p:cNvSpPr>
            <a:spLocks noChangeArrowheads="1"/>
          </p:cNvSpPr>
          <p:nvPr>
            <p:custDataLst>
              <p:tags r:id="rId15"/>
            </p:custDataLst>
          </p:nvPr>
        </p:nvSpPr>
        <p:spPr bwMode="gray">
          <a:xfrm>
            <a:off x="3930650" y="5039360"/>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8" name="文本框 37"/>
          <p:cNvSpPr txBox="1"/>
          <p:nvPr>
            <p:custDataLst>
              <p:tags r:id="rId16"/>
            </p:custDataLst>
          </p:nvPr>
        </p:nvSpPr>
        <p:spPr>
          <a:xfrm>
            <a:off x="4393565" y="4999990"/>
            <a:ext cx="6516370" cy="487680"/>
          </a:xfrm>
          <a:prstGeom prst="rect">
            <a:avLst/>
          </a:prstGeom>
          <a:noFill/>
        </p:spPr>
        <p:txBody>
          <a:bodyPr wrap="square" lIns="0" rIns="0">
            <a:normAutofit/>
          </a:bodyPr>
          <a:lstStyle/>
          <a:p>
            <a:pPr>
              <a:lnSpc>
                <a:spcPct val="130000"/>
              </a:lnSpc>
              <a:spcBef>
                <a:spcPts val="600"/>
              </a:spcBef>
              <a:defRPr/>
            </a:pPr>
            <a:r>
              <a:rPr dirty="0">
                <a:sym typeface="+mn-ea"/>
              </a:rPr>
              <a:t>（5）可维护性：易分析性、易改变性、稳定性、易测试性。</a:t>
            </a:r>
          </a:p>
        </p:txBody>
      </p:sp>
      <p:sp>
        <p:nvSpPr>
          <p:cNvPr id="25" name="Oval 19"/>
          <p:cNvSpPr>
            <a:spLocks noChangeArrowheads="1"/>
          </p:cNvSpPr>
          <p:nvPr>
            <p:custDataLst>
              <p:tags r:id="rId17"/>
            </p:custDataLst>
          </p:nvPr>
        </p:nvSpPr>
        <p:spPr bwMode="gray">
          <a:xfrm>
            <a:off x="3219450" y="5519420"/>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9" name="文本框 38"/>
          <p:cNvSpPr txBox="1"/>
          <p:nvPr>
            <p:custDataLst>
              <p:tags r:id="rId18"/>
            </p:custDataLst>
          </p:nvPr>
        </p:nvSpPr>
        <p:spPr>
          <a:xfrm>
            <a:off x="3633470" y="5603875"/>
            <a:ext cx="6740525" cy="487680"/>
          </a:xfrm>
          <a:prstGeom prst="rect">
            <a:avLst/>
          </a:prstGeom>
          <a:noFill/>
        </p:spPr>
        <p:txBody>
          <a:bodyPr wrap="square" lIns="0" rIns="0">
            <a:normAutofit/>
          </a:bodyPr>
          <a:lstStyle/>
          <a:p>
            <a:pPr>
              <a:lnSpc>
                <a:spcPct val="130000"/>
              </a:lnSpc>
              <a:spcBef>
                <a:spcPts val="600"/>
              </a:spcBef>
              <a:defRPr/>
            </a:pPr>
            <a:r>
              <a:rPr lang="zh-CN" altLang="en-US" dirty="0"/>
              <a:t>（6）可移植性：适应性、易安装性、一致性、易替换性。</a:t>
            </a:r>
          </a:p>
        </p:txBody>
      </p:sp>
    </p:spTree>
  </p:cSld>
  <p:clrMapOvr>
    <a:masterClrMapping/>
  </p:clrMapOvr>
  <p:transition>
    <p:wheel spokes="3"/>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10.6  软件配置管理</a:t>
            </a:r>
            <a:r>
              <a:rPr lang="zh-CN" altLang="en-US" dirty="0" smtClean="0">
                <a:solidFill>
                  <a:schemeClr val="tx1"/>
                </a:solidFill>
              </a:rPr>
              <a:t/>
            </a:r>
            <a:br>
              <a:rPr lang="zh-CN" altLang="en-US" dirty="0" smtClean="0">
                <a:solidFill>
                  <a:schemeClr val="tx1"/>
                </a:solidFill>
              </a:rPr>
            </a:br>
            <a:endParaRPr lang="zh-CN" altLang="en-US">
              <a:solidFill>
                <a:srgbClr val="FF0000"/>
              </a:solidFill>
            </a:endParaRPr>
          </a:p>
        </p:txBody>
      </p:sp>
      <p:sp>
        <p:nvSpPr>
          <p:cNvPr id="2"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10.6.2  软件质量保证措施</a:t>
            </a:r>
          </a:p>
        </p:txBody>
      </p:sp>
      <p:sp>
        <p:nvSpPr>
          <p:cNvPr id="4" name="矩形 3"/>
          <p:cNvSpPr/>
          <p:nvPr/>
        </p:nvSpPr>
        <p:spPr>
          <a:xfrm>
            <a:off x="0" y="2396358"/>
            <a:ext cx="12192000" cy="2963917"/>
          </a:xfrm>
          <a:prstGeom prst="rect">
            <a:avLst/>
          </a:prstGeom>
          <a:solidFill>
            <a:schemeClr val="accent3">
              <a:lumMod val="75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02508" y="2598205"/>
            <a:ext cx="6096000" cy="2560320"/>
          </a:xfrm>
          <a:prstGeom prst="rect">
            <a:avLst/>
          </a:prstGeom>
        </p:spPr>
        <p:txBody>
          <a:bodyPr>
            <a:spAutoFit/>
          </a:bodyPr>
          <a:lstStyle/>
          <a:p>
            <a:pPr indent="457200" fontAlgn="auto">
              <a:lnSpc>
                <a:spcPct val="150000"/>
              </a:lnSpc>
            </a:pPr>
            <a:r>
              <a:rPr lang="zh-CN" altLang="en-US" b="1" dirty="0" smtClean="0">
                <a:solidFill>
                  <a:srgbClr val="FFFF00"/>
                </a:solidFill>
                <a:latin typeface="+mn-ea"/>
              </a:rPr>
              <a:t>为保证软件能充分满足用户要求，而进行的有计划、有组织的活动，称为软件质量保证。</a:t>
            </a:r>
            <a:r>
              <a:rPr lang="zh-CN" altLang="en-US" dirty="0" smtClean="0">
                <a:solidFill>
                  <a:schemeClr val="bg1"/>
                </a:solidFill>
                <a:latin typeface="+mn-ea"/>
              </a:rPr>
              <a:t>软件质量保证是一个复杂的系统，它采用一定的技术、方法和工具，以确保软件产品满足或超过在该产品的开发过程中所规定的标准。若软件没有规定具体的标准，应保证产品满足或超过工业的或经济上能接受的水平。</a:t>
            </a:r>
          </a:p>
        </p:txBody>
      </p:sp>
      <p:pic>
        <p:nvPicPr>
          <p:cNvPr id="3074" name="Picture 2"/>
          <p:cNvPicPr>
            <a:picLocks noChangeAspect="1" noChangeArrowheads="1"/>
          </p:cNvPicPr>
          <p:nvPr/>
        </p:nvPicPr>
        <p:blipFill>
          <a:blip r:embed="rId3" cstate="print"/>
          <a:srcRect/>
          <a:stretch>
            <a:fillRect/>
          </a:stretch>
        </p:blipFill>
        <p:spPr bwMode="auto">
          <a:xfrm>
            <a:off x="7441324" y="2364829"/>
            <a:ext cx="4750676" cy="3048984"/>
          </a:xfrm>
          <a:prstGeom prst="flowChartPreparation">
            <a:avLst/>
          </a:prstGeom>
          <a:noFill/>
          <a:ln w="9525">
            <a:noFill/>
            <a:miter lim="800000"/>
            <a:headEnd/>
            <a:tailEnd/>
          </a:ln>
          <a:effectLst/>
        </p:spPr>
      </p:pic>
    </p:spTree>
  </p:cSld>
  <p:clrMapOvr>
    <a:masterClrMapping/>
  </p:clrMapOvr>
  <p:transition>
    <p:wheel spokes="3"/>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10.6  软件配置管理</a:t>
            </a:r>
            <a:r>
              <a:rPr lang="zh-CN" altLang="en-US" dirty="0" smtClean="0">
                <a:solidFill>
                  <a:schemeClr val="tx1"/>
                </a:solidFill>
              </a:rPr>
              <a:t/>
            </a:r>
            <a:br>
              <a:rPr lang="zh-CN" altLang="en-US" dirty="0" smtClean="0">
                <a:solidFill>
                  <a:schemeClr val="tx1"/>
                </a:solidFill>
              </a:rPr>
            </a:br>
            <a:endParaRPr lang="zh-CN" altLang="en-US">
              <a:solidFill>
                <a:srgbClr val="FF0000"/>
              </a:solidFill>
            </a:endParaRPr>
          </a:p>
        </p:txBody>
      </p:sp>
      <p:sp>
        <p:nvSpPr>
          <p:cNvPr id="2"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10.6.2  软件质量保证措施</a:t>
            </a:r>
          </a:p>
        </p:txBody>
      </p:sp>
      <p:sp>
        <p:nvSpPr>
          <p:cNvPr id="6" name="文本框 5"/>
          <p:cNvSpPr txBox="1"/>
          <p:nvPr/>
        </p:nvSpPr>
        <p:spPr>
          <a:xfrm>
            <a:off x="1243718" y="2030554"/>
            <a:ext cx="9729082" cy="397032"/>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软件质量保证是软件工程管理的重要内容，软件质量保证主要包括以下措施。</a:t>
            </a:r>
          </a:p>
        </p:txBody>
      </p:sp>
      <p:grpSp>
        <p:nvGrpSpPr>
          <p:cNvPr id="23" name="组合 22"/>
          <p:cNvGrpSpPr/>
          <p:nvPr/>
        </p:nvGrpSpPr>
        <p:grpSpPr>
          <a:xfrm>
            <a:off x="996819" y="2301963"/>
            <a:ext cx="10197465" cy="2214880"/>
            <a:chOff x="1840" y="2871"/>
            <a:chExt cx="16059" cy="3488"/>
          </a:xfrm>
        </p:grpSpPr>
        <p:cxnSp>
          <p:nvCxnSpPr>
            <p:cNvPr id="24" name="MH_Other_4"/>
            <p:cNvCxnSpPr/>
            <p:nvPr/>
          </p:nvCxnSpPr>
          <p:spPr>
            <a:xfrm flipH="1">
              <a:off x="2680" y="3183"/>
              <a:ext cx="1545" cy="1450"/>
            </a:xfrm>
            <a:prstGeom prst="line">
              <a:avLst/>
            </a:prstGeom>
            <a:ln w="38100">
              <a:solidFill>
                <a:srgbClr val="58B933"/>
              </a:solidFill>
            </a:ln>
          </p:spPr>
          <p:style>
            <a:lnRef idx="1">
              <a:schemeClr val="accent1"/>
            </a:lnRef>
            <a:fillRef idx="0">
              <a:schemeClr val="accent1"/>
            </a:fillRef>
            <a:effectRef idx="0">
              <a:schemeClr val="accent1"/>
            </a:effectRef>
            <a:fontRef idx="minor">
              <a:schemeClr val="tx1"/>
            </a:fontRef>
          </p:style>
        </p:cxnSp>
        <p:sp>
          <p:nvSpPr>
            <p:cNvPr id="25"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58B93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6" name="MH_SubTitle_2"/>
            <p:cNvSpPr txBox="1">
              <a:spLocks noChangeArrowheads="1"/>
            </p:cNvSpPr>
            <p:nvPr/>
          </p:nvSpPr>
          <p:spPr bwMode="auto">
            <a:xfrm>
              <a:off x="3396" y="3183"/>
              <a:ext cx="14503" cy="3176"/>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pPr>
              <a:r>
                <a:rPr lang="zh-CN" altLang="en-US" sz="2000" b="1" dirty="0">
                  <a:solidFill>
                    <a:srgbClr val="92D050"/>
                  </a:solidFill>
                  <a:ea typeface="微软雅黑" panose="020B0503020204020204" charset="-122"/>
                </a:rPr>
                <a:t>应用好的技术方法</a:t>
              </a:r>
            </a:p>
            <a:p>
              <a:pPr indent="457200" fontAlgn="auto">
                <a:lnSpc>
                  <a:spcPct val="130000"/>
                </a:lnSpc>
              </a:pPr>
              <a:r>
                <a:rPr lang="zh-CN" altLang="en-US" dirty="0">
                  <a:solidFill>
                    <a:schemeClr val="tx1"/>
                  </a:solidFill>
                  <a:ea typeface="微软雅黑" panose="020B0503020204020204" charset="-122"/>
                </a:rPr>
                <a:t>质量控制活动要自始至终贯彻于开发过程中，软件开发人员应该依靠适当的技术方法和工具，形成高质量的规格说明和高质量的设计，还要选择合适的软件开发环境来进行软件开发。</a:t>
              </a:r>
            </a:p>
          </p:txBody>
        </p:sp>
        <p:sp>
          <p:nvSpPr>
            <p:cNvPr id="27"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58B933"/>
                  </a:solidFill>
                  <a:latin typeface="Agency FB" panose="020B0503020202020204" pitchFamily="34" charset="0"/>
                  <a:ea typeface="微软雅黑" panose="020B0503020204020204" charset="-122"/>
                </a:rPr>
                <a:t>1</a:t>
              </a:r>
            </a:p>
          </p:txBody>
        </p:sp>
      </p:grpSp>
      <p:grpSp>
        <p:nvGrpSpPr>
          <p:cNvPr id="4" name="组合 3"/>
          <p:cNvGrpSpPr/>
          <p:nvPr/>
        </p:nvGrpSpPr>
        <p:grpSpPr>
          <a:xfrm>
            <a:off x="1020949" y="4184496"/>
            <a:ext cx="10173335" cy="1850390"/>
            <a:chOff x="1630" y="5726"/>
            <a:chExt cx="16021" cy="2914"/>
          </a:xfrm>
        </p:grpSpPr>
        <p:cxnSp>
          <p:nvCxnSpPr>
            <p:cNvPr id="7" name="MH_Other_1"/>
            <p:cNvCxnSpPr/>
            <p:nvPr/>
          </p:nvCxnSpPr>
          <p:spPr>
            <a:xfrm flipH="1">
              <a:off x="2470" y="6041"/>
              <a:ext cx="1545" cy="1450"/>
            </a:xfrm>
            <a:prstGeom prst="lin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8"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9" name="MH_SubTitle_1"/>
            <p:cNvSpPr txBox="1">
              <a:spLocks noChangeArrowheads="1"/>
            </p:cNvSpPr>
            <p:nvPr/>
          </p:nvSpPr>
          <p:spPr bwMode="auto">
            <a:xfrm>
              <a:off x="3186" y="6041"/>
              <a:ext cx="14465" cy="259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3">
                      <a:lumMod val="75000"/>
                    </a:schemeClr>
                  </a:solidFill>
                </a:rPr>
                <a:t>测试软件</a:t>
              </a:r>
            </a:p>
            <a:p>
              <a:pPr indent="457200" fontAlgn="auto">
                <a:lnSpc>
                  <a:spcPct val="120000"/>
                </a:lnSpc>
              </a:pPr>
              <a:r>
                <a:rPr lang="zh-CN" altLang="en-US" dirty="0">
                  <a:ea typeface="微软雅黑" panose="020B0503020204020204" charset="-122"/>
                </a:rPr>
                <a:t>软件测试是质量保证的重要手段，通过测试可以发现软件中大多数潜在的错误。应当采用多种测试策略，设计高效的检测错误的测试用例进行软件测试。但是软件测试并不能保证发现所有的错误。</a:t>
              </a:r>
            </a:p>
          </p:txBody>
        </p:sp>
        <p:sp>
          <p:nvSpPr>
            <p:cNvPr id="10"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3">
                      <a:lumMod val="75000"/>
                    </a:schemeClr>
                  </a:solidFill>
                  <a:latin typeface="Agency FB" panose="020B0503020202020204" pitchFamily="34" charset="0"/>
                  <a:ea typeface="微软雅黑" panose="020B0503020204020204" charset="-122"/>
                </a:rPr>
                <a:t>2</a:t>
              </a:r>
            </a:p>
          </p:txBody>
        </p:sp>
      </p:grpSp>
    </p:spTree>
  </p:cSld>
  <p:clrMapOvr>
    <a:masterClrMapping/>
  </p:clrMapOvr>
  <p:transition>
    <p:wheel spokes="3"/>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10.6  软件配置管理</a:t>
            </a:r>
            <a:r>
              <a:rPr lang="zh-CN" altLang="en-US" dirty="0" smtClean="0">
                <a:solidFill>
                  <a:schemeClr val="tx1"/>
                </a:solidFill>
              </a:rPr>
              <a:t/>
            </a:r>
            <a:br>
              <a:rPr lang="zh-CN" altLang="en-US" dirty="0" smtClean="0">
                <a:solidFill>
                  <a:schemeClr val="tx1"/>
                </a:solidFill>
              </a:rPr>
            </a:br>
            <a:endParaRPr lang="zh-CN" altLang="en-US">
              <a:solidFill>
                <a:srgbClr val="FF0000"/>
              </a:solidFill>
            </a:endParaRPr>
          </a:p>
        </p:txBody>
      </p:sp>
      <p:sp>
        <p:nvSpPr>
          <p:cNvPr id="2"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10.6.2  软件质量保证措施</a:t>
            </a:r>
          </a:p>
        </p:txBody>
      </p:sp>
      <p:grpSp>
        <p:nvGrpSpPr>
          <p:cNvPr id="18" name="组合 17"/>
          <p:cNvGrpSpPr/>
          <p:nvPr/>
        </p:nvGrpSpPr>
        <p:grpSpPr>
          <a:xfrm>
            <a:off x="835529" y="1969616"/>
            <a:ext cx="10694035" cy="2317115"/>
            <a:chOff x="1630" y="5726"/>
            <a:chExt cx="16841" cy="3649"/>
          </a:xfrm>
        </p:grpSpPr>
        <p:cxnSp>
          <p:nvCxnSpPr>
            <p:cNvPr id="19" name="MH_Other_1"/>
            <p:cNvCxnSpPr/>
            <p:nvPr/>
          </p:nvCxnSpPr>
          <p:spPr>
            <a:xfrm flipH="1">
              <a:off x="2470" y="6041"/>
              <a:ext cx="1545" cy="145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0"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1" name="MH_SubTitle_1"/>
            <p:cNvSpPr txBox="1">
              <a:spLocks noChangeArrowheads="1"/>
            </p:cNvSpPr>
            <p:nvPr/>
          </p:nvSpPr>
          <p:spPr bwMode="auto">
            <a:xfrm>
              <a:off x="3229" y="6041"/>
              <a:ext cx="15242" cy="3334"/>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pPr>
              <a:r>
                <a:rPr lang="zh-CN" altLang="en-US" sz="2000" b="1" dirty="0">
                  <a:solidFill>
                    <a:schemeClr val="accent2">
                      <a:lumMod val="60000"/>
                      <a:lumOff val="40000"/>
                    </a:schemeClr>
                  </a:solidFill>
                </a:rPr>
                <a:t>进行正式的技术评审</a:t>
              </a:r>
            </a:p>
            <a:p>
              <a:pPr indent="457200" fontAlgn="auto">
                <a:lnSpc>
                  <a:spcPct val="130000"/>
                </a:lnSpc>
              </a:pPr>
              <a:r>
                <a:rPr lang="zh-CN" altLang="en-US" dirty="0">
                  <a:ea typeface="微软雅黑" panose="020B0503020204020204" charset="-122"/>
                </a:rPr>
                <a:t>在软件开发的每个阶段结束时，都要组织正式的技术评审。由技术人员按照规格说明和设计，对软件产品进行严格的评审、审查。多数情况下，审查能有效地发现软件中的缺陷和错误。国家标准要求开发单位必须采用审查、文档评审、设计评审、审计和测试等具体手段来控制质量。</a:t>
              </a:r>
            </a:p>
          </p:txBody>
        </p:sp>
        <p:sp>
          <p:nvSpPr>
            <p:cNvPr id="22"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2">
                      <a:lumMod val="60000"/>
                      <a:lumOff val="40000"/>
                    </a:schemeClr>
                  </a:solidFill>
                  <a:latin typeface="Agency FB" panose="020B0503020202020204" pitchFamily="34" charset="0"/>
                  <a:ea typeface="微软雅黑" panose="020B0503020204020204" charset="-122"/>
                </a:rPr>
                <a:t>3</a:t>
              </a:r>
            </a:p>
          </p:txBody>
        </p:sp>
      </p:grpSp>
      <p:grpSp>
        <p:nvGrpSpPr>
          <p:cNvPr id="10" name="组合 9"/>
          <p:cNvGrpSpPr/>
          <p:nvPr/>
        </p:nvGrpSpPr>
        <p:grpSpPr>
          <a:xfrm>
            <a:off x="835529" y="4286731"/>
            <a:ext cx="10694035" cy="2144395"/>
            <a:chOff x="1630" y="5726"/>
            <a:chExt cx="16841" cy="3377"/>
          </a:xfrm>
        </p:grpSpPr>
        <p:cxnSp>
          <p:nvCxnSpPr>
            <p:cNvPr id="11"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2"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3" name="MH_SubTitle_1"/>
            <p:cNvSpPr txBox="1">
              <a:spLocks noChangeArrowheads="1"/>
            </p:cNvSpPr>
            <p:nvPr/>
          </p:nvSpPr>
          <p:spPr bwMode="auto">
            <a:xfrm>
              <a:off x="3229" y="5726"/>
              <a:ext cx="15242" cy="3377"/>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30000"/>
                </a:lnSpc>
              </a:pPr>
              <a:r>
                <a:rPr lang="en-US" altLang="zh-CN" sz="2000" b="1" dirty="0">
                  <a:solidFill>
                    <a:srgbClr val="00B0F0"/>
                  </a:solidFill>
                </a:rPr>
                <a:t>      </a:t>
              </a:r>
              <a:r>
                <a:rPr lang="zh-CN" altLang="en-US" sz="2000" b="1" dirty="0">
                  <a:solidFill>
                    <a:srgbClr val="00B0F0"/>
                  </a:solidFill>
                </a:rPr>
                <a:t>标准的实施</a:t>
              </a:r>
            </a:p>
            <a:p>
              <a:pPr indent="0" fontAlgn="auto">
                <a:lnSpc>
                  <a:spcPct val="130000"/>
                </a:lnSpc>
              </a:pPr>
              <a:r>
                <a:rPr lang="zh-CN" altLang="en-US" sz="2000" b="1" dirty="0">
                  <a:solidFill>
                    <a:srgbClr val="00B0F0"/>
                  </a:solidFill>
                </a:rPr>
                <a:t>      </a:t>
              </a:r>
              <a:r>
                <a:rPr lang="zh-CN" altLang="en-US" dirty="0">
                  <a:ea typeface="微软雅黑" panose="020B0503020204020204" charset="-122"/>
                </a:rPr>
                <a:t>用户可以根据需要，参照国家标准、国际标准或行业标准，制定软件工程实施的规范。一旦形成软件质量标准，就必须确保遵循它们。在进行技术审查时，应评估软件是否与所制定的标准一致。</a:t>
              </a:r>
            </a:p>
          </p:txBody>
        </p:sp>
        <p:sp>
          <p:nvSpPr>
            <p:cNvPr id="14"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4</a:t>
              </a:r>
            </a:p>
          </p:txBody>
        </p:sp>
      </p:grpSp>
    </p:spTree>
  </p:cSld>
  <p:clrMapOvr>
    <a:masterClrMapping/>
  </p:clrMapOvr>
  <p:transition>
    <p:wheel spokes="3"/>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10.6  软件配置管理</a:t>
            </a:r>
            <a:r>
              <a:rPr lang="zh-CN" altLang="en-US" dirty="0" smtClean="0">
                <a:solidFill>
                  <a:schemeClr val="tx1"/>
                </a:solidFill>
              </a:rPr>
              <a:t/>
            </a:r>
            <a:br>
              <a:rPr lang="zh-CN" altLang="en-US" dirty="0" smtClean="0">
                <a:solidFill>
                  <a:schemeClr val="tx1"/>
                </a:solidFill>
              </a:rPr>
            </a:br>
            <a:endParaRPr lang="zh-CN" altLang="en-US">
              <a:solidFill>
                <a:srgbClr val="FF0000"/>
              </a:solidFill>
            </a:endParaRPr>
          </a:p>
        </p:txBody>
      </p:sp>
      <p:sp>
        <p:nvSpPr>
          <p:cNvPr id="2"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10.6.2  软件质量保证措施</a:t>
            </a:r>
          </a:p>
        </p:txBody>
      </p:sp>
      <p:grpSp>
        <p:nvGrpSpPr>
          <p:cNvPr id="12" name="组合 11"/>
          <p:cNvGrpSpPr/>
          <p:nvPr/>
        </p:nvGrpSpPr>
        <p:grpSpPr>
          <a:xfrm>
            <a:off x="826639" y="1969616"/>
            <a:ext cx="10730230" cy="2230120"/>
            <a:chOff x="1630" y="5726"/>
            <a:chExt cx="16898" cy="3512"/>
          </a:xfrm>
        </p:grpSpPr>
        <p:cxnSp>
          <p:nvCxnSpPr>
            <p:cNvPr id="13" name="MH_Other_1"/>
            <p:cNvCxnSpPr/>
            <p:nvPr/>
          </p:nvCxnSpPr>
          <p:spPr>
            <a:xfrm flipH="1">
              <a:off x="2470" y="6041"/>
              <a:ext cx="1545" cy="145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4"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5" name="MH_SubTitle_1"/>
            <p:cNvSpPr txBox="1">
              <a:spLocks noChangeArrowheads="1"/>
            </p:cNvSpPr>
            <p:nvPr/>
          </p:nvSpPr>
          <p:spPr bwMode="auto">
            <a:xfrm>
              <a:off x="3207" y="6041"/>
              <a:ext cx="15321" cy="3197"/>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2060"/>
                  </a:solidFill>
                </a:rPr>
                <a:t>控制变更</a:t>
              </a:r>
            </a:p>
            <a:p>
              <a:pPr indent="457200" fontAlgn="auto">
                <a:lnSpc>
                  <a:spcPct val="130000"/>
                </a:lnSpc>
              </a:pPr>
              <a:r>
                <a:rPr lang="zh-CN" altLang="en-US" dirty="0">
                  <a:ea typeface="微软雅黑" panose="020B0503020204020204" charset="-122"/>
                </a:rPr>
                <a:t>在软件开发或维护阶段，对软件的每次变动都有引入错误的危险。如修改代码可能引入潜在的错误；修改数据结构可能使软件设计与数据不相符；修改软件时文档没有准确及时地反映出来等都是维护的副作用。因而必须严格控制软件的修改和变更。控制变更是通过对变更的正式申请、评价变更的特征和控制变更的影响等直接地提高软件质量。</a:t>
              </a:r>
            </a:p>
          </p:txBody>
        </p:sp>
        <p:sp>
          <p:nvSpPr>
            <p:cNvPr id="16"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2060"/>
                  </a:solidFill>
                  <a:latin typeface="Agency FB" panose="020B0503020202020204" pitchFamily="34" charset="0"/>
                  <a:ea typeface="微软雅黑" panose="020B0503020204020204" charset="-122"/>
                </a:rPr>
                <a:t>5</a:t>
              </a:r>
            </a:p>
          </p:txBody>
        </p:sp>
      </p:grpSp>
      <p:grpSp>
        <p:nvGrpSpPr>
          <p:cNvPr id="5" name="组合 4"/>
          <p:cNvGrpSpPr/>
          <p:nvPr/>
        </p:nvGrpSpPr>
        <p:grpSpPr>
          <a:xfrm>
            <a:off x="802509" y="4336743"/>
            <a:ext cx="10327640" cy="1382395"/>
            <a:chOff x="1840" y="2871"/>
            <a:chExt cx="16264" cy="2177"/>
          </a:xfrm>
        </p:grpSpPr>
        <p:cxnSp>
          <p:nvCxnSpPr>
            <p:cNvPr id="6" name="MH_Other_4"/>
            <p:cNvCxnSpPr/>
            <p:nvPr/>
          </p:nvCxnSpPr>
          <p:spPr>
            <a:xfrm flipH="1">
              <a:off x="2680" y="3183"/>
              <a:ext cx="1545" cy="145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7" name="MH_SubTitle_2"/>
            <p:cNvSpPr txBox="1">
              <a:spLocks noChangeArrowheads="1"/>
            </p:cNvSpPr>
            <p:nvPr/>
          </p:nvSpPr>
          <p:spPr bwMode="auto">
            <a:xfrm>
              <a:off x="3582" y="3183"/>
              <a:ext cx="14522" cy="1865"/>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C00000"/>
                  </a:solidFill>
                  <a:ea typeface="微软雅黑" panose="020B0503020204020204" charset="-122"/>
                </a:rPr>
                <a:t>程序正确性证明</a:t>
              </a:r>
            </a:p>
            <a:p>
              <a:pPr indent="457200" fontAlgn="auto">
                <a:lnSpc>
                  <a:spcPct val="120000"/>
                </a:lnSpc>
              </a:pPr>
              <a:r>
                <a:rPr lang="zh-CN" altLang="en-US" dirty="0">
                  <a:solidFill>
                    <a:schemeClr val="tx1"/>
                  </a:solidFill>
                  <a:ea typeface="微软雅黑" panose="020B0503020204020204" charset="-122"/>
                </a:rPr>
                <a:t>程序正确性证明的准则是证明程序能完成预定的功能。</a:t>
              </a:r>
            </a:p>
          </p:txBody>
        </p:sp>
        <p:sp>
          <p:nvSpPr>
            <p:cNvPr id="27"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C00000"/>
                  </a:solidFill>
                  <a:latin typeface="Agency FB" panose="020B0503020202020204" pitchFamily="34" charset="0"/>
                  <a:ea typeface="微软雅黑" panose="020B0503020204020204" charset="-122"/>
                </a:rPr>
                <a:t>6</a:t>
              </a:r>
            </a:p>
          </p:txBody>
        </p:sp>
      </p:grpSp>
    </p:spTree>
  </p:cSld>
  <p:clrMapOvr>
    <a:masterClrMapping/>
  </p:clrMapOvr>
  <p:transition>
    <p:wheel spokes="3"/>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10.6  软件配置管理</a:t>
            </a:r>
            <a:r>
              <a:rPr lang="zh-CN" altLang="en-US" dirty="0" smtClean="0">
                <a:solidFill>
                  <a:schemeClr val="tx1"/>
                </a:solidFill>
              </a:rPr>
              <a:t/>
            </a:r>
            <a:br>
              <a:rPr lang="zh-CN" altLang="en-US" dirty="0" smtClean="0">
                <a:solidFill>
                  <a:schemeClr val="tx1"/>
                </a:solidFill>
              </a:rPr>
            </a:br>
            <a:endParaRPr lang="zh-CN" altLang="en-US">
              <a:solidFill>
                <a:srgbClr val="FF0000"/>
              </a:solidFill>
            </a:endParaRPr>
          </a:p>
        </p:txBody>
      </p:sp>
      <p:sp>
        <p:nvSpPr>
          <p:cNvPr id="2"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10.6.2  软件质量保证措施</a:t>
            </a:r>
          </a:p>
        </p:txBody>
      </p:sp>
      <p:grpSp>
        <p:nvGrpSpPr>
          <p:cNvPr id="15" name="组合 14"/>
          <p:cNvGrpSpPr/>
          <p:nvPr/>
        </p:nvGrpSpPr>
        <p:grpSpPr>
          <a:xfrm>
            <a:off x="802509" y="2291408"/>
            <a:ext cx="10579735" cy="1826895"/>
            <a:chOff x="1840" y="2871"/>
            <a:chExt cx="16661" cy="2877"/>
          </a:xfrm>
        </p:grpSpPr>
        <p:cxnSp>
          <p:nvCxnSpPr>
            <p:cNvPr id="16" name="MH_Other_4"/>
            <p:cNvCxnSpPr/>
            <p:nvPr/>
          </p:nvCxnSpPr>
          <p:spPr>
            <a:xfrm flipH="1">
              <a:off x="2680" y="3183"/>
              <a:ext cx="1545" cy="1450"/>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7"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0" name="MH_SubTitle_2"/>
            <p:cNvSpPr txBox="1">
              <a:spLocks noChangeArrowheads="1"/>
            </p:cNvSpPr>
            <p:nvPr/>
          </p:nvSpPr>
          <p:spPr bwMode="auto">
            <a:xfrm>
              <a:off x="3417" y="3183"/>
              <a:ext cx="15084" cy="2565"/>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pPr>
              <a:r>
                <a:rPr lang="zh-CN" altLang="en-US" sz="2000" b="1" dirty="0">
                  <a:solidFill>
                    <a:schemeClr val="accent6">
                      <a:lumMod val="60000"/>
                      <a:lumOff val="40000"/>
                    </a:schemeClr>
                  </a:solidFill>
                  <a:ea typeface="微软雅黑" panose="020B0503020204020204" charset="-122"/>
                </a:rPr>
                <a:t>记录、保存和报告软件过程信息</a:t>
              </a:r>
            </a:p>
            <a:p>
              <a:pPr indent="457200" fontAlgn="auto">
                <a:lnSpc>
                  <a:spcPct val="130000"/>
                </a:lnSpc>
              </a:pPr>
              <a:r>
                <a:rPr lang="zh-CN" altLang="en-US" dirty="0">
                  <a:solidFill>
                    <a:schemeClr val="tx1"/>
                  </a:solidFill>
                  <a:ea typeface="微软雅黑" panose="020B0503020204020204" charset="-122"/>
                </a:rPr>
                <a:t>在软件开发过程中，要跟踪程序变动对软件质量的影响程度。记录、保存和报告软件过程信息是指为软件质量保证收集信息和传播信息。评审、检查、控制变更、测试和其他软件质量保证活动的结果必须记录、报告给开发人员，并保存为项目历史记录的一部分。</a:t>
              </a:r>
            </a:p>
          </p:txBody>
        </p:sp>
        <p:sp>
          <p:nvSpPr>
            <p:cNvPr id="21"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a:solidFill>
                    <a:schemeClr val="accent6">
                      <a:lumMod val="60000"/>
                      <a:lumOff val="40000"/>
                    </a:schemeClr>
                  </a:solidFill>
                  <a:latin typeface="Agency FB" panose="020B0503020202020204" pitchFamily="34" charset="0"/>
                  <a:ea typeface="微软雅黑" panose="020B0503020204020204" charset="-122"/>
                </a:rPr>
                <a:t>7</a:t>
              </a:r>
            </a:p>
          </p:txBody>
        </p:sp>
      </p:grpSp>
      <p:sp>
        <p:nvSpPr>
          <p:cNvPr id="100" name="文本框 99"/>
          <p:cNvSpPr txBox="1"/>
          <p:nvPr/>
        </p:nvSpPr>
        <p:spPr>
          <a:xfrm>
            <a:off x="1059635" y="4524499"/>
            <a:ext cx="10067537" cy="837676"/>
          </a:xfrm>
          <a:prstGeom prst="roundRect">
            <a:avLst/>
          </a:prstGeom>
          <a:noFill/>
          <a:ln w="9525">
            <a:noFill/>
            <a:prstDash val="sysDot"/>
          </a:ln>
        </p:spPr>
        <p:txBody>
          <a:bodyPr wrap="square">
            <a:spAutoFit/>
          </a:bodyPr>
          <a:lstStyle/>
          <a:p>
            <a:pPr marL="0" indent="457200" algn="l" fontAlgn="auto">
              <a:lnSpc>
                <a:spcPct val="120000"/>
              </a:lnSpc>
            </a:pPr>
            <a:r>
              <a:rPr lang="zh-CN" altLang="en-US" b="1" u="none" dirty="0">
                <a:latin typeface="微软雅黑" panose="020B0503020204020204" charset="-122"/>
                <a:ea typeface="微软雅黑" panose="020B0503020204020204" charset="-122"/>
                <a:cs typeface="宋体" panose="02010600030101010101" pitchFamily="2" charset="-122"/>
              </a:rPr>
              <a:t>只有在软件开发的全过程中始终重视软件质量问题，采取正确的质量保证措施，才能开发出满足用户需求的高质量的软件。</a:t>
            </a:r>
          </a:p>
        </p:txBody>
      </p:sp>
    </p:spTree>
  </p:cSld>
  <p:clrMapOvr>
    <a:masterClrMapping/>
  </p:clrMapOvr>
  <p:transition>
    <p:wheel spokes="3"/>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7</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软件开发风险管理</a:t>
            </a:r>
          </a:p>
        </p:txBody>
      </p:sp>
      <p:grpSp>
        <p:nvGrpSpPr>
          <p:cNvPr id="7" name="组合 6"/>
          <p:cNvGrpSpPr/>
          <p:nvPr/>
        </p:nvGrpSpPr>
        <p:grpSpPr>
          <a:xfrm>
            <a:off x="6718300" y="4224020"/>
            <a:ext cx="3712845" cy="913130"/>
            <a:chOff x="9459" y="7137"/>
            <a:chExt cx="5847" cy="1438"/>
          </a:xfrm>
        </p:grpSpPr>
        <p:sp>
          <p:nvSpPr>
            <p:cNvPr id="8" name="文本框 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软件开发风险标识</a:t>
              </a:r>
            </a:p>
          </p:txBody>
        </p:sp>
        <p:sp>
          <p:nvSpPr>
            <p:cNvPr id="9" name="文本框 8"/>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软件开发风险估算</a:t>
              </a:r>
            </a:p>
          </p:txBody>
        </p:sp>
      </p:grpSp>
      <p:sp>
        <p:nvSpPr>
          <p:cNvPr id="13" name="文本框 12"/>
          <p:cNvSpPr txBox="1"/>
          <p:nvPr/>
        </p:nvSpPr>
        <p:spPr>
          <a:xfrm>
            <a:off x="6718300" y="5229860"/>
            <a:ext cx="418782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软件开发风险管理</a:t>
            </a:r>
          </a:p>
        </p:txBody>
      </p:sp>
    </p:spTree>
  </p:cSld>
  <p:clrMapOvr>
    <a:masterClrMapping/>
  </p:clrMapOvr>
  <p:transition spd="slow">
    <p:wipe/>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54380" y="291465"/>
            <a:ext cx="8415020" cy="656590"/>
          </a:xfrm>
        </p:spPr>
        <p:txBody>
          <a:bodyPr/>
          <a:lstStyle/>
          <a:p>
            <a:r>
              <a:rPr lang="zh-CN" altLang="en-US">
                <a:solidFill>
                  <a:srgbClr val="FF0000"/>
                </a:solidFill>
                <a:sym typeface="+mn-ea"/>
              </a:rPr>
              <a:t>10.7  软件开发风险管理</a:t>
            </a:r>
            <a:endParaRPr lang="zh-CN" altLang="zh-CN">
              <a:solidFill>
                <a:srgbClr val="FF0000"/>
              </a:solidFill>
              <a:sym typeface="+mn-ea"/>
            </a:endParaRPr>
          </a:p>
        </p:txBody>
      </p:sp>
      <p:pic>
        <p:nvPicPr>
          <p:cNvPr id="2" name="图片 1" descr="A000220150821C92PPIC"/>
          <p:cNvPicPr>
            <a:picLocks noChangeAspect="1"/>
          </p:cNvPicPr>
          <p:nvPr/>
        </p:nvPicPr>
        <p:blipFill>
          <a:blip r:embed="rId3" cstate="print"/>
          <a:stretch>
            <a:fillRect/>
          </a:stretch>
        </p:blipFill>
        <p:spPr>
          <a:xfrm>
            <a:off x="-17145" y="1784986"/>
            <a:ext cx="4909779" cy="3938116"/>
          </a:xfrm>
          <a:prstGeom prst="rect">
            <a:avLst/>
          </a:prstGeom>
        </p:spPr>
      </p:pic>
      <p:sp>
        <p:nvSpPr>
          <p:cNvPr id="5" name="MH_Desc_1"/>
          <p:cNvSpPr/>
          <p:nvPr>
            <p:custDataLst>
              <p:tags r:id="rId1"/>
            </p:custDataLst>
          </p:nvPr>
        </p:nvSpPr>
        <p:spPr>
          <a:xfrm>
            <a:off x="4888272" y="1793173"/>
            <a:ext cx="6713920" cy="3926403"/>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108000" tIns="72000" rIns="0" bIns="72000" anchor="ctr">
            <a:noAutofit/>
          </a:bodyPr>
          <a:lstStyle/>
          <a:p>
            <a:pPr indent="457200">
              <a:lnSpc>
                <a:spcPct val="120000"/>
              </a:lnSpc>
            </a:pPr>
            <a:r>
              <a:rPr lang="zh-CN" sz="2000" dirty="0" smtClean="0">
                <a:solidFill>
                  <a:srgbClr val="00B050"/>
                </a:solidFill>
                <a:latin typeface="微软雅黑" panose="020B0503020204020204" charset="-122"/>
                <a:ea typeface="微软雅黑" panose="020B0503020204020204" charset="-122"/>
                <a:cs typeface="Times New Roman" panose="02020603050405020304" charset="0"/>
              </a:rPr>
              <a:t>软件开发几乎总会存在某些风险，对付风险应该采取主动的策略。</a:t>
            </a:r>
            <a:r>
              <a:rPr lang="zh-CN" sz="2000" dirty="0" smtClean="0">
                <a:solidFill>
                  <a:schemeClr val="tx1"/>
                </a:solidFill>
                <a:latin typeface="微软雅黑" panose="020B0503020204020204" charset="-122"/>
                <a:ea typeface="微软雅黑" panose="020B0503020204020204" charset="-122"/>
                <a:cs typeface="Times New Roman" panose="02020603050405020304" charset="0"/>
              </a:rPr>
              <a:t>也就是说，早在技术工作开始之前就应该启动风险管理活动：标识出潜在的风险，估算风险出现的概率和影响，并且把风险按重要性排序；然后，软件项目组制定一个计划来管理风险。</a:t>
            </a:r>
          </a:p>
          <a:p>
            <a:pPr lvl="0" indent="457200" eaLnBrk="0" fontAlgn="base" hangingPunct="0">
              <a:lnSpc>
                <a:spcPct val="130000"/>
              </a:lnSpc>
              <a:spcBef>
                <a:spcPct val="0"/>
              </a:spcBef>
              <a:spcAft>
                <a:spcPct val="0"/>
              </a:spcAft>
            </a:pPr>
            <a:r>
              <a:rPr lang="zh-CN" sz="2000" dirty="0" smtClean="0">
                <a:solidFill>
                  <a:srgbClr val="00B050"/>
                </a:solidFill>
                <a:latin typeface="微软雅黑" panose="020B0503020204020204" charset="-122"/>
                <a:ea typeface="微软雅黑" panose="020B0503020204020204" charset="-122"/>
                <a:cs typeface="Times New Roman" panose="02020603050405020304" charset="0"/>
              </a:rPr>
              <a:t>风险管理的主要目标是预防风险，但是，并非所有风险都能预防。</a:t>
            </a:r>
            <a:r>
              <a:rPr lang="zh-CN" sz="2000" dirty="0" smtClean="0">
                <a:solidFill>
                  <a:schemeClr val="tx1"/>
                </a:solidFill>
                <a:latin typeface="微软雅黑" panose="020B0503020204020204" charset="-122"/>
                <a:ea typeface="微软雅黑" panose="020B0503020204020204" charset="-122"/>
                <a:cs typeface="Times New Roman" panose="02020603050405020304" charset="0"/>
              </a:rPr>
              <a:t>因此，软件项目组还必须制定一个处理意外事件的计划，以便一旦风险变成现实时，能够以可控的和有效的方式作出反应。</a:t>
            </a: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10.7.1  软件开发风险标识</a:t>
            </a:r>
          </a:p>
        </p:txBody>
      </p:sp>
      <p:grpSp>
        <p:nvGrpSpPr>
          <p:cNvPr id="2" name="组合 1"/>
          <p:cNvGrpSpPr/>
          <p:nvPr/>
        </p:nvGrpSpPr>
        <p:grpSpPr>
          <a:xfrm>
            <a:off x="511810" y="1673860"/>
            <a:ext cx="5441950" cy="4264025"/>
            <a:chOff x="924" y="2835"/>
            <a:chExt cx="8570" cy="6715"/>
          </a:xfrm>
        </p:grpSpPr>
        <p:sp>
          <p:nvSpPr>
            <p:cNvPr id="43" name="矩形 42"/>
            <p:cNvSpPr/>
            <p:nvPr/>
          </p:nvSpPr>
          <p:spPr>
            <a:xfrm>
              <a:off x="979" y="3699"/>
              <a:ext cx="8515" cy="5851"/>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52" name="图片 51"/>
            <p:cNvPicPr>
              <a:picLocks noChangeAspect="1"/>
            </p:cNvPicPr>
            <p:nvPr/>
          </p:nvPicPr>
          <p:blipFill>
            <a:blip r:embed="rId2" cstate="print">
              <a:duotone>
                <a:prstClr val="black"/>
                <a:schemeClr val="accent3">
                  <a:tint val="45000"/>
                  <a:satMod val="400000"/>
                </a:schemeClr>
              </a:duotone>
              <a:extLst>
                <a:ext uri="{28A0092B-C50C-407E-A947-70E740481C1C}">
                  <a14:useLocalDpi xmlns:a14="http://schemas.microsoft.com/office/drawing/2010/main" xmlns="" val="0"/>
                </a:ext>
              </a:extLst>
            </a:blip>
            <a:stretch>
              <a:fillRect/>
            </a:stretch>
          </p:blipFill>
          <p:spPr>
            <a:xfrm>
              <a:off x="924" y="3655"/>
              <a:ext cx="2290" cy="2277"/>
            </a:xfrm>
            <a:prstGeom prst="rect">
              <a:avLst/>
            </a:prstGeom>
          </p:spPr>
        </p:pic>
        <p:sp>
          <p:nvSpPr>
            <p:cNvPr id="45" name="Text Box 44"/>
            <p:cNvSpPr txBox="1">
              <a:spLocks noChangeArrowheads="1"/>
            </p:cNvSpPr>
            <p:nvPr/>
          </p:nvSpPr>
          <p:spPr bwMode="auto">
            <a:xfrm>
              <a:off x="1829" y="5104"/>
              <a:ext cx="7182" cy="3059"/>
            </a:xfrm>
            <a:prstGeom prst="rect">
              <a:avLst/>
            </a:prstGeom>
            <a:noFill/>
            <a:ln>
              <a:noFill/>
            </a:ln>
            <a:effectLst/>
            <a:extLst>
              <a:ext uri="{909E8E84-426E-40DD-AFC4-6F175D3DCCD1}">
                <a14:hiddenFill xmlns:a14="http://schemas.microsoft.com/office/drawing/2010/main" xmlns="">
                  <a:solidFill>
                    <a:srgbClr val="FFFFFF">
                      <a:alpha val="30000"/>
                    </a:srgbClr>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en-US" altLang="zh-CN" sz="1800" b="1" dirty="0">
                  <a:solidFill>
                    <a:srgbClr val="00B050"/>
                  </a:solidFill>
                </a:rPr>
                <a:t>       </a:t>
              </a:r>
              <a:r>
                <a:rPr lang="zh-CN" altLang="en-US" sz="1800" dirty="0">
                  <a:solidFill>
                    <a:srgbClr val="00B050"/>
                  </a:solidFill>
                </a:rPr>
                <a:t>软件开发风险的事件可能发生也可能不发生。</a:t>
              </a:r>
              <a:r>
                <a:rPr lang="zh-CN" altLang="en-US" sz="1800" dirty="0"/>
                <a:t>也就是说，没有100%肯定会发生的风险。如果已经知道软件项目开发过程中有100%发生的风险，那就是施加在软件项目上的约束，必须已经加以考虑，这不是风险。</a:t>
              </a:r>
            </a:p>
          </p:txBody>
        </p:sp>
        <p:sp>
          <p:nvSpPr>
            <p:cNvPr id="47" name="TextBox 6"/>
            <p:cNvSpPr txBox="1"/>
            <p:nvPr/>
          </p:nvSpPr>
          <p:spPr>
            <a:xfrm rot="18836568">
              <a:off x="439" y="4304"/>
              <a:ext cx="2528" cy="555"/>
            </a:xfrm>
            <a:prstGeom prst="rect">
              <a:avLst/>
            </a:prstGeom>
            <a:noFill/>
          </p:spPr>
          <p:txBody>
            <a:bodyPr wrap="none" rtlCol="0">
              <a:spAutoFit/>
            </a:bodyPr>
            <a:lstStyle/>
            <a:p>
              <a:r>
                <a:rPr lang="zh-CN" altLang="en-US" sz="1600" b="1" dirty="0">
                  <a:solidFill>
                    <a:schemeClr val="bg1"/>
                  </a:solidFill>
                  <a:latin typeface="微软雅黑" panose="020B0503020204020204" charset="-122"/>
                  <a:ea typeface="微软雅黑" panose="020B0503020204020204" charset="-122"/>
                </a:rPr>
                <a:t>风险的不确定性</a:t>
              </a:r>
            </a:p>
          </p:txBody>
        </p:sp>
        <p:sp>
          <p:nvSpPr>
            <p:cNvPr id="51" name="TextBox 26"/>
            <p:cNvSpPr txBox="1"/>
            <p:nvPr/>
          </p:nvSpPr>
          <p:spPr>
            <a:xfrm>
              <a:off x="8134" y="2835"/>
              <a:ext cx="1099" cy="1599"/>
            </a:xfrm>
            <a:prstGeom prst="rect">
              <a:avLst/>
            </a:prstGeom>
            <a:noFill/>
          </p:spPr>
          <p:txBody>
            <a:bodyPr wrap="none" rtlCol="0">
              <a:spAutoFit/>
            </a:bodyPr>
            <a:lstStyle/>
            <a:p>
              <a:r>
                <a:rPr lang="en-US" sz="6000" b="1" dirty="0">
                  <a:ln>
                    <a:solidFill>
                      <a:schemeClr val="tx2"/>
                    </a:solidFill>
                  </a:ln>
                  <a:solidFill>
                    <a:schemeClr val="bg1"/>
                  </a:solidFill>
                  <a:effectLst>
                    <a:reflection blurRad="6350" stA="55000" endA="300" endPos="45500" dir="5400000" sy="-100000" algn="bl" rotWithShape="0"/>
                  </a:effectLst>
                  <a:latin typeface="Arial Black" panose="020B0A04020102020204" pitchFamily="34" charset="0"/>
                </a:rPr>
                <a:t>1</a:t>
              </a:r>
            </a:p>
          </p:txBody>
        </p:sp>
      </p:grpSp>
      <p:grpSp>
        <p:nvGrpSpPr>
          <p:cNvPr id="5" name="组合 4"/>
          <p:cNvGrpSpPr/>
          <p:nvPr/>
        </p:nvGrpSpPr>
        <p:grpSpPr>
          <a:xfrm>
            <a:off x="6106160" y="1673860"/>
            <a:ext cx="5380355" cy="4259580"/>
            <a:chOff x="574" y="2778"/>
            <a:chExt cx="8473" cy="6708"/>
          </a:xfrm>
        </p:grpSpPr>
        <p:sp>
          <p:nvSpPr>
            <p:cNvPr id="6" name="矩形 5"/>
            <p:cNvSpPr/>
            <p:nvPr/>
          </p:nvSpPr>
          <p:spPr>
            <a:xfrm>
              <a:off x="574" y="3642"/>
              <a:ext cx="8473" cy="5844"/>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7" name="图片 6"/>
            <p:cNvPicPr>
              <a:picLocks noChangeAspect="1"/>
            </p:cNvPicPr>
            <p:nvPr/>
          </p:nvPicPr>
          <p:blipFill>
            <a:blip r:embed="rId2" cstate="print">
              <a:duotone>
                <a:prstClr val="black"/>
                <a:schemeClr val="accent3">
                  <a:tint val="45000"/>
                  <a:satMod val="400000"/>
                </a:schemeClr>
              </a:duotone>
              <a:extLst>
                <a:ext uri="{28A0092B-C50C-407E-A947-70E740481C1C}">
                  <a14:useLocalDpi xmlns:a14="http://schemas.microsoft.com/office/drawing/2010/main" xmlns="" val="0"/>
                </a:ext>
              </a:extLst>
            </a:blip>
            <a:stretch>
              <a:fillRect/>
            </a:stretch>
          </p:blipFill>
          <p:spPr>
            <a:xfrm>
              <a:off x="574" y="3642"/>
              <a:ext cx="2290" cy="2277"/>
            </a:xfrm>
            <a:prstGeom prst="rect">
              <a:avLst/>
            </a:prstGeom>
          </p:spPr>
        </p:pic>
        <p:sp>
          <p:nvSpPr>
            <p:cNvPr id="9" name="Text Box 44"/>
            <p:cNvSpPr txBox="1">
              <a:spLocks noChangeArrowheads="1"/>
            </p:cNvSpPr>
            <p:nvPr/>
          </p:nvSpPr>
          <p:spPr bwMode="auto">
            <a:xfrm>
              <a:off x="906" y="4617"/>
              <a:ext cx="8141" cy="4808"/>
            </a:xfrm>
            <a:prstGeom prst="rect">
              <a:avLst/>
            </a:prstGeom>
            <a:noFill/>
            <a:ln>
              <a:noFill/>
            </a:ln>
            <a:effectLst/>
            <a:extLst>
              <a:ext uri="{909E8E84-426E-40DD-AFC4-6F175D3DCCD1}">
                <a14:hiddenFill xmlns:a14="http://schemas.microsoft.com/office/drawing/2010/main" xmlns="">
                  <a:solidFill>
                    <a:srgbClr val="FFFFFF">
                      <a:alpha val="30000"/>
                    </a:srgbClr>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en-US" altLang="zh-CN" b="1" dirty="0">
                  <a:solidFill>
                    <a:srgbClr val="00B050"/>
                  </a:solidFill>
                </a:rPr>
                <a:t> </a:t>
              </a:r>
              <a:r>
                <a:rPr lang="en-US" altLang="zh-CN" sz="1800" b="1" dirty="0">
                  <a:solidFill>
                    <a:srgbClr val="00B050"/>
                  </a:solidFill>
                </a:rPr>
                <a:t>      </a:t>
              </a:r>
              <a:r>
                <a:rPr lang="zh-CN" altLang="en-US" sz="1800" dirty="0">
                  <a:solidFill>
                    <a:srgbClr val="00B050"/>
                  </a:solidFill>
                </a:rPr>
                <a:t>如果软件开发风险一旦变成了现实，就会造成不好的后果或损失。</a:t>
              </a:r>
              <a:r>
                <a:rPr lang="zh-CN" altLang="en-US" sz="1800" dirty="0"/>
                <a:t>在分析软件开发的风险时，重要的是要量化产生风险的不确定性程度以及与每个风险相关的损失程度。软件开发时，各种不同类型的风险，其不确定性是不一样的，可能产生的损失程度也不相同。为此，必须对风险加以标识。</a:t>
              </a:r>
              <a:r>
                <a:rPr lang="zh-CN" altLang="en-US" sz="1800" dirty="0">
                  <a:solidFill>
                    <a:srgbClr val="00B050"/>
                  </a:solidFill>
                </a:rPr>
                <a:t>要标识软件开发风险，需要先进行风险的分类，再分析风险的状态，然后进行风险识别。</a:t>
              </a:r>
            </a:p>
          </p:txBody>
        </p:sp>
        <p:sp>
          <p:nvSpPr>
            <p:cNvPr id="11" name="TextBox 6"/>
            <p:cNvSpPr txBox="1"/>
            <p:nvPr/>
          </p:nvSpPr>
          <p:spPr>
            <a:xfrm rot="18836568">
              <a:off x="146" y="4247"/>
              <a:ext cx="2528" cy="555"/>
            </a:xfrm>
            <a:prstGeom prst="rect">
              <a:avLst/>
            </a:prstGeom>
            <a:noFill/>
          </p:spPr>
          <p:txBody>
            <a:bodyPr wrap="none" rtlCol="0">
              <a:spAutoFit/>
            </a:bodyPr>
            <a:lstStyle/>
            <a:p>
              <a:r>
                <a:rPr lang="zh-CN" altLang="en-US" sz="1600" b="1" dirty="0">
                  <a:solidFill>
                    <a:schemeClr val="bg1"/>
                  </a:solidFill>
                  <a:latin typeface="微软雅黑" panose="020B0503020204020204" charset="-122"/>
                  <a:ea typeface="微软雅黑" panose="020B0503020204020204" charset="-122"/>
                </a:rPr>
                <a:t>风险产生的损失</a:t>
              </a:r>
            </a:p>
          </p:txBody>
        </p:sp>
        <p:sp>
          <p:nvSpPr>
            <p:cNvPr id="12" name="TextBox 26"/>
            <p:cNvSpPr txBox="1"/>
            <p:nvPr/>
          </p:nvSpPr>
          <p:spPr>
            <a:xfrm>
              <a:off x="7948" y="2778"/>
              <a:ext cx="1099" cy="1599"/>
            </a:xfrm>
            <a:prstGeom prst="rect">
              <a:avLst/>
            </a:prstGeom>
            <a:noFill/>
          </p:spPr>
          <p:txBody>
            <a:bodyPr wrap="none" rtlCol="0">
              <a:spAutoFit/>
            </a:bodyPr>
            <a:lstStyle/>
            <a:p>
              <a:r>
                <a:rPr lang="en-US" sz="6000" b="1" dirty="0">
                  <a:ln>
                    <a:solidFill>
                      <a:schemeClr val="tx2"/>
                    </a:solidFill>
                  </a:ln>
                  <a:solidFill>
                    <a:schemeClr val="bg1"/>
                  </a:solidFill>
                  <a:effectLst>
                    <a:reflection blurRad="6350" stA="55000" endA="300" endPos="45500" dir="5400000" sy="-100000" algn="bl" rotWithShape="0"/>
                  </a:effectLst>
                  <a:latin typeface="Arial Black" panose="020B0A04020102020204" pitchFamily="34" charset="0"/>
                </a:rPr>
                <a:t>2</a:t>
              </a:r>
            </a:p>
          </p:txBody>
        </p:sp>
      </p:gr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10.7.1  软件开发风险标识</a:t>
            </a:r>
          </a:p>
        </p:txBody>
      </p:sp>
      <p:grpSp>
        <p:nvGrpSpPr>
          <p:cNvPr id="28" name="组合 27"/>
          <p:cNvGrpSpPr/>
          <p:nvPr/>
        </p:nvGrpSpPr>
        <p:grpSpPr>
          <a:xfrm>
            <a:off x="754380" y="2926545"/>
            <a:ext cx="10599420" cy="2695575"/>
            <a:chOff x="7040" y="1178"/>
            <a:chExt cx="16692" cy="4245"/>
          </a:xfrm>
        </p:grpSpPr>
        <p:sp>
          <p:nvSpPr>
            <p:cNvPr id="8" name="MH_Other_1"/>
            <p:cNvSpPr>
              <a:spLocks noChangeArrowheads="1"/>
            </p:cNvSpPr>
            <p:nvPr>
              <p:custDataLst>
                <p:tags r:id="rId1"/>
              </p:custDataLst>
            </p:nvPr>
          </p:nvSpPr>
          <p:spPr bwMode="auto">
            <a:xfrm>
              <a:off x="7906" y="1381"/>
              <a:ext cx="750" cy="560"/>
            </a:xfrm>
            <a:prstGeom prst="diamond">
              <a:avLst/>
            </a:prstGeom>
            <a:solidFill>
              <a:srgbClr val="CFEDE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Other_2"/>
            <p:cNvSpPr>
              <a:spLocks noChangeArrowheads="1"/>
            </p:cNvSpPr>
            <p:nvPr>
              <p:custDataLst>
                <p:tags r:id="rId2"/>
              </p:custDataLst>
            </p:nvPr>
          </p:nvSpPr>
          <p:spPr bwMode="auto">
            <a:xfrm>
              <a:off x="7906" y="2018"/>
              <a:ext cx="750" cy="562"/>
            </a:xfrm>
            <a:prstGeom prst="diamond">
              <a:avLst/>
            </a:prstGeom>
            <a:solidFill>
              <a:srgbClr val="CFEDE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3"/>
            <p:cNvSpPr>
              <a:spLocks noChangeArrowheads="1"/>
            </p:cNvSpPr>
            <p:nvPr>
              <p:custDataLst>
                <p:tags r:id="rId3"/>
              </p:custDataLst>
            </p:nvPr>
          </p:nvSpPr>
          <p:spPr bwMode="auto">
            <a:xfrm>
              <a:off x="8340" y="1701"/>
              <a:ext cx="747" cy="560"/>
            </a:xfrm>
            <a:prstGeom prst="diamond">
              <a:avLst/>
            </a:prstGeom>
            <a:solidFill>
              <a:srgbClr val="95D7B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Other_4"/>
            <p:cNvSpPr/>
            <p:nvPr>
              <p:custDataLst>
                <p:tags r:id="rId4"/>
              </p:custDataLst>
            </p:nvPr>
          </p:nvSpPr>
          <p:spPr>
            <a:xfrm>
              <a:off x="7100" y="1178"/>
              <a:ext cx="1123" cy="1605"/>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15" name="MH_Other_5"/>
            <p:cNvSpPr/>
            <p:nvPr>
              <p:custDataLst>
                <p:tags r:id="rId5"/>
              </p:custDataLst>
            </p:nvPr>
          </p:nvSpPr>
          <p:spPr bwMode="auto">
            <a:xfrm>
              <a:off x="7040" y="1178"/>
              <a:ext cx="1070" cy="1605"/>
            </a:xfrm>
            <a:custGeom>
              <a:avLst/>
              <a:gdLst>
                <a:gd name="T0" fmla="*/ 36 w 1806862"/>
                <a:gd name="T1" fmla="*/ 0 h 3612822"/>
                <a:gd name="T2" fmla="*/ 143580 w 1806862"/>
                <a:gd name="T3" fmla="*/ 143580 h 3612822"/>
                <a:gd name="T4" fmla="*/ 36 w 1806862"/>
                <a:gd name="T5" fmla="*/ 287160 h 3612822"/>
                <a:gd name="T6" fmla="*/ 0 w 1806862"/>
                <a:gd name="T7" fmla="*/ 287124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76CBA6"/>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sp>
          <p:nvSpPr>
            <p:cNvPr id="24" name="MH_Text_2"/>
            <p:cNvSpPr/>
            <p:nvPr>
              <p:custDataLst>
                <p:tags r:id="rId6"/>
              </p:custDataLst>
            </p:nvPr>
          </p:nvSpPr>
          <p:spPr>
            <a:xfrm>
              <a:off x="9379" y="2261"/>
              <a:ext cx="14353" cy="3162"/>
            </a:xfrm>
            <a:prstGeom prst="rect">
              <a:avLst/>
            </a:prstGeom>
          </p:spPr>
          <p:txBody>
            <a:bodyPr>
              <a:noAutofit/>
            </a:bodyPr>
            <a:lstStyle/>
            <a:p>
              <a:pPr indent="457200">
                <a:lnSpc>
                  <a:spcPct val="150000"/>
                </a:lnSpc>
              </a:pPr>
              <a:r>
                <a:rPr dirty="0" smtClean="0">
                  <a:latin typeface="+mn-ea"/>
                </a:rPr>
                <a:t>由于项目在预算、进度、人力、资源、顾客和需求等方面的原因，对软件项目产生的不良影响称为项目风险。这类风险威胁项目计划，也就是说，如果这类风险变成现实，可能会拖延项目进度并且增加项目成本。项目风险是指预算、进度、人力、资源、客户及需求等方面的潜在问题和它们对软件项目的影响。项目复杂程度、规模以及结构不确定性也是项目的风险因素。</a:t>
              </a:r>
            </a:p>
          </p:txBody>
        </p:sp>
        <p:sp>
          <p:nvSpPr>
            <p:cNvPr id="25" name="MH_SubTitle_2"/>
            <p:cNvSpPr/>
            <p:nvPr>
              <p:custDataLst>
                <p:tags r:id="rId7"/>
              </p:custDataLst>
            </p:nvPr>
          </p:nvSpPr>
          <p:spPr>
            <a:xfrm>
              <a:off x="9379" y="1365"/>
              <a:ext cx="7360" cy="845"/>
            </a:xfrm>
            <a:prstGeom prst="rect">
              <a:avLst/>
            </a:prstGeom>
          </p:spPr>
          <p:txBody>
            <a:bodyPr anchor="b">
              <a:normAutofit/>
            </a:bodyPr>
            <a:lstStyle/>
            <a:p>
              <a:r>
                <a:rPr lang="zh-CN" altLang="en-US" b="1" dirty="0" smtClean="0">
                  <a:solidFill>
                    <a:srgbClr val="00B050"/>
                  </a:solidFill>
                </a:rPr>
                <a:t>项目风险</a:t>
              </a:r>
            </a:p>
          </p:txBody>
        </p:sp>
      </p:grpSp>
      <p:sp>
        <p:nvSpPr>
          <p:cNvPr id="12" name="TextBox 11"/>
          <p:cNvSpPr txBox="1"/>
          <p:nvPr/>
        </p:nvSpPr>
        <p:spPr>
          <a:xfrm>
            <a:off x="824415" y="2113881"/>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1</a:t>
            </a:r>
            <a:r>
              <a:rPr lang="zh-CN" altLang="en-US" sz="2400" dirty="0" smtClean="0"/>
              <a:t>．风险的分类</a:t>
            </a: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10.7.1  软件开发风险标识</a:t>
            </a:r>
          </a:p>
        </p:txBody>
      </p:sp>
      <p:grpSp>
        <p:nvGrpSpPr>
          <p:cNvPr id="26" name="组合 25"/>
          <p:cNvGrpSpPr/>
          <p:nvPr/>
        </p:nvGrpSpPr>
        <p:grpSpPr>
          <a:xfrm>
            <a:off x="573405" y="2444115"/>
            <a:ext cx="10805160" cy="2879725"/>
            <a:chOff x="1092" y="3793"/>
            <a:chExt cx="17016" cy="4535"/>
          </a:xfrm>
        </p:grpSpPr>
        <p:sp>
          <p:nvSpPr>
            <p:cNvPr id="9" name="MH_Text_1"/>
            <p:cNvSpPr/>
            <p:nvPr>
              <p:custDataLst>
                <p:tags r:id="rId1"/>
              </p:custDataLst>
            </p:nvPr>
          </p:nvSpPr>
          <p:spPr>
            <a:xfrm>
              <a:off x="3289" y="4752"/>
              <a:ext cx="14819" cy="3576"/>
            </a:xfrm>
            <a:prstGeom prst="rect">
              <a:avLst/>
            </a:prstGeom>
          </p:spPr>
          <p:txBody>
            <a:bodyPr>
              <a:normAutofit/>
            </a:bodyPr>
            <a:lstStyle/>
            <a:p>
              <a:pPr indent="457200">
                <a:lnSpc>
                  <a:spcPct val="150000"/>
                </a:lnSpc>
              </a:pPr>
              <a:r>
                <a:rPr lang="zh-CN" altLang="en-US" dirty="0" smtClean="0">
                  <a:latin typeface="+mn-ea"/>
                </a:rPr>
                <a:t>技术风险是指在设计、实现、接口、验证和维护过程中可能发生的潜在问题，对软件项目带来的危害。例如，规格说明的二义性、技术的不确定性、采用陈旧或尚不成熟的技术等。这类风险威胁软件产品的质量和交付时间。如果技术风险变成现实，开发工作可能会变得很困难或者根本不可能进行。一般说来，存在技术风险是因为问题比我们设想的更难解决。</a:t>
              </a:r>
            </a:p>
          </p:txBody>
        </p:sp>
        <p:sp>
          <p:nvSpPr>
            <p:cNvPr id="10" name="MH_SubTitle_1"/>
            <p:cNvSpPr/>
            <p:nvPr>
              <p:custDataLst>
                <p:tags r:id="rId2"/>
              </p:custDataLst>
            </p:nvPr>
          </p:nvSpPr>
          <p:spPr>
            <a:xfrm>
              <a:off x="3265" y="3905"/>
              <a:ext cx="7357" cy="847"/>
            </a:xfrm>
            <a:prstGeom prst="rect">
              <a:avLst/>
            </a:prstGeom>
          </p:spPr>
          <p:txBody>
            <a:bodyPr anchor="b">
              <a:normAutofit/>
            </a:bodyPr>
            <a:lstStyle/>
            <a:p>
              <a:r>
                <a:rPr lang="zh-CN" altLang="en-US" b="1" dirty="0">
                  <a:solidFill>
                    <a:srgbClr val="FF7C80"/>
                  </a:solidFill>
                </a:rPr>
                <a:t>技术风险</a:t>
              </a:r>
            </a:p>
          </p:txBody>
        </p:sp>
        <p:sp>
          <p:nvSpPr>
            <p:cNvPr id="19" name="MH_Other_11"/>
            <p:cNvSpPr>
              <a:spLocks noChangeArrowheads="1"/>
            </p:cNvSpPr>
            <p:nvPr>
              <p:custDataLst>
                <p:tags r:id="rId3"/>
              </p:custDataLst>
            </p:nvPr>
          </p:nvSpPr>
          <p:spPr bwMode="auto">
            <a:xfrm>
              <a:off x="1959" y="3993"/>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12"/>
            <p:cNvSpPr>
              <a:spLocks noChangeArrowheads="1"/>
            </p:cNvSpPr>
            <p:nvPr>
              <p:custDataLst>
                <p:tags r:id="rId4"/>
              </p:custDataLst>
            </p:nvPr>
          </p:nvSpPr>
          <p:spPr bwMode="auto">
            <a:xfrm>
              <a:off x="1959" y="4633"/>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1" name="MH_Other_13"/>
            <p:cNvSpPr>
              <a:spLocks noChangeArrowheads="1"/>
            </p:cNvSpPr>
            <p:nvPr>
              <p:custDataLst>
                <p:tags r:id="rId5"/>
              </p:custDataLst>
            </p:nvPr>
          </p:nvSpPr>
          <p:spPr bwMode="auto">
            <a:xfrm>
              <a:off x="2389" y="4313"/>
              <a:ext cx="747" cy="560"/>
            </a:xfrm>
            <a:prstGeom prst="diamond">
              <a:avLst/>
            </a:prstGeom>
            <a:solidFill>
              <a:srgbClr val="FFA093"/>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2" name="MH_Other_14"/>
            <p:cNvSpPr/>
            <p:nvPr>
              <p:custDataLst>
                <p:tags r:id="rId6"/>
              </p:custDataLst>
            </p:nvPr>
          </p:nvSpPr>
          <p:spPr>
            <a:xfrm>
              <a:off x="1149" y="3793"/>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23" name="MH_Other_15"/>
            <p:cNvSpPr/>
            <p:nvPr>
              <p:custDataLst>
                <p:tags r:id="rId7"/>
              </p:custDataLst>
            </p:nvPr>
          </p:nvSpPr>
          <p:spPr bwMode="auto">
            <a:xfrm>
              <a:off x="1092" y="3793"/>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FF6B55"/>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10.7.1  软件开发风险标识</a:t>
            </a:r>
          </a:p>
        </p:txBody>
      </p:sp>
      <p:grpSp>
        <p:nvGrpSpPr>
          <p:cNvPr id="7" name="组合 6"/>
          <p:cNvGrpSpPr/>
          <p:nvPr/>
        </p:nvGrpSpPr>
        <p:grpSpPr>
          <a:xfrm>
            <a:off x="845820" y="1969770"/>
            <a:ext cx="10604500" cy="4580255"/>
            <a:chOff x="1021" y="3475"/>
            <a:chExt cx="16700" cy="7213"/>
          </a:xfrm>
        </p:grpSpPr>
        <p:sp>
          <p:nvSpPr>
            <p:cNvPr id="8" name="MH_SubTitle_1"/>
            <p:cNvSpPr/>
            <p:nvPr>
              <p:custDataLst>
                <p:tags r:id="rId1"/>
              </p:custDataLst>
            </p:nvPr>
          </p:nvSpPr>
          <p:spPr>
            <a:xfrm>
              <a:off x="3287" y="3675"/>
              <a:ext cx="3747" cy="847"/>
            </a:xfrm>
            <a:prstGeom prst="rect">
              <a:avLst/>
            </a:prstGeom>
          </p:spPr>
          <p:txBody>
            <a:bodyPr anchor="b">
              <a:normAutofit/>
            </a:bodyPr>
            <a:lstStyle/>
            <a:p>
              <a:r>
                <a:rPr lang="zh-CN" altLang="en-US" b="1" dirty="0" smtClean="0">
                  <a:solidFill>
                    <a:schemeClr val="accent2">
                      <a:lumMod val="75000"/>
                    </a:schemeClr>
                  </a:solidFill>
                </a:rPr>
                <a:t>商业风险</a:t>
              </a:r>
            </a:p>
          </p:txBody>
        </p:sp>
        <p:grpSp>
          <p:nvGrpSpPr>
            <p:cNvPr id="12" name="组合 11"/>
            <p:cNvGrpSpPr/>
            <p:nvPr/>
          </p:nvGrpSpPr>
          <p:grpSpPr>
            <a:xfrm>
              <a:off x="1021" y="3475"/>
              <a:ext cx="16700" cy="7213"/>
              <a:chOff x="1685" y="3271"/>
              <a:chExt cx="16700" cy="7213"/>
            </a:xfrm>
          </p:grpSpPr>
          <p:sp>
            <p:nvSpPr>
              <p:cNvPr id="24" name="MH_Text_1"/>
              <p:cNvSpPr/>
              <p:nvPr>
                <p:custDataLst>
                  <p:tags r:id="rId2"/>
                </p:custDataLst>
              </p:nvPr>
            </p:nvSpPr>
            <p:spPr>
              <a:xfrm>
                <a:off x="3968" y="4448"/>
                <a:ext cx="14417" cy="6036"/>
              </a:xfrm>
              <a:prstGeom prst="rect">
                <a:avLst/>
              </a:prstGeom>
            </p:spPr>
            <p:txBody>
              <a:bodyPr>
                <a:normAutofit/>
              </a:bodyPr>
              <a:lstStyle/>
              <a:p>
                <a:pPr indent="457200">
                  <a:lnSpc>
                    <a:spcPct val="150000"/>
                  </a:lnSpc>
                </a:pPr>
                <a:r>
                  <a:rPr lang="zh-CN" altLang="en-US" dirty="0" smtClean="0">
                    <a:latin typeface="+mn-ea"/>
                  </a:rPr>
                  <a:t>开发了一个没人需要的优质软件，或推销部门不知如何销售这一软件产品，或开发的产品不符合公司的产品销售战略等，称为商业风险。这类风险威胁软件产品的生存力，也往往危及项目或产品。以下为5种主要的商业风险。</a:t>
                </a:r>
              </a:p>
              <a:p>
                <a:pPr marL="285750" indent="-285750">
                  <a:lnSpc>
                    <a:spcPct val="150000"/>
                  </a:lnSpc>
                  <a:buFont typeface="Wingdings" panose="05000000000000000000" charset="0"/>
                  <a:buChar char="Ø"/>
                </a:pPr>
                <a:r>
                  <a:rPr lang="zh-CN" altLang="en-US" dirty="0" smtClean="0">
                    <a:solidFill>
                      <a:srgbClr val="00B050"/>
                    </a:solidFill>
                    <a:latin typeface="+mn-ea"/>
                  </a:rPr>
                  <a:t>开发了一个没有人真正需要的优良产品或系统（市场风险）。</a:t>
                </a:r>
              </a:p>
              <a:p>
                <a:pPr marL="285750" indent="-285750">
                  <a:lnSpc>
                    <a:spcPct val="150000"/>
                  </a:lnSpc>
                  <a:buFont typeface="Wingdings" panose="05000000000000000000" charset="0"/>
                  <a:buChar char="Ø"/>
                </a:pPr>
                <a:r>
                  <a:rPr lang="zh-CN" altLang="en-US" dirty="0" smtClean="0">
                    <a:solidFill>
                      <a:srgbClr val="00B050"/>
                    </a:solidFill>
                    <a:latin typeface="+mn-ea"/>
                  </a:rPr>
                  <a:t>开发的产品不再符合公司的整体商业策略（策略风险）。</a:t>
                </a:r>
              </a:p>
              <a:p>
                <a:pPr marL="285750" indent="-285750">
                  <a:lnSpc>
                    <a:spcPct val="150000"/>
                  </a:lnSpc>
                  <a:buFont typeface="Wingdings" panose="05000000000000000000" charset="0"/>
                  <a:buChar char="Ø"/>
                </a:pPr>
                <a:r>
                  <a:rPr lang="zh-CN" altLang="en-US" dirty="0" smtClean="0">
                    <a:solidFill>
                      <a:srgbClr val="00B050"/>
                    </a:solidFill>
                    <a:latin typeface="+mn-ea"/>
                  </a:rPr>
                  <a:t>开发了一个销售部门不知道如何去卖的产品（销售风险）。</a:t>
                </a:r>
              </a:p>
              <a:p>
                <a:pPr marL="285750" indent="-285750">
                  <a:lnSpc>
                    <a:spcPct val="150000"/>
                  </a:lnSpc>
                  <a:buFont typeface="Wingdings" panose="05000000000000000000" charset="0"/>
                  <a:buChar char="Ø"/>
                </a:pPr>
                <a:r>
                  <a:rPr lang="zh-CN" altLang="en-US" dirty="0" smtClean="0">
                    <a:solidFill>
                      <a:srgbClr val="00B050"/>
                    </a:solidFill>
                    <a:latin typeface="+mn-ea"/>
                  </a:rPr>
                  <a:t>由于重点转移或人员变动而失去了高级管理层的支持（管理风险）。</a:t>
                </a:r>
              </a:p>
              <a:p>
                <a:pPr marL="285750" indent="-285750">
                  <a:lnSpc>
                    <a:spcPct val="150000"/>
                  </a:lnSpc>
                  <a:buFont typeface="Wingdings" panose="05000000000000000000" charset="0"/>
                  <a:buChar char="Ø"/>
                </a:pPr>
                <a:r>
                  <a:rPr lang="zh-CN" altLang="en-US" dirty="0" smtClean="0">
                    <a:solidFill>
                      <a:srgbClr val="00B050"/>
                    </a:solidFill>
                    <a:latin typeface="+mn-ea"/>
                  </a:rPr>
                  <a:t>没有获得预算或人力上的保证（预算风险）。</a:t>
                </a:r>
              </a:p>
            </p:txBody>
          </p:sp>
          <p:sp>
            <p:nvSpPr>
              <p:cNvPr id="31" name="MH_Other_11"/>
              <p:cNvSpPr>
                <a:spLocks noChangeArrowheads="1"/>
              </p:cNvSpPr>
              <p:nvPr>
                <p:custDataLst>
                  <p:tags r:id="rId3"/>
                </p:custDataLst>
              </p:nvPr>
            </p:nvSpPr>
            <p:spPr bwMode="auto">
              <a:xfrm>
                <a:off x="2495" y="3471"/>
                <a:ext cx="747" cy="560"/>
              </a:xfrm>
              <a:prstGeom prst="diamond">
                <a:avLst/>
              </a:prstGeom>
              <a:solidFill>
                <a:schemeClr val="accent2">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2" name="MH_Other_12"/>
              <p:cNvSpPr>
                <a:spLocks noChangeArrowheads="1"/>
              </p:cNvSpPr>
              <p:nvPr>
                <p:custDataLst>
                  <p:tags r:id="rId4"/>
                </p:custDataLst>
              </p:nvPr>
            </p:nvSpPr>
            <p:spPr bwMode="auto">
              <a:xfrm>
                <a:off x="2495" y="4111"/>
                <a:ext cx="747" cy="560"/>
              </a:xfrm>
              <a:prstGeom prst="diamond">
                <a:avLst/>
              </a:prstGeom>
              <a:solidFill>
                <a:schemeClr val="accent2">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3" name="MH_Other_13"/>
              <p:cNvSpPr>
                <a:spLocks noChangeArrowheads="1"/>
              </p:cNvSpPr>
              <p:nvPr>
                <p:custDataLst>
                  <p:tags r:id="rId5"/>
                </p:custDataLst>
              </p:nvPr>
            </p:nvSpPr>
            <p:spPr bwMode="auto">
              <a:xfrm>
                <a:off x="2925" y="3791"/>
                <a:ext cx="747" cy="560"/>
              </a:xfrm>
              <a:prstGeom prst="diamond">
                <a:avLst/>
              </a:prstGeom>
              <a:solidFill>
                <a:schemeClr val="accent2">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6" name="MH_Other_14"/>
              <p:cNvSpPr/>
              <p:nvPr>
                <p:custDataLst>
                  <p:tags r:id="rId6"/>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7" name="MH_Other_15"/>
              <p:cNvSpPr/>
              <p:nvPr>
                <p:custDataLst>
                  <p:tags r:id="rId7"/>
                </p:custDataLst>
              </p:nvPr>
            </p:nvSpPr>
            <p:spPr bwMode="auto">
              <a:xfrm>
                <a:off x="1745"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2">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10.7.1  软件开发风险标识</a:t>
            </a:r>
          </a:p>
        </p:txBody>
      </p:sp>
      <p:grpSp>
        <p:nvGrpSpPr>
          <p:cNvPr id="7" name="组合 6"/>
          <p:cNvGrpSpPr/>
          <p:nvPr/>
        </p:nvGrpSpPr>
        <p:grpSpPr>
          <a:xfrm>
            <a:off x="1184910" y="1847215"/>
            <a:ext cx="9822180" cy="5082741"/>
            <a:chOff x="377825" y="1698625"/>
            <a:chExt cx="8440738" cy="5082425"/>
          </a:xfrm>
        </p:grpSpPr>
        <p:sp>
          <p:nvSpPr>
            <p:cNvPr id="6" name="MH_Desc_1"/>
            <p:cNvSpPr>
              <a:spLocks noChangeArrowheads="1"/>
            </p:cNvSpPr>
            <p:nvPr/>
          </p:nvSpPr>
          <p:spPr bwMode="auto">
            <a:xfrm>
              <a:off x="2111375" y="2514606"/>
              <a:ext cx="5095875" cy="3132838"/>
            </a:xfrm>
            <a:prstGeom prst="roundRect">
              <a:avLst>
                <a:gd name="adj" fmla="val 8912"/>
              </a:avLst>
            </a:prstGeom>
            <a:solidFill>
              <a:srgbClr val="E85252"/>
            </a:solidFill>
            <a:ln>
              <a:noFill/>
            </a:ln>
            <a:extLst>
              <a:ext uri="{91240B29-F687-4F45-9708-019B960494DF}">
                <a14:hiddenLine xmlns:a14="http://schemas.microsoft.com/office/drawing/2010/main" xmlns="" w="9525">
                  <a:solidFill>
                    <a:srgbClr val="000000"/>
                  </a:solidFill>
                  <a:round/>
                </a14:hiddenLine>
              </a:ext>
            </a:extLst>
          </p:spPr>
          <p:txBody>
            <a:bodyPr lIns="144000" tIns="180000" rIns="144000" bIns="18000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dirty="0">
                  <a:solidFill>
                    <a:schemeClr val="bg1"/>
                  </a:solidFill>
                  <a:latin typeface="微软雅黑" panose="020B0503020204020204" charset="-122"/>
                  <a:ea typeface="微软雅黑" panose="020B0503020204020204" charset="-122"/>
                </a:rPr>
                <a:t>以上这3大类风险在进行软件开发之前，就需要项目管理者通过仔细的分析，来了解在项目中是否有可能存在。有些风险是很容易判断的，例如软件开发团队中是否有人员变动，提出离职。有些风险却是毫无征兆，不可预测。因此按照风险的不确定性，把风险分为3种不同的状态。</a:t>
              </a:r>
            </a:p>
          </p:txBody>
        </p:sp>
        <p:sp>
          <p:nvSpPr>
            <p:cNvPr id="3076" name="MH_Other_1"/>
            <p:cNvSpPr>
              <a:spLocks noChangeArrowheads="1"/>
            </p:cNvSpPr>
            <p:nvPr/>
          </p:nvSpPr>
          <p:spPr bwMode="auto">
            <a:xfrm>
              <a:off x="377825" y="1698625"/>
              <a:ext cx="1658938" cy="1843925"/>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11500">
                  <a:solidFill>
                    <a:srgbClr val="E85252"/>
                  </a:solidFill>
                  <a:latin typeface="方正姚体" panose="02010601030101010101" pitchFamily="2" charset="-122"/>
                  <a:ea typeface="方正姚体" panose="02010601030101010101" pitchFamily="2" charset="-122"/>
                </a:rPr>
                <a:t>“</a:t>
              </a:r>
            </a:p>
          </p:txBody>
        </p:sp>
        <p:sp>
          <p:nvSpPr>
            <p:cNvPr id="3077" name="MH_Other_2"/>
            <p:cNvSpPr>
              <a:spLocks noChangeArrowheads="1"/>
            </p:cNvSpPr>
            <p:nvPr/>
          </p:nvSpPr>
          <p:spPr bwMode="auto">
            <a:xfrm>
              <a:off x="7159625" y="4937125"/>
              <a:ext cx="1658938" cy="1843925"/>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11500">
                  <a:solidFill>
                    <a:srgbClr val="E85252"/>
                  </a:solidFill>
                  <a:latin typeface="方正姚体" panose="02010601030101010101" pitchFamily="2" charset="-122"/>
                  <a:ea typeface="方正姚体" panose="02010601030101010101" pitchFamily="2" charset="-122"/>
                </a:rPr>
                <a:t>”</a:t>
              </a:r>
            </a:p>
          </p:txBody>
        </p:sp>
      </p:gr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10.7.1  软件开发风险标识</a:t>
            </a:r>
          </a:p>
        </p:txBody>
      </p:sp>
      <p:grpSp>
        <p:nvGrpSpPr>
          <p:cNvPr id="2" name="组合 1"/>
          <p:cNvGrpSpPr/>
          <p:nvPr/>
        </p:nvGrpSpPr>
        <p:grpSpPr>
          <a:xfrm>
            <a:off x="1158130" y="2865715"/>
            <a:ext cx="10123351" cy="1303020"/>
            <a:chOff x="1188" y="3092"/>
            <a:chExt cx="14968" cy="2052"/>
          </a:xfrm>
        </p:grpSpPr>
        <p:grpSp>
          <p:nvGrpSpPr>
            <p:cNvPr id="28" name="组合 27"/>
            <p:cNvGrpSpPr/>
            <p:nvPr/>
          </p:nvGrpSpPr>
          <p:grpSpPr>
            <a:xfrm>
              <a:off x="1188" y="3092"/>
              <a:ext cx="6974" cy="930"/>
              <a:chOff x="508000" y="3196191"/>
              <a:chExt cx="4428470" cy="59055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1</a:t>
                </a:r>
              </a:p>
            </p:txBody>
          </p:sp>
          <p:cxnSp>
            <p:nvCxnSpPr>
              <p:cNvPr id="5" name="直接连接符 4"/>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960505" y="3291441"/>
                <a:ext cx="3975965"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已知风险</a:t>
                </a:r>
              </a:p>
            </p:txBody>
          </p:sp>
        </p:grpSp>
        <p:sp>
          <p:nvSpPr>
            <p:cNvPr id="35" name="矩形 34"/>
            <p:cNvSpPr>
              <a:spLocks noChangeArrowheads="1"/>
            </p:cNvSpPr>
            <p:nvPr/>
          </p:nvSpPr>
          <p:spPr bwMode="auto">
            <a:xfrm>
              <a:off x="1893" y="3848"/>
              <a:ext cx="14263"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这类风险是通过仔细评估项目计划、开发项目的商业和技术环境以及其他可靠的信息来源（例如不现实的交付时间，没有需求文档和描述软件范围的文档，恶劣的开发环境）之后，可以发现的那些风险。</a:t>
              </a:r>
            </a:p>
          </p:txBody>
        </p:sp>
      </p:grpSp>
      <p:grpSp>
        <p:nvGrpSpPr>
          <p:cNvPr id="36" name="组合 35"/>
          <p:cNvGrpSpPr/>
          <p:nvPr/>
        </p:nvGrpSpPr>
        <p:grpSpPr>
          <a:xfrm>
            <a:off x="1158130" y="4061860"/>
            <a:ext cx="9968809" cy="1303020"/>
            <a:chOff x="1188" y="3092"/>
            <a:chExt cx="14740" cy="2052"/>
          </a:xfrm>
        </p:grpSpPr>
        <p:grpSp>
          <p:nvGrpSpPr>
            <p:cNvPr id="37" name="组合 36"/>
            <p:cNvGrpSpPr/>
            <p:nvPr/>
          </p:nvGrpSpPr>
          <p:grpSpPr>
            <a:xfrm>
              <a:off x="1188" y="3092"/>
              <a:ext cx="7741" cy="930"/>
              <a:chOff x="508000" y="3196191"/>
              <a:chExt cx="4915730" cy="590550"/>
            </a:xfrm>
          </p:grpSpPr>
          <p:sp>
            <p:nvSpPr>
              <p:cNvPr id="3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2</a:t>
                </a:r>
              </a:p>
            </p:txBody>
          </p:sp>
          <p:cxnSp>
            <p:nvCxnSpPr>
              <p:cNvPr id="39" name="直接连接符 3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960521" y="3291441"/>
                <a:ext cx="4463209"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可预测的风险</a:t>
                </a:r>
              </a:p>
            </p:txBody>
          </p:sp>
        </p:grpSp>
        <p:sp>
          <p:nvSpPr>
            <p:cNvPr id="41" name="矩形 40"/>
            <p:cNvSpPr>
              <a:spLocks noChangeArrowheads="1"/>
            </p:cNvSpPr>
            <p:nvPr/>
          </p:nvSpPr>
          <p:spPr bwMode="auto">
            <a:xfrm>
              <a:off x="1893" y="3848"/>
              <a:ext cx="14035"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这类风险可以从过去项目的经验中推测出来。例如，人员变动，与客户之间缺少沟通，由于正在进行维护而使开发人员精力分散等。</a:t>
              </a:r>
            </a:p>
          </p:txBody>
        </p:sp>
      </p:grpSp>
      <p:grpSp>
        <p:nvGrpSpPr>
          <p:cNvPr id="9" name="组合 8"/>
          <p:cNvGrpSpPr/>
          <p:nvPr/>
        </p:nvGrpSpPr>
        <p:grpSpPr>
          <a:xfrm>
            <a:off x="1196230" y="5315915"/>
            <a:ext cx="9693203" cy="937260"/>
            <a:chOff x="1188" y="3092"/>
            <a:chExt cx="14332" cy="1476"/>
          </a:xfrm>
        </p:grpSpPr>
        <p:grpSp>
          <p:nvGrpSpPr>
            <p:cNvPr id="10" name="组合 9"/>
            <p:cNvGrpSpPr/>
            <p:nvPr/>
          </p:nvGrpSpPr>
          <p:grpSpPr>
            <a:xfrm>
              <a:off x="1188" y="3092"/>
              <a:ext cx="6974" cy="930"/>
              <a:chOff x="508000" y="3196191"/>
              <a:chExt cx="4428470" cy="590550"/>
            </a:xfrm>
          </p:grpSpPr>
          <p:sp>
            <p:nvSpPr>
              <p:cNvPr id="11"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3</a:t>
                </a:r>
              </a:p>
            </p:txBody>
          </p:sp>
          <p:cxnSp>
            <p:nvCxnSpPr>
              <p:cNvPr id="12" name="直接连接符 1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960505" y="3291441"/>
                <a:ext cx="3975965"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不可预测的风险</a:t>
                </a:r>
              </a:p>
            </p:txBody>
          </p:sp>
        </p:grpSp>
        <p:sp>
          <p:nvSpPr>
            <p:cNvPr id="14" name="矩形 13"/>
            <p:cNvSpPr>
              <a:spLocks noChangeArrowheads="1"/>
            </p:cNvSpPr>
            <p:nvPr/>
          </p:nvSpPr>
          <p:spPr bwMode="auto">
            <a:xfrm>
              <a:off x="1893" y="3848"/>
              <a:ext cx="13627" cy="7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这类风险可能真的会出现，但是很难事先加以识别。</a:t>
              </a:r>
            </a:p>
          </p:txBody>
        </p:sp>
      </p:grpSp>
      <p:sp>
        <p:nvSpPr>
          <p:cNvPr id="27" name="TextBox 26"/>
          <p:cNvSpPr txBox="1"/>
          <p:nvPr/>
        </p:nvSpPr>
        <p:spPr>
          <a:xfrm>
            <a:off x="824415" y="2113881"/>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2</a:t>
            </a:r>
            <a:r>
              <a:rPr lang="zh-CN" altLang="en-US" sz="2400" dirty="0" smtClean="0"/>
              <a:t>．风险的状态</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10.7.1  软件开发风险标识</a:t>
            </a:r>
          </a:p>
        </p:txBody>
      </p:sp>
      <p:pic>
        <p:nvPicPr>
          <p:cNvPr id="19" name="图片 1" descr="问号16.jpg"/>
          <p:cNvPicPr>
            <a:picLocks noGrp="1" noChangeAspect="1"/>
          </p:cNvPicPr>
          <p:nvPr isPhoto="1"/>
        </p:nvPicPr>
        <p:blipFill>
          <a:blip r:embed="rId2" cstate="print">
            <a:clrChange>
              <a:clrFrom>
                <a:srgbClr val="FDFDFD"/>
              </a:clrFrom>
              <a:clrTo>
                <a:srgbClr val="FDFDFD">
                  <a:alpha val="0"/>
                </a:srgbClr>
              </a:clrTo>
            </a:clrChange>
          </a:blip>
          <a:srcRect t="7668" r="1997" b="9265"/>
          <a:stretch>
            <a:fillRect/>
          </a:stretch>
        </p:blipFill>
        <p:spPr bwMode="auto">
          <a:xfrm>
            <a:off x="153744" y="2624446"/>
            <a:ext cx="6087943" cy="3870085"/>
          </a:xfrm>
          <a:prstGeom prst="rect">
            <a:avLst/>
          </a:prstGeom>
          <a:noFill/>
          <a:ln w="9525">
            <a:noFill/>
            <a:miter lim="800000"/>
            <a:headEnd/>
            <a:tailEnd/>
          </a:ln>
        </p:spPr>
      </p:pic>
      <p:sp>
        <p:nvSpPr>
          <p:cNvPr id="100" name="文本框 99"/>
          <p:cNvSpPr txBox="1"/>
          <p:nvPr/>
        </p:nvSpPr>
        <p:spPr>
          <a:xfrm>
            <a:off x="4966640" y="2952913"/>
            <a:ext cx="6567805" cy="2639496"/>
          </a:xfrm>
          <a:prstGeom prst="roundRect">
            <a:avLst/>
          </a:prstGeom>
          <a:noFill/>
          <a:ln w="9525">
            <a:noFill/>
            <a:prstDash val="sysDot"/>
          </a:ln>
        </p:spPr>
        <p:txBody>
          <a:bodyPr wrap="square">
            <a:spAutoFit/>
          </a:bodyPr>
          <a:lstStyle/>
          <a:p>
            <a:pPr marL="0" indent="457200" algn="l" fontAlgn="auto">
              <a:lnSpc>
                <a:spcPct val="150000"/>
              </a:lnSpc>
            </a:pPr>
            <a:r>
              <a:rPr lang="zh-CN" altLang="en-US" sz="2000" u="none" dirty="0">
                <a:latin typeface="微软雅黑" panose="020B0503020204020204" charset="-122"/>
                <a:ea typeface="微软雅黑" panose="020B0503020204020204" charset="-122"/>
                <a:cs typeface="宋体" panose="02010600030101010101" pitchFamily="2" charset="-122"/>
              </a:rPr>
              <a:t>通过识别已知的和可预测的风险，项目管理者首先要做的就是在可能时避免这些风险，在必要时控制这些风险。为了识别出特定产品的风险，必须检查项目计划和软件范围说明，然后回答下述问题：“本项目有什么特殊的性质可能会威胁我们的项目计划？”。</a:t>
            </a:r>
          </a:p>
        </p:txBody>
      </p:sp>
      <p:sp>
        <p:nvSpPr>
          <p:cNvPr id="6" name="TextBox 5"/>
          <p:cNvSpPr txBox="1"/>
          <p:nvPr/>
        </p:nvSpPr>
        <p:spPr>
          <a:xfrm>
            <a:off x="824415" y="2113881"/>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3</a:t>
            </a:r>
            <a:r>
              <a:rPr lang="zh-CN" altLang="en-US" sz="2400" dirty="0" smtClean="0"/>
              <a:t>．风险识别</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10.7.1  软件开发风险标识</a:t>
            </a:r>
          </a:p>
        </p:txBody>
      </p:sp>
      <p:grpSp>
        <p:nvGrpSpPr>
          <p:cNvPr id="17" name="组合 16"/>
          <p:cNvGrpSpPr/>
          <p:nvPr/>
        </p:nvGrpSpPr>
        <p:grpSpPr>
          <a:xfrm>
            <a:off x="427990" y="2120900"/>
            <a:ext cx="11367770" cy="4462780"/>
            <a:chOff x="1094" y="3340"/>
            <a:chExt cx="17902" cy="7028"/>
          </a:xfrm>
        </p:grpSpPr>
        <p:sp>
          <p:nvSpPr>
            <p:cNvPr id="5" name="Oval 15"/>
            <p:cNvSpPr>
              <a:spLocks noChangeArrowheads="1"/>
            </p:cNvSpPr>
            <p:nvPr>
              <p:custDataLst>
                <p:tags r:id="rId1"/>
              </p:custDataLst>
            </p:nvPr>
          </p:nvSpPr>
          <p:spPr bwMode="auto">
            <a:xfrm>
              <a:off x="1366" y="4268"/>
              <a:ext cx="4966" cy="5012"/>
            </a:xfrm>
            <a:prstGeom prst="ellipse">
              <a:avLst/>
            </a:prstGeom>
            <a:noFill/>
            <a:ln w="19050">
              <a:solidFill>
                <a:srgbClr val="4F5A71">
                  <a:alpha val="50000"/>
                </a:srgbClr>
              </a:solidFill>
              <a:round/>
            </a:ln>
            <a:effectLst/>
            <a:extLst>
              <a:ext uri="{909E8E84-426E-40DD-AFC4-6F175D3DCCD1}">
                <a14:hiddenFill xmlns:a14="http://schemas.microsoft.com/office/drawing/2010/main" xmlns="">
                  <a:solidFill>
                    <a:srgbClr val="4F5A71"/>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6" name="Line 16"/>
            <p:cNvSpPr>
              <a:spLocks noChangeShapeType="1"/>
            </p:cNvSpPr>
            <p:nvPr>
              <p:custDataLst>
                <p:tags r:id="rId2"/>
              </p:custDataLst>
            </p:nvPr>
          </p:nvSpPr>
          <p:spPr bwMode="gray">
            <a:xfrm>
              <a:off x="1094" y="6785"/>
              <a:ext cx="5486" cy="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7" name="Line 17"/>
            <p:cNvSpPr>
              <a:spLocks noChangeShapeType="1"/>
            </p:cNvSpPr>
            <p:nvPr>
              <p:custDataLst>
                <p:tags r:id="rId3"/>
              </p:custDataLst>
            </p:nvPr>
          </p:nvSpPr>
          <p:spPr bwMode="gray">
            <a:xfrm>
              <a:off x="3837" y="3898"/>
              <a:ext cx="0" cy="577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8" name="Oval 10"/>
            <p:cNvSpPr>
              <a:spLocks noChangeArrowheads="1"/>
            </p:cNvSpPr>
            <p:nvPr>
              <p:custDataLst>
                <p:tags r:id="rId4"/>
              </p:custDataLst>
            </p:nvPr>
          </p:nvSpPr>
          <p:spPr bwMode="gray">
            <a:xfrm>
              <a:off x="1638" y="4552"/>
              <a:ext cx="4393" cy="4427"/>
            </a:xfrm>
            <a:prstGeom prst="ellipse">
              <a:avLst/>
            </a:prstGeom>
            <a:noFill/>
            <a:ln w="9525">
              <a:solidFill>
                <a:srgbClr val="4F5A71">
                  <a:alpha val="50000"/>
                </a:srgbClr>
              </a:solidFill>
              <a:round/>
            </a:ln>
            <a:effectLst/>
            <a:extLst>
              <a:ext uri="{909E8E84-426E-40DD-AFC4-6F175D3DCCD1}">
                <a14:hiddenFill xmlns:a14="http://schemas.microsoft.com/office/drawing/2010/main" xmlns="">
                  <a:solidFill>
                    <a:srgbClr val="4F5A71">
                      <a:alpha val="64999"/>
                    </a:srgbClr>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40" name="Oval 13"/>
            <p:cNvSpPr>
              <a:spLocks noChangeArrowheads="1"/>
            </p:cNvSpPr>
            <p:nvPr>
              <p:custDataLst>
                <p:tags r:id="rId5"/>
              </p:custDataLst>
            </p:nvPr>
          </p:nvSpPr>
          <p:spPr bwMode="gray">
            <a:xfrm>
              <a:off x="2140" y="5083"/>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9" name="KSO_GT1"/>
            <p:cNvSpPr>
              <a:spLocks noChangeArrowheads="1"/>
            </p:cNvSpPr>
            <p:nvPr>
              <p:custDataLst>
                <p:tags r:id="rId6"/>
              </p:custDataLst>
            </p:nvPr>
          </p:nvSpPr>
          <p:spPr bwMode="gray">
            <a:xfrm>
              <a:off x="2746" y="5701"/>
              <a:ext cx="2155" cy="2201"/>
            </a:xfrm>
            <a:prstGeom prst="ellipse">
              <a:avLst/>
            </a:prstGeom>
            <a:solidFill>
              <a:srgbClr val="4F5A71"/>
            </a:solidFill>
            <a:ln>
              <a:noFill/>
            </a:ln>
            <a:effectLst/>
          </p:spPr>
          <p:txBody>
            <a:bodyPr wrap="square" lIns="0" tIns="0" rIns="0" bIns="0" anchor="ctr">
              <a:normAutofit fontScale="90000"/>
            </a:bodyPr>
            <a:lstStyle/>
            <a:p>
              <a:pPr algn="ctr">
                <a:defRPr/>
              </a:pPr>
              <a:r>
                <a:rPr lang="zh-CN" altLang="en-US" sz="2800" kern="0" dirty="0">
                  <a:solidFill>
                    <a:srgbClr val="FFFFFF"/>
                  </a:solidFill>
                  <a:latin typeface="Arial" panose="020B0604020202020204" pitchFamily="34" charset="0"/>
                  <a:ea typeface="宋体" panose="02010600030101010101" pitchFamily="2" charset="-122"/>
                  <a:cs typeface="黑体" panose="02010609060101010101" pitchFamily="49" charset="-122"/>
                </a:rPr>
                <a:t>可预测的风险</a:t>
              </a:r>
            </a:p>
          </p:txBody>
        </p:sp>
        <p:sp>
          <p:nvSpPr>
            <p:cNvPr id="43" name="Oval 19"/>
            <p:cNvSpPr>
              <a:spLocks noChangeArrowheads="1"/>
            </p:cNvSpPr>
            <p:nvPr>
              <p:custDataLst>
                <p:tags r:id="rId7"/>
              </p:custDataLst>
            </p:nvPr>
          </p:nvSpPr>
          <p:spPr bwMode="gray">
            <a:xfrm>
              <a:off x="4107" y="4156"/>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0" name="文本框 9"/>
            <p:cNvSpPr txBox="1"/>
            <p:nvPr>
              <p:custDataLst>
                <p:tags r:id="rId8"/>
              </p:custDataLst>
            </p:nvPr>
          </p:nvSpPr>
          <p:spPr>
            <a:xfrm>
              <a:off x="5506" y="3340"/>
              <a:ext cx="12206" cy="928"/>
            </a:xfrm>
            <a:prstGeom prst="rect">
              <a:avLst/>
            </a:prstGeom>
            <a:noFill/>
          </p:spPr>
          <p:txBody>
            <a:bodyPr wrap="square" lIns="0" rIns="0">
              <a:normAutofit/>
            </a:bodyPr>
            <a:lstStyle/>
            <a:p>
              <a:pPr>
                <a:lnSpc>
                  <a:spcPct val="130000"/>
                </a:lnSpc>
                <a:spcBef>
                  <a:spcPts val="600"/>
                </a:spcBef>
                <a:defRPr/>
              </a:pPr>
              <a:r>
                <a:rPr dirty="0"/>
                <a:t>（1）产品规模——与要开发或要修改的软件总体规模相关的风险。</a:t>
              </a:r>
            </a:p>
            <a:p>
              <a:pPr>
                <a:lnSpc>
                  <a:spcPct val="130000"/>
                </a:lnSpc>
                <a:spcBef>
                  <a:spcPts val="600"/>
                </a:spcBef>
                <a:defRPr/>
              </a:pPr>
              <a:endParaRPr dirty="0"/>
            </a:p>
          </p:txBody>
        </p:sp>
        <p:sp>
          <p:nvSpPr>
            <p:cNvPr id="46" name="Oval 19"/>
            <p:cNvSpPr>
              <a:spLocks noChangeArrowheads="1"/>
            </p:cNvSpPr>
            <p:nvPr>
              <p:custDataLst>
                <p:tags r:id="rId9"/>
              </p:custDataLst>
            </p:nvPr>
          </p:nvSpPr>
          <p:spPr bwMode="gray">
            <a:xfrm>
              <a:off x="5110" y="4872"/>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47" name="文本框 46"/>
            <p:cNvSpPr txBox="1"/>
            <p:nvPr>
              <p:custDataLst>
                <p:tags r:id="rId10"/>
              </p:custDataLst>
            </p:nvPr>
          </p:nvSpPr>
          <p:spPr>
            <a:xfrm>
              <a:off x="7151" y="5179"/>
              <a:ext cx="11845" cy="1097"/>
            </a:xfrm>
            <a:prstGeom prst="rect">
              <a:avLst/>
            </a:prstGeom>
            <a:noFill/>
          </p:spPr>
          <p:txBody>
            <a:bodyPr wrap="square" lIns="0" rIns="0">
              <a:normAutofit fontScale="92500"/>
            </a:bodyPr>
            <a:lstStyle/>
            <a:p>
              <a:pPr>
                <a:lnSpc>
                  <a:spcPct val="130000"/>
                </a:lnSpc>
                <a:spcBef>
                  <a:spcPts val="600"/>
                </a:spcBef>
                <a:defRPr/>
              </a:pPr>
              <a:r>
                <a:rPr dirty="0"/>
                <a:t>（3）客户特性——与客户素质以及开发者和客户定期沟通的能力相关的风险。</a:t>
              </a:r>
            </a:p>
          </p:txBody>
        </p:sp>
        <p:sp>
          <p:nvSpPr>
            <p:cNvPr id="49" name="Oval 19"/>
            <p:cNvSpPr>
              <a:spLocks noChangeArrowheads="1"/>
            </p:cNvSpPr>
            <p:nvPr>
              <p:custDataLst>
                <p:tags r:id="rId11"/>
              </p:custDataLst>
            </p:nvPr>
          </p:nvSpPr>
          <p:spPr bwMode="gray">
            <a:xfrm>
              <a:off x="5721" y="6604"/>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1" name="文本框 10"/>
            <p:cNvSpPr txBox="1"/>
            <p:nvPr>
              <p:custDataLst>
                <p:tags r:id="rId12"/>
              </p:custDataLst>
            </p:nvPr>
          </p:nvSpPr>
          <p:spPr>
            <a:xfrm>
              <a:off x="7128" y="7255"/>
              <a:ext cx="11405" cy="759"/>
            </a:xfrm>
            <a:prstGeom prst="rect">
              <a:avLst/>
            </a:prstGeom>
            <a:noFill/>
          </p:spPr>
          <p:txBody>
            <a:bodyPr wrap="square" lIns="0" rIns="0">
              <a:normAutofit/>
            </a:bodyPr>
            <a:lstStyle/>
            <a:p>
              <a:pPr>
                <a:lnSpc>
                  <a:spcPct val="130000"/>
                </a:lnSpc>
                <a:spcBef>
                  <a:spcPts val="600"/>
                </a:spcBef>
                <a:defRPr/>
              </a:pPr>
              <a:r>
                <a:rPr lang="zh-CN" altLang="en-US" dirty="0"/>
                <a:t>（5）开发环境——与用来开发产品的工具的可用性以及质量相关的风险。</a:t>
              </a:r>
            </a:p>
          </p:txBody>
        </p:sp>
        <p:sp>
          <p:nvSpPr>
            <p:cNvPr id="53" name="Oval 19"/>
            <p:cNvSpPr>
              <a:spLocks noChangeArrowheads="1"/>
            </p:cNvSpPr>
            <p:nvPr>
              <p:custDataLst>
                <p:tags r:id="rId13"/>
              </p:custDataLst>
            </p:nvPr>
          </p:nvSpPr>
          <p:spPr bwMode="gray">
            <a:xfrm>
              <a:off x="5110" y="8123"/>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2" name="文本框 11"/>
            <p:cNvSpPr txBox="1"/>
            <p:nvPr>
              <p:custDataLst>
                <p:tags r:id="rId14"/>
              </p:custDataLst>
            </p:nvPr>
          </p:nvSpPr>
          <p:spPr>
            <a:xfrm>
              <a:off x="5505" y="9280"/>
              <a:ext cx="13028" cy="1088"/>
            </a:xfrm>
            <a:prstGeom prst="rect">
              <a:avLst/>
            </a:prstGeom>
            <a:noFill/>
          </p:spPr>
          <p:txBody>
            <a:bodyPr wrap="square" lIns="0" rIns="0">
              <a:normAutofit/>
            </a:bodyPr>
            <a:lstStyle/>
            <a:p>
              <a:pPr>
                <a:lnSpc>
                  <a:spcPct val="130000"/>
                </a:lnSpc>
                <a:spcBef>
                  <a:spcPts val="600"/>
                </a:spcBef>
                <a:defRPr/>
              </a:pPr>
              <a:r>
                <a:rPr lang="zh-CN" altLang="en-US" dirty="0"/>
                <a:t>（7）人员才能与经验——与软件工程师的总体技术水平及项目经验相关的风险。</a:t>
              </a:r>
            </a:p>
          </p:txBody>
        </p:sp>
        <p:sp>
          <p:nvSpPr>
            <p:cNvPr id="56" name="Oval 19"/>
            <p:cNvSpPr>
              <a:spLocks noChangeArrowheads="1"/>
            </p:cNvSpPr>
            <p:nvPr>
              <p:custDataLst>
                <p:tags r:id="rId15"/>
              </p:custDataLst>
            </p:nvPr>
          </p:nvSpPr>
          <p:spPr bwMode="gray">
            <a:xfrm>
              <a:off x="4107" y="8979"/>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7" name="文本框 56"/>
            <p:cNvSpPr txBox="1"/>
            <p:nvPr>
              <p:custDataLst>
                <p:tags r:id="rId16"/>
              </p:custDataLst>
            </p:nvPr>
          </p:nvSpPr>
          <p:spPr>
            <a:xfrm>
              <a:off x="7128" y="6141"/>
              <a:ext cx="11819" cy="1249"/>
            </a:xfrm>
            <a:prstGeom prst="rect">
              <a:avLst/>
            </a:prstGeom>
            <a:noFill/>
          </p:spPr>
          <p:txBody>
            <a:bodyPr wrap="square" lIns="0" rIns="0">
              <a:normAutofit lnSpcReduction="10000"/>
            </a:bodyPr>
            <a:lstStyle/>
            <a:p>
              <a:pPr>
                <a:lnSpc>
                  <a:spcPct val="130000"/>
                </a:lnSpc>
                <a:spcBef>
                  <a:spcPts val="600"/>
                </a:spcBef>
                <a:defRPr/>
              </a:pPr>
              <a:r>
                <a:rPr dirty="0">
                  <a:sym typeface="+mn-ea"/>
                </a:rPr>
                <a:t>（4）过程定义——与软件过程定义的程度以及软件开发组织遵守软件过程的程度相关的风险。</a:t>
              </a:r>
            </a:p>
          </p:txBody>
        </p:sp>
        <p:sp>
          <p:nvSpPr>
            <p:cNvPr id="13" name="Oval 19"/>
            <p:cNvSpPr>
              <a:spLocks noChangeArrowheads="1"/>
            </p:cNvSpPr>
            <p:nvPr>
              <p:custDataLst>
                <p:tags r:id="rId17"/>
              </p:custDataLst>
            </p:nvPr>
          </p:nvSpPr>
          <p:spPr bwMode="gray">
            <a:xfrm>
              <a:off x="5975" y="5523"/>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4" name="Oval 19"/>
            <p:cNvSpPr>
              <a:spLocks noChangeArrowheads="1"/>
            </p:cNvSpPr>
            <p:nvPr>
              <p:custDataLst>
                <p:tags r:id="rId18"/>
              </p:custDataLst>
            </p:nvPr>
          </p:nvSpPr>
          <p:spPr bwMode="gray">
            <a:xfrm>
              <a:off x="5936" y="7727"/>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5" name="文本框 14"/>
            <p:cNvSpPr txBox="1"/>
            <p:nvPr/>
          </p:nvSpPr>
          <p:spPr>
            <a:xfrm>
              <a:off x="6371" y="4296"/>
              <a:ext cx="10425" cy="576"/>
            </a:xfrm>
            <a:prstGeom prst="rect">
              <a:avLst/>
            </a:prstGeom>
            <a:noFill/>
          </p:spPr>
          <p:txBody>
            <a:bodyPr wrap="square" rtlCol="0" anchor="t">
              <a:spAutoFit/>
            </a:bodyPr>
            <a:lstStyle/>
            <a:p>
              <a:pPr algn="l"/>
              <a:r>
                <a:rPr dirty="0">
                  <a:sym typeface="+mn-ea"/>
                </a:rPr>
                <a:t>（2）商业影响——与管理或市场所施加的约束相关的风险。</a:t>
              </a:r>
            </a:p>
          </p:txBody>
        </p:sp>
        <p:sp>
          <p:nvSpPr>
            <p:cNvPr id="16" name="文本框 15"/>
            <p:cNvSpPr txBox="1"/>
            <p:nvPr/>
          </p:nvSpPr>
          <p:spPr>
            <a:xfrm>
              <a:off x="6371" y="8014"/>
              <a:ext cx="12576" cy="1266"/>
            </a:xfrm>
            <a:prstGeom prst="rect">
              <a:avLst/>
            </a:prstGeom>
            <a:noFill/>
          </p:spPr>
          <p:txBody>
            <a:bodyPr wrap="square" rtlCol="0" anchor="t">
              <a:spAutoFit/>
            </a:bodyPr>
            <a:lstStyle/>
            <a:p>
              <a:pPr algn="l">
                <a:lnSpc>
                  <a:spcPct val="130000"/>
                </a:lnSpc>
                <a:spcBef>
                  <a:spcPts val="600"/>
                </a:spcBef>
                <a:defRPr/>
              </a:pPr>
              <a:r>
                <a:rPr lang="zh-CN" altLang="en-US" dirty="0">
                  <a:sym typeface="+mn-ea"/>
                </a:rPr>
                <a:t>（6）开发技术——与待开发系统的复杂性及系统所包含的技术的“新奇性”相关的风险。</a:t>
              </a:r>
            </a:p>
          </p:txBody>
        </p:sp>
      </p:gr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10.7.1  软件开发风险标识</a:t>
            </a:r>
          </a:p>
        </p:txBody>
      </p:sp>
      <p:grpSp>
        <p:nvGrpSpPr>
          <p:cNvPr id="2" name="组合 1"/>
          <p:cNvGrpSpPr/>
          <p:nvPr/>
        </p:nvGrpSpPr>
        <p:grpSpPr>
          <a:xfrm>
            <a:off x="1976120" y="1969770"/>
            <a:ext cx="8646160" cy="4339590"/>
            <a:chOff x="2182286" y="1830388"/>
            <a:chExt cx="7756530" cy="4198942"/>
          </a:xfrm>
        </p:grpSpPr>
        <p:sp>
          <p:nvSpPr>
            <p:cNvPr id="5" name="MH_Other_1"/>
            <p:cNvSpPr/>
            <p:nvPr/>
          </p:nvSpPr>
          <p:spPr>
            <a:xfrm>
              <a:off x="2497668" y="1830388"/>
              <a:ext cx="5185833" cy="3192462"/>
            </a:xfrm>
            <a:custGeom>
              <a:avLst/>
              <a:gdLst>
                <a:gd name="connsiteX0" fmla="*/ 0 w 3718560"/>
                <a:gd name="connsiteY0" fmla="*/ 0 h 3518262"/>
                <a:gd name="connsiteX1" fmla="*/ 0 w 3718560"/>
                <a:gd name="connsiteY1" fmla="*/ 3509554 h 3518262"/>
                <a:gd name="connsiteX2" fmla="*/ 3718560 w 3718560"/>
                <a:gd name="connsiteY2" fmla="*/ 3518262 h 3518262"/>
                <a:gd name="connsiteX3" fmla="*/ 3718560 w 3718560"/>
                <a:gd name="connsiteY3" fmla="*/ 3518262 h 3518262"/>
              </a:gdLst>
              <a:ahLst/>
              <a:cxnLst>
                <a:cxn ang="0">
                  <a:pos x="connsiteX0" y="connsiteY0"/>
                </a:cxn>
                <a:cxn ang="0">
                  <a:pos x="connsiteX1" y="connsiteY1"/>
                </a:cxn>
                <a:cxn ang="0">
                  <a:pos x="connsiteX2" y="connsiteY2"/>
                </a:cxn>
                <a:cxn ang="0">
                  <a:pos x="connsiteX3" y="connsiteY3"/>
                </a:cxn>
              </a:cxnLst>
              <a:rect l="l" t="t" r="r" b="b"/>
              <a:pathLst>
                <a:path w="3718560" h="3518262">
                  <a:moveTo>
                    <a:pt x="0" y="0"/>
                  </a:moveTo>
                  <a:lnTo>
                    <a:pt x="0" y="3509554"/>
                  </a:lnTo>
                  <a:lnTo>
                    <a:pt x="3718560" y="3518262"/>
                  </a:lnTo>
                  <a:lnTo>
                    <a:pt x="3718560" y="3518262"/>
                  </a:lnTo>
                </a:path>
              </a:pathLst>
            </a:custGeom>
            <a:noFill/>
            <a:ln w="76200" cap="flat" cmpd="sng" algn="ctr">
              <a:solidFill>
                <a:srgbClr val="D10000"/>
              </a:solidFill>
              <a:prstDash val="solid"/>
              <a:miter lim="800000"/>
            </a:ln>
            <a:effectLst/>
          </p:spPr>
          <p:txBody>
            <a:bodyPr anchor="ctr"/>
            <a:lstStyle/>
            <a:p>
              <a:pPr algn="ctr" eaLnBrk="1" fontAlgn="auto" hangingPunct="1">
                <a:spcBef>
                  <a:spcPts val="0"/>
                </a:spcBef>
                <a:spcAft>
                  <a:spcPts val="0"/>
                </a:spcAft>
                <a:defRPr/>
              </a:pPr>
              <a:endParaRPr lang="zh-CN" altLang="en-US" kern="0">
                <a:solidFill>
                  <a:srgbClr val="FFFFFF"/>
                </a:solidFill>
                <a:latin typeface="Arial" panose="020B0604020202020204"/>
                <a:ea typeface="宋体" panose="02010600030101010101" pitchFamily="2" charset="-122"/>
              </a:endParaRPr>
            </a:p>
          </p:txBody>
        </p:sp>
        <p:sp>
          <p:nvSpPr>
            <p:cNvPr id="6" name="MH_Desc_1"/>
            <p:cNvSpPr/>
            <p:nvPr/>
          </p:nvSpPr>
          <p:spPr>
            <a:xfrm>
              <a:off x="2182286" y="2117725"/>
              <a:ext cx="6951871" cy="3911600"/>
            </a:xfrm>
            <a:custGeom>
              <a:avLst/>
              <a:gdLst>
                <a:gd name="connsiteX0" fmla="*/ 5320937 w 5320937"/>
                <a:gd name="connsiteY0" fmla="*/ 1837508 h 4188823"/>
                <a:gd name="connsiteX1" fmla="*/ 5320937 w 5320937"/>
                <a:gd name="connsiteY1" fmla="*/ 0 h 4188823"/>
                <a:gd name="connsiteX2" fmla="*/ 0 w 5320937"/>
                <a:gd name="connsiteY2" fmla="*/ 0 h 4188823"/>
                <a:gd name="connsiteX3" fmla="*/ 0 w 5320937"/>
                <a:gd name="connsiteY3" fmla="*/ 3405051 h 4188823"/>
                <a:gd name="connsiteX4" fmla="*/ 2717075 w 5320937"/>
                <a:gd name="connsiteY4" fmla="*/ 3405051 h 4188823"/>
                <a:gd name="connsiteX5" fmla="*/ 3500847 w 5320937"/>
                <a:gd name="connsiteY5" fmla="*/ 4188823 h 4188823"/>
                <a:gd name="connsiteX6" fmla="*/ 3518263 w 5320937"/>
                <a:gd name="connsiteY6" fmla="*/ 4188823 h 4188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0937" h="4188823">
                  <a:moveTo>
                    <a:pt x="5320937" y="1837508"/>
                  </a:moveTo>
                  <a:lnTo>
                    <a:pt x="5320937" y="0"/>
                  </a:lnTo>
                  <a:lnTo>
                    <a:pt x="0" y="0"/>
                  </a:lnTo>
                  <a:lnTo>
                    <a:pt x="0" y="3405051"/>
                  </a:lnTo>
                  <a:lnTo>
                    <a:pt x="2717075" y="3405051"/>
                  </a:lnTo>
                  <a:lnTo>
                    <a:pt x="3500847" y="4188823"/>
                  </a:lnTo>
                  <a:lnTo>
                    <a:pt x="3518263" y="4188823"/>
                  </a:lnTo>
                </a:path>
              </a:pathLst>
            </a:custGeom>
            <a:noFill/>
            <a:ln w="76200" cap="flat" cmpd="sng" algn="ctr">
              <a:solidFill>
                <a:srgbClr val="D10000"/>
              </a:solidFill>
              <a:prstDash val="solid"/>
              <a:miter lim="800000"/>
            </a:ln>
            <a:effectLst/>
          </p:spPr>
          <p:txBody>
            <a:bodyPr lIns="612000" tIns="216000" rIns="324000" bIns="1584000">
              <a:noAutofit/>
            </a:bodyPr>
            <a:lstStyle/>
            <a:p>
              <a:pPr indent="457200">
                <a:lnSpc>
                  <a:spcPct val="140000"/>
                </a:lnSpc>
              </a:pPr>
              <a:r>
                <a:rPr b="1" dirty="0" smtClean="0">
                  <a:solidFill>
                    <a:srgbClr val="00B050"/>
                  </a:solidFill>
                  <a:latin typeface="+mn-ea"/>
                </a:rPr>
                <a:t>风险条目检查表可以采用不同的方式来组织。</a:t>
              </a:r>
              <a:r>
                <a:rPr dirty="0" smtClean="0">
                  <a:latin typeface="+mn-ea"/>
                </a:rPr>
                <a:t>例如，可以列出与上述每个主题相关的问题，针对一个具体的软件项目来回答。有了问题的答案，项目管理者就可以估计风险产生的影响。还有一种方法是仅仅列出与每一种类型相关的特性，最终给出风险因素和它们发生的概率。总之，项目管理者要通过查看风险条目检查表来初步判断一个软件项目是否处于风险之中。</a:t>
              </a:r>
            </a:p>
          </p:txBody>
        </p:sp>
        <p:sp>
          <p:nvSpPr>
            <p:cNvPr id="7" name="MH_Other_2"/>
            <p:cNvSpPr/>
            <p:nvPr/>
          </p:nvSpPr>
          <p:spPr bwMode="auto">
            <a:xfrm>
              <a:off x="7070094" y="3686990"/>
              <a:ext cx="2868722" cy="2342340"/>
            </a:xfrm>
            <a:custGeom>
              <a:avLst/>
              <a:gdLst>
                <a:gd name="T0" fmla="*/ 311438 w 1909763"/>
                <a:gd name="T1" fmla="*/ 1234671 h 1912938"/>
                <a:gd name="T2" fmla="*/ 423998 w 1909763"/>
                <a:gd name="T3" fmla="*/ 1256142 h 1912938"/>
                <a:gd name="T4" fmla="*/ 469528 w 1909763"/>
                <a:gd name="T5" fmla="*/ 1335710 h 1912938"/>
                <a:gd name="T6" fmla="*/ 530235 w 1909763"/>
                <a:gd name="T7" fmla="*/ 1396649 h 1912938"/>
                <a:gd name="T8" fmla="*/ 631728 w 1909763"/>
                <a:gd name="T9" fmla="*/ 1456326 h 1912938"/>
                <a:gd name="T10" fmla="*/ 647854 w 1909763"/>
                <a:gd name="T11" fmla="*/ 1533683 h 1912938"/>
                <a:gd name="T12" fmla="*/ 0 w 1909763"/>
                <a:gd name="T13" fmla="*/ 1905000 h 1912938"/>
                <a:gd name="T14" fmla="*/ 990076 w 1909763"/>
                <a:gd name="T15" fmla="*/ 547002 h 1912938"/>
                <a:gd name="T16" fmla="*/ 1084268 w 1909763"/>
                <a:gd name="T17" fmla="*/ 595709 h 1912938"/>
                <a:gd name="T18" fmla="*/ 1176565 w 1909763"/>
                <a:gd name="T19" fmla="*/ 667504 h 1912938"/>
                <a:gd name="T20" fmla="*/ 1294781 w 1909763"/>
                <a:gd name="T21" fmla="*/ 800657 h 1912938"/>
                <a:gd name="T22" fmla="*/ 1351992 w 1909763"/>
                <a:gd name="T23" fmla="*/ 906610 h 1912938"/>
                <a:gd name="T24" fmla="*/ 1367480 w 1909763"/>
                <a:gd name="T25" fmla="*/ 971447 h 1912938"/>
                <a:gd name="T26" fmla="*/ 741633 w 1909763"/>
                <a:gd name="T27" fmla="*/ 1521772 h 1912938"/>
                <a:gd name="T28" fmla="*/ 719507 w 1909763"/>
                <a:gd name="T29" fmla="*/ 1441437 h 1912938"/>
                <a:gd name="T30" fmla="*/ 689163 w 1909763"/>
                <a:gd name="T31" fmla="*/ 1362684 h 1912938"/>
                <a:gd name="T32" fmla="*/ 605717 w 1909763"/>
                <a:gd name="T33" fmla="*/ 1309233 h 1912938"/>
                <a:gd name="T34" fmla="*/ 554511 w 1909763"/>
                <a:gd name="T35" fmla="*/ 1257047 h 1912938"/>
                <a:gd name="T36" fmla="*/ 495403 w 1909763"/>
                <a:gd name="T37" fmla="*/ 1173233 h 1912938"/>
                <a:gd name="T38" fmla="*/ 414485 w 1909763"/>
                <a:gd name="T39" fmla="*/ 1167223 h 1912938"/>
                <a:gd name="T40" fmla="*/ 334200 w 1909763"/>
                <a:gd name="T41" fmla="*/ 1137810 h 1912938"/>
                <a:gd name="T42" fmla="*/ 1102115 w 1909763"/>
                <a:gd name="T43" fmla="*/ 389221 h 1912938"/>
                <a:gd name="T44" fmla="*/ 1182317 w 1909763"/>
                <a:gd name="T45" fmla="*/ 412935 h 1912938"/>
                <a:gd name="T46" fmla="*/ 1278052 w 1909763"/>
                <a:gd name="T47" fmla="*/ 467951 h 1912938"/>
                <a:gd name="T48" fmla="*/ 1390271 w 1909763"/>
                <a:gd name="T49" fmla="*/ 569762 h 1912938"/>
                <a:gd name="T50" fmla="*/ 1465401 w 1909763"/>
                <a:gd name="T51" fmla="*/ 674102 h 1912938"/>
                <a:gd name="T52" fmla="*/ 1496150 w 1909763"/>
                <a:gd name="T53" fmla="*/ 753148 h 1912938"/>
                <a:gd name="T54" fmla="*/ 1438773 w 1909763"/>
                <a:gd name="T55" fmla="*/ 874245 h 1912938"/>
                <a:gd name="T56" fmla="*/ 1394075 w 1909763"/>
                <a:gd name="T57" fmla="*/ 754728 h 1912938"/>
                <a:gd name="T58" fmla="*/ 1286611 w 1909763"/>
                <a:gd name="T59" fmla="*/ 617822 h 1912938"/>
                <a:gd name="T60" fmla="*/ 1182317 w 1909763"/>
                <a:gd name="T61" fmla="*/ 530239 h 1912938"/>
                <a:gd name="T62" fmla="*/ 1095458 w 1909763"/>
                <a:gd name="T63" fmla="*/ 479966 h 1912938"/>
                <a:gd name="T64" fmla="*/ 1079925 w 1909763"/>
                <a:gd name="T65" fmla="*/ 387324 h 1912938"/>
                <a:gd name="T66" fmla="*/ 1274840 w 1909763"/>
                <a:gd name="T67" fmla="*/ 248813 h 1912938"/>
                <a:gd name="T68" fmla="*/ 1361157 w 1909763"/>
                <a:gd name="T69" fmla="*/ 287000 h 1912938"/>
                <a:gd name="T70" fmla="*/ 1471820 w 1909763"/>
                <a:gd name="T71" fmla="*/ 367792 h 1912938"/>
                <a:gd name="T72" fmla="*/ 1577108 w 1909763"/>
                <a:gd name="T73" fmla="*/ 484246 h 1912938"/>
                <a:gd name="T74" fmla="*/ 1629910 w 1909763"/>
                <a:gd name="T75" fmla="*/ 580818 h 1912938"/>
                <a:gd name="T76" fmla="*/ 1646668 w 1909763"/>
                <a:gd name="T77" fmla="*/ 647723 h 1912938"/>
                <a:gd name="T78" fmla="*/ 1571733 w 1909763"/>
                <a:gd name="T79" fmla="*/ 701374 h 1912938"/>
                <a:gd name="T80" fmla="*/ 1500908 w 1909763"/>
                <a:gd name="T81" fmla="*/ 566932 h 1912938"/>
                <a:gd name="T82" fmla="*/ 1381077 w 1909763"/>
                <a:gd name="T83" fmla="*/ 437539 h 1912938"/>
                <a:gd name="T84" fmla="*/ 1277685 w 1909763"/>
                <a:gd name="T85" fmla="*/ 362111 h 1912938"/>
                <a:gd name="T86" fmla="*/ 1174610 w 1909763"/>
                <a:gd name="T87" fmla="*/ 313195 h 1912938"/>
                <a:gd name="T88" fmla="*/ 1571880 w 1909763"/>
                <a:gd name="T89" fmla="*/ 0 h 1912938"/>
                <a:gd name="T90" fmla="*/ 1674374 w 1909763"/>
                <a:gd name="T91" fmla="*/ 27868 h 1912938"/>
                <a:gd name="T92" fmla="*/ 1797116 w 1909763"/>
                <a:gd name="T93" fmla="*/ 110838 h 1912938"/>
                <a:gd name="T94" fmla="*/ 1880946 w 1909763"/>
                <a:gd name="T95" fmla="*/ 216927 h 1912938"/>
                <a:gd name="T96" fmla="*/ 1901825 w 1909763"/>
                <a:gd name="T97" fmla="*/ 315415 h 1912938"/>
                <a:gd name="T98" fmla="*/ 1879681 w 1909763"/>
                <a:gd name="T99" fmla="*/ 399018 h 1912938"/>
                <a:gd name="T100" fmla="*/ 1834128 w 1909763"/>
                <a:gd name="T101" fmla="*/ 461405 h 1912938"/>
                <a:gd name="T102" fmla="*/ 1716764 w 1909763"/>
                <a:gd name="T103" fmla="*/ 551026 h 1912938"/>
                <a:gd name="T104" fmla="*/ 1686079 w 1909763"/>
                <a:gd name="T105" fmla="*/ 466156 h 1912938"/>
                <a:gd name="T106" fmla="*/ 1635148 w 1909763"/>
                <a:gd name="T107" fmla="*/ 386034 h 1912938"/>
                <a:gd name="T108" fmla="*/ 1552899 w 1909763"/>
                <a:gd name="T109" fmla="*/ 297997 h 1912938"/>
                <a:gd name="T110" fmla="*/ 1465272 w 1909763"/>
                <a:gd name="T111" fmla="*/ 231811 h 1912938"/>
                <a:gd name="T112" fmla="*/ 1387135 w 1909763"/>
                <a:gd name="T113" fmla="*/ 193176 h 1912938"/>
                <a:gd name="T114" fmla="*/ 1324816 w 1909763"/>
                <a:gd name="T115" fmla="*/ 138389 h 1912938"/>
                <a:gd name="T116" fmla="*/ 1449455 w 1909763"/>
                <a:gd name="T117" fmla="*/ 33885 h 1912938"/>
                <a:gd name="T118" fmla="*/ 1518102 w 1909763"/>
                <a:gd name="T119" fmla="*/ 4750 h 191293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909763" h="1912938">
                  <a:moveTo>
                    <a:pt x="275590" y="1223963"/>
                  </a:moveTo>
                  <a:lnTo>
                    <a:pt x="276860" y="1225231"/>
                  </a:lnTo>
                  <a:lnTo>
                    <a:pt x="281623" y="1228085"/>
                  </a:lnTo>
                  <a:lnTo>
                    <a:pt x="285433" y="1229987"/>
                  </a:lnTo>
                  <a:lnTo>
                    <a:pt x="290513" y="1232207"/>
                  </a:lnTo>
                  <a:lnTo>
                    <a:pt x="296545" y="1235060"/>
                  </a:lnTo>
                  <a:lnTo>
                    <a:pt x="304165" y="1237280"/>
                  </a:lnTo>
                  <a:lnTo>
                    <a:pt x="312738" y="1239816"/>
                  </a:lnTo>
                  <a:lnTo>
                    <a:pt x="323215" y="1242036"/>
                  </a:lnTo>
                  <a:lnTo>
                    <a:pt x="335280" y="1244255"/>
                  </a:lnTo>
                  <a:lnTo>
                    <a:pt x="348933" y="1246157"/>
                  </a:lnTo>
                  <a:lnTo>
                    <a:pt x="364173" y="1248060"/>
                  </a:lnTo>
                  <a:lnTo>
                    <a:pt x="381318" y="1249328"/>
                  </a:lnTo>
                  <a:lnTo>
                    <a:pt x="400368" y="1249962"/>
                  </a:lnTo>
                  <a:lnTo>
                    <a:pt x="421958" y="1250279"/>
                  </a:lnTo>
                  <a:lnTo>
                    <a:pt x="425768" y="1261376"/>
                  </a:lnTo>
                  <a:lnTo>
                    <a:pt x="430213" y="1272474"/>
                  </a:lnTo>
                  <a:lnTo>
                    <a:pt x="434658" y="1282937"/>
                  </a:lnTo>
                  <a:lnTo>
                    <a:pt x="440055" y="1293083"/>
                  </a:lnTo>
                  <a:lnTo>
                    <a:pt x="445453" y="1303229"/>
                  </a:lnTo>
                  <a:lnTo>
                    <a:pt x="451485" y="1313375"/>
                  </a:lnTo>
                  <a:lnTo>
                    <a:pt x="457835" y="1322886"/>
                  </a:lnTo>
                  <a:lnTo>
                    <a:pt x="464185" y="1332081"/>
                  </a:lnTo>
                  <a:lnTo>
                    <a:pt x="471488" y="1341276"/>
                  </a:lnTo>
                  <a:lnTo>
                    <a:pt x="478473" y="1349837"/>
                  </a:lnTo>
                  <a:lnTo>
                    <a:pt x="485775" y="1358080"/>
                  </a:lnTo>
                  <a:lnTo>
                    <a:pt x="493395" y="1366324"/>
                  </a:lnTo>
                  <a:lnTo>
                    <a:pt x="500698" y="1374250"/>
                  </a:lnTo>
                  <a:lnTo>
                    <a:pt x="508635" y="1381860"/>
                  </a:lnTo>
                  <a:lnTo>
                    <a:pt x="516573" y="1388835"/>
                  </a:lnTo>
                  <a:lnTo>
                    <a:pt x="524510" y="1395493"/>
                  </a:lnTo>
                  <a:lnTo>
                    <a:pt x="532448" y="1402469"/>
                  </a:lnTo>
                  <a:lnTo>
                    <a:pt x="540385" y="1408810"/>
                  </a:lnTo>
                  <a:lnTo>
                    <a:pt x="555943" y="1420541"/>
                  </a:lnTo>
                  <a:lnTo>
                    <a:pt x="571500" y="1430687"/>
                  </a:lnTo>
                  <a:lnTo>
                    <a:pt x="586105" y="1439565"/>
                  </a:lnTo>
                  <a:lnTo>
                    <a:pt x="600075" y="1447492"/>
                  </a:lnTo>
                  <a:lnTo>
                    <a:pt x="612775" y="1453833"/>
                  </a:lnTo>
                  <a:lnTo>
                    <a:pt x="624523" y="1458589"/>
                  </a:lnTo>
                  <a:lnTo>
                    <a:pt x="634365" y="1462394"/>
                  </a:lnTo>
                  <a:lnTo>
                    <a:pt x="634365" y="1467784"/>
                  </a:lnTo>
                  <a:lnTo>
                    <a:pt x="634683" y="1473808"/>
                  </a:lnTo>
                  <a:lnTo>
                    <a:pt x="635318" y="1479832"/>
                  </a:lnTo>
                  <a:lnTo>
                    <a:pt x="636270" y="1486173"/>
                  </a:lnTo>
                  <a:lnTo>
                    <a:pt x="638810" y="1499173"/>
                  </a:lnTo>
                  <a:lnTo>
                    <a:pt x="641668" y="1512489"/>
                  </a:lnTo>
                  <a:lnTo>
                    <a:pt x="645795" y="1526440"/>
                  </a:lnTo>
                  <a:lnTo>
                    <a:pt x="650558" y="1540074"/>
                  </a:lnTo>
                  <a:lnTo>
                    <a:pt x="655321" y="1553707"/>
                  </a:lnTo>
                  <a:lnTo>
                    <a:pt x="660083" y="1566707"/>
                  </a:lnTo>
                  <a:lnTo>
                    <a:pt x="665481" y="1579389"/>
                  </a:lnTo>
                  <a:lnTo>
                    <a:pt x="670243" y="1590803"/>
                  </a:lnTo>
                  <a:lnTo>
                    <a:pt x="679133" y="1610144"/>
                  </a:lnTo>
                  <a:lnTo>
                    <a:pt x="685165" y="1623144"/>
                  </a:lnTo>
                  <a:lnTo>
                    <a:pt x="687388" y="1627900"/>
                  </a:lnTo>
                  <a:lnTo>
                    <a:pt x="0" y="1912938"/>
                  </a:lnTo>
                  <a:lnTo>
                    <a:pt x="275590" y="1223963"/>
                  </a:lnTo>
                  <a:close/>
                  <a:moveTo>
                    <a:pt x="923427" y="530225"/>
                  </a:moveTo>
                  <a:lnTo>
                    <a:pt x="931362" y="531813"/>
                  </a:lnTo>
                  <a:lnTo>
                    <a:pt x="941201" y="533401"/>
                  </a:lnTo>
                  <a:lnTo>
                    <a:pt x="951993" y="536259"/>
                  </a:lnTo>
                  <a:lnTo>
                    <a:pt x="965007" y="539435"/>
                  </a:lnTo>
                  <a:lnTo>
                    <a:pt x="978972" y="544199"/>
                  </a:lnTo>
                  <a:lnTo>
                    <a:pt x="994208" y="549281"/>
                  </a:lnTo>
                  <a:lnTo>
                    <a:pt x="1010713" y="555950"/>
                  </a:lnTo>
                  <a:lnTo>
                    <a:pt x="1028805" y="564526"/>
                  </a:lnTo>
                  <a:lnTo>
                    <a:pt x="1038327" y="568972"/>
                  </a:lnTo>
                  <a:lnTo>
                    <a:pt x="1047849" y="574053"/>
                  </a:lnTo>
                  <a:lnTo>
                    <a:pt x="1057689" y="579453"/>
                  </a:lnTo>
                  <a:lnTo>
                    <a:pt x="1067845" y="585487"/>
                  </a:lnTo>
                  <a:lnTo>
                    <a:pt x="1078320" y="591521"/>
                  </a:lnTo>
                  <a:lnTo>
                    <a:pt x="1088794" y="598191"/>
                  </a:lnTo>
                  <a:lnTo>
                    <a:pt x="1099903" y="605495"/>
                  </a:lnTo>
                  <a:lnTo>
                    <a:pt x="1111012" y="613118"/>
                  </a:lnTo>
                  <a:lnTo>
                    <a:pt x="1122439" y="621058"/>
                  </a:lnTo>
                  <a:lnTo>
                    <a:pt x="1133548" y="630268"/>
                  </a:lnTo>
                  <a:lnTo>
                    <a:pt x="1145609" y="639161"/>
                  </a:lnTo>
                  <a:lnTo>
                    <a:pt x="1157353" y="649006"/>
                  </a:lnTo>
                  <a:lnTo>
                    <a:pt x="1169415" y="659487"/>
                  </a:lnTo>
                  <a:lnTo>
                    <a:pt x="1181476" y="670285"/>
                  </a:lnTo>
                  <a:lnTo>
                    <a:pt x="1193855" y="681719"/>
                  </a:lnTo>
                  <a:lnTo>
                    <a:pt x="1206234" y="693787"/>
                  </a:lnTo>
                  <a:lnTo>
                    <a:pt x="1224326" y="712208"/>
                  </a:lnTo>
                  <a:lnTo>
                    <a:pt x="1241148" y="730311"/>
                  </a:lnTo>
                  <a:lnTo>
                    <a:pt x="1257336" y="748731"/>
                  </a:lnTo>
                  <a:lnTo>
                    <a:pt x="1272888" y="767152"/>
                  </a:lnTo>
                  <a:lnTo>
                    <a:pt x="1287172" y="785573"/>
                  </a:lnTo>
                  <a:lnTo>
                    <a:pt x="1300185" y="803993"/>
                  </a:lnTo>
                  <a:lnTo>
                    <a:pt x="1312246" y="822096"/>
                  </a:lnTo>
                  <a:lnTo>
                    <a:pt x="1323356" y="840199"/>
                  </a:lnTo>
                  <a:lnTo>
                    <a:pt x="1333513" y="857984"/>
                  </a:lnTo>
                  <a:lnTo>
                    <a:pt x="1343035" y="875770"/>
                  </a:lnTo>
                  <a:lnTo>
                    <a:pt x="1346843" y="884345"/>
                  </a:lnTo>
                  <a:lnTo>
                    <a:pt x="1350970" y="892920"/>
                  </a:lnTo>
                  <a:lnTo>
                    <a:pt x="1354461" y="901813"/>
                  </a:lnTo>
                  <a:lnTo>
                    <a:pt x="1357635" y="910388"/>
                  </a:lnTo>
                  <a:lnTo>
                    <a:pt x="1360809" y="918963"/>
                  </a:lnTo>
                  <a:lnTo>
                    <a:pt x="1363349" y="927220"/>
                  </a:lnTo>
                  <a:lnTo>
                    <a:pt x="1365570" y="935478"/>
                  </a:lnTo>
                  <a:lnTo>
                    <a:pt x="1367792" y="943735"/>
                  </a:lnTo>
                  <a:lnTo>
                    <a:pt x="1369697" y="951675"/>
                  </a:lnTo>
                  <a:lnTo>
                    <a:pt x="1370966" y="959933"/>
                  </a:lnTo>
                  <a:lnTo>
                    <a:pt x="1372236" y="967873"/>
                  </a:lnTo>
                  <a:lnTo>
                    <a:pt x="1373188" y="975495"/>
                  </a:lnTo>
                  <a:lnTo>
                    <a:pt x="774247" y="1579563"/>
                  </a:lnTo>
                  <a:lnTo>
                    <a:pt x="771708" y="1576387"/>
                  </a:lnTo>
                  <a:lnTo>
                    <a:pt x="768851" y="1572258"/>
                  </a:lnTo>
                  <a:lnTo>
                    <a:pt x="765042" y="1566542"/>
                  </a:lnTo>
                  <a:lnTo>
                    <a:pt x="760281" y="1559237"/>
                  </a:lnTo>
                  <a:lnTo>
                    <a:pt x="755520" y="1550344"/>
                  </a:lnTo>
                  <a:lnTo>
                    <a:pt x="749807" y="1540181"/>
                  </a:lnTo>
                  <a:lnTo>
                    <a:pt x="744728" y="1528113"/>
                  </a:lnTo>
                  <a:lnTo>
                    <a:pt x="739333" y="1515091"/>
                  </a:lnTo>
                  <a:lnTo>
                    <a:pt x="734254" y="1500164"/>
                  </a:lnTo>
                  <a:lnTo>
                    <a:pt x="731715" y="1492224"/>
                  </a:lnTo>
                  <a:lnTo>
                    <a:pt x="729493" y="1483967"/>
                  </a:lnTo>
                  <a:lnTo>
                    <a:pt x="727271" y="1475392"/>
                  </a:lnTo>
                  <a:lnTo>
                    <a:pt x="725367" y="1466181"/>
                  </a:lnTo>
                  <a:lnTo>
                    <a:pt x="724097" y="1457289"/>
                  </a:lnTo>
                  <a:lnTo>
                    <a:pt x="722510" y="1447443"/>
                  </a:lnTo>
                  <a:lnTo>
                    <a:pt x="721241" y="1437280"/>
                  </a:lnTo>
                  <a:lnTo>
                    <a:pt x="720288" y="1427117"/>
                  </a:lnTo>
                  <a:lnTo>
                    <a:pt x="719336" y="1416319"/>
                  </a:lnTo>
                  <a:lnTo>
                    <a:pt x="719336" y="1405203"/>
                  </a:lnTo>
                  <a:lnTo>
                    <a:pt x="719336" y="1394087"/>
                  </a:lnTo>
                  <a:lnTo>
                    <a:pt x="719971" y="1382018"/>
                  </a:lnTo>
                  <a:lnTo>
                    <a:pt x="705688" y="1375349"/>
                  </a:lnTo>
                  <a:lnTo>
                    <a:pt x="692039" y="1368362"/>
                  </a:lnTo>
                  <a:lnTo>
                    <a:pt x="679343" y="1361692"/>
                  </a:lnTo>
                  <a:lnTo>
                    <a:pt x="667282" y="1355023"/>
                  </a:lnTo>
                  <a:lnTo>
                    <a:pt x="655855" y="1348035"/>
                  </a:lnTo>
                  <a:lnTo>
                    <a:pt x="645381" y="1341366"/>
                  </a:lnTo>
                  <a:lnTo>
                    <a:pt x="635224" y="1334696"/>
                  </a:lnTo>
                  <a:lnTo>
                    <a:pt x="625385" y="1327709"/>
                  </a:lnTo>
                  <a:lnTo>
                    <a:pt x="616497" y="1321357"/>
                  </a:lnTo>
                  <a:lnTo>
                    <a:pt x="608245" y="1314688"/>
                  </a:lnTo>
                  <a:lnTo>
                    <a:pt x="599992" y="1308018"/>
                  </a:lnTo>
                  <a:lnTo>
                    <a:pt x="592692" y="1301349"/>
                  </a:lnTo>
                  <a:lnTo>
                    <a:pt x="585709" y="1294679"/>
                  </a:lnTo>
                  <a:lnTo>
                    <a:pt x="579361" y="1288327"/>
                  </a:lnTo>
                  <a:lnTo>
                    <a:pt x="573013" y="1281975"/>
                  </a:lnTo>
                  <a:lnTo>
                    <a:pt x="567300" y="1275306"/>
                  </a:lnTo>
                  <a:lnTo>
                    <a:pt x="561904" y="1268636"/>
                  </a:lnTo>
                  <a:lnTo>
                    <a:pt x="556825" y="1262285"/>
                  </a:lnTo>
                  <a:lnTo>
                    <a:pt x="552064" y="1255933"/>
                  </a:lnTo>
                  <a:lnTo>
                    <a:pt x="547621" y="1249898"/>
                  </a:lnTo>
                  <a:lnTo>
                    <a:pt x="539686" y="1237194"/>
                  </a:lnTo>
                  <a:lnTo>
                    <a:pt x="532703" y="1224808"/>
                  </a:lnTo>
                  <a:lnTo>
                    <a:pt x="526355" y="1212739"/>
                  </a:lnTo>
                  <a:lnTo>
                    <a:pt x="520641" y="1200988"/>
                  </a:lnTo>
                  <a:lnTo>
                    <a:pt x="509850" y="1177804"/>
                  </a:lnTo>
                  <a:lnTo>
                    <a:pt x="497471" y="1178122"/>
                  </a:lnTo>
                  <a:lnTo>
                    <a:pt x="485727" y="1178122"/>
                  </a:lnTo>
                  <a:lnTo>
                    <a:pt x="474300" y="1178122"/>
                  </a:lnTo>
                  <a:lnTo>
                    <a:pt x="463509" y="1177804"/>
                  </a:lnTo>
                  <a:lnTo>
                    <a:pt x="453352" y="1177169"/>
                  </a:lnTo>
                  <a:lnTo>
                    <a:pt x="443512" y="1175898"/>
                  </a:lnTo>
                  <a:lnTo>
                    <a:pt x="433673" y="1174628"/>
                  </a:lnTo>
                  <a:lnTo>
                    <a:pt x="424785" y="1173675"/>
                  </a:lnTo>
                  <a:lnTo>
                    <a:pt x="416215" y="1172087"/>
                  </a:lnTo>
                  <a:lnTo>
                    <a:pt x="408280" y="1170182"/>
                  </a:lnTo>
                  <a:lnTo>
                    <a:pt x="393045" y="1167006"/>
                  </a:lnTo>
                  <a:lnTo>
                    <a:pt x="379714" y="1162877"/>
                  </a:lnTo>
                  <a:lnTo>
                    <a:pt x="367653" y="1158431"/>
                  </a:lnTo>
                  <a:lnTo>
                    <a:pt x="357496" y="1153984"/>
                  </a:lnTo>
                  <a:lnTo>
                    <a:pt x="348926" y="1149855"/>
                  </a:lnTo>
                  <a:lnTo>
                    <a:pt x="341308" y="1146044"/>
                  </a:lnTo>
                  <a:lnTo>
                    <a:pt x="335595" y="1142551"/>
                  </a:lnTo>
                  <a:lnTo>
                    <a:pt x="331151" y="1139375"/>
                  </a:lnTo>
                  <a:lnTo>
                    <a:pt x="327660" y="1137152"/>
                  </a:lnTo>
                  <a:lnTo>
                    <a:pt x="325438" y="1134928"/>
                  </a:lnTo>
                  <a:lnTo>
                    <a:pt x="923427" y="530225"/>
                  </a:lnTo>
                  <a:close/>
                  <a:moveTo>
                    <a:pt x="1084432" y="388938"/>
                  </a:moveTo>
                  <a:lnTo>
                    <a:pt x="1089844" y="389573"/>
                  </a:lnTo>
                  <a:lnTo>
                    <a:pt x="1097165" y="389891"/>
                  </a:lnTo>
                  <a:lnTo>
                    <a:pt x="1106715" y="390843"/>
                  </a:lnTo>
                  <a:lnTo>
                    <a:pt x="1118175" y="392748"/>
                  </a:lnTo>
                  <a:lnTo>
                    <a:pt x="1132499" y="396241"/>
                  </a:lnTo>
                  <a:lnTo>
                    <a:pt x="1140458" y="398146"/>
                  </a:lnTo>
                  <a:lnTo>
                    <a:pt x="1148734" y="400686"/>
                  </a:lnTo>
                  <a:lnTo>
                    <a:pt x="1157329" y="403226"/>
                  </a:lnTo>
                  <a:lnTo>
                    <a:pt x="1166879" y="406718"/>
                  </a:lnTo>
                  <a:lnTo>
                    <a:pt x="1176747" y="410528"/>
                  </a:lnTo>
                  <a:lnTo>
                    <a:pt x="1187252" y="414656"/>
                  </a:lnTo>
                  <a:lnTo>
                    <a:pt x="1197756" y="419418"/>
                  </a:lnTo>
                  <a:lnTo>
                    <a:pt x="1208579" y="424816"/>
                  </a:lnTo>
                  <a:lnTo>
                    <a:pt x="1220358" y="430848"/>
                  </a:lnTo>
                  <a:lnTo>
                    <a:pt x="1232136" y="437198"/>
                  </a:lnTo>
                  <a:lnTo>
                    <a:pt x="1244550" y="444183"/>
                  </a:lnTo>
                  <a:lnTo>
                    <a:pt x="1256965" y="452121"/>
                  </a:lnTo>
                  <a:lnTo>
                    <a:pt x="1270017" y="460376"/>
                  </a:lnTo>
                  <a:lnTo>
                    <a:pt x="1283386" y="469901"/>
                  </a:lnTo>
                  <a:lnTo>
                    <a:pt x="1296438" y="480061"/>
                  </a:lnTo>
                  <a:lnTo>
                    <a:pt x="1310444" y="490856"/>
                  </a:lnTo>
                  <a:lnTo>
                    <a:pt x="1324450" y="502286"/>
                  </a:lnTo>
                  <a:lnTo>
                    <a:pt x="1338775" y="514986"/>
                  </a:lnTo>
                  <a:lnTo>
                    <a:pt x="1353100" y="528003"/>
                  </a:lnTo>
                  <a:lnTo>
                    <a:pt x="1367743" y="542291"/>
                  </a:lnTo>
                  <a:lnTo>
                    <a:pt x="1382386" y="557531"/>
                  </a:lnTo>
                  <a:lnTo>
                    <a:pt x="1396074" y="572136"/>
                  </a:lnTo>
                  <a:lnTo>
                    <a:pt x="1408489" y="586423"/>
                  </a:lnTo>
                  <a:lnTo>
                    <a:pt x="1420267" y="600393"/>
                  </a:lnTo>
                  <a:lnTo>
                    <a:pt x="1430772" y="613728"/>
                  </a:lnTo>
                  <a:lnTo>
                    <a:pt x="1440640" y="627381"/>
                  </a:lnTo>
                  <a:lnTo>
                    <a:pt x="1449235" y="640081"/>
                  </a:lnTo>
                  <a:lnTo>
                    <a:pt x="1457511" y="653098"/>
                  </a:lnTo>
                  <a:lnTo>
                    <a:pt x="1464833" y="665163"/>
                  </a:lnTo>
                  <a:lnTo>
                    <a:pt x="1471517" y="676911"/>
                  </a:lnTo>
                  <a:lnTo>
                    <a:pt x="1477566" y="688341"/>
                  </a:lnTo>
                  <a:lnTo>
                    <a:pt x="1482341" y="699136"/>
                  </a:lnTo>
                  <a:lnTo>
                    <a:pt x="1487434" y="709613"/>
                  </a:lnTo>
                  <a:lnTo>
                    <a:pt x="1490935" y="720408"/>
                  </a:lnTo>
                  <a:lnTo>
                    <a:pt x="1494755" y="729616"/>
                  </a:lnTo>
                  <a:lnTo>
                    <a:pt x="1497939" y="739141"/>
                  </a:lnTo>
                  <a:lnTo>
                    <a:pt x="1500167" y="747713"/>
                  </a:lnTo>
                  <a:lnTo>
                    <a:pt x="1502395" y="756286"/>
                  </a:lnTo>
                  <a:lnTo>
                    <a:pt x="1503987" y="763906"/>
                  </a:lnTo>
                  <a:lnTo>
                    <a:pt x="1505260" y="771526"/>
                  </a:lnTo>
                  <a:lnTo>
                    <a:pt x="1507170" y="784543"/>
                  </a:lnTo>
                  <a:lnTo>
                    <a:pt x="1508125" y="795338"/>
                  </a:lnTo>
                  <a:lnTo>
                    <a:pt x="1508125" y="804228"/>
                  </a:lnTo>
                  <a:lnTo>
                    <a:pt x="1507807" y="810261"/>
                  </a:lnTo>
                  <a:lnTo>
                    <a:pt x="1506852" y="815341"/>
                  </a:lnTo>
                  <a:lnTo>
                    <a:pt x="1444778" y="877888"/>
                  </a:lnTo>
                  <a:lnTo>
                    <a:pt x="1442550" y="864553"/>
                  </a:lnTo>
                  <a:lnTo>
                    <a:pt x="1439048" y="851218"/>
                  </a:lnTo>
                  <a:lnTo>
                    <a:pt x="1435228" y="836296"/>
                  </a:lnTo>
                  <a:lnTo>
                    <a:pt x="1430135" y="821691"/>
                  </a:lnTo>
                  <a:lnTo>
                    <a:pt x="1424087" y="806451"/>
                  </a:lnTo>
                  <a:lnTo>
                    <a:pt x="1416765" y="790576"/>
                  </a:lnTo>
                  <a:lnTo>
                    <a:pt x="1408807" y="774383"/>
                  </a:lnTo>
                  <a:lnTo>
                    <a:pt x="1399894" y="757873"/>
                  </a:lnTo>
                  <a:lnTo>
                    <a:pt x="1390026" y="741363"/>
                  </a:lnTo>
                  <a:lnTo>
                    <a:pt x="1378884" y="724536"/>
                  </a:lnTo>
                  <a:lnTo>
                    <a:pt x="1367106" y="707073"/>
                  </a:lnTo>
                  <a:lnTo>
                    <a:pt x="1353737" y="689928"/>
                  </a:lnTo>
                  <a:lnTo>
                    <a:pt x="1340048" y="672466"/>
                  </a:lnTo>
                  <a:lnTo>
                    <a:pt x="1325087" y="655003"/>
                  </a:lnTo>
                  <a:lnTo>
                    <a:pt x="1308852" y="637541"/>
                  </a:lnTo>
                  <a:lnTo>
                    <a:pt x="1291981" y="620396"/>
                  </a:lnTo>
                  <a:lnTo>
                    <a:pt x="1278611" y="607061"/>
                  </a:lnTo>
                  <a:lnTo>
                    <a:pt x="1264923" y="594361"/>
                  </a:lnTo>
                  <a:lnTo>
                    <a:pt x="1251235" y="582296"/>
                  </a:lnTo>
                  <a:lnTo>
                    <a:pt x="1238184" y="570866"/>
                  </a:lnTo>
                  <a:lnTo>
                    <a:pt x="1224814" y="560388"/>
                  </a:lnTo>
                  <a:lnTo>
                    <a:pt x="1212081" y="550228"/>
                  </a:lnTo>
                  <a:lnTo>
                    <a:pt x="1199348" y="541021"/>
                  </a:lnTo>
                  <a:lnTo>
                    <a:pt x="1187252" y="532448"/>
                  </a:lnTo>
                  <a:lnTo>
                    <a:pt x="1175155" y="524511"/>
                  </a:lnTo>
                  <a:lnTo>
                    <a:pt x="1163059" y="516573"/>
                  </a:lnTo>
                  <a:lnTo>
                    <a:pt x="1151917" y="509588"/>
                  </a:lnTo>
                  <a:lnTo>
                    <a:pt x="1140776" y="502921"/>
                  </a:lnTo>
                  <a:lnTo>
                    <a:pt x="1129953" y="496888"/>
                  </a:lnTo>
                  <a:lnTo>
                    <a:pt x="1119766" y="491808"/>
                  </a:lnTo>
                  <a:lnTo>
                    <a:pt x="1109580" y="486411"/>
                  </a:lnTo>
                  <a:lnTo>
                    <a:pt x="1100030" y="481966"/>
                  </a:lnTo>
                  <a:lnTo>
                    <a:pt x="1082522" y="474028"/>
                  </a:lnTo>
                  <a:lnTo>
                    <a:pt x="1066287" y="467678"/>
                  </a:lnTo>
                  <a:lnTo>
                    <a:pt x="1052599" y="462598"/>
                  </a:lnTo>
                  <a:lnTo>
                    <a:pt x="1040821" y="459106"/>
                  </a:lnTo>
                  <a:lnTo>
                    <a:pt x="1031590" y="456248"/>
                  </a:lnTo>
                  <a:lnTo>
                    <a:pt x="1024905" y="454343"/>
                  </a:lnTo>
                  <a:lnTo>
                    <a:pt x="1019175" y="453391"/>
                  </a:lnTo>
                  <a:lnTo>
                    <a:pt x="1084432" y="388938"/>
                  </a:lnTo>
                  <a:close/>
                  <a:moveTo>
                    <a:pt x="1213168" y="238125"/>
                  </a:moveTo>
                  <a:lnTo>
                    <a:pt x="1218883" y="238125"/>
                  </a:lnTo>
                  <a:lnTo>
                    <a:pt x="1226186" y="238759"/>
                  </a:lnTo>
                  <a:lnTo>
                    <a:pt x="1236028" y="239709"/>
                  </a:lnTo>
                  <a:lnTo>
                    <a:pt x="1248411" y="242245"/>
                  </a:lnTo>
                  <a:lnTo>
                    <a:pt x="1263016" y="245414"/>
                  </a:lnTo>
                  <a:lnTo>
                    <a:pt x="1270953" y="247315"/>
                  </a:lnTo>
                  <a:lnTo>
                    <a:pt x="1280161" y="249850"/>
                  </a:lnTo>
                  <a:lnTo>
                    <a:pt x="1289051" y="253020"/>
                  </a:lnTo>
                  <a:lnTo>
                    <a:pt x="1298893" y="256506"/>
                  </a:lnTo>
                  <a:lnTo>
                    <a:pt x="1309053" y="260625"/>
                  </a:lnTo>
                  <a:lnTo>
                    <a:pt x="1319848" y="264745"/>
                  </a:lnTo>
                  <a:lnTo>
                    <a:pt x="1330961" y="269816"/>
                  </a:lnTo>
                  <a:lnTo>
                    <a:pt x="1342391" y="275203"/>
                  </a:lnTo>
                  <a:lnTo>
                    <a:pt x="1354456" y="281541"/>
                  </a:lnTo>
                  <a:lnTo>
                    <a:pt x="1366838" y="288196"/>
                  </a:lnTo>
                  <a:lnTo>
                    <a:pt x="1379538" y="295802"/>
                  </a:lnTo>
                  <a:lnTo>
                    <a:pt x="1392873" y="303725"/>
                  </a:lnTo>
                  <a:lnTo>
                    <a:pt x="1405891" y="312598"/>
                  </a:lnTo>
                  <a:lnTo>
                    <a:pt x="1419861" y="322422"/>
                  </a:lnTo>
                  <a:lnTo>
                    <a:pt x="1433831" y="332880"/>
                  </a:lnTo>
                  <a:lnTo>
                    <a:pt x="1448436" y="344289"/>
                  </a:lnTo>
                  <a:lnTo>
                    <a:pt x="1463041" y="356332"/>
                  </a:lnTo>
                  <a:lnTo>
                    <a:pt x="1477963" y="369325"/>
                  </a:lnTo>
                  <a:lnTo>
                    <a:pt x="1492886" y="383269"/>
                  </a:lnTo>
                  <a:lnTo>
                    <a:pt x="1508126" y="398164"/>
                  </a:lnTo>
                  <a:lnTo>
                    <a:pt x="1523366" y="413692"/>
                  </a:lnTo>
                  <a:lnTo>
                    <a:pt x="1537653" y="428587"/>
                  </a:lnTo>
                  <a:lnTo>
                    <a:pt x="1550353" y="443481"/>
                  </a:lnTo>
                  <a:lnTo>
                    <a:pt x="1562418" y="458376"/>
                  </a:lnTo>
                  <a:lnTo>
                    <a:pt x="1573848" y="472637"/>
                  </a:lnTo>
                  <a:lnTo>
                    <a:pt x="1583691" y="486264"/>
                  </a:lnTo>
                  <a:lnTo>
                    <a:pt x="1593216" y="499891"/>
                  </a:lnTo>
                  <a:lnTo>
                    <a:pt x="1601471" y="512884"/>
                  </a:lnTo>
                  <a:lnTo>
                    <a:pt x="1609091" y="525878"/>
                  </a:lnTo>
                  <a:lnTo>
                    <a:pt x="1616076" y="538237"/>
                  </a:lnTo>
                  <a:lnTo>
                    <a:pt x="1622108" y="549963"/>
                  </a:lnTo>
                  <a:lnTo>
                    <a:pt x="1627823" y="561371"/>
                  </a:lnTo>
                  <a:lnTo>
                    <a:pt x="1632268" y="572780"/>
                  </a:lnTo>
                  <a:lnTo>
                    <a:pt x="1636713" y="583238"/>
                  </a:lnTo>
                  <a:lnTo>
                    <a:pt x="1640206" y="593379"/>
                  </a:lnTo>
                  <a:lnTo>
                    <a:pt x="1643699" y="603203"/>
                  </a:lnTo>
                  <a:lnTo>
                    <a:pt x="1646239" y="612077"/>
                  </a:lnTo>
                  <a:lnTo>
                    <a:pt x="1648143" y="620633"/>
                  </a:lnTo>
                  <a:lnTo>
                    <a:pt x="1650049" y="628873"/>
                  </a:lnTo>
                  <a:lnTo>
                    <a:pt x="1651636" y="636478"/>
                  </a:lnTo>
                  <a:lnTo>
                    <a:pt x="1652589" y="643767"/>
                  </a:lnTo>
                  <a:lnTo>
                    <a:pt x="1653541" y="650422"/>
                  </a:lnTo>
                  <a:lnTo>
                    <a:pt x="1654176" y="661514"/>
                  </a:lnTo>
                  <a:lnTo>
                    <a:pt x="1654176" y="670705"/>
                  </a:lnTo>
                  <a:lnTo>
                    <a:pt x="1653859" y="677043"/>
                  </a:lnTo>
                  <a:lnTo>
                    <a:pt x="1652906" y="682747"/>
                  </a:lnTo>
                  <a:lnTo>
                    <a:pt x="1588136" y="747713"/>
                  </a:lnTo>
                  <a:lnTo>
                    <a:pt x="1585596" y="733769"/>
                  </a:lnTo>
                  <a:lnTo>
                    <a:pt x="1582421" y="719508"/>
                  </a:lnTo>
                  <a:lnTo>
                    <a:pt x="1578293" y="704297"/>
                  </a:lnTo>
                  <a:lnTo>
                    <a:pt x="1572896" y="689085"/>
                  </a:lnTo>
                  <a:lnTo>
                    <a:pt x="1566546" y="672923"/>
                  </a:lnTo>
                  <a:lnTo>
                    <a:pt x="1559561" y="656761"/>
                  </a:lnTo>
                  <a:lnTo>
                    <a:pt x="1550671" y="639964"/>
                  </a:lnTo>
                  <a:lnTo>
                    <a:pt x="1541463" y="622534"/>
                  </a:lnTo>
                  <a:lnTo>
                    <a:pt x="1531303" y="605105"/>
                  </a:lnTo>
                  <a:lnTo>
                    <a:pt x="1519556" y="587358"/>
                  </a:lnTo>
                  <a:lnTo>
                    <a:pt x="1507173" y="569294"/>
                  </a:lnTo>
                  <a:lnTo>
                    <a:pt x="1493521" y="551230"/>
                  </a:lnTo>
                  <a:lnTo>
                    <a:pt x="1479233" y="533166"/>
                  </a:lnTo>
                  <a:lnTo>
                    <a:pt x="1463676" y="514786"/>
                  </a:lnTo>
                  <a:lnTo>
                    <a:pt x="1446848" y="497039"/>
                  </a:lnTo>
                  <a:lnTo>
                    <a:pt x="1429386" y="478975"/>
                  </a:lnTo>
                  <a:lnTo>
                    <a:pt x="1415098" y="465031"/>
                  </a:lnTo>
                  <a:lnTo>
                    <a:pt x="1400811" y="451721"/>
                  </a:lnTo>
                  <a:lnTo>
                    <a:pt x="1386841" y="439362"/>
                  </a:lnTo>
                  <a:lnTo>
                    <a:pt x="1372871" y="427636"/>
                  </a:lnTo>
                  <a:lnTo>
                    <a:pt x="1359536" y="416544"/>
                  </a:lnTo>
                  <a:lnTo>
                    <a:pt x="1345883" y="406086"/>
                  </a:lnTo>
                  <a:lnTo>
                    <a:pt x="1332548" y="396262"/>
                  </a:lnTo>
                  <a:lnTo>
                    <a:pt x="1319848" y="387389"/>
                  </a:lnTo>
                  <a:lnTo>
                    <a:pt x="1307148" y="378832"/>
                  </a:lnTo>
                  <a:lnTo>
                    <a:pt x="1295083" y="370909"/>
                  </a:lnTo>
                  <a:lnTo>
                    <a:pt x="1283018" y="363620"/>
                  </a:lnTo>
                  <a:lnTo>
                    <a:pt x="1271271" y="356648"/>
                  </a:lnTo>
                  <a:lnTo>
                    <a:pt x="1260158" y="350627"/>
                  </a:lnTo>
                  <a:lnTo>
                    <a:pt x="1249681" y="344606"/>
                  </a:lnTo>
                  <a:lnTo>
                    <a:pt x="1239203" y="339219"/>
                  </a:lnTo>
                  <a:lnTo>
                    <a:pt x="1229361" y="334782"/>
                  </a:lnTo>
                  <a:lnTo>
                    <a:pt x="1210628" y="326542"/>
                  </a:lnTo>
                  <a:lnTo>
                    <a:pt x="1193801" y="319887"/>
                  </a:lnTo>
                  <a:lnTo>
                    <a:pt x="1179513" y="314500"/>
                  </a:lnTo>
                  <a:lnTo>
                    <a:pt x="1167766" y="310697"/>
                  </a:lnTo>
                  <a:lnTo>
                    <a:pt x="1157923" y="307845"/>
                  </a:lnTo>
                  <a:lnTo>
                    <a:pt x="1150621" y="306260"/>
                  </a:lnTo>
                  <a:lnTo>
                    <a:pt x="1144588" y="304992"/>
                  </a:lnTo>
                  <a:lnTo>
                    <a:pt x="1213168" y="238125"/>
                  </a:lnTo>
                  <a:close/>
                  <a:moveTo>
                    <a:pt x="1555569" y="0"/>
                  </a:moveTo>
                  <a:lnTo>
                    <a:pt x="1566687" y="0"/>
                  </a:lnTo>
                  <a:lnTo>
                    <a:pt x="1578441" y="0"/>
                  </a:lnTo>
                  <a:lnTo>
                    <a:pt x="1589876" y="1272"/>
                  </a:lnTo>
                  <a:lnTo>
                    <a:pt x="1601948" y="2862"/>
                  </a:lnTo>
                  <a:lnTo>
                    <a:pt x="1614337" y="5088"/>
                  </a:lnTo>
                  <a:lnTo>
                    <a:pt x="1627043" y="7950"/>
                  </a:lnTo>
                  <a:lnTo>
                    <a:pt x="1640385" y="11766"/>
                  </a:lnTo>
                  <a:lnTo>
                    <a:pt x="1653409" y="16218"/>
                  </a:lnTo>
                  <a:lnTo>
                    <a:pt x="1667386" y="21624"/>
                  </a:lnTo>
                  <a:lnTo>
                    <a:pt x="1681363" y="27984"/>
                  </a:lnTo>
                  <a:lnTo>
                    <a:pt x="1695976" y="35298"/>
                  </a:lnTo>
                  <a:lnTo>
                    <a:pt x="1710588" y="42930"/>
                  </a:lnTo>
                  <a:lnTo>
                    <a:pt x="1725836" y="52152"/>
                  </a:lnTo>
                  <a:lnTo>
                    <a:pt x="1741084" y="62010"/>
                  </a:lnTo>
                  <a:lnTo>
                    <a:pt x="1756649" y="72822"/>
                  </a:lnTo>
                  <a:lnTo>
                    <a:pt x="1772850" y="84588"/>
                  </a:lnTo>
                  <a:lnTo>
                    <a:pt x="1789051" y="97626"/>
                  </a:lnTo>
                  <a:lnTo>
                    <a:pt x="1804617" y="111300"/>
                  </a:lnTo>
                  <a:lnTo>
                    <a:pt x="1819547" y="124656"/>
                  </a:lnTo>
                  <a:lnTo>
                    <a:pt x="1832571" y="138330"/>
                  </a:lnTo>
                  <a:lnTo>
                    <a:pt x="1844642" y="151686"/>
                  </a:lnTo>
                  <a:lnTo>
                    <a:pt x="1856078" y="165042"/>
                  </a:lnTo>
                  <a:lnTo>
                    <a:pt x="1865608" y="178398"/>
                  </a:lnTo>
                  <a:lnTo>
                    <a:pt x="1874502" y="191755"/>
                  </a:lnTo>
                  <a:lnTo>
                    <a:pt x="1881809" y="204475"/>
                  </a:lnTo>
                  <a:lnTo>
                    <a:pt x="1888797" y="217831"/>
                  </a:lnTo>
                  <a:lnTo>
                    <a:pt x="1894197" y="230869"/>
                  </a:lnTo>
                  <a:lnTo>
                    <a:pt x="1898962" y="243907"/>
                  </a:lnTo>
                  <a:lnTo>
                    <a:pt x="1902457" y="256309"/>
                  </a:lnTo>
                  <a:lnTo>
                    <a:pt x="1905633" y="268711"/>
                  </a:lnTo>
                  <a:lnTo>
                    <a:pt x="1907857" y="281113"/>
                  </a:lnTo>
                  <a:lnTo>
                    <a:pt x="1908810" y="293197"/>
                  </a:lnTo>
                  <a:lnTo>
                    <a:pt x="1909763" y="305281"/>
                  </a:lnTo>
                  <a:lnTo>
                    <a:pt x="1909763" y="316729"/>
                  </a:lnTo>
                  <a:lnTo>
                    <a:pt x="1908492" y="328177"/>
                  </a:lnTo>
                  <a:lnTo>
                    <a:pt x="1907539" y="339307"/>
                  </a:lnTo>
                  <a:lnTo>
                    <a:pt x="1905316" y="350437"/>
                  </a:lnTo>
                  <a:lnTo>
                    <a:pt x="1902457" y="360931"/>
                  </a:lnTo>
                  <a:lnTo>
                    <a:pt x="1899598" y="371425"/>
                  </a:lnTo>
                  <a:lnTo>
                    <a:pt x="1895786" y="381601"/>
                  </a:lnTo>
                  <a:lnTo>
                    <a:pt x="1891656" y="391459"/>
                  </a:lnTo>
                  <a:lnTo>
                    <a:pt x="1887527" y="400681"/>
                  </a:lnTo>
                  <a:lnTo>
                    <a:pt x="1882762" y="409903"/>
                  </a:lnTo>
                  <a:lnTo>
                    <a:pt x="1877361" y="418490"/>
                  </a:lnTo>
                  <a:lnTo>
                    <a:pt x="1871643" y="426758"/>
                  </a:lnTo>
                  <a:lnTo>
                    <a:pt x="1865925" y="434708"/>
                  </a:lnTo>
                  <a:lnTo>
                    <a:pt x="1860208" y="442340"/>
                  </a:lnTo>
                  <a:lnTo>
                    <a:pt x="1854172" y="449336"/>
                  </a:lnTo>
                  <a:lnTo>
                    <a:pt x="1847501" y="456014"/>
                  </a:lnTo>
                  <a:lnTo>
                    <a:pt x="1841783" y="463328"/>
                  </a:lnTo>
                  <a:lnTo>
                    <a:pt x="1830983" y="476048"/>
                  </a:lnTo>
                  <a:lnTo>
                    <a:pt x="1801122" y="514208"/>
                  </a:lnTo>
                  <a:lnTo>
                    <a:pt x="1764909" y="560636"/>
                  </a:lnTo>
                  <a:lnTo>
                    <a:pt x="1730283" y="604838"/>
                  </a:lnTo>
                  <a:lnTo>
                    <a:pt x="1729648" y="593708"/>
                  </a:lnTo>
                  <a:lnTo>
                    <a:pt x="1728377" y="581306"/>
                  </a:lnTo>
                  <a:lnTo>
                    <a:pt x="1726471" y="567632"/>
                  </a:lnTo>
                  <a:lnTo>
                    <a:pt x="1723930" y="553322"/>
                  </a:lnTo>
                  <a:lnTo>
                    <a:pt x="1720118" y="537740"/>
                  </a:lnTo>
                  <a:lnTo>
                    <a:pt x="1715353" y="521840"/>
                  </a:lnTo>
                  <a:lnTo>
                    <a:pt x="1712494" y="513254"/>
                  </a:lnTo>
                  <a:lnTo>
                    <a:pt x="1709318" y="504668"/>
                  </a:lnTo>
                  <a:lnTo>
                    <a:pt x="1705823" y="496082"/>
                  </a:lnTo>
                  <a:lnTo>
                    <a:pt x="1702011" y="487178"/>
                  </a:lnTo>
                  <a:lnTo>
                    <a:pt x="1697882" y="477638"/>
                  </a:lnTo>
                  <a:lnTo>
                    <a:pt x="1693117" y="468098"/>
                  </a:lnTo>
                  <a:lnTo>
                    <a:pt x="1688034" y="458876"/>
                  </a:lnTo>
                  <a:lnTo>
                    <a:pt x="1682952" y="449018"/>
                  </a:lnTo>
                  <a:lnTo>
                    <a:pt x="1677234" y="439160"/>
                  </a:lnTo>
                  <a:lnTo>
                    <a:pt x="1670881" y="428984"/>
                  </a:lnTo>
                  <a:lnTo>
                    <a:pt x="1664527" y="418808"/>
                  </a:lnTo>
                  <a:lnTo>
                    <a:pt x="1657221" y="408631"/>
                  </a:lnTo>
                  <a:lnTo>
                    <a:pt x="1649915" y="398137"/>
                  </a:lnTo>
                  <a:lnTo>
                    <a:pt x="1641973" y="387643"/>
                  </a:lnTo>
                  <a:lnTo>
                    <a:pt x="1633079" y="376831"/>
                  </a:lnTo>
                  <a:lnTo>
                    <a:pt x="1624184" y="365701"/>
                  </a:lnTo>
                  <a:lnTo>
                    <a:pt x="1614337" y="354889"/>
                  </a:lnTo>
                  <a:lnTo>
                    <a:pt x="1604489" y="343441"/>
                  </a:lnTo>
                  <a:lnTo>
                    <a:pt x="1593688" y="332311"/>
                  </a:lnTo>
                  <a:lnTo>
                    <a:pt x="1582570" y="320863"/>
                  </a:lnTo>
                  <a:lnTo>
                    <a:pt x="1571134" y="310051"/>
                  </a:lnTo>
                  <a:lnTo>
                    <a:pt x="1559381" y="299239"/>
                  </a:lnTo>
                  <a:lnTo>
                    <a:pt x="1548263" y="289381"/>
                  </a:lnTo>
                  <a:lnTo>
                    <a:pt x="1536827" y="279523"/>
                  </a:lnTo>
                  <a:lnTo>
                    <a:pt x="1525709" y="270619"/>
                  </a:lnTo>
                  <a:lnTo>
                    <a:pt x="1514590" y="262351"/>
                  </a:lnTo>
                  <a:lnTo>
                    <a:pt x="1503472" y="254083"/>
                  </a:lnTo>
                  <a:lnTo>
                    <a:pt x="1492672" y="246451"/>
                  </a:lnTo>
                  <a:lnTo>
                    <a:pt x="1481871" y="239137"/>
                  </a:lnTo>
                  <a:lnTo>
                    <a:pt x="1471388" y="232777"/>
                  </a:lnTo>
                  <a:lnTo>
                    <a:pt x="1460905" y="226417"/>
                  </a:lnTo>
                  <a:lnTo>
                    <a:pt x="1450740" y="220693"/>
                  </a:lnTo>
                  <a:lnTo>
                    <a:pt x="1440575" y="215287"/>
                  </a:lnTo>
                  <a:lnTo>
                    <a:pt x="1430410" y="210199"/>
                  </a:lnTo>
                  <a:lnTo>
                    <a:pt x="1420562" y="205747"/>
                  </a:lnTo>
                  <a:lnTo>
                    <a:pt x="1411350" y="201613"/>
                  </a:lnTo>
                  <a:lnTo>
                    <a:pt x="1401820" y="197479"/>
                  </a:lnTo>
                  <a:lnTo>
                    <a:pt x="1392925" y="193981"/>
                  </a:lnTo>
                  <a:lnTo>
                    <a:pt x="1375136" y="187620"/>
                  </a:lnTo>
                  <a:lnTo>
                    <a:pt x="1358300" y="182850"/>
                  </a:lnTo>
                  <a:lnTo>
                    <a:pt x="1342417" y="178716"/>
                  </a:lnTo>
                  <a:lnTo>
                    <a:pt x="1327805" y="175536"/>
                  </a:lnTo>
                  <a:lnTo>
                    <a:pt x="1314145" y="173310"/>
                  </a:lnTo>
                  <a:lnTo>
                    <a:pt x="1301756" y="171720"/>
                  </a:lnTo>
                  <a:lnTo>
                    <a:pt x="1290638" y="171084"/>
                  </a:lnTo>
                  <a:lnTo>
                    <a:pt x="1330346" y="138966"/>
                  </a:lnTo>
                  <a:lnTo>
                    <a:pt x="1370689" y="105894"/>
                  </a:lnTo>
                  <a:lnTo>
                    <a:pt x="1405950" y="76638"/>
                  </a:lnTo>
                  <a:lnTo>
                    <a:pt x="1419609" y="64554"/>
                  </a:lnTo>
                  <a:lnTo>
                    <a:pt x="1429774" y="55650"/>
                  </a:lnTo>
                  <a:lnTo>
                    <a:pt x="1435810" y="49926"/>
                  </a:lnTo>
                  <a:lnTo>
                    <a:pt x="1442163" y="44520"/>
                  </a:lnTo>
                  <a:lnTo>
                    <a:pt x="1448834" y="39432"/>
                  </a:lnTo>
                  <a:lnTo>
                    <a:pt x="1455505" y="34026"/>
                  </a:lnTo>
                  <a:lnTo>
                    <a:pt x="1463129" y="29256"/>
                  </a:lnTo>
                  <a:lnTo>
                    <a:pt x="1470753" y="24486"/>
                  </a:lnTo>
                  <a:lnTo>
                    <a:pt x="1479012" y="20352"/>
                  </a:lnTo>
                  <a:lnTo>
                    <a:pt x="1487271" y="16218"/>
                  </a:lnTo>
                  <a:lnTo>
                    <a:pt x="1495848" y="13038"/>
                  </a:lnTo>
                  <a:lnTo>
                    <a:pt x="1505378" y="9540"/>
                  </a:lnTo>
                  <a:lnTo>
                    <a:pt x="1514590" y="6996"/>
                  </a:lnTo>
                  <a:lnTo>
                    <a:pt x="1524438" y="4770"/>
                  </a:lnTo>
                  <a:lnTo>
                    <a:pt x="1534285" y="2544"/>
                  </a:lnTo>
                  <a:lnTo>
                    <a:pt x="1544768" y="1272"/>
                  </a:lnTo>
                  <a:lnTo>
                    <a:pt x="1555569" y="0"/>
                  </a:lnTo>
                  <a:close/>
                </a:path>
              </a:pathLst>
            </a:custGeom>
            <a:solidFill>
              <a:srgbClr val="D10000"/>
            </a:solidFill>
            <a:ln>
              <a:noFill/>
            </a:ln>
            <a:extLst>
              <a:ext uri="{91240B29-F687-4F45-9708-019B960494DF}">
                <a14:hiddenLine xmlns:a14="http://schemas.microsoft.com/office/drawing/2010/main" xmlns="" w="9525">
                  <a:solidFill>
                    <a:srgbClr val="000000"/>
                  </a:solidFill>
                  <a:round/>
                </a14:hiddenLine>
              </a:ext>
            </a:extLst>
          </p:spPr>
          <p:txBody>
            <a:bodyPr anchor="ctr">
              <a:scene3d>
                <a:camera prst="orthographicFront"/>
                <a:lightRig rig="threePt" dir="t"/>
              </a:scene3d>
              <a:sp3d contourW="12700">
                <a:contourClr>
                  <a:srgbClr val="FFFFFF"/>
                </a:contourClr>
              </a:sp3d>
            </a:bodyPr>
            <a:lstStyle/>
            <a:p>
              <a:pPr algn="ctr" eaLnBrk="1" fontAlgn="auto" hangingPunct="1">
                <a:spcBef>
                  <a:spcPts val="0"/>
                </a:spcBef>
                <a:spcAft>
                  <a:spcPts val="0"/>
                </a:spcAft>
                <a:defRPr/>
              </a:pPr>
              <a:endParaRPr lang="zh-CN" altLang="en-US" kern="0">
                <a:solidFill>
                  <a:srgbClr val="FFFFFF"/>
                </a:solidFill>
                <a:latin typeface="Arial" panose="020B0604020202020204"/>
                <a:ea typeface="宋体" panose="02010600030101010101" pitchFamily="2" charset="-122"/>
              </a:endParaRPr>
            </a:p>
          </p:txBody>
        </p:sp>
      </p:gr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19" name="TextBox 6"/>
          <p:cNvSpPr txBox="1"/>
          <p:nvPr/>
        </p:nvSpPr>
        <p:spPr>
          <a:xfrm>
            <a:off x="737235" y="1403985"/>
            <a:ext cx="2684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案例</a:t>
            </a:r>
          </a:p>
        </p:txBody>
      </p:sp>
      <p:grpSp>
        <p:nvGrpSpPr>
          <p:cNvPr id="5" name="组合 4"/>
          <p:cNvGrpSpPr/>
          <p:nvPr/>
        </p:nvGrpSpPr>
        <p:grpSpPr>
          <a:xfrm>
            <a:off x="757555" y="2064385"/>
            <a:ext cx="10676890" cy="3881120"/>
            <a:chOff x="1115" y="3150"/>
            <a:chExt cx="16814" cy="6112"/>
          </a:xfrm>
        </p:grpSpPr>
        <p:sp>
          <p:nvSpPr>
            <p:cNvPr id="22" name="TextBox 21"/>
            <p:cNvSpPr txBox="1"/>
            <p:nvPr/>
          </p:nvSpPr>
          <p:spPr>
            <a:xfrm>
              <a:off x="3431" y="3419"/>
              <a:ext cx="13522" cy="624"/>
            </a:xfrm>
            <a:prstGeom prst="rect">
              <a:avLst/>
            </a:prstGeom>
            <a:noFill/>
          </p:spPr>
          <p:txBody>
            <a:bodyPr wrap="square">
              <a:spAutoFit/>
            </a:bodyPr>
            <a:lstStyle/>
            <a:p>
              <a:r>
                <a:rPr sz="2000" dirty="0" smtClean="0">
                  <a:sym typeface="+mn-ea"/>
                </a:rPr>
                <a:t>针对人员才能与经验的主题提问示例。</a:t>
              </a:r>
            </a:p>
          </p:txBody>
        </p:sp>
        <p:sp>
          <p:nvSpPr>
            <p:cNvPr id="24" name="矩形 23"/>
            <p:cNvSpPr>
              <a:spLocks noChangeAspect="1"/>
            </p:cNvSpPr>
            <p:nvPr/>
          </p:nvSpPr>
          <p:spPr>
            <a:xfrm>
              <a:off x="1115" y="4275"/>
              <a:ext cx="16814" cy="4987"/>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2"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738416" y="1467155"/>
                <a:ext cx="1071570" cy="350138"/>
              </a:xfrm>
              <a:prstGeom prst="rect">
                <a:avLst/>
              </a:prstGeom>
              <a:noFill/>
            </p:spPr>
            <p:txBody>
              <a:bodyPr wrap="square" rtlCol="0">
                <a:spAutoFit/>
              </a:bodyPr>
              <a:lstStyle/>
              <a:p>
                <a:r>
                  <a:rPr lang="zh-CN" altLang="en-US" sz="2400" dirty="0" smtClean="0">
                    <a:solidFill>
                      <a:schemeClr val="bg1"/>
                    </a:solidFill>
                    <a:sym typeface="+mn-ea"/>
                  </a:rPr>
                  <a:t>例 </a:t>
                </a:r>
                <a:r>
                  <a:rPr lang="en-US" altLang="zh-CN" sz="2400" dirty="0" smtClean="0">
                    <a:solidFill>
                      <a:schemeClr val="bg1"/>
                    </a:solidFill>
                    <a:sym typeface="+mn-ea"/>
                  </a:rPr>
                  <a:t>10-1</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302" y="4427"/>
              <a:ext cx="16373" cy="4632"/>
            </a:xfrm>
            <a:prstGeom prst="rect">
              <a:avLst/>
            </a:prstGeom>
            <a:solidFill>
              <a:schemeClr val="bg1">
                <a:lumMod val="95000"/>
              </a:schemeClr>
            </a:solidFill>
          </p:spPr>
          <p:txBody>
            <a:bodyPr wrap="square">
              <a:spAutoFit/>
            </a:bodyPr>
            <a:lstStyle/>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rPr>
                <a:t>开发人员的水平如何？</a:t>
              </a: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rPr>
                <a:t>人员在技术上是否适合项目？</a:t>
              </a: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rPr>
                <a:t>团队人员的数量如何？</a:t>
              </a: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rPr>
                <a:t>人员是否能够自始至终地参加软件开发工作？</a:t>
              </a: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rPr>
                <a:t>开发人员是否能够集中精力投入软件开发？</a:t>
              </a: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rPr>
                <a:t>人员对自己的工作是否有正确的期望？</a:t>
              </a: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rPr>
                <a:t>开发人员是否接受过必要的培训？</a:t>
              </a: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rPr>
                <a:t>团队人员的流动是否能够保证工作的连续性？</a:t>
              </a:r>
            </a:p>
          </p:txBody>
        </p:sp>
      </p:grpSp>
      <p:sp>
        <p:nvSpPr>
          <p:cNvPr id="6" name="文本框 5"/>
          <p:cNvSpPr txBox="1"/>
          <p:nvPr/>
        </p:nvSpPr>
        <p:spPr>
          <a:xfrm>
            <a:off x="6385560" y="2875280"/>
            <a:ext cx="4886961" cy="2252924"/>
          </a:xfrm>
          <a:prstGeom prst="rect">
            <a:avLst/>
          </a:prstGeom>
          <a:noFill/>
        </p:spPr>
        <p:txBody>
          <a:bodyPr wrap="square" rtlCol="0" anchor="t">
            <a:spAutoFit/>
          </a:bodyPr>
          <a:lstStyle/>
          <a:p>
            <a:pPr indent="0" algn="l" fontAlgn="auto">
              <a:lnSpc>
                <a:spcPct val="130000"/>
              </a:lnSpc>
              <a:buNone/>
            </a:pPr>
            <a:r>
              <a:rPr lang="en-US" altLang="en-US" dirty="0" smtClean="0">
                <a:latin typeface="Times New Roman" panose="02020603050405020304" charset="0"/>
                <a:ea typeface="宋体" panose="02010600030101010101" pitchFamily="2" charset="-122"/>
              </a:rPr>
              <a:t>        上述问题的回答可以采用0-5分的记分法来回答。完全肯定记0分，反之记5分，中间情况分别取值1，2，3，4，值越大风险越大。这个人员风险条目检查表反映了人的因素对软件项目的影响，可以用它来估算人的因素对软件项目带来的风险。</a:t>
            </a: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10.7.2  软件开发风险估算</a:t>
            </a:r>
          </a:p>
        </p:txBody>
      </p:sp>
      <p:pic>
        <p:nvPicPr>
          <p:cNvPr id="5" name="图片 4" descr="A000220150318S46PPIC.png"/>
          <p:cNvPicPr>
            <a:picLocks noChangeAspect="1"/>
          </p:cNvPicPr>
          <p:nvPr/>
        </p:nvPicPr>
        <p:blipFill>
          <a:blip r:embed="rId3" cstate="print"/>
          <a:stretch>
            <a:fillRect/>
          </a:stretch>
        </p:blipFill>
        <p:spPr>
          <a:xfrm>
            <a:off x="6831870" y="2191407"/>
            <a:ext cx="4639386" cy="3484179"/>
          </a:xfrm>
          <a:prstGeom prst="rect">
            <a:avLst/>
          </a:prstGeom>
        </p:spPr>
      </p:pic>
      <p:sp>
        <p:nvSpPr>
          <p:cNvPr id="6" name="MH_Desc_1"/>
          <p:cNvSpPr/>
          <p:nvPr>
            <p:custDataLst>
              <p:tags r:id="rId1"/>
            </p:custDataLst>
          </p:nvPr>
        </p:nvSpPr>
        <p:spPr>
          <a:xfrm>
            <a:off x="677918" y="2222934"/>
            <a:ext cx="6053958" cy="3657603"/>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3836610 h 3882329"/>
              <a:gd name="connsiteX5" fmla="*/ 0 w 3456384"/>
              <a:gd name="connsiteY5" fmla="*/ 0 h 3882329"/>
              <a:gd name="connsiteX6" fmla="*/ 3456384 w 3456384"/>
              <a:gd name="connsiteY6" fmla="*/ 0 h 3882329"/>
              <a:gd name="connsiteX7" fmla="*/ 3456384 w 3456384"/>
              <a:gd name="connsiteY7" fmla="*/ 45719 h 3882329"/>
              <a:gd name="connsiteX8" fmla="*/ 0 w 3456384"/>
              <a:gd name="connsiteY8" fmla="*/ 0 h 3882329"/>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3836610 h 3882329"/>
              <a:gd name="connsiteX5" fmla="*/ 0 w 3456384"/>
              <a:gd name="connsiteY5" fmla="*/ 0 h 3882329"/>
              <a:gd name="connsiteX6" fmla="*/ 3456384 w 3456384"/>
              <a:gd name="connsiteY6" fmla="*/ 0 h 3882329"/>
              <a:gd name="connsiteX7" fmla="*/ 0 w 3456384"/>
              <a:gd name="connsiteY7" fmla="*/ 0 h 3882329"/>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3836610 h 3882329"/>
              <a:gd name="connsiteX5" fmla="*/ 0 w 3456384"/>
              <a:gd name="connsiteY5" fmla="*/ 0 h 3882329"/>
              <a:gd name="connsiteX6" fmla="*/ 3456384 w 3456384"/>
              <a:gd name="connsiteY6" fmla="*/ 0 h 3882329"/>
              <a:gd name="connsiteX7" fmla="*/ 0 w 3456384"/>
              <a:gd name="connsiteY7" fmla="*/ 0 h 3882329"/>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3836610 h 3882329"/>
              <a:gd name="connsiteX5" fmla="*/ 0 w 3456384"/>
              <a:gd name="connsiteY5" fmla="*/ 0 h 3882329"/>
              <a:gd name="connsiteX6" fmla="*/ 3456384 w 3456384"/>
              <a:gd name="connsiteY6" fmla="*/ 0 h 3882329"/>
              <a:gd name="connsiteX7" fmla="*/ 0 w 3456384"/>
              <a:gd name="connsiteY7" fmla="*/ 0 h 3882329"/>
              <a:gd name="connsiteX0" fmla="*/ 0 w 3456384"/>
              <a:gd name="connsiteY0" fmla="*/ 3882329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0 w 3456384"/>
              <a:gd name="connsiteY6" fmla="*/ 0 h 3882329"/>
              <a:gd name="connsiteX0" fmla="*/ 0 w 3456384"/>
              <a:gd name="connsiteY0" fmla="*/ 3882329 h 3882329"/>
              <a:gd name="connsiteX1" fmla="*/ 3456384 w 3456384"/>
              <a:gd name="connsiteY1" fmla="*/ 3882329 h 3882329"/>
              <a:gd name="connsiteX2" fmla="*/ 0 w 3456384"/>
              <a:gd name="connsiteY2" fmla="*/ 3882329 h 3882329"/>
              <a:gd name="connsiteX3" fmla="*/ 0 w 3456384"/>
              <a:gd name="connsiteY3" fmla="*/ 0 h 3882329"/>
              <a:gd name="connsiteX4" fmla="*/ 3456384 w 3456384"/>
              <a:gd name="connsiteY4" fmla="*/ 0 h 3882329"/>
              <a:gd name="connsiteX5" fmla="*/ 0 w 3456384"/>
              <a:gd name="connsiteY5" fmla="*/ 0 h 3882329"/>
              <a:gd name="connsiteX0" fmla="*/ 0 w 3456384"/>
              <a:gd name="connsiteY0" fmla="*/ 3882329 h 3882329"/>
              <a:gd name="connsiteX1" fmla="*/ 3456384 w 3456384"/>
              <a:gd name="connsiteY1" fmla="*/ 3882329 h 3882329"/>
              <a:gd name="connsiteX2" fmla="*/ 0 w 3456384"/>
              <a:gd name="connsiteY2" fmla="*/ 3882329 h 3882329"/>
              <a:gd name="connsiteX3" fmla="*/ 0 w 3456384"/>
              <a:gd name="connsiteY3" fmla="*/ 0 h 3882329"/>
              <a:gd name="connsiteX4" fmla="*/ 3456384 w 3456384"/>
              <a:gd name="connsiteY4" fmla="*/ 0 h 3882329"/>
              <a:gd name="connsiteX5" fmla="*/ 0 w 3456384"/>
              <a:gd name="connsiteY5" fmla="*/ 0 h 3882329"/>
              <a:gd name="connsiteX0" fmla="*/ 0 w 3456384"/>
              <a:gd name="connsiteY0" fmla="*/ 3882329 h 3882329"/>
              <a:gd name="connsiteX1" fmla="*/ 3456384 w 3456384"/>
              <a:gd name="connsiteY1" fmla="*/ 3882329 h 3882329"/>
              <a:gd name="connsiteX2" fmla="*/ 0 w 3456384"/>
              <a:gd name="connsiteY2" fmla="*/ 3882329 h 3882329"/>
              <a:gd name="connsiteX3" fmla="*/ 0 w 3456384"/>
              <a:gd name="connsiteY3" fmla="*/ 0 h 3882329"/>
              <a:gd name="connsiteX4" fmla="*/ 3456384 w 3456384"/>
              <a:gd name="connsiteY4" fmla="*/ 0 h 3882329"/>
              <a:gd name="connsiteX5" fmla="*/ 0 w 3456384"/>
              <a:gd name="connsiteY5" fmla="*/ 0 h 388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gn="just" fontAlgn="auto">
              <a:lnSpc>
                <a:spcPct val="140000"/>
              </a:lnSpc>
              <a:spcBef>
                <a:spcPts val="600"/>
              </a:spcBef>
              <a:spcAft>
                <a:spcPts val="600"/>
              </a:spcAft>
            </a:pPr>
            <a:r>
              <a:rPr lang="zh-CN" altLang="en-US" sz="2000" dirty="0" smtClean="0">
                <a:solidFill>
                  <a:schemeClr val="tx1"/>
                </a:solidFill>
                <a:latin typeface="微软雅黑" panose="020B0503020204020204" pitchFamily="34" charset="-122"/>
                <a:ea typeface="微软雅黑" panose="020B0503020204020204" pitchFamily="34" charset="-122"/>
              </a:rPr>
              <a:t>软件项目管理人员可以从</a:t>
            </a:r>
            <a:r>
              <a:rPr lang="zh-CN" altLang="en-US" sz="2000" b="1" dirty="0" smtClean="0">
                <a:solidFill>
                  <a:srgbClr val="00B050"/>
                </a:solidFill>
                <a:latin typeface="微软雅黑" panose="020B0503020204020204" pitchFamily="34" charset="-122"/>
                <a:ea typeface="微软雅黑" panose="020B0503020204020204" pitchFamily="34" charset="-122"/>
              </a:rPr>
              <a:t>影响风险的因素和风险发生后带来的损失</a:t>
            </a:r>
            <a:r>
              <a:rPr lang="zh-CN" altLang="en-US" sz="2000" dirty="0" smtClean="0">
                <a:solidFill>
                  <a:schemeClr val="tx1"/>
                </a:solidFill>
                <a:latin typeface="微软雅黑" panose="020B0503020204020204" pitchFamily="34" charset="-122"/>
                <a:ea typeface="微软雅黑" panose="020B0503020204020204" pitchFamily="34" charset="-122"/>
              </a:rPr>
              <a:t>两方面来度量风险。为了对各种风险进行估算，</a:t>
            </a:r>
            <a:r>
              <a:rPr lang="zh-CN" altLang="en-US" sz="2000" b="1" dirty="0" smtClean="0">
                <a:solidFill>
                  <a:schemeClr val="accent6">
                    <a:lumMod val="50000"/>
                  </a:schemeClr>
                </a:solidFill>
                <a:latin typeface="微软雅黑" panose="020B0503020204020204" pitchFamily="34" charset="-122"/>
                <a:ea typeface="微软雅黑" panose="020B0503020204020204" pitchFamily="34" charset="-122"/>
              </a:rPr>
              <a:t>必须建立风险度量指标体系；必须指明各种风险带来的后果和损失；必须估算风险对软件项目及软件产品的影响；必须给出风险估算的定量结果。</a:t>
            </a:r>
          </a:p>
          <a:p>
            <a:pPr indent="457200" algn="just" fontAlgn="auto">
              <a:lnSpc>
                <a:spcPct val="140000"/>
              </a:lnSpc>
              <a:spcBef>
                <a:spcPts val="600"/>
              </a:spcBef>
              <a:spcAft>
                <a:spcPts val="600"/>
              </a:spcAft>
            </a:pPr>
            <a:r>
              <a:rPr lang="zh-CN" altLang="en-US" sz="2000" dirty="0" smtClean="0">
                <a:solidFill>
                  <a:schemeClr val="tx1"/>
                </a:solidFill>
                <a:latin typeface="微软雅黑" panose="020B0503020204020204" pitchFamily="34" charset="-122"/>
                <a:ea typeface="微软雅黑" panose="020B0503020204020204" pitchFamily="34" charset="-122"/>
              </a:rPr>
              <a:t>进行风险估算的方法有很多，其中一种简单易行的是</a:t>
            </a:r>
            <a:r>
              <a:rPr lang="zh-CN" altLang="en-US" sz="2000" b="1" dirty="0" smtClean="0">
                <a:solidFill>
                  <a:srgbClr val="00B050"/>
                </a:solidFill>
                <a:latin typeface="微软雅黑" panose="020B0503020204020204" pitchFamily="34" charset="-122"/>
                <a:ea typeface="微软雅黑" panose="020B0503020204020204" pitchFamily="34" charset="-122"/>
              </a:rPr>
              <a:t>建立风险评估表</a:t>
            </a:r>
            <a:r>
              <a:rPr lang="zh-CN" altLang="en-US" sz="2000" dirty="0" smtClean="0">
                <a:solidFill>
                  <a:schemeClr val="tx1"/>
                </a:solidFill>
                <a:latin typeface="微软雅黑" panose="020B0503020204020204" pitchFamily="34" charset="-122"/>
                <a:ea typeface="微软雅黑" panose="020B0503020204020204" pitchFamily="34" charset="-122"/>
              </a:rPr>
              <a:t>。</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10.7.2  软件开发风险估算</a:t>
            </a:r>
          </a:p>
        </p:txBody>
      </p:sp>
      <p:grpSp>
        <p:nvGrpSpPr>
          <p:cNvPr id="5" name="组合 4"/>
          <p:cNvGrpSpPr/>
          <p:nvPr/>
        </p:nvGrpSpPr>
        <p:grpSpPr>
          <a:xfrm>
            <a:off x="1045210" y="2716832"/>
            <a:ext cx="10491040" cy="3846132"/>
            <a:chOff x="2055" y="4183"/>
            <a:chExt cx="16567" cy="6443"/>
          </a:xfrm>
        </p:grpSpPr>
        <p:sp>
          <p:nvSpPr>
            <p:cNvPr id="6" name="Oval 15"/>
            <p:cNvSpPr>
              <a:spLocks noChangeArrowheads="1"/>
            </p:cNvSpPr>
            <p:nvPr>
              <p:custDataLst>
                <p:tags r:id="rId1"/>
              </p:custDataLst>
            </p:nvPr>
          </p:nvSpPr>
          <p:spPr bwMode="auto">
            <a:xfrm>
              <a:off x="2327" y="4553"/>
              <a:ext cx="4966" cy="5012"/>
            </a:xfrm>
            <a:prstGeom prst="ellipse">
              <a:avLst/>
            </a:prstGeom>
            <a:noFill/>
            <a:ln w="19050">
              <a:solidFill>
                <a:srgbClr val="4F5A71">
                  <a:alpha val="50000"/>
                </a:srgbClr>
              </a:solidFill>
              <a:round/>
            </a:ln>
            <a:effectLst/>
            <a:extLst>
              <a:ext uri="{909E8E84-426E-40DD-AFC4-6F175D3DCCD1}">
                <a14:hiddenFill xmlns="" xmlns:a14="http://schemas.microsoft.com/office/drawing/2010/main">
                  <a:solidFill>
                    <a:srgbClr val="4F5A71"/>
                  </a:solid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7" name="Line 16"/>
            <p:cNvSpPr>
              <a:spLocks noChangeShapeType="1"/>
            </p:cNvSpPr>
            <p:nvPr>
              <p:custDataLst>
                <p:tags r:id="rId2"/>
              </p:custDataLst>
            </p:nvPr>
          </p:nvSpPr>
          <p:spPr bwMode="gray">
            <a:xfrm>
              <a:off x="2055" y="7070"/>
              <a:ext cx="5486" cy="0"/>
            </a:xfrm>
            <a:prstGeom prst="line">
              <a:avLst/>
            </a:prstGeom>
            <a:noFill/>
            <a:ln w="28575">
              <a:solidFill>
                <a:srgbClr val="4F5A71">
                  <a:alpha val="50000"/>
                </a:srgbClr>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8" name="Line 17"/>
            <p:cNvSpPr>
              <a:spLocks noChangeShapeType="1"/>
            </p:cNvSpPr>
            <p:nvPr>
              <p:custDataLst>
                <p:tags r:id="rId3"/>
              </p:custDataLst>
            </p:nvPr>
          </p:nvSpPr>
          <p:spPr bwMode="gray">
            <a:xfrm>
              <a:off x="4798" y="4183"/>
              <a:ext cx="0" cy="5770"/>
            </a:xfrm>
            <a:prstGeom prst="line">
              <a:avLst/>
            </a:prstGeom>
            <a:noFill/>
            <a:ln w="28575">
              <a:solidFill>
                <a:srgbClr val="4F5A71">
                  <a:alpha val="50000"/>
                </a:srgbClr>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9" name="Oval 10"/>
            <p:cNvSpPr>
              <a:spLocks noChangeArrowheads="1"/>
            </p:cNvSpPr>
            <p:nvPr>
              <p:custDataLst>
                <p:tags r:id="rId4"/>
              </p:custDataLst>
            </p:nvPr>
          </p:nvSpPr>
          <p:spPr bwMode="gray">
            <a:xfrm>
              <a:off x="2599" y="4837"/>
              <a:ext cx="4393" cy="4427"/>
            </a:xfrm>
            <a:prstGeom prst="ellipse">
              <a:avLst/>
            </a:prstGeom>
            <a:noFill/>
            <a:ln w="9525">
              <a:solidFill>
                <a:srgbClr val="4F5A71">
                  <a:alpha val="50000"/>
                </a:srgbClr>
              </a:solidFill>
              <a:round/>
            </a:ln>
            <a:effectLst/>
            <a:extLst>
              <a:ext uri="{909E8E84-426E-40DD-AFC4-6F175D3DCCD1}">
                <a14:hiddenFill xmlns="" xmlns:a14="http://schemas.microsoft.com/office/drawing/2010/main">
                  <a:solidFill>
                    <a:srgbClr val="4F5A71">
                      <a:alpha val="64999"/>
                    </a:srgbClr>
                  </a:solid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10" name="Oval 13"/>
            <p:cNvSpPr>
              <a:spLocks noChangeArrowheads="1"/>
            </p:cNvSpPr>
            <p:nvPr>
              <p:custDataLst>
                <p:tags r:id="rId5"/>
              </p:custDataLst>
            </p:nvPr>
          </p:nvSpPr>
          <p:spPr bwMode="gray">
            <a:xfrm>
              <a:off x="3101" y="5368"/>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11" name="KSO_GT1"/>
            <p:cNvSpPr>
              <a:spLocks noChangeArrowheads="1"/>
            </p:cNvSpPr>
            <p:nvPr>
              <p:custDataLst>
                <p:tags r:id="rId6"/>
              </p:custDataLst>
            </p:nvPr>
          </p:nvSpPr>
          <p:spPr bwMode="gray">
            <a:xfrm>
              <a:off x="3707" y="5986"/>
              <a:ext cx="2155" cy="2201"/>
            </a:xfrm>
            <a:prstGeom prst="ellipse">
              <a:avLst/>
            </a:prstGeom>
            <a:solidFill>
              <a:srgbClr val="4F5A71"/>
            </a:solidFill>
            <a:ln>
              <a:noFill/>
            </a:ln>
            <a:effectLst/>
          </p:spPr>
          <p:txBody>
            <a:bodyPr wrap="square" lIns="0" tIns="0" rIns="0" bIns="0" anchor="ctr">
              <a:normAutofit fontScale="85000" lnSpcReduction="20000"/>
            </a:bodyPr>
            <a:lstStyle/>
            <a:p>
              <a:pPr algn="ctr">
                <a:defRPr/>
              </a:pPr>
              <a:r>
                <a:rPr lang="zh-CN" altLang="en-US" sz="2800" kern="0" dirty="0" smtClean="0">
                  <a:solidFill>
                    <a:srgbClr val="FFFFFF"/>
                  </a:solidFill>
                  <a:latin typeface="Arial" panose="020B0604020202020204" pitchFamily="34" charset="0"/>
                  <a:ea typeface="宋体" panose="02010600030101010101" pitchFamily="2" charset="-122"/>
                  <a:cs typeface="黑体" panose="02010609060101010101" pitchFamily="49" charset="-122"/>
                </a:rPr>
                <a:t>软件</a:t>
              </a:r>
              <a:endParaRPr lang="en-US" altLang="zh-CN" sz="2800" kern="0" dirty="0" smtClean="0">
                <a:solidFill>
                  <a:srgbClr val="FFFFFF"/>
                </a:solidFill>
                <a:latin typeface="Arial" panose="020B0604020202020204" pitchFamily="34" charset="0"/>
                <a:ea typeface="宋体" panose="02010600030101010101" pitchFamily="2" charset="-122"/>
                <a:cs typeface="黑体" panose="02010609060101010101" pitchFamily="49" charset="-122"/>
              </a:endParaRPr>
            </a:p>
            <a:p>
              <a:pPr algn="ctr">
                <a:defRPr/>
              </a:pPr>
              <a:r>
                <a:rPr lang="zh-CN" altLang="en-US" sz="2800" kern="0" dirty="0" smtClean="0">
                  <a:solidFill>
                    <a:srgbClr val="FFFFFF"/>
                  </a:solidFill>
                  <a:latin typeface="Arial" panose="020B0604020202020204" pitchFamily="34" charset="0"/>
                  <a:ea typeface="宋体" panose="02010600030101010101" pitchFamily="2" charset="-122"/>
                  <a:cs typeface="黑体" panose="02010609060101010101" pitchFamily="49" charset="-122"/>
                </a:rPr>
                <a:t>风险</a:t>
              </a:r>
              <a:endParaRPr lang="en-US" altLang="zh-CN" sz="2800" kern="0" dirty="0" smtClean="0">
                <a:solidFill>
                  <a:srgbClr val="FFFFFF"/>
                </a:solidFill>
                <a:latin typeface="Arial" panose="020B0604020202020204" pitchFamily="34" charset="0"/>
                <a:ea typeface="宋体" panose="02010600030101010101" pitchFamily="2" charset="-122"/>
                <a:cs typeface="黑体" panose="02010609060101010101" pitchFamily="49" charset="-122"/>
              </a:endParaRPr>
            </a:p>
            <a:p>
              <a:pPr algn="ctr">
                <a:defRPr/>
              </a:pPr>
              <a:r>
                <a:rPr lang="zh-CN" altLang="en-US" sz="2800" kern="0" dirty="0" smtClean="0">
                  <a:solidFill>
                    <a:srgbClr val="FFFFFF"/>
                  </a:solidFill>
                  <a:latin typeface="Arial" panose="020B0604020202020204" pitchFamily="34" charset="0"/>
                  <a:ea typeface="宋体" panose="02010600030101010101" pitchFamily="2" charset="-122"/>
                  <a:cs typeface="黑体" panose="02010609060101010101" pitchFamily="49" charset="-122"/>
                </a:rPr>
                <a:t>四要素</a:t>
              </a:r>
              <a:endParaRPr lang="zh-CN" altLang="en-US" sz="2800" kern="0" dirty="0">
                <a:solidFill>
                  <a:srgbClr val="FFFFFF"/>
                </a:solidFill>
                <a:latin typeface="Arial" panose="020B0604020202020204" pitchFamily="34" charset="0"/>
                <a:ea typeface="宋体" panose="02010600030101010101" pitchFamily="2" charset="-122"/>
                <a:cs typeface="黑体" panose="02010609060101010101" pitchFamily="49" charset="-122"/>
              </a:endParaRPr>
            </a:p>
          </p:txBody>
        </p:sp>
        <p:sp>
          <p:nvSpPr>
            <p:cNvPr id="12" name="Oval 19"/>
            <p:cNvSpPr>
              <a:spLocks noChangeArrowheads="1"/>
            </p:cNvSpPr>
            <p:nvPr>
              <p:custDataLst>
                <p:tags r:id="rId7"/>
              </p:custDataLst>
            </p:nvPr>
          </p:nvSpPr>
          <p:spPr bwMode="gray">
            <a:xfrm>
              <a:off x="5461" y="4468"/>
              <a:ext cx="396" cy="396"/>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13" name="文本框 41"/>
            <p:cNvSpPr txBox="1"/>
            <p:nvPr>
              <p:custDataLst>
                <p:tags r:id="rId8"/>
              </p:custDataLst>
            </p:nvPr>
          </p:nvSpPr>
          <p:spPr>
            <a:xfrm>
              <a:off x="6665" y="4235"/>
              <a:ext cx="11914" cy="1751"/>
            </a:xfrm>
            <a:prstGeom prst="rect">
              <a:avLst/>
            </a:prstGeom>
            <a:noFill/>
          </p:spPr>
          <p:txBody>
            <a:bodyPr wrap="square" lIns="0" rIns="0">
              <a:normAutofit/>
            </a:bodyPr>
            <a:lstStyle/>
            <a:p>
              <a:r>
                <a:rPr lang="zh-CN" dirty="0"/>
                <a:t>（</a:t>
              </a:r>
              <a:r>
                <a:rPr lang="en-US" altLang="zh-CN" dirty="0"/>
                <a:t>1</a:t>
              </a:r>
              <a:r>
                <a:rPr lang="zh-CN" altLang="en-US" dirty="0" smtClean="0"/>
                <a:t>）产品性能风险</a:t>
              </a:r>
              <a:r>
                <a:rPr lang="en-US" altLang="zh-CN" dirty="0" smtClean="0"/>
                <a:t>——</a:t>
              </a:r>
              <a:r>
                <a:rPr lang="zh-CN" altLang="en-US" dirty="0" smtClean="0"/>
                <a:t>产品能满足需求，符合其使用目的的不确定程度。</a:t>
              </a:r>
              <a:endParaRPr lang="zh-CN" altLang="en-US" dirty="0"/>
            </a:p>
          </p:txBody>
        </p:sp>
        <p:sp>
          <p:nvSpPr>
            <p:cNvPr id="14" name="Oval 19"/>
            <p:cNvSpPr>
              <a:spLocks noChangeArrowheads="1"/>
            </p:cNvSpPr>
            <p:nvPr>
              <p:custDataLst>
                <p:tags r:id="rId9"/>
              </p:custDataLst>
            </p:nvPr>
          </p:nvSpPr>
          <p:spPr bwMode="gray">
            <a:xfrm>
              <a:off x="6665" y="6082"/>
              <a:ext cx="396" cy="396"/>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15" name="文本框 44"/>
            <p:cNvSpPr txBox="1"/>
            <p:nvPr>
              <p:custDataLst>
                <p:tags r:id="rId10"/>
              </p:custDataLst>
            </p:nvPr>
          </p:nvSpPr>
          <p:spPr>
            <a:xfrm>
              <a:off x="7912" y="5986"/>
              <a:ext cx="10710" cy="1344"/>
            </a:xfrm>
            <a:prstGeom prst="rect">
              <a:avLst/>
            </a:prstGeom>
            <a:noFill/>
          </p:spPr>
          <p:txBody>
            <a:bodyPr wrap="square" lIns="0" rIns="0">
              <a:normAutofit/>
            </a:bodyPr>
            <a:lstStyle/>
            <a:p>
              <a:r>
                <a:rPr lang="zh-CN" dirty="0"/>
                <a:t>（</a:t>
              </a:r>
              <a:r>
                <a:rPr lang="en-US" altLang="zh-CN" dirty="0"/>
                <a:t>2</a:t>
              </a:r>
              <a:r>
                <a:rPr lang="zh-CN" altLang="en-US" dirty="0" smtClean="0"/>
                <a:t>）项目成本风险</a:t>
              </a:r>
              <a:r>
                <a:rPr lang="en-US" dirty="0" smtClean="0"/>
                <a:t>——</a:t>
              </a:r>
              <a:r>
                <a:rPr lang="zh-CN" altLang="en-US" dirty="0" smtClean="0"/>
                <a:t>能够维持项目预算的不确定程度。</a:t>
              </a:r>
              <a:endParaRPr lang="zh-CN" altLang="en-US" dirty="0"/>
            </a:p>
          </p:txBody>
        </p:sp>
        <p:sp>
          <p:nvSpPr>
            <p:cNvPr id="16" name="Oval 19"/>
            <p:cNvSpPr>
              <a:spLocks noChangeArrowheads="1"/>
            </p:cNvSpPr>
            <p:nvPr>
              <p:custDataLst>
                <p:tags r:id="rId11"/>
              </p:custDataLst>
            </p:nvPr>
          </p:nvSpPr>
          <p:spPr bwMode="gray">
            <a:xfrm>
              <a:off x="6665" y="7699"/>
              <a:ext cx="396" cy="396"/>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17" name="文本框 51"/>
            <p:cNvSpPr txBox="1"/>
            <p:nvPr>
              <p:custDataLst>
                <p:tags r:id="rId12"/>
              </p:custDataLst>
            </p:nvPr>
          </p:nvSpPr>
          <p:spPr>
            <a:xfrm>
              <a:off x="7912" y="7513"/>
              <a:ext cx="10617" cy="1317"/>
            </a:xfrm>
            <a:prstGeom prst="rect">
              <a:avLst/>
            </a:prstGeom>
            <a:noFill/>
          </p:spPr>
          <p:txBody>
            <a:bodyPr wrap="square" lIns="0" rIns="0">
              <a:normAutofit/>
            </a:bodyPr>
            <a:lstStyle/>
            <a:p>
              <a:pPr>
                <a:lnSpc>
                  <a:spcPct val="120000"/>
                </a:lnSpc>
              </a:pPr>
              <a:r>
                <a:rPr lang="zh-CN" altLang="en-US" dirty="0"/>
                <a:t>（</a:t>
              </a:r>
              <a:r>
                <a:rPr lang="en-US" altLang="zh-CN" dirty="0"/>
                <a:t>3</a:t>
              </a:r>
              <a:r>
                <a:rPr lang="zh-CN" altLang="en-US" dirty="0" smtClean="0"/>
                <a:t>）项目进度风险</a:t>
              </a:r>
              <a:r>
                <a:rPr lang="en-US" altLang="zh-CN" dirty="0" smtClean="0"/>
                <a:t>——</a:t>
              </a:r>
              <a:r>
                <a:rPr lang="zh-CN" altLang="en-US" dirty="0" smtClean="0"/>
                <a:t>能够实现项目进度计划且产品能按时交付的不确定程度。</a:t>
              </a:r>
              <a:endParaRPr lang="zh-CN" altLang="en-US" dirty="0"/>
            </a:p>
          </p:txBody>
        </p:sp>
        <p:sp>
          <p:nvSpPr>
            <p:cNvPr id="18" name="Oval 19"/>
            <p:cNvSpPr>
              <a:spLocks noChangeArrowheads="1"/>
            </p:cNvSpPr>
            <p:nvPr>
              <p:custDataLst>
                <p:tags r:id="rId13"/>
              </p:custDataLst>
            </p:nvPr>
          </p:nvSpPr>
          <p:spPr bwMode="gray">
            <a:xfrm>
              <a:off x="5464" y="9273"/>
              <a:ext cx="396" cy="396"/>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19" name="文本框 54"/>
            <p:cNvSpPr txBox="1"/>
            <p:nvPr>
              <p:custDataLst>
                <p:tags r:id="rId14"/>
              </p:custDataLst>
            </p:nvPr>
          </p:nvSpPr>
          <p:spPr>
            <a:xfrm>
              <a:off x="6690" y="9396"/>
              <a:ext cx="11366" cy="1230"/>
            </a:xfrm>
            <a:prstGeom prst="rect">
              <a:avLst/>
            </a:prstGeom>
            <a:noFill/>
          </p:spPr>
          <p:txBody>
            <a:bodyPr wrap="square" lIns="0" rIns="0">
              <a:normAutofit fontScale="97500"/>
            </a:bodyPr>
            <a:lstStyle/>
            <a:p>
              <a:r>
                <a:rPr lang="zh-CN" altLang="en-US" dirty="0"/>
                <a:t>（</a:t>
              </a:r>
              <a:r>
                <a:rPr lang="en-US" altLang="zh-CN" dirty="0"/>
                <a:t>4</a:t>
              </a:r>
              <a:r>
                <a:rPr lang="zh-CN" altLang="en-US" dirty="0" smtClean="0"/>
                <a:t>）产品维护风险</a:t>
              </a:r>
              <a:r>
                <a:rPr lang="en-US" altLang="zh-CN" dirty="0" smtClean="0"/>
                <a:t>——</a:t>
              </a:r>
              <a:r>
                <a:rPr lang="zh-CN" altLang="en-US" dirty="0" smtClean="0"/>
                <a:t>软件易于改错、适应和增强的不确定程度。</a:t>
              </a:r>
              <a:endParaRPr lang="zh-CN" altLang="en-US" dirty="0"/>
            </a:p>
          </p:txBody>
        </p:sp>
      </p:grpSp>
      <p:sp>
        <p:nvSpPr>
          <p:cNvPr id="24" name="TextBox 23"/>
          <p:cNvSpPr txBox="1"/>
          <p:nvPr/>
        </p:nvSpPr>
        <p:spPr>
          <a:xfrm>
            <a:off x="824415" y="2113881"/>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1</a:t>
            </a:r>
            <a:r>
              <a:rPr lang="zh-CN" altLang="en-US" sz="2400" dirty="0" smtClean="0"/>
              <a:t>．风险要素评估表</a:t>
            </a: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solidFill>
                  <a:srgbClr val="FF0000"/>
                </a:solidFill>
                <a:sym typeface="+mn-ea"/>
              </a:rPr>
              <a:t>10.7  软件开发风险管理</a:t>
            </a:r>
            <a:r>
              <a:rPr lang="zh-CN" altLang="en-US" dirty="0">
                <a:solidFill>
                  <a:srgbClr val="FF0000"/>
                </a:solidFill>
              </a:rPr>
              <a:t/>
            </a:r>
            <a:br>
              <a:rPr lang="zh-CN" altLang="en-US" dirty="0">
                <a:solidFill>
                  <a:srgbClr val="FF0000"/>
                </a:solidFill>
              </a:rPr>
            </a:br>
            <a:endParaRPr lang="zh-CN" altLang="zh-CN" dirty="0">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10.7.2  软件开发风险估算</a:t>
            </a:r>
          </a:p>
        </p:txBody>
      </p:sp>
      <p:sp>
        <p:nvSpPr>
          <p:cNvPr id="6" name="MH_Text_1"/>
          <p:cNvSpPr/>
          <p:nvPr>
            <p:custDataLst>
              <p:tags r:id="rId1"/>
            </p:custDataLst>
          </p:nvPr>
        </p:nvSpPr>
        <p:spPr>
          <a:xfrm>
            <a:off x="0" y="2648197"/>
            <a:ext cx="8716488" cy="308758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indent="457200">
              <a:lnSpc>
                <a:spcPct val="130000"/>
              </a:lnSpc>
            </a:pPr>
            <a:r>
              <a:rPr lang="zh-CN" altLang="en-US" sz="2000" dirty="0" smtClean="0">
                <a:solidFill>
                  <a:schemeClr val="tx1"/>
                </a:solidFill>
                <a:latin typeface="+mn-ea"/>
                <a:sym typeface="+mn-ea"/>
              </a:rPr>
              <a:t>影响风险要素的原因、措施称为</a:t>
            </a:r>
            <a:r>
              <a:rPr lang="zh-CN" altLang="en-US" sz="2000" b="1" dirty="0" smtClean="0">
                <a:solidFill>
                  <a:srgbClr val="FF0000"/>
                </a:solidFill>
                <a:latin typeface="+mn-ea"/>
                <a:sym typeface="+mn-ea"/>
              </a:rPr>
              <a:t>风险驱动因子</a:t>
            </a:r>
            <a:r>
              <a:rPr lang="zh-CN" altLang="en-US" sz="2000" dirty="0" smtClean="0">
                <a:solidFill>
                  <a:schemeClr val="tx1"/>
                </a:solidFill>
                <a:latin typeface="+mn-ea"/>
                <a:sym typeface="+mn-ea"/>
              </a:rPr>
              <a:t>。根据每一风险驱动因子对风险要素影响的严重程度，可以划分成</a:t>
            </a:r>
            <a:r>
              <a:rPr lang="en-US" altLang="en-US" sz="2000" dirty="0" smtClean="0">
                <a:solidFill>
                  <a:schemeClr val="tx1"/>
                </a:solidFill>
                <a:latin typeface="+mn-ea"/>
                <a:sym typeface="+mn-ea"/>
              </a:rPr>
              <a:t>4</a:t>
            </a:r>
            <a:r>
              <a:rPr lang="zh-CN" altLang="en-US" sz="2000" dirty="0" smtClean="0">
                <a:solidFill>
                  <a:schemeClr val="tx1"/>
                </a:solidFill>
                <a:latin typeface="+mn-ea"/>
                <a:sym typeface="+mn-ea"/>
              </a:rPr>
              <a:t>个等级：可忽略的、轻微的、严重的和灾难性的。</a:t>
            </a:r>
            <a:endParaRPr lang="en-US" altLang="zh-CN" sz="2000" dirty="0" smtClean="0">
              <a:solidFill>
                <a:schemeClr val="tx1"/>
              </a:solidFill>
              <a:latin typeface="+mn-ea"/>
            </a:endParaRPr>
          </a:p>
          <a:p>
            <a:pPr indent="457200">
              <a:lnSpc>
                <a:spcPct val="130000"/>
              </a:lnSpc>
            </a:pPr>
            <a:r>
              <a:rPr lang="zh-CN" altLang="en-US" sz="2000" dirty="0" smtClean="0">
                <a:solidFill>
                  <a:schemeClr val="tx1"/>
                </a:solidFill>
                <a:latin typeface="+mn-ea"/>
              </a:rPr>
              <a:t>风险要素评估表如表</a:t>
            </a:r>
            <a:r>
              <a:rPr lang="en-US" altLang="zh-CN" sz="2000" dirty="0" smtClean="0">
                <a:solidFill>
                  <a:schemeClr val="tx1"/>
                </a:solidFill>
                <a:latin typeface="+mn-ea"/>
              </a:rPr>
              <a:t>10-4</a:t>
            </a:r>
            <a:r>
              <a:rPr lang="zh-CN" altLang="en-US" sz="2000" dirty="0" smtClean="0">
                <a:solidFill>
                  <a:schemeClr val="tx1"/>
                </a:solidFill>
                <a:latin typeface="+mn-ea"/>
              </a:rPr>
              <a:t>所示，第</a:t>
            </a:r>
            <a:r>
              <a:rPr lang="en-US" altLang="zh-CN" sz="2000" dirty="0" err="1" smtClean="0">
                <a:solidFill>
                  <a:schemeClr val="tx1"/>
                </a:solidFill>
                <a:latin typeface="+mn-ea"/>
              </a:rPr>
              <a:t>i</a:t>
            </a:r>
            <a:r>
              <a:rPr lang="zh-CN" altLang="en-US" sz="2000" dirty="0" smtClean="0">
                <a:solidFill>
                  <a:schemeClr val="tx1"/>
                </a:solidFill>
                <a:latin typeface="+mn-ea"/>
              </a:rPr>
              <a:t>项风险可能给产品性能、项目成本、项目进度和产品维护带来不同程度的影响，表中进行了量化，用</a:t>
            </a:r>
            <a:r>
              <a:rPr lang="en-US" altLang="zh-CN" sz="2000" dirty="0" err="1" smtClean="0">
                <a:solidFill>
                  <a:schemeClr val="tx1"/>
                </a:solidFill>
                <a:latin typeface="+mn-ea"/>
              </a:rPr>
              <a:t>Xij</a:t>
            </a:r>
            <a:r>
              <a:rPr lang="zh-CN" altLang="en-US" sz="2000" dirty="0" smtClean="0">
                <a:solidFill>
                  <a:schemeClr val="tx1"/>
                </a:solidFill>
                <a:latin typeface="+mn-ea"/>
              </a:rPr>
              <a:t>表示。如果风险</a:t>
            </a:r>
            <a:r>
              <a:rPr lang="en-US" altLang="zh-CN" sz="2000" dirty="0" err="1" smtClean="0">
                <a:solidFill>
                  <a:schemeClr val="tx1"/>
                </a:solidFill>
                <a:latin typeface="+mn-ea"/>
              </a:rPr>
              <a:t>i</a:t>
            </a:r>
            <a:r>
              <a:rPr lang="zh-CN" altLang="en-US" sz="2000" dirty="0" smtClean="0">
                <a:solidFill>
                  <a:schemeClr val="tx1"/>
                </a:solidFill>
                <a:latin typeface="+mn-ea"/>
              </a:rPr>
              <a:t>对产品性能产生了灾难性影响，则</a:t>
            </a:r>
            <a:r>
              <a:rPr lang="en-US" altLang="zh-CN" sz="2000" dirty="0" smtClean="0">
                <a:solidFill>
                  <a:schemeClr val="tx1"/>
                </a:solidFill>
                <a:latin typeface="+mn-ea"/>
              </a:rPr>
              <a:t>Xi1</a:t>
            </a:r>
            <a:r>
              <a:rPr lang="zh-CN" altLang="en-US" sz="2000" dirty="0" smtClean="0">
                <a:solidFill>
                  <a:schemeClr val="tx1"/>
                </a:solidFill>
                <a:latin typeface="+mn-ea"/>
              </a:rPr>
              <a:t>取值为</a:t>
            </a:r>
            <a:r>
              <a:rPr lang="en-US" altLang="zh-CN" sz="2000" dirty="0" smtClean="0">
                <a:solidFill>
                  <a:schemeClr val="tx1"/>
                </a:solidFill>
                <a:latin typeface="+mn-ea"/>
              </a:rPr>
              <a:t>3</a:t>
            </a:r>
            <a:r>
              <a:rPr lang="zh-CN" altLang="en-US" sz="2000" dirty="0" smtClean="0">
                <a:solidFill>
                  <a:schemeClr val="tx1"/>
                </a:solidFill>
                <a:latin typeface="+mn-ea"/>
              </a:rPr>
              <a:t>；如果风险</a:t>
            </a:r>
            <a:r>
              <a:rPr lang="en-US" altLang="zh-CN" sz="2000" dirty="0" err="1" smtClean="0">
                <a:solidFill>
                  <a:schemeClr val="tx1"/>
                </a:solidFill>
                <a:latin typeface="+mn-ea"/>
              </a:rPr>
              <a:t>i</a:t>
            </a:r>
            <a:r>
              <a:rPr lang="zh-CN" altLang="en-US" sz="2000" dirty="0" smtClean="0">
                <a:solidFill>
                  <a:schemeClr val="tx1"/>
                </a:solidFill>
                <a:latin typeface="+mn-ea"/>
              </a:rPr>
              <a:t>对项目成本产生轻微影响，则</a:t>
            </a:r>
            <a:r>
              <a:rPr lang="en-US" altLang="zh-CN" sz="2000" dirty="0" smtClean="0">
                <a:solidFill>
                  <a:schemeClr val="tx1"/>
                </a:solidFill>
                <a:latin typeface="+mn-ea"/>
              </a:rPr>
              <a:t>Xi2</a:t>
            </a:r>
            <a:r>
              <a:rPr lang="zh-CN" altLang="en-US" sz="2000" dirty="0" smtClean="0">
                <a:solidFill>
                  <a:schemeClr val="tx1"/>
                </a:solidFill>
                <a:latin typeface="+mn-ea"/>
              </a:rPr>
              <a:t>取值为</a:t>
            </a:r>
            <a:r>
              <a:rPr lang="en-US" altLang="zh-CN" sz="2000" dirty="0" smtClean="0">
                <a:solidFill>
                  <a:schemeClr val="tx1"/>
                </a:solidFill>
                <a:latin typeface="+mn-ea"/>
              </a:rPr>
              <a:t>1</a:t>
            </a:r>
            <a:r>
              <a:rPr lang="zh-CN" altLang="en-US" sz="2000" dirty="0" smtClean="0">
                <a:solidFill>
                  <a:schemeClr val="tx1"/>
                </a:solidFill>
                <a:latin typeface="+mn-ea"/>
              </a:rPr>
              <a:t>，以此类推。</a:t>
            </a:r>
          </a:p>
        </p:txBody>
      </p:sp>
      <p:pic>
        <p:nvPicPr>
          <p:cNvPr id="7" name="图片 6" descr="timgCARP7CMO.jpg"/>
          <p:cNvPicPr>
            <a:picLocks noChangeAspect="1"/>
          </p:cNvPicPr>
          <p:nvPr/>
        </p:nvPicPr>
        <p:blipFill>
          <a:blip r:embed="rId3" cstate="print"/>
          <a:stretch>
            <a:fillRect/>
          </a:stretch>
        </p:blipFill>
        <p:spPr>
          <a:xfrm>
            <a:off x="8716488" y="2671948"/>
            <a:ext cx="3475512" cy="3077650"/>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863009" y="2600697"/>
          <a:ext cx="10231819" cy="3764760"/>
        </p:xfrm>
        <a:graphic>
          <a:graphicData uri="http://schemas.openxmlformats.org/drawingml/2006/table">
            <a:tbl>
              <a:tblPr/>
              <a:tblGrid>
                <a:gridCol w="1218675"/>
                <a:gridCol w="625890"/>
                <a:gridCol w="2238311"/>
                <a:gridCol w="2140575"/>
                <a:gridCol w="1814753"/>
                <a:gridCol w="2193615"/>
              </a:tblGrid>
              <a:tr h="752952">
                <a:tc gridSpan="2">
                  <a:txBody>
                    <a:bodyPr/>
                    <a:lstStyle/>
                    <a:p>
                      <a:pPr indent="266700" algn="just">
                        <a:spcAft>
                          <a:spcPts val="0"/>
                        </a:spcAft>
                      </a:pPr>
                      <a:r>
                        <a:rPr lang="en-US" sz="1600" kern="500" dirty="0">
                          <a:latin typeface="Times New Roman"/>
                          <a:ea typeface="宋体"/>
                        </a:rPr>
                        <a:t>     </a:t>
                      </a:r>
                      <a:r>
                        <a:rPr lang="zh-CN" sz="1600" kern="500" dirty="0">
                          <a:latin typeface="Times New Roman"/>
                          <a:ea typeface="宋体"/>
                        </a:rPr>
                        <a:t>风险</a:t>
                      </a:r>
                      <a:r>
                        <a:rPr lang="en-US" sz="1600" i="1" kern="500" dirty="0" err="1">
                          <a:latin typeface="Times New Roman"/>
                          <a:ea typeface="宋体"/>
                        </a:rPr>
                        <a:t>X</a:t>
                      </a:r>
                      <a:r>
                        <a:rPr lang="en-US" sz="1600" i="1" kern="500" baseline="-25000" dirty="0" err="1">
                          <a:latin typeface="Times New Roman"/>
                          <a:ea typeface="宋体"/>
                        </a:rPr>
                        <a:t>ij</a:t>
                      </a:r>
                      <a:endParaRPr lang="zh-CN" sz="1600" kern="500" dirty="0">
                        <a:latin typeface="Times New Roman"/>
                        <a:ea typeface="宋体"/>
                      </a:endParaRPr>
                    </a:p>
                    <a:p>
                      <a:pPr indent="57150" algn="just">
                        <a:spcAft>
                          <a:spcPts val="0"/>
                        </a:spcAft>
                      </a:pPr>
                      <a:r>
                        <a:rPr lang="zh-CN" sz="1600" kern="500" dirty="0">
                          <a:latin typeface="Times New Roman"/>
                          <a:ea typeface="宋体"/>
                        </a:rPr>
                        <a:t>影响</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solidFill>
                      <a:srgbClr val="FADCE9"/>
                    </a:solidFill>
                  </a:tcPr>
                </a:tc>
                <a:tc hMerge="1">
                  <a:txBody>
                    <a:bodyPr/>
                    <a:lstStyle/>
                    <a:p>
                      <a:endParaRPr lang="zh-CN" altLang="en-US"/>
                    </a:p>
                  </a:txBody>
                  <a:tcPr/>
                </a:tc>
                <a:tc>
                  <a:txBody>
                    <a:bodyPr/>
                    <a:lstStyle/>
                    <a:p>
                      <a:pPr indent="266700" algn="ctr">
                        <a:spcAft>
                          <a:spcPts val="0"/>
                        </a:spcAft>
                      </a:pPr>
                      <a:r>
                        <a:rPr lang="zh-CN" sz="1600" kern="500">
                          <a:latin typeface="Times New Roman"/>
                          <a:ea typeface="宋体"/>
                        </a:rPr>
                        <a:t>产品性能（</a:t>
                      </a:r>
                      <a:r>
                        <a:rPr lang="en-US" sz="1600" i="1" kern="500">
                          <a:latin typeface="Times New Roman"/>
                          <a:ea typeface="宋体"/>
                        </a:rPr>
                        <a:t>X</a:t>
                      </a:r>
                      <a:r>
                        <a:rPr lang="en-US" sz="1600" i="1" kern="500" baseline="-25000">
                          <a:latin typeface="Times New Roman"/>
                          <a:ea typeface="宋体"/>
                        </a:rPr>
                        <a:t>i</a:t>
                      </a:r>
                      <a:r>
                        <a:rPr lang="en-US" sz="1600" kern="500" baseline="-25000">
                          <a:latin typeface="Times New Roman"/>
                          <a:ea typeface="宋体"/>
                        </a:rPr>
                        <a:t>1</a:t>
                      </a: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indent="266700" algn="ctr">
                        <a:spcAft>
                          <a:spcPts val="0"/>
                        </a:spcAft>
                      </a:pPr>
                      <a:r>
                        <a:rPr lang="zh-CN" sz="1600" kern="500">
                          <a:latin typeface="Times New Roman"/>
                          <a:ea typeface="宋体"/>
                        </a:rPr>
                        <a:t>项目成本（</a:t>
                      </a:r>
                      <a:r>
                        <a:rPr lang="en-US" sz="1600" i="1" kern="500">
                          <a:latin typeface="Times New Roman"/>
                          <a:ea typeface="宋体"/>
                        </a:rPr>
                        <a:t>X</a:t>
                      </a:r>
                      <a:r>
                        <a:rPr lang="en-US" sz="1600" i="1" kern="500" baseline="-25000">
                          <a:latin typeface="Times New Roman"/>
                          <a:ea typeface="宋体"/>
                        </a:rPr>
                        <a:t>i</a:t>
                      </a:r>
                      <a:r>
                        <a:rPr lang="en-US" sz="1600" kern="500" baseline="-25000">
                          <a:latin typeface="Times New Roman"/>
                          <a:ea typeface="宋体"/>
                        </a:rPr>
                        <a:t>2</a:t>
                      </a: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indent="266700" algn="ctr">
                        <a:spcAft>
                          <a:spcPts val="0"/>
                        </a:spcAft>
                      </a:pPr>
                      <a:r>
                        <a:rPr lang="zh-CN" sz="1600" kern="500">
                          <a:latin typeface="Times New Roman"/>
                          <a:ea typeface="宋体"/>
                        </a:rPr>
                        <a:t>项目进度（</a:t>
                      </a:r>
                      <a:r>
                        <a:rPr lang="en-US" sz="1600" i="1" kern="500">
                          <a:latin typeface="Times New Roman"/>
                          <a:ea typeface="宋体"/>
                        </a:rPr>
                        <a:t>X</a:t>
                      </a:r>
                      <a:r>
                        <a:rPr lang="en-US" sz="1600" i="1" kern="500" baseline="-25000">
                          <a:latin typeface="Times New Roman"/>
                          <a:ea typeface="宋体"/>
                        </a:rPr>
                        <a:t>i</a:t>
                      </a:r>
                      <a:r>
                        <a:rPr lang="en-US" sz="1600" kern="500" baseline="-25000">
                          <a:latin typeface="Times New Roman"/>
                          <a:ea typeface="宋体"/>
                        </a:rPr>
                        <a:t>3</a:t>
                      </a: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indent="266700" algn="ctr">
                        <a:spcAft>
                          <a:spcPts val="0"/>
                        </a:spcAft>
                      </a:pPr>
                      <a:r>
                        <a:rPr lang="zh-CN" sz="1600" kern="500">
                          <a:latin typeface="Times New Roman"/>
                          <a:ea typeface="宋体"/>
                        </a:rPr>
                        <a:t>产品维护（</a:t>
                      </a:r>
                      <a:r>
                        <a:rPr lang="en-US" sz="1600" i="1" kern="500">
                          <a:latin typeface="Times New Roman"/>
                          <a:ea typeface="宋体"/>
                        </a:rPr>
                        <a:t>X</a:t>
                      </a:r>
                      <a:r>
                        <a:rPr lang="en-US" sz="1600" i="1" kern="500" baseline="-25000">
                          <a:latin typeface="Times New Roman"/>
                          <a:ea typeface="宋体"/>
                        </a:rPr>
                        <a:t>i</a:t>
                      </a:r>
                      <a:r>
                        <a:rPr lang="en-US" sz="1600" kern="500" baseline="-25000">
                          <a:latin typeface="Times New Roman"/>
                          <a:ea typeface="宋体"/>
                        </a:rPr>
                        <a:t>4</a:t>
                      </a: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r>
              <a:tr h="752952">
                <a:tc>
                  <a:txBody>
                    <a:bodyPr/>
                    <a:lstStyle/>
                    <a:p>
                      <a:pPr indent="266700" algn="just">
                        <a:spcAft>
                          <a:spcPts val="0"/>
                        </a:spcAft>
                      </a:pPr>
                      <a:r>
                        <a:rPr lang="zh-CN" sz="1600" kern="500">
                          <a:latin typeface="Times New Roman"/>
                          <a:ea typeface="宋体"/>
                        </a:rPr>
                        <a:t>灾难性的</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1600" kern="500">
                          <a:latin typeface="Times New Roman"/>
                          <a:ea typeface="宋体"/>
                        </a:rPr>
                        <a:t>3</a:t>
                      </a:r>
                      <a:endParaRPr lang="zh-CN"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产品无法达到合同要求的技术性能</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资金缺口很大，没有补充来源</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交付日期无限期延长</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不能支持软件维护和升级</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52952">
                <a:tc>
                  <a:txBody>
                    <a:bodyPr/>
                    <a:lstStyle/>
                    <a:p>
                      <a:pPr indent="266700" algn="just">
                        <a:spcAft>
                          <a:spcPts val="0"/>
                        </a:spcAft>
                      </a:pPr>
                      <a:r>
                        <a:rPr lang="zh-CN" sz="1600" kern="500">
                          <a:latin typeface="Times New Roman"/>
                          <a:ea typeface="宋体"/>
                        </a:rPr>
                        <a:t>严重的</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1600" kern="500">
                          <a:latin typeface="Times New Roman"/>
                          <a:ea typeface="宋体"/>
                        </a:rPr>
                        <a:t>2</a:t>
                      </a:r>
                      <a:endParaRPr lang="zh-CN"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dirty="0">
                          <a:latin typeface="Times New Roman"/>
                          <a:ea typeface="宋体"/>
                        </a:rPr>
                        <a:t>产品性能降低</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资金不足，可能超过预算较多</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交付日期可能推迟数月</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软件维护能力不够，不及时</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52952">
                <a:tc>
                  <a:txBody>
                    <a:bodyPr/>
                    <a:lstStyle/>
                    <a:p>
                      <a:pPr indent="266700" algn="just">
                        <a:spcAft>
                          <a:spcPts val="0"/>
                        </a:spcAft>
                      </a:pPr>
                      <a:r>
                        <a:rPr lang="zh-CN" sz="1600" kern="500">
                          <a:latin typeface="Times New Roman"/>
                          <a:ea typeface="宋体"/>
                        </a:rPr>
                        <a:t>轻微的</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1600" kern="500">
                          <a:latin typeface="Times New Roman"/>
                          <a:ea typeface="宋体"/>
                        </a:rPr>
                        <a:t>1</a:t>
                      </a:r>
                      <a:endParaRPr lang="zh-CN"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产品性能有些降低</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dirty="0">
                          <a:latin typeface="Times New Roman"/>
                          <a:ea typeface="宋体"/>
                        </a:rPr>
                        <a:t>超预算不多，基本符合预算要求</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基本按照进度完成</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能支持软件维护和升级</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52952">
                <a:tc>
                  <a:txBody>
                    <a:bodyPr/>
                    <a:lstStyle/>
                    <a:p>
                      <a:pPr indent="266700" algn="just">
                        <a:spcAft>
                          <a:spcPts val="0"/>
                        </a:spcAft>
                      </a:pPr>
                      <a:r>
                        <a:rPr lang="zh-CN" sz="1600" kern="500">
                          <a:latin typeface="Times New Roman"/>
                          <a:ea typeface="宋体"/>
                        </a:rPr>
                        <a:t>可忽略的</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1600" kern="500">
                          <a:latin typeface="Times New Roman"/>
                          <a:ea typeface="宋体"/>
                        </a:rPr>
                        <a:t>0</a:t>
                      </a:r>
                      <a:endParaRPr lang="zh-CN"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可以达到技术指标</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可能低于预算</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能按时，可能提前交付</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dirty="0">
                          <a:latin typeface="Times New Roman"/>
                          <a:ea typeface="宋体"/>
                        </a:rPr>
                        <a:t>能有效支持软件维护和升级</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矩形 4"/>
          <p:cNvSpPr/>
          <p:nvPr/>
        </p:nvSpPr>
        <p:spPr>
          <a:xfrm>
            <a:off x="4197903" y="2092425"/>
            <a:ext cx="3082895" cy="369332"/>
          </a:xfrm>
          <a:prstGeom prst="rect">
            <a:avLst/>
          </a:prstGeom>
        </p:spPr>
        <p:txBody>
          <a:bodyPr wrap="none">
            <a:spAutoFit/>
          </a:bodyPr>
          <a:lstStyle/>
          <a:p>
            <a:r>
              <a:rPr lang="zh-CN" altLang="en-US" dirty="0" smtClean="0"/>
              <a:t>表</a:t>
            </a:r>
            <a:r>
              <a:rPr lang="en-US" dirty="0" smtClean="0"/>
              <a:t>10-4  </a:t>
            </a:r>
            <a:r>
              <a:rPr lang="zh-CN" altLang="en-US" dirty="0" smtClean="0"/>
              <a:t>风险要素评估表示例</a:t>
            </a:r>
            <a:endParaRPr lang="zh-CN" altLang="en-US" dirty="0"/>
          </a:p>
        </p:txBody>
      </p:sp>
      <p:sp>
        <p:nvSpPr>
          <p:cNvPr id="6" name="标题 2"/>
          <p:cNvSpPr>
            <a:spLocks noGrp="1"/>
          </p:cNvSpPr>
          <p:nvPr>
            <p:ph type="title"/>
          </p:nvPr>
        </p:nvSpPr>
        <p:spPr>
          <a:xfrm>
            <a:off x="754063" y="261258"/>
            <a:ext cx="8415337" cy="855290"/>
          </a:xfrm>
        </p:spPr>
        <p:txBody>
          <a:bodyPr/>
          <a:lstStyle/>
          <a:p>
            <a:r>
              <a:rPr lang="zh-CN" altLang="en-US" dirty="0">
                <a:solidFill>
                  <a:srgbClr val="FF0000"/>
                </a:solidFill>
                <a:sym typeface="+mn-ea"/>
              </a:rPr>
              <a:t>10.7  软件开发风险管理</a:t>
            </a:r>
            <a:r>
              <a:rPr lang="zh-CN" altLang="en-US" dirty="0">
                <a:solidFill>
                  <a:srgbClr val="FF0000"/>
                </a:solidFill>
              </a:rPr>
              <a:t/>
            </a:r>
            <a:br>
              <a:rPr lang="zh-CN" altLang="en-US" dirty="0">
                <a:solidFill>
                  <a:srgbClr val="FF0000"/>
                </a:solidFill>
              </a:rPr>
            </a:br>
            <a:endParaRPr lang="zh-CN" altLang="zh-CN" dirty="0">
              <a:solidFill>
                <a:srgbClr val="FF0000"/>
              </a:solidFill>
              <a:sym typeface="+mn-ea"/>
            </a:endParaRPr>
          </a:p>
        </p:txBody>
      </p:sp>
      <p:sp>
        <p:nvSpPr>
          <p:cNvPr id="7"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10.7.2  软件开发风险估算</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10.7.2  软件开发风险估算</a:t>
            </a:r>
          </a:p>
        </p:txBody>
      </p:sp>
      <p:sp>
        <p:nvSpPr>
          <p:cNvPr id="5" name="文本框 99"/>
          <p:cNvSpPr txBox="1"/>
          <p:nvPr/>
        </p:nvSpPr>
        <p:spPr>
          <a:xfrm>
            <a:off x="899161" y="2428263"/>
            <a:ext cx="10165080" cy="4188381"/>
          </a:xfrm>
          <a:prstGeom prst="roundRect">
            <a:avLst/>
          </a:prstGeom>
          <a:noFill/>
          <a:ln w="9525">
            <a:noFill/>
            <a:prstDash val="sysDot"/>
          </a:ln>
        </p:spPr>
        <p:txBody>
          <a:bodyPr wrap="square">
            <a:spAutoFit/>
          </a:bodyPr>
          <a:lstStyle/>
          <a:p>
            <a:pPr indent="457200">
              <a:lnSpc>
                <a:spcPct val="150000"/>
              </a:lnSpc>
            </a:pPr>
            <a:r>
              <a:rPr lang="zh-CN" altLang="en-US" sz="2000" dirty="0" smtClean="0">
                <a:latin typeface="微软雅黑" panose="020B0503020204020204" charset="-122"/>
                <a:ea typeface="微软雅黑" panose="020B0503020204020204" charset="-122"/>
                <a:cs typeface="宋体" panose="02010600030101010101" pitchFamily="2" charset="-122"/>
              </a:rPr>
              <a:t>有了风险驱动因子的      取值之后，需要研究软件项目风险的估算公式。如果某软件项目共存在着</a:t>
            </a:r>
            <a:r>
              <a:rPr lang="en-US" altLang="zh-CN" sz="2000" dirty="0" smtClean="0">
                <a:latin typeface="微软雅黑" panose="020B0503020204020204" charset="-122"/>
                <a:ea typeface="微软雅黑" panose="020B0503020204020204" charset="-122"/>
                <a:cs typeface="宋体" panose="02010600030101010101" pitchFamily="2" charset="-122"/>
              </a:rPr>
              <a:t>L</a:t>
            </a:r>
            <a:r>
              <a:rPr lang="zh-CN" altLang="en-US" sz="2000" dirty="0" smtClean="0">
                <a:latin typeface="微软雅黑" panose="020B0503020204020204" charset="-122"/>
                <a:ea typeface="微软雅黑" panose="020B0503020204020204" charset="-122"/>
                <a:cs typeface="宋体" panose="02010600030101010101" pitchFamily="2" charset="-122"/>
              </a:rPr>
              <a:t>种主要风险，其中第</a:t>
            </a:r>
            <a:r>
              <a:rPr lang="en-US" altLang="zh-CN" sz="2000" dirty="0" err="1" smtClean="0">
                <a:latin typeface="微软雅黑" panose="020B0503020204020204" charset="-122"/>
                <a:ea typeface="微软雅黑" panose="020B0503020204020204" charset="-122"/>
                <a:cs typeface="宋体" panose="02010600030101010101" pitchFamily="2" charset="-122"/>
              </a:rPr>
              <a:t>i</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err="1" smtClean="0">
                <a:latin typeface="微软雅黑" panose="020B0503020204020204" charset="-122"/>
                <a:ea typeface="微软雅黑" panose="020B0503020204020204" charset="-122"/>
                <a:cs typeface="宋体" panose="02010600030101010101" pitchFamily="2" charset="-122"/>
              </a:rPr>
              <a:t>i</a:t>
            </a:r>
            <a:r>
              <a:rPr lang="en-US" altLang="zh-CN" sz="2000" dirty="0" smtClean="0">
                <a:latin typeface="微软雅黑" panose="020B0503020204020204" charset="-122"/>
                <a:ea typeface="微软雅黑" panose="020B0503020204020204" charset="-122"/>
                <a:cs typeface="宋体" panose="02010600030101010101" pitchFamily="2" charset="-122"/>
              </a:rPr>
              <a:t>=</a:t>
            </a:r>
            <a:r>
              <a:rPr lang="zh-CN" altLang="en-US" sz="2000" dirty="0" smtClean="0">
                <a:latin typeface="微软雅黑" panose="020B0503020204020204" charset="-122"/>
                <a:ea typeface="微软雅黑" panose="020B0503020204020204" charset="-122"/>
                <a:cs typeface="宋体" panose="02010600030101010101" pitchFamily="2" charset="-122"/>
              </a:rPr>
              <a:t> </a:t>
            </a:r>
            <a:r>
              <a:rPr lang="en-US" altLang="zh-CN" sz="2000" dirty="0" smtClean="0">
                <a:latin typeface="微软雅黑" panose="020B0503020204020204" charset="-122"/>
                <a:ea typeface="微软雅黑" panose="020B0503020204020204" charset="-122"/>
                <a:cs typeface="宋体" panose="02010600030101010101" pitchFamily="2" charset="-122"/>
              </a:rPr>
              <a:t>1</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smtClean="0">
                <a:latin typeface="微软雅黑" panose="020B0503020204020204" charset="-122"/>
                <a:ea typeface="微软雅黑" panose="020B0503020204020204" charset="-122"/>
                <a:cs typeface="宋体" panose="02010600030101010101" pitchFamily="2" charset="-122"/>
              </a:rPr>
              <a:t>2</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smtClean="0">
                <a:latin typeface="微软雅黑" panose="020B0503020204020204" charset="-122"/>
                <a:ea typeface="微软雅黑" panose="020B0503020204020204" charset="-122"/>
                <a:cs typeface="宋体" panose="02010600030101010101" pitchFamily="2" charset="-122"/>
              </a:rPr>
              <a:t>…</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smtClean="0">
                <a:latin typeface="微软雅黑" panose="020B0503020204020204" charset="-122"/>
                <a:ea typeface="微软雅黑" panose="020B0503020204020204" charset="-122"/>
                <a:cs typeface="宋体" panose="02010600030101010101" pitchFamily="2" charset="-122"/>
              </a:rPr>
              <a:t>L</a:t>
            </a:r>
            <a:r>
              <a:rPr lang="zh-CN" altLang="en-US" sz="2000" dirty="0" smtClean="0">
                <a:latin typeface="微软雅黑" panose="020B0503020204020204" charset="-122"/>
                <a:ea typeface="微软雅黑" panose="020B0503020204020204" charset="-122"/>
                <a:cs typeface="宋体" panose="02010600030101010101" pitchFamily="2" charset="-122"/>
              </a:rPr>
              <a:t>）种风险由</a:t>
            </a:r>
            <a:r>
              <a:rPr lang="en-US" altLang="zh-CN" sz="2000" dirty="0" smtClean="0">
                <a:latin typeface="微软雅黑" panose="020B0503020204020204" charset="-122"/>
                <a:ea typeface="微软雅黑" panose="020B0503020204020204" charset="-122"/>
                <a:cs typeface="宋体" panose="02010600030101010101" pitchFamily="2" charset="-122"/>
              </a:rPr>
              <a:t>K</a:t>
            </a:r>
            <a:r>
              <a:rPr lang="zh-CN" altLang="en-US" sz="2000" dirty="0" smtClean="0">
                <a:latin typeface="微软雅黑" panose="020B0503020204020204" charset="-122"/>
                <a:ea typeface="微软雅黑" panose="020B0503020204020204" charset="-122"/>
                <a:cs typeface="宋体" panose="02010600030101010101" pitchFamily="2" charset="-122"/>
              </a:rPr>
              <a:t>项风险要素组成，为每项风险要素     （</a:t>
            </a:r>
            <a:r>
              <a:rPr lang="en-US" altLang="zh-CN" sz="2000" dirty="0" smtClean="0">
                <a:latin typeface="微软雅黑" panose="020B0503020204020204" charset="-122"/>
                <a:ea typeface="微软雅黑" panose="020B0503020204020204" charset="-122"/>
                <a:cs typeface="宋体" panose="02010600030101010101" pitchFamily="2" charset="-122"/>
              </a:rPr>
              <a:t>j=</a:t>
            </a:r>
            <a:r>
              <a:rPr lang="zh-CN" altLang="en-US" sz="2000" dirty="0" smtClean="0">
                <a:latin typeface="微软雅黑" panose="020B0503020204020204" charset="-122"/>
                <a:ea typeface="微软雅黑" panose="020B0503020204020204" charset="-122"/>
                <a:cs typeface="宋体" panose="02010600030101010101" pitchFamily="2" charset="-122"/>
              </a:rPr>
              <a:t> </a:t>
            </a:r>
            <a:r>
              <a:rPr lang="en-US" altLang="zh-CN" sz="2000" dirty="0" smtClean="0">
                <a:latin typeface="微软雅黑" panose="020B0503020204020204" charset="-122"/>
                <a:ea typeface="微软雅黑" panose="020B0503020204020204" charset="-122"/>
                <a:cs typeface="宋体" panose="02010600030101010101" pitchFamily="2" charset="-122"/>
              </a:rPr>
              <a:t>1</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smtClean="0">
                <a:latin typeface="微软雅黑" panose="020B0503020204020204" charset="-122"/>
                <a:ea typeface="微软雅黑" panose="020B0503020204020204" charset="-122"/>
                <a:cs typeface="宋体" panose="02010600030101010101" pitchFamily="2" charset="-122"/>
              </a:rPr>
              <a:t>2</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smtClean="0">
                <a:latin typeface="微软雅黑" panose="020B0503020204020204" charset="-122"/>
                <a:ea typeface="微软雅黑" panose="020B0503020204020204" charset="-122"/>
                <a:cs typeface="宋体" panose="02010600030101010101" pitchFamily="2" charset="-122"/>
              </a:rPr>
              <a:t>…</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smtClean="0">
                <a:latin typeface="微软雅黑" panose="020B0503020204020204" charset="-122"/>
                <a:ea typeface="微软雅黑" panose="020B0503020204020204" charset="-122"/>
                <a:cs typeface="宋体" panose="02010600030101010101" pitchFamily="2" charset="-122"/>
              </a:rPr>
              <a:t>K</a:t>
            </a:r>
            <a:r>
              <a:rPr lang="zh-CN" altLang="en-US" sz="2000" dirty="0" smtClean="0">
                <a:latin typeface="微软雅黑" panose="020B0503020204020204" charset="-122"/>
                <a:ea typeface="微软雅黑" panose="020B0503020204020204" charset="-122"/>
                <a:cs typeface="宋体" panose="02010600030101010101" pitchFamily="2" charset="-122"/>
              </a:rPr>
              <a:t>）确定一个整数值</a:t>
            </a:r>
            <a:r>
              <a:rPr lang="en-US" altLang="zh-CN" sz="2000" dirty="0" smtClean="0">
                <a:latin typeface="微软雅黑" panose="020B0503020204020204" charset="-122"/>
                <a:ea typeface="微软雅黑" panose="020B0503020204020204" charset="-122"/>
                <a:cs typeface="宋体" panose="02010600030101010101" pitchFamily="2" charset="-122"/>
              </a:rPr>
              <a:t>0</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smtClean="0">
                <a:latin typeface="微软雅黑" panose="020B0503020204020204" charset="-122"/>
                <a:ea typeface="微软雅黑" panose="020B0503020204020204" charset="-122"/>
                <a:cs typeface="宋体" panose="02010600030101010101" pitchFamily="2" charset="-122"/>
              </a:rPr>
              <a:t>1</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smtClean="0">
                <a:latin typeface="微软雅黑" panose="020B0503020204020204" charset="-122"/>
                <a:ea typeface="微软雅黑" panose="020B0503020204020204" charset="-122"/>
                <a:cs typeface="宋体" panose="02010600030101010101" pitchFamily="2" charset="-122"/>
              </a:rPr>
              <a:t>2</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smtClean="0">
                <a:latin typeface="微软雅黑" panose="020B0503020204020204" charset="-122"/>
                <a:ea typeface="微软雅黑" panose="020B0503020204020204" charset="-122"/>
                <a:cs typeface="宋体" panose="02010600030101010101" pitchFamily="2" charset="-122"/>
              </a:rPr>
              <a:t>…</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smtClean="0">
                <a:latin typeface="微软雅黑" panose="020B0503020204020204" charset="-122"/>
                <a:ea typeface="微软雅黑" panose="020B0503020204020204" charset="-122"/>
                <a:cs typeface="宋体" panose="02010600030101010101" pitchFamily="2" charset="-122"/>
              </a:rPr>
              <a:t>N</a:t>
            </a:r>
            <a:r>
              <a:rPr lang="zh-CN" altLang="en-US" sz="2000" dirty="0" smtClean="0">
                <a:latin typeface="微软雅黑" panose="020B0503020204020204" charset="-122"/>
                <a:ea typeface="微软雅黑" panose="020B0503020204020204" charset="-122"/>
                <a:cs typeface="宋体" panose="02010600030101010101" pitchFamily="2" charset="-122"/>
              </a:rPr>
              <a:t>。理想的情况下取值为</a:t>
            </a:r>
            <a:r>
              <a:rPr lang="en-US" altLang="zh-CN" sz="2000" dirty="0" smtClean="0">
                <a:latin typeface="微软雅黑" panose="020B0503020204020204" charset="-122"/>
                <a:ea typeface="微软雅黑" panose="020B0503020204020204" charset="-122"/>
                <a:cs typeface="宋体" panose="02010600030101010101" pitchFamily="2" charset="-122"/>
              </a:rPr>
              <a:t>0</a:t>
            </a:r>
            <a:r>
              <a:rPr lang="zh-CN" altLang="en-US" sz="2000" dirty="0" smtClean="0">
                <a:latin typeface="微软雅黑" panose="020B0503020204020204" charset="-122"/>
                <a:ea typeface="微软雅黑" panose="020B0503020204020204" charset="-122"/>
                <a:cs typeface="宋体" panose="02010600030101010101" pitchFamily="2" charset="-122"/>
              </a:rPr>
              <a:t>，风险影响最严重时取值为</a:t>
            </a:r>
            <a:r>
              <a:rPr lang="en-US" altLang="zh-CN" sz="2000" dirty="0" smtClean="0">
                <a:latin typeface="微软雅黑" panose="020B0503020204020204" charset="-122"/>
                <a:ea typeface="微软雅黑" panose="020B0503020204020204" charset="-122"/>
                <a:cs typeface="宋体" panose="02010600030101010101" pitchFamily="2" charset="-122"/>
              </a:rPr>
              <a:t>N</a:t>
            </a:r>
            <a:r>
              <a:rPr lang="zh-CN" altLang="en-US" sz="2000" dirty="0" smtClean="0">
                <a:latin typeface="微软雅黑" panose="020B0503020204020204" charset="-122"/>
                <a:ea typeface="微软雅黑" panose="020B0503020204020204" charset="-122"/>
                <a:cs typeface="宋体" panose="02010600030101010101" pitchFamily="2" charset="-122"/>
              </a:rPr>
              <a:t>。对于中间状态依次取值为</a:t>
            </a:r>
            <a:r>
              <a:rPr lang="en-US" altLang="zh-CN" sz="2000" dirty="0" smtClean="0">
                <a:latin typeface="微软雅黑" panose="020B0503020204020204" charset="-122"/>
                <a:ea typeface="微软雅黑" panose="020B0503020204020204" charset="-122"/>
                <a:cs typeface="宋体" panose="02010600030101010101" pitchFamily="2" charset="-122"/>
              </a:rPr>
              <a:t>1</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smtClean="0">
                <a:latin typeface="微软雅黑" panose="020B0503020204020204" charset="-122"/>
                <a:ea typeface="微软雅黑" panose="020B0503020204020204" charset="-122"/>
                <a:cs typeface="宋体" panose="02010600030101010101" pitchFamily="2" charset="-122"/>
              </a:rPr>
              <a:t>2</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smtClean="0">
                <a:latin typeface="微软雅黑" panose="020B0503020204020204" charset="-122"/>
                <a:ea typeface="微软雅黑" panose="020B0503020204020204" charset="-122"/>
                <a:cs typeface="宋体" panose="02010600030101010101" pitchFamily="2" charset="-122"/>
              </a:rPr>
              <a:t>…</a:t>
            </a:r>
            <a:r>
              <a:rPr lang="zh-CN" altLang="en-US" sz="2000" dirty="0" smtClean="0">
                <a:latin typeface="微软雅黑" panose="020B0503020204020204" charset="-122"/>
                <a:ea typeface="微软雅黑" panose="020B0503020204020204" charset="-122"/>
                <a:cs typeface="宋体" panose="02010600030101010101" pitchFamily="2" charset="-122"/>
              </a:rPr>
              <a:t>， </a:t>
            </a:r>
            <a:r>
              <a:rPr lang="en-US" altLang="zh-CN" sz="2000" dirty="0" smtClean="0">
                <a:latin typeface="微软雅黑" panose="020B0503020204020204" charset="-122"/>
                <a:ea typeface="微软雅黑" panose="020B0503020204020204" charset="-122"/>
                <a:cs typeface="宋体" panose="02010600030101010101" pitchFamily="2" charset="-122"/>
              </a:rPr>
              <a:t>N-1</a:t>
            </a:r>
            <a:r>
              <a:rPr lang="zh-CN" altLang="en-US" sz="2000" dirty="0" smtClean="0">
                <a:latin typeface="微软雅黑" panose="020B0503020204020204" charset="-122"/>
                <a:ea typeface="微软雅黑" panose="020B0503020204020204" charset="-122"/>
                <a:cs typeface="宋体" panose="02010600030101010101" pitchFamily="2" charset="-122"/>
              </a:rPr>
              <a:t>。于是，第</a:t>
            </a:r>
            <a:r>
              <a:rPr lang="en-US" altLang="zh-CN" sz="2000" dirty="0" err="1" smtClean="0">
                <a:latin typeface="微软雅黑" panose="020B0503020204020204" charset="-122"/>
                <a:ea typeface="微软雅黑" panose="020B0503020204020204" charset="-122"/>
                <a:cs typeface="宋体" panose="02010600030101010101" pitchFamily="2" charset="-122"/>
              </a:rPr>
              <a:t>i</a:t>
            </a:r>
            <a:r>
              <a:rPr lang="zh-CN" altLang="en-US" sz="2000" dirty="0" smtClean="0">
                <a:latin typeface="微软雅黑" panose="020B0503020204020204" charset="-122"/>
                <a:ea typeface="微软雅黑" panose="020B0503020204020204" charset="-122"/>
                <a:cs typeface="宋体" panose="02010600030101010101" pitchFamily="2" charset="-122"/>
              </a:rPr>
              <a:t>种风险的估算值可以定义为：</a:t>
            </a:r>
          </a:p>
          <a:p>
            <a:pPr indent="457200">
              <a:lnSpc>
                <a:spcPct val="150000"/>
              </a:lnSpc>
            </a:pPr>
            <a:r>
              <a:rPr lang="zh-CN" altLang="en-US" sz="2000" dirty="0" smtClean="0">
                <a:latin typeface="微软雅黑" panose="020B0503020204020204" charset="-122"/>
                <a:ea typeface="微软雅黑" panose="020B0503020204020204" charset="-122"/>
                <a:cs typeface="宋体" panose="02010600030101010101" pitchFamily="2" charset="-122"/>
              </a:rPr>
              <a:t>                                                                                                             （</a:t>
            </a:r>
            <a:r>
              <a:rPr lang="en-US" altLang="zh-CN" sz="2000" dirty="0" smtClean="0">
                <a:latin typeface="微软雅黑" panose="020B0503020204020204" charset="-122"/>
                <a:ea typeface="微软雅黑" panose="020B0503020204020204" charset="-122"/>
                <a:cs typeface="宋体" panose="02010600030101010101" pitchFamily="2" charset="-122"/>
              </a:rPr>
              <a:t>10-1</a:t>
            </a:r>
            <a:r>
              <a:rPr lang="zh-CN" altLang="en-US" sz="2000" dirty="0" smtClean="0">
                <a:latin typeface="微软雅黑" panose="020B0503020204020204" charset="-122"/>
                <a:ea typeface="微软雅黑" panose="020B0503020204020204" charset="-122"/>
                <a:cs typeface="宋体" panose="02010600030101010101" pitchFamily="2" charset="-122"/>
              </a:rPr>
              <a:t>）</a:t>
            </a:r>
          </a:p>
          <a:p>
            <a:pPr indent="457200">
              <a:lnSpc>
                <a:spcPct val="150000"/>
              </a:lnSpc>
            </a:pPr>
            <a:r>
              <a:rPr lang="zh-CN" altLang="en-US" sz="2000" dirty="0" smtClean="0">
                <a:latin typeface="微软雅黑" panose="020B0503020204020204" charset="-122"/>
                <a:ea typeface="微软雅黑" panose="020B0503020204020204" charset="-122"/>
                <a:cs typeface="宋体" panose="02010600030101010101" pitchFamily="2" charset="-122"/>
              </a:rPr>
              <a:t>其中，     是权系数，满足              ，且      ≥</a:t>
            </a:r>
            <a:r>
              <a:rPr lang="en-US" altLang="zh-CN" sz="2000" dirty="0" smtClean="0">
                <a:latin typeface="微软雅黑" panose="020B0503020204020204" charset="-122"/>
                <a:ea typeface="微软雅黑" panose="020B0503020204020204" charset="-122"/>
                <a:cs typeface="宋体" panose="02010600030101010101" pitchFamily="2" charset="-122"/>
              </a:rPr>
              <a:t>0</a:t>
            </a:r>
            <a:r>
              <a:rPr lang="zh-CN" altLang="en-US" sz="2000" dirty="0" smtClean="0">
                <a:latin typeface="微软雅黑" panose="020B0503020204020204" charset="-122"/>
                <a:ea typeface="微软雅黑" panose="020B0503020204020204" charset="-122"/>
                <a:cs typeface="宋体" panose="02010600030101010101" pitchFamily="2" charset="-122"/>
              </a:rPr>
              <a:t>。</a:t>
            </a:r>
          </a:p>
          <a:p>
            <a:pPr indent="457200">
              <a:lnSpc>
                <a:spcPct val="150000"/>
              </a:lnSpc>
            </a:pPr>
            <a:r>
              <a:rPr lang="en-US" altLang="zh-CN" sz="2000" dirty="0" smtClean="0">
                <a:latin typeface="微软雅黑" panose="020B0503020204020204" charset="-122"/>
                <a:ea typeface="微软雅黑" panose="020B0503020204020204" charset="-122"/>
                <a:cs typeface="宋体" panose="02010600030101010101" pitchFamily="2" charset="-122"/>
              </a:rPr>
              <a:t>0≤     ≤1</a:t>
            </a:r>
            <a:r>
              <a:rPr lang="zh-CN" altLang="en-US" sz="2000" dirty="0" smtClean="0">
                <a:latin typeface="微软雅黑" panose="020B0503020204020204" charset="-122"/>
                <a:ea typeface="微软雅黑" panose="020B0503020204020204" charset="-122"/>
                <a:cs typeface="宋体" panose="02010600030101010101" pitchFamily="2" charset="-122"/>
              </a:rPr>
              <a:t>，      的值越小，表明第</a:t>
            </a:r>
            <a:r>
              <a:rPr lang="en-US" altLang="zh-CN" sz="2000" dirty="0" err="1" smtClean="0">
                <a:latin typeface="微软雅黑" panose="020B0503020204020204" charset="-122"/>
                <a:ea typeface="微软雅黑" panose="020B0503020204020204" charset="-122"/>
                <a:cs typeface="宋体" panose="02010600030101010101" pitchFamily="2" charset="-122"/>
              </a:rPr>
              <a:t>i</a:t>
            </a:r>
            <a:r>
              <a:rPr lang="zh-CN" altLang="en-US" sz="2000" dirty="0" smtClean="0">
                <a:latin typeface="微软雅黑" panose="020B0503020204020204" charset="-122"/>
                <a:ea typeface="微软雅黑" panose="020B0503020204020204" charset="-122"/>
                <a:cs typeface="宋体" panose="02010600030101010101" pitchFamily="2" charset="-122"/>
              </a:rPr>
              <a:t>种风险越小。</a:t>
            </a:r>
          </a:p>
        </p:txBody>
      </p:sp>
      <p:sp>
        <p:nvSpPr>
          <p:cNvPr id="238594"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38593" name="对象 284"/>
          <p:cNvGraphicFramePr>
            <a:graphicFrameLocks noChangeAspect="1"/>
          </p:cNvGraphicFramePr>
          <p:nvPr/>
        </p:nvGraphicFramePr>
        <p:xfrm>
          <a:off x="6659879" y="4706380"/>
          <a:ext cx="1990493" cy="960120"/>
        </p:xfrm>
        <a:graphic>
          <a:graphicData uri="http://schemas.openxmlformats.org/presentationml/2006/ole">
            <p:oleObj spid="_x0000_s238593" r:id="rId3" imgW="812447" imgH="393529" progId="Equation.DSMT4">
              <p:embed/>
            </p:oleObj>
          </a:graphicData>
        </a:graphic>
      </p:graphicFrame>
      <p:graphicFrame>
        <p:nvGraphicFramePr>
          <p:cNvPr id="7" name="对象 6"/>
          <p:cNvGraphicFramePr>
            <a:graphicFrameLocks noChangeAspect="1"/>
          </p:cNvGraphicFramePr>
          <p:nvPr/>
        </p:nvGraphicFramePr>
        <p:xfrm>
          <a:off x="3970020" y="2709622"/>
          <a:ext cx="403860" cy="426297"/>
        </p:xfrm>
        <a:graphic>
          <a:graphicData uri="http://schemas.openxmlformats.org/presentationml/2006/ole">
            <p:oleObj spid="_x0000_s238595" name="公式" r:id="rId4" imgW="228600" imgH="241200" progId="">
              <p:embed/>
            </p:oleObj>
          </a:graphicData>
        </a:graphic>
      </p:graphicFrame>
      <p:graphicFrame>
        <p:nvGraphicFramePr>
          <p:cNvPr id="238596" name="Object 4"/>
          <p:cNvGraphicFramePr>
            <a:graphicFrameLocks noChangeAspect="1"/>
          </p:cNvGraphicFramePr>
          <p:nvPr/>
        </p:nvGraphicFramePr>
        <p:xfrm>
          <a:off x="2997518" y="3625928"/>
          <a:ext cx="403225" cy="427037"/>
        </p:xfrm>
        <a:graphic>
          <a:graphicData uri="http://schemas.openxmlformats.org/presentationml/2006/ole">
            <p:oleObj spid="_x0000_s238596" name="公式" r:id="rId5" imgW="228600" imgH="241200" progId="">
              <p:embed/>
            </p:oleObj>
          </a:graphicData>
        </a:graphic>
      </p:graphicFrame>
      <p:graphicFrame>
        <p:nvGraphicFramePr>
          <p:cNvPr id="9" name="对象 8"/>
          <p:cNvGraphicFramePr>
            <a:graphicFrameLocks noChangeAspect="1"/>
          </p:cNvGraphicFramePr>
          <p:nvPr/>
        </p:nvGraphicFramePr>
        <p:xfrm>
          <a:off x="2330449" y="5452822"/>
          <a:ext cx="427991" cy="457518"/>
        </p:xfrm>
        <a:graphic>
          <a:graphicData uri="http://schemas.openxmlformats.org/presentationml/2006/ole">
            <p:oleObj spid="_x0000_s238597" name="公式" r:id="rId6" imgW="215640" imgH="241200" progId="">
              <p:embed/>
            </p:oleObj>
          </a:graphicData>
        </a:graphic>
      </p:graphicFrame>
      <p:sp>
        <p:nvSpPr>
          <p:cNvPr id="238599" name="Rectangle 7"/>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38598" name="对象 286"/>
          <p:cNvGraphicFramePr>
            <a:graphicFrameLocks noChangeAspect="1"/>
          </p:cNvGraphicFramePr>
          <p:nvPr/>
        </p:nvGraphicFramePr>
        <p:xfrm>
          <a:off x="4648200" y="5331220"/>
          <a:ext cx="960120" cy="702945"/>
        </p:xfrm>
        <a:graphic>
          <a:graphicData uri="http://schemas.openxmlformats.org/presentationml/2006/ole">
            <p:oleObj spid="_x0000_s238598" r:id="rId7" imgW="533169" imgH="393529" progId="Equation.DSMT4">
              <p:embed/>
            </p:oleObj>
          </a:graphicData>
        </a:graphic>
      </p:graphicFrame>
      <p:graphicFrame>
        <p:nvGraphicFramePr>
          <p:cNvPr id="238600" name="Object 8"/>
          <p:cNvGraphicFramePr>
            <a:graphicFrameLocks noChangeAspect="1"/>
          </p:cNvGraphicFramePr>
          <p:nvPr/>
        </p:nvGraphicFramePr>
        <p:xfrm>
          <a:off x="6127750" y="5424248"/>
          <a:ext cx="428625" cy="458787"/>
        </p:xfrm>
        <a:graphic>
          <a:graphicData uri="http://schemas.openxmlformats.org/presentationml/2006/ole">
            <p:oleObj spid="_x0000_s238600" name="公式" r:id="rId8" imgW="215640" imgH="241200" progId="">
              <p:embed/>
            </p:oleObj>
          </a:graphicData>
        </a:graphic>
      </p:graphicFrame>
      <p:graphicFrame>
        <p:nvGraphicFramePr>
          <p:cNvPr id="13" name="对象 12"/>
          <p:cNvGraphicFramePr>
            <a:graphicFrameLocks noChangeAspect="1"/>
          </p:cNvGraphicFramePr>
          <p:nvPr/>
        </p:nvGraphicFramePr>
        <p:xfrm>
          <a:off x="1998979" y="5916372"/>
          <a:ext cx="378461" cy="435928"/>
        </p:xfrm>
        <a:graphic>
          <a:graphicData uri="http://schemas.openxmlformats.org/presentationml/2006/ole">
            <p:oleObj spid="_x0000_s238601" name="公式" r:id="rId9" imgW="177480" imgH="228600" progId="">
              <p:embed/>
            </p:oleObj>
          </a:graphicData>
        </a:graphic>
      </p:graphicFrame>
      <p:graphicFrame>
        <p:nvGraphicFramePr>
          <p:cNvPr id="238602" name="Object 10"/>
          <p:cNvGraphicFramePr>
            <a:graphicFrameLocks noChangeAspect="1"/>
          </p:cNvGraphicFramePr>
          <p:nvPr/>
        </p:nvGraphicFramePr>
        <p:xfrm>
          <a:off x="2961323" y="5918278"/>
          <a:ext cx="379412" cy="436562"/>
        </p:xfrm>
        <a:graphic>
          <a:graphicData uri="http://schemas.openxmlformats.org/presentationml/2006/ole">
            <p:oleObj spid="_x0000_s238602" name="公式" r:id="rId10" imgW="177480" imgH="228600" progId="">
              <p:embed/>
            </p:oleObj>
          </a:graphicData>
        </a:graphic>
      </p:graphicFrame>
      <p:sp>
        <p:nvSpPr>
          <p:cNvPr id="15" name="TextBox 14"/>
          <p:cNvSpPr txBox="1"/>
          <p:nvPr/>
        </p:nvSpPr>
        <p:spPr>
          <a:xfrm>
            <a:off x="824415" y="2113881"/>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2</a:t>
            </a:r>
            <a:r>
              <a:rPr lang="zh-CN" altLang="en-US" sz="2400" dirty="0" smtClean="0"/>
              <a:t>．软件项目风险的估算公式</a:t>
            </a: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10.7.2  软件开发风险估算</a:t>
            </a:r>
          </a:p>
        </p:txBody>
      </p:sp>
      <p:sp>
        <p:nvSpPr>
          <p:cNvPr id="5" name="文本框 99"/>
          <p:cNvSpPr txBox="1"/>
          <p:nvPr/>
        </p:nvSpPr>
        <p:spPr>
          <a:xfrm>
            <a:off x="899161" y="2392638"/>
            <a:ext cx="10165080" cy="3677603"/>
          </a:xfrm>
          <a:prstGeom prst="roundRect">
            <a:avLst/>
          </a:prstGeom>
          <a:noFill/>
          <a:ln w="9525">
            <a:noFill/>
            <a:prstDash val="sysDot"/>
          </a:ln>
        </p:spPr>
        <p:txBody>
          <a:bodyPr wrap="square">
            <a:spAutoFit/>
          </a:bodyPr>
          <a:lstStyle/>
          <a:p>
            <a:pPr indent="457200">
              <a:lnSpc>
                <a:spcPct val="150000"/>
              </a:lnSpc>
            </a:pPr>
            <a:r>
              <a:rPr lang="zh-CN" altLang="en-US" sz="2000" dirty="0" smtClean="0">
                <a:latin typeface="微软雅黑" panose="020B0503020204020204" charset="-122"/>
                <a:ea typeface="微软雅黑" panose="020B0503020204020204" charset="-122"/>
                <a:cs typeface="宋体" panose="02010600030101010101" pitchFamily="2" charset="-122"/>
              </a:rPr>
              <a:t>如果第</a:t>
            </a:r>
            <a:r>
              <a:rPr lang="en-US" altLang="zh-CN" sz="2000" dirty="0" err="1" smtClean="0">
                <a:latin typeface="微软雅黑" panose="020B0503020204020204" charset="-122"/>
                <a:ea typeface="微软雅黑" panose="020B0503020204020204" charset="-122"/>
                <a:cs typeface="宋体" panose="02010600030101010101" pitchFamily="2" charset="-122"/>
              </a:rPr>
              <a:t>i</a:t>
            </a:r>
            <a:r>
              <a:rPr lang="zh-CN" altLang="en-US" sz="2000" dirty="0" smtClean="0">
                <a:latin typeface="微软雅黑" panose="020B0503020204020204" charset="-122"/>
                <a:ea typeface="微软雅黑" panose="020B0503020204020204" charset="-122"/>
                <a:cs typeface="宋体" panose="02010600030101010101" pitchFamily="2" charset="-122"/>
              </a:rPr>
              <a:t>种风险对整个软件项目的风险估算加权系数是    （ </a:t>
            </a:r>
            <a:r>
              <a:rPr lang="en-US" altLang="zh-CN" sz="2000" dirty="0" err="1" smtClean="0">
                <a:latin typeface="微软雅黑" panose="020B0503020204020204" charset="-122"/>
                <a:ea typeface="微软雅黑" panose="020B0503020204020204" charset="-122"/>
                <a:cs typeface="宋体" panose="02010600030101010101" pitchFamily="2" charset="-122"/>
              </a:rPr>
              <a:t>i</a:t>
            </a:r>
            <a:r>
              <a:rPr lang="en-US" altLang="zh-CN" sz="2000" dirty="0" smtClean="0">
                <a:latin typeface="微软雅黑" panose="020B0503020204020204" charset="-122"/>
                <a:ea typeface="微软雅黑" panose="020B0503020204020204" charset="-122"/>
                <a:cs typeface="宋体" panose="02010600030101010101" pitchFamily="2" charset="-122"/>
              </a:rPr>
              <a:t>=1</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smtClean="0">
                <a:latin typeface="微软雅黑" panose="020B0503020204020204" charset="-122"/>
                <a:ea typeface="微软雅黑" panose="020B0503020204020204" charset="-122"/>
                <a:cs typeface="宋体" panose="02010600030101010101" pitchFamily="2" charset="-122"/>
              </a:rPr>
              <a:t>2</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smtClean="0">
                <a:latin typeface="微软雅黑" panose="020B0503020204020204" charset="-122"/>
                <a:ea typeface="微软雅黑" panose="020B0503020204020204" charset="-122"/>
                <a:cs typeface="宋体" panose="02010600030101010101" pitchFamily="2" charset="-122"/>
              </a:rPr>
              <a:t>…</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smtClean="0">
                <a:latin typeface="微软雅黑" panose="020B0503020204020204" charset="-122"/>
                <a:ea typeface="微软雅黑" panose="020B0503020204020204" charset="-122"/>
                <a:cs typeface="宋体" panose="02010600030101010101" pitchFamily="2" charset="-122"/>
              </a:rPr>
              <a:t>L</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smtClean="0">
                <a:latin typeface="微软雅黑" panose="020B0503020204020204" charset="-122"/>
                <a:ea typeface="微软雅黑" panose="020B0503020204020204" charset="-122"/>
                <a:cs typeface="宋体" panose="02010600030101010101" pitchFamily="2" charset="-122"/>
              </a:rPr>
              <a:t>L</a:t>
            </a:r>
            <a:r>
              <a:rPr lang="zh-CN" altLang="en-US" sz="2000" dirty="0" smtClean="0">
                <a:latin typeface="微软雅黑" panose="020B0503020204020204" charset="-122"/>
                <a:ea typeface="微软雅黑" panose="020B0503020204020204" charset="-122"/>
                <a:cs typeface="宋体" panose="02010600030101010101" pitchFamily="2" charset="-122"/>
              </a:rPr>
              <a:t>为整个软件项目存在的风险个数），             ，则软件项目风险估算公式定义为                                                                                   </a:t>
            </a:r>
            <a:endParaRPr lang="en-US" altLang="zh-CN" sz="2000" dirty="0" smtClean="0">
              <a:latin typeface="微软雅黑" panose="020B0503020204020204" charset="-122"/>
              <a:ea typeface="微软雅黑" panose="020B0503020204020204" charset="-122"/>
              <a:cs typeface="宋体" panose="02010600030101010101" pitchFamily="2" charset="-122"/>
            </a:endParaRPr>
          </a:p>
          <a:p>
            <a:pPr indent="457200">
              <a:lnSpc>
                <a:spcPct val="150000"/>
              </a:lnSpc>
            </a:pPr>
            <a:r>
              <a:rPr lang="zh-CN" altLang="en-US" sz="2000" dirty="0" smtClean="0">
                <a:latin typeface="微软雅黑" panose="020B0503020204020204" charset="-122"/>
                <a:ea typeface="微软雅黑" panose="020B0503020204020204" charset="-122"/>
                <a:cs typeface="宋体" panose="02010600030101010101" pitchFamily="2" charset="-122"/>
              </a:rPr>
              <a:t>                                                                                                        （</a:t>
            </a:r>
            <a:r>
              <a:rPr lang="en-US" altLang="zh-CN" sz="2000" dirty="0" smtClean="0">
                <a:latin typeface="微软雅黑" panose="020B0503020204020204" charset="-122"/>
                <a:ea typeface="微软雅黑" panose="020B0503020204020204" charset="-122"/>
                <a:cs typeface="宋体" panose="02010600030101010101" pitchFamily="2" charset="-122"/>
              </a:rPr>
              <a:t>10-2</a:t>
            </a:r>
            <a:r>
              <a:rPr lang="zh-CN" altLang="en-US" sz="2000" dirty="0" smtClean="0">
                <a:latin typeface="微软雅黑" panose="020B0503020204020204" charset="-122"/>
                <a:ea typeface="微软雅黑" panose="020B0503020204020204" charset="-122"/>
                <a:cs typeface="宋体" panose="02010600030101010101" pitchFamily="2" charset="-122"/>
              </a:rPr>
              <a:t>）</a:t>
            </a:r>
            <a:endParaRPr lang="en-US" altLang="zh-CN" sz="2000" dirty="0" smtClean="0">
              <a:latin typeface="微软雅黑" panose="020B0503020204020204" charset="-122"/>
              <a:ea typeface="微软雅黑" panose="020B0503020204020204" charset="-122"/>
              <a:cs typeface="宋体" panose="02010600030101010101" pitchFamily="2" charset="-122"/>
            </a:endParaRPr>
          </a:p>
          <a:p>
            <a:pPr indent="457200">
              <a:lnSpc>
                <a:spcPct val="150000"/>
              </a:lnSpc>
            </a:pPr>
            <a:r>
              <a:rPr lang="zh-CN" altLang="en-US" sz="2000" dirty="0" smtClean="0">
                <a:latin typeface="微软雅黑" panose="020B0503020204020204" charset="-122"/>
                <a:ea typeface="微软雅黑" panose="020B0503020204020204" charset="-122"/>
                <a:cs typeface="宋体" panose="02010600030101010101" pitchFamily="2" charset="-122"/>
              </a:rPr>
              <a:t>或者可以理解为              ，其中每个              。</a:t>
            </a:r>
          </a:p>
          <a:p>
            <a:pPr indent="457200">
              <a:lnSpc>
                <a:spcPct val="150000"/>
              </a:lnSpc>
            </a:pPr>
            <a:r>
              <a:rPr lang="zh-CN" altLang="en-US" sz="2000" dirty="0" smtClean="0">
                <a:latin typeface="微软雅黑" panose="020B0503020204020204" charset="-122"/>
                <a:ea typeface="微软雅黑" panose="020B0503020204020204" charset="-122"/>
                <a:cs typeface="宋体" panose="02010600030101010101" pitchFamily="2" charset="-122"/>
              </a:rPr>
              <a:t>可以验证，</a:t>
            </a:r>
            <a:r>
              <a:rPr lang="en-US" altLang="zh-CN" sz="2000" dirty="0" smtClean="0">
                <a:latin typeface="微软雅黑" panose="020B0503020204020204" charset="-122"/>
                <a:ea typeface="微软雅黑" panose="020B0503020204020204" charset="-122"/>
                <a:cs typeface="宋体" panose="02010600030101010101" pitchFamily="2" charset="-122"/>
              </a:rPr>
              <a:t>0≤R≤1</a:t>
            </a:r>
            <a:r>
              <a:rPr lang="zh-CN" altLang="en-US" sz="2000" dirty="0" smtClean="0">
                <a:latin typeface="微软雅黑" panose="020B0503020204020204" charset="-122"/>
                <a:ea typeface="微软雅黑" panose="020B0503020204020204" charset="-122"/>
                <a:cs typeface="宋体" panose="02010600030101010101" pitchFamily="2" charset="-122"/>
              </a:rPr>
              <a:t>，当</a:t>
            </a:r>
            <a:r>
              <a:rPr lang="en-US" altLang="zh-CN" sz="2000" dirty="0" smtClean="0">
                <a:latin typeface="微软雅黑" panose="020B0503020204020204" charset="-122"/>
                <a:ea typeface="微软雅黑" panose="020B0503020204020204" charset="-122"/>
                <a:cs typeface="宋体" panose="02010600030101010101" pitchFamily="2" charset="-122"/>
              </a:rPr>
              <a:t>R</a:t>
            </a:r>
            <a:r>
              <a:rPr lang="zh-CN" altLang="en-US" sz="2000" dirty="0" smtClean="0">
                <a:latin typeface="微软雅黑" panose="020B0503020204020204" charset="-122"/>
                <a:ea typeface="微软雅黑" panose="020B0503020204020204" charset="-122"/>
                <a:cs typeface="宋体" panose="02010600030101010101" pitchFamily="2" charset="-122"/>
              </a:rPr>
              <a:t>接近于</a:t>
            </a:r>
            <a:r>
              <a:rPr lang="en-US" altLang="zh-CN" sz="2000" dirty="0" smtClean="0">
                <a:latin typeface="微软雅黑" panose="020B0503020204020204" charset="-122"/>
                <a:ea typeface="微软雅黑" panose="020B0503020204020204" charset="-122"/>
                <a:cs typeface="宋体" panose="02010600030101010101" pitchFamily="2" charset="-122"/>
              </a:rPr>
              <a:t>0</a:t>
            </a:r>
            <a:r>
              <a:rPr lang="zh-CN" altLang="en-US" sz="2000" dirty="0" smtClean="0">
                <a:latin typeface="微软雅黑" panose="020B0503020204020204" charset="-122"/>
                <a:ea typeface="微软雅黑" panose="020B0503020204020204" charset="-122"/>
                <a:cs typeface="宋体" panose="02010600030101010101" pitchFamily="2" charset="-122"/>
              </a:rPr>
              <a:t>时表示风险比较小，</a:t>
            </a:r>
            <a:r>
              <a:rPr lang="en-US" altLang="zh-CN" sz="2000" dirty="0" smtClean="0">
                <a:latin typeface="微软雅黑" panose="020B0503020204020204" charset="-122"/>
                <a:ea typeface="微软雅黑" panose="020B0503020204020204" charset="-122"/>
                <a:cs typeface="宋体" panose="02010600030101010101" pitchFamily="2" charset="-122"/>
              </a:rPr>
              <a:t>R</a:t>
            </a:r>
            <a:r>
              <a:rPr lang="zh-CN" altLang="en-US" sz="2000" dirty="0" smtClean="0">
                <a:latin typeface="微软雅黑" panose="020B0503020204020204" charset="-122"/>
                <a:ea typeface="微软雅黑" panose="020B0503020204020204" charset="-122"/>
                <a:cs typeface="宋体" panose="02010600030101010101" pitchFamily="2" charset="-122"/>
              </a:rPr>
              <a:t>越接近于</a:t>
            </a:r>
            <a:r>
              <a:rPr lang="en-US" altLang="zh-CN" sz="2000" dirty="0" smtClean="0">
                <a:latin typeface="微软雅黑" panose="020B0503020204020204" charset="-122"/>
                <a:ea typeface="微软雅黑" panose="020B0503020204020204" charset="-122"/>
                <a:cs typeface="宋体" panose="02010600030101010101" pitchFamily="2" charset="-122"/>
              </a:rPr>
              <a:t>1</a:t>
            </a:r>
            <a:r>
              <a:rPr lang="zh-CN" altLang="en-US" sz="2000" dirty="0" smtClean="0">
                <a:latin typeface="微软雅黑" panose="020B0503020204020204" charset="-122"/>
                <a:ea typeface="微软雅黑" panose="020B0503020204020204" charset="-122"/>
                <a:cs typeface="宋体" panose="02010600030101010101" pitchFamily="2" charset="-122"/>
              </a:rPr>
              <a:t>表示风险越大。当 较大时       ，表示第</a:t>
            </a:r>
            <a:r>
              <a:rPr lang="en-US" altLang="zh-CN" sz="2000" dirty="0" err="1" smtClean="0">
                <a:latin typeface="微软雅黑" panose="020B0503020204020204" charset="-122"/>
                <a:ea typeface="微软雅黑" panose="020B0503020204020204" charset="-122"/>
                <a:cs typeface="宋体" panose="02010600030101010101" pitchFamily="2" charset="-122"/>
              </a:rPr>
              <a:t>i</a:t>
            </a:r>
            <a:r>
              <a:rPr lang="zh-CN" altLang="en-US" sz="2000" dirty="0" smtClean="0">
                <a:latin typeface="微软雅黑" panose="020B0503020204020204" charset="-122"/>
                <a:ea typeface="微软雅黑" panose="020B0503020204020204" charset="-122"/>
                <a:cs typeface="宋体" panose="02010600030101010101" pitchFamily="2" charset="-122"/>
              </a:rPr>
              <a:t>类风险出现并带来不利影响的可能性较大，必须引起软件项目管理人员的重视，去设法减小      的值。</a:t>
            </a:r>
          </a:p>
        </p:txBody>
      </p:sp>
      <p:graphicFrame>
        <p:nvGraphicFramePr>
          <p:cNvPr id="6" name="对象 5"/>
          <p:cNvGraphicFramePr>
            <a:graphicFrameLocks noChangeAspect="1"/>
          </p:cNvGraphicFramePr>
          <p:nvPr/>
        </p:nvGraphicFramePr>
        <p:xfrm>
          <a:off x="7576820" y="2577032"/>
          <a:ext cx="363220" cy="466997"/>
        </p:xfrm>
        <a:graphic>
          <a:graphicData uri="http://schemas.openxmlformats.org/presentationml/2006/ole">
            <p:oleObj spid="_x0000_s235521" name="公式" r:id="rId3" imgW="177480" imgH="228600" progId="">
              <p:embed/>
            </p:oleObj>
          </a:graphicData>
        </a:graphic>
      </p:graphicFrame>
      <p:sp>
        <p:nvSpPr>
          <p:cNvPr id="235523" name="Rectangle 3"/>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35522" name="对象 292"/>
          <p:cNvGraphicFramePr>
            <a:graphicFrameLocks noChangeAspect="1"/>
          </p:cNvGraphicFramePr>
          <p:nvPr/>
        </p:nvGraphicFramePr>
        <p:xfrm>
          <a:off x="4815840" y="3043440"/>
          <a:ext cx="922020" cy="726977"/>
        </p:xfrm>
        <a:graphic>
          <a:graphicData uri="http://schemas.openxmlformats.org/presentationml/2006/ole">
            <p:oleObj spid="_x0000_s235522" r:id="rId4" imgW="495085" imgH="393529" progId="Equation.DSMT4">
              <p:embed/>
            </p:oleObj>
          </a:graphicData>
        </a:graphic>
      </p:graphicFrame>
      <p:sp>
        <p:nvSpPr>
          <p:cNvPr id="235525"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35524" name="对象 293"/>
          <p:cNvGraphicFramePr>
            <a:graphicFrameLocks noChangeAspect="1"/>
          </p:cNvGraphicFramePr>
          <p:nvPr/>
        </p:nvGraphicFramePr>
        <p:xfrm>
          <a:off x="6233160" y="3454893"/>
          <a:ext cx="1373068" cy="670587"/>
        </p:xfrm>
        <a:graphic>
          <a:graphicData uri="http://schemas.openxmlformats.org/presentationml/2006/ole">
            <p:oleObj spid="_x0000_s235524" r:id="rId5" imgW="660113" imgH="393529" progId="Equation.DSMT4">
              <p:embed/>
            </p:oleObj>
          </a:graphicData>
        </a:graphic>
      </p:graphicFrame>
      <p:sp>
        <p:nvSpPr>
          <p:cNvPr id="235527" name="Rectangle 7"/>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35526" name="对象 294"/>
          <p:cNvGraphicFramePr>
            <a:graphicFrameLocks noChangeAspect="1"/>
          </p:cNvGraphicFramePr>
          <p:nvPr/>
        </p:nvGraphicFramePr>
        <p:xfrm>
          <a:off x="3505200" y="3957841"/>
          <a:ext cx="975360" cy="609600"/>
        </p:xfrm>
        <a:graphic>
          <a:graphicData uri="http://schemas.openxmlformats.org/presentationml/2006/ole">
            <p:oleObj spid="_x0000_s235526" r:id="rId6" imgW="545863" imgH="393529" progId="Equation.DSMT4">
              <p:embed/>
            </p:oleObj>
          </a:graphicData>
        </a:graphic>
      </p:graphicFrame>
      <p:sp>
        <p:nvSpPr>
          <p:cNvPr id="235529" name="Rectangle 9"/>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35528" name="对象 295"/>
          <p:cNvGraphicFramePr>
            <a:graphicFrameLocks noChangeAspect="1"/>
          </p:cNvGraphicFramePr>
          <p:nvPr/>
        </p:nvGraphicFramePr>
        <p:xfrm>
          <a:off x="5699760" y="4034040"/>
          <a:ext cx="996261" cy="396240"/>
        </p:xfrm>
        <a:graphic>
          <a:graphicData uri="http://schemas.openxmlformats.org/presentationml/2006/ole">
            <p:oleObj spid="_x0000_s235528" r:id="rId7" imgW="520248" imgH="203024" progId="Equation.DSMT4">
              <p:embed/>
            </p:oleObj>
          </a:graphicData>
        </a:graphic>
      </p:graphicFrame>
      <p:sp>
        <p:nvSpPr>
          <p:cNvPr id="235531" name="Rectangle 11"/>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35530" name="对象 299"/>
          <p:cNvGraphicFramePr>
            <a:graphicFrameLocks noChangeAspect="1"/>
          </p:cNvGraphicFramePr>
          <p:nvPr/>
        </p:nvGraphicFramePr>
        <p:xfrm>
          <a:off x="2270760" y="4917959"/>
          <a:ext cx="563880" cy="408327"/>
        </p:xfrm>
        <a:graphic>
          <a:graphicData uri="http://schemas.openxmlformats.org/presentationml/2006/ole">
            <p:oleObj spid="_x0000_s235530" r:id="rId8" imgW="279158" imgH="203024" progId="Equation.DSMT4">
              <p:embed/>
            </p:oleObj>
          </a:graphicData>
        </a:graphic>
      </p:graphicFrame>
      <p:sp>
        <p:nvSpPr>
          <p:cNvPr id="235533" name="Rectangle 13"/>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35532" name="对象 300"/>
          <p:cNvGraphicFramePr>
            <a:graphicFrameLocks noChangeAspect="1"/>
          </p:cNvGraphicFramePr>
          <p:nvPr/>
        </p:nvGraphicFramePr>
        <p:xfrm>
          <a:off x="4511040" y="5359920"/>
          <a:ext cx="396240" cy="455676"/>
        </p:xfrm>
        <a:graphic>
          <a:graphicData uri="http://schemas.openxmlformats.org/presentationml/2006/ole">
            <p:oleObj spid="_x0000_s235532" r:id="rId9" imgW="152268" imgH="203024" progId="Equation.DSMT4">
              <p:embed/>
            </p:oleObj>
          </a:graphicData>
        </a:graphic>
      </p:graphicFrame>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10.7.2  软件开发风险估算</a:t>
            </a:r>
          </a:p>
        </p:txBody>
      </p:sp>
      <p:sp>
        <p:nvSpPr>
          <p:cNvPr id="5" name="文本框 99"/>
          <p:cNvSpPr txBox="1"/>
          <p:nvPr/>
        </p:nvSpPr>
        <p:spPr>
          <a:xfrm>
            <a:off x="899161" y="2404513"/>
            <a:ext cx="10165080" cy="4188381"/>
          </a:xfrm>
          <a:prstGeom prst="roundRect">
            <a:avLst/>
          </a:prstGeom>
          <a:noFill/>
          <a:ln w="9525">
            <a:noFill/>
            <a:prstDash val="sysDot"/>
          </a:ln>
        </p:spPr>
        <p:txBody>
          <a:bodyPr wrap="square">
            <a:spAutoFit/>
          </a:bodyPr>
          <a:lstStyle/>
          <a:p>
            <a:pPr indent="457200">
              <a:lnSpc>
                <a:spcPct val="150000"/>
              </a:lnSpc>
            </a:pPr>
            <a:r>
              <a:rPr lang="zh-CN" altLang="en-US" sz="2000" dirty="0" smtClean="0">
                <a:latin typeface="微软雅黑" panose="020B0503020204020204" charset="-122"/>
                <a:ea typeface="微软雅黑" panose="020B0503020204020204" charset="-122"/>
                <a:cs typeface="宋体" panose="02010600030101010101" pitchFamily="2" charset="-122"/>
              </a:rPr>
              <a:t>在风险分析过程中，经常使用三元组                描述风险。其中      代表风险，    表示风险发生的概率，      是风险带来的影响， </a:t>
            </a:r>
            <a:r>
              <a:rPr lang="en-US" altLang="zh-CN" sz="2000" dirty="0" err="1" smtClean="0">
                <a:latin typeface="微软雅黑" panose="020B0503020204020204" charset="-122"/>
                <a:ea typeface="微软雅黑" panose="020B0503020204020204" charset="-122"/>
                <a:cs typeface="宋体" panose="02010600030101010101" pitchFamily="2" charset="-122"/>
              </a:rPr>
              <a:t>i</a:t>
            </a:r>
            <a:r>
              <a:rPr lang="en-US" altLang="zh-CN" sz="2000" dirty="0" smtClean="0">
                <a:latin typeface="微软雅黑" panose="020B0503020204020204" charset="-122"/>
                <a:ea typeface="微软雅黑" panose="020B0503020204020204" charset="-122"/>
                <a:cs typeface="宋体" panose="02010600030101010101" pitchFamily="2" charset="-122"/>
              </a:rPr>
              <a:t>=1</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smtClean="0">
                <a:latin typeface="微软雅黑" panose="020B0503020204020204" charset="-122"/>
                <a:ea typeface="微软雅黑" panose="020B0503020204020204" charset="-122"/>
                <a:cs typeface="宋体" panose="02010600030101010101" pitchFamily="2" charset="-122"/>
              </a:rPr>
              <a:t>2</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smtClean="0">
                <a:latin typeface="微软雅黑" panose="020B0503020204020204" charset="-122"/>
                <a:ea typeface="微软雅黑" panose="020B0503020204020204" charset="-122"/>
                <a:cs typeface="宋体" panose="02010600030101010101" pitchFamily="2" charset="-122"/>
              </a:rPr>
              <a:t>…</a:t>
            </a:r>
            <a:r>
              <a:rPr lang="zh-CN" altLang="en-US" sz="2000" dirty="0" smtClean="0">
                <a:latin typeface="微软雅黑" panose="020B0503020204020204" charset="-122"/>
                <a:ea typeface="微软雅黑" panose="020B0503020204020204" charset="-122"/>
                <a:cs typeface="宋体" panose="02010600030101010101" pitchFamily="2" charset="-122"/>
              </a:rPr>
              <a:t>，</a:t>
            </a:r>
            <a:r>
              <a:rPr lang="en-US" altLang="zh-CN" sz="2000" dirty="0" smtClean="0">
                <a:latin typeface="微软雅黑" panose="020B0503020204020204" charset="-122"/>
                <a:ea typeface="微软雅黑" panose="020B0503020204020204" charset="-122"/>
                <a:cs typeface="宋体" panose="02010600030101010101" pitchFamily="2" charset="-122"/>
              </a:rPr>
              <a:t>L</a:t>
            </a:r>
            <a:r>
              <a:rPr lang="zh-CN" altLang="en-US" sz="2000" dirty="0" smtClean="0">
                <a:latin typeface="微软雅黑" panose="020B0503020204020204" charset="-122"/>
                <a:ea typeface="微软雅黑" panose="020B0503020204020204" charset="-122"/>
                <a:cs typeface="宋体" panose="02010600030101010101" pitchFamily="2" charset="-122"/>
              </a:rPr>
              <a:t>是风险序号，表示软件项目共有</a:t>
            </a:r>
            <a:r>
              <a:rPr lang="en-US" altLang="zh-CN" sz="2000" dirty="0" smtClean="0">
                <a:latin typeface="微软雅黑" panose="020B0503020204020204" charset="-122"/>
                <a:ea typeface="微软雅黑" panose="020B0503020204020204" charset="-122"/>
                <a:cs typeface="宋体" panose="02010600030101010101" pitchFamily="2" charset="-122"/>
              </a:rPr>
              <a:t>L</a:t>
            </a:r>
            <a:r>
              <a:rPr lang="zh-CN" altLang="en-US" sz="2000" dirty="0" smtClean="0">
                <a:latin typeface="微软雅黑" panose="020B0503020204020204" charset="-122"/>
                <a:ea typeface="微软雅黑" panose="020B0503020204020204" charset="-122"/>
                <a:cs typeface="宋体" panose="02010600030101010101" pitchFamily="2" charset="-122"/>
              </a:rPr>
              <a:t>种风险。通常风险估算过程可分为</a:t>
            </a:r>
            <a:r>
              <a:rPr lang="en-US" altLang="zh-CN" sz="2000" dirty="0" smtClean="0">
                <a:latin typeface="微软雅黑" panose="020B0503020204020204" charset="-122"/>
                <a:ea typeface="微软雅黑" panose="020B0503020204020204" charset="-122"/>
                <a:cs typeface="宋体" panose="02010600030101010101" pitchFamily="2" charset="-122"/>
              </a:rPr>
              <a:t>4</a:t>
            </a:r>
            <a:r>
              <a:rPr lang="zh-CN" altLang="en-US" sz="2000" dirty="0" smtClean="0">
                <a:latin typeface="微软雅黑" panose="020B0503020204020204" charset="-122"/>
                <a:ea typeface="微软雅黑" panose="020B0503020204020204" charset="-122"/>
                <a:cs typeface="宋体" panose="02010600030101010101" pitchFamily="2" charset="-122"/>
              </a:rPr>
              <a:t>步：</a:t>
            </a:r>
            <a:endParaRPr lang="en-US" altLang="zh-CN" sz="2000" dirty="0" smtClean="0">
              <a:latin typeface="微软雅黑" panose="020B0503020204020204" charset="-122"/>
              <a:ea typeface="微软雅黑" panose="020B0503020204020204" charset="-122"/>
              <a:cs typeface="宋体" panose="02010600030101010101" pitchFamily="2" charset="-122"/>
            </a:endParaRPr>
          </a:p>
          <a:p>
            <a:pPr indent="457200">
              <a:lnSpc>
                <a:spcPct val="150000"/>
              </a:lnSpc>
            </a:pPr>
            <a:r>
              <a:rPr lang="zh-CN" altLang="en-US" sz="2000" dirty="0" smtClean="0">
                <a:latin typeface="微软雅黑" panose="020B0503020204020204" charset="-122"/>
                <a:ea typeface="微软雅黑" panose="020B0503020204020204" charset="-122"/>
                <a:cs typeface="宋体" panose="02010600030101010101" pitchFamily="2" charset="-122"/>
              </a:rPr>
              <a:t>① 定义项目的风险参考量；</a:t>
            </a:r>
            <a:endParaRPr lang="en-US" altLang="zh-CN" sz="2000" dirty="0" smtClean="0">
              <a:latin typeface="微软雅黑" panose="020B0503020204020204" charset="-122"/>
              <a:ea typeface="微软雅黑" panose="020B0503020204020204" charset="-122"/>
              <a:cs typeface="宋体" panose="02010600030101010101" pitchFamily="2" charset="-122"/>
            </a:endParaRPr>
          </a:p>
          <a:p>
            <a:pPr indent="457200">
              <a:lnSpc>
                <a:spcPct val="150000"/>
              </a:lnSpc>
            </a:pPr>
            <a:r>
              <a:rPr lang="zh-CN" altLang="en-US" sz="2000" dirty="0" smtClean="0">
                <a:latin typeface="微软雅黑" panose="020B0503020204020204" charset="-122"/>
                <a:ea typeface="微软雅黑" panose="020B0503020204020204" charset="-122"/>
                <a:cs typeface="宋体" panose="02010600030101010101" pitchFamily="2" charset="-122"/>
              </a:rPr>
              <a:t>② 定义每种风险的三元组                 ；</a:t>
            </a:r>
            <a:endParaRPr lang="en-US" altLang="zh-CN" sz="2000" dirty="0" smtClean="0">
              <a:latin typeface="微软雅黑" panose="020B0503020204020204" charset="-122"/>
              <a:ea typeface="微软雅黑" panose="020B0503020204020204" charset="-122"/>
              <a:cs typeface="宋体" panose="02010600030101010101" pitchFamily="2" charset="-122"/>
            </a:endParaRPr>
          </a:p>
          <a:p>
            <a:pPr indent="457200">
              <a:lnSpc>
                <a:spcPct val="150000"/>
              </a:lnSpc>
            </a:pPr>
            <a:r>
              <a:rPr lang="zh-CN" altLang="en-US" sz="2000" dirty="0" smtClean="0">
                <a:latin typeface="微软雅黑" panose="020B0503020204020204" charset="-122"/>
                <a:ea typeface="微软雅黑" panose="020B0503020204020204" charset="-122"/>
                <a:cs typeface="宋体" panose="02010600030101010101" pitchFamily="2" charset="-122"/>
              </a:rPr>
              <a:t>③ 定义项目被迫终止的临界点；</a:t>
            </a:r>
            <a:endParaRPr lang="en-US" altLang="zh-CN" sz="2000" dirty="0" smtClean="0">
              <a:latin typeface="微软雅黑" panose="020B0503020204020204" charset="-122"/>
              <a:ea typeface="微软雅黑" panose="020B0503020204020204" charset="-122"/>
              <a:cs typeface="宋体" panose="02010600030101010101" pitchFamily="2" charset="-122"/>
            </a:endParaRPr>
          </a:p>
          <a:p>
            <a:pPr indent="457200">
              <a:lnSpc>
                <a:spcPct val="150000"/>
              </a:lnSpc>
            </a:pPr>
            <a:r>
              <a:rPr lang="zh-CN" altLang="en-US" sz="2000" dirty="0" smtClean="0">
                <a:latin typeface="微软雅黑" panose="020B0503020204020204" charset="-122"/>
                <a:ea typeface="微软雅黑" panose="020B0503020204020204" charset="-122"/>
                <a:cs typeface="宋体" panose="02010600030101010101" pitchFamily="2" charset="-122"/>
              </a:rPr>
              <a:t>④ 预测几种风险组合对参考量的综合影响。</a:t>
            </a:r>
            <a:endParaRPr lang="en-US" altLang="zh-CN" sz="2000" dirty="0" smtClean="0">
              <a:latin typeface="微软雅黑" panose="020B0503020204020204" charset="-122"/>
              <a:ea typeface="微软雅黑" panose="020B0503020204020204" charset="-122"/>
              <a:cs typeface="宋体" panose="02010600030101010101" pitchFamily="2" charset="-122"/>
            </a:endParaRPr>
          </a:p>
          <a:p>
            <a:pPr indent="457200">
              <a:lnSpc>
                <a:spcPct val="150000"/>
              </a:lnSpc>
            </a:pPr>
            <a:r>
              <a:rPr lang="zh-CN" altLang="en-US" sz="2000" dirty="0" smtClean="0">
                <a:latin typeface="微软雅黑" panose="020B0503020204020204" charset="-122"/>
                <a:ea typeface="微软雅黑" panose="020B0503020204020204" charset="-122"/>
                <a:cs typeface="宋体" panose="02010600030101010101" pitchFamily="2" charset="-122"/>
              </a:rPr>
              <a:t>三元组                 是风险管理的基础。</a:t>
            </a:r>
          </a:p>
        </p:txBody>
      </p:sp>
      <p:sp>
        <p:nvSpPr>
          <p:cNvPr id="2344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34497" name="对象 301"/>
          <p:cNvGraphicFramePr>
            <a:graphicFrameLocks noChangeAspect="1"/>
          </p:cNvGraphicFramePr>
          <p:nvPr/>
        </p:nvGraphicFramePr>
        <p:xfrm>
          <a:off x="5791200" y="2735275"/>
          <a:ext cx="1101634" cy="335280"/>
        </p:xfrm>
        <a:graphic>
          <a:graphicData uri="http://schemas.openxmlformats.org/presentationml/2006/ole">
            <p:oleObj spid="_x0000_s234497" r:id="rId3" imgW="659827" imgH="203024" progId="Equation.DSMT4">
              <p:embed/>
            </p:oleObj>
          </a:graphicData>
        </a:graphic>
      </p:graphicFrame>
      <p:graphicFrame>
        <p:nvGraphicFramePr>
          <p:cNvPr id="7" name="对象 6"/>
          <p:cNvGraphicFramePr>
            <a:graphicFrameLocks noChangeAspect="1"/>
          </p:cNvGraphicFramePr>
          <p:nvPr/>
        </p:nvGraphicFramePr>
        <p:xfrm>
          <a:off x="8756650" y="2726067"/>
          <a:ext cx="295910" cy="374967"/>
        </p:xfrm>
        <a:graphic>
          <a:graphicData uri="http://schemas.openxmlformats.org/presentationml/2006/ole">
            <p:oleObj spid="_x0000_s234498" name="公式" r:id="rId4" imgW="164880" imgH="228600" progId="">
              <p:embed/>
            </p:oleObj>
          </a:graphicData>
        </a:graphic>
      </p:graphicFrame>
      <p:graphicFrame>
        <p:nvGraphicFramePr>
          <p:cNvPr id="234499" name="Object 3"/>
          <p:cNvGraphicFramePr>
            <a:graphicFrameLocks noChangeAspect="1"/>
          </p:cNvGraphicFramePr>
          <p:nvPr/>
        </p:nvGraphicFramePr>
        <p:xfrm>
          <a:off x="10389870" y="2743530"/>
          <a:ext cx="295275" cy="374650"/>
        </p:xfrm>
        <a:graphic>
          <a:graphicData uri="http://schemas.openxmlformats.org/presentationml/2006/ole">
            <p:oleObj spid="_x0000_s234499" name="公式" r:id="rId5" imgW="164880" imgH="228600" progId="">
              <p:embed/>
            </p:oleObj>
          </a:graphicData>
        </a:graphic>
      </p:graphicFrame>
      <p:graphicFrame>
        <p:nvGraphicFramePr>
          <p:cNvPr id="234500" name="Object 4"/>
          <p:cNvGraphicFramePr>
            <a:graphicFrameLocks noChangeAspect="1"/>
          </p:cNvGraphicFramePr>
          <p:nvPr/>
        </p:nvGraphicFramePr>
        <p:xfrm>
          <a:off x="3745230" y="3187713"/>
          <a:ext cx="363538" cy="374650"/>
        </p:xfrm>
        <a:graphic>
          <a:graphicData uri="http://schemas.openxmlformats.org/presentationml/2006/ole">
            <p:oleObj spid="_x0000_s234500" name="公式" r:id="rId6" imgW="203040" imgH="228600" progId="">
              <p:embed/>
            </p:oleObj>
          </a:graphicData>
        </a:graphic>
      </p:graphicFrame>
      <p:graphicFrame>
        <p:nvGraphicFramePr>
          <p:cNvPr id="234501" name="对象 301"/>
          <p:cNvGraphicFramePr>
            <a:graphicFrameLocks noChangeAspect="1"/>
          </p:cNvGraphicFramePr>
          <p:nvPr/>
        </p:nvGraphicFramePr>
        <p:xfrm>
          <a:off x="4665980" y="4566615"/>
          <a:ext cx="1101725" cy="334963"/>
        </p:xfrm>
        <a:graphic>
          <a:graphicData uri="http://schemas.openxmlformats.org/presentationml/2006/ole">
            <p:oleObj spid="_x0000_s234501" r:id="rId7" imgW="659827" imgH="203024" progId="Equation.DSMT4">
              <p:embed/>
            </p:oleObj>
          </a:graphicData>
        </a:graphic>
      </p:graphicFrame>
      <p:graphicFrame>
        <p:nvGraphicFramePr>
          <p:cNvPr id="234502" name="对象 301"/>
          <p:cNvGraphicFramePr>
            <a:graphicFrameLocks noChangeAspect="1"/>
          </p:cNvGraphicFramePr>
          <p:nvPr/>
        </p:nvGraphicFramePr>
        <p:xfrm>
          <a:off x="2501900" y="5938215"/>
          <a:ext cx="1101725" cy="334963"/>
        </p:xfrm>
        <a:graphic>
          <a:graphicData uri="http://schemas.openxmlformats.org/presentationml/2006/ole">
            <p:oleObj spid="_x0000_s234502" r:id="rId8" imgW="659827" imgH="203024" progId="Equation.DSMT4">
              <p:embed/>
            </p:oleObj>
          </a:graphicData>
        </a:graphic>
      </p:graphicFrame>
      <p:sp>
        <p:nvSpPr>
          <p:cNvPr id="12" name="TextBox 11"/>
          <p:cNvSpPr txBox="1"/>
          <p:nvPr/>
        </p:nvSpPr>
        <p:spPr>
          <a:xfrm>
            <a:off x="824415" y="2113881"/>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3</a:t>
            </a:r>
            <a:r>
              <a:rPr lang="zh-CN" altLang="en-US" sz="2400" dirty="0" smtClean="0"/>
              <a:t>．风险估算举例</a:t>
            </a: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t>案例</a:t>
            </a:r>
            <a:endParaRPr sz="2400" dirty="0"/>
          </a:p>
        </p:txBody>
      </p:sp>
      <p:grpSp>
        <p:nvGrpSpPr>
          <p:cNvPr id="7" name="组合 4"/>
          <p:cNvGrpSpPr/>
          <p:nvPr/>
        </p:nvGrpSpPr>
        <p:grpSpPr>
          <a:xfrm>
            <a:off x="880110" y="1925320"/>
            <a:ext cx="10432415" cy="4368800"/>
            <a:chOff x="1500" y="3151"/>
            <a:chExt cx="16429" cy="6880"/>
          </a:xfrm>
        </p:grpSpPr>
        <p:sp>
          <p:nvSpPr>
            <p:cNvPr id="8" name="TextBox 7"/>
            <p:cNvSpPr txBox="1"/>
            <p:nvPr/>
          </p:nvSpPr>
          <p:spPr>
            <a:xfrm>
              <a:off x="3431" y="3419"/>
              <a:ext cx="13522" cy="624"/>
            </a:xfrm>
            <a:prstGeom prst="rect">
              <a:avLst/>
            </a:prstGeom>
            <a:noFill/>
          </p:spPr>
          <p:txBody>
            <a:bodyPr wrap="square">
              <a:spAutoFit/>
            </a:bodyPr>
            <a:lstStyle/>
            <a:p>
              <a:r>
                <a:rPr sz="2000" dirty="0" smtClean="0">
                  <a:sym typeface="+mn-ea"/>
                </a:rPr>
                <a:t>对以下用PDL表示的程序进行测试。</a:t>
              </a:r>
            </a:p>
          </p:txBody>
        </p:sp>
        <p:sp>
          <p:nvSpPr>
            <p:cNvPr id="9" name="矩形 8"/>
            <p:cNvSpPr>
              <a:spLocks noChangeAspect="1"/>
            </p:cNvSpPr>
            <p:nvPr/>
          </p:nvSpPr>
          <p:spPr>
            <a:xfrm>
              <a:off x="1500" y="4275"/>
              <a:ext cx="16429" cy="575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10" name="组合 5"/>
            <p:cNvGrpSpPr/>
            <p:nvPr/>
          </p:nvGrpSpPr>
          <p:grpSpPr>
            <a:xfrm>
              <a:off x="1500" y="3151"/>
              <a:ext cx="1931" cy="1126"/>
              <a:chOff x="2738416" y="1357298"/>
              <a:chExt cx="1071570" cy="714379"/>
            </a:xfrm>
          </p:grpSpPr>
          <p:pic>
            <p:nvPicPr>
              <p:cNvPr id="13"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14" name="TextBox 7"/>
              <p:cNvSpPr txBox="1"/>
              <p:nvPr/>
            </p:nvSpPr>
            <p:spPr>
              <a:xfrm>
                <a:off x="2755064" y="1467104"/>
                <a:ext cx="1054922" cy="461455"/>
              </a:xfrm>
              <a:prstGeom prst="rect">
                <a:avLst/>
              </a:prstGeom>
              <a:noFill/>
            </p:spPr>
            <p:txBody>
              <a:bodyPr wrap="square" rtlCol="0">
                <a:spAutoFit/>
              </a:bodyPr>
              <a:lstStyle/>
              <a:p>
                <a:r>
                  <a:rPr lang="zh-CN" altLang="en-US" sz="2400" dirty="0" smtClean="0">
                    <a:solidFill>
                      <a:schemeClr val="bg1"/>
                    </a:solidFill>
                    <a:sym typeface="+mn-ea"/>
                  </a:rPr>
                  <a:t>例 </a:t>
                </a:r>
                <a:r>
                  <a:rPr lang="en-US" altLang="zh-CN" sz="2400" dirty="0" smtClean="0">
                    <a:solidFill>
                      <a:schemeClr val="bg1"/>
                    </a:solidFill>
                    <a:sym typeface="+mn-ea"/>
                  </a:rPr>
                  <a:t>10-2</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11" name="TextBox 10"/>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12" name="TextBox 11"/>
            <p:cNvSpPr txBox="1"/>
            <p:nvPr/>
          </p:nvSpPr>
          <p:spPr>
            <a:xfrm>
              <a:off x="1946" y="4379"/>
              <a:ext cx="15536" cy="5380"/>
            </a:xfrm>
            <a:prstGeom prst="rect">
              <a:avLst/>
            </a:prstGeom>
            <a:solidFill>
              <a:schemeClr val="bg1">
                <a:lumMod val="95000"/>
              </a:schemeClr>
            </a:solidFill>
          </p:spPr>
          <p:txBody>
            <a:bodyPr wrap="square">
              <a:spAutoFit/>
            </a:bodyPr>
            <a:lstStyle/>
            <a:p>
              <a:pPr fontAlgn="auto">
                <a:lnSpc>
                  <a:spcPct val="120000"/>
                </a:lnSpc>
              </a:pPr>
              <a:endParaRPr lang="en-US" altLang="en-US" dirty="0" smtClean="0">
                <a:latin typeface="Times New Roman" panose="02020603050405020304" charset="0"/>
                <a:ea typeface="宋体" panose="02010600030101010101" pitchFamily="2" charset="-122"/>
              </a:endParaRPr>
            </a:p>
            <a:p>
              <a:pPr fontAlgn="auto">
                <a:lnSpc>
                  <a:spcPct val="120000"/>
                </a:lnSpc>
              </a:pPr>
              <a:endParaRPr lang="en-US" altLang="en-US" dirty="0" smtClean="0">
                <a:latin typeface="Times New Roman" panose="02020603050405020304" charset="0"/>
                <a:ea typeface="宋体" panose="02010600030101010101" pitchFamily="2" charset="-122"/>
              </a:endParaRPr>
            </a:p>
            <a:p>
              <a:pPr fontAlgn="auto">
                <a:lnSpc>
                  <a:spcPct val="120000"/>
                </a:lnSpc>
              </a:pPr>
              <a:endParaRPr lang="en-US" altLang="en-US" dirty="0" smtClean="0">
                <a:latin typeface="Times New Roman" panose="02020603050405020304" charset="0"/>
                <a:ea typeface="宋体" panose="02010600030101010101" pitchFamily="2" charset="-122"/>
              </a:endParaRPr>
            </a:p>
            <a:p>
              <a:pPr fontAlgn="auto">
                <a:lnSpc>
                  <a:spcPct val="120000"/>
                </a:lnSpc>
              </a:pPr>
              <a:endParaRPr lang="en-US" altLang="en-US" dirty="0" smtClean="0">
                <a:latin typeface="Times New Roman" panose="02020603050405020304" charset="0"/>
                <a:ea typeface="宋体" panose="02010600030101010101" pitchFamily="2" charset="-122"/>
              </a:endParaRPr>
            </a:p>
            <a:p>
              <a:pPr fontAlgn="auto">
                <a:lnSpc>
                  <a:spcPct val="120000"/>
                </a:lnSpc>
              </a:pPr>
              <a:endParaRPr lang="en-US" altLang="en-US" dirty="0" smtClean="0">
                <a:latin typeface="Times New Roman" panose="02020603050405020304" charset="0"/>
                <a:ea typeface="宋体" panose="02010600030101010101" pitchFamily="2" charset="-122"/>
              </a:endParaRPr>
            </a:p>
            <a:p>
              <a:pPr fontAlgn="auto">
                <a:lnSpc>
                  <a:spcPct val="120000"/>
                </a:lnSpc>
              </a:pPr>
              <a:endParaRPr lang="en-US" altLang="en-US" dirty="0" smtClean="0">
                <a:latin typeface="Times New Roman" panose="02020603050405020304" charset="0"/>
                <a:ea typeface="宋体" panose="02010600030101010101" pitchFamily="2" charset="-122"/>
              </a:endParaRPr>
            </a:p>
            <a:p>
              <a:pPr fontAlgn="auto">
                <a:lnSpc>
                  <a:spcPct val="120000"/>
                </a:lnSpc>
              </a:pPr>
              <a:endParaRPr lang="en-US" altLang="en-US" dirty="0" smtClean="0">
                <a:latin typeface="Times New Roman" panose="02020603050405020304" charset="0"/>
                <a:ea typeface="宋体" panose="02010600030101010101" pitchFamily="2" charset="-122"/>
              </a:endParaRPr>
            </a:p>
            <a:p>
              <a:pPr fontAlgn="auto">
                <a:lnSpc>
                  <a:spcPct val="120000"/>
                </a:lnSpc>
              </a:pPr>
              <a:endParaRPr lang="en-US" altLang="en-US" dirty="0" smtClean="0">
                <a:latin typeface="Times New Roman" panose="02020603050405020304" charset="0"/>
                <a:ea typeface="宋体" panose="02010600030101010101" pitchFamily="2" charset="-122"/>
              </a:endParaRPr>
            </a:p>
            <a:p>
              <a:pPr fontAlgn="auto">
                <a:lnSpc>
                  <a:spcPct val="120000"/>
                </a:lnSpc>
              </a:pPr>
              <a:endParaRPr lang="en-US" altLang="en-US" dirty="0" smtClean="0">
                <a:latin typeface="Times New Roman" panose="02020603050405020304" charset="0"/>
                <a:ea typeface="宋体" panose="02010600030101010101" pitchFamily="2" charset="-122"/>
              </a:endParaRPr>
            </a:p>
            <a:p>
              <a:pPr fontAlgn="auto">
                <a:lnSpc>
                  <a:spcPct val="120000"/>
                </a:lnSpc>
              </a:pPr>
              <a:endParaRPr lang="en-US" altLang="en-US" dirty="0" smtClean="0">
                <a:latin typeface="Times New Roman" panose="02020603050405020304" charset="0"/>
                <a:ea typeface="宋体" panose="02010600030101010101" pitchFamily="2" charset="-122"/>
              </a:endParaRPr>
            </a:p>
          </p:txBody>
        </p:sp>
      </p:grpSp>
      <p:sp>
        <p:nvSpPr>
          <p:cNvPr id="71" name="矩形 70"/>
          <p:cNvSpPr/>
          <p:nvPr/>
        </p:nvSpPr>
        <p:spPr>
          <a:xfrm>
            <a:off x="1176471" y="2726174"/>
            <a:ext cx="9842049" cy="3333220"/>
          </a:xfrm>
          <a:prstGeom prst="rect">
            <a:avLst/>
          </a:prstGeom>
        </p:spPr>
        <p:txBody>
          <a:bodyPr wrap="square">
            <a:spAutoFit/>
          </a:bodyPr>
          <a:lstStyle/>
          <a:p>
            <a:pPr>
              <a:lnSpc>
                <a:spcPct val="130000"/>
              </a:lnSpc>
            </a:pPr>
            <a:r>
              <a:rPr lang="zh-CN" altLang="en-US" dirty="0" smtClean="0"/>
              <a:t>        设高级职员的流动给项目带来的风险为      </a:t>
            </a:r>
            <a:r>
              <a:rPr lang="en-US" dirty="0" smtClean="0"/>
              <a:t>。</a:t>
            </a:r>
            <a:r>
              <a:rPr lang="en-US" dirty="0" err="1" smtClean="0"/>
              <a:t>根据历史经验或直观感觉，高级职员离开课题组的概率</a:t>
            </a:r>
            <a:r>
              <a:rPr lang="en-US" dirty="0" smtClean="0"/>
              <a:t>：                 </a:t>
            </a:r>
            <a:r>
              <a:rPr lang="zh-CN" altLang="en-US" dirty="0" smtClean="0"/>
              <a:t>。</a:t>
            </a:r>
            <a:r>
              <a:rPr lang="en-US" dirty="0" smtClean="0"/>
              <a:t>管理人员经分析认为：这一事件的出现带来的影响是项目开发时间延长15%，项目成本增加20%，</a:t>
            </a:r>
            <a:r>
              <a:rPr lang="en-US" dirty="0" err="1" smtClean="0"/>
              <a:t>影响严重</a:t>
            </a:r>
            <a:r>
              <a:rPr lang="en-US" dirty="0" smtClean="0"/>
              <a:t>。参照表10-4和估算风险的公式，可知         和        取值都为2，风险       </a:t>
            </a:r>
            <a:r>
              <a:rPr lang="en-US" dirty="0" err="1" smtClean="0"/>
              <a:t>对产品性能和维护影响轻微，因此</a:t>
            </a:r>
            <a:r>
              <a:rPr lang="en-US" dirty="0" smtClean="0"/>
              <a:t>       和      取值都为1，         。</a:t>
            </a:r>
            <a:r>
              <a:rPr lang="en-US" dirty="0" err="1" smtClean="0"/>
              <a:t>为简单起见，权系数</a:t>
            </a:r>
            <a:r>
              <a:rPr lang="en-US" dirty="0" smtClean="0"/>
              <a:t>        取值为1/4，于是得到风险值：</a:t>
            </a:r>
          </a:p>
          <a:p>
            <a:pPr>
              <a:lnSpc>
                <a:spcPct val="130000"/>
              </a:lnSpc>
            </a:pPr>
            <a:endParaRPr lang="en-US" altLang="zh-CN" dirty="0" smtClean="0"/>
          </a:p>
          <a:p>
            <a:pPr>
              <a:lnSpc>
                <a:spcPct val="130000"/>
              </a:lnSpc>
            </a:pPr>
            <a:r>
              <a:rPr lang="zh-CN" altLang="en-US" dirty="0" smtClean="0"/>
              <a:t>        也就是说：在这个软件项目中，高级职员流动给项目带来的风险为</a:t>
            </a:r>
            <a:r>
              <a:rPr lang="en-US" dirty="0" smtClean="0"/>
              <a:t>               </a:t>
            </a:r>
            <a:r>
              <a:rPr lang="zh-CN" altLang="en-US" dirty="0" smtClean="0"/>
              <a:t>，这个值越接近</a:t>
            </a:r>
            <a:r>
              <a:rPr lang="en-US" dirty="0" smtClean="0"/>
              <a:t>1</a:t>
            </a:r>
            <a:r>
              <a:rPr lang="zh-CN" altLang="en-US" dirty="0" smtClean="0"/>
              <a:t>，表示风险越大。在进行软件风险管理时，可以采取一些措施，例如增加高级职员的薪资等措施，来降低</a:t>
            </a:r>
            <a:r>
              <a:rPr lang="en-US" dirty="0" smtClean="0"/>
              <a:t>       </a:t>
            </a:r>
            <a:r>
              <a:rPr lang="zh-CN" altLang="en-US" dirty="0" smtClean="0"/>
              <a:t>发生的概率，从而降低风险       的值。</a:t>
            </a:r>
          </a:p>
        </p:txBody>
      </p:sp>
      <p:graphicFrame>
        <p:nvGraphicFramePr>
          <p:cNvPr id="387130" name="Object 58"/>
          <p:cNvGraphicFramePr>
            <a:graphicFrameLocks noChangeAspect="1"/>
          </p:cNvGraphicFramePr>
          <p:nvPr/>
        </p:nvGraphicFramePr>
        <p:xfrm>
          <a:off x="5713095" y="2774315"/>
          <a:ext cx="317500" cy="354013"/>
        </p:xfrm>
        <a:graphic>
          <a:graphicData uri="http://schemas.openxmlformats.org/presentationml/2006/ole">
            <p:oleObj spid="_x0000_s387130" name="公式" r:id="rId4" imgW="177480" imgH="215640" progId="">
              <p:embed/>
            </p:oleObj>
          </a:graphicData>
        </a:graphic>
      </p:graphicFrame>
      <p:graphicFrame>
        <p:nvGraphicFramePr>
          <p:cNvPr id="387131" name="Object 59"/>
          <p:cNvGraphicFramePr>
            <a:graphicFrameLocks noChangeAspect="1"/>
          </p:cNvGraphicFramePr>
          <p:nvPr/>
        </p:nvGraphicFramePr>
        <p:xfrm>
          <a:off x="2388553" y="3144059"/>
          <a:ext cx="994727" cy="323359"/>
        </p:xfrm>
        <a:graphic>
          <a:graphicData uri="http://schemas.openxmlformats.org/presentationml/2006/ole">
            <p:oleObj spid="_x0000_s387131" name="公式" r:id="rId5" imgW="609480" imgH="215640" progId="">
              <p:embed/>
            </p:oleObj>
          </a:graphicData>
        </a:graphic>
      </p:graphicFrame>
      <p:graphicFrame>
        <p:nvGraphicFramePr>
          <p:cNvPr id="387132" name="Object 60"/>
          <p:cNvGraphicFramePr>
            <a:graphicFrameLocks noChangeAspect="1"/>
          </p:cNvGraphicFramePr>
          <p:nvPr/>
        </p:nvGraphicFramePr>
        <p:xfrm>
          <a:off x="8910320" y="3479165"/>
          <a:ext cx="452438" cy="354013"/>
        </p:xfrm>
        <a:graphic>
          <a:graphicData uri="http://schemas.openxmlformats.org/presentationml/2006/ole">
            <p:oleObj spid="_x0000_s387132" name="公式" r:id="rId6" imgW="253800" imgH="215640" progId="">
              <p:embed/>
            </p:oleObj>
          </a:graphicData>
        </a:graphic>
      </p:graphicFrame>
      <p:graphicFrame>
        <p:nvGraphicFramePr>
          <p:cNvPr id="387133" name="Object 61"/>
          <p:cNvGraphicFramePr>
            <a:graphicFrameLocks noChangeAspect="1"/>
          </p:cNvGraphicFramePr>
          <p:nvPr/>
        </p:nvGraphicFramePr>
        <p:xfrm>
          <a:off x="9614535" y="3487738"/>
          <a:ext cx="452438" cy="374650"/>
        </p:xfrm>
        <a:graphic>
          <a:graphicData uri="http://schemas.openxmlformats.org/presentationml/2006/ole">
            <p:oleObj spid="_x0000_s387133" name="公式" r:id="rId7" imgW="253800" imgH="228600" progId="">
              <p:embed/>
            </p:oleObj>
          </a:graphicData>
        </a:graphic>
      </p:graphicFrame>
      <p:graphicFrame>
        <p:nvGraphicFramePr>
          <p:cNvPr id="387134" name="Object 62"/>
          <p:cNvGraphicFramePr>
            <a:graphicFrameLocks noChangeAspect="1"/>
          </p:cNvGraphicFramePr>
          <p:nvPr/>
        </p:nvGraphicFramePr>
        <p:xfrm>
          <a:off x="2408873" y="3859530"/>
          <a:ext cx="317500" cy="354013"/>
        </p:xfrm>
        <a:graphic>
          <a:graphicData uri="http://schemas.openxmlformats.org/presentationml/2006/ole">
            <p:oleObj spid="_x0000_s387134" name="公式" r:id="rId8" imgW="177480" imgH="215640" progId="">
              <p:embed/>
            </p:oleObj>
          </a:graphicData>
        </a:graphic>
      </p:graphicFrame>
      <p:graphicFrame>
        <p:nvGraphicFramePr>
          <p:cNvPr id="387135" name="Object 63"/>
          <p:cNvGraphicFramePr>
            <a:graphicFrameLocks noChangeAspect="1"/>
          </p:cNvGraphicFramePr>
          <p:nvPr/>
        </p:nvGraphicFramePr>
        <p:xfrm>
          <a:off x="6196013" y="3817938"/>
          <a:ext cx="430212" cy="354012"/>
        </p:xfrm>
        <a:graphic>
          <a:graphicData uri="http://schemas.openxmlformats.org/presentationml/2006/ole">
            <p:oleObj spid="_x0000_s387135" name="公式" r:id="rId9" imgW="241200" imgH="215640" progId="">
              <p:embed/>
            </p:oleObj>
          </a:graphicData>
        </a:graphic>
      </p:graphicFrame>
      <p:graphicFrame>
        <p:nvGraphicFramePr>
          <p:cNvPr id="387136" name="Object 64"/>
          <p:cNvGraphicFramePr>
            <a:graphicFrameLocks noChangeAspect="1"/>
          </p:cNvGraphicFramePr>
          <p:nvPr/>
        </p:nvGraphicFramePr>
        <p:xfrm>
          <a:off x="6827838" y="3821113"/>
          <a:ext cx="452437" cy="354012"/>
        </p:xfrm>
        <a:graphic>
          <a:graphicData uri="http://schemas.openxmlformats.org/presentationml/2006/ole">
            <p:oleObj spid="_x0000_s387136" name="公式" r:id="rId10" imgW="253800" imgH="215640" progId="">
              <p:embed/>
            </p:oleObj>
          </a:graphicData>
        </a:graphic>
      </p:graphicFrame>
      <p:graphicFrame>
        <p:nvGraphicFramePr>
          <p:cNvPr id="387137" name="Object 65"/>
          <p:cNvGraphicFramePr>
            <a:graphicFrameLocks noChangeAspect="1"/>
          </p:cNvGraphicFramePr>
          <p:nvPr/>
        </p:nvGraphicFramePr>
        <p:xfrm>
          <a:off x="8435023" y="3905250"/>
          <a:ext cx="641350" cy="266700"/>
        </p:xfrm>
        <a:graphic>
          <a:graphicData uri="http://schemas.openxmlformats.org/presentationml/2006/ole">
            <p:oleObj spid="_x0000_s387137" name="公式" r:id="rId11" imgW="393480" imgH="177480" progId="">
              <p:embed/>
            </p:oleObj>
          </a:graphicData>
        </a:graphic>
      </p:graphicFrame>
      <p:graphicFrame>
        <p:nvGraphicFramePr>
          <p:cNvPr id="387138" name="Object 66"/>
          <p:cNvGraphicFramePr>
            <a:graphicFrameLocks noChangeAspect="1"/>
          </p:cNvGraphicFramePr>
          <p:nvPr/>
        </p:nvGraphicFramePr>
        <p:xfrm>
          <a:off x="1827213" y="4189730"/>
          <a:ext cx="385762" cy="395288"/>
        </p:xfrm>
        <a:graphic>
          <a:graphicData uri="http://schemas.openxmlformats.org/presentationml/2006/ole">
            <p:oleObj spid="_x0000_s387138" name="公式" r:id="rId12" imgW="215640" imgH="241200" progId="">
              <p:embed/>
            </p:oleObj>
          </a:graphicData>
        </a:graphic>
      </p:graphicFrame>
      <p:sp>
        <p:nvSpPr>
          <p:cNvPr id="387140" name="Rectangle 68"/>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87139" name="对象 317"/>
          <p:cNvGraphicFramePr>
            <a:graphicFrameLocks noChangeAspect="1"/>
          </p:cNvGraphicFramePr>
          <p:nvPr/>
        </p:nvGraphicFramePr>
        <p:xfrm>
          <a:off x="4130040" y="4125822"/>
          <a:ext cx="4239595" cy="888137"/>
        </p:xfrm>
        <a:graphic>
          <a:graphicData uri="http://schemas.openxmlformats.org/presentationml/2006/ole">
            <p:oleObj spid="_x0000_s387139" r:id="rId13" imgW="2413000" imgH="508000" progId="Equation.DSMT4">
              <p:embed/>
            </p:oleObj>
          </a:graphicData>
        </a:graphic>
      </p:graphicFrame>
      <p:graphicFrame>
        <p:nvGraphicFramePr>
          <p:cNvPr id="387148" name="Object 76"/>
          <p:cNvGraphicFramePr>
            <a:graphicFrameLocks noChangeAspect="1"/>
          </p:cNvGraphicFramePr>
          <p:nvPr/>
        </p:nvGraphicFramePr>
        <p:xfrm>
          <a:off x="8421370" y="4946333"/>
          <a:ext cx="973138" cy="322262"/>
        </p:xfrm>
        <a:graphic>
          <a:graphicData uri="http://schemas.openxmlformats.org/presentationml/2006/ole">
            <p:oleObj spid="_x0000_s387148" name="公式" r:id="rId14" imgW="596880" imgH="215640" progId="">
              <p:embed/>
            </p:oleObj>
          </a:graphicData>
        </a:graphic>
      </p:graphicFrame>
      <p:graphicFrame>
        <p:nvGraphicFramePr>
          <p:cNvPr id="387149" name="Object 77"/>
          <p:cNvGraphicFramePr>
            <a:graphicFrameLocks noChangeAspect="1"/>
          </p:cNvGraphicFramePr>
          <p:nvPr/>
        </p:nvGraphicFramePr>
        <p:xfrm>
          <a:off x="5915978" y="5599113"/>
          <a:ext cx="317500" cy="354012"/>
        </p:xfrm>
        <a:graphic>
          <a:graphicData uri="http://schemas.openxmlformats.org/presentationml/2006/ole">
            <p:oleObj spid="_x0000_s387149" name="公式" r:id="rId15" imgW="177480" imgH="215640" progId="">
              <p:embed/>
            </p:oleObj>
          </a:graphicData>
        </a:graphic>
      </p:graphicFrame>
      <p:graphicFrame>
        <p:nvGraphicFramePr>
          <p:cNvPr id="387150" name="Object 78"/>
          <p:cNvGraphicFramePr>
            <a:graphicFrameLocks noChangeAspect="1"/>
          </p:cNvGraphicFramePr>
          <p:nvPr/>
        </p:nvGraphicFramePr>
        <p:xfrm>
          <a:off x="2741613" y="5645150"/>
          <a:ext cx="295275" cy="354013"/>
        </p:xfrm>
        <a:graphic>
          <a:graphicData uri="http://schemas.openxmlformats.org/presentationml/2006/ole">
            <p:oleObj spid="_x0000_s387150" name="公式" r:id="rId16" imgW="164880" imgH="215640" progId="">
              <p:embed/>
            </p:oleObj>
          </a:graphicData>
        </a:graphic>
      </p:graphicFrame>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10.7.2  软件开发风险估算</a:t>
            </a:r>
          </a:p>
        </p:txBody>
      </p:sp>
      <p:sp>
        <p:nvSpPr>
          <p:cNvPr id="5" name="矩形 4"/>
          <p:cNvSpPr/>
          <p:nvPr/>
        </p:nvSpPr>
        <p:spPr>
          <a:xfrm>
            <a:off x="0" y="2396358"/>
            <a:ext cx="12192000" cy="2963917"/>
          </a:xfrm>
          <a:prstGeom prst="rect">
            <a:avLst/>
          </a:prstGeom>
          <a:solidFill>
            <a:schemeClr val="accent3">
              <a:lumMod val="75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60548" y="2582965"/>
            <a:ext cx="7792852" cy="2585323"/>
          </a:xfrm>
          <a:prstGeom prst="rect">
            <a:avLst/>
          </a:prstGeom>
        </p:spPr>
        <p:txBody>
          <a:bodyPr wrap="square">
            <a:spAutoFit/>
          </a:bodyPr>
          <a:lstStyle/>
          <a:p>
            <a:pPr indent="457200" fontAlgn="auto">
              <a:lnSpc>
                <a:spcPct val="150000"/>
              </a:lnSpc>
            </a:pPr>
            <a:r>
              <a:rPr lang="zh-CN" altLang="en-US" dirty="0" smtClean="0">
                <a:solidFill>
                  <a:schemeClr val="bg1"/>
                </a:solidFill>
                <a:latin typeface="+mn-ea"/>
              </a:rPr>
              <a:t>软件开发过程中，由于项目超支、进度拖延和软件性能下降都会导致软件项目的终止，</a:t>
            </a:r>
            <a:r>
              <a:rPr lang="zh-CN" altLang="en-US" b="1" dirty="0" smtClean="0">
                <a:solidFill>
                  <a:srgbClr val="FFFF00"/>
                </a:solidFill>
                <a:latin typeface="+mn-ea"/>
              </a:rPr>
              <a:t>因此多数软件项目的风险分析都需要给出性能、成本、进度和维护这</a:t>
            </a:r>
            <a:r>
              <a:rPr lang="en-US" altLang="zh-CN" b="1" dirty="0" smtClean="0">
                <a:solidFill>
                  <a:srgbClr val="FFFF00"/>
                </a:solidFill>
                <a:latin typeface="+mn-ea"/>
              </a:rPr>
              <a:t>4</a:t>
            </a:r>
            <a:r>
              <a:rPr lang="zh-CN" altLang="en-US" b="1" dirty="0" smtClean="0">
                <a:solidFill>
                  <a:srgbClr val="FFFF00"/>
                </a:solidFill>
                <a:latin typeface="+mn-ea"/>
              </a:rPr>
              <a:t>种典型的风险参考值。</a:t>
            </a:r>
            <a:r>
              <a:rPr lang="zh-CN" altLang="en-US" dirty="0" smtClean="0">
                <a:solidFill>
                  <a:schemeClr val="bg1"/>
                </a:solidFill>
                <a:latin typeface="+mn-ea"/>
              </a:rPr>
              <a:t>当软件项目的风险参考值达到或超过某一临界点时，软件项目将被迫终止。在软件开发过程中，性能、成本、进度和维护是相互关联的。例如，项目投入成本的增长应与进度相匹配，当项目投入的成本与项目拖延的时间超过某一临界点时，项目也应该终止。</a:t>
            </a:r>
          </a:p>
        </p:txBody>
      </p:sp>
      <p:pic>
        <p:nvPicPr>
          <p:cNvPr id="8" name="图片 7" descr="爱谁谁所所所所所所所.png"/>
          <p:cNvPicPr>
            <a:picLocks noChangeAspect="1"/>
          </p:cNvPicPr>
          <p:nvPr/>
        </p:nvPicPr>
        <p:blipFill>
          <a:blip r:embed="rId2" cstate="print"/>
          <a:stretch>
            <a:fillRect/>
          </a:stretch>
        </p:blipFill>
        <p:spPr>
          <a:xfrm>
            <a:off x="8284551" y="2529840"/>
            <a:ext cx="3541689" cy="2722032"/>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10.7.3  软件开发风险管理</a:t>
            </a:r>
          </a:p>
        </p:txBody>
      </p:sp>
      <p:grpSp>
        <p:nvGrpSpPr>
          <p:cNvPr id="2" name="组合 1"/>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061" y="4746"/>
              <a:ext cx="16725" cy="3635"/>
            </a:xfrm>
            <a:prstGeom prst="rect">
              <a:avLst/>
            </a:prstGeom>
          </p:spPr>
          <p:txBody>
            <a:bodyPr wrap="square">
              <a:spAutoFit/>
            </a:bodyPr>
            <a:lstStyle/>
            <a:p>
              <a:pPr indent="457200">
                <a:lnSpc>
                  <a:spcPct val="150000"/>
                </a:lnSpc>
                <a:defRPr/>
              </a:pPr>
              <a:r>
                <a:rPr lang="en-US" altLang="zh-CN" sz="2400" kern="0" dirty="0" err="1" smtClean="0">
                  <a:solidFill>
                    <a:schemeClr val="bg1"/>
                  </a:solidFill>
                  <a:latin typeface="微软雅黑" panose="020B0503020204020204" charset="-122"/>
                  <a:ea typeface="微软雅黑" panose="020B0503020204020204" charset="-122"/>
                  <a:cs typeface="宋体" panose="02010600030101010101" pitchFamily="2" charset="-122"/>
                  <a:sym typeface="+mn-ea"/>
                </a:rPr>
                <a:t>风险管理是指在项目进行中不断对风险进行识别、评估，制定策略监控风险的过程</a:t>
              </a:r>
              <a:r>
                <a:rPr lang="en-US" altLang="zh-CN" sz="2400"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a:t>
              </a:r>
              <a:r>
                <a:rPr lang="en-US" altLang="zh-CN" sz="2400" kern="0" dirty="0" err="1" smtClean="0">
                  <a:solidFill>
                    <a:schemeClr val="bg1"/>
                  </a:solidFill>
                  <a:latin typeface="微软雅黑" panose="020B0503020204020204" charset="-122"/>
                  <a:ea typeface="微软雅黑" panose="020B0503020204020204" charset="-122"/>
                  <a:cs typeface="宋体" panose="02010600030101010101" pitchFamily="2" charset="-122"/>
                  <a:sym typeface="+mn-ea"/>
                </a:rPr>
                <a:t>它应是贯穿软件项目开发始末的一项重要任务，其中包括</a:t>
              </a:r>
              <a:r>
                <a:rPr lang="en-US" altLang="zh-CN" sz="2400" b="1" kern="0" dirty="0" err="1" smtClean="0">
                  <a:solidFill>
                    <a:srgbClr val="FFFF00"/>
                  </a:solidFill>
                  <a:latin typeface="微软雅黑" panose="020B0503020204020204" charset="-122"/>
                  <a:ea typeface="微软雅黑" panose="020B0503020204020204" charset="-122"/>
                  <a:cs typeface="宋体" panose="02010600030101010101" pitchFamily="2" charset="-122"/>
                  <a:sym typeface="+mn-ea"/>
                </a:rPr>
                <a:t>风险识别、风险评估、风险计划、风险监控和风险解决</a:t>
              </a:r>
              <a:r>
                <a:rPr lang="en-US" altLang="zh-CN" sz="2400" b="1" kern="0" dirty="0" smtClean="0">
                  <a:solidFill>
                    <a:srgbClr val="FFFF00"/>
                  </a:solidFill>
                  <a:latin typeface="微软雅黑" panose="020B0503020204020204" charset="-122"/>
                  <a:ea typeface="微软雅黑" panose="020B0503020204020204" charset="-122"/>
                  <a:cs typeface="宋体" panose="02010600030101010101" pitchFamily="2" charset="-122"/>
                  <a:sym typeface="+mn-ea"/>
                </a:rPr>
                <a:t>。</a:t>
              </a:r>
              <a:r>
                <a:rPr lang="en-US" altLang="zh-CN" sz="2400" kern="0" dirty="0" err="1" smtClean="0">
                  <a:solidFill>
                    <a:schemeClr val="bg1"/>
                  </a:solidFill>
                  <a:latin typeface="微软雅黑" panose="020B0503020204020204" charset="-122"/>
                  <a:ea typeface="微软雅黑" panose="020B0503020204020204" charset="-122"/>
                  <a:cs typeface="宋体" panose="02010600030101010101" pitchFamily="2" charset="-122"/>
                  <a:sym typeface="+mn-ea"/>
                </a:rPr>
                <a:t>它能让风险管理者主动“规避”风险，进行有效的风险管理</a:t>
              </a:r>
              <a:r>
                <a:rPr lang="en-US" altLang="zh-CN" sz="2400"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a:t>
              </a:r>
            </a:p>
          </p:txBody>
        </p:sp>
      </p:grpSp>
      <p:pic>
        <p:nvPicPr>
          <p:cNvPr id="5" name="图片 4" descr="A000220150322J50PPIC"/>
          <p:cNvPicPr>
            <a:picLocks noChangeAspect="1"/>
          </p:cNvPicPr>
          <p:nvPr/>
        </p:nvPicPr>
        <p:blipFill>
          <a:blip r:embed="rId2" cstate="print"/>
          <a:stretch>
            <a:fillRect/>
          </a:stretch>
        </p:blipFill>
        <p:spPr>
          <a:xfrm>
            <a:off x="5732145" y="1127760"/>
            <a:ext cx="5682615" cy="1915160"/>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10.7.3  软件开发风险管理</a:t>
            </a:r>
          </a:p>
        </p:txBody>
      </p:sp>
      <p:grpSp>
        <p:nvGrpSpPr>
          <p:cNvPr id="17" name="组合 16"/>
          <p:cNvGrpSpPr/>
          <p:nvPr/>
        </p:nvGrpSpPr>
        <p:grpSpPr>
          <a:xfrm>
            <a:off x="694690" y="2321560"/>
            <a:ext cx="12310745" cy="4239260"/>
            <a:chOff x="1094" y="3656"/>
            <a:chExt cx="19387" cy="6676"/>
          </a:xfrm>
        </p:grpSpPr>
        <p:sp>
          <p:nvSpPr>
            <p:cNvPr id="5" name="Oval 15"/>
            <p:cNvSpPr>
              <a:spLocks noChangeArrowheads="1"/>
            </p:cNvSpPr>
            <p:nvPr>
              <p:custDataLst>
                <p:tags r:id="rId1"/>
              </p:custDataLst>
            </p:nvPr>
          </p:nvSpPr>
          <p:spPr bwMode="auto">
            <a:xfrm>
              <a:off x="1366" y="4268"/>
              <a:ext cx="4966" cy="5012"/>
            </a:xfrm>
            <a:prstGeom prst="ellipse">
              <a:avLst/>
            </a:prstGeom>
            <a:noFill/>
            <a:ln w="19050">
              <a:solidFill>
                <a:srgbClr val="4F5A71">
                  <a:alpha val="50000"/>
                </a:srgbClr>
              </a:solidFill>
              <a:round/>
            </a:ln>
            <a:effectLst/>
            <a:extLst>
              <a:ext uri="{909E8E84-426E-40DD-AFC4-6F175D3DCCD1}">
                <a14:hiddenFill xmlns:a14="http://schemas.microsoft.com/office/drawing/2010/main" xmlns="">
                  <a:solidFill>
                    <a:srgbClr val="4F5A71"/>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6" name="Line 16"/>
            <p:cNvSpPr>
              <a:spLocks noChangeShapeType="1"/>
            </p:cNvSpPr>
            <p:nvPr>
              <p:custDataLst>
                <p:tags r:id="rId2"/>
              </p:custDataLst>
            </p:nvPr>
          </p:nvSpPr>
          <p:spPr bwMode="gray">
            <a:xfrm>
              <a:off x="1094" y="6785"/>
              <a:ext cx="5486" cy="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7" name="Line 17"/>
            <p:cNvSpPr>
              <a:spLocks noChangeShapeType="1"/>
            </p:cNvSpPr>
            <p:nvPr>
              <p:custDataLst>
                <p:tags r:id="rId3"/>
              </p:custDataLst>
            </p:nvPr>
          </p:nvSpPr>
          <p:spPr bwMode="gray">
            <a:xfrm>
              <a:off x="3837" y="3898"/>
              <a:ext cx="0" cy="577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8" name="Oval 10"/>
            <p:cNvSpPr>
              <a:spLocks noChangeArrowheads="1"/>
            </p:cNvSpPr>
            <p:nvPr>
              <p:custDataLst>
                <p:tags r:id="rId4"/>
              </p:custDataLst>
            </p:nvPr>
          </p:nvSpPr>
          <p:spPr bwMode="gray">
            <a:xfrm>
              <a:off x="1638" y="4552"/>
              <a:ext cx="4393" cy="4427"/>
            </a:xfrm>
            <a:prstGeom prst="ellipse">
              <a:avLst/>
            </a:prstGeom>
            <a:noFill/>
            <a:ln w="9525">
              <a:solidFill>
                <a:srgbClr val="4F5A71">
                  <a:alpha val="50000"/>
                </a:srgbClr>
              </a:solidFill>
              <a:round/>
            </a:ln>
            <a:effectLst/>
            <a:extLst>
              <a:ext uri="{909E8E84-426E-40DD-AFC4-6F175D3DCCD1}">
                <a14:hiddenFill xmlns:a14="http://schemas.microsoft.com/office/drawing/2010/main" xmlns="">
                  <a:solidFill>
                    <a:srgbClr val="4F5A71">
                      <a:alpha val="64999"/>
                    </a:srgbClr>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40" name="Oval 13"/>
            <p:cNvSpPr>
              <a:spLocks noChangeArrowheads="1"/>
            </p:cNvSpPr>
            <p:nvPr>
              <p:custDataLst>
                <p:tags r:id="rId5"/>
              </p:custDataLst>
            </p:nvPr>
          </p:nvSpPr>
          <p:spPr bwMode="gray">
            <a:xfrm>
              <a:off x="2140" y="5083"/>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9" name="KSO_GT1"/>
            <p:cNvSpPr>
              <a:spLocks noChangeArrowheads="1"/>
            </p:cNvSpPr>
            <p:nvPr>
              <p:custDataLst>
                <p:tags r:id="rId6"/>
              </p:custDataLst>
            </p:nvPr>
          </p:nvSpPr>
          <p:spPr bwMode="gray">
            <a:xfrm>
              <a:off x="2746" y="5701"/>
              <a:ext cx="2155" cy="2201"/>
            </a:xfrm>
            <a:prstGeom prst="ellipse">
              <a:avLst/>
            </a:prstGeom>
            <a:solidFill>
              <a:srgbClr val="4F5A71"/>
            </a:solidFill>
            <a:ln>
              <a:noFill/>
            </a:ln>
            <a:effectLst/>
          </p:spPr>
          <p:txBody>
            <a:bodyPr wrap="square" lIns="0" tIns="0" rIns="0" bIns="0" anchor="ctr">
              <a:normAutofit fontScale="90000"/>
            </a:bodyPr>
            <a:lstStyle/>
            <a:p>
              <a:pPr algn="ctr">
                <a:defRPr/>
              </a:pPr>
              <a:r>
                <a:rPr lang="zh-CN" altLang="en-US" dirty="0" smtClean="0">
                  <a:solidFill>
                    <a:schemeClr val="bg1"/>
                  </a:solidFill>
                  <a:latin typeface="微软雅黑" panose="020B0503020204020204" charset="-122"/>
                  <a:ea typeface="微软雅黑" panose="020B0503020204020204" charset="-122"/>
                  <a:sym typeface="+mn-ea"/>
                </a:rPr>
                <a:t>“实施有效风险管理框架”的</a:t>
              </a:r>
              <a:r>
                <a:rPr lang="en-US" altLang="zh-CN" dirty="0" smtClean="0">
                  <a:solidFill>
                    <a:schemeClr val="bg1"/>
                  </a:solidFill>
                  <a:latin typeface="微软雅黑" panose="020B0503020204020204" charset="-122"/>
                  <a:ea typeface="微软雅黑" panose="020B0503020204020204" charset="-122"/>
                  <a:sym typeface="+mn-ea"/>
                </a:rPr>
                <a:t>7</a:t>
              </a:r>
              <a:r>
                <a:rPr lang="zh-CN" altLang="en-US" dirty="0" smtClean="0">
                  <a:solidFill>
                    <a:schemeClr val="bg1"/>
                  </a:solidFill>
                  <a:latin typeface="微软雅黑" panose="020B0503020204020204" charset="-122"/>
                  <a:ea typeface="微软雅黑" panose="020B0503020204020204" charset="-122"/>
                  <a:sym typeface="+mn-ea"/>
                </a:rPr>
                <a:t>项原则</a:t>
              </a:r>
              <a:endParaRPr lang="zh-CN" altLang="en-US" sz="2800" kern="0" dirty="0">
                <a:solidFill>
                  <a:schemeClr val="bg1"/>
                </a:solidFill>
                <a:latin typeface="Arial" panose="020B0604020202020204" pitchFamily="34" charset="0"/>
                <a:ea typeface="宋体" panose="02010600030101010101" pitchFamily="2" charset="-122"/>
                <a:cs typeface="黑体" panose="02010609060101010101" pitchFamily="49" charset="-122"/>
              </a:endParaRPr>
            </a:p>
          </p:txBody>
        </p:sp>
        <p:sp>
          <p:nvSpPr>
            <p:cNvPr id="43" name="Oval 19"/>
            <p:cNvSpPr>
              <a:spLocks noChangeArrowheads="1"/>
            </p:cNvSpPr>
            <p:nvPr>
              <p:custDataLst>
                <p:tags r:id="rId7"/>
              </p:custDataLst>
            </p:nvPr>
          </p:nvSpPr>
          <p:spPr bwMode="gray">
            <a:xfrm>
              <a:off x="4107" y="4156"/>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0" name="文本框 9"/>
            <p:cNvSpPr txBox="1"/>
            <p:nvPr>
              <p:custDataLst>
                <p:tags r:id="rId8"/>
              </p:custDataLst>
            </p:nvPr>
          </p:nvSpPr>
          <p:spPr>
            <a:xfrm>
              <a:off x="5721" y="3656"/>
              <a:ext cx="14760" cy="1867"/>
            </a:xfrm>
            <a:prstGeom prst="rect">
              <a:avLst/>
            </a:prstGeom>
            <a:noFill/>
          </p:spPr>
          <p:txBody>
            <a:bodyPr wrap="square" lIns="0" rIns="0">
              <a:normAutofit/>
            </a:bodyPr>
            <a:lstStyle/>
            <a:p>
              <a:pPr>
                <a:lnSpc>
                  <a:spcPct val="130000"/>
                </a:lnSpc>
                <a:spcBef>
                  <a:spcPts val="600"/>
                </a:spcBef>
                <a:defRPr/>
              </a:pPr>
              <a:r>
                <a:rPr dirty="0"/>
                <a:t>（1） 站在系统的角度，全面考虑软件风险，以及软件需要解决的业务问题。</a:t>
              </a:r>
            </a:p>
            <a:p>
              <a:pPr>
                <a:lnSpc>
                  <a:spcPct val="130000"/>
                </a:lnSpc>
                <a:spcBef>
                  <a:spcPts val="600"/>
                </a:spcBef>
                <a:defRPr/>
              </a:pPr>
              <a:endParaRPr dirty="0"/>
            </a:p>
          </p:txBody>
        </p:sp>
        <p:sp>
          <p:nvSpPr>
            <p:cNvPr id="46" name="Oval 19"/>
            <p:cNvSpPr>
              <a:spLocks noChangeArrowheads="1"/>
            </p:cNvSpPr>
            <p:nvPr>
              <p:custDataLst>
                <p:tags r:id="rId9"/>
              </p:custDataLst>
            </p:nvPr>
          </p:nvSpPr>
          <p:spPr bwMode="gray">
            <a:xfrm>
              <a:off x="5110" y="4872"/>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47" name="文本框 46"/>
            <p:cNvSpPr txBox="1"/>
            <p:nvPr>
              <p:custDataLst>
                <p:tags r:id="rId10"/>
              </p:custDataLst>
            </p:nvPr>
          </p:nvSpPr>
          <p:spPr>
            <a:xfrm>
              <a:off x="7127" y="5209"/>
              <a:ext cx="13038" cy="1097"/>
            </a:xfrm>
            <a:prstGeom prst="rect">
              <a:avLst/>
            </a:prstGeom>
            <a:noFill/>
          </p:spPr>
          <p:txBody>
            <a:bodyPr wrap="square" lIns="0" rIns="0">
              <a:normAutofit/>
            </a:bodyPr>
            <a:lstStyle/>
            <a:p>
              <a:pPr>
                <a:lnSpc>
                  <a:spcPct val="130000"/>
                </a:lnSpc>
                <a:spcBef>
                  <a:spcPts val="600"/>
                </a:spcBef>
                <a:defRPr/>
              </a:pPr>
              <a:r>
                <a:rPr dirty="0"/>
                <a:t>（3） 提倡广泛交流，鼓励、重视开发团队成员和用户提出的各种风险。</a:t>
              </a:r>
            </a:p>
          </p:txBody>
        </p:sp>
        <p:sp>
          <p:nvSpPr>
            <p:cNvPr id="49" name="Oval 19"/>
            <p:cNvSpPr>
              <a:spLocks noChangeArrowheads="1"/>
            </p:cNvSpPr>
            <p:nvPr>
              <p:custDataLst>
                <p:tags r:id="rId11"/>
              </p:custDataLst>
            </p:nvPr>
          </p:nvSpPr>
          <p:spPr bwMode="gray">
            <a:xfrm>
              <a:off x="5721" y="6604"/>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1" name="文本框 10"/>
            <p:cNvSpPr txBox="1"/>
            <p:nvPr>
              <p:custDataLst>
                <p:tags r:id="rId12"/>
              </p:custDataLst>
            </p:nvPr>
          </p:nvSpPr>
          <p:spPr>
            <a:xfrm>
              <a:off x="7127" y="6838"/>
              <a:ext cx="11405" cy="1285"/>
            </a:xfrm>
            <a:prstGeom prst="rect">
              <a:avLst/>
            </a:prstGeom>
            <a:noFill/>
          </p:spPr>
          <p:txBody>
            <a:bodyPr wrap="square" lIns="0" rIns="0">
              <a:normAutofit/>
            </a:bodyPr>
            <a:lstStyle/>
            <a:p>
              <a:pPr>
                <a:lnSpc>
                  <a:spcPct val="130000"/>
                </a:lnSpc>
                <a:spcBef>
                  <a:spcPts val="600"/>
                </a:spcBef>
                <a:defRPr/>
              </a:pPr>
              <a:r>
                <a:rPr lang="zh-CN" altLang="en-US" dirty="0"/>
                <a:t>（5）在软件开发过程中，随着信息和知识的增加，适时修改已识别的风险，加入新风险。</a:t>
              </a:r>
            </a:p>
          </p:txBody>
        </p:sp>
        <p:sp>
          <p:nvSpPr>
            <p:cNvPr id="53" name="Oval 19"/>
            <p:cNvSpPr>
              <a:spLocks noChangeArrowheads="1"/>
            </p:cNvSpPr>
            <p:nvPr>
              <p:custDataLst>
                <p:tags r:id="rId13"/>
              </p:custDataLst>
            </p:nvPr>
          </p:nvSpPr>
          <p:spPr bwMode="gray">
            <a:xfrm>
              <a:off x="5110" y="8123"/>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2" name="文本框 11"/>
            <p:cNvSpPr txBox="1"/>
            <p:nvPr>
              <p:custDataLst>
                <p:tags r:id="rId14"/>
              </p:custDataLst>
            </p:nvPr>
          </p:nvSpPr>
          <p:spPr>
            <a:xfrm>
              <a:off x="5506" y="8979"/>
              <a:ext cx="12811" cy="1353"/>
            </a:xfrm>
            <a:prstGeom prst="rect">
              <a:avLst/>
            </a:prstGeom>
            <a:noFill/>
          </p:spPr>
          <p:txBody>
            <a:bodyPr wrap="square" lIns="0" rIns="0">
              <a:normAutofit/>
            </a:bodyPr>
            <a:lstStyle/>
            <a:p>
              <a:pPr>
                <a:lnSpc>
                  <a:spcPct val="130000"/>
                </a:lnSpc>
                <a:spcBef>
                  <a:spcPts val="600"/>
                </a:spcBef>
                <a:defRPr/>
              </a:pPr>
              <a:r>
                <a:rPr lang="zh-CN" altLang="en-US" dirty="0"/>
                <a:t>（7）在风险管理中要发挥集体智慧，鼓励协同工作。</a:t>
              </a:r>
            </a:p>
          </p:txBody>
        </p:sp>
        <p:sp>
          <p:nvSpPr>
            <p:cNvPr id="56" name="Oval 19"/>
            <p:cNvSpPr>
              <a:spLocks noChangeArrowheads="1"/>
            </p:cNvSpPr>
            <p:nvPr>
              <p:custDataLst>
                <p:tags r:id="rId15"/>
              </p:custDataLst>
            </p:nvPr>
          </p:nvSpPr>
          <p:spPr bwMode="gray">
            <a:xfrm>
              <a:off x="4107" y="8979"/>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7" name="文本框 56"/>
            <p:cNvSpPr txBox="1"/>
            <p:nvPr>
              <p:custDataLst>
                <p:tags r:id="rId16"/>
              </p:custDataLst>
            </p:nvPr>
          </p:nvSpPr>
          <p:spPr>
            <a:xfrm>
              <a:off x="7127" y="6141"/>
              <a:ext cx="9960" cy="1249"/>
            </a:xfrm>
            <a:prstGeom prst="rect">
              <a:avLst/>
            </a:prstGeom>
            <a:noFill/>
          </p:spPr>
          <p:txBody>
            <a:bodyPr wrap="square" lIns="0" rIns="0">
              <a:normAutofit/>
            </a:bodyPr>
            <a:lstStyle/>
            <a:p>
              <a:pPr>
                <a:lnSpc>
                  <a:spcPct val="130000"/>
                </a:lnSpc>
                <a:spcBef>
                  <a:spcPts val="600"/>
                </a:spcBef>
                <a:defRPr/>
              </a:pPr>
              <a:r>
                <a:rPr dirty="0">
                  <a:sym typeface="+mn-ea"/>
                </a:rPr>
                <a:t>（4）风险分析要与软件过程相结合。</a:t>
              </a:r>
            </a:p>
          </p:txBody>
        </p:sp>
        <p:sp>
          <p:nvSpPr>
            <p:cNvPr id="13" name="Oval 19"/>
            <p:cNvSpPr>
              <a:spLocks noChangeArrowheads="1"/>
            </p:cNvSpPr>
            <p:nvPr>
              <p:custDataLst>
                <p:tags r:id="rId17"/>
              </p:custDataLst>
            </p:nvPr>
          </p:nvSpPr>
          <p:spPr bwMode="gray">
            <a:xfrm>
              <a:off x="5975" y="5523"/>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4" name="Oval 19"/>
            <p:cNvSpPr>
              <a:spLocks noChangeArrowheads="1"/>
            </p:cNvSpPr>
            <p:nvPr>
              <p:custDataLst>
                <p:tags r:id="rId18"/>
              </p:custDataLst>
            </p:nvPr>
          </p:nvSpPr>
          <p:spPr bwMode="gray">
            <a:xfrm>
              <a:off x="5936" y="7727"/>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5" name="文本框 14"/>
            <p:cNvSpPr txBox="1"/>
            <p:nvPr/>
          </p:nvSpPr>
          <p:spPr>
            <a:xfrm>
              <a:off x="6332" y="4507"/>
              <a:ext cx="12108" cy="576"/>
            </a:xfrm>
            <a:prstGeom prst="rect">
              <a:avLst/>
            </a:prstGeom>
            <a:noFill/>
          </p:spPr>
          <p:txBody>
            <a:bodyPr wrap="none" rtlCol="0" anchor="t">
              <a:spAutoFit/>
            </a:bodyPr>
            <a:lstStyle/>
            <a:p>
              <a:pPr algn="l"/>
              <a:r>
                <a:rPr dirty="0">
                  <a:sym typeface="+mn-ea"/>
                </a:rPr>
                <a:t>（2） 从长远的角度，考虑可能发生的风险，并制定相应的风险应对计划。</a:t>
              </a:r>
            </a:p>
          </p:txBody>
        </p:sp>
        <p:sp>
          <p:nvSpPr>
            <p:cNvPr id="16" name="文本框 15"/>
            <p:cNvSpPr txBox="1"/>
            <p:nvPr/>
          </p:nvSpPr>
          <p:spPr>
            <a:xfrm>
              <a:off x="6371" y="8123"/>
              <a:ext cx="9228" cy="705"/>
            </a:xfrm>
            <a:prstGeom prst="rect">
              <a:avLst/>
            </a:prstGeom>
            <a:noFill/>
          </p:spPr>
          <p:txBody>
            <a:bodyPr wrap="none" rtlCol="0" anchor="t">
              <a:spAutoFit/>
            </a:bodyPr>
            <a:lstStyle/>
            <a:p>
              <a:pPr algn="l">
                <a:lnSpc>
                  <a:spcPct val="130000"/>
                </a:lnSpc>
                <a:spcBef>
                  <a:spcPts val="600"/>
                </a:spcBef>
                <a:defRPr/>
              </a:pPr>
              <a:r>
                <a:rPr lang="zh-CN" altLang="en-US" dirty="0">
                  <a:sym typeface="+mn-ea"/>
                </a:rPr>
                <a:t>（6） 开发共享版本的软件产品有利于风险识别和估算。</a:t>
              </a:r>
            </a:p>
          </p:txBody>
        </p:sp>
      </p:gr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10.7.3  软件开发风险管理</a:t>
            </a:r>
          </a:p>
        </p:txBody>
      </p:sp>
      <p:grpSp>
        <p:nvGrpSpPr>
          <p:cNvPr id="17" name="组合 16"/>
          <p:cNvGrpSpPr/>
          <p:nvPr/>
        </p:nvGrpSpPr>
        <p:grpSpPr>
          <a:xfrm>
            <a:off x="461645" y="2202815"/>
            <a:ext cx="11288395" cy="4388485"/>
            <a:chOff x="1094" y="3421"/>
            <a:chExt cx="17777" cy="6911"/>
          </a:xfrm>
        </p:grpSpPr>
        <p:sp>
          <p:nvSpPr>
            <p:cNvPr id="5" name="Oval 15"/>
            <p:cNvSpPr>
              <a:spLocks noChangeArrowheads="1"/>
            </p:cNvSpPr>
            <p:nvPr>
              <p:custDataLst>
                <p:tags r:id="rId1"/>
              </p:custDataLst>
            </p:nvPr>
          </p:nvSpPr>
          <p:spPr bwMode="auto">
            <a:xfrm>
              <a:off x="1366" y="4268"/>
              <a:ext cx="4966" cy="5012"/>
            </a:xfrm>
            <a:prstGeom prst="ellipse">
              <a:avLst/>
            </a:prstGeom>
            <a:noFill/>
            <a:ln w="19050">
              <a:solidFill>
                <a:srgbClr val="4F5A71">
                  <a:alpha val="50000"/>
                </a:srgbClr>
              </a:solidFill>
              <a:round/>
            </a:ln>
            <a:effectLst/>
            <a:extLst>
              <a:ext uri="{909E8E84-426E-40DD-AFC4-6F175D3DCCD1}">
                <a14:hiddenFill xmlns:a14="http://schemas.microsoft.com/office/drawing/2010/main" xmlns="">
                  <a:solidFill>
                    <a:srgbClr val="4F5A71"/>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6" name="Line 16"/>
            <p:cNvSpPr>
              <a:spLocks noChangeShapeType="1"/>
            </p:cNvSpPr>
            <p:nvPr>
              <p:custDataLst>
                <p:tags r:id="rId2"/>
              </p:custDataLst>
            </p:nvPr>
          </p:nvSpPr>
          <p:spPr bwMode="gray">
            <a:xfrm>
              <a:off x="1094" y="6785"/>
              <a:ext cx="5486" cy="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7" name="Line 17"/>
            <p:cNvSpPr>
              <a:spLocks noChangeShapeType="1"/>
            </p:cNvSpPr>
            <p:nvPr>
              <p:custDataLst>
                <p:tags r:id="rId3"/>
              </p:custDataLst>
            </p:nvPr>
          </p:nvSpPr>
          <p:spPr bwMode="gray">
            <a:xfrm>
              <a:off x="3837" y="3898"/>
              <a:ext cx="0" cy="577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8" name="Oval 10"/>
            <p:cNvSpPr>
              <a:spLocks noChangeArrowheads="1"/>
            </p:cNvSpPr>
            <p:nvPr>
              <p:custDataLst>
                <p:tags r:id="rId4"/>
              </p:custDataLst>
            </p:nvPr>
          </p:nvSpPr>
          <p:spPr bwMode="gray">
            <a:xfrm>
              <a:off x="1638" y="4552"/>
              <a:ext cx="4393" cy="4427"/>
            </a:xfrm>
            <a:prstGeom prst="ellipse">
              <a:avLst/>
            </a:prstGeom>
            <a:noFill/>
            <a:ln w="9525">
              <a:solidFill>
                <a:srgbClr val="4F5A71">
                  <a:alpha val="50000"/>
                </a:srgbClr>
              </a:solidFill>
              <a:round/>
            </a:ln>
            <a:effectLst/>
            <a:extLst>
              <a:ext uri="{909E8E84-426E-40DD-AFC4-6F175D3DCCD1}">
                <a14:hiddenFill xmlns:a14="http://schemas.microsoft.com/office/drawing/2010/main" xmlns="">
                  <a:solidFill>
                    <a:srgbClr val="4F5A71">
                      <a:alpha val="64999"/>
                    </a:srgbClr>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40" name="Oval 13"/>
            <p:cNvSpPr>
              <a:spLocks noChangeArrowheads="1"/>
            </p:cNvSpPr>
            <p:nvPr>
              <p:custDataLst>
                <p:tags r:id="rId5"/>
              </p:custDataLst>
            </p:nvPr>
          </p:nvSpPr>
          <p:spPr bwMode="gray">
            <a:xfrm>
              <a:off x="2140" y="5083"/>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9" name="KSO_GT1"/>
            <p:cNvSpPr>
              <a:spLocks noChangeArrowheads="1"/>
            </p:cNvSpPr>
            <p:nvPr>
              <p:custDataLst>
                <p:tags r:id="rId6"/>
              </p:custDataLst>
            </p:nvPr>
          </p:nvSpPr>
          <p:spPr bwMode="gray">
            <a:xfrm>
              <a:off x="2746" y="5701"/>
              <a:ext cx="2155" cy="2201"/>
            </a:xfrm>
            <a:prstGeom prst="ellipse">
              <a:avLst/>
            </a:prstGeom>
            <a:solidFill>
              <a:srgbClr val="4F5A71"/>
            </a:solidFill>
            <a:ln>
              <a:noFill/>
            </a:ln>
            <a:effectLst/>
          </p:spPr>
          <p:txBody>
            <a:bodyPr wrap="square" lIns="0" tIns="0" rIns="0" bIns="0" anchor="ctr">
              <a:normAutofit fontScale="67500" lnSpcReduction="20000"/>
            </a:bodyPr>
            <a:lstStyle/>
            <a:p>
              <a:pPr algn="ctr">
                <a:defRPr/>
              </a:pPr>
              <a:r>
                <a:rPr lang="zh-CN" altLang="en-US" sz="2400" dirty="0" smtClean="0">
                  <a:solidFill>
                    <a:schemeClr val="bg1"/>
                  </a:solidFill>
                  <a:latin typeface="微软雅黑" panose="020B0503020204020204" charset="-122"/>
                  <a:ea typeface="微软雅黑" panose="020B0503020204020204" charset="-122"/>
                  <a:sym typeface="+mn-ea"/>
                </a:rPr>
                <a:t>项目负责人可采取的</a:t>
              </a:r>
              <a:r>
                <a:rPr lang="zh-CN" altLang="en-US" sz="2800" kern="0" dirty="0" smtClean="0">
                  <a:solidFill>
                    <a:schemeClr val="bg1"/>
                  </a:solidFill>
                  <a:latin typeface="Arial" panose="020B0604020202020204" pitchFamily="34" charset="0"/>
                  <a:ea typeface="宋体" panose="02010600030101010101" pitchFamily="2" charset="-122"/>
                  <a:cs typeface="黑体" panose="02010609060101010101" pitchFamily="49" charset="-122"/>
                </a:rPr>
                <a:t>风险</a:t>
              </a:r>
              <a:r>
                <a:rPr lang="zh-CN" altLang="en-US" sz="2800" kern="0" dirty="0">
                  <a:solidFill>
                    <a:schemeClr val="bg1"/>
                  </a:solidFill>
                  <a:latin typeface="Arial" panose="020B0604020202020204" pitchFamily="34" charset="0"/>
                  <a:ea typeface="宋体" panose="02010600030101010101" pitchFamily="2" charset="-122"/>
                  <a:cs typeface="黑体" panose="02010609060101010101" pitchFamily="49" charset="-122"/>
                </a:rPr>
                <a:t>管理措施</a:t>
              </a:r>
            </a:p>
          </p:txBody>
        </p:sp>
        <p:sp>
          <p:nvSpPr>
            <p:cNvPr id="43" name="Oval 19"/>
            <p:cNvSpPr>
              <a:spLocks noChangeArrowheads="1"/>
            </p:cNvSpPr>
            <p:nvPr>
              <p:custDataLst>
                <p:tags r:id="rId7"/>
              </p:custDataLst>
            </p:nvPr>
          </p:nvSpPr>
          <p:spPr bwMode="gray">
            <a:xfrm>
              <a:off x="4107" y="4156"/>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0" name="文本框 9"/>
            <p:cNvSpPr txBox="1"/>
            <p:nvPr>
              <p:custDataLst>
                <p:tags r:id="rId8"/>
              </p:custDataLst>
            </p:nvPr>
          </p:nvSpPr>
          <p:spPr>
            <a:xfrm>
              <a:off x="5721" y="3421"/>
              <a:ext cx="12597" cy="1867"/>
            </a:xfrm>
            <a:prstGeom prst="rect">
              <a:avLst/>
            </a:prstGeom>
            <a:noFill/>
          </p:spPr>
          <p:txBody>
            <a:bodyPr wrap="square" lIns="0" rIns="0">
              <a:normAutofit/>
            </a:bodyPr>
            <a:lstStyle/>
            <a:p>
              <a:pPr>
                <a:lnSpc>
                  <a:spcPct val="130000"/>
                </a:lnSpc>
                <a:spcBef>
                  <a:spcPts val="600"/>
                </a:spcBef>
                <a:defRPr/>
              </a:pPr>
              <a:r>
                <a:rPr dirty="0"/>
                <a:t>（1） 项目开始以前应控制产生风险的原因，在项目开工后应想方设法减轻风险影响。</a:t>
              </a:r>
            </a:p>
          </p:txBody>
        </p:sp>
        <p:sp>
          <p:nvSpPr>
            <p:cNvPr id="46" name="Oval 19"/>
            <p:cNvSpPr>
              <a:spLocks noChangeArrowheads="1"/>
            </p:cNvSpPr>
            <p:nvPr>
              <p:custDataLst>
                <p:tags r:id="rId9"/>
              </p:custDataLst>
            </p:nvPr>
          </p:nvSpPr>
          <p:spPr bwMode="gray">
            <a:xfrm>
              <a:off x="5110" y="4872"/>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47" name="文本框 46"/>
            <p:cNvSpPr txBox="1"/>
            <p:nvPr>
              <p:custDataLst>
                <p:tags r:id="rId10"/>
              </p:custDataLst>
            </p:nvPr>
          </p:nvSpPr>
          <p:spPr>
            <a:xfrm>
              <a:off x="7127" y="5574"/>
              <a:ext cx="11406" cy="1097"/>
            </a:xfrm>
            <a:prstGeom prst="rect">
              <a:avLst/>
            </a:prstGeom>
            <a:noFill/>
          </p:spPr>
          <p:txBody>
            <a:bodyPr wrap="square" lIns="0" rIns="0">
              <a:normAutofit fontScale="92500" lnSpcReduction="20000"/>
            </a:bodyPr>
            <a:lstStyle/>
            <a:p>
              <a:pPr>
                <a:lnSpc>
                  <a:spcPct val="130000"/>
                </a:lnSpc>
                <a:spcBef>
                  <a:spcPts val="600"/>
                </a:spcBef>
                <a:defRPr/>
              </a:pPr>
              <a:r>
                <a:rPr dirty="0"/>
                <a:t>（3） 在工作方法和技术上应采取适当措施，防止因人员流动给工作带来损失。</a:t>
              </a:r>
            </a:p>
          </p:txBody>
        </p:sp>
        <p:sp>
          <p:nvSpPr>
            <p:cNvPr id="49" name="Oval 19"/>
            <p:cNvSpPr>
              <a:spLocks noChangeArrowheads="1"/>
            </p:cNvSpPr>
            <p:nvPr>
              <p:custDataLst>
                <p:tags r:id="rId11"/>
              </p:custDataLst>
            </p:nvPr>
          </p:nvSpPr>
          <p:spPr bwMode="gray">
            <a:xfrm>
              <a:off x="5721" y="6604"/>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1" name="文本框 10"/>
            <p:cNvSpPr txBox="1"/>
            <p:nvPr>
              <p:custDataLst>
                <p:tags r:id="rId12"/>
              </p:custDataLst>
            </p:nvPr>
          </p:nvSpPr>
          <p:spPr>
            <a:xfrm>
              <a:off x="7127" y="7346"/>
              <a:ext cx="11405" cy="774"/>
            </a:xfrm>
            <a:prstGeom prst="rect">
              <a:avLst/>
            </a:prstGeom>
            <a:noFill/>
          </p:spPr>
          <p:txBody>
            <a:bodyPr wrap="square" lIns="0" rIns="0">
              <a:normAutofit/>
            </a:bodyPr>
            <a:lstStyle/>
            <a:p>
              <a:pPr>
                <a:lnSpc>
                  <a:spcPct val="130000"/>
                </a:lnSpc>
                <a:spcBef>
                  <a:spcPts val="600"/>
                </a:spcBef>
                <a:defRPr/>
              </a:pPr>
              <a:r>
                <a:rPr lang="zh-CN" altLang="en-US" dirty="0"/>
                <a:t>（5） 建立组织机构，确定文档标准并及时生成文档。</a:t>
              </a:r>
            </a:p>
          </p:txBody>
        </p:sp>
        <p:sp>
          <p:nvSpPr>
            <p:cNvPr id="53" name="Oval 19"/>
            <p:cNvSpPr>
              <a:spLocks noChangeArrowheads="1"/>
            </p:cNvSpPr>
            <p:nvPr>
              <p:custDataLst>
                <p:tags r:id="rId13"/>
              </p:custDataLst>
            </p:nvPr>
          </p:nvSpPr>
          <p:spPr bwMode="gray">
            <a:xfrm>
              <a:off x="5110" y="8123"/>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2" name="文本框 11"/>
            <p:cNvSpPr txBox="1"/>
            <p:nvPr>
              <p:custDataLst>
                <p:tags r:id="rId14"/>
              </p:custDataLst>
            </p:nvPr>
          </p:nvSpPr>
          <p:spPr>
            <a:xfrm>
              <a:off x="5506" y="8979"/>
              <a:ext cx="12811" cy="1353"/>
            </a:xfrm>
            <a:prstGeom prst="rect">
              <a:avLst/>
            </a:prstGeom>
            <a:noFill/>
          </p:spPr>
          <p:txBody>
            <a:bodyPr wrap="square" lIns="0" rIns="0">
              <a:normAutofit/>
            </a:bodyPr>
            <a:lstStyle/>
            <a:p>
              <a:pPr>
                <a:lnSpc>
                  <a:spcPct val="130000"/>
                </a:lnSpc>
                <a:spcBef>
                  <a:spcPts val="600"/>
                </a:spcBef>
                <a:defRPr/>
              </a:pPr>
              <a:r>
                <a:rPr lang="zh-CN" altLang="en-US" dirty="0"/>
                <a:t>（7）为关键技术准备后备人员。</a:t>
              </a:r>
            </a:p>
          </p:txBody>
        </p:sp>
        <p:sp>
          <p:nvSpPr>
            <p:cNvPr id="56" name="Oval 19"/>
            <p:cNvSpPr>
              <a:spLocks noChangeArrowheads="1"/>
            </p:cNvSpPr>
            <p:nvPr>
              <p:custDataLst>
                <p:tags r:id="rId15"/>
              </p:custDataLst>
            </p:nvPr>
          </p:nvSpPr>
          <p:spPr bwMode="gray">
            <a:xfrm>
              <a:off x="4107" y="8979"/>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7" name="文本框 56"/>
            <p:cNvSpPr txBox="1"/>
            <p:nvPr>
              <p:custDataLst>
                <p:tags r:id="rId16"/>
              </p:custDataLst>
            </p:nvPr>
          </p:nvSpPr>
          <p:spPr>
            <a:xfrm>
              <a:off x="7127" y="6604"/>
              <a:ext cx="9960" cy="742"/>
            </a:xfrm>
            <a:prstGeom prst="rect">
              <a:avLst/>
            </a:prstGeom>
            <a:noFill/>
          </p:spPr>
          <p:txBody>
            <a:bodyPr wrap="square" lIns="0" rIns="0">
              <a:normAutofit/>
            </a:bodyPr>
            <a:lstStyle/>
            <a:p>
              <a:pPr>
                <a:lnSpc>
                  <a:spcPct val="130000"/>
                </a:lnSpc>
                <a:spcBef>
                  <a:spcPts val="600"/>
                </a:spcBef>
                <a:defRPr/>
              </a:pPr>
              <a:r>
                <a:rPr dirty="0">
                  <a:sym typeface="+mn-ea"/>
                </a:rPr>
                <a:t>（4） 项目在开发过程中应及时公布并交流项目开发的信息。</a:t>
              </a:r>
            </a:p>
          </p:txBody>
        </p:sp>
        <p:sp>
          <p:nvSpPr>
            <p:cNvPr id="13" name="Oval 19"/>
            <p:cNvSpPr>
              <a:spLocks noChangeArrowheads="1"/>
            </p:cNvSpPr>
            <p:nvPr>
              <p:custDataLst>
                <p:tags r:id="rId17"/>
              </p:custDataLst>
            </p:nvPr>
          </p:nvSpPr>
          <p:spPr bwMode="gray">
            <a:xfrm>
              <a:off x="5975" y="5523"/>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4" name="Oval 19"/>
            <p:cNvSpPr>
              <a:spLocks noChangeArrowheads="1"/>
            </p:cNvSpPr>
            <p:nvPr>
              <p:custDataLst>
                <p:tags r:id="rId18"/>
              </p:custDataLst>
            </p:nvPr>
          </p:nvSpPr>
          <p:spPr bwMode="gray">
            <a:xfrm>
              <a:off x="5936" y="7727"/>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5" name="文本框 14"/>
            <p:cNvSpPr txBox="1"/>
            <p:nvPr/>
          </p:nvSpPr>
          <p:spPr>
            <a:xfrm>
              <a:off x="6371" y="4566"/>
              <a:ext cx="12500" cy="1008"/>
            </a:xfrm>
            <a:prstGeom prst="rect">
              <a:avLst/>
            </a:prstGeom>
            <a:noFill/>
          </p:spPr>
          <p:txBody>
            <a:bodyPr wrap="square" rtlCol="0" anchor="t">
              <a:spAutoFit/>
            </a:bodyPr>
            <a:lstStyle/>
            <a:p>
              <a:pPr algn="l"/>
              <a:r>
                <a:rPr dirty="0">
                  <a:sym typeface="+mn-ea"/>
                </a:rPr>
                <a:t>（2） 了解导致项目开发人员变动的原因，在项目开发期间应控制上述原因，尽量减少人员的流动。</a:t>
              </a:r>
            </a:p>
          </p:txBody>
        </p:sp>
        <p:sp>
          <p:nvSpPr>
            <p:cNvPr id="16" name="文本框 15"/>
            <p:cNvSpPr txBox="1"/>
            <p:nvPr/>
          </p:nvSpPr>
          <p:spPr>
            <a:xfrm>
              <a:off x="6371" y="8123"/>
              <a:ext cx="12468" cy="705"/>
            </a:xfrm>
            <a:prstGeom prst="rect">
              <a:avLst/>
            </a:prstGeom>
            <a:noFill/>
          </p:spPr>
          <p:txBody>
            <a:bodyPr wrap="none" rtlCol="0" anchor="t">
              <a:spAutoFit/>
            </a:bodyPr>
            <a:lstStyle/>
            <a:p>
              <a:pPr algn="l">
                <a:lnSpc>
                  <a:spcPct val="130000"/>
                </a:lnSpc>
                <a:spcBef>
                  <a:spcPts val="600"/>
                </a:spcBef>
                <a:defRPr/>
              </a:pPr>
              <a:r>
                <a:rPr lang="zh-CN" altLang="en-US" dirty="0">
                  <a:sym typeface="+mn-ea"/>
                </a:rPr>
                <a:t>（6） 对工作进行集体复审，使多数人都能了解工作的细节，跟上工作进度。</a:t>
              </a:r>
            </a:p>
          </p:txBody>
        </p:sp>
      </p:gr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10.7.3  软件开发风险管理</a:t>
            </a:r>
          </a:p>
        </p:txBody>
      </p:sp>
      <p:sp>
        <p:nvSpPr>
          <p:cNvPr id="13" name="矩形 12"/>
          <p:cNvSpPr/>
          <p:nvPr/>
        </p:nvSpPr>
        <p:spPr>
          <a:xfrm>
            <a:off x="1014246" y="2110762"/>
            <a:ext cx="10278594" cy="4081117"/>
          </a:xfrm>
          <a:prstGeom prst="rect">
            <a:avLst/>
          </a:prstGeom>
          <a:ln>
            <a:solidFill>
              <a:schemeClr val="bg1">
                <a:lumMod val="50000"/>
              </a:schemeClr>
            </a:solidFill>
          </a:ln>
        </p:spPr>
        <p:txBody>
          <a:bodyPr wrap="square">
            <a:spAutoFit/>
          </a:bodyPr>
          <a:lstStyle/>
          <a:p>
            <a:pPr indent="457200">
              <a:lnSpc>
                <a:spcPct val="120000"/>
              </a:lnSpc>
            </a:pPr>
            <a:r>
              <a:rPr dirty="0" smtClean="0">
                <a:latin typeface="微软雅黑" panose="020B0503020204020204" charset="-122"/>
                <a:ea typeface="微软雅黑" panose="020B0503020204020204" charset="-122"/>
                <a:cs typeface="宋体" panose="02010600030101010101" pitchFamily="2" charset="-122"/>
                <a:sym typeface="+mn-ea"/>
              </a:rPr>
              <a:t>值得注意的是，风险标识、风险估算和风险管理都将花</a:t>
            </a:r>
          </a:p>
          <a:p>
            <a:pPr indent="0" fontAlgn="auto">
              <a:lnSpc>
                <a:spcPct val="120000"/>
              </a:lnSpc>
            </a:pPr>
            <a:r>
              <a:rPr dirty="0" smtClean="0">
                <a:latin typeface="微软雅黑" panose="020B0503020204020204" charset="-122"/>
                <a:ea typeface="微软雅黑" panose="020B0503020204020204" charset="-122"/>
                <a:cs typeface="宋体" panose="02010600030101010101" pitchFamily="2" charset="-122"/>
                <a:sym typeface="+mn-ea"/>
              </a:rPr>
              <a:t>费额外的项目成本。例如，备份每个关键的技术人员是要花</a:t>
            </a:r>
          </a:p>
          <a:p>
            <a:pPr indent="0" fontAlgn="auto">
              <a:lnSpc>
                <a:spcPct val="120000"/>
              </a:lnSpc>
            </a:pPr>
            <a:r>
              <a:rPr dirty="0" smtClean="0">
                <a:latin typeface="微软雅黑" panose="020B0503020204020204" charset="-122"/>
                <a:ea typeface="微软雅黑" panose="020B0503020204020204" charset="-122"/>
                <a:cs typeface="宋体" panose="02010600030101010101" pitchFamily="2" charset="-122"/>
                <a:sym typeface="+mn-ea"/>
              </a:rPr>
              <a:t>钱的。</a:t>
            </a:r>
            <a:r>
              <a:rPr b="1" dirty="0" smtClean="0">
                <a:solidFill>
                  <a:srgbClr val="00B050"/>
                </a:solidFill>
                <a:latin typeface="微软雅黑" panose="020B0503020204020204" charset="-122"/>
                <a:ea typeface="微软雅黑" panose="020B0503020204020204" charset="-122"/>
                <a:cs typeface="宋体" panose="02010600030101010101" pitchFamily="2" charset="-122"/>
                <a:sym typeface="+mn-ea"/>
              </a:rPr>
              <a:t>因此风险管理的另一个任务，就是评估在什么情况</a:t>
            </a:r>
          </a:p>
          <a:p>
            <a:pPr indent="0" fontAlgn="auto">
              <a:lnSpc>
                <a:spcPct val="120000"/>
              </a:lnSpc>
            </a:pPr>
            <a:r>
              <a:rPr b="1" dirty="0" smtClean="0">
                <a:solidFill>
                  <a:srgbClr val="00B050"/>
                </a:solidFill>
                <a:latin typeface="微软雅黑" panose="020B0503020204020204" charset="-122"/>
                <a:ea typeface="微软雅黑" panose="020B0503020204020204" charset="-122"/>
                <a:cs typeface="宋体" panose="02010600030101010101" pitchFamily="2" charset="-122"/>
                <a:sym typeface="+mn-ea"/>
              </a:rPr>
              <a:t>下，风险缓解、监控和管理措施所产生的效益高于实现这</a:t>
            </a:r>
          </a:p>
          <a:p>
            <a:pPr indent="0" fontAlgn="auto">
              <a:lnSpc>
                <a:spcPct val="120000"/>
              </a:lnSpc>
            </a:pPr>
            <a:r>
              <a:rPr b="1" dirty="0" smtClean="0">
                <a:solidFill>
                  <a:srgbClr val="00B050"/>
                </a:solidFill>
                <a:latin typeface="微软雅黑" panose="020B0503020204020204" charset="-122"/>
                <a:ea typeface="微软雅黑" panose="020B0503020204020204" charset="-122"/>
                <a:cs typeface="宋体" panose="02010600030101010101" pitchFamily="2" charset="-122"/>
                <a:sym typeface="+mn-ea"/>
              </a:rPr>
              <a:t>些步骤所花费的成本。</a:t>
            </a:r>
            <a:r>
              <a:rPr dirty="0" smtClean="0">
                <a:latin typeface="微软雅黑" panose="020B0503020204020204" charset="-122"/>
                <a:ea typeface="微软雅黑" panose="020B0503020204020204" charset="-122"/>
                <a:cs typeface="宋体" panose="02010600030101010101" pitchFamily="2" charset="-122"/>
                <a:sym typeface="+mn-ea"/>
              </a:rPr>
              <a:t>通常，项目计划者要做一次常规的成本/效益分析。</a:t>
            </a:r>
          </a:p>
          <a:p>
            <a:pPr indent="0" fontAlgn="auto">
              <a:lnSpc>
                <a:spcPct val="120000"/>
              </a:lnSpc>
            </a:pPr>
            <a:r>
              <a:rPr dirty="0" smtClean="0">
                <a:latin typeface="微软雅黑" panose="020B0503020204020204" charset="-122"/>
                <a:ea typeface="微软雅黑" panose="020B0503020204020204" charset="-122"/>
                <a:cs typeface="宋体" panose="02010600030101010101" pitchFamily="2" charset="-122"/>
                <a:sym typeface="+mn-ea"/>
              </a:rPr>
              <a:t>一般说来，如果采取某项风险缓解措施所增加的成本大于其产生的效益，则项目管理者很可能决定不采取这项措施。</a:t>
            </a:r>
          </a:p>
          <a:p>
            <a:pPr indent="457200">
              <a:lnSpc>
                <a:spcPct val="120000"/>
              </a:lnSpc>
            </a:pPr>
            <a:r>
              <a:rPr dirty="0" smtClean="0">
                <a:latin typeface="微软雅黑" panose="020B0503020204020204" charset="-122"/>
                <a:ea typeface="微软雅黑" panose="020B0503020204020204" charset="-122"/>
                <a:cs typeface="宋体" panose="02010600030101010101" pitchFamily="2" charset="-122"/>
                <a:sym typeface="+mn-ea"/>
              </a:rPr>
              <a:t>对于大型项目，可以识别出几十种风险，如果为每一个风险都制定风险缓解措施，那么风险管理本身就变成一个“大项目”，因此，我们要将Pareto的80/20法则应用于软件风险。经验表明，整个项目风险的80%（即可能导致项目失败的80%的潜在因素）能够由20%已经识别的风险来说明。早期风险分析步骤中所做的工作能够帮助我们确定哪些风险在这20%中，从而将精力集中在具有最高级别的风险上，为其采取相应的缓解措施。</a:t>
            </a:r>
          </a:p>
        </p:txBody>
      </p:sp>
      <p:pic>
        <p:nvPicPr>
          <p:cNvPr id="17" name="图片 16" descr="A000220150322J29PPIC.png"/>
          <p:cNvPicPr>
            <a:picLocks noChangeAspect="1"/>
          </p:cNvPicPr>
          <p:nvPr/>
        </p:nvPicPr>
        <p:blipFill>
          <a:blip r:embed="rId2" cstate="print"/>
          <a:stretch>
            <a:fillRect/>
          </a:stretch>
        </p:blipFill>
        <p:spPr>
          <a:xfrm>
            <a:off x="7108132" y="405603"/>
            <a:ext cx="4393324" cy="3267821"/>
          </a:xfrm>
          <a:prstGeom prst="rect">
            <a:avLst/>
          </a:prstGeom>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10.7.3  软件开发风险管理</a:t>
            </a:r>
          </a:p>
        </p:txBody>
      </p:sp>
      <p:sp>
        <p:nvSpPr>
          <p:cNvPr id="2" name="文本框 1"/>
          <p:cNvSpPr txBox="1"/>
          <p:nvPr/>
        </p:nvSpPr>
        <p:spPr>
          <a:xfrm>
            <a:off x="835573" y="3051195"/>
            <a:ext cx="5785944" cy="2308324"/>
          </a:xfrm>
          <a:prstGeom prst="rect">
            <a:avLst/>
          </a:prstGeom>
          <a:solidFill>
            <a:schemeClr val="tx2">
              <a:lumMod val="60000"/>
              <a:lumOff val="40000"/>
              <a:alpha val="10000"/>
            </a:schemeClr>
          </a:solidFill>
        </p:spPr>
        <p:txBody>
          <a:bodyPr wrap="square" rtlCol="0">
            <a:spAutoFit/>
          </a:bodyPr>
          <a:lstStyle/>
          <a:p>
            <a:pPr indent="457200" fontAlgn="auto">
              <a:lnSpc>
                <a:spcPct val="120000"/>
              </a:lnSpc>
            </a:pPr>
            <a:r>
              <a:rPr lang="zh-CN" altLang="en-US" sz="2000" dirty="0"/>
              <a:t>在软件项目管理的实践中，有些团队采用了风险检测表的方法，有些团队在软件项目计划中建立风险缓解、监测和管理计划（Risk Mitigation，Monitoring and Management，RMMM），将所有风险分析文档化，进行风险缓解和监测。目前已有多种风险检查表为软件项目提供了有效手段。</a:t>
            </a:r>
          </a:p>
        </p:txBody>
      </p:sp>
      <p:pic>
        <p:nvPicPr>
          <p:cNvPr id="5" name="图片 4" descr="A000220150322D12PPIC.png"/>
          <p:cNvPicPr>
            <a:picLocks noChangeAspect="1"/>
          </p:cNvPicPr>
          <p:nvPr/>
        </p:nvPicPr>
        <p:blipFill>
          <a:blip r:embed="rId2" cstate="print"/>
          <a:stretch>
            <a:fillRect/>
          </a:stretch>
        </p:blipFill>
        <p:spPr>
          <a:xfrm>
            <a:off x="6563694" y="2058322"/>
            <a:ext cx="5830186" cy="3831020"/>
          </a:xfrm>
          <a:prstGeom prst="rect">
            <a:avLst/>
          </a:prstGeom>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10.7  软件开发风险管理</a:t>
            </a:r>
            <a:r>
              <a:rPr lang="zh-CN" altLang="en-US">
                <a:solidFill>
                  <a:srgbClr val="FF0000"/>
                </a:solidFill>
              </a:rPr>
              <a:t/>
            </a:r>
            <a:br>
              <a:rPr lang="zh-CN" altLang="en-US">
                <a:solidFill>
                  <a:srgbClr val="FF0000"/>
                </a:solidFill>
              </a:rPr>
            </a:br>
            <a:endParaRPr lang="zh-CN" altLang="zh-CN">
              <a:solidFill>
                <a:srgbClr val="FF0000"/>
              </a:solidFill>
              <a:sym typeface="+mn-ea"/>
            </a:endParaRP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a:t>10.7.3  软件开发风险管理</a:t>
            </a:r>
          </a:p>
        </p:txBody>
      </p:sp>
      <p:grpSp>
        <p:nvGrpSpPr>
          <p:cNvPr id="5" name="组合 4"/>
          <p:cNvGrpSpPr/>
          <p:nvPr/>
        </p:nvGrpSpPr>
        <p:grpSpPr>
          <a:xfrm>
            <a:off x="867017" y="2199201"/>
            <a:ext cx="7349490" cy="3746500"/>
            <a:chOff x="6958" y="2450"/>
            <a:chExt cx="11574" cy="5900"/>
          </a:xfrm>
        </p:grpSpPr>
        <p:sp>
          <p:nvSpPr>
            <p:cNvPr id="5122" name="MH_Desc_1"/>
            <p:cNvSpPr>
              <a:spLocks noChangeArrowheads="1"/>
            </p:cNvSpPr>
            <p:nvPr/>
          </p:nvSpPr>
          <p:spPr bwMode="auto">
            <a:xfrm>
              <a:off x="7138" y="2450"/>
              <a:ext cx="11394" cy="5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rIns="90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eaLnBrk="1" fontAlgn="auto" hangingPunct="1">
                <a:lnSpc>
                  <a:spcPct val="130000"/>
                </a:lnSpc>
                <a:spcAft>
                  <a:spcPts val="1200"/>
                </a:spcAft>
                <a:defRPr/>
              </a:pPr>
              <a:r>
                <a:rPr lang="en-US" altLang="zh-CN">
                  <a:latin typeface="微软雅黑" panose="020B0503020204020204" charset="-122"/>
                  <a:ea typeface="微软雅黑" panose="020B0503020204020204" charset="-122"/>
                  <a:sym typeface="+mn-ea"/>
                </a:rPr>
                <a:t>软件项目，尤其是大型项目有3个非常重要的因素，会影响整个项目的进度与质量，它们分别是：</a:t>
              </a:r>
              <a:r>
                <a:rPr lang="en-US" altLang="zh-CN" b="1">
                  <a:solidFill>
                    <a:srgbClr val="00B0F0"/>
                  </a:solidFill>
                  <a:latin typeface="微软雅黑" panose="020B0503020204020204" charset="-122"/>
                  <a:ea typeface="微软雅黑" panose="020B0503020204020204" charset="-122"/>
                  <a:sym typeface="+mn-ea"/>
                </a:rPr>
                <a:t>“人”“技术”“流程”。</a:t>
              </a:r>
            </a:p>
            <a:p>
              <a:pPr indent="457200" algn="l" eaLnBrk="1" fontAlgn="auto" hangingPunct="1">
                <a:lnSpc>
                  <a:spcPct val="130000"/>
                </a:lnSpc>
                <a:spcAft>
                  <a:spcPts val="1200"/>
                </a:spcAft>
                <a:defRPr/>
              </a:pPr>
              <a:r>
                <a:rPr lang="en-US" altLang="zh-CN" b="1">
                  <a:solidFill>
                    <a:schemeClr val="accent6">
                      <a:lumMod val="50000"/>
                    </a:schemeClr>
                  </a:solidFill>
                  <a:latin typeface="微软雅黑" panose="020B0503020204020204" charset="-122"/>
                  <a:ea typeface="微软雅黑" panose="020B0503020204020204" charset="-122"/>
                  <a:sym typeface="+mn-ea"/>
                </a:rPr>
                <a:t>“人”是项目中最难预料与掌控的一项要素，人可分成两部份，一是客户，二是开发团队。“技术”是指软件项目所使用的开发平台，主要指开发环境及开发语言，是最容易掌握的部分。“流程”是指软件开发流程或是项目流程，定义流程的目的是要掌控所有的情况。</a:t>
              </a:r>
              <a:r>
                <a:rPr lang="en-US" altLang="zh-CN">
                  <a:latin typeface="微软雅黑" panose="020B0503020204020204" charset="-122"/>
                  <a:ea typeface="微软雅黑" panose="020B0503020204020204" charset="-122"/>
                  <a:sym typeface="+mn-ea"/>
                </a:rPr>
                <a:t>项目的最大敌人是时间及预算，这两者都是有限的，如何在有限预算内准时完成项目，可以说是一项艺术。优秀的项目管理者不仅要掌握软件开发的技术知识，还要通晓项目管理的方法。</a:t>
              </a:r>
            </a:p>
          </p:txBody>
        </p:sp>
        <p:cxnSp>
          <p:nvCxnSpPr>
            <p:cNvPr id="30" name="MH_Other_1"/>
            <p:cNvCxnSpPr/>
            <p:nvPr/>
          </p:nvCxnSpPr>
          <p:spPr>
            <a:xfrm rot="5400000">
              <a:off x="16588" y="6480"/>
              <a:ext cx="1702" cy="1700"/>
            </a:xfrm>
            <a:prstGeom prst="bentConnector3">
              <a:avLst>
                <a:gd name="adj1" fmla="val 100142"/>
              </a:avLst>
            </a:prstGeom>
            <a:ln>
              <a:solidFill>
                <a:srgbClr val="93E3FF"/>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34" name="MH_Other_2"/>
            <p:cNvCxnSpPr/>
            <p:nvPr/>
          </p:nvCxnSpPr>
          <p:spPr>
            <a:xfrm rot="5400000" flipH="1" flipV="1">
              <a:off x="6958" y="2473"/>
              <a:ext cx="1700" cy="1700"/>
            </a:xfrm>
            <a:prstGeom prst="bentConnector3">
              <a:avLst>
                <a:gd name="adj1" fmla="val 100142"/>
              </a:avLst>
            </a:prstGeom>
            <a:ln>
              <a:solidFill>
                <a:srgbClr val="93E3FF"/>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grpSp>
      <p:pic>
        <p:nvPicPr>
          <p:cNvPr id="9" name="图片 8" descr="timgCAAYTXYM.jpg"/>
          <p:cNvPicPr>
            <a:picLocks noChangeAspect="1"/>
          </p:cNvPicPr>
          <p:nvPr/>
        </p:nvPicPr>
        <p:blipFill>
          <a:blip r:embed="rId2" cstate="print"/>
          <a:stretch>
            <a:fillRect/>
          </a:stretch>
        </p:blipFill>
        <p:spPr>
          <a:xfrm>
            <a:off x="8288977" y="2344389"/>
            <a:ext cx="3557648" cy="3557648"/>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8</a:t>
              </a:r>
            </a:p>
          </p:txBody>
        </p:sp>
      </p:grpSp>
      <p:sp>
        <p:nvSpPr>
          <p:cNvPr id="40" name="文本框 39"/>
          <p:cNvSpPr txBox="1"/>
          <p:nvPr/>
        </p:nvSpPr>
        <p:spPr>
          <a:xfrm>
            <a:off x="6006555" y="2913198"/>
            <a:ext cx="5137150" cy="160591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软件工程标准与</a:t>
            </a: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软件文档</a:t>
            </a:r>
          </a:p>
        </p:txBody>
      </p:sp>
      <p:grpSp>
        <p:nvGrpSpPr>
          <p:cNvPr id="3" name="组合 2"/>
          <p:cNvGrpSpPr/>
          <p:nvPr/>
        </p:nvGrpSpPr>
        <p:grpSpPr>
          <a:xfrm>
            <a:off x="6718300" y="4812030"/>
            <a:ext cx="3712845" cy="913130"/>
            <a:chOff x="9459" y="7137"/>
            <a:chExt cx="5847" cy="1438"/>
          </a:xfrm>
        </p:grpSpPr>
        <p:sp>
          <p:nvSpPr>
            <p:cNvPr id="5" name="文本框 4"/>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软件工程标准</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软件文档的编写</a:t>
              </a:r>
            </a:p>
          </p:txBody>
        </p:sp>
      </p:grpSp>
    </p:spTree>
  </p:cSld>
  <p:clrMapOvr>
    <a:masterClrMapping/>
  </p:clrMapOvr>
  <p:transition spd="slow">
    <p:wipe/>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10.8  </a:t>
            </a:r>
            <a:r>
              <a:rPr lang="en-US" altLang="zh-CN" dirty="0" err="1" smtClean="0">
                <a:solidFill>
                  <a:srgbClr val="FF0000"/>
                </a:solidFill>
                <a:sym typeface="+mn-ea"/>
              </a:rPr>
              <a:t>软件工程标准与软件文档</a:t>
            </a:r>
            <a:endParaRPr lang="zh-CN" altLang="en-US" dirty="0">
              <a:solidFill>
                <a:srgbClr val="FF0000"/>
              </a:solidFill>
            </a:endParaRPr>
          </a:p>
        </p:txBody>
      </p:sp>
      <p:sp>
        <p:nvSpPr>
          <p:cNvPr id="7" name="文本框 6"/>
          <p:cNvSpPr txBox="1"/>
          <p:nvPr/>
        </p:nvSpPr>
        <p:spPr>
          <a:xfrm>
            <a:off x="754380" y="3190240"/>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软件测试说明</a:t>
            </a:r>
          </a:p>
        </p:txBody>
      </p:sp>
      <p:grpSp>
        <p:nvGrpSpPr>
          <p:cNvPr id="2" name="组合 1"/>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208" y="4116"/>
              <a:ext cx="11170" cy="4508"/>
            </a:xfrm>
            <a:prstGeom prst="rect">
              <a:avLst/>
            </a:prstGeom>
          </p:spPr>
          <p:txBody>
            <a:bodyPr wrap="square">
              <a:spAutoFit/>
            </a:bodyPr>
            <a:lstStyle/>
            <a:p>
              <a:pPr indent="457200">
                <a:lnSpc>
                  <a:spcPct val="150000"/>
                </a:lnSpc>
                <a:defRPr/>
              </a:pPr>
              <a:r>
                <a:rPr lang="en-US" altLang="zh-CN" sz="2000" b="1" kern="0" dirty="0" err="1" smtClean="0">
                  <a:solidFill>
                    <a:schemeClr val="bg1"/>
                  </a:solidFill>
                  <a:latin typeface="微软雅黑" panose="020B0503020204020204" charset="-122"/>
                  <a:ea typeface="微软雅黑" panose="020B0503020204020204" charset="-122"/>
                  <a:cs typeface="宋体" panose="02010600030101010101" pitchFamily="2" charset="-122"/>
                  <a:sym typeface="+mn-ea"/>
                </a:rPr>
                <a:t>软件工程作为一门工程技术，自然离不开</a:t>
              </a:r>
              <a:r>
                <a:rPr lang="en-US" altLang="zh-CN" sz="2000" b="1" kern="0" dirty="0" err="1" smtClean="0">
                  <a:solidFill>
                    <a:srgbClr val="FFFF00"/>
                  </a:solidFill>
                  <a:latin typeface="微软雅黑" panose="020B0503020204020204" charset="-122"/>
                  <a:ea typeface="微软雅黑" panose="020B0503020204020204" charset="-122"/>
                  <a:cs typeface="宋体" panose="02010600030101010101" pitchFamily="2" charset="-122"/>
                  <a:sym typeface="+mn-ea"/>
                </a:rPr>
                <a:t>标准</a:t>
              </a:r>
              <a:r>
                <a:rPr lang="en-US" altLang="zh-CN" sz="2000"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a:t>
              </a:r>
              <a:r>
                <a:rPr lang="en-US" altLang="zh-CN" sz="2000" b="1" kern="0" dirty="0" err="1" smtClean="0">
                  <a:solidFill>
                    <a:schemeClr val="bg1"/>
                  </a:solidFill>
                  <a:latin typeface="微软雅黑" panose="020B0503020204020204" charset="-122"/>
                  <a:ea typeface="微软雅黑" panose="020B0503020204020204" charset="-122"/>
                  <a:cs typeface="宋体" panose="02010600030101010101" pitchFamily="2" charset="-122"/>
                  <a:sym typeface="+mn-ea"/>
                </a:rPr>
                <a:t>积极推行软件的标准化，可以使软件开发工作有章可循，从而提高软件质量、降低软件成本等</a:t>
              </a:r>
              <a:r>
                <a:rPr lang="en-US" altLang="zh-CN" sz="2000"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a:t>
              </a:r>
            </a:p>
            <a:p>
              <a:pPr indent="457200">
                <a:lnSpc>
                  <a:spcPct val="150000"/>
                </a:lnSpc>
                <a:defRPr/>
              </a:pPr>
              <a:r>
                <a:rPr lang="en-US" altLang="zh-CN" sz="2000" b="1" kern="0" dirty="0" err="1" smtClean="0">
                  <a:solidFill>
                    <a:srgbClr val="FFFF00"/>
                  </a:solidFill>
                  <a:latin typeface="微软雅黑" panose="020B0503020204020204" charset="-122"/>
                  <a:ea typeface="微软雅黑" panose="020B0503020204020204" charset="-122"/>
                  <a:cs typeface="宋体" panose="02010600030101010101" pitchFamily="2" charset="-122"/>
                  <a:sym typeface="+mn-ea"/>
                </a:rPr>
                <a:t>软件文档</a:t>
              </a:r>
              <a:r>
                <a:rPr lang="en-US" altLang="zh-CN" sz="2000" b="1" kern="0" dirty="0" err="1" smtClean="0">
                  <a:solidFill>
                    <a:schemeClr val="bg1"/>
                  </a:solidFill>
                  <a:latin typeface="微软雅黑" panose="020B0503020204020204" charset="-122"/>
                  <a:ea typeface="微软雅黑" panose="020B0503020204020204" charset="-122"/>
                  <a:cs typeface="宋体" panose="02010600030101010101" pitchFamily="2" charset="-122"/>
                  <a:sym typeface="+mn-ea"/>
                </a:rPr>
                <a:t>是软件工程的一项重要内容，在软件生存周期中具有承上启下的作用，是软件工程各阶段的里程碑</a:t>
              </a:r>
              <a:r>
                <a:rPr lang="en-US" altLang="zh-CN" sz="2000"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a:t>
              </a:r>
              <a:r>
                <a:rPr lang="en-US" altLang="zh-CN" sz="2000" b="1" kern="0" dirty="0" err="1" smtClean="0">
                  <a:solidFill>
                    <a:schemeClr val="bg1"/>
                  </a:solidFill>
                  <a:latin typeface="微软雅黑" panose="020B0503020204020204" charset="-122"/>
                  <a:ea typeface="微软雅黑" panose="020B0503020204020204" charset="-122"/>
                  <a:cs typeface="宋体" panose="02010600030101010101" pitchFamily="2" charset="-122"/>
                  <a:sym typeface="+mn-ea"/>
                </a:rPr>
                <a:t>软件文档的标准化是软件工程标准化的重点</a:t>
              </a:r>
              <a:r>
                <a:rPr lang="en-US" altLang="zh-CN" sz="2000"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a:t>
              </a:r>
            </a:p>
          </p:txBody>
        </p:sp>
      </p:grpSp>
      <p:pic>
        <p:nvPicPr>
          <p:cNvPr id="4" name="图片 3" descr="0134e5554319ed0000019ae9a7c816"/>
          <p:cNvPicPr>
            <a:picLocks noChangeAspect="1"/>
          </p:cNvPicPr>
          <p:nvPr/>
        </p:nvPicPr>
        <p:blipFill>
          <a:blip r:embed="rId3" cstate="print"/>
          <a:srcRect l="10851" t="10172" r="8118" b="10845"/>
          <a:stretch>
            <a:fillRect/>
          </a:stretch>
        </p:blipFill>
        <p:spPr>
          <a:xfrm>
            <a:off x="8418368" y="2398816"/>
            <a:ext cx="3169188" cy="3088945"/>
          </a:xfrm>
          <a:prstGeom prst="roundRect">
            <a:avLst/>
          </a:prstGeom>
        </p:spPr>
      </p:pic>
    </p:spTree>
  </p:cSld>
  <p:clrMapOvr>
    <a:masterClrMapping/>
  </p:clrMapOvr>
  <p:transition>
    <p:randomBar dir="vert"/>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olidFill>
                  <a:srgbClr val="FF0000"/>
                </a:solidFill>
                <a:sym typeface="+mn-ea"/>
              </a:rPr>
              <a:t>10.8  </a:t>
            </a:r>
            <a:r>
              <a:rPr lang="en-US" altLang="zh-CN" dirty="0" err="1">
                <a:solidFill>
                  <a:srgbClr val="FF0000"/>
                </a:solidFill>
                <a:sym typeface="+mn-ea"/>
              </a:rPr>
              <a:t>软件工程标准与软件文档</a:t>
            </a:r>
            <a:endParaRPr lang="en-US" altLang="zh-CN" dirty="0">
              <a:solidFill>
                <a:srgbClr val="FF0000"/>
              </a:solidFill>
            </a:endParaRPr>
          </a:p>
        </p:txBody>
      </p:sp>
      <p:sp>
        <p:nvSpPr>
          <p:cNvPr id="7" name="文本框 6"/>
          <p:cNvSpPr txBox="1"/>
          <p:nvPr/>
        </p:nvSpPr>
        <p:spPr>
          <a:xfrm>
            <a:off x="754380" y="3380240"/>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软件测试说明</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10.8.1  软件工程标准</a:t>
            </a:r>
          </a:p>
        </p:txBody>
      </p:sp>
      <p:sp>
        <p:nvSpPr>
          <p:cNvPr id="5" name="矩形 4"/>
          <p:cNvSpPr/>
          <p:nvPr/>
        </p:nvSpPr>
        <p:spPr>
          <a:xfrm>
            <a:off x="0" y="2696717"/>
            <a:ext cx="12192000" cy="3184635"/>
          </a:xfrm>
          <a:prstGeom prst="rect">
            <a:avLst/>
          </a:prstGeom>
          <a:solidFill>
            <a:schemeClr val="accent5">
              <a:lumMod val="20000"/>
              <a:lumOff val="8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481" name="Rectangle 1"/>
          <p:cNvSpPr>
            <a:spLocks noChangeArrowheads="1"/>
          </p:cNvSpPr>
          <p:nvPr/>
        </p:nvSpPr>
        <p:spPr bwMode="auto">
          <a:xfrm>
            <a:off x="605679" y="2787908"/>
            <a:ext cx="6951259" cy="294132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anchor="ctr" anchorCtr="0" compatLnSpc="1">
            <a:spAutoFit/>
          </a:bodyPr>
          <a:lstStyle/>
          <a:p>
            <a:pPr marL="0" marR="0" lvl="0" indent="457200" algn="l" defTabSz="914400" rtl="0" eaLnBrk="1" fontAlgn="base" latinLnBrk="0" hangingPunct="1">
              <a:lnSpc>
                <a:spcPct val="130000"/>
              </a:lnSpc>
              <a:spcBef>
                <a:spcPct val="0"/>
              </a:spcBef>
              <a:spcAft>
                <a:spcPct val="0"/>
              </a:spcAft>
              <a:buClrTx/>
              <a:buSzTx/>
              <a:buFontTx/>
              <a:buNone/>
            </a:pPr>
            <a:r>
              <a:rPr kumimoji="0" lang="zh-CN"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charset="0"/>
              </a:rPr>
              <a:t>随着软件工程学的发展，软件开发工作的范围从只是使用程序设计语言编写程序，扩展到整个软件生存周期，包括</a:t>
            </a:r>
            <a:r>
              <a:rPr kumimoji="0" lang="zh-CN" b="1" i="0" u="none" strike="noStrike" cap="none" normalizeH="0" baseline="0" dirty="0" smtClean="0">
                <a:ln>
                  <a:noFill/>
                </a:ln>
                <a:solidFill>
                  <a:srgbClr val="00B050"/>
                </a:solidFill>
                <a:effectLst/>
                <a:latin typeface="微软雅黑" panose="020B0503020204020204" charset="-122"/>
                <a:ea typeface="微软雅黑" panose="020B0503020204020204" charset="-122"/>
                <a:cs typeface="Times New Roman" panose="02020603050405020304" charset="0"/>
              </a:rPr>
              <a:t>软件需求分析、设计、实现、测试、安装和检验、运行和维护，直到软件被淘汰。软件工程还有许多管理工作，如过程管理、产品管理和资源管理；确认与验证工作等。</a:t>
            </a:r>
            <a:r>
              <a:rPr kumimoji="0" lang="zh-CN"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charset="0"/>
              </a:rPr>
              <a:t>所有这些工作都应当逐步建立其标准或规范。</a:t>
            </a:r>
          </a:p>
          <a:p>
            <a:pPr marL="0" marR="0" lvl="0" indent="457200" algn="l" defTabSz="914400" rtl="0" eaLnBrk="1" fontAlgn="base" latinLnBrk="0" hangingPunct="1">
              <a:lnSpc>
                <a:spcPct val="130000"/>
              </a:lnSpc>
              <a:spcBef>
                <a:spcPct val="0"/>
              </a:spcBef>
              <a:spcAft>
                <a:spcPct val="0"/>
              </a:spcAft>
              <a:buClrTx/>
              <a:buSzTx/>
              <a:buFontTx/>
              <a:buNone/>
            </a:pPr>
            <a:r>
              <a:rPr kumimoji="0" lang="zh-CN"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charset="0"/>
              </a:rPr>
              <a:t>由于计算机技术发展迅速，在未形成标准之前，计算机行业中通常先使用一些约定，然后逐渐形成标准。</a:t>
            </a:r>
            <a:r>
              <a:rPr kumimoji="0" lang="zh-CN" b="1" i="0" u="none" strike="noStrike" cap="none" normalizeH="0" baseline="0" dirty="0" smtClean="0">
                <a:ln>
                  <a:noFill/>
                </a:ln>
                <a:solidFill>
                  <a:schemeClr val="accent6">
                    <a:lumMod val="50000"/>
                  </a:schemeClr>
                </a:solidFill>
                <a:effectLst/>
                <a:latin typeface="微软雅黑" panose="020B0503020204020204" charset="-122"/>
                <a:ea typeface="微软雅黑" panose="020B0503020204020204" charset="-122"/>
                <a:cs typeface="Times New Roman" panose="02020603050405020304" charset="0"/>
              </a:rPr>
              <a:t>软件工程标准化就是对软件生存期内的所有开发、维护和管理工作都逐步建立起标准。</a:t>
            </a:r>
          </a:p>
        </p:txBody>
      </p:sp>
      <p:pic>
        <p:nvPicPr>
          <p:cNvPr id="4" name="图片 3" descr="A000220150319H28PPIC.png"/>
          <p:cNvPicPr>
            <a:picLocks noChangeAspect="1"/>
          </p:cNvPicPr>
          <p:nvPr/>
        </p:nvPicPr>
        <p:blipFill>
          <a:blip r:embed="rId3" cstate="print"/>
          <a:stretch>
            <a:fillRect/>
          </a:stretch>
        </p:blipFill>
        <p:spPr>
          <a:xfrm>
            <a:off x="7317023" y="1356647"/>
            <a:ext cx="5474067" cy="4501662"/>
          </a:xfrm>
          <a:prstGeom prst="rect">
            <a:avLst/>
          </a:prstGeom>
        </p:spPr>
      </p:pic>
      <p:sp>
        <p:nvSpPr>
          <p:cNvPr id="8" name="TextBox 7"/>
          <p:cNvSpPr txBox="1"/>
          <p:nvPr/>
        </p:nvSpPr>
        <p:spPr>
          <a:xfrm>
            <a:off x="824415" y="2113881"/>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1</a:t>
            </a:r>
            <a:r>
              <a:rPr lang="zh-CN" altLang="en-US" sz="2400" dirty="0" smtClean="0"/>
              <a:t>．软件工程标准化的定义</a:t>
            </a:r>
          </a:p>
        </p:txBody>
      </p:sp>
    </p:spTree>
  </p:cSld>
  <p:clrMapOvr>
    <a:masterClrMapping/>
  </p:clrMapOvr>
  <p:transition>
    <p:randomBar dir="vert"/>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10.8  软件工程标准与软件文档</a:t>
            </a:r>
            <a:endParaRPr lang="en-US" altLang="zh-CN">
              <a:solidFill>
                <a:srgbClr val="FF0000"/>
              </a:solidFill>
            </a:endParaRPr>
          </a:p>
        </p:txBody>
      </p:sp>
      <p:sp>
        <p:nvSpPr>
          <p:cNvPr id="7" name="文本框 6"/>
          <p:cNvSpPr txBox="1"/>
          <p:nvPr/>
        </p:nvSpPr>
        <p:spPr>
          <a:xfrm>
            <a:off x="754380" y="3190240"/>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软件测试说明</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10.8.1  软件工程标准</a:t>
            </a:r>
          </a:p>
        </p:txBody>
      </p:sp>
      <p:grpSp>
        <p:nvGrpSpPr>
          <p:cNvPr id="2" name="组合 1"/>
          <p:cNvGrpSpPr/>
          <p:nvPr/>
        </p:nvGrpSpPr>
        <p:grpSpPr>
          <a:xfrm>
            <a:off x="848995" y="2176780"/>
            <a:ext cx="11015345" cy="4259580"/>
            <a:chOff x="1337" y="3428"/>
            <a:chExt cx="17347" cy="6708"/>
          </a:xfrm>
        </p:grpSpPr>
        <p:sp>
          <p:nvSpPr>
            <p:cNvPr id="16" name="Oval 15"/>
            <p:cNvSpPr>
              <a:spLocks noChangeArrowheads="1"/>
            </p:cNvSpPr>
            <p:nvPr>
              <p:custDataLst>
                <p:tags r:id="rId1"/>
              </p:custDataLst>
            </p:nvPr>
          </p:nvSpPr>
          <p:spPr bwMode="auto">
            <a:xfrm>
              <a:off x="1609" y="3997"/>
              <a:ext cx="4966" cy="5012"/>
            </a:xfrm>
            <a:prstGeom prst="ellipse">
              <a:avLst/>
            </a:prstGeom>
            <a:noFill/>
            <a:ln w="19050">
              <a:solidFill>
                <a:srgbClr val="4F5A71">
                  <a:alpha val="50000"/>
                </a:srgbClr>
              </a:solidFill>
              <a:round/>
            </a:ln>
            <a:effectLst/>
            <a:extLst>
              <a:ext uri="{909E8E84-426E-40DD-AFC4-6F175D3DCCD1}">
                <a14:hiddenFill xmlns:a14="http://schemas.microsoft.com/office/drawing/2010/main" xmlns="">
                  <a:solidFill>
                    <a:srgbClr val="4F5A71"/>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3" name="Line 16"/>
            <p:cNvSpPr>
              <a:spLocks noChangeShapeType="1"/>
            </p:cNvSpPr>
            <p:nvPr>
              <p:custDataLst>
                <p:tags r:id="rId2"/>
              </p:custDataLst>
            </p:nvPr>
          </p:nvSpPr>
          <p:spPr bwMode="gray">
            <a:xfrm>
              <a:off x="1337" y="6514"/>
              <a:ext cx="5486" cy="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4" name="Line 17"/>
            <p:cNvSpPr>
              <a:spLocks noChangeShapeType="1"/>
            </p:cNvSpPr>
            <p:nvPr>
              <p:custDataLst>
                <p:tags r:id="rId3"/>
              </p:custDataLst>
            </p:nvPr>
          </p:nvSpPr>
          <p:spPr bwMode="gray">
            <a:xfrm>
              <a:off x="4080" y="3627"/>
              <a:ext cx="0" cy="577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5" name="Oval 10"/>
            <p:cNvSpPr>
              <a:spLocks noChangeArrowheads="1"/>
            </p:cNvSpPr>
            <p:nvPr>
              <p:custDataLst>
                <p:tags r:id="rId4"/>
              </p:custDataLst>
            </p:nvPr>
          </p:nvSpPr>
          <p:spPr bwMode="gray">
            <a:xfrm>
              <a:off x="1881" y="4281"/>
              <a:ext cx="4393" cy="4427"/>
            </a:xfrm>
            <a:prstGeom prst="ellipse">
              <a:avLst/>
            </a:prstGeom>
            <a:noFill/>
            <a:ln w="9525">
              <a:solidFill>
                <a:srgbClr val="4F5A71">
                  <a:alpha val="50000"/>
                </a:srgbClr>
              </a:solidFill>
              <a:round/>
            </a:ln>
            <a:effectLst/>
            <a:extLst>
              <a:ext uri="{909E8E84-426E-40DD-AFC4-6F175D3DCCD1}">
                <a14:hiddenFill xmlns:a14="http://schemas.microsoft.com/office/drawing/2010/main" xmlns="">
                  <a:solidFill>
                    <a:srgbClr val="4F5A71">
                      <a:alpha val="64999"/>
                    </a:srgbClr>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7" name="Oval 13"/>
            <p:cNvSpPr>
              <a:spLocks noChangeArrowheads="1"/>
            </p:cNvSpPr>
            <p:nvPr>
              <p:custDataLst>
                <p:tags r:id="rId5"/>
              </p:custDataLst>
            </p:nvPr>
          </p:nvSpPr>
          <p:spPr bwMode="gray">
            <a:xfrm>
              <a:off x="2383" y="4812"/>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51" name="KSO_GT1"/>
            <p:cNvSpPr>
              <a:spLocks noChangeArrowheads="1"/>
            </p:cNvSpPr>
            <p:nvPr>
              <p:custDataLst>
                <p:tags r:id="rId6"/>
              </p:custDataLst>
            </p:nvPr>
          </p:nvSpPr>
          <p:spPr bwMode="gray">
            <a:xfrm>
              <a:off x="2989" y="5430"/>
              <a:ext cx="2155" cy="2201"/>
            </a:xfrm>
            <a:prstGeom prst="ellipse">
              <a:avLst/>
            </a:prstGeom>
            <a:solidFill>
              <a:srgbClr val="4F5A71"/>
            </a:solidFill>
            <a:ln>
              <a:noFill/>
            </a:ln>
            <a:effectLst/>
          </p:spPr>
          <p:txBody>
            <a:bodyPr wrap="square" lIns="0" tIns="0" rIns="0" bIns="0" anchor="ctr">
              <a:normAutofit fontScale="80000" lnSpcReduction="10000"/>
            </a:bodyPr>
            <a:lstStyle/>
            <a:p>
              <a:pPr algn="ctr">
                <a:defRPr/>
              </a:pPr>
              <a:r>
                <a:rPr lang="en-US" altLang="zh-CN" sz="2400" kern="0" dirty="0">
                  <a:solidFill>
                    <a:srgbClr val="FFFFFF"/>
                  </a:solidFill>
                  <a:latin typeface="Arial" panose="020B0604020202020204" pitchFamily="34" charset="0"/>
                  <a:ea typeface="宋体" panose="02010600030101010101" pitchFamily="2" charset="-122"/>
                  <a:cs typeface="黑体" panose="02010609060101010101" pitchFamily="49" charset="-122"/>
                  <a:sym typeface="+mn-ea"/>
                </a:rPr>
                <a:t>软件工程标准化</a:t>
              </a:r>
              <a:r>
                <a:rPr lang="zh-CN" altLang="zh-CN" sz="2400" kern="0" dirty="0">
                  <a:solidFill>
                    <a:srgbClr val="FFFFFF"/>
                  </a:solidFill>
                  <a:latin typeface="Arial" panose="020B0604020202020204" pitchFamily="34" charset="0"/>
                  <a:ea typeface="宋体" panose="02010600030101010101" pitchFamily="2" charset="-122"/>
                  <a:cs typeface="黑体" panose="02010609060101010101" pitchFamily="49" charset="-122"/>
                  <a:sym typeface="+mn-ea"/>
                </a:rPr>
                <a:t>的好处</a:t>
              </a:r>
            </a:p>
          </p:txBody>
        </p:sp>
        <p:sp>
          <p:nvSpPr>
            <p:cNvPr id="30" name="Oval 19"/>
            <p:cNvSpPr>
              <a:spLocks noChangeArrowheads="1"/>
            </p:cNvSpPr>
            <p:nvPr>
              <p:custDataLst>
                <p:tags r:id="rId7"/>
              </p:custDataLst>
            </p:nvPr>
          </p:nvSpPr>
          <p:spPr bwMode="gray">
            <a:xfrm>
              <a:off x="4744" y="3927"/>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1" name="文本框 20"/>
            <p:cNvSpPr txBox="1"/>
            <p:nvPr>
              <p:custDataLst>
                <p:tags r:id="rId8"/>
              </p:custDataLst>
            </p:nvPr>
          </p:nvSpPr>
          <p:spPr>
            <a:xfrm>
              <a:off x="5337" y="3428"/>
              <a:ext cx="13347" cy="895"/>
            </a:xfrm>
            <a:prstGeom prst="rect">
              <a:avLst/>
            </a:prstGeom>
            <a:noFill/>
          </p:spPr>
          <p:txBody>
            <a:bodyPr wrap="square" lIns="0" rIns="0">
              <a:normAutofit/>
            </a:bodyPr>
            <a:lstStyle/>
            <a:p>
              <a:pPr>
                <a:lnSpc>
                  <a:spcPct val="130000"/>
                </a:lnSpc>
                <a:spcBef>
                  <a:spcPts val="600"/>
                </a:spcBef>
                <a:defRPr/>
              </a:pPr>
              <a:r>
                <a:rPr dirty="0"/>
                <a:t>（1）提高软件的可靠性、可维护性和可移植性，因而可提高软件产品的质量。</a:t>
              </a:r>
            </a:p>
          </p:txBody>
        </p:sp>
        <p:sp>
          <p:nvSpPr>
            <p:cNvPr id="19" name="Oval 19"/>
            <p:cNvSpPr>
              <a:spLocks noChangeArrowheads="1"/>
            </p:cNvSpPr>
            <p:nvPr>
              <p:custDataLst>
                <p:tags r:id="rId9"/>
              </p:custDataLst>
            </p:nvPr>
          </p:nvSpPr>
          <p:spPr bwMode="gray">
            <a:xfrm>
              <a:off x="5822" y="4710"/>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2" name="文本框 21"/>
            <p:cNvSpPr txBox="1"/>
            <p:nvPr>
              <p:custDataLst>
                <p:tags r:id="rId10"/>
              </p:custDataLst>
            </p:nvPr>
          </p:nvSpPr>
          <p:spPr>
            <a:xfrm>
              <a:off x="6575" y="4517"/>
              <a:ext cx="11533" cy="783"/>
            </a:xfrm>
            <a:prstGeom prst="rect">
              <a:avLst/>
            </a:prstGeom>
            <a:noFill/>
          </p:spPr>
          <p:txBody>
            <a:bodyPr wrap="square" lIns="0" rIns="0">
              <a:normAutofit/>
            </a:bodyPr>
            <a:lstStyle/>
            <a:p>
              <a:pPr>
                <a:lnSpc>
                  <a:spcPct val="130000"/>
                </a:lnSpc>
                <a:spcBef>
                  <a:spcPts val="600"/>
                </a:spcBef>
                <a:defRPr/>
              </a:pPr>
              <a:r>
                <a:rPr dirty="0"/>
                <a:t>（2）提高软件生产率。</a:t>
              </a:r>
            </a:p>
          </p:txBody>
        </p:sp>
        <p:sp>
          <p:nvSpPr>
            <p:cNvPr id="20" name="Oval 19"/>
            <p:cNvSpPr>
              <a:spLocks noChangeArrowheads="1"/>
            </p:cNvSpPr>
            <p:nvPr>
              <p:custDataLst>
                <p:tags r:id="rId11"/>
              </p:custDataLst>
            </p:nvPr>
          </p:nvSpPr>
          <p:spPr bwMode="gray">
            <a:xfrm>
              <a:off x="6311" y="5745"/>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 name="文本框 4"/>
            <p:cNvSpPr txBox="1"/>
            <p:nvPr>
              <p:custDataLst>
                <p:tags r:id="rId12"/>
              </p:custDataLst>
            </p:nvPr>
          </p:nvSpPr>
          <p:spPr>
            <a:xfrm>
              <a:off x="7275" y="5588"/>
              <a:ext cx="11087" cy="710"/>
            </a:xfrm>
            <a:prstGeom prst="rect">
              <a:avLst/>
            </a:prstGeom>
            <a:noFill/>
          </p:spPr>
          <p:txBody>
            <a:bodyPr wrap="square" lIns="0" rIns="0">
              <a:normAutofit/>
            </a:bodyPr>
            <a:lstStyle/>
            <a:p>
              <a:pPr>
                <a:lnSpc>
                  <a:spcPct val="130000"/>
                </a:lnSpc>
                <a:spcBef>
                  <a:spcPts val="600"/>
                </a:spcBef>
                <a:defRPr/>
              </a:pPr>
              <a:r>
                <a:rPr dirty="0"/>
                <a:t>（3）提高软件工作人员的技术水平。</a:t>
              </a:r>
            </a:p>
          </p:txBody>
        </p:sp>
        <p:sp>
          <p:nvSpPr>
            <p:cNvPr id="23" name="Oval 19"/>
            <p:cNvSpPr>
              <a:spLocks noChangeArrowheads="1"/>
            </p:cNvSpPr>
            <p:nvPr>
              <p:custDataLst>
                <p:tags r:id="rId13"/>
              </p:custDataLst>
            </p:nvPr>
          </p:nvSpPr>
          <p:spPr bwMode="gray">
            <a:xfrm>
              <a:off x="6325" y="6861"/>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6" name="文本框 5"/>
            <p:cNvSpPr txBox="1"/>
            <p:nvPr>
              <p:custDataLst>
                <p:tags r:id="rId14"/>
              </p:custDataLst>
            </p:nvPr>
          </p:nvSpPr>
          <p:spPr>
            <a:xfrm>
              <a:off x="7275" y="6626"/>
              <a:ext cx="10736" cy="894"/>
            </a:xfrm>
            <a:prstGeom prst="rect">
              <a:avLst/>
            </a:prstGeom>
            <a:noFill/>
          </p:spPr>
          <p:txBody>
            <a:bodyPr wrap="square" lIns="0" rIns="0">
              <a:normAutofit/>
            </a:bodyPr>
            <a:lstStyle/>
            <a:p>
              <a:pPr>
                <a:lnSpc>
                  <a:spcPct val="130000"/>
                </a:lnSpc>
                <a:spcBef>
                  <a:spcPts val="600"/>
                </a:spcBef>
                <a:defRPr/>
              </a:pPr>
              <a:r>
                <a:rPr dirty="0"/>
                <a:t>（4）改善软件开发人员之间的通信效率，减少差错。</a:t>
              </a:r>
            </a:p>
          </p:txBody>
        </p:sp>
        <p:sp>
          <p:nvSpPr>
            <p:cNvPr id="24" name="Oval 19"/>
            <p:cNvSpPr>
              <a:spLocks noChangeArrowheads="1"/>
            </p:cNvSpPr>
            <p:nvPr>
              <p:custDataLst>
                <p:tags r:id="rId15"/>
              </p:custDataLst>
            </p:nvPr>
          </p:nvSpPr>
          <p:spPr bwMode="gray">
            <a:xfrm>
              <a:off x="5805" y="7926"/>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8" name="文本框 37"/>
            <p:cNvSpPr txBox="1"/>
            <p:nvPr>
              <p:custDataLst>
                <p:tags r:id="rId16"/>
              </p:custDataLst>
            </p:nvPr>
          </p:nvSpPr>
          <p:spPr>
            <a:xfrm>
              <a:off x="6766" y="7727"/>
              <a:ext cx="11151" cy="795"/>
            </a:xfrm>
            <a:prstGeom prst="rect">
              <a:avLst/>
            </a:prstGeom>
            <a:noFill/>
          </p:spPr>
          <p:txBody>
            <a:bodyPr wrap="square" lIns="0" rIns="0">
              <a:normAutofit/>
            </a:bodyPr>
            <a:lstStyle/>
            <a:p>
              <a:pPr>
                <a:lnSpc>
                  <a:spcPct val="130000"/>
                </a:lnSpc>
                <a:spcBef>
                  <a:spcPts val="600"/>
                </a:spcBef>
                <a:defRPr/>
              </a:pPr>
              <a:r>
                <a:rPr lang="zh-CN" altLang="en-US" dirty="0"/>
                <a:t>（5）有利于软件工程的管理。</a:t>
              </a:r>
            </a:p>
          </p:txBody>
        </p:sp>
        <p:sp>
          <p:nvSpPr>
            <p:cNvPr id="25" name="Oval 19"/>
            <p:cNvSpPr>
              <a:spLocks noChangeArrowheads="1"/>
            </p:cNvSpPr>
            <p:nvPr>
              <p:custDataLst>
                <p:tags r:id="rId17"/>
              </p:custDataLst>
            </p:nvPr>
          </p:nvSpPr>
          <p:spPr bwMode="gray">
            <a:xfrm>
              <a:off x="4685" y="8682"/>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9" name="文本框 38"/>
            <p:cNvSpPr txBox="1"/>
            <p:nvPr>
              <p:custDataLst>
                <p:tags r:id="rId18"/>
              </p:custDataLst>
            </p:nvPr>
          </p:nvSpPr>
          <p:spPr>
            <a:xfrm>
              <a:off x="5337" y="8815"/>
              <a:ext cx="13018" cy="1321"/>
            </a:xfrm>
            <a:prstGeom prst="rect">
              <a:avLst/>
            </a:prstGeom>
            <a:noFill/>
          </p:spPr>
          <p:txBody>
            <a:bodyPr wrap="square" lIns="0" rIns="0">
              <a:normAutofit/>
            </a:bodyPr>
            <a:lstStyle/>
            <a:p>
              <a:pPr>
                <a:lnSpc>
                  <a:spcPct val="130000"/>
                </a:lnSpc>
                <a:spcBef>
                  <a:spcPts val="600"/>
                </a:spcBef>
                <a:defRPr/>
              </a:pPr>
              <a:r>
                <a:rPr lang="zh-CN" altLang="en-US" dirty="0"/>
                <a:t>（6）有利于降低软件成本和缩短软件开发周期。</a:t>
              </a:r>
            </a:p>
          </p:txBody>
        </p:sp>
      </p:grpSp>
    </p:spTree>
  </p:cSld>
  <p:clrMapOvr>
    <a:masterClrMapping/>
  </p:clrMapOvr>
  <p:transition>
    <p:randomBar dir="vert"/>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10.8  软件工程标准与软件文档</a:t>
            </a:r>
            <a:endParaRPr lang="en-US" altLang="zh-CN">
              <a:solidFill>
                <a:srgbClr val="FF0000"/>
              </a:solidFill>
            </a:endParaRPr>
          </a:p>
        </p:txBody>
      </p:sp>
      <p:sp>
        <p:nvSpPr>
          <p:cNvPr id="7" name="文本框 6"/>
          <p:cNvSpPr txBox="1"/>
          <p:nvPr/>
        </p:nvSpPr>
        <p:spPr>
          <a:xfrm>
            <a:off x="754380" y="3463365"/>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软件测试说明</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10.8.1  软件工程标准</a:t>
            </a:r>
          </a:p>
        </p:txBody>
      </p:sp>
      <p:sp>
        <p:nvSpPr>
          <p:cNvPr id="19" name="椭圆 18"/>
          <p:cNvSpPr/>
          <p:nvPr>
            <p:custDataLst>
              <p:tags r:id="rId1"/>
            </p:custDataLst>
          </p:nvPr>
        </p:nvSpPr>
        <p:spPr>
          <a:xfrm>
            <a:off x="4037965" y="3937075"/>
            <a:ext cx="2026920" cy="205486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20" name="文本框 22"/>
          <p:cNvSpPr txBox="1">
            <a:spLocks noChangeArrowheads="1"/>
          </p:cNvSpPr>
          <p:nvPr>
            <p:custDataLst>
              <p:tags r:id="rId2"/>
            </p:custDataLst>
          </p:nvPr>
        </p:nvSpPr>
        <p:spPr bwMode="auto">
          <a:xfrm>
            <a:off x="4481830" y="4625415"/>
            <a:ext cx="678180" cy="1054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fontScale="95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smtClean="0">
                <a:solidFill>
                  <a:schemeClr val="bg1"/>
                </a:solidFill>
                <a:latin typeface="+mn-lt"/>
                <a:ea typeface="+mn-ea"/>
              </a:rPr>
              <a:t>D</a:t>
            </a:r>
            <a:endParaRPr lang="zh-CN" altLang="en-US" sz="6600" b="1" dirty="0">
              <a:solidFill>
                <a:schemeClr val="bg1"/>
              </a:solidFill>
              <a:latin typeface="+mn-lt"/>
              <a:ea typeface="+mn-ea"/>
            </a:endParaRPr>
          </a:p>
        </p:txBody>
      </p:sp>
      <p:sp>
        <p:nvSpPr>
          <p:cNvPr id="39" name="椭圆 38"/>
          <p:cNvSpPr/>
          <p:nvPr>
            <p:custDataLst>
              <p:tags r:id="rId3"/>
            </p:custDataLst>
          </p:nvPr>
        </p:nvSpPr>
        <p:spPr>
          <a:xfrm>
            <a:off x="4037965" y="2495625"/>
            <a:ext cx="2026920" cy="2054860"/>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40" name="椭圆 39"/>
          <p:cNvSpPr/>
          <p:nvPr>
            <p:custDataLst>
              <p:tags r:id="rId4"/>
            </p:custDataLst>
          </p:nvPr>
        </p:nvSpPr>
        <p:spPr>
          <a:xfrm>
            <a:off x="5500370" y="2495625"/>
            <a:ext cx="2026920" cy="205486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42" name="椭圆 41"/>
          <p:cNvSpPr/>
          <p:nvPr>
            <p:custDataLst>
              <p:tags r:id="rId5"/>
            </p:custDataLst>
          </p:nvPr>
        </p:nvSpPr>
        <p:spPr>
          <a:xfrm>
            <a:off x="5500370" y="3937075"/>
            <a:ext cx="2026920" cy="2054860"/>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nvGrpSpPr>
          <p:cNvPr id="43" name="组合 42"/>
          <p:cNvGrpSpPr/>
          <p:nvPr>
            <p:custDataLst>
              <p:tags r:id="rId6"/>
            </p:custDataLst>
          </p:nvPr>
        </p:nvGrpSpPr>
        <p:grpSpPr>
          <a:xfrm>
            <a:off x="4327525" y="2807410"/>
            <a:ext cx="2904490" cy="2858770"/>
            <a:chOff x="4933659" y="1528513"/>
            <a:chExt cx="3096541" cy="3006076"/>
          </a:xfrm>
          <a:solidFill>
            <a:schemeClr val="bg1"/>
          </a:solidFill>
        </p:grpSpPr>
        <p:sp>
          <p:nvSpPr>
            <p:cNvPr id="44" name="Freeform 16@|5FFC:0|FBC:0|LFC:16777215|LBC:16777215"/>
            <p:cNvSpPr/>
            <p:nvPr>
              <p:custDataLst>
                <p:tags r:id="rId13"/>
              </p:custDataLst>
            </p:nvPr>
          </p:nvSpPr>
          <p:spPr>
            <a:xfrm>
              <a:off x="6181299" y="1528513"/>
              <a:ext cx="601263" cy="1489462"/>
            </a:xfrm>
            <a:custGeom>
              <a:avLst/>
              <a:gdLst>
                <a:gd name="connsiteX0" fmla="*/ 300632 w 601263"/>
                <a:gd name="connsiteY0" fmla="*/ 0 h 1489462"/>
                <a:gd name="connsiteX1" fmla="*/ 416779 w 601263"/>
                <a:gd name="connsiteY1" fmla="*/ 140772 h 1489462"/>
                <a:gd name="connsiteX2" fmla="*/ 601263 w 601263"/>
                <a:gd name="connsiteY2" fmla="*/ 744731 h 1489462"/>
                <a:gd name="connsiteX3" fmla="*/ 416779 w 601263"/>
                <a:gd name="connsiteY3" fmla="*/ 1348690 h 1489462"/>
                <a:gd name="connsiteX4" fmla="*/ 300632 w 601263"/>
                <a:gd name="connsiteY4" fmla="*/ 1489462 h 1489462"/>
                <a:gd name="connsiteX5" fmla="*/ 184484 w 601263"/>
                <a:gd name="connsiteY5" fmla="*/ 1348690 h 1489462"/>
                <a:gd name="connsiteX6" fmla="*/ 0 w 601263"/>
                <a:gd name="connsiteY6" fmla="*/ 744731 h 1489462"/>
                <a:gd name="connsiteX7" fmla="*/ 184484 w 601263"/>
                <a:gd name="connsiteY7" fmla="*/ 140772 h 1489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2">
                  <a:moveTo>
                    <a:pt x="300632" y="0"/>
                  </a:moveTo>
                  <a:lnTo>
                    <a:pt x="416779" y="140772"/>
                  </a:lnTo>
                  <a:cubicBezTo>
                    <a:pt x="533253" y="313176"/>
                    <a:pt x="601263" y="521011"/>
                    <a:pt x="601263" y="744731"/>
                  </a:cubicBezTo>
                  <a:cubicBezTo>
                    <a:pt x="601263" y="968451"/>
                    <a:pt x="533253" y="1176287"/>
                    <a:pt x="416779" y="1348690"/>
                  </a:cubicBezTo>
                  <a:lnTo>
                    <a:pt x="300632" y="1489462"/>
                  </a:lnTo>
                  <a:lnTo>
                    <a:pt x="184484" y="1348690"/>
                  </a:lnTo>
                  <a:cubicBezTo>
                    <a:pt x="68011" y="1176287"/>
                    <a:pt x="0" y="968451"/>
                    <a:pt x="0" y="744731"/>
                  </a:cubicBezTo>
                  <a:cubicBezTo>
                    <a:pt x="0" y="521011"/>
                    <a:pt x="68011" y="313176"/>
                    <a:pt x="184484" y="1407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45" name="Freeform 17@|5FFC:0|FBC:0|LFC:16777215|LBC:16777215"/>
            <p:cNvSpPr/>
            <p:nvPr>
              <p:custDataLst>
                <p:tags r:id="rId14"/>
              </p:custDataLst>
            </p:nvPr>
          </p:nvSpPr>
          <p:spPr>
            <a:xfrm>
              <a:off x="6181299" y="3045126"/>
              <a:ext cx="601263" cy="1489463"/>
            </a:xfrm>
            <a:custGeom>
              <a:avLst/>
              <a:gdLst>
                <a:gd name="connsiteX0" fmla="*/ 300923 w 601263"/>
                <a:gd name="connsiteY0" fmla="*/ 0 h 1489463"/>
                <a:gd name="connsiteX1" fmla="*/ 416779 w 601263"/>
                <a:gd name="connsiteY1" fmla="*/ 140419 h 1489463"/>
                <a:gd name="connsiteX2" fmla="*/ 601263 w 601263"/>
                <a:gd name="connsiteY2" fmla="*/ 744378 h 1489463"/>
                <a:gd name="connsiteX3" fmla="*/ 416779 w 601263"/>
                <a:gd name="connsiteY3" fmla="*/ 1348337 h 1489463"/>
                <a:gd name="connsiteX4" fmla="*/ 300340 w 601263"/>
                <a:gd name="connsiteY4" fmla="*/ 1489463 h 1489463"/>
                <a:gd name="connsiteX5" fmla="*/ 184484 w 601263"/>
                <a:gd name="connsiteY5" fmla="*/ 1349044 h 1489463"/>
                <a:gd name="connsiteX6" fmla="*/ 0 w 601263"/>
                <a:gd name="connsiteY6" fmla="*/ 745085 h 1489463"/>
                <a:gd name="connsiteX7" fmla="*/ 184484 w 601263"/>
                <a:gd name="connsiteY7" fmla="*/ 141126 h 148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3">
                  <a:moveTo>
                    <a:pt x="300923" y="0"/>
                  </a:moveTo>
                  <a:lnTo>
                    <a:pt x="416779" y="140419"/>
                  </a:lnTo>
                  <a:cubicBezTo>
                    <a:pt x="533253" y="312823"/>
                    <a:pt x="601263" y="520658"/>
                    <a:pt x="601263" y="744378"/>
                  </a:cubicBezTo>
                  <a:cubicBezTo>
                    <a:pt x="601263" y="968098"/>
                    <a:pt x="533253" y="1175934"/>
                    <a:pt x="416779" y="1348337"/>
                  </a:cubicBezTo>
                  <a:lnTo>
                    <a:pt x="300340" y="1489463"/>
                  </a:lnTo>
                  <a:lnTo>
                    <a:pt x="184484" y="1349044"/>
                  </a:lnTo>
                  <a:cubicBezTo>
                    <a:pt x="68011" y="1176641"/>
                    <a:pt x="0" y="968805"/>
                    <a:pt x="0" y="745085"/>
                  </a:cubicBezTo>
                  <a:cubicBezTo>
                    <a:pt x="0" y="521365"/>
                    <a:pt x="68011" y="313530"/>
                    <a:pt x="184484" y="14112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46" name="Freeform 18@|5FFC:0|FBC:0|LFC:16777215|LBC:16777215"/>
            <p:cNvSpPr/>
            <p:nvPr>
              <p:custDataLst>
                <p:tags r:id="rId15"/>
              </p:custDataLst>
            </p:nvPr>
          </p:nvSpPr>
          <p:spPr>
            <a:xfrm>
              <a:off x="4933659" y="2709994"/>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47" name="Freeform 19@|5FFC:0|FBC:0|LFC:16777215|LBC:16777215"/>
            <p:cNvSpPr/>
            <p:nvPr>
              <p:custDataLst>
                <p:tags r:id="rId16"/>
              </p:custDataLst>
            </p:nvPr>
          </p:nvSpPr>
          <p:spPr>
            <a:xfrm>
              <a:off x="6492828" y="2708580"/>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sp>
        <p:nvSpPr>
          <p:cNvPr id="48" name="文本框 20"/>
          <p:cNvSpPr txBox="1">
            <a:spLocks noChangeArrowheads="1"/>
          </p:cNvSpPr>
          <p:nvPr>
            <p:custDataLst>
              <p:tags r:id="rId7"/>
            </p:custDataLst>
          </p:nvPr>
        </p:nvSpPr>
        <p:spPr bwMode="auto">
          <a:xfrm>
            <a:off x="4481830" y="2838525"/>
            <a:ext cx="678180" cy="1054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fontScale="95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smtClean="0">
                <a:solidFill>
                  <a:schemeClr val="bg1"/>
                </a:solidFill>
                <a:latin typeface="+mn-lt"/>
                <a:ea typeface="+mn-ea"/>
              </a:rPr>
              <a:t>A</a:t>
            </a:r>
            <a:endParaRPr lang="zh-CN" altLang="en-US" sz="6600" b="1" dirty="0">
              <a:solidFill>
                <a:schemeClr val="bg1"/>
              </a:solidFill>
              <a:latin typeface="+mn-lt"/>
              <a:ea typeface="+mn-ea"/>
            </a:endParaRPr>
          </a:p>
        </p:txBody>
      </p:sp>
      <p:sp>
        <p:nvSpPr>
          <p:cNvPr id="49" name="文本框 21"/>
          <p:cNvSpPr txBox="1">
            <a:spLocks noChangeArrowheads="1"/>
          </p:cNvSpPr>
          <p:nvPr>
            <p:custDataLst>
              <p:tags r:id="rId8"/>
            </p:custDataLst>
          </p:nvPr>
        </p:nvSpPr>
        <p:spPr bwMode="auto">
          <a:xfrm>
            <a:off x="6186170" y="2807410"/>
            <a:ext cx="676275" cy="1054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fontScale="95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smtClean="0">
                <a:solidFill>
                  <a:schemeClr val="bg1"/>
                </a:solidFill>
                <a:latin typeface="+mn-lt"/>
                <a:ea typeface="+mn-ea"/>
              </a:rPr>
              <a:t>B</a:t>
            </a:r>
            <a:endParaRPr lang="zh-CN" altLang="en-US" sz="6600" b="1" dirty="0">
              <a:solidFill>
                <a:schemeClr val="bg1"/>
              </a:solidFill>
              <a:latin typeface="+mn-lt"/>
              <a:ea typeface="+mn-ea"/>
            </a:endParaRPr>
          </a:p>
        </p:txBody>
      </p:sp>
      <p:sp>
        <p:nvSpPr>
          <p:cNvPr id="51" name="文本框 23"/>
          <p:cNvSpPr txBox="1">
            <a:spLocks noChangeArrowheads="1"/>
          </p:cNvSpPr>
          <p:nvPr>
            <p:custDataLst>
              <p:tags r:id="rId9"/>
            </p:custDataLst>
          </p:nvPr>
        </p:nvSpPr>
        <p:spPr bwMode="auto">
          <a:xfrm>
            <a:off x="6310630" y="4625415"/>
            <a:ext cx="676275" cy="1054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fontScale="95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smtClean="0">
                <a:solidFill>
                  <a:schemeClr val="bg1"/>
                </a:solidFill>
                <a:latin typeface="+mn-lt"/>
                <a:ea typeface="+mn-ea"/>
              </a:rPr>
              <a:t>C</a:t>
            </a:r>
            <a:endParaRPr lang="zh-CN" altLang="en-US" sz="6600" b="1" dirty="0">
              <a:solidFill>
                <a:schemeClr val="bg1"/>
              </a:solidFill>
              <a:latin typeface="+mn-lt"/>
              <a:ea typeface="+mn-ea"/>
            </a:endParaRPr>
          </a:p>
        </p:txBody>
      </p:sp>
      <p:sp>
        <p:nvSpPr>
          <p:cNvPr id="2" name="文本框 1"/>
          <p:cNvSpPr txBox="1"/>
          <p:nvPr>
            <p:custDataLst>
              <p:tags r:id="rId10"/>
            </p:custDataLst>
          </p:nvPr>
        </p:nvSpPr>
        <p:spPr>
          <a:xfrm>
            <a:off x="529590" y="2820250"/>
            <a:ext cx="3221355" cy="1822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marL="285750" indent="-285750" fontAlgn="auto">
              <a:lnSpc>
                <a:spcPct val="120000"/>
              </a:lnSpc>
              <a:buFont typeface="Wingdings" panose="05000000000000000000" charset="0"/>
              <a:buChar char="Ø"/>
            </a:pPr>
            <a:r>
              <a:rPr lang="zh-CN" altLang="en-US" dirty="0">
                <a:solidFill>
                  <a:schemeClr val="accent6">
                    <a:lumMod val="50000"/>
                  </a:schemeClr>
                </a:solidFill>
              </a:rPr>
              <a:t>过程标准：</a:t>
            </a:r>
            <a:r>
              <a:rPr lang="zh-CN" altLang="en-US" dirty="0"/>
              <a:t>如方法、技术及度量等，它同开发一个产品或从事一项服务的一系列活动或操作有关。</a:t>
            </a:r>
          </a:p>
        </p:txBody>
      </p:sp>
      <p:sp>
        <p:nvSpPr>
          <p:cNvPr id="4" name="文本框 3"/>
          <p:cNvSpPr txBox="1"/>
          <p:nvPr>
            <p:custDataLst>
              <p:tags r:id="rId11"/>
            </p:custDataLst>
          </p:nvPr>
        </p:nvSpPr>
        <p:spPr>
          <a:xfrm>
            <a:off x="7811135" y="4740350"/>
            <a:ext cx="3515360" cy="17957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marL="285750" indent="-285750" algn="just">
              <a:lnSpc>
                <a:spcPct val="120000"/>
              </a:lnSpc>
              <a:buFont typeface="Wingdings" panose="05000000000000000000" charset="0"/>
              <a:buChar char="Ø"/>
            </a:pPr>
            <a:r>
              <a:rPr lang="zh-CN" altLang="en-US" dirty="0">
                <a:solidFill>
                  <a:schemeClr val="accent6">
                    <a:lumMod val="50000"/>
                  </a:schemeClr>
                </a:solidFill>
              </a:rPr>
              <a:t>记法标准：</a:t>
            </a:r>
            <a:r>
              <a:rPr lang="zh-CN" altLang="en-US" dirty="0"/>
              <a:t>如术语、表示法及语言等，它论述了在软件工程行业范围内，以唯一的一种方式进行交流的方法。</a:t>
            </a:r>
          </a:p>
        </p:txBody>
      </p:sp>
      <p:sp>
        <p:nvSpPr>
          <p:cNvPr id="5" name="文本框 4"/>
          <p:cNvSpPr txBox="1"/>
          <p:nvPr>
            <p:custDataLst>
              <p:tags r:id="rId12"/>
            </p:custDataLst>
          </p:nvPr>
        </p:nvSpPr>
        <p:spPr>
          <a:xfrm>
            <a:off x="7727315" y="2820250"/>
            <a:ext cx="3598545" cy="13385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marL="285750" indent="-285750" algn="just">
              <a:lnSpc>
                <a:spcPct val="120000"/>
              </a:lnSpc>
              <a:buFont typeface="Wingdings" panose="05000000000000000000" charset="0"/>
              <a:buChar char="Ø"/>
            </a:pPr>
            <a:r>
              <a:rPr lang="zh-CN" altLang="en-US" dirty="0">
                <a:solidFill>
                  <a:schemeClr val="accent6">
                    <a:lumMod val="50000"/>
                  </a:schemeClr>
                </a:solidFill>
              </a:rPr>
              <a:t>产品标准：</a:t>
            </a:r>
            <a:r>
              <a:rPr lang="zh-CN" altLang="en-US" dirty="0"/>
              <a:t>如需求、设计、部件、描述及计划报告等，它涉及事务的格式或内容。</a:t>
            </a:r>
          </a:p>
        </p:txBody>
      </p:sp>
      <p:sp>
        <p:nvSpPr>
          <p:cNvPr id="13" name="文本框 12"/>
          <p:cNvSpPr txBox="1"/>
          <p:nvPr/>
        </p:nvSpPr>
        <p:spPr>
          <a:xfrm>
            <a:off x="530860" y="4733365"/>
            <a:ext cx="3220085" cy="1078230"/>
          </a:xfrm>
          <a:prstGeom prst="rect">
            <a:avLst/>
          </a:prstGeom>
          <a:noFill/>
        </p:spPr>
        <p:txBody>
          <a:bodyPr wrap="square" rtlCol="0">
            <a:spAutoFit/>
          </a:bodyPr>
          <a:lstStyle/>
          <a:p>
            <a:pPr marL="285750" indent="-285750" algn="just">
              <a:lnSpc>
                <a:spcPct val="120000"/>
              </a:lnSpc>
              <a:buFont typeface="Wingdings" panose="05000000000000000000" charset="0"/>
              <a:buChar char="Ø"/>
            </a:pPr>
            <a:r>
              <a:rPr lang="zh-CN" altLang="en-US" dirty="0">
                <a:solidFill>
                  <a:schemeClr val="accent6">
                    <a:lumMod val="50000"/>
                  </a:schemeClr>
                </a:solidFill>
              </a:rPr>
              <a:t>专业标准：</a:t>
            </a:r>
            <a:r>
              <a:rPr lang="zh-CN" altLang="en-US" dirty="0"/>
              <a:t>如职业认证、特许及课程等，它涉及软件工程行业的所有方面。</a:t>
            </a:r>
          </a:p>
        </p:txBody>
      </p:sp>
      <p:sp>
        <p:nvSpPr>
          <p:cNvPr id="22" name="TextBox 21"/>
          <p:cNvSpPr txBox="1"/>
          <p:nvPr/>
        </p:nvSpPr>
        <p:spPr>
          <a:xfrm>
            <a:off x="824415" y="2113881"/>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2</a:t>
            </a:r>
            <a:r>
              <a:rPr lang="zh-CN" altLang="en-US" sz="2400" dirty="0" smtClean="0"/>
              <a:t>．软件工程标准的分类</a:t>
            </a:r>
          </a:p>
        </p:txBody>
      </p:sp>
    </p:spTree>
  </p:cSld>
  <p:clrMapOvr>
    <a:masterClrMapping/>
  </p:clrMapOvr>
  <p:transition>
    <p:randomBar dir="vert"/>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10.8  软件工程标准与软件文档</a:t>
            </a:r>
            <a:endParaRPr lang="en-US" altLang="zh-CN">
              <a:solidFill>
                <a:srgbClr val="FF0000"/>
              </a:solidFill>
            </a:endParaRPr>
          </a:p>
        </p:txBody>
      </p:sp>
      <p:sp>
        <p:nvSpPr>
          <p:cNvPr id="7" name="文本框 6"/>
          <p:cNvSpPr txBox="1"/>
          <p:nvPr/>
        </p:nvSpPr>
        <p:spPr>
          <a:xfrm>
            <a:off x="754380" y="3510865"/>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软件测试说明</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10.8.1  软件工程标准</a:t>
            </a:r>
          </a:p>
        </p:txBody>
      </p:sp>
      <p:grpSp>
        <p:nvGrpSpPr>
          <p:cNvPr id="8" name="组合 7"/>
          <p:cNvGrpSpPr/>
          <p:nvPr/>
        </p:nvGrpSpPr>
        <p:grpSpPr>
          <a:xfrm>
            <a:off x="732790" y="2588535"/>
            <a:ext cx="10978515" cy="1619885"/>
            <a:chOff x="1840" y="2871"/>
            <a:chExt cx="17289" cy="2551"/>
          </a:xfrm>
        </p:grpSpPr>
        <p:cxnSp>
          <p:nvCxnSpPr>
            <p:cNvPr id="9" name="MH_Other_4"/>
            <p:cNvCxnSpPr/>
            <p:nvPr/>
          </p:nvCxnSpPr>
          <p:spPr>
            <a:xfrm flipH="1">
              <a:off x="2680" y="3183"/>
              <a:ext cx="1545" cy="1450"/>
            </a:xfrm>
            <a:prstGeom prst="line">
              <a:avLst/>
            </a:prstGeom>
            <a:ln w="38100">
              <a:solidFill>
                <a:srgbClr val="58B933"/>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58B93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692" y="2871"/>
              <a:ext cx="15437" cy="2551"/>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92D050"/>
                  </a:solidFill>
                  <a:ea typeface="微软雅黑" panose="020B0503020204020204" charset="-122"/>
                </a:rPr>
                <a:t>国际标准</a:t>
              </a:r>
            </a:p>
            <a:p>
              <a:pPr indent="457200" fontAlgn="auto">
                <a:lnSpc>
                  <a:spcPct val="130000"/>
                </a:lnSpc>
              </a:pPr>
              <a:r>
                <a:rPr lang="zh-CN" altLang="en-US" dirty="0">
                  <a:solidFill>
                    <a:schemeClr val="tx1"/>
                  </a:solidFill>
                  <a:ea typeface="微软雅黑" panose="020B0503020204020204" charset="-122"/>
                </a:rPr>
                <a:t>国际标准是由国际标准化组织（International Organization for Standardization，ISO）制定和公布，供世界各国参考的标准。ISO是国际标准化领域中一个十分重要的组织，它所公布的标准具有很大的权威性。如ISO 9000是质量管理和质量保证标准。</a:t>
              </a:r>
            </a:p>
          </p:txBody>
        </p:sp>
        <p:sp>
          <p:nvSpPr>
            <p:cNvPr id="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58B933"/>
                  </a:solidFill>
                  <a:latin typeface="Agency FB" panose="020B0503020202020204" pitchFamily="34" charset="0"/>
                  <a:ea typeface="微软雅黑" panose="020B0503020204020204" charset="-122"/>
                </a:rPr>
                <a:t>1</a:t>
              </a:r>
            </a:p>
          </p:txBody>
        </p:sp>
      </p:grpSp>
      <p:grpSp>
        <p:nvGrpSpPr>
          <p:cNvPr id="13" name="组合 12"/>
          <p:cNvGrpSpPr/>
          <p:nvPr/>
        </p:nvGrpSpPr>
        <p:grpSpPr>
          <a:xfrm>
            <a:off x="732659" y="4029988"/>
            <a:ext cx="11069955" cy="2315845"/>
            <a:chOff x="1840" y="2871"/>
            <a:chExt cx="17433" cy="3647"/>
          </a:xfrm>
        </p:grpSpPr>
        <p:cxnSp>
          <p:nvCxnSpPr>
            <p:cNvPr id="14" name="MH_Other_4"/>
            <p:cNvCxnSpPr/>
            <p:nvPr/>
          </p:nvCxnSpPr>
          <p:spPr>
            <a:xfrm flipH="1">
              <a:off x="2680" y="3183"/>
              <a:ext cx="1545" cy="1450"/>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6" name="MH_SubTitle_2"/>
            <p:cNvSpPr txBox="1">
              <a:spLocks noChangeArrowheads="1"/>
            </p:cNvSpPr>
            <p:nvPr/>
          </p:nvSpPr>
          <p:spPr bwMode="auto">
            <a:xfrm>
              <a:off x="3730" y="2871"/>
              <a:ext cx="15543" cy="3647"/>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6">
                      <a:lumMod val="60000"/>
                      <a:lumOff val="40000"/>
                    </a:schemeClr>
                  </a:solidFill>
                  <a:ea typeface="微软雅黑" panose="020B0503020204020204" charset="-122"/>
                </a:rPr>
                <a:t>行业标准</a:t>
              </a:r>
            </a:p>
            <a:p>
              <a:pPr indent="457200" fontAlgn="auto">
                <a:lnSpc>
                  <a:spcPct val="130000"/>
                </a:lnSpc>
              </a:pPr>
              <a:r>
                <a:rPr lang="zh-CN" altLang="en-US" dirty="0">
                  <a:solidFill>
                    <a:schemeClr val="tx1"/>
                  </a:solidFill>
                  <a:ea typeface="微软雅黑" panose="020B0503020204020204" charset="-122"/>
                </a:rPr>
                <a:t>行业标准是由行业机构、学术团体或国防机构制定的适合某个行业的标准，主要有以下几类。</a:t>
              </a:r>
            </a:p>
            <a:p>
              <a:pPr marL="285750" indent="-285750" fontAlgn="auto">
                <a:lnSpc>
                  <a:spcPct val="130000"/>
                </a:lnSpc>
                <a:buFont typeface="Wingdings" panose="05000000000000000000" charset="0"/>
                <a:buChar char="Ø"/>
              </a:pPr>
              <a:r>
                <a:rPr lang="zh-CN" altLang="en-US" dirty="0">
                  <a:solidFill>
                    <a:srgbClr val="0070C0"/>
                  </a:solidFill>
                  <a:ea typeface="微软雅黑" panose="020B0503020204020204" charset="-122"/>
                </a:rPr>
                <a:t>IEEE（Institute of Electrical and Electronics Engineers）：即美国电气与电子工程师学会。</a:t>
              </a:r>
            </a:p>
            <a:p>
              <a:pPr marL="285750" indent="-285750" fontAlgn="auto">
                <a:lnSpc>
                  <a:spcPct val="130000"/>
                </a:lnSpc>
                <a:buFont typeface="Wingdings" panose="05000000000000000000" charset="0"/>
                <a:buChar char="Ø"/>
              </a:pPr>
              <a:r>
                <a:rPr lang="zh-CN" altLang="en-US" dirty="0">
                  <a:solidFill>
                    <a:srgbClr val="0070C0"/>
                  </a:solidFill>
                  <a:ea typeface="微软雅黑" panose="020B0503020204020204" charset="-122"/>
                </a:rPr>
                <a:t>GJB：即中华人民共和国国家军用标准。</a:t>
              </a:r>
            </a:p>
            <a:p>
              <a:pPr marL="285750" indent="-285750" fontAlgn="auto">
                <a:lnSpc>
                  <a:spcPct val="130000"/>
                </a:lnSpc>
                <a:buFont typeface="Wingdings" panose="05000000000000000000" charset="0"/>
                <a:buChar char="Ø"/>
              </a:pPr>
              <a:r>
                <a:rPr lang="zh-CN" altLang="en-US" dirty="0">
                  <a:solidFill>
                    <a:srgbClr val="0070C0"/>
                  </a:solidFill>
                  <a:ea typeface="微软雅黑" panose="020B0503020204020204" charset="-122"/>
                </a:rPr>
                <a:t>DOD-STD（Department of Defense Standard）：即美国国防部标准。</a:t>
              </a:r>
            </a:p>
            <a:p>
              <a:pPr marL="285750" indent="-285750" fontAlgn="auto">
                <a:lnSpc>
                  <a:spcPct val="130000"/>
                </a:lnSpc>
                <a:buFont typeface="Wingdings" panose="05000000000000000000" charset="0"/>
                <a:buChar char="Ø"/>
              </a:pPr>
              <a:r>
                <a:rPr lang="zh-CN" altLang="en-US" dirty="0">
                  <a:solidFill>
                    <a:srgbClr val="0070C0"/>
                  </a:solidFill>
                  <a:ea typeface="微软雅黑" panose="020B0503020204020204" charset="-122"/>
                </a:rPr>
                <a:t>MIL-STD（Military-Standard）：即美国军用标准。</a:t>
              </a:r>
            </a:p>
          </p:txBody>
        </p:sp>
        <p:sp>
          <p:nvSpPr>
            <p:cNvPr id="17"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a:solidFill>
                    <a:schemeClr val="accent6">
                      <a:lumMod val="60000"/>
                      <a:lumOff val="40000"/>
                    </a:schemeClr>
                  </a:solidFill>
                  <a:latin typeface="Agency FB" panose="020B0503020202020204" pitchFamily="34" charset="0"/>
                  <a:ea typeface="微软雅黑" panose="020B0503020204020204" charset="-122"/>
                </a:rPr>
                <a:t>2</a:t>
              </a:r>
            </a:p>
          </p:txBody>
        </p:sp>
      </p:grpSp>
      <p:sp>
        <p:nvSpPr>
          <p:cNvPr id="18" name="TextBox 17"/>
          <p:cNvSpPr txBox="1"/>
          <p:nvPr/>
        </p:nvSpPr>
        <p:spPr>
          <a:xfrm>
            <a:off x="824415" y="2113881"/>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3</a:t>
            </a:r>
            <a:r>
              <a:rPr lang="zh-CN" altLang="en-US" sz="2400" dirty="0" smtClean="0"/>
              <a:t>．软件工程标准的层次</a:t>
            </a:r>
          </a:p>
        </p:txBody>
      </p:sp>
    </p:spTree>
  </p:cSld>
  <p:clrMapOvr>
    <a:masterClrMapping/>
  </p:clrMapOvr>
  <p:transition>
    <p:randomBar dir="vert"/>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10.8  软件工程标准与软件文档</a:t>
            </a:r>
            <a:endParaRPr lang="en-US" altLang="zh-CN">
              <a:solidFill>
                <a:srgbClr val="FF0000"/>
              </a:solidFill>
            </a:endParaRPr>
          </a:p>
        </p:txBody>
      </p:sp>
      <p:sp>
        <p:nvSpPr>
          <p:cNvPr id="7" name="文本框 6"/>
          <p:cNvSpPr txBox="1"/>
          <p:nvPr/>
        </p:nvSpPr>
        <p:spPr>
          <a:xfrm>
            <a:off x="754380" y="3190240"/>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软件测试说明</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10.8.1  软件工程标准</a:t>
            </a:r>
          </a:p>
        </p:txBody>
      </p:sp>
      <p:grpSp>
        <p:nvGrpSpPr>
          <p:cNvPr id="4" name="组合 3"/>
          <p:cNvGrpSpPr/>
          <p:nvPr/>
        </p:nvGrpSpPr>
        <p:grpSpPr>
          <a:xfrm>
            <a:off x="754249" y="2014548"/>
            <a:ext cx="11000740" cy="4286885"/>
            <a:chOff x="1840" y="2871"/>
            <a:chExt cx="17324" cy="6751"/>
          </a:xfrm>
        </p:grpSpPr>
        <p:cxnSp>
          <p:nvCxnSpPr>
            <p:cNvPr id="5" name="MH_Other_4"/>
            <p:cNvCxnSpPr/>
            <p:nvPr/>
          </p:nvCxnSpPr>
          <p:spPr>
            <a:xfrm flipH="1">
              <a:off x="2680" y="3183"/>
              <a:ext cx="1545" cy="145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2" name="MH_SubTitle_2"/>
            <p:cNvSpPr txBox="1">
              <a:spLocks noChangeArrowheads="1"/>
            </p:cNvSpPr>
            <p:nvPr/>
          </p:nvSpPr>
          <p:spPr bwMode="auto">
            <a:xfrm>
              <a:off x="3582" y="3183"/>
              <a:ext cx="15582" cy="643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C00000"/>
                  </a:solidFill>
                  <a:ea typeface="微软雅黑" panose="020B0503020204020204" charset="-122"/>
                </a:rPr>
                <a:t>国家标准</a:t>
              </a:r>
            </a:p>
            <a:p>
              <a:pPr indent="457200" fontAlgn="auto">
                <a:lnSpc>
                  <a:spcPct val="120000"/>
                </a:lnSpc>
              </a:pPr>
              <a:r>
                <a:rPr lang="zh-CN" altLang="en-US" dirty="0">
                  <a:solidFill>
                    <a:schemeClr val="tx1"/>
                  </a:solidFill>
                  <a:ea typeface="微软雅黑" panose="020B0503020204020204" charset="-122"/>
                </a:rPr>
                <a:t>国家标准是由政府或国家级的机构制定或批准，适合于全国范围的标准，主要有以下几类。</a:t>
              </a:r>
            </a:p>
            <a:p>
              <a:pPr marL="285750" indent="-285750" fontAlgn="auto">
                <a:lnSpc>
                  <a:spcPct val="120000"/>
                </a:lnSpc>
                <a:buFont typeface="Wingdings" panose="05000000000000000000" charset="0"/>
                <a:buChar char="Ø"/>
              </a:pPr>
              <a:r>
                <a:rPr lang="zh-CN" altLang="en-US" dirty="0">
                  <a:solidFill>
                    <a:srgbClr val="00B050"/>
                  </a:solidFill>
                  <a:ea typeface="微软雅黑" panose="020B0503020204020204" charset="-122"/>
                </a:rPr>
                <a:t>GB：中华人民共和国国家质量技术监督局是中国的最高标准化机构，它所公布实施的标准，简称为“国标（GB）”。</a:t>
              </a:r>
              <a:r>
                <a:rPr lang="zh-CN" altLang="en-US" dirty="0">
                  <a:solidFill>
                    <a:schemeClr val="tx1"/>
                  </a:solidFill>
                  <a:ea typeface="微软雅黑" panose="020B0503020204020204" charset="-122"/>
                </a:rPr>
                <a:t>如GB/T 8567—2006《计算机软件文档编制规范》、GB/T 11457—2006《信息技术 软件工程术语》、GB/T 19000-2008《质量管理体系 基础和术语》等。</a:t>
              </a:r>
            </a:p>
            <a:p>
              <a:pPr marL="285750" indent="-285750" fontAlgn="auto">
                <a:lnSpc>
                  <a:spcPct val="120000"/>
                </a:lnSpc>
                <a:buFont typeface="Wingdings" panose="05000000000000000000" charset="0"/>
                <a:buChar char="Ø"/>
              </a:pPr>
              <a:r>
                <a:rPr lang="zh-CN" altLang="en-US" dirty="0">
                  <a:solidFill>
                    <a:srgbClr val="00B050"/>
                  </a:solidFill>
                  <a:ea typeface="微软雅黑" panose="020B0503020204020204" charset="-122"/>
                </a:rPr>
                <a:t>ANSI（American National Standards Institute）：即美国国家标准协会。</a:t>
              </a:r>
              <a:r>
                <a:rPr lang="zh-CN" altLang="en-US" dirty="0">
                  <a:solidFill>
                    <a:schemeClr val="tx1"/>
                  </a:solidFill>
                  <a:ea typeface="微软雅黑" panose="020B0503020204020204" charset="-122"/>
                </a:rPr>
                <a:t>这是美国一些民间标准化组织的领导机构，具有一定的权威性。</a:t>
              </a:r>
            </a:p>
            <a:p>
              <a:pPr marL="285750" indent="-285750" fontAlgn="auto">
                <a:lnSpc>
                  <a:spcPct val="120000"/>
                </a:lnSpc>
                <a:buFont typeface="Wingdings" panose="05000000000000000000" charset="0"/>
                <a:buChar char="Ø"/>
              </a:pPr>
              <a:r>
                <a:rPr lang="zh-CN" altLang="en-US" dirty="0">
                  <a:solidFill>
                    <a:srgbClr val="00B050"/>
                  </a:solidFill>
                  <a:ea typeface="微软雅黑" panose="020B0503020204020204" charset="-122"/>
                </a:rPr>
                <a:t>BS（British Standard）：即英国国家标准。</a:t>
              </a:r>
            </a:p>
            <a:p>
              <a:pPr marL="285750" indent="-285750" fontAlgn="auto">
                <a:lnSpc>
                  <a:spcPct val="120000"/>
                </a:lnSpc>
                <a:buFont typeface="Wingdings" panose="05000000000000000000" charset="0"/>
                <a:buChar char="Ø"/>
              </a:pPr>
              <a:r>
                <a:rPr lang="zh-CN" altLang="en-US" dirty="0">
                  <a:solidFill>
                    <a:srgbClr val="00B050"/>
                  </a:solidFill>
                  <a:ea typeface="微软雅黑" panose="020B0503020204020204" charset="-122"/>
                </a:rPr>
                <a:t>DIN（Deutsches Institut Fur Normung，German Standards Organization）：即德国标准协会</a:t>
              </a:r>
              <a:r>
                <a:rPr lang="zh-CN" altLang="en-US" dirty="0">
                  <a:solidFill>
                    <a:schemeClr val="tx1"/>
                  </a:solidFill>
                  <a:ea typeface="微软雅黑" panose="020B0503020204020204" charset="-122"/>
                </a:rPr>
                <a:t>（德国标准化组织）。</a:t>
              </a:r>
            </a:p>
            <a:p>
              <a:pPr marL="285750" indent="-285750" fontAlgn="auto">
                <a:lnSpc>
                  <a:spcPct val="120000"/>
                </a:lnSpc>
                <a:buFont typeface="Wingdings" panose="05000000000000000000" charset="0"/>
                <a:buChar char="Ø"/>
              </a:pPr>
              <a:r>
                <a:rPr lang="zh-CN" altLang="en-US" dirty="0">
                  <a:solidFill>
                    <a:srgbClr val="00B050"/>
                  </a:solidFill>
                  <a:ea typeface="微软雅黑" panose="020B0503020204020204" charset="-122"/>
                </a:rPr>
                <a:t>JIS（Japanese Industrial Standard）：即日本工业标准。</a:t>
              </a:r>
            </a:p>
          </p:txBody>
        </p:sp>
        <p:sp>
          <p:nvSpPr>
            <p:cNvPr id="27"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C00000"/>
                  </a:solidFill>
                  <a:latin typeface="Agency FB" panose="020B0503020202020204" pitchFamily="34" charset="0"/>
                  <a:ea typeface="微软雅黑" panose="020B0503020204020204" charset="-122"/>
                </a:rPr>
                <a:t>3</a:t>
              </a:r>
            </a:p>
          </p:txBody>
        </p:sp>
      </p:grpSp>
    </p:spTree>
  </p:cSld>
  <p:clrMapOvr>
    <a:masterClrMapping/>
  </p:clrMapOvr>
  <p:transition>
    <p:randomBar dir="vert"/>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10.8  软件工程标准与软件文档</a:t>
            </a:r>
            <a:endParaRPr lang="en-US" altLang="zh-CN">
              <a:solidFill>
                <a:srgbClr val="FF0000"/>
              </a:solidFill>
            </a:endParaRPr>
          </a:p>
        </p:txBody>
      </p:sp>
      <p:sp>
        <p:nvSpPr>
          <p:cNvPr id="7" name="文本框 6"/>
          <p:cNvSpPr txBox="1"/>
          <p:nvPr/>
        </p:nvSpPr>
        <p:spPr>
          <a:xfrm>
            <a:off x="754380" y="3190240"/>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软件测试说明</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10.8.1  软件工程标准</a:t>
            </a:r>
          </a:p>
        </p:txBody>
      </p:sp>
      <p:grpSp>
        <p:nvGrpSpPr>
          <p:cNvPr id="13" name="组合 12"/>
          <p:cNvGrpSpPr/>
          <p:nvPr/>
        </p:nvGrpSpPr>
        <p:grpSpPr>
          <a:xfrm>
            <a:off x="802509" y="2145511"/>
            <a:ext cx="9966960" cy="1694815"/>
            <a:chOff x="1630" y="5726"/>
            <a:chExt cx="15696" cy="2669"/>
          </a:xfrm>
        </p:grpSpPr>
        <p:cxnSp>
          <p:nvCxnSpPr>
            <p:cNvPr id="14" name="MH_Other_1"/>
            <p:cNvCxnSpPr/>
            <p:nvPr/>
          </p:nvCxnSpPr>
          <p:spPr>
            <a:xfrm flipH="1">
              <a:off x="2470" y="6041"/>
              <a:ext cx="1545" cy="145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6" name="MH_SubTitle_1"/>
            <p:cNvSpPr txBox="1">
              <a:spLocks noChangeArrowheads="1"/>
            </p:cNvSpPr>
            <p:nvPr/>
          </p:nvSpPr>
          <p:spPr bwMode="auto">
            <a:xfrm>
              <a:off x="3207" y="6041"/>
              <a:ext cx="14119" cy="2354"/>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2060"/>
                  </a:solidFill>
                </a:rPr>
                <a:t>企业规范</a:t>
              </a:r>
            </a:p>
            <a:p>
              <a:pPr indent="457200" fontAlgn="auto">
                <a:lnSpc>
                  <a:spcPct val="120000"/>
                </a:lnSpc>
              </a:pPr>
              <a:r>
                <a:rPr lang="zh-CN" altLang="en-US" dirty="0">
                  <a:ea typeface="微软雅黑" panose="020B0503020204020204" charset="-122"/>
                </a:rPr>
                <a:t>企业规范是大型企业或公司所制定的适用于本单位的规范。</a:t>
              </a:r>
            </a:p>
          </p:txBody>
        </p:sp>
        <p:sp>
          <p:nvSpPr>
            <p:cNvPr id="1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2060"/>
                  </a:solidFill>
                  <a:latin typeface="Agency FB" panose="020B0503020202020204" pitchFamily="34" charset="0"/>
                  <a:ea typeface="微软雅黑" panose="020B0503020204020204" charset="-122"/>
                </a:rPr>
                <a:t>4</a:t>
              </a:r>
            </a:p>
          </p:txBody>
        </p:sp>
      </p:grpSp>
      <p:grpSp>
        <p:nvGrpSpPr>
          <p:cNvPr id="18" name="组合 17"/>
          <p:cNvGrpSpPr/>
          <p:nvPr/>
        </p:nvGrpSpPr>
        <p:grpSpPr>
          <a:xfrm>
            <a:off x="802509" y="3954626"/>
            <a:ext cx="9525000" cy="1416050"/>
            <a:chOff x="1630" y="5726"/>
            <a:chExt cx="15000" cy="2230"/>
          </a:xfrm>
        </p:grpSpPr>
        <p:cxnSp>
          <p:nvCxnSpPr>
            <p:cNvPr id="19"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20"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1" name="MH_SubTitle_1"/>
            <p:cNvSpPr txBox="1">
              <a:spLocks noChangeArrowheads="1"/>
            </p:cNvSpPr>
            <p:nvPr/>
          </p:nvSpPr>
          <p:spPr bwMode="auto">
            <a:xfrm>
              <a:off x="3207" y="6041"/>
              <a:ext cx="13423" cy="1915"/>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项目（课题）规范</a:t>
              </a:r>
            </a:p>
            <a:p>
              <a:pPr indent="457200" fontAlgn="auto">
                <a:lnSpc>
                  <a:spcPct val="120000"/>
                </a:lnSpc>
              </a:pPr>
              <a:r>
                <a:rPr lang="zh-CN" altLang="en-US" dirty="0">
                  <a:ea typeface="微软雅黑" panose="020B0503020204020204" charset="-122"/>
                </a:rPr>
                <a:t>项目（课题）规范是某一项目组织为该项目制定的专用的软件工程规范。</a:t>
              </a:r>
            </a:p>
          </p:txBody>
        </p:sp>
        <p:sp>
          <p:nvSpPr>
            <p:cNvPr id="28"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5</a:t>
              </a:r>
            </a:p>
          </p:txBody>
        </p:sp>
      </p:grpSp>
    </p:spTree>
  </p:cSld>
  <p:clrMapOvr>
    <a:masterClrMapping/>
  </p:clrMapOvr>
  <p:transition>
    <p:randomBar dir="vert"/>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10.8  软件工程标准与软件文档</a:t>
            </a:r>
            <a:endParaRPr lang="en-US" altLang="zh-CN">
              <a:solidFill>
                <a:srgbClr val="FF0000"/>
              </a:solidFill>
            </a:endParaRPr>
          </a:p>
        </p:txBody>
      </p:sp>
      <p:sp>
        <p:nvSpPr>
          <p:cNvPr id="7" name="文本框 6"/>
          <p:cNvSpPr txBox="1"/>
          <p:nvPr/>
        </p:nvSpPr>
        <p:spPr>
          <a:xfrm>
            <a:off x="754380" y="3190240"/>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软件测试说明</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10.8.2  软件文档的编写</a:t>
            </a:r>
          </a:p>
        </p:txBody>
      </p:sp>
      <p:grpSp>
        <p:nvGrpSpPr>
          <p:cNvPr id="2" name="组合 1"/>
          <p:cNvGrpSpPr/>
          <p:nvPr/>
        </p:nvGrpSpPr>
        <p:grpSpPr>
          <a:xfrm>
            <a:off x="1247140" y="2192020"/>
            <a:ext cx="11015345" cy="4259580"/>
            <a:chOff x="1337" y="3428"/>
            <a:chExt cx="17347" cy="6708"/>
          </a:xfrm>
        </p:grpSpPr>
        <p:sp>
          <p:nvSpPr>
            <p:cNvPr id="16" name="Oval 15"/>
            <p:cNvSpPr>
              <a:spLocks noChangeArrowheads="1"/>
            </p:cNvSpPr>
            <p:nvPr>
              <p:custDataLst>
                <p:tags r:id="rId1"/>
              </p:custDataLst>
            </p:nvPr>
          </p:nvSpPr>
          <p:spPr bwMode="auto">
            <a:xfrm>
              <a:off x="1609" y="3997"/>
              <a:ext cx="4966" cy="5012"/>
            </a:xfrm>
            <a:prstGeom prst="ellipse">
              <a:avLst/>
            </a:prstGeom>
            <a:noFill/>
            <a:ln w="19050">
              <a:solidFill>
                <a:srgbClr val="4F5A71">
                  <a:alpha val="50000"/>
                </a:srgbClr>
              </a:solidFill>
              <a:round/>
            </a:ln>
            <a:effectLst/>
            <a:extLst>
              <a:ext uri="{909E8E84-426E-40DD-AFC4-6F175D3DCCD1}">
                <a14:hiddenFill xmlns:a14="http://schemas.microsoft.com/office/drawing/2010/main" xmlns="">
                  <a:solidFill>
                    <a:srgbClr val="4F5A71"/>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3" name="Line 16"/>
            <p:cNvSpPr>
              <a:spLocks noChangeShapeType="1"/>
            </p:cNvSpPr>
            <p:nvPr>
              <p:custDataLst>
                <p:tags r:id="rId2"/>
              </p:custDataLst>
            </p:nvPr>
          </p:nvSpPr>
          <p:spPr bwMode="gray">
            <a:xfrm>
              <a:off x="1337" y="6514"/>
              <a:ext cx="5486" cy="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4" name="Line 17"/>
            <p:cNvSpPr>
              <a:spLocks noChangeShapeType="1"/>
            </p:cNvSpPr>
            <p:nvPr>
              <p:custDataLst>
                <p:tags r:id="rId3"/>
              </p:custDataLst>
            </p:nvPr>
          </p:nvSpPr>
          <p:spPr bwMode="gray">
            <a:xfrm>
              <a:off x="4080" y="3627"/>
              <a:ext cx="0" cy="577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5" name="Oval 10"/>
            <p:cNvSpPr>
              <a:spLocks noChangeArrowheads="1"/>
            </p:cNvSpPr>
            <p:nvPr>
              <p:custDataLst>
                <p:tags r:id="rId4"/>
              </p:custDataLst>
            </p:nvPr>
          </p:nvSpPr>
          <p:spPr bwMode="gray">
            <a:xfrm>
              <a:off x="1881" y="4281"/>
              <a:ext cx="4393" cy="4427"/>
            </a:xfrm>
            <a:prstGeom prst="ellipse">
              <a:avLst/>
            </a:prstGeom>
            <a:noFill/>
            <a:ln w="9525">
              <a:solidFill>
                <a:srgbClr val="4F5A71">
                  <a:alpha val="50000"/>
                </a:srgbClr>
              </a:solidFill>
              <a:round/>
            </a:ln>
            <a:effectLst/>
            <a:extLst>
              <a:ext uri="{909E8E84-426E-40DD-AFC4-6F175D3DCCD1}">
                <a14:hiddenFill xmlns:a14="http://schemas.microsoft.com/office/drawing/2010/main" xmlns="">
                  <a:solidFill>
                    <a:srgbClr val="4F5A71">
                      <a:alpha val="64999"/>
                    </a:srgbClr>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7" name="Oval 13"/>
            <p:cNvSpPr>
              <a:spLocks noChangeArrowheads="1"/>
            </p:cNvSpPr>
            <p:nvPr>
              <p:custDataLst>
                <p:tags r:id="rId5"/>
              </p:custDataLst>
            </p:nvPr>
          </p:nvSpPr>
          <p:spPr bwMode="gray">
            <a:xfrm>
              <a:off x="2383" y="4812"/>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51" name="KSO_GT1"/>
            <p:cNvSpPr>
              <a:spLocks noChangeArrowheads="1"/>
            </p:cNvSpPr>
            <p:nvPr>
              <p:custDataLst>
                <p:tags r:id="rId6"/>
              </p:custDataLst>
            </p:nvPr>
          </p:nvSpPr>
          <p:spPr bwMode="gray">
            <a:xfrm>
              <a:off x="2989" y="5430"/>
              <a:ext cx="2155" cy="2201"/>
            </a:xfrm>
            <a:prstGeom prst="ellipse">
              <a:avLst/>
            </a:prstGeom>
            <a:solidFill>
              <a:srgbClr val="4F5A71"/>
            </a:solidFill>
            <a:ln>
              <a:noFill/>
            </a:ln>
            <a:effectLst/>
          </p:spPr>
          <p:txBody>
            <a:bodyPr wrap="square" lIns="0" tIns="0" rIns="0" bIns="0" anchor="ctr">
              <a:normAutofit lnSpcReduction="10000"/>
            </a:bodyPr>
            <a:lstStyle/>
            <a:p>
              <a:pPr algn="ctr">
                <a:defRPr/>
              </a:pPr>
              <a:r>
                <a:rPr altLang="zh-CN" sz="2400" kern="0" dirty="0">
                  <a:solidFill>
                    <a:srgbClr val="FFFFFF"/>
                  </a:solidFill>
                  <a:latin typeface="Arial" panose="020B0604020202020204" pitchFamily="34" charset="0"/>
                  <a:ea typeface="宋体" panose="02010600030101010101" pitchFamily="2" charset="-122"/>
                  <a:cs typeface="黑体" panose="02010609060101010101" pitchFamily="49" charset="-122"/>
                  <a:sym typeface="+mn-ea"/>
                </a:rPr>
                <a:t>软件</a:t>
              </a:r>
            </a:p>
            <a:p>
              <a:pPr algn="ctr">
                <a:defRPr/>
              </a:pPr>
              <a:r>
                <a:rPr altLang="zh-CN" sz="2400" kern="0" dirty="0">
                  <a:solidFill>
                    <a:srgbClr val="FFFFFF"/>
                  </a:solidFill>
                  <a:latin typeface="Arial" panose="020B0604020202020204" pitchFamily="34" charset="0"/>
                  <a:ea typeface="宋体" panose="02010600030101010101" pitchFamily="2" charset="-122"/>
                  <a:cs typeface="黑体" panose="02010609060101010101" pitchFamily="49" charset="-122"/>
                  <a:sym typeface="+mn-ea"/>
                </a:rPr>
                <a:t>文档的</a:t>
              </a:r>
            </a:p>
            <a:p>
              <a:pPr algn="ctr">
                <a:defRPr/>
              </a:pPr>
              <a:r>
                <a:rPr altLang="zh-CN" sz="2400" kern="0" dirty="0">
                  <a:solidFill>
                    <a:srgbClr val="FFFFFF"/>
                  </a:solidFill>
                  <a:latin typeface="Arial" panose="020B0604020202020204" pitchFamily="34" charset="0"/>
                  <a:ea typeface="宋体" panose="02010600030101010101" pitchFamily="2" charset="-122"/>
                  <a:cs typeface="黑体" panose="02010609060101010101" pitchFamily="49" charset="-122"/>
                  <a:sym typeface="+mn-ea"/>
                </a:rPr>
                <a:t>作用</a:t>
              </a:r>
            </a:p>
          </p:txBody>
        </p:sp>
        <p:sp>
          <p:nvSpPr>
            <p:cNvPr id="30" name="Oval 19"/>
            <p:cNvSpPr>
              <a:spLocks noChangeArrowheads="1"/>
            </p:cNvSpPr>
            <p:nvPr>
              <p:custDataLst>
                <p:tags r:id="rId7"/>
              </p:custDataLst>
            </p:nvPr>
          </p:nvSpPr>
          <p:spPr bwMode="gray">
            <a:xfrm>
              <a:off x="4744" y="3927"/>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1" name="文本框 20"/>
            <p:cNvSpPr txBox="1"/>
            <p:nvPr>
              <p:custDataLst>
                <p:tags r:id="rId8"/>
              </p:custDataLst>
            </p:nvPr>
          </p:nvSpPr>
          <p:spPr>
            <a:xfrm>
              <a:off x="5337" y="3428"/>
              <a:ext cx="13347" cy="895"/>
            </a:xfrm>
            <a:prstGeom prst="rect">
              <a:avLst/>
            </a:prstGeom>
            <a:noFill/>
          </p:spPr>
          <p:txBody>
            <a:bodyPr wrap="square" lIns="0" rIns="0">
              <a:normAutofit/>
            </a:bodyPr>
            <a:lstStyle/>
            <a:p>
              <a:pPr>
                <a:lnSpc>
                  <a:spcPct val="130000"/>
                </a:lnSpc>
                <a:spcBef>
                  <a:spcPts val="600"/>
                </a:spcBef>
                <a:defRPr/>
              </a:pPr>
              <a:r>
                <a:rPr dirty="0"/>
                <a:t>（1）提高软件开发过程的能见度；</a:t>
              </a:r>
            </a:p>
          </p:txBody>
        </p:sp>
        <p:sp>
          <p:nvSpPr>
            <p:cNvPr id="19" name="Oval 19"/>
            <p:cNvSpPr>
              <a:spLocks noChangeArrowheads="1"/>
            </p:cNvSpPr>
            <p:nvPr>
              <p:custDataLst>
                <p:tags r:id="rId9"/>
              </p:custDataLst>
            </p:nvPr>
          </p:nvSpPr>
          <p:spPr bwMode="gray">
            <a:xfrm>
              <a:off x="5822" y="4710"/>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2" name="文本框 21"/>
            <p:cNvSpPr txBox="1"/>
            <p:nvPr>
              <p:custDataLst>
                <p:tags r:id="rId10"/>
              </p:custDataLst>
            </p:nvPr>
          </p:nvSpPr>
          <p:spPr>
            <a:xfrm>
              <a:off x="6575" y="4517"/>
              <a:ext cx="11533" cy="783"/>
            </a:xfrm>
            <a:prstGeom prst="rect">
              <a:avLst/>
            </a:prstGeom>
            <a:noFill/>
          </p:spPr>
          <p:txBody>
            <a:bodyPr wrap="square" lIns="0" rIns="0">
              <a:normAutofit/>
            </a:bodyPr>
            <a:lstStyle/>
            <a:p>
              <a:pPr>
                <a:lnSpc>
                  <a:spcPct val="130000"/>
                </a:lnSpc>
                <a:spcBef>
                  <a:spcPts val="600"/>
                </a:spcBef>
                <a:defRPr/>
              </a:pPr>
              <a:r>
                <a:rPr dirty="0"/>
                <a:t>（2） 提高开发效率；</a:t>
              </a:r>
            </a:p>
          </p:txBody>
        </p:sp>
        <p:sp>
          <p:nvSpPr>
            <p:cNvPr id="20" name="Oval 19"/>
            <p:cNvSpPr>
              <a:spLocks noChangeArrowheads="1"/>
            </p:cNvSpPr>
            <p:nvPr>
              <p:custDataLst>
                <p:tags r:id="rId11"/>
              </p:custDataLst>
            </p:nvPr>
          </p:nvSpPr>
          <p:spPr bwMode="gray">
            <a:xfrm>
              <a:off x="6311" y="5745"/>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 name="文本框 4"/>
            <p:cNvSpPr txBox="1"/>
            <p:nvPr>
              <p:custDataLst>
                <p:tags r:id="rId12"/>
              </p:custDataLst>
            </p:nvPr>
          </p:nvSpPr>
          <p:spPr>
            <a:xfrm>
              <a:off x="7275" y="5588"/>
              <a:ext cx="11087" cy="710"/>
            </a:xfrm>
            <a:prstGeom prst="rect">
              <a:avLst/>
            </a:prstGeom>
            <a:noFill/>
          </p:spPr>
          <p:txBody>
            <a:bodyPr wrap="square" lIns="0" rIns="0">
              <a:normAutofit/>
            </a:bodyPr>
            <a:lstStyle/>
            <a:p>
              <a:pPr>
                <a:lnSpc>
                  <a:spcPct val="130000"/>
                </a:lnSpc>
                <a:spcBef>
                  <a:spcPts val="600"/>
                </a:spcBef>
                <a:defRPr/>
              </a:pPr>
              <a:r>
                <a:rPr dirty="0"/>
                <a:t>（3）作为开发人员的阶段工作成果和结束标志；</a:t>
              </a:r>
            </a:p>
          </p:txBody>
        </p:sp>
        <p:sp>
          <p:nvSpPr>
            <p:cNvPr id="23" name="Oval 19"/>
            <p:cNvSpPr>
              <a:spLocks noChangeArrowheads="1"/>
            </p:cNvSpPr>
            <p:nvPr>
              <p:custDataLst>
                <p:tags r:id="rId13"/>
              </p:custDataLst>
            </p:nvPr>
          </p:nvSpPr>
          <p:spPr bwMode="gray">
            <a:xfrm>
              <a:off x="6325" y="6861"/>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6" name="文本框 5"/>
            <p:cNvSpPr txBox="1"/>
            <p:nvPr>
              <p:custDataLst>
                <p:tags r:id="rId14"/>
              </p:custDataLst>
            </p:nvPr>
          </p:nvSpPr>
          <p:spPr>
            <a:xfrm>
              <a:off x="7275" y="6626"/>
              <a:ext cx="10736" cy="894"/>
            </a:xfrm>
            <a:prstGeom prst="rect">
              <a:avLst/>
            </a:prstGeom>
            <a:noFill/>
          </p:spPr>
          <p:txBody>
            <a:bodyPr wrap="square" lIns="0" rIns="0">
              <a:normAutofit/>
            </a:bodyPr>
            <a:lstStyle/>
            <a:p>
              <a:pPr>
                <a:lnSpc>
                  <a:spcPct val="130000"/>
                </a:lnSpc>
                <a:spcBef>
                  <a:spcPts val="600"/>
                </a:spcBef>
                <a:defRPr/>
              </a:pPr>
              <a:r>
                <a:rPr dirty="0"/>
                <a:t>（4）记录开发过程的有关信息，以便于使用与维护；</a:t>
              </a:r>
            </a:p>
          </p:txBody>
        </p:sp>
        <p:sp>
          <p:nvSpPr>
            <p:cNvPr id="24" name="Oval 19"/>
            <p:cNvSpPr>
              <a:spLocks noChangeArrowheads="1"/>
            </p:cNvSpPr>
            <p:nvPr>
              <p:custDataLst>
                <p:tags r:id="rId15"/>
              </p:custDataLst>
            </p:nvPr>
          </p:nvSpPr>
          <p:spPr bwMode="gray">
            <a:xfrm>
              <a:off x="5805" y="7926"/>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8" name="文本框 37"/>
            <p:cNvSpPr txBox="1"/>
            <p:nvPr>
              <p:custDataLst>
                <p:tags r:id="rId16"/>
              </p:custDataLst>
            </p:nvPr>
          </p:nvSpPr>
          <p:spPr>
            <a:xfrm>
              <a:off x="6766" y="7727"/>
              <a:ext cx="11151" cy="795"/>
            </a:xfrm>
            <a:prstGeom prst="rect">
              <a:avLst/>
            </a:prstGeom>
            <a:noFill/>
          </p:spPr>
          <p:txBody>
            <a:bodyPr wrap="square" lIns="0" rIns="0">
              <a:normAutofit/>
            </a:bodyPr>
            <a:lstStyle/>
            <a:p>
              <a:pPr>
                <a:lnSpc>
                  <a:spcPct val="130000"/>
                </a:lnSpc>
                <a:spcBef>
                  <a:spcPts val="600"/>
                </a:spcBef>
                <a:defRPr/>
              </a:pPr>
              <a:r>
                <a:rPr lang="zh-CN" altLang="en-US" dirty="0"/>
                <a:t>（5）提供软件运行、维护和指导用户操作的有关资料；</a:t>
              </a:r>
            </a:p>
          </p:txBody>
        </p:sp>
        <p:sp>
          <p:nvSpPr>
            <p:cNvPr id="25" name="Oval 19"/>
            <p:cNvSpPr>
              <a:spLocks noChangeArrowheads="1"/>
            </p:cNvSpPr>
            <p:nvPr>
              <p:custDataLst>
                <p:tags r:id="rId17"/>
              </p:custDataLst>
            </p:nvPr>
          </p:nvSpPr>
          <p:spPr bwMode="gray">
            <a:xfrm>
              <a:off x="4685" y="8682"/>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9" name="文本框 38"/>
            <p:cNvSpPr txBox="1"/>
            <p:nvPr>
              <p:custDataLst>
                <p:tags r:id="rId18"/>
              </p:custDataLst>
            </p:nvPr>
          </p:nvSpPr>
          <p:spPr>
            <a:xfrm>
              <a:off x="5337" y="8815"/>
              <a:ext cx="13018" cy="1321"/>
            </a:xfrm>
            <a:prstGeom prst="rect">
              <a:avLst/>
            </a:prstGeom>
            <a:noFill/>
          </p:spPr>
          <p:txBody>
            <a:bodyPr wrap="square" lIns="0" rIns="0">
              <a:normAutofit/>
            </a:bodyPr>
            <a:lstStyle/>
            <a:p>
              <a:pPr>
                <a:lnSpc>
                  <a:spcPct val="130000"/>
                </a:lnSpc>
                <a:spcBef>
                  <a:spcPts val="600"/>
                </a:spcBef>
                <a:defRPr/>
              </a:pPr>
              <a:r>
                <a:rPr lang="zh-CN" altLang="en-US" dirty="0"/>
                <a:t>（6）便于用户了解软件功能、性能等。</a:t>
              </a:r>
            </a:p>
          </p:txBody>
        </p:sp>
      </p:grpSp>
    </p:spTree>
  </p:cSld>
  <p:clrMapOvr>
    <a:masterClrMapping/>
  </p:clrMapOvr>
  <p:transition>
    <p:randomBar dir="vert"/>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10.8  软件工程标准与软件文档</a:t>
            </a:r>
            <a:endParaRPr lang="en-US" altLang="zh-CN">
              <a:solidFill>
                <a:srgbClr val="FF0000"/>
              </a:solidFill>
            </a:endParaRPr>
          </a:p>
        </p:txBody>
      </p:sp>
      <p:sp>
        <p:nvSpPr>
          <p:cNvPr id="7" name="文本框 6"/>
          <p:cNvSpPr txBox="1"/>
          <p:nvPr/>
        </p:nvSpPr>
        <p:spPr>
          <a:xfrm>
            <a:off x="754380" y="3190240"/>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软件测试说明</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10.8.2  软件文档的编写</a:t>
            </a:r>
          </a:p>
        </p:txBody>
      </p:sp>
      <p:graphicFrame>
        <p:nvGraphicFramePr>
          <p:cNvPr id="5" name="表格 4"/>
          <p:cNvGraphicFramePr>
            <a:graphicFrameLocks noGrp="1"/>
          </p:cNvGraphicFramePr>
          <p:nvPr/>
        </p:nvGraphicFramePr>
        <p:xfrm>
          <a:off x="665810" y="2000699"/>
          <a:ext cx="10835641" cy="4442455"/>
        </p:xfrm>
        <a:graphic>
          <a:graphicData uri="http://schemas.openxmlformats.org/drawingml/2006/table">
            <a:tbl>
              <a:tblPr/>
              <a:tblGrid>
                <a:gridCol w="488557"/>
                <a:gridCol w="2136941"/>
                <a:gridCol w="1535843"/>
                <a:gridCol w="1272367"/>
                <a:gridCol w="1273691"/>
                <a:gridCol w="1273691"/>
                <a:gridCol w="1273691"/>
                <a:gridCol w="1580860"/>
              </a:tblGrid>
              <a:tr h="498813">
                <a:tc>
                  <a:txBody>
                    <a:bodyPr/>
                    <a:lstStyle/>
                    <a:p>
                      <a:pPr algn="ctr">
                        <a:spcAft>
                          <a:spcPts val="0"/>
                        </a:spcAft>
                      </a:pPr>
                      <a:endParaRPr lang="en-US" sz="1600" kern="500">
                        <a:latin typeface="Times New Roman"/>
                        <a:ea typeface="宋体"/>
                      </a:endParaRPr>
                    </a:p>
                  </a:txBody>
                  <a:tcPr marL="36195" marR="3619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indent="571500" algn="just">
                        <a:spcAft>
                          <a:spcPts val="0"/>
                        </a:spcAft>
                      </a:pPr>
                      <a:r>
                        <a:rPr lang="zh-CN" sz="1600" kern="500">
                          <a:latin typeface="Times New Roman"/>
                          <a:ea typeface="宋体"/>
                        </a:rPr>
                        <a:t>阶段</a:t>
                      </a:r>
                    </a:p>
                    <a:p>
                      <a:pPr indent="114300" algn="just">
                        <a:spcAft>
                          <a:spcPts val="0"/>
                        </a:spcAft>
                      </a:pPr>
                      <a:r>
                        <a:rPr lang="zh-CN" sz="1600" kern="500">
                          <a:latin typeface="Times New Roman"/>
                          <a:ea typeface="宋体"/>
                        </a:rPr>
                        <a:t>文档</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solidFill>
                      <a:srgbClr val="FADCE9"/>
                    </a:solidFill>
                  </a:tcPr>
                </a:tc>
                <a:tc>
                  <a:txBody>
                    <a:bodyPr/>
                    <a:lstStyle/>
                    <a:p>
                      <a:pPr algn="ctr">
                        <a:spcAft>
                          <a:spcPts val="0"/>
                        </a:spcAft>
                      </a:pPr>
                      <a:r>
                        <a:rPr lang="zh-CN" sz="1600" kern="500">
                          <a:latin typeface="Times New Roman"/>
                          <a:ea typeface="宋体"/>
                        </a:rPr>
                        <a:t>可行性研究与计划</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600" kern="500">
                          <a:latin typeface="Times New Roman"/>
                          <a:ea typeface="宋体"/>
                        </a:rPr>
                        <a:t>需求分析</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600" kern="500">
                          <a:latin typeface="Times New Roman"/>
                          <a:ea typeface="宋体"/>
                        </a:rPr>
                        <a:t>设计阶段</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600" kern="500">
                          <a:latin typeface="Times New Roman"/>
                          <a:ea typeface="宋体"/>
                        </a:rPr>
                        <a:t>系统实现</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600" kern="500">
                          <a:latin typeface="Times New Roman"/>
                          <a:ea typeface="宋体"/>
                        </a:rPr>
                        <a:t>测试阶段</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600" kern="500">
                          <a:latin typeface="Times New Roman"/>
                          <a:ea typeface="宋体"/>
                        </a:rPr>
                        <a:t>运行与维护</a:t>
                      </a:r>
                    </a:p>
                  </a:txBody>
                  <a:tcPr marL="36195" marR="3619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r>
              <a:tr h="263874">
                <a:tc>
                  <a:txBody>
                    <a:bodyPr/>
                    <a:lstStyle/>
                    <a:p>
                      <a:pPr algn="ctr">
                        <a:spcAft>
                          <a:spcPts val="0"/>
                        </a:spcAft>
                      </a:pPr>
                      <a:r>
                        <a:rPr lang="en-US" sz="1600" kern="500">
                          <a:latin typeface="Times New Roman"/>
                          <a:ea typeface="宋体"/>
                        </a:rPr>
                        <a:t>1</a:t>
                      </a:r>
                      <a:endParaRPr lang="zh-CN" sz="1600" kern="500">
                        <a:latin typeface="Times New Roman"/>
                        <a:ea typeface="宋体"/>
                      </a:endParaRPr>
                    </a:p>
                  </a:txBody>
                  <a:tcPr marL="36195" marR="3619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500">
                          <a:latin typeface="Times New Roman"/>
                          <a:ea typeface="宋体"/>
                        </a:rPr>
                        <a:t>可行性研究报告</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3874">
                <a:tc>
                  <a:txBody>
                    <a:bodyPr/>
                    <a:lstStyle/>
                    <a:p>
                      <a:pPr algn="ctr">
                        <a:spcAft>
                          <a:spcPts val="0"/>
                        </a:spcAft>
                      </a:pPr>
                      <a:r>
                        <a:rPr lang="en-US" sz="1600" kern="500">
                          <a:latin typeface="Times New Roman"/>
                          <a:ea typeface="宋体"/>
                        </a:rPr>
                        <a:t>2</a:t>
                      </a:r>
                      <a:endParaRPr lang="zh-CN" sz="1600" kern="500">
                        <a:latin typeface="Times New Roman"/>
                        <a:ea typeface="宋体"/>
                      </a:endParaRPr>
                    </a:p>
                  </a:txBody>
                  <a:tcPr marL="36195" marR="3619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500">
                          <a:latin typeface="Times New Roman"/>
                          <a:ea typeface="宋体"/>
                        </a:rPr>
                        <a:t>项目开发计划</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3874">
                <a:tc>
                  <a:txBody>
                    <a:bodyPr/>
                    <a:lstStyle/>
                    <a:p>
                      <a:pPr algn="ctr">
                        <a:spcAft>
                          <a:spcPts val="0"/>
                        </a:spcAft>
                      </a:pPr>
                      <a:r>
                        <a:rPr lang="en-US" sz="1600" kern="500">
                          <a:latin typeface="Times New Roman"/>
                          <a:ea typeface="宋体"/>
                        </a:rPr>
                        <a:t>3</a:t>
                      </a:r>
                      <a:endParaRPr lang="zh-CN" sz="1600" kern="500">
                        <a:latin typeface="Times New Roman"/>
                        <a:ea typeface="宋体"/>
                      </a:endParaRPr>
                    </a:p>
                  </a:txBody>
                  <a:tcPr marL="36195" marR="3619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500">
                          <a:latin typeface="Times New Roman"/>
                          <a:ea typeface="宋体"/>
                        </a:rPr>
                        <a:t>软件需求说明书</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3874">
                <a:tc>
                  <a:txBody>
                    <a:bodyPr/>
                    <a:lstStyle/>
                    <a:p>
                      <a:pPr algn="ctr">
                        <a:spcAft>
                          <a:spcPts val="0"/>
                        </a:spcAft>
                      </a:pPr>
                      <a:r>
                        <a:rPr lang="en-US" sz="1600" kern="500">
                          <a:latin typeface="Times New Roman"/>
                          <a:ea typeface="宋体"/>
                        </a:rPr>
                        <a:t>4</a:t>
                      </a:r>
                      <a:endParaRPr lang="zh-CN" sz="1600" kern="500">
                        <a:latin typeface="Times New Roman"/>
                        <a:ea typeface="宋体"/>
                      </a:endParaRPr>
                    </a:p>
                  </a:txBody>
                  <a:tcPr marL="36195" marR="3619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500">
                          <a:latin typeface="Times New Roman"/>
                          <a:ea typeface="宋体"/>
                        </a:rPr>
                        <a:t>数据要求说明书</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9406">
                <a:tc>
                  <a:txBody>
                    <a:bodyPr/>
                    <a:lstStyle/>
                    <a:p>
                      <a:pPr algn="ctr">
                        <a:spcAft>
                          <a:spcPts val="0"/>
                        </a:spcAft>
                      </a:pPr>
                      <a:r>
                        <a:rPr lang="en-US" sz="1600" kern="500">
                          <a:latin typeface="Times New Roman"/>
                          <a:ea typeface="宋体"/>
                        </a:rPr>
                        <a:t>5</a:t>
                      </a:r>
                      <a:endParaRPr lang="zh-CN" sz="1600" kern="500">
                        <a:latin typeface="Times New Roman"/>
                        <a:ea typeface="宋体"/>
                      </a:endParaRPr>
                    </a:p>
                  </a:txBody>
                  <a:tcPr marL="36195" marR="3619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500">
                          <a:latin typeface="Times New Roman"/>
                          <a:ea typeface="宋体"/>
                        </a:rPr>
                        <a:t>测试计划</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3874">
                <a:tc>
                  <a:txBody>
                    <a:bodyPr/>
                    <a:lstStyle/>
                    <a:p>
                      <a:pPr algn="ctr">
                        <a:spcAft>
                          <a:spcPts val="0"/>
                        </a:spcAft>
                      </a:pPr>
                      <a:r>
                        <a:rPr lang="en-US" sz="1600" kern="500">
                          <a:latin typeface="Times New Roman"/>
                          <a:ea typeface="宋体"/>
                        </a:rPr>
                        <a:t>6</a:t>
                      </a:r>
                      <a:endParaRPr lang="zh-CN" sz="1600" kern="500">
                        <a:latin typeface="Times New Roman"/>
                        <a:ea typeface="宋体"/>
                      </a:endParaRPr>
                    </a:p>
                  </a:txBody>
                  <a:tcPr marL="36195" marR="3619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500">
                          <a:latin typeface="Times New Roman"/>
                          <a:ea typeface="宋体"/>
                        </a:rPr>
                        <a:t>概要设计说明书</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3874">
                <a:tc>
                  <a:txBody>
                    <a:bodyPr/>
                    <a:lstStyle/>
                    <a:p>
                      <a:pPr algn="ctr">
                        <a:spcAft>
                          <a:spcPts val="0"/>
                        </a:spcAft>
                      </a:pPr>
                      <a:r>
                        <a:rPr lang="en-US" sz="1600" kern="500">
                          <a:latin typeface="Times New Roman"/>
                          <a:ea typeface="宋体"/>
                        </a:rPr>
                        <a:t>7</a:t>
                      </a:r>
                      <a:endParaRPr lang="zh-CN" sz="1600" kern="500">
                        <a:latin typeface="Times New Roman"/>
                        <a:ea typeface="宋体"/>
                      </a:endParaRPr>
                    </a:p>
                  </a:txBody>
                  <a:tcPr marL="36195" marR="3619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500">
                          <a:latin typeface="Times New Roman"/>
                          <a:ea typeface="宋体"/>
                        </a:rPr>
                        <a:t>详细设计说明书</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3874">
                <a:tc>
                  <a:txBody>
                    <a:bodyPr/>
                    <a:lstStyle/>
                    <a:p>
                      <a:pPr algn="ctr">
                        <a:spcAft>
                          <a:spcPts val="0"/>
                        </a:spcAft>
                      </a:pPr>
                      <a:r>
                        <a:rPr lang="en-US" sz="1600" kern="500">
                          <a:latin typeface="Times New Roman"/>
                          <a:ea typeface="宋体"/>
                        </a:rPr>
                        <a:t>8</a:t>
                      </a:r>
                      <a:endParaRPr lang="zh-CN" sz="1600" kern="500">
                        <a:latin typeface="Times New Roman"/>
                        <a:ea typeface="宋体"/>
                      </a:endParaRPr>
                    </a:p>
                  </a:txBody>
                  <a:tcPr marL="36195" marR="3619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500">
                          <a:latin typeface="Times New Roman"/>
                          <a:ea typeface="宋体"/>
                        </a:rPr>
                        <a:t>数据库设计说明书</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3874">
                <a:tc>
                  <a:txBody>
                    <a:bodyPr/>
                    <a:lstStyle/>
                    <a:p>
                      <a:pPr algn="ctr">
                        <a:spcAft>
                          <a:spcPts val="0"/>
                        </a:spcAft>
                      </a:pPr>
                      <a:r>
                        <a:rPr lang="en-US" sz="1600" kern="500">
                          <a:latin typeface="Times New Roman"/>
                          <a:ea typeface="宋体"/>
                        </a:rPr>
                        <a:t>9</a:t>
                      </a:r>
                      <a:endParaRPr lang="zh-CN" sz="1600" kern="500">
                        <a:latin typeface="Times New Roman"/>
                        <a:ea typeface="宋体"/>
                      </a:endParaRPr>
                    </a:p>
                  </a:txBody>
                  <a:tcPr marL="36195" marR="3619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500">
                          <a:latin typeface="Times New Roman"/>
                          <a:ea typeface="宋体"/>
                        </a:rPr>
                        <a:t>模块开发卷宗</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3874">
                <a:tc>
                  <a:txBody>
                    <a:bodyPr/>
                    <a:lstStyle/>
                    <a:p>
                      <a:pPr algn="ctr">
                        <a:spcAft>
                          <a:spcPts val="0"/>
                        </a:spcAft>
                      </a:pPr>
                      <a:r>
                        <a:rPr lang="en-US" sz="1600" kern="500">
                          <a:latin typeface="Times New Roman"/>
                          <a:ea typeface="宋体"/>
                        </a:rPr>
                        <a:t>10</a:t>
                      </a:r>
                      <a:endParaRPr lang="zh-CN" sz="1600" kern="500">
                        <a:latin typeface="Times New Roman"/>
                        <a:ea typeface="宋体"/>
                      </a:endParaRPr>
                    </a:p>
                  </a:txBody>
                  <a:tcPr marL="36195" marR="3619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500">
                          <a:latin typeface="Times New Roman"/>
                          <a:ea typeface="宋体"/>
                        </a:rPr>
                        <a:t>用户手册</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3874">
                <a:tc>
                  <a:txBody>
                    <a:bodyPr/>
                    <a:lstStyle/>
                    <a:p>
                      <a:pPr algn="ctr">
                        <a:spcAft>
                          <a:spcPts val="0"/>
                        </a:spcAft>
                      </a:pPr>
                      <a:r>
                        <a:rPr lang="en-US" sz="1600" kern="500">
                          <a:latin typeface="Times New Roman"/>
                          <a:ea typeface="宋体"/>
                        </a:rPr>
                        <a:t>11</a:t>
                      </a:r>
                      <a:endParaRPr lang="zh-CN" sz="1600" kern="500">
                        <a:latin typeface="Times New Roman"/>
                        <a:ea typeface="宋体"/>
                      </a:endParaRPr>
                    </a:p>
                  </a:txBody>
                  <a:tcPr marL="36195" marR="3619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500">
                          <a:latin typeface="Times New Roman"/>
                          <a:ea typeface="宋体"/>
                        </a:rPr>
                        <a:t>操作手册</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3874">
                <a:tc>
                  <a:txBody>
                    <a:bodyPr/>
                    <a:lstStyle/>
                    <a:p>
                      <a:pPr algn="ctr">
                        <a:spcAft>
                          <a:spcPts val="0"/>
                        </a:spcAft>
                      </a:pPr>
                      <a:r>
                        <a:rPr lang="en-US" sz="1600" kern="500">
                          <a:latin typeface="Times New Roman"/>
                          <a:ea typeface="宋体"/>
                        </a:rPr>
                        <a:t>12</a:t>
                      </a:r>
                      <a:endParaRPr lang="zh-CN" sz="1600" kern="500">
                        <a:latin typeface="Times New Roman"/>
                        <a:ea typeface="宋体"/>
                      </a:endParaRPr>
                    </a:p>
                  </a:txBody>
                  <a:tcPr marL="36195" marR="3619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500">
                          <a:latin typeface="Times New Roman"/>
                          <a:ea typeface="宋体"/>
                        </a:rPr>
                        <a:t>测试分析报告</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3874">
                <a:tc>
                  <a:txBody>
                    <a:bodyPr/>
                    <a:lstStyle/>
                    <a:p>
                      <a:pPr algn="ctr">
                        <a:spcAft>
                          <a:spcPts val="0"/>
                        </a:spcAft>
                      </a:pPr>
                      <a:r>
                        <a:rPr lang="en-US" sz="1600" kern="500">
                          <a:latin typeface="Times New Roman"/>
                          <a:ea typeface="宋体"/>
                        </a:rPr>
                        <a:t>13</a:t>
                      </a:r>
                      <a:endParaRPr lang="zh-CN" sz="1600" kern="500">
                        <a:latin typeface="Times New Roman"/>
                        <a:ea typeface="宋体"/>
                      </a:endParaRPr>
                    </a:p>
                  </a:txBody>
                  <a:tcPr marL="36195" marR="3619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500">
                          <a:latin typeface="Times New Roman"/>
                          <a:ea typeface="宋体"/>
                        </a:rPr>
                        <a:t>开发进度月报</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3874">
                <a:tc>
                  <a:txBody>
                    <a:bodyPr/>
                    <a:lstStyle/>
                    <a:p>
                      <a:pPr algn="ctr">
                        <a:spcAft>
                          <a:spcPts val="0"/>
                        </a:spcAft>
                      </a:pPr>
                      <a:r>
                        <a:rPr lang="en-US" sz="1600" kern="500">
                          <a:latin typeface="Times New Roman"/>
                          <a:ea typeface="宋体"/>
                        </a:rPr>
                        <a:t>14</a:t>
                      </a:r>
                      <a:endParaRPr lang="zh-CN" sz="1600" kern="500">
                        <a:latin typeface="Times New Roman"/>
                        <a:ea typeface="宋体"/>
                      </a:endParaRPr>
                    </a:p>
                  </a:txBody>
                  <a:tcPr marL="36195" marR="3619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500">
                          <a:latin typeface="Times New Roman"/>
                          <a:ea typeface="宋体"/>
                        </a:rPr>
                        <a:t>项目开发总结</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3874">
                <a:tc>
                  <a:txBody>
                    <a:bodyPr/>
                    <a:lstStyle/>
                    <a:p>
                      <a:pPr algn="ctr">
                        <a:spcAft>
                          <a:spcPts val="0"/>
                        </a:spcAft>
                      </a:pPr>
                      <a:r>
                        <a:rPr lang="en-US" sz="1600" kern="500">
                          <a:latin typeface="Times New Roman"/>
                          <a:ea typeface="宋体"/>
                        </a:rPr>
                        <a:t>15</a:t>
                      </a:r>
                      <a:endParaRPr lang="zh-CN" sz="1600" kern="500">
                        <a:latin typeface="Times New Roman"/>
                        <a:ea typeface="宋体"/>
                      </a:endParaRPr>
                    </a:p>
                  </a:txBody>
                  <a:tcPr marL="36195" marR="3619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500">
                          <a:latin typeface="Times New Roman"/>
                          <a:ea typeface="宋体"/>
                        </a:rPr>
                        <a:t>维护记录</a:t>
                      </a: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kern="500">
                        <a:latin typeface="Times New Roman"/>
                        <a:ea typeface="宋体"/>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500" dirty="0">
                          <a:latin typeface="Times New Roman"/>
                          <a:ea typeface="宋体"/>
                        </a:rPr>
                        <a:t>√</a:t>
                      </a:r>
                    </a:p>
                  </a:txBody>
                  <a:tcPr marL="36195" marR="3619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1" name="矩形 10"/>
          <p:cNvSpPr/>
          <p:nvPr/>
        </p:nvSpPr>
        <p:spPr>
          <a:xfrm>
            <a:off x="4769780" y="1510536"/>
            <a:ext cx="4006225" cy="369332"/>
          </a:xfrm>
          <a:prstGeom prst="rect">
            <a:avLst/>
          </a:prstGeom>
        </p:spPr>
        <p:txBody>
          <a:bodyPr wrap="none">
            <a:spAutoFit/>
          </a:bodyPr>
          <a:lstStyle/>
          <a:p>
            <a:r>
              <a:rPr lang="zh-CN" altLang="en-US" dirty="0" smtClean="0"/>
              <a:t>表</a:t>
            </a:r>
            <a:r>
              <a:rPr lang="en-US" dirty="0" smtClean="0"/>
              <a:t>10-5  </a:t>
            </a:r>
            <a:r>
              <a:rPr lang="zh-CN" altLang="en-US" dirty="0" smtClean="0"/>
              <a:t>软件生存周期各阶段所需文档</a:t>
            </a:r>
            <a:endParaRPr lang="zh-CN" altLang="en-US" dirty="0"/>
          </a:p>
        </p:txBody>
      </p:sp>
    </p:spTree>
  </p:cSld>
  <p:clrMapOvr>
    <a:masterClrMapping/>
  </p:clrMapOvr>
  <p:transition>
    <p:randomBar dir="vert"/>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10.8  软件工程标准与软件文档</a:t>
            </a:r>
            <a:endParaRPr lang="en-US" altLang="zh-CN">
              <a:solidFill>
                <a:srgbClr val="FF0000"/>
              </a:solidFill>
            </a:endParaRPr>
          </a:p>
        </p:txBody>
      </p:sp>
      <p:sp>
        <p:nvSpPr>
          <p:cNvPr id="7" name="文本框 6"/>
          <p:cNvSpPr txBox="1"/>
          <p:nvPr/>
        </p:nvSpPr>
        <p:spPr>
          <a:xfrm>
            <a:off x="754380" y="3190240"/>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软件测试说明</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10.8.2  软件文档的编写</a:t>
            </a:r>
          </a:p>
        </p:txBody>
      </p:sp>
      <p:grpSp>
        <p:nvGrpSpPr>
          <p:cNvPr id="5" name="组合 4"/>
          <p:cNvGrpSpPr/>
          <p:nvPr/>
        </p:nvGrpSpPr>
        <p:grpSpPr>
          <a:xfrm>
            <a:off x="2423160" y="2411730"/>
            <a:ext cx="7315200" cy="3836670"/>
            <a:chOff x="2182286" y="1830388"/>
            <a:chExt cx="7756530" cy="4198942"/>
          </a:xfrm>
        </p:grpSpPr>
        <p:sp>
          <p:nvSpPr>
            <p:cNvPr id="6" name="MH_Other_1"/>
            <p:cNvSpPr/>
            <p:nvPr/>
          </p:nvSpPr>
          <p:spPr>
            <a:xfrm>
              <a:off x="2497668" y="1830388"/>
              <a:ext cx="5185833" cy="3192462"/>
            </a:xfrm>
            <a:custGeom>
              <a:avLst/>
              <a:gdLst>
                <a:gd name="connsiteX0" fmla="*/ 0 w 3718560"/>
                <a:gd name="connsiteY0" fmla="*/ 0 h 3518262"/>
                <a:gd name="connsiteX1" fmla="*/ 0 w 3718560"/>
                <a:gd name="connsiteY1" fmla="*/ 3509554 h 3518262"/>
                <a:gd name="connsiteX2" fmla="*/ 3718560 w 3718560"/>
                <a:gd name="connsiteY2" fmla="*/ 3518262 h 3518262"/>
                <a:gd name="connsiteX3" fmla="*/ 3718560 w 3718560"/>
                <a:gd name="connsiteY3" fmla="*/ 3518262 h 3518262"/>
              </a:gdLst>
              <a:ahLst/>
              <a:cxnLst>
                <a:cxn ang="0">
                  <a:pos x="connsiteX0" y="connsiteY0"/>
                </a:cxn>
                <a:cxn ang="0">
                  <a:pos x="connsiteX1" y="connsiteY1"/>
                </a:cxn>
                <a:cxn ang="0">
                  <a:pos x="connsiteX2" y="connsiteY2"/>
                </a:cxn>
                <a:cxn ang="0">
                  <a:pos x="connsiteX3" y="connsiteY3"/>
                </a:cxn>
              </a:cxnLst>
              <a:rect l="l" t="t" r="r" b="b"/>
              <a:pathLst>
                <a:path w="3718560" h="3518262">
                  <a:moveTo>
                    <a:pt x="0" y="0"/>
                  </a:moveTo>
                  <a:lnTo>
                    <a:pt x="0" y="3509554"/>
                  </a:lnTo>
                  <a:lnTo>
                    <a:pt x="3718560" y="3518262"/>
                  </a:lnTo>
                  <a:lnTo>
                    <a:pt x="3718560" y="3518262"/>
                  </a:lnTo>
                </a:path>
              </a:pathLst>
            </a:custGeom>
            <a:noFill/>
            <a:ln w="76200" cap="flat" cmpd="sng" algn="ctr">
              <a:solidFill>
                <a:srgbClr val="D10000"/>
              </a:solidFill>
              <a:prstDash val="solid"/>
              <a:miter lim="800000"/>
            </a:ln>
            <a:effectLst/>
          </p:spPr>
          <p:txBody>
            <a:bodyPr anchor="ctr"/>
            <a:lstStyle/>
            <a:p>
              <a:pPr algn="ctr" eaLnBrk="1" fontAlgn="auto" hangingPunct="1">
                <a:spcBef>
                  <a:spcPts val="0"/>
                </a:spcBef>
                <a:spcAft>
                  <a:spcPts val="0"/>
                </a:spcAft>
                <a:defRPr/>
              </a:pPr>
              <a:endParaRPr lang="zh-CN" altLang="en-US" kern="0">
                <a:solidFill>
                  <a:srgbClr val="FFFFFF"/>
                </a:solidFill>
                <a:latin typeface="Arial" panose="020B0604020202020204"/>
                <a:ea typeface="宋体" panose="02010600030101010101" pitchFamily="2" charset="-122"/>
              </a:endParaRPr>
            </a:p>
          </p:txBody>
        </p:sp>
        <p:sp>
          <p:nvSpPr>
            <p:cNvPr id="8" name="MH_Desc_1"/>
            <p:cNvSpPr/>
            <p:nvPr/>
          </p:nvSpPr>
          <p:spPr>
            <a:xfrm>
              <a:off x="2182286" y="2117725"/>
              <a:ext cx="6951871" cy="3911600"/>
            </a:xfrm>
            <a:custGeom>
              <a:avLst/>
              <a:gdLst>
                <a:gd name="connsiteX0" fmla="*/ 5320937 w 5320937"/>
                <a:gd name="connsiteY0" fmla="*/ 1837508 h 4188823"/>
                <a:gd name="connsiteX1" fmla="*/ 5320937 w 5320937"/>
                <a:gd name="connsiteY1" fmla="*/ 0 h 4188823"/>
                <a:gd name="connsiteX2" fmla="*/ 0 w 5320937"/>
                <a:gd name="connsiteY2" fmla="*/ 0 h 4188823"/>
                <a:gd name="connsiteX3" fmla="*/ 0 w 5320937"/>
                <a:gd name="connsiteY3" fmla="*/ 3405051 h 4188823"/>
                <a:gd name="connsiteX4" fmla="*/ 2717075 w 5320937"/>
                <a:gd name="connsiteY4" fmla="*/ 3405051 h 4188823"/>
                <a:gd name="connsiteX5" fmla="*/ 3500847 w 5320937"/>
                <a:gd name="connsiteY5" fmla="*/ 4188823 h 4188823"/>
                <a:gd name="connsiteX6" fmla="*/ 3518263 w 5320937"/>
                <a:gd name="connsiteY6" fmla="*/ 4188823 h 4188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0937" h="4188823">
                  <a:moveTo>
                    <a:pt x="5320937" y="1837508"/>
                  </a:moveTo>
                  <a:lnTo>
                    <a:pt x="5320937" y="0"/>
                  </a:lnTo>
                  <a:lnTo>
                    <a:pt x="0" y="0"/>
                  </a:lnTo>
                  <a:lnTo>
                    <a:pt x="0" y="3405051"/>
                  </a:lnTo>
                  <a:lnTo>
                    <a:pt x="2717075" y="3405051"/>
                  </a:lnTo>
                  <a:lnTo>
                    <a:pt x="3500847" y="4188823"/>
                  </a:lnTo>
                  <a:lnTo>
                    <a:pt x="3518263" y="4188823"/>
                  </a:lnTo>
                </a:path>
              </a:pathLst>
            </a:custGeom>
            <a:noFill/>
            <a:ln w="76200" cap="flat" cmpd="sng" algn="ctr">
              <a:solidFill>
                <a:srgbClr val="D10000"/>
              </a:solidFill>
              <a:prstDash val="solid"/>
              <a:miter lim="800000"/>
            </a:ln>
            <a:effectLst/>
          </p:spPr>
          <p:txBody>
            <a:bodyPr lIns="612000" tIns="216000" rIns="324000" bIns="1584000">
              <a:noAutofit/>
            </a:bodyPr>
            <a:lstStyle/>
            <a:p>
              <a:pPr indent="457200">
                <a:lnSpc>
                  <a:spcPct val="140000"/>
                </a:lnSpc>
              </a:pPr>
              <a:r>
                <a:rPr lang="zh-CN" altLang="en-US" sz="2400" b="1" dirty="0" smtClean="0">
                  <a:latin typeface="+mn-ea"/>
                </a:rPr>
                <a:t>表</a:t>
              </a:r>
              <a:r>
                <a:rPr lang="en-US" altLang="zh-CN" sz="2400" b="1" dirty="0" smtClean="0">
                  <a:latin typeface="+mn-ea"/>
                </a:rPr>
                <a:t>10-5</a:t>
              </a:r>
              <a:r>
                <a:rPr lang="zh-CN" altLang="en-US" sz="2400" b="1" dirty="0" smtClean="0">
                  <a:latin typeface="+mn-ea"/>
                </a:rPr>
                <a:t>中各种文档的编写格式，可参考国家标准</a:t>
              </a:r>
              <a:r>
                <a:rPr lang="en-US" altLang="zh-CN" sz="2400" b="1" dirty="0" smtClean="0">
                  <a:latin typeface="+mn-ea"/>
                </a:rPr>
                <a:t>GB/T 8567—2006《</a:t>
              </a:r>
              <a:r>
                <a:rPr lang="zh-CN" altLang="en-US" sz="2400" b="1" dirty="0" smtClean="0">
                  <a:latin typeface="+mn-ea"/>
                </a:rPr>
                <a:t>计算机软件文档编制规范</a:t>
              </a:r>
              <a:r>
                <a:rPr lang="en-US" altLang="zh-CN" sz="2400" b="1" dirty="0" smtClean="0">
                  <a:latin typeface="+mn-ea"/>
                </a:rPr>
                <a:t>》</a:t>
              </a:r>
              <a:r>
                <a:rPr lang="zh-CN" altLang="en-US" sz="2400" b="1" dirty="0" smtClean="0">
                  <a:latin typeface="+mn-ea"/>
                </a:rPr>
                <a:t>。维护记录可参照本书第</a:t>
              </a:r>
              <a:r>
                <a:rPr lang="en-US" altLang="zh-CN" sz="2400" b="1" dirty="0" smtClean="0">
                  <a:latin typeface="+mn-ea"/>
                </a:rPr>
                <a:t>5</a:t>
              </a:r>
              <a:r>
                <a:rPr lang="zh-CN" altLang="en-US" sz="2400" b="1" dirty="0" smtClean="0">
                  <a:latin typeface="+mn-ea"/>
                </a:rPr>
                <a:t>章软件维护的介绍来书写。</a:t>
              </a:r>
            </a:p>
          </p:txBody>
        </p:sp>
        <p:sp>
          <p:nvSpPr>
            <p:cNvPr id="9" name="MH_Other_2"/>
            <p:cNvSpPr/>
            <p:nvPr/>
          </p:nvSpPr>
          <p:spPr bwMode="auto">
            <a:xfrm>
              <a:off x="7070094" y="3686990"/>
              <a:ext cx="2868722" cy="2342340"/>
            </a:xfrm>
            <a:custGeom>
              <a:avLst/>
              <a:gdLst>
                <a:gd name="T0" fmla="*/ 311438 w 1909763"/>
                <a:gd name="T1" fmla="*/ 1234671 h 1912938"/>
                <a:gd name="T2" fmla="*/ 423998 w 1909763"/>
                <a:gd name="T3" fmla="*/ 1256142 h 1912938"/>
                <a:gd name="T4" fmla="*/ 469528 w 1909763"/>
                <a:gd name="T5" fmla="*/ 1335710 h 1912938"/>
                <a:gd name="T6" fmla="*/ 530235 w 1909763"/>
                <a:gd name="T7" fmla="*/ 1396649 h 1912938"/>
                <a:gd name="T8" fmla="*/ 631728 w 1909763"/>
                <a:gd name="T9" fmla="*/ 1456326 h 1912938"/>
                <a:gd name="T10" fmla="*/ 647854 w 1909763"/>
                <a:gd name="T11" fmla="*/ 1533683 h 1912938"/>
                <a:gd name="T12" fmla="*/ 0 w 1909763"/>
                <a:gd name="T13" fmla="*/ 1905000 h 1912938"/>
                <a:gd name="T14" fmla="*/ 990076 w 1909763"/>
                <a:gd name="T15" fmla="*/ 547002 h 1912938"/>
                <a:gd name="T16" fmla="*/ 1084268 w 1909763"/>
                <a:gd name="T17" fmla="*/ 595709 h 1912938"/>
                <a:gd name="T18" fmla="*/ 1176565 w 1909763"/>
                <a:gd name="T19" fmla="*/ 667504 h 1912938"/>
                <a:gd name="T20" fmla="*/ 1294781 w 1909763"/>
                <a:gd name="T21" fmla="*/ 800657 h 1912938"/>
                <a:gd name="T22" fmla="*/ 1351992 w 1909763"/>
                <a:gd name="T23" fmla="*/ 906610 h 1912938"/>
                <a:gd name="T24" fmla="*/ 1367480 w 1909763"/>
                <a:gd name="T25" fmla="*/ 971447 h 1912938"/>
                <a:gd name="T26" fmla="*/ 741633 w 1909763"/>
                <a:gd name="T27" fmla="*/ 1521772 h 1912938"/>
                <a:gd name="T28" fmla="*/ 719507 w 1909763"/>
                <a:gd name="T29" fmla="*/ 1441437 h 1912938"/>
                <a:gd name="T30" fmla="*/ 689163 w 1909763"/>
                <a:gd name="T31" fmla="*/ 1362684 h 1912938"/>
                <a:gd name="T32" fmla="*/ 605717 w 1909763"/>
                <a:gd name="T33" fmla="*/ 1309233 h 1912938"/>
                <a:gd name="T34" fmla="*/ 554511 w 1909763"/>
                <a:gd name="T35" fmla="*/ 1257047 h 1912938"/>
                <a:gd name="T36" fmla="*/ 495403 w 1909763"/>
                <a:gd name="T37" fmla="*/ 1173233 h 1912938"/>
                <a:gd name="T38" fmla="*/ 414485 w 1909763"/>
                <a:gd name="T39" fmla="*/ 1167223 h 1912938"/>
                <a:gd name="T40" fmla="*/ 334200 w 1909763"/>
                <a:gd name="T41" fmla="*/ 1137810 h 1912938"/>
                <a:gd name="T42" fmla="*/ 1102115 w 1909763"/>
                <a:gd name="T43" fmla="*/ 389221 h 1912938"/>
                <a:gd name="T44" fmla="*/ 1182317 w 1909763"/>
                <a:gd name="T45" fmla="*/ 412935 h 1912938"/>
                <a:gd name="T46" fmla="*/ 1278052 w 1909763"/>
                <a:gd name="T47" fmla="*/ 467951 h 1912938"/>
                <a:gd name="T48" fmla="*/ 1390271 w 1909763"/>
                <a:gd name="T49" fmla="*/ 569762 h 1912938"/>
                <a:gd name="T50" fmla="*/ 1465401 w 1909763"/>
                <a:gd name="T51" fmla="*/ 674102 h 1912938"/>
                <a:gd name="T52" fmla="*/ 1496150 w 1909763"/>
                <a:gd name="T53" fmla="*/ 753148 h 1912938"/>
                <a:gd name="T54" fmla="*/ 1438773 w 1909763"/>
                <a:gd name="T55" fmla="*/ 874245 h 1912938"/>
                <a:gd name="T56" fmla="*/ 1394075 w 1909763"/>
                <a:gd name="T57" fmla="*/ 754728 h 1912938"/>
                <a:gd name="T58" fmla="*/ 1286611 w 1909763"/>
                <a:gd name="T59" fmla="*/ 617822 h 1912938"/>
                <a:gd name="T60" fmla="*/ 1182317 w 1909763"/>
                <a:gd name="T61" fmla="*/ 530239 h 1912938"/>
                <a:gd name="T62" fmla="*/ 1095458 w 1909763"/>
                <a:gd name="T63" fmla="*/ 479966 h 1912938"/>
                <a:gd name="T64" fmla="*/ 1079925 w 1909763"/>
                <a:gd name="T65" fmla="*/ 387324 h 1912938"/>
                <a:gd name="T66" fmla="*/ 1274840 w 1909763"/>
                <a:gd name="T67" fmla="*/ 248813 h 1912938"/>
                <a:gd name="T68" fmla="*/ 1361157 w 1909763"/>
                <a:gd name="T69" fmla="*/ 287000 h 1912938"/>
                <a:gd name="T70" fmla="*/ 1471820 w 1909763"/>
                <a:gd name="T71" fmla="*/ 367792 h 1912938"/>
                <a:gd name="T72" fmla="*/ 1577108 w 1909763"/>
                <a:gd name="T73" fmla="*/ 484246 h 1912938"/>
                <a:gd name="T74" fmla="*/ 1629910 w 1909763"/>
                <a:gd name="T75" fmla="*/ 580818 h 1912938"/>
                <a:gd name="T76" fmla="*/ 1646668 w 1909763"/>
                <a:gd name="T77" fmla="*/ 647723 h 1912938"/>
                <a:gd name="T78" fmla="*/ 1571733 w 1909763"/>
                <a:gd name="T79" fmla="*/ 701374 h 1912938"/>
                <a:gd name="T80" fmla="*/ 1500908 w 1909763"/>
                <a:gd name="T81" fmla="*/ 566932 h 1912938"/>
                <a:gd name="T82" fmla="*/ 1381077 w 1909763"/>
                <a:gd name="T83" fmla="*/ 437539 h 1912938"/>
                <a:gd name="T84" fmla="*/ 1277685 w 1909763"/>
                <a:gd name="T85" fmla="*/ 362111 h 1912938"/>
                <a:gd name="T86" fmla="*/ 1174610 w 1909763"/>
                <a:gd name="T87" fmla="*/ 313195 h 1912938"/>
                <a:gd name="T88" fmla="*/ 1571880 w 1909763"/>
                <a:gd name="T89" fmla="*/ 0 h 1912938"/>
                <a:gd name="T90" fmla="*/ 1674374 w 1909763"/>
                <a:gd name="T91" fmla="*/ 27868 h 1912938"/>
                <a:gd name="T92" fmla="*/ 1797116 w 1909763"/>
                <a:gd name="T93" fmla="*/ 110838 h 1912938"/>
                <a:gd name="T94" fmla="*/ 1880946 w 1909763"/>
                <a:gd name="T95" fmla="*/ 216927 h 1912938"/>
                <a:gd name="T96" fmla="*/ 1901825 w 1909763"/>
                <a:gd name="T97" fmla="*/ 315415 h 1912938"/>
                <a:gd name="T98" fmla="*/ 1879681 w 1909763"/>
                <a:gd name="T99" fmla="*/ 399018 h 1912938"/>
                <a:gd name="T100" fmla="*/ 1834128 w 1909763"/>
                <a:gd name="T101" fmla="*/ 461405 h 1912938"/>
                <a:gd name="T102" fmla="*/ 1716764 w 1909763"/>
                <a:gd name="T103" fmla="*/ 551026 h 1912938"/>
                <a:gd name="T104" fmla="*/ 1686079 w 1909763"/>
                <a:gd name="T105" fmla="*/ 466156 h 1912938"/>
                <a:gd name="T106" fmla="*/ 1635148 w 1909763"/>
                <a:gd name="T107" fmla="*/ 386034 h 1912938"/>
                <a:gd name="T108" fmla="*/ 1552899 w 1909763"/>
                <a:gd name="T109" fmla="*/ 297997 h 1912938"/>
                <a:gd name="T110" fmla="*/ 1465272 w 1909763"/>
                <a:gd name="T111" fmla="*/ 231811 h 1912938"/>
                <a:gd name="T112" fmla="*/ 1387135 w 1909763"/>
                <a:gd name="T113" fmla="*/ 193176 h 1912938"/>
                <a:gd name="T114" fmla="*/ 1324816 w 1909763"/>
                <a:gd name="T115" fmla="*/ 138389 h 1912938"/>
                <a:gd name="T116" fmla="*/ 1449455 w 1909763"/>
                <a:gd name="T117" fmla="*/ 33885 h 1912938"/>
                <a:gd name="T118" fmla="*/ 1518102 w 1909763"/>
                <a:gd name="T119" fmla="*/ 4750 h 191293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909763" h="1912938">
                  <a:moveTo>
                    <a:pt x="275590" y="1223963"/>
                  </a:moveTo>
                  <a:lnTo>
                    <a:pt x="276860" y="1225231"/>
                  </a:lnTo>
                  <a:lnTo>
                    <a:pt x="281623" y="1228085"/>
                  </a:lnTo>
                  <a:lnTo>
                    <a:pt x="285433" y="1229987"/>
                  </a:lnTo>
                  <a:lnTo>
                    <a:pt x="290513" y="1232207"/>
                  </a:lnTo>
                  <a:lnTo>
                    <a:pt x="296545" y="1235060"/>
                  </a:lnTo>
                  <a:lnTo>
                    <a:pt x="304165" y="1237280"/>
                  </a:lnTo>
                  <a:lnTo>
                    <a:pt x="312738" y="1239816"/>
                  </a:lnTo>
                  <a:lnTo>
                    <a:pt x="323215" y="1242036"/>
                  </a:lnTo>
                  <a:lnTo>
                    <a:pt x="335280" y="1244255"/>
                  </a:lnTo>
                  <a:lnTo>
                    <a:pt x="348933" y="1246157"/>
                  </a:lnTo>
                  <a:lnTo>
                    <a:pt x="364173" y="1248060"/>
                  </a:lnTo>
                  <a:lnTo>
                    <a:pt x="381318" y="1249328"/>
                  </a:lnTo>
                  <a:lnTo>
                    <a:pt x="400368" y="1249962"/>
                  </a:lnTo>
                  <a:lnTo>
                    <a:pt x="421958" y="1250279"/>
                  </a:lnTo>
                  <a:lnTo>
                    <a:pt x="425768" y="1261376"/>
                  </a:lnTo>
                  <a:lnTo>
                    <a:pt x="430213" y="1272474"/>
                  </a:lnTo>
                  <a:lnTo>
                    <a:pt x="434658" y="1282937"/>
                  </a:lnTo>
                  <a:lnTo>
                    <a:pt x="440055" y="1293083"/>
                  </a:lnTo>
                  <a:lnTo>
                    <a:pt x="445453" y="1303229"/>
                  </a:lnTo>
                  <a:lnTo>
                    <a:pt x="451485" y="1313375"/>
                  </a:lnTo>
                  <a:lnTo>
                    <a:pt x="457835" y="1322886"/>
                  </a:lnTo>
                  <a:lnTo>
                    <a:pt x="464185" y="1332081"/>
                  </a:lnTo>
                  <a:lnTo>
                    <a:pt x="471488" y="1341276"/>
                  </a:lnTo>
                  <a:lnTo>
                    <a:pt x="478473" y="1349837"/>
                  </a:lnTo>
                  <a:lnTo>
                    <a:pt x="485775" y="1358080"/>
                  </a:lnTo>
                  <a:lnTo>
                    <a:pt x="493395" y="1366324"/>
                  </a:lnTo>
                  <a:lnTo>
                    <a:pt x="500698" y="1374250"/>
                  </a:lnTo>
                  <a:lnTo>
                    <a:pt x="508635" y="1381860"/>
                  </a:lnTo>
                  <a:lnTo>
                    <a:pt x="516573" y="1388835"/>
                  </a:lnTo>
                  <a:lnTo>
                    <a:pt x="524510" y="1395493"/>
                  </a:lnTo>
                  <a:lnTo>
                    <a:pt x="532448" y="1402469"/>
                  </a:lnTo>
                  <a:lnTo>
                    <a:pt x="540385" y="1408810"/>
                  </a:lnTo>
                  <a:lnTo>
                    <a:pt x="555943" y="1420541"/>
                  </a:lnTo>
                  <a:lnTo>
                    <a:pt x="571500" y="1430687"/>
                  </a:lnTo>
                  <a:lnTo>
                    <a:pt x="586105" y="1439565"/>
                  </a:lnTo>
                  <a:lnTo>
                    <a:pt x="600075" y="1447492"/>
                  </a:lnTo>
                  <a:lnTo>
                    <a:pt x="612775" y="1453833"/>
                  </a:lnTo>
                  <a:lnTo>
                    <a:pt x="624523" y="1458589"/>
                  </a:lnTo>
                  <a:lnTo>
                    <a:pt x="634365" y="1462394"/>
                  </a:lnTo>
                  <a:lnTo>
                    <a:pt x="634365" y="1467784"/>
                  </a:lnTo>
                  <a:lnTo>
                    <a:pt x="634683" y="1473808"/>
                  </a:lnTo>
                  <a:lnTo>
                    <a:pt x="635318" y="1479832"/>
                  </a:lnTo>
                  <a:lnTo>
                    <a:pt x="636270" y="1486173"/>
                  </a:lnTo>
                  <a:lnTo>
                    <a:pt x="638810" y="1499173"/>
                  </a:lnTo>
                  <a:lnTo>
                    <a:pt x="641668" y="1512489"/>
                  </a:lnTo>
                  <a:lnTo>
                    <a:pt x="645795" y="1526440"/>
                  </a:lnTo>
                  <a:lnTo>
                    <a:pt x="650558" y="1540074"/>
                  </a:lnTo>
                  <a:lnTo>
                    <a:pt x="655321" y="1553707"/>
                  </a:lnTo>
                  <a:lnTo>
                    <a:pt x="660083" y="1566707"/>
                  </a:lnTo>
                  <a:lnTo>
                    <a:pt x="665481" y="1579389"/>
                  </a:lnTo>
                  <a:lnTo>
                    <a:pt x="670243" y="1590803"/>
                  </a:lnTo>
                  <a:lnTo>
                    <a:pt x="679133" y="1610144"/>
                  </a:lnTo>
                  <a:lnTo>
                    <a:pt x="685165" y="1623144"/>
                  </a:lnTo>
                  <a:lnTo>
                    <a:pt x="687388" y="1627900"/>
                  </a:lnTo>
                  <a:lnTo>
                    <a:pt x="0" y="1912938"/>
                  </a:lnTo>
                  <a:lnTo>
                    <a:pt x="275590" y="1223963"/>
                  </a:lnTo>
                  <a:close/>
                  <a:moveTo>
                    <a:pt x="923427" y="530225"/>
                  </a:moveTo>
                  <a:lnTo>
                    <a:pt x="931362" y="531813"/>
                  </a:lnTo>
                  <a:lnTo>
                    <a:pt x="941201" y="533401"/>
                  </a:lnTo>
                  <a:lnTo>
                    <a:pt x="951993" y="536259"/>
                  </a:lnTo>
                  <a:lnTo>
                    <a:pt x="965007" y="539435"/>
                  </a:lnTo>
                  <a:lnTo>
                    <a:pt x="978972" y="544199"/>
                  </a:lnTo>
                  <a:lnTo>
                    <a:pt x="994208" y="549281"/>
                  </a:lnTo>
                  <a:lnTo>
                    <a:pt x="1010713" y="555950"/>
                  </a:lnTo>
                  <a:lnTo>
                    <a:pt x="1028805" y="564526"/>
                  </a:lnTo>
                  <a:lnTo>
                    <a:pt x="1038327" y="568972"/>
                  </a:lnTo>
                  <a:lnTo>
                    <a:pt x="1047849" y="574053"/>
                  </a:lnTo>
                  <a:lnTo>
                    <a:pt x="1057689" y="579453"/>
                  </a:lnTo>
                  <a:lnTo>
                    <a:pt x="1067845" y="585487"/>
                  </a:lnTo>
                  <a:lnTo>
                    <a:pt x="1078320" y="591521"/>
                  </a:lnTo>
                  <a:lnTo>
                    <a:pt x="1088794" y="598191"/>
                  </a:lnTo>
                  <a:lnTo>
                    <a:pt x="1099903" y="605495"/>
                  </a:lnTo>
                  <a:lnTo>
                    <a:pt x="1111012" y="613118"/>
                  </a:lnTo>
                  <a:lnTo>
                    <a:pt x="1122439" y="621058"/>
                  </a:lnTo>
                  <a:lnTo>
                    <a:pt x="1133548" y="630268"/>
                  </a:lnTo>
                  <a:lnTo>
                    <a:pt x="1145609" y="639161"/>
                  </a:lnTo>
                  <a:lnTo>
                    <a:pt x="1157353" y="649006"/>
                  </a:lnTo>
                  <a:lnTo>
                    <a:pt x="1169415" y="659487"/>
                  </a:lnTo>
                  <a:lnTo>
                    <a:pt x="1181476" y="670285"/>
                  </a:lnTo>
                  <a:lnTo>
                    <a:pt x="1193855" y="681719"/>
                  </a:lnTo>
                  <a:lnTo>
                    <a:pt x="1206234" y="693787"/>
                  </a:lnTo>
                  <a:lnTo>
                    <a:pt x="1224326" y="712208"/>
                  </a:lnTo>
                  <a:lnTo>
                    <a:pt x="1241148" y="730311"/>
                  </a:lnTo>
                  <a:lnTo>
                    <a:pt x="1257336" y="748731"/>
                  </a:lnTo>
                  <a:lnTo>
                    <a:pt x="1272888" y="767152"/>
                  </a:lnTo>
                  <a:lnTo>
                    <a:pt x="1287172" y="785573"/>
                  </a:lnTo>
                  <a:lnTo>
                    <a:pt x="1300185" y="803993"/>
                  </a:lnTo>
                  <a:lnTo>
                    <a:pt x="1312246" y="822096"/>
                  </a:lnTo>
                  <a:lnTo>
                    <a:pt x="1323356" y="840199"/>
                  </a:lnTo>
                  <a:lnTo>
                    <a:pt x="1333513" y="857984"/>
                  </a:lnTo>
                  <a:lnTo>
                    <a:pt x="1343035" y="875770"/>
                  </a:lnTo>
                  <a:lnTo>
                    <a:pt x="1346843" y="884345"/>
                  </a:lnTo>
                  <a:lnTo>
                    <a:pt x="1350970" y="892920"/>
                  </a:lnTo>
                  <a:lnTo>
                    <a:pt x="1354461" y="901813"/>
                  </a:lnTo>
                  <a:lnTo>
                    <a:pt x="1357635" y="910388"/>
                  </a:lnTo>
                  <a:lnTo>
                    <a:pt x="1360809" y="918963"/>
                  </a:lnTo>
                  <a:lnTo>
                    <a:pt x="1363349" y="927220"/>
                  </a:lnTo>
                  <a:lnTo>
                    <a:pt x="1365570" y="935478"/>
                  </a:lnTo>
                  <a:lnTo>
                    <a:pt x="1367792" y="943735"/>
                  </a:lnTo>
                  <a:lnTo>
                    <a:pt x="1369697" y="951675"/>
                  </a:lnTo>
                  <a:lnTo>
                    <a:pt x="1370966" y="959933"/>
                  </a:lnTo>
                  <a:lnTo>
                    <a:pt x="1372236" y="967873"/>
                  </a:lnTo>
                  <a:lnTo>
                    <a:pt x="1373188" y="975495"/>
                  </a:lnTo>
                  <a:lnTo>
                    <a:pt x="774247" y="1579563"/>
                  </a:lnTo>
                  <a:lnTo>
                    <a:pt x="771708" y="1576387"/>
                  </a:lnTo>
                  <a:lnTo>
                    <a:pt x="768851" y="1572258"/>
                  </a:lnTo>
                  <a:lnTo>
                    <a:pt x="765042" y="1566542"/>
                  </a:lnTo>
                  <a:lnTo>
                    <a:pt x="760281" y="1559237"/>
                  </a:lnTo>
                  <a:lnTo>
                    <a:pt x="755520" y="1550344"/>
                  </a:lnTo>
                  <a:lnTo>
                    <a:pt x="749807" y="1540181"/>
                  </a:lnTo>
                  <a:lnTo>
                    <a:pt x="744728" y="1528113"/>
                  </a:lnTo>
                  <a:lnTo>
                    <a:pt x="739333" y="1515091"/>
                  </a:lnTo>
                  <a:lnTo>
                    <a:pt x="734254" y="1500164"/>
                  </a:lnTo>
                  <a:lnTo>
                    <a:pt x="731715" y="1492224"/>
                  </a:lnTo>
                  <a:lnTo>
                    <a:pt x="729493" y="1483967"/>
                  </a:lnTo>
                  <a:lnTo>
                    <a:pt x="727271" y="1475392"/>
                  </a:lnTo>
                  <a:lnTo>
                    <a:pt x="725367" y="1466181"/>
                  </a:lnTo>
                  <a:lnTo>
                    <a:pt x="724097" y="1457289"/>
                  </a:lnTo>
                  <a:lnTo>
                    <a:pt x="722510" y="1447443"/>
                  </a:lnTo>
                  <a:lnTo>
                    <a:pt x="721241" y="1437280"/>
                  </a:lnTo>
                  <a:lnTo>
                    <a:pt x="720288" y="1427117"/>
                  </a:lnTo>
                  <a:lnTo>
                    <a:pt x="719336" y="1416319"/>
                  </a:lnTo>
                  <a:lnTo>
                    <a:pt x="719336" y="1405203"/>
                  </a:lnTo>
                  <a:lnTo>
                    <a:pt x="719336" y="1394087"/>
                  </a:lnTo>
                  <a:lnTo>
                    <a:pt x="719971" y="1382018"/>
                  </a:lnTo>
                  <a:lnTo>
                    <a:pt x="705688" y="1375349"/>
                  </a:lnTo>
                  <a:lnTo>
                    <a:pt x="692039" y="1368362"/>
                  </a:lnTo>
                  <a:lnTo>
                    <a:pt x="679343" y="1361692"/>
                  </a:lnTo>
                  <a:lnTo>
                    <a:pt x="667282" y="1355023"/>
                  </a:lnTo>
                  <a:lnTo>
                    <a:pt x="655855" y="1348035"/>
                  </a:lnTo>
                  <a:lnTo>
                    <a:pt x="645381" y="1341366"/>
                  </a:lnTo>
                  <a:lnTo>
                    <a:pt x="635224" y="1334696"/>
                  </a:lnTo>
                  <a:lnTo>
                    <a:pt x="625385" y="1327709"/>
                  </a:lnTo>
                  <a:lnTo>
                    <a:pt x="616497" y="1321357"/>
                  </a:lnTo>
                  <a:lnTo>
                    <a:pt x="608245" y="1314688"/>
                  </a:lnTo>
                  <a:lnTo>
                    <a:pt x="599992" y="1308018"/>
                  </a:lnTo>
                  <a:lnTo>
                    <a:pt x="592692" y="1301349"/>
                  </a:lnTo>
                  <a:lnTo>
                    <a:pt x="585709" y="1294679"/>
                  </a:lnTo>
                  <a:lnTo>
                    <a:pt x="579361" y="1288327"/>
                  </a:lnTo>
                  <a:lnTo>
                    <a:pt x="573013" y="1281975"/>
                  </a:lnTo>
                  <a:lnTo>
                    <a:pt x="567300" y="1275306"/>
                  </a:lnTo>
                  <a:lnTo>
                    <a:pt x="561904" y="1268636"/>
                  </a:lnTo>
                  <a:lnTo>
                    <a:pt x="556825" y="1262285"/>
                  </a:lnTo>
                  <a:lnTo>
                    <a:pt x="552064" y="1255933"/>
                  </a:lnTo>
                  <a:lnTo>
                    <a:pt x="547621" y="1249898"/>
                  </a:lnTo>
                  <a:lnTo>
                    <a:pt x="539686" y="1237194"/>
                  </a:lnTo>
                  <a:lnTo>
                    <a:pt x="532703" y="1224808"/>
                  </a:lnTo>
                  <a:lnTo>
                    <a:pt x="526355" y="1212739"/>
                  </a:lnTo>
                  <a:lnTo>
                    <a:pt x="520641" y="1200988"/>
                  </a:lnTo>
                  <a:lnTo>
                    <a:pt x="509850" y="1177804"/>
                  </a:lnTo>
                  <a:lnTo>
                    <a:pt x="497471" y="1178122"/>
                  </a:lnTo>
                  <a:lnTo>
                    <a:pt x="485727" y="1178122"/>
                  </a:lnTo>
                  <a:lnTo>
                    <a:pt x="474300" y="1178122"/>
                  </a:lnTo>
                  <a:lnTo>
                    <a:pt x="463509" y="1177804"/>
                  </a:lnTo>
                  <a:lnTo>
                    <a:pt x="453352" y="1177169"/>
                  </a:lnTo>
                  <a:lnTo>
                    <a:pt x="443512" y="1175898"/>
                  </a:lnTo>
                  <a:lnTo>
                    <a:pt x="433673" y="1174628"/>
                  </a:lnTo>
                  <a:lnTo>
                    <a:pt x="424785" y="1173675"/>
                  </a:lnTo>
                  <a:lnTo>
                    <a:pt x="416215" y="1172087"/>
                  </a:lnTo>
                  <a:lnTo>
                    <a:pt x="408280" y="1170182"/>
                  </a:lnTo>
                  <a:lnTo>
                    <a:pt x="393045" y="1167006"/>
                  </a:lnTo>
                  <a:lnTo>
                    <a:pt x="379714" y="1162877"/>
                  </a:lnTo>
                  <a:lnTo>
                    <a:pt x="367653" y="1158431"/>
                  </a:lnTo>
                  <a:lnTo>
                    <a:pt x="357496" y="1153984"/>
                  </a:lnTo>
                  <a:lnTo>
                    <a:pt x="348926" y="1149855"/>
                  </a:lnTo>
                  <a:lnTo>
                    <a:pt x="341308" y="1146044"/>
                  </a:lnTo>
                  <a:lnTo>
                    <a:pt x="335595" y="1142551"/>
                  </a:lnTo>
                  <a:lnTo>
                    <a:pt x="331151" y="1139375"/>
                  </a:lnTo>
                  <a:lnTo>
                    <a:pt x="327660" y="1137152"/>
                  </a:lnTo>
                  <a:lnTo>
                    <a:pt x="325438" y="1134928"/>
                  </a:lnTo>
                  <a:lnTo>
                    <a:pt x="923427" y="530225"/>
                  </a:lnTo>
                  <a:close/>
                  <a:moveTo>
                    <a:pt x="1084432" y="388938"/>
                  </a:moveTo>
                  <a:lnTo>
                    <a:pt x="1089844" y="389573"/>
                  </a:lnTo>
                  <a:lnTo>
                    <a:pt x="1097165" y="389891"/>
                  </a:lnTo>
                  <a:lnTo>
                    <a:pt x="1106715" y="390843"/>
                  </a:lnTo>
                  <a:lnTo>
                    <a:pt x="1118175" y="392748"/>
                  </a:lnTo>
                  <a:lnTo>
                    <a:pt x="1132499" y="396241"/>
                  </a:lnTo>
                  <a:lnTo>
                    <a:pt x="1140458" y="398146"/>
                  </a:lnTo>
                  <a:lnTo>
                    <a:pt x="1148734" y="400686"/>
                  </a:lnTo>
                  <a:lnTo>
                    <a:pt x="1157329" y="403226"/>
                  </a:lnTo>
                  <a:lnTo>
                    <a:pt x="1166879" y="406718"/>
                  </a:lnTo>
                  <a:lnTo>
                    <a:pt x="1176747" y="410528"/>
                  </a:lnTo>
                  <a:lnTo>
                    <a:pt x="1187252" y="414656"/>
                  </a:lnTo>
                  <a:lnTo>
                    <a:pt x="1197756" y="419418"/>
                  </a:lnTo>
                  <a:lnTo>
                    <a:pt x="1208579" y="424816"/>
                  </a:lnTo>
                  <a:lnTo>
                    <a:pt x="1220358" y="430848"/>
                  </a:lnTo>
                  <a:lnTo>
                    <a:pt x="1232136" y="437198"/>
                  </a:lnTo>
                  <a:lnTo>
                    <a:pt x="1244550" y="444183"/>
                  </a:lnTo>
                  <a:lnTo>
                    <a:pt x="1256965" y="452121"/>
                  </a:lnTo>
                  <a:lnTo>
                    <a:pt x="1270017" y="460376"/>
                  </a:lnTo>
                  <a:lnTo>
                    <a:pt x="1283386" y="469901"/>
                  </a:lnTo>
                  <a:lnTo>
                    <a:pt x="1296438" y="480061"/>
                  </a:lnTo>
                  <a:lnTo>
                    <a:pt x="1310444" y="490856"/>
                  </a:lnTo>
                  <a:lnTo>
                    <a:pt x="1324450" y="502286"/>
                  </a:lnTo>
                  <a:lnTo>
                    <a:pt x="1338775" y="514986"/>
                  </a:lnTo>
                  <a:lnTo>
                    <a:pt x="1353100" y="528003"/>
                  </a:lnTo>
                  <a:lnTo>
                    <a:pt x="1367743" y="542291"/>
                  </a:lnTo>
                  <a:lnTo>
                    <a:pt x="1382386" y="557531"/>
                  </a:lnTo>
                  <a:lnTo>
                    <a:pt x="1396074" y="572136"/>
                  </a:lnTo>
                  <a:lnTo>
                    <a:pt x="1408489" y="586423"/>
                  </a:lnTo>
                  <a:lnTo>
                    <a:pt x="1420267" y="600393"/>
                  </a:lnTo>
                  <a:lnTo>
                    <a:pt x="1430772" y="613728"/>
                  </a:lnTo>
                  <a:lnTo>
                    <a:pt x="1440640" y="627381"/>
                  </a:lnTo>
                  <a:lnTo>
                    <a:pt x="1449235" y="640081"/>
                  </a:lnTo>
                  <a:lnTo>
                    <a:pt x="1457511" y="653098"/>
                  </a:lnTo>
                  <a:lnTo>
                    <a:pt x="1464833" y="665163"/>
                  </a:lnTo>
                  <a:lnTo>
                    <a:pt x="1471517" y="676911"/>
                  </a:lnTo>
                  <a:lnTo>
                    <a:pt x="1477566" y="688341"/>
                  </a:lnTo>
                  <a:lnTo>
                    <a:pt x="1482341" y="699136"/>
                  </a:lnTo>
                  <a:lnTo>
                    <a:pt x="1487434" y="709613"/>
                  </a:lnTo>
                  <a:lnTo>
                    <a:pt x="1490935" y="720408"/>
                  </a:lnTo>
                  <a:lnTo>
                    <a:pt x="1494755" y="729616"/>
                  </a:lnTo>
                  <a:lnTo>
                    <a:pt x="1497939" y="739141"/>
                  </a:lnTo>
                  <a:lnTo>
                    <a:pt x="1500167" y="747713"/>
                  </a:lnTo>
                  <a:lnTo>
                    <a:pt x="1502395" y="756286"/>
                  </a:lnTo>
                  <a:lnTo>
                    <a:pt x="1503987" y="763906"/>
                  </a:lnTo>
                  <a:lnTo>
                    <a:pt x="1505260" y="771526"/>
                  </a:lnTo>
                  <a:lnTo>
                    <a:pt x="1507170" y="784543"/>
                  </a:lnTo>
                  <a:lnTo>
                    <a:pt x="1508125" y="795338"/>
                  </a:lnTo>
                  <a:lnTo>
                    <a:pt x="1508125" y="804228"/>
                  </a:lnTo>
                  <a:lnTo>
                    <a:pt x="1507807" y="810261"/>
                  </a:lnTo>
                  <a:lnTo>
                    <a:pt x="1506852" y="815341"/>
                  </a:lnTo>
                  <a:lnTo>
                    <a:pt x="1444778" y="877888"/>
                  </a:lnTo>
                  <a:lnTo>
                    <a:pt x="1442550" y="864553"/>
                  </a:lnTo>
                  <a:lnTo>
                    <a:pt x="1439048" y="851218"/>
                  </a:lnTo>
                  <a:lnTo>
                    <a:pt x="1435228" y="836296"/>
                  </a:lnTo>
                  <a:lnTo>
                    <a:pt x="1430135" y="821691"/>
                  </a:lnTo>
                  <a:lnTo>
                    <a:pt x="1424087" y="806451"/>
                  </a:lnTo>
                  <a:lnTo>
                    <a:pt x="1416765" y="790576"/>
                  </a:lnTo>
                  <a:lnTo>
                    <a:pt x="1408807" y="774383"/>
                  </a:lnTo>
                  <a:lnTo>
                    <a:pt x="1399894" y="757873"/>
                  </a:lnTo>
                  <a:lnTo>
                    <a:pt x="1390026" y="741363"/>
                  </a:lnTo>
                  <a:lnTo>
                    <a:pt x="1378884" y="724536"/>
                  </a:lnTo>
                  <a:lnTo>
                    <a:pt x="1367106" y="707073"/>
                  </a:lnTo>
                  <a:lnTo>
                    <a:pt x="1353737" y="689928"/>
                  </a:lnTo>
                  <a:lnTo>
                    <a:pt x="1340048" y="672466"/>
                  </a:lnTo>
                  <a:lnTo>
                    <a:pt x="1325087" y="655003"/>
                  </a:lnTo>
                  <a:lnTo>
                    <a:pt x="1308852" y="637541"/>
                  </a:lnTo>
                  <a:lnTo>
                    <a:pt x="1291981" y="620396"/>
                  </a:lnTo>
                  <a:lnTo>
                    <a:pt x="1278611" y="607061"/>
                  </a:lnTo>
                  <a:lnTo>
                    <a:pt x="1264923" y="594361"/>
                  </a:lnTo>
                  <a:lnTo>
                    <a:pt x="1251235" y="582296"/>
                  </a:lnTo>
                  <a:lnTo>
                    <a:pt x="1238184" y="570866"/>
                  </a:lnTo>
                  <a:lnTo>
                    <a:pt x="1224814" y="560388"/>
                  </a:lnTo>
                  <a:lnTo>
                    <a:pt x="1212081" y="550228"/>
                  </a:lnTo>
                  <a:lnTo>
                    <a:pt x="1199348" y="541021"/>
                  </a:lnTo>
                  <a:lnTo>
                    <a:pt x="1187252" y="532448"/>
                  </a:lnTo>
                  <a:lnTo>
                    <a:pt x="1175155" y="524511"/>
                  </a:lnTo>
                  <a:lnTo>
                    <a:pt x="1163059" y="516573"/>
                  </a:lnTo>
                  <a:lnTo>
                    <a:pt x="1151917" y="509588"/>
                  </a:lnTo>
                  <a:lnTo>
                    <a:pt x="1140776" y="502921"/>
                  </a:lnTo>
                  <a:lnTo>
                    <a:pt x="1129953" y="496888"/>
                  </a:lnTo>
                  <a:lnTo>
                    <a:pt x="1119766" y="491808"/>
                  </a:lnTo>
                  <a:lnTo>
                    <a:pt x="1109580" y="486411"/>
                  </a:lnTo>
                  <a:lnTo>
                    <a:pt x="1100030" y="481966"/>
                  </a:lnTo>
                  <a:lnTo>
                    <a:pt x="1082522" y="474028"/>
                  </a:lnTo>
                  <a:lnTo>
                    <a:pt x="1066287" y="467678"/>
                  </a:lnTo>
                  <a:lnTo>
                    <a:pt x="1052599" y="462598"/>
                  </a:lnTo>
                  <a:lnTo>
                    <a:pt x="1040821" y="459106"/>
                  </a:lnTo>
                  <a:lnTo>
                    <a:pt x="1031590" y="456248"/>
                  </a:lnTo>
                  <a:lnTo>
                    <a:pt x="1024905" y="454343"/>
                  </a:lnTo>
                  <a:lnTo>
                    <a:pt x="1019175" y="453391"/>
                  </a:lnTo>
                  <a:lnTo>
                    <a:pt x="1084432" y="388938"/>
                  </a:lnTo>
                  <a:close/>
                  <a:moveTo>
                    <a:pt x="1213168" y="238125"/>
                  </a:moveTo>
                  <a:lnTo>
                    <a:pt x="1218883" y="238125"/>
                  </a:lnTo>
                  <a:lnTo>
                    <a:pt x="1226186" y="238759"/>
                  </a:lnTo>
                  <a:lnTo>
                    <a:pt x="1236028" y="239709"/>
                  </a:lnTo>
                  <a:lnTo>
                    <a:pt x="1248411" y="242245"/>
                  </a:lnTo>
                  <a:lnTo>
                    <a:pt x="1263016" y="245414"/>
                  </a:lnTo>
                  <a:lnTo>
                    <a:pt x="1270953" y="247315"/>
                  </a:lnTo>
                  <a:lnTo>
                    <a:pt x="1280161" y="249850"/>
                  </a:lnTo>
                  <a:lnTo>
                    <a:pt x="1289051" y="253020"/>
                  </a:lnTo>
                  <a:lnTo>
                    <a:pt x="1298893" y="256506"/>
                  </a:lnTo>
                  <a:lnTo>
                    <a:pt x="1309053" y="260625"/>
                  </a:lnTo>
                  <a:lnTo>
                    <a:pt x="1319848" y="264745"/>
                  </a:lnTo>
                  <a:lnTo>
                    <a:pt x="1330961" y="269816"/>
                  </a:lnTo>
                  <a:lnTo>
                    <a:pt x="1342391" y="275203"/>
                  </a:lnTo>
                  <a:lnTo>
                    <a:pt x="1354456" y="281541"/>
                  </a:lnTo>
                  <a:lnTo>
                    <a:pt x="1366838" y="288196"/>
                  </a:lnTo>
                  <a:lnTo>
                    <a:pt x="1379538" y="295802"/>
                  </a:lnTo>
                  <a:lnTo>
                    <a:pt x="1392873" y="303725"/>
                  </a:lnTo>
                  <a:lnTo>
                    <a:pt x="1405891" y="312598"/>
                  </a:lnTo>
                  <a:lnTo>
                    <a:pt x="1419861" y="322422"/>
                  </a:lnTo>
                  <a:lnTo>
                    <a:pt x="1433831" y="332880"/>
                  </a:lnTo>
                  <a:lnTo>
                    <a:pt x="1448436" y="344289"/>
                  </a:lnTo>
                  <a:lnTo>
                    <a:pt x="1463041" y="356332"/>
                  </a:lnTo>
                  <a:lnTo>
                    <a:pt x="1477963" y="369325"/>
                  </a:lnTo>
                  <a:lnTo>
                    <a:pt x="1492886" y="383269"/>
                  </a:lnTo>
                  <a:lnTo>
                    <a:pt x="1508126" y="398164"/>
                  </a:lnTo>
                  <a:lnTo>
                    <a:pt x="1523366" y="413692"/>
                  </a:lnTo>
                  <a:lnTo>
                    <a:pt x="1537653" y="428587"/>
                  </a:lnTo>
                  <a:lnTo>
                    <a:pt x="1550353" y="443481"/>
                  </a:lnTo>
                  <a:lnTo>
                    <a:pt x="1562418" y="458376"/>
                  </a:lnTo>
                  <a:lnTo>
                    <a:pt x="1573848" y="472637"/>
                  </a:lnTo>
                  <a:lnTo>
                    <a:pt x="1583691" y="486264"/>
                  </a:lnTo>
                  <a:lnTo>
                    <a:pt x="1593216" y="499891"/>
                  </a:lnTo>
                  <a:lnTo>
                    <a:pt x="1601471" y="512884"/>
                  </a:lnTo>
                  <a:lnTo>
                    <a:pt x="1609091" y="525878"/>
                  </a:lnTo>
                  <a:lnTo>
                    <a:pt x="1616076" y="538237"/>
                  </a:lnTo>
                  <a:lnTo>
                    <a:pt x="1622108" y="549963"/>
                  </a:lnTo>
                  <a:lnTo>
                    <a:pt x="1627823" y="561371"/>
                  </a:lnTo>
                  <a:lnTo>
                    <a:pt x="1632268" y="572780"/>
                  </a:lnTo>
                  <a:lnTo>
                    <a:pt x="1636713" y="583238"/>
                  </a:lnTo>
                  <a:lnTo>
                    <a:pt x="1640206" y="593379"/>
                  </a:lnTo>
                  <a:lnTo>
                    <a:pt x="1643699" y="603203"/>
                  </a:lnTo>
                  <a:lnTo>
                    <a:pt x="1646239" y="612077"/>
                  </a:lnTo>
                  <a:lnTo>
                    <a:pt x="1648143" y="620633"/>
                  </a:lnTo>
                  <a:lnTo>
                    <a:pt x="1650049" y="628873"/>
                  </a:lnTo>
                  <a:lnTo>
                    <a:pt x="1651636" y="636478"/>
                  </a:lnTo>
                  <a:lnTo>
                    <a:pt x="1652589" y="643767"/>
                  </a:lnTo>
                  <a:lnTo>
                    <a:pt x="1653541" y="650422"/>
                  </a:lnTo>
                  <a:lnTo>
                    <a:pt x="1654176" y="661514"/>
                  </a:lnTo>
                  <a:lnTo>
                    <a:pt x="1654176" y="670705"/>
                  </a:lnTo>
                  <a:lnTo>
                    <a:pt x="1653859" y="677043"/>
                  </a:lnTo>
                  <a:lnTo>
                    <a:pt x="1652906" y="682747"/>
                  </a:lnTo>
                  <a:lnTo>
                    <a:pt x="1588136" y="747713"/>
                  </a:lnTo>
                  <a:lnTo>
                    <a:pt x="1585596" y="733769"/>
                  </a:lnTo>
                  <a:lnTo>
                    <a:pt x="1582421" y="719508"/>
                  </a:lnTo>
                  <a:lnTo>
                    <a:pt x="1578293" y="704297"/>
                  </a:lnTo>
                  <a:lnTo>
                    <a:pt x="1572896" y="689085"/>
                  </a:lnTo>
                  <a:lnTo>
                    <a:pt x="1566546" y="672923"/>
                  </a:lnTo>
                  <a:lnTo>
                    <a:pt x="1559561" y="656761"/>
                  </a:lnTo>
                  <a:lnTo>
                    <a:pt x="1550671" y="639964"/>
                  </a:lnTo>
                  <a:lnTo>
                    <a:pt x="1541463" y="622534"/>
                  </a:lnTo>
                  <a:lnTo>
                    <a:pt x="1531303" y="605105"/>
                  </a:lnTo>
                  <a:lnTo>
                    <a:pt x="1519556" y="587358"/>
                  </a:lnTo>
                  <a:lnTo>
                    <a:pt x="1507173" y="569294"/>
                  </a:lnTo>
                  <a:lnTo>
                    <a:pt x="1493521" y="551230"/>
                  </a:lnTo>
                  <a:lnTo>
                    <a:pt x="1479233" y="533166"/>
                  </a:lnTo>
                  <a:lnTo>
                    <a:pt x="1463676" y="514786"/>
                  </a:lnTo>
                  <a:lnTo>
                    <a:pt x="1446848" y="497039"/>
                  </a:lnTo>
                  <a:lnTo>
                    <a:pt x="1429386" y="478975"/>
                  </a:lnTo>
                  <a:lnTo>
                    <a:pt x="1415098" y="465031"/>
                  </a:lnTo>
                  <a:lnTo>
                    <a:pt x="1400811" y="451721"/>
                  </a:lnTo>
                  <a:lnTo>
                    <a:pt x="1386841" y="439362"/>
                  </a:lnTo>
                  <a:lnTo>
                    <a:pt x="1372871" y="427636"/>
                  </a:lnTo>
                  <a:lnTo>
                    <a:pt x="1359536" y="416544"/>
                  </a:lnTo>
                  <a:lnTo>
                    <a:pt x="1345883" y="406086"/>
                  </a:lnTo>
                  <a:lnTo>
                    <a:pt x="1332548" y="396262"/>
                  </a:lnTo>
                  <a:lnTo>
                    <a:pt x="1319848" y="387389"/>
                  </a:lnTo>
                  <a:lnTo>
                    <a:pt x="1307148" y="378832"/>
                  </a:lnTo>
                  <a:lnTo>
                    <a:pt x="1295083" y="370909"/>
                  </a:lnTo>
                  <a:lnTo>
                    <a:pt x="1283018" y="363620"/>
                  </a:lnTo>
                  <a:lnTo>
                    <a:pt x="1271271" y="356648"/>
                  </a:lnTo>
                  <a:lnTo>
                    <a:pt x="1260158" y="350627"/>
                  </a:lnTo>
                  <a:lnTo>
                    <a:pt x="1249681" y="344606"/>
                  </a:lnTo>
                  <a:lnTo>
                    <a:pt x="1239203" y="339219"/>
                  </a:lnTo>
                  <a:lnTo>
                    <a:pt x="1229361" y="334782"/>
                  </a:lnTo>
                  <a:lnTo>
                    <a:pt x="1210628" y="326542"/>
                  </a:lnTo>
                  <a:lnTo>
                    <a:pt x="1193801" y="319887"/>
                  </a:lnTo>
                  <a:lnTo>
                    <a:pt x="1179513" y="314500"/>
                  </a:lnTo>
                  <a:lnTo>
                    <a:pt x="1167766" y="310697"/>
                  </a:lnTo>
                  <a:lnTo>
                    <a:pt x="1157923" y="307845"/>
                  </a:lnTo>
                  <a:lnTo>
                    <a:pt x="1150621" y="306260"/>
                  </a:lnTo>
                  <a:lnTo>
                    <a:pt x="1144588" y="304992"/>
                  </a:lnTo>
                  <a:lnTo>
                    <a:pt x="1213168" y="238125"/>
                  </a:lnTo>
                  <a:close/>
                  <a:moveTo>
                    <a:pt x="1555569" y="0"/>
                  </a:moveTo>
                  <a:lnTo>
                    <a:pt x="1566687" y="0"/>
                  </a:lnTo>
                  <a:lnTo>
                    <a:pt x="1578441" y="0"/>
                  </a:lnTo>
                  <a:lnTo>
                    <a:pt x="1589876" y="1272"/>
                  </a:lnTo>
                  <a:lnTo>
                    <a:pt x="1601948" y="2862"/>
                  </a:lnTo>
                  <a:lnTo>
                    <a:pt x="1614337" y="5088"/>
                  </a:lnTo>
                  <a:lnTo>
                    <a:pt x="1627043" y="7950"/>
                  </a:lnTo>
                  <a:lnTo>
                    <a:pt x="1640385" y="11766"/>
                  </a:lnTo>
                  <a:lnTo>
                    <a:pt x="1653409" y="16218"/>
                  </a:lnTo>
                  <a:lnTo>
                    <a:pt x="1667386" y="21624"/>
                  </a:lnTo>
                  <a:lnTo>
                    <a:pt x="1681363" y="27984"/>
                  </a:lnTo>
                  <a:lnTo>
                    <a:pt x="1695976" y="35298"/>
                  </a:lnTo>
                  <a:lnTo>
                    <a:pt x="1710588" y="42930"/>
                  </a:lnTo>
                  <a:lnTo>
                    <a:pt x="1725836" y="52152"/>
                  </a:lnTo>
                  <a:lnTo>
                    <a:pt x="1741084" y="62010"/>
                  </a:lnTo>
                  <a:lnTo>
                    <a:pt x="1756649" y="72822"/>
                  </a:lnTo>
                  <a:lnTo>
                    <a:pt x="1772850" y="84588"/>
                  </a:lnTo>
                  <a:lnTo>
                    <a:pt x="1789051" y="97626"/>
                  </a:lnTo>
                  <a:lnTo>
                    <a:pt x="1804617" y="111300"/>
                  </a:lnTo>
                  <a:lnTo>
                    <a:pt x="1819547" y="124656"/>
                  </a:lnTo>
                  <a:lnTo>
                    <a:pt x="1832571" y="138330"/>
                  </a:lnTo>
                  <a:lnTo>
                    <a:pt x="1844642" y="151686"/>
                  </a:lnTo>
                  <a:lnTo>
                    <a:pt x="1856078" y="165042"/>
                  </a:lnTo>
                  <a:lnTo>
                    <a:pt x="1865608" y="178398"/>
                  </a:lnTo>
                  <a:lnTo>
                    <a:pt x="1874502" y="191755"/>
                  </a:lnTo>
                  <a:lnTo>
                    <a:pt x="1881809" y="204475"/>
                  </a:lnTo>
                  <a:lnTo>
                    <a:pt x="1888797" y="217831"/>
                  </a:lnTo>
                  <a:lnTo>
                    <a:pt x="1894197" y="230869"/>
                  </a:lnTo>
                  <a:lnTo>
                    <a:pt x="1898962" y="243907"/>
                  </a:lnTo>
                  <a:lnTo>
                    <a:pt x="1902457" y="256309"/>
                  </a:lnTo>
                  <a:lnTo>
                    <a:pt x="1905633" y="268711"/>
                  </a:lnTo>
                  <a:lnTo>
                    <a:pt x="1907857" y="281113"/>
                  </a:lnTo>
                  <a:lnTo>
                    <a:pt x="1908810" y="293197"/>
                  </a:lnTo>
                  <a:lnTo>
                    <a:pt x="1909763" y="305281"/>
                  </a:lnTo>
                  <a:lnTo>
                    <a:pt x="1909763" y="316729"/>
                  </a:lnTo>
                  <a:lnTo>
                    <a:pt x="1908492" y="328177"/>
                  </a:lnTo>
                  <a:lnTo>
                    <a:pt x="1907539" y="339307"/>
                  </a:lnTo>
                  <a:lnTo>
                    <a:pt x="1905316" y="350437"/>
                  </a:lnTo>
                  <a:lnTo>
                    <a:pt x="1902457" y="360931"/>
                  </a:lnTo>
                  <a:lnTo>
                    <a:pt x="1899598" y="371425"/>
                  </a:lnTo>
                  <a:lnTo>
                    <a:pt x="1895786" y="381601"/>
                  </a:lnTo>
                  <a:lnTo>
                    <a:pt x="1891656" y="391459"/>
                  </a:lnTo>
                  <a:lnTo>
                    <a:pt x="1887527" y="400681"/>
                  </a:lnTo>
                  <a:lnTo>
                    <a:pt x="1882762" y="409903"/>
                  </a:lnTo>
                  <a:lnTo>
                    <a:pt x="1877361" y="418490"/>
                  </a:lnTo>
                  <a:lnTo>
                    <a:pt x="1871643" y="426758"/>
                  </a:lnTo>
                  <a:lnTo>
                    <a:pt x="1865925" y="434708"/>
                  </a:lnTo>
                  <a:lnTo>
                    <a:pt x="1860208" y="442340"/>
                  </a:lnTo>
                  <a:lnTo>
                    <a:pt x="1854172" y="449336"/>
                  </a:lnTo>
                  <a:lnTo>
                    <a:pt x="1847501" y="456014"/>
                  </a:lnTo>
                  <a:lnTo>
                    <a:pt x="1841783" y="463328"/>
                  </a:lnTo>
                  <a:lnTo>
                    <a:pt x="1830983" y="476048"/>
                  </a:lnTo>
                  <a:lnTo>
                    <a:pt x="1801122" y="514208"/>
                  </a:lnTo>
                  <a:lnTo>
                    <a:pt x="1764909" y="560636"/>
                  </a:lnTo>
                  <a:lnTo>
                    <a:pt x="1730283" y="604838"/>
                  </a:lnTo>
                  <a:lnTo>
                    <a:pt x="1729648" y="593708"/>
                  </a:lnTo>
                  <a:lnTo>
                    <a:pt x="1728377" y="581306"/>
                  </a:lnTo>
                  <a:lnTo>
                    <a:pt x="1726471" y="567632"/>
                  </a:lnTo>
                  <a:lnTo>
                    <a:pt x="1723930" y="553322"/>
                  </a:lnTo>
                  <a:lnTo>
                    <a:pt x="1720118" y="537740"/>
                  </a:lnTo>
                  <a:lnTo>
                    <a:pt x="1715353" y="521840"/>
                  </a:lnTo>
                  <a:lnTo>
                    <a:pt x="1712494" y="513254"/>
                  </a:lnTo>
                  <a:lnTo>
                    <a:pt x="1709318" y="504668"/>
                  </a:lnTo>
                  <a:lnTo>
                    <a:pt x="1705823" y="496082"/>
                  </a:lnTo>
                  <a:lnTo>
                    <a:pt x="1702011" y="487178"/>
                  </a:lnTo>
                  <a:lnTo>
                    <a:pt x="1697882" y="477638"/>
                  </a:lnTo>
                  <a:lnTo>
                    <a:pt x="1693117" y="468098"/>
                  </a:lnTo>
                  <a:lnTo>
                    <a:pt x="1688034" y="458876"/>
                  </a:lnTo>
                  <a:lnTo>
                    <a:pt x="1682952" y="449018"/>
                  </a:lnTo>
                  <a:lnTo>
                    <a:pt x="1677234" y="439160"/>
                  </a:lnTo>
                  <a:lnTo>
                    <a:pt x="1670881" y="428984"/>
                  </a:lnTo>
                  <a:lnTo>
                    <a:pt x="1664527" y="418808"/>
                  </a:lnTo>
                  <a:lnTo>
                    <a:pt x="1657221" y="408631"/>
                  </a:lnTo>
                  <a:lnTo>
                    <a:pt x="1649915" y="398137"/>
                  </a:lnTo>
                  <a:lnTo>
                    <a:pt x="1641973" y="387643"/>
                  </a:lnTo>
                  <a:lnTo>
                    <a:pt x="1633079" y="376831"/>
                  </a:lnTo>
                  <a:lnTo>
                    <a:pt x="1624184" y="365701"/>
                  </a:lnTo>
                  <a:lnTo>
                    <a:pt x="1614337" y="354889"/>
                  </a:lnTo>
                  <a:lnTo>
                    <a:pt x="1604489" y="343441"/>
                  </a:lnTo>
                  <a:lnTo>
                    <a:pt x="1593688" y="332311"/>
                  </a:lnTo>
                  <a:lnTo>
                    <a:pt x="1582570" y="320863"/>
                  </a:lnTo>
                  <a:lnTo>
                    <a:pt x="1571134" y="310051"/>
                  </a:lnTo>
                  <a:lnTo>
                    <a:pt x="1559381" y="299239"/>
                  </a:lnTo>
                  <a:lnTo>
                    <a:pt x="1548263" y="289381"/>
                  </a:lnTo>
                  <a:lnTo>
                    <a:pt x="1536827" y="279523"/>
                  </a:lnTo>
                  <a:lnTo>
                    <a:pt x="1525709" y="270619"/>
                  </a:lnTo>
                  <a:lnTo>
                    <a:pt x="1514590" y="262351"/>
                  </a:lnTo>
                  <a:lnTo>
                    <a:pt x="1503472" y="254083"/>
                  </a:lnTo>
                  <a:lnTo>
                    <a:pt x="1492672" y="246451"/>
                  </a:lnTo>
                  <a:lnTo>
                    <a:pt x="1481871" y="239137"/>
                  </a:lnTo>
                  <a:lnTo>
                    <a:pt x="1471388" y="232777"/>
                  </a:lnTo>
                  <a:lnTo>
                    <a:pt x="1460905" y="226417"/>
                  </a:lnTo>
                  <a:lnTo>
                    <a:pt x="1450740" y="220693"/>
                  </a:lnTo>
                  <a:lnTo>
                    <a:pt x="1440575" y="215287"/>
                  </a:lnTo>
                  <a:lnTo>
                    <a:pt x="1430410" y="210199"/>
                  </a:lnTo>
                  <a:lnTo>
                    <a:pt x="1420562" y="205747"/>
                  </a:lnTo>
                  <a:lnTo>
                    <a:pt x="1411350" y="201613"/>
                  </a:lnTo>
                  <a:lnTo>
                    <a:pt x="1401820" y="197479"/>
                  </a:lnTo>
                  <a:lnTo>
                    <a:pt x="1392925" y="193981"/>
                  </a:lnTo>
                  <a:lnTo>
                    <a:pt x="1375136" y="187620"/>
                  </a:lnTo>
                  <a:lnTo>
                    <a:pt x="1358300" y="182850"/>
                  </a:lnTo>
                  <a:lnTo>
                    <a:pt x="1342417" y="178716"/>
                  </a:lnTo>
                  <a:lnTo>
                    <a:pt x="1327805" y="175536"/>
                  </a:lnTo>
                  <a:lnTo>
                    <a:pt x="1314145" y="173310"/>
                  </a:lnTo>
                  <a:lnTo>
                    <a:pt x="1301756" y="171720"/>
                  </a:lnTo>
                  <a:lnTo>
                    <a:pt x="1290638" y="171084"/>
                  </a:lnTo>
                  <a:lnTo>
                    <a:pt x="1330346" y="138966"/>
                  </a:lnTo>
                  <a:lnTo>
                    <a:pt x="1370689" y="105894"/>
                  </a:lnTo>
                  <a:lnTo>
                    <a:pt x="1405950" y="76638"/>
                  </a:lnTo>
                  <a:lnTo>
                    <a:pt x="1419609" y="64554"/>
                  </a:lnTo>
                  <a:lnTo>
                    <a:pt x="1429774" y="55650"/>
                  </a:lnTo>
                  <a:lnTo>
                    <a:pt x="1435810" y="49926"/>
                  </a:lnTo>
                  <a:lnTo>
                    <a:pt x="1442163" y="44520"/>
                  </a:lnTo>
                  <a:lnTo>
                    <a:pt x="1448834" y="39432"/>
                  </a:lnTo>
                  <a:lnTo>
                    <a:pt x="1455505" y="34026"/>
                  </a:lnTo>
                  <a:lnTo>
                    <a:pt x="1463129" y="29256"/>
                  </a:lnTo>
                  <a:lnTo>
                    <a:pt x="1470753" y="24486"/>
                  </a:lnTo>
                  <a:lnTo>
                    <a:pt x="1479012" y="20352"/>
                  </a:lnTo>
                  <a:lnTo>
                    <a:pt x="1487271" y="16218"/>
                  </a:lnTo>
                  <a:lnTo>
                    <a:pt x="1495848" y="13038"/>
                  </a:lnTo>
                  <a:lnTo>
                    <a:pt x="1505378" y="9540"/>
                  </a:lnTo>
                  <a:lnTo>
                    <a:pt x="1514590" y="6996"/>
                  </a:lnTo>
                  <a:lnTo>
                    <a:pt x="1524438" y="4770"/>
                  </a:lnTo>
                  <a:lnTo>
                    <a:pt x="1534285" y="2544"/>
                  </a:lnTo>
                  <a:lnTo>
                    <a:pt x="1544768" y="1272"/>
                  </a:lnTo>
                  <a:lnTo>
                    <a:pt x="1555569" y="0"/>
                  </a:lnTo>
                  <a:close/>
                </a:path>
              </a:pathLst>
            </a:custGeom>
            <a:solidFill>
              <a:srgbClr val="D10000"/>
            </a:solidFill>
            <a:ln>
              <a:noFill/>
            </a:ln>
            <a:extLst>
              <a:ext uri="{91240B29-F687-4F45-9708-019B960494DF}">
                <a14:hiddenLine xmlns:a14="http://schemas.microsoft.com/office/drawing/2010/main" xmlns="" w="9525">
                  <a:solidFill>
                    <a:srgbClr val="000000"/>
                  </a:solidFill>
                  <a:round/>
                </a14:hiddenLine>
              </a:ext>
            </a:extLst>
          </p:spPr>
          <p:txBody>
            <a:bodyPr anchor="ctr">
              <a:scene3d>
                <a:camera prst="orthographicFront"/>
                <a:lightRig rig="threePt" dir="t"/>
              </a:scene3d>
              <a:sp3d contourW="12700">
                <a:contourClr>
                  <a:srgbClr val="FFFFFF"/>
                </a:contourClr>
              </a:sp3d>
            </a:bodyPr>
            <a:lstStyle/>
            <a:p>
              <a:pPr algn="ctr" eaLnBrk="1" fontAlgn="auto" hangingPunct="1">
                <a:spcBef>
                  <a:spcPts val="0"/>
                </a:spcBef>
                <a:spcAft>
                  <a:spcPts val="0"/>
                </a:spcAft>
                <a:defRPr/>
              </a:pPr>
              <a:endParaRPr lang="zh-CN" altLang="en-US" kern="0">
                <a:solidFill>
                  <a:srgbClr val="FFFFFF"/>
                </a:solidFill>
                <a:latin typeface="Arial" panose="020B0604020202020204"/>
                <a:ea typeface="宋体" panose="02010600030101010101" pitchFamily="2" charset="-122"/>
              </a:endParaRPr>
            </a:p>
          </p:txBody>
        </p:sp>
      </p:grpSp>
    </p:spTree>
  </p:cSld>
  <p:clrMapOvr>
    <a:masterClrMapping/>
  </p:clrMapOvr>
  <p:transition>
    <p:randomBar dir="vert"/>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10.8  软件工程标准与软件文档</a:t>
            </a:r>
            <a:endParaRPr lang="en-US" altLang="zh-CN">
              <a:solidFill>
                <a:srgbClr val="FF0000"/>
              </a:solidFill>
            </a:endParaRPr>
          </a:p>
        </p:txBody>
      </p:sp>
      <p:sp>
        <p:nvSpPr>
          <p:cNvPr id="7" name="文本框 6"/>
          <p:cNvSpPr txBox="1"/>
          <p:nvPr/>
        </p:nvSpPr>
        <p:spPr>
          <a:xfrm>
            <a:off x="754380" y="3190240"/>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软件测试说明</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10.8.2  软件文档的编写</a:t>
            </a:r>
          </a:p>
        </p:txBody>
      </p:sp>
      <p:graphicFrame>
        <p:nvGraphicFramePr>
          <p:cNvPr id="5" name="表格 4"/>
          <p:cNvGraphicFramePr>
            <a:graphicFrameLocks noGrp="1"/>
          </p:cNvGraphicFramePr>
          <p:nvPr/>
        </p:nvGraphicFramePr>
        <p:xfrm>
          <a:off x="1101237" y="2136263"/>
          <a:ext cx="10226040" cy="4290068"/>
        </p:xfrm>
        <a:graphic>
          <a:graphicData uri="http://schemas.openxmlformats.org/drawingml/2006/table">
            <a:tbl>
              <a:tblPr/>
              <a:tblGrid>
                <a:gridCol w="954751"/>
                <a:gridCol w="2637227"/>
                <a:gridCol w="1657254"/>
                <a:gridCol w="1659777"/>
                <a:gridCol w="1657254"/>
                <a:gridCol w="1659777"/>
              </a:tblGrid>
              <a:tr h="504713">
                <a:tc>
                  <a:txBody>
                    <a:bodyPr/>
                    <a:lstStyle/>
                    <a:p>
                      <a:pPr indent="266700" algn="ctr">
                        <a:spcAft>
                          <a:spcPts val="0"/>
                        </a:spcAft>
                      </a:pPr>
                      <a:endParaRPr lang="en-US" sz="1600" kern="500" dirty="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indent="685800" algn="just">
                        <a:spcAft>
                          <a:spcPts val="0"/>
                        </a:spcAft>
                      </a:pPr>
                      <a:r>
                        <a:rPr lang="zh-CN" sz="1600" kern="500">
                          <a:latin typeface="Times New Roman"/>
                          <a:ea typeface="宋体"/>
                        </a:rPr>
                        <a:t>人员</a:t>
                      </a:r>
                    </a:p>
                    <a:p>
                      <a:pPr indent="114300" algn="just">
                        <a:spcAft>
                          <a:spcPts val="0"/>
                        </a:spcAft>
                      </a:pPr>
                      <a:r>
                        <a:rPr lang="zh-CN" sz="1600" kern="500">
                          <a:latin typeface="Times New Roman"/>
                          <a:ea typeface="宋体"/>
                        </a:rPr>
                        <a:t>文档</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solidFill>
                      <a:srgbClr val="FADCE9"/>
                    </a:solidFill>
                  </a:tcPr>
                </a:tc>
                <a:tc>
                  <a:txBody>
                    <a:bodyPr/>
                    <a:lstStyle/>
                    <a:p>
                      <a:pPr indent="266700" algn="ctr">
                        <a:spcAft>
                          <a:spcPts val="0"/>
                        </a:spcAft>
                      </a:pPr>
                      <a:r>
                        <a:rPr lang="zh-CN" sz="1600" kern="500">
                          <a:latin typeface="Times New Roman"/>
                          <a:ea typeface="宋体"/>
                        </a:rPr>
                        <a:t>管理人员</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indent="266700" algn="ctr">
                        <a:spcAft>
                          <a:spcPts val="0"/>
                        </a:spcAft>
                      </a:pPr>
                      <a:r>
                        <a:rPr lang="zh-CN" sz="1600" kern="500">
                          <a:latin typeface="Times New Roman"/>
                          <a:ea typeface="宋体"/>
                        </a:rPr>
                        <a:t>开发人员</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indent="266700" algn="ctr">
                        <a:spcAft>
                          <a:spcPts val="0"/>
                        </a:spcAft>
                      </a:pPr>
                      <a:r>
                        <a:rPr lang="zh-CN" sz="1600" kern="500">
                          <a:latin typeface="Times New Roman"/>
                          <a:ea typeface="宋体"/>
                        </a:rPr>
                        <a:t>维护人员</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indent="266700" algn="ctr">
                        <a:spcAft>
                          <a:spcPts val="0"/>
                        </a:spcAft>
                      </a:pPr>
                      <a:r>
                        <a:rPr lang="zh-CN" sz="1600" kern="500">
                          <a:latin typeface="Times New Roman"/>
                          <a:ea typeface="宋体"/>
                        </a:rPr>
                        <a:t>用户</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r>
              <a:tr h="252357">
                <a:tc>
                  <a:txBody>
                    <a:bodyPr/>
                    <a:lstStyle/>
                    <a:p>
                      <a:pPr indent="266700" algn="ctr">
                        <a:spcAft>
                          <a:spcPts val="0"/>
                        </a:spcAft>
                      </a:pPr>
                      <a:r>
                        <a:rPr lang="en-US" sz="1600" kern="500">
                          <a:latin typeface="Times New Roman"/>
                          <a:ea typeface="宋体"/>
                        </a:rPr>
                        <a:t>1</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可行性研究报告</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2357">
                <a:tc>
                  <a:txBody>
                    <a:bodyPr/>
                    <a:lstStyle/>
                    <a:p>
                      <a:pPr indent="266700" algn="ctr">
                        <a:spcAft>
                          <a:spcPts val="0"/>
                        </a:spcAft>
                      </a:pPr>
                      <a:r>
                        <a:rPr lang="en-US" sz="1600" kern="500">
                          <a:latin typeface="Times New Roman"/>
                          <a:ea typeface="宋体"/>
                        </a:rPr>
                        <a:t>2</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项目开发计划</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2357">
                <a:tc>
                  <a:txBody>
                    <a:bodyPr/>
                    <a:lstStyle/>
                    <a:p>
                      <a:pPr indent="266700" algn="ctr">
                        <a:spcAft>
                          <a:spcPts val="0"/>
                        </a:spcAft>
                      </a:pPr>
                      <a:r>
                        <a:rPr lang="en-US" sz="1600" kern="500">
                          <a:latin typeface="Times New Roman"/>
                          <a:ea typeface="宋体"/>
                        </a:rPr>
                        <a:t>3</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软件需求说明书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2357">
                <a:tc>
                  <a:txBody>
                    <a:bodyPr/>
                    <a:lstStyle/>
                    <a:p>
                      <a:pPr indent="266700" algn="ctr">
                        <a:spcAft>
                          <a:spcPts val="0"/>
                        </a:spcAft>
                      </a:pPr>
                      <a:r>
                        <a:rPr lang="en-US" sz="1600" kern="500">
                          <a:latin typeface="Times New Roman"/>
                          <a:ea typeface="宋体"/>
                        </a:rPr>
                        <a:t>4</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数据要求说明书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2357">
                <a:tc>
                  <a:txBody>
                    <a:bodyPr/>
                    <a:lstStyle/>
                    <a:p>
                      <a:pPr indent="266700" algn="ctr">
                        <a:spcAft>
                          <a:spcPts val="0"/>
                        </a:spcAft>
                      </a:pPr>
                      <a:r>
                        <a:rPr lang="en-US" sz="1600" kern="500">
                          <a:latin typeface="Times New Roman"/>
                          <a:ea typeface="宋体"/>
                        </a:rPr>
                        <a:t>5</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测试计划</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2357">
                <a:tc>
                  <a:txBody>
                    <a:bodyPr/>
                    <a:lstStyle/>
                    <a:p>
                      <a:pPr indent="266700" algn="ctr">
                        <a:spcAft>
                          <a:spcPts val="0"/>
                        </a:spcAft>
                      </a:pPr>
                      <a:r>
                        <a:rPr lang="en-US" sz="1600" kern="500">
                          <a:latin typeface="Times New Roman"/>
                          <a:ea typeface="宋体"/>
                        </a:rPr>
                        <a:t>6</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概要设计说明书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2357">
                <a:tc>
                  <a:txBody>
                    <a:bodyPr/>
                    <a:lstStyle/>
                    <a:p>
                      <a:pPr indent="266700" algn="ctr">
                        <a:spcAft>
                          <a:spcPts val="0"/>
                        </a:spcAft>
                      </a:pPr>
                      <a:r>
                        <a:rPr lang="en-US" sz="1600" kern="500">
                          <a:latin typeface="Times New Roman"/>
                          <a:ea typeface="宋体"/>
                        </a:rPr>
                        <a:t>7</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详细设计说明书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2357">
                <a:tc>
                  <a:txBody>
                    <a:bodyPr/>
                    <a:lstStyle/>
                    <a:p>
                      <a:pPr indent="266700" algn="ctr">
                        <a:spcAft>
                          <a:spcPts val="0"/>
                        </a:spcAft>
                      </a:pPr>
                      <a:r>
                        <a:rPr lang="en-US" sz="1600" kern="500">
                          <a:latin typeface="Times New Roman"/>
                          <a:ea typeface="宋体"/>
                        </a:rPr>
                        <a:t>8</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数据库设计说明书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2357">
                <a:tc>
                  <a:txBody>
                    <a:bodyPr/>
                    <a:lstStyle/>
                    <a:p>
                      <a:pPr indent="266700" algn="ctr">
                        <a:spcAft>
                          <a:spcPts val="0"/>
                        </a:spcAft>
                      </a:pPr>
                      <a:r>
                        <a:rPr lang="en-US" sz="1600" kern="500">
                          <a:latin typeface="Times New Roman"/>
                          <a:ea typeface="宋体"/>
                        </a:rPr>
                        <a:t>9</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模块开发卷宗</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2357">
                <a:tc>
                  <a:txBody>
                    <a:bodyPr/>
                    <a:lstStyle/>
                    <a:p>
                      <a:pPr indent="266700" algn="ctr">
                        <a:spcAft>
                          <a:spcPts val="0"/>
                        </a:spcAft>
                      </a:pPr>
                      <a:r>
                        <a:rPr lang="en-US" sz="1600" kern="500">
                          <a:latin typeface="Times New Roman"/>
                          <a:ea typeface="宋体"/>
                        </a:rPr>
                        <a:t>10</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用户手册</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2357">
                <a:tc>
                  <a:txBody>
                    <a:bodyPr/>
                    <a:lstStyle/>
                    <a:p>
                      <a:pPr indent="266700" algn="ctr">
                        <a:spcAft>
                          <a:spcPts val="0"/>
                        </a:spcAft>
                      </a:pPr>
                      <a:r>
                        <a:rPr lang="en-US" sz="1600" kern="500">
                          <a:latin typeface="Times New Roman"/>
                          <a:ea typeface="宋体"/>
                        </a:rPr>
                        <a:t>11</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操作手册</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2357">
                <a:tc>
                  <a:txBody>
                    <a:bodyPr/>
                    <a:lstStyle/>
                    <a:p>
                      <a:pPr indent="266700" algn="ctr">
                        <a:spcAft>
                          <a:spcPts val="0"/>
                        </a:spcAft>
                      </a:pPr>
                      <a:r>
                        <a:rPr lang="en-US" sz="1600" kern="500">
                          <a:latin typeface="Times New Roman"/>
                          <a:ea typeface="宋体"/>
                        </a:rPr>
                        <a:t>12</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测试分析报告</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2357">
                <a:tc>
                  <a:txBody>
                    <a:bodyPr/>
                    <a:lstStyle/>
                    <a:p>
                      <a:pPr indent="266700" algn="ctr">
                        <a:spcAft>
                          <a:spcPts val="0"/>
                        </a:spcAft>
                      </a:pPr>
                      <a:r>
                        <a:rPr lang="en-US" sz="1600" kern="500">
                          <a:latin typeface="Times New Roman"/>
                          <a:ea typeface="宋体"/>
                        </a:rPr>
                        <a:t>13</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开发进度月报</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2357">
                <a:tc>
                  <a:txBody>
                    <a:bodyPr/>
                    <a:lstStyle/>
                    <a:p>
                      <a:pPr indent="266700" algn="ctr">
                        <a:spcAft>
                          <a:spcPts val="0"/>
                        </a:spcAft>
                      </a:pPr>
                      <a:r>
                        <a:rPr lang="en-US" sz="1600" kern="500">
                          <a:latin typeface="Times New Roman"/>
                          <a:ea typeface="宋体"/>
                        </a:rPr>
                        <a:t>14</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a:latin typeface="Times New Roman"/>
                          <a:ea typeface="宋体"/>
                        </a:rPr>
                        <a:t>项目开发总结</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2357">
                <a:tc>
                  <a:txBody>
                    <a:bodyPr/>
                    <a:lstStyle/>
                    <a:p>
                      <a:pPr indent="266700" algn="ctr">
                        <a:spcAft>
                          <a:spcPts val="0"/>
                        </a:spcAft>
                      </a:pPr>
                      <a:r>
                        <a:rPr lang="en-US" sz="1600" kern="500">
                          <a:latin typeface="Times New Roman"/>
                          <a:ea typeface="宋体"/>
                        </a:rPr>
                        <a:t>15</a:t>
                      </a:r>
                      <a:endParaRPr lang="zh-CN" sz="16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600" kern="500" dirty="0">
                          <a:latin typeface="Times New Roman"/>
                          <a:ea typeface="宋体"/>
                        </a:rPr>
                        <a:t>维护记录</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endParaRPr lang="en-US" sz="1600" kern="5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1" name="矩形 10"/>
          <p:cNvSpPr/>
          <p:nvPr/>
        </p:nvSpPr>
        <p:spPr>
          <a:xfrm>
            <a:off x="4612064" y="1641165"/>
            <a:ext cx="3775393" cy="369332"/>
          </a:xfrm>
          <a:prstGeom prst="rect">
            <a:avLst/>
          </a:prstGeom>
        </p:spPr>
        <p:txBody>
          <a:bodyPr wrap="none">
            <a:spAutoFit/>
          </a:bodyPr>
          <a:lstStyle/>
          <a:p>
            <a:r>
              <a:rPr lang="zh-CN" altLang="en-US" dirty="0" smtClean="0"/>
              <a:t>表</a:t>
            </a:r>
            <a:r>
              <a:rPr lang="en-US" dirty="0" smtClean="0"/>
              <a:t>10-6  </a:t>
            </a:r>
            <a:r>
              <a:rPr lang="zh-CN" altLang="en-US" dirty="0" smtClean="0"/>
              <a:t>软件文档与各类人员的关系</a:t>
            </a:r>
            <a:endParaRPr lang="zh-CN" altLang="en-US" dirty="0"/>
          </a:p>
        </p:txBody>
      </p:sp>
    </p:spTree>
  </p:cSld>
  <p:clrMapOvr>
    <a:masterClrMapping/>
  </p:clrMapOvr>
  <p:transition>
    <p:randomBar dir="vert"/>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solidFill>
                  <a:srgbClr val="FF0000"/>
                </a:solidFill>
              </a:rPr>
              <a:t>本章小结</a:t>
            </a:r>
            <a:endParaRPr lang="zh-CN" altLang="en-US" dirty="0">
              <a:solidFill>
                <a:srgbClr val="FF0000"/>
              </a:solidFill>
            </a:endParaRP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本章小结</a:t>
            </a:r>
          </a:p>
        </p:txBody>
      </p:sp>
      <p:sp>
        <p:nvSpPr>
          <p:cNvPr id="100" name="文本框 99"/>
          <p:cNvSpPr txBox="1"/>
          <p:nvPr/>
        </p:nvSpPr>
        <p:spPr>
          <a:xfrm>
            <a:off x="1477958" y="2060319"/>
            <a:ext cx="9648825" cy="3653790"/>
          </a:xfrm>
          <a:prstGeom prst="rect">
            <a:avLst/>
          </a:prstGeom>
          <a:noFill/>
          <a:ln w="9525">
            <a:noFill/>
          </a:ln>
        </p:spPr>
        <p:txBody>
          <a:bodyPr wrap="square">
            <a:spAutoFit/>
          </a:bodyPr>
          <a:lstStyle/>
          <a:p>
            <a:pPr marL="285750" indent="-285750" algn="l" fontAlgn="auto">
              <a:lnSpc>
                <a:spcPct val="130000"/>
              </a:lnSpc>
              <a:buFont typeface="Wingdings" panose="05000000000000000000" charset="0"/>
              <a:buChar char="Ø"/>
            </a:pPr>
            <a:r>
              <a:rPr dirty="0">
                <a:latin typeface="微软雅黑" panose="020B0503020204020204" charset="-122"/>
                <a:ea typeface="微软雅黑" panose="020B0503020204020204" charset="-122"/>
                <a:sym typeface="+mn-ea"/>
              </a:rPr>
              <a:t>软件管理技术有关的问题，包括</a:t>
            </a:r>
            <a:r>
              <a:rPr dirty="0">
                <a:solidFill>
                  <a:srgbClr val="00B050"/>
                </a:solidFill>
                <a:latin typeface="微软雅黑" panose="020B0503020204020204" charset="-122"/>
                <a:ea typeface="微软雅黑" panose="020B0503020204020204" charset="-122"/>
                <a:sym typeface="+mn-ea"/>
              </a:rPr>
              <a:t>成本估计技术、人员组织、进度计划管理、软件配置管理、软件质量保证及软件工程文件规范。</a:t>
            </a:r>
          </a:p>
          <a:p>
            <a:pPr marL="285750" indent="-285750" algn="l" fontAlgn="auto">
              <a:lnSpc>
                <a:spcPct val="130000"/>
              </a:lnSpc>
              <a:buFont typeface="Wingdings" panose="05000000000000000000" charset="0"/>
              <a:buChar char="Ø"/>
            </a:pPr>
            <a:r>
              <a:rPr dirty="0">
                <a:latin typeface="微软雅黑" panose="020B0503020204020204" charset="-122"/>
                <a:ea typeface="微软雅黑" panose="020B0503020204020204" charset="-122"/>
                <a:sym typeface="+mn-ea"/>
              </a:rPr>
              <a:t>软件开发组织可以采用</a:t>
            </a:r>
            <a:r>
              <a:rPr dirty="0">
                <a:solidFill>
                  <a:srgbClr val="0070C0"/>
                </a:solidFill>
                <a:latin typeface="微软雅黑" panose="020B0503020204020204" charset="-122"/>
                <a:ea typeface="微软雅黑" panose="020B0503020204020204" charset="-122"/>
                <a:sym typeface="+mn-ea"/>
              </a:rPr>
              <a:t>主程序员组、民主制程序员组或层次式小组</a:t>
            </a:r>
            <a:r>
              <a:rPr dirty="0">
                <a:latin typeface="微软雅黑" panose="020B0503020204020204" charset="-122"/>
                <a:ea typeface="微软雅黑" panose="020B0503020204020204" charset="-122"/>
                <a:sym typeface="+mn-ea"/>
              </a:rPr>
              <a:t>的形式。主程序员组形式的程序设计小组，其核心有3个人：主程序员、辅助程序员和程序管理员。</a:t>
            </a:r>
          </a:p>
          <a:p>
            <a:pPr marL="285750" indent="-285750" algn="l" fontAlgn="auto">
              <a:lnSpc>
                <a:spcPct val="130000"/>
              </a:lnSpc>
              <a:buFont typeface="Wingdings" panose="05000000000000000000" charset="0"/>
              <a:buChar char="Ø"/>
            </a:pPr>
            <a:r>
              <a:rPr dirty="0">
                <a:latin typeface="微软雅黑" panose="020B0503020204020204" charset="-122"/>
                <a:ea typeface="微软雅黑" panose="020B0503020204020204" charset="-122"/>
                <a:sym typeface="+mn-ea"/>
              </a:rPr>
              <a:t>软件开发的管理可采用</a:t>
            </a:r>
            <a:r>
              <a:rPr dirty="0">
                <a:solidFill>
                  <a:schemeClr val="accent2">
                    <a:lumMod val="50000"/>
                  </a:schemeClr>
                </a:solidFill>
                <a:latin typeface="微软雅黑" panose="020B0503020204020204" charset="-122"/>
                <a:ea typeface="微软雅黑" panose="020B0503020204020204" charset="-122"/>
                <a:sym typeface="+mn-ea"/>
              </a:rPr>
              <a:t>层次结构</a:t>
            </a:r>
            <a:r>
              <a:rPr dirty="0">
                <a:latin typeface="微软雅黑" panose="020B0503020204020204" charset="-122"/>
                <a:ea typeface="微软雅黑" panose="020B0503020204020204" charset="-122"/>
                <a:sym typeface="+mn-ea"/>
              </a:rPr>
              <a:t>，管理组织的层次不宜过多。</a:t>
            </a:r>
          </a:p>
          <a:p>
            <a:pPr marL="285750" indent="-285750" algn="l" fontAlgn="auto">
              <a:lnSpc>
                <a:spcPct val="130000"/>
              </a:lnSpc>
              <a:buFont typeface="Wingdings" panose="05000000000000000000" charset="0"/>
              <a:buChar char="Ø"/>
            </a:pPr>
            <a:r>
              <a:rPr dirty="0">
                <a:solidFill>
                  <a:srgbClr val="C00000"/>
                </a:solidFill>
                <a:latin typeface="微软雅黑" panose="020B0503020204020204" charset="-122"/>
                <a:ea typeface="微软雅黑" panose="020B0503020204020204" charset="-122"/>
                <a:sym typeface="+mn-ea"/>
              </a:rPr>
              <a:t>软件配置管理是对软件工程的定义、开发、维护阶段的一种重要补充。</a:t>
            </a:r>
            <a:r>
              <a:rPr dirty="0">
                <a:latin typeface="微软雅黑" panose="020B0503020204020204" charset="-122"/>
                <a:ea typeface="微软雅黑" panose="020B0503020204020204" charset="-122"/>
                <a:sym typeface="+mn-ea"/>
              </a:rPr>
              <a:t>在软件生存期内，必须不断地进行配置审计工作，要保证基线在技术与管理上的完整性和正确性，保证对软件配置项所做的变动是服从需求规定的。</a:t>
            </a:r>
          </a:p>
          <a:p>
            <a:pPr marL="285750" indent="-285750" algn="l" fontAlgn="auto">
              <a:lnSpc>
                <a:spcPct val="130000"/>
              </a:lnSpc>
              <a:buFont typeface="Wingdings" panose="05000000000000000000" charset="0"/>
              <a:buChar char="Ø"/>
            </a:pPr>
            <a:r>
              <a:rPr dirty="0">
                <a:latin typeface="微软雅黑" panose="020B0503020204020204" charset="-122"/>
                <a:ea typeface="微软雅黑" panose="020B0503020204020204" charset="-122"/>
                <a:sym typeface="+mn-ea"/>
              </a:rPr>
              <a:t>软件开发风险管理的主要目标是</a:t>
            </a:r>
            <a:r>
              <a:rPr dirty="0">
                <a:solidFill>
                  <a:schemeClr val="accent3">
                    <a:lumMod val="50000"/>
                  </a:schemeClr>
                </a:solidFill>
                <a:latin typeface="微软雅黑" panose="020B0503020204020204" charset="-122"/>
                <a:ea typeface="微软雅黑" panose="020B0503020204020204" charset="-122"/>
                <a:sym typeface="+mn-ea"/>
              </a:rPr>
              <a:t>预防风险、避免风险。</a:t>
            </a:r>
          </a:p>
          <a:p>
            <a:pPr marL="285750" indent="-285750" algn="l" fontAlgn="auto">
              <a:lnSpc>
                <a:spcPct val="130000"/>
              </a:lnSpc>
              <a:buFont typeface="Wingdings" panose="05000000000000000000" charset="0"/>
              <a:buChar char="Ø"/>
            </a:pPr>
            <a:r>
              <a:rPr dirty="0">
                <a:latin typeface="微软雅黑" panose="020B0503020204020204" charset="-122"/>
                <a:ea typeface="微软雅黑" panose="020B0503020204020204" charset="-122"/>
                <a:sym typeface="+mn-ea"/>
              </a:rPr>
              <a:t>为了提高软件文档的可读性、可用性，实现</a:t>
            </a:r>
            <a:r>
              <a:rPr dirty="0">
                <a:solidFill>
                  <a:srgbClr val="00B050"/>
                </a:solidFill>
                <a:latin typeface="微软雅黑" panose="020B0503020204020204" charset="-122"/>
                <a:ea typeface="微软雅黑" panose="020B0503020204020204" charset="-122"/>
                <a:sym typeface="+mn-ea"/>
              </a:rPr>
              <a:t>文档规范化</a:t>
            </a:r>
            <a:r>
              <a:rPr dirty="0">
                <a:latin typeface="微软雅黑" panose="020B0503020204020204" charset="-122"/>
                <a:ea typeface="微软雅黑" panose="020B0503020204020204" charset="-122"/>
                <a:sym typeface="+mn-ea"/>
              </a:rPr>
              <a:t>十分重要。</a:t>
            </a:r>
          </a:p>
        </p:txBody>
      </p:sp>
      <p:sp>
        <p:nvSpPr>
          <p:cNvPr id="7" name="文本框 6"/>
          <p:cNvSpPr txBox="1"/>
          <p:nvPr/>
        </p:nvSpPr>
        <p:spPr>
          <a:xfrm>
            <a:off x="754380" y="3343910"/>
            <a:ext cx="476250" cy="108712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本章小结</a:t>
            </a:r>
          </a:p>
        </p:txBody>
      </p:sp>
    </p:spTree>
    <p:custDataLst>
      <p:tags r:id="rId1"/>
    </p:custDataLst>
  </p:cSld>
  <p:clrMapOvr>
    <a:masterClrMapping/>
  </p:clrMapOvr>
  <p:transition>
    <p:wedge/>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randomBar dir="vert"/>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H" val="20150911154116"/>
  <p:tag name="MH_LIBRARY" val="GRAPHIC"/>
  <p:tag name="MH_ORDER" val="矩形 2"/>
</p:tagLst>
</file>

<file path=ppt/tags/tag2.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2"/>
</p:tagLst>
</file>

<file path=ppt/tags/tag3.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3"/>
</p:tagLst>
</file>

<file path=ppt/tags/tag4.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4"/>
</p:tagLst>
</file>

<file path=ppt/tags/tag5.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6"/>
</p:tagLst>
</file>

<file path=ppt/tags/tag6.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7"/>
</p:tagLst>
</file>

<file path=ppt/tags/tag7.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8"/>
</p:tagLst>
</file>

<file path=ppt/tags/tag8.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9"/>
</p:tagLst>
</file>

<file path=ppt/tags/tag9.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0"/>
</p:tagLst>
</file>

<file path=ppt/tags/tag10.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1"/>
</p:tagLst>
</file>

<file path=ppt/tags/tag11.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2"/>
</p:tagLst>
</file>

<file path=ppt/tags/tag12.xml><?xml version="1.0" encoding="utf-8"?>
<p:tagLst xmlns:a="http://schemas.openxmlformats.org/drawingml/2006/main" xmlns:r="http://schemas.openxmlformats.org/officeDocument/2006/relationships" xmlns:p="http://schemas.openxmlformats.org/presentationml/2006/main">
  <p:tag name="MH_TYPE" val="#NeiR#"/>
  <p:tag name="MH_NUMBER" val="1"/>
  <p:tag name="MH_CATEGORY" val="#TuWHP#"/>
  <p:tag name="MH_LAYOUT" val="SubTitleText"/>
  <p:tag name="MH" val="20161213152808"/>
  <p:tag name="MH_LIBRARY" val="GRAPHIC"/>
</p:tagLst>
</file>

<file path=ppt/tags/tag13.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Picture"/>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Text"/>
  <p:tag name="MH_ORDER" val="1"/>
</p:tagLst>
</file>

<file path=ppt/tags/tag15.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2"/>
</p:tagLst>
</file>

<file path=ppt/tags/tag16.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3"/>
</p:tagLst>
</file>

<file path=ppt/tags/tag1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8.xml><?xml version="1.0" encoding="utf-8"?>
<p:tagLst xmlns:a="http://schemas.openxmlformats.org/drawingml/2006/main" xmlns:r="http://schemas.openxmlformats.org/officeDocument/2006/relationships" xmlns:p="http://schemas.openxmlformats.org/presentationml/2006/main">
  <p:tag name="MH" val="20161213153337"/>
  <p:tag name="MH_LIBRARY" val="GRAPHIC"/>
</p:tagLst>
</file>

<file path=ppt/tags/tag1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0.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Text Box 20"/>
</p:tagLst>
</file>

<file path=ppt/tags/tag2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文本框 20"/>
</p:tagLst>
</file>

<file path=ppt/tags/tag2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2"/>
</p:tagLst>
</file>

<file path=ppt/tags/tag23.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4"/>
</p:tagLst>
</file>

<file path=ppt/tags/tag24.xml><?xml version="1.0" encoding="utf-8"?>
<p:tagLst xmlns:a="http://schemas.openxmlformats.org/drawingml/2006/main" xmlns:r="http://schemas.openxmlformats.org/officeDocument/2006/relationships" xmlns:p="http://schemas.openxmlformats.org/presentationml/2006/main">
  <p:tag name="MH" val="20161213153337"/>
  <p:tag name="MH_LIBRARY" val="GRAPHIC"/>
</p:tagLst>
</file>

<file path=ppt/tags/tag25.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6.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Text Box 20"/>
</p:tagLst>
</file>

<file path=ppt/tags/tag27.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文本框 20"/>
</p:tagLst>
</file>

<file path=ppt/tags/tag28.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2"/>
</p:tagLst>
</file>

<file path=ppt/tags/tag2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4"/>
</p:tagLst>
</file>

<file path=ppt/tags/tag30.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8*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8*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8*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8*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8*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8*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8*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8*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8*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8*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8*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8*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8*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8*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8*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8*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1"/>
  <p:tag name="KSO_WM_UNIT_ID" val="custom160418_28*n_i*1_11"/>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6"/>
  <p:tag name="KSO_WM_UNIT_ID" val="custom160418_28*n_h_f*1_2_6"/>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9.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50.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1"/>
</p:tagLst>
</file>

<file path=ppt/tags/tag51.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2"/>
</p:tagLst>
</file>

<file path=ppt/tags/tag52.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2"/>
</p:tagLst>
</file>

<file path=ppt/tags/tag5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5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5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5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5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5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5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6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6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6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6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6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6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6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6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6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6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7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7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7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7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7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7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7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77.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78.xml><?xml version="1.0" encoding="utf-8"?>
<p:tagLst xmlns:a="http://schemas.openxmlformats.org/drawingml/2006/main" xmlns:r="http://schemas.openxmlformats.org/officeDocument/2006/relationships" xmlns:p="http://schemas.openxmlformats.org/presentationml/2006/main">
  <p:tag name="MH" val="20170104153709"/>
  <p:tag name="MH_LIBRARY" val="GRAPHIC"/>
  <p:tag name="MH_TYPE" val="Picture"/>
  <p:tag name="MH_ORDER" val="1"/>
</p:tagLst>
</file>

<file path=ppt/tags/tag79.xml><?xml version="1.0" encoding="utf-8"?>
<p:tagLst xmlns:a="http://schemas.openxmlformats.org/drawingml/2006/main" xmlns:r="http://schemas.openxmlformats.org/officeDocument/2006/relationships" xmlns:p="http://schemas.openxmlformats.org/presentationml/2006/main">
  <p:tag name="MH" val="20170104153709"/>
  <p:tag name="MH_LIBRARY" val="GRAPHIC"/>
  <p:tag name="MH_TYPE" val="Text"/>
  <p:tag name="MH_ORDER" val="1"/>
</p:tagLst>
</file>

<file path=ppt/tags/tag80.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Other"/>
  <p:tag name="MH_ORDER" val="1"/>
</p:tagLst>
</file>

<file path=ppt/tags/tag81.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itle"/>
  <p:tag name="MH_ORDER" val="1"/>
</p:tagLst>
</file>

<file path=ppt/tags/tag82.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SubTitle"/>
  <p:tag name="MH_ORDER" val="1"/>
</p:tagLst>
</file>

<file path=ppt/tags/tag83.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ext"/>
  <p:tag name="MH_ORDER" val="1"/>
</p:tagLst>
</file>

<file path=ppt/tags/tag84.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SubTitle"/>
  <p:tag name="MH_ORDER" val="1"/>
</p:tagLst>
</file>

<file path=ppt/tags/tag85.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ext"/>
  <p:tag name="MH_ORDER" val="1"/>
</p:tagLst>
</file>

<file path=ppt/tags/tag86.xml><?xml version="1.0" encoding="utf-8"?>
<p:tagLst xmlns:a="http://schemas.openxmlformats.org/drawingml/2006/main" xmlns:r="http://schemas.openxmlformats.org/officeDocument/2006/relationships" xmlns:p="http://schemas.openxmlformats.org/presentationml/2006/main">
  <p:tag name="MH" val="20161214180212"/>
  <p:tag name="MH_LIBRARY" val="GRAPHIC"/>
  <p:tag name="MH_TYPE" val="Text"/>
  <p:tag name="MH_ORDER" val="1"/>
</p:tagLst>
</file>

<file path=ppt/tags/tag8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8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8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9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9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9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9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9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9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9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9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9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9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10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10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10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0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0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0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10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10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10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10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11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11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11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113.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114.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115.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116.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117.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118.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119.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1"/>
</p:tagLst>
</file>

<file path=ppt/tags/tag120.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3"/>
</p:tagLst>
</file>

<file path=ppt/tags/tag121.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1"/>
</p:tagLst>
</file>

<file path=ppt/tags/tag122.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Title"/>
  <p:tag name="MH_ORDER" val="1"/>
</p:tagLst>
</file>

<file path=ppt/tags/tag123.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2"/>
</p:tagLst>
</file>

<file path=ppt/tags/tag124.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2"/>
</p:tagLst>
</file>

<file path=ppt/tags/tag125.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3"/>
</p:tagLst>
</file>

<file path=ppt/tags/tag126.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27.xml><?xml version="1.0" encoding="utf-8"?>
<p:tagLst xmlns:a="http://schemas.openxmlformats.org/drawingml/2006/main" xmlns:r="http://schemas.openxmlformats.org/officeDocument/2006/relationships" xmlns:p="http://schemas.openxmlformats.org/presentationml/2006/main">
  <p:tag name="MH" val="20161215092455"/>
  <p:tag name="MH_LIBRARY" val="GRAPHIC"/>
  <p:tag name="MH_TYPE" val="Other"/>
  <p:tag name="MH_ORDER" val="1"/>
</p:tagLst>
</file>

<file path=ppt/tags/tag128.xml><?xml version="1.0" encoding="utf-8"?>
<p:tagLst xmlns:a="http://schemas.openxmlformats.org/drawingml/2006/main" xmlns:r="http://schemas.openxmlformats.org/officeDocument/2006/relationships" xmlns:p="http://schemas.openxmlformats.org/presentationml/2006/main">
  <p:tag name="MH" val="20161215092455"/>
  <p:tag name="MH_LIBRARY" val="GRAPHIC"/>
  <p:tag name="MH_TYPE" val="SubTitle"/>
  <p:tag name="MH_ORDER" val="1"/>
</p:tagLst>
</file>

<file path=ppt/tags/tag129.xml><?xml version="1.0" encoding="utf-8"?>
<p:tagLst xmlns:a="http://schemas.openxmlformats.org/drawingml/2006/main" xmlns:r="http://schemas.openxmlformats.org/officeDocument/2006/relationships" xmlns:p="http://schemas.openxmlformats.org/presentationml/2006/main">
  <p:tag name="MH" val="20161215092455"/>
  <p:tag name="MH_LIBRARY" val="GRAPHIC"/>
  <p:tag name="MH_TYPE" val="Other"/>
  <p:tag name="MH_ORDER" val="2"/>
</p:tagLst>
</file>

<file path=ppt/tags/tag130.xml><?xml version="1.0" encoding="utf-8"?>
<p:tagLst xmlns:a="http://schemas.openxmlformats.org/drawingml/2006/main" xmlns:r="http://schemas.openxmlformats.org/officeDocument/2006/relationships" xmlns:p="http://schemas.openxmlformats.org/presentationml/2006/main">
  <p:tag name="MH" val="20161215092455"/>
  <p:tag name="MH_LIBRARY" val="GRAPHIC"/>
  <p:tag name="MH_TYPE" val="Other"/>
  <p:tag name="MH_ORDER" val="3"/>
</p:tagLst>
</file>

<file path=ppt/tags/tag131.xml><?xml version="1.0" encoding="utf-8"?>
<p:tagLst xmlns:a="http://schemas.openxmlformats.org/drawingml/2006/main" xmlns:r="http://schemas.openxmlformats.org/officeDocument/2006/relationships" xmlns:p="http://schemas.openxmlformats.org/presentationml/2006/main">
  <p:tag name="MH" val="20161215092455"/>
  <p:tag name="MH_LIBRARY" val="GRAPHIC"/>
  <p:tag name="MH_TYPE" val="SubTitle"/>
  <p:tag name="MH_ORDER" val="2"/>
</p:tagLst>
</file>

<file path=ppt/tags/tag132.xml><?xml version="1.0" encoding="utf-8"?>
<p:tagLst xmlns:a="http://schemas.openxmlformats.org/drawingml/2006/main" xmlns:r="http://schemas.openxmlformats.org/officeDocument/2006/relationships" xmlns:p="http://schemas.openxmlformats.org/presentationml/2006/main">
  <p:tag name="MH" val="20161215092455"/>
  <p:tag name="MH_LIBRARY" val="GRAPHIC"/>
  <p:tag name="MH_TYPE" val="Other"/>
  <p:tag name="MH_ORDER" val="4"/>
</p:tagLst>
</file>

<file path=ppt/tags/tag133.xml><?xml version="1.0" encoding="utf-8"?>
<p:tagLst xmlns:a="http://schemas.openxmlformats.org/drawingml/2006/main" xmlns:r="http://schemas.openxmlformats.org/officeDocument/2006/relationships" xmlns:p="http://schemas.openxmlformats.org/presentationml/2006/main">
  <p:tag name="MH" val="20161215092455"/>
  <p:tag name="MH_LIBRARY" val="GRAPHIC"/>
  <p:tag name="MH_TYPE" val="Other"/>
  <p:tag name="MH_ORDER" val="5"/>
</p:tagLst>
</file>

<file path=ppt/tags/tag134.xml><?xml version="1.0" encoding="utf-8"?>
<p:tagLst xmlns:a="http://schemas.openxmlformats.org/drawingml/2006/main" xmlns:r="http://schemas.openxmlformats.org/officeDocument/2006/relationships" xmlns:p="http://schemas.openxmlformats.org/presentationml/2006/main">
  <p:tag name="MH" val="20161215092455"/>
  <p:tag name="MH_LIBRARY" val="GRAPHIC"/>
  <p:tag name="MH_TYPE" val="SubTitle"/>
  <p:tag name="MH_ORDER" val="3"/>
</p:tagLst>
</file>

<file path=ppt/tags/tag135.xml><?xml version="1.0" encoding="utf-8"?>
<p:tagLst xmlns:a="http://schemas.openxmlformats.org/drawingml/2006/main" xmlns:r="http://schemas.openxmlformats.org/officeDocument/2006/relationships" xmlns:p="http://schemas.openxmlformats.org/presentationml/2006/main">
  <p:tag name="MH" val="20161215092455"/>
  <p:tag name="MH_LIBRARY" val="GRAPHIC"/>
  <p:tag name="MH_TYPE" val="Other"/>
  <p:tag name="MH_ORDER" val="6"/>
</p:tagLst>
</file>

<file path=ppt/tags/tag136.xml><?xml version="1.0" encoding="utf-8"?>
<p:tagLst xmlns:a="http://schemas.openxmlformats.org/drawingml/2006/main" xmlns:r="http://schemas.openxmlformats.org/officeDocument/2006/relationships" xmlns:p="http://schemas.openxmlformats.org/presentationml/2006/main">
  <p:tag name="MH" val="20161215092455"/>
  <p:tag name="MH_LIBRARY" val="GRAPHIC"/>
  <p:tag name="MH_TYPE" val="Other"/>
  <p:tag name="MH_ORDER" val="7"/>
</p:tagLst>
</file>

<file path=ppt/tags/tag137.xml><?xml version="1.0" encoding="utf-8"?>
<p:tagLst xmlns:a="http://schemas.openxmlformats.org/drawingml/2006/main" xmlns:r="http://schemas.openxmlformats.org/officeDocument/2006/relationships" xmlns:p="http://schemas.openxmlformats.org/presentationml/2006/main">
  <p:tag name="MH" val="20161215092455"/>
  <p:tag name="MH_LIBRARY" val="GRAPHIC"/>
  <p:tag name="MH_TYPE" val="Title"/>
  <p:tag name="MH_ORDER" val="1"/>
</p:tagLst>
</file>

<file path=ppt/tags/tag13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3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3"/>
</p:tagLst>
</file>

<file path=ppt/tags/tag14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3"/>
</p:tagLst>
</file>

<file path=ppt/tags/tag14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4"/>
</p:tagLst>
</file>

<file path=ppt/tags/tag14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4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3"/>
</p:tagLst>
</file>

<file path=ppt/tags/tag14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3"/>
</p:tagLst>
</file>

<file path=ppt/tags/tag14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4"/>
</p:tagLst>
</file>

<file path=ppt/tags/tag14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4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3"/>
</p:tagLst>
</file>

<file path=ppt/tags/tag14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3"/>
</p:tagLst>
</file>

<file path=ppt/tags/tag14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4"/>
</p:tagLst>
</file>

<file path=ppt/tags/tag15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5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3"/>
</p:tagLst>
</file>

<file path=ppt/tags/tag15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3"/>
</p:tagLst>
</file>

<file path=ppt/tags/tag15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4"/>
</p:tagLst>
</file>

<file path=ppt/tags/tag1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
  <p:tag name="KSO_WM_UNIT_ID" val="custom160596_36*r_i*1_1"/>
  <p:tag name="KSO_WM_UNIT_LAYERLEVEL" val="1_1"/>
  <p:tag name="KSO_WM_DIAGRAM_GROUP_CODE" val="r1-1"/>
  <p:tag name="KSO_WM_UNIT_DIAGRAM_CONTRAST_TITLE_CNT" val="5"/>
  <p:tag name="KSO_WM_UNIT_DIAGRAM_DIMENSION_TITLE_CNT" val="2"/>
  <p:tag name="KSO_WM_UNIT_USESOURCEFORMAT_APPLY" val="1"/>
</p:tagLst>
</file>

<file path=ppt/tags/tag1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3"/>
  <p:tag name="KSO_WM_UNIT_ID" val="custom160596_36*r_i*1_3"/>
  <p:tag name="KSO_WM_UNIT_LAYERLEVEL" val="1_1"/>
  <p:tag name="KSO_WM_DIAGRAM_GROUP_CODE" val="r1-1"/>
  <p:tag name="KSO_WM_UNIT_DIAGRAM_CONTRAST_TITLE_CNT" val="5"/>
  <p:tag name="KSO_WM_UNIT_DIAGRAM_DIMENSION_TITLE_CNT" val="2"/>
  <p:tag name="KSO_WM_UNIT_USESOURCEFORMAT_APPLY" val="1"/>
</p:tagLst>
</file>

<file path=ppt/tags/tag1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4"/>
  <p:tag name="KSO_WM_UNIT_ID" val="custom160596_36*r_i*1_4"/>
  <p:tag name="KSO_WM_UNIT_LAYERLEVEL" val="1_1"/>
  <p:tag name="KSO_WM_DIAGRAM_GROUP_CODE" val="r1-1"/>
  <p:tag name="KSO_WM_UNIT_DIAGRAM_CONTRAST_TITLE_CNT" val="5"/>
  <p:tag name="KSO_WM_UNIT_DIAGRAM_DIMENSION_TITLE_CNT" val="2"/>
  <p:tag name="KSO_WM_UNIT_USESOURCEFORMAT_APPLY" val="1"/>
</p:tagLst>
</file>

<file path=ppt/tags/tag1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2"/>
  <p:tag name="KSO_WM_UNIT_ID" val="custom160596_36*r_v*1_2"/>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USESOURCEFORMAT_APPLY" val="1"/>
</p:tagLst>
</file>

<file path=ppt/tags/tag1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5"/>
  <p:tag name="KSO_WM_UNIT_ID" val="custom160596_36*r_i*1_5"/>
  <p:tag name="KSO_WM_UNIT_LAYERLEVEL" val="1_1"/>
  <p:tag name="KSO_WM_DIAGRAM_GROUP_CODE" val="r1-1"/>
  <p:tag name="KSO_WM_UNIT_DIAGRAM_CONTRAST_TITLE_CNT" val="5"/>
  <p:tag name="KSO_WM_UNIT_DIAGRAM_DIMENSION_TITLE_CNT" val="2"/>
  <p:tag name="KSO_WM_UNIT_USESOURCEFORMAT_APPLY" val="1"/>
</p:tagLst>
</file>

<file path=ppt/tags/tag1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6"/>
  <p:tag name="KSO_WM_UNIT_ID" val="custom160596_36*r_i*1_6"/>
  <p:tag name="KSO_WM_UNIT_LAYERLEVEL" val="1_1"/>
  <p:tag name="KSO_WM_DIAGRAM_GROUP_CODE" val="r1-1"/>
  <p:tag name="KSO_WM_UNIT_DIAGRAM_CONTRAST_TITLE_CNT" val="5"/>
  <p:tag name="KSO_WM_UNIT_DIAGRAM_DIMENSION_TITLE_CNT" val="2"/>
  <p:tag name="KSO_WM_UNIT_USESOURCEFORMAT_APPLY" val="1"/>
</p:tagLst>
</file>

<file path=ppt/tags/tag1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4"/>
  <p:tag name="KSO_WM_UNIT_ID" val="custom160596_36*r_v*1_4"/>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USESOURCEFORMAT_APPLY" val="1"/>
</p:tagLst>
</file>

<file path=ppt/tags/tag1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7"/>
  <p:tag name="KSO_WM_UNIT_ID" val="custom160596_36*r_i*1_7"/>
  <p:tag name="KSO_WM_UNIT_LAYERLEVEL" val="1_1"/>
  <p:tag name="KSO_WM_DIAGRAM_GROUP_CODE" val="r1-1"/>
  <p:tag name="KSO_WM_UNIT_DIAGRAM_CONTRAST_TITLE_CNT" val="5"/>
  <p:tag name="KSO_WM_UNIT_DIAGRAM_DIMENSION_TITLE_CNT" val="2"/>
  <p:tag name="KSO_WM_UNIT_USESOURCEFORMAT_APPLY" val="1"/>
</p:tagLst>
</file>

<file path=ppt/tags/tag1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8"/>
  <p:tag name="KSO_WM_UNIT_ID" val="custom160596_36*r_i*1_8"/>
  <p:tag name="KSO_WM_UNIT_LAYERLEVEL" val="1_1"/>
  <p:tag name="KSO_WM_DIAGRAM_GROUP_CODE" val="r1-1"/>
  <p:tag name="KSO_WM_UNIT_DIAGRAM_CONTRAST_TITLE_CNT" val="5"/>
  <p:tag name="KSO_WM_UNIT_DIAGRAM_DIMENSION_TITLE_CNT" val="2"/>
  <p:tag name="KSO_WM_UNIT_USESOURCEFORMAT_APPLY" val="1"/>
</p:tagLst>
</file>

<file path=ppt/tags/tag1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6"/>
  <p:tag name="KSO_WM_UNIT_ID" val="custom160596_36*r_v*1_6"/>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USESOURCEFORMAT_APPLY" val="1"/>
</p:tagLst>
</file>

<file path=ppt/tags/tag164.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165.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166.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167.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168.xml><?xml version="1.0" encoding="utf-8"?>
<p:tagLst xmlns:a="http://schemas.openxmlformats.org/drawingml/2006/main" xmlns:r="http://schemas.openxmlformats.org/officeDocument/2006/relationships" xmlns:p="http://schemas.openxmlformats.org/presentationml/2006/main">
  <p:tag name="MH" val="20170104153304"/>
  <p:tag name="MH_LIBRARY" val="GRAPHIC"/>
  <p:tag name="MH_TYPE" val="Text"/>
  <p:tag name="MH_ORDER" val="1"/>
</p:tagLst>
</file>

<file path=ppt/tags/tag169.xml><?xml version="1.0" encoding="utf-8"?>
<p:tagLst xmlns:a="http://schemas.openxmlformats.org/drawingml/2006/main" xmlns:r="http://schemas.openxmlformats.org/officeDocument/2006/relationships" xmlns:p="http://schemas.openxmlformats.org/presentationml/2006/main">
  <p:tag name="MH" val="20170104153304"/>
  <p:tag name="MH_LIBRARY" val="GRAPHIC"/>
  <p:tag name="MH_TYPE" val="Text"/>
  <p:tag name="MH_ORDER" val="1"/>
</p:tagLst>
</file>

<file path=ppt/tags/tag170.xml><?xml version="1.0" encoding="utf-8"?>
<p:tagLst xmlns:a="http://schemas.openxmlformats.org/drawingml/2006/main" xmlns:r="http://schemas.openxmlformats.org/officeDocument/2006/relationships" xmlns:p="http://schemas.openxmlformats.org/presentationml/2006/main">
  <p:tag name="MH" val="20170104153304"/>
  <p:tag name="MH_LIBRARY" val="GRAPHIC"/>
  <p:tag name="MH_TYPE" val="Text"/>
  <p:tag name="MH_ORDER" val="1"/>
</p:tagLst>
</file>

<file path=ppt/tags/tag17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72.xml><?xml version="1.0" encoding="utf-8"?>
<p:tagLst xmlns:a="http://schemas.openxmlformats.org/drawingml/2006/main" xmlns:r="http://schemas.openxmlformats.org/officeDocument/2006/relationships" xmlns:p="http://schemas.openxmlformats.org/presentationml/2006/main">
  <p:tag name="MH" val="20170104153917"/>
  <p:tag name="MH_LIBRARY" val="GRAPHIC"/>
  <p:tag name="MH_TYPE" val="SubTitle"/>
  <p:tag name="MH_ORDER" val="1"/>
</p:tagLst>
</file>

<file path=ppt/tags/tag173.xml><?xml version="1.0" encoding="utf-8"?>
<p:tagLst xmlns:a="http://schemas.openxmlformats.org/drawingml/2006/main" xmlns:r="http://schemas.openxmlformats.org/officeDocument/2006/relationships" xmlns:p="http://schemas.openxmlformats.org/presentationml/2006/main">
  <p:tag name="MH" val="20170104153917"/>
  <p:tag name="MH_LIBRARY" val="GRAPHIC"/>
  <p:tag name="MH_TYPE" val="Text"/>
  <p:tag name="MH_ORDER" val="1"/>
</p:tagLst>
</file>

<file path=ppt/tags/tag174.xml><?xml version="1.0" encoding="utf-8"?>
<p:tagLst xmlns:a="http://schemas.openxmlformats.org/drawingml/2006/main" xmlns:r="http://schemas.openxmlformats.org/officeDocument/2006/relationships" xmlns:p="http://schemas.openxmlformats.org/presentationml/2006/main">
  <p:tag name="MH" val="20170104153917"/>
  <p:tag name="MH_LIBRARY" val="GRAPHIC"/>
  <p:tag name="MH_TYPE" val="Text"/>
  <p:tag name="MH_ORDER" val="1"/>
</p:tagLst>
</file>

<file path=ppt/tags/tag175.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176.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177.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178.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179.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180.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181.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1"/>
</p:tagLst>
</file>

<file path=ppt/tags/tag182.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3"/>
</p:tagLst>
</file>

<file path=ppt/tags/tag183.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1"/>
</p:tagLst>
</file>

<file path=ppt/tags/tag184.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Title"/>
  <p:tag name="MH_ORDER" val="1"/>
</p:tagLst>
</file>

<file path=ppt/tags/tag185.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2"/>
</p:tagLst>
</file>

<file path=ppt/tags/tag186.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2"/>
</p:tagLst>
</file>

<file path=ppt/tags/tag187.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3"/>
</p:tagLst>
</file>

<file path=ppt/tags/tag18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8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9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9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92.xml><?xml version="1.0" encoding="utf-8"?>
<p:tagLst xmlns:a="http://schemas.openxmlformats.org/drawingml/2006/main" xmlns:r="http://schemas.openxmlformats.org/officeDocument/2006/relationships" xmlns:p="http://schemas.openxmlformats.org/presentationml/2006/main">
  <p:tag name="MH" val="20170328220319"/>
  <p:tag name="MH_LIBRARY" val="GRAPHIC"/>
  <p:tag name="MH_TYPE" val="Text"/>
  <p:tag name="MH_ORDER" val="3"/>
</p:tagLst>
</file>

<file path=ppt/tags/tag193.xml><?xml version="1.0" encoding="utf-8"?>
<p:tagLst xmlns:a="http://schemas.openxmlformats.org/drawingml/2006/main" xmlns:r="http://schemas.openxmlformats.org/officeDocument/2006/relationships" xmlns:p="http://schemas.openxmlformats.org/presentationml/2006/main">
  <p:tag name="MH" val="20170328220319"/>
  <p:tag name="MH_LIBRARY" val="GRAPHIC"/>
  <p:tag name="MH_TYPE" val="SubTitle"/>
  <p:tag name="MH_ORDER" val="3"/>
</p:tagLst>
</file>

<file path=ppt/tags/tag194.xml><?xml version="1.0" encoding="utf-8"?>
<p:tagLst xmlns:a="http://schemas.openxmlformats.org/drawingml/2006/main" xmlns:r="http://schemas.openxmlformats.org/officeDocument/2006/relationships" xmlns:p="http://schemas.openxmlformats.org/presentationml/2006/main">
  <p:tag name="MH" val="20170328220319"/>
  <p:tag name="MH_LIBRARY" val="GRAPHIC"/>
  <p:tag name="MH_TYPE" val="Text"/>
  <p:tag name="MH_ORDER" val="2"/>
</p:tagLst>
</file>

<file path=ppt/tags/tag195.xml><?xml version="1.0" encoding="utf-8"?>
<p:tagLst xmlns:a="http://schemas.openxmlformats.org/drawingml/2006/main" xmlns:r="http://schemas.openxmlformats.org/officeDocument/2006/relationships" xmlns:p="http://schemas.openxmlformats.org/presentationml/2006/main">
  <p:tag name="MH" val="20170328220319"/>
  <p:tag name="MH_LIBRARY" val="GRAPHIC"/>
  <p:tag name="MH_TYPE" val="SubTitle"/>
  <p:tag name="MH_ORDER" val="2"/>
</p:tagLst>
</file>

<file path=ppt/tags/tag196.xml><?xml version="1.0" encoding="utf-8"?>
<p:tagLst xmlns:a="http://schemas.openxmlformats.org/drawingml/2006/main" xmlns:r="http://schemas.openxmlformats.org/officeDocument/2006/relationships" xmlns:p="http://schemas.openxmlformats.org/presentationml/2006/main">
  <p:tag name="MH" val="20170328220319"/>
  <p:tag name="MH_LIBRARY" val="GRAPHIC"/>
  <p:tag name="MH_TYPE" val="Text"/>
  <p:tag name="MH_ORDER" val="1"/>
</p:tagLst>
</file>

<file path=ppt/tags/tag197.xml><?xml version="1.0" encoding="utf-8"?>
<p:tagLst xmlns:a="http://schemas.openxmlformats.org/drawingml/2006/main" xmlns:r="http://schemas.openxmlformats.org/officeDocument/2006/relationships" xmlns:p="http://schemas.openxmlformats.org/presentationml/2006/main">
  <p:tag name="MH" val="20170328220319"/>
  <p:tag name="MH_LIBRARY" val="GRAPHIC"/>
  <p:tag name="MH_TYPE" val="SubTitle"/>
  <p:tag name="MH_ORDER" val="1"/>
</p:tagLst>
</file>

<file path=ppt/tags/tag19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9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0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0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0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20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0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0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06.xml><?xml version="1.0" encoding="utf-8"?>
<p:tagLst xmlns:a="http://schemas.openxmlformats.org/drawingml/2006/main" xmlns:r="http://schemas.openxmlformats.org/officeDocument/2006/relationships" xmlns:p="http://schemas.openxmlformats.org/presentationml/2006/main">
  <p:tag name="MH" val="20170104174021"/>
  <p:tag name="MH_LIBRARY" val="GRAPHIC"/>
  <p:tag name="MH_TYPE" val="Other"/>
  <p:tag name="MH_ORDER" val="1"/>
</p:tagLst>
</file>

<file path=ppt/tags/tag207.xml><?xml version="1.0" encoding="utf-8"?>
<p:tagLst xmlns:a="http://schemas.openxmlformats.org/drawingml/2006/main" xmlns:r="http://schemas.openxmlformats.org/officeDocument/2006/relationships" xmlns:p="http://schemas.openxmlformats.org/presentationml/2006/main">
  <p:tag name="MH" val="20170104174021"/>
  <p:tag name="MH_LIBRARY" val="GRAPHIC"/>
  <p:tag name="MH_TYPE" val="Text"/>
  <p:tag name="MH_ORDER" val="1"/>
</p:tagLst>
</file>

<file path=ppt/tags/tag208.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09.xml><?xml version="1.0" encoding="utf-8"?>
<p:tagLst xmlns:a="http://schemas.openxmlformats.org/drawingml/2006/main" xmlns:r="http://schemas.openxmlformats.org/officeDocument/2006/relationships" xmlns:p="http://schemas.openxmlformats.org/presentationml/2006/main">
  <p:tag name="MH" val="20170104193507"/>
  <p:tag name="MH_LIBRARY" val="GRAPHIC"/>
  <p:tag name="MH_TYPE" val="Picture"/>
  <p:tag name="MH_ORDER" val="1"/>
</p:tagLst>
</file>

<file path=ppt/tags/tag210.xml><?xml version="1.0" encoding="utf-8"?>
<p:tagLst xmlns:a="http://schemas.openxmlformats.org/drawingml/2006/main" xmlns:r="http://schemas.openxmlformats.org/officeDocument/2006/relationships" xmlns:p="http://schemas.openxmlformats.org/presentationml/2006/main">
  <p:tag name="MH" val="20170104193507"/>
  <p:tag name="MH_LIBRARY" val="GRAPHIC"/>
  <p:tag name="MH_TYPE" val="Picture"/>
  <p:tag name="MH_ORDER" val="2"/>
</p:tagLst>
</file>

<file path=ppt/tags/tag211.xml><?xml version="1.0" encoding="utf-8"?>
<p:tagLst xmlns:a="http://schemas.openxmlformats.org/drawingml/2006/main" xmlns:r="http://schemas.openxmlformats.org/officeDocument/2006/relationships" xmlns:p="http://schemas.openxmlformats.org/presentationml/2006/main">
  <p:tag name="MH" val="20170104193507"/>
  <p:tag name="MH_LIBRARY" val="GRAPHIC"/>
  <p:tag name="MH_TYPE" val="Picture"/>
  <p:tag name="MH_ORDER" val="3"/>
</p:tagLst>
</file>

<file path=ppt/tags/tag212.xml><?xml version="1.0" encoding="utf-8"?>
<p:tagLst xmlns:a="http://schemas.openxmlformats.org/drawingml/2006/main" xmlns:r="http://schemas.openxmlformats.org/officeDocument/2006/relationships" xmlns:p="http://schemas.openxmlformats.org/presentationml/2006/main">
  <p:tag name="MH" val="20170104193507"/>
  <p:tag name="MH_LIBRARY" val="GRAPHIC"/>
  <p:tag name="MH_TYPE" val="Picture"/>
  <p:tag name="MH_ORDER" val="4"/>
</p:tagLst>
</file>

<file path=ppt/tags/tag213.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214.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215.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216.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217.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218.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219.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1"/>
</p:tagLst>
</file>

<file path=ppt/tags/tag220.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2"/>
</p:tagLst>
</file>

<file path=ppt/tags/tag221.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3"/>
</p:tagLst>
</file>

<file path=ppt/tags/tag222.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4"/>
</p:tagLst>
</file>

<file path=ppt/tags/tag223.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Title"/>
  <p:tag name="MH_ORDER" val="1"/>
</p:tagLst>
</file>

<file path=ppt/tags/tag224.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225.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22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22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22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22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23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23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23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23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23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23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23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23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23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23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24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241.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242.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1"/>
</p:tagLst>
</file>

<file path=ppt/tags/tag243.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2"/>
</p:tagLst>
</file>

<file path=ppt/tags/tag244.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2"/>
</p:tagLst>
</file>

<file path=ppt/tags/tag245.xml><?xml version="1.0" encoding="utf-8"?>
<p:tagLst xmlns:a="http://schemas.openxmlformats.org/drawingml/2006/main" xmlns:r="http://schemas.openxmlformats.org/officeDocument/2006/relationships" xmlns:p="http://schemas.openxmlformats.org/presentationml/2006/main">
  <p:tag name="MH" val="20170105152933"/>
  <p:tag name="MH_LIBRARY" val="GRAPHIC"/>
  <p:tag name="MH_TYPE" val="Other"/>
  <p:tag name="MH_ORDER" val="12"/>
</p:tagLst>
</file>

<file path=ppt/tags/tag24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24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24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24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25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25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25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25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25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25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25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25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25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25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26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261.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Other"/>
  <p:tag name="MH_ORDER" val="1"/>
</p:tagLst>
</file>

<file path=ppt/tags/tag262.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itle"/>
  <p:tag name="MH_ORDER" val="1"/>
</p:tagLst>
</file>

<file path=ppt/tags/tag263.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SubTitle"/>
  <p:tag name="MH_ORDER" val="1"/>
</p:tagLst>
</file>

<file path=ppt/tags/tag264.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ext"/>
  <p:tag name="MH_ORDER" val="1"/>
</p:tagLst>
</file>

<file path=ppt/tags/tag265.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SubTitle"/>
  <p:tag name="MH_ORDER" val="1"/>
</p:tagLst>
</file>

<file path=ppt/tags/tag266.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ext"/>
  <p:tag name="MH_ORDER" val="1"/>
</p:tagLst>
</file>

<file path=ppt/tags/tag267.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1"/>
</p:tagLst>
</file>

<file path=ppt/tags/tag268.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2"/>
</p:tagLst>
</file>

<file path=ppt/tags/tag269.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3"/>
</p:tagLst>
</file>

<file path=ppt/tags/tag270.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4"/>
</p:tagLst>
</file>

<file path=ppt/tags/tag271.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5"/>
</p:tagLst>
</file>

<file path=ppt/tags/tag272.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2"/>
</p:tagLst>
</file>

<file path=ppt/tags/tag273.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1"/>
</p:tagLst>
</file>

<file path=ppt/tags/tag274.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
  <p:tag name="KSO_WM_UNIT_ID" val="custom160596_36*r_i*1_1"/>
  <p:tag name="KSO_WM_UNIT_LAYERLEVEL" val="1_1"/>
  <p:tag name="KSO_WM_DIAGRAM_GROUP_CODE" val="r1-1"/>
  <p:tag name="KSO_WM_UNIT_DIAGRAM_CONTRAST_TITLE_CNT" val="5"/>
  <p:tag name="KSO_WM_UNIT_DIAGRAM_DIMENSION_TITLE_CNT" val="2"/>
  <p:tag name="KSO_WM_UNIT_USESOURCEFORMAT_APPLY" val="1"/>
</p:tagLst>
</file>

<file path=ppt/tags/tag2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3"/>
  <p:tag name="KSO_WM_UNIT_ID" val="custom160596_36*r_i*1_3"/>
  <p:tag name="KSO_WM_UNIT_LAYERLEVEL" val="1_1"/>
  <p:tag name="KSO_WM_DIAGRAM_GROUP_CODE" val="r1-1"/>
  <p:tag name="KSO_WM_UNIT_DIAGRAM_CONTRAST_TITLE_CNT" val="5"/>
  <p:tag name="KSO_WM_UNIT_DIAGRAM_DIMENSION_TITLE_CNT" val="2"/>
  <p:tag name="KSO_WM_UNIT_USESOURCEFORMAT_APPLY" val="1"/>
</p:tagLst>
</file>

<file path=ppt/tags/tag2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4"/>
  <p:tag name="KSO_WM_UNIT_ID" val="custom160596_36*r_i*1_4"/>
  <p:tag name="KSO_WM_UNIT_LAYERLEVEL" val="1_1"/>
  <p:tag name="KSO_WM_DIAGRAM_GROUP_CODE" val="r1-1"/>
  <p:tag name="KSO_WM_UNIT_DIAGRAM_CONTRAST_TITLE_CNT" val="5"/>
  <p:tag name="KSO_WM_UNIT_DIAGRAM_DIMENSION_TITLE_CNT" val="2"/>
  <p:tag name="KSO_WM_UNIT_USESOURCEFORMAT_APPLY" val="1"/>
</p:tagLst>
</file>

<file path=ppt/tags/tag2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2"/>
  <p:tag name="KSO_WM_UNIT_ID" val="custom160596_36*r_v*1_2"/>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USESOURCEFORMAT_APPLY" val="1"/>
</p:tagLst>
</file>

<file path=ppt/tags/tag2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5"/>
  <p:tag name="KSO_WM_UNIT_ID" val="custom160596_36*r_i*1_5"/>
  <p:tag name="KSO_WM_UNIT_LAYERLEVEL" val="1_1"/>
  <p:tag name="KSO_WM_DIAGRAM_GROUP_CODE" val="r1-1"/>
  <p:tag name="KSO_WM_UNIT_DIAGRAM_CONTRAST_TITLE_CNT" val="5"/>
  <p:tag name="KSO_WM_UNIT_DIAGRAM_DIMENSION_TITLE_CNT" val="2"/>
  <p:tag name="KSO_WM_UNIT_USESOURCEFORMAT_APPLY" val="1"/>
</p:tagLst>
</file>

<file path=ppt/tags/tag2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6"/>
  <p:tag name="KSO_WM_UNIT_ID" val="custom160596_36*r_i*1_6"/>
  <p:tag name="KSO_WM_UNIT_LAYERLEVEL" val="1_1"/>
  <p:tag name="KSO_WM_DIAGRAM_GROUP_CODE" val="r1-1"/>
  <p:tag name="KSO_WM_UNIT_DIAGRAM_CONTRAST_TITLE_CNT" val="5"/>
  <p:tag name="KSO_WM_UNIT_DIAGRAM_DIMENSION_TITLE_CNT" val="2"/>
  <p:tag name="KSO_WM_UNIT_USESOURCEFORMAT_APPLY" val="1"/>
</p:tagLst>
</file>

<file path=ppt/tags/tag2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4"/>
  <p:tag name="KSO_WM_UNIT_ID" val="custom160596_36*r_v*1_4"/>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USESOURCEFORMAT_APPLY" val="1"/>
</p:tagLst>
</file>

<file path=ppt/tags/tag2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7"/>
  <p:tag name="KSO_WM_UNIT_ID" val="custom160596_36*r_i*1_7"/>
  <p:tag name="KSO_WM_UNIT_LAYERLEVEL" val="1_1"/>
  <p:tag name="KSO_WM_DIAGRAM_GROUP_CODE" val="r1-1"/>
  <p:tag name="KSO_WM_UNIT_DIAGRAM_CONTRAST_TITLE_CNT" val="5"/>
  <p:tag name="KSO_WM_UNIT_DIAGRAM_DIMENSION_TITLE_CNT" val="2"/>
  <p:tag name="KSO_WM_UNIT_USESOURCEFORMAT_APPLY" val="1"/>
</p:tagLst>
</file>

<file path=ppt/tags/tag2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8"/>
  <p:tag name="KSO_WM_UNIT_ID" val="custom160596_36*r_i*1_8"/>
  <p:tag name="KSO_WM_UNIT_LAYERLEVEL" val="1_1"/>
  <p:tag name="KSO_WM_DIAGRAM_GROUP_CODE" val="r1-1"/>
  <p:tag name="KSO_WM_UNIT_DIAGRAM_CONTRAST_TITLE_CNT" val="5"/>
  <p:tag name="KSO_WM_UNIT_DIAGRAM_DIMENSION_TITLE_CNT" val="2"/>
  <p:tag name="KSO_WM_UNIT_USESOURCEFORMAT_APPLY" val="1"/>
</p:tagLst>
</file>

<file path=ppt/tags/tag2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6"/>
  <p:tag name="KSO_WM_UNIT_ID" val="custom160596_36*r_v*1_6"/>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USESOURCEFORMAT_APPLY" val="1"/>
</p:tagLst>
</file>

<file path=ppt/tags/tag285.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2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8*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8*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8*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8*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8*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2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8*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2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8*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8*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8*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8*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8*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8*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8*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8*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8*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8*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1"/>
  <p:tag name="KSO_WM_UNIT_ID" val="custom160418_28*n_i*1_11"/>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6"/>
  <p:tag name="KSO_WM_UNIT_ID" val="custom160418_28*n_h_f*1_2_6"/>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04.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30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0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
</p:tagLst>
</file>

<file path=ppt/tags/tag30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2"/>
</p:tagLst>
</file>

<file path=ppt/tags/tag30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3"/>
</p:tagLst>
</file>

<file path=ppt/tags/tag30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4"/>
</p:tagLst>
</file>

<file path=ppt/tags/tag31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5"/>
</p:tagLst>
</file>

<file path=ppt/tags/tag31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2"/>
</p:tagLst>
</file>

<file path=ppt/tags/tag31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2"/>
</p:tagLst>
</file>

<file path=ppt/tags/tag31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31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31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31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31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31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31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32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32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32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32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32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32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32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3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7*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7*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7*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7*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7*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3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7*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3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7*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7*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7*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7*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7*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7*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7*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7*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7*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4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6*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6*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6*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6*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6*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3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6*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3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6*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6*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6*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6*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6*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6*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6*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6*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60.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3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7*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7*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7*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7*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7*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3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7*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3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7*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7*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7*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7*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7*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7*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7*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7*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7*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7*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7*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7*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7*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7*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3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7*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3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7*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7*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7*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7*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7*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7*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7*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7*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7*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97.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3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8*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8*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4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8*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4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8*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4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8*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4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8*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4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8*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8*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8*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8*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0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8*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0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8*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8*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8*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8*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8*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1"/>
  <p:tag name="KSO_WM_UNIT_ID" val="custom160418_28*n_i*1_11"/>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6"/>
  <p:tag name="KSO_WM_UNIT_ID" val="custom160418_28*n_h_f*1_2_6"/>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3"/>
  <p:tag name="KSO_WM_UNIT_ID" val="custom160596_80*q_i*1_3"/>
  <p:tag name="KSO_WM_UNIT_LAYERLEVEL" val="1_1"/>
  <p:tag name="KSO_WM_DIAGRAM_GROUP_CODE" val="q1-2"/>
  <p:tag name="KSO_WM_UNIT_USESOURCEFORMAT_APPLY" val="1"/>
</p:tagLst>
</file>

<file path=ppt/tags/tag4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1"/>
  <p:tag name="KSO_WM_UNIT_ID" val="custom160596_80*q_i*1_11"/>
  <p:tag name="KSO_WM_UNIT_LAYERLEVEL" val="1_1"/>
  <p:tag name="KSO_WM_DIAGRAM_GROUP_CODE" val="q1-2"/>
  <p:tag name="KSO_WM_UNIT_USESOURCEFORMAT_APPLY" val="1"/>
</p:tagLst>
</file>

<file path=ppt/tags/tag4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
  <p:tag name="KSO_WM_UNIT_ID" val="custom160596_80*q_i*1_1"/>
  <p:tag name="KSO_WM_UNIT_LAYERLEVEL" val="1_1"/>
  <p:tag name="KSO_WM_DIAGRAM_GROUP_CODE" val="q1-2"/>
  <p:tag name="KSO_WM_UNIT_USESOURCEFORMAT_APPLY" val="1"/>
</p:tagLst>
</file>

<file path=ppt/tags/tag4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2"/>
  <p:tag name="KSO_WM_UNIT_ID" val="custom160596_80*q_i*1_2"/>
  <p:tag name="KSO_WM_UNIT_LAYERLEVEL" val="1_1"/>
  <p:tag name="KSO_WM_DIAGRAM_GROUP_CODE" val="q1-2"/>
  <p:tag name="KSO_WM_UNIT_USESOURCEFORMAT_APPLY" val="1"/>
</p:tagLst>
</file>

<file path=ppt/tags/tag4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4"/>
  <p:tag name="KSO_WM_UNIT_ID" val="custom160596_80*q_i*1_4"/>
  <p:tag name="KSO_WM_UNIT_LAYERLEVEL" val="1_1"/>
  <p:tag name="KSO_WM_DIAGRAM_GROUP_CODE" val="q1-2"/>
  <p:tag name="KSO_WM_UNIT_USESOURCEFORMAT_APPLY" val="1"/>
</p:tagLst>
</file>

<file path=ppt/tags/tag4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80*i*5"/>
  <p:tag name="KSO_WM_TEMPLATE_CATEGORY" val="custom"/>
  <p:tag name="KSO_WM_TEMPLATE_INDEX" val="160596"/>
  <p:tag name="KSO_WM_UNIT_INDEX" val="5"/>
</p:tagLst>
</file>

<file path=ppt/tags/tag4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9"/>
  <p:tag name="KSO_WM_UNIT_ID" val="custom160596_80*q_i*1_9"/>
  <p:tag name="KSO_WM_UNIT_LAYERLEVEL" val="1_1"/>
  <p:tag name="KSO_WM_DIAGRAM_GROUP_CODE" val="q1-2"/>
  <p:tag name="KSO_WM_UNIT_USESOURCEFORMAT_APPLY" val="1"/>
</p:tagLst>
</file>

<file path=ppt/tags/tag4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0"/>
  <p:tag name="KSO_WM_UNIT_ID" val="custom160596_80*q_i*1_10"/>
  <p:tag name="KSO_WM_UNIT_LAYERLEVEL" val="1_1"/>
  <p:tag name="KSO_WM_DIAGRAM_GROUP_CODE" val="q1-2"/>
  <p:tag name="KSO_WM_UNIT_USESOURCEFORMAT_APPLY" val="1"/>
</p:tagLst>
</file>

<file path=ppt/tags/tag4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2"/>
  <p:tag name="KSO_WM_UNIT_ID" val="custom160596_80*q_i*1_12"/>
  <p:tag name="KSO_WM_UNIT_LAYERLEVEL" val="1_1"/>
  <p:tag name="KSO_WM_DIAGRAM_GROUP_CODE" val="q1-2"/>
  <p:tag name="KSO_WM_UNIT_USESOURCEFORMAT_APPLY" val="1"/>
</p:tagLst>
</file>

<file path=ppt/tags/tag4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1_1"/>
  <p:tag name="KSO_WM_UNIT_ID" val="custom160596_80*q_h_f*1_1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4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3_1"/>
  <p:tag name="KSO_WM_UNIT_ID" val="custom160596_80*q_h_f*1_3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4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2_1"/>
  <p:tag name="KSO_WM_UNIT_ID" val="custom160596_80*q_h_f*1_2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4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5"/>
  <p:tag name="KSO_WM_UNIT_ID" val="custom160596_80*q_i*1_5"/>
  <p:tag name="KSO_WM_UNIT_LAYERLEVEL" val="1_1"/>
  <p:tag name="KSO_WM_DIAGRAM_GROUP_CODE" val="q1-2"/>
  <p:tag name="KSO_WM_UNIT_USESOURCEFORMAT_APPLY" val="1"/>
</p:tagLst>
</file>

<file path=ppt/tags/tag4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6"/>
  <p:tag name="KSO_WM_UNIT_ID" val="custom160596_80*q_i*1_6"/>
  <p:tag name="KSO_WM_UNIT_LAYERLEVEL" val="1_1"/>
  <p:tag name="KSO_WM_DIAGRAM_GROUP_CODE" val="q1-2"/>
  <p:tag name="KSO_WM_UNIT_USESOURCEFORMAT_APPLY" val="1"/>
</p:tagLst>
</file>

<file path=ppt/tags/tag4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7"/>
  <p:tag name="KSO_WM_UNIT_ID" val="custom160596_80*q_i*1_7"/>
  <p:tag name="KSO_WM_UNIT_LAYERLEVEL" val="1_1"/>
  <p:tag name="KSO_WM_DIAGRAM_GROUP_CODE" val="q1-2"/>
  <p:tag name="KSO_WM_UNIT_USESOURCEFORMAT_APPLY" val="1"/>
</p:tagLst>
</file>

<file path=ppt/tags/tag4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8"/>
  <p:tag name="KSO_WM_UNIT_ID" val="custom160596_80*q_i*1_8"/>
  <p:tag name="KSO_WM_UNIT_LAYERLEVEL" val="1_1"/>
  <p:tag name="KSO_WM_DIAGRAM_GROUP_CODE" val="q1-2"/>
  <p:tag name="KSO_WM_UNIT_USESOURCEFORMAT_APPLY" val="1"/>
</p:tagLst>
</file>

<file path=ppt/tags/tag4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8*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4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8*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4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8*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4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8*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4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8*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4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8*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4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8*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8*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8*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8*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8*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8*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8*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8*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8*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8*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1"/>
  <p:tag name="KSO_WM_UNIT_ID" val="custom160418_28*n_i*1_11"/>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6"/>
  <p:tag name="KSO_WM_UNIT_ID" val="custom160418_28*n_h_f*1_2_6"/>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5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1_A000120141119A01PPBG">
  <a:themeElements>
    <a:clrScheme name="自定义 49">
      <a:dk1>
        <a:srgbClr val="4D4D4D"/>
      </a:dk1>
      <a:lt1>
        <a:srgbClr val="FFFFFF"/>
      </a:lt1>
      <a:dk2>
        <a:srgbClr val="4D4D4D"/>
      </a:dk2>
      <a:lt2>
        <a:srgbClr val="FFFFFF"/>
      </a:lt2>
      <a:accent1>
        <a:srgbClr val="EF4150"/>
      </a:accent1>
      <a:accent2>
        <a:srgbClr val="FBAD24"/>
      </a:accent2>
      <a:accent3>
        <a:srgbClr val="58BDA8"/>
      </a:accent3>
      <a:accent4>
        <a:srgbClr val="E8766A"/>
      </a:accent4>
      <a:accent5>
        <a:srgbClr val="CCD373"/>
      </a:accent5>
      <a:accent6>
        <a:srgbClr val="E86ABB"/>
      </a:accent6>
      <a:hlink>
        <a:srgbClr val="447195"/>
      </a:hlink>
      <a:folHlink>
        <a:srgbClr val="7F7F7F"/>
      </a:folHlink>
    </a:clrScheme>
    <a:fontScheme name="自定义 3">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276</TotalTime>
  <Words>10743</Words>
  <Application>WPS 演示</Application>
  <PresentationFormat>自定义</PresentationFormat>
  <Paragraphs>1217</Paragraphs>
  <Slides>130</Slides>
  <Notes>84</Notes>
  <HiddenSlides>0</HiddenSlides>
  <MMClips>0</MMClips>
  <ScaleCrop>false</ScaleCrop>
  <HeadingPairs>
    <vt:vector size="6" baseType="variant">
      <vt:variant>
        <vt:lpstr>主题</vt:lpstr>
      </vt:variant>
      <vt:variant>
        <vt:i4>2</vt:i4>
      </vt:variant>
      <vt:variant>
        <vt:lpstr>嵌入 OLE 服务器</vt:lpstr>
      </vt:variant>
      <vt:variant>
        <vt:i4>5</vt:i4>
      </vt:variant>
      <vt:variant>
        <vt:lpstr>幻灯片标题</vt:lpstr>
      </vt:variant>
      <vt:variant>
        <vt:i4>130</vt:i4>
      </vt:variant>
    </vt:vector>
  </HeadingPairs>
  <TitlesOfParts>
    <vt:vector size="137" baseType="lpstr">
      <vt:lpstr>Office 主题</vt:lpstr>
      <vt:lpstr>1_A000120141119A01PPBG</vt:lpstr>
      <vt:lpstr>MathType 6.0 Equation</vt:lpstr>
      <vt:lpstr>Equation</vt:lpstr>
      <vt:lpstr>Microsoft Office Word 文档</vt:lpstr>
      <vt:lpstr>公式</vt:lpstr>
      <vt:lpstr>文档</vt:lpstr>
      <vt:lpstr>幻灯片 1</vt:lpstr>
      <vt:lpstr>10  软件工程管理</vt:lpstr>
      <vt:lpstr>幻灯片 3</vt:lpstr>
      <vt:lpstr>幻灯片 4</vt:lpstr>
      <vt:lpstr>幻灯片 5</vt:lpstr>
      <vt:lpstr>10.1 软件工程管理概述</vt:lpstr>
      <vt:lpstr>10.1 软件工程管理概述</vt:lpstr>
      <vt:lpstr>10.1 软件工程管理概述</vt:lpstr>
      <vt:lpstr>10.1 软件工程管理概述</vt:lpstr>
      <vt:lpstr>10.1 软件工程管理概述</vt:lpstr>
      <vt:lpstr>幻灯片 11</vt:lpstr>
      <vt:lpstr>10.2  软件规模估算 </vt:lpstr>
      <vt:lpstr>10.2 软件规模估算</vt:lpstr>
      <vt:lpstr>10.2 软件规模估算</vt:lpstr>
      <vt:lpstr>10.2 软件规模估算</vt:lpstr>
      <vt:lpstr>10.2 软件规模估算</vt:lpstr>
      <vt:lpstr>10.2 软件规模估算</vt:lpstr>
      <vt:lpstr>10.2 软件规模估算</vt:lpstr>
      <vt:lpstr>10.2 软件规模估算</vt:lpstr>
      <vt:lpstr>10.2 软件规模估算</vt:lpstr>
      <vt:lpstr>10.2 软件规模估算 </vt:lpstr>
      <vt:lpstr>10.2 软件规模估算 </vt:lpstr>
      <vt:lpstr>10.2 软件规模估算 </vt:lpstr>
      <vt:lpstr>10.2 软件规模估算</vt:lpstr>
      <vt:lpstr>10.2 软件规模估算</vt:lpstr>
      <vt:lpstr>10.2 软件规模估算 </vt:lpstr>
      <vt:lpstr>10.2 软件规模估算</vt:lpstr>
      <vt:lpstr>10.2 软件规模估算</vt:lpstr>
      <vt:lpstr>10.2 软件规模估算</vt:lpstr>
      <vt:lpstr>10.2 软件规模估算</vt:lpstr>
      <vt:lpstr>10.2 软件规模估算</vt:lpstr>
      <vt:lpstr>幻灯片 32</vt:lpstr>
      <vt:lpstr>10.3  进度计划 </vt:lpstr>
      <vt:lpstr>10.3  进度计划</vt:lpstr>
      <vt:lpstr>10.3  进度计划</vt:lpstr>
      <vt:lpstr>10.3  进度计划</vt:lpstr>
      <vt:lpstr>10.3  进度计划</vt:lpstr>
      <vt:lpstr>10.3  进度计划</vt:lpstr>
      <vt:lpstr>10.3  进度计划</vt:lpstr>
      <vt:lpstr>10.3  进度计划</vt:lpstr>
      <vt:lpstr>10.3  进度计划</vt:lpstr>
      <vt:lpstr>10.3  进度计划</vt:lpstr>
      <vt:lpstr>10.3  进度计划</vt:lpstr>
      <vt:lpstr>10.3  进度计划</vt:lpstr>
      <vt:lpstr>10.3  进度计划</vt:lpstr>
      <vt:lpstr>10.3  进度计划</vt:lpstr>
      <vt:lpstr>10.3  进度计划</vt:lpstr>
      <vt:lpstr>10.3  进度计划</vt:lpstr>
      <vt:lpstr>10.3  进度计划</vt:lpstr>
      <vt:lpstr>10.3  进度计划</vt:lpstr>
      <vt:lpstr>幻灯片 51</vt:lpstr>
      <vt:lpstr>10.4  人员组织</vt:lpstr>
      <vt:lpstr>10.4  人员组织</vt:lpstr>
      <vt:lpstr>10.4  人员组织</vt:lpstr>
      <vt:lpstr>10.4  人员组织</vt:lpstr>
      <vt:lpstr>10.4  人员组织</vt:lpstr>
      <vt:lpstr>10.4  人员组织</vt:lpstr>
      <vt:lpstr>10.4  人员组织</vt:lpstr>
      <vt:lpstr>10.4  人员组织</vt:lpstr>
      <vt:lpstr>10.4  人员组织</vt:lpstr>
      <vt:lpstr>10.4  人员组织</vt:lpstr>
      <vt:lpstr>10.4  人员组织</vt:lpstr>
      <vt:lpstr>幻灯片 63</vt:lpstr>
      <vt:lpstr>10.5  软件配置管理 </vt:lpstr>
      <vt:lpstr>10.5  软件配置管理</vt:lpstr>
      <vt:lpstr>10.5  软件配置管理</vt:lpstr>
      <vt:lpstr>10.5  软件配置管理</vt:lpstr>
      <vt:lpstr>10.5  软件配置管理</vt:lpstr>
      <vt:lpstr>10.5  软件配置管理</vt:lpstr>
      <vt:lpstr>10.5  软件配置管理</vt:lpstr>
      <vt:lpstr>10.5  软件配置管理</vt:lpstr>
      <vt:lpstr>10.5  软件配置管理</vt:lpstr>
      <vt:lpstr>10.5  软件配置管理</vt:lpstr>
      <vt:lpstr>10.5  软件配置管理</vt:lpstr>
      <vt:lpstr>10.5  软件配置管理</vt:lpstr>
      <vt:lpstr>10.5  软件配置管理</vt:lpstr>
      <vt:lpstr>10.5  软件配置管理</vt:lpstr>
      <vt:lpstr>幻灯片 78</vt:lpstr>
      <vt:lpstr>10.6 软件质量保证</vt:lpstr>
      <vt:lpstr>10.6  软件配置管理 </vt:lpstr>
      <vt:lpstr>10.6  软件配置管理 </vt:lpstr>
      <vt:lpstr>10.6  软件配置管理 </vt:lpstr>
      <vt:lpstr>10.6  软件配置管理 </vt:lpstr>
      <vt:lpstr>10.6  软件配置管理 </vt:lpstr>
      <vt:lpstr>10.6  软件配置管理 </vt:lpstr>
      <vt:lpstr>10.6  软件配置管理 </vt:lpstr>
      <vt:lpstr>10.6  软件配置管理 </vt:lpstr>
      <vt:lpstr>10.6  软件配置管理 </vt:lpstr>
      <vt:lpstr>10.6  软件配置管理 </vt:lpstr>
      <vt:lpstr>幻灯片 90</vt:lpstr>
      <vt:lpstr>10.7  软件开发风险管理</vt:lpstr>
      <vt:lpstr>10.7  软件开发风险管理 </vt:lpstr>
      <vt:lpstr>10.7  软件开发风险管理 </vt:lpstr>
      <vt:lpstr>10.7  软件开发风险管理 </vt:lpstr>
      <vt:lpstr>10.7  软件开发风险管理 </vt:lpstr>
      <vt:lpstr>10.7  软件开发风险管理 </vt:lpstr>
      <vt:lpstr>10.7  软件开发风险管理 </vt:lpstr>
      <vt:lpstr>10.7  软件开发风险管理 </vt:lpstr>
      <vt:lpstr>10.7  软件开发风险管理 </vt:lpstr>
      <vt:lpstr>10.7  软件开发风险管理 </vt:lpstr>
      <vt:lpstr>10.7  软件开发风险管理 </vt:lpstr>
      <vt:lpstr>10.7  软件开发风险管理 </vt:lpstr>
      <vt:lpstr>10.7  软件开发风险管理 </vt:lpstr>
      <vt:lpstr>10.7  软件开发风险管理 </vt:lpstr>
      <vt:lpstr>10.7  软件开发风险管理 </vt:lpstr>
      <vt:lpstr>10.7  软件开发风险管理 </vt:lpstr>
      <vt:lpstr>10.7  软件开发风险管理 </vt:lpstr>
      <vt:lpstr>10.7  软件开发风险管理 </vt:lpstr>
      <vt:lpstr>10.7  软件开发风险管理 </vt:lpstr>
      <vt:lpstr>10.7  软件开发风险管理 </vt:lpstr>
      <vt:lpstr>10.7  软件开发风险管理 </vt:lpstr>
      <vt:lpstr>10.7  软件开发风险管理 </vt:lpstr>
      <vt:lpstr>10.7  软件开发风险管理 </vt:lpstr>
      <vt:lpstr>10.7  软件开发风险管理 </vt:lpstr>
      <vt:lpstr>10.7  软件开发风险管理 </vt:lpstr>
      <vt:lpstr>10.7  软件开发风险管理 </vt:lpstr>
      <vt:lpstr>幻灯片 117</vt:lpstr>
      <vt:lpstr>10.8  软件工程标准与软件文档</vt:lpstr>
      <vt:lpstr>10.8  软件工程标准与软件文档</vt:lpstr>
      <vt:lpstr>10.8  软件工程标准与软件文档</vt:lpstr>
      <vt:lpstr>10.8  软件工程标准与软件文档</vt:lpstr>
      <vt:lpstr>10.8  软件工程标准与软件文档</vt:lpstr>
      <vt:lpstr>10.8  软件工程标准与软件文档</vt:lpstr>
      <vt:lpstr>10.8  软件工程标准与软件文档</vt:lpstr>
      <vt:lpstr>10.8  软件工程标准与软件文档</vt:lpstr>
      <vt:lpstr>10.8  软件工程标准与软件文档</vt:lpstr>
      <vt:lpstr>10.8  软件工程标准与软件文档</vt:lpstr>
      <vt:lpstr>10.8  软件工程标准与软件文档</vt:lpstr>
      <vt:lpstr>本章小结</vt:lpstr>
      <vt:lpstr>幻灯片 130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ZYK</dc:creator>
  <cp:lastModifiedBy>Wu</cp:lastModifiedBy>
  <cp:revision>52</cp:revision>
  <dcterms:created xsi:type="dcterms:W3CDTF">2017-02-06T12:59:00Z</dcterms:created>
  <dcterms:modified xsi:type="dcterms:W3CDTF">2017-03-30T00:36:35Z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2052-10.1.0.6206</vt:lpwstr>
  </property>
</Properties>
</file>