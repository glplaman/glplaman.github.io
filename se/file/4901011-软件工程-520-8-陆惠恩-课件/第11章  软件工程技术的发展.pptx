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tags/tag8.xml" ContentType="application/vnd.openxmlformats-officedocument.presentationml.tags+xml"/>
  <Override PartName="/ppt/tags/tag140.xml" ContentType="application/vnd.openxmlformats-officedocument.presentationml.tags+xml"/>
  <Override PartName="/ppt/tags/tag238.xml" ContentType="application/vnd.openxmlformats-officedocument.presentationml.tags+xml"/>
  <Override PartName="/ppt/tags/tag285.xml" ContentType="application/vnd.openxmlformats-officedocument.presentationml.tags+xml"/>
  <Override PartName="/ppt/notesSlides/notesSlide38.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tags/tag216.xml" ContentType="application/vnd.openxmlformats-officedocument.presentationml.tags+xml"/>
  <Override PartName="/ppt/tags/tag263.xml" ContentType="application/vnd.openxmlformats-officedocument.presentationml.tags+xml"/>
  <Default Extension="xml" ContentType="application/xml"/>
  <Override PartName="/ppt/slides/slide50.xml" ContentType="application/vnd.openxmlformats-officedocument.presentationml.slide+xml"/>
  <Override PartName="/ppt/tags/tag38.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tags/tag241.xml" ContentType="application/vnd.openxmlformats-officedocument.presentationml.tags+xml"/>
  <Override PartName="/ppt/notesSlides/notesSlide63.xml" ContentType="application/vnd.openxmlformats-officedocument.presentationml.notesSlide+xml"/>
  <Override PartName="/ppt/tags/tag16.xml" ContentType="application/vnd.openxmlformats-officedocument.presentationml.tags+xml"/>
  <Override PartName="/ppt/tags/tag63.xml" ContentType="application/vnd.openxmlformats-officedocument.presentationml.tags+xml"/>
  <Override PartName="/ppt/notesSlides/notesSlide41.xml" ContentType="application/vnd.openxmlformats-officedocument.presentationml.notesSlide+xml"/>
  <Override PartName="/ppt/tags/tag178.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279.xml" ContentType="application/vnd.openxmlformats-officedocument.presentationml.tags+xml"/>
  <Override PartName="/ppt/slides/slide88.xml" ContentType="application/vnd.openxmlformats-officedocument.presentationml.slide+xml"/>
  <Override PartName="/ppt/tags/tag134.xml" ContentType="application/vnd.openxmlformats-officedocument.presentationml.tags+xml"/>
  <Override PartName="/ppt/tags/tag181.xml" ContentType="application/vnd.openxmlformats-officedocument.presentationml.tags+xml"/>
  <Override PartName="/ppt/slides/slide19.xml" ContentType="application/vnd.openxmlformats-officedocument.presentationml.slide+xml"/>
  <Override PartName="/ppt/slides/slide66.xml" ContentType="application/vnd.openxmlformats-officedocument.presentationml.slide+xml"/>
  <Default Extension="png" ContentType="image/png"/>
  <Override PartName="/ppt/tags/tag112.xml" ContentType="application/vnd.openxmlformats-officedocument.presentationml.tags+xml"/>
  <Override PartName="/ppt/tags/tag257.xml" ContentType="application/vnd.openxmlformats-officedocument.presentationml.tags+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notesSlides/notesSlide57.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Default Extension="emf" ContentType="image/x-emf"/>
  <Override PartName="/ppt/tags/tag235.xml" ContentType="application/vnd.openxmlformats-officedocument.presentationml.tags+xml"/>
  <Override PartName="/ppt/tags/tag282.xml" ContentType="application/vnd.openxmlformats-officedocument.presentationml.tags+xml"/>
  <Override PartName="/ppt/slides/slide22.xml" ContentType="application/vnd.openxmlformats-officedocument.presentationml.slide+xml"/>
  <Override PartName="/ppt/tags/tag57.xml" ContentType="application/vnd.openxmlformats-officedocument.presentationml.tags+xml"/>
  <Override PartName="/ppt/notesSlides/notesSlide35.xml" ContentType="application/vnd.openxmlformats-officedocument.presentationml.notesSlide+xml"/>
  <Override PartName="/ppt/tags/tag213.xml" ContentType="application/vnd.openxmlformats-officedocument.presentationml.tags+xml"/>
  <Override PartName="/ppt/tags/tag260.xml" ContentType="application/vnd.openxmlformats-officedocument.presentationml.tags+xml"/>
  <Override PartName="/ppt/slideLayouts/slideLayout21.xml" ContentType="application/vnd.openxmlformats-officedocument.presentationml.slideLayout+xml"/>
  <Override PartName="/ppt/tags/tag35.xml" ContentType="application/vnd.openxmlformats-officedocument.presentationml.tags+xml"/>
  <Override PartName="/ppt/tags/tag82.xml" ContentType="application/vnd.openxmlformats-officedocument.presentationml.tags+xml"/>
  <Override PartName="/ppt/notesSlides/notesSlide13.xml" ContentType="application/vnd.openxmlformats-officedocument.presentationml.notesSlide+xml"/>
  <Override PartName="/ppt/tags/tag197.xml" ContentType="application/vnd.openxmlformats-officedocument.presentationml.tags+xml"/>
  <Override PartName="/ppt/notesSlides/notesSlide60.xml" ContentType="application/vnd.openxmlformats-officedocument.presentationml.notesSlide+xml"/>
  <Override PartName="/ppt/tags/tag128.xml" ContentType="application/vnd.openxmlformats-officedocument.presentationml.tags+xml"/>
  <Override PartName="/ppt/tags/tag175.xml" ContentType="application/vnd.openxmlformats-officedocument.presentationml.tags+xml"/>
  <Override PartName="/ppt/tags/tag13.xml" ContentType="application/vnd.openxmlformats-officedocument.presentationml.tags+xml"/>
  <Override PartName="/ppt/tags/tag60.xml" ContentType="application/vnd.openxmlformats-officedocument.presentationml.tags+xml"/>
  <Override PartName="/ppt/tags/tag298.xml" ContentType="application/vnd.openxmlformats-officedocument.presentationml.tags+xml"/>
  <Override PartName="/ppt/notesSlides/notesSlide4.xml" ContentType="application/vnd.openxmlformats-officedocument.presentationml.notesSlide+xml"/>
  <Override PartName="/ppt/tags/tag106.xml" ContentType="application/vnd.openxmlformats-officedocument.presentationml.tags+xml"/>
  <Override PartName="/ppt/tags/tag153.xml" ContentType="application/vnd.openxmlformats-officedocument.presentationml.tags+xml"/>
  <Override PartName="/ppt/slides/slide38.xml" ContentType="application/vnd.openxmlformats-officedocument.presentationml.slide+xml"/>
  <Override PartName="/ppt/slides/slide85.xml" ContentType="application/vnd.openxmlformats-officedocument.presentationml.slide+xml"/>
  <Override PartName="/ppt/tags/tag131.xml" ContentType="application/vnd.openxmlformats-officedocument.presentationml.tags+xml"/>
  <Override PartName="/ppt/tags/tag229.xml" ContentType="application/vnd.openxmlformats-officedocument.presentationml.tags+xml"/>
  <Override PartName="/ppt/tags/tag276.xml" ContentType="application/vnd.openxmlformats-officedocument.presentationml.tags+xml"/>
  <Override PartName="/ppt/tags/tag98.xml" ContentType="application/vnd.openxmlformats-officedocument.presentationml.tags+xml"/>
  <Override PartName="/ppt/notesSlides/notesSlide29.xml" ContentType="application/vnd.openxmlformats-officedocument.presentationml.notesSlide+xml"/>
  <Override PartName="/ppt/tags/tag207.xml" ContentType="application/vnd.openxmlformats-officedocument.presentationml.tags+xml"/>
  <Override PartName="/ppt/tags/tag254.xml" ContentType="application/vnd.openxmlformats-officedocument.presentationml.tags+xml"/>
  <Override PartName="/ppt/slides/slide16.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slides/slide41.xml" ContentType="application/vnd.openxmlformats-officedocument.presentationml.slide+xml"/>
  <Override PartName="/ppt/tags/tag29.xml" ContentType="application/vnd.openxmlformats-officedocument.presentationml.tags+xml"/>
  <Override PartName="/ppt/tags/tag76.xml" ContentType="application/vnd.openxmlformats-officedocument.presentationml.tags+xml"/>
  <Override PartName="/ppt/notesSlides/notesSlide54.xml" ContentType="application/vnd.openxmlformats-officedocument.presentationml.notesSlide+xml"/>
  <Override PartName="/ppt/tags/tag232.xml" ContentType="application/vnd.openxmlformats-officedocument.presentationml.tags+xml"/>
  <Override PartName="/ppt/tags/tag54.xml" ContentType="application/vnd.openxmlformats-officedocument.presentationml.tags+xml"/>
  <Override PartName="/ppt/notesSlides/notesSlide32.xml" ContentType="application/vnd.openxmlformats-officedocument.presentationml.notesSlide+xml"/>
  <Override PartName="/ppt/tags/tag169.xml" ContentType="application/vnd.openxmlformats-officedocument.presentationml.tags+xml"/>
  <Override PartName="/ppt/tags/tag210.xml" ContentType="application/vnd.openxmlformats-officedocument.presentationml.tags+xml"/>
  <Override PartName="/ppt/tags/tag147.xml" ContentType="application/vnd.openxmlformats-officedocument.presentationml.tags+xml"/>
  <Override PartName="/ppt/tags/tag194.xml" ContentType="application/vnd.openxmlformats-officedocument.presentationml.tags+xml"/>
  <Override PartName="/ppt/slides/slide79.xml" ContentType="application/vnd.openxmlformats-officedocument.presentationml.slide+xml"/>
  <Override PartName="/ppt/tags/tag32.xml" ContentType="application/vnd.openxmlformats-officedocument.presentationml.tags+xml"/>
  <Override PartName="/ppt/notesSlides/notesSlide10.xml" ContentType="application/vnd.openxmlformats-officedocument.presentationml.notesSlide+xml"/>
  <Override PartName="/ppt/tags/tag136.xml" ContentType="application/vnd.openxmlformats-officedocument.presentationml.tags+xml"/>
  <Override PartName="/ppt/tags/tag183.xml" ContentType="application/vnd.openxmlformats-officedocument.presentationml.tags+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tags/tag114.xml" ContentType="application/vnd.openxmlformats-officedocument.presentationml.tags+xml"/>
  <Override PartName="/ppt/tags/tag125.xml" ContentType="application/vnd.openxmlformats-officedocument.presentationml.tags+xml"/>
  <Override PartName="/ppt/tags/tag161.xml" ContentType="application/vnd.openxmlformats-officedocument.presentationml.tags+xml"/>
  <Override PartName="/ppt/tags/tag172.xml" ContentType="application/vnd.openxmlformats-officedocument.presentationml.tags+xml"/>
  <Override PartName="/ppt/tags/tag259.xml" ContentType="application/vnd.openxmlformats-officedocument.presentationml.tags+xml"/>
  <Override PartName="/ppt/slideMasters/slideMaster2.xml" ContentType="application/vnd.openxmlformats-officedocument.presentationml.slideMaster+xml"/>
  <Override PartName="/ppt/slides/slide57.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tags/tag103.xml" ContentType="application/vnd.openxmlformats-officedocument.presentationml.tags+xml"/>
  <Override PartName="/ppt/tags/tag150.xml" ContentType="application/vnd.openxmlformats-officedocument.presentationml.tags+xml"/>
  <Override PartName="/ppt/notesSlides/notesSlide59.xml" ContentType="application/vnd.openxmlformats-officedocument.presentationml.notesSlide+xml"/>
  <Override PartName="/ppt/tags/tag248.xml" ContentType="application/vnd.openxmlformats-officedocument.presentationml.tags+xml"/>
  <Override PartName="/ppt/tags/tag295.xml" ContentType="application/vnd.openxmlformats-officedocument.presentationml.tags+xml"/>
  <Override PartName="/ppt/tags/tag300.xml" ContentType="application/vnd.openxmlformats-officedocument.presentationml.tags+xml"/>
  <Override PartName="/ppt/slides/slide46.xml" ContentType="application/vnd.openxmlformats-officedocument.presentationml.slide+xml"/>
  <Override PartName="/ppt/slides/slide93.xml" ContentType="application/vnd.openxmlformats-officedocument.presentationml.slide+xml"/>
  <Override PartName="/ppt/notesSlides/notesSlide48.xml" ContentType="application/vnd.openxmlformats-officedocument.presentationml.notesSlide+xml"/>
  <Override PartName="/ppt/tags/tag226.xml" ContentType="application/vnd.openxmlformats-officedocument.presentationml.tags+xml"/>
  <Override PartName="/ppt/tags/tag237.xml" ContentType="application/vnd.openxmlformats-officedocument.presentationml.tags+xml"/>
  <Override PartName="/ppt/tags/tag273.xml" ContentType="application/vnd.openxmlformats-officedocument.presentationml.tags+xml"/>
  <Override PartName="/ppt/tags/tag284.xml" ContentType="application/vnd.openxmlformats-officedocument.presentationml.tags+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tags/tag59.xml" ContentType="application/vnd.openxmlformats-officedocument.presentationml.tags+xml"/>
  <Override PartName="/ppt/notesSlides/notesSlide37.xml" ContentType="application/vnd.openxmlformats-officedocument.presentationml.notesSlide+xml"/>
  <Override PartName="/ppt/tags/tag215.xml" ContentType="application/vnd.openxmlformats-officedocument.presentationml.tags+xml"/>
  <Override PartName="/ppt/tags/tag262.xml" ContentType="application/vnd.openxmlformats-officedocument.presentationml.tags+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37.xml" ContentType="application/vnd.openxmlformats-officedocument.presentationml.tags+xml"/>
  <Override PartName="/ppt/tags/tag48.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tags/tag188.xml" ContentType="application/vnd.openxmlformats-officedocument.presentationml.tags+xml"/>
  <Override PartName="/ppt/tags/tag199.xml" ContentType="application/vnd.openxmlformats-officedocument.presentationml.tags+xml"/>
  <Override PartName="/ppt/tags/tag204.xml" ContentType="application/vnd.openxmlformats-officedocument.presentationml.tags+xml"/>
  <Override PartName="/ppt/notesSlides/notesSlide62.xml" ContentType="application/vnd.openxmlformats-officedocument.presentationml.notesSlide+xml"/>
  <Override PartName="/ppt/tags/tag251.xml" ContentType="application/vnd.openxmlformats-officedocument.presentationml.tags+xml"/>
  <Override PartName="/ppt/slideLayouts/slideLayout12.xml" ContentType="application/vnd.openxmlformats-officedocument.presentationml.slideLayout+xml"/>
  <Override PartName="/ppt/tags/tag26.xml" ContentType="application/vnd.openxmlformats-officedocument.presentationml.tags+xml"/>
  <Override PartName="/ppt/tags/tag73.xml" ContentType="application/vnd.openxmlformats-officedocument.presentationml.tags+xml"/>
  <Override PartName="/ppt/tags/tag177.xml" ContentType="application/vnd.openxmlformats-officedocument.presentationml.tags+xml"/>
  <Override PartName="/ppt/notesSlides/notesSlide51.xml" ContentType="application/vnd.openxmlformats-officedocument.presentationml.notesSlide+xml"/>
  <Override PartName="/ppt/tags/tag240.xml" ContentType="application/vnd.openxmlformats-officedocument.presentationml.tags+xml"/>
  <Override PartName="/ppt/tags/tag15.xml" ContentType="application/vnd.openxmlformats-officedocument.presentationml.tags+xml"/>
  <Override PartName="/ppt/tags/tag62.xml" ContentType="application/vnd.openxmlformats-officedocument.presentationml.tags+xml"/>
  <Override PartName="/ppt/tags/tag119.xml" ContentType="application/vnd.openxmlformats-officedocument.presentationml.tags+xml"/>
  <Override PartName="/ppt/notesSlides/notesSlide40.xml" ContentType="application/vnd.openxmlformats-officedocument.presentationml.notesSlide+xml"/>
  <Override PartName="/ppt/tags/tag166.xml" ContentType="application/vnd.openxmlformats-officedocument.presentationml.tags+xml"/>
  <Override PartName="/ppt/slides/slide98.xml" ContentType="application/vnd.openxmlformats-officedocument.presentationml.slide+xml"/>
  <Override PartName="/ppt/tags/tag4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tags/tag108.xml" ContentType="application/vnd.openxmlformats-officedocument.presentationml.tags+xml"/>
  <Override PartName="/ppt/tags/tag155.xml" ContentType="application/vnd.openxmlformats-officedocument.presentationml.tags+xml"/>
  <Override PartName="/ppt/tags/tag289.xml" ContentType="application/vnd.openxmlformats-officedocument.presentationml.tags+xml"/>
  <Override PartName="/ppt/slides/slide87.xml" ContentType="application/vnd.openxmlformats-officedocument.presentationml.slide+xml"/>
  <Override PartName="/ppt/tags/tag133.xml" ContentType="application/vnd.openxmlformats-officedocument.presentationml.tags+xml"/>
  <Override PartName="/ppt/tags/tag144.xml" ContentType="application/vnd.openxmlformats-officedocument.presentationml.tags+xml"/>
  <Override PartName="/ppt/tags/tag180.xml" ContentType="application/vnd.openxmlformats-officedocument.presentationml.tags+xml"/>
  <Override PartName="/ppt/tags/tag191.xml" ContentType="application/vnd.openxmlformats-officedocument.presentationml.tags+xml"/>
  <Override PartName="/ppt/tags/tag278.xml" ContentType="application/vnd.openxmlformats-officedocument.presentationml.tags+xml"/>
  <Override PartName="/ppt/slides/slide29.xml" ContentType="application/vnd.openxmlformats-officedocument.presentationml.slide+xml"/>
  <Override PartName="/ppt/slides/slide76.xml" ContentType="application/vnd.openxmlformats-officedocument.presentationml.slide+xml"/>
  <Override PartName="/ppt/tags/tag122.xml" ContentType="application/vnd.openxmlformats-officedocument.presentationml.tags+xml"/>
  <Override PartName="/ppt/tags/tag209.xml" ContentType="application/vnd.openxmlformats-officedocument.presentationml.tags+xml"/>
  <Override PartName="/ppt/tags/tag256.xml" ContentType="application/vnd.openxmlformats-officedocument.presentationml.tags+xml"/>
  <Override PartName="/ppt/tags/tag267.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tags/tag111.xml" ContentType="application/vnd.openxmlformats-officedocument.presentationml.tags+xml"/>
  <Override PartName="/ppt/tags/tag245.xml" ContentType="application/vnd.openxmlformats-officedocument.presentationml.tags+xml"/>
  <Override PartName="/ppt/notesSlides/notesSlide67.xml" ContentType="application/vnd.openxmlformats-officedocument.presentationml.notesSlide+xml"/>
  <Override PartName="/ppt/tags/tag292.xml" ContentType="application/vnd.openxmlformats-officedocument.presentationml.tags+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100.xml" ContentType="application/vnd.openxmlformats-officedocument.presentationml.tags+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tags/tag234.xml" ContentType="application/vnd.openxmlformats-officedocument.presentationml.tags+xml"/>
  <Override PartName="/ppt/tags/tag281.xml" ContentType="application/vnd.openxmlformats-officedocument.presentationml.tags+xml"/>
  <Override PartName="/ppt/slides/slide32.xml" ContentType="application/vnd.openxmlformats-officedocument.presentationml.slide+xml"/>
  <Override PartName="/ppt/tags/tag56.xml" ContentType="application/vnd.openxmlformats-officedocument.presentationml.tags+xml"/>
  <Override PartName="/ppt/tags/tag67.xml" ContentType="application/vnd.openxmlformats-officedocument.presentationml.tags+xml"/>
  <Default Extension="docx" ContentType="application/vnd.openxmlformats-officedocument.wordprocessingml.document"/>
  <Override PartName="/ppt/notesSlides/notesSlide34.xml" ContentType="application/vnd.openxmlformats-officedocument.presentationml.notesSlide+xml"/>
  <Override PartName="/ppt/tags/tag223.xml" ContentType="application/vnd.openxmlformats-officedocument.presentationml.tags+xml"/>
  <Override PartName="/ppt/tags/tag270.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tags/tag45.xml" ContentType="application/vnd.openxmlformats-officedocument.presentationml.tags+xml"/>
  <Override PartName="/ppt/tags/tag92.xml" ContentType="application/vnd.openxmlformats-officedocument.presentationml.tags+xml"/>
  <Override PartName="/ppt/notesSlides/notesSlide23.xml" ContentType="application/vnd.openxmlformats-officedocument.presentationml.notesSlide+xml"/>
  <Override PartName="/ppt/tags/tag149.xml" ContentType="application/vnd.openxmlformats-officedocument.presentationml.tags+xml"/>
  <Override PartName="/ppt/tags/tag196.xml" ContentType="application/vnd.openxmlformats-officedocument.presentationml.tags+xml"/>
  <Override PartName="/ppt/tags/tag201.xml" ContentType="application/vnd.openxmlformats-officedocument.presentationml.tags+xml"/>
  <Override PartName="/ppt/tags/tag212.xml" ContentType="application/vnd.openxmlformats-officedocument.presentationml.tags+xml"/>
  <Override PartName="/ppt/notesSlides/notesSlide70.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tags/tag81.xml" ContentType="application/vnd.openxmlformats-officedocument.presentationml.tags+xml"/>
  <Override PartName="/ppt/notesSlides/notesSlide12.xml" ContentType="application/vnd.openxmlformats-officedocument.presentationml.notesSlide+xml"/>
  <Override PartName="/ppt/tags/tag138.xml" ContentType="application/vnd.openxmlformats-officedocument.presentationml.tags+xml"/>
  <Override PartName="/ppt/tags/tag18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27.xml" ContentType="application/vnd.openxmlformats-officedocument.presentationml.tags+xml"/>
  <Override PartName="/ppt/tags/tag163.xml" ContentType="application/vnd.openxmlformats-officedocument.presentationml.tags+xml"/>
  <Override PartName="/ppt/tags/tag174.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5.xml" ContentType="application/vnd.openxmlformats-officedocument.presentationml.tags+xml"/>
  <Override PartName="/ppt/tags/tag152.xml" ContentType="application/vnd.openxmlformats-officedocument.presentationml.tags+xml"/>
  <Override PartName="/ppt/tags/tag297.xml" ContentType="application/vnd.openxmlformats-officedocument.presentationml.tags+xml"/>
  <Override PartName="/ppt/tags/tag302.xml" ContentType="application/vnd.openxmlformats-officedocument.presentationml.tags+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Override PartName="/ppt/tags/tag141.xml" ContentType="application/vnd.openxmlformats-officedocument.presentationml.tags+xml"/>
  <Override PartName="/ppt/tags/tag228.xml" ContentType="application/vnd.openxmlformats-officedocument.presentationml.tags+xml"/>
  <Override PartName="/ppt/tags/tag239.xml" ContentType="application/vnd.openxmlformats-officedocument.presentationml.tags+xml"/>
  <Override PartName="/ppt/tags/tag275.xml" ContentType="application/vnd.openxmlformats-officedocument.presentationml.tags+xml"/>
  <Override PartName="/ppt/tags/tag286.xml" ContentType="application/vnd.openxmlformats-officedocument.presentationml.tags+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notesSlides/notesSlide39.xml" ContentType="application/vnd.openxmlformats-officedocument.presentationml.notesSlide+xml"/>
  <Override PartName="/ppt/tags/tag217.xml" ContentType="application/vnd.openxmlformats-officedocument.presentationml.tags+xml"/>
  <Override PartName="/ppt/tags/tag264.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tags/tag97.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tags/tag206.xml" ContentType="application/vnd.openxmlformats-officedocument.presentationml.tags+xml"/>
  <Override PartName="/ppt/tags/tag253.xml" ContentType="application/vnd.openxmlformats-officedocument.presentationml.tags+xml"/>
  <Override PartName="/ppt/notesSlides/notesSlide64.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179.xml" ContentType="application/vnd.openxmlformats-officedocument.presentationml.tags+xml"/>
  <Override PartName="/ppt/notesSlides/notesSlide53.xml" ContentType="application/vnd.openxmlformats-officedocument.presentationml.notesSlide+xml"/>
  <Override PartName="/ppt/tags/tag231.xml" ContentType="application/vnd.openxmlformats-officedocument.presentationml.tags+xml"/>
  <Override PartName="/ppt/tags/tag242.xml" ContentType="application/vnd.openxmlformats-officedocument.presentationml.tags+xml"/>
  <Override PartName="/ppt/slides/slide40.xml" ContentType="application/vnd.openxmlformats-officedocument.presentationml.slide+xml"/>
  <Override PartName="/ppt/tags/tag17.xml" ContentType="application/vnd.openxmlformats-officedocument.presentationml.tags+xml"/>
  <Override PartName="/ppt/tags/tag64.xml" ContentType="application/vnd.openxmlformats-officedocument.presentationml.tags+xml"/>
  <Override PartName="/ppt/notesSlides/notesSlide42.xml" ContentType="application/vnd.openxmlformats-officedocument.presentationml.notesSlide+xml"/>
  <Override PartName="/ppt/tags/tag168.xml" ContentType="application/vnd.openxmlformats-officedocument.presentationml.tags+xml"/>
  <Override PartName="/ppt/tags/tag220.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57.xml" ContentType="application/vnd.openxmlformats-officedocument.presentationml.tags+xml"/>
  <Override PartName="/ppt/slides/slide89.xml" ContentType="application/vnd.openxmlformats-officedocument.presentationml.slide+xml"/>
  <Override PartName="/ppt/tags/tag31.xml" ContentType="application/vnd.openxmlformats-officedocument.presentationml.tags+xml"/>
  <Override PartName="/ppt/tags/tag42.xml" ContentType="application/vnd.openxmlformats-officedocument.presentationml.tags+xml"/>
  <Override PartName="/ppt/tags/tag135.xml" ContentType="application/vnd.openxmlformats-officedocument.presentationml.tags+xml"/>
  <Override PartName="/ppt/tags/tag146.xml" ContentType="application/vnd.openxmlformats-officedocument.presentationml.tags+xml"/>
  <Override PartName="/ppt/tags/tag182.xml" ContentType="application/vnd.openxmlformats-officedocument.presentationml.tags+xml"/>
  <Override PartName="/ppt/tags/tag193.xml" ContentType="application/vnd.openxmlformats-officedocument.presentationml.tags+xml"/>
  <Override PartName="/ppt/slides/slide78.xml" ContentType="application/vnd.openxmlformats-officedocument.presentationml.slide+xml"/>
  <Override PartName="/ppt/tags/tag20.xml" ContentType="application/vnd.openxmlformats-officedocument.presentationml.tags+xml"/>
  <Override PartName="/ppt/tags/tag124.xml" ContentType="application/vnd.openxmlformats-officedocument.presentationml.tags+xml"/>
  <Override PartName="/ppt/tags/tag171.xml" ContentType="application/vnd.openxmlformats-officedocument.presentationml.tags+xml"/>
  <Override PartName="/ppt/tags/tag269.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tags/tag113.xml" ContentType="application/vnd.openxmlformats-officedocument.presentationml.tags+xml"/>
  <Override PartName="/ppt/tags/tag160.xml" ContentType="application/vnd.openxmlformats-officedocument.presentationml.tags+xml"/>
  <Override PartName="/ppt/tags/tag247.xml" ContentType="application/vnd.openxmlformats-officedocument.presentationml.tags+xml"/>
  <Override PartName="/ppt/tags/tag258.xml" ContentType="application/vnd.openxmlformats-officedocument.presentationml.tags+xml"/>
  <Override PartName="/ppt/tags/tag294.xml" ContentType="application/vnd.openxmlformats-officedocument.presentationml.tags+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theme/theme3.xml" ContentType="application/vnd.openxmlformats-officedocument.theme+xml"/>
  <Override PartName="/ppt/tags/tag102.xml" ContentType="application/vnd.openxmlformats-officedocument.presentationml.tags+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tags/tag236.xml" ContentType="application/vnd.openxmlformats-officedocument.presentationml.tags+xml"/>
  <Override PartName="/ppt/tags/tag283.xml" ContentType="application/vnd.openxmlformats-officedocument.presentationml.tags+xml"/>
  <Override PartName="/ppt/slides/slide34.xml" ContentType="application/vnd.openxmlformats-officedocument.presentationml.slide+xml"/>
  <Override PartName="/ppt/slides/slide81.xml" ContentType="application/vnd.openxmlformats-officedocument.presentationml.slide+xml"/>
  <Override PartName="/ppt/tags/tag58.xml" ContentType="application/vnd.openxmlformats-officedocument.presentationml.tags+xml"/>
  <Override PartName="/ppt/tags/tag69.xml" ContentType="application/vnd.openxmlformats-officedocument.presentationml.tags+xml"/>
  <Override PartName="/ppt/notesSlides/notesSlide36.xml" ContentType="application/vnd.openxmlformats-officedocument.presentationml.notesSlide+xml"/>
  <Override PartName="/ppt/tags/tag225.xml" ContentType="application/vnd.openxmlformats-officedocument.presentationml.tags+xml"/>
  <Override PartName="/ppt/tags/tag27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tags/tag47.xml" ContentType="application/vnd.openxmlformats-officedocument.presentationml.tags+xml"/>
  <Override PartName="/ppt/tags/tag94.xml" ContentType="application/vnd.openxmlformats-officedocument.presentationml.tags+xml"/>
  <Override PartName="/ppt/notesSlides/notesSlide25.xml" ContentType="application/vnd.openxmlformats-officedocument.presentationml.notesSlide+xml"/>
  <Override PartName="/ppt/tags/tag198.xml" ContentType="application/vnd.openxmlformats-officedocument.presentationml.tags+xml"/>
  <Override PartName="/ppt/tags/tag203.xml" ContentType="application/vnd.openxmlformats-officedocument.presentationml.tags+xml"/>
  <Override PartName="/ppt/tags/tag214.xml" ContentType="application/vnd.openxmlformats-officedocument.presentationml.tags+xml"/>
  <Override PartName="/ppt/tags/tag250.xml" ContentType="application/vnd.openxmlformats-officedocument.presentationml.tags+xml"/>
  <Override PartName="/ppt/tags/tag261.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36.xml" ContentType="application/vnd.openxmlformats-officedocument.presentationml.tags+xml"/>
  <Override PartName="/ppt/tags/tag83.xml" ContentType="application/vnd.openxmlformats-officedocument.presentationml.tags+xml"/>
  <Override PartName="/ppt/notesSlides/notesSlide14.xml" ContentType="application/vnd.openxmlformats-officedocument.presentationml.notesSlide+xml"/>
  <Override PartName="/ppt/tags/tag187.xml" ContentType="application/vnd.openxmlformats-officedocument.presentationml.tags+xml"/>
  <Override PartName="/ppt/notesSlides/notesSlide61.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29.xml" ContentType="application/vnd.openxmlformats-officedocument.presentationml.tags+xml"/>
  <Override PartName="/ppt/tags/tag165.xml" ContentType="application/vnd.openxmlformats-officedocument.presentationml.tags+xml"/>
  <Override PartName="/ppt/tags/tag176.xml" ContentType="application/vnd.openxmlformats-officedocument.presentationml.tags+xml"/>
  <Override PartName="/ppt/notesSlides/notesSlide50.xml" ContentType="application/vnd.openxmlformats-officedocument.presentationml.notesSlide+xml"/>
  <Override PartName="/ppt/tags/tag50.xml" ContentType="application/vnd.openxmlformats-officedocument.presentationml.tags+xml"/>
  <Override PartName="/ppt/tags/tag107.xml" ContentType="application/vnd.openxmlformats-officedocument.presentationml.tags+xml"/>
  <Override PartName="/ppt/tags/tag154.xml" ContentType="application/vnd.openxmlformats-officedocument.presentationml.tags+xml"/>
  <Override PartName="/ppt/tags/tag299.xml" ContentType="application/vnd.openxmlformats-officedocument.presentationml.tags+xml"/>
  <Override PartName="/ppt/slides/slide97.xml" ContentType="application/vnd.openxmlformats-officedocument.presentationml.slide+xml"/>
  <Override PartName="/ppt/notesSlides/notesSlide5.xml" ContentType="application/vnd.openxmlformats-officedocument.presentationml.notesSlide+xml"/>
  <Override PartName="/ppt/tags/tag143.xml" ContentType="application/vnd.openxmlformats-officedocument.presentationml.tags+xml"/>
  <Override PartName="/ppt/tags/tag190.xml" ContentType="application/vnd.openxmlformats-officedocument.presentationml.tags+xml"/>
  <Override PartName="/ppt/tags/tag277.xml" ContentType="application/vnd.openxmlformats-officedocument.presentationml.tags+xml"/>
  <Override PartName="/ppt/tags/tag288.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tags/tag132.xml" ContentType="application/vnd.openxmlformats-officedocument.presentationml.tags+xml"/>
  <Override PartName="/ppt/tags/tag219.xml" ContentType="application/vnd.openxmlformats-officedocument.presentationml.tags+xml"/>
  <Override PartName="/ppt/tags/tag266.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notesSlides/notesSlide19.xml" ContentType="application/vnd.openxmlformats-officedocument.presentationml.notesSlide+xml"/>
  <Override PartName="/ppt/tags/tag121.xml" ContentType="application/vnd.openxmlformats-officedocument.presentationml.tags+xml"/>
  <Override PartName="/ppt/tags/tag208.xml" ContentType="application/vnd.openxmlformats-officedocument.presentationml.tags+xml"/>
  <Override PartName="/ppt/tags/tag255.xml" ContentType="application/vnd.openxmlformats-officedocument.presentationml.tags+xml"/>
  <Override PartName="/ppt/notesSlides/notesSlide66.xml" ContentType="application/vnd.openxmlformats-officedocument.presentationml.notesSlide+xml"/>
  <Override PartName="/ppt/slides/slide53.xml" ContentType="application/vnd.openxmlformats-officedocument.presentationml.slide+xml"/>
  <Override PartName="/ppt/slideLayouts/slideLayout16.xml" ContentType="application/vnd.openxmlformats-officedocument.presentationml.slideLayout+xml"/>
  <Override PartName="/ppt/tags/tag3.xml" ContentType="application/vnd.openxmlformats-officedocument.presentationml.tags+xml"/>
  <Default Extension="jpeg" ContentType="image/jpeg"/>
  <Override PartName="/ppt/tags/tag77.xml" ContentType="application/vnd.openxmlformats-officedocument.presentationml.tags+xml"/>
  <Override PartName="/ppt/tags/tag88.xml" ContentType="application/vnd.openxmlformats-officedocument.presentationml.tags+xml"/>
  <Override PartName="/ppt/notesSlides/notesSlide55.xml" ContentType="application/vnd.openxmlformats-officedocument.presentationml.notesSlide+xml"/>
  <Override PartName="/ppt/tags/tag233.xml" ContentType="application/vnd.openxmlformats-officedocument.presentationml.tags+xml"/>
  <Override PartName="/ppt/tags/tag244.xml" ContentType="application/vnd.openxmlformats-officedocument.presentationml.tags+xml"/>
  <Override PartName="/ppt/tags/tag280.xml" ContentType="application/vnd.openxmlformats-officedocument.presentationml.tags+xml"/>
  <Override PartName="/ppt/tags/tag291.xml" ContentType="application/vnd.openxmlformats-officedocument.presentationml.tags+xml"/>
  <Override PartName="/ppt/slides/slide31.xml" ContentType="application/vnd.openxmlformats-officedocument.presentationml.slide+xml"/>
  <Override PartName="/ppt/slides/slide42.xml" ContentType="application/vnd.openxmlformats-officedocument.presentationml.slide+xml"/>
  <Override PartName="/ppt/tags/tag19.xml" ContentType="application/vnd.openxmlformats-officedocument.presentationml.tags+xml"/>
  <Override PartName="/ppt/tags/tag66.xml" ContentType="application/vnd.openxmlformats-officedocument.presentationml.tags+xml"/>
  <Override PartName="/ppt/notesSlides/notesSlide44.xml" ContentType="application/vnd.openxmlformats-officedocument.presentationml.notesSlide+xml"/>
  <Override PartName="/ppt/tags/tag222.xml" ContentType="application/vnd.openxmlformats-officedocument.presentationml.tags+xml"/>
  <Override PartName="/ppt/slides/slide20.xml" ContentType="application/vnd.openxmlformats-officedocument.presentationml.slide+xml"/>
  <Override PartName="/ppt/tags/tag55.xml" ContentType="application/vnd.openxmlformats-officedocument.presentationml.tags+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tags/tag159.xml" ContentType="application/vnd.openxmlformats-officedocument.presentationml.tags+xml"/>
  <Override PartName="/ppt/tags/tag211.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Override PartName="/ppt/notesSlides/notesSlide11.xml" ContentType="application/vnd.openxmlformats-officedocument.presentationml.notesSlide+xml"/>
  <Override PartName="/ppt/tags/tag137.xml" ContentType="application/vnd.openxmlformats-officedocument.presentationml.tags+xml"/>
  <Override PartName="/ppt/tags/tag148.xml" ContentType="application/vnd.openxmlformats-officedocument.presentationml.tags+xml"/>
  <Override PartName="/ppt/tags/tag184.xml" ContentType="application/vnd.openxmlformats-officedocument.presentationml.tags+xml"/>
  <Override PartName="/ppt/tags/tag195.xml" ContentType="application/vnd.openxmlformats-officedocument.presentationml.tags+xml"/>
  <Override PartName="/ppt/tags/tag200.xml" ContentType="application/vnd.openxmlformats-officedocument.presentationml.tags+xml"/>
  <Override PartName="/ppt/tags/tag22.xml" ContentType="application/vnd.openxmlformats-officedocument.presentationml.tags+xml"/>
  <Override PartName="/ppt/tags/tag126.xml" ContentType="application/vnd.openxmlformats-officedocument.presentationml.tags+xml"/>
  <Override PartName="/ppt/tags/tag173.xml" ContentType="application/vnd.openxmlformats-officedocument.presentationml.tags+xml"/>
  <Override PartName="/ppt/slides/slide8.xml" ContentType="application/vnd.openxmlformats-officedocument.presentationml.slide+xml"/>
  <Override PartName="/ppt/slides/slide69.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62.xml" ContentType="application/vnd.openxmlformats-officedocument.presentationml.tags+xml"/>
  <Override PartName="/ppt/tags/tag249.xml" ContentType="application/vnd.openxmlformats-officedocument.presentationml.tags+xml"/>
  <Override PartName="/ppt/tags/tag296.xml" ContentType="application/vnd.openxmlformats-officedocument.presentationml.tags+xml"/>
  <Override PartName="/ppt/tags/tag301.xml" ContentType="application/vnd.openxmlformats-officedocument.presentationml.tags+xml"/>
  <Override PartName="/ppt/slides/slide58.xml" ContentType="application/vnd.openxmlformats-officedocument.presentationml.slide+xml"/>
  <Override PartName="/ppt/notesSlides/notesSlide2.xml" ContentType="application/vnd.openxmlformats-officedocument.presentationml.notesSlide+xml"/>
  <Override PartName="/ppt/tags/tag104.xml" ContentType="application/vnd.openxmlformats-officedocument.presentationml.tags+xml"/>
  <Override PartName="/ppt/tags/tag151.xml" ContentType="application/vnd.openxmlformats-officedocument.presentationml.tags+xml"/>
  <Override PartName="/ppt/slides/slide36.xml" ContentType="application/vnd.openxmlformats-officedocument.presentationml.slide+xml"/>
  <Override PartName="/ppt/slides/slide83.xml" ContentType="application/vnd.openxmlformats-officedocument.presentationml.slide+xml"/>
  <Override PartName="/ppt/notesSlides/notesSlide49.xml" ContentType="application/vnd.openxmlformats-officedocument.presentationml.notesSlide+xml"/>
  <Override PartName="/ppt/tags/tag227.xml" ContentType="application/vnd.openxmlformats-officedocument.presentationml.tags+xml"/>
  <Override PartName="/ppt/tags/tag274.xml" ContentType="application/vnd.openxmlformats-officedocument.presentationml.tags+xml"/>
  <Override PartName="/ppt/tags/tag49.xml" ContentType="application/vnd.openxmlformats-officedocument.presentationml.tags+xml"/>
  <Override PartName="/ppt/tags/tag96.xml" ContentType="application/vnd.openxmlformats-officedocument.presentationml.tags+xml"/>
  <Override PartName="/ppt/notesSlides/notesSlide27.xml" ContentType="application/vnd.openxmlformats-officedocument.presentationml.notesSlide+xml"/>
  <Override PartName="/ppt/tags/tag205.xml" ContentType="application/vnd.openxmlformats-officedocument.presentationml.tags+xml"/>
  <Override PartName="/ppt/tags/tag252.xml" ContentType="application/vnd.openxmlformats-officedocument.presentationml.tags+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189.xml" ContentType="application/vnd.openxmlformats-officedocument.presentationml.tags+xml"/>
  <Override PartName="/ppt/tableStyles.xml" ContentType="application/vnd.openxmlformats-officedocument.presentationml.tableStyles+xml"/>
  <Override PartName="/ppt/tags/tag27.xml" ContentType="application/vnd.openxmlformats-officedocument.presentationml.tags+xml"/>
  <Override PartName="/ppt/tags/tag74.xml" ContentType="application/vnd.openxmlformats-officedocument.presentationml.tags+xml"/>
  <Override PartName="/ppt/notesSlides/notesSlide52.xml" ContentType="application/vnd.openxmlformats-officedocument.presentationml.notesSlide+xml"/>
  <Override PartName="/ppt/tags/tag230.xml" ContentType="application/vnd.openxmlformats-officedocument.presentationml.tags+xml"/>
  <Override PartName="/ppt/tags/tag52.xml" ContentType="application/vnd.openxmlformats-officedocument.presentationml.tags+xml"/>
  <Override PartName="/ppt/notesSlides/notesSlide30.xml" ContentType="application/vnd.openxmlformats-officedocument.presentationml.notesSlide+xml"/>
  <Override PartName="/ppt/tags/tag167.xml" ContentType="application/vnd.openxmlformats-officedocument.presentationml.tags+xml"/>
  <Override PartName="/ppt/tags/tag145.xml" ContentType="application/vnd.openxmlformats-officedocument.presentationml.tags+xml"/>
  <Override PartName="/ppt/tags/tag192.xml" ContentType="application/vnd.openxmlformats-officedocument.presentationml.tags+xml"/>
  <Override PartName="/ppt/slides/slide77.xml" ContentType="application/vnd.openxmlformats-officedocument.presentationml.slide+xml"/>
  <Override PartName="/ppt/tags/tag30.xml" ContentType="application/vnd.openxmlformats-officedocument.presentationml.tags+xml"/>
  <Override PartName="/ppt/tags/tag268.xml" ContentType="application/vnd.openxmlformats-officedocument.presentationml.tags+xml"/>
  <Override PartName="/ppt/slides/slide5.xml" ContentType="application/vnd.openxmlformats-officedocument.presentationml.slide+xml"/>
  <Override PartName="/ppt/slideLayouts/slideLayout7.xml" ContentType="application/vnd.openxmlformats-officedocument.presentationml.slideLayout+xml"/>
  <Override PartName="/ppt/tags/tag123.xml" ContentType="application/vnd.openxmlformats-officedocument.presentationml.tags+xml"/>
  <Override PartName="/ppt/tags/tag170.xml" ContentType="application/vnd.openxmlformats-officedocument.presentationml.tags+xml"/>
  <Override PartName="/ppt/notesSlides/notesSlide68.xml" ContentType="application/vnd.openxmlformats-officedocument.presentationml.notesSlide+xml"/>
  <Override PartName="/ppt/slides/slide55.xml" ContentType="application/vnd.openxmlformats-officedocument.presentationml.slide+xml"/>
  <Override PartName="/ppt/tags/tag101.xml" ContentType="application/vnd.openxmlformats-officedocument.presentationml.tags+xml"/>
  <Override PartName="/ppt/tags/tag246.xml" ContentType="application/vnd.openxmlformats-officedocument.presentationml.tags+xml"/>
  <Override PartName="/ppt/tags/tag293.xml" ContentType="application/vnd.openxmlformats-officedocument.presentationml.tags+xml"/>
  <Override PartName="/ppt/slides/slide33.xml" ContentType="application/vnd.openxmlformats-officedocument.presentationml.slide+xml"/>
  <Override PartName="/ppt/slides/slide80.xml" ContentType="application/vnd.openxmlformats-officedocument.presentationml.slide+xml"/>
  <Override PartName="/ppt/tags/tag68.xml" ContentType="application/vnd.openxmlformats-officedocument.presentationml.tags+xml"/>
  <Override PartName="/ppt/notesSlides/notesSlide46.xml" ContentType="application/vnd.openxmlformats-officedocument.presentationml.notesSlide+xml"/>
  <Override PartName="/ppt/tags/tag224.xml" ContentType="application/vnd.openxmlformats-officedocument.presentationml.tags+xml"/>
  <Override PartName="/ppt/tags/tag271.xml" ContentType="application/vnd.openxmlformats-officedocument.presentationml.tags+xml"/>
  <Override PartName="/ppt/presentation.xml" ContentType="application/vnd.openxmlformats-officedocument.presentationml.presentation.main+xml"/>
  <Override PartName="/ppt/notesSlides/notesSlide24.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tags/tag46.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tags/tag186.xml" ContentType="application/vnd.openxmlformats-officedocument.presentationml.tags+xml"/>
  <Override PartName="/ppt/tags/tag202.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slides/slide49.xml" ContentType="application/vnd.openxmlformats-officedocument.presentationml.slide+xml"/>
  <Override PartName="/ppt/slides/slide96.xml" ContentType="application/vnd.openxmlformats-officedocument.presentationml.slide+xml"/>
  <Override PartName="/ppt/tags/tag142.xml" ContentType="application/vnd.openxmlformats-officedocument.presentationml.tags+xml"/>
  <Override PartName="/ppt/tags/tag287.xml" ContentType="application/vnd.openxmlformats-officedocument.presentationml.tags+xml"/>
  <Override PartName="/ppt/tags/tag303.xml" ContentType="application/vnd.openxmlformats-officedocument.presentationml.tags+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ags/tag120.xml" ContentType="application/vnd.openxmlformats-officedocument.presentationml.tags+xml"/>
  <Override PartName="/ppt/tags/tag218.xml" ContentType="application/vnd.openxmlformats-officedocument.presentationml.tags+xml"/>
  <Override PartName="/ppt/tags/tag265.xml" ContentType="application/vnd.openxmlformats-officedocument.presentationml.tags+xml"/>
  <Override PartName="/ppt/slides/slide2.xml" ContentType="application/vnd.openxmlformats-officedocument.presentationml.slide+xml"/>
  <Override PartName="/ppt/slides/slide52.xml" ContentType="application/vnd.openxmlformats-officedocument.presentationml.slide+xml"/>
  <Override PartName="/ppt/tags/tag87.xml" ContentType="application/vnd.openxmlformats-officedocument.presentationml.tags+xml"/>
  <Override PartName="/ppt/notesSlides/notesSlide18.xml" ContentType="application/vnd.openxmlformats-officedocument.presentationml.notesSlide+xml"/>
  <Default Extension="wmf" ContentType="image/x-wmf"/>
  <Override PartName="/ppt/tags/tag243.xml" ContentType="application/vnd.openxmlformats-officedocument.presentationml.tags+xml"/>
  <Override PartName="/ppt/notesSlides/notesSlide65.xml" ContentType="application/vnd.openxmlformats-officedocument.presentationml.notesSlide+xml"/>
  <Override PartName="/ppt/tags/tag290.xml" ContentType="application/vnd.openxmlformats-officedocument.presentationml.tags+xml"/>
  <Override PartName="/ppt/notesSlides/notesSlide43.xml" ContentType="application/vnd.openxmlformats-officedocument.presentationml.notesSlide+xml"/>
  <Override PartName="/ppt/slides/slide30.xml" ContentType="application/vnd.openxmlformats-officedocument.presentationml.slide+xml"/>
  <Override PartName="/ppt/tags/tag18.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tags/tag221.xml" ContentType="application/vnd.openxmlformats-officedocument.presentationml.tags+xml"/>
  <Override PartName="/ppt/tags/tag43.xml" ContentType="application/vnd.openxmlformats-officedocument.presentationml.tags+xml"/>
  <Override PartName="/ppt/tags/tag90.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01"/>
  </p:notesMasterIdLst>
  <p:sldIdLst>
    <p:sldId id="257" r:id="rId3"/>
    <p:sldId id="283" r:id="rId4"/>
    <p:sldId id="258" r:id="rId5"/>
    <p:sldId id="259" r:id="rId6"/>
    <p:sldId id="269" r:id="rId7"/>
    <p:sldId id="264" r:id="rId8"/>
    <p:sldId id="310" r:id="rId9"/>
    <p:sldId id="311" r:id="rId10"/>
    <p:sldId id="312" r:id="rId11"/>
    <p:sldId id="313" r:id="rId12"/>
    <p:sldId id="314" r:id="rId13"/>
    <p:sldId id="315" r:id="rId14"/>
    <p:sldId id="316" r:id="rId15"/>
    <p:sldId id="270" r:id="rId16"/>
    <p:sldId id="317" r:id="rId17"/>
    <p:sldId id="318" r:id="rId18"/>
    <p:sldId id="319" r:id="rId19"/>
    <p:sldId id="342" r:id="rId20"/>
    <p:sldId id="343" r:id="rId21"/>
    <p:sldId id="344" r:id="rId22"/>
    <p:sldId id="345" r:id="rId23"/>
    <p:sldId id="260" r:id="rId24"/>
    <p:sldId id="265" r:id="rId25"/>
    <p:sldId id="271" r:id="rId26"/>
    <p:sldId id="349" r:id="rId27"/>
    <p:sldId id="272" r:id="rId28"/>
    <p:sldId id="355" r:id="rId29"/>
    <p:sldId id="358" r:id="rId30"/>
    <p:sldId id="359" r:id="rId31"/>
    <p:sldId id="354" r:id="rId32"/>
    <p:sldId id="360" r:id="rId33"/>
    <p:sldId id="361" r:id="rId34"/>
    <p:sldId id="261" r:id="rId35"/>
    <p:sldId id="266" r:id="rId36"/>
    <p:sldId id="274" r:id="rId37"/>
    <p:sldId id="362" r:id="rId38"/>
    <p:sldId id="363" r:id="rId39"/>
    <p:sldId id="368" r:id="rId40"/>
    <p:sldId id="273" r:id="rId41"/>
    <p:sldId id="364" r:id="rId42"/>
    <p:sldId id="442" r:id="rId43"/>
    <p:sldId id="365" r:id="rId44"/>
    <p:sldId id="366" r:id="rId45"/>
    <p:sldId id="275" r:id="rId46"/>
    <p:sldId id="370" r:id="rId47"/>
    <p:sldId id="369" r:id="rId48"/>
    <p:sldId id="371" r:id="rId49"/>
    <p:sldId id="372" r:id="rId50"/>
    <p:sldId id="262" r:id="rId51"/>
    <p:sldId id="267" r:id="rId52"/>
    <p:sldId id="393" r:id="rId53"/>
    <p:sldId id="276" r:id="rId54"/>
    <p:sldId id="394" r:id="rId55"/>
    <p:sldId id="390" r:id="rId56"/>
    <p:sldId id="391" r:id="rId57"/>
    <p:sldId id="277" r:id="rId58"/>
    <p:sldId id="395" r:id="rId59"/>
    <p:sldId id="396" r:id="rId60"/>
    <p:sldId id="397" r:id="rId61"/>
    <p:sldId id="398" r:id="rId62"/>
    <p:sldId id="399" r:id="rId63"/>
    <p:sldId id="400" r:id="rId64"/>
    <p:sldId id="401" r:id="rId65"/>
    <p:sldId id="404" r:id="rId66"/>
    <p:sldId id="278" r:id="rId67"/>
    <p:sldId id="405" r:id="rId68"/>
    <p:sldId id="406" r:id="rId69"/>
    <p:sldId id="407" r:id="rId70"/>
    <p:sldId id="408" r:id="rId71"/>
    <p:sldId id="279" r:id="rId72"/>
    <p:sldId id="410" r:id="rId73"/>
    <p:sldId id="411" r:id="rId74"/>
    <p:sldId id="412" r:id="rId75"/>
    <p:sldId id="413" r:id="rId76"/>
    <p:sldId id="414" r:id="rId77"/>
    <p:sldId id="415" r:id="rId78"/>
    <p:sldId id="416" r:id="rId79"/>
    <p:sldId id="263" r:id="rId80"/>
    <p:sldId id="268" r:id="rId81"/>
    <p:sldId id="280" r:id="rId82"/>
    <p:sldId id="426" r:id="rId83"/>
    <p:sldId id="427" r:id="rId84"/>
    <p:sldId id="430" r:id="rId85"/>
    <p:sldId id="428" r:id="rId86"/>
    <p:sldId id="429" r:id="rId87"/>
    <p:sldId id="431" r:id="rId88"/>
    <p:sldId id="281" r:id="rId89"/>
    <p:sldId id="432" r:id="rId90"/>
    <p:sldId id="433" r:id="rId91"/>
    <p:sldId id="282" r:id="rId92"/>
    <p:sldId id="436" r:id="rId93"/>
    <p:sldId id="437" r:id="rId94"/>
    <p:sldId id="440" r:id="rId95"/>
    <p:sldId id="441" r:id="rId96"/>
    <p:sldId id="438" r:id="rId97"/>
    <p:sldId id="439" r:id="rId98"/>
    <p:sldId id="284" r:id="rId99"/>
    <p:sldId id="443" r:id="rId10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94660"/>
  </p:normalViewPr>
  <p:slideViewPr>
    <p:cSldViewPr snapToGrid="0">
      <p:cViewPr>
        <p:scale>
          <a:sx n="70" d="100"/>
          <a:sy n="70" d="100"/>
        </p:scale>
        <p:origin x="-1890" y="-142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3</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xmlns=""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1.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1"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0.xml"/><Relationship Id="rId7"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5.png"/><Relationship Id="rId5" Type="http://schemas.openxmlformats.org/officeDocument/2006/relationships/tags" Target="../tags/tag22.xml"/><Relationship Id="rId10" Type="http://schemas.openxmlformats.org/officeDocument/2006/relationships/image" Target="../media/image4.png"/><Relationship Id="rId4" Type="http://schemas.openxmlformats.org/officeDocument/2006/relationships/tags" Target="../tags/tag2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slideLayout" Target="../slideLayouts/slideLayout17.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8.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slideLayout" Target="../slideLayouts/slideLayout17.xm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s>
</file>

<file path=ppt/slides/_rels/slide9.xml.rels><?xml version="1.0" encoding="UTF-8" standalone="yes"?>
<Relationships xmlns="http://schemas.openxmlformats.org/package/2006/relationships"><Relationship Id="rId8" Type="http://schemas.openxmlformats.org/officeDocument/2006/relationships/tags" Target="../tags/tag60.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9"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slideLayout" Target="../slideLayouts/slideLayout17.xml"/><Relationship Id="rId4" Type="http://schemas.openxmlformats.org/officeDocument/2006/relationships/tags" Target="../tags/tag6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9.jpe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8.png"/><Relationship Id="rId5" Type="http://schemas.openxmlformats.org/officeDocument/2006/relationships/slideLayout" Target="../slideLayouts/slideLayout17.xml"/><Relationship Id="rId4" Type="http://schemas.openxmlformats.org/officeDocument/2006/relationships/tags" Target="../tags/tag6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3.xml"/><Relationship Id="rId4"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6.png"/><Relationship Id="rId5" Type="http://schemas.openxmlformats.org/officeDocument/2006/relationships/notesSlide" Target="../notesSlides/notesSlide4.xml"/><Relationship Id="rId4"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78.xml"/><Relationship Id="rId7" Type="http://schemas.openxmlformats.org/officeDocument/2006/relationships/tags" Target="../tags/tag8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9"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85.xml"/><Relationship Id="rId7" Type="http://schemas.openxmlformats.org/officeDocument/2006/relationships/tags" Target="../tags/tag89.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5" Type="http://schemas.openxmlformats.org/officeDocument/2006/relationships/tags" Target="../tags/tag87.xml"/><Relationship Id="rId10" Type="http://schemas.openxmlformats.org/officeDocument/2006/relationships/image" Target="../media/image17.png"/><Relationship Id="rId4" Type="http://schemas.openxmlformats.org/officeDocument/2006/relationships/tags" Target="../tags/tag86.xml"/><Relationship Id="rId9"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3" Type="http://schemas.openxmlformats.org/officeDocument/2006/relationships/tags" Target="../tags/tag92.xml"/><Relationship Id="rId7" Type="http://schemas.openxmlformats.org/officeDocument/2006/relationships/image" Target="../media/image18.jpe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notesSlide" Target="../notesSlides/notesSlide7.xml"/><Relationship Id="rId5" Type="http://schemas.openxmlformats.org/officeDocument/2006/relationships/slideLayout" Target="../slideLayouts/slideLayout17.xml"/><Relationship Id="rId4" Type="http://schemas.openxmlformats.org/officeDocument/2006/relationships/tags" Target="../tags/tag93.xml"/></Relationships>
</file>

<file path=ppt/slides/_rels/slide29.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image" Target="../media/image19.jpe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notesSlide" Target="../notesSlides/notesSlide8.xml"/><Relationship Id="rId5" Type="http://schemas.openxmlformats.org/officeDocument/2006/relationships/slideLayout" Target="../slideLayouts/slideLayout17.xml"/><Relationship Id="rId4" Type="http://schemas.openxmlformats.org/officeDocument/2006/relationships/tags" Target="../tags/tag97.xml"/></Relationships>
</file>

<file path=ppt/slides/_rels/slide3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100.xml"/><Relationship Id="rId7" Type="http://schemas.openxmlformats.org/officeDocument/2006/relationships/hyperlink" Target="http://baike.baidu.com/view/1451265.htm" TargetMode="Externa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notesSlide" Target="../notesSlides/notesSlide9.xml"/><Relationship Id="rId5" Type="http://schemas.openxmlformats.org/officeDocument/2006/relationships/slideLayout" Target="../slideLayouts/slideLayout17.xml"/><Relationship Id="rId4" Type="http://schemas.openxmlformats.org/officeDocument/2006/relationships/tags" Target="../tags/tag101.xml"/></Relationships>
</file>

<file path=ppt/slides/_rels/slide31.xml.rels><?xml version="1.0" encoding="UTF-8" standalone="yes"?>
<Relationships xmlns="http://schemas.openxmlformats.org/package/2006/relationships"><Relationship Id="rId3" Type="http://schemas.openxmlformats.org/officeDocument/2006/relationships/tags" Target="../tags/tag104.xml"/><Relationship Id="rId7" Type="http://schemas.openxmlformats.org/officeDocument/2006/relationships/image" Target="../media/image2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notesSlide" Target="../notesSlides/notesSlide10.xml"/><Relationship Id="rId5" Type="http://schemas.openxmlformats.org/officeDocument/2006/relationships/slideLayout" Target="../slideLayouts/slideLayout17.xml"/><Relationship Id="rId4" Type="http://schemas.openxmlformats.org/officeDocument/2006/relationships/tags" Target="../tags/tag10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vmlDrawing" Target="../drawings/vmlDrawing1.vml"/><Relationship Id="rId4" Type="http://schemas.openxmlformats.org/officeDocument/2006/relationships/package" Target="../embeddings/Microsoft_Office_Word___1.docx"/></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34.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tags" Target="../tags/tag109.xml"/><Relationship Id="rId7" Type="http://schemas.openxmlformats.org/officeDocument/2006/relationships/notesSlide" Target="../notesSlides/notesSlide12.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slideLayout" Target="../slideLayouts/slideLayout15.xml"/><Relationship Id="rId5" Type="http://schemas.openxmlformats.org/officeDocument/2006/relationships/tags" Target="../tags/tag111.xml"/><Relationship Id="rId4" Type="http://schemas.openxmlformats.org/officeDocument/2006/relationships/tags" Target="../tags/tag1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tags" Target="../tags/tag11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19.xml"/><Relationship Id="rId3" Type="http://schemas.openxmlformats.org/officeDocument/2006/relationships/tags" Target="../tags/tag115.xml"/><Relationship Id="rId7" Type="http://schemas.openxmlformats.org/officeDocument/2006/relationships/slideLayout" Target="../slideLayouts/slideLayout17.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s>
</file>

<file path=ppt/slides/_rels/slide43.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tags" Target="../tags/tag121.xml"/><Relationship Id="rId7" Type="http://schemas.openxmlformats.org/officeDocument/2006/relationships/image" Target="../media/image26.jpe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notesSlide" Target="../notesSlides/notesSlide20.xml"/><Relationship Id="rId5" Type="http://schemas.openxmlformats.org/officeDocument/2006/relationships/slideLayout" Target="../slideLayouts/slideLayout17.xml"/><Relationship Id="rId4" Type="http://schemas.openxmlformats.org/officeDocument/2006/relationships/tags" Target="../tags/tag122.xml"/></Relationships>
</file>

<file path=ppt/slides/_rels/slide4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125.xml"/><Relationship Id="rId7" Type="http://schemas.openxmlformats.org/officeDocument/2006/relationships/notesSlide" Target="../notesSlides/notesSlide21.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slideLayout" Target="../slideLayouts/slideLayout17.xml"/><Relationship Id="rId5" Type="http://schemas.openxmlformats.org/officeDocument/2006/relationships/tags" Target="../tags/tag127.xml"/><Relationship Id="rId4" Type="http://schemas.openxmlformats.org/officeDocument/2006/relationships/tags" Target="../tags/tag12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7.xml"/><Relationship Id="rId1" Type="http://schemas.openxmlformats.org/officeDocument/2006/relationships/tags" Target="../tags/tag128.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9.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image" Target="../media/image33.jpeg"/><Relationship Id="rId5" Type="http://schemas.openxmlformats.org/officeDocument/2006/relationships/notesSlide" Target="../notesSlides/notesSlide27.xml"/><Relationship Id="rId4"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7.xml"/><Relationship Id="rId1" Type="http://schemas.openxmlformats.org/officeDocument/2006/relationships/tags" Target="../tags/tag133.xml"/><Relationship Id="rId4" Type="http://schemas.openxmlformats.org/officeDocument/2006/relationships/image" Target="../media/image34.jpeg"/></Relationships>
</file>

<file path=ppt/slides/_rels/slide5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notesSlide" Target="../notesSlides/notesSlide30.xml"/><Relationship Id="rId7" Type="http://schemas.openxmlformats.org/officeDocument/2006/relationships/image" Target="../media/image39.jpeg"/><Relationship Id="rId2" Type="http://schemas.openxmlformats.org/officeDocument/2006/relationships/slideLayout" Target="../slideLayouts/slideLayout17.xml"/><Relationship Id="rId1" Type="http://schemas.openxmlformats.org/officeDocument/2006/relationships/tags" Target="../tags/tag134.xml"/><Relationship Id="rId6" Type="http://schemas.openxmlformats.org/officeDocument/2006/relationships/image" Target="../media/image38.jpeg"/><Relationship Id="rId5" Type="http://schemas.openxmlformats.org/officeDocument/2006/relationships/image" Target="../media/image37.wmf"/><Relationship Id="rId4" Type="http://schemas.openxmlformats.org/officeDocument/2006/relationships/image" Target="../media/image36.wmf"/><Relationship Id="rId9" Type="http://schemas.openxmlformats.org/officeDocument/2006/relationships/image" Target="../media/image41.jpeg"/></Relationships>
</file>

<file path=ppt/slides/_rels/slide5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tags" Target="../tags/tag137.xml"/><Relationship Id="rId7" Type="http://schemas.openxmlformats.org/officeDocument/2006/relationships/image" Target="../media/image44.jpe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notesSlide" Target="../notesSlides/notesSlide33.xml"/><Relationship Id="rId5" Type="http://schemas.openxmlformats.org/officeDocument/2006/relationships/slideLayout" Target="../slideLayouts/slideLayout17.xml"/><Relationship Id="rId4" Type="http://schemas.openxmlformats.org/officeDocument/2006/relationships/tags" Target="../tags/tag138.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141.xml"/><Relationship Id="rId7" Type="http://schemas.openxmlformats.org/officeDocument/2006/relationships/tags" Target="../tags/tag145.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5" Type="http://schemas.openxmlformats.org/officeDocument/2006/relationships/tags" Target="../tags/tag143.xml"/><Relationship Id="rId10" Type="http://schemas.openxmlformats.org/officeDocument/2006/relationships/image" Target="../media/image35.jpeg"/><Relationship Id="rId4" Type="http://schemas.openxmlformats.org/officeDocument/2006/relationships/tags" Target="../tags/tag142.xml"/><Relationship Id="rId9" Type="http://schemas.openxmlformats.org/officeDocument/2006/relationships/notesSlide" Target="../notesSlides/notesSlide34.xml"/></Relationships>
</file>

<file path=ppt/slides/_rels/slide59.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45.jpeg"/><Relationship Id="rId5" Type="http://schemas.openxmlformats.org/officeDocument/2006/relationships/notesSlide" Target="../notesSlides/notesSlide35.xml"/><Relationship Id="rId4"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tags" Target="../tags/tag151.xml"/><Relationship Id="rId7" Type="http://schemas.openxmlformats.org/officeDocument/2006/relationships/image" Target="../media/image34.jpeg"/><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notesSlide" Target="../notesSlides/notesSlide36.xml"/><Relationship Id="rId5" Type="http://schemas.openxmlformats.org/officeDocument/2006/relationships/slideLayout" Target="../slideLayouts/slideLayout17.xml"/><Relationship Id="rId4" Type="http://schemas.openxmlformats.org/officeDocument/2006/relationships/tags" Target="../tags/tag152.xml"/></Relationships>
</file>

<file path=ppt/slides/_rels/slide61.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image" Target="../media/image46.jpeg"/><Relationship Id="rId5" Type="http://schemas.openxmlformats.org/officeDocument/2006/relationships/notesSlide" Target="../notesSlides/notesSlide37.xml"/><Relationship Id="rId4"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image" Target="../media/image47.jpeg"/><Relationship Id="rId5" Type="http://schemas.openxmlformats.org/officeDocument/2006/relationships/notesSlide" Target="../notesSlides/notesSlide38.xml"/><Relationship Id="rId4"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48.jpeg"/><Relationship Id="rId5" Type="http://schemas.openxmlformats.org/officeDocument/2006/relationships/notesSlide" Target="../notesSlides/notesSlide39.xml"/><Relationship Id="rId4"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tags" Target="../tags/tag164.xml"/><Relationship Id="rId7" Type="http://schemas.openxmlformats.org/officeDocument/2006/relationships/image" Target="../media/image50.png"/><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image" Target="../media/image49.png"/><Relationship Id="rId5" Type="http://schemas.openxmlformats.org/officeDocument/2006/relationships/notesSlide" Target="../notesSlides/notesSlide40.xml"/><Relationship Id="rId4"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8" Type="http://schemas.openxmlformats.org/officeDocument/2006/relationships/tags" Target="../tags/tag172.xml"/><Relationship Id="rId13" Type="http://schemas.openxmlformats.org/officeDocument/2006/relationships/slideLayout" Target="../slideLayouts/slideLayout17.xml"/><Relationship Id="rId3" Type="http://schemas.openxmlformats.org/officeDocument/2006/relationships/tags" Target="../tags/tag167.xml"/><Relationship Id="rId7" Type="http://schemas.openxmlformats.org/officeDocument/2006/relationships/tags" Target="../tags/tag171.xml"/><Relationship Id="rId12" Type="http://schemas.openxmlformats.org/officeDocument/2006/relationships/tags" Target="../tags/tag176.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tags" Target="../tags/tag175.xml"/><Relationship Id="rId5" Type="http://schemas.openxmlformats.org/officeDocument/2006/relationships/tags" Target="../tags/tag169.xml"/><Relationship Id="rId10" Type="http://schemas.openxmlformats.org/officeDocument/2006/relationships/tags" Target="../tags/tag174.xml"/><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notesSlide" Target="../notesSlides/notesSlide4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7.xml"/><Relationship Id="rId1" Type="http://schemas.openxmlformats.org/officeDocument/2006/relationships/tags" Target="../tags/tag177.xml"/><Relationship Id="rId4" Type="http://schemas.openxmlformats.org/officeDocument/2006/relationships/image" Target="../media/image51.jpeg"/></Relationships>
</file>

<file path=ppt/slides/_rels/slide7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3" Type="http://schemas.openxmlformats.org/officeDocument/2006/relationships/tags" Target="../tags/tag180.xml"/><Relationship Id="rId7" Type="http://schemas.openxmlformats.org/officeDocument/2006/relationships/tags" Target="../tags/tag184.xml"/><Relationship Id="rId12" Type="http://schemas.openxmlformats.org/officeDocument/2006/relationships/tags" Target="../tags/tag189.xml"/><Relationship Id="rId2" Type="http://schemas.openxmlformats.org/officeDocument/2006/relationships/tags" Target="../tags/tag179.xml"/><Relationship Id="rId16" Type="http://schemas.openxmlformats.org/officeDocument/2006/relationships/notesSlide" Target="../notesSlides/notesSlide52.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5" Type="http://schemas.openxmlformats.org/officeDocument/2006/relationships/tags" Target="../tags/tag182.xml"/><Relationship Id="rId15" Type="http://schemas.openxmlformats.org/officeDocument/2006/relationships/slideLayout" Target="../slideLayouts/slideLayout17.xml"/><Relationship Id="rId10" Type="http://schemas.openxmlformats.org/officeDocument/2006/relationships/tags" Target="../tags/tag187.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194.xml"/><Relationship Id="rId7" Type="http://schemas.openxmlformats.org/officeDocument/2006/relationships/tags" Target="../tags/tag198.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9" Type="http://schemas.openxmlformats.org/officeDocument/2006/relationships/notesSlide" Target="../notesSlides/notesSlide53.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9.xml"/></Relationships>
</file>

<file path=ppt/slides/_rels/slide79.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image" Target="../media/image16.png"/><Relationship Id="rId5" Type="http://schemas.openxmlformats.org/officeDocument/2006/relationships/notesSlide" Target="../notesSlides/notesSlide54.xml"/><Relationship Id="rId4"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notesSlide" Target="../notesSlides/notesSlide55.xml"/><Relationship Id="rId5" Type="http://schemas.openxmlformats.org/officeDocument/2006/relationships/slideLayout" Target="../slideLayouts/slideLayout17.xml"/><Relationship Id="rId4" Type="http://schemas.openxmlformats.org/officeDocument/2006/relationships/tags" Target="../tags/tag206.xml"/></Relationships>
</file>

<file path=ppt/slides/_rels/slide8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3" Type="http://schemas.openxmlformats.org/officeDocument/2006/relationships/tags" Target="../tags/tag209.xml"/><Relationship Id="rId7" Type="http://schemas.openxmlformats.org/officeDocument/2006/relationships/image" Target="../media/image33.jpe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56.jpeg"/><Relationship Id="rId5" Type="http://schemas.openxmlformats.org/officeDocument/2006/relationships/notesSlide" Target="../notesSlides/notesSlide59.xml"/><Relationship Id="rId4"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8" Type="http://schemas.openxmlformats.org/officeDocument/2006/relationships/tags" Target="../tags/tag217.xml"/><Relationship Id="rId13" Type="http://schemas.openxmlformats.org/officeDocument/2006/relationships/slideLayout" Target="../slideLayouts/slideLayout17.xml"/><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tags" Target="../tags/tag221.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tags" Target="../tags/tag220.xml"/><Relationship Id="rId5" Type="http://schemas.openxmlformats.org/officeDocument/2006/relationships/tags" Target="../tags/tag21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 Id="rId14" Type="http://schemas.openxmlformats.org/officeDocument/2006/relationships/notesSlide" Target="../notesSlides/notesSlide60.xml"/></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8" Type="http://schemas.openxmlformats.org/officeDocument/2006/relationships/tags" Target="../tags/tag229.xml"/><Relationship Id="rId13" Type="http://schemas.openxmlformats.org/officeDocument/2006/relationships/tags" Target="../tags/tag234.xml"/><Relationship Id="rId18" Type="http://schemas.openxmlformats.org/officeDocument/2006/relationships/tags" Target="../tags/tag239.xml"/><Relationship Id="rId3" Type="http://schemas.openxmlformats.org/officeDocument/2006/relationships/tags" Target="../tags/tag224.xml"/><Relationship Id="rId7" Type="http://schemas.openxmlformats.org/officeDocument/2006/relationships/tags" Target="../tags/tag228.xml"/><Relationship Id="rId12" Type="http://schemas.openxmlformats.org/officeDocument/2006/relationships/tags" Target="../tags/tag233.xml"/><Relationship Id="rId17" Type="http://schemas.openxmlformats.org/officeDocument/2006/relationships/tags" Target="../tags/tag238.xml"/><Relationship Id="rId2" Type="http://schemas.openxmlformats.org/officeDocument/2006/relationships/tags" Target="../tags/tag223.xml"/><Relationship Id="rId16" Type="http://schemas.openxmlformats.org/officeDocument/2006/relationships/tags" Target="../tags/tag237.xml"/><Relationship Id="rId20" Type="http://schemas.openxmlformats.org/officeDocument/2006/relationships/notesSlide" Target="../notesSlides/notesSlide62.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tags" Target="../tags/tag232.xml"/><Relationship Id="rId5" Type="http://schemas.openxmlformats.org/officeDocument/2006/relationships/tags" Target="../tags/tag226.xml"/><Relationship Id="rId15" Type="http://schemas.openxmlformats.org/officeDocument/2006/relationships/tags" Target="../tags/tag236.xml"/><Relationship Id="rId10" Type="http://schemas.openxmlformats.org/officeDocument/2006/relationships/tags" Target="../tags/tag231.xml"/><Relationship Id="rId19" Type="http://schemas.openxmlformats.org/officeDocument/2006/relationships/slideLayout" Target="../slideLayouts/slideLayout17.xml"/><Relationship Id="rId4" Type="http://schemas.openxmlformats.org/officeDocument/2006/relationships/tags" Target="../tags/tag225.xml"/><Relationship Id="rId9" Type="http://schemas.openxmlformats.org/officeDocument/2006/relationships/tags" Target="../tags/tag230.xml"/><Relationship Id="rId14" Type="http://schemas.openxmlformats.org/officeDocument/2006/relationships/tags" Target="../tags/tag235.xml"/></Relationships>
</file>

<file path=ppt/slides/_rels/slide88.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tags" Target="../tags/tag252.xml"/><Relationship Id="rId3" Type="http://schemas.openxmlformats.org/officeDocument/2006/relationships/tags" Target="../tags/tag242.xml"/><Relationship Id="rId7" Type="http://schemas.openxmlformats.org/officeDocument/2006/relationships/tags" Target="../tags/tag246.xml"/><Relationship Id="rId12" Type="http://schemas.openxmlformats.org/officeDocument/2006/relationships/tags" Target="../tags/tag251.xml"/><Relationship Id="rId2" Type="http://schemas.openxmlformats.org/officeDocument/2006/relationships/tags" Target="../tags/tag241.xml"/><Relationship Id="rId16" Type="http://schemas.openxmlformats.org/officeDocument/2006/relationships/notesSlide" Target="../notesSlides/notesSlide63.xml"/><Relationship Id="rId1" Type="http://schemas.openxmlformats.org/officeDocument/2006/relationships/tags" Target="../tags/tag240.xml"/><Relationship Id="rId6" Type="http://schemas.openxmlformats.org/officeDocument/2006/relationships/tags" Target="../tags/tag245.xml"/><Relationship Id="rId11" Type="http://schemas.openxmlformats.org/officeDocument/2006/relationships/tags" Target="../tags/tag250.xml"/><Relationship Id="rId5" Type="http://schemas.openxmlformats.org/officeDocument/2006/relationships/tags" Target="../tags/tag244.xml"/><Relationship Id="rId15" Type="http://schemas.openxmlformats.org/officeDocument/2006/relationships/slideLayout" Target="../slideLayouts/slideLayout17.xml"/><Relationship Id="rId10" Type="http://schemas.openxmlformats.org/officeDocument/2006/relationships/tags" Target="../tags/tag249.xml"/><Relationship Id="rId4" Type="http://schemas.openxmlformats.org/officeDocument/2006/relationships/tags" Target="../tags/tag243.xml"/><Relationship Id="rId9" Type="http://schemas.openxmlformats.org/officeDocument/2006/relationships/tags" Target="../tags/tag248.xml"/><Relationship Id="rId14" Type="http://schemas.openxmlformats.org/officeDocument/2006/relationships/tags" Target="../tags/tag253.xml"/></Relationships>
</file>

<file path=ppt/slides/_rels/slide89.xml.rels><?xml version="1.0" encoding="UTF-8" standalone="yes"?>
<Relationships xmlns="http://schemas.openxmlformats.org/package/2006/relationships"><Relationship Id="rId8" Type="http://schemas.openxmlformats.org/officeDocument/2006/relationships/tags" Target="../tags/tag261.xml"/><Relationship Id="rId13" Type="http://schemas.openxmlformats.org/officeDocument/2006/relationships/tags" Target="../tags/tag266.xml"/><Relationship Id="rId3" Type="http://schemas.openxmlformats.org/officeDocument/2006/relationships/tags" Target="../tags/tag256.xml"/><Relationship Id="rId7" Type="http://schemas.openxmlformats.org/officeDocument/2006/relationships/tags" Target="../tags/tag260.xml"/><Relationship Id="rId12" Type="http://schemas.openxmlformats.org/officeDocument/2006/relationships/tags" Target="../tags/tag265.xml"/><Relationship Id="rId2" Type="http://schemas.openxmlformats.org/officeDocument/2006/relationships/tags" Target="../tags/tag255.xml"/><Relationship Id="rId16" Type="http://schemas.openxmlformats.org/officeDocument/2006/relationships/notesSlide" Target="../notesSlides/notesSlide64.xml"/><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tags" Target="../tags/tag264.xml"/><Relationship Id="rId5" Type="http://schemas.openxmlformats.org/officeDocument/2006/relationships/tags" Target="../tags/tag258.xml"/><Relationship Id="rId15" Type="http://schemas.openxmlformats.org/officeDocument/2006/relationships/slideLayout" Target="../slideLayouts/slideLayout17.xml"/><Relationship Id="rId10" Type="http://schemas.openxmlformats.org/officeDocument/2006/relationships/tags" Target="../tags/tag263.xml"/><Relationship Id="rId4" Type="http://schemas.openxmlformats.org/officeDocument/2006/relationships/tags" Target="../tags/tag257.xml"/><Relationship Id="rId9" Type="http://schemas.openxmlformats.org/officeDocument/2006/relationships/tags" Target="../tags/tag262.xml"/><Relationship Id="rId14" Type="http://schemas.openxmlformats.org/officeDocument/2006/relationships/tags" Target="../tags/tag267.xml"/></Relationships>
</file>

<file path=ppt/slides/_rels/slide9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8" Type="http://schemas.openxmlformats.org/officeDocument/2006/relationships/notesSlide" Target="../notesSlides/notesSlide66.xml"/><Relationship Id="rId3" Type="http://schemas.openxmlformats.org/officeDocument/2006/relationships/tags" Target="../tags/tag270.xml"/><Relationship Id="rId7" Type="http://schemas.openxmlformats.org/officeDocument/2006/relationships/slideLayout" Target="../slideLayouts/slideLayout17.xml"/><Relationship Id="rId12" Type="http://schemas.openxmlformats.org/officeDocument/2006/relationships/image" Target="../media/image62.png"/><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tags" Target="../tags/tag273.xml"/><Relationship Id="rId11" Type="http://schemas.openxmlformats.org/officeDocument/2006/relationships/image" Target="../media/image61.jpeg"/><Relationship Id="rId5" Type="http://schemas.openxmlformats.org/officeDocument/2006/relationships/tags" Target="../tags/tag272.xml"/><Relationship Id="rId10" Type="http://schemas.openxmlformats.org/officeDocument/2006/relationships/image" Target="../media/image60.png"/><Relationship Id="rId4" Type="http://schemas.openxmlformats.org/officeDocument/2006/relationships/tags" Target="../tags/tag271.xml"/><Relationship Id="rId9" Type="http://schemas.openxmlformats.org/officeDocument/2006/relationships/image" Target="../media/image59.jpeg"/></Relationships>
</file>

<file path=ppt/slides/_rels/slide92.xml.rels><?xml version="1.0" encoding="UTF-8" standalone="yes"?>
<Relationships xmlns="http://schemas.openxmlformats.org/package/2006/relationships"><Relationship Id="rId8" Type="http://schemas.openxmlformats.org/officeDocument/2006/relationships/tags" Target="../tags/tag281.xml"/><Relationship Id="rId3" Type="http://schemas.openxmlformats.org/officeDocument/2006/relationships/tags" Target="../tags/tag276.xml"/><Relationship Id="rId7" Type="http://schemas.openxmlformats.org/officeDocument/2006/relationships/tags" Target="../tags/tag280.xml"/><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tags" Target="../tags/tag279.xml"/><Relationship Id="rId5" Type="http://schemas.openxmlformats.org/officeDocument/2006/relationships/tags" Target="../tags/tag278.xml"/><Relationship Id="rId10" Type="http://schemas.openxmlformats.org/officeDocument/2006/relationships/notesSlide" Target="../notesSlides/notesSlide67.xml"/><Relationship Id="rId4" Type="http://schemas.openxmlformats.org/officeDocument/2006/relationships/tags" Target="../tags/tag277.xml"/><Relationship Id="rId9"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notesSlide" Target="../notesSlides/notesSlide68.xml"/><Relationship Id="rId2" Type="http://schemas.openxmlformats.org/officeDocument/2006/relationships/tags" Target="../tags/tag283.xml"/><Relationship Id="rId16" Type="http://schemas.openxmlformats.org/officeDocument/2006/relationships/slideLayout" Target="../slideLayouts/slideLayout17.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5" Type="http://schemas.openxmlformats.org/officeDocument/2006/relationships/tags" Target="../tags/tag286.xml"/><Relationship Id="rId15" Type="http://schemas.openxmlformats.org/officeDocument/2006/relationships/tags" Target="../tags/tag296.xml"/><Relationship Id="rId10" Type="http://schemas.openxmlformats.org/officeDocument/2006/relationships/tags" Target="../tags/tag291.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s>
</file>

<file path=ppt/slides/_rels/slide9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8" Type="http://schemas.openxmlformats.org/officeDocument/2006/relationships/notesSlide" Target="../notesSlides/notesSlide70.xml"/><Relationship Id="rId3" Type="http://schemas.openxmlformats.org/officeDocument/2006/relationships/tags" Target="../tags/tag299.xml"/><Relationship Id="rId7" Type="http://schemas.openxmlformats.org/officeDocument/2006/relationships/slideLayout" Target="../slideLayouts/slideLayout17.xml"/><Relationship Id="rId12" Type="http://schemas.openxmlformats.org/officeDocument/2006/relationships/image" Target="../media/image67.jpeg"/><Relationship Id="rId2" Type="http://schemas.openxmlformats.org/officeDocument/2006/relationships/tags" Target="../tags/tag298.xml"/><Relationship Id="rId1" Type="http://schemas.openxmlformats.org/officeDocument/2006/relationships/tags" Target="../tags/tag297.xml"/><Relationship Id="rId6" Type="http://schemas.openxmlformats.org/officeDocument/2006/relationships/tags" Target="../tags/tag302.xml"/><Relationship Id="rId11" Type="http://schemas.openxmlformats.org/officeDocument/2006/relationships/image" Target="../media/image66.jpeg"/><Relationship Id="rId5" Type="http://schemas.openxmlformats.org/officeDocument/2006/relationships/tags" Target="../tags/tag301.xml"/><Relationship Id="rId10" Type="http://schemas.openxmlformats.org/officeDocument/2006/relationships/image" Target="../media/image65.jpeg"/><Relationship Id="rId4" Type="http://schemas.openxmlformats.org/officeDocument/2006/relationships/tags" Target="../tags/tag300.xml"/><Relationship Id="rId9" Type="http://schemas.openxmlformats.org/officeDocument/2006/relationships/image" Target="../media/image64.jpe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30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rPr>
              <a:t>11  </a:t>
            </a:r>
            <a:r>
              <a:rPr lang="zh-CN" altLang="en-US">
                <a:solidFill>
                  <a:srgbClr val="FF0000"/>
                </a:solidFill>
              </a:rPr>
              <a:t>软件工程技术的发展</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本章概述</a:t>
            </a:r>
          </a:p>
        </p:txBody>
      </p:sp>
      <p:sp>
        <p:nvSpPr>
          <p:cNvPr id="100" name="文本框 99"/>
          <p:cNvSpPr txBox="1"/>
          <p:nvPr/>
        </p:nvSpPr>
        <p:spPr>
          <a:xfrm>
            <a:off x="1700530" y="2617470"/>
            <a:ext cx="9190355" cy="2377440"/>
          </a:xfrm>
          <a:prstGeom prst="rect">
            <a:avLst/>
          </a:prstGeom>
          <a:noFill/>
          <a:ln w="9525">
            <a:noFill/>
          </a:ln>
        </p:spPr>
        <p:txBody>
          <a:bodyPr wrap="square">
            <a:spAutoFit/>
          </a:bodyPr>
          <a:lstStyle/>
          <a:p>
            <a:pPr marL="0" indent="0" algn="l" fontAlgn="auto">
              <a:lnSpc>
                <a:spcPct val="150000"/>
              </a:lnSpc>
            </a:pPr>
            <a:r>
              <a:rPr lang="en-US" altLang="zh-CN" sz="2000">
                <a:latin typeface="微软雅黑" panose="020B0503020204020204" charset="-122"/>
                <a:ea typeface="微软雅黑" panose="020B0503020204020204" charset="-122"/>
                <a:sym typeface="+mn-ea"/>
              </a:rPr>
              <a:t>       在经历了结构化软件工程阶段和面向对象软件工程阶段之后，软件工程技术也伴随着计算机技术的发展而不断发展变化着。本章主要介绍软件工程领域研究和使用的新技术，包括敏捷开发、极限编程、净室开发技术、面向服务的架构技术以及网构软件，并介绍目前流行的云计算技术对软件开发带来的影响。</a:t>
            </a:r>
          </a:p>
          <a:p>
            <a:pPr marL="0" indent="0" algn="l" fontAlgn="auto">
              <a:lnSpc>
                <a:spcPct val="150000"/>
              </a:lnSpc>
            </a:pPr>
            <a:r>
              <a:rPr lang="en-US" altLang="zh-CN" sz="2000">
                <a:latin typeface="微软雅黑" panose="020B0503020204020204" charset="-122"/>
                <a:ea typeface="微软雅黑" panose="020B0503020204020204" charset="-122"/>
                <a:sym typeface="+mn-ea"/>
              </a:rPr>
              <a:t>★ 本章重点：</a:t>
            </a:r>
            <a:r>
              <a:rPr lang="en-US" altLang="zh-CN" sz="2000">
                <a:solidFill>
                  <a:srgbClr val="C00000"/>
                </a:solidFill>
                <a:latin typeface="微软雅黑" panose="020B0503020204020204" charset="-122"/>
                <a:ea typeface="微软雅黑" panose="020B0503020204020204" charset="-122"/>
                <a:sym typeface="+mn-ea"/>
              </a:rPr>
              <a:t>面向服务的架构技术。</a:t>
            </a:r>
          </a:p>
        </p:txBody>
      </p:sp>
      <p:sp>
        <p:nvSpPr>
          <p:cNvPr id="7" name="文本框 6"/>
          <p:cNvSpPr txBox="1"/>
          <p:nvPr/>
        </p:nvSpPr>
        <p:spPr>
          <a:xfrm>
            <a:off x="754380" y="2640330"/>
            <a:ext cx="476250" cy="23317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软件工程技术的发展</a:t>
            </a:r>
          </a:p>
        </p:txBody>
      </p:sp>
    </p:spTree>
    <p:custDataLst>
      <p:tags r:id="rId1"/>
    </p:custData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561330" y="1490345"/>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敏捷开发与极限编程技术</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926965" y="2480945"/>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净室软件工程</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163695" y="350329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面向服务的架构技术</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401695" y="4450715"/>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云计算与软件开发</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7" name="组合 6"/>
          <p:cNvGrpSpPr/>
          <p:nvPr/>
        </p:nvGrpSpPr>
        <p:grpSpPr>
          <a:xfrm>
            <a:off x="2748280" y="5394960"/>
            <a:ext cx="4683760" cy="611505"/>
            <a:chOff x="5228" y="7274"/>
            <a:chExt cx="7100" cy="963"/>
          </a:xfrm>
        </p:grpSpPr>
        <p:pic>
          <p:nvPicPr>
            <p:cNvPr id="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9" name="椭圆 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 name="组合 42"/>
            <p:cNvGrpSpPr/>
            <p:nvPr/>
          </p:nvGrpSpPr>
          <p:grpSpPr>
            <a:xfrm>
              <a:off x="6383" y="7274"/>
              <a:ext cx="5945" cy="960"/>
              <a:chOff x="6004452" y="1971917"/>
              <a:chExt cx="3406249" cy="610204"/>
            </a:xfrm>
          </p:grpSpPr>
          <p:pic>
            <p:nvPicPr>
              <p:cNvPr id="1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12" name="圆角矩形 1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网构软件</a:t>
              </a:r>
            </a:p>
          </p:txBody>
        </p:sp>
        <p:sp>
          <p:nvSpPr>
            <p:cNvPr id="1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05</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465" y="2913380"/>
            <a:ext cx="5755640" cy="16059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敏捷开发与极限编程技术</a:t>
            </a:r>
          </a:p>
        </p:txBody>
      </p:sp>
      <p:grpSp>
        <p:nvGrpSpPr>
          <p:cNvPr id="7" name="组合 6"/>
          <p:cNvGrpSpPr/>
          <p:nvPr/>
        </p:nvGrpSpPr>
        <p:grpSpPr>
          <a:xfrm>
            <a:off x="7027545" y="4531995"/>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敏捷开发的含义</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极限编程</a:t>
              </a:r>
            </a:p>
          </p:txBody>
        </p:sp>
      </p:gr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rPr>
              <a:t>11.</a:t>
            </a:r>
            <a:r>
              <a:rPr lang="zh-CN" altLang="en-US" dirty="0" smtClean="0">
                <a:solidFill>
                  <a:srgbClr val="FF0000"/>
                </a:solidFill>
              </a:rPr>
              <a:t>1  </a:t>
            </a:r>
            <a:r>
              <a:rPr lang="zh-CN" altLang="en-US" dirty="0" smtClean="0">
                <a:solidFill>
                  <a:srgbClr val="FF0000"/>
                </a:solidFill>
                <a:sym typeface="+mn-ea"/>
              </a:rPr>
              <a:t>敏捷开发与极限编程技术</a:t>
            </a:r>
            <a:endParaRPr lang="zh-CN" altLang="en-US" dirty="0">
              <a:solidFill>
                <a:srgbClr val="FF0000"/>
              </a:solidFill>
            </a:endParaRPr>
          </a:p>
        </p:txBody>
      </p:sp>
      <p:grpSp>
        <p:nvGrpSpPr>
          <p:cNvPr id="7" name="组合 6"/>
          <p:cNvGrpSpPr/>
          <p:nvPr/>
        </p:nvGrpSpPr>
        <p:grpSpPr>
          <a:xfrm>
            <a:off x="0" y="2153058"/>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98" y="4382"/>
              <a:ext cx="9225" cy="4071"/>
            </a:xfrm>
            <a:prstGeom prst="rect">
              <a:avLst/>
            </a:prstGeom>
          </p:spPr>
          <p:txBody>
            <a:bodyPr wrap="square">
              <a:spAutoFit/>
            </a:bodyPr>
            <a:lstStyle/>
            <a:p>
              <a:pPr indent="457200">
                <a:lnSpc>
                  <a:spcPct val="150000"/>
                </a:lnSpc>
                <a:defRPr/>
              </a:pP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rPr>
                <a:t>提到“敏捷”这个词，大家都会想到迅速、轻盈这些近义词</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rPr>
                <a:t>对于中小型软件项目开发，</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快速、高质量、适应性强</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rPr>
                <a:t>正是“敏捷”的开发要求</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rPr>
                <a:t>如何面对越来越复杂的现代软件、越来越多变的用户需求进行软件开发呢</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rPr>
                <a:t>敏捷开发方法正是近年来软件工程技术的一个新兴发展方向，从而应对快速变化的用户需求</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8" name="图片 7" descr="A000220150322G43PPIC.png"/>
          <p:cNvPicPr>
            <a:picLocks noChangeAspect="1"/>
          </p:cNvPicPr>
          <p:nvPr/>
        </p:nvPicPr>
        <p:blipFill>
          <a:blip r:embed="rId2" cstate="print"/>
          <a:stretch>
            <a:fillRect/>
          </a:stretch>
        </p:blipFill>
        <p:spPr>
          <a:xfrm>
            <a:off x="6318913" y="255751"/>
            <a:ext cx="5508977" cy="5851575"/>
          </a:xfrm>
          <a:prstGeom prst="rect">
            <a:avLst/>
          </a:prstGeom>
        </p:spPr>
      </p:pic>
    </p:spTree>
  </p:cSld>
  <p:clrMapOvr>
    <a:masterClrMapping/>
  </p:clrMapOvr>
  <p:transition>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solidFill>
                  <a:srgbClr val="FF0000"/>
                </a:solidFill>
              </a:rPr>
              <a:t>11.</a:t>
            </a:r>
            <a:r>
              <a:rPr lang="zh-CN" altLang="en-US" dirty="0">
                <a:solidFill>
                  <a:srgbClr val="FF0000"/>
                </a:solidFill>
              </a:rPr>
              <a:t>1  </a:t>
            </a:r>
            <a:r>
              <a:rPr lang="zh-CN" altLang="en-US" dirty="0">
                <a:solidFill>
                  <a:srgbClr val="FF0000"/>
                </a:solidFill>
                <a:sym typeface="+mn-ea"/>
              </a:rPr>
              <a:t>敏捷开发与极限编程技术</a:t>
            </a:r>
            <a:endParaRPr lang="zh-CN" altLang="en-US" dirty="0">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2" name="组合 1"/>
          <p:cNvGrpSpPr/>
          <p:nvPr/>
        </p:nvGrpSpPr>
        <p:grpSpPr>
          <a:xfrm>
            <a:off x="5431944" y="2337833"/>
            <a:ext cx="5540790" cy="3571240"/>
            <a:chOff x="6668" y="5139"/>
            <a:chExt cx="9953" cy="6467"/>
          </a:xfrm>
        </p:grpSpPr>
        <p:sp>
          <p:nvSpPr>
            <p:cNvPr id="25" name="MH_SubTitle_2"/>
            <p:cNvSpPr/>
            <p:nvPr/>
          </p:nvSpPr>
          <p:spPr>
            <a:xfrm>
              <a:off x="6668" y="6756"/>
              <a:ext cx="4808" cy="1615"/>
            </a:xfrm>
            <a:prstGeom prst="rect">
              <a:avLst/>
            </a:prstGeom>
            <a:solidFill>
              <a:srgbClr val="FFF6D9"/>
            </a:solidFill>
            <a:ln w="25400" cap="flat" cmpd="sng" algn="ctr">
              <a:noFill/>
              <a:prstDash val="solid"/>
            </a:ln>
            <a:effectLst/>
          </p:spPr>
          <p:txBody>
            <a:bodyPr rIns="21600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t>② 可以工作的软件胜过面面俱到的文档；</a:t>
              </a:r>
            </a:p>
          </p:txBody>
        </p:sp>
        <p:sp>
          <p:nvSpPr>
            <p:cNvPr id="26" name="MH_Other_1"/>
            <p:cNvSpPr/>
            <p:nvPr/>
          </p:nvSpPr>
          <p:spPr>
            <a:xfrm flipH="1">
              <a:off x="11161" y="6756"/>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02</a:t>
              </a:r>
              <a:endParaRPr lang="zh-CN" altLang="en-US" sz="3200" kern="0" dirty="0">
                <a:solidFill>
                  <a:srgbClr val="FFFFFF"/>
                </a:solidFill>
                <a:latin typeface="Arial Black" panose="020B0A04020102020204" pitchFamily="34" charset="0"/>
                <a:ea typeface="宋体" panose="02010600030101010101" pitchFamily="2" charset="-122"/>
              </a:endParaRPr>
            </a:p>
          </p:txBody>
        </p:sp>
        <p:sp>
          <p:nvSpPr>
            <p:cNvPr id="27" name="MH_SubTitle_1"/>
            <p:cNvSpPr/>
            <p:nvPr/>
          </p:nvSpPr>
          <p:spPr>
            <a:xfrm>
              <a:off x="11369" y="5139"/>
              <a:ext cx="5252" cy="1617"/>
            </a:xfrm>
            <a:prstGeom prst="rect">
              <a:avLst/>
            </a:prstGeom>
            <a:solidFill>
              <a:srgbClr val="EEF9DF"/>
            </a:solidFill>
            <a:ln w="25400" cap="flat" cmpd="sng" algn="ctr">
              <a:noFill/>
              <a:prstDash val="solid"/>
            </a:ln>
            <a:effectLst/>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defRPr/>
              </a:pPr>
              <a:r>
                <a:rPr lang="zh-CN" altLang="en-US" dirty="0"/>
                <a:t>① 人员和交互胜过过程和工具；</a:t>
              </a:r>
            </a:p>
          </p:txBody>
        </p:sp>
        <p:sp>
          <p:nvSpPr>
            <p:cNvPr id="28" name="MH_Other_2"/>
            <p:cNvSpPr/>
            <p:nvPr/>
          </p:nvSpPr>
          <p:spPr>
            <a:xfrm>
              <a:off x="9669" y="5139"/>
              <a:ext cx="2077" cy="1617"/>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01</a:t>
              </a:r>
              <a:endParaRPr lang="zh-CN" altLang="en-US" sz="3200" kern="0" dirty="0">
                <a:solidFill>
                  <a:srgbClr val="FFFFFF"/>
                </a:solidFill>
                <a:latin typeface="Arial Black" panose="020B0A04020102020204" pitchFamily="34" charset="0"/>
                <a:ea typeface="宋体" panose="02010600030101010101" pitchFamily="2" charset="-122"/>
              </a:endParaRPr>
            </a:p>
          </p:txBody>
        </p:sp>
        <p:sp>
          <p:nvSpPr>
            <p:cNvPr id="5126" name="MH_SubTitle_4"/>
            <p:cNvSpPr>
              <a:spLocks noChangeArrowheads="1"/>
            </p:cNvSpPr>
            <p:nvPr/>
          </p:nvSpPr>
          <p:spPr bwMode="auto">
            <a:xfrm>
              <a:off x="6668" y="9942"/>
              <a:ext cx="4883" cy="1615"/>
            </a:xfrm>
            <a:prstGeom prst="rect">
              <a:avLst/>
            </a:prstGeom>
            <a:solidFill>
              <a:srgbClr val="FFF6D9"/>
            </a:solidFill>
            <a:ln w="25400" algn="ctr">
              <a:noFill/>
              <a:miter lim="800000"/>
            </a:ln>
          </p:spPr>
          <p:txBody>
            <a:bodyPr r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t>④ 响应变化胜过遵循计划。</a:t>
              </a:r>
            </a:p>
          </p:txBody>
        </p:sp>
        <p:sp>
          <p:nvSpPr>
            <p:cNvPr id="36" name="MH_Other_3"/>
            <p:cNvSpPr/>
            <p:nvPr/>
          </p:nvSpPr>
          <p:spPr>
            <a:xfrm flipH="1">
              <a:off x="11161" y="9991"/>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04</a:t>
              </a:r>
              <a:endParaRPr lang="zh-CN" altLang="en-US" sz="3200" kern="0" dirty="0">
                <a:solidFill>
                  <a:srgbClr val="FFFFFF"/>
                </a:solidFill>
                <a:latin typeface="Arial Black" panose="020B0A04020102020204" pitchFamily="34" charset="0"/>
                <a:ea typeface="宋体" panose="02010600030101010101" pitchFamily="2" charset="-122"/>
              </a:endParaRPr>
            </a:p>
          </p:txBody>
        </p:sp>
        <p:sp>
          <p:nvSpPr>
            <p:cNvPr id="5128" name="MH_SubTitle_3"/>
            <p:cNvSpPr>
              <a:spLocks noChangeArrowheads="1"/>
            </p:cNvSpPr>
            <p:nvPr/>
          </p:nvSpPr>
          <p:spPr bwMode="auto">
            <a:xfrm>
              <a:off x="11369" y="8376"/>
              <a:ext cx="5179" cy="1615"/>
            </a:xfrm>
            <a:prstGeom prst="rect">
              <a:avLst/>
            </a:prstGeom>
            <a:solidFill>
              <a:srgbClr val="EEF9DF"/>
            </a:solidFill>
            <a:ln w="25400" algn="ctr">
              <a:noFill/>
              <a:miter lim="800000"/>
            </a:ln>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t>③ 与客户合作胜过合同谈判；</a:t>
              </a:r>
            </a:p>
          </p:txBody>
        </p:sp>
        <p:sp>
          <p:nvSpPr>
            <p:cNvPr id="38" name="MH_Other_4"/>
            <p:cNvSpPr/>
            <p:nvPr/>
          </p:nvSpPr>
          <p:spPr>
            <a:xfrm>
              <a:off x="9669" y="8376"/>
              <a:ext cx="2077"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03</a:t>
              </a:r>
              <a:endParaRPr lang="zh-CN" altLang="en-US" sz="3200" kern="0" dirty="0">
                <a:solidFill>
                  <a:srgbClr val="FFFFFF"/>
                </a:solidFill>
                <a:latin typeface="Arial Black" panose="020B0A04020102020204" pitchFamily="34" charset="0"/>
                <a:ea typeface="宋体" panose="02010600030101010101" pitchFamily="2" charset="-122"/>
              </a:endParaRPr>
            </a:p>
          </p:txBody>
        </p:sp>
      </p:grpSp>
      <p:grpSp>
        <p:nvGrpSpPr>
          <p:cNvPr id="33" name="组合 32"/>
          <p:cNvGrpSpPr/>
          <p:nvPr/>
        </p:nvGrpSpPr>
        <p:grpSpPr>
          <a:xfrm>
            <a:off x="807246" y="3045669"/>
            <a:ext cx="3969385" cy="1853565"/>
            <a:chOff x="881" y="2735"/>
            <a:chExt cx="6251" cy="2919"/>
          </a:xfrm>
        </p:grpSpPr>
        <p:sp>
          <p:nvSpPr>
            <p:cNvPr id="167" name="圆角矩形"/>
            <p:cNvSpPr/>
            <p:nvPr/>
          </p:nvSpPr>
          <p:spPr>
            <a:xfrm>
              <a:off x="1188" y="3071"/>
              <a:ext cx="5944" cy="258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35" name="文本框 34"/>
            <p:cNvSpPr txBox="1"/>
            <p:nvPr/>
          </p:nvSpPr>
          <p:spPr>
            <a:xfrm>
              <a:off x="1213" y="3070"/>
              <a:ext cx="5726" cy="254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2001年，</a:t>
              </a:r>
              <a:r>
                <a:rPr dirty="0">
                  <a:solidFill>
                    <a:schemeClr val="tx1"/>
                  </a:solidFill>
                  <a:latin typeface="微软雅黑" panose="020B0503020204020204" charset="-122"/>
                  <a:ea typeface="微软雅黑" panose="020B0503020204020204" charset="-122"/>
                  <a:sym typeface="+mn-ea"/>
                </a:rPr>
                <a:t>Robert C．Martin等多位软件开发专家共同签署了“敏捷软件开发宣言”，论述了他们对软件开发原则、模式与实践的态度。该宣言提出：</a:t>
              </a:r>
            </a:p>
          </p:txBody>
        </p:sp>
      </p:grpSp>
    </p:spTree>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35" name="组合 34"/>
          <p:cNvGrpSpPr/>
          <p:nvPr/>
        </p:nvGrpSpPr>
        <p:grpSpPr>
          <a:xfrm>
            <a:off x="809625" y="4284345"/>
            <a:ext cx="10805795" cy="2313305"/>
            <a:chOff x="964" y="3475"/>
            <a:chExt cx="17017" cy="3643"/>
          </a:xfrm>
        </p:grpSpPr>
        <p:sp>
          <p:nvSpPr>
            <p:cNvPr id="18" name="MH_SubTitle_1"/>
            <p:cNvSpPr/>
            <p:nvPr>
              <p:custDataLst>
                <p:tags r:id="rId8"/>
              </p:custDataLst>
            </p:nvPr>
          </p:nvSpPr>
          <p:spPr>
            <a:xfrm>
              <a:off x="3287" y="3675"/>
              <a:ext cx="9190" cy="847"/>
            </a:xfrm>
            <a:prstGeom prst="rect">
              <a:avLst/>
            </a:prstGeom>
          </p:spPr>
          <p:txBody>
            <a:bodyPr anchor="b">
              <a:normAutofit/>
            </a:bodyPr>
            <a:lstStyle/>
            <a:p>
              <a:r>
                <a:rPr lang="zh-CN" altLang="en-US" b="1" dirty="0" smtClean="0">
                  <a:solidFill>
                    <a:schemeClr val="accent6">
                      <a:lumMod val="75000"/>
                    </a:schemeClr>
                  </a:solidFill>
                </a:rPr>
                <a:t>可以工作的软件胜过面面俱到的文档</a:t>
              </a:r>
            </a:p>
          </p:txBody>
        </p:sp>
        <p:grpSp>
          <p:nvGrpSpPr>
            <p:cNvPr id="34" name="组合 33"/>
            <p:cNvGrpSpPr/>
            <p:nvPr/>
          </p:nvGrpSpPr>
          <p:grpSpPr>
            <a:xfrm>
              <a:off x="964" y="3475"/>
              <a:ext cx="17017" cy="3643"/>
              <a:chOff x="1628" y="3271"/>
              <a:chExt cx="17017" cy="3643"/>
            </a:xfrm>
          </p:grpSpPr>
          <p:sp>
            <p:nvSpPr>
              <p:cNvPr id="4" name="MH_Text_1"/>
              <p:cNvSpPr/>
              <p:nvPr>
                <p:custDataLst>
                  <p:tags r:id="rId9"/>
                </p:custDataLst>
              </p:nvPr>
            </p:nvSpPr>
            <p:spPr>
              <a:xfrm>
                <a:off x="3125" y="4351"/>
                <a:ext cx="15520" cy="2563"/>
              </a:xfrm>
              <a:prstGeom prst="rect">
                <a:avLst/>
              </a:prstGeom>
            </p:spPr>
            <p:txBody>
              <a:bodyPr>
                <a:normAutofit/>
              </a:bodyPr>
              <a:lstStyle/>
              <a:p>
                <a:pPr indent="457200">
                  <a:lnSpc>
                    <a:spcPct val="150000"/>
                  </a:lnSpc>
                </a:pPr>
                <a:r>
                  <a:rPr lang="zh-CN" altLang="en-US" dirty="0" smtClean="0">
                    <a:latin typeface="+mn-ea"/>
                  </a:rPr>
                  <a:t>通过运行一个软件来了解软件的功能，远比阅读厚厚的文档容易得多。敏捷软件开发希望更快速地提供给用户一个可运行的软件，得到用户的认可。好的文档仍然是必须的，文档能帮助用户理解软件做什么、怎么做以及如何使用，但软件开发的主要目标是创建可运行的软件。</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1"/>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2"/>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09625" y="1961515"/>
            <a:ext cx="10805160" cy="2449830"/>
            <a:chOff x="1021" y="3475"/>
            <a:chExt cx="17016" cy="3858"/>
          </a:xfrm>
        </p:grpSpPr>
        <p:sp>
          <p:nvSpPr>
            <p:cNvPr id="6" name="MH_SubTitle_1"/>
            <p:cNvSpPr/>
            <p:nvPr>
              <p:custDataLst>
                <p:tags r:id="rId1"/>
              </p:custDataLst>
            </p:nvPr>
          </p:nvSpPr>
          <p:spPr>
            <a:xfrm>
              <a:off x="3287" y="3675"/>
              <a:ext cx="6775" cy="847"/>
            </a:xfrm>
            <a:prstGeom prst="rect">
              <a:avLst/>
            </a:prstGeom>
          </p:spPr>
          <p:txBody>
            <a:bodyPr anchor="b">
              <a:normAutofit/>
            </a:bodyPr>
            <a:lstStyle/>
            <a:p>
              <a:r>
                <a:rPr lang="zh-CN" altLang="en-US" b="1" dirty="0" smtClean="0">
                  <a:solidFill>
                    <a:srgbClr val="FF7C80"/>
                  </a:solidFill>
                </a:rPr>
                <a:t>人员和交互胜过过程和工具</a:t>
              </a:r>
            </a:p>
          </p:txBody>
        </p:sp>
        <p:grpSp>
          <p:nvGrpSpPr>
            <p:cNvPr id="7" name="组合 6"/>
            <p:cNvGrpSpPr/>
            <p:nvPr/>
          </p:nvGrpSpPr>
          <p:grpSpPr>
            <a:xfrm>
              <a:off x="1021" y="3475"/>
              <a:ext cx="17016" cy="3858"/>
              <a:chOff x="1685" y="3271"/>
              <a:chExt cx="17016" cy="3858"/>
            </a:xfrm>
          </p:grpSpPr>
          <p:sp>
            <p:nvSpPr>
              <p:cNvPr id="8" name="MH_Text_1"/>
              <p:cNvSpPr/>
              <p:nvPr>
                <p:custDataLst>
                  <p:tags r:id="rId2"/>
                </p:custDataLst>
              </p:nvPr>
            </p:nvSpPr>
            <p:spPr>
              <a:xfrm>
                <a:off x="3087" y="4448"/>
                <a:ext cx="15614" cy="2681"/>
              </a:xfrm>
              <a:prstGeom prst="rect">
                <a:avLst/>
              </a:prstGeom>
            </p:spPr>
            <p:txBody>
              <a:bodyPr>
                <a:normAutofit lnSpcReduction="10000"/>
              </a:bodyPr>
              <a:lstStyle/>
              <a:p>
                <a:pPr indent="457200" fontAlgn="auto">
                  <a:lnSpc>
                    <a:spcPct val="150000"/>
                  </a:lnSpc>
                </a:pPr>
                <a:r>
                  <a:rPr lang="zh-CN" altLang="en-US" dirty="0" smtClean="0">
                    <a:latin typeface="+mn-ea"/>
                  </a:rPr>
                  <a:t>不否认软件开发中过程和工具的重要性，但是更强调开发中人的作用和交流的作用。软件是由人组成的团队开发的，与项目有关的各类人员通过充分的交流和有效的合作，才能成功地开发出用户满意的软件。如果仅仅有良好的过程和先进的开发工具，而开发团队的人员技能很差，又不能很好地交流和协作，很难开发出好的软件。</a:t>
                </a:r>
              </a:p>
            </p:txBody>
          </p:sp>
          <p:sp>
            <p:nvSpPr>
              <p:cNvPr id="9" name="MH_Other_11"/>
              <p:cNvSpPr>
                <a:spLocks noChangeArrowheads="1"/>
              </p:cNvSpPr>
              <p:nvPr>
                <p:custDataLst>
                  <p:tags r:id="rId3"/>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4"/>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5"/>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35" name="组合 34"/>
          <p:cNvGrpSpPr/>
          <p:nvPr/>
        </p:nvGrpSpPr>
        <p:grpSpPr>
          <a:xfrm>
            <a:off x="845820" y="4298950"/>
            <a:ext cx="10744835" cy="2313305"/>
            <a:chOff x="964" y="3475"/>
            <a:chExt cx="16921" cy="3643"/>
          </a:xfrm>
        </p:grpSpPr>
        <p:sp>
          <p:nvSpPr>
            <p:cNvPr id="18" name="MH_SubTitle_1"/>
            <p:cNvSpPr/>
            <p:nvPr>
              <p:custDataLst>
                <p:tags r:id="rId8"/>
              </p:custDataLst>
            </p:nvPr>
          </p:nvSpPr>
          <p:spPr>
            <a:xfrm>
              <a:off x="3287" y="3675"/>
              <a:ext cx="6658" cy="847"/>
            </a:xfrm>
            <a:prstGeom prst="rect">
              <a:avLst/>
            </a:prstGeom>
          </p:spPr>
          <p:txBody>
            <a:bodyPr anchor="b">
              <a:normAutofit/>
            </a:bodyPr>
            <a:lstStyle/>
            <a:p>
              <a:r>
                <a:rPr lang="zh-CN" altLang="en-US" b="1" dirty="0" smtClean="0">
                  <a:solidFill>
                    <a:schemeClr val="accent3">
                      <a:lumMod val="75000"/>
                    </a:schemeClr>
                  </a:solidFill>
                </a:rPr>
                <a:t>响应变化胜过遵循计划</a:t>
              </a:r>
            </a:p>
          </p:txBody>
        </p:sp>
        <p:grpSp>
          <p:nvGrpSpPr>
            <p:cNvPr id="34" name="组合 33"/>
            <p:cNvGrpSpPr/>
            <p:nvPr/>
          </p:nvGrpSpPr>
          <p:grpSpPr>
            <a:xfrm>
              <a:off x="964" y="3475"/>
              <a:ext cx="16921" cy="3643"/>
              <a:chOff x="1628" y="3271"/>
              <a:chExt cx="16921" cy="3643"/>
            </a:xfrm>
          </p:grpSpPr>
          <p:sp>
            <p:nvSpPr>
              <p:cNvPr id="4" name="MH_Text_1"/>
              <p:cNvSpPr/>
              <p:nvPr>
                <p:custDataLst>
                  <p:tags r:id="rId9"/>
                </p:custDataLst>
              </p:nvPr>
            </p:nvSpPr>
            <p:spPr>
              <a:xfrm>
                <a:off x="3185" y="4351"/>
                <a:ext cx="15364" cy="2563"/>
              </a:xfrm>
              <a:prstGeom prst="rect">
                <a:avLst/>
              </a:prstGeom>
            </p:spPr>
            <p:txBody>
              <a:bodyPr>
                <a:normAutofit/>
              </a:bodyPr>
              <a:lstStyle/>
              <a:p>
                <a:pPr indent="457200">
                  <a:lnSpc>
                    <a:spcPct val="150000"/>
                  </a:lnSpc>
                </a:pPr>
                <a:r>
                  <a:rPr lang="zh-CN" altLang="en-US" dirty="0" smtClean="0">
                    <a:latin typeface="+mn-ea"/>
                  </a:rPr>
                  <a:t>任何软件项目的开发都应该制定一个项目计划，以确定各开发任务的优先顺序和起止日期。然而，随着项目的进展，需求、环境、技术都可能发生变化，任务的进度和起止日期也会由于种种原因发生改变。因此，当出现变化时要及时作出响应，修改计划以适应变化。</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1"/>
                </p:custDataLst>
              </p:nvPr>
            </p:nvSpPr>
            <p:spPr bwMode="auto">
              <a:xfrm>
                <a:off x="2495" y="411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2"/>
                </p:custDataLst>
              </p:nvPr>
            </p:nvSpPr>
            <p:spPr bwMode="auto">
              <a:xfrm>
                <a:off x="2925" y="3791"/>
                <a:ext cx="747" cy="560"/>
              </a:xfrm>
              <a:prstGeom prst="diamond">
                <a:avLst/>
              </a:prstGeom>
              <a:solidFill>
                <a:schemeClr val="accent3">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3">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45820" y="1962150"/>
            <a:ext cx="10744835" cy="2576195"/>
            <a:chOff x="1021" y="3475"/>
            <a:chExt cx="16921" cy="4057"/>
          </a:xfrm>
        </p:grpSpPr>
        <p:sp>
          <p:nvSpPr>
            <p:cNvPr id="6" name="MH_SubTitle_1"/>
            <p:cNvSpPr/>
            <p:nvPr>
              <p:custDataLst>
                <p:tags r:id="rId1"/>
              </p:custDataLst>
            </p:nvPr>
          </p:nvSpPr>
          <p:spPr>
            <a:xfrm>
              <a:off x="3287" y="3675"/>
              <a:ext cx="6775" cy="847"/>
            </a:xfrm>
            <a:prstGeom prst="rect">
              <a:avLst/>
            </a:prstGeom>
          </p:spPr>
          <p:txBody>
            <a:bodyPr anchor="b">
              <a:normAutofit/>
            </a:bodyPr>
            <a:lstStyle/>
            <a:p>
              <a:r>
                <a:rPr lang="zh-CN" altLang="en-US" b="1" dirty="0" smtClean="0">
                  <a:solidFill>
                    <a:schemeClr val="accent2">
                      <a:lumMod val="75000"/>
                    </a:schemeClr>
                  </a:solidFill>
                </a:rPr>
                <a:t>与客户合作胜过合同谈判</a:t>
              </a:r>
            </a:p>
          </p:txBody>
        </p:sp>
        <p:grpSp>
          <p:nvGrpSpPr>
            <p:cNvPr id="7" name="组合 6"/>
            <p:cNvGrpSpPr/>
            <p:nvPr/>
          </p:nvGrpSpPr>
          <p:grpSpPr>
            <a:xfrm>
              <a:off x="1021" y="3475"/>
              <a:ext cx="16921" cy="4057"/>
              <a:chOff x="1685" y="3271"/>
              <a:chExt cx="16921" cy="4057"/>
            </a:xfrm>
          </p:grpSpPr>
          <p:sp>
            <p:nvSpPr>
              <p:cNvPr id="8" name="MH_Text_1"/>
              <p:cNvSpPr/>
              <p:nvPr>
                <p:custDataLst>
                  <p:tags r:id="rId2"/>
                </p:custDataLst>
              </p:nvPr>
            </p:nvSpPr>
            <p:spPr>
              <a:xfrm>
                <a:off x="3087" y="4448"/>
                <a:ext cx="15519" cy="2880"/>
              </a:xfrm>
              <a:prstGeom prst="rect">
                <a:avLst/>
              </a:prstGeom>
            </p:spPr>
            <p:txBody>
              <a:bodyPr>
                <a:normAutofit/>
              </a:bodyPr>
              <a:lstStyle/>
              <a:p>
                <a:pPr indent="457200">
                  <a:lnSpc>
                    <a:spcPct val="150000"/>
                  </a:lnSpc>
                </a:pPr>
                <a:r>
                  <a:rPr lang="zh-CN" altLang="en-US" dirty="0" smtClean="0">
                    <a:latin typeface="+mn-ea"/>
                  </a:rPr>
                  <a:t>只有客户最清楚地知道需要什么样的软件。不幸的是，大量实践表明，在开发的早期，客户常常不能完整地表达他们的全部需求，有些需求即使开始确定了以后也会改变。要想通过合同谈判的方式将需求都固定下来是很困难的。因此，敏捷开发强调与客户的合作，通过与客户的交流和紧密合作来发现用户的需求。</a:t>
                </a:r>
              </a:p>
            </p:txBody>
          </p:sp>
          <p:sp>
            <p:nvSpPr>
              <p:cNvPr id="9"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7402564" y="2135758"/>
              <a:ext cx="13383360" cy="231946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从以上4点可以看出，</a:t>
              </a:r>
              <a:r>
                <a:rPr lang="da-DK" altLang="zh-CN" b="1" dirty="0" smtClean="0">
                  <a:solidFill>
                    <a:srgbClr val="00B050"/>
                  </a:solidFill>
                  <a:latin typeface="微软雅黑" panose="020B0503020204020204" charset="-122"/>
                  <a:ea typeface="微软雅黑" panose="020B0503020204020204" charset="-122"/>
                </a:rPr>
                <a:t>敏捷开发（Agile Development）是以用户的需求进化为核心，采用迭代、循序渐进的方法进行软件开发</a:t>
              </a:r>
              <a:r>
                <a:rPr lang="da-DK" altLang="zh-CN" dirty="0" smtClean="0">
                  <a:solidFill>
                    <a:schemeClr val="tx1"/>
                  </a:solidFill>
                  <a:latin typeface="微软雅黑" panose="020B0503020204020204" charset="-122"/>
                  <a:ea typeface="微软雅黑" panose="020B0503020204020204" charset="-122"/>
                </a:rPr>
                <a:t>。在敏捷开发中，软件项目在构建初期被切分成多个子项目，各个子项目的成果都经过测试，具备可视、可集成和可运行的特征。换言之，就是把一个大项目分为多个相互联系，但也可独立运行的小项目，并分别完成，在此过程中软件一直处于可使用状态。因此概括地说，</a:t>
              </a:r>
              <a:r>
                <a:rPr lang="da-DK" altLang="zh-CN" b="1" dirty="0" smtClean="0">
                  <a:solidFill>
                    <a:srgbClr val="00B050"/>
                  </a:solidFill>
                  <a:latin typeface="微软雅黑" panose="020B0503020204020204" charset="-122"/>
                  <a:ea typeface="微软雅黑" panose="020B0503020204020204" charset="-122"/>
                </a:rPr>
                <a:t>敏捷开发是一种以人为核心、迭代、循序渐进的开发方法。</a:t>
              </a:r>
            </a:p>
          </p:txBody>
        </p:sp>
      </p:grpSp>
    </p:spTree>
  </p:cSld>
  <p:clrMapOvr>
    <a:masterClrMapping/>
  </p:clrMapOvr>
  <p:transition>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sp>
        <p:nvSpPr>
          <p:cNvPr id="2" name="MH_Text_1"/>
          <p:cNvSpPr/>
          <p:nvPr>
            <p:custDataLst>
              <p:tags r:id="rId1"/>
            </p:custDataLst>
          </p:nvPr>
        </p:nvSpPr>
        <p:spPr bwMode="auto">
          <a:xfrm>
            <a:off x="1967230" y="2258060"/>
            <a:ext cx="8335645" cy="171132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mtClean="0">
                <a:latin typeface="+mn-ea"/>
              </a:rPr>
              <a:t>敏捷开发是针对传统的瀑布模型的弊端而产生的一种新的开发思想。瀑布模型是以文档为驱动的，在瀑布模型的整个开发过程中，要写大量的文档，把需求文档写出来后，开发人员都是根据文档进行开发的，一切以文档为依据；而</a:t>
            </a:r>
            <a:r>
              <a:rPr b="1" smtClean="0">
                <a:solidFill>
                  <a:srgbClr val="00B050"/>
                </a:solidFill>
                <a:latin typeface="+mn-ea"/>
              </a:rPr>
              <a:t>敏捷开发只写必要的文档，或尽量少写文档，敏捷开发注重的是人与人之间，面对面的交流，所以它强调以人为核心。</a:t>
            </a:r>
          </a:p>
        </p:txBody>
      </p:sp>
      <p:sp>
        <p:nvSpPr>
          <p:cNvPr id="5" name="MH_Text_2"/>
          <p:cNvSpPr/>
          <p:nvPr>
            <p:custDataLst>
              <p:tags r:id="rId2"/>
            </p:custDataLst>
          </p:nvPr>
        </p:nvSpPr>
        <p:spPr bwMode="auto">
          <a:xfrm>
            <a:off x="2790190" y="4194175"/>
            <a:ext cx="8235950" cy="182880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smtClean="0">
                <a:latin typeface="+mn-ea"/>
              </a:rPr>
              <a:t>敏捷开发指导我们用规定的环节去一步一步完成项目的开发，而这种开发方式的</a:t>
            </a:r>
            <a:r>
              <a:rPr b="1" smtClean="0">
                <a:solidFill>
                  <a:srgbClr val="00B050"/>
                </a:solidFill>
                <a:latin typeface="+mn-ea"/>
              </a:rPr>
              <a:t>主要驱动核心是人，它采用的是迭代式开发。</a:t>
            </a:r>
            <a:r>
              <a:rPr smtClean="0">
                <a:latin typeface="+mn-ea"/>
              </a:rPr>
              <a:t>迭代是指把一个复杂且开发周期很长的开发任务，分解为很多小周期可完成的任务，这样的一个周期就是一次迭代的过程；同时每一次迭代都可以生产或开发出一个可以交付的软件产品。</a:t>
            </a:r>
          </a:p>
        </p:txBody>
      </p:sp>
      <p:sp>
        <p:nvSpPr>
          <p:cNvPr id="7" name="MH_Other_2"/>
          <p:cNvSpPr txBox="1">
            <a:spLocks noChangeArrowheads="1"/>
          </p:cNvSpPr>
          <p:nvPr>
            <p:custDataLst>
              <p:tags r:id="rId3"/>
            </p:custDataLst>
          </p:nvPr>
        </p:nvSpPr>
        <p:spPr bwMode="auto">
          <a:xfrm>
            <a:off x="782884" y="2186168"/>
            <a:ext cx="992717" cy="2400300"/>
          </a:xfrm>
          <a:prstGeom prst="rect">
            <a:avLst/>
          </a:prstGeom>
          <a:noFill/>
          <a:ln w="9525">
            <a:noFill/>
            <a:miter lim="800000"/>
          </a:ln>
        </p:spPr>
        <p:txBody>
          <a:bodyPr anchor="ctr"/>
          <a:lstStyle/>
          <a:p>
            <a:pPr algn="ctr" eaLnBrk="1" hangingPunct="1"/>
            <a:r>
              <a:rPr lang="zh-CN" altLang="en-US" sz="4800" b="1" dirty="0" smtClean="0">
                <a:solidFill>
                  <a:srgbClr val="01AFEE"/>
                </a:solidFill>
                <a:latin typeface="MS PMincho" panose="02020600040205080304" pitchFamily="18" charset="-128"/>
                <a:ea typeface="MS PMincho" panose="02020600040205080304" pitchFamily="18" charset="-128"/>
              </a:rPr>
              <a:t>敏捷</a:t>
            </a:r>
            <a:endParaRPr lang="zh-CN" altLang="en-US" sz="4800" b="1" dirty="0">
              <a:solidFill>
                <a:srgbClr val="01AFEE"/>
              </a:solidFill>
              <a:latin typeface="MS PMincho" panose="02020600040205080304" pitchFamily="18" charset="-128"/>
              <a:ea typeface="MS PMincho" panose="02020600040205080304" pitchFamily="18" charset="-128"/>
            </a:endParaRPr>
          </a:p>
        </p:txBody>
      </p:sp>
      <p:sp>
        <p:nvSpPr>
          <p:cNvPr id="9" name="MH_Other_2"/>
          <p:cNvSpPr txBox="1">
            <a:spLocks noChangeArrowheads="1"/>
          </p:cNvSpPr>
          <p:nvPr>
            <p:custDataLst>
              <p:tags r:id="rId4"/>
            </p:custDataLst>
          </p:nvPr>
        </p:nvSpPr>
        <p:spPr bwMode="auto">
          <a:xfrm>
            <a:off x="1522137" y="3853476"/>
            <a:ext cx="992717" cy="2400300"/>
          </a:xfrm>
          <a:prstGeom prst="rect">
            <a:avLst/>
          </a:prstGeom>
          <a:noFill/>
          <a:ln w="9525">
            <a:noFill/>
            <a:miter lim="800000"/>
          </a:ln>
        </p:spPr>
        <p:txBody>
          <a:bodyPr anchor="ctr"/>
          <a:lstStyle/>
          <a:p>
            <a:pPr algn="ctr" eaLnBrk="1" hangingPunct="1"/>
            <a:r>
              <a:rPr lang="zh-CN" altLang="en-US" sz="4800" b="1" dirty="0" smtClean="0">
                <a:solidFill>
                  <a:srgbClr val="01AFEE"/>
                </a:solidFill>
                <a:latin typeface="MS PMincho" panose="02020600040205080304" pitchFamily="18" charset="-128"/>
                <a:ea typeface="MS PMincho" panose="02020600040205080304" pitchFamily="18" charset="-128"/>
              </a:rPr>
              <a:t>开发</a:t>
            </a:r>
            <a:endParaRPr lang="zh-CN" altLang="en-US" sz="4800" b="1" dirty="0">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pull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7" name="组合 6"/>
          <p:cNvGrpSpPr/>
          <p:nvPr/>
        </p:nvGrpSpPr>
        <p:grpSpPr>
          <a:xfrm>
            <a:off x="182245" y="1638935"/>
            <a:ext cx="11703685" cy="5306704"/>
            <a:chOff x="377825" y="1698625"/>
            <a:chExt cx="8440738" cy="4963161"/>
          </a:xfrm>
        </p:grpSpPr>
        <p:sp>
          <p:nvSpPr>
            <p:cNvPr id="6" name="MH_Desc_1"/>
            <p:cNvSpPr>
              <a:spLocks noChangeArrowheads="1"/>
            </p:cNvSpPr>
            <p:nvPr/>
          </p:nvSpPr>
          <p:spPr bwMode="auto">
            <a:xfrm>
              <a:off x="2111375" y="2514606"/>
              <a:ext cx="5095875" cy="3132838"/>
            </a:xfrm>
            <a:prstGeom prst="roundRect">
              <a:avLst>
                <a:gd name="adj" fmla="val 8912"/>
              </a:avLst>
            </a:prstGeom>
            <a:solidFill>
              <a:srgbClr val="E85252"/>
            </a:solidFill>
            <a:ln>
              <a:noFill/>
            </a:ln>
            <a:extLst>
              <a:ext uri="{91240B29-F687-4F45-9708-019B960494DF}">
                <a14:hiddenLine xmlns="" xmlns:a14="http://schemas.microsoft.com/office/drawing/2010/main"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dirty="0">
                  <a:solidFill>
                    <a:schemeClr val="bg1"/>
                  </a:solidFill>
                  <a:latin typeface="微软雅黑" panose="020B0503020204020204" charset="-122"/>
                  <a:ea typeface="微软雅黑" panose="020B0503020204020204" charset="-122"/>
                </a:rPr>
                <a:t>敏捷开发中的“</a:t>
              </a:r>
              <a:r>
                <a:rPr b="1" dirty="0">
                  <a:solidFill>
                    <a:srgbClr val="FFFF00"/>
                  </a:solidFill>
                  <a:latin typeface="微软雅黑" panose="020B0503020204020204" charset="-122"/>
                  <a:ea typeface="微软雅黑" panose="020B0503020204020204" charset="-122"/>
                </a:rPr>
                <a:t>敏捷</a:t>
              </a:r>
              <a:r>
                <a:rPr dirty="0">
                  <a:solidFill>
                    <a:schemeClr val="bg1"/>
                  </a:solidFill>
                  <a:latin typeface="微软雅黑" panose="020B0503020204020204" charset="-122"/>
                  <a:ea typeface="微软雅黑" panose="020B0503020204020204" charset="-122"/>
                </a:rPr>
                <a:t>”二字不是指某一种具体的方法、过程或框架，而是一种指导思想或开发原则。符合敏捷原则的开发方法包括：</a:t>
              </a:r>
              <a:r>
                <a:rPr b="1" dirty="0">
                  <a:solidFill>
                    <a:srgbClr val="FFFF00"/>
                  </a:solidFill>
                  <a:latin typeface="微软雅黑" panose="020B0503020204020204" charset="-122"/>
                  <a:ea typeface="微软雅黑" panose="020B0503020204020204" charset="-122"/>
                </a:rPr>
                <a:t>极限编程（Extreme Programming，XP），Scrum（一种以英式橄榄球争球队形命名的敏捷开发模型），精益软件开发（Lean Software Development），动态系统开发方法（DSDM），特征驱动开发（Feature Driven Development），水晶开发（Crystal Clear）等。</a:t>
              </a:r>
              <a:r>
                <a:rPr dirty="0">
                  <a:solidFill>
                    <a:schemeClr val="bg1"/>
                  </a:solidFill>
                  <a:latin typeface="微软雅黑" panose="020B0503020204020204" charset="-122"/>
                  <a:ea typeface="微软雅黑" panose="020B0503020204020204" charset="-122"/>
                </a:rPr>
                <a:t>常用的是极限编程（XP）和Scrum。两者的区别是Scrum偏重于过程，XP则偏重于实践，但是实际中，两者是结合在一起应用的。</a:t>
              </a:r>
            </a:p>
          </p:txBody>
        </p:sp>
        <p:sp>
          <p:nvSpPr>
            <p:cNvPr id="3076" name="MH_Other_1"/>
            <p:cNvSpPr>
              <a:spLocks noChangeArrowheads="1"/>
            </p:cNvSpPr>
            <p:nvPr/>
          </p:nvSpPr>
          <p:spPr bwMode="auto">
            <a:xfrm>
              <a:off x="377825" y="1698625"/>
              <a:ext cx="1658938" cy="1724661"/>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sp>
          <p:nvSpPr>
            <p:cNvPr id="2" name="MH_Other_2"/>
            <p:cNvSpPr>
              <a:spLocks noChangeArrowheads="1"/>
            </p:cNvSpPr>
            <p:nvPr/>
          </p:nvSpPr>
          <p:spPr bwMode="auto">
            <a:xfrm>
              <a:off x="7159625" y="4937125"/>
              <a:ext cx="1658938" cy="1724661"/>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grpSp>
    </p:spTree>
  </p:cSld>
  <p:clrMapOvr>
    <a:masterClrMapping/>
  </p:clrMapOvr>
  <p:transition>
    <p:pull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12" name="组合 11"/>
          <p:cNvGrpSpPr/>
          <p:nvPr/>
        </p:nvGrpSpPr>
        <p:grpSpPr>
          <a:xfrm>
            <a:off x="582164" y="2598104"/>
            <a:ext cx="9966960" cy="1694815"/>
            <a:chOff x="1630" y="5726"/>
            <a:chExt cx="15696" cy="2669"/>
          </a:xfrm>
        </p:grpSpPr>
        <p:cxnSp>
          <p:nvCxnSpPr>
            <p:cNvPr id="13"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5" name="MH_SubTitle_1"/>
            <p:cNvSpPr txBox="1">
              <a:spLocks noChangeArrowheads="1"/>
            </p:cNvSpPr>
            <p:nvPr/>
          </p:nvSpPr>
          <p:spPr bwMode="auto">
            <a:xfrm>
              <a:off x="3207" y="6041"/>
              <a:ext cx="14119" cy="2354"/>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迭代式开发</a:t>
              </a:r>
            </a:p>
            <a:p>
              <a:pPr indent="457200" fontAlgn="auto">
                <a:lnSpc>
                  <a:spcPct val="120000"/>
                </a:lnSpc>
              </a:pPr>
              <a:r>
                <a:rPr lang="zh-CN" altLang="en-US" dirty="0">
                  <a:ea typeface="微软雅黑" panose="020B0503020204020204" charset="-122"/>
                </a:rPr>
                <a:t>即整个开发过程被分为几个迭代周期，每个迭代周期是一个定长或不定长的时间块，每个迭代周期持续的时间一般较短，通常为1～6周。</a:t>
              </a:r>
            </a:p>
          </p:txBody>
        </p:sp>
        <p:sp>
          <p:nvSpPr>
            <p:cNvPr id="16"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17" name="组合 16"/>
          <p:cNvGrpSpPr/>
          <p:nvPr/>
        </p:nvGrpSpPr>
        <p:grpSpPr>
          <a:xfrm>
            <a:off x="582164" y="3954626"/>
            <a:ext cx="9628505" cy="1978660"/>
            <a:chOff x="1630" y="5726"/>
            <a:chExt cx="15163" cy="3116"/>
          </a:xfrm>
        </p:grpSpPr>
        <p:cxnSp>
          <p:nvCxnSpPr>
            <p:cNvPr id="18"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9"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1"/>
            <p:cNvSpPr txBox="1">
              <a:spLocks noChangeArrowheads="1"/>
            </p:cNvSpPr>
            <p:nvPr/>
          </p:nvSpPr>
          <p:spPr bwMode="auto">
            <a:xfrm>
              <a:off x="3370" y="5989"/>
              <a:ext cx="13423" cy="285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增量交付</a:t>
              </a:r>
            </a:p>
            <a:p>
              <a:pPr indent="457200" fontAlgn="auto">
                <a:lnSpc>
                  <a:spcPct val="120000"/>
                </a:lnSpc>
              </a:pPr>
              <a:r>
                <a:rPr lang="zh-CN" altLang="en-US" dirty="0">
                  <a:ea typeface="微软雅黑" panose="020B0503020204020204" charset="-122"/>
                </a:rPr>
                <a:t>产品是在每个迭代周期结束时被逐步交付使用，而不是在整个开发过程结束的时候一次性交付使用。每次交付的都是可以被部署到用户应用环境中被用户使用的、能给用户带来即时效益和价值的产品。</a:t>
              </a:r>
            </a:p>
          </p:txBody>
        </p:sp>
        <p:sp>
          <p:nvSpPr>
            <p:cNvPr id="21"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sp>
        <p:nvSpPr>
          <p:cNvPr id="35" name="文本框 34"/>
          <p:cNvSpPr txBox="1"/>
          <p:nvPr/>
        </p:nvSpPr>
        <p:spPr>
          <a:xfrm>
            <a:off x="229681" y="2216143"/>
            <a:ext cx="8900672" cy="397032"/>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所有以上这些符合敏捷原则的开发方法都具有敏捷开发</a:t>
            </a:r>
            <a:r>
              <a:rPr lang="zh-CN" dirty="0">
                <a:latin typeface="微软雅黑" panose="020B0503020204020204" charset="-122"/>
                <a:ea typeface="微软雅黑" panose="020B0503020204020204" charset="-122"/>
                <a:sym typeface="+mn-ea"/>
              </a:rPr>
              <a:t>以下</a:t>
            </a:r>
            <a:r>
              <a:rPr dirty="0">
                <a:latin typeface="微软雅黑" panose="020B0503020204020204" charset="-122"/>
                <a:ea typeface="微软雅黑" panose="020B0503020204020204" charset="-122"/>
                <a:sym typeface="+mn-ea"/>
              </a:rPr>
              <a:t>的共同特征：</a:t>
            </a:r>
          </a:p>
        </p:txBody>
      </p:sp>
    </p:spTree>
  </p:cSld>
  <p:clrMapOvr>
    <a:masterClrMapping/>
  </p:clrMapOvr>
  <p:transition>
    <p:pull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11.1.1  敏捷开发的含义</a:t>
            </a:r>
          </a:p>
        </p:txBody>
      </p:sp>
      <p:grpSp>
        <p:nvGrpSpPr>
          <p:cNvPr id="22" name="组合 21"/>
          <p:cNvGrpSpPr/>
          <p:nvPr/>
        </p:nvGrpSpPr>
        <p:grpSpPr>
          <a:xfrm>
            <a:off x="684399" y="1969463"/>
            <a:ext cx="10657205" cy="1550670"/>
            <a:chOff x="1840" y="2871"/>
            <a:chExt cx="16783" cy="2442"/>
          </a:xfrm>
        </p:grpSpPr>
        <p:cxnSp>
          <p:nvCxnSpPr>
            <p:cNvPr id="23"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4"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5" name="MH_SubTitle_2"/>
            <p:cNvSpPr txBox="1">
              <a:spLocks noChangeArrowheads="1"/>
            </p:cNvSpPr>
            <p:nvPr/>
          </p:nvSpPr>
          <p:spPr bwMode="auto">
            <a:xfrm>
              <a:off x="3730" y="3183"/>
              <a:ext cx="14893" cy="213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开发团队和用户反馈推动产品开发</a:t>
              </a:r>
            </a:p>
            <a:p>
              <a:pPr indent="457200" fontAlgn="auto">
                <a:lnSpc>
                  <a:spcPct val="120000"/>
                </a:lnSpc>
              </a:pPr>
              <a:r>
                <a:rPr lang="zh-CN" altLang="en-US" dirty="0">
                  <a:solidFill>
                    <a:schemeClr val="tx1"/>
                  </a:solidFill>
                  <a:ea typeface="微软雅黑" panose="020B0503020204020204" charset="-122"/>
                </a:rPr>
                <a:t>敏捷开发方法主张用户能够全程参与到整个开发过程中。这使需求变化和用户反馈能被动态管理并及时集成到产品中。同时，团队对于用户的需求也能及时提供反馈意见。</a:t>
              </a:r>
            </a:p>
          </p:txBody>
        </p:sp>
        <p:sp>
          <p:nvSpPr>
            <p:cNvPr id="26"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grpSp>
      <p:grpSp>
        <p:nvGrpSpPr>
          <p:cNvPr id="8" name="组合 7"/>
          <p:cNvGrpSpPr/>
          <p:nvPr/>
        </p:nvGrpSpPr>
        <p:grpSpPr>
          <a:xfrm>
            <a:off x="684530" y="3520440"/>
            <a:ext cx="10561320" cy="1314450"/>
            <a:chOff x="1840" y="2871"/>
            <a:chExt cx="16632" cy="2070"/>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692" y="2871"/>
              <a:ext cx="14780" cy="207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持续集成</a:t>
              </a:r>
            </a:p>
            <a:p>
              <a:pPr indent="457200" fontAlgn="auto">
                <a:lnSpc>
                  <a:spcPct val="120000"/>
                </a:lnSpc>
              </a:pPr>
              <a:r>
                <a:rPr lang="zh-CN" altLang="en-US" dirty="0">
                  <a:solidFill>
                    <a:schemeClr val="tx1"/>
                  </a:solidFill>
                  <a:ea typeface="微软雅黑" panose="020B0503020204020204" charset="-122"/>
                </a:rPr>
                <a:t>新的功能或需求变化总是尽可能频繁地被整合到产品中。一些项目是在每个迭代周期结束的时候集成，有些项目则每天都在这么做。</a:t>
              </a:r>
            </a:p>
          </p:txBody>
        </p:sp>
        <p:sp>
          <p:nvSpPr>
            <p:cNvPr id="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4</a:t>
              </a:r>
            </a:p>
          </p:txBody>
        </p:sp>
      </p:grpSp>
      <p:grpSp>
        <p:nvGrpSpPr>
          <p:cNvPr id="4" name="组合 3"/>
          <p:cNvGrpSpPr/>
          <p:nvPr/>
        </p:nvGrpSpPr>
        <p:grpSpPr>
          <a:xfrm>
            <a:off x="754249" y="4834583"/>
            <a:ext cx="10505440" cy="1382395"/>
            <a:chOff x="1840" y="2871"/>
            <a:chExt cx="16544" cy="2177"/>
          </a:xfrm>
        </p:grpSpPr>
        <p:cxnSp>
          <p:nvCxnSpPr>
            <p:cNvPr id="5"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7" name="MH_SubTitle_2"/>
            <p:cNvSpPr txBox="1">
              <a:spLocks noChangeArrowheads="1"/>
            </p:cNvSpPr>
            <p:nvPr/>
          </p:nvSpPr>
          <p:spPr bwMode="auto">
            <a:xfrm>
              <a:off x="3582" y="3183"/>
              <a:ext cx="14802" cy="186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完整的开发团队</a:t>
              </a:r>
            </a:p>
            <a:p>
              <a:pPr indent="457200" fontAlgn="auto">
                <a:lnSpc>
                  <a:spcPct val="120000"/>
                </a:lnSpc>
              </a:pPr>
              <a:r>
                <a:rPr lang="zh-CN" altLang="en-US" dirty="0">
                  <a:solidFill>
                    <a:schemeClr val="tx1"/>
                  </a:solidFill>
                  <a:ea typeface="微软雅黑" panose="020B0503020204020204" charset="-122"/>
                </a:rPr>
                <a:t>拥有一个积极的、自我管理的、具备自由交流风格的开发团队，是每个敏捷项目必不可少的条件。敏捷开发总是以人为中心建立开发的过程和机制，而非把过程和机制强加给人。</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5</a:t>
              </a:r>
            </a:p>
          </p:txBody>
        </p:sp>
      </p:grpSp>
    </p:spTree>
  </p:cSld>
  <p:clrMapOvr>
    <a:masterClrMapping/>
  </p:clrMapOvr>
  <p:transition>
    <p:pull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sp>
        <p:nvSpPr>
          <p:cNvPr id="100" name="文本框 99"/>
          <p:cNvSpPr txBox="1"/>
          <p:nvPr/>
        </p:nvSpPr>
        <p:spPr>
          <a:xfrm>
            <a:off x="1033543" y="2059229"/>
            <a:ext cx="7372350" cy="2864581"/>
          </a:xfrm>
          <a:prstGeom prst="roundRect">
            <a:avLst/>
          </a:prstGeom>
          <a:noFill/>
          <a:ln w="9525">
            <a:noFill/>
          </a:ln>
        </p:spPr>
        <p:txBody>
          <a:bodyPr wrap="square">
            <a:spAutoFit/>
          </a:bodyPr>
          <a:lstStyle/>
          <a:p>
            <a:pPr marL="0" indent="457200" algn="l" fontAlgn="auto">
              <a:lnSpc>
                <a:spcPct val="130000"/>
              </a:lnSpc>
            </a:pPr>
            <a:r>
              <a:rPr b="0" u="none" dirty="0">
                <a:latin typeface="微软雅黑" panose="020B0503020204020204" charset="-122"/>
                <a:ea typeface="微软雅黑" panose="020B0503020204020204" charset="-122"/>
              </a:rPr>
              <a:t>极限编程（XP）是一种著名的敏捷软件开发过程，由肯特•贝克（Kent Beck）于1997年在《Extreme Programming Explained Embrace Change》中提出。极限编程是一种轻量级的、灵巧的软件开发方法，它的基础和价值观是沟通（Communication）、简单（Simplicity）、反馈（Feedback）和勇气（Courage）。其中的含义是任何一个软件项目都可以从4个方面入手进行改善：</a:t>
            </a:r>
            <a:r>
              <a:rPr b="1" u="none" dirty="0">
                <a:solidFill>
                  <a:srgbClr val="00B050"/>
                </a:solidFill>
                <a:latin typeface="微软雅黑" panose="020B0503020204020204" charset="-122"/>
                <a:ea typeface="微软雅黑" panose="020B0503020204020204" charset="-122"/>
              </a:rPr>
              <a:t>① 加强交流；② 从简单做起；③ 寻求反馈；④ 勇于实事求是。</a:t>
            </a:r>
          </a:p>
        </p:txBody>
      </p:sp>
      <p:pic>
        <p:nvPicPr>
          <p:cNvPr id="4" name="图片 3" descr="u=3723956328,2513324234&amp;fm=23&amp;gp=0"/>
          <p:cNvPicPr>
            <a:picLocks noChangeAspect="1"/>
          </p:cNvPicPr>
          <p:nvPr/>
        </p:nvPicPr>
        <p:blipFill>
          <a:blip r:embed="rId2" cstate="print"/>
          <a:srcRect r="1633"/>
          <a:stretch>
            <a:fillRect/>
          </a:stretch>
        </p:blipFill>
        <p:spPr>
          <a:xfrm flipH="1">
            <a:off x="8639033" y="1386857"/>
            <a:ext cx="2135542" cy="3322200"/>
          </a:xfrm>
          <a:prstGeom prst="ellipse">
            <a:avLst/>
          </a:prstGeom>
        </p:spPr>
      </p:pic>
      <p:sp>
        <p:nvSpPr>
          <p:cNvPr id="6" name="文本框 5"/>
          <p:cNvSpPr txBox="1"/>
          <p:nvPr/>
        </p:nvSpPr>
        <p:spPr>
          <a:xfrm>
            <a:off x="1119116" y="4812629"/>
            <a:ext cx="10269609" cy="1297376"/>
          </a:xfrm>
          <a:prstGeom prst="roundRect">
            <a:avLst/>
          </a:prstGeom>
          <a:noFill/>
          <a:ln w="9525">
            <a:noFill/>
          </a:ln>
        </p:spPr>
        <p:txBody>
          <a:bodyPr wrap="square">
            <a:spAutoFit/>
          </a:bodyPr>
          <a:lstStyle/>
          <a:p>
            <a:pPr marL="0" indent="457200" algn="l" fontAlgn="auto">
              <a:lnSpc>
                <a:spcPct val="130000"/>
              </a:lnSpc>
            </a:pPr>
            <a:r>
              <a:rPr b="0" u="none" dirty="0">
                <a:latin typeface="微软雅黑" panose="020B0503020204020204" charset="-122"/>
                <a:ea typeface="微软雅黑" panose="020B0503020204020204" charset="-122"/>
              </a:rPr>
              <a:t>在这里，极限编程（XP）是一种近于螺旋式的开发方法，</a:t>
            </a:r>
            <a:r>
              <a:rPr b="1" u="none" dirty="0">
                <a:solidFill>
                  <a:schemeClr val="accent5">
                    <a:lumMod val="50000"/>
                  </a:schemeClr>
                </a:solidFill>
                <a:latin typeface="微软雅黑" panose="020B0503020204020204" charset="-122"/>
                <a:ea typeface="微软雅黑" panose="020B0503020204020204" charset="-122"/>
              </a:rPr>
              <a:t>它将复杂的开发过程分解为一个个相对比较简单的小周期，通过积极的交流、反馈以及其他一系列的方法，开发人员和客户可以非常清楚开发进度、变化、待解决的问题和潜在的困难等，并根据实际情况及时地调整开发过程。</a:t>
            </a:r>
          </a:p>
        </p:txBody>
      </p:sp>
    </p:spTree>
  </p:cSld>
  <p:clrMapOvr>
    <a:masterClrMapping/>
  </p:clrMapOvr>
  <p:transition>
    <p:pull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sp>
        <p:nvSpPr>
          <p:cNvPr id="100" name="文本框 99"/>
          <p:cNvSpPr txBox="1"/>
          <p:nvPr/>
        </p:nvSpPr>
        <p:spPr>
          <a:xfrm>
            <a:off x="5124968" y="1760561"/>
            <a:ext cx="5984308" cy="4413516"/>
          </a:xfrm>
          <a:prstGeom prst="rect">
            <a:avLst/>
          </a:prstGeom>
          <a:noFill/>
          <a:ln w="9525">
            <a:solidFill>
              <a:schemeClr val="accent3"/>
            </a:solidFill>
          </a:ln>
        </p:spPr>
        <p:txBody>
          <a:bodyPr wrap="square">
            <a:spAutoFit/>
          </a:bodyPr>
          <a:lstStyle/>
          <a:p>
            <a:pPr marL="0" indent="457200" algn="l" fontAlgn="auto">
              <a:lnSpc>
                <a:spcPct val="120000"/>
              </a:lnSpc>
            </a:pPr>
            <a:r>
              <a:rPr b="0" u="none" dirty="0">
                <a:latin typeface="微软雅黑" panose="020B0503020204020204" charset="-122"/>
                <a:ea typeface="微软雅黑" panose="020B0503020204020204" charset="-122"/>
              </a:rPr>
              <a:t>极限编程（XP）是一种软件工程方法学，是敏捷软件开发中应用最为广泛和最富有成效的方法学之一。如同其他敏捷方法学，极限编程和传统方法学的本质不同在于它更强调可适应性而不是可预测性。由于软件需求的不断变化是很自然的现象，是软件项目开发中不可避免的、也是应该欣然接受的现象，因此，有能力在项目周期的任何阶段去适应变化，将是更加现实、更加有效的方法。极限编程中的“极限”（Extreme）是指：对比传统的项目开发方式，XP强调把它列出的每个方法和思想做到极限、做到最好；其他XP所不提倡的，则一概忽略（如开发前期的整体设计等）。一个严格实施XP的项目，其开发过程应该是平稳的、高效的和快速的，能够做到一周40小时工作制、无需加班而不拖延项目进度。</a:t>
            </a:r>
          </a:p>
        </p:txBody>
      </p:sp>
      <p:grpSp>
        <p:nvGrpSpPr>
          <p:cNvPr id="7" name="组合 6"/>
          <p:cNvGrpSpPr/>
          <p:nvPr/>
        </p:nvGrpSpPr>
        <p:grpSpPr>
          <a:xfrm>
            <a:off x="0" y="2349757"/>
            <a:ext cx="8703075" cy="3049233"/>
            <a:chOff x="0" y="2349757"/>
            <a:chExt cx="8703075" cy="3049233"/>
          </a:xfrm>
        </p:grpSpPr>
        <p:sp>
          <p:nvSpPr>
            <p:cNvPr id="8" name="MH_Text_1"/>
            <p:cNvSpPr/>
            <p:nvPr>
              <p:custDataLst>
                <p:tags r:id="rId1"/>
              </p:custDataLst>
            </p:nvPr>
          </p:nvSpPr>
          <p:spPr>
            <a:xfrm>
              <a:off x="6059502" y="3364420"/>
              <a:ext cx="2643573" cy="998917"/>
            </a:xfrm>
            <a:prstGeom prst="accentCallout1">
              <a:avLst>
                <a:gd name="adj1" fmla="val 49642"/>
                <a:gd name="adj2" fmla="val -40324"/>
                <a:gd name="adj3" fmla="val 50717"/>
                <a:gd name="adj4" fmla="val -58372"/>
              </a:avLst>
            </a:prstGeom>
            <a:noFill/>
            <a:ln>
              <a:solidFill>
                <a:srgbClr val="1C7FE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just" eaLnBrk="1" fontAlgn="auto" hangingPunct="1">
                <a:lnSpc>
                  <a:spcPct val="140000"/>
                </a:lnSpc>
                <a:spcBef>
                  <a:spcPts val="0"/>
                </a:spcBef>
                <a:spcAft>
                  <a:spcPts val="0"/>
                </a:spcAft>
                <a:defRPr/>
              </a:pPr>
              <a:endParaRPr lang="zh-CN" altLang="en-US" sz="1600" dirty="0">
                <a:solidFill>
                  <a:schemeClr val="tx1"/>
                </a:solidFill>
                <a:latin typeface="幼圆" panose="02010509060101010101" pitchFamily="49" charset="-122"/>
                <a:ea typeface="幼圆" panose="02010509060101010101" pitchFamily="49" charset="-122"/>
              </a:endParaRPr>
            </a:p>
          </p:txBody>
        </p:sp>
        <p:sp>
          <p:nvSpPr>
            <p:cNvPr id="9" name="MH_SubTitle_2"/>
            <p:cNvSpPr/>
            <p:nvPr>
              <p:custDataLst>
                <p:tags r:id="rId2"/>
              </p:custDataLst>
            </p:nvPr>
          </p:nvSpPr>
          <p:spPr>
            <a:xfrm>
              <a:off x="740863" y="2349757"/>
              <a:ext cx="1438635" cy="1518493"/>
            </a:xfrm>
            <a:prstGeom prst="diamon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en-US" altLang="zh-CN" sz="1400" dirty="0" smtClean="0">
                  <a:solidFill>
                    <a:srgbClr val="FFFFFF"/>
                  </a:solidFill>
                  <a:latin typeface="微软雅黑" panose="020B0503020204020204" charset="-122"/>
                  <a:ea typeface="微软雅黑" panose="020B0503020204020204" charset="-122"/>
                </a:rPr>
                <a:t> </a:t>
              </a:r>
              <a:endParaRPr lang="zh-CN" altLang="en-US" sz="1400" dirty="0">
                <a:solidFill>
                  <a:srgbClr val="FFFFFF"/>
                </a:solidFill>
                <a:latin typeface="微软雅黑" panose="020B0503020204020204" charset="-122"/>
                <a:ea typeface="微软雅黑" panose="020B0503020204020204" charset="-122"/>
              </a:endParaRPr>
            </a:p>
          </p:txBody>
        </p:sp>
        <p:sp>
          <p:nvSpPr>
            <p:cNvPr id="10" name="MH_SubTitle_4"/>
            <p:cNvSpPr/>
            <p:nvPr>
              <p:custDataLst>
                <p:tags r:id="rId3"/>
              </p:custDataLst>
            </p:nvPr>
          </p:nvSpPr>
          <p:spPr>
            <a:xfrm>
              <a:off x="740863" y="3878747"/>
              <a:ext cx="1438635" cy="1520243"/>
            </a:xfrm>
            <a:prstGeom prst="diamon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en-US" altLang="zh-CN" sz="1400" dirty="0" smtClean="0">
                  <a:solidFill>
                    <a:srgbClr val="FFFFFF"/>
                  </a:solidFill>
                  <a:latin typeface="微软雅黑" panose="020B0503020204020204" charset="-122"/>
                  <a:ea typeface="微软雅黑" panose="020B0503020204020204" charset="-122"/>
                </a:rPr>
                <a:t> </a:t>
              </a:r>
              <a:endParaRPr lang="zh-CN" altLang="en-US" sz="1400" dirty="0">
                <a:solidFill>
                  <a:srgbClr val="FFFFFF"/>
                </a:solidFill>
                <a:latin typeface="微软雅黑" panose="020B0503020204020204" charset="-122"/>
                <a:ea typeface="微软雅黑" panose="020B0503020204020204" charset="-122"/>
              </a:endParaRPr>
            </a:p>
          </p:txBody>
        </p:sp>
        <p:sp>
          <p:nvSpPr>
            <p:cNvPr id="11" name="MH_SubTitle_3"/>
            <p:cNvSpPr/>
            <p:nvPr>
              <p:custDataLst>
                <p:tags r:id="rId4"/>
              </p:custDataLst>
            </p:nvPr>
          </p:nvSpPr>
          <p:spPr>
            <a:xfrm>
              <a:off x="0" y="3114253"/>
              <a:ext cx="1440292" cy="1520242"/>
            </a:xfrm>
            <a:prstGeom prst="diamond">
              <a:avLst/>
            </a:prstGeom>
            <a:blipFill>
              <a:blip r:embed="rId6" cstate="print"/>
              <a:stretch>
                <a:fillRect l="-39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lang="en-US" altLang="zh-CN" sz="1400" dirty="0" smtClean="0">
                  <a:solidFill>
                    <a:srgbClr val="FFFFFF"/>
                  </a:solidFill>
                  <a:latin typeface="微软雅黑" panose="020B0503020204020204" charset="-122"/>
                  <a:ea typeface="微软雅黑" panose="020B0503020204020204" charset="-122"/>
                </a:rPr>
                <a:t> </a:t>
              </a:r>
              <a:endParaRPr lang="zh-CN" altLang="en-US" sz="1400" dirty="0">
                <a:solidFill>
                  <a:srgbClr val="FFFFFF"/>
                </a:solidFill>
                <a:latin typeface="微软雅黑" panose="020B0503020204020204" charset="-122"/>
                <a:ea typeface="微软雅黑" panose="020B0503020204020204" charset="-122"/>
              </a:endParaRPr>
            </a:p>
          </p:txBody>
        </p:sp>
      </p:grpSp>
      <p:pic>
        <p:nvPicPr>
          <p:cNvPr id="2" name="图片 1" descr="timg (1)"/>
          <p:cNvPicPr>
            <a:picLocks noChangeAspect="1"/>
          </p:cNvPicPr>
          <p:nvPr/>
        </p:nvPicPr>
        <p:blipFill>
          <a:blip r:embed="rId7" cstate="print"/>
          <a:stretch>
            <a:fillRect/>
          </a:stretch>
        </p:blipFill>
        <p:spPr>
          <a:xfrm>
            <a:off x="1440180" y="2029460"/>
            <a:ext cx="3190875" cy="3689985"/>
          </a:xfrm>
          <a:prstGeom prst="diamond">
            <a:avLst/>
          </a:prstGeom>
        </p:spPr>
      </p:pic>
    </p:spTree>
  </p:cSld>
  <p:clrMapOvr>
    <a:masterClrMapping/>
  </p:clrMapOvr>
  <p:transition>
    <p:pull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grpSp>
        <p:nvGrpSpPr>
          <p:cNvPr id="18" name="组合 17"/>
          <p:cNvGrpSpPr/>
          <p:nvPr/>
        </p:nvGrpSpPr>
        <p:grpSpPr>
          <a:xfrm>
            <a:off x="155542" y="1969880"/>
            <a:ext cx="11237595" cy="4917440"/>
            <a:chOff x="1089025" y="1604963"/>
            <a:chExt cx="11237595" cy="4917440"/>
          </a:xfrm>
        </p:grpSpPr>
        <p:sp>
          <p:nvSpPr>
            <p:cNvPr id="3075" name="MH_SubTitle_1"/>
            <p:cNvSpPr>
              <a:spLocks noChangeArrowheads="1"/>
            </p:cNvSpPr>
            <p:nvPr/>
          </p:nvSpPr>
          <p:spPr bwMode="auto">
            <a:xfrm>
              <a:off x="2260600" y="1604963"/>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a:solidFill>
                    <a:srgbClr val="E26664"/>
                  </a:solidFill>
                  <a:latin typeface="Arial" panose="020B0604020202020204" pitchFamily="34" charset="0"/>
                  <a:ea typeface="幼圆" panose="02010509060101010101" pitchFamily="49" charset="-122"/>
                  <a:cs typeface="Arial" panose="020B0604020202020204" pitchFamily="34" charset="0"/>
                </a:rPr>
                <a:t>客户参与全过程</a:t>
              </a:r>
            </a:p>
          </p:txBody>
        </p:sp>
        <p:sp>
          <p:nvSpPr>
            <p:cNvPr id="44" name="MH_Other_1"/>
            <p:cNvSpPr/>
            <p:nvPr/>
          </p:nvSpPr>
          <p:spPr>
            <a:xfrm>
              <a:off x="2192338" y="1620838"/>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77" name="MH_Text_1"/>
            <p:cNvSpPr>
              <a:spLocks noChangeArrowheads="1"/>
            </p:cNvSpPr>
            <p:nvPr/>
          </p:nvSpPr>
          <p:spPr bwMode="auto">
            <a:xfrm>
              <a:off x="2260600" y="2272983"/>
              <a:ext cx="10066020" cy="42494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30000"/>
                </a:lnSpc>
                <a:defRPr/>
              </a:pPr>
              <a:r>
                <a:rPr lang="en-US" altLang="zh-CN" b="1">
                  <a:solidFill>
                    <a:schemeClr val="accent1">
                      <a:lumMod val="60000"/>
                      <a:lumOff val="40000"/>
                    </a:schemeClr>
                  </a:solidFill>
                  <a:latin typeface="微软雅黑" panose="020B0503020204020204" charset="-122"/>
                  <a:ea typeface="微软雅黑" panose="020B0503020204020204" charset="-122"/>
                  <a:cs typeface="Arial" panose="020B0604020202020204" pitchFamily="34" charset="0"/>
                </a:rPr>
                <a:t>客户应该是项目开发队伍中的一员，而不是和开发人员分开</a:t>
              </a:r>
              <a:r>
                <a:rPr lang="en-US" altLang="zh-CN">
                  <a:solidFill>
                    <a:schemeClr val="accent1">
                      <a:lumMod val="60000"/>
                      <a:lumOff val="40000"/>
                    </a:schemeClr>
                  </a:solidFill>
                  <a:latin typeface="微软雅黑" panose="020B0503020204020204" charset="-122"/>
                  <a:ea typeface="微软雅黑" panose="020B0503020204020204" charset="-122"/>
                  <a:cs typeface="Arial" panose="020B0604020202020204" pitchFamily="34" charset="0"/>
                </a:rPr>
                <a:t>。</a:t>
              </a:r>
              <a:r>
                <a:rPr lang="en-US" altLang="zh-CN">
                  <a:solidFill>
                    <a:schemeClr val="tx1"/>
                  </a:solidFill>
                  <a:latin typeface="微软雅黑" panose="020B0503020204020204" charset="-122"/>
                  <a:ea typeface="微软雅黑" panose="020B0503020204020204" charset="-122"/>
                  <a:cs typeface="Arial" panose="020B0604020202020204" pitchFamily="34" charset="0"/>
                </a:rPr>
                <a:t>因为从项目的计划到最后验收，客户一直起着很重要的作用。开发人员和客户一起，把各种需求变成一个个小的用户故事，这些模块又会根据实际情况被组合在一起或者被分解成更小的模块。它们都被记录在一些故事卡上，之后分别被程序员们在各个小的迭代（通常不超过3周）中实现。客户根据每个模块的商业价值来指定它们的优先级。</a:t>
              </a:r>
              <a:r>
                <a:rPr lang="en-US" altLang="zh-CN" b="1">
                  <a:solidFill>
                    <a:schemeClr val="accent1">
                      <a:lumMod val="60000"/>
                      <a:lumOff val="40000"/>
                    </a:schemeClr>
                  </a:solidFill>
                  <a:latin typeface="微软雅黑" panose="020B0503020204020204" charset="-122"/>
                  <a:ea typeface="微软雅黑" panose="020B0503020204020204" charset="-122"/>
                  <a:cs typeface="Arial" panose="020B0604020202020204" pitchFamily="34" charset="0"/>
                </a:rPr>
                <a:t>开发人员要做的是确定每个需求模块的开发风险，风险高的需求模块将被优先研究、探索和开发。</a:t>
              </a:r>
              <a:r>
                <a:rPr lang="en-US" altLang="zh-CN">
                  <a:solidFill>
                    <a:schemeClr val="tx1"/>
                  </a:solidFill>
                  <a:latin typeface="微软雅黑" panose="020B0503020204020204" charset="-122"/>
                  <a:ea typeface="微软雅黑" panose="020B0503020204020204" charset="-122"/>
                  <a:cs typeface="Arial" panose="020B0604020202020204" pitchFamily="34" charset="0"/>
                </a:rPr>
                <a:t>经过开发人员和客户分别从不同的角度评估每个模块后，它们被安排在不同的开发周期里，客户将得到一个尽可能准确的开发计划，客户为每个需求模块指定验收测试。</a:t>
              </a:r>
            </a:p>
            <a:p>
              <a:pPr indent="457200" algn="just" fontAlgn="auto">
                <a:lnSpc>
                  <a:spcPct val="130000"/>
                </a:lnSpc>
                <a:defRPr/>
              </a:pPr>
              <a:r>
                <a:rPr lang="en-US" altLang="zh-CN" b="1">
                  <a:solidFill>
                    <a:schemeClr val="accent1">
                      <a:lumMod val="60000"/>
                      <a:lumOff val="40000"/>
                    </a:schemeClr>
                  </a:solidFill>
                  <a:latin typeface="微软雅黑" panose="020B0503020204020204" charset="-122"/>
                  <a:ea typeface="微软雅黑" panose="020B0503020204020204" charset="-122"/>
                  <a:cs typeface="Arial" panose="020B0604020202020204" pitchFamily="34" charset="0"/>
                </a:rPr>
                <a:t>每经过一个开发周期，发布一次开发的软件，用户都能得到一个可以开始使用的系统，这个系统全面实现了相应的计划中的所有需求。</a:t>
              </a:r>
              <a:r>
                <a:rPr lang="en-US" altLang="zh-CN">
                  <a:solidFill>
                    <a:schemeClr val="tx1"/>
                  </a:solidFill>
                  <a:latin typeface="微软雅黑" panose="020B0503020204020204" charset="-122"/>
                  <a:ea typeface="微软雅黑" panose="020B0503020204020204" charset="-122"/>
                  <a:cs typeface="Arial" panose="020B0604020202020204" pitchFamily="34" charset="0"/>
                </a:rPr>
                <a:t>而在一些传统的开发模式中，无论什么功能，用户都要等到所有开发完成后才能开始使用。</a:t>
              </a:r>
            </a:p>
            <a:p>
              <a:pPr indent="457200" algn="just" fontAlgn="auto">
                <a:lnSpc>
                  <a:spcPct val="120000"/>
                </a:lnSpc>
                <a:defRPr/>
              </a:pPr>
              <a:endParaRPr lang="en-US" altLang="zh-CN">
                <a:solidFill>
                  <a:schemeClr val="tx1"/>
                </a:solidFill>
                <a:latin typeface="微软雅黑" panose="020B0503020204020204" charset="-122"/>
                <a:ea typeface="微软雅黑" panose="020B0503020204020204" charset="-122"/>
                <a:cs typeface="Arial" panose="020B0604020202020204" pitchFamily="34" charset="0"/>
              </a:endParaRPr>
            </a:p>
          </p:txBody>
        </p:sp>
        <p:cxnSp>
          <p:nvCxnSpPr>
            <p:cNvPr id="3078" name="MH_Other_2"/>
            <p:cNvCxnSpPr>
              <a:cxnSpLocks noChangeShapeType="1"/>
            </p:cNvCxnSpPr>
            <p:nvPr/>
          </p:nvCxnSpPr>
          <p:spPr bwMode="auto">
            <a:xfrm flipV="1">
              <a:off x="2360328" y="2201118"/>
              <a:ext cx="9965690" cy="3810"/>
            </a:xfrm>
            <a:prstGeom prst="line">
              <a:avLst/>
            </a:prstGeom>
            <a:noFill/>
            <a:ln w="19050" algn="ctr">
              <a:solidFill>
                <a:srgbClr val="BFBFBF"/>
              </a:solidFill>
              <a:prstDash val="sysDash"/>
              <a:miter lim="800000"/>
            </a:ln>
          </p:spPr>
        </p:cxnSp>
        <p:sp>
          <p:nvSpPr>
            <p:cNvPr id="3079" name="MH_Other_3"/>
            <p:cNvSpPr txBox="1">
              <a:spLocks noChangeArrowheads="1"/>
            </p:cNvSpPr>
            <p:nvPr/>
          </p:nvSpPr>
          <p:spPr bwMode="auto">
            <a:xfrm>
              <a:off x="1089025" y="1638300"/>
              <a:ext cx="1104900"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E26664"/>
                  </a:solidFill>
                  <a:ea typeface="幼圆" panose="02010509060101010101" pitchFamily="49" charset="-122"/>
                </a:rPr>
                <a:t>01</a:t>
              </a:r>
              <a:endParaRPr lang="zh-CN" altLang="en-US" sz="4800" b="1">
                <a:solidFill>
                  <a:srgbClr val="E26664"/>
                </a:solidFill>
                <a:ea typeface="幼圆" panose="02010509060101010101" pitchFamily="49" charset="-122"/>
              </a:endParaRPr>
            </a:p>
          </p:txBody>
        </p:sp>
      </p:grpSp>
    </p:spTree>
  </p:cSld>
  <p:clrMapOvr>
    <a:masterClrMapping/>
  </p:clrMapOvr>
  <p:transition>
    <p:pull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grpSp>
        <p:nvGrpSpPr>
          <p:cNvPr id="19" name="组合 18"/>
          <p:cNvGrpSpPr/>
          <p:nvPr/>
        </p:nvGrpSpPr>
        <p:grpSpPr>
          <a:xfrm>
            <a:off x="592297" y="2125186"/>
            <a:ext cx="7387901" cy="3641090"/>
            <a:chOff x="1900238" y="3073400"/>
            <a:chExt cx="7387901" cy="3641090"/>
          </a:xfrm>
        </p:grpSpPr>
        <p:sp>
          <p:nvSpPr>
            <p:cNvPr id="3080"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a:solidFill>
                    <a:srgbClr val="946A7D"/>
                  </a:solidFill>
                  <a:latin typeface="Arial" panose="020B0604020202020204" pitchFamily="34" charset="0"/>
                  <a:ea typeface="幼圆" panose="02010509060101010101" pitchFamily="49" charset="-122"/>
                  <a:cs typeface="Arial" panose="020B0604020202020204" pitchFamily="34" charset="0"/>
                </a:rPr>
                <a:t>简单设计</a:t>
              </a:r>
            </a:p>
          </p:txBody>
        </p:sp>
        <p:sp>
          <p:nvSpPr>
            <p:cNvPr id="49" name="MH_Other_4"/>
            <p:cNvSpPr/>
            <p:nvPr/>
          </p:nvSpPr>
          <p:spPr>
            <a:xfrm>
              <a:off x="2636838" y="3089275"/>
              <a:ext cx="68262" cy="1320800"/>
            </a:xfrm>
            <a:prstGeom prst="rect">
              <a:avLst/>
            </a:prstGeom>
            <a:solidFill>
              <a:srgbClr val="946A7D">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2704783" y="3781425"/>
              <a:ext cx="6583356" cy="2933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XP中让初学者感到最困惑的就是这点。XP要求用最简单的办法实现每个小需求，前提是按照这些简单设计开发出来的软件必须通过测试。</a:t>
              </a:r>
              <a:r>
                <a:rPr lang="en-US" altLang="zh-CN" b="1">
                  <a:solidFill>
                    <a:srgbClr val="7030A0"/>
                  </a:solidFill>
                  <a:latin typeface="微软雅黑" panose="020B0503020204020204" charset="-122"/>
                  <a:ea typeface="微软雅黑" panose="020B0503020204020204" charset="-122"/>
                  <a:cs typeface="Arial" panose="020B0604020202020204" pitchFamily="34" charset="0"/>
                </a:rPr>
                <a:t>这些设计只要能满足系统和客户在当下的需求就可以了，不需要任何画蛇添足的设计，而且所有这些设计都将在后续的开发过程中被不断地重整和优化。</a:t>
              </a:r>
            </a:p>
          </p:txBody>
        </p:sp>
        <p:cxnSp>
          <p:nvCxnSpPr>
            <p:cNvPr id="3083" name="MH_Other_5"/>
            <p:cNvCxnSpPr>
              <a:cxnSpLocks noChangeShapeType="1"/>
            </p:cNvCxnSpPr>
            <p:nvPr/>
          </p:nvCxnSpPr>
          <p:spPr bwMode="auto">
            <a:xfrm>
              <a:off x="2805113" y="3675063"/>
              <a:ext cx="4319587" cy="0"/>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1900238" y="3108325"/>
              <a:ext cx="738187" cy="1301750"/>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946A7D"/>
                  </a:solidFill>
                  <a:ea typeface="幼圆" panose="02010509060101010101" pitchFamily="49" charset="-122"/>
                </a:rPr>
                <a:t>02</a:t>
              </a:r>
              <a:endParaRPr lang="zh-CN" altLang="en-US" sz="4800" b="1">
                <a:solidFill>
                  <a:srgbClr val="946A7D"/>
                </a:solidFill>
                <a:ea typeface="幼圆" panose="02010509060101010101" pitchFamily="49" charset="-122"/>
              </a:endParaRPr>
            </a:p>
          </p:txBody>
        </p:sp>
      </p:grpSp>
      <p:sp>
        <p:nvSpPr>
          <p:cNvPr id="10" name="矩形 9"/>
          <p:cNvSpPr/>
          <p:nvPr/>
        </p:nvSpPr>
        <p:spPr>
          <a:xfrm>
            <a:off x="1497505" y="4799142"/>
            <a:ext cx="9853447" cy="1516380"/>
          </a:xfrm>
          <a:prstGeom prst="rect">
            <a:avLst/>
          </a:prstGeom>
        </p:spPr>
        <p:txBody>
          <a:bodyPr wrap="square">
            <a:spAutoFit/>
          </a:bodyPr>
          <a:lstStyle/>
          <a:p>
            <a:pPr indent="457200" fontAlgn="auto">
              <a:lnSpc>
                <a:spcPct val="130000"/>
              </a:lnSpc>
              <a:defRPr/>
            </a:pPr>
            <a:r>
              <a:rPr lang="en-US" altLang="zh-CN" smtClean="0">
                <a:latin typeface="微软雅黑" panose="020B0503020204020204" charset="-122"/>
                <a:ea typeface="微软雅黑" panose="020B0503020204020204" charset="-122"/>
                <a:cs typeface="Arial" panose="020B0604020202020204" pitchFamily="34" charset="0"/>
              </a:rPr>
              <a:t>在XP中，没有那种传统开发模式中一次性的、针对所有需求的总体设计。在XP中，设计过程几乎一直贯穿着整个项目开发：从制定项目的计划，到制定每个开发周期的计划，再到针对每个需求模块的简捷设计，到设计的复核，以及一直不间断的设计重整和优化。</a:t>
            </a:r>
            <a:r>
              <a:rPr lang="en-US" altLang="zh-CN" b="1" smtClean="0">
                <a:solidFill>
                  <a:srgbClr val="7030A0"/>
                </a:solidFill>
                <a:latin typeface="微软雅黑" panose="020B0503020204020204" charset="-122"/>
                <a:ea typeface="微软雅黑" panose="020B0503020204020204" charset="-122"/>
                <a:cs typeface="Arial" panose="020B0604020202020204" pitchFamily="34" charset="0"/>
              </a:rPr>
              <a:t>整个设计过程是个螺旋式的、不断前进和发展的过程。</a:t>
            </a:r>
            <a:r>
              <a:rPr lang="en-US" altLang="zh-CN" smtClean="0">
                <a:latin typeface="微软雅黑" panose="020B0503020204020204" charset="-122"/>
                <a:ea typeface="微软雅黑" panose="020B0503020204020204" charset="-122"/>
                <a:cs typeface="Arial" panose="020B0604020202020204" pitchFamily="34" charset="0"/>
              </a:rPr>
              <a:t>从这个角度看，XP是把设计做到了极致。</a:t>
            </a:r>
          </a:p>
        </p:txBody>
      </p:sp>
      <p:pic>
        <p:nvPicPr>
          <p:cNvPr id="4" name="图片 3" descr="u=1964387185,742777218&amp;fm=21&amp;gp=0"/>
          <p:cNvPicPr>
            <a:picLocks noChangeAspect="1"/>
          </p:cNvPicPr>
          <p:nvPr/>
        </p:nvPicPr>
        <p:blipFill>
          <a:blip r:embed="rId2" cstate="print"/>
          <a:stretch>
            <a:fillRect/>
          </a:stretch>
        </p:blipFill>
        <p:spPr>
          <a:xfrm>
            <a:off x="7947091" y="2446873"/>
            <a:ext cx="3212465" cy="2202180"/>
          </a:xfrm>
          <a:prstGeom prst="octagon">
            <a:avLst/>
          </a:prstGeom>
        </p:spPr>
      </p:pic>
    </p:spTree>
  </p:cSld>
  <p:clrMapOvr>
    <a:masterClrMapping/>
  </p:clrMapOvr>
  <p:transition>
    <p:pull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grpSp>
        <p:nvGrpSpPr>
          <p:cNvPr id="19" name="组合 18"/>
          <p:cNvGrpSpPr/>
          <p:nvPr/>
        </p:nvGrpSpPr>
        <p:grpSpPr>
          <a:xfrm>
            <a:off x="169704" y="1939131"/>
            <a:ext cx="7382504" cy="3641090"/>
            <a:chOff x="1905635" y="3073400"/>
            <a:chExt cx="7382504" cy="3641090"/>
          </a:xfrm>
        </p:grpSpPr>
        <p:sp>
          <p:nvSpPr>
            <p:cNvPr id="3080"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a:solidFill>
                    <a:schemeClr val="accent3">
                      <a:lumMod val="75000"/>
                    </a:schemeClr>
                  </a:solidFill>
                  <a:latin typeface="Arial" panose="020B0604020202020204" pitchFamily="34" charset="0"/>
                  <a:ea typeface="幼圆" panose="02010509060101010101" pitchFamily="49" charset="-122"/>
                  <a:cs typeface="Arial" panose="020B0604020202020204" pitchFamily="34" charset="0"/>
                </a:rPr>
                <a:t>编码规范，代码集体所有</a:t>
              </a:r>
            </a:p>
          </p:txBody>
        </p:sp>
        <p:sp>
          <p:nvSpPr>
            <p:cNvPr id="49" name="MH_Other_4"/>
            <p:cNvSpPr/>
            <p:nvPr/>
          </p:nvSpPr>
          <p:spPr>
            <a:xfrm>
              <a:off x="2636838" y="3089275"/>
              <a:ext cx="68262" cy="1320800"/>
            </a:xfrm>
            <a:prstGeom prst="rect">
              <a:avLst/>
            </a:prstGeom>
            <a:solidFill>
              <a:schemeClr val="accent3">
                <a:lumMod val="75000"/>
              </a:scheme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2704783" y="3781425"/>
              <a:ext cx="6583356" cy="29330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XP开发小组中的所有人</a:t>
              </a:r>
              <a:r>
                <a:rPr lang="en-US" altLang="zh-CN" b="1">
                  <a:solidFill>
                    <a:schemeClr val="accent3">
                      <a:lumMod val="75000"/>
                    </a:schemeClr>
                  </a:solidFill>
                  <a:latin typeface="微软雅黑" panose="020B0503020204020204" charset="-122"/>
                  <a:ea typeface="微软雅黑" panose="020B0503020204020204" charset="-122"/>
                  <a:cs typeface="Arial" panose="020B0604020202020204" pitchFamily="34" charset="0"/>
                </a:rPr>
                <a:t>都遵循一个统一的编程标准，</a:t>
              </a:r>
              <a:r>
                <a:rPr lang="en-US" altLang="zh-CN">
                  <a:solidFill>
                    <a:schemeClr val="tx1"/>
                  </a:solidFill>
                  <a:latin typeface="微软雅黑" panose="020B0503020204020204" charset="-122"/>
                  <a:ea typeface="微软雅黑" panose="020B0503020204020204" charset="-122"/>
                  <a:cs typeface="Arial" panose="020B0604020202020204" pitchFamily="34" charset="0"/>
                </a:rPr>
                <a:t>因此，所有的代码看起来好像是一个人写的。因为有了统一的编程规范，每个程序员更加容易读懂其他人写的代码，这是实现代码集体所有的重要前提之一。</a:t>
              </a:r>
            </a:p>
          </p:txBody>
        </p:sp>
        <p:cxnSp>
          <p:nvCxnSpPr>
            <p:cNvPr id="3083" name="MH_Other_5"/>
            <p:cNvCxnSpPr>
              <a:cxnSpLocks noChangeShapeType="1"/>
            </p:cNvCxnSpPr>
            <p:nvPr/>
          </p:nvCxnSpPr>
          <p:spPr bwMode="auto">
            <a:xfrm>
              <a:off x="2805113" y="3675063"/>
              <a:ext cx="4319587" cy="0"/>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1905635" y="3108325"/>
              <a:ext cx="731520" cy="1301750"/>
            </a:xfrm>
            <a:prstGeom prst="rect">
              <a:avLst/>
            </a:prstGeom>
            <a:noFill/>
            <a:ln w="9525">
              <a:noFill/>
              <a:miter lim="800000"/>
            </a:ln>
          </p:spPr>
          <p:txBody>
            <a:bodyPr vert="eaVert"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chemeClr val="accent3">
                      <a:lumMod val="75000"/>
                    </a:schemeClr>
                  </a:solidFill>
                  <a:ea typeface="幼圆" panose="02010509060101010101" pitchFamily="49" charset="-122"/>
                </a:rPr>
                <a:t>03</a:t>
              </a:r>
            </a:p>
          </p:txBody>
        </p:sp>
      </p:grpSp>
      <p:sp>
        <p:nvSpPr>
          <p:cNvPr id="10" name="矩形 9"/>
          <p:cNvSpPr/>
          <p:nvPr/>
        </p:nvSpPr>
        <p:spPr>
          <a:xfrm>
            <a:off x="969010" y="4168775"/>
            <a:ext cx="10466705" cy="2228850"/>
          </a:xfrm>
          <a:prstGeom prst="rect">
            <a:avLst/>
          </a:prstGeom>
        </p:spPr>
        <p:txBody>
          <a:bodyPr wrap="square">
            <a:spAutoFit/>
          </a:bodyPr>
          <a:lstStyle/>
          <a:p>
            <a:pPr indent="457200" fontAlgn="auto">
              <a:lnSpc>
                <a:spcPct val="130000"/>
              </a:lnSpc>
              <a:defRPr/>
            </a:pPr>
            <a:r>
              <a:rPr lang="en-US" altLang="zh-CN" smtClean="0">
                <a:latin typeface="微软雅黑" panose="020B0503020204020204" charset="-122"/>
                <a:ea typeface="微软雅黑" panose="020B0503020204020204" charset="-122"/>
                <a:cs typeface="Arial" panose="020B0604020202020204" pitchFamily="34" charset="0"/>
              </a:rPr>
              <a:t>在这个阶段常见一个名词：结对编程（Pair Programming）。</a:t>
            </a:r>
            <a:r>
              <a:rPr lang="en-US" altLang="zh-CN" b="1" smtClean="0">
                <a:solidFill>
                  <a:schemeClr val="accent3">
                    <a:lumMod val="75000"/>
                  </a:schemeClr>
                </a:solidFill>
                <a:latin typeface="微软雅黑" panose="020B0503020204020204" charset="-122"/>
                <a:ea typeface="微软雅黑" panose="020B0503020204020204" charset="-122"/>
                <a:cs typeface="Arial" panose="020B0604020202020204" pitchFamily="34" charset="0"/>
              </a:rPr>
              <a:t>结对编程是指代码由两个人坐在一台电脑前一起完成。</a:t>
            </a:r>
            <a:r>
              <a:rPr lang="en-US" altLang="zh-CN" smtClean="0">
                <a:latin typeface="微软雅黑" panose="020B0503020204020204" charset="-122"/>
                <a:ea typeface="微软雅黑" panose="020B0503020204020204" charset="-122"/>
                <a:cs typeface="Arial" panose="020B0604020202020204" pitchFamily="34" charset="0"/>
              </a:rPr>
              <a:t>一个程序员控制电脑并且主要考虑编码细节，另外一个人主要关注整体结构，不断地对第一个程序员写的代码进行评审。结对不是固定的，程序员可以尽量交叉结对。这样，每个人都可以知道其他人的工作，每个人都对整个系统熟悉。</a:t>
            </a:r>
            <a:r>
              <a:rPr lang="en-US" altLang="zh-CN" b="1" smtClean="0">
                <a:solidFill>
                  <a:schemeClr val="accent3">
                    <a:lumMod val="75000"/>
                  </a:schemeClr>
                </a:solidFill>
                <a:latin typeface="微软雅黑" panose="020B0503020204020204" charset="-122"/>
                <a:ea typeface="微软雅黑" panose="020B0503020204020204" charset="-122"/>
                <a:cs typeface="Arial" panose="020B0604020202020204" pitchFamily="34" charset="0"/>
              </a:rPr>
              <a:t>结对编程加强了团队内的沟通，不但提高了软件质量，还增强了相互之间的知识交流和理解。这不但有利于个人，也有利于整个项目、开发队伍和公司。</a:t>
            </a:r>
            <a:r>
              <a:rPr lang="en-US" altLang="zh-CN" smtClean="0">
                <a:latin typeface="微软雅黑" panose="020B0503020204020204" charset="-122"/>
                <a:ea typeface="微软雅黑" panose="020B0503020204020204" charset="-122"/>
                <a:cs typeface="Arial" panose="020B0604020202020204" pitchFamily="34" charset="0"/>
              </a:rPr>
              <a:t>从这点看，结对编程不仅适用于XP，也适用于所有其他的软件开发方法。</a:t>
            </a:r>
          </a:p>
        </p:txBody>
      </p:sp>
      <p:pic>
        <p:nvPicPr>
          <p:cNvPr id="4" name="图片 3" descr="wKioL1bD1cSjOHDUAAD3bqlL5IM770"/>
          <p:cNvPicPr>
            <a:picLocks noChangeAspect="1"/>
          </p:cNvPicPr>
          <p:nvPr/>
        </p:nvPicPr>
        <p:blipFill>
          <a:blip r:embed="rId2" cstate="print"/>
          <a:stretch>
            <a:fillRect/>
          </a:stretch>
        </p:blipFill>
        <p:spPr>
          <a:xfrm>
            <a:off x="7656839" y="2069749"/>
            <a:ext cx="3644265" cy="1987550"/>
          </a:xfrm>
          <a:prstGeom prst="pentagon">
            <a:avLst/>
          </a:prstGeom>
        </p:spPr>
      </p:pic>
    </p:spTree>
  </p:cSld>
  <p:clrMapOvr>
    <a:masterClrMapping/>
  </p:clrMapOvr>
  <p:transition>
    <p:pull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grpSp>
        <p:nvGrpSpPr>
          <p:cNvPr id="19" name="组合 18"/>
          <p:cNvGrpSpPr/>
          <p:nvPr/>
        </p:nvGrpSpPr>
        <p:grpSpPr>
          <a:xfrm>
            <a:off x="742237" y="2336006"/>
            <a:ext cx="5370194" cy="1336675"/>
            <a:chOff x="1906906" y="3073400"/>
            <a:chExt cx="5370194" cy="1336675"/>
          </a:xfrm>
        </p:grpSpPr>
        <p:sp>
          <p:nvSpPr>
            <p:cNvPr id="3080"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p>
              <a:pPr eaLnBrk="1" hangingPunct="1"/>
              <a:r>
                <a:rPr lang="en-US" altLang="zh-CN" sz="2000" b="1">
                  <a:solidFill>
                    <a:srgbClr val="FFC000"/>
                  </a:solidFill>
                  <a:latin typeface="Arial" panose="020B0604020202020204" pitchFamily="34" charset="0"/>
                  <a:ea typeface="幼圆" panose="02010509060101010101" pitchFamily="49" charset="-122"/>
                  <a:cs typeface="Arial" panose="020B0604020202020204" pitchFamily="34" charset="0"/>
                </a:rPr>
                <a:t>测试驱动开发</a:t>
              </a:r>
            </a:p>
          </p:txBody>
        </p:sp>
        <p:sp>
          <p:nvSpPr>
            <p:cNvPr id="49" name="MH_Other_4"/>
            <p:cNvSpPr/>
            <p:nvPr/>
          </p:nvSpPr>
          <p:spPr>
            <a:xfrm>
              <a:off x="2636838" y="3089275"/>
              <a:ext cx="68262" cy="1320800"/>
            </a:xfrm>
            <a:prstGeom prst="rect">
              <a:avLst/>
            </a:prstGeom>
            <a:solidFill>
              <a:srgbClr val="FFC000"/>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FFC000"/>
                </a:solidFill>
                <a:latin typeface="Calibri" panose="020F0502020204030204"/>
                <a:ea typeface="幼圆" panose="02010509060101010101" pitchFamily="49" charset="-122"/>
              </a:endParaRPr>
            </a:p>
          </p:txBody>
        </p:sp>
        <p:cxnSp>
          <p:nvCxnSpPr>
            <p:cNvPr id="3083" name="MH_Other_5"/>
            <p:cNvCxnSpPr>
              <a:cxnSpLocks noChangeShapeType="1"/>
            </p:cNvCxnSpPr>
            <p:nvPr/>
          </p:nvCxnSpPr>
          <p:spPr bwMode="auto">
            <a:xfrm flipV="1">
              <a:off x="2805113" y="3671663"/>
              <a:ext cx="2522123" cy="3400"/>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1906906" y="3108325"/>
              <a:ext cx="731520" cy="1301750"/>
            </a:xfrm>
            <a:prstGeom prst="rect">
              <a:avLst/>
            </a:prstGeom>
            <a:noFill/>
            <a:ln w="9525">
              <a:noFill/>
              <a:miter lim="800000"/>
            </a:ln>
          </p:spPr>
          <p:txBody>
            <a:bodyPr vert="eaVert" lIns="0" tIns="0" rIns="0" bIns="0">
              <a:spAutoFit/>
            </a:bodyPr>
            <a:lstStyle/>
            <a:p>
              <a:pPr algn="ctr" eaLnBrk="1" hangingPunct="1"/>
              <a:r>
                <a:rPr lang="en-US" altLang="zh-CN" sz="4800" b="1" dirty="0">
                  <a:solidFill>
                    <a:srgbClr val="FFC000"/>
                  </a:solidFill>
                  <a:ea typeface="幼圆" panose="02010509060101010101" pitchFamily="49" charset="-122"/>
                </a:rPr>
                <a:t>04</a:t>
              </a:r>
              <a:endParaRPr lang="zh-CN" altLang="en-US" sz="4800" b="1" dirty="0">
                <a:solidFill>
                  <a:srgbClr val="FFC000"/>
                </a:solidFill>
                <a:ea typeface="幼圆" panose="02010509060101010101" pitchFamily="49" charset="-122"/>
              </a:endParaRPr>
            </a:p>
          </p:txBody>
        </p:sp>
      </p:grpSp>
      <p:sp>
        <p:nvSpPr>
          <p:cNvPr id="4" name="文本框 3"/>
          <p:cNvSpPr txBox="1"/>
          <p:nvPr/>
        </p:nvSpPr>
        <p:spPr>
          <a:xfrm>
            <a:off x="1640206" y="3130550"/>
            <a:ext cx="5388391" cy="2973122"/>
          </a:xfrm>
          <a:prstGeom prst="rect">
            <a:avLst/>
          </a:prstGeom>
          <a:noFill/>
        </p:spPr>
        <p:txBody>
          <a:bodyPr wrap="square" rtlCol="0" anchor="t">
            <a:spAutoFit/>
          </a:bodyPr>
          <a:lstStyle/>
          <a:p>
            <a:pPr indent="457200" fontAlgn="auto">
              <a:lnSpc>
                <a:spcPct val="130000"/>
              </a:lnSpc>
            </a:pPr>
            <a:r>
              <a:rPr lang="en-US" altLang="zh-CN" dirty="0">
                <a:latin typeface="微软雅黑" panose="020B0503020204020204" charset="-122"/>
                <a:ea typeface="微软雅黑" panose="020B0503020204020204" charset="-122"/>
                <a:cs typeface="Arial" panose="020B0604020202020204" pitchFamily="34" charset="0"/>
                <a:sym typeface="+mn-ea"/>
              </a:rPr>
              <a:t>测试驱动开发的基本思想就是：程序员开发一个功能单元的过程是先编写这一程序单元的测试用例，然后编写程序代码，最后通过测试用例进行测试。</a:t>
            </a:r>
            <a:r>
              <a:rPr lang="en-US" altLang="zh-CN" dirty="0" err="1">
                <a:latin typeface="微软雅黑" panose="020B0503020204020204" charset="-122"/>
                <a:ea typeface="微软雅黑" panose="020B0503020204020204" charset="-122"/>
                <a:cs typeface="Arial" panose="020B0604020202020204" pitchFamily="34" charset="0"/>
                <a:sym typeface="+mn-ea"/>
              </a:rPr>
              <a:t>如此循环，根据素材或用例不断设计测试用例，编写新的程序代码</a:t>
            </a:r>
            <a:r>
              <a:rPr lang="en-US" altLang="zh-CN" dirty="0">
                <a:latin typeface="微软雅黑" panose="020B0503020204020204" charset="-122"/>
                <a:ea typeface="微软雅黑" panose="020B0503020204020204" charset="-122"/>
                <a:cs typeface="Arial" panose="020B0604020202020204" pitchFamily="34" charset="0"/>
                <a:sym typeface="+mn-ea"/>
              </a:rPr>
              <a:t>……</a:t>
            </a:r>
            <a:r>
              <a:rPr lang="en-US" altLang="zh-CN" dirty="0" err="1">
                <a:latin typeface="微软雅黑" panose="020B0503020204020204" charset="-122"/>
                <a:ea typeface="微软雅黑" panose="020B0503020204020204" charset="-122"/>
                <a:cs typeface="Arial" panose="020B0604020202020204" pitchFamily="34" charset="0"/>
                <a:sym typeface="+mn-ea"/>
              </a:rPr>
              <a:t>直到实现整个程序单元的功能，从而以测试来驱动整个开发过程的进行</a:t>
            </a:r>
            <a:r>
              <a:rPr lang="en-US" altLang="zh-CN" dirty="0">
                <a:latin typeface="微软雅黑" panose="020B0503020204020204" charset="-122"/>
                <a:ea typeface="微软雅黑" panose="020B0503020204020204" charset="-122"/>
                <a:cs typeface="Arial" panose="020B0604020202020204" pitchFamily="34" charset="0"/>
                <a:sym typeface="+mn-ea"/>
              </a:rPr>
              <a:t>。</a:t>
            </a:r>
            <a:r>
              <a:rPr lang="en-US" altLang="zh-CN" dirty="0" err="1">
                <a:latin typeface="微软雅黑" panose="020B0503020204020204" charset="-122"/>
                <a:ea typeface="微软雅黑" panose="020B0503020204020204" charset="-122"/>
                <a:cs typeface="Arial" panose="020B0604020202020204" pitchFamily="34" charset="0"/>
                <a:sym typeface="+mn-ea"/>
              </a:rPr>
              <a:t>这有助于编写简洁可用和高质量的代码，有很高的灵活性和健壮性，能快速响应变化，并加速开发过程</a:t>
            </a:r>
            <a:r>
              <a:rPr lang="en-US" altLang="zh-CN" dirty="0">
                <a:latin typeface="微软雅黑" panose="020B0503020204020204" charset="-122"/>
                <a:ea typeface="微软雅黑" panose="020B0503020204020204" charset="-122"/>
                <a:cs typeface="Arial" panose="020B0604020202020204" pitchFamily="34" charset="0"/>
                <a:sym typeface="+mn-ea"/>
              </a:rPr>
              <a:t>。</a:t>
            </a:r>
          </a:p>
        </p:txBody>
      </p:sp>
      <p:pic>
        <p:nvPicPr>
          <p:cNvPr id="11" name="图片 10" descr="A000220151119A50PPIC.png"/>
          <p:cNvPicPr>
            <a:picLocks noChangeAspect="1"/>
          </p:cNvPicPr>
          <p:nvPr/>
        </p:nvPicPr>
        <p:blipFill>
          <a:blip r:embed="rId2" cstate="print"/>
          <a:stretch>
            <a:fillRect/>
          </a:stretch>
        </p:blipFill>
        <p:spPr>
          <a:xfrm flipH="1">
            <a:off x="6771747" y="1555845"/>
            <a:ext cx="4545971" cy="4818884"/>
          </a:xfrm>
          <a:prstGeom prst="rect">
            <a:avLst/>
          </a:prstGeom>
        </p:spPr>
      </p:pic>
    </p:spTree>
  </p:cSld>
  <p:clrMapOvr>
    <a:masterClrMapping/>
  </p:clrMapOvr>
  <p:transition>
    <p:pull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pic>
        <p:nvPicPr>
          <p:cNvPr id="2" name="图片 1"/>
          <p:cNvPicPr>
            <a:picLocks noChangeAspect="1"/>
          </p:cNvPicPr>
          <p:nvPr/>
        </p:nvPicPr>
        <p:blipFill>
          <a:blip r:embed="rId2" cstate="print"/>
          <a:stretch>
            <a:fillRect/>
          </a:stretch>
        </p:blipFill>
        <p:spPr>
          <a:xfrm>
            <a:off x="59690" y="2278380"/>
            <a:ext cx="4990465" cy="3285490"/>
          </a:xfrm>
          <a:prstGeom prst="rect">
            <a:avLst/>
          </a:prstGeom>
        </p:spPr>
      </p:pic>
      <p:sp>
        <p:nvSpPr>
          <p:cNvPr id="134" name=" 134"/>
          <p:cNvSpPr/>
          <p:nvPr/>
        </p:nvSpPr>
        <p:spPr>
          <a:xfrm>
            <a:off x="5040345" y="3435875"/>
            <a:ext cx="1349375" cy="1826260"/>
          </a:xfrm>
          <a:custGeom>
            <a:avLst/>
            <a:gdLst>
              <a:gd name="connsiteX0" fmla="*/ 1720704 w 1721074"/>
              <a:gd name="connsiteY0" fmla="*/ 0 h 1180530"/>
              <a:gd name="connsiteX1" fmla="*/ 1721074 w 1721074"/>
              <a:gd name="connsiteY1" fmla="*/ 328961 h 1180530"/>
              <a:gd name="connsiteX2" fmla="*/ 1609393 w 1721074"/>
              <a:gd name="connsiteY2" fmla="*/ 253106 h 1180530"/>
              <a:gd name="connsiteX3" fmla="*/ 1153934 w 1721074"/>
              <a:gd name="connsiteY3" fmla="*/ 933995 h 1180530"/>
              <a:gd name="connsiteX4" fmla="*/ 899597 w 1721074"/>
              <a:gd name="connsiteY4" fmla="*/ 519521 h 1180530"/>
              <a:gd name="connsiteX5" fmla="*/ 532223 w 1721074"/>
              <a:gd name="connsiteY5" fmla="*/ 1009354 h 1180530"/>
              <a:gd name="connsiteX6" fmla="*/ 292016 w 1721074"/>
              <a:gd name="connsiteY6" fmla="*/ 792697 h 1180530"/>
              <a:gd name="connsiteX7" fmla="*/ 0 w 1721074"/>
              <a:gd name="connsiteY7" fmla="*/ 1180530 h 1180530"/>
              <a:gd name="connsiteX8" fmla="*/ 0 w 1721074"/>
              <a:gd name="connsiteY8" fmla="*/ 996382 h 1180530"/>
              <a:gd name="connsiteX9" fmla="*/ 277886 w 1721074"/>
              <a:gd name="connsiteY9" fmla="*/ 613720 h 1180530"/>
              <a:gd name="connsiteX10" fmla="*/ 503963 w 1721074"/>
              <a:gd name="connsiteY10" fmla="*/ 839796 h 1180530"/>
              <a:gd name="connsiteX11" fmla="*/ 923147 w 1721074"/>
              <a:gd name="connsiteY11" fmla="*/ 316994 h 1180530"/>
              <a:gd name="connsiteX12" fmla="*/ 1158644 w 1721074"/>
              <a:gd name="connsiteY12" fmla="*/ 731468 h 1180530"/>
              <a:gd name="connsiteX13" fmla="*/ 1529274 w 1721074"/>
              <a:gd name="connsiteY13" fmla="*/ 198688 h 1180530"/>
              <a:gd name="connsiteX14" fmla="*/ 1414772 w 1721074"/>
              <a:gd name="connsiteY14" fmla="*/ 120917 h 118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1074" h="1180530">
                <a:moveTo>
                  <a:pt x="1720704" y="0"/>
                </a:moveTo>
                <a:lnTo>
                  <a:pt x="1721074" y="328961"/>
                </a:lnTo>
                <a:lnTo>
                  <a:pt x="1609393" y="253106"/>
                </a:lnTo>
                <a:lnTo>
                  <a:pt x="1153934" y="933995"/>
                </a:lnTo>
                <a:lnTo>
                  <a:pt x="899597" y="519521"/>
                </a:lnTo>
                <a:lnTo>
                  <a:pt x="532223" y="1009354"/>
                </a:lnTo>
                <a:lnTo>
                  <a:pt x="292016" y="792697"/>
                </a:lnTo>
                <a:lnTo>
                  <a:pt x="0" y="1180530"/>
                </a:lnTo>
                <a:lnTo>
                  <a:pt x="0" y="996382"/>
                </a:lnTo>
                <a:lnTo>
                  <a:pt x="277886" y="613720"/>
                </a:lnTo>
                <a:lnTo>
                  <a:pt x="503963" y="839796"/>
                </a:lnTo>
                <a:lnTo>
                  <a:pt x="923147" y="316994"/>
                </a:lnTo>
                <a:lnTo>
                  <a:pt x="1158644" y="731468"/>
                </a:lnTo>
                <a:lnTo>
                  <a:pt x="1529274" y="198688"/>
                </a:lnTo>
                <a:lnTo>
                  <a:pt x="1414772" y="1209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00" name="文本框 99"/>
          <p:cNvSpPr txBox="1"/>
          <p:nvPr/>
        </p:nvSpPr>
        <p:spPr>
          <a:xfrm>
            <a:off x="6385034" y="2278380"/>
            <a:ext cx="4870976" cy="3297555"/>
          </a:xfrm>
          <a:prstGeom prst="rect">
            <a:avLst/>
          </a:prstGeom>
          <a:noFill/>
          <a:ln w="9525">
            <a:solidFill>
              <a:schemeClr val="accent1"/>
            </a:solidFill>
          </a:ln>
        </p:spPr>
        <p:txBody>
          <a:bodyPr wrap="square">
            <a:spAutoFit/>
          </a:bodyPr>
          <a:lstStyle/>
          <a:p>
            <a:pPr marL="0" indent="457200" algn="l" fontAlgn="auto">
              <a:lnSpc>
                <a:spcPct val="130000"/>
              </a:lnSpc>
            </a:pPr>
            <a:r>
              <a:rPr lang="zh-CN" altLang="en-US" b="0" u="none" dirty="0">
                <a:latin typeface="微软雅黑" panose="020B0503020204020204" charset="-122"/>
                <a:ea typeface="微软雅黑" panose="020B0503020204020204" charset="-122"/>
                <a:cs typeface="宋体" panose="02010600030101010101" pitchFamily="2" charset="-122"/>
              </a:rPr>
              <a:t>极限编程提倡在开始写程序之前</a:t>
            </a:r>
            <a:r>
              <a:rPr lang="zh-CN" altLang="en-US" b="1" u="none" dirty="0">
                <a:solidFill>
                  <a:srgbClr val="00B050"/>
                </a:solidFill>
                <a:latin typeface="微软雅黑" panose="020B0503020204020204" charset="-122"/>
                <a:ea typeface="微软雅黑" panose="020B0503020204020204" charset="-122"/>
                <a:cs typeface="宋体" panose="02010600030101010101" pitchFamily="2" charset="-122"/>
              </a:rPr>
              <a:t>先写单元测试。开发人员应该经常把开发好的模块整合到一起，每次整合后都要运行单元测试。</a:t>
            </a:r>
            <a:r>
              <a:rPr lang="zh-CN" altLang="en-US" b="0" u="none" dirty="0">
                <a:latin typeface="微软雅黑" panose="020B0503020204020204" charset="-122"/>
                <a:ea typeface="微软雅黑" panose="020B0503020204020204" charset="-122"/>
                <a:cs typeface="宋体" panose="02010600030101010101" pitchFamily="2" charset="-122"/>
              </a:rPr>
              <a:t>做任何的代码走查和修改，都要运行单元测试。发现了BUG，就要增加相应的测试。除了单元测试之外，还有</a:t>
            </a:r>
            <a:r>
              <a:rPr lang="zh-CN" altLang="en-US" b="1" u="none" dirty="0">
                <a:solidFill>
                  <a:srgbClr val="00B050"/>
                </a:solidFill>
                <a:latin typeface="微软雅黑" panose="020B0503020204020204" charset="-122"/>
                <a:ea typeface="微软雅黑" panose="020B0503020204020204" charset="-122"/>
                <a:cs typeface="宋体" panose="02010600030101010101" pitchFamily="2" charset="-122"/>
              </a:rPr>
              <a:t>集成测试、功能测试、压力测试和系统测试等。</a:t>
            </a:r>
            <a:r>
              <a:rPr lang="zh-CN" altLang="en-US" b="0" u="none" dirty="0">
                <a:latin typeface="微软雅黑" panose="020B0503020204020204" charset="-122"/>
                <a:ea typeface="微软雅黑" panose="020B0503020204020204" charset="-122"/>
                <a:cs typeface="宋体" panose="02010600030101010101" pitchFamily="2" charset="-122"/>
              </a:rPr>
              <a:t>所有这些测试，都是XP开发过程中最重要的文档之一，也是最终交付给用户的内容之一。</a:t>
            </a:r>
          </a:p>
        </p:txBody>
      </p:sp>
    </p:spTree>
  </p:cSld>
  <p:clrMapOvr>
    <a:masterClrMapping/>
  </p:clrMapOvr>
  <p:transition>
    <p:pull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11.</a:t>
            </a:r>
            <a:r>
              <a:rPr lang="zh-CN" altLang="en-US">
                <a:solidFill>
                  <a:srgbClr val="FF0000"/>
                </a:solidFill>
              </a:rPr>
              <a:t>1  </a:t>
            </a:r>
            <a:r>
              <a:rPr lang="zh-CN" altLang="en-US">
                <a:solidFill>
                  <a:srgbClr val="FF0000"/>
                </a:solidFill>
                <a:sym typeface="+mn-ea"/>
              </a:rPr>
              <a:t>敏捷开发与极限编程技术</a:t>
            </a:r>
            <a:endParaRPr lang="zh-CN" altLang="en-US">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11.1.2  极限编程</a:t>
            </a:r>
          </a:p>
        </p:txBody>
      </p:sp>
      <p:grpSp>
        <p:nvGrpSpPr>
          <p:cNvPr id="7" name="组合 6"/>
          <p:cNvGrpSpPr/>
          <p:nvPr/>
        </p:nvGrpSpPr>
        <p:grpSpPr>
          <a:xfrm>
            <a:off x="0" y="2453308"/>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98" y="4575"/>
              <a:ext cx="11139"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极限编程中的4个核心价值是我们在开发中必须注意的，即</a:t>
              </a:r>
              <a:r>
                <a:rPr lang="en-US" altLang="zh-CN" kern="0" smtClean="0">
                  <a:solidFill>
                    <a:srgbClr val="FFFF00"/>
                  </a:solidFill>
                  <a:latin typeface="微软雅黑" panose="020B0503020204020204" charset="-122"/>
                  <a:ea typeface="微软雅黑" panose="020B0503020204020204" charset="-122"/>
                  <a:cs typeface="宋体" panose="02010600030101010101" pitchFamily="2" charset="-122"/>
                </a:rPr>
                <a:t>沟通、简单、反馈、勇气，</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此外还扩展了第5个价值观：谦逊。XP用“</a:t>
              </a:r>
              <a:r>
                <a:rPr lang="en-US" altLang="zh-CN" kern="0" smtClean="0">
                  <a:solidFill>
                    <a:srgbClr val="FFFF00"/>
                  </a:solidFill>
                  <a:latin typeface="微软雅黑" panose="020B0503020204020204" charset="-122"/>
                  <a:ea typeface="微软雅黑" panose="020B0503020204020204" charset="-122"/>
                  <a:cs typeface="宋体" panose="02010600030101010101" pitchFamily="2" charset="-122"/>
                </a:rPr>
                <a:t>沟通、简单、反馈、勇气和谦逊</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”来减轻开发压力和包袱，从中可以感受到轻松愉快和主动奋发的态度与气氛。理想的情况下，小型软件项目或开发原型时采用极限编程，客户和程序员共同参与开发活动。</a:t>
              </a:r>
            </a:p>
          </p:txBody>
        </p:sp>
      </p:grpSp>
      <p:pic>
        <p:nvPicPr>
          <p:cNvPr id="2" name="图片 1" descr="A000220150821A97PPIC"/>
          <p:cNvPicPr>
            <a:picLocks noChangeAspect="1"/>
          </p:cNvPicPr>
          <p:nvPr/>
        </p:nvPicPr>
        <p:blipFill>
          <a:blip r:embed="rId2" cstate="print"/>
          <a:stretch>
            <a:fillRect/>
          </a:stretch>
        </p:blipFill>
        <p:spPr>
          <a:xfrm>
            <a:off x="7781290" y="2708910"/>
            <a:ext cx="3985895" cy="2480945"/>
          </a:xfrm>
          <a:prstGeom prst="rect">
            <a:avLst/>
          </a:prstGeom>
        </p:spPr>
      </p:pic>
    </p:spTree>
  </p:cSld>
  <p:clrMapOvr>
    <a:masterClrMapping/>
  </p:clrMapOvr>
  <p:transition>
    <p:pull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净室软件工程</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净室软件工程的概念</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净室软件工程技术</a:t>
              </a:r>
            </a:p>
          </p:txBody>
        </p:sp>
      </p:grpSp>
    </p:spTree>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43952" y="2453308"/>
            <a:ext cx="8548047"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endParaRPr lang="zh-CN" altLang="en-US" dirty="0">
              <a:solidFill>
                <a:srgbClr val="FF0000"/>
              </a:solidFill>
            </a:endParaRPr>
          </a:p>
        </p:txBody>
      </p:sp>
      <p:sp>
        <p:nvSpPr>
          <p:cNvPr id="100" name="文本框 99"/>
          <p:cNvSpPr txBox="1"/>
          <p:nvPr/>
        </p:nvSpPr>
        <p:spPr>
          <a:xfrm>
            <a:off x="4777070" y="2581672"/>
            <a:ext cx="6427742" cy="2962513"/>
          </a:xfrm>
          <a:prstGeom prst="roundRect">
            <a:avLst/>
          </a:prstGeom>
          <a:noFill/>
          <a:ln w="9525">
            <a:noFill/>
            <a:prstDash val="sysDot"/>
          </a:ln>
        </p:spPr>
        <p:txBody>
          <a:bodyPr wrap="square">
            <a:spAutoFit/>
          </a:bodyPr>
          <a:lstStyle/>
          <a:p>
            <a:pPr marL="0" indent="457200" algn="l" fontAlgn="auto">
              <a:lnSpc>
                <a:spcPct val="120000"/>
              </a:lnSpc>
            </a:pPr>
            <a:r>
              <a:rPr sz="2000" b="0" u="none" dirty="0">
                <a:solidFill>
                  <a:schemeClr val="bg1"/>
                </a:solidFill>
                <a:latin typeface="+mn-ea"/>
              </a:rPr>
              <a:t>“净室”（Cleanroom）一词源自半导体工业中的硬件生产车间，通过严格、洁净的生产过程预防缺陷的产生，而不是在事后再去排除故障。借用这个词，充分显示了净室技术“防患于未然”的主导思想。20世纪80年代，数学家和IBM客座科学家Harlan Mills提出了将数学、统计学及工程学上的基本概念应用到软件工程的设想。</a:t>
            </a:r>
          </a:p>
        </p:txBody>
      </p:sp>
      <p:pic>
        <p:nvPicPr>
          <p:cNvPr id="2" name="图片 1" descr="harlan_mills"/>
          <p:cNvPicPr>
            <a:picLocks noChangeAspect="1"/>
          </p:cNvPicPr>
          <p:nvPr/>
        </p:nvPicPr>
        <p:blipFill>
          <a:blip r:embed="rId3" cstate="print"/>
          <a:stretch>
            <a:fillRect/>
          </a:stretch>
        </p:blipFill>
        <p:spPr>
          <a:xfrm>
            <a:off x="639303" y="1956121"/>
            <a:ext cx="3175000" cy="3968750"/>
          </a:xfrm>
          <a:prstGeom prst="ellipse">
            <a:avLst/>
          </a:prstGeom>
        </p:spPr>
      </p:pic>
    </p:spTree>
  </p:cSld>
  <p:clrMapOvr>
    <a:masterClrMapping/>
  </p:clrMapOvr>
  <p:transition>
    <p:wheel spokes="3"/>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olidFill>
                  <a:srgbClr val="FF0000"/>
                </a:solidFill>
                <a:sym typeface="+mn-ea"/>
              </a:rPr>
              <a:t>11.2  净室软件工程</a:t>
            </a: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11.2.1  净室软件工程的概念</a:t>
            </a:r>
          </a:p>
        </p:txBody>
      </p:sp>
      <p:grpSp>
        <p:nvGrpSpPr>
          <p:cNvPr id="8" name="组合 7"/>
          <p:cNvGrpSpPr/>
          <p:nvPr/>
        </p:nvGrpSpPr>
        <p:grpSpPr>
          <a:xfrm>
            <a:off x="998220" y="2258060"/>
            <a:ext cx="10027920" cy="3764915"/>
            <a:chOff x="1572" y="3556"/>
            <a:chExt cx="15792" cy="5929"/>
          </a:xfrm>
        </p:grpSpPr>
        <p:grpSp>
          <p:nvGrpSpPr>
            <p:cNvPr id="6" name="组合 5"/>
            <p:cNvGrpSpPr/>
            <p:nvPr/>
          </p:nvGrpSpPr>
          <p:grpSpPr>
            <a:xfrm>
              <a:off x="1572" y="3556"/>
              <a:ext cx="14653" cy="4805"/>
              <a:chOff x="1957" y="3075"/>
              <a:chExt cx="14653" cy="4805"/>
            </a:xfrm>
          </p:grpSpPr>
          <p:sp>
            <p:nvSpPr>
              <p:cNvPr id="2" name="MH_Text_1"/>
              <p:cNvSpPr/>
              <p:nvPr>
                <p:custDataLst>
                  <p:tags r:id="rId2"/>
                </p:custDataLst>
              </p:nvPr>
            </p:nvSpPr>
            <p:spPr bwMode="auto">
              <a:xfrm>
                <a:off x="3483" y="3075"/>
                <a:ext cx="13127" cy="269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b="1" smtClean="0">
                    <a:solidFill>
                      <a:srgbClr val="00B050"/>
                    </a:solidFill>
                    <a:latin typeface="+mn-ea"/>
                  </a:rPr>
                  <a:t>净室软件工程（Cleanroom Software Engineering）是一种应用数学与统计学理论以经济的方式生产高质量软件的工程技术，力图通过严格的工程化的软件过程达到开发中的零缺陷或接近零缺陷。</a:t>
                </a:r>
                <a:r>
                  <a:rPr smtClean="0">
                    <a:latin typeface="+mn-ea"/>
                  </a:rPr>
                  <a:t>净室方法不是先制作一个产品，再去消除缺陷，而是要求在规约和设计中消除错误，然后以“干净”的方式制作，可以降低软件开发中的风险，以合理的成本开发出高质量的软件。</a:t>
                </a:r>
              </a:p>
            </p:txBody>
          </p:sp>
          <p:sp>
            <p:nvSpPr>
              <p:cNvPr id="4" name="MH_Other_1"/>
              <p:cNvSpPr txBox="1">
                <a:spLocks noChangeArrowheads="1"/>
              </p:cNvSpPr>
              <p:nvPr>
                <p:custDataLst>
                  <p:tags r:id="rId3"/>
                </p:custDataLst>
              </p:nvPr>
            </p:nvSpPr>
            <p:spPr bwMode="auto">
              <a:xfrm>
                <a:off x="1957" y="4100"/>
                <a:ext cx="1563" cy="3780"/>
              </a:xfrm>
              <a:prstGeom prst="rect">
                <a:avLst/>
              </a:prstGeom>
              <a:noFill/>
              <a:ln w="9525">
                <a:noFill/>
                <a:miter lim="800000"/>
              </a:ln>
            </p:spPr>
            <p:txBody>
              <a:bodyPr anchor="ctr"/>
              <a:lstStyle/>
              <a:p>
                <a:pPr algn="ctr" eaLnBrk="1" hangingPunct="1"/>
                <a:r>
                  <a:rPr lang="zh-CN" altLang="en-US" sz="4800" b="1" dirty="0" smtClean="0">
                    <a:solidFill>
                      <a:srgbClr val="01AFEE"/>
                    </a:solidFill>
                    <a:latin typeface="MS PMincho" panose="02020600040205080304" pitchFamily="18" charset="-128"/>
                    <a:ea typeface="MS PMincho" panose="02020600040205080304" pitchFamily="18" charset="-128"/>
                  </a:rPr>
                  <a:t>净室软件过程</a:t>
                </a:r>
                <a:endParaRPr lang="zh-CN" altLang="en-US" sz="4800" b="1" dirty="0">
                  <a:solidFill>
                    <a:srgbClr val="01AFEE"/>
                  </a:solidFill>
                  <a:latin typeface="MS PMincho" panose="02020600040205080304" pitchFamily="18" charset="-128"/>
                  <a:ea typeface="MS PMincho" panose="02020600040205080304" pitchFamily="18" charset="-128"/>
                </a:endParaRPr>
              </a:p>
            </p:txBody>
          </p:sp>
        </p:grpSp>
        <p:sp>
          <p:nvSpPr>
            <p:cNvPr id="5" name="MH_Text_2"/>
            <p:cNvSpPr/>
            <p:nvPr>
              <p:custDataLst>
                <p:tags r:id="rId1"/>
              </p:custDataLst>
            </p:nvPr>
          </p:nvSpPr>
          <p:spPr bwMode="auto">
            <a:xfrm>
              <a:off x="4394" y="6605"/>
              <a:ext cx="12970" cy="288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b="1" smtClean="0">
                  <a:solidFill>
                    <a:srgbClr val="00B050"/>
                  </a:solidFill>
                  <a:latin typeface="+mn-ea"/>
                </a:rPr>
                <a:t>净室软件工程是一种在软件开发过程中强调在软件中建立正确性要求的方法，通过在第一次正确地书写代码增量并在测试前验证它们的正确性，来避免成本很高的缺陷消除过程。</a:t>
              </a:r>
              <a:r>
                <a:rPr smtClean="0">
                  <a:latin typeface="+mn-ea"/>
                </a:rPr>
                <a:t>它的过程模型是在代码增量集成到系统的同时，进行代码增量的统计质量验证。“第一次就将事情做正确”是软件工程最重要的哲学。</a:t>
              </a:r>
            </a:p>
          </p:txBody>
        </p:sp>
      </p:grpSp>
    </p:spTree>
  </p:cSld>
  <p:clrMapOvr>
    <a:masterClrMapping/>
  </p:clrMapOvr>
  <p:transition>
    <p:wheel spokes="3"/>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11.2  净室软件工程</a:t>
            </a:r>
            <a:r>
              <a:rPr lang="zh-CN" altLang="en-US">
                <a:solidFill>
                  <a:srgbClr val="FF0000"/>
                </a:solidFill>
              </a:rPr>
              <a:t/>
            </a:r>
            <a:br>
              <a:rPr lang="zh-CN" altLang="en-US">
                <a:solidFill>
                  <a:srgbClr val="FF0000"/>
                </a:solidFill>
              </a:rPr>
            </a:br>
            <a:endParaRPr lang="zh-CN" altLang="en-US">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11.2.1  净室软件工程的概念</a:t>
            </a:r>
          </a:p>
        </p:txBody>
      </p:sp>
      <p:grpSp>
        <p:nvGrpSpPr>
          <p:cNvPr id="9" name="组合 8"/>
          <p:cNvGrpSpPr/>
          <p:nvPr/>
        </p:nvGrpSpPr>
        <p:grpSpPr>
          <a:xfrm>
            <a:off x="300525" y="1969529"/>
            <a:ext cx="11988944" cy="3759399"/>
            <a:chOff x="0" y="2822"/>
            <a:chExt cx="15580" cy="4347"/>
          </a:xfrm>
        </p:grpSpPr>
        <p:sp>
          <p:nvSpPr>
            <p:cNvPr id="10" name="矩形 9"/>
            <p:cNvSpPr/>
            <p:nvPr>
              <p:custDataLst>
                <p:tags r:id="rId1"/>
              </p:custDataLst>
            </p:nvPr>
          </p:nvSpPr>
          <p:spPr>
            <a:xfrm>
              <a:off x="0" y="3032"/>
              <a:ext cx="15105" cy="41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1" name="组合 9"/>
            <p:cNvGrpSpPr/>
            <p:nvPr/>
          </p:nvGrpSpPr>
          <p:grpSpPr>
            <a:xfrm>
              <a:off x="430" y="2822"/>
              <a:ext cx="15150" cy="3927"/>
              <a:chOff x="430" y="2822"/>
              <a:chExt cx="15150" cy="3927"/>
            </a:xfrm>
          </p:grpSpPr>
          <p:sp>
            <p:nvSpPr>
              <p:cNvPr id="12" name="文本框 10"/>
              <p:cNvSpPr txBox="1"/>
              <p:nvPr>
                <p:custDataLst>
                  <p:tags r:id="rId2"/>
                </p:custDataLst>
              </p:nvPr>
            </p:nvSpPr>
            <p:spPr>
              <a:xfrm>
                <a:off x="430" y="3833"/>
                <a:ext cx="10604" cy="25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defPPr>
                  <a:defRPr lang="zh-CN"/>
                </a:defPPr>
                <a:lvl1pPr algn="ctr">
                  <a:lnSpc>
                    <a:spcPct val="200000"/>
                  </a:lnSpc>
                  <a:spcBef>
                    <a:spcPct val="0"/>
                  </a:spcBef>
                  <a:buFontTx/>
                  <a:buNone/>
                  <a:defRPr sz="1800">
                    <a:solidFill>
                      <a:srgbClr val="FFFFFF"/>
                    </a:solidFill>
                  </a:defRPr>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indent="457200" algn="l">
                  <a:lnSpc>
                    <a:spcPct val="150000"/>
                  </a:lnSpc>
                  <a:defRPr/>
                </a:pPr>
                <a:r>
                  <a:rPr lang="en-US" altLang="zh-CN" kern="0" smtClean="0">
                    <a:solidFill>
                      <a:schemeClr val="tx1"/>
                    </a:solidFill>
                    <a:latin typeface="微软雅黑" panose="020B0503020204020204" charset="-122"/>
                    <a:ea typeface="微软雅黑" panose="020B0503020204020204" charset="-122"/>
                    <a:cs typeface="宋体" panose="02010600030101010101" pitchFamily="2" charset="-122"/>
                    <a:sym typeface="+mn-ea"/>
                  </a:rPr>
                  <a:t>净室软件工程是这样一个过程：</a:t>
                </a:r>
                <a:r>
                  <a:rPr lang="en-US" altLang="zh-CN" b="1" kern="0" smtClean="0">
                    <a:solidFill>
                      <a:srgbClr val="7030A0"/>
                    </a:solidFill>
                    <a:latin typeface="微软雅黑" panose="020B0503020204020204" charset="-122"/>
                    <a:ea typeface="微软雅黑" panose="020B0503020204020204" charset="-122"/>
                    <a:cs typeface="宋体" panose="02010600030101010101" pitchFamily="2" charset="-122"/>
                    <a:sym typeface="+mn-ea"/>
                  </a:rPr>
                  <a:t>它强调在程序构造开始前进行正确性的数学验证，并且将软件可靠性认证作为软件测试的一部分。</a:t>
                </a:r>
                <a:r>
                  <a:rPr lang="en-US" altLang="zh-CN" kern="0" smtClean="0">
                    <a:solidFill>
                      <a:schemeClr val="tx1"/>
                    </a:solidFill>
                    <a:latin typeface="微软雅黑" panose="020B0503020204020204" charset="-122"/>
                    <a:ea typeface="微软雅黑" panose="020B0503020204020204" charset="-122"/>
                    <a:cs typeface="宋体" panose="02010600030101010101" pitchFamily="2" charset="-122"/>
                    <a:sym typeface="+mn-ea"/>
                  </a:rPr>
                  <a:t>净室软件工程和传统软件实践的差别在于：</a:t>
                </a:r>
                <a:r>
                  <a:rPr lang="en-US" altLang="zh-CN" b="1" kern="0" smtClean="0">
                    <a:solidFill>
                      <a:srgbClr val="7030A0"/>
                    </a:solidFill>
                    <a:latin typeface="微软雅黑" panose="020B0503020204020204" charset="-122"/>
                    <a:ea typeface="微软雅黑" panose="020B0503020204020204" charset="-122"/>
                    <a:cs typeface="宋体" panose="02010600030101010101" pitchFamily="2" charset="-122"/>
                    <a:sym typeface="+mn-ea"/>
                  </a:rPr>
                  <a:t>它不再强调单元测试和调试的作用，从而大量地减少由软件开发者所承担的测试工作量。在净室软件工程中，单元测试和调试被正确性验证和基于统计的测试所替代。</a:t>
                </a:r>
                <a:endParaRPr lang="en-US" altLang="zh-CN" b="1" kern="0" dirty="0" smtClean="0">
                  <a:solidFill>
                    <a:srgbClr val="7030A0"/>
                  </a:solidFill>
                  <a:latin typeface="微软雅黑" panose="020B0503020204020204" charset="-122"/>
                  <a:ea typeface="微软雅黑" panose="020B0503020204020204" charset="-122"/>
                  <a:cs typeface="宋体" panose="02010600030101010101" pitchFamily="2" charset="-122"/>
                  <a:sym typeface="+mn-ea"/>
                </a:endParaRPr>
              </a:p>
            </p:txBody>
          </p:sp>
          <p:pic>
            <p:nvPicPr>
              <p:cNvPr id="13" name="图片 12"/>
              <p:cNvPicPr>
                <a:picLocks noChangeAspect="1"/>
              </p:cNvPicPr>
              <p:nvPr>
                <p:custDataLst>
                  <p:tags r:id="rId3"/>
                </p:custDataLst>
              </p:nvPr>
            </p:nvPicPr>
            <p:blipFill>
              <a:blip r:embed="rId6" cstate="print"/>
              <a:stretch>
                <a:fillRect/>
              </a:stretch>
            </p:blipFill>
            <p:spPr>
              <a:xfrm>
                <a:off x="11180" y="2822"/>
                <a:ext cx="4400" cy="3927"/>
              </a:xfrm>
              <a:prstGeom prst="rect">
                <a:avLst/>
              </a:prstGeom>
              <a:effectLst>
                <a:outerShdw blurRad="76200" dir="13500000" sy="23000" kx="1200000" algn="br" rotWithShape="0">
                  <a:prstClr val="black">
                    <a:alpha val="20000"/>
                  </a:prstClr>
                </a:outerShdw>
              </a:effectLst>
            </p:spPr>
          </p:pic>
        </p:grpSp>
      </p:grpSp>
    </p:spTree>
  </p:cSld>
  <p:clrMapOvr>
    <a:masterClrMapping/>
  </p:clrMapOvr>
  <p:transition>
    <p:wheel spokes="3"/>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endParaRPr sz="2400" dirty="0" smtClean="0">
              <a:solidFill>
                <a:schemeClr val="tx1"/>
              </a:solidFill>
            </a:endParaRPr>
          </a:p>
        </p:txBody>
      </p:sp>
      <p:grpSp>
        <p:nvGrpSpPr>
          <p:cNvPr id="26" name="组合 25"/>
          <p:cNvGrpSpPr/>
          <p:nvPr/>
        </p:nvGrpSpPr>
        <p:grpSpPr>
          <a:xfrm>
            <a:off x="604520" y="2420154"/>
            <a:ext cx="10805160" cy="4485005"/>
            <a:chOff x="1092" y="3793"/>
            <a:chExt cx="17016" cy="7063"/>
          </a:xfrm>
        </p:grpSpPr>
        <p:sp>
          <p:nvSpPr>
            <p:cNvPr id="9" name="MH_Text_1"/>
            <p:cNvSpPr/>
            <p:nvPr>
              <p:custDataLst>
                <p:tags r:id="rId1"/>
              </p:custDataLst>
            </p:nvPr>
          </p:nvSpPr>
          <p:spPr>
            <a:xfrm>
              <a:off x="3289" y="4752"/>
              <a:ext cx="14819" cy="6104"/>
            </a:xfrm>
            <a:prstGeom prst="rect">
              <a:avLst/>
            </a:prstGeom>
          </p:spPr>
          <p:txBody>
            <a:bodyPr>
              <a:normAutofit/>
            </a:bodyPr>
            <a:lstStyle/>
            <a:p>
              <a:pPr indent="457200">
                <a:lnSpc>
                  <a:spcPct val="150000"/>
                </a:lnSpc>
              </a:pPr>
              <a:r>
                <a:rPr lang="zh-CN" altLang="en-US" sz="1600" dirty="0" smtClean="0">
                  <a:latin typeface="+mn-ea"/>
                </a:rPr>
                <a:t>一个函数定义了从定义域到值域的映射。</a:t>
              </a:r>
              <a:r>
                <a:rPr lang="zh-CN" altLang="en-US" sz="1600" b="1" dirty="0" smtClean="0">
                  <a:solidFill>
                    <a:srgbClr val="7030A0"/>
                  </a:solidFill>
                  <a:latin typeface="+mn-ea"/>
                </a:rPr>
                <a:t>一个特定的程序就像是定义了一个从定义域（所有可能的输入序列的集合）到值域（所有对应于输入的输出集合）的映射。</a:t>
              </a:r>
              <a:r>
                <a:rPr lang="zh-CN" altLang="en-US" sz="1600" dirty="0" smtClean="0">
                  <a:latin typeface="+mn-ea"/>
                </a:rPr>
                <a:t>这样，一个程序的规范就是一个函数的规范。一个明确定义的函数应当具有以下特性。</a:t>
              </a:r>
            </a:p>
            <a:p>
              <a:pPr marL="285750" indent="-285750">
                <a:lnSpc>
                  <a:spcPct val="150000"/>
                </a:lnSpc>
                <a:buFont typeface="Wingdings" panose="05000000000000000000" charset="0"/>
                <a:buChar char="Ø"/>
              </a:pPr>
              <a:r>
                <a:rPr lang="zh-CN" altLang="en-US" sz="1600" b="1" dirty="0" smtClean="0">
                  <a:solidFill>
                    <a:srgbClr val="7030A0"/>
                  </a:solidFill>
                  <a:latin typeface="+mn-ea"/>
                </a:rPr>
                <a:t>完备性：</a:t>
              </a:r>
              <a:r>
                <a:rPr lang="zh-CN" altLang="en-US" sz="1600" dirty="0" smtClean="0">
                  <a:latin typeface="+mn-ea"/>
                </a:rPr>
                <a:t>对于定义域中的每个元素，值域中至少有一个元素与之对应。对程序而言，每种可能的输入都必须定义，并有一个输出与之对应。</a:t>
              </a:r>
            </a:p>
            <a:p>
              <a:pPr marL="285750" indent="-285750">
                <a:lnSpc>
                  <a:spcPct val="150000"/>
                </a:lnSpc>
                <a:buFont typeface="Wingdings" panose="05000000000000000000" charset="0"/>
                <a:buChar char="Ø"/>
              </a:pPr>
              <a:r>
                <a:rPr lang="zh-CN" altLang="en-US" sz="1600" b="1" dirty="0" smtClean="0">
                  <a:solidFill>
                    <a:srgbClr val="7030A0"/>
                  </a:solidFill>
                  <a:latin typeface="+mn-ea"/>
                </a:rPr>
                <a:t>一致性：</a:t>
              </a:r>
              <a:r>
                <a:rPr lang="zh-CN" altLang="en-US" sz="1600" dirty="0" smtClean="0">
                  <a:latin typeface="+mn-ea"/>
                </a:rPr>
                <a:t>在值域中最多有一个元素与定义域中的同一元素对应。对程序而言，每个输入只能对应一个输出。</a:t>
              </a:r>
            </a:p>
            <a:p>
              <a:pPr marL="285750" indent="-285750">
                <a:lnSpc>
                  <a:spcPct val="150000"/>
                </a:lnSpc>
                <a:buFont typeface="Wingdings" panose="05000000000000000000" charset="0"/>
                <a:buChar char="Ø"/>
              </a:pPr>
              <a:r>
                <a:rPr lang="zh-CN" altLang="en-US" sz="1600" b="1" dirty="0" smtClean="0">
                  <a:solidFill>
                    <a:srgbClr val="7030A0"/>
                  </a:solidFill>
                  <a:latin typeface="+mn-ea"/>
                </a:rPr>
                <a:t>正确性：</a:t>
              </a:r>
              <a:r>
                <a:rPr lang="zh-CN" altLang="en-US" sz="1600" dirty="0" smtClean="0">
                  <a:latin typeface="+mn-ea"/>
                </a:rPr>
                <a:t>函数的正确性可以由上述性质判断。对程序而言，某项设计的正确性可以通过基于函数理论的推理来验证。</a:t>
              </a:r>
            </a:p>
          </p:txBody>
        </p:sp>
        <p:sp>
          <p:nvSpPr>
            <p:cNvPr id="10" name="MH_SubTitle_1"/>
            <p:cNvSpPr/>
            <p:nvPr>
              <p:custDataLst>
                <p:tags r:id="rId2"/>
              </p:custDataLst>
            </p:nvPr>
          </p:nvSpPr>
          <p:spPr>
            <a:xfrm>
              <a:off x="3265" y="3905"/>
              <a:ext cx="7357" cy="847"/>
            </a:xfrm>
            <a:prstGeom prst="rect">
              <a:avLst/>
            </a:prstGeom>
          </p:spPr>
          <p:txBody>
            <a:bodyPr anchor="b">
              <a:normAutofit/>
            </a:bodyPr>
            <a:lstStyle/>
            <a:p>
              <a:r>
                <a:rPr lang="zh-CN" altLang="en-US" b="1" dirty="0">
                  <a:solidFill>
                    <a:srgbClr val="FF7C80"/>
                  </a:solidFill>
                </a:rPr>
                <a:t>函数理论</a:t>
              </a:r>
            </a:p>
          </p:txBody>
        </p:sp>
        <p:sp>
          <p:nvSpPr>
            <p:cNvPr id="19" name="MH_Other_11"/>
            <p:cNvSpPr>
              <a:spLocks noChangeArrowheads="1"/>
            </p:cNvSpPr>
            <p:nvPr>
              <p:custDataLst>
                <p:tags r:id="rId3"/>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4"/>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5"/>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6"/>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7"/>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12" name="TextBox 6"/>
          <p:cNvSpPr txBox="1"/>
          <p:nvPr/>
        </p:nvSpPr>
        <p:spPr>
          <a:xfrm>
            <a:off x="627494" y="2019779"/>
            <a:ext cx="5777230" cy="492443"/>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dirty="0" smtClean="0"/>
              <a:t>1.  </a:t>
            </a:r>
            <a:r>
              <a:rPr lang="zh-CN" altLang="en-US" dirty="0" smtClean="0"/>
              <a:t>净室软件工程的理论基础</a:t>
            </a:r>
            <a:endParaRPr lang="zh-CN" altLang="en-US" dirty="0" smtClean="0">
              <a:solidFill>
                <a:schemeClr val="tx1"/>
              </a:solidFill>
            </a:endParaRPr>
          </a:p>
        </p:txBody>
      </p:sp>
    </p:spTree>
  </p:cSld>
  <p:clrMapOvr>
    <a:masterClrMapping/>
  </p:clrMapOvr>
  <p:transition>
    <p:wheel spokes="3"/>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p>
        </p:txBody>
      </p:sp>
      <p:grpSp>
        <p:nvGrpSpPr>
          <p:cNvPr id="28" name="组合 27"/>
          <p:cNvGrpSpPr/>
          <p:nvPr/>
        </p:nvGrpSpPr>
        <p:grpSpPr>
          <a:xfrm>
            <a:off x="754380" y="2439670"/>
            <a:ext cx="6178550" cy="3933825"/>
            <a:chOff x="7040" y="1178"/>
            <a:chExt cx="9730" cy="6195"/>
          </a:xfrm>
        </p:grpSpPr>
        <p:sp>
          <p:nvSpPr>
            <p:cNvPr id="4" name="MH_Other_1"/>
            <p:cNvSpPr>
              <a:spLocks noChangeArrowheads="1"/>
            </p:cNvSpPr>
            <p:nvPr>
              <p:custDataLst>
                <p:tags r:id="rId1"/>
              </p:custDataLst>
            </p:nvPr>
          </p:nvSpPr>
          <p:spPr bwMode="auto">
            <a:xfrm>
              <a:off x="7906" y="1381"/>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2"/>
            <p:cNvSpPr>
              <a:spLocks noChangeArrowheads="1"/>
            </p:cNvSpPr>
            <p:nvPr>
              <p:custDataLst>
                <p:tags r:id="rId2"/>
              </p:custDataLst>
            </p:nvPr>
          </p:nvSpPr>
          <p:spPr bwMode="auto">
            <a:xfrm>
              <a:off x="7906" y="2018"/>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3"/>
              </p:custDataLst>
            </p:nvPr>
          </p:nvSpPr>
          <p:spPr bwMode="auto">
            <a:xfrm>
              <a:off x="8340" y="1701"/>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p:nvPr>
              <p:custDataLst>
                <p:tags r:id="rId4"/>
              </p:custDataLst>
            </p:nvPr>
          </p:nvSpPr>
          <p:spPr>
            <a:xfrm>
              <a:off x="7100" y="1178"/>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8" name="MH_Other_5"/>
            <p:cNvSpPr/>
            <p:nvPr>
              <p:custDataLst>
                <p:tags r:id="rId5"/>
              </p:custDataLst>
            </p:nvPr>
          </p:nvSpPr>
          <p:spPr bwMode="auto">
            <a:xfrm>
              <a:off x="7040" y="1178"/>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24" name="MH_Text_2"/>
            <p:cNvSpPr/>
            <p:nvPr>
              <p:custDataLst>
                <p:tags r:id="rId6"/>
              </p:custDataLst>
            </p:nvPr>
          </p:nvSpPr>
          <p:spPr>
            <a:xfrm>
              <a:off x="9379" y="2261"/>
              <a:ext cx="7391" cy="5112"/>
            </a:xfrm>
            <a:prstGeom prst="rect">
              <a:avLst/>
            </a:prstGeom>
          </p:spPr>
          <p:txBody>
            <a:bodyPr>
              <a:normAutofit fontScale="92500"/>
            </a:bodyPr>
            <a:lstStyle/>
            <a:p>
              <a:pPr indent="457200">
                <a:lnSpc>
                  <a:spcPct val="150000"/>
                </a:lnSpc>
              </a:pPr>
              <a:r>
                <a:rPr dirty="0" smtClean="0">
                  <a:latin typeface="+mn-ea"/>
                </a:rPr>
                <a:t>从实践中来看，不可能对软件的所有可能应用都进行测试。更为切实可行的方法是：把软件的所有可能的使用情况看做总体，通过统计学手段对其进行抽样，并对样本进行测试，根据测试结果分析软件的性能和可靠性。</a:t>
              </a:r>
            </a:p>
            <a:p>
              <a:pPr indent="457200">
                <a:lnSpc>
                  <a:spcPct val="150000"/>
                </a:lnSpc>
              </a:pPr>
              <a:r>
                <a:rPr dirty="0" smtClean="0">
                  <a:latin typeface="+mn-ea"/>
                </a:rPr>
                <a:t>有了数学基础后，对应于软件开发过程，可以采用净室软件技术方法来管理和控制开发过程。</a:t>
              </a:r>
            </a:p>
          </p:txBody>
        </p:sp>
        <p:sp>
          <p:nvSpPr>
            <p:cNvPr id="25" name="MH_SubTitle_2"/>
            <p:cNvSpPr/>
            <p:nvPr>
              <p:custDataLst>
                <p:tags r:id="rId7"/>
              </p:custDataLst>
            </p:nvPr>
          </p:nvSpPr>
          <p:spPr>
            <a:xfrm>
              <a:off x="9379" y="1365"/>
              <a:ext cx="7360" cy="845"/>
            </a:xfrm>
            <a:prstGeom prst="rect">
              <a:avLst/>
            </a:prstGeom>
          </p:spPr>
          <p:txBody>
            <a:bodyPr anchor="b">
              <a:normAutofit/>
            </a:bodyPr>
            <a:lstStyle/>
            <a:p>
              <a:r>
                <a:rPr lang="zh-CN" altLang="en-US" b="1" dirty="0" smtClean="0">
                  <a:solidFill>
                    <a:srgbClr val="00B050"/>
                  </a:solidFill>
                </a:rPr>
                <a:t>抽样理论</a:t>
              </a:r>
            </a:p>
          </p:txBody>
        </p:sp>
      </p:grpSp>
      <p:pic>
        <p:nvPicPr>
          <p:cNvPr id="12" name="图片 11" descr="A000220150322J12PPIC.png"/>
          <p:cNvPicPr>
            <a:picLocks noChangeAspect="1"/>
          </p:cNvPicPr>
          <p:nvPr/>
        </p:nvPicPr>
        <p:blipFill>
          <a:blip r:embed="rId10" cstate="print"/>
          <a:stretch>
            <a:fillRect/>
          </a:stretch>
        </p:blipFill>
        <p:spPr>
          <a:xfrm flipH="1">
            <a:off x="6981331" y="2565779"/>
            <a:ext cx="4250775" cy="3801848"/>
          </a:xfrm>
          <a:prstGeom prst="rect">
            <a:avLst/>
          </a:prstGeom>
        </p:spPr>
      </p:pic>
    </p:spTree>
  </p:cSld>
  <p:clrMapOvr>
    <a:masterClrMapping/>
  </p:clrMapOvr>
  <p:transition>
    <p:wheel spokes="3"/>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p>
        </p:txBody>
      </p:sp>
      <p:grpSp>
        <p:nvGrpSpPr>
          <p:cNvPr id="15" name="组合 14"/>
          <p:cNvGrpSpPr/>
          <p:nvPr/>
        </p:nvGrpSpPr>
        <p:grpSpPr>
          <a:xfrm>
            <a:off x="586740" y="1973186"/>
            <a:ext cx="11605260" cy="4154805"/>
            <a:chOff x="924" y="2742"/>
            <a:chExt cx="18276" cy="6543"/>
          </a:xfrm>
        </p:grpSpPr>
        <p:grpSp>
          <p:nvGrpSpPr>
            <p:cNvPr id="16" name="组合 15"/>
            <p:cNvGrpSpPr/>
            <p:nvPr/>
          </p:nvGrpSpPr>
          <p:grpSpPr>
            <a:xfrm flipH="1">
              <a:off x="9378" y="2742"/>
              <a:ext cx="9822" cy="1533"/>
              <a:chOff x="1" y="3428100"/>
              <a:chExt cx="6237104" cy="973302"/>
            </a:xfrm>
          </p:grpSpPr>
          <p:sp>
            <p:nvSpPr>
              <p:cNvPr id="19" name="MH_SubTitle_2"/>
              <p:cNvSpPr/>
              <p:nvPr>
                <p:custDataLst>
                  <p:tags r:id="rId2"/>
                </p:custDataLst>
              </p:nvPr>
            </p:nvSpPr>
            <p:spPr>
              <a:xfrm>
                <a:off x="1501808" y="3551271"/>
                <a:ext cx="4735297"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统计过程控制下的增量式开发</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924" y="3625"/>
              <a:ext cx="8455" cy="566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30000"/>
                </a:lnSpc>
              </a:pPr>
              <a:r>
                <a:rPr dirty="0" smtClean="0">
                  <a:solidFill>
                    <a:schemeClr val="tx1"/>
                  </a:solidFill>
                  <a:latin typeface="微软雅黑" panose="020B0503020204020204" charset="-122"/>
                  <a:ea typeface="微软雅黑" panose="020B0503020204020204" charset="-122"/>
                </a:rPr>
                <a:t>净室软件开发使用</a:t>
              </a:r>
              <a:r>
                <a:rPr b="1" dirty="0" smtClean="0">
                  <a:solidFill>
                    <a:srgbClr val="00B050"/>
                  </a:solidFill>
                  <a:latin typeface="微软雅黑" panose="020B0503020204020204" charset="-122"/>
                  <a:ea typeface="微软雅黑" panose="020B0503020204020204" charset="-122"/>
                </a:rPr>
                <a:t>增量过程模型。</a:t>
              </a:r>
              <a:r>
                <a:rPr dirty="0" smtClean="0">
                  <a:solidFill>
                    <a:schemeClr val="tx1"/>
                  </a:solidFill>
                  <a:latin typeface="微软雅黑" panose="020B0503020204020204" charset="-122"/>
                  <a:ea typeface="微软雅黑" panose="020B0503020204020204" charset="-122"/>
                </a:rPr>
                <a:t>一个软件增量的流水线由若干小的、独立的软件团队开发。每当一个软件增量通过认证，它就被集成到整体系统中。因此，系统的功能随时间增加。</a:t>
              </a:r>
            </a:p>
            <a:p>
              <a:pPr indent="457200" fontAlgn="auto">
                <a:lnSpc>
                  <a:spcPct val="130000"/>
                </a:lnSpc>
              </a:pPr>
              <a:r>
                <a:rPr b="1" dirty="0" smtClean="0">
                  <a:solidFill>
                    <a:srgbClr val="00B050"/>
                  </a:solidFill>
                  <a:latin typeface="微软雅黑" panose="020B0503020204020204" charset="-122"/>
                  <a:ea typeface="微软雅黑" panose="020B0503020204020204" charset="-122"/>
                </a:rPr>
                <a:t>增量开发基于产品开发中受控迭代的工程原理——控制迭代。</a:t>
              </a:r>
              <a:r>
                <a:rPr dirty="0" smtClean="0">
                  <a:solidFill>
                    <a:schemeClr val="tx1"/>
                  </a:solidFill>
                  <a:latin typeface="微软雅黑" panose="020B0503020204020204" charset="-122"/>
                  <a:ea typeface="微软雅黑" panose="020B0503020204020204" charset="-122"/>
                </a:rPr>
                <a:t>增量开发不是把整个开发过程作为一个整体，而是将其划分为一系列较小的累积增量。开发小组的成员在任何时刻只需把注意力集中于工作的一部分，而不需一次考虑所有的事情。</a:t>
              </a:r>
            </a:p>
          </p:txBody>
        </p:sp>
      </p:grpSp>
      <p:pic>
        <p:nvPicPr>
          <p:cNvPr id="4" name="图片 3" descr="00300009066_36a06a8f"/>
          <p:cNvPicPr>
            <a:picLocks noChangeAspect="1"/>
          </p:cNvPicPr>
          <p:nvPr/>
        </p:nvPicPr>
        <p:blipFill>
          <a:blip r:embed="rId7" cstate="print"/>
          <a:stretch>
            <a:fillRect/>
          </a:stretch>
        </p:blipFill>
        <p:spPr>
          <a:xfrm>
            <a:off x="6579870" y="3347648"/>
            <a:ext cx="4571365" cy="2618740"/>
          </a:xfrm>
          <a:prstGeom prst="rect">
            <a:avLst/>
          </a:prstGeom>
        </p:spPr>
      </p:pic>
      <p:sp>
        <p:nvSpPr>
          <p:cNvPr id="11" name="TextBox 6"/>
          <p:cNvSpPr txBox="1"/>
          <p:nvPr/>
        </p:nvSpPr>
        <p:spPr>
          <a:xfrm>
            <a:off x="627494" y="2019779"/>
            <a:ext cx="5777230" cy="492443"/>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dirty="0" smtClean="0"/>
              <a:t>2.  </a:t>
            </a:r>
            <a:r>
              <a:rPr lang="zh-CN" altLang="en-US" dirty="0" smtClean="0"/>
              <a:t>净室软件技术</a:t>
            </a:r>
            <a:endParaRPr lang="zh-CN" altLang="en-US" dirty="0" smtClean="0">
              <a:solidFill>
                <a:schemeClr val="tx1"/>
              </a:solidFill>
            </a:endParaRPr>
          </a:p>
        </p:txBody>
      </p:sp>
    </p:spTree>
  </p:cSld>
  <p:clrMapOvr>
    <a:masterClrMapping/>
  </p:clrMapOvr>
  <p:transition>
    <p:wheel spokes="3"/>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p>
        </p:txBody>
      </p:sp>
      <p:grpSp>
        <p:nvGrpSpPr>
          <p:cNvPr id="15" name="组合 14"/>
          <p:cNvGrpSpPr/>
          <p:nvPr/>
        </p:nvGrpSpPr>
        <p:grpSpPr>
          <a:xfrm>
            <a:off x="737235" y="1741170"/>
            <a:ext cx="11454765" cy="4605020"/>
            <a:chOff x="1161" y="2742"/>
            <a:chExt cx="18039" cy="7252"/>
          </a:xfrm>
        </p:grpSpPr>
        <p:grpSp>
          <p:nvGrpSpPr>
            <p:cNvPr id="16" name="组合 15"/>
            <p:cNvGrpSpPr/>
            <p:nvPr/>
          </p:nvGrpSpPr>
          <p:grpSpPr>
            <a:xfrm flipH="1">
              <a:off x="11226" y="2742"/>
              <a:ext cx="7974" cy="1533"/>
              <a:chOff x="1" y="3428100"/>
              <a:chExt cx="5063599" cy="973302"/>
            </a:xfrm>
          </p:grpSpPr>
          <p:sp>
            <p:nvSpPr>
              <p:cNvPr id="19" name="MH_SubTitle_2"/>
              <p:cNvSpPr/>
              <p:nvPr>
                <p:custDataLst>
                  <p:tags r:id="rId2"/>
                </p:custDataLst>
              </p:nvPr>
            </p:nvSpPr>
            <p:spPr>
              <a:xfrm>
                <a:off x="1501808" y="3551271"/>
                <a:ext cx="3561792"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基于函数的规范、设计</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02</a:t>
                </a:r>
                <a:endParaRPr lang="zh-CN" altLang="en-US" sz="3200" dirty="0">
                  <a:solidFill>
                    <a:srgbClr val="FFFFFF"/>
                  </a:solidFill>
                  <a:latin typeface="Impact" panose="020B0806030902050204" pitchFamily="34"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161" y="3289"/>
              <a:ext cx="10230" cy="670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30000"/>
                </a:lnSpc>
              </a:pPr>
              <a:r>
                <a:rPr b="1" dirty="0" smtClean="0">
                  <a:solidFill>
                    <a:srgbClr val="00B050"/>
                  </a:solidFill>
                  <a:latin typeface="微软雅黑" panose="020B0503020204020204" charset="-122"/>
                  <a:ea typeface="微软雅黑" panose="020B0503020204020204" charset="-122"/>
                </a:rPr>
                <a:t>净室软件工程通过使用盒结构规格说明的方法来遵从操作分析原则。</a:t>
              </a:r>
              <a:r>
                <a:rPr dirty="0" smtClean="0">
                  <a:solidFill>
                    <a:schemeClr val="tx1"/>
                  </a:solidFill>
                  <a:latin typeface="微软雅黑" panose="020B0503020204020204" charset="-122"/>
                  <a:ea typeface="微软雅黑" panose="020B0503020204020204" charset="-122"/>
                </a:rPr>
                <a:t>一个“盒”在某个细节层次上封装系统（或系统的某些方面）。通过逐步求精的过程，盒被精化为层次。每个盒规格说明的信息内容足以定义其精化，不需要依赖任何其他盒的实现。这使得分析员能够按层次划分一个系统——从顶层的基本表示到底层实现的特定细节。</a:t>
              </a:r>
            </a:p>
            <a:p>
              <a:pPr indent="457200" fontAlgn="auto">
                <a:lnSpc>
                  <a:spcPct val="130000"/>
                </a:lnSpc>
              </a:pPr>
              <a:r>
                <a:rPr dirty="0" smtClean="0">
                  <a:solidFill>
                    <a:schemeClr val="tx1"/>
                  </a:solidFill>
                  <a:latin typeface="微软雅黑" panose="020B0503020204020204" charset="-122"/>
                  <a:ea typeface="微软雅黑" panose="020B0503020204020204" charset="-122"/>
                </a:rPr>
                <a:t>盒子结构方法按照函数理论定义了3种抽象层次：</a:t>
              </a:r>
              <a:r>
                <a:rPr b="1" dirty="0" smtClean="0">
                  <a:solidFill>
                    <a:srgbClr val="00B050"/>
                  </a:solidFill>
                  <a:latin typeface="微软雅黑" panose="020B0503020204020204" charset="-122"/>
                  <a:ea typeface="微软雅黑" panose="020B0503020204020204" charset="-122"/>
                </a:rPr>
                <a:t>行为视图、有限状态机视图和过程视图。</a:t>
              </a:r>
              <a:r>
                <a:rPr dirty="0" smtClean="0">
                  <a:solidFill>
                    <a:schemeClr val="tx1"/>
                  </a:solidFill>
                  <a:latin typeface="微软雅黑" panose="020B0503020204020204" charset="-122"/>
                  <a:ea typeface="微软雅黑" panose="020B0503020204020204" charset="-122"/>
                </a:rPr>
                <a:t>规范从一个外部行为视图（称为黑盒）开始，然后被转化为一个状态机视图（称为状态盒），最后由一个过程视图（明盒）来实现。盒子结构是基于对象的，并支持软件工程的关键原则：信息隐藏和实现分离。</a:t>
              </a:r>
            </a:p>
          </p:txBody>
        </p:sp>
      </p:grpSp>
      <p:pic>
        <p:nvPicPr>
          <p:cNvPr id="2" name="图片 1" descr="A000220150821C53PPIC"/>
          <p:cNvPicPr>
            <a:picLocks noChangeAspect="1"/>
          </p:cNvPicPr>
          <p:nvPr/>
        </p:nvPicPr>
        <p:blipFill>
          <a:blip r:embed="rId7" cstate="print"/>
          <a:stretch>
            <a:fillRect/>
          </a:stretch>
        </p:blipFill>
        <p:spPr>
          <a:xfrm>
            <a:off x="7387230" y="3105482"/>
            <a:ext cx="3940810" cy="2626360"/>
          </a:xfrm>
          <a:prstGeom prst="snip2SameRect">
            <a:avLst/>
          </a:prstGeom>
        </p:spPr>
      </p:pic>
    </p:spTree>
  </p:cSld>
  <p:clrMapOvr>
    <a:masterClrMapping/>
  </p:clrMapOvr>
  <p:transition>
    <p:wheel spokes="3"/>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p>
        </p:txBody>
      </p:sp>
      <p:grpSp>
        <p:nvGrpSpPr>
          <p:cNvPr id="19" name="组合 18"/>
          <p:cNvGrpSpPr/>
          <p:nvPr/>
        </p:nvGrpSpPr>
        <p:grpSpPr>
          <a:xfrm>
            <a:off x="737235" y="1741170"/>
            <a:ext cx="11454765" cy="4331970"/>
            <a:chOff x="1161" y="2742"/>
            <a:chExt cx="18039" cy="6822"/>
          </a:xfrm>
        </p:grpSpPr>
        <p:grpSp>
          <p:nvGrpSpPr>
            <p:cNvPr id="20" name="组合 15"/>
            <p:cNvGrpSpPr/>
            <p:nvPr/>
          </p:nvGrpSpPr>
          <p:grpSpPr>
            <a:xfrm flipH="1">
              <a:off x="11226" y="2742"/>
              <a:ext cx="7974" cy="1533"/>
              <a:chOff x="1" y="3428100"/>
              <a:chExt cx="5063599" cy="973302"/>
            </a:xfrm>
          </p:grpSpPr>
          <p:sp>
            <p:nvSpPr>
              <p:cNvPr id="22" name="MH_SubTitle_2"/>
              <p:cNvSpPr/>
              <p:nvPr>
                <p:custDataLst>
                  <p:tags r:id="rId2"/>
                </p:custDataLst>
              </p:nvPr>
            </p:nvSpPr>
            <p:spPr>
              <a:xfrm>
                <a:off x="1501808" y="3551271"/>
                <a:ext cx="3561792"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正确性验证</a:t>
                </a:r>
              </a:p>
            </p:txBody>
          </p:sp>
          <p:sp>
            <p:nvSpPr>
              <p:cNvPr id="23"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03</a:t>
                </a:r>
                <a:endParaRPr lang="zh-CN" altLang="en-US" sz="3200" dirty="0">
                  <a:solidFill>
                    <a:srgbClr val="FFFFFF"/>
                  </a:solidFill>
                  <a:latin typeface="Impact" panose="020B0806030902050204" pitchFamily="34" charset="0"/>
                  <a:ea typeface="微软雅黑" panose="020B0503020204020204" charset="-122"/>
                </a:endParaRPr>
              </a:p>
            </p:txBody>
          </p:sp>
          <p:sp>
            <p:nvSpPr>
              <p:cNvPr id="24"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1" name="MH_Desc_1"/>
            <p:cNvSpPr/>
            <p:nvPr>
              <p:custDataLst>
                <p:tags r:id="rId1"/>
              </p:custDataLst>
            </p:nvPr>
          </p:nvSpPr>
          <p:spPr>
            <a:xfrm>
              <a:off x="1161" y="3482"/>
              <a:ext cx="9886" cy="6082"/>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r>
                <a:rPr lang="zh-CN" altLang="en-US" sz="2800" dirty="0" smtClean="0">
                  <a:solidFill>
                    <a:schemeClr val="tx1"/>
                  </a:solidFill>
                </a:rPr>
                <a:t>        正确性验证被认为是净室软件工程的核心，正是由于采用了这一技术，净室项目的</a:t>
              </a:r>
              <a:r>
                <a:rPr lang="en-US" sz="2800" b="1" dirty="0" err="1" smtClean="0">
                  <a:solidFill>
                    <a:schemeClr val="tx1"/>
                  </a:solidFill>
                  <a:hlinkClick r:id="rId7"/>
                </a:rPr>
                <a:t>软件质量</a:t>
              </a:r>
              <a:r>
                <a:rPr lang="zh-CN" altLang="en-US" sz="2800" dirty="0" smtClean="0">
                  <a:solidFill>
                    <a:schemeClr val="tx1"/>
                  </a:solidFill>
                </a:rPr>
                <a:t>才有了极大的提高。</a:t>
              </a:r>
              <a:endParaRPr lang="zh-CN" altLang="en-US" sz="2800" dirty="0">
                <a:solidFill>
                  <a:schemeClr val="tx1"/>
                </a:solidFill>
              </a:endParaRPr>
            </a:p>
          </p:txBody>
        </p:sp>
      </p:grpSp>
      <p:pic>
        <p:nvPicPr>
          <p:cNvPr id="25" name="图片 24" descr="A000220150318M35PPIC.png"/>
          <p:cNvPicPr>
            <a:picLocks noChangeAspect="1"/>
          </p:cNvPicPr>
          <p:nvPr/>
        </p:nvPicPr>
        <p:blipFill>
          <a:blip r:embed="rId8" cstate="print"/>
          <a:stretch>
            <a:fillRect/>
          </a:stretch>
        </p:blipFill>
        <p:spPr>
          <a:xfrm>
            <a:off x="7080136" y="2866029"/>
            <a:ext cx="5111863" cy="3043452"/>
          </a:xfrm>
          <a:prstGeom prst="rect">
            <a:avLst/>
          </a:prstGeom>
        </p:spPr>
      </p:pic>
    </p:spTree>
  </p:cSld>
  <p:clrMapOvr>
    <a:masterClrMapping/>
  </p:clrMapOvr>
  <p:transition>
    <p:wheel spokes="3"/>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p>
        </p:txBody>
      </p:sp>
      <p:grpSp>
        <p:nvGrpSpPr>
          <p:cNvPr id="15" name="组合 14"/>
          <p:cNvGrpSpPr/>
          <p:nvPr/>
        </p:nvGrpSpPr>
        <p:grpSpPr>
          <a:xfrm>
            <a:off x="923925" y="1741170"/>
            <a:ext cx="11268075" cy="4185920"/>
            <a:chOff x="1455" y="2742"/>
            <a:chExt cx="17745" cy="6592"/>
          </a:xfrm>
        </p:grpSpPr>
        <p:grpSp>
          <p:nvGrpSpPr>
            <p:cNvPr id="16" name="组合 15"/>
            <p:cNvGrpSpPr/>
            <p:nvPr/>
          </p:nvGrpSpPr>
          <p:grpSpPr>
            <a:xfrm flipH="1">
              <a:off x="10362" y="2742"/>
              <a:ext cx="8838" cy="1533"/>
              <a:chOff x="1" y="3428100"/>
              <a:chExt cx="5612251" cy="973302"/>
            </a:xfrm>
          </p:grpSpPr>
          <p:sp>
            <p:nvSpPr>
              <p:cNvPr id="19" name="MH_SubTitle_2"/>
              <p:cNvSpPr/>
              <p:nvPr>
                <p:custDataLst>
                  <p:tags r:id="rId2"/>
                </p:custDataLst>
              </p:nvPr>
            </p:nvSpPr>
            <p:spPr>
              <a:xfrm>
                <a:off x="1501808" y="3551271"/>
                <a:ext cx="4110444"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统计测试和软件认证</a:t>
                </a:r>
              </a:p>
            </p:txBody>
          </p:sp>
          <p:sp>
            <p:nvSpPr>
              <p:cNvPr id="20"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04</a:t>
                </a:r>
                <a:endParaRPr lang="zh-CN" altLang="en-US" sz="3200" dirty="0">
                  <a:solidFill>
                    <a:srgbClr val="FFFFFF"/>
                  </a:solidFill>
                  <a:latin typeface="Impact" panose="020B0806030902050204" pitchFamily="34" charset="0"/>
                  <a:ea typeface="微软雅黑" panose="020B0503020204020204" charset="-122"/>
                </a:endParaRPr>
              </a:p>
            </p:txBody>
          </p:sp>
          <p:sp>
            <p:nvSpPr>
              <p:cNvPr id="21"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1"/>
              </p:custDataLst>
            </p:nvPr>
          </p:nvSpPr>
          <p:spPr>
            <a:xfrm>
              <a:off x="1455" y="3625"/>
              <a:ext cx="8907" cy="570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30000"/>
                </a:lnSpc>
              </a:pPr>
              <a:r>
                <a:rPr dirty="0" smtClean="0">
                  <a:solidFill>
                    <a:schemeClr val="tx1"/>
                  </a:solidFill>
                  <a:latin typeface="微软雅黑" panose="020B0503020204020204" charset="-122"/>
                  <a:ea typeface="微软雅黑" panose="020B0503020204020204" charset="-122"/>
                </a:rPr>
                <a:t>净室测试方法采用</a:t>
              </a:r>
              <a:r>
                <a:rPr b="1" dirty="0" smtClean="0">
                  <a:solidFill>
                    <a:srgbClr val="00B050"/>
                  </a:solidFill>
                  <a:latin typeface="微软雅黑" panose="020B0503020204020204" charset="-122"/>
                  <a:ea typeface="微软雅黑" panose="020B0503020204020204" charset="-122"/>
                </a:rPr>
                <a:t>统计学的基本原理</a:t>
              </a:r>
              <a:r>
                <a:rPr dirty="0" smtClean="0">
                  <a:solidFill>
                    <a:schemeClr val="tx1"/>
                  </a:solidFill>
                  <a:latin typeface="微软雅黑" panose="020B0503020204020204" charset="-122"/>
                  <a:ea typeface="微软雅黑" panose="020B0503020204020204" charset="-122"/>
                </a:rPr>
                <a:t>，即当软件总体太大时必须采取抽样的方法。</a:t>
              </a:r>
              <a:r>
                <a:rPr b="1" dirty="0" smtClean="0">
                  <a:solidFill>
                    <a:srgbClr val="00B050"/>
                  </a:solidFill>
                  <a:latin typeface="微软雅黑" panose="020B0503020204020204" charset="-122"/>
                  <a:ea typeface="微软雅黑" panose="020B0503020204020204" charset="-122"/>
                </a:rPr>
                <a:t>首先确定一个使用模型来代表系统所有可能使用的总体，然后由使用模型产生测试用例。</a:t>
              </a:r>
              <a:r>
                <a:rPr dirty="0" smtClean="0">
                  <a:solidFill>
                    <a:schemeClr val="tx1"/>
                  </a:solidFill>
                  <a:latin typeface="微软雅黑" panose="020B0503020204020204" charset="-122"/>
                  <a:ea typeface="微软雅黑" panose="020B0503020204020204" charset="-122"/>
                </a:rPr>
                <a:t>因为测试用例是总体的一个随机样本，所以可得到系统预期操作性能的有效的统计推导。</a:t>
              </a:r>
            </a:p>
          </p:txBody>
        </p:sp>
      </p:grpSp>
      <p:pic>
        <p:nvPicPr>
          <p:cNvPr id="17" name="图片 16" descr="A000220150322J29PPIC.png"/>
          <p:cNvPicPr>
            <a:picLocks noChangeAspect="1"/>
          </p:cNvPicPr>
          <p:nvPr/>
        </p:nvPicPr>
        <p:blipFill>
          <a:blip r:embed="rId7" cstate="print"/>
          <a:stretch>
            <a:fillRect/>
          </a:stretch>
        </p:blipFill>
        <p:spPr>
          <a:xfrm>
            <a:off x="6949374" y="2714405"/>
            <a:ext cx="4393324" cy="3267821"/>
          </a:xfrm>
          <a:prstGeom prst="rect">
            <a:avLst/>
          </a:prstGeom>
        </p:spPr>
      </p:pic>
    </p:spTree>
  </p:cSld>
  <p:clrMapOvr>
    <a:masterClrMapping/>
  </p:clrMapOvr>
  <p:transition>
    <p:wheel spokes="3"/>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11.2  净室软件工程</a:t>
            </a:r>
            <a:r>
              <a:rPr lang="zh-CN" altLang="en-US" dirty="0">
                <a:solidFill>
                  <a:srgbClr val="FF0000"/>
                </a:solidFill>
              </a:rPr>
              <a:t/>
            </a:r>
            <a:br>
              <a:rPr lang="zh-CN" altLang="en-US" dirty="0">
                <a:solidFill>
                  <a:srgbClr val="FF0000"/>
                </a:solidFill>
              </a:rPr>
            </a:br>
            <a:r>
              <a:rPr lang="zh-CN" altLang="en-US" dirty="0">
                <a:solidFill>
                  <a:srgbClr val="FF0000"/>
                </a:solidFill>
              </a:rPr>
              <a:t/>
            </a:r>
            <a:br>
              <a:rPr lang="zh-CN" altLang="en-US" dirty="0">
                <a:solidFill>
                  <a:srgbClr val="FF0000"/>
                </a:solidFill>
              </a:rPr>
            </a:br>
            <a:endParaRPr lang="zh-CN" altLang="en-US"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11.2.2  </a:t>
            </a:r>
            <a:r>
              <a:rPr lang="zh-CN" altLang="en-US" sz="2400" dirty="0" smtClean="0">
                <a:solidFill>
                  <a:schemeClr val="tx1"/>
                </a:solidFill>
              </a:rPr>
              <a:t>净室软件工程技术</a:t>
            </a:r>
          </a:p>
        </p:txBody>
      </p:sp>
      <p:sp>
        <p:nvSpPr>
          <p:cNvPr id="100" name="文本框 99"/>
          <p:cNvSpPr txBox="1"/>
          <p:nvPr/>
        </p:nvSpPr>
        <p:spPr>
          <a:xfrm>
            <a:off x="939117" y="2579370"/>
            <a:ext cx="4987925" cy="3017402"/>
          </a:xfrm>
          <a:prstGeom prst="roundRect">
            <a:avLst/>
          </a:prstGeom>
          <a:noFill/>
          <a:ln w="9525">
            <a:solidFill>
              <a:schemeClr val="accent2"/>
            </a:solidFill>
            <a:prstDash val="sysDot"/>
          </a:ln>
        </p:spPr>
        <p:txBody>
          <a:bodyPr wrap="square">
            <a:spAutoFit/>
          </a:bodyPr>
          <a:lstStyle/>
          <a:p>
            <a:pPr marL="0" indent="457200" algn="l" fontAlgn="auto">
              <a:lnSpc>
                <a:spcPct val="120000"/>
              </a:lnSpc>
            </a:pPr>
            <a:r>
              <a:rPr lang="zh-CN" altLang="en-US" b="0" u="none" dirty="0">
                <a:latin typeface="微软雅黑" panose="020B0503020204020204" charset="-122"/>
                <a:ea typeface="微软雅黑" panose="020B0503020204020204" charset="-122"/>
                <a:cs typeface="宋体" panose="02010600030101010101" pitchFamily="2" charset="-122"/>
              </a:rPr>
              <a:t>从以上技术特点可以看出，净室软件工程中使用的设计方法主要运用</a:t>
            </a:r>
            <a:r>
              <a:rPr lang="zh-CN" altLang="en-US" b="1" u="none" dirty="0">
                <a:solidFill>
                  <a:srgbClr val="00B050"/>
                </a:solidFill>
                <a:latin typeface="微软雅黑" panose="020B0503020204020204" charset="-122"/>
                <a:ea typeface="微软雅黑" panose="020B0503020204020204" charset="-122"/>
                <a:cs typeface="宋体" panose="02010600030101010101" pitchFamily="2" charset="-122"/>
              </a:rPr>
              <a:t>结构化程序设计的原理。</a:t>
            </a:r>
            <a:r>
              <a:rPr lang="zh-CN" altLang="en-US" b="0" u="none" dirty="0">
                <a:latin typeface="微软雅黑" panose="020B0503020204020204" charset="-122"/>
                <a:ea typeface="微软雅黑" panose="020B0503020204020204" charset="-122"/>
                <a:cs typeface="宋体" panose="02010600030101010101" pitchFamily="2" charset="-122"/>
              </a:rPr>
              <a:t>净室软件工程是软件开发的一种形式化方法，它可以生成质量非常高的软件。它使用盒子结构规约进行分析和设计建模，并且强调将正确性验证，而不是测试，作为发现和消除错误的主要机制。净室软件工程的基本模型如图11-1所示。</a:t>
            </a:r>
          </a:p>
        </p:txBody>
      </p:sp>
      <p:graphicFrame>
        <p:nvGraphicFramePr>
          <p:cNvPr id="7" name="对象 6"/>
          <p:cNvGraphicFramePr>
            <a:graphicFrameLocks/>
          </p:cNvGraphicFramePr>
          <p:nvPr/>
        </p:nvGraphicFramePr>
        <p:xfrm>
          <a:off x="6810233" y="313900"/>
          <a:ext cx="4390988" cy="7861110"/>
        </p:xfrm>
        <a:graphic>
          <a:graphicData uri="http://schemas.openxmlformats.org/presentationml/2006/ole">
            <p:oleObj spid="_x0000_s1025" r:id="rId4" imgW="2802382" imgH="5224911" progId="Word.Document.12">
              <p:embed/>
            </p:oleObj>
          </a:graphicData>
        </a:graphic>
      </p:graphicFrame>
    </p:spTree>
  </p:cSld>
  <p:clrMapOvr>
    <a:masterClrMapping/>
  </p:clrMapOvr>
  <p:transition>
    <p:wheel spokes="3"/>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465" y="2913380"/>
            <a:ext cx="5805170"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面向服务的架构技术</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面向服务架构的产生</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面向服务架构的概念</a:t>
              </a:r>
            </a:p>
          </p:txBody>
        </p:sp>
      </p:grpSp>
      <p:sp>
        <p:nvSpPr>
          <p:cNvPr id="13" name="文本框 12"/>
          <p:cNvSpPr txBox="1"/>
          <p:nvPr/>
        </p:nvSpPr>
        <p:spPr>
          <a:xfrm>
            <a:off x="6459855" y="5229860"/>
            <a:ext cx="418782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基于SOA架构的软件开发方法</a:t>
            </a:r>
          </a:p>
        </p:txBody>
      </p:sp>
    </p:spTree>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11.3  面向服务的架构技术</a:t>
            </a:r>
            <a:r>
              <a:rPr lang="en-US" dirty="0" smtClean="0">
                <a:solidFill>
                  <a:schemeClr val="tx1"/>
                </a:solidFill>
              </a:rPr>
              <a:t/>
            </a:r>
            <a:br>
              <a:rPr lang="en-US" dirty="0" smtClean="0">
                <a:solidFill>
                  <a:schemeClr val="tx1"/>
                </a:solidFill>
              </a:rPr>
            </a:br>
            <a:endParaRPr lang="zh-CN" altLang="en-US" dirty="0">
              <a:solidFill>
                <a:srgbClr val="FF0000"/>
              </a:solidFill>
            </a:endParaRPr>
          </a:p>
        </p:txBody>
      </p:sp>
      <p:grpSp>
        <p:nvGrpSpPr>
          <p:cNvPr id="11" name="组合 10"/>
          <p:cNvGrpSpPr/>
          <p:nvPr/>
        </p:nvGrpSpPr>
        <p:grpSpPr>
          <a:xfrm>
            <a:off x="6965259" y="1905927"/>
            <a:ext cx="4378712" cy="3759556"/>
            <a:chOff x="607424" y="1831092"/>
            <a:chExt cx="4378712" cy="3759556"/>
          </a:xfrm>
        </p:grpSpPr>
        <p:sp>
          <p:nvSpPr>
            <p:cNvPr id="6" name="MH_Other_1"/>
            <p:cNvSpPr/>
            <p:nvPr>
              <p:custDataLst>
                <p:tags r:id="rId2"/>
              </p:custDataLst>
            </p:nvPr>
          </p:nvSpPr>
          <p:spPr>
            <a:xfrm rot="411899">
              <a:off x="1242256" y="2455453"/>
              <a:ext cx="3743880" cy="3135195"/>
            </a:xfrm>
            <a:custGeom>
              <a:avLst/>
              <a:gdLst>
                <a:gd name="connsiteX0" fmla="*/ 0 w 2750440"/>
                <a:gd name="connsiteY0" fmla="*/ 0 h 3501234"/>
                <a:gd name="connsiteX1" fmla="*/ 2750440 w 2750440"/>
                <a:gd name="connsiteY1" fmla="*/ 0 h 3501234"/>
                <a:gd name="connsiteX2" fmla="*/ 2750440 w 2750440"/>
                <a:gd name="connsiteY2" fmla="*/ 3501234 h 3501234"/>
                <a:gd name="connsiteX3" fmla="*/ 0 w 2750440"/>
                <a:gd name="connsiteY3" fmla="*/ 3501234 h 3501234"/>
                <a:gd name="connsiteX4" fmla="*/ 0 w 2750440"/>
                <a:gd name="connsiteY4" fmla="*/ 0 h 3501234"/>
                <a:gd name="connsiteX0-1" fmla="*/ 0 w 2750440"/>
                <a:gd name="connsiteY0-2" fmla="*/ 0 h 3501234"/>
                <a:gd name="connsiteX1-3" fmla="*/ 2587039 w 2750440"/>
                <a:gd name="connsiteY1-4" fmla="*/ 47867 h 3501234"/>
                <a:gd name="connsiteX2-5" fmla="*/ 2750440 w 2750440"/>
                <a:gd name="connsiteY2-6" fmla="*/ 3501234 h 3501234"/>
                <a:gd name="connsiteX3-7" fmla="*/ 0 w 2750440"/>
                <a:gd name="connsiteY3-8" fmla="*/ 3501234 h 3501234"/>
                <a:gd name="connsiteX4-9" fmla="*/ 0 w 2750440"/>
                <a:gd name="connsiteY4-10" fmla="*/ 0 h 3501234"/>
                <a:gd name="connsiteX0-11" fmla="*/ 20416 w 2770856"/>
                <a:gd name="connsiteY0-12" fmla="*/ 0 h 3501234"/>
                <a:gd name="connsiteX1-13" fmla="*/ 2607455 w 2770856"/>
                <a:gd name="connsiteY1-14" fmla="*/ 47867 h 3501234"/>
                <a:gd name="connsiteX2-15" fmla="*/ 2770856 w 2770856"/>
                <a:gd name="connsiteY2-16" fmla="*/ 3501234 h 3501234"/>
                <a:gd name="connsiteX3-17" fmla="*/ 0 w 2770856"/>
                <a:gd name="connsiteY3-18" fmla="*/ 3409713 h 3501234"/>
                <a:gd name="connsiteX4-19" fmla="*/ 20416 w 2770856"/>
                <a:gd name="connsiteY4-20" fmla="*/ 0 h 3501234"/>
                <a:gd name="connsiteX0-21" fmla="*/ 2389174 w 2770856"/>
                <a:gd name="connsiteY0-22" fmla="*/ 3078422 h 3453367"/>
                <a:gd name="connsiteX1-23" fmla="*/ 2607455 w 2770856"/>
                <a:gd name="connsiteY1-24" fmla="*/ 0 h 3453367"/>
                <a:gd name="connsiteX2-25" fmla="*/ 2770856 w 2770856"/>
                <a:gd name="connsiteY2-26" fmla="*/ 3453367 h 3453367"/>
                <a:gd name="connsiteX3-27" fmla="*/ 0 w 2770856"/>
                <a:gd name="connsiteY3-28" fmla="*/ 3361846 h 3453367"/>
                <a:gd name="connsiteX4-29" fmla="*/ 2389174 w 2770856"/>
                <a:gd name="connsiteY4-30" fmla="*/ 3078422 h 3453367"/>
                <a:gd name="connsiteX0-31" fmla="*/ 1743012 w 2770856"/>
                <a:gd name="connsiteY0-32" fmla="*/ 2394978 h 3453367"/>
                <a:gd name="connsiteX1-33" fmla="*/ 2607455 w 2770856"/>
                <a:gd name="connsiteY1-34" fmla="*/ 0 h 3453367"/>
                <a:gd name="connsiteX2-35" fmla="*/ 2770856 w 2770856"/>
                <a:gd name="connsiteY2-36" fmla="*/ 3453367 h 3453367"/>
                <a:gd name="connsiteX3-37" fmla="*/ 0 w 2770856"/>
                <a:gd name="connsiteY3-38" fmla="*/ 3361846 h 3453367"/>
                <a:gd name="connsiteX4-39" fmla="*/ 1743012 w 2770856"/>
                <a:gd name="connsiteY4-40" fmla="*/ 2394978 h 3453367"/>
                <a:gd name="connsiteX0-41" fmla="*/ 1743012 w 2807910"/>
                <a:gd name="connsiteY0-42" fmla="*/ 2394978 h 3448906"/>
                <a:gd name="connsiteX1-43" fmla="*/ 2607455 w 2807910"/>
                <a:gd name="connsiteY1-44" fmla="*/ 0 h 3448906"/>
                <a:gd name="connsiteX2-45" fmla="*/ 2807910 w 2807910"/>
                <a:gd name="connsiteY2-46" fmla="*/ 3448906 h 3448906"/>
                <a:gd name="connsiteX3-47" fmla="*/ 0 w 2807910"/>
                <a:gd name="connsiteY3-48" fmla="*/ 3361846 h 3448906"/>
                <a:gd name="connsiteX4-49" fmla="*/ 1743012 w 2807910"/>
                <a:gd name="connsiteY4-50" fmla="*/ 2394978 h 34489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07910" h="3448906">
                  <a:moveTo>
                    <a:pt x="1743012" y="2394978"/>
                  </a:moveTo>
                  <a:lnTo>
                    <a:pt x="2607455" y="0"/>
                  </a:lnTo>
                  <a:lnTo>
                    <a:pt x="2807910" y="3448906"/>
                  </a:lnTo>
                  <a:lnTo>
                    <a:pt x="0" y="3361846"/>
                  </a:lnTo>
                  <a:lnTo>
                    <a:pt x="1743012" y="2394978"/>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MH_Other_2"/>
            <p:cNvSpPr/>
            <p:nvPr>
              <p:custDataLst>
                <p:tags r:id="rId3"/>
              </p:custDataLst>
            </p:nvPr>
          </p:nvSpPr>
          <p:spPr>
            <a:xfrm rot="411899">
              <a:off x="1081360" y="2320466"/>
              <a:ext cx="3667253" cy="3182764"/>
            </a:xfrm>
            <a:prstGeom prst="rect">
              <a:avLst/>
            </a:prstGeom>
            <a:solidFill>
              <a:srgbClr val="FFFFFF"/>
            </a:solidFill>
            <a:ln w="3175">
              <a:solidFill>
                <a:srgbClr val="EAEAE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MH_Picture_1"/>
            <p:cNvSpPr/>
            <p:nvPr>
              <p:custDataLst>
                <p:tags r:id="rId4"/>
              </p:custDataLst>
            </p:nvPr>
          </p:nvSpPr>
          <p:spPr>
            <a:xfrm rot="411899">
              <a:off x="1275197" y="2426642"/>
              <a:ext cx="3338984" cy="2634008"/>
            </a:xfrm>
            <a:prstGeom prst="rect">
              <a:avLst/>
            </a:prstGeom>
            <a:blipFill dpi="0" rotWithShape="1">
              <a:blip r:embed="rId8" cstate="print"/>
              <a:srcRect/>
              <a:stretch>
                <a:fillRect l="-53490" t="-298" r="-12152" b="-426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MH_Other_3"/>
            <p:cNvSpPr/>
            <p:nvPr>
              <p:custDataLst>
                <p:tags r:id="rId5"/>
              </p:custDataLst>
            </p:nvPr>
          </p:nvSpPr>
          <p:spPr>
            <a:xfrm rot="20953818">
              <a:off x="607424" y="1831092"/>
              <a:ext cx="2010107" cy="842908"/>
            </a:xfrm>
            <a:custGeom>
              <a:avLst/>
              <a:gdLst>
                <a:gd name="connsiteX0" fmla="*/ 0 w 1206500"/>
                <a:gd name="connsiteY0" fmla="*/ 463550 h 1003300"/>
                <a:gd name="connsiteX1" fmla="*/ 965200 w 1206500"/>
                <a:gd name="connsiteY1" fmla="*/ 0 h 1003300"/>
                <a:gd name="connsiteX2" fmla="*/ 920750 w 1206500"/>
                <a:gd name="connsiteY2" fmla="*/ 139700 h 1003300"/>
                <a:gd name="connsiteX3" fmla="*/ 984250 w 1206500"/>
                <a:gd name="connsiteY3" fmla="*/ 177800 h 1003300"/>
                <a:gd name="connsiteX4" fmla="*/ 977900 w 1206500"/>
                <a:gd name="connsiteY4" fmla="*/ 254000 h 1003300"/>
                <a:gd name="connsiteX5" fmla="*/ 1054100 w 1206500"/>
                <a:gd name="connsiteY5" fmla="*/ 254000 h 1003300"/>
                <a:gd name="connsiteX6" fmla="*/ 1143000 w 1206500"/>
                <a:gd name="connsiteY6" fmla="*/ 228600 h 1003300"/>
                <a:gd name="connsiteX7" fmla="*/ 1155700 w 1206500"/>
                <a:gd name="connsiteY7" fmla="*/ 361950 h 1003300"/>
                <a:gd name="connsiteX8" fmla="*/ 1041400 w 1206500"/>
                <a:gd name="connsiteY8" fmla="*/ 482600 h 1003300"/>
                <a:gd name="connsiteX9" fmla="*/ 1187450 w 1206500"/>
                <a:gd name="connsiteY9" fmla="*/ 400050 h 1003300"/>
                <a:gd name="connsiteX10" fmla="*/ 1085850 w 1206500"/>
                <a:gd name="connsiteY10" fmla="*/ 552450 h 1003300"/>
                <a:gd name="connsiteX11" fmla="*/ 1206500 w 1206500"/>
                <a:gd name="connsiteY11" fmla="*/ 520700 h 1003300"/>
                <a:gd name="connsiteX12" fmla="*/ 171450 w 1206500"/>
                <a:gd name="connsiteY12" fmla="*/ 1003300 h 1003300"/>
                <a:gd name="connsiteX13" fmla="*/ 209550 w 1206500"/>
                <a:gd name="connsiteY13" fmla="*/ 946150 h 1003300"/>
                <a:gd name="connsiteX14" fmla="*/ 292100 w 1206500"/>
                <a:gd name="connsiteY14" fmla="*/ 876300 h 1003300"/>
                <a:gd name="connsiteX15" fmla="*/ 133350 w 1206500"/>
                <a:gd name="connsiteY15" fmla="*/ 863600 h 1003300"/>
                <a:gd name="connsiteX16" fmla="*/ 222250 w 1206500"/>
                <a:gd name="connsiteY16" fmla="*/ 774700 h 1003300"/>
                <a:gd name="connsiteX17" fmla="*/ 101600 w 1206500"/>
                <a:gd name="connsiteY17" fmla="*/ 762000 h 1003300"/>
                <a:gd name="connsiteX18" fmla="*/ 190500 w 1206500"/>
                <a:gd name="connsiteY18" fmla="*/ 647700 h 1003300"/>
                <a:gd name="connsiteX19" fmla="*/ 57150 w 1206500"/>
                <a:gd name="connsiteY19" fmla="*/ 615950 h 1003300"/>
                <a:gd name="connsiteX20" fmla="*/ 57150 w 1206500"/>
                <a:gd name="connsiteY20" fmla="*/ 565150 h 1003300"/>
                <a:gd name="connsiteX21" fmla="*/ 133350 w 1206500"/>
                <a:gd name="connsiteY21" fmla="*/ 514350 h 1003300"/>
                <a:gd name="connsiteX22" fmla="*/ 0 w 1206500"/>
                <a:gd name="connsiteY22" fmla="*/ 463550 h 100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06500" h="1003300">
                  <a:moveTo>
                    <a:pt x="0" y="463550"/>
                  </a:moveTo>
                  <a:lnTo>
                    <a:pt x="965200" y="0"/>
                  </a:lnTo>
                  <a:lnTo>
                    <a:pt x="920750" y="139700"/>
                  </a:lnTo>
                  <a:lnTo>
                    <a:pt x="984250" y="177800"/>
                  </a:lnTo>
                  <a:lnTo>
                    <a:pt x="977900" y="254000"/>
                  </a:lnTo>
                  <a:lnTo>
                    <a:pt x="1054100" y="254000"/>
                  </a:lnTo>
                  <a:lnTo>
                    <a:pt x="1143000" y="228600"/>
                  </a:lnTo>
                  <a:lnTo>
                    <a:pt x="1155700" y="361950"/>
                  </a:lnTo>
                  <a:lnTo>
                    <a:pt x="1041400" y="482600"/>
                  </a:lnTo>
                  <a:lnTo>
                    <a:pt x="1187450" y="400050"/>
                  </a:lnTo>
                  <a:lnTo>
                    <a:pt x="1085850" y="552450"/>
                  </a:lnTo>
                  <a:lnTo>
                    <a:pt x="1206500" y="520700"/>
                  </a:lnTo>
                  <a:lnTo>
                    <a:pt x="171450" y="1003300"/>
                  </a:lnTo>
                  <a:lnTo>
                    <a:pt x="209550" y="946150"/>
                  </a:lnTo>
                  <a:lnTo>
                    <a:pt x="292100" y="876300"/>
                  </a:lnTo>
                  <a:lnTo>
                    <a:pt x="133350" y="863600"/>
                  </a:lnTo>
                  <a:lnTo>
                    <a:pt x="222250" y="774700"/>
                  </a:lnTo>
                  <a:lnTo>
                    <a:pt x="101600" y="762000"/>
                  </a:lnTo>
                  <a:lnTo>
                    <a:pt x="190500" y="647700"/>
                  </a:lnTo>
                  <a:lnTo>
                    <a:pt x="57150" y="615950"/>
                  </a:lnTo>
                  <a:lnTo>
                    <a:pt x="57150" y="565150"/>
                  </a:lnTo>
                  <a:lnTo>
                    <a:pt x="133350" y="514350"/>
                  </a:lnTo>
                  <a:lnTo>
                    <a:pt x="0" y="463550"/>
                  </a:lnTo>
                  <a:close/>
                </a:path>
              </a:pathLst>
            </a:custGeom>
            <a:solidFill>
              <a:srgbClr val="BFBFB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MH_Text_1"/>
          <p:cNvSpPr/>
          <p:nvPr>
            <p:custDataLst>
              <p:tags r:id="rId1"/>
            </p:custDataLst>
          </p:nvPr>
        </p:nvSpPr>
        <p:spPr>
          <a:xfrm>
            <a:off x="898525" y="1730896"/>
            <a:ext cx="6132830" cy="3677920"/>
          </a:xfrm>
          <a:prstGeom prst="rect">
            <a:avLst/>
          </a:prstGeom>
        </p:spPr>
        <p:txBody>
          <a:bodyPr vert="horz" wrap="square" anchor="t" anchorCtr="0">
            <a:noAutofit/>
          </a:bodyPr>
          <a:lstStyle/>
          <a:p>
            <a:pPr indent="457200">
              <a:lnSpc>
                <a:spcPct val="120000"/>
              </a:lnSpc>
            </a:pPr>
            <a:endParaRPr dirty="0" smtClean="0">
              <a:latin typeface="微软雅黑" panose="020B0503020204020204" charset="-122"/>
              <a:ea typeface="微软雅黑" panose="020B0503020204020204" charset="-122"/>
              <a:cs typeface="宋体" panose="02010600030101010101" pitchFamily="2" charset="-122"/>
            </a:endParaRPr>
          </a:p>
          <a:p>
            <a:pPr indent="457200">
              <a:lnSpc>
                <a:spcPct val="120000"/>
              </a:lnSpc>
            </a:pPr>
            <a:r>
              <a:rPr dirty="0" smtClean="0">
                <a:latin typeface="微软雅黑" panose="020B0503020204020204" charset="-122"/>
                <a:ea typeface="微软雅黑" panose="020B0503020204020204" charset="-122"/>
                <a:cs typeface="宋体" panose="02010600030101010101" pitchFamily="2" charset="-122"/>
              </a:rPr>
              <a:t>在软件工程发展的早期，软件设计的重点是数据结构和算法。随着软件开发设计的规模越来越大，更多的软件工程师参与其中，</a:t>
            </a:r>
            <a:r>
              <a:rPr b="1" dirty="0" smtClean="0">
                <a:solidFill>
                  <a:srgbClr val="7030A0"/>
                </a:solidFill>
                <a:latin typeface="微软雅黑" panose="020B0503020204020204" charset="-122"/>
                <a:ea typeface="微软雅黑" panose="020B0503020204020204" charset="-122"/>
                <a:cs typeface="宋体" panose="02010600030101010101" pitchFamily="2" charset="-122"/>
              </a:rPr>
              <a:t>软件架构</a:t>
            </a:r>
            <a:r>
              <a:rPr dirty="0" smtClean="0">
                <a:latin typeface="微软雅黑" panose="020B0503020204020204" charset="-122"/>
                <a:ea typeface="微软雅黑" panose="020B0503020204020204" charset="-122"/>
                <a:cs typeface="宋体" panose="02010600030101010101" pitchFamily="2" charset="-122"/>
              </a:rPr>
              <a:t>的重要性日益凸显。打个比方：开发一个大型的复杂软件系统就像新建一座大楼，这是一个庞大的工程。软件工程就是要以工程化的方法和手段来开发软件系统，那么软件架构就是工程的“图纸”，是实现程序或系统各个构件的指导方针。</a:t>
            </a:r>
            <a:r>
              <a:rPr b="1" dirty="0" smtClean="0">
                <a:solidFill>
                  <a:srgbClr val="7030A0"/>
                </a:solidFill>
                <a:latin typeface="微软雅黑" panose="020B0503020204020204" charset="-122"/>
                <a:ea typeface="微软雅黑" panose="020B0503020204020204" charset="-122"/>
                <a:cs typeface="宋体" panose="02010600030101010101" pitchFamily="2" charset="-122"/>
              </a:rPr>
              <a:t>有了软件架构，可以帮助软件复用从简单的代码复用发展到设计复用和过程复用，从而提高软件生产效率。</a:t>
            </a: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11.3.1  面向服务架构的产生</a:t>
            </a:r>
          </a:p>
        </p:txBody>
      </p:sp>
      <p:grpSp>
        <p:nvGrpSpPr>
          <p:cNvPr id="19" name="组合 18"/>
          <p:cNvGrpSpPr/>
          <p:nvPr/>
        </p:nvGrpSpPr>
        <p:grpSpPr>
          <a:xfrm>
            <a:off x="644049" y="3388208"/>
            <a:ext cx="10904061" cy="2480346"/>
            <a:chOff x="1906905" y="3073400"/>
            <a:chExt cx="10904061" cy="2480346"/>
          </a:xfrm>
        </p:grpSpPr>
        <p:sp>
          <p:nvSpPr>
            <p:cNvPr id="3080"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a:solidFill>
                    <a:srgbClr val="946A7D"/>
                  </a:solidFill>
                  <a:latin typeface="Arial" panose="020B0604020202020204" pitchFamily="34" charset="0"/>
                  <a:ea typeface="幼圆" panose="02010509060101010101" pitchFamily="49" charset="-122"/>
                  <a:cs typeface="Arial" panose="020B0604020202020204" pitchFamily="34" charset="0"/>
                </a:rPr>
                <a:t>结构化设计</a:t>
              </a:r>
            </a:p>
          </p:txBody>
        </p:sp>
        <p:sp>
          <p:nvSpPr>
            <p:cNvPr id="49" name="MH_Other_4"/>
            <p:cNvSpPr/>
            <p:nvPr/>
          </p:nvSpPr>
          <p:spPr>
            <a:xfrm>
              <a:off x="2636838" y="3089275"/>
              <a:ext cx="68262" cy="1320800"/>
            </a:xfrm>
            <a:prstGeom prst="rect">
              <a:avLst/>
            </a:prstGeom>
            <a:solidFill>
              <a:srgbClr val="946A7D">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2705100" y="3781425"/>
              <a:ext cx="9718675" cy="17723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defRPr/>
              </a:pPr>
              <a:r>
                <a:rPr lang="en-US" altLang="zh-CN" dirty="0">
                  <a:latin typeface="微软雅黑" panose="020B0503020204020204" charset="-122"/>
                  <a:ea typeface="微软雅黑" panose="020B0503020204020204" charset="-122"/>
                  <a:cs typeface="Arial" panose="020B0604020202020204" pitchFamily="34" charset="0"/>
                </a:rPr>
                <a:t>在早期的软件开发中，由于程序规模不大，只是以程序语句组成模块，通过模块的聚集和嵌套形成逐层调用的程序结构，</a:t>
              </a:r>
              <a:r>
                <a:rPr lang="en-US" altLang="zh-CN" b="1" dirty="0">
                  <a:solidFill>
                    <a:schemeClr val="accent6">
                      <a:lumMod val="50000"/>
                    </a:schemeClr>
                  </a:solidFill>
                  <a:latin typeface="微软雅黑" panose="020B0503020204020204" charset="-122"/>
                  <a:ea typeface="微软雅黑" panose="020B0503020204020204" charset="-122"/>
                  <a:cs typeface="Arial" panose="020B0604020202020204" pitchFamily="34" charset="0"/>
                </a:rPr>
                <a:t>这种体系结构强调结构化程序设计，自顶向下、逐步求精，并注意模块的耦合性，就可以得到相对良好的结构。</a:t>
              </a:r>
              <a:r>
                <a:rPr lang="en-US" altLang="zh-CN" dirty="0" err="1">
                  <a:latin typeface="微软雅黑" panose="020B0503020204020204" charset="-122"/>
                  <a:ea typeface="微软雅黑" panose="020B0503020204020204" charset="-122"/>
                  <a:cs typeface="Arial" panose="020B0604020202020204" pitchFamily="34" charset="0"/>
                </a:rPr>
                <a:t>结构化设计在规模较小、复杂度较低的软件系统中仍然使用，适用于人员较少的开发团队和较短的开发周期</a:t>
              </a:r>
              <a:r>
                <a:rPr lang="en-US" altLang="zh-CN" dirty="0">
                  <a:latin typeface="微软雅黑" panose="020B0503020204020204" charset="-122"/>
                  <a:ea typeface="微软雅黑" panose="020B0503020204020204" charset="-122"/>
                  <a:cs typeface="Arial" panose="020B0604020202020204" pitchFamily="34" charset="0"/>
                </a:rPr>
                <a:t>。</a:t>
              </a:r>
            </a:p>
          </p:txBody>
        </p:sp>
        <p:cxnSp>
          <p:nvCxnSpPr>
            <p:cNvPr id="3083" name="MH_Other_5"/>
            <p:cNvCxnSpPr>
              <a:cxnSpLocks noChangeShapeType="1"/>
            </p:cNvCxnSpPr>
            <p:nvPr/>
          </p:nvCxnSpPr>
          <p:spPr bwMode="auto">
            <a:xfrm flipV="1">
              <a:off x="2805271" y="3665379"/>
              <a:ext cx="10005695" cy="9525"/>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1906905" y="3108325"/>
              <a:ext cx="731520" cy="1301750"/>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946A7D"/>
                  </a:solidFill>
                  <a:ea typeface="幼圆" panose="02010509060101010101" pitchFamily="49" charset="-122"/>
                </a:rPr>
                <a:t>01</a:t>
              </a:r>
              <a:endParaRPr lang="zh-CN" altLang="en-US" sz="4800" b="1">
                <a:solidFill>
                  <a:srgbClr val="946A7D"/>
                </a:solidFill>
                <a:ea typeface="幼圆" panose="02010509060101010101" pitchFamily="49" charset="-122"/>
              </a:endParaRPr>
            </a:p>
          </p:txBody>
        </p:sp>
      </p:grpSp>
      <p:grpSp>
        <p:nvGrpSpPr>
          <p:cNvPr id="33" name="组合 32"/>
          <p:cNvGrpSpPr/>
          <p:nvPr/>
        </p:nvGrpSpPr>
        <p:grpSpPr>
          <a:xfrm>
            <a:off x="861837" y="2063030"/>
            <a:ext cx="9919970" cy="1021080"/>
            <a:chOff x="881" y="2735"/>
            <a:chExt cx="15622" cy="1608"/>
          </a:xfrm>
        </p:grpSpPr>
        <p:sp>
          <p:nvSpPr>
            <p:cNvPr id="167" name="圆角矩形"/>
            <p:cNvSpPr/>
            <p:nvPr/>
          </p:nvSpPr>
          <p:spPr>
            <a:xfrm>
              <a:off x="1188" y="3071"/>
              <a:ext cx="15315" cy="1272"/>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35" name="文本框 34"/>
            <p:cNvSpPr txBox="1"/>
            <p:nvPr/>
          </p:nvSpPr>
          <p:spPr>
            <a:xfrm>
              <a:off x="1213" y="3070"/>
              <a:ext cx="14839"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由于软件开发的复杂度不断增加，为了进一步提高软件开发效率，软件架构也在不断地发展改进。大致可分为</a:t>
              </a:r>
              <a:r>
                <a:rPr lang="zh-CN" dirty="0">
                  <a:latin typeface="微软雅黑" panose="020B0503020204020204" charset="-122"/>
                  <a:ea typeface="微软雅黑" panose="020B0503020204020204" charset="-122"/>
                  <a:sym typeface="+mn-ea"/>
                </a:rPr>
                <a:t>以下</a:t>
              </a:r>
              <a:r>
                <a:rPr dirty="0">
                  <a:latin typeface="微软雅黑" panose="020B0503020204020204" charset="-122"/>
                  <a:ea typeface="微软雅黑" panose="020B0503020204020204" charset="-122"/>
                  <a:sym typeface="+mn-ea"/>
                </a:rPr>
                <a:t>3个阶段</a:t>
              </a:r>
              <a:r>
                <a:rPr lang="zh-CN" dirty="0">
                  <a:latin typeface="微软雅黑" panose="020B0503020204020204" charset="-122"/>
                  <a:ea typeface="微软雅黑" panose="020B0503020204020204" charset="-122"/>
                  <a:sym typeface="+mn-ea"/>
                </a:rPr>
                <a:t>：</a:t>
              </a:r>
            </a:p>
          </p:txBody>
        </p:sp>
      </p:gr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11.3.1  面向服务架构的产生</a:t>
            </a:r>
          </a:p>
        </p:txBody>
      </p:sp>
      <p:grpSp>
        <p:nvGrpSpPr>
          <p:cNvPr id="18" name="组合 17"/>
          <p:cNvGrpSpPr/>
          <p:nvPr/>
        </p:nvGrpSpPr>
        <p:grpSpPr>
          <a:xfrm>
            <a:off x="528922" y="2242840"/>
            <a:ext cx="10864215" cy="3632835"/>
            <a:chOff x="1462405" y="1604963"/>
            <a:chExt cx="10864215" cy="3632835"/>
          </a:xfrm>
        </p:grpSpPr>
        <p:sp>
          <p:nvSpPr>
            <p:cNvPr id="3075" name="MH_SubTitle_1"/>
            <p:cNvSpPr>
              <a:spLocks noChangeArrowheads="1"/>
            </p:cNvSpPr>
            <p:nvPr/>
          </p:nvSpPr>
          <p:spPr bwMode="auto">
            <a:xfrm>
              <a:off x="2260600" y="1604963"/>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a:solidFill>
                    <a:srgbClr val="E26664"/>
                  </a:solidFill>
                  <a:latin typeface="Arial" panose="020B0604020202020204" pitchFamily="34" charset="0"/>
                  <a:ea typeface="幼圆" panose="02010509060101010101" pitchFamily="49" charset="-122"/>
                  <a:cs typeface="Arial" panose="020B0604020202020204" pitchFamily="34" charset="0"/>
                </a:rPr>
                <a:t>基于组件的软件架构</a:t>
              </a:r>
            </a:p>
          </p:txBody>
        </p:sp>
        <p:sp>
          <p:nvSpPr>
            <p:cNvPr id="44" name="MH_Other_1"/>
            <p:cNvSpPr/>
            <p:nvPr/>
          </p:nvSpPr>
          <p:spPr>
            <a:xfrm>
              <a:off x="2192338" y="1620838"/>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77" name="MH_Text_1"/>
            <p:cNvSpPr>
              <a:spLocks noChangeArrowheads="1"/>
            </p:cNvSpPr>
            <p:nvPr/>
          </p:nvSpPr>
          <p:spPr bwMode="auto">
            <a:xfrm>
              <a:off x="2260600" y="2272983"/>
              <a:ext cx="10066020" cy="29648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30000"/>
                </a:lnSpc>
                <a:defRPr/>
              </a:pPr>
              <a:r>
                <a:rPr lang="en-US" altLang="zh-CN" dirty="0" err="1">
                  <a:latin typeface="微软雅黑" panose="020B0503020204020204" charset="-122"/>
                  <a:ea typeface="微软雅黑" panose="020B0503020204020204" charset="-122"/>
                  <a:cs typeface="Arial" panose="020B0604020202020204" pitchFamily="34" charset="0"/>
                </a:rPr>
                <a:t>随着软件系统复杂度和规模的增加，出现了基于组件的软件架构</a:t>
              </a:r>
              <a:r>
                <a:rPr lang="en-US" altLang="zh-CN" dirty="0">
                  <a:latin typeface="微软雅黑" panose="020B0503020204020204" charset="-122"/>
                  <a:ea typeface="微软雅黑" panose="020B0503020204020204" charset="-122"/>
                  <a:cs typeface="Arial" panose="020B0604020202020204" pitchFamily="34" charset="0"/>
                </a:rPr>
                <a:t>。</a:t>
              </a:r>
              <a:r>
                <a:rPr lang="en-US" altLang="zh-CN" b="1" dirty="0" err="1">
                  <a:solidFill>
                    <a:schemeClr val="accent4">
                      <a:lumMod val="75000"/>
                    </a:schemeClr>
                  </a:solidFill>
                  <a:latin typeface="微软雅黑" panose="020B0503020204020204" charset="-122"/>
                  <a:ea typeface="微软雅黑" panose="020B0503020204020204" charset="-122"/>
                  <a:cs typeface="Arial" panose="020B0604020202020204" pitchFamily="34" charset="0"/>
                </a:rPr>
                <a:t>组件是具有一定功能，能够独立实现或同其他组件装配协同工作的程序体</a:t>
              </a:r>
              <a:r>
                <a:rPr lang="en-US" altLang="zh-CN" b="1" dirty="0">
                  <a:solidFill>
                    <a:schemeClr val="accent4">
                      <a:lumMod val="75000"/>
                    </a:schemeClr>
                  </a:solidFill>
                  <a:latin typeface="微软雅黑" panose="020B0503020204020204" charset="-122"/>
                  <a:ea typeface="微软雅黑" panose="020B0503020204020204" charset="-122"/>
                  <a:cs typeface="Arial" panose="020B0604020202020204" pitchFamily="34" charset="0"/>
                </a:rPr>
                <a:t>。</a:t>
              </a:r>
              <a:r>
                <a:rPr lang="en-US" altLang="zh-CN" dirty="0">
                  <a:latin typeface="微软雅黑" panose="020B0503020204020204" charset="-122"/>
                  <a:ea typeface="微软雅黑" panose="020B0503020204020204" charset="-122"/>
                  <a:cs typeface="Arial" panose="020B0604020202020204" pitchFamily="34" charset="0"/>
                </a:rPr>
                <a:t>从软件复用的角度看，</a:t>
              </a:r>
              <a:r>
                <a:rPr lang="en-US" altLang="zh-CN" b="1" dirty="0">
                  <a:solidFill>
                    <a:schemeClr val="accent4">
                      <a:lumMod val="75000"/>
                    </a:schemeClr>
                  </a:solidFill>
                  <a:latin typeface="微软雅黑" panose="020B0503020204020204" charset="-122"/>
                  <a:ea typeface="微软雅黑" panose="020B0503020204020204" charset="-122"/>
                  <a:cs typeface="Arial" panose="020B0604020202020204" pitchFamily="34" charset="0"/>
                </a:rPr>
                <a:t>面向对象技术实现了“类”的复用，而组件技术将复用提升到更高的层次，它是对一组类的组合进行封装，为用户提供多个接口。</a:t>
              </a:r>
              <a:r>
                <a:rPr lang="en-US" altLang="zh-CN" dirty="0" err="1">
                  <a:latin typeface="微软雅黑" panose="020B0503020204020204" charset="-122"/>
                  <a:ea typeface="微软雅黑" panose="020B0503020204020204" charset="-122"/>
                  <a:cs typeface="Arial" panose="020B0604020202020204" pitchFamily="34" charset="0"/>
                </a:rPr>
                <a:t>比较流行的组件模型有COBRA和COM</a:t>
              </a:r>
              <a:r>
                <a:rPr lang="en-US" altLang="zh-CN" dirty="0">
                  <a:latin typeface="微软雅黑" panose="020B0503020204020204" charset="-122"/>
                  <a:ea typeface="微软雅黑" panose="020B0503020204020204" charset="-122"/>
                  <a:cs typeface="Arial" panose="020B0604020202020204" pitchFamily="34" charset="0"/>
                </a:rPr>
                <a:t>。</a:t>
              </a:r>
              <a:r>
                <a:rPr lang="en-US" altLang="zh-CN" dirty="0" err="1">
                  <a:latin typeface="微软雅黑" panose="020B0503020204020204" charset="-122"/>
                  <a:ea typeface="微软雅黑" panose="020B0503020204020204" charset="-122"/>
                  <a:cs typeface="Arial" panose="020B0604020202020204" pitchFamily="34" charset="0"/>
                </a:rPr>
                <a:t>然而在基于组件的软件架构中，仍然存在一些问题</a:t>
              </a:r>
              <a:r>
                <a:rPr lang="en-US" altLang="zh-CN" dirty="0">
                  <a:latin typeface="微软雅黑" panose="020B0503020204020204" charset="-122"/>
                  <a:ea typeface="微软雅黑" panose="020B0503020204020204" charset="-122"/>
                  <a:cs typeface="Arial" panose="020B0604020202020204" pitchFamily="34" charset="0"/>
                </a:rPr>
                <a:t>。</a:t>
              </a:r>
              <a:r>
                <a:rPr lang="en-US" altLang="zh-CN" dirty="0" err="1">
                  <a:latin typeface="微软雅黑" panose="020B0503020204020204" charset="-122"/>
                  <a:ea typeface="微软雅黑" panose="020B0503020204020204" charset="-122"/>
                  <a:cs typeface="Arial" panose="020B0604020202020204" pitchFamily="34" charset="0"/>
                </a:rPr>
                <a:t>首先，语言环境的复用性差，在VB中编写的组件很难在C</a:t>
              </a:r>
              <a:r>
                <a:rPr lang="en-US" altLang="zh-CN" dirty="0">
                  <a:latin typeface="微软雅黑" panose="020B0503020204020204" charset="-122"/>
                  <a:ea typeface="微软雅黑" panose="020B0503020204020204" charset="-122"/>
                  <a:cs typeface="Arial" panose="020B0604020202020204" pitchFamily="34" charset="0"/>
                </a:rPr>
                <a:t>++</a:t>
              </a:r>
              <a:r>
                <a:rPr lang="en-US" altLang="zh-CN" dirty="0" err="1">
                  <a:latin typeface="微软雅黑" panose="020B0503020204020204" charset="-122"/>
                  <a:ea typeface="微软雅黑" panose="020B0503020204020204" charset="-122"/>
                  <a:cs typeface="Arial" panose="020B0604020202020204" pitchFamily="34" charset="0"/>
                </a:rPr>
                <a:t>的环境中使用</a:t>
              </a:r>
              <a:r>
                <a:rPr lang="en-US" altLang="zh-CN" dirty="0">
                  <a:latin typeface="微软雅黑" panose="020B0503020204020204" charset="-122"/>
                  <a:ea typeface="微软雅黑" panose="020B0503020204020204" charset="-122"/>
                  <a:cs typeface="Arial" panose="020B0604020202020204" pitchFamily="34" charset="0"/>
                </a:rPr>
                <a:t>。</a:t>
              </a:r>
              <a:r>
                <a:rPr lang="en-US" altLang="zh-CN" dirty="0" err="1">
                  <a:latin typeface="微软雅黑" panose="020B0503020204020204" charset="-122"/>
                  <a:ea typeface="微软雅黑" panose="020B0503020204020204" charset="-122"/>
                  <a:cs typeface="Arial" panose="020B0604020202020204" pitchFamily="34" charset="0"/>
                </a:rPr>
                <a:t>其次，在异构系统中调用困难，跨过防火墙调用更加困难</a:t>
              </a:r>
              <a:r>
                <a:rPr lang="en-US" altLang="zh-CN" dirty="0">
                  <a:latin typeface="微软雅黑" panose="020B0503020204020204" charset="-122"/>
                  <a:ea typeface="微软雅黑" panose="020B0503020204020204" charset="-122"/>
                  <a:cs typeface="Arial" panose="020B0604020202020204" pitchFamily="34" charset="0"/>
                </a:rPr>
                <a:t>。</a:t>
              </a:r>
              <a:r>
                <a:rPr lang="en-US" altLang="zh-CN" dirty="0" err="1">
                  <a:latin typeface="微软雅黑" panose="020B0503020204020204" charset="-122"/>
                  <a:ea typeface="微软雅黑" panose="020B0503020204020204" charset="-122"/>
                  <a:cs typeface="Arial" panose="020B0604020202020204" pitchFamily="34" charset="0"/>
                </a:rPr>
                <a:t>因此，基于组件的软件架构常适用于已具有一些开发经验的中小型软件公司，使用组件来搭建软件结构和开发软件产品</a:t>
              </a:r>
              <a:r>
                <a:rPr lang="en-US" altLang="zh-CN" dirty="0">
                  <a:latin typeface="微软雅黑" panose="020B0503020204020204" charset="-122"/>
                  <a:ea typeface="微软雅黑" panose="020B0503020204020204" charset="-122"/>
                  <a:cs typeface="Arial" panose="020B0604020202020204" pitchFamily="34" charset="0"/>
                </a:rPr>
                <a:t>。</a:t>
              </a:r>
            </a:p>
          </p:txBody>
        </p:sp>
        <p:cxnSp>
          <p:nvCxnSpPr>
            <p:cNvPr id="3078" name="MH_Other_2"/>
            <p:cNvCxnSpPr>
              <a:cxnSpLocks noChangeShapeType="1"/>
            </p:cNvCxnSpPr>
            <p:nvPr/>
          </p:nvCxnSpPr>
          <p:spPr bwMode="auto">
            <a:xfrm flipV="1">
              <a:off x="2360328" y="2201118"/>
              <a:ext cx="9965690" cy="3810"/>
            </a:xfrm>
            <a:prstGeom prst="line">
              <a:avLst/>
            </a:prstGeom>
            <a:noFill/>
            <a:ln w="19050" algn="ctr">
              <a:solidFill>
                <a:srgbClr val="BFBFBF"/>
              </a:solidFill>
              <a:prstDash val="sysDash"/>
              <a:miter lim="800000"/>
            </a:ln>
          </p:spPr>
        </p:cxnSp>
        <p:sp>
          <p:nvSpPr>
            <p:cNvPr id="3079" name="MH_Other_3"/>
            <p:cNvSpPr txBox="1">
              <a:spLocks noChangeArrowheads="1"/>
            </p:cNvSpPr>
            <p:nvPr/>
          </p:nvSpPr>
          <p:spPr bwMode="auto">
            <a:xfrm>
              <a:off x="1462405" y="1638300"/>
              <a:ext cx="731520"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E26664"/>
                  </a:solidFill>
                  <a:ea typeface="幼圆" panose="02010509060101010101" pitchFamily="49" charset="-122"/>
                </a:rPr>
                <a:t>02</a:t>
              </a:r>
              <a:endParaRPr lang="zh-CN" altLang="en-US" sz="4800" b="1">
                <a:solidFill>
                  <a:srgbClr val="E26664"/>
                </a:solidFill>
                <a:ea typeface="幼圆" panose="02010509060101010101" pitchFamily="49" charset="-122"/>
              </a:endParaRPr>
            </a:p>
          </p:txBody>
        </p:sp>
      </p:gr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11.3.1  面向服务架构的产生</a:t>
            </a:r>
          </a:p>
        </p:txBody>
      </p:sp>
      <p:grpSp>
        <p:nvGrpSpPr>
          <p:cNvPr id="2" name="组合 1"/>
          <p:cNvGrpSpPr/>
          <p:nvPr/>
        </p:nvGrpSpPr>
        <p:grpSpPr>
          <a:xfrm>
            <a:off x="169704" y="1939131"/>
            <a:ext cx="11048756" cy="1964130"/>
            <a:chOff x="1905635" y="3073400"/>
            <a:chExt cx="11048756" cy="1964130"/>
          </a:xfrm>
        </p:grpSpPr>
        <p:sp>
          <p:nvSpPr>
            <p:cNvPr id="5"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en-US" altLang="zh-CN" sz="2000" b="1">
                  <a:solidFill>
                    <a:schemeClr val="accent3">
                      <a:lumMod val="75000"/>
                    </a:schemeClr>
                  </a:solidFill>
                  <a:latin typeface="Arial" panose="020B0604020202020204" pitchFamily="34" charset="0"/>
                  <a:ea typeface="幼圆" panose="02010509060101010101" pitchFamily="49" charset="-122"/>
                  <a:cs typeface="Arial" panose="020B0604020202020204" pitchFamily="34" charset="0"/>
                </a:rPr>
                <a:t>面向服务的软件架构</a:t>
              </a:r>
            </a:p>
          </p:txBody>
        </p:sp>
        <p:sp>
          <p:nvSpPr>
            <p:cNvPr id="6" name="MH_Other_4"/>
            <p:cNvSpPr/>
            <p:nvPr/>
          </p:nvSpPr>
          <p:spPr>
            <a:xfrm>
              <a:off x="2636838" y="3089275"/>
              <a:ext cx="68262" cy="1320800"/>
            </a:xfrm>
            <a:prstGeom prst="rect">
              <a:avLst/>
            </a:prstGeom>
            <a:solidFill>
              <a:schemeClr val="accent3">
                <a:lumMod val="75000"/>
              </a:scheme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7" name="MH_Text_2"/>
            <p:cNvSpPr>
              <a:spLocks noChangeArrowheads="1"/>
            </p:cNvSpPr>
            <p:nvPr/>
          </p:nvSpPr>
          <p:spPr bwMode="auto">
            <a:xfrm>
              <a:off x="2895991" y="3836017"/>
              <a:ext cx="10058400" cy="1201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defRPr/>
              </a:pPr>
              <a:r>
                <a:rPr lang="en-US" altLang="zh-CN" b="1" dirty="0">
                  <a:solidFill>
                    <a:srgbClr val="00B050"/>
                  </a:solidFill>
                  <a:latin typeface="微软雅黑" panose="020B0503020204020204" charset="-122"/>
                  <a:ea typeface="微软雅黑" panose="020B0503020204020204" charset="-122"/>
                  <a:cs typeface="Arial" panose="020B0604020202020204" pitchFamily="34" charset="0"/>
                </a:rPr>
                <a:t>面向服务的架构（SOA）是将所有功能都定义为独立的服务，这些服务都有可调用的接口，服务的使用者只需通过接口来调用服务，得到预期的返回结果，而具体服务内部是怎么实现的则无需关心。</a:t>
              </a:r>
            </a:p>
          </p:txBody>
        </p:sp>
        <p:cxnSp>
          <p:nvCxnSpPr>
            <p:cNvPr id="8" name="MH_Other_5"/>
            <p:cNvCxnSpPr>
              <a:cxnSpLocks noChangeShapeType="1"/>
            </p:cNvCxnSpPr>
            <p:nvPr/>
          </p:nvCxnSpPr>
          <p:spPr bwMode="auto">
            <a:xfrm>
              <a:off x="2805113" y="3675063"/>
              <a:ext cx="4319587" cy="0"/>
            </a:xfrm>
            <a:prstGeom prst="line">
              <a:avLst/>
            </a:prstGeom>
            <a:noFill/>
            <a:ln w="19050" algn="ctr">
              <a:solidFill>
                <a:srgbClr val="BFBFBF"/>
              </a:solidFill>
              <a:prstDash val="sysDash"/>
              <a:miter lim="800000"/>
            </a:ln>
          </p:spPr>
        </p:cxnSp>
        <p:sp>
          <p:nvSpPr>
            <p:cNvPr id="9" name="MH_Other_6"/>
            <p:cNvSpPr txBox="1">
              <a:spLocks noChangeArrowheads="1"/>
            </p:cNvSpPr>
            <p:nvPr/>
          </p:nvSpPr>
          <p:spPr bwMode="auto">
            <a:xfrm>
              <a:off x="1905635" y="3108325"/>
              <a:ext cx="731520" cy="1301750"/>
            </a:xfrm>
            <a:prstGeom prst="rect">
              <a:avLst/>
            </a:prstGeom>
            <a:noFill/>
            <a:ln w="9525">
              <a:noFill/>
              <a:miter lim="800000"/>
            </a:ln>
          </p:spPr>
          <p:txBody>
            <a:bodyPr vert="eaVert"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chemeClr val="accent3">
                      <a:lumMod val="75000"/>
                    </a:schemeClr>
                  </a:solidFill>
                  <a:ea typeface="幼圆" panose="02010509060101010101" pitchFamily="49" charset="-122"/>
                </a:rPr>
                <a:t>03</a:t>
              </a:r>
            </a:p>
          </p:txBody>
        </p:sp>
      </p:grpSp>
      <p:sp>
        <p:nvSpPr>
          <p:cNvPr id="11" name="矩形 10"/>
          <p:cNvSpPr/>
          <p:nvPr/>
        </p:nvSpPr>
        <p:spPr>
          <a:xfrm>
            <a:off x="1050897" y="3799650"/>
            <a:ext cx="10466705" cy="2228850"/>
          </a:xfrm>
          <a:prstGeom prst="rect">
            <a:avLst/>
          </a:prstGeom>
        </p:spPr>
        <p:txBody>
          <a:bodyPr wrap="square">
            <a:spAutoFit/>
          </a:bodyPr>
          <a:lstStyle/>
          <a:p>
            <a:pPr indent="457200" fontAlgn="auto">
              <a:lnSpc>
                <a:spcPct val="130000"/>
              </a:lnSpc>
              <a:defRPr/>
            </a:pPr>
            <a:r>
              <a:rPr lang="en-US" altLang="zh-CN" dirty="0" err="1" smtClean="0">
                <a:latin typeface="微软雅黑" panose="020B0503020204020204" charset="-122"/>
                <a:ea typeface="微软雅黑" panose="020B0503020204020204" charset="-122"/>
                <a:cs typeface="Arial" panose="020B0604020202020204" pitchFamily="34" charset="0"/>
              </a:rPr>
              <a:t>从软件架构来看，</a:t>
            </a:r>
            <a:r>
              <a:rPr lang="en-US" altLang="zh-CN" b="1" dirty="0" err="1" smtClean="0">
                <a:solidFill>
                  <a:srgbClr val="00B050"/>
                </a:solidFill>
                <a:latin typeface="微软雅黑" panose="020B0503020204020204" charset="-122"/>
                <a:ea typeface="微软雅黑" panose="020B0503020204020204" charset="-122"/>
                <a:cs typeface="Arial" panose="020B0604020202020204" pitchFamily="34" charset="0"/>
              </a:rPr>
              <a:t>无论这些服务是来自本地还是远程，是用什么网络协议调用，需要什么样的基础组件都是无关紧要的</a:t>
            </a:r>
            <a:r>
              <a:rPr lang="en-US" altLang="zh-CN" b="1" dirty="0" smtClean="0">
                <a:solidFill>
                  <a:srgbClr val="00B050"/>
                </a:solidFill>
                <a:latin typeface="微软雅黑" panose="020B0503020204020204" charset="-122"/>
                <a:ea typeface="微软雅黑" panose="020B0503020204020204" charset="-122"/>
                <a:cs typeface="Arial" panose="020B0604020202020204" pitchFamily="34" charset="0"/>
              </a:rPr>
              <a:t>。</a:t>
            </a:r>
            <a:r>
              <a:rPr lang="en-US" altLang="zh-CN" dirty="0" smtClean="0">
                <a:latin typeface="微软雅黑" panose="020B0503020204020204" charset="-122"/>
                <a:ea typeface="微软雅黑" panose="020B0503020204020204" charset="-122"/>
                <a:cs typeface="Arial" panose="020B0604020202020204" pitchFamily="34" charset="0"/>
              </a:rPr>
              <a:t>无论从技术角度，还是从地理位置来看，服务的可调用性并不局限于某一个特定的范围，调用的服务可能来自相同的应用程序中，也可能来自公司内网不同系统上的不同地址空间，还有可能是来自公司合作伙伴系统上的应用程序。</a:t>
            </a:r>
            <a:r>
              <a:rPr lang="en-US" altLang="zh-CN" dirty="0" err="1" smtClean="0">
                <a:latin typeface="微软雅黑" panose="020B0503020204020204" charset="-122"/>
                <a:ea typeface="微软雅黑" panose="020B0503020204020204" charset="-122"/>
                <a:cs typeface="Arial" panose="020B0604020202020204" pitchFamily="34" charset="0"/>
              </a:rPr>
              <a:t>这些服务可能是C</a:t>
            </a:r>
            <a:r>
              <a:rPr lang="en-US" altLang="zh-CN" dirty="0" smtClean="0">
                <a:latin typeface="微软雅黑" panose="020B0503020204020204" charset="-122"/>
                <a:ea typeface="微软雅黑" panose="020B0503020204020204" charset="-122"/>
                <a:cs typeface="Arial" panose="020B0604020202020204" pitchFamily="34" charset="0"/>
              </a:rPr>
              <a:t>++</a:t>
            </a:r>
            <a:r>
              <a:rPr lang="en-US" altLang="zh-CN" dirty="0" err="1" smtClean="0">
                <a:latin typeface="微软雅黑" panose="020B0503020204020204" charset="-122"/>
                <a:ea typeface="微软雅黑" panose="020B0503020204020204" charset="-122"/>
                <a:cs typeface="Arial" panose="020B0604020202020204" pitchFamily="34" charset="0"/>
              </a:rPr>
              <a:t>语言开发的，也可能是VB或者其他语言开发的</a:t>
            </a:r>
            <a:r>
              <a:rPr lang="en-US" altLang="zh-CN" dirty="0" smtClean="0">
                <a:latin typeface="微软雅黑" panose="020B0503020204020204" charset="-122"/>
                <a:ea typeface="微软雅黑" panose="020B0503020204020204" charset="-122"/>
                <a:cs typeface="Arial" panose="020B0604020202020204" pitchFamily="34" charset="0"/>
              </a:rPr>
              <a:t>。</a:t>
            </a:r>
            <a:r>
              <a:rPr lang="en-US" altLang="zh-CN" b="1" dirty="0" err="1" smtClean="0">
                <a:solidFill>
                  <a:srgbClr val="00B050"/>
                </a:solidFill>
                <a:latin typeface="微软雅黑" panose="020B0503020204020204" charset="-122"/>
                <a:ea typeface="微软雅黑" panose="020B0503020204020204" charset="-122"/>
                <a:cs typeface="Arial" panose="020B0604020202020204" pitchFamily="34" charset="0"/>
              </a:rPr>
              <a:t>只要有一个统一高效的服务接口，能够实现服务的安全调用即可</a:t>
            </a:r>
            <a:r>
              <a:rPr lang="en-US" altLang="zh-CN" b="1" dirty="0" smtClean="0">
                <a:solidFill>
                  <a:srgbClr val="00B050"/>
                </a:solidFill>
                <a:latin typeface="微软雅黑" panose="020B0503020204020204" charset="-122"/>
                <a:ea typeface="微软雅黑" panose="020B0503020204020204" charset="-122"/>
                <a:cs typeface="Arial" panose="020B0604020202020204" pitchFamily="34" charset="0"/>
              </a:rPr>
              <a:t>。</a:t>
            </a:r>
            <a:r>
              <a:rPr lang="en-US" altLang="zh-CN" b="1" dirty="0" err="1" smtClean="0">
                <a:solidFill>
                  <a:srgbClr val="00B050"/>
                </a:solidFill>
                <a:latin typeface="微软雅黑" panose="020B0503020204020204" charset="-122"/>
                <a:ea typeface="微软雅黑" panose="020B0503020204020204" charset="-122"/>
                <a:cs typeface="Arial" panose="020B0604020202020204" pitchFamily="34" charset="0"/>
              </a:rPr>
              <a:t>服务接口的标准化、统一化使得该服务可以提供给在任何异构平台上的用户使用，并且隐藏了实现服务的细节</a:t>
            </a:r>
            <a:r>
              <a:rPr lang="en-US" altLang="zh-CN" b="1" dirty="0" smtClean="0">
                <a:solidFill>
                  <a:srgbClr val="00B050"/>
                </a:solidFill>
                <a:latin typeface="微软雅黑" panose="020B0503020204020204" charset="-122"/>
                <a:ea typeface="微软雅黑" panose="020B0503020204020204" charset="-122"/>
                <a:cs typeface="Arial" panose="020B0604020202020204" pitchFamily="34" charset="0"/>
              </a:rPr>
              <a:t>。</a:t>
            </a:r>
          </a:p>
        </p:txBody>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2562490"/>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11.3.1  面向服务架构的产生</a:t>
            </a:r>
          </a:p>
        </p:txBody>
      </p:sp>
      <p:sp>
        <p:nvSpPr>
          <p:cNvPr id="21" name="MH_Text_1"/>
          <p:cNvSpPr/>
          <p:nvPr>
            <p:custDataLst>
              <p:tags r:id="rId1"/>
            </p:custDataLst>
          </p:nvPr>
        </p:nvSpPr>
        <p:spPr bwMode="auto">
          <a:xfrm>
            <a:off x="1031732" y="2743196"/>
            <a:ext cx="5983217" cy="1924334"/>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50000"/>
              </a:lnSpc>
              <a:defRPr/>
            </a:pPr>
            <a:r>
              <a:rPr lang="da-DK" altLang="zh-CN" sz="2400" b="1" dirty="0" smtClean="0">
                <a:solidFill>
                  <a:schemeClr val="bg1"/>
                </a:solidFill>
                <a:latin typeface="微软雅黑" panose="020B0503020204020204" charset="-122"/>
                <a:ea typeface="微软雅黑" panose="020B0503020204020204" charset="-122"/>
              </a:rPr>
              <a:t>SOA可以把软件的架构搭建在完全由各个独立服务模型相互协调运作的基础上，可以尽可能地减少系统间的耦合，从而提高可复用性。</a:t>
            </a:r>
            <a:r>
              <a:rPr lang="da-DK" altLang="zh-CN" sz="2400" dirty="0" smtClean="0">
                <a:solidFill>
                  <a:schemeClr val="bg1"/>
                </a:solidFill>
                <a:latin typeface="微软雅黑" panose="020B0503020204020204" charset="-122"/>
                <a:ea typeface="微软雅黑" panose="020B0503020204020204" charset="-122"/>
              </a:rPr>
              <a:t>SOA使得软件架构技术呈现出更高级别的层次特征。</a:t>
            </a:r>
          </a:p>
        </p:txBody>
      </p:sp>
      <p:sp>
        <p:nvSpPr>
          <p:cNvPr id="22" name="矩形 21"/>
          <p:cNvSpPr/>
          <p:nvPr/>
        </p:nvSpPr>
        <p:spPr>
          <a:xfrm>
            <a:off x="7492621" y="1419361"/>
            <a:ext cx="4299044" cy="3352184"/>
          </a:xfrm>
          <a:prstGeom prst="rect">
            <a:avLst/>
          </a:prstGeom>
          <a:noFill/>
          <a:ln>
            <a:noFill/>
          </a:ln>
        </p:spPr>
        <p:txBody>
          <a:bodyPr wrap="square" rtlCol="0" anchor="t">
            <a:prstTxWarp prst="textTriangle">
              <a:avLst>
                <a:gd name="adj" fmla="val 28679"/>
              </a:avLst>
            </a:prstTxWarp>
            <a:spAutoFit/>
          </a:bodyPr>
          <a:lstStyle/>
          <a:p>
            <a:pPr algn="ctr"/>
            <a:r>
              <a:rPr lang="en-US" altLang="zh-CN" sz="8800" b="1" dirty="0">
                <a:solidFill>
                  <a:schemeClr val="tx1"/>
                </a:solidFill>
                <a:effectLst>
                  <a:outerShdw blurRad="38100" dist="19050" dir="2700000" algn="tl" rotWithShape="0">
                    <a:schemeClr val="dk1">
                      <a:alpha val="40000"/>
                    </a:schemeClr>
                  </a:outerShdw>
                  <a:reflection blurRad="6350" stA="60000" endA="900" endPos="58000" dir="5400000" sy="-100000" algn="bl" rotWithShape="0"/>
                </a:effectLst>
              </a:rPr>
              <a:t>SOA</a:t>
            </a: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U2485P2T1D5414175F13DT20110416210913"/>
          <p:cNvPicPr>
            <a:picLocks noChangeAspect="1"/>
          </p:cNvPicPr>
          <p:nvPr/>
        </p:nvPicPr>
        <p:blipFill>
          <a:blip r:embed="rId3" cstate="print"/>
          <a:srcRect t="20383"/>
          <a:stretch>
            <a:fillRect/>
          </a:stretch>
        </p:blipFill>
        <p:spPr>
          <a:xfrm>
            <a:off x="6916420" y="1620520"/>
            <a:ext cx="4572000" cy="2031365"/>
          </a:xfrm>
          <a:prstGeom prst="rect">
            <a:avLst/>
          </a:prstGeom>
        </p:spPr>
      </p:pic>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11.3.2  面向服务架构的概念</a:t>
            </a:r>
          </a:p>
        </p:txBody>
      </p:sp>
      <p:sp>
        <p:nvSpPr>
          <p:cNvPr id="100" name="文本框 99"/>
          <p:cNvSpPr txBox="1"/>
          <p:nvPr/>
        </p:nvSpPr>
        <p:spPr>
          <a:xfrm>
            <a:off x="982639" y="2833064"/>
            <a:ext cx="10194877" cy="3320058"/>
          </a:xfrm>
          <a:prstGeom prst="roundRect">
            <a:avLst/>
          </a:prstGeom>
          <a:noFill/>
          <a:ln w="9525">
            <a:solidFill>
              <a:schemeClr val="accent3"/>
            </a:solidFill>
          </a:ln>
        </p:spPr>
        <p:txBody>
          <a:bodyPr wrap="square">
            <a:spAutoFit/>
          </a:bodyPr>
          <a:lstStyle/>
          <a:p>
            <a:pPr marL="0" indent="457200" algn="l" fontAlgn="auto">
              <a:lnSpc>
                <a:spcPct val="150000"/>
              </a:lnSpc>
            </a:pPr>
            <a:r>
              <a:rPr b="0" u="none" dirty="0">
                <a:latin typeface="微软雅黑" panose="020B0503020204020204" charset="-122"/>
                <a:ea typeface="微软雅黑" panose="020B0503020204020204" charset="-122"/>
              </a:rPr>
              <a:t>面向服务的体系架构（Service-Oriented Architecture，SOA）的概念最早是由Gartner公司于1996年提出的，并于2002年12月进一步提出SOA是“现代应用开发领域最重要的课题”。SOA分为广义的SOA和狭义的SOA。</a:t>
            </a:r>
            <a:r>
              <a:rPr b="1" u="none" dirty="0">
                <a:solidFill>
                  <a:srgbClr val="7030A0"/>
                </a:solidFill>
                <a:latin typeface="微软雅黑" panose="020B0503020204020204" charset="-122"/>
                <a:ea typeface="微软雅黑" panose="020B0503020204020204" charset="-122"/>
              </a:rPr>
              <a:t>广义的SOA是指一种新的企业应用架构和企业IT基础架构，它可以使企业实现跨应用、跨部门、跨企业甚至跨行业之间的离散系统互连。而狭义的SOA是指一种软件架构，它可以根据需求通过网络对松散耦合的粗粒度应用组件进行分布式部署、组合和使用。</a:t>
            </a:r>
            <a:r>
              <a:rPr b="0" u="none" dirty="0">
                <a:latin typeface="微软雅黑" panose="020B0503020204020204" charset="-122"/>
                <a:ea typeface="微软雅黑" panose="020B0503020204020204" charset="-122"/>
              </a:rPr>
              <a:t>服务层是SOA的基础，可以直接被应用调用，从而有效控制系统中与软件代理交互的人为依赖性。</a:t>
            </a:r>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p:cNvSpPr/>
          <p:nvPr/>
        </p:nvSpPr>
        <p:spPr>
          <a:xfrm>
            <a:off x="0" y="2429301"/>
            <a:ext cx="7738281" cy="3370997"/>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zh-CN" altLang="en-US" dirty="0">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11.3.2  面向服务架构的概念</a:t>
            </a:r>
          </a:p>
        </p:txBody>
      </p:sp>
      <p:sp>
        <p:nvSpPr>
          <p:cNvPr id="100" name="文本框 99"/>
          <p:cNvSpPr txBox="1"/>
          <p:nvPr/>
        </p:nvSpPr>
        <p:spPr>
          <a:xfrm>
            <a:off x="350527" y="2359366"/>
            <a:ext cx="7415046" cy="3534585"/>
          </a:xfrm>
          <a:prstGeom prst="roundRect">
            <a:avLst/>
          </a:prstGeom>
          <a:noFill/>
          <a:ln w="9525">
            <a:noFill/>
            <a:prstDash val="sysDot"/>
          </a:ln>
        </p:spPr>
        <p:txBody>
          <a:bodyPr wrap="square">
            <a:spAutoFit/>
          </a:bodyPr>
          <a:lstStyle/>
          <a:p>
            <a:pPr marL="0" indent="457200" algn="l" fontAlgn="auto">
              <a:lnSpc>
                <a:spcPct val="120000"/>
              </a:lnSpc>
            </a:pPr>
            <a:r>
              <a:rPr sz="2400" b="0" u="none" dirty="0">
                <a:solidFill>
                  <a:schemeClr val="bg1"/>
                </a:solidFill>
                <a:latin typeface="+mn-ea"/>
              </a:rPr>
              <a:t>SOA的核心是一种软件架构思想，它是在基于组件的软件架构基础上发展形成的。SOA强调软件体系中组件的松散耦合，并使用独立的标准接口。它构建在许多一直在使用的技术之上，将应用程序的不同功能单元——服务，通过定义良好的接口联系在一起，从而独立于具体实现服务的硬件平台、操作系统和编程语言</a:t>
            </a:r>
            <a:r>
              <a:rPr sz="2400" b="0" u="none" dirty="0" smtClean="0">
                <a:solidFill>
                  <a:schemeClr val="bg1"/>
                </a:solidFill>
                <a:latin typeface="+mn-ea"/>
              </a:rPr>
              <a:t>。</a:t>
            </a:r>
            <a:endParaRPr sz="2400" b="0" u="none" dirty="0">
              <a:solidFill>
                <a:schemeClr val="bg1"/>
              </a:solidFill>
              <a:latin typeface="+mn-ea"/>
            </a:endParaRPr>
          </a:p>
        </p:txBody>
      </p:sp>
      <p:pic>
        <p:nvPicPr>
          <p:cNvPr id="71" name="图片 70" descr="A000220150322A47PPIC.png"/>
          <p:cNvPicPr>
            <a:picLocks noChangeAspect="1"/>
          </p:cNvPicPr>
          <p:nvPr/>
        </p:nvPicPr>
        <p:blipFill>
          <a:blip r:embed="rId3" cstate="print"/>
          <a:stretch>
            <a:fillRect/>
          </a:stretch>
        </p:blipFill>
        <p:spPr>
          <a:xfrm>
            <a:off x="7772462" y="1787857"/>
            <a:ext cx="4230357" cy="4271750"/>
          </a:xfrm>
          <a:prstGeom prst="rect">
            <a:avLst/>
          </a:prstGeom>
        </p:spPr>
      </p:pic>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54063" y="261258"/>
            <a:ext cx="8415337" cy="855290"/>
          </a:xfrm>
        </p:spPr>
        <p:txBody>
          <a:bodyPr/>
          <a:lstStyle/>
          <a:p>
            <a:r>
              <a:rPr lang="zh-CN" altLang="en-US" dirty="0">
                <a:solidFill>
                  <a:srgbClr val="FF0000"/>
                </a:solidFill>
                <a:sym typeface="+mn-ea"/>
              </a:rPr>
              <a:t>11.3  面向服务的架构技术</a:t>
            </a:r>
          </a:p>
        </p:txBody>
      </p:sp>
      <p:sp>
        <p:nvSpPr>
          <p:cNvPr id="4"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11.3.2  面向服务架构的概念</a:t>
            </a:r>
          </a:p>
        </p:txBody>
      </p:sp>
      <p:sp>
        <p:nvSpPr>
          <p:cNvPr id="67647" name="Rectangle 6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7585" name="Group 1"/>
          <p:cNvGrpSpPr>
            <a:grpSpLocks/>
          </p:cNvGrpSpPr>
          <p:nvPr/>
        </p:nvGrpSpPr>
        <p:grpSpPr bwMode="auto">
          <a:xfrm>
            <a:off x="1978925" y="1965278"/>
            <a:ext cx="9416956" cy="4320463"/>
            <a:chOff x="1311" y="2569"/>
            <a:chExt cx="8036" cy="5019"/>
          </a:xfrm>
        </p:grpSpPr>
        <p:sp>
          <p:nvSpPr>
            <p:cNvPr id="67646" name="AutoShape 29"/>
            <p:cNvSpPr>
              <a:spLocks noChangeShapeType="1"/>
            </p:cNvSpPr>
            <p:nvPr/>
          </p:nvSpPr>
          <p:spPr bwMode="auto">
            <a:xfrm>
              <a:off x="2282" y="3080"/>
              <a:ext cx="3082" cy="2228"/>
            </a:xfrm>
            <a:prstGeom prst="curvedConnector3">
              <a:avLst>
                <a:gd name="adj1" fmla="val 5222"/>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45" name="AutoShape 32"/>
            <p:cNvSpPr>
              <a:spLocks noChangeShapeType="1"/>
            </p:cNvSpPr>
            <p:nvPr/>
          </p:nvSpPr>
          <p:spPr bwMode="auto">
            <a:xfrm>
              <a:off x="5917" y="5825"/>
              <a:ext cx="0" cy="1439"/>
            </a:xfrm>
            <a:prstGeom prst="straightConnector1">
              <a:avLst/>
            </a:prstGeom>
            <a:noFill/>
            <a:ln w="12700">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44" name="AutoShape 33"/>
            <p:cNvSpPr>
              <a:spLocks noChangeShapeType="1"/>
            </p:cNvSpPr>
            <p:nvPr/>
          </p:nvSpPr>
          <p:spPr bwMode="auto">
            <a:xfrm rot="5400000">
              <a:off x="2446" y="4593"/>
              <a:ext cx="1555" cy="882"/>
            </a:xfrm>
            <a:prstGeom prst="curvedConnector3">
              <a:avLst>
                <a:gd name="adj1" fmla="val 49968"/>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43" name="AutoShape 34"/>
            <p:cNvSpPr>
              <a:spLocks noChangeShapeType="1"/>
            </p:cNvSpPr>
            <p:nvPr/>
          </p:nvSpPr>
          <p:spPr bwMode="auto">
            <a:xfrm>
              <a:off x="1441" y="3349"/>
              <a:ext cx="7654" cy="0"/>
            </a:xfrm>
            <a:prstGeom prst="straightConnector1">
              <a:avLst/>
            </a:prstGeom>
            <a:noFill/>
            <a:ln w="9525">
              <a:solidFill>
                <a:srgbClr val="000000"/>
              </a:solidFill>
              <a:prstDash val="dashDot"/>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42" name="AutoShape 35"/>
            <p:cNvSpPr>
              <a:spLocks noChangeShapeType="1"/>
            </p:cNvSpPr>
            <p:nvPr/>
          </p:nvSpPr>
          <p:spPr bwMode="auto">
            <a:xfrm rot="5400000">
              <a:off x="1489" y="3729"/>
              <a:ext cx="1766" cy="624"/>
            </a:xfrm>
            <a:prstGeom prst="curvedConnector3">
              <a:avLst>
                <a:gd name="adj1" fmla="val 43486"/>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41" name="AutoShape 36"/>
            <p:cNvSpPr>
              <a:spLocks noChangeShapeType="1"/>
            </p:cNvSpPr>
            <p:nvPr/>
          </p:nvSpPr>
          <p:spPr bwMode="auto">
            <a:xfrm>
              <a:off x="1441" y="4672"/>
              <a:ext cx="7654" cy="0"/>
            </a:xfrm>
            <a:prstGeom prst="straightConnector1">
              <a:avLst/>
            </a:prstGeom>
            <a:noFill/>
            <a:ln w="9525">
              <a:solidFill>
                <a:srgbClr val="000000"/>
              </a:solidFill>
              <a:prstDash val="dashDot"/>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40" name="Oval 37"/>
            <p:cNvSpPr>
              <a:spLocks noChangeArrowheads="1"/>
            </p:cNvSpPr>
            <p:nvPr/>
          </p:nvSpPr>
          <p:spPr bwMode="auto">
            <a:xfrm>
              <a:off x="2577" y="3511"/>
              <a:ext cx="2694" cy="86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39" name="AutoShape 38"/>
            <p:cNvSpPr>
              <a:spLocks noChangeShapeType="1"/>
            </p:cNvSpPr>
            <p:nvPr/>
          </p:nvSpPr>
          <p:spPr bwMode="auto">
            <a:xfrm>
              <a:off x="1441" y="6625"/>
              <a:ext cx="7654" cy="0"/>
            </a:xfrm>
            <a:prstGeom prst="straightConnector1">
              <a:avLst/>
            </a:prstGeom>
            <a:noFill/>
            <a:ln w="9525">
              <a:solidFill>
                <a:srgbClr val="000000"/>
              </a:solidFill>
              <a:prstDash val="dashDot"/>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38" name="Text Box 39"/>
            <p:cNvSpPr txBox="1">
              <a:spLocks noChangeArrowheads="1"/>
            </p:cNvSpPr>
            <p:nvPr/>
          </p:nvSpPr>
          <p:spPr bwMode="auto">
            <a:xfrm>
              <a:off x="3671" y="4390"/>
              <a:ext cx="768"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流程重组</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37" name="AutoShape 40"/>
            <p:cNvSpPr>
              <a:spLocks noChangeShapeType="1"/>
            </p:cNvSpPr>
            <p:nvPr/>
          </p:nvSpPr>
          <p:spPr bwMode="auto">
            <a:xfrm>
              <a:off x="3147" y="3091"/>
              <a:ext cx="525" cy="516"/>
            </a:xfrm>
            <a:prstGeom prst="curvedConnector3">
              <a:avLst>
                <a:gd name="adj1" fmla="val 49903"/>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36" name="AutoShape 41"/>
            <p:cNvSpPr>
              <a:spLocks noChangeShapeType="1"/>
            </p:cNvSpPr>
            <p:nvPr/>
          </p:nvSpPr>
          <p:spPr bwMode="auto">
            <a:xfrm rot="5400000">
              <a:off x="4089" y="3259"/>
              <a:ext cx="516" cy="180"/>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35" name="AutoShape 42"/>
            <p:cNvSpPr>
              <a:spLocks noChangeShapeType="1"/>
            </p:cNvSpPr>
            <p:nvPr/>
          </p:nvSpPr>
          <p:spPr bwMode="auto">
            <a:xfrm rot="16200000" flipH="1">
              <a:off x="4855" y="3813"/>
              <a:ext cx="2224" cy="765"/>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34" name="AutoShape 43"/>
            <p:cNvSpPr>
              <a:spLocks noChangeShapeType="1"/>
            </p:cNvSpPr>
            <p:nvPr/>
          </p:nvSpPr>
          <p:spPr bwMode="auto">
            <a:xfrm rot="5400000">
              <a:off x="2220" y="4132"/>
              <a:ext cx="864" cy="720"/>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33" name="AutoShape 44"/>
            <p:cNvSpPr>
              <a:spLocks noChangeArrowheads="1"/>
            </p:cNvSpPr>
            <p:nvPr/>
          </p:nvSpPr>
          <p:spPr bwMode="auto">
            <a:xfrm>
              <a:off x="3537" y="3664"/>
              <a:ext cx="492" cy="156"/>
            </a:xfrm>
            <a:prstGeom prst="flowChartPredefined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32" name="AutoShape 45"/>
            <p:cNvSpPr>
              <a:spLocks noChangeShapeType="1"/>
            </p:cNvSpPr>
            <p:nvPr/>
          </p:nvSpPr>
          <p:spPr bwMode="auto">
            <a:xfrm>
              <a:off x="4081" y="3754"/>
              <a:ext cx="471" cy="9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31" name="AutoShape 46"/>
            <p:cNvSpPr>
              <a:spLocks noChangeShapeType="1"/>
            </p:cNvSpPr>
            <p:nvPr/>
          </p:nvSpPr>
          <p:spPr bwMode="auto">
            <a:xfrm flipV="1">
              <a:off x="4071" y="4060"/>
              <a:ext cx="531" cy="14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30" name="AutoShape 47"/>
            <p:cNvSpPr>
              <a:spLocks noChangeShapeType="1"/>
            </p:cNvSpPr>
            <p:nvPr/>
          </p:nvSpPr>
          <p:spPr bwMode="auto">
            <a:xfrm flipV="1">
              <a:off x="3147" y="3714"/>
              <a:ext cx="355" cy="12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29" name="AutoShape 48"/>
            <p:cNvSpPr>
              <a:spLocks noChangeShapeType="1"/>
            </p:cNvSpPr>
            <p:nvPr/>
          </p:nvSpPr>
          <p:spPr bwMode="auto">
            <a:xfrm>
              <a:off x="3157" y="4065"/>
              <a:ext cx="355" cy="13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28" name="AutoShape 49"/>
            <p:cNvSpPr>
              <a:spLocks noChangeShapeType="1"/>
            </p:cNvSpPr>
            <p:nvPr/>
          </p:nvSpPr>
          <p:spPr bwMode="auto">
            <a:xfrm rot="16200000" flipH="1">
              <a:off x="4842" y="4361"/>
              <a:ext cx="1206" cy="684"/>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grpSp>
          <p:nvGrpSpPr>
            <p:cNvPr id="67624" name="Group 50"/>
            <p:cNvGrpSpPr>
              <a:grpSpLocks/>
            </p:cNvGrpSpPr>
            <p:nvPr/>
          </p:nvGrpSpPr>
          <p:grpSpPr bwMode="auto">
            <a:xfrm>
              <a:off x="1311" y="4924"/>
              <a:ext cx="1479" cy="594"/>
              <a:chOff x="2817" y="10974"/>
              <a:chExt cx="1479" cy="594"/>
            </a:xfrm>
          </p:grpSpPr>
          <p:sp>
            <p:nvSpPr>
              <p:cNvPr id="67627" name="Text Box 51"/>
              <p:cNvSpPr txBox="1">
                <a:spLocks noChangeArrowheads="1"/>
              </p:cNvSpPr>
              <p:nvPr/>
            </p:nvSpPr>
            <p:spPr bwMode="auto">
              <a:xfrm>
                <a:off x="3135" y="10974"/>
                <a:ext cx="1161" cy="594"/>
              </a:xfrm>
              <a:prstGeom prst="rect">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服务组装</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26" name="AutoShape 52"/>
              <p:cNvSpPr>
                <a:spLocks noChangeArrowheads="1"/>
              </p:cNvSpPr>
              <p:nvPr/>
            </p:nvSpPr>
            <p:spPr bwMode="auto">
              <a:xfrm>
                <a:off x="2817" y="11316"/>
                <a:ext cx="408" cy="168"/>
              </a:xfrm>
              <a:prstGeom prst="flowChart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25" name="AutoShape 53"/>
              <p:cNvSpPr>
                <a:spLocks noChangeArrowheads="1"/>
              </p:cNvSpPr>
              <p:nvPr/>
            </p:nvSpPr>
            <p:spPr bwMode="auto">
              <a:xfrm>
                <a:off x="2817" y="11064"/>
                <a:ext cx="408" cy="168"/>
              </a:xfrm>
              <a:prstGeom prst="flowChart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67623" name="AutoShape 54"/>
            <p:cNvSpPr>
              <a:spLocks noChangeShapeType="1"/>
            </p:cNvSpPr>
            <p:nvPr/>
          </p:nvSpPr>
          <p:spPr bwMode="auto">
            <a:xfrm>
              <a:off x="2202" y="5518"/>
              <a:ext cx="0" cy="28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grpSp>
          <p:nvGrpSpPr>
            <p:cNvPr id="67619" name="Group 59"/>
            <p:cNvGrpSpPr>
              <a:grpSpLocks/>
            </p:cNvGrpSpPr>
            <p:nvPr/>
          </p:nvGrpSpPr>
          <p:grpSpPr bwMode="auto">
            <a:xfrm>
              <a:off x="1311" y="5800"/>
              <a:ext cx="1479" cy="594"/>
              <a:chOff x="2817" y="10974"/>
              <a:chExt cx="1479" cy="594"/>
            </a:xfrm>
          </p:grpSpPr>
          <p:sp>
            <p:nvSpPr>
              <p:cNvPr id="67622" name="Text Box 60"/>
              <p:cNvSpPr txBox="1">
                <a:spLocks noChangeArrowheads="1"/>
              </p:cNvSpPr>
              <p:nvPr/>
            </p:nvSpPr>
            <p:spPr bwMode="auto">
              <a:xfrm>
                <a:off x="3135" y="10974"/>
                <a:ext cx="1161" cy="594"/>
              </a:xfrm>
              <a:prstGeom prst="rect">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服务组件</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21" name="AutoShape 61"/>
              <p:cNvSpPr>
                <a:spLocks noChangeArrowheads="1"/>
              </p:cNvSpPr>
              <p:nvPr/>
            </p:nvSpPr>
            <p:spPr bwMode="auto">
              <a:xfrm>
                <a:off x="2817" y="11316"/>
                <a:ext cx="408" cy="168"/>
              </a:xfrm>
              <a:prstGeom prst="flowChart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20" name="AutoShape 62"/>
              <p:cNvSpPr>
                <a:spLocks noChangeArrowheads="1"/>
              </p:cNvSpPr>
              <p:nvPr/>
            </p:nvSpPr>
            <p:spPr bwMode="auto">
              <a:xfrm>
                <a:off x="2817" y="11064"/>
                <a:ext cx="408" cy="168"/>
              </a:xfrm>
              <a:prstGeom prst="flowChart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67616" name="Group 32"/>
            <p:cNvGrpSpPr>
              <a:grpSpLocks/>
            </p:cNvGrpSpPr>
            <p:nvPr/>
          </p:nvGrpSpPr>
          <p:grpSpPr bwMode="auto">
            <a:xfrm>
              <a:off x="2790" y="5024"/>
              <a:ext cx="2802" cy="291"/>
              <a:chOff x="2790" y="5024"/>
              <a:chExt cx="2802" cy="291"/>
            </a:xfrm>
          </p:grpSpPr>
          <p:sp>
            <p:nvSpPr>
              <p:cNvPr id="67618" name="AutoShape 31"/>
              <p:cNvSpPr>
                <a:spLocks noChangeShapeType="1"/>
              </p:cNvSpPr>
              <p:nvPr/>
            </p:nvSpPr>
            <p:spPr bwMode="auto">
              <a:xfrm>
                <a:off x="5592" y="5032"/>
                <a:ext cx="0" cy="28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17" name="AutoShape 63"/>
              <p:cNvSpPr>
                <a:spLocks noChangeShapeType="1"/>
              </p:cNvSpPr>
              <p:nvPr/>
            </p:nvSpPr>
            <p:spPr bwMode="auto">
              <a:xfrm flipV="1">
                <a:off x="2790" y="5024"/>
                <a:ext cx="2802"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67615" name="AutoShape 64"/>
            <p:cNvSpPr>
              <a:spLocks noChangeShapeType="1"/>
            </p:cNvSpPr>
            <p:nvPr/>
          </p:nvSpPr>
          <p:spPr bwMode="auto">
            <a:xfrm flipV="1">
              <a:off x="2790" y="5819"/>
              <a:ext cx="2571" cy="323"/>
            </a:xfrm>
            <a:prstGeom prst="straightConnector1">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14" name="Text Box 65"/>
            <p:cNvSpPr txBox="1">
              <a:spLocks noChangeArrowheads="1"/>
            </p:cNvSpPr>
            <p:nvPr/>
          </p:nvSpPr>
          <p:spPr bwMode="auto">
            <a:xfrm>
              <a:off x="5966" y="6077"/>
              <a:ext cx="948"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服务可编排</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13" name="Text Box 66"/>
            <p:cNvSpPr txBox="1">
              <a:spLocks noChangeArrowheads="1"/>
            </p:cNvSpPr>
            <p:nvPr/>
          </p:nvSpPr>
          <p:spPr bwMode="auto">
            <a:xfrm>
              <a:off x="2223" y="6724"/>
              <a:ext cx="2823"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标准化封装（</a:t>
              </a:r>
              <a:r>
                <a:rPr kumimoji="0" lang="en-US" alt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Web Service</a:t>
              </a:r>
              <a:r>
                <a:rPr kumimoji="0" lang="zh-CN" altLang="en-US"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0" lang="en-US" alt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SOAP</a:t>
              </a:r>
              <a:r>
                <a:rPr kumimoji="0" lang="zh-CN" altLang="en-US"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0" lang="zh-CN" altLang="en-US"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12" name="AutoShape 67"/>
            <p:cNvSpPr>
              <a:spLocks noChangeShapeType="1"/>
            </p:cNvSpPr>
            <p:nvPr/>
          </p:nvSpPr>
          <p:spPr bwMode="auto">
            <a:xfrm>
              <a:off x="2202" y="6394"/>
              <a:ext cx="0" cy="870"/>
            </a:xfrm>
            <a:prstGeom prst="straightConnector1">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zh-CN" altLang="en-US"/>
            </a:p>
          </p:txBody>
        </p:sp>
        <p:sp>
          <p:nvSpPr>
            <p:cNvPr id="67611" name="AutoShape 74"/>
            <p:cNvSpPr>
              <a:spLocks noChangeArrowheads="1"/>
            </p:cNvSpPr>
            <p:nvPr/>
          </p:nvSpPr>
          <p:spPr bwMode="auto">
            <a:xfrm>
              <a:off x="4597" y="3865"/>
              <a:ext cx="492" cy="156"/>
            </a:xfrm>
            <a:prstGeom prst="flowChartPredefined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10" name="AutoShape 75"/>
            <p:cNvSpPr>
              <a:spLocks noChangeArrowheads="1"/>
            </p:cNvSpPr>
            <p:nvPr/>
          </p:nvSpPr>
          <p:spPr bwMode="auto">
            <a:xfrm>
              <a:off x="3537" y="4108"/>
              <a:ext cx="492" cy="156"/>
            </a:xfrm>
            <a:prstGeom prst="flowChartPredefined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09" name="AutoShape 76"/>
            <p:cNvSpPr>
              <a:spLocks noChangeArrowheads="1"/>
            </p:cNvSpPr>
            <p:nvPr/>
          </p:nvSpPr>
          <p:spPr bwMode="auto">
            <a:xfrm>
              <a:off x="2805" y="3875"/>
              <a:ext cx="492" cy="156"/>
            </a:xfrm>
            <a:prstGeom prst="flowChartPredefined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08" name="Text Box 83"/>
            <p:cNvSpPr txBox="1">
              <a:spLocks noChangeArrowheads="1"/>
            </p:cNvSpPr>
            <p:nvPr/>
          </p:nvSpPr>
          <p:spPr bwMode="auto">
            <a:xfrm>
              <a:off x="7211" y="3860"/>
              <a:ext cx="598" cy="5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松耦合可编排</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07" name="Text Box 84"/>
            <p:cNvSpPr txBox="1">
              <a:spLocks noChangeArrowheads="1"/>
            </p:cNvSpPr>
            <p:nvPr/>
          </p:nvSpPr>
          <p:spPr bwMode="auto">
            <a:xfrm>
              <a:off x="6869" y="3004"/>
              <a:ext cx="219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目标：灵活可变的</a:t>
              </a:r>
              <a:r>
                <a:rPr kumimoji="0" lang="en-US" alt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IT</a:t>
              </a:r>
              <a:r>
                <a:rPr kumimoji="0" lang="zh-CN" altLang="en-US"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系统</a:t>
              </a:r>
              <a:endParaRPr kumimoji="0" lang="zh-CN" altLang="en-US"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06" name="Text Box 85"/>
            <p:cNvSpPr txBox="1">
              <a:spLocks noChangeArrowheads="1"/>
            </p:cNvSpPr>
            <p:nvPr/>
          </p:nvSpPr>
          <p:spPr bwMode="auto">
            <a:xfrm>
              <a:off x="7201" y="7226"/>
              <a:ext cx="608" cy="26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标准化</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05" name="Text Box 86"/>
            <p:cNvSpPr txBox="1">
              <a:spLocks noChangeArrowheads="1"/>
            </p:cNvSpPr>
            <p:nvPr/>
          </p:nvSpPr>
          <p:spPr bwMode="auto">
            <a:xfrm>
              <a:off x="7350" y="5600"/>
              <a:ext cx="459"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复用</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04" name="AutoShape 87"/>
            <p:cNvSpPr>
              <a:spLocks/>
            </p:cNvSpPr>
            <p:nvPr/>
          </p:nvSpPr>
          <p:spPr bwMode="auto">
            <a:xfrm>
              <a:off x="7827" y="3984"/>
              <a:ext cx="492" cy="3402"/>
            </a:xfrm>
            <a:prstGeom prst="rightBrace">
              <a:avLst>
                <a:gd name="adj1" fmla="val 57622"/>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03" name="Text Box 88"/>
            <p:cNvSpPr txBox="1">
              <a:spLocks noChangeArrowheads="1"/>
            </p:cNvSpPr>
            <p:nvPr/>
          </p:nvSpPr>
          <p:spPr bwMode="auto">
            <a:xfrm>
              <a:off x="8383" y="5544"/>
              <a:ext cx="964"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SOA</a:t>
              </a:r>
              <a:r>
                <a:rPr kumimoji="0" lang="zh-CN" altLang="en-US"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的要素</a:t>
              </a:r>
              <a:endParaRPr kumimoji="0" lang="zh-CN" altLang="en-US"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602" name="Text Box 89"/>
            <p:cNvSpPr txBox="1">
              <a:spLocks noChangeArrowheads="1"/>
            </p:cNvSpPr>
            <p:nvPr/>
          </p:nvSpPr>
          <p:spPr bwMode="auto">
            <a:xfrm>
              <a:off x="3768" y="7294"/>
              <a:ext cx="583"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smtClean="0">
                  <a:ln>
                    <a:noFill/>
                  </a:ln>
                  <a:solidFill>
                    <a:schemeClr val="tx1"/>
                  </a:solidFill>
                  <a:effectLst/>
                  <a:latin typeface="Arial"/>
                  <a:ea typeface="宋体" pitchFamily="2" charset="-122"/>
                  <a:cs typeface="Times New Roman" pitchFamily="18" charset="0"/>
                </a:rPr>
                <a:t>……</a:t>
              </a:r>
              <a:endParaRPr kumimoji="0" lang="en-US" alt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67599" name="Group 15"/>
            <p:cNvGrpSpPr>
              <a:grpSpLocks/>
            </p:cNvGrpSpPr>
            <p:nvPr/>
          </p:nvGrpSpPr>
          <p:grpSpPr bwMode="auto">
            <a:xfrm>
              <a:off x="2067" y="2569"/>
              <a:ext cx="1470" cy="597"/>
              <a:chOff x="2067" y="2569"/>
              <a:chExt cx="1470" cy="597"/>
            </a:xfrm>
          </p:grpSpPr>
          <p:sp>
            <p:nvSpPr>
              <p:cNvPr id="67601" name="Oval 81"/>
              <p:cNvSpPr>
                <a:spLocks noChangeArrowheads="1"/>
              </p:cNvSpPr>
              <p:nvPr/>
            </p:nvSpPr>
            <p:spPr bwMode="auto">
              <a:xfrm>
                <a:off x="2067" y="2569"/>
                <a:ext cx="1470" cy="597"/>
              </a:xfrm>
              <a:prstGeom prst="ellipse">
                <a:avLst/>
              </a:pr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600" name="Text Box 82"/>
              <p:cNvSpPr txBox="1">
                <a:spLocks noChangeArrowheads="1"/>
              </p:cNvSpPr>
              <p:nvPr/>
            </p:nvSpPr>
            <p:spPr bwMode="auto">
              <a:xfrm>
                <a:off x="2304" y="2736"/>
                <a:ext cx="1006" cy="2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服务使用者</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nvGrpSpPr>
            <p:cNvPr id="67596" name="Group 12"/>
            <p:cNvGrpSpPr>
              <a:grpSpLocks/>
            </p:cNvGrpSpPr>
            <p:nvPr/>
          </p:nvGrpSpPr>
          <p:grpSpPr bwMode="auto">
            <a:xfrm>
              <a:off x="4262" y="2599"/>
              <a:ext cx="1470" cy="597"/>
              <a:chOff x="2067" y="2569"/>
              <a:chExt cx="1470" cy="597"/>
            </a:xfrm>
          </p:grpSpPr>
          <p:sp>
            <p:nvSpPr>
              <p:cNvPr id="67598" name="Oval 81"/>
              <p:cNvSpPr>
                <a:spLocks noChangeArrowheads="1"/>
              </p:cNvSpPr>
              <p:nvPr/>
            </p:nvSpPr>
            <p:spPr bwMode="auto">
              <a:xfrm>
                <a:off x="2067" y="2569"/>
                <a:ext cx="1470" cy="597"/>
              </a:xfrm>
              <a:prstGeom prst="ellipse">
                <a:avLst/>
              </a:pr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597" name="Text Box 82"/>
              <p:cNvSpPr txBox="1">
                <a:spLocks noChangeArrowheads="1"/>
              </p:cNvSpPr>
              <p:nvPr/>
            </p:nvSpPr>
            <p:spPr bwMode="auto">
              <a:xfrm>
                <a:off x="2304" y="2736"/>
                <a:ext cx="1006" cy="2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服务使用者</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nvGrpSpPr>
            <p:cNvPr id="67592" name="Group 8"/>
            <p:cNvGrpSpPr>
              <a:grpSpLocks/>
            </p:cNvGrpSpPr>
            <p:nvPr/>
          </p:nvGrpSpPr>
          <p:grpSpPr bwMode="auto">
            <a:xfrm>
              <a:off x="5046" y="5315"/>
              <a:ext cx="1479" cy="504"/>
              <a:chOff x="5046" y="5315"/>
              <a:chExt cx="1479" cy="504"/>
            </a:xfrm>
          </p:grpSpPr>
          <p:sp>
            <p:nvSpPr>
              <p:cNvPr id="67595" name="Text Box 56"/>
              <p:cNvSpPr txBox="1">
                <a:spLocks noChangeArrowheads="1"/>
              </p:cNvSpPr>
              <p:nvPr/>
            </p:nvSpPr>
            <p:spPr bwMode="auto">
              <a:xfrm>
                <a:off x="5364" y="5315"/>
                <a:ext cx="1161" cy="504"/>
              </a:xfrm>
              <a:prstGeom prst="rect">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服务组件</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67594" name="AutoShape 57"/>
              <p:cNvSpPr>
                <a:spLocks noChangeArrowheads="1"/>
              </p:cNvSpPr>
              <p:nvPr/>
            </p:nvSpPr>
            <p:spPr bwMode="auto">
              <a:xfrm>
                <a:off x="5046" y="5605"/>
                <a:ext cx="408" cy="143"/>
              </a:xfrm>
              <a:prstGeom prst="flowChart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593" name="AutoShape 58"/>
              <p:cNvSpPr>
                <a:spLocks noChangeArrowheads="1"/>
              </p:cNvSpPr>
              <p:nvPr/>
            </p:nvSpPr>
            <p:spPr bwMode="auto">
              <a:xfrm>
                <a:off x="5046" y="5391"/>
                <a:ext cx="408" cy="143"/>
              </a:xfrm>
              <a:prstGeom prst="flowChartProcess">
                <a:avLst/>
              </a:prstGeom>
              <a:solidFill>
                <a:srgbClr val="D8D8D8"/>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67589" name="Group 5"/>
            <p:cNvGrpSpPr>
              <a:grpSpLocks/>
            </p:cNvGrpSpPr>
            <p:nvPr/>
          </p:nvGrpSpPr>
          <p:grpSpPr bwMode="auto">
            <a:xfrm>
              <a:off x="1493" y="7264"/>
              <a:ext cx="1407" cy="324"/>
              <a:chOff x="1383" y="7264"/>
              <a:chExt cx="1407" cy="324"/>
            </a:xfrm>
          </p:grpSpPr>
          <p:sp>
            <p:nvSpPr>
              <p:cNvPr id="67591" name="AutoShape 69"/>
              <p:cNvSpPr>
                <a:spLocks noChangeArrowheads="1"/>
              </p:cNvSpPr>
              <p:nvPr/>
            </p:nvSpPr>
            <p:spPr bwMode="auto">
              <a:xfrm>
                <a:off x="1383" y="7264"/>
                <a:ext cx="1407" cy="324"/>
              </a:xfrm>
              <a:prstGeom prst="flowChartPredefinedProcess">
                <a:avLst/>
              </a:prstGeom>
              <a:solidFill>
                <a:srgbClr val="D8D8D8">
                  <a:alpha val="89000"/>
                </a:srgbClr>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590" name="Text Box 70"/>
              <p:cNvSpPr txBox="1">
                <a:spLocks noChangeArrowheads="1"/>
              </p:cNvSpPr>
              <p:nvPr/>
            </p:nvSpPr>
            <p:spPr bwMode="auto">
              <a:xfrm>
                <a:off x="1578" y="7294"/>
                <a:ext cx="1114" cy="25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服务提供者</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67586" name="Group 2"/>
            <p:cNvGrpSpPr>
              <a:grpSpLocks/>
            </p:cNvGrpSpPr>
            <p:nvPr/>
          </p:nvGrpSpPr>
          <p:grpSpPr bwMode="auto">
            <a:xfrm>
              <a:off x="5219" y="7264"/>
              <a:ext cx="1407" cy="324"/>
              <a:chOff x="1383" y="7264"/>
              <a:chExt cx="1407" cy="324"/>
            </a:xfrm>
          </p:grpSpPr>
          <p:sp>
            <p:nvSpPr>
              <p:cNvPr id="67588" name="AutoShape 69"/>
              <p:cNvSpPr>
                <a:spLocks noChangeArrowheads="1"/>
              </p:cNvSpPr>
              <p:nvPr/>
            </p:nvSpPr>
            <p:spPr bwMode="auto">
              <a:xfrm>
                <a:off x="1383" y="7264"/>
                <a:ext cx="1407" cy="324"/>
              </a:xfrm>
              <a:prstGeom prst="flowChartPredefinedProcess">
                <a:avLst/>
              </a:prstGeom>
              <a:solidFill>
                <a:srgbClr val="D8D8D8">
                  <a:alpha val="89000"/>
                </a:srgbClr>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587" name="Text Box 70"/>
              <p:cNvSpPr txBox="1">
                <a:spLocks noChangeArrowheads="1"/>
              </p:cNvSpPr>
              <p:nvPr/>
            </p:nvSpPr>
            <p:spPr bwMode="auto">
              <a:xfrm>
                <a:off x="1520" y="7310"/>
                <a:ext cx="1149" cy="20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服务提供者</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sp>
        <p:nvSpPr>
          <p:cNvPr id="130" name="矩形 129"/>
          <p:cNvSpPr/>
          <p:nvPr/>
        </p:nvSpPr>
        <p:spPr>
          <a:xfrm>
            <a:off x="647205" y="3489993"/>
            <a:ext cx="1017822" cy="1477328"/>
          </a:xfrm>
          <a:prstGeom prst="rect">
            <a:avLst/>
          </a:prstGeom>
        </p:spPr>
        <p:txBody>
          <a:bodyPr wrap="square">
            <a:spAutoFit/>
          </a:bodyPr>
          <a:lstStyle/>
          <a:p>
            <a:r>
              <a:rPr lang="zh-CN" altLang="en-US" b="1" dirty="0" smtClean="0">
                <a:latin typeface="微软雅黑" panose="020B0503020204020204" charset="-122"/>
                <a:ea typeface="微软雅黑" panose="020B0503020204020204" charset="-122"/>
              </a:rPr>
              <a:t>对</a:t>
            </a:r>
            <a:r>
              <a:rPr lang="en-US" altLang="zh-CN" b="1" dirty="0" smtClean="0">
                <a:latin typeface="微软雅黑" panose="020B0503020204020204" charset="-122"/>
                <a:ea typeface="微软雅黑" panose="020B0503020204020204" charset="-122"/>
              </a:rPr>
              <a:t>SOA</a:t>
            </a:r>
            <a:r>
              <a:rPr lang="zh-CN" altLang="en-US" b="1" dirty="0" smtClean="0">
                <a:latin typeface="微软雅黑" panose="020B0503020204020204" charset="-122"/>
                <a:ea typeface="微软雅黑" panose="020B0503020204020204" charset="-122"/>
              </a:rPr>
              <a:t>的理解可以用右图来示意。</a:t>
            </a:r>
            <a:endParaRPr lang="zh-CN" altLang="en-US"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11.3.2  面向服务架构的概念</a:t>
            </a:r>
          </a:p>
        </p:txBody>
      </p:sp>
      <p:grpSp>
        <p:nvGrpSpPr>
          <p:cNvPr id="4" name="组合 3"/>
          <p:cNvGrpSpPr/>
          <p:nvPr/>
        </p:nvGrpSpPr>
        <p:grpSpPr>
          <a:xfrm>
            <a:off x="409003" y="2514850"/>
            <a:ext cx="11129553" cy="3463925"/>
            <a:chOff x="1835" y="3325"/>
            <a:chExt cx="16688" cy="5455"/>
          </a:xfrm>
        </p:grpSpPr>
        <p:grpSp>
          <p:nvGrpSpPr>
            <p:cNvPr id="8" name="组合 7"/>
            <p:cNvGrpSpPr/>
            <p:nvPr/>
          </p:nvGrpSpPr>
          <p:grpSpPr>
            <a:xfrm>
              <a:off x="1835" y="3325"/>
              <a:ext cx="16688" cy="5455"/>
              <a:chOff x="-14" y="3002"/>
              <a:chExt cx="15105" cy="4408"/>
            </a:xfrm>
          </p:grpSpPr>
          <p:sp>
            <p:nvSpPr>
              <p:cNvPr id="57" name="矩形 56"/>
              <p:cNvSpPr/>
              <p:nvPr>
                <p:custDataLst>
                  <p:tags r:id="rId2"/>
                </p:custDataLst>
              </p:nvPr>
            </p:nvSpPr>
            <p:spPr>
              <a:xfrm>
                <a:off x="-14" y="3002"/>
                <a:ext cx="15105" cy="41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1" name="Freeform 66"/>
              <p:cNvSpPr>
                <a:spLocks noEditPoints="1"/>
              </p:cNvSpPr>
              <p:nvPr>
                <p:custDataLst>
                  <p:tags r:id="rId3"/>
                </p:custDataLst>
              </p:nvPr>
            </p:nvSpPr>
            <p:spPr bwMode="auto">
              <a:xfrm flipH="1">
                <a:off x="-14" y="4058"/>
                <a:ext cx="745" cy="656"/>
              </a:xfrm>
              <a:custGeom>
                <a:avLst/>
                <a:gdLst>
                  <a:gd name="T0" fmla="*/ 96 w 192"/>
                  <a:gd name="T1" fmla="*/ 0 h 176"/>
                  <a:gd name="T2" fmla="*/ 0 w 192"/>
                  <a:gd name="T3" fmla="*/ 88 h 176"/>
                  <a:gd name="T4" fmla="*/ 15 w 192"/>
                  <a:gd name="T5" fmla="*/ 135 h 176"/>
                  <a:gd name="T6" fmla="*/ 0 w 192"/>
                  <a:gd name="T7" fmla="*/ 170 h 176"/>
                  <a:gd name="T8" fmla="*/ 1 w 192"/>
                  <a:gd name="T9" fmla="*/ 175 h 176"/>
                  <a:gd name="T10" fmla="*/ 4 w 192"/>
                  <a:gd name="T11" fmla="*/ 176 h 176"/>
                  <a:gd name="T12" fmla="*/ 6 w 192"/>
                  <a:gd name="T13" fmla="*/ 176 h 176"/>
                  <a:gd name="T14" fmla="*/ 42 w 192"/>
                  <a:gd name="T15" fmla="*/ 161 h 176"/>
                  <a:gd name="T16" fmla="*/ 96 w 192"/>
                  <a:gd name="T17" fmla="*/ 176 h 176"/>
                  <a:gd name="T18" fmla="*/ 192 w 192"/>
                  <a:gd name="T19" fmla="*/ 88 h 176"/>
                  <a:gd name="T20" fmla="*/ 96 w 192"/>
                  <a:gd name="T21" fmla="*/ 0 h 176"/>
                  <a:gd name="T22" fmla="*/ 92 w 192"/>
                  <a:gd name="T23" fmla="*/ 92 h 176"/>
                  <a:gd name="T24" fmla="*/ 48 w 192"/>
                  <a:gd name="T25" fmla="*/ 136 h 176"/>
                  <a:gd name="T26" fmla="*/ 44 w 192"/>
                  <a:gd name="T27" fmla="*/ 132 h 176"/>
                  <a:gd name="T28" fmla="*/ 44 w 192"/>
                  <a:gd name="T29" fmla="*/ 120 h 176"/>
                  <a:gd name="T30" fmla="*/ 48 w 192"/>
                  <a:gd name="T31" fmla="*/ 116 h 176"/>
                  <a:gd name="T32" fmla="*/ 69 w 192"/>
                  <a:gd name="T33" fmla="*/ 96 h 176"/>
                  <a:gd name="T34" fmla="*/ 48 w 192"/>
                  <a:gd name="T35" fmla="*/ 96 h 176"/>
                  <a:gd name="T36" fmla="*/ 44 w 192"/>
                  <a:gd name="T37" fmla="*/ 92 h 176"/>
                  <a:gd name="T38" fmla="*/ 44 w 192"/>
                  <a:gd name="T39" fmla="*/ 52 h 176"/>
                  <a:gd name="T40" fmla="*/ 48 w 192"/>
                  <a:gd name="T41" fmla="*/ 48 h 176"/>
                  <a:gd name="T42" fmla="*/ 88 w 192"/>
                  <a:gd name="T43" fmla="*/ 48 h 176"/>
                  <a:gd name="T44" fmla="*/ 92 w 192"/>
                  <a:gd name="T45" fmla="*/ 52 h 176"/>
                  <a:gd name="T46" fmla="*/ 92 w 192"/>
                  <a:gd name="T47" fmla="*/ 92 h 176"/>
                  <a:gd name="T48" fmla="*/ 148 w 192"/>
                  <a:gd name="T49" fmla="*/ 92 h 176"/>
                  <a:gd name="T50" fmla="*/ 104 w 192"/>
                  <a:gd name="T51" fmla="*/ 136 h 176"/>
                  <a:gd name="T52" fmla="*/ 100 w 192"/>
                  <a:gd name="T53" fmla="*/ 132 h 176"/>
                  <a:gd name="T54" fmla="*/ 100 w 192"/>
                  <a:gd name="T55" fmla="*/ 120 h 176"/>
                  <a:gd name="T56" fmla="*/ 104 w 192"/>
                  <a:gd name="T57" fmla="*/ 116 h 176"/>
                  <a:gd name="T58" fmla="*/ 125 w 192"/>
                  <a:gd name="T59" fmla="*/ 96 h 176"/>
                  <a:gd name="T60" fmla="*/ 104 w 192"/>
                  <a:gd name="T61" fmla="*/ 96 h 176"/>
                  <a:gd name="T62" fmla="*/ 100 w 192"/>
                  <a:gd name="T63" fmla="*/ 92 h 176"/>
                  <a:gd name="T64" fmla="*/ 100 w 192"/>
                  <a:gd name="T65" fmla="*/ 52 h 176"/>
                  <a:gd name="T66" fmla="*/ 104 w 192"/>
                  <a:gd name="T67" fmla="*/ 48 h 176"/>
                  <a:gd name="T68" fmla="*/ 144 w 192"/>
                  <a:gd name="T69" fmla="*/ 48 h 176"/>
                  <a:gd name="T70" fmla="*/ 148 w 192"/>
                  <a:gd name="T71" fmla="*/ 52 h 176"/>
                  <a:gd name="T72" fmla="*/ 148 w 192"/>
                  <a:gd name="T73" fmla="*/ 9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2" h="176">
                    <a:moveTo>
                      <a:pt x="96" y="0"/>
                    </a:moveTo>
                    <a:cubicBezTo>
                      <a:pt x="43" y="0"/>
                      <a:pt x="0" y="39"/>
                      <a:pt x="0" y="88"/>
                    </a:cubicBezTo>
                    <a:cubicBezTo>
                      <a:pt x="0" y="105"/>
                      <a:pt x="5" y="121"/>
                      <a:pt x="15" y="135"/>
                    </a:cubicBezTo>
                    <a:cubicBezTo>
                      <a:pt x="0" y="170"/>
                      <a:pt x="0" y="170"/>
                      <a:pt x="0" y="170"/>
                    </a:cubicBezTo>
                    <a:cubicBezTo>
                      <a:pt x="0" y="172"/>
                      <a:pt x="0" y="174"/>
                      <a:pt x="1" y="175"/>
                    </a:cubicBezTo>
                    <a:cubicBezTo>
                      <a:pt x="2" y="175"/>
                      <a:pt x="3" y="176"/>
                      <a:pt x="4" y="176"/>
                    </a:cubicBezTo>
                    <a:cubicBezTo>
                      <a:pt x="5" y="176"/>
                      <a:pt x="5" y="176"/>
                      <a:pt x="6" y="176"/>
                    </a:cubicBezTo>
                    <a:cubicBezTo>
                      <a:pt x="42" y="161"/>
                      <a:pt x="42" y="161"/>
                      <a:pt x="42" y="161"/>
                    </a:cubicBezTo>
                    <a:cubicBezTo>
                      <a:pt x="58" y="171"/>
                      <a:pt x="77" y="176"/>
                      <a:pt x="96" y="176"/>
                    </a:cubicBezTo>
                    <a:cubicBezTo>
                      <a:pt x="149" y="176"/>
                      <a:pt x="192" y="136"/>
                      <a:pt x="192" y="88"/>
                    </a:cubicBezTo>
                    <a:cubicBezTo>
                      <a:pt x="192" y="39"/>
                      <a:pt x="149" y="0"/>
                      <a:pt x="96" y="0"/>
                    </a:cubicBezTo>
                    <a:close/>
                    <a:moveTo>
                      <a:pt x="92" y="92"/>
                    </a:moveTo>
                    <a:cubicBezTo>
                      <a:pt x="92" y="116"/>
                      <a:pt x="72" y="136"/>
                      <a:pt x="48" y="136"/>
                    </a:cubicBezTo>
                    <a:cubicBezTo>
                      <a:pt x="46" y="136"/>
                      <a:pt x="44" y="134"/>
                      <a:pt x="44" y="132"/>
                    </a:cubicBezTo>
                    <a:cubicBezTo>
                      <a:pt x="44" y="120"/>
                      <a:pt x="44" y="120"/>
                      <a:pt x="44" y="120"/>
                    </a:cubicBezTo>
                    <a:cubicBezTo>
                      <a:pt x="44" y="118"/>
                      <a:pt x="46" y="116"/>
                      <a:pt x="48" y="116"/>
                    </a:cubicBezTo>
                    <a:cubicBezTo>
                      <a:pt x="62" y="116"/>
                      <a:pt x="67" y="106"/>
                      <a:pt x="69" y="96"/>
                    </a:cubicBezTo>
                    <a:cubicBezTo>
                      <a:pt x="48" y="96"/>
                      <a:pt x="48" y="96"/>
                      <a:pt x="48" y="96"/>
                    </a:cubicBezTo>
                    <a:cubicBezTo>
                      <a:pt x="46" y="96"/>
                      <a:pt x="44" y="94"/>
                      <a:pt x="44" y="92"/>
                    </a:cubicBezTo>
                    <a:cubicBezTo>
                      <a:pt x="44" y="52"/>
                      <a:pt x="44" y="52"/>
                      <a:pt x="44" y="52"/>
                    </a:cubicBezTo>
                    <a:cubicBezTo>
                      <a:pt x="44" y="50"/>
                      <a:pt x="46" y="48"/>
                      <a:pt x="48" y="48"/>
                    </a:cubicBezTo>
                    <a:cubicBezTo>
                      <a:pt x="88" y="48"/>
                      <a:pt x="88" y="48"/>
                      <a:pt x="88" y="48"/>
                    </a:cubicBezTo>
                    <a:cubicBezTo>
                      <a:pt x="90" y="48"/>
                      <a:pt x="92" y="50"/>
                      <a:pt x="92" y="52"/>
                    </a:cubicBezTo>
                    <a:lnTo>
                      <a:pt x="92" y="92"/>
                    </a:lnTo>
                    <a:close/>
                    <a:moveTo>
                      <a:pt x="148" y="92"/>
                    </a:moveTo>
                    <a:cubicBezTo>
                      <a:pt x="148" y="116"/>
                      <a:pt x="128" y="136"/>
                      <a:pt x="104" y="136"/>
                    </a:cubicBezTo>
                    <a:cubicBezTo>
                      <a:pt x="102" y="136"/>
                      <a:pt x="100" y="134"/>
                      <a:pt x="100" y="132"/>
                    </a:cubicBezTo>
                    <a:cubicBezTo>
                      <a:pt x="100" y="120"/>
                      <a:pt x="100" y="120"/>
                      <a:pt x="100" y="120"/>
                    </a:cubicBezTo>
                    <a:cubicBezTo>
                      <a:pt x="100" y="118"/>
                      <a:pt x="102" y="116"/>
                      <a:pt x="104" y="116"/>
                    </a:cubicBezTo>
                    <a:cubicBezTo>
                      <a:pt x="118" y="116"/>
                      <a:pt x="123" y="106"/>
                      <a:pt x="125" y="96"/>
                    </a:cubicBezTo>
                    <a:cubicBezTo>
                      <a:pt x="104" y="96"/>
                      <a:pt x="104" y="96"/>
                      <a:pt x="104" y="96"/>
                    </a:cubicBezTo>
                    <a:cubicBezTo>
                      <a:pt x="102" y="96"/>
                      <a:pt x="100" y="94"/>
                      <a:pt x="100" y="92"/>
                    </a:cubicBezTo>
                    <a:cubicBezTo>
                      <a:pt x="100" y="52"/>
                      <a:pt x="100" y="52"/>
                      <a:pt x="100" y="52"/>
                    </a:cubicBezTo>
                    <a:cubicBezTo>
                      <a:pt x="100" y="50"/>
                      <a:pt x="102" y="48"/>
                      <a:pt x="104" y="48"/>
                    </a:cubicBezTo>
                    <a:cubicBezTo>
                      <a:pt x="144" y="48"/>
                      <a:pt x="144" y="48"/>
                      <a:pt x="144" y="48"/>
                    </a:cubicBezTo>
                    <a:cubicBezTo>
                      <a:pt x="146" y="48"/>
                      <a:pt x="148" y="50"/>
                      <a:pt x="148" y="52"/>
                    </a:cubicBezTo>
                    <a:lnTo>
                      <a:pt x="148" y="92"/>
                    </a:lnTo>
                    <a:close/>
                  </a:path>
                </a:pathLst>
              </a:custGeom>
              <a:solidFill>
                <a:schemeClr val="accent3">
                  <a:lumMod val="20000"/>
                  <a:lumOff val="80000"/>
                </a:schemeClr>
              </a:solidFill>
              <a:ln>
                <a:noFill/>
              </a:ln>
            </p:spPr>
            <p:txBody>
              <a:bodyPr lIns="80296" tIns="40148" rIns="80296" bIns="40148">
                <a:normAutofit/>
              </a:bodyPr>
              <a:lstStyle/>
              <a:p>
                <a:pPr eaLnBrk="1" hangingPunct="1">
                  <a:spcBef>
                    <a:spcPts val="0"/>
                  </a:spcBef>
                  <a:spcAft>
                    <a:spcPts val="0"/>
                  </a:spcAft>
                  <a:defRPr/>
                </a:pPr>
                <a:endParaRPr lang="zh-CN" altLang="en-US" sz="1580">
                  <a:solidFill>
                    <a:schemeClr val="bg1"/>
                  </a:solidFill>
                  <a:latin typeface="Calibri" panose="020F0502020204030204"/>
                  <a:ea typeface="+mn-ea"/>
                </a:endParaRPr>
              </a:p>
            </p:txBody>
          </p:sp>
          <p:grpSp>
            <p:nvGrpSpPr>
              <p:cNvPr id="10" name="组合 9"/>
              <p:cNvGrpSpPr/>
              <p:nvPr/>
            </p:nvGrpSpPr>
            <p:grpSpPr>
              <a:xfrm>
                <a:off x="409" y="3550"/>
                <a:ext cx="14192" cy="3860"/>
                <a:chOff x="409" y="3550"/>
                <a:chExt cx="14192" cy="3860"/>
              </a:xfrm>
            </p:grpSpPr>
            <p:cxnSp>
              <p:nvCxnSpPr>
                <p:cNvPr id="62" name="直接连接符 61"/>
                <p:cNvCxnSpPr/>
                <p:nvPr>
                  <p:custDataLst>
                    <p:tags r:id="rId4"/>
                  </p:custDataLst>
                </p:nvPr>
              </p:nvCxnSpPr>
              <p:spPr>
                <a:xfrm>
                  <a:off x="3096" y="3682"/>
                  <a:ext cx="23" cy="2778"/>
                </a:xfrm>
                <a:prstGeom prst="line">
                  <a:avLst/>
                </a:prstGeom>
                <a:ln w="3175">
                  <a:solidFill>
                    <a:srgbClr val="FFFFFF"/>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5"/>
                  </p:custDataLst>
                </p:nvPr>
              </p:nvSpPr>
              <p:spPr>
                <a:xfrm>
                  <a:off x="3488" y="3550"/>
                  <a:ext cx="11113" cy="38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ctr">
                    <a:lnSpc>
                      <a:spcPct val="200000"/>
                    </a:lnSpc>
                    <a:spcBef>
                      <a:spcPct val="0"/>
                    </a:spcBef>
                    <a:buFontTx/>
                    <a:buNone/>
                    <a:defRPr sz="1800">
                      <a:solidFill>
                        <a:srgbClr val="FFFFFF"/>
                      </a:solidFill>
                    </a:defRPr>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en-US" altLang="zh-CN" sz="2000" b="1" dirty="0">
                      <a:solidFill>
                        <a:srgbClr val="000000"/>
                      </a:solidFill>
                      <a:sym typeface="+mn-ea"/>
                    </a:rPr>
                    <a:t>        </a:t>
                  </a:r>
                  <a:r>
                    <a:rPr lang="zh-CN" altLang="en-US" sz="2000" b="1" dirty="0">
                      <a:solidFill>
                        <a:schemeClr val="bg1"/>
                      </a:solidFill>
                      <a:sym typeface="+mn-ea"/>
                    </a:rPr>
                    <a:t>SOA是一个业务开发框架，可以将不同类别、不同平台的服务结合在一起，成为一个跨区域、多功能的应用实体。在SOA架构下，任何一种应用都由若干种服务组成，这些服务在开发之初就已经考虑到复用问题，并提供了标准接口，可以被各种应用和其他服务所调用。SOA在现代企业中的应用前景是广阔的，它不仅能集成原有应用系统，而且在可用性、可维护性方面都有了较大的提升。</a:t>
                  </a:r>
                </a:p>
              </p:txBody>
            </p:sp>
            <p:sp>
              <p:nvSpPr>
                <p:cNvPr id="12" name="文本框 11"/>
                <p:cNvSpPr txBox="1"/>
                <p:nvPr>
                  <p:custDataLst>
                    <p:tags r:id="rId6"/>
                  </p:custDataLst>
                </p:nvPr>
              </p:nvSpPr>
              <p:spPr>
                <a:xfrm>
                  <a:off x="409" y="4834"/>
                  <a:ext cx="2094" cy="6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ormAutofit/>
                </a:bodyPr>
                <a:lstStyle>
                  <a:defPPr>
                    <a:defRPr lang="zh-CN"/>
                  </a:defPPr>
                  <a:lvl1pPr>
                    <a:spcBef>
                      <a:spcPct val="0"/>
                    </a:spcBef>
                    <a:buFontTx/>
                    <a:buNone/>
                    <a:defRPr sz="2000" b="1">
                      <a:solidFill>
                        <a:schemeClr val="bg1"/>
                      </a:solidFill>
                    </a:defRPr>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ctr"/>
                  <a:r>
                    <a:rPr lang="en-US" altLang="zh-CN" dirty="0" smtClean="0"/>
                    <a:t>SOA</a:t>
                  </a:r>
                </a:p>
              </p:txBody>
            </p:sp>
          </p:grpSp>
        </p:grpSp>
        <p:sp>
          <p:nvSpPr>
            <p:cNvPr id="2" name="Freeform 66"/>
            <p:cNvSpPr>
              <a:spLocks noEditPoints="1"/>
            </p:cNvSpPr>
            <p:nvPr>
              <p:custDataLst>
                <p:tags r:id="rId1"/>
              </p:custDataLst>
            </p:nvPr>
          </p:nvSpPr>
          <p:spPr bwMode="auto">
            <a:xfrm>
              <a:off x="4156" y="6360"/>
              <a:ext cx="771" cy="776"/>
            </a:xfrm>
            <a:custGeom>
              <a:avLst/>
              <a:gdLst>
                <a:gd name="T0" fmla="*/ 96 w 192"/>
                <a:gd name="T1" fmla="*/ 0 h 176"/>
                <a:gd name="T2" fmla="*/ 0 w 192"/>
                <a:gd name="T3" fmla="*/ 88 h 176"/>
                <a:gd name="T4" fmla="*/ 15 w 192"/>
                <a:gd name="T5" fmla="*/ 135 h 176"/>
                <a:gd name="T6" fmla="*/ 0 w 192"/>
                <a:gd name="T7" fmla="*/ 170 h 176"/>
                <a:gd name="T8" fmla="*/ 1 w 192"/>
                <a:gd name="T9" fmla="*/ 175 h 176"/>
                <a:gd name="T10" fmla="*/ 4 w 192"/>
                <a:gd name="T11" fmla="*/ 176 h 176"/>
                <a:gd name="T12" fmla="*/ 6 w 192"/>
                <a:gd name="T13" fmla="*/ 176 h 176"/>
                <a:gd name="T14" fmla="*/ 42 w 192"/>
                <a:gd name="T15" fmla="*/ 161 h 176"/>
                <a:gd name="T16" fmla="*/ 96 w 192"/>
                <a:gd name="T17" fmla="*/ 176 h 176"/>
                <a:gd name="T18" fmla="*/ 192 w 192"/>
                <a:gd name="T19" fmla="*/ 88 h 176"/>
                <a:gd name="T20" fmla="*/ 96 w 192"/>
                <a:gd name="T21" fmla="*/ 0 h 176"/>
                <a:gd name="T22" fmla="*/ 92 w 192"/>
                <a:gd name="T23" fmla="*/ 92 h 176"/>
                <a:gd name="T24" fmla="*/ 48 w 192"/>
                <a:gd name="T25" fmla="*/ 136 h 176"/>
                <a:gd name="T26" fmla="*/ 44 w 192"/>
                <a:gd name="T27" fmla="*/ 132 h 176"/>
                <a:gd name="T28" fmla="*/ 44 w 192"/>
                <a:gd name="T29" fmla="*/ 120 h 176"/>
                <a:gd name="T30" fmla="*/ 48 w 192"/>
                <a:gd name="T31" fmla="*/ 116 h 176"/>
                <a:gd name="T32" fmla="*/ 69 w 192"/>
                <a:gd name="T33" fmla="*/ 96 h 176"/>
                <a:gd name="T34" fmla="*/ 48 w 192"/>
                <a:gd name="T35" fmla="*/ 96 h 176"/>
                <a:gd name="T36" fmla="*/ 44 w 192"/>
                <a:gd name="T37" fmla="*/ 92 h 176"/>
                <a:gd name="T38" fmla="*/ 44 w 192"/>
                <a:gd name="T39" fmla="*/ 52 h 176"/>
                <a:gd name="T40" fmla="*/ 48 w 192"/>
                <a:gd name="T41" fmla="*/ 48 h 176"/>
                <a:gd name="T42" fmla="*/ 88 w 192"/>
                <a:gd name="T43" fmla="*/ 48 h 176"/>
                <a:gd name="T44" fmla="*/ 92 w 192"/>
                <a:gd name="T45" fmla="*/ 52 h 176"/>
                <a:gd name="T46" fmla="*/ 92 w 192"/>
                <a:gd name="T47" fmla="*/ 92 h 176"/>
                <a:gd name="T48" fmla="*/ 148 w 192"/>
                <a:gd name="T49" fmla="*/ 92 h 176"/>
                <a:gd name="T50" fmla="*/ 104 w 192"/>
                <a:gd name="T51" fmla="*/ 136 h 176"/>
                <a:gd name="T52" fmla="*/ 100 w 192"/>
                <a:gd name="T53" fmla="*/ 132 h 176"/>
                <a:gd name="T54" fmla="*/ 100 w 192"/>
                <a:gd name="T55" fmla="*/ 120 h 176"/>
                <a:gd name="T56" fmla="*/ 104 w 192"/>
                <a:gd name="T57" fmla="*/ 116 h 176"/>
                <a:gd name="T58" fmla="*/ 125 w 192"/>
                <a:gd name="T59" fmla="*/ 96 h 176"/>
                <a:gd name="T60" fmla="*/ 104 w 192"/>
                <a:gd name="T61" fmla="*/ 96 h 176"/>
                <a:gd name="T62" fmla="*/ 100 w 192"/>
                <a:gd name="T63" fmla="*/ 92 h 176"/>
                <a:gd name="T64" fmla="*/ 100 w 192"/>
                <a:gd name="T65" fmla="*/ 52 h 176"/>
                <a:gd name="T66" fmla="*/ 104 w 192"/>
                <a:gd name="T67" fmla="*/ 48 h 176"/>
                <a:gd name="T68" fmla="*/ 144 w 192"/>
                <a:gd name="T69" fmla="*/ 48 h 176"/>
                <a:gd name="T70" fmla="*/ 148 w 192"/>
                <a:gd name="T71" fmla="*/ 52 h 176"/>
                <a:gd name="T72" fmla="*/ 148 w 192"/>
                <a:gd name="T73" fmla="*/ 9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2" h="176">
                  <a:moveTo>
                    <a:pt x="96" y="0"/>
                  </a:moveTo>
                  <a:cubicBezTo>
                    <a:pt x="43" y="0"/>
                    <a:pt x="0" y="39"/>
                    <a:pt x="0" y="88"/>
                  </a:cubicBezTo>
                  <a:cubicBezTo>
                    <a:pt x="0" y="105"/>
                    <a:pt x="5" y="121"/>
                    <a:pt x="15" y="135"/>
                  </a:cubicBezTo>
                  <a:cubicBezTo>
                    <a:pt x="0" y="170"/>
                    <a:pt x="0" y="170"/>
                    <a:pt x="0" y="170"/>
                  </a:cubicBezTo>
                  <a:cubicBezTo>
                    <a:pt x="0" y="172"/>
                    <a:pt x="0" y="174"/>
                    <a:pt x="1" y="175"/>
                  </a:cubicBezTo>
                  <a:cubicBezTo>
                    <a:pt x="2" y="175"/>
                    <a:pt x="3" y="176"/>
                    <a:pt x="4" y="176"/>
                  </a:cubicBezTo>
                  <a:cubicBezTo>
                    <a:pt x="5" y="176"/>
                    <a:pt x="5" y="176"/>
                    <a:pt x="6" y="176"/>
                  </a:cubicBezTo>
                  <a:cubicBezTo>
                    <a:pt x="42" y="161"/>
                    <a:pt x="42" y="161"/>
                    <a:pt x="42" y="161"/>
                  </a:cubicBezTo>
                  <a:cubicBezTo>
                    <a:pt x="58" y="171"/>
                    <a:pt x="77" y="176"/>
                    <a:pt x="96" y="176"/>
                  </a:cubicBezTo>
                  <a:cubicBezTo>
                    <a:pt x="149" y="176"/>
                    <a:pt x="192" y="136"/>
                    <a:pt x="192" y="88"/>
                  </a:cubicBezTo>
                  <a:cubicBezTo>
                    <a:pt x="192" y="39"/>
                    <a:pt x="149" y="0"/>
                    <a:pt x="96" y="0"/>
                  </a:cubicBezTo>
                  <a:close/>
                  <a:moveTo>
                    <a:pt x="92" y="92"/>
                  </a:moveTo>
                  <a:cubicBezTo>
                    <a:pt x="92" y="116"/>
                    <a:pt x="72" y="136"/>
                    <a:pt x="48" y="136"/>
                  </a:cubicBezTo>
                  <a:cubicBezTo>
                    <a:pt x="46" y="136"/>
                    <a:pt x="44" y="134"/>
                    <a:pt x="44" y="132"/>
                  </a:cubicBezTo>
                  <a:cubicBezTo>
                    <a:pt x="44" y="120"/>
                    <a:pt x="44" y="120"/>
                    <a:pt x="44" y="120"/>
                  </a:cubicBezTo>
                  <a:cubicBezTo>
                    <a:pt x="44" y="118"/>
                    <a:pt x="46" y="116"/>
                    <a:pt x="48" y="116"/>
                  </a:cubicBezTo>
                  <a:cubicBezTo>
                    <a:pt x="62" y="116"/>
                    <a:pt x="67" y="106"/>
                    <a:pt x="69" y="96"/>
                  </a:cubicBezTo>
                  <a:cubicBezTo>
                    <a:pt x="48" y="96"/>
                    <a:pt x="48" y="96"/>
                    <a:pt x="48" y="96"/>
                  </a:cubicBezTo>
                  <a:cubicBezTo>
                    <a:pt x="46" y="96"/>
                    <a:pt x="44" y="94"/>
                    <a:pt x="44" y="92"/>
                  </a:cubicBezTo>
                  <a:cubicBezTo>
                    <a:pt x="44" y="52"/>
                    <a:pt x="44" y="52"/>
                    <a:pt x="44" y="52"/>
                  </a:cubicBezTo>
                  <a:cubicBezTo>
                    <a:pt x="44" y="50"/>
                    <a:pt x="46" y="48"/>
                    <a:pt x="48" y="48"/>
                  </a:cubicBezTo>
                  <a:cubicBezTo>
                    <a:pt x="88" y="48"/>
                    <a:pt x="88" y="48"/>
                    <a:pt x="88" y="48"/>
                  </a:cubicBezTo>
                  <a:cubicBezTo>
                    <a:pt x="90" y="48"/>
                    <a:pt x="92" y="50"/>
                    <a:pt x="92" y="52"/>
                  </a:cubicBezTo>
                  <a:lnTo>
                    <a:pt x="92" y="92"/>
                  </a:lnTo>
                  <a:close/>
                  <a:moveTo>
                    <a:pt x="148" y="92"/>
                  </a:moveTo>
                  <a:cubicBezTo>
                    <a:pt x="148" y="116"/>
                    <a:pt x="128" y="136"/>
                    <a:pt x="104" y="136"/>
                  </a:cubicBezTo>
                  <a:cubicBezTo>
                    <a:pt x="102" y="136"/>
                    <a:pt x="100" y="134"/>
                    <a:pt x="100" y="132"/>
                  </a:cubicBezTo>
                  <a:cubicBezTo>
                    <a:pt x="100" y="120"/>
                    <a:pt x="100" y="120"/>
                    <a:pt x="100" y="120"/>
                  </a:cubicBezTo>
                  <a:cubicBezTo>
                    <a:pt x="100" y="118"/>
                    <a:pt x="102" y="116"/>
                    <a:pt x="104" y="116"/>
                  </a:cubicBezTo>
                  <a:cubicBezTo>
                    <a:pt x="118" y="116"/>
                    <a:pt x="123" y="106"/>
                    <a:pt x="125" y="96"/>
                  </a:cubicBezTo>
                  <a:cubicBezTo>
                    <a:pt x="104" y="96"/>
                    <a:pt x="104" y="96"/>
                    <a:pt x="104" y="96"/>
                  </a:cubicBezTo>
                  <a:cubicBezTo>
                    <a:pt x="102" y="96"/>
                    <a:pt x="100" y="94"/>
                    <a:pt x="100" y="92"/>
                  </a:cubicBezTo>
                  <a:cubicBezTo>
                    <a:pt x="100" y="52"/>
                    <a:pt x="100" y="52"/>
                    <a:pt x="100" y="52"/>
                  </a:cubicBezTo>
                  <a:cubicBezTo>
                    <a:pt x="100" y="50"/>
                    <a:pt x="102" y="48"/>
                    <a:pt x="104" y="48"/>
                  </a:cubicBezTo>
                  <a:cubicBezTo>
                    <a:pt x="144" y="48"/>
                    <a:pt x="144" y="48"/>
                    <a:pt x="144" y="48"/>
                  </a:cubicBezTo>
                  <a:cubicBezTo>
                    <a:pt x="146" y="48"/>
                    <a:pt x="148" y="50"/>
                    <a:pt x="148" y="52"/>
                  </a:cubicBezTo>
                  <a:lnTo>
                    <a:pt x="148" y="92"/>
                  </a:lnTo>
                  <a:close/>
                </a:path>
              </a:pathLst>
            </a:custGeom>
            <a:solidFill>
              <a:schemeClr val="accent3">
                <a:lumMod val="20000"/>
                <a:lumOff val="80000"/>
              </a:schemeClr>
            </a:solidFill>
            <a:ln>
              <a:noFill/>
            </a:ln>
          </p:spPr>
          <p:txBody>
            <a:bodyPr lIns="80296" tIns="40148" rIns="80296" bIns="40148">
              <a:normAutofit/>
            </a:bodyPr>
            <a:lstStyle/>
            <a:p>
              <a:pPr eaLnBrk="1" hangingPunct="1">
                <a:spcBef>
                  <a:spcPts val="0"/>
                </a:spcBef>
                <a:spcAft>
                  <a:spcPts val="0"/>
                </a:spcAft>
                <a:defRPr/>
              </a:pPr>
              <a:endParaRPr lang="zh-CN" altLang="en-US" sz="1580">
                <a:solidFill>
                  <a:schemeClr val="bg1"/>
                </a:solidFill>
                <a:latin typeface="Calibri" panose="020F0502020204030204"/>
                <a:ea typeface="+mn-ea"/>
              </a:endParaRPr>
            </a:p>
          </p:txBody>
        </p:sp>
      </p:grpSp>
    </p:spTree>
  </p:cSld>
  <p:clrMapOvr>
    <a:masterClrMapping/>
  </p:clrMapOvr>
  <p:transition>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11.3.2  面向服务架构的概念</a:t>
            </a:r>
          </a:p>
        </p:txBody>
      </p:sp>
      <p:grpSp>
        <p:nvGrpSpPr>
          <p:cNvPr id="2" name="组合 1"/>
          <p:cNvGrpSpPr/>
          <p:nvPr/>
        </p:nvGrpSpPr>
        <p:grpSpPr>
          <a:xfrm>
            <a:off x="791467" y="1869494"/>
            <a:ext cx="10926094" cy="4676984"/>
            <a:chOff x="867" y="2638"/>
            <a:chExt cx="17207" cy="7365"/>
          </a:xfrm>
        </p:grpSpPr>
        <p:sp>
          <p:nvSpPr>
            <p:cNvPr id="5" name="MH_Other_1"/>
            <p:cNvSpPr/>
            <p:nvPr>
              <p:custDataLst>
                <p:tags r:id="rId1"/>
              </p:custDataLst>
            </p:nvPr>
          </p:nvSpPr>
          <p:spPr>
            <a:xfrm>
              <a:off x="867" y="2933"/>
              <a:ext cx="13764" cy="6328"/>
            </a:xfrm>
            <a:prstGeom prst="rect">
              <a:avLst/>
            </a:prstGeom>
            <a:solidFill>
              <a:srgbClr val="BEA2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MH_Other_2"/>
            <p:cNvSpPr/>
            <p:nvPr>
              <p:custDataLst>
                <p:tags r:id="rId2"/>
              </p:custDataLst>
            </p:nvPr>
          </p:nvSpPr>
          <p:spPr>
            <a:xfrm rot="1372792">
              <a:off x="14042" y="2638"/>
              <a:ext cx="4032" cy="7365"/>
            </a:xfrm>
            <a:prstGeom prst="rect">
              <a:avLst/>
            </a:prstGeom>
            <a:solidFill>
              <a:srgbClr val="FFFFFF"/>
            </a:solidFill>
            <a:ln w="3175">
              <a:solidFill>
                <a:schemeClr val="bg1">
                  <a:lumMod val="85000"/>
                </a:schemeClr>
              </a:solidFill>
            </a:ln>
            <a:effectLst>
              <a:outerShdw blurRad="76200" dist="25400" dir="2700000" algn="tl" rotWithShape="0">
                <a:srgbClr val="FFFFFF">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MH_Picture_3"/>
            <p:cNvSpPr/>
            <p:nvPr>
              <p:custDataLst>
                <p:tags r:id="rId3"/>
              </p:custDataLst>
            </p:nvPr>
          </p:nvSpPr>
          <p:spPr>
            <a:xfrm rot="1585944">
              <a:off x="13455" y="6862"/>
              <a:ext cx="3474" cy="2093"/>
            </a:xfrm>
            <a:prstGeom prst="rect">
              <a:avLst/>
            </a:prstGeom>
            <a:blipFill dpi="0" rotWithShape="1">
              <a:blip r:embed="rId7" cstate="print"/>
              <a:srcRect/>
              <a:stretch>
                <a:fillRect l="-13230" r="-132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H_Text_1"/>
            <p:cNvSpPr txBox="1"/>
            <p:nvPr>
              <p:custDataLst>
                <p:tags r:id="rId4"/>
              </p:custDataLst>
            </p:nvPr>
          </p:nvSpPr>
          <p:spPr>
            <a:xfrm>
              <a:off x="1233" y="3148"/>
              <a:ext cx="12230" cy="5871"/>
            </a:xfrm>
            <a:prstGeom prst="rect">
              <a:avLst/>
            </a:prstGeom>
            <a:noFill/>
          </p:spPr>
          <p:txBody>
            <a:bodyPr wrap="square" lIns="180000" tIns="46800" rIns="36000" rtlCol="0" anchor="t" anchorCtr="0">
              <a:noAutofit/>
            </a:bodyPr>
            <a:lstStyle/>
            <a:p>
              <a:pPr indent="457200" fontAlgn="auto">
                <a:lnSpc>
                  <a:spcPct val="130000"/>
                </a:lnSpc>
              </a:pPr>
              <a:r>
                <a:rPr sz="2000" dirty="0" smtClean="0">
                  <a:solidFill>
                    <a:srgbClr val="080808"/>
                  </a:solidFill>
                  <a:latin typeface="+mn-ea"/>
                </a:rPr>
                <a:t>为了帮助读者理解SOA的概念，可以将SOA比喻为可拼装的乐高玩具，传统的应用好比是普通的玩具，不可拆卸和拼接。而乐高玩具与众不同，可以按照用户自己的想法随意组装，就是因为它是由标准的微小的组件构成。基于SOA的应用都是由更小的服务组件组成的，如同乐高玩具的模块。用乐高玩具可以搭建各种不同的形状，同样地SOA架构可以实现不同的应用。乐高玩具的模块是基于标准化的，因此可以反复利用，购买不同的乐高产品还可以放在一起任意拼搭组合，因为拼插的接口标准是一致的。SOA架构也是这样，</a:t>
              </a:r>
            </a:p>
            <a:p>
              <a:pPr indent="0" fontAlgn="auto">
                <a:lnSpc>
                  <a:spcPct val="130000"/>
                </a:lnSpc>
              </a:pPr>
              <a:r>
                <a:rPr sz="2000" dirty="0" smtClean="0">
                  <a:solidFill>
                    <a:srgbClr val="080808"/>
                  </a:solidFill>
                  <a:latin typeface="+mn-ea"/>
                </a:rPr>
                <a:t>SOA也提供统一的标准接口，以便根据用户的需要组装应用。</a:t>
              </a:r>
            </a:p>
          </p:txBody>
        </p:sp>
      </p:grpSp>
      <p:pic>
        <p:nvPicPr>
          <p:cNvPr id="11" name="图片 10" descr="51MAJerZi2L._SY300_"/>
          <p:cNvPicPr>
            <a:picLocks noChangeAspect="1"/>
          </p:cNvPicPr>
          <p:nvPr/>
        </p:nvPicPr>
        <p:blipFill>
          <a:blip r:embed="rId8" cstate="print"/>
          <a:srcRect t="10180" b="7867"/>
          <a:stretch>
            <a:fillRect/>
          </a:stretch>
        </p:blipFill>
        <p:spPr>
          <a:xfrm rot="1620000">
            <a:off x="9665740" y="2368579"/>
            <a:ext cx="2232660" cy="1829435"/>
          </a:xfrm>
          <a:prstGeom prst="rect">
            <a:avLst/>
          </a:prstGeom>
        </p:spPr>
      </p:pic>
    </p:spTree>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11.3.3  基于SOA架构的软件开发方法</a:t>
            </a:r>
          </a:p>
        </p:txBody>
      </p:sp>
      <p:sp>
        <p:nvSpPr>
          <p:cNvPr id="26" name="MH_Other_1"/>
          <p:cNvSpPr/>
          <p:nvPr>
            <p:custDataLst>
              <p:tags r:id="rId1"/>
            </p:custDataLst>
          </p:nvPr>
        </p:nvSpPr>
        <p:spPr>
          <a:xfrm>
            <a:off x="6481453" y="2455097"/>
            <a:ext cx="4565649" cy="173037"/>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MH_Other_2"/>
          <p:cNvSpPr/>
          <p:nvPr>
            <p:custDataLst>
              <p:tags r:id="rId2"/>
            </p:custDataLst>
          </p:nvPr>
        </p:nvSpPr>
        <p:spPr>
          <a:xfrm>
            <a:off x="6481453" y="4979222"/>
            <a:ext cx="4565649" cy="17462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0" name="MH_Other_3"/>
          <p:cNvCxnSpPr/>
          <p:nvPr>
            <p:custDataLst>
              <p:tags r:id="rId3"/>
            </p:custDataLst>
          </p:nvPr>
        </p:nvCxnSpPr>
        <p:spPr>
          <a:xfrm>
            <a:off x="6049214" y="2502392"/>
            <a:ext cx="0" cy="2706687"/>
          </a:xfrm>
          <a:prstGeom prst="line">
            <a:avLst/>
          </a:prstGeom>
          <a:ln w="19050">
            <a:solidFill>
              <a:srgbClr val="DDDDDD"/>
            </a:solidFill>
          </a:ln>
        </p:spPr>
        <p:style>
          <a:lnRef idx="1">
            <a:schemeClr val="accent1"/>
          </a:lnRef>
          <a:fillRef idx="0">
            <a:schemeClr val="accent1"/>
          </a:fillRef>
          <a:effectRef idx="0">
            <a:schemeClr val="accent1"/>
          </a:effectRef>
          <a:fontRef idx="minor">
            <a:schemeClr val="tx1"/>
          </a:fontRef>
        </p:style>
      </p:cxnSp>
      <p:sp>
        <p:nvSpPr>
          <p:cNvPr id="37" name="MH_Desc_1"/>
          <p:cNvSpPr txBox="1"/>
          <p:nvPr>
            <p:custDataLst>
              <p:tags r:id="rId4"/>
            </p:custDataLst>
          </p:nvPr>
        </p:nvSpPr>
        <p:spPr>
          <a:xfrm>
            <a:off x="995054" y="2954556"/>
            <a:ext cx="4538644" cy="1295400"/>
          </a:xfrm>
          <a:prstGeom prst="rect">
            <a:avLst/>
          </a:prstGeom>
          <a:noFill/>
        </p:spPr>
        <p:txBody>
          <a:bodyPr lIns="0" tIns="0" rIns="0" bIns="0"/>
          <a:lstStyle/>
          <a:p>
            <a:pPr indent="457200">
              <a:lnSpc>
                <a:spcPct val="120000"/>
              </a:lnSpc>
            </a:pPr>
            <a:r>
              <a:rPr lang="en-US" altLang="zh-CN" smtClean="0">
                <a:latin typeface="微软雅黑" panose="020B0503020204020204" charset="-122"/>
                <a:ea typeface="微软雅黑" panose="020B0503020204020204" charset="-122"/>
              </a:rPr>
              <a:t>SOA的出现，被认为是软件开发方法发展的一个里程碑，对基于Internet的业务集成和系统扩展性的提高都有很大帮助。创建SOA应用，通常需要4个步骤：</a:t>
            </a:r>
            <a:r>
              <a:rPr lang="en-US" altLang="zh-CN" sz="2400" b="1" smtClean="0">
                <a:latin typeface="微软雅黑" panose="020B0503020204020204" charset="-122"/>
                <a:ea typeface="微软雅黑" panose="020B0503020204020204" charset="-122"/>
              </a:rPr>
              <a:t>构建、部署、使用和管理。</a:t>
            </a:r>
          </a:p>
        </p:txBody>
      </p:sp>
      <p:sp>
        <p:nvSpPr>
          <p:cNvPr id="38" name="MH_Other_4"/>
          <p:cNvSpPr/>
          <p:nvPr>
            <p:custDataLst>
              <p:tags r:id="rId5"/>
            </p:custDataLst>
          </p:nvPr>
        </p:nvSpPr>
        <p:spPr>
          <a:xfrm>
            <a:off x="0" y="2868613"/>
            <a:ext cx="869951" cy="47942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4" name="图片 3" descr="爱谁谁所所所所所所所"/>
          <p:cNvPicPr>
            <a:picLocks noChangeAspect="1"/>
          </p:cNvPicPr>
          <p:nvPr/>
        </p:nvPicPr>
        <p:blipFill>
          <a:blip r:embed="rId8" cstate="print"/>
          <a:stretch>
            <a:fillRect/>
          </a:stretch>
        </p:blipFill>
        <p:spPr>
          <a:xfrm>
            <a:off x="6481445" y="2454910"/>
            <a:ext cx="4565650" cy="3156585"/>
          </a:xfrm>
          <a:prstGeom prst="rect">
            <a:avLst/>
          </a:prstGeom>
        </p:spPr>
      </p:pic>
    </p:spTree>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11.3.3  基于SOA架构的软件开发方法</a:t>
            </a:r>
          </a:p>
        </p:txBody>
      </p:sp>
      <p:grpSp>
        <p:nvGrpSpPr>
          <p:cNvPr id="2" name="组合 1"/>
          <p:cNvGrpSpPr/>
          <p:nvPr/>
        </p:nvGrpSpPr>
        <p:grpSpPr>
          <a:xfrm>
            <a:off x="601214" y="2013431"/>
            <a:ext cx="10930890" cy="1558925"/>
            <a:chOff x="1630" y="5726"/>
            <a:chExt cx="17214" cy="2455"/>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07" y="6041"/>
              <a:ext cx="15637" cy="214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构建阶段</a:t>
              </a:r>
            </a:p>
            <a:p>
              <a:pPr indent="457200" fontAlgn="auto">
                <a:lnSpc>
                  <a:spcPct val="120000"/>
                </a:lnSpc>
              </a:pPr>
              <a:r>
                <a:rPr lang="zh-CN" altLang="en-US" dirty="0">
                  <a:ea typeface="微软雅黑" panose="020B0503020204020204" charset="-122"/>
                </a:rPr>
                <a:t>可以定义业务模型或流程模型、软件模型和SOA模型。之后，开发人员可以创建一组服务，与已发布的通用接口一起复用。构建阶段是整个SOA构建过程中最耗时的一步，需要充分地考虑到服务的灵活性以及后续的可扩展性。</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sp>
        <p:nvSpPr>
          <p:cNvPr id="100" name="文本框 99"/>
          <p:cNvSpPr txBox="1"/>
          <p:nvPr/>
        </p:nvSpPr>
        <p:spPr>
          <a:xfrm>
            <a:off x="750627" y="3639840"/>
            <a:ext cx="10996551" cy="2676477"/>
          </a:xfrm>
          <a:prstGeom prst="roundRect">
            <a:avLst/>
          </a:prstGeom>
          <a:noFill/>
          <a:ln w="9525">
            <a:noFill/>
            <a:prstDash val="sysDot"/>
          </a:ln>
        </p:spPr>
        <p:txBody>
          <a:bodyPr wrap="square">
            <a:spAutoFit/>
          </a:bodyPr>
          <a:lstStyle/>
          <a:p>
            <a:pPr marL="0" indent="457200" algn="l" fontAlgn="auto">
              <a:lnSpc>
                <a:spcPct val="120000"/>
              </a:lnSpc>
            </a:pPr>
            <a:r>
              <a:rPr b="0" u="none" dirty="0">
                <a:latin typeface="微软雅黑" panose="020B0503020204020204" charset="-122"/>
                <a:ea typeface="微软雅黑" panose="020B0503020204020204" charset="-122"/>
              </a:rPr>
              <a:t>这一步骤的实现过程需要</a:t>
            </a:r>
            <a:r>
              <a:rPr b="0" u="none" dirty="0">
                <a:solidFill>
                  <a:schemeClr val="accent5">
                    <a:lumMod val="50000"/>
                  </a:schemeClr>
                </a:solidFill>
                <a:latin typeface="微软雅黑" panose="020B0503020204020204" charset="-122"/>
                <a:ea typeface="微软雅黑" panose="020B0503020204020204" charset="-122"/>
              </a:rPr>
              <a:t>项目经理、分析员、架构师、建模人员、开发人员、测试人员、操作人员</a:t>
            </a:r>
            <a:r>
              <a:rPr b="0" u="none" dirty="0">
                <a:latin typeface="微软雅黑" panose="020B0503020204020204" charset="-122"/>
                <a:ea typeface="微软雅黑" panose="020B0503020204020204" charset="-122"/>
              </a:rPr>
              <a:t>等不同角色的共同参与。实现的技术可以采用CORBA和Web Service。</a:t>
            </a:r>
          </a:p>
          <a:p>
            <a:pPr marL="0" indent="457200" algn="l" fontAlgn="auto">
              <a:lnSpc>
                <a:spcPct val="120000"/>
              </a:lnSpc>
            </a:pPr>
            <a:r>
              <a:rPr b="0" u="none" dirty="0">
                <a:latin typeface="微软雅黑" panose="020B0503020204020204" charset="-122"/>
                <a:ea typeface="微软雅黑" panose="020B0503020204020204" charset="-122"/>
              </a:rPr>
              <a:t>CORBA（Common Object Request Broker Architecture，公共对象请求代理体系结构）是由OMG（Object Management Group，对象管理组织）制定的一种标准的面向对象应用程序体系规范。CORBA体系结构是OMG为解决分布式处理环境DCE（Data Communications Equipment，数据通信设备）中，硬件和软件系统的互连而提出的一种解决方案。OMG是一个国际性的非盈利组织，其职责是为应用开发提供一个公共框架，制定工业指南和对象管理规范，加快对象技术的发展。</a:t>
            </a:r>
          </a:p>
        </p:txBody>
      </p:sp>
    </p:spTree>
  </p:cSld>
  <p:clrMapOvr>
    <a:masterClrMapping/>
  </p:clrMapOvr>
  <p:transition>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11.3.3  基于SOA架构的软件开发方法</a:t>
            </a:r>
          </a:p>
        </p:txBody>
      </p:sp>
      <p:grpSp>
        <p:nvGrpSpPr>
          <p:cNvPr id="22" name="组合 21"/>
          <p:cNvGrpSpPr/>
          <p:nvPr/>
        </p:nvGrpSpPr>
        <p:grpSpPr>
          <a:xfrm>
            <a:off x="684399" y="2460791"/>
            <a:ext cx="7408545" cy="1118870"/>
            <a:chOff x="1840" y="2871"/>
            <a:chExt cx="11667" cy="1762"/>
          </a:xfrm>
        </p:grpSpPr>
        <p:cxnSp>
          <p:nvCxnSpPr>
            <p:cNvPr id="23"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4"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5" name="MH_SubTitle_2"/>
            <p:cNvSpPr txBox="1">
              <a:spLocks noChangeArrowheads="1"/>
            </p:cNvSpPr>
            <p:nvPr/>
          </p:nvSpPr>
          <p:spPr bwMode="auto">
            <a:xfrm>
              <a:off x="3730" y="2871"/>
              <a:ext cx="9777" cy="176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部署阶段</a:t>
              </a:r>
            </a:p>
            <a:p>
              <a:pPr indent="457200" fontAlgn="auto">
                <a:lnSpc>
                  <a:spcPct val="120000"/>
                </a:lnSpc>
              </a:pPr>
              <a:r>
                <a:rPr lang="zh-CN" altLang="en-US" dirty="0">
                  <a:solidFill>
                    <a:schemeClr val="tx1"/>
                  </a:solidFill>
                  <a:ea typeface="微软雅黑" panose="020B0503020204020204" charset="-122"/>
                </a:rPr>
                <a:t>需要提取前一阶段创建的服务，并把它们放在一个可执行和管理的环境之中。</a:t>
              </a:r>
            </a:p>
          </p:txBody>
        </p:sp>
        <p:sp>
          <p:nvSpPr>
            <p:cNvPr id="26"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2</a:t>
              </a:r>
            </a:p>
          </p:txBody>
        </p:sp>
      </p:grpSp>
      <p:grpSp>
        <p:nvGrpSpPr>
          <p:cNvPr id="8" name="组合 7"/>
          <p:cNvGrpSpPr/>
          <p:nvPr/>
        </p:nvGrpSpPr>
        <p:grpSpPr>
          <a:xfrm>
            <a:off x="708660" y="3905052"/>
            <a:ext cx="7302500" cy="1314450"/>
            <a:chOff x="1840" y="2871"/>
            <a:chExt cx="11500" cy="2070"/>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692" y="2871"/>
              <a:ext cx="9648" cy="207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使用阶段</a:t>
              </a:r>
            </a:p>
            <a:p>
              <a:pPr indent="457200" fontAlgn="auto">
                <a:lnSpc>
                  <a:spcPct val="120000"/>
                </a:lnSpc>
              </a:pPr>
              <a:r>
                <a:rPr lang="zh-CN" altLang="en-US" dirty="0">
                  <a:solidFill>
                    <a:schemeClr val="tx1"/>
                  </a:solidFill>
                  <a:ea typeface="微软雅黑" panose="020B0503020204020204" charset="-122"/>
                </a:rPr>
                <a:t>根据前面的SOA和软件模型来装配应用程序，并且测试其软件质量和非功能性需求。应用程序现在已经准备完毕并且可以交付用户。</a:t>
              </a:r>
            </a:p>
          </p:txBody>
        </p:sp>
        <p:sp>
          <p:nvSpPr>
            <p:cNvPr id="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3</a:t>
              </a:r>
            </a:p>
          </p:txBody>
        </p:sp>
      </p:grpSp>
      <p:pic>
        <p:nvPicPr>
          <p:cNvPr id="19" name="图片 18" descr="A000220150322E36PPIC.png"/>
          <p:cNvPicPr>
            <a:picLocks noChangeAspect="1"/>
          </p:cNvPicPr>
          <p:nvPr/>
        </p:nvPicPr>
        <p:blipFill>
          <a:blip r:embed="rId3" cstate="print"/>
          <a:srcRect r="57319"/>
          <a:stretch>
            <a:fillRect/>
          </a:stretch>
        </p:blipFill>
        <p:spPr>
          <a:xfrm>
            <a:off x="7983940" y="733126"/>
            <a:ext cx="3534771" cy="5391326"/>
          </a:xfrm>
          <a:prstGeom prst="rect">
            <a:avLst/>
          </a:prstGeom>
        </p:spPr>
      </p:pic>
    </p:spTree>
  </p:cSld>
  <p:clrMapOvr>
    <a:masterClrMapping/>
  </p:clrMapOvr>
  <p:transition>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1473063358164"/>
          <p:cNvPicPr>
            <a:picLocks noChangeAspect="1"/>
          </p:cNvPicPr>
          <p:nvPr/>
        </p:nvPicPr>
        <p:blipFill>
          <a:blip r:embed="rId3" cstate="print"/>
          <a:srcRect l="17491" t="17119" r="16335" b="21969"/>
          <a:stretch>
            <a:fillRect/>
          </a:stretch>
        </p:blipFill>
        <p:spPr>
          <a:xfrm>
            <a:off x="7093585" y="1366635"/>
            <a:ext cx="4398645" cy="2121535"/>
          </a:xfrm>
          <a:prstGeom prst="rect">
            <a:avLst/>
          </a:prstGeom>
        </p:spPr>
      </p:pic>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11.3.3  基于SOA架构的软件开发方法</a:t>
            </a:r>
          </a:p>
        </p:txBody>
      </p:sp>
      <p:grpSp>
        <p:nvGrpSpPr>
          <p:cNvPr id="8" name="组合 7"/>
          <p:cNvGrpSpPr/>
          <p:nvPr/>
        </p:nvGrpSpPr>
        <p:grpSpPr>
          <a:xfrm>
            <a:off x="708529" y="2148395"/>
            <a:ext cx="11000740" cy="3992880"/>
            <a:chOff x="1840" y="2871"/>
            <a:chExt cx="17324" cy="6288"/>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582" y="3183"/>
              <a:ext cx="15582" cy="597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管理阶段</a:t>
              </a:r>
            </a:p>
            <a:p>
              <a:pPr indent="457200" fontAlgn="auto">
                <a:lnSpc>
                  <a:spcPct val="120000"/>
                </a:lnSpc>
              </a:pPr>
              <a:r>
                <a:rPr lang="zh-CN" altLang="en-US" dirty="0">
                  <a:solidFill>
                    <a:schemeClr val="tx1"/>
                  </a:solidFill>
                  <a:ea typeface="微软雅黑" panose="020B0503020204020204" charset="-122"/>
                </a:rPr>
                <a:t>这是一个长期的过程，在这个阶段中，可以监控并管理系统安全性，并做好系统的维护工作</a:t>
              </a:r>
              <a:r>
                <a:rPr lang="zh-CN" altLang="en-US" dirty="0" smtClean="0">
                  <a:solidFill>
                    <a:schemeClr val="tx1"/>
                  </a:solidFill>
                  <a:ea typeface="微软雅黑" panose="020B0503020204020204" charset="-122"/>
                </a:rPr>
                <a:t>。</a:t>
              </a:r>
              <a:endParaRPr lang="en-US" altLang="zh-CN" dirty="0" smtClean="0">
                <a:solidFill>
                  <a:schemeClr val="tx1"/>
                </a:solidFill>
                <a:ea typeface="微软雅黑" panose="020B0503020204020204" charset="-122"/>
              </a:endParaRPr>
            </a:p>
            <a:p>
              <a:pPr indent="457200">
                <a:lnSpc>
                  <a:spcPct val="150000"/>
                </a:lnSpc>
                <a:defRPr/>
              </a:pPr>
              <a:r>
                <a:rPr lang="en-US" altLang="zh-CN" kern="0" dirty="0" smtClean="0">
                  <a:latin typeface="微软雅黑" panose="020B0503020204020204" charset="-122"/>
                  <a:ea typeface="微软雅黑" panose="020B0503020204020204" charset="-122"/>
                  <a:cs typeface="宋体" panose="02010600030101010101" pitchFamily="2" charset="-122"/>
                  <a:sym typeface="+mn-ea"/>
                </a:rPr>
                <a:t> </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在实现SOA的技术中，目前Web</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 </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Service技术越来越流行</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。Web </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Service技术是建立在一系列成熟的标准和协议之上实现相关的功能</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其中，可扩展标记语言（XML）是Web</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 </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Service技术的基础</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服务提供者可以通过基于XML技术的网络服务描述语言（WSDL）描述Web服务，对提供的服务进行封装</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然后通过统一描述、发现和集成（UDDI）在互联网上发布该服务及相关信息</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Web服务的请求者通过基于HTTP（超文本传输协议</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互联网上应用最为广泛的一种网络协议的简单对象访问协议（SOAP）访问所需的服务</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endParaRPr lang="en-US" altLang="zh-CN" kern="0" dirty="0" smtClean="0">
                <a:latin typeface="微软雅黑" panose="020B0503020204020204" charset="-122"/>
                <a:ea typeface="微软雅黑" panose="020B0503020204020204" charset="-122"/>
                <a:cs typeface="宋体" panose="02010600030101010101" pitchFamily="2" charset="-122"/>
              </a:endParaRP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4</a:t>
              </a:r>
            </a:p>
          </p:txBody>
        </p:sp>
      </p:grpSp>
    </p:spTree>
  </p:cSld>
  <p:clrMapOvr>
    <a:masterClrMapping/>
  </p:clrMapOvr>
  <p:transition>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11.3  面向服务的架构技术</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11.3.3  基于SOA架构的软件开发方法</a:t>
            </a:r>
          </a:p>
        </p:txBody>
      </p:sp>
      <p:sp>
        <p:nvSpPr>
          <p:cNvPr id="8" name="MH_Other_1"/>
          <p:cNvSpPr/>
          <p:nvPr>
            <p:custDataLst>
              <p:tags r:id="rId1"/>
            </p:custDataLst>
          </p:nvPr>
        </p:nvSpPr>
        <p:spPr bwMode="auto">
          <a:xfrm>
            <a:off x="802640" y="1969135"/>
            <a:ext cx="11111856" cy="441706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2" name="文本框 1"/>
          <p:cNvSpPr txBox="1"/>
          <p:nvPr/>
        </p:nvSpPr>
        <p:spPr>
          <a:xfrm>
            <a:off x="986154" y="2174490"/>
            <a:ext cx="7243445" cy="2973122"/>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WCF（Windows Communication Foundation）是微软为了实现各个开发平台之间的无缝连接而开发的一种崭新工具，它从本质上来说是一套软件开发包，是微软公司推出的符合SOA思想的技术框架。</a:t>
            </a:r>
            <a:r>
              <a:rPr lang="zh-CN" altLang="en-US" b="1" dirty="0">
                <a:solidFill>
                  <a:srgbClr val="00B050"/>
                </a:solidFill>
                <a:latin typeface="微软雅黑" panose="020B0503020204020204" charset="-122"/>
                <a:ea typeface="微软雅黑" panose="020B0503020204020204" charset="-122"/>
              </a:rPr>
              <a:t>它使得开发者能够建立一个跨平台的安全、可信赖、事务性的解决方案，且能与已有系统兼容协作。</a:t>
            </a:r>
            <a:r>
              <a:rPr lang="zh-CN" altLang="en-US" dirty="0">
                <a:latin typeface="微软雅黑" panose="020B0503020204020204" charset="-122"/>
                <a:ea typeface="微软雅黑" panose="020B0503020204020204" charset="-122"/>
              </a:rPr>
              <a:t>WCF是微软分布式应用程序开发的集大成者，它整合了.Net平台下所有的和分布式系统有关的技术。微软将所有与此相关的技术要素都包含在内，掌握了WCF，就相当于掌握了叩开SOA大门的钥匙。</a:t>
            </a:r>
          </a:p>
        </p:txBody>
      </p:sp>
      <p:sp>
        <p:nvSpPr>
          <p:cNvPr id="4" name="文本框 3"/>
          <p:cNvSpPr txBox="1"/>
          <p:nvPr/>
        </p:nvSpPr>
        <p:spPr>
          <a:xfrm>
            <a:off x="986155" y="5226050"/>
            <a:ext cx="10013941" cy="1172629"/>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rPr>
              <a:t>       </a:t>
            </a:r>
            <a:r>
              <a:rPr lang="zh-CN" altLang="en-US" b="1" dirty="0">
                <a:solidFill>
                  <a:srgbClr val="00B050"/>
                </a:solidFill>
                <a:latin typeface="微软雅黑" panose="020B0503020204020204" charset="-122"/>
                <a:ea typeface="微软雅黑" panose="020B0503020204020204" charset="-122"/>
              </a:rPr>
              <a:t>Web服务中包含了用于应用程序间通信的标准协议，它在全球范围内的广泛采纳改变了软件开发。</a:t>
            </a:r>
            <a:r>
              <a:rPr lang="zh-CN" altLang="en-US" dirty="0">
                <a:latin typeface="微软雅黑" panose="020B0503020204020204" charset="-122"/>
                <a:ea typeface="微软雅黑" panose="020B0503020204020204" charset="-122"/>
              </a:rPr>
              <a:t>例如，如今Web服务提供的功能包括安全性、分布式事务协调和可靠的通信。Web服务所发生的这些改变的效益应反映在开发人员所使用的工具和技术方面。</a:t>
            </a:r>
          </a:p>
        </p:txBody>
      </p:sp>
      <p:pic>
        <p:nvPicPr>
          <p:cNvPr id="5" name="图片 4" descr="A000220150319H01PPIC"/>
          <p:cNvPicPr>
            <a:picLocks noChangeAspect="1"/>
          </p:cNvPicPr>
          <p:nvPr/>
        </p:nvPicPr>
        <p:blipFill>
          <a:blip r:embed="rId4" cstate="print"/>
          <a:stretch>
            <a:fillRect/>
          </a:stretch>
        </p:blipFill>
        <p:spPr>
          <a:xfrm>
            <a:off x="8498562" y="2497541"/>
            <a:ext cx="3282078" cy="2606722"/>
          </a:xfrm>
          <a:prstGeom prst="rect">
            <a:avLst/>
          </a:prstGeom>
        </p:spPr>
      </p:pic>
    </p:spTree>
  </p:cSld>
  <p:clrMapOvr>
    <a:masterClrMapping/>
  </p:clrMapOvr>
  <p:transition>
    <p:zo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云计算与软件开发</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云计算概述</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云计算的关键技术</a:t>
              </a:r>
            </a:p>
          </p:txBody>
        </p:sp>
      </p:grpSp>
      <p:grpSp>
        <p:nvGrpSpPr>
          <p:cNvPr id="3" name="组合 2"/>
          <p:cNvGrpSpPr/>
          <p:nvPr/>
        </p:nvGrpSpPr>
        <p:grpSpPr>
          <a:xfrm>
            <a:off x="6459855" y="525145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云计算平台与软件开发</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云计算与物联网</a:t>
              </a:r>
            </a:p>
          </p:txBody>
        </p:sp>
      </p:grpSp>
    </p:spTree>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endParaRPr lang="zh-CN" altLang="en-US" dirty="0">
              <a:solidFill>
                <a:srgbClr val="FF0000"/>
              </a:solidFill>
              <a:sym typeface="+mn-ea"/>
            </a:endParaRPr>
          </a:p>
        </p:txBody>
      </p:sp>
      <p:sp>
        <p:nvSpPr>
          <p:cNvPr id="8" name="文本框 7"/>
          <p:cNvSpPr txBox="1"/>
          <p:nvPr/>
        </p:nvSpPr>
        <p:spPr>
          <a:xfrm>
            <a:off x="4188264" y="1617121"/>
            <a:ext cx="7139371" cy="4228850"/>
          </a:xfrm>
          <a:prstGeom prst="rect">
            <a:avLst/>
          </a:prstGeom>
          <a:noFill/>
        </p:spPr>
        <p:txBody>
          <a:bodyPr wrap="square" rtlCol="0">
            <a:spAutoFit/>
          </a:bodyPr>
          <a:lstStyle/>
          <a:p>
            <a:pPr fontAlgn="auto">
              <a:lnSpc>
                <a:spcPct val="120000"/>
              </a:lnSpc>
            </a:pPr>
            <a:r>
              <a:rPr lang="en-US" altLang="zh-CN" sz="2800" dirty="0">
                <a:solidFill>
                  <a:schemeClr val="tx1"/>
                </a:solidFill>
                <a:latin typeface="楷体" panose="02010609060101010101" charset="-122"/>
                <a:ea typeface="楷体" panose="02010609060101010101" charset="-122"/>
              </a:rPr>
              <a:t>    </a:t>
            </a:r>
            <a:r>
              <a:rPr lang="zh-CN" altLang="en-US" sz="2800" dirty="0">
                <a:solidFill>
                  <a:schemeClr val="tx1"/>
                </a:solidFill>
                <a:latin typeface="楷体" panose="02010609060101010101" charset="-122"/>
                <a:ea typeface="楷体" panose="02010609060101010101" charset="-122"/>
              </a:rPr>
              <a:t>随着计算机技术和Internet的急速发展，Internet上的数据量高速增长，这导致Internet的数据处理能力相对不足。但是Internet上同样存在着大量处于闲置状态的计算机设备和存储资源，如果能将其聚合起来统一调度、提供服务，则可以大大提高其利用率，让更多的用户受益。这就是</a:t>
            </a:r>
            <a:r>
              <a:rPr lang="zh-CN" altLang="en-US" sz="2800" b="1" dirty="0">
                <a:solidFill>
                  <a:schemeClr val="tx1"/>
                </a:solidFill>
                <a:latin typeface="楷体" panose="02010609060101010101" charset="-122"/>
                <a:ea typeface="楷体" panose="02010609060101010101" charset="-122"/>
              </a:rPr>
              <a:t>云计算</a:t>
            </a:r>
            <a:r>
              <a:rPr lang="zh-CN" altLang="en-US" sz="2800" dirty="0">
                <a:solidFill>
                  <a:schemeClr val="tx1"/>
                </a:solidFill>
                <a:latin typeface="楷体" panose="02010609060101010101" charset="-122"/>
                <a:ea typeface="楷体" panose="02010609060101010101" charset="-122"/>
              </a:rPr>
              <a:t>的最初想法。</a:t>
            </a:r>
          </a:p>
        </p:txBody>
      </p:sp>
      <p:pic>
        <p:nvPicPr>
          <p:cNvPr id="11" name="图片 10" descr="A000220150318O84PPIC.png"/>
          <p:cNvPicPr>
            <a:picLocks noChangeAspect="1"/>
          </p:cNvPicPr>
          <p:nvPr/>
        </p:nvPicPr>
        <p:blipFill>
          <a:blip r:embed="rId3" cstate="print"/>
          <a:stretch>
            <a:fillRect/>
          </a:stretch>
        </p:blipFill>
        <p:spPr>
          <a:xfrm>
            <a:off x="878885" y="2341426"/>
            <a:ext cx="3214710" cy="2993724"/>
          </a:xfrm>
          <a:prstGeom prst="rect">
            <a:avLst/>
          </a:prstGeom>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11.4.1  云计算概述</a:t>
            </a:r>
          </a:p>
        </p:txBody>
      </p:sp>
      <p:grpSp>
        <p:nvGrpSpPr>
          <p:cNvPr id="4" name="组合 3"/>
          <p:cNvGrpSpPr/>
          <p:nvPr/>
        </p:nvGrpSpPr>
        <p:grpSpPr>
          <a:xfrm>
            <a:off x="802640" y="2173869"/>
            <a:ext cx="10156825" cy="3878316"/>
            <a:chOff x="2103" y="3376"/>
            <a:chExt cx="15995" cy="6589"/>
          </a:xfrm>
        </p:grpSpPr>
        <p:cxnSp>
          <p:nvCxnSpPr>
            <p:cNvPr id="11" name="MH_Other_1"/>
            <p:cNvCxnSpPr>
              <a:cxnSpLocks noChangeShapeType="1"/>
            </p:cNvCxnSpPr>
            <p:nvPr>
              <p:custDataLst>
                <p:tags r:id="rId1"/>
              </p:custDataLst>
            </p:nvPr>
          </p:nvCxnSpPr>
          <p:spPr bwMode="auto">
            <a:xfrm flipV="1">
              <a:off x="2103" y="9956"/>
              <a:ext cx="15971" cy="9"/>
            </a:xfrm>
            <a:prstGeom prst="line">
              <a:avLst/>
            </a:prstGeom>
            <a:noFill/>
            <a:ln w="66675">
              <a:solidFill>
                <a:srgbClr val="D69EA5"/>
              </a:solidFill>
              <a:round/>
            </a:ln>
          </p:spPr>
        </p:cxnSp>
        <p:sp>
          <p:nvSpPr>
            <p:cNvPr id="12" name="MH_Text_1"/>
            <p:cNvSpPr txBox="1">
              <a:spLocks noChangeArrowheads="1"/>
            </p:cNvSpPr>
            <p:nvPr>
              <p:custDataLst>
                <p:tags r:id="rId2"/>
              </p:custDataLst>
            </p:nvPr>
          </p:nvSpPr>
          <p:spPr bwMode="auto">
            <a:xfrm>
              <a:off x="2179" y="3735"/>
              <a:ext cx="10878" cy="51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indent="457200" fontAlgn="auto">
                <a:lnSpc>
                  <a:spcPct val="150000"/>
                </a:lnSpc>
                <a:spcBef>
                  <a:spcPts val="700"/>
                </a:spcBef>
                <a:buNone/>
              </a:pPr>
              <a:r>
                <a:rPr sz="1800" smtClean="0">
                  <a:latin typeface="微软雅黑" panose="020B0503020204020204" charset="-122"/>
                  <a:ea typeface="微软雅黑" panose="020B0503020204020204" charset="-122"/>
                </a:rPr>
                <a:t>“云计算”这个概念直接来源于Amazon（亚马逊）弹性计算云（Elastic Compute Cloud，EC2）产品和Google-IBM分布式计算项目。这两个项目中直接使用了“Cloud Computing”（云计算）这个概念。采用这样的描述，是因为这两个项目与网络的关系十分密切，而“云”的形象常常用来表示Internet。云计算的初始意思就是将计算能力放在Internet上。虽然它是2007年才出现的新名词，但是发展突飞猛进。诞生两年后，Amazon上的注册开发人员就突破44万，而且其中包括为数众多的企业级用户。</a:t>
              </a:r>
            </a:p>
          </p:txBody>
        </p:sp>
        <p:sp>
          <p:nvSpPr>
            <p:cNvPr id="13" name="MH_Other_2"/>
            <p:cNvSpPr>
              <a:spLocks noChangeArrowheads="1"/>
            </p:cNvSpPr>
            <p:nvPr>
              <p:custDataLst>
                <p:tags r:id="rId3"/>
              </p:custDataLst>
            </p:nvPr>
          </p:nvSpPr>
          <p:spPr bwMode="auto">
            <a:xfrm>
              <a:off x="13456" y="3376"/>
              <a:ext cx="4643" cy="919"/>
            </a:xfrm>
            <a:prstGeom prst="rect">
              <a:avLst/>
            </a:prstGeom>
            <a:solidFill>
              <a:srgbClr val="D69EA5"/>
            </a:solidFill>
            <a:ln w="9525">
              <a:noFill/>
              <a:miter lim="800000"/>
            </a:ln>
          </p:spPr>
          <p:txBody>
            <a:bodyPr anchor="ctr"/>
            <a:lstStyle/>
            <a:p>
              <a:pPr algn="ctr" eaLnBrk="1" hangingPunct="1">
                <a:buFont typeface="Arial" panose="020B0604020202020204" pitchFamily="34" charset="0"/>
                <a:buNone/>
              </a:pPr>
              <a:endParaRPr lang="zh-CN" altLang="zh-CN">
                <a:solidFill>
                  <a:srgbClr val="FFFFFF"/>
                </a:solidFill>
                <a:latin typeface="Arial" panose="020B0604020202020204" pitchFamily="34" charset="0"/>
                <a:ea typeface="宋体" panose="02010600030101010101" pitchFamily="2" charset="-122"/>
              </a:endParaRPr>
            </a:p>
          </p:txBody>
        </p:sp>
        <p:pic>
          <p:nvPicPr>
            <p:cNvPr id="6" name="图片 5" descr="图片1.jpg"/>
            <p:cNvPicPr>
              <a:picLocks noChangeAspect="1"/>
            </p:cNvPicPr>
            <p:nvPr/>
          </p:nvPicPr>
          <p:blipFill>
            <a:blip r:embed="rId6" cstate="print"/>
            <a:srcRect l="23687" r="12196"/>
            <a:stretch>
              <a:fillRect/>
            </a:stretch>
          </p:blipFill>
          <p:spPr>
            <a:xfrm>
              <a:off x="13455" y="4295"/>
              <a:ext cx="4619" cy="5089"/>
            </a:xfrm>
            <a:prstGeom prst="rect">
              <a:avLst/>
            </a:prstGeom>
          </p:spPr>
        </p:pic>
      </p:grpSp>
    </p:spTree>
  </p:cSld>
  <p:clrMapOvr>
    <a:masterClrMapping/>
  </p:clrMapOvr>
  <p:transition>
    <p:wedg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11.4.1  云计算概述</a:t>
            </a:r>
          </a:p>
        </p:txBody>
      </p:sp>
      <p:sp>
        <p:nvSpPr>
          <p:cNvPr id="34" name="MH_Desc_1"/>
          <p:cNvSpPr/>
          <p:nvPr>
            <p:custDataLst>
              <p:tags r:id="rId1"/>
            </p:custDataLst>
          </p:nvPr>
        </p:nvSpPr>
        <p:spPr>
          <a:xfrm>
            <a:off x="5040630" y="2338070"/>
            <a:ext cx="6574155" cy="32499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lang="en-US" altLang="zh-CN" dirty="0" smtClean="0">
              <a:solidFill>
                <a:schemeClr val="tx1"/>
              </a:solidFill>
              <a:latin typeface="微软雅黑" panose="020B0503020204020204" charset="-122"/>
              <a:ea typeface="微软雅黑" panose="020B0503020204020204" charset="-122"/>
            </a:endParaRPr>
          </a:p>
          <a:p>
            <a:pPr indent="457200">
              <a:lnSpc>
                <a:spcPct val="120000"/>
              </a:lnSpc>
            </a:pPr>
            <a:endParaRPr lang="en-US" altLang="zh-CN" dirty="0" smtClean="0">
              <a:solidFill>
                <a:schemeClr val="tx1"/>
              </a:solidFill>
              <a:latin typeface="微软雅黑" panose="020B0503020204020204" charset="-122"/>
              <a:ea typeface="微软雅黑" panose="020B0503020204020204" charset="-122"/>
            </a:endParaRPr>
          </a:p>
          <a:p>
            <a:pPr indent="457200" fontAlgn="auto">
              <a:lnSpc>
                <a:spcPct val="130000"/>
              </a:lnSpc>
            </a:pPr>
            <a:r>
              <a:rPr lang="zh-CN" altLang="en-US" b="1" dirty="0" smtClean="0">
                <a:solidFill>
                  <a:srgbClr val="00B050"/>
                </a:solidFill>
                <a:latin typeface="微软雅黑" panose="020B0503020204020204" charset="-122"/>
                <a:ea typeface="微软雅黑" panose="020B0503020204020204" charset="-122"/>
              </a:rPr>
              <a:t>云计算是一种基于互联网的计算方式，通过这种方式，共享的软硬件资源和信息可以按需提供给计算机和其他设备。</a:t>
            </a:r>
            <a:r>
              <a:rPr lang="zh-CN" altLang="en-US" dirty="0" smtClean="0">
                <a:solidFill>
                  <a:schemeClr val="tx1"/>
                </a:solidFill>
                <a:latin typeface="微软雅黑" panose="020B0503020204020204" charset="-122"/>
                <a:ea typeface="微软雅黑" panose="020B0503020204020204" charset="-122"/>
              </a:rPr>
              <a:t>云其实是网络、互联网的一种比喻说法。云计算的核心思想是将大量用网络连接的计算资源统一管理和调度，构成一个计算资源池向用户按需服务。提供资源的网络被称为“云”。</a:t>
            </a:r>
            <a:r>
              <a:rPr lang="zh-CN" altLang="en-US" b="1" dirty="0" smtClean="0">
                <a:solidFill>
                  <a:srgbClr val="00B050"/>
                </a:solidFill>
                <a:latin typeface="微软雅黑" panose="020B0503020204020204" charset="-122"/>
                <a:ea typeface="微软雅黑" panose="020B0503020204020204" charset="-122"/>
              </a:rPr>
              <a:t>狭义云计算是指IT基础设施的交付和使用模式，指通过网络以按需、易扩展的方式获得所需资源；广义云计算是指服务的交付和使用模式，指通过网络以按需、易扩展的方式获得所需服务。</a:t>
            </a:r>
            <a:r>
              <a:rPr lang="zh-CN" altLang="en-US" dirty="0" smtClean="0">
                <a:solidFill>
                  <a:schemeClr val="tx1"/>
                </a:solidFill>
                <a:latin typeface="微软雅黑" panose="020B0503020204020204" charset="-122"/>
                <a:ea typeface="微软雅黑" panose="020B0503020204020204" charset="-122"/>
              </a:rPr>
              <a:t>这种服务可以是IT和软件、互联网相关，也可是其他服务。</a:t>
            </a:r>
          </a:p>
          <a:p>
            <a:pPr indent="457200">
              <a:lnSpc>
                <a:spcPct val="120000"/>
              </a:lnSpc>
            </a:pPr>
            <a:endParaRPr lang="zh-CN" altLang="en-US" dirty="0" smtClean="0">
              <a:solidFill>
                <a:schemeClr val="tx1"/>
              </a:solidFill>
              <a:latin typeface="微软雅黑" panose="020B0503020204020204" charset="-122"/>
              <a:ea typeface="微软雅黑" panose="020B0503020204020204" charset="-122"/>
            </a:endParaRPr>
          </a:p>
          <a:p>
            <a:pPr indent="457200">
              <a:lnSpc>
                <a:spcPct val="120000"/>
              </a:lnSpc>
            </a:pPr>
            <a:endParaRPr lang="zh-CN" altLang="en-US" dirty="0" smtClean="0">
              <a:solidFill>
                <a:schemeClr val="tx1"/>
              </a:solidFill>
              <a:latin typeface="微软雅黑" panose="020B0503020204020204" charset="-122"/>
              <a:ea typeface="微软雅黑" panose="020B0503020204020204" charset="-122"/>
            </a:endParaRPr>
          </a:p>
        </p:txBody>
      </p:sp>
      <p:pic>
        <p:nvPicPr>
          <p:cNvPr id="2" name="图片 1" descr="timg"/>
          <p:cNvPicPr>
            <a:picLocks noChangeAspect="1"/>
          </p:cNvPicPr>
          <p:nvPr/>
        </p:nvPicPr>
        <p:blipFill>
          <a:blip r:embed="rId4" cstate="print"/>
          <a:stretch>
            <a:fillRect/>
          </a:stretch>
        </p:blipFill>
        <p:spPr>
          <a:xfrm>
            <a:off x="-17145" y="2338070"/>
            <a:ext cx="4903470" cy="3249930"/>
          </a:xfrm>
          <a:prstGeom prst="rect">
            <a:avLst/>
          </a:prstGeom>
        </p:spPr>
      </p:pic>
    </p:spTree>
  </p:cSld>
  <p:clrMapOvr>
    <a:masterClrMapping/>
  </p:clrMapOvr>
  <p:transition>
    <p:wedg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11.4.1  云计算概述</a:t>
            </a:r>
          </a:p>
        </p:txBody>
      </p:sp>
      <p:sp>
        <p:nvSpPr>
          <p:cNvPr id="9" name="矩形 8"/>
          <p:cNvSpPr/>
          <p:nvPr/>
        </p:nvSpPr>
        <p:spPr>
          <a:xfrm>
            <a:off x="518615" y="2351387"/>
            <a:ext cx="6441743" cy="3248838"/>
          </a:xfrm>
          <a:prstGeom prst="rect">
            <a:avLst/>
          </a:prstGeom>
          <a:solidFill>
            <a:schemeClr val="accent4">
              <a:lumMod val="20000"/>
              <a:lumOff val="80000"/>
              <a:alpha val="70000"/>
            </a:schemeClr>
          </a:solidFill>
        </p:spPr>
        <p:txBody>
          <a:bodyPr wrap="square">
            <a:spAutoFit/>
          </a:bodyPr>
          <a:lstStyle/>
          <a:p>
            <a:pPr indent="457200">
              <a:lnSpc>
                <a:spcPct val="130000"/>
              </a:lnSpc>
            </a:pPr>
            <a:r>
              <a:rPr lang="zh-CN" altLang="en-US" sz="2000" dirty="0" smtClean="0"/>
              <a:t>从这个定义中可以看出，云计算将网络上分布的计算、存储、服务构件和网络软件等各种资源集中起来，基于资源虚拟化的方式，为用户提供方便快捷的服务。它可以实现计算与存储的分布式与并行处理。如果把“云”视为一个虚拟化的资源池，云计算就是这个资源池基于网络平台为用户提供的各类服务。Internet是最大的一片“云”，其上的各种计算机资源共同组成了若干个庞大的数据中心和计算中心。</a:t>
            </a:r>
          </a:p>
        </p:txBody>
      </p:sp>
      <p:pic>
        <p:nvPicPr>
          <p:cNvPr id="6" name="图片 5" descr="timg (5)"/>
          <p:cNvPicPr>
            <a:picLocks noChangeAspect="1"/>
          </p:cNvPicPr>
          <p:nvPr/>
        </p:nvPicPr>
        <p:blipFill>
          <a:blip r:embed="rId3" cstate="print"/>
          <a:stretch>
            <a:fillRect/>
          </a:stretch>
        </p:blipFill>
        <p:spPr>
          <a:xfrm>
            <a:off x="6968143" y="2382463"/>
            <a:ext cx="4904130" cy="3226767"/>
          </a:xfrm>
          <a:prstGeom prst="rect">
            <a:avLst/>
          </a:prstGeom>
        </p:spPr>
      </p:pic>
    </p:spTree>
  </p:cSld>
  <p:clrMapOvr>
    <a:masterClrMapping/>
  </p:clrMapOvr>
  <p:transition>
    <p:wedg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11.4.1  云计算概述</a:t>
            </a:r>
          </a:p>
        </p:txBody>
      </p:sp>
      <p:sp>
        <p:nvSpPr>
          <p:cNvPr id="5" name="MH_Text_1"/>
          <p:cNvSpPr/>
          <p:nvPr>
            <p:custDataLst>
              <p:tags r:id="rId1"/>
            </p:custDataLst>
          </p:nvPr>
        </p:nvSpPr>
        <p:spPr>
          <a:xfrm>
            <a:off x="1064525" y="2879677"/>
            <a:ext cx="3002508" cy="271900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云计算实质上是一种商业计算模型，它将计算任务分布在大量计算机构成的资源池上，使用户能够按需获取计算能力、存储空间和信息服务。云计算的概念描述如图11-3所示。</a:t>
            </a:r>
          </a:p>
        </p:txBody>
      </p:sp>
      <p:sp>
        <p:nvSpPr>
          <p:cNvPr id="154646"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54625" name="组合 12908"/>
          <p:cNvGrpSpPr>
            <a:grpSpLocks/>
          </p:cNvGrpSpPr>
          <p:nvPr/>
        </p:nvGrpSpPr>
        <p:grpSpPr bwMode="auto">
          <a:xfrm>
            <a:off x="4844953" y="1337481"/>
            <a:ext cx="5609231" cy="4872250"/>
            <a:chOff x="2969" y="2530"/>
            <a:chExt cx="5014" cy="5972"/>
          </a:xfrm>
        </p:grpSpPr>
        <p:pic>
          <p:nvPicPr>
            <p:cNvPr id="154645" name="Picture 5" descr="j0235319"/>
            <p:cNvPicPr>
              <a:picLocks noChangeAspect="1" noChangeArrowheads="1"/>
            </p:cNvPicPr>
            <p:nvPr/>
          </p:nvPicPr>
          <p:blipFill>
            <a:blip r:embed="rId4" cstate="print">
              <a:lum bright="-10000"/>
              <a:grayscl/>
            </a:blip>
            <a:srcRect/>
            <a:stretch>
              <a:fillRect/>
            </a:stretch>
          </p:blipFill>
          <p:spPr bwMode="auto">
            <a:xfrm>
              <a:off x="4916" y="2530"/>
              <a:ext cx="986" cy="1005"/>
            </a:xfrm>
            <a:prstGeom prst="rect">
              <a:avLst/>
            </a:prstGeom>
            <a:noFill/>
          </p:spPr>
        </p:pic>
        <p:pic>
          <p:nvPicPr>
            <p:cNvPr id="154644" name="Picture 6" descr="j0205462"/>
            <p:cNvPicPr>
              <a:picLocks noChangeAspect="1" noChangeArrowheads="1"/>
            </p:cNvPicPr>
            <p:nvPr/>
          </p:nvPicPr>
          <p:blipFill>
            <a:blip r:embed="rId5" cstate="print">
              <a:lum bright="-10000"/>
              <a:grayscl/>
            </a:blip>
            <a:srcRect/>
            <a:stretch>
              <a:fillRect/>
            </a:stretch>
          </p:blipFill>
          <p:spPr bwMode="auto">
            <a:xfrm>
              <a:off x="3630" y="2545"/>
              <a:ext cx="1015" cy="1011"/>
            </a:xfrm>
            <a:prstGeom prst="rect">
              <a:avLst/>
            </a:prstGeom>
            <a:noFill/>
          </p:spPr>
        </p:pic>
        <p:pic>
          <p:nvPicPr>
            <p:cNvPr id="154643" name="Picture 7" descr="lgi01e201402011400[1]"/>
            <p:cNvPicPr>
              <a:picLocks noChangeAspect="1" noChangeArrowheads="1"/>
            </p:cNvPicPr>
            <p:nvPr/>
          </p:nvPicPr>
          <p:blipFill>
            <a:blip r:embed="rId6" cstate="print">
              <a:grayscl/>
            </a:blip>
            <a:srcRect/>
            <a:stretch>
              <a:fillRect/>
            </a:stretch>
          </p:blipFill>
          <p:spPr bwMode="auto">
            <a:xfrm>
              <a:off x="6669" y="2645"/>
              <a:ext cx="377" cy="803"/>
            </a:xfrm>
            <a:prstGeom prst="rect">
              <a:avLst/>
            </a:prstGeom>
            <a:noFill/>
          </p:spPr>
        </p:pic>
        <p:pic>
          <p:nvPicPr>
            <p:cNvPr id="154642" name="Picture 8" descr="lgi01f201402011400[1]"/>
            <p:cNvPicPr>
              <a:picLocks noChangeAspect="1" noChangeArrowheads="1"/>
            </p:cNvPicPr>
            <p:nvPr/>
          </p:nvPicPr>
          <p:blipFill>
            <a:blip r:embed="rId7" cstate="print">
              <a:grayscl/>
            </a:blip>
            <a:srcRect/>
            <a:stretch>
              <a:fillRect/>
            </a:stretch>
          </p:blipFill>
          <p:spPr bwMode="auto">
            <a:xfrm>
              <a:off x="6294" y="2638"/>
              <a:ext cx="375" cy="810"/>
            </a:xfrm>
            <a:prstGeom prst="rect">
              <a:avLst/>
            </a:prstGeom>
            <a:noFill/>
          </p:spPr>
        </p:pic>
        <p:sp>
          <p:nvSpPr>
            <p:cNvPr id="154641" name="Text Box 9"/>
            <p:cNvSpPr txBox="1">
              <a:spLocks noChangeArrowheads="1"/>
            </p:cNvSpPr>
            <p:nvPr/>
          </p:nvSpPr>
          <p:spPr bwMode="auto">
            <a:xfrm>
              <a:off x="3857" y="3612"/>
              <a:ext cx="3115"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各类用户：企业</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政府</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学术机构</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个人等</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54640" name="Text Box 10"/>
            <p:cNvSpPr txBox="1">
              <a:spLocks noChangeArrowheads="1"/>
            </p:cNvSpPr>
            <p:nvPr/>
          </p:nvSpPr>
          <p:spPr bwMode="auto">
            <a:xfrm>
              <a:off x="4838" y="5060"/>
              <a:ext cx="1186"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各种终端设备</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54639" name="Text Box 11"/>
            <p:cNvSpPr txBox="1">
              <a:spLocks noChangeArrowheads="1"/>
            </p:cNvSpPr>
            <p:nvPr/>
          </p:nvSpPr>
          <p:spPr bwMode="auto">
            <a:xfrm>
              <a:off x="4056" y="5510"/>
              <a:ext cx="2749" cy="397"/>
            </a:xfrm>
            <a:prstGeom prst="rect">
              <a:avLst/>
            </a:prstGeom>
            <a:noFill/>
            <a:ln w="9525">
              <a:solidFill>
                <a:srgbClr val="000000"/>
              </a:solidFill>
              <a:miter lim="2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按需供给：按量计费的商业模型</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54638" name="AutoShape 15"/>
            <p:cNvSpPr>
              <a:spLocks noChangeArrowheads="1"/>
            </p:cNvSpPr>
            <p:nvPr/>
          </p:nvSpPr>
          <p:spPr bwMode="auto">
            <a:xfrm>
              <a:off x="4688" y="6709"/>
              <a:ext cx="1573" cy="590"/>
            </a:xfrm>
            <a:prstGeom prst="cloudCallout">
              <a:avLst>
                <a:gd name="adj1" fmla="val -43454"/>
                <a:gd name="adj2" fmla="val 100338"/>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私有云</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pic>
          <p:nvPicPr>
            <p:cNvPr id="154637" name="Picture 17" descr="iphone-5s-mockup[1]"/>
            <p:cNvPicPr>
              <a:picLocks noChangeAspect="1" noChangeArrowheads="1"/>
            </p:cNvPicPr>
            <p:nvPr/>
          </p:nvPicPr>
          <p:blipFill>
            <a:blip r:embed="rId8" cstate="print">
              <a:grayscl/>
            </a:blip>
            <a:srcRect/>
            <a:stretch>
              <a:fillRect/>
            </a:stretch>
          </p:blipFill>
          <p:spPr bwMode="auto">
            <a:xfrm>
              <a:off x="6564" y="4071"/>
              <a:ext cx="1419" cy="832"/>
            </a:xfrm>
            <a:prstGeom prst="rect">
              <a:avLst/>
            </a:prstGeom>
            <a:noFill/>
          </p:spPr>
        </p:pic>
        <p:pic>
          <p:nvPicPr>
            <p:cNvPr id="154636" name="Picture 18" descr="windows[1]"/>
            <p:cNvPicPr>
              <a:picLocks noChangeAspect="1" noChangeArrowheads="1"/>
            </p:cNvPicPr>
            <p:nvPr/>
          </p:nvPicPr>
          <p:blipFill>
            <a:blip r:embed="rId9" cstate="print">
              <a:grayscl/>
            </a:blip>
            <a:srcRect l="15791" t="6570" r="11485"/>
            <a:stretch>
              <a:fillRect/>
            </a:stretch>
          </p:blipFill>
          <p:spPr bwMode="auto">
            <a:xfrm>
              <a:off x="5408" y="4033"/>
              <a:ext cx="913" cy="938"/>
            </a:xfrm>
            <a:prstGeom prst="rect">
              <a:avLst/>
            </a:prstGeom>
            <a:noFill/>
          </p:spPr>
        </p:pic>
        <p:sp>
          <p:nvSpPr>
            <p:cNvPr id="154635" name="computr1"/>
            <p:cNvSpPr>
              <a:spLocks noChangeArrowheads="1"/>
            </p:cNvSpPr>
            <p:nvPr/>
          </p:nvSpPr>
          <p:spPr bwMode="auto">
            <a:xfrm>
              <a:off x="4245" y="4116"/>
              <a:ext cx="864" cy="787"/>
            </a:xfrm>
            <a:custGeom>
              <a:avLst/>
              <a:gdLst>
                <a:gd name="T0" fmla="*/ 4923 w 21600"/>
                <a:gd name="T1" fmla="*/ 2541 h 21600"/>
                <a:gd name="T2" fmla="*/ 16756 w 21600"/>
                <a:gd name="T3" fmla="*/ 11153 h 21600"/>
              </a:gdLst>
              <a:ahLst/>
              <a:cxnLst>
                <a:cxn ang="0">
                  <a:pos x="16994" y="15388"/>
                </a:cxn>
                <a:cxn ang="0">
                  <a:pos x="16994" y="13553"/>
                </a:cxn>
                <a:cxn ang="0">
                  <a:pos x="19535" y="13553"/>
                </a:cxn>
                <a:cxn ang="0">
                  <a:pos x="19535" y="10729"/>
                </a:cxn>
                <a:cxn ang="0">
                  <a:pos x="19535" y="6776"/>
                </a:cxn>
                <a:cxn ang="0">
                  <a:pos x="19535" y="0"/>
                </a:cxn>
                <a:cxn ang="0">
                  <a:pos x="10800" y="0"/>
                </a:cxn>
                <a:cxn ang="0">
                  <a:pos x="2065" y="0"/>
                </a:cxn>
                <a:cxn ang="0">
                  <a:pos x="2065" y="6776"/>
                </a:cxn>
                <a:cxn ang="0">
                  <a:pos x="2065" y="10729"/>
                </a:cxn>
                <a:cxn ang="0">
                  <a:pos x="2065" y="13553"/>
                </a:cxn>
                <a:cxn ang="0">
                  <a:pos x="4606" y="13553"/>
                </a:cxn>
                <a:cxn ang="0">
                  <a:pos x="4606" y="15388"/>
                </a:cxn>
                <a:cxn ang="0">
                  <a:pos x="0" y="15388"/>
                </a:cxn>
                <a:cxn ang="0">
                  <a:pos x="0" y="21600"/>
                </a:cxn>
                <a:cxn ang="0">
                  <a:pos x="10800" y="21600"/>
                </a:cxn>
                <a:cxn ang="0">
                  <a:pos x="21600" y="21600"/>
                </a:cxn>
                <a:cxn ang="0">
                  <a:pos x="21600" y="15388"/>
                </a:cxn>
                <a:cxn ang="0">
                  <a:pos x="16994" y="15388"/>
                </a:cxn>
                <a:cxn ang="0">
                  <a:pos x="4606" y="15388"/>
                </a:cxn>
                <a:cxn ang="0">
                  <a:pos x="4606" y="13553"/>
                </a:cxn>
                <a:cxn ang="0">
                  <a:pos x="16994" y="13553"/>
                </a:cxn>
                <a:cxn ang="0">
                  <a:pos x="16994" y="15388"/>
                </a:cxn>
                <a:cxn ang="0">
                  <a:pos x="4606" y="15388"/>
                </a:cxn>
                <a:cxn ang="0">
                  <a:pos x="4606" y="11294"/>
                </a:cxn>
                <a:cxn ang="0">
                  <a:pos x="4606" y="2259"/>
                </a:cxn>
                <a:cxn ang="0">
                  <a:pos x="16994" y="2259"/>
                </a:cxn>
                <a:cxn ang="0">
                  <a:pos x="16994" y="11294"/>
                </a:cxn>
                <a:cxn ang="0">
                  <a:pos x="4606" y="11294"/>
                </a:cxn>
                <a:cxn ang="0">
                  <a:pos x="13976" y="17082"/>
                </a:cxn>
                <a:cxn ang="0">
                  <a:pos x="13976" y="16376"/>
                </a:cxn>
                <a:cxn ang="0">
                  <a:pos x="20171" y="16376"/>
                </a:cxn>
                <a:cxn ang="0">
                  <a:pos x="20171" y="17082"/>
                </a:cxn>
                <a:cxn ang="0">
                  <a:pos x="13976" y="17082"/>
                </a:cxn>
              </a:cxnLst>
              <a:rect l="T0" t="T1" r="T2" b="T3"/>
              <a:pathLst>
                <a:path w="21600" h="2160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a:moveTo>
                    <a:pt x="4606" y="15388"/>
                  </a:moveTo>
                  <a:lnTo>
                    <a:pt x="4606" y="13553"/>
                  </a:lnTo>
                  <a:lnTo>
                    <a:pt x="16994" y="13553"/>
                  </a:lnTo>
                  <a:lnTo>
                    <a:pt x="16994" y="15388"/>
                  </a:lnTo>
                  <a:lnTo>
                    <a:pt x="4606" y="15388"/>
                  </a:lnTo>
                </a:path>
                <a:path w="21600" h="2160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34" name="mainfrm"/>
            <p:cNvSpPr>
              <a:spLocks noChangeArrowheads="1"/>
            </p:cNvSpPr>
            <p:nvPr/>
          </p:nvSpPr>
          <p:spPr bwMode="auto">
            <a:xfrm>
              <a:off x="2969" y="4131"/>
              <a:ext cx="1049" cy="772"/>
            </a:xfrm>
            <a:custGeom>
              <a:avLst/>
              <a:gdLst>
                <a:gd name="T0" fmla="*/ 332 w 21600"/>
                <a:gd name="T1" fmla="*/ 22174 h 21600"/>
                <a:gd name="T2" fmla="*/ 21579 w 21600"/>
                <a:gd name="T3" fmla="*/ 27914 h 21600"/>
              </a:gdLst>
              <a:ahLst/>
              <a:cxnLst>
                <a:cxn ang="0">
                  <a:pos x="0" y="0"/>
                </a:cxn>
                <a:cxn ang="0">
                  <a:pos x="1163" y="21600"/>
                </a:cxn>
                <a:cxn ang="0">
                  <a:pos x="21600" y="19729"/>
                </a:cxn>
                <a:cxn ang="0">
                  <a:pos x="16449" y="19729"/>
                </a:cxn>
                <a:cxn ang="0">
                  <a:pos x="2160" y="2381"/>
                </a:cxn>
                <a:cxn ang="0">
                  <a:pos x="1495" y="3402"/>
                </a:cxn>
                <a:cxn ang="0">
                  <a:pos x="1495" y="3402"/>
                </a:cxn>
                <a:cxn ang="0">
                  <a:pos x="5982" y="4422"/>
                </a:cxn>
                <a:cxn ang="0">
                  <a:pos x="4985" y="5443"/>
                </a:cxn>
                <a:cxn ang="0">
                  <a:pos x="2160" y="6463"/>
                </a:cxn>
                <a:cxn ang="0">
                  <a:pos x="1495" y="7483"/>
                </a:cxn>
                <a:cxn ang="0">
                  <a:pos x="1495" y="7483"/>
                </a:cxn>
                <a:cxn ang="0">
                  <a:pos x="5982" y="8504"/>
                </a:cxn>
                <a:cxn ang="0">
                  <a:pos x="4985" y="9524"/>
                </a:cxn>
                <a:cxn ang="0">
                  <a:pos x="2160" y="10545"/>
                </a:cxn>
                <a:cxn ang="0">
                  <a:pos x="1495" y="11565"/>
                </a:cxn>
                <a:cxn ang="0">
                  <a:pos x="1495" y="11565"/>
                </a:cxn>
                <a:cxn ang="0">
                  <a:pos x="5982" y="12586"/>
                </a:cxn>
                <a:cxn ang="0">
                  <a:pos x="4985" y="13606"/>
                </a:cxn>
                <a:cxn ang="0">
                  <a:pos x="2160" y="14627"/>
                </a:cxn>
                <a:cxn ang="0">
                  <a:pos x="1495" y="15647"/>
                </a:cxn>
                <a:cxn ang="0">
                  <a:pos x="1495" y="15647"/>
                </a:cxn>
                <a:cxn ang="0">
                  <a:pos x="5982" y="16668"/>
                </a:cxn>
                <a:cxn ang="0">
                  <a:pos x="4985" y="17688"/>
                </a:cxn>
                <a:cxn ang="0">
                  <a:pos x="1994" y="20069"/>
                </a:cxn>
                <a:cxn ang="0">
                  <a:pos x="2658" y="19729"/>
                </a:cxn>
                <a:cxn ang="0">
                  <a:pos x="2658" y="19729"/>
                </a:cxn>
                <a:cxn ang="0">
                  <a:pos x="3489" y="21600"/>
                </a:cxn>
                <a:cxn ang="0">
                  <a:pos x="4320" y="21260"/>
                </a:cxn>
                <a:cxn ang="0">
                  <a:pos x="5151" y="20069"/>
                </a:cxn>
                <a:cxn ang="0">
                  <a:pos x="5982" y="19729"/>
                </a:cxn>
                <a:cxn ang="0">
                  <a:pos x="5982" y="19729"/>
                </a:cxn>
                <a:cxn ang="0">
                  <a:pos x="6812" y="21600"/>
                </a:cxn>
                <a:cxn ang="0">
                  <a:pos x="7643" y="21260"/>
                </a:cxn>
                <a:cxn ang="0">
                  <a:pos x="8474" y="20069"/>
                </a:cxn>
                <a:cxn ang="0">
                  <a:pos x="9305" y="19729"/>
                </a:cxn>
                <a:cxn ang="0">
                  <a:pos x="9305" y="19729"/>
                </a:cxn>
                <a:cxn ang="0">
                  <a:pos x="10135" y="21600"/>
                </a:cxn>
                <a:cxn ang="0">
                  <a:pos x="10966" y="21260"/>
                </a:cxn>
                <a:cxn ang="0">
                  <a:pos x="11797" y="20069"/>
                </a:cxn>
                <a:cxn ang="0">
                  <a:pos x="12462" y="19729"/>
                </a:cxn>
                <a:cxn ang="0">
                  <a:pos x="12462" y="19729"/>
                </a:cxn>
                <a:cxn ang="0">
                  <a:pos x="13292" y="21600"/>
                </a:cxn>
                <a:cxn ang="0">
                  <a:pos x="14123" y="21260"/>
                </a:cxn>
                <a:cxn ang="0">
                  <a:pos x="14954" y="20069"/>
                </a:cxn>
                <a:cxn ang="0">
                  <a:pos x="15785" y="19729"/>
                </a:cxn>
                <a:cxn ang="0">
                  <a:pos x="15785" y="19729"/>
                </a:cxn>
                <a:cxn ang="0">
                  <a:pos x="16615" y="21600"/>
                </a:cxn>
                <a:cxn ang="0">
                  <a:pos x="17446" y="21260"/>
                </a:cxn>
                <a:cxn ang="0">
                  <a:pos x="18277" y="20069"/>
                </a:cxn>
                <a:cxn ang="0">
                  <a:pos x="19108" y="19729"/>
                </a:cxn>
                <a:cxn ang="0">
                  <a:pos x="19108" y="19729"/>
                </a:cxn>
                <a:cxn ang="0">
                  <a:pos x="19938" y="21600"/>
                </a:cxn>
                <a:cxn ang="0">
                  <a:pos x="5982" y="18539"/>
                </a:cxn>
                <a:cxn ang="0">
                  <a:pos x="7975" y="1531"/>
                </a:cxn>
                <a:cxn ang="0">
                  <a:pos x="7145" y="9865"/>
                </a:cxn>
                <a:cxn ang="0">
                  <a:pos x="7145" y="9865"/>
                </a:cxn>
                <a:cxn ang="0">
                  <a:pos x="8972" y="5443"/>
                </a:cxn>
                <a:cxn ang="0">
                  <a:pos x="20271" y="5443"/>
                </a:cxn>
                <a:cxn ang="0">
                  <a:pos x="20437" y="6463"/>
                </a:cxn>
              </a:cxnLst>
              <a:rect l="T0" t="T1" r="T2" b="T3"/>
              <a:pathLst>
                <a:path w="21600" h="2160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33" name="monitor"/>
            <p:cNvSpPr>
              <a:spLocks noChangeArrowheads="1"/>
            </p:cNvSpPr>
            <p:nvPr/>
          </p:nvSpPr>
          <p:spPr bwMode="auto">
            <a:xfrm>
              <a:off x="4290" y="7986"/>
              <a:ext cx="409" cy="516"/>
            </a:xfrm>
            <a:custGeom>
              <a:avLst/>
              <a:gdLst>
                <a:gd name="T0" fmla="*/ 1204 w 21600"/>
                <a:gd name="T1" fmla="*/ 22548 h 21600"/>
                <a:gd name="T2" fmla="*/ 20706 w 21600"/>
                <a:gd name="T3" fmla="*/ 28386 h 21600"/>
              </a:gdLst>
              <a:ahLst/>
              <a:cxnLst>
                <a:cxn ang="0">
                  <a:pos x="6837" y="21600"/>
                </a:cxn>
                <a:cxn ang="0">
                  <a:pos x="3108" y="19849"/>
                </a:cxn>
                <a:cxn ang="0">
                  <a:pos x="3108" y="17659"/>
                </a:cxn>
                <a:cxn ang="0">
                  <a:pos x="0" y="15178"/>
                </a:cxn>
                <a:cxn ang="0">
                  <a:pos x="0" y="10508"/>
                </a:cxn>
                <a:cxn ang="0">
                  <a:pos x="0" y="3941"/>
                </a:cxn>
                <a:cxn ang="0">
                  <a:pos x="8081" y="1168"/>
                </a:cxn>
                <a:cxn ang="0">
                  <a:pos x="10722" y="1605"/>
                </a:cxn>
                <a:cxn ang="0">
                  <a:pos x="12587" y="1751"/>
                </a:cxn>
                <a:cxn ang="0">
                  <a:pos x="17871" y="0"/>
                </a:cxn>
                <a:cxn ang="0">
                  <a:pos x="21600" y="1751"/>
                </a:cxn>
                <a:cxn ang="0">
                  <a:pos x="21600" y="10508"/>
                </a:cxn>
                <a:cxn ang="0">
                  <a:pos x="21600" y="16346"/>
                </a:cxn>
                <a:cxn ang="0">
                  <a:pos x="10722" y="20286"/>
                </a:cxn>
                <a:cxn ang="0">
                  <a:pos x="6837" y="21600"/>
                </a:cxn>
                <a:cxn ang="0">
                  <a:pos x="3108" y="5254"/>
                </a:cxn>
                <a:cxn ang="0">
                  <a:pos x="2642" y="4962"/>
                </a:cxn>
                <a:cxn ang="0">
                  <a:pos x="777" y="4232"/>
                </a:cxn>
                <a:cxn ang="0">
                  <a:pos x="155" y="3941"/>
                </a:cxn>
                <a:cxn ang="0">
                  <a:pos x="6837" y="7005"/>
                </a:cxn>
                <a:cxn ang="0">
                  <a:pos x="6216" y="6714"/>
                </a:cxn>
                <a:cxn ang="0">
                  <a:pos x="3885" y="5546"/>
                </a:cxn>
                <a:cxn ang="0">
                  <a:pos x="3108" y="5254"/>
                </a:cxn>
                <a:cxn ang="0">
                  <a:pos x="19735" y="14595"/>
                </a:cxn>
                <a:cxn ang="0">
                  <a:pos x="19735" y="4816"/>
                </a:cxn>
                <a:cxn ang="0">
                  <a:pos x="9790" y="8319"/>
                </a:cxn>
                <a:cxn ang="0">
                  <a:pos x="9790" y="18243"/>
                </a:cxn>
                <a:cxn ang="0">
                  <a:pos x="19735" y="14595"/>
                </a:cxn>
                <a:cxn ang="0">
                  <a:pos x="3108" y="17659"/>
                </a:cxn>
                <a:cxn ang="0">
                  <a:pos x="3108" y="5254"/>
                </a:cxn>
                <a:cxn ang="0">
                  <a:pos x="12742" y="1751"/>
                </a:cxn>
                <a:cxn ang="0">
                  <a:pos x="21600" y="1751"/>
                </a:cxn>
                <a:cxn ang="0">
                  <a:pos x="6837" y="7005"/>
                </a:cxn>
                <a:cxn ang="0">
                  <a:pos x="6837" y="21600"/>
                </a:cxn>
              </a:cxnLst>
              <a:rect l="T0" t="T1" r="T2" b="T3"/>
              <a:pathLst>
                <a:path w="21600" h="21600">
                  <a:moveTo>
                    <a:pt x="6837" y="21600"/>
                  </a:moveTo>
                  <a:lnTo>
                    <a:pt x="3108" y="19849"/>
                  </a:lnTo>
                  <a:lnTo>
                    <a:pt x="3108" y="17659"/>
                  </a:lnTo>
                  <a:lnTo>
                    <a:pt x="0" y="15178"/>
                  </a:lnTo>
                  <a:lnTo>
                    <a:pt x="0" y="10508"/>
                  </a:lnTo>
                  <a:lnTo>
                    <a:pt x="0" y="3941"/>
                  </a:lnTo>
                  <a:lnTo>
                    <a:pt x="8081" y="1168"/>
                  </a:lnTo>
                  <a:lnTo>
                    <a:pt x="10722" y="1605"/>
                  </a:lnTo>
                  <a:lnTo>
                    <a:pt x="12587" y="1751"/>
                  </a:lnTo>
                  <a:lnTo>
                    <a:pt x="17871" y="0"/>
                  </a:lnTo>
                  <a:lnTo>
                    <a:pt x="21600" y="1751"/>
                  </a:lnTo>
                  <a:lnTo>
                    <a:pt x="21600" y="10508"/>
                  </a:lnTo>
                  <a:lnTo>
                    <a:pt x="21600" y="16346"/>
                  </a:lnTo>
                  <a:lnTo>
                    <a:pt x="10722" y="20286"/>
                  </a:lnTo>
                  <a:lnTo>
                    <a:pt x="6837" y="21600"/>
                  </a:lnTo>
                  <a:close/>
                </a:path>
                <a:path w="21600" h="21600">
                  <a:moveTo>
                    <a:pt x="3108" y="5254"/>
                  </a:moveTo>
                  <a:lnTo>
                    <a:pt x="2642" y="4962"/>
                  </a:lnTo>
                  <a:lnTo>
                    <a:pt x="777" y="4232"/>
                  </a:lnTo>
                  <a:lnTo>
                    <a:pt x="155" y="3941"/>
                  </a:lnTo>
                  <a:moveTo>
                    <a:pt x="6837" y="7005"/>
                  </a:moveTo>
                  <a:lnTo>
                    <a:pt x="6216" y="6714"/>
                  </a:lnTo>
                  <a:lnTo>
                    <a:pt x="3885" y="5546"/>
                  </a:lnTo>
                  <a:lnTo>
                    <a:pt x="3108" y="5254"/>
                  </a:lnTo>
                  <a:moveTo>
                    <a:pt x="19735" y="14595"/>
                  </a:moveTo>
                  <a:lnTo>
                    <a:pt x="19735" y="4816"/>
                  </a:lnTo>
                  <a:lnTo>
                    <a:pt x="9790" y="8319"/>
                  </a:lnTo>
                  <a:lnTo>
                    <a:pt x="9790" y="18243"/>
                  </a:lnTo>
                  <a:lnTo>
                    <a:pt x="19735" y="14595"/>
                  </a:lnTo>
                  <a:moveTo>
                    <a:pt x="3108" y="17659"/>
                  </a:moveTo>
                  <a:lnTo>
                    <a:pt x="3108" y="5254"/>
                  </a:lnTo>
                  <a:lnTo>
                    <a:pt x="12742" y="1751"/>
                  </a:lnTo>
                  <a:moveTo>
                    <a:pt x="21600" y="1751"/>
                  </a:moveTo>
                  <a:lnTo>
                    <a:pt x="6837" y="7005"/>
                  </a:lnTo>
                  <a:lnTo>
                    <a:pt x="6837" y="21600"/>
                  </a:lnTo>
                </a:path>
              </a:pathLst>
            </a:cu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32" name="tower"/>
            <p:cNvSpPr>
              <a:spLocks noChangeArrowheads="1"/>
            </p:cNvSpPr>
            <p:nvPr/>
          </p:nvSpPr>
          <p:spPr bwMode="auto">
            <a:xfrm>
              <a:off x="4947" y="7986"/>
              <a:ext cx="240" cy="516"/>
            </a:xfrm>
            <a:custGeom>
              <a:avLst/>
              <a:gdLst>
                <a:gd name="T0" fmla="*/ 459 w 21600"/>
                <a:gd name="T1" fmla="*/ 22540 h 21600"/>
                <a:gd name="T2" fmla="*/ 21485 w 21600"/>
                <a:gd name="T3" fmla="*/ 27000 h 21600"/>
              </a:gdLst>
              <a:ahLst/>
              <a:cxnLst>
                <a:cxn ang="0">
                  <a:pos x="0" y="2184"/>
                </a:cxn>
                <a:cxn ang="0">
                  <a:pos x="6664" y="0"/>
                </a:cxn>
                <a:cxn ang="0">
                  <a:pos x="10800" y="0"/>
                </a:cxn>
                <a:cxn ang="0">
                  <a:pos x="21600" y="0"/>
                </a:cxn>
                <a:cxn ang="0">
                  <a:pos x="21600" y="11649"/>
                </a:cxn>
                <a:cxn ang="0">
                  <a:pos x="21600" y="19416"/>
                </a:cxn>
                <a:cxn ang="0">
                  <a:pos x="15166" y="21600"/>
                </a:cxn>
                <a:cxn ang="0">
                  <a:pos x="10570" y="21600"/>
                </a:cxn>
                <a:cxn ang="0">
                  <a:pos x="0" y="21600"/>
                </a:cxn>
                <a:cxn ang="0">
                  <a:pos x="0" y="11528"/>
                </a:cxn>
                <a:cxn ang="0">
                  <a:pos x="0" y="2184"/>
                </a:cxn>
                <a:cxn ang="0">
                  <a:pos x="0" y="2184"/>
                </a:cxn>
                <a:cxn ang="0">
                  <a:pos x="0" y="2184"/>
                </a:cxn>
                <a:cxn ang="0">
                  <a:pos x="14706" y="2184"/>
                </a:cxn>
                <a:cxn ang="0">
                  <a:pos x="21600" y="0"/>
                </a:cxn>
                <a:cxn ang="0">
                  <a:pos x="0" y="2184"/>
                </a:cxn>
                <a:cxn ang="0">
                  <a:pos x="14706" y="2184"/>
                </a:cxn>
                <a:cxn ang="0">
                  <a:pos x="14706" y="5339"/>
                </a:cxn>
                <a:cxn ang="0">
                  <a:pos x="14706" y="17474"/>
                </a:cxn>
                <a:cxn ang="0">
                  <a:pos x="14706" y="21600"/>
                </a:cxn>
                <a:cxn ang="0">
                  <a:pos x="1149" y="3034"/>
                </a:cxn>
                <a:cxn ang="0">
                  <a:pos x="13328" y="3034"/>
                </a:cxn>
                <a:cxn ang="0">
                  <a:pos x="13328" y="3519"/>
                </a:cxn>
                <a:cxn ang="0">
                  <a:pos x="1149" y="3519"/>
                </a:cxn>
                <a:cxn ang="0">
                  <a:pos x="1149" y="3034"/>
                </a:cxn>
                <a:cxn ang="0">
                  <a:pos x="1149" y="4490"/>
                </a:cxn>
                <a:cxn ang="0">
                  <a:pos x="13328" y="4490"/>
                </a:cxn>
                <a:cxn ang="0">
                  <a:pos x="13328" y="4854"/>
                </a:cxn>
                <a:cxn ang="0">
                  <a:pos x="1149" y="4854"/>
                </a:cxn>
                <a:cxn ang="0">
                  <a:pos x="1149" y="4490"/>
                </a:cxn>
                <a:cxn ang="0">
                  <a:pos x="1149" y="5946"/>
                </a:cxn>
                <a:cxn ang="0">
                  <a:pos x="13328" y="5946"/>
                </a:cxn>
                <a:cxn ang="0">
                  <a:pos x="13328" y="6310"/>
                </a:cxn>
                <a:cxn ang="0">
                  <a:pos x="1149" y="6310"/>
                </a:cxn>
                <a:cxn ang="0">
                  <a:pos x="1149" y="5946"/>
                </a:cxn>
              </a:cxnLst>
              <a:rect l="T0" t="T1" r="T2" b="T3"/>
              <a:pathLst>
                <a:path w="21600" h="2160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31" name="server"/>
            <p:cNvSpPr>
              <a:spLocks noChangeArrowheads="1"/>
            </p:cNvSpPr>
            <p:nvPr/>
          </p:nvSpPr>
          <p:spPr bwMode="auto">
            <a:xfrm>
              <a:off x="5435" y="8097"/>
              <a:ext cx="303" cy="405"/>
            </a:xfrm>
            <a:custGeom>
              <a:avLst/>
              <a:gdLst>
                <a:gd name="T0" fmla="*/ 761 w 21600"/>
                <a:gd name="T1" fmla="*/ 22454 h 21600"/>
                <a:gd name="T2" fmla="*/ 21069 w 21600"/>
                <a:gd name="T3" fmla="*/ 28282 h 21600"/>
              </a:gdLst>
              <a:ahLst/>
              <a:cxnLst>
                <a:cxn ang="0">
                  <a:pos x="21600" y="0"/>
                </a:cxn>
                <a:cxn ang="0">
                  <a:pos x="0" y="21600"/>
                </a:cxn>
                <a:cxn ang="0">
                  <a:pos x="1662" y="1709"/>
                </a:cxn>
                <a:cxn ang="0">
                  <a:pos x="9046" y="2331"/>
                </a:cxn>
                <a:cxn ang="0">
                  <a:pos x="1662" y="1709"/>
                </a:cxn>
                <a:cxn ang="0">
                  <a:pos x="10892" y="4351"/>
                </a:cxn>
                <a:cxn ang="0">
                  <a:pos x="21600" y="14141"/>
                </a:cxn>
                <a:cxn ang="0">
                  <a:pos x="20492" y="1243"/>
                </a:cxn>
                <a:cxn ang="0">
                  <a:pos x="11631" y="1554"/>
                </a:cxn>
                <a:cxn ang="0">
                  <a:pos x="11631" y="3263"/>
                </a:cxn>
                <a:cxn ang="0">
                  <a:pos x="20492" y="3574"/>
                </a:cxn>
                <a:cxn ang="0">
                  <a:pos x="11631" y="3263"/>
                </a:cxn>
                <a:cxn ang="0">
                  <a:pos x="20492" y="6060"/>
                </a:cxn>
                <a:cxn ang="0">
                  <a:pos x="11631" y="6371"/>
                </a:cxn>
                <a:cxn ang="0">
                  <a:pos x="11631" y="8081"/>
                </a:cxn>
                <a:cxn ang="0">
                  <a:pos x="20308" y="8391"/>
                </a:cxn>
                <a:cxn ang="0">
                  <a:pos x="11631" y="8081"/>
                </a:cxn>
                <a:cxn ang="0">
                  <a:pos x="12369" y="4196"/>
                </a:cxn>
                <a:cxn ang="0">
                  <a:pos x="11631" y="4817"/>
                </a:cxn>
                <a:cxn ang="0">
                  <a:pos x="14400" y="4196"/>
                </a:cxn>
                <a:cxn ang="0">
                  <a:pos x="15138" y="4817"/>
                </a:cxn>
                <a:cxn ang="0">
                  <a:pos x="14400" y="4196"/>
                </a:cxn>
                <a:cxn ang="0">
                  <a:pos x="17723" y="4196"/>
                </a:cxn>
                <a:cxn ang="0">
                  <a:pos x="16985" y="4817"/>
                </a:cxn>
                <a:cxn ang="0">
                  <a:pos x="19754" y="4196"/>
                </a:cxn>
                <a:cxn ang="0">
                  <a:pos x="20492" y="4817"/>
                </a:cxn>
                <a:cxn ang="0">
                  <a:pos x="19754" y="4196"/>
                </a:cxn>
                <a:cxn ang="0">
                  <a:pos x="12369" y="9635"/>
                </a:cxn>
                <a:cxn ang="0">
                  <a:pos x="11631" y="10256"/>
                </a:cxn>
                <a:cxn ang="0">
                  <a:pos x="14400" y="9635"/>
                </a:cxn>
                <a:cxn ang="0">
                  <a:pos x="15138" y="10256"/>
                </a:cxn>
                <a:cxn ang="0">
                  <a:pos x="14400" y="9635"/>
                </a:cxn>
                <a:cxn ang="0">
                  <a:pos x="17723" y="9635"/>
                </a:cxn>
                <a:cxn ang="0">
                  <a:pos x="16985" y="10256"/>
                </a:cxn>
                <a:cxn ang="0">
                  <a:pos x="19754" y="9635"/>
                </a:cxn>
                <a:cxn ang="0">
                  <a:pos x="20492" y="10256"/>
                </a:cxn>
                <a:cxn ang="0">
                  <a:pos x="19754" y="9635"/>
                </a:cxn>
                <a:cxn ang="0">
                  <a:pos x="10892" y="15384"/>
                </a:cxn>
                <a:cxn ang="0">
                  <a:pos x="10892" y="21600"/>
                </a:cxn>
                <a:cxn ang="0">
                  <a:pos x="10892" y="4351"/>
                </a:cxn>
                <a:cxn ang="0">
                  <a:pos x="10892" y="932"/>
                </a:cxn>
                <a:cxn ang="0">
                  <a:pos x="10892" y="4351"/>
                </a:cxn>
              </a:cxnLst>
              <a:rect l="T0" t="T1" r="T2" b="T3"/>
              <a:pathLst>
                <a:path w="21600" h="21600">
                  <a:moveTo>
                    <a:pt x="0" y="0"/>
                  </a:moveTo>
                  <a:lnTo>
                    <a:pt x="21600" y="0"/>
                  </a:lnTo>
                  <a:lnTo>
                    <a:pt x="21600" y="21600"/>
                  </a:lnTo>
                  <a:lnTo>
                    <a:pt x="0" y="21600"/>
                  </a:lnTo>
                  <a:lnTo>
                    <a:pt x="0" y="0"/>
                  </a:lnTo>
                  <a:close/>
                </a:path>
                <a:path w="21600" h="2160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30" name="scanner1"/>
            <p:cNvSpPr>
              <a:spLocks noChangeArrowheads="1"/>
            </p:cNvSpPr>
            <p:nvPr/>
          </p:nvSpPr>
          <p:spPr bwMode="auto">
            <a:xfrm>
              <a:off x="5986" y="8097"/>
              <a:ext cx="533" cy="405"/>
            </a:xfrm>
            <a:custGeom>
              <a:avLst/>
              <a:gdLst>
                <a:gd name="T0" fmla="*/ 1425 w 21600"/>
                <a:gd name="T1" fmla="*/ 23068 h 21600"/>
                <a:gd name="T2" fmla="*/ 20312 w 21600"/>
                <a:gd name="T3" fmla="*/ 30932 h 21600"/>
              </a:gdLst>
              <a:ahLst/>
              <a:cxnLst>
                <a:cxn ang="0">
                  <a:pos x="15350" y="4547"/>
                </a:cxn>
                <a:cxn ang="0">
                  <a:pos x="21600" y="7200"/>
                </a:cxn>
                <a:cxn ang="0">
                  <a:pos x="21600" y="10800"/>
                </a:cxn>
                <a:cxn ang="0">
                  <a:pos x="21600" y="12695"/>
                </a:cxn>
                <a:cxn ang="0">
                  <a:pos x="13925" y="21600"/>
                </a:cxn>
                <a:cxn ang="0">
                  <a:pos x="10964" y="19326"/>
                </a:cxn>
                <a:cxn ang="0">
                  <a:pos x="0" y="11558"/>
                </a:cxn>
                <a:cxn ang="0">
                  <a:pos x="0" y="10800"/>
                </a:cxn>
                <a:cxn ang="0">
                  <a:pos x="0" y="6063"/>
                </a:cxn>
                <a:cxn ang="0">
                  <a:pos x="7456" y="0"/>
                </a:cxn>
                <a:cxn ang="0">
                  <a:pos x="8552" y="568"/>
                </a:cxn>
                <a:cxn ang="0">
                  <a:pos x="10964" y="568"/>
                </a:cxn>
                <a:cxn ang="0">
                  <a:pos x="18749" y="947"/>
                </a:cxn>
                <a:cxn ang="0">
                  <a:pos x="15350" y="4547"/>
                </a:cxn>
                <a:cxn ang="0">
                  <a:pos x="15350" y="4547"/>
                </a:cxn>
                <a:cxn ang="0">
                  <a:pos x="21600" y="7200"/>
                </a:cxn>
                <a:cxn ang="0">
                  <a:pos x="13925" y="15347"/>
                </a:cxn>
                <a:cxn ang="0">
                  <a:pos x="0" y="6063"/>
                </a:cxn>
                <a:cxn ang="0">
                  <a:pos x="8552" y="568"/>
                </a:cxn>
                <a:cxn ang="0">
                  <a:pos x="2083" y="6063"/>
                </a:cxn>
                <a:cxn ang="0">
                  <a:pos x="11951" y="7579"/>
                </a:cxn>
                <a:cxn ang="0">
                  <a:pos x="15350" y="4547"/>
                </a:cxn>
                <a:cxn ang="0">
                  <a:pos x="14254" y="5684"/>
                </a:cxn>
                <a:cxn ang="0">
                  <a:pos x="19078" y="7768"/>
                </a:cxn>
                <a:cxn ang="0">
                  <a:pos x="13815" y="13074"/>
                </a:cxn>
                <a:cxn ang="0">
                  <a:pos x="2083" y="6063"/>
                </a:cxn>
                <a:cxn ang="0">
                  <a:pos x="13925" y="21600"/>
                </a:cxn>
                <a:cxn ang="0">
                  <a:pos x="13925" y="20463"/>
                </a:cxn>
                <a:cxn ang="0">
                  <a:pos x="13925" y="16674"/>
                </a:cxn>
                <a:cxn ang="0">
                  <a:pos x="13925" y="15347"/>
                </a:cxn>
              </a:cxnLst>
              <a:rect l="T0" t="T1" r="T2" b="T3"/>
              <a:pathLst>
                <a:path w="21600" h="21600">
                  <a:moveTo>
                    <a:pt x="15350" y="4547"/>
                  </a:moveTo>
                  <a:lnTo>
                    <a:pt x="21600" y="7200"/>
                  </a:lnTo>
                  <a:lnTo>
                    <a:pt x="21600" y="10800"/>
                  </a:lnTo>
                  <a:lnTo>
                    <a:pt x="21600" y="12695"/>
                  </a:lnTo>
                  <a:lnTo>
                    <a:pt x="13925" y="21600"/>
                  </a:lnTo>
                  <a:lnTo>
                    <a:pt x="10964" y="19326"/>
                  </a:lnTo>
                  <a:lnTo>
                    <a:pt x="0" y="11558"/>
                  </a:lnTo>
                  <a:lnTo>
                    <a:pt x="0" y="10800"/>
                  </a:lnTo>
                  <a:lnTo>
                    <a:pt x="0" y="6063"/>
                  </a:lnTo>
                  <a:lnTo>
                    <a:pt x="7456" y="0"/>
                  </a:lnTo>
                  <a:lnTo>
                    <a:pt x="8552" y="568"/>
                  </a:lnTo>
                  <a:lnTo>
                    <a:pt x="10964" y="568"/>
                  </a:lnTo>
                  <a:lnTo>
                    <a:pt x="18749" y="947"/>
                  </a:lnTo>
                  <a:lnTo>
                    <a:pt x="15350" y="4547"/>
                  </a:lnTo>
                  <a:close/>
                </a:path>
                <a:path w="21600" h="21600">
                  <a:moveTo>
                    <a:pt x="15350" y="4547"/>
                  </a:moveTo>
                  <a:lnTo>
                    <a:pt x="21600" y="7200"/>
                  </a:lnTo>
                  <a:lnTo>
                    <a:pt x="13925" y="15347"/>
                  </a:lnTo>
                  <a:lnTo>
                    <a:pt x="0" y="6063"/>
                  </a:lnTo>
                  <a:moveTo>
                    <a:pt x="8552" y="568"/>
                  </a:moveTo>
                  <a:lnTo>
                    <a:pt x="2083" y="6063"/>
                  </a:lnTo>
                  <a:lnTo>
                    <a:pt x="11951" y="7579"/>
                  </a:lnTo>
                  <a:lnTo>
                    <a:pt x="15350" y="4547"/>
                  </a:lnTo>
                  <a:moveTo>
                    <a:pt x="14254" y="5684"/>
                  </a:moveTo>
                  <a:lnTo>
                    <a:pt x="19078" y="7768"/>
                  </a:lnTo>
                  <a:lnTo>
                    <a:pt x="13815" y="13074"/>
                  </a:lnTo>
                  <a:lnTo>
                    <a:pt x="2083" y="6063"/>
                  </a:lnTo>
                  <a:moveTo>
                    <a:pt x="13925" y="21600"/>
                  </a:moveTo>
                  <a:lnTo>
                    <a:pt x="13925" y="20463"/>
                  </a:lnTo>
                  <a:lnTo>
                    <a:pt x="13925" y="16674"/>
                  </a:lnTo>
                  <a:lnTo>
                    <a:pt x="13925" y="15347"/>
                  </a:lnTo>
                </a:path>
              </a:pathLst>
            </a:custGeom>
            <a:solidFill>
              <a:srgbClr val="D8D8D8"/>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29" name="Text Box 25"/>
            <p:cNvSpPr txBox="1">
              <a:spLocks noChangeArrowheads="1"/>
            </p:cNvSpPr>
            <p:nvPr/>
          </p:nvSpPr>
          <p:spPr bwMode="auto">
            <a:xfrm>
              <a:off x="6752" y="8153"/>
              <a:ext cx="996" cy="2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云上的资源</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54628" name="AutoShape 13"/>
            <p:cNvSpPr>
              <a:spLocks noChangeArrowheads="1"/>
            </p:cNvSpPr>
            <p:nvPr/>
          </p:nvSpPr>
          <p:spPr bwMode="auto">
            <a:xfrm>
              <a:off x="4270" y="5924"/>
              <a:ext cx="2340" cy="684"/>
            </a:xfrm>
            <a:prstGeom prst="triangle">
              <a:avLst>
                <a:gd name="adj" fmla="val 50000"/>
              </a:avLst>
            </a:prstGeom>
            <a:solidFill>
              <a:srgbClr val="FFFFFF"/>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54627" name="Text Box 14"/>
            <p:cNvSpPr txBox="1">
              <a:spLocks noChangeArrowheads="1"/>
            </p:cNvSpPr>
            <p:nvPr/>
          </p:nvSpPr>
          <p:spPr bwMode="auto">
            <a:xfrm>
              <a:off x="4770" y="6298"/>
              <a:ext cx="1358" cy="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简化的服务接口</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54626" name="AutoShape 16"/>
            <p:cNvSpPr>
              <a:spLocks noChangeArrowheads="1"/>
            </p:cNvSpPr>
            <p:nvPr/>
          </p:nvSpPr>
          <p:spPr bwMode="auto">
            <a:xfrm>
              <a:off x="4277" y="7174"/>
              <a:ext cx="2255" cy="725"/>
            </a:xfrm>
            <a:prstGeom prst="cloudCallout">
              <a:avLst>
                <a:gd name="adj1" fmla="val 17097"/>
                <a:gd name="adj2" fmla="val 37171"/>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公共云</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Tree>
  </p:cSld>
  <p:clrMapOvr>
    <a:masterClrMapping/>
  </p:clrMapOvr>
  <p:transition>
    <p:wedg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11.4.1  云计算概述</a:t>
            </a:r>
          </a:p>
        </p:txBody>
      </p:sp>
      <p:grpSp>
        <p:nvGrpSpPr>
          <p:cNvPr id="7" name="组合 6"/>
          <p:cNvGrpSpPr/>
          <p:nvPr/>
        </p:nvGrpSpPr>
        <p:grpSpPr>
          <a:xfrm>
            <a:off x="0" y="2412365"/>
            <a:ext cx="12192000" cy="3410585"/>
            <a:chOff x="0" y="3848"/>
            <a:chExt cx="19200" cy="537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78" y="3891"/>
              <a:ext cx="11396" cy="5328"/>
            </a:xfrm>
            <a:prstGeom prst="rect">
              <a:avLst/>
            </a:prstGeom>
          </p:spPr>
          <p:txBody>
            <a:bodyPr wrap="square">
              <a:spAutoFit/>
            </a:bodyPr>
            <a:lstStyle/>
            <a:p>
              <a:pPr indent="457200">
                <a:lnSpc>
                  <a:spcPct val="150000"/>
                </a:lnSpc>
                <a:defRPr/>
              </a:pP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云计算的发展使得普通用户（包括众多的移动互联用户）只需要一台接入网络的终端设备就能够以相对低廉的价格获得所需的资源和服务而无需考虑其来源。</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目前中国数亿用户在使用的百度云，就是其中一个服务产品的代表</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用户注册并成功登录后，可以将自己的数据、资料存放在百度云上，在“云”的那一端，有专业的IT团队帮你实现维护和管理</a:t>
              </a:r>
              <a:r>
                <a:rPr lang="en-US" altLang="zh-CN" b="1"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b="1"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可以说，</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sym typeface="+mn-ea"/>
                </a:rPr>
                <a:t>云计算实现了资源和计算能力的分布式共享，能够很好地契合当前互联网高速发展的需求</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a:t>
              </a:r>
            </a:p>
            <a:p>
              <a:pPr indent="457200">
                <a:lnSpc>
                  <a:spcPct val="150000"/>
                </a:lnSpc>
                <a:defRPr/>
              </a:pPr>
              <a:endPar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endParaRPr>
            </a:p>
          </p:txBody>
        </p:sp>
      </p:grpSp>
      <p:pic>
        <p:nvPicPr>
          <p:cNvPr id="2" name="图片 1" descr="timg (4)"/>
          <p:cNvPicPr>
            <a:picLocks noChangeAspect="1"/>
          </p:cNvPicPr>
          <p:nvPr/>
        </p:nvPicPr>
        <p:blipFill>
          <a:blip r:embed="rId3" cstate="print"/>
          <a:stretch>
            <a:fillRect/>
          </a:stretch>
        </p:blipFill>
        <p:spPr>
          <a:xfrm>
            <a:off x="7634605" y="2654300"/>
            <a:ext cx="4380865" cy="2589530"/>
          </a:xfrm>
          <a:prstGeom prst="rect">
            <a:avLst/>
          </a:prstGeom>
        </p:spPr>
      </p:pic>
    </p:spTree>
  </p:cSld>
  <p:clrMapOvr>
    <a:masterClrMapping/>
  </p:clrMapOvr>
  <p:transition>
    <p:wedg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11.4.2  云计算的关键技术</a:t>
            </a:r>
          </a:p>
        </p:txBody>
      </p:sp>
      <p:grpSp>
        <p:nvGrpSpPr>
          <p:cNvPr id="6" name="组合 5"/>
          <p:cNvGrpSpPr/>
          <p:nvPr/>
        </p:nvGrpSpPr>
        <p:grpSpPr>
          <a:xfrm>
            <a:off x="1070610" y="2614930"/>
            <a:ext cx="6446520" cy="2964180"/>
            <a:chOff x="0" y="4210050"/>
            <a:chExt cx="12192000" cy="2647950"/>
          </a:xfrm>
        </p:grpSpPr>
        <p:sp>
          <p:nvSpPr>
            <p:cNvPr id="5" name="矩形 4"/>
            <p:cNvSpPr/>
            <p:nvPr/>
          </p:nvSpPr>
          <p:spPr>
            <a:xfrm>
              <a:off x="0" y="4210050"/>
              <a:ext cx="12192000" cy="2647950"/>
            </a:xfrm>
            <a:prstGeom prst="rect">
              <a:avLst/>
            </a:prstGeom>
            <a:solidFill>
              <a:schemeClr val="accent3">
                <a:lumMod val="60000"/>
                <a:lumOff val="4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898" name="Rectangle 2"/>
            <p:cNvSpPr>
              <a:spLocks noChangeArrowheads="1"/>
            </p:cNvSpPr>
            <p:nvPr/>
          </p:nvSpPr>
          <p:spPr bwMode="auto">
            <a:xfrm>
              <a:off x="331461" y="4506725"/>
              <a:ext cx="11542288" cy="2054600"/>
            </a:xfrm>
            <a:prstGeom prst="rect">
              <a:avLst/>
            </a:prstGeom>
            <a:noFill/>
            <a:ln w="9525">
              <a:noFill/>
              <a:miter lim="800000"/>
            </a:ln>
            <a:effectLst/>
          </p:spPr>
          <p:txBody>
            <a:bodyPr vert="horz" wrap="square" lIns="180000" tIns="108000" rIns="180000" bIns="108000" numCol="1" anchor="ctr" anchorCtr="0" compatLnSpc="1">
              <a:spAutoFit/>
            </a:bodyPr>
            <a:lstStyle/>
            <a:p>
              <a:pPr marL="0" marR="0" lvl="0" indent="457200" algn="l" defTabSz="914400" rtl="0" eaLnBrk="1" fontAlgn="base" latinLnBrk="0" hangingPunct="1">
                <a:lnSpc>
                  <a:spcPct val="120000"/>
                </a:lnSpc>
                <a:spcBef>
                  <a:spcPct val="0"/>
                </a:spcBef>
                <a:spcAft>
                  <a:spcPct val="0"/>
                </a:spcAft>
                <a:buClrTx/>
                <a:buSzTx/>
                <a:buFontTx/>
                <a:buNone/>
              </a:pPr>
              <a:r>
                <a:rPr kumimoji="0" lang="zh-CN"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在典型的云计算模式中，用户通过终端接入网络，向“云”提出需求，“云”接受请求后组织资源，通过网络为用户端提供服务。要实现这一过程，云计算需要以下的关键技术：</a:t>
              </a:r>
              <a:r>
                <a:rPr kumimoji="0" lang="zh-CN"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并行计算、虚拟化技术、编程模式、海量数据分布存储技术、海量数据管理技术、云计算平台管理技术和云安全管理技术等。</a:t>
              </a:r>
            </a:p>
          </p:txBody>
        </p:sp>
      </p:grpSp>
      <p:pic>
        <p:nvPicPr>
          <p:cNvPr id="2" name="图片 1" descr="u=142803373,148121282&amp;fm=21&amp;gp=0"/>
          <p:cNvPicPr>
            <a:picLocks noChangeAspect="1"/>
          </p:cNvPicPr>
          <p:nvPr/>
        </p:nvPicPr>
        <p:blipFill>
          <a:blip r:embed="rId3" cstate="print"/>
          <a:stretch>
            <a:fillRect/>
          </a:stretch>
        </p:blipFill>
        <p:spPr>
          <a:xfrm>
            <a:off x="7503482" y="2280323"/>
            <a:ext cx="3414395" cy="3414395"/>
          </a:xfrm>
          <a:prstGeom prst="rect">
            <a:avLst/>
          </a:prstGeom>
        </p:spPr>
      </p:pic>
    </p:spTree>
  </p:cSld>
  <p:clrMapOvr>
    <a:masterClrMapping/>
  </p:clrMapOvr>
  <p:transition>
    <p:wedg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sp>
        <p:nvSpPr>
          <p:cNvPr id="8" name="MH_Desc_1"/>
          <p:cNvSpPr txBox="1"/>
          <p:nvPr>
            <p:custDataLst>
              <p:tags r:id="rId1"/>
            </p:custDataLst>
          </p:nvPr>
        </p:nvSpPr>
        <p:spPr>
          <a:xfrm>
            <a:off x="614149" y="2675417"/>
            <a:ext cx="6349972" cy="3307080"/>
          </a:xfrm>
          <a:prstGeom prst="rect">
            <a:avLst/>
          </a:prstGeom>
          <a:noFill/>
        </p:spPr>
        <p:txBody>
          <a:bodyPr anchor="ctr">
            <a:normAutofit fontScale="92500"/>
          </a:bodyPr>
          <a:lstStyle/>
          <a:p>
            <a:pPr indent="457200" fontAlgn="auto">
              <a:lnSpc>
                <a:spcPct val="150000"/>
              </a:lnSpc>
            </a:pPr>
            <a:r>
              <a:rPr b="1" dirty="0" smtClean="0">
                <a:solidFill>
                  <a:srgbClr val="0070C0"/>
                </a:solidFill>
                <a:latin typeface="微软雅黑" panose="020B0503020204020204" charset="-122"/>
                <a:ea typeface="微软雅黑" panose="020B0503020204020204" charset="-122"/>
              </a:rPr>
              <a:t>并行计算是云计算系统的核心技术。</a:t>
            </a:r>
            <a:r>
              <a:rPr dirty="0" smtClean="0">
                <a:latin typeface="微软雅黑" panose="020B0503020204020204" charset="-122"/>
                <a:ea typeface="微软雅黑" panose="020B0503020204020204" charset="-122"/>
              </a:rPr>
              <a:t>并行计算是指同时使用多种计算资源解决计算问题的过程，是提高计算机系统计算速度和处理能力的一种有效手段。</a:t>
            </a:r>
            <a:r>
              <a:rPr b="1" dirty="0" smtClean="0">
                <a:solidFill>
                  <a:srgbClr val="0070C0"/>
                </a:solidFill>
                <a:latin typeface="微软雅黑" panose="020B0503020204020204" charset="-122"/>
                <a:ea typeface="微软雅黑" panose="020B0503020204020204" charset="-122"/>
              </a:rPr>
              <a:t>它的基本思想是用多个处理器来协同求解同一问题，即把被求解的问题分解成若干个部分，各部分均由一个独立的处理机来并行计算。</a:t>
            </a:r>
            <a:r>
              <a:rPr dirty="0" smtClean="0">
                <a:latin typeface="微软雅黑" panose="020B0503020204020204" charset="-122"/>
                <a:ea typeface="微软雅黑" panose="020B0503020204020204" charset="-122"/>
              </a:rPr>
              <a:t>并行计算系统既可以是专门设计的、含有多个处理器的超级计算机，也可以是以某种方式互连的若干台独立计算机构成的集群，通过并行计算集群完成数据的处理，再将处理的结果返回给用户。</a:t>
            </a:r>
          </a:p>
        </p:txBody>
      </p:sp>
      <p:pic>
        <p:nvPicPr>
          <p:cNvPr id="2" name="图片 1" descr="timg (7)"/>
          <p:cNvPicPr>
            <a:picLocks noChangeAspect="1"/>
          </p:cNvPicPr>
          <p:nvPr/>
        </p:nvPicPr>
        <p:blipFill>
          <a:blip r:embed="rId7" cstate="print"/>
          <a:stretch>
            <a:fillRect/>
          </a:stretch>
        </p:blipFill>
        <p:spPr>
          <a:xfrm>
            <a:off x="7233313" y="2934270"/>
            <a:ext cx="4308085" cy="2872056"/>
          </a:xfrm>
          <a:prstGeom prst="rect">
            <a:avLst/>
          </a:prstGeom>
        </p:spPr>
      </p:pic>
      <p:sp>
        <p:nvSpPr>
          <p:cNvPr id="6" name="MH_SubTitle_2"/>
          <p:cNvSpPr/>
          <p:nvPr>
            <p:custDataLst>
              <p:tags r:id="rId2"/>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并行计算</a:t>
            </a:r>
          </a:p>
        </p:txBody>
      </p:sp>
      <p:sp>
        <p:nvSpPr>
          <p:cNvPr id="7" name="MH_Other_5"/>
          <p:cNvSpPr/>
          <p:nvPr>
            <p:custDataLst>
              <p:tags r:id="rId3"/>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01</a:t>
            </a:r>
            <a:endParaRPr lang="zh-CN" altLang="en-US" sz="3200" dirty="0">
              <a:solidFill>
                <a:srgbClr val="FFFFFF"/>
              </a:solidFill>
              <a:latin typeface="Impact" panose="020B0806030902050204" pitchFamily="34" charset="0"/>
              <a:ea typeface="微软雅黑" panose="020B0503020204020204" charset="-122"/>
            </a:endParaRPr>
          </a:p>
        </p:txBody>
      </p:sp>
      <p:sp>
        <p:nvSpPr>
          <p:cNvPr id="9" name="MH_Other_6"/>
          <p:cNvSpPr/>
          <p:nvPr>
            <p:custDataLst>
              <p:tags r:id="rId4"/>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grpSp>
        <p:nvGrpSpPr>
          <p:cNvPr id="11" name="组合 10"/>
          <p:cNvGrpSpPr/>
          <p:nvPr/>
        </p:nvGrpSpPr>
        <p:grpSpPr>
          <a:xfrm>
            <a:off x="7316045" y="2742577"/>
            <a:ext cx="4038894" cy="2798416"/>
            <a:chOff x="607424" y="1831092"/>
            <a:chExt cx="4384606" cy="3648277"/>
          </a:xfrm>
        </p:grpSpPr>
        <p:sp>
          <p:nvSpPr>
            <p:cNvPr id="6" name="MH_Other_1"/>
            <p:cNvSpPr/>
            <p:nvPr>
              <p:custDataLst>
                <p:tags r:id="rId5"/>
              </p:custDataLst>
            </p:nvPr>
          </p:nvSpPr>
          <p:spPr>
            <a:xfrm rot="411899">
              <a:off x="1248110" y="2456067"/>
              <a:ext cx="3743920" cy="3023302"/>
            </a:xfrm>
            <a:custGeom>
              <a:avLst/>
              <a:gdLst>
                <a:gd name="connsiteX0" fmla="*/ 0 w 2750440"/>
                <a:gd name="connsiteY0" fmla="*/ 0 h 3501234"/>
                <a:gd name="connsiteX1" fmla="*/ 2750440 w 2750440"/>
                <a:gd name="connsiteY1" fmla="*/ 0 h 3501234"/>
                <a:gd name="connsiteX2" fmla="*/ 2750440 w 2750440"/>
                <a:gd name="connsiteY2" fmla="*/ 3501234 h 3501234"/>
                <a:gd name="connsiteX3" fmla="*/ 0 w 2750440"/>
                <a:gd name="connsiteY3" fmla="*/ 3501234 h 3501234"/>
                <a:gd name="connsiteX4" fmla="*/ 0 w 2750440"/>
                <a:gd name="connsiteY4" fmla="*/ 0 h 3501234"/>
                <a:gd name="connsiteX0-1" fmla="*/ 0 w 2750440"/>
                <a:gd name="connsiteY0-2" fmla="*/ 0 h 3501234"/>
                <a:gd name="connsiteX1-3" fmla="*/ 2587039 w 2750440"/>
                <a:gd name="connsiteY1-4" fmla="*/ 47867 h 3501234"/>
                <a:gd name="connsiteX2-5" fmla="*/ 2750440 w 2750440"/>
                <a:gd name="connsiteY2-6" fmla="*/ 3501234 h 3501234"/>
                <a:gd name="connsiteX3-7" fmla="*/ 0 w 2750440"/>
                <a:gd name="connsiteY3-8" fmla="*/ 3501234 h 3501234"/>
                <a:gd name="connsiteX4-9" fmla="*/ 0 w 2750440"/>
                <a:gd name="connsiteY4-10" fmla="*/ 0 h 3501234"/>
                <a:gd name="connsiteX0-11" fmla="*/ 20416 w 2770856"/>
                <a:gd name="connsiteY0-12" fmla="*/ 0 h 3501234"/>
                <a:gd name="connsiteX1-13" fmla="*/ 2607455 w 2770856"/>
                <a:gd name="connsiteY1-14" fmla="*/ 47867 h 3501234"/>
                <a:gd name="connsiteX2-15" fmla="*/ 2770856 w 2770856"/>
                <a:gd name="connsiteY2-16" fmla="*/ 3501234 h 3501234"/>
                <a:gd name="connsiteX3-17" fmla="*/ 0 w 2770856"/>
                <a:gd name="connsiteY3-18" fmla="*/ 3409713 h 3501234"/>
                <a:gd name="connsiteX4-19" fmla="*/ 20416 w 2770856"/>
                <a:gd name="connsiteY4-20" fmla="*/ 0 h 3501234"/>
                <a:gd name="connsiteX0-21" fmla="*/ 2389174 w 2770856"/>
                <a:gd name="connsiteY0-22" fmla="*/ 3078422 h 3453367"/>
                <a:gd name="connsiteX1-23" fmla="*/ 2607455 w 2770856"/>
                <a:gd name="connsiteY1-24" fmla="*/ 0 h 3453367"/>
                <a:gd name="connsiteX2-25" fmla="*/ 2770856 w 2770856"/>
                <a:gd name="connsiteY2-26" fmla="*/ 3453367 h 3453367"/>
                <a:gd name="connsiteX3-27" fmla="*/ 0 w 2770856"/>
                <a:gd name="connsiteY3-28" fmla="*/ 3361846 h 3453367"/>
                <a:gd name="connsiteX4-29" fmla="*/ 2389174 w 2770856"/>
                <a:gd name="connsiteY4-30" fmla="*/ 3078422 h 3453367"/>
                <a:gd name="connsiteX0-31" fmla="*/ 1743012 w 2770856"/>
                <a:gd name="connsiteY0-32" fmla="*/ 2394978 h 3453367"/>
                <a:gd name="connsiteX1-33" fmla="*/ 2607455 w 2770856"/>
                <a:gd name="connsiteY1-34" fmla="*/ 0 h 3453367"/>
                <a:gd name="connsiteX2-35" fmla="*/ 2770856 w 2770856"/>
                <a:gd name="connsiteY2-36" fmla="*/ 3453367 h 3453367"/>
                <a:gd name="connsiteX3-37" fmla="*/ 0 w 2770856"/>
                <a:gd name="connsiteY3-38" fmla="*/ 3361846 h 3453367"/>
                <a:gd name="connsiteX4-39" fmla="*/ 1743012 w 2770856"/>
                <a:gd name="connsiteY4-40" fmla="*/ 2394978 h 3453367"/>
                <a:gd name="connsiteX0-41" fmla="*/ 1743012 w 2807910"/>
                <a:gd name="connsiteY0-42" fmla="*/ 2394978 h 3448906"/>
                <a:gd name="connsiteX1-43" fmla="*/ 2607455 w 2807910"/>
                <a:gd name="connsiteY1-44" fmla="*/ 0 h 3448906"/>
                <a:gd name="connsiteX2-45" fmla="*/ 2807910 w 2807910"/>
                <a:gd name="connsiteY2-46" fmla="*/ 3448906 h 3448906"/>
                <a:gd name="connsiteX3-47" fmla="*/ 0 w 2807910"/>
                <a:gd name="connsiteY3-48" fmla="*/ 3361846 h 3448906"/>
                <a:gd name="connsiteX4-49" fmla="*/ 1743012 w 2807910"/>
                <a:gd name="connsiteY4-50" fmla="*/ 2394978 h 34489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07910" h="3448906">
                  <a:moveTo>
                    <a:pt x="1743012" y="2394978"/>
                  </a:moveTo>
                  <a:lnTo>
                    <a:pt x="2607455" y="0"/>
                  </a:lnTo>
                  <a:lnTo>
                    <a:pt x="2807910" y="3448906"/>
                  </a:lnTo>
                  <a:lnTo>
                    <a:pt x="0" y="3361846"/>
                  </a:lnTo>
                  <a:lnTo>
                    <a:pt x="1743012" y="2394978"/>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MH_Other_2"/>
            <p:cNvSpPr/>
            <p:nvPr>
              <p:custDataLst>
                <p:tags r:id="rId6"/>
              </p:custDataLst>
            </p:nvPr>
          </p:nvSpPr>
          <p:spPr>
            <a:xfrm rot="411899">
              <a:off x="1088970" y="2320850"/>
              <a:ext cx="3667297" cy="3038182"/>
            </a:xfrm>
            <a:prstGeom prst="rect">
              <a:avLst/>
            </a:prstGeom>
            <a:solidFill>
              <a:srgbClr val="FFFFFF"/>
            </a:solidFill>
            <a:ln w="3175">
              <a:solidFill>
                <a:srgbClr val="EAEAE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MH_Other_3"/>
            <p:cNvSpPr/>
            <p:nvPr>
              <p:custDataLst>
                <p:tags r:id="rId7"/>
              </p:custDataLst>
            </p:nvPr>
          </p:nvSpPr>
          <p:spPr>
            <a:xfrm rot="20953818">
              <a:off x="607424" y="1831092"/>
              <a:ext cx="2010107" cy="842908"/>
            </a:xfrm>
            <a:custGeom>
              <a:avLst/>
              <a:gdLst>
                <a:gd name="connsiteX0" fmla="*/ 0 w 1206500"/>
                <a:gd name="connsiteY0" fmla="*/ 463550 h 1003300"/>
                <a:gd name="connsiteX1" fmla="*/ 965200 w 1206500"/>
                <a:gd name="connsiteY1" fmla="*/ 0 h 1003300"/>
                <a:gd name="connsiteX2" fmla="*/ 920750 w 1206500"/>
                <a:gd name="connsiteY2" fmla="*/ 139700 h 1003300"/>
                <a:gd name="connsiteX3" fmla="*/ 984250 w 1206500"/>
                <a:gd name="connsiteY3" fmla="*/ 177800 h 1003300"/>
                <a:gd name="connsiteX4" fmla="*/ 977900 w 1206500"/>
                <a:gd name="connsiteY4" fmla="*/ 254000 h 1003300"/>
                <a:gd name="connsiteX5" fmla="*/ 1054100 w 1206500"/>
                <a:gd name="connsiteY5" fmla="*/ 254000 h 1003300"/>
                <a:gd name="connsiteX6" fmla="*/ 1143000 w 1206500"/>
                <a:gd name="connsiteY6" fmla="*/ 228600 h 1003300"/>
                <a:gd name="connsiteX7" fmla="*/ 1155700 w 1206500"/>
                <a:gd name="connsiteY7" fmla="*/ 361950 h 1003300"/>
                <a:gd name="connsiteX8" fmla="*/ 1041400 w 1206500"/>
                <a:gd name="connsiteY8" fmla="*/ 482600 h 1003300"/>
                <a:gd name="connsiteX9" fmla="*/ 1187450 w 1206500"/>
                <a:gd name="connsiteY9" fmla="*/ 400050 h 1003300"/>
                <a:gd name="connsiteX10" fmla="*/ 1085850 w 1206500"/>
                <a:gd name="connsiteY10" fmla="*/ 552450 h 1003300"/>
                <a:gd name="connsiteX11" fmla="*/ 1206500 w 1206500"/>
                <a:gd name="connsiteY11" fmla="*/ 520700 h 1003300"/>
                <a:gd name="connsiteX12" fmla="*/ 171450 w 1206500"/>
                <a:gd name="connsiteY12" fmla="*/ 1003300 h 1003300"/>
                <a:gd name="connsiteX13" fmla="*/ 209550 w 1206500"/>
                <a:gd name="connsiteY13" fmla="*/ 946150 h 1003300"/>
                <a:gd name="connsiteX14" fmla="*/ 292100 w 1206500"/>
                <a:gd name="connsiteY14" fmla="*/ 876300 h 1003300"/>
                <a:gd name="connsiteX15" fmla="*/ 133350 w 1206500"/>
                <a:gd name="connsiteY15" fmla="*/ 863600 h 1003300"/>
                <a:gd name="connsiteX16" fmla="*/ 222250 w 1206500"/>
                <a:gd name="connsiteY16" fmla="*/ 774700 h 1003300"/>
                <a:gd name="connsiteX17" fmla="*/ 101600 w 1206500"/>
                <a:gd name="connsiteY17" fmla="*/ 762000 h 1003300"/>
                <a:gd name="connsiteX18" fmla="*/ 190500 w 1206500"/>
                <a:gd name="connsiteY18" fmla="*/ 647700 h 1003300"/>
                <a:gd name="connsiteX19" fmla="*/ 57150 w 1206500"/>
                <a:gd name="connsiteY19" fmla="*/ 615950 h 1003300"/>
                <a:gd name="connsiteX20" fmla="*/ 57150 w 1206500"/>
                <a:gd name="connsiteY20" fmla="*/ 565150 h 1003300"/>
                <a:gd name="connsiteX21" fmla="*/ 133350 w 1206500"/>
                <a:gd name="connsiteY21" fmla="*/ 514350 h 1003300"/>
                <a:gd name="connsiteX22" fmla="*/ 0 w 1206500"/>
                <a:gd name="connsiteY22" fmla="*/ 463550 h 100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06500" h="1003300">
                  <a:moveTo>
                    <a:pt x="0" y="463550"/>
                  </a:moveTo>
                  <a:lnTo>
                    <a:pt x="965200" y="0"/>
                  </a:lnTo>
                  <a:lnTo>
                    <a:pt x="920750" y="139700"/>
                  </a:lnTo>
                  <a:lnTo>
                    <a:pt x="984250" y="177800"/>
                  </a:lnTo>
                  <a:lnTo>
                    <a:pt x="977900" y="254000"/>
                  </a:lnTo>
                  <a:lnTo>
                    <a:pt x="1054100" y="254000"/>
                  </a:lnTo>
                  <a:lnTo>
                    <a:pt x="1143000" y="228600"/>
                  </a:lnTo>
                  <a:lnTo>
                    <a:pt x="1155700" y="361950"/>
                  </a:lnTo>
                  <a:lnTo>
                    <a:pt x="1041400" y="482600"/>
                  </a:lnTo>
                  <a:lnTo>
                    <a:pt x="1187450" y="400050"/>
                  </a:lnTo>
                  <a:lnTo>
                    <a:pt x="1085850" y="552450"/>
                  </a:lnTo>
                  <a:lnTo>
                    <a:pt x="1206500" y="520700"/>
                  </a:lnTo>
                  <a:lnTo>
                    <a:pt x="171450" y="1003300"/>
                  </a:lnTo>
                  <a:lnTo>
                    <a:pt x="209550" y="946150"/>
                  </a:lnTo>
                  <a:lnTo>
                    <a:pt x="292100" y="876300"/>
                  </a:lnTo>
                  <a:lnTo>
                    <a:pt x="133350" y="863600"/>
                  </a:lnTo>
                  <a:lnTo>
                    <a:pt x="222250" y="774700"/>
                  </a:lnTo>
                  <a:lnTo>
                    <a:pt x="101600" y="762000"/>
                  </a:lnTo>
                  <a:lnTo>
                    <a:pt x="190500" y="647700"/>
                  </a:lnTo>
                  <a:lnTo>
                    <a:pt x="57150" y="615950"/>
                  </a:lnTo>
                  <a:lnTo>
                    <a:pt x="57150" y="565150"/>
                  </a:lnTo>
                  <a:lnTo>
                    <a:pt x="133350" y="514350"/>
                  </a:lnTo>
                  <a:lnTo>
                    <a:pt x="0" y="463550"/>
                  </a:lnTo>
                  <a:close/>
                </a:path>
              </a:pathLst>
            </a:custGeom>
            <a:solidFill>
              <a:srgbClr val="BFBFB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2" name="图片 11" descr="timg (5)"/>
          <p:cNvPicPr>
            <a:picLocks noChangeAspect="1"/>
          </p:cNvPicPr>
          <p:nvPr/>
        </p:nvPicPr>
        <p:blipFill>
          <a:blip r:embed="rId10" cstate="print"/>
          <a:stretch>
            <a:fillRect/>
          </a:stretch>
        </p:blipFill>
        <p:spPr>
          <a:xfrm rot="480000">
            <a:off x="7955843" y="3336619"/>
            <a:ext cx="3203860" cy="2335164"/>
          </a:xfrm>
          <a:prstGeom prst="rect">
            <a:avLst/>
          </a:prstGeom>
        </p:spPr>
      </p:pic>
      <p:sp>
        <p:nvSpPr>
          <p:cNvPr id="10" name="MH_Text_1"/>
          <p:cNvSpPr/>
          <p:nvPr>
            <p:custDataLst>
              <p:tags r:id="rId1"/>
            </p:custDataLst>
          </p:nvPr>
        </p:nvSpPr>
        <p:spPr>
          <a:xfrm>
            <a:off x="655094" y="2527169"/>
            <a:ext cx="6836912" cy="3464210"/>
          </a:xfrm>
          <a:prstGeom prst="rect">
            <a:avLst/>
          </a:prstGeom>
        </p:spPr>
        <p:txBody>
          <a:bodyPr vert="horz" wrap="square" anchor="t" anchorCtr="0">
            <a:noAutofit/>
          </a:bodyPr>
          <a:lstStyle/>
          <a:p>
            <a:pPr indent="457200" fontAlgn="auto">
              <a:lnSpc>
                <a:spcPct val="120000"/>
              </a:lnSpc>
            </a:pPr>
            <a:r>
              <a:rPr b="1" dirty="0" smtClean="0">
                <a:solidFill>
                  <a:schemeClr val="accent2">
                    <a:lumMod val="50000"/>
                  </a:schemeClr>
                </a:solidFill>
                <a:latin typeface="+mn-ea"/>
                <a:cs typeface="宋体" panose="02010600030101010101" pitchFamily="2" charset="-122"/>
              </a:rPr>
              <a:t>虚拟化技术是指计算元件在虚拟的基础上而不是真实的基础上运行，它可以扩大硬件的容量，简化软件的重新配置过程，减少软件虚拟机相关开销和支持更广泛的操作系统方面。</a:t>
            </a:r>
            <a:r>
              <a:rPr dirty="0" smtClean="0">
                <a:latin typeface="+mn-ea"/>
                <a:cs typeface="宋体" panose="02010600030101010101" pitchFamily="2" charset="-122"/>
              </a:rPr>
              <a:t>通过虚拟化技术可实现软件应用与底层硬件相隔离，它包括将单个资源划分成多个虚拟资源的裂分模式，也包括将多个资源整合成一个虚拟资源的聚合模式。</a:t>
            </a:r>
          </a:p>
          <a:p>
            <a:pPr indent="457200" fontAlgn="auto">
              <a:lnSpc>
                <a:spcPct val="120000"/>
              </a:lnSpc>
            </a:pPr>
            <a:r>
              <a:rPr dirty="0" smtClean="0">
                <a:latin typeface="+mn-ea"/>
                <a:cs typeface="宋体" panose="02010600030101010101" pitchFamily="2" charset="-122"/>
              </a:rPr>
              <a:t>虚拟化技术根据对象可分成</a:t>
            </a:r>
            <a:r>
              <a:rPr b="1" dirty="0" smtClean="0">
                <a:solidFill>
                  <a:schemeClr val="accent2">
                    <a:lumMod val="50000"/>
                  </a:schemeClr>
                </a:solidFill>
                <a:latin typeface="+mn-ea"/>
                <a:cs typeface="宋体" panose="02010600030101010101" pitchFamily="2" charset="-122"/>
              </a:rPr>
              <a:t>存储虚拟化、计算虚拟化、网络虚拟化等，计算虚拟化又分为系统级虚拟化、应用级虚拟化和桌面虚拟化。</a:t>
            </a:r>
            <a:r>
              <a:rPr dirty="0" smtClean="0">
                <a:latin typeface="+mn-ea"/>
                <a:cs typeface="宋体" panose="02010600030101010101" pitchFamily="2" charset="-122"/>
              </a:rPr>
              <a:t>在云计算实现中，计算系统虚拟化是一切建立在“云”上的服务与应用的基础。虚拟化技术目前主要应用在CPU、操作系统、服务器等多个方面，是提高服务效率的最佳解决方案。</a:t>
            </a:r>
          </a:p>
        </p:txBody>
      </p:sp>
      <p:sp>
        <p:nvSpPr>
          <p:cNvPr id="13" name="MH_SubTitle_2"/>
          <p:cNvSpPr/>
          <p:nvPr>
            <p:custDataLst>
              <p:tags r:id="rId2"/>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虚拟化技术</a:t>
            </a:r>
          </a:p>
        </p:txBody>
      </p:sp>
      <p:sp>
        <p:nvSpPr>
          <p:cNvPr id="14" name="MH_Other_5"/>
          <p:cNvSpPr/>
          <p:nvPr>
            <p:custDataLst>
              <p:tags r:id="rId3"/>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02</a:t>
            </a:r>
            <a:endParaRPr lang="zh-CN" altLang="en-US" sz="3200" dirty="0">
              <a:solidFill>
                <a:srgbClr val="FFFFFF"/>
              </a:solidFill>
              <a:latin typeface="Impact" panose="020B0806030902050204" pitchFamily="34" charset="0"/>
              <a:ea typeface="微软雅黑" panose="020B0503020204020204" charset="-122"/>
            </a:endParaRPr>
          </a:p>
        </p:txBody>
      </p:sp>
      <p:sp>
        <p:nvSpPr>
          <p:cNvPr id="15" name="MH_Other_6"/>
          <p:cNvSpPr/>
          <p:nvPr>
            <p:custDataLst>
              <p:tags r:id="rId4"/>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sp>
        <p:nvSpPr>
          <p:cNvPr id="100" name="文本框 99"/>
          <p:cNvSpPr txBox="1"/>
          <p:nvPr/>
        </p:nvSpPr>
        <p:spPr>
          <a:xfrm>
            <a:off x="502020" y="2772552"/>
            <a:ext cx="6353175" cy="3017514"/>
          </a:xfrm>
          <a:prstGeom prst="roundRect">
            <a:avLst/>
          </a:prstGeom>
          <a:noFill/>
          <a:ln w="9525">
            <a:solidFill>
              <a:schemeClr val="accent2"/>
            </a:solidFill>
            <a:prstDash val="sysDot"/>
          </a:ln>
        </p:spPr>
        <p:txBody>
          <a:bodyPr wrap="square">
            <a:spAutoFit/>
          </a:bodyPr>
          <a:lstStyle/>
          <a:p>
            <a:pPr marL="0" indent="457200" algn="l" fontAlgn="auto">
              <a:lnSpc>
                <a:spcPct val="120000"/>
              </a:lnSpc>
            </a:pPr>
            <a:r>
              <a:rPr lang="zh-CN" altLang="en-US" b="0" u="none" dirty="0">
                <a:latin typeface="微软雅黑" panose="020B0503020204020204" charset="-122"/>
                <a:ea typeface="微软雅黑" panose="020B0503020204020204" charset="-122"/>
                <a:cs typeface="宋体" panose="02010600030101010101" pitchFamily="2" charset="-122"/>
              </a:rPr>
              <a:t>云计算提供了分布式的计算模式，客观上要求必须有分布式的编程模式。云计算采用了一种思想简洁的分布式并行编程模型MapReduce。</a:t>
            </a:r>
            <a:r>
              <a:rPr lang="zh-CN" altLang="en-US" b="1" u="none" dirty="0">
                <a:solidFill>
                  <a:srgbClr val="00B050"/>
                </a:solidFill>
                <a:latin typeface="微软雅黑" panose="020B0503020204020204" charset="-122"/>
                <a:ea typeface="微软雅黑" panose="020B0503020204020204" charset="-122"/>
                <a:cs typeface="宋体" panose="02010600030101010101" pitchFamily="2" charset="-122"/>
              </a:rPr>
              <a:t>MapReduce是一种编程模型和任务调度模型，主要用于数据集的并行运算和并行任务的调度处理。</a:t>
            </a:r>
            <a:r>
              <a:rPr lang="zh-CN" altLang="en-US" b="0" u="none" dirty="0">
                <a:latin typeface="微软雅黑" panose="020B0503020204020204" charset="-122"/>
                <a:ea typeface="微软雅黑" panose="020B0503020204020204" charset="-122"/>
                <a:cs typeface="宋体" panose="02010600030101010101" pitchFamily="2" charset="-122"/>
              </a:rPr>
              <a:t>在该模式下，用户只需要自行编写Map函数和Reduce函数即可进行并行计算。其中，</a:t>
            </a:r>
            <a:r>
              <a:rPr lang="zh-CN" altLang="en-US" b="1" u="none" dirty="0">
                <a:solidFill>
                  <a:srgbClr val="00B050"/>
                </a:solidFill>
                <a:latin typeface="微软雅黑" panose="020B0503020204020204" charset="-122"/>
                <a:ea typeface="微软雅黑" panose="020B0503020204020204" charset="-122"/>
                <a:cs typeface="宋体" panose="02010600030101010101" pitchFamily="2" charset="-122"/>
              </a:rPr>
              <a:t>Map函数中定义各节点上的分块数据的处理方法，而Reduce函数中定义中间结果的保存方法及最终结果的归纳方法。</a:t>
            </a:r>
          </a:p>
        </p:txBody>
      </p:sp>
      <p:pic>
        <p:nvPicPr>
          <p:cNvPr id="2" name="图片 1" descr="timg (10)"/>
          <p:cNvPicPr>
            <a:picLocks noChangeAspect="1"/>
          </p:cNvPicPr>
          <p:nvPr/>
        </p:nvPicPr>
        <p:blipFill>
          <a:blip r:embed="rId6" cstate="print"/>
          <a:stretch>
            <a:fillRect/>
          </a:stretch>
        </p:blipFill>
        <p:spPr>
          <a:xfrm>
            <a:off x="7291174" y="2978630"/>
            <a:ext cx="3708922" cy="3108272"/>
          </a:xfrm>
          <a:prstGeom prst="decagon">
            <a:avLst/>
          </a:prstGeom>
        </p:spPr>
      </p:pic>
      <p:sp>
        <p:nvSpPr>
          <p:cNvPr id="6" name="MH_SubTitle_2"/>
          <p:cNvSpPr/>
          <p:nvPr>
            <p:custDataLst>
              <p:tags r:id="rId1"/>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编程模式</a:t>
            </a:r>
          </a:p>
        </p:txBody>
      </p:sp>
      <p:sp>
        <p:nvSpPr>
          <p:cNvPr id="7" name="MH_Other_5"/>
          <p:cNvSpPr/>
          <p:nvPr>
            <p:custDataLst>
              <p:tags r:id="rId2"/>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03</a:t>
            </a:r>
            <a:endParaRPr lang="zh-CN" altLang="en-US" sz="3200" dirty="0">
              <a:solidFill>
                <a:srgbClr val="FFFFFF"/>
              </a:solidFill>
              <a:latin typeface="Impact" panose="020B0806030902050204" pitchFamily="34" charset="0"/>
              <a:ea typeface="微软雅黑" panose="020B0503020204020204" charset="-122"/>
            </a:endParaRPr>
          </a:p>
        </p:txBody>
      </p:sp>
      <p:sp>
        <p:nvSpPr>
          <p:cNvPr id="8" name="MH_Other_6"/>
          <p:cNvSpPr/>
          <p:nvPr>
            <p:custDataLst>
              <p:tags r:id="rId3"/>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sp>
        <p:nvSpPr>
          <p:cNvPr id="15" name="MH_SubTitle_1"/>
          <p:cNvSpPr/>
          <p:nvPr>
            <p:custDataLst>
              <p:tags r:id="rId1"/>
            </p:custDataLst>
          </p:nvPr>
        </p:nvSpPr>
        <p:spPr>
          <a:xfrm>
            <a:off x="530975" y="2714568"/>
            <a:ext cx="6030595" cy="3211830"/>
          </a:xfrm>
          <a:prstGeom prst="rect">
            <a:avLst/>
          </a:prstGeom>
          <a:solidFill>
            <a:srgbClr val="45C1A4"/>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anchor="ctr"/>
          <a:lstStyle/>
          <a:p>
            <a:pPr indent="457200" algn="just" fontAlgn="auto">
              <a:lnSpc>
                <a:spcPct val="130000"/>
              </a:lnSpc>
              <a:spcBef>
                <a:spcPts val="600"/>
              </a:spcBef>
              <a:spcAft>
                <a:spcPts val="600"/>
              </a:spcAft>
              <a:defRPr/>
            </a:pPr>
            <a:r>
              <a:rPr lang="en-US" altLang="zh-CN" b="1" dirty="0" smtClean="0">
                <a:solidFill>
                  <a:srgbClr val="FFFF00"/>
                </a:solidFill>
                <a:latin typeface="微软雅黑" panose="020B0503020204020204" charset="-122"/>
                <a:ea typeface="微软雅黑" panose="020B0503020204020204" charset="-122"/>
              </a:rPr>
              <a:t>云计算系统由大量服务器组成，同时为大量用户服务，因此云计算系统采用分布式存储的方式存储数据，用冗余存储的方式（集群计算、数据冗余和分布式存储）保证数据的可靠性。</a:t>
            </a:r>
            <a:r>
              <a:rPr lang="en-US" altLang="zh-CN" dirty="0" smtClean="0">
                <a:solidFill>
                  <a:schemeClr val="bg1"/>
                </a:solidFill>
                <a:latin typeface="微软雅黑" panose="020B0503020204020204" charset="-122"/>
                <a:ea typeface="微软雅黑" panose="020B0503020204020204" charset="-122"/>
              </a:rPr>
              <a:t>冗余的方式通过任务分解和集群，用低配机器替代超级计算机的性能来保证低成本，这种方式能保证分布式数据的高可用、高可靠和经济性，即为同一份数据存储多个副本。</a:t>
            </a:r>
            <a:r>
              <a:rPr lang="en-US" altLang="zh-CN" dirty="0" err="1" smtClean="0">
                <a:solidFill>
                  <a:schemeClr val="bg1"/>
                </a:solidFill>
                <a:latin typeface="微软雅黑" panose="020B0503020204020204" charset="-122"/>
                <a:ea typeface="微软雅黑" panose="020B0503020204020204" charset="-122"/>
              </a:rPr>
              <a:t>云计算系统中广泛使用的数据存储系统有Google文件系统（Google</a:t>
            </a:r>
            <a:r>
              <a:rPr lang="en-US" altLang="zh-CN" dirty="0" smtClean="0">
                <a:solidFill>
                  <a:schemeClr val="bg1"/>
                </a:solidFill>
                <a:latin typeface="微软雅黑" panose="020B0503020204020204" charset="-122"/>
                <a:ea typeface="微软雅黑" panose="020B0503020204020204" charset="-122"/>
              </a:rPr>
              <a:t> File </a:t>
            </a:r>
            <a:r>
              <a:rPr lang="en-US" altLang="zh-CN" dirty="0" err="1" smtClean="0">
                <a:solidFill>
                  <a:schemeClr val="bg1"/>
                </a:solidFill>
                <a:latin typeface="微软雅黑" panose="020B0503020204020204" charset="-122"/>
                <a:ea typeface="微软雅黑" panose="020B0503020204020204" charset="-122"/>
              </a:rPr>
              <a:t>System，GFS</a:t>
            </a:r>
            <a:r>
              <a:rPr lang="en-US" altLang="zh-CN" dirty="0" smtClean="0">
                <a:solidFill>
                  <a:schemeClr val="bg1"/>
                </a:solidFill>
                <a:latin typeface="微软雅黑" panose="020B0503020204020204" charset="-122"/>
                <a:ea typeface="微软雅黑" panose="020B0503020204020204" charset="-122"/>
              </a:rPr>
              <a:t>）。</a:t>
            </a:r>
          </a:p>
        </p:txBody>
      </p:sp>
      <p:pic>
        <p:nvPicPr>
          <p:cNvPr id="4" name="图片 3" descr="timg"/>
          <p:cNvPicPr>
            <a:picLocks noChangeAspect="1"/>
          </p:cNvPicPr>
          <p:nvPr/>
        </p:nvPicPr>
        <p:blipFill>
          <a:blip r:embed="rId7" cstate="print"/>
          <a:stretch>
            <a:fillRect/>
          </a:stretch>
        </p:blipFill>
        <p:spPr>
          <a:xfrm>
            <a:off x="6858471" y="3070746"/>
            <a:ext cx="4241264" cy="2838734"/>
          </a:xfrm>
          <a:prstGeom prst="heart">
            <a:avLst/>
          </a:prstGeom>
        </p:spPr>
      </p:pic>
      <p:sp>
        <p:nvSpPr>
          <p:cNvPr id="6" name="MH_SubTitle_2"/>
          <p:cNvSpPr/>
          <p:nvPr>
            <p:custDataLst>
              <p:tags r:id="rId2"/>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海量数据分布存储技术</a:t>
            </a:r>
          </a:p>
        </p:txBody>
      </p:sp>
      <p:sp>
        <p:nvSpPr>
          <p:cNvPr id="7" name="MH_Other_5"/>
          <p:cNvSpPr/>
          <p:nvPr>
            <p:custDataLst>
              <p:tags r:id="rId3"/>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04</a:t>
            </a:r>
            <a:endParaRPr lang="zh-CN" altLang="en-US" sz="3200" dirty="0">
              <a:solidFill>
                <a:srgbClr val="FFFFFF"/>
              </a:solidFill>
              <a:latin typeface="Impact" panose="020B0806030902050204" pitchFamily="34" charset="0"/>
              <a:ea typeface="微软雅黑" panose="020B0503020204020204" charset="-122"/>
            </a:endParaRPr>
          </a:p>
        </p:txBody>
      </p:sp>
      <p:sp>
        <p:nvSpPr>
          <p:cNvPr id="8" name="MH_Other_6"/>
          <p:cNvSpPr/>
          <p:nvPr>
            <p:custDataLst>
              <p:tags r:id="rId4"/>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sp>
        <p:nvSpPr>
          <p:cNvPr id="8" name="文本框 7"/>
          <p:cNvSpPr txBox="1"/>
          <p:nvPr/>
        </p:nvSpPr>
        <p:spPr>
          <a:xfrm>
            <a:off x="591393" y="2563409"/>
            <a:ext cx="6792046" cy="3693319"/>
          </a:xfrm>
          <a:prstGeom prst="rect">
            <a:avLst/>
          </a:prstGeom>
          <a:noFill/>
          <a:ln w="9525">
            <a:noFill/>
          </a:ln>
        </p:spPr>
        <p:txBody>
          <a:bodyPr wrap="square">
            <a:spAutoFit/>
          </a:bodyPr>
          <a:lstStyle/>
          <a:p>
            <a:pPr marL="0" indent="457200" algn="l" fontAlgn="auto">
              <a:lnSpc>
                <a:spcPct val="130000"/>
              </a:lnSpc>
            </a:pPr>
            <a:r>
              <a:rPr lang="zh-CN" altLang="en-US" b="1" u="none" dirty="0">
                <a:solidFill>
                  <a:srgbClr val="7030A0"/>
                </a:solidFill>
                <a:latin typeface="微软雅黑" panose="020B0503020204020204" charset="-122"/>
                <a:ea typeface="微软雅黑" panose="020B0503020204020204" charset="-122"/>
                <a:cs typeface="宋体" panose="02010600030101010101" pitchFamily="2" charset="-122"/>
              </a:rPr>
              <a:t>云计算需要对分布的、海量的数据进行处理、分析，因此数据管理技术必须能够高效地管理大量的数据。</a:t>
            </a:r>
            <a:r>
              <a:rPr lang="zh-CN" altLang="en-US" b="0" u="none" dirty="0">
                <a:latin typeface="微软雅黑" panose="020B0503020204020204" charset="-122"/>
                <a:ea typeface="微软雅黑" panose="020B0503020204020204" charset="-122"/>
                <a:cs typeface="宋体" panose="02010600030101010101" pitchFamily="2" charset="-122"/>
              </a:rPr>
              <a:t>云计算系统中的数据管理技术主要是Google的BigTable数据管理技术和Hadoop团队开发的开源数据管理模块HBase。由于云数据存储管理形式不同于传统的关系数据库数据管理方式，</a:t>
            </a:r>
            <a:r>
              <a:rPr lang="zh-CN" altLang="en-US" b="1" u="none" dirty="0">
                <a:solidFill>
                  <a:srgbClr val="7030A0"/>
                </a:solidFill>
                <a:latin typeface="微软雅黑" panose="020B0503020204020204" charset="-122"/>
                <a:ea typeface="微软雅黑" panose="020B0503020204020204" charset="-122"/>
                <a:cs typeface="宋体" panose="02010600030101010101" pitchFamily="2" charset="-122"/>
              </a:rPr>
              <a:t>如何在规模巨大的分布式数据中找到特定的数据，也是云计算数据管理技术所必须解决的问题。</a:t>
            </a:r>
            <a:r>
              <a:rPr lang="zh-CN" altLang="en-US" b="0" u="none" dirty="0">
                <a:latin typeface="微软雅黑" panose="020B0503020204020204" charset="-122"/>
                <a:ea typeface="微软雅黑" panose="020B0503020204020204" charset="-122"/>
                <a:cs typeface="宋体" panose="02010600030101010101" pitchFamily="2" charset="-122"/>
              </a:rPr>
              <a:t>同时，由于管理形式的不同造成传统的SQL数据库接口无法直接移植到云管理系统中来，目前一些研究在关注为云数据管理提供RDBMS和SQL的接口。另外，</a:t>
            </a:r>
            <a:r>
              <a:rPr lang="zh-CN" altLang="en-US" b="1" u="none" dirty="0">
                <a:solidFill>
                  <a:srgbClr val="7030A0"/>
                </a:solidFill>
                <a:latin typeface="微软雅黑" panose="020B0503020204020204" charset="-122"/>
                <a:ea typeface="微软雅黑" panose="020B0503020204020204" charset="-122"/>
                <a:cs typeface="宋体" panose="02010600030101010101" pitchFamily="2" charset="-122"/>
              </a:rPr>
              <a:t>在云数据管理方面，如何保证数据安全性和数据访问高效性也是研究关注的重点问题之一。</a:t>
            </a:r>
          </a:p>
        </p:txBody>
      </p:sp>
      <p:pic>
        <p:nvPicPr>
          <p:cNvPr id="10" name="图片 9" descr="timg (12)"/>
          <p:cNvPicPr>
            <a:picLocks noChangeAspect="1"/>
          </p:cNvPicPr>
          <p:nvPr/>
        </p:nvPicPr>
        <p:blipFill>
          <a:blip r:embed="rId6" cstate="print"/>
          <a:stretch>
            <a:fillRect/>
          </a:stretch>
        </p:blipFill>
        <p:spPr>
          <a:xfrm>
            <a:off x="7667025" y="3088390"/>
            <a:ext cx="3742503" cy="2902977"/>
          </a:xfrm>
          <a:prstGeom prst="plaque">
            <a:avLst/>
          </a:prstGeom>
        </p:spPr>
      </p:pic>
      <p:sp>
        <p:nvSpPr>
          <p:cNvPr id="7" name="MH_SubTitle_2"/>
          <p:cNvSpPr/>
          <p:nvPr>
            <p:custDataLst>
              <p:tags r:id="rId1"/>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海量数据管理技术</a:t>
            </a:r>
          </a:p>
        </p:txBody>
      </p:sp>
      <p:sp>
        <p:nvSpPr>
          <p:cNvPr id="9" name="MH_Other_5"/>
          <p:cNvSpPr/>
          <p:nvPr>
            <p:custDataLst>
              <p:tags r:id="rId2"/>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05</a:t>
            </a:r>
            <a:endParaRPr lang="zh-CN" altLang="en-US" sz="3200" dirty="0">
              <a:solidFill>
                <a:srgbClr val="FFFFFF"/>
              </a:solidFill>
              <a:latin typeface="Impact" panose="020B0806030902050204" pitchFamily="34" charset="0"/>
              <a:ea typeface="微软雅黑" panose="020B0503020204020204" charset="-122"/>
            </a:endParaRPr>
          </a:p>
        </p:txBody>
      </p:sp>
      <p:sp>
        <p:nvSpPr>
          <p:cNvPr id="11" name="MH_Other_6"/>
          <p:cNvSpPr/>
          <p:nvPr>
            <p:custDataLst>
              <p:tags r:id="rId3"/>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sp>
        <p:nvSpPr>
          <p:cNvPr id="100" name="文本框 99"/>
          <p:cNvSpPr txBox="1"/>
          <p:nvPr/>
        </p:nvSpPr>
        <p:spPr>
          <a:xfrm>
            <a:off x="620118" y="2669693"/>
            <a:ext cx="6381181" cy="3323987"/>
          </a:xfrm>
          <a:prstGeom prst="rect">
            <a:avLst/>
          </a:prstGeom>
          <a:noFill/>
          <a:ln w="9525">
            <a:noFill/>
          </a:ln>
        </p:spPr>
        <p:txBody>
          <a:bodyPr wrap="square">
            <a:spAutoFit/>
          </a:bodyPr>
          <a:lstStyle/>
          <a:p>
            <a:pPr marL="0" indent="457200" algn="l" fontAlgn="auto">
              <a:lnSpc>
                <a:spcPct val="150000"/>
              </a:lnSpc>
            </a:pPr>
            <a:r>
              <a:rPr sz="2000" u="none" dirty="0">
                <a:latin typeface="+mn-ea"/>
              </a:rPr>
              <a:t>云计算资源规模庞大、服务器数量众多并分布在不同的地点、同时运行着数百种应用，如何有效地管理这些服务器，保证整个系统提供不间断的服务是巨大的挑战。</a:t>
            </a:r>
            <a:r>
              <a:rPr sz="2000" b="1" u="none" dirty="0">
                <a:solidFill>
                  <a:schemeClr val="accent3">
                    <a:lumMod val="50000"/>
                  </a:schemeClr>
                </a:solidFill>
                <a:latin typeface="+mn-ea"/>
              </a:rPr>
              <a:t>云计算系统的平台管理技术能够使大量的服务器协同工作，方便地进行业务部署和开通，快速发现和恢复系统故障，通过自动化、智能化的手段实现大规模系统的可靠运营。</a:t>
            </a:r>
          </a:p>
        </p:txBody>
      </p:sp>
      <p:pic>
        <p:nvPicPr>
          <p:cNvPr id="5" name="图片 4" descr="u=2134394438,2676485623&amp;fm=21&amp;gp=0"/>
          <p:cNvPicPr>
            <a:picLocks noChangeAspect="1"/>
          </p:cNvPicPr>
          <p:nvPr/>
        </p:nvPicPr>
        <p:blipFill>
          <a:blip r:embed="rId6" cstate="print"/>
          <a:srcRect l="12566" r="8436"/>
          <a:stretch>
            <a:fillRect/>
          </a:stretch>
        </p:blipFill>
        <p:spPr>
          <a:xfrm>
            <a:off x="7315200" y="2971582"/>
            <a:ext cx="4094328" cy="2926080"/>
          </a:xfrm>
          <a:prstGeom prst="flowChartPunchedTape">
            <a:avLst/>
          </a:prstGeom>
        </p:spPr>
      </p:pic>
      <p:sp>
        <p:nvSpPr>
          <p:cNvPr id="7" name="MH_SubTitle_2"/>
          <p:cNvSpPr/>
          <p:nvPr>
            <p:custDataLst>
              <p:tags r:id="rId1"/>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云计算平台管理技术</a:t>
            </a:r>
          </a:p>
        </p:txBody>
      </p:sp>
      <p:sp>
        <p:nvSpPr>
          <p:cNvPr id="8" name="MH_Other_5"/>
          <p:cNvSpPr/>
          <p:nvPr>
            <p:custDataLst>
              <p:tags r:id="rId2"/>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06</a:t>
            </a:r>
            <a:endParaRPr lang="zh-CN" altLang="en-US" sz="3200" dirty="0">
              <a:solidFill>
                <a:srgbClr val="FFFFFF"/>
              </a:solidFill>
              <a:latin typeface="Impact" panose="020B0806030902050204" pitchFamily="34" charset="0"/>
              <a:ea typeface="微软雅黑" panose="020B0503020204020204" charset="-122"/>
            </a:endParaRPr>
          </a:p>
        </p:txBody>
      </p:sp>
      <p:sp>
        <p:nvSpPr>
          <p:cNvPr id="9" name="MH_Other_6"/>
          <p:cNvSpPr/>
          <p:nvPr>
            <p:custDataLst>
              <p:tags r:id="rId3"/>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11.4  </a:t>
            </a:r>
            <a:r>
              <a:rPr lang="zh-CN" altLang="en-US" dirty="0" smtClean="0">
                <a:solidFill>
                  <a:srgbClr val="FF0000"/>
                </a:solidFill>
                <a:sym typeface="+mn-ea"/>
              </a:rPr>
              <a:t>云计算与软件开发</a:t>
            </a:r>
            <a:r>
              <a:rPr dirty="0">
                <a:solidFill>
                  <a:srgbClr val="FF0000"/>
                </a:solidFill>
              </a:rPr>
              <a:t/>
            </a:r>
            <a:br>
              <a:rPr dirty="0">
                <a:solidFill>
                  <a:srgbClr val="FF0000"/>
                </a:solidFill>
              </a:rPr>
            </a:br>
            <a:endParaRPr dirty="0">
              <a:solidFill>
                <a:srgbClr val="FF0000"/>
              </a:solidFill>
              <a:sym typeface="+mn-ea"/>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11.4.2  </a:t>
            </a:r>
            <a:r>
              <a:rPr lang="zh-CN" altLang="en-US" sz="2400" dirty="0" smtClean="0">
                <a:solidFill>
                  <a:schemeClr val="tx1"/>
                </a:solidFill>
              </a:rPr>
              <a:t>云计算的关键技术</a:t>
            </a:r>
          </a:p>
        </p:txBody>
      </p:sp>
      <p:sp>
        <p:nvSpPr>
          <p:cNvPr id="19" name="矩形 18"/>
          <p:cNvSpPr/>
          <p:nvPr/>
        </p:nvSpPr>
        <p:spPr>
          <a:xfrm>
            <a:off x="876167" y="2589786"/>
            <a:ext cx="6084191" cy="3416320"/>
          </a:xfrm>
          <a:prstGeom prst="rect">
            <a:avLst/>
          </a:prstGeom>
        </p:spPr>
        <p:txBody>
          <a:bodyPr wrap="square">
            <a:spAutoFit/>
          </a:bodyPr>
          <a:lstStyle/>
          <a:p>
            <a:pPr indent="457200">
              <a:lnSpc>
                <a:spcPct val="150000"/>
              </a:lnSpc>
              <a:defRPr/>
            </a:pP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由于为数巨大的用户将海量信息存储在云端，这些信息的安全性成为考验云计算平台的难点</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只有配备了严格的安全管理机制，才能确保只有具备数据访问权限的人可看到对应级别的信息</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b="1" kern="0" dirty="0" err="1" smtClean="0">
                <a:latin typeface="微软雅黑" panose="020B0503020204020204" charset="-122"/>
                <a:ea typeface="微软雅黑" panose="020B0503020204020204" charset="-122"/>
                <a:cs typeface="宋体" panose="02010600030101010101" pitchFamily="2" charset="-122"/>
                <a:sym typeface="+mn-ea"/>
              </a:rPr>
              <a:t>因此云资源访问控制、网络安全和隐私保护都是云安全管理中的重要技术</a:t>
            </a:r>
            <a:r>
              <a:rPr lang="en-US" altLang="zh-CN" b="1"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应重点解决两个问题：</a:t>
            </a:r>
            <a:r>
              <a:rPr lang="en-US" altLang="zh-CN" b="1" kern="0" dirty="0" smtClean="0">
                <a:latin typeface="微软雅黑" panose="020B0503020204020204" charset="-122"/>
                <a:ea typeface="微软雅黑" panose="020B0503020204020204" charset="-122"/>
                <a:cs typeface="宋体" panose="02010600030101010101" pitchFamily="2" charset="-122"/>
                <a:sym typeface="+mn-ea"/>
              </a:rPr>
              <a:t>一是如何确保数据在网络传输过程中的安全；二是如何保障存储的数据不被泄露或非法访问，只有合法用户才能合理地访问自己的数据。</a:t>
            </a:r>
          </a:p>
        </p:txBody>
      </p:sp>
      <p:pic>
        <p:nvPicPr>
          <p:cNvPr id="2" name="图片 1" descr="u=1614620361,2064329759&amp;fm=21&amp;gp=0"/>
          <p:cNvPicPr>
            <a:picLocks noChangeAspect="1"/>
          </p:cNvPicPr>
          <p:nvPr/>
        </p:nvPicPr>
        <p:blipFill>
          <a:blip r:embed="rId6" cstate="print"/>
          <a:stretch>
            <a:fillRect/>
          </a:stretch>
        </p:blipFill>
        <p:spPr>
          <a:xfrm>
            <a:off x="7239170" y="3164622"/>
            <a:ext cx="4083050" cy="2722880"/>
          </a:xfrm>
          <a:prstGeom prst="teardrop">
            <a:avLst/>
          </a:prstGeom>
        </p:spPr>
      </p:pic>
      <p:sp>
        <p:nvSpPr>
          <p:cNvPr id="8" name="MH_SubTitle_2"/>
          <p:cNvSpPr/>
          <p:nvPr>
            <p:custDataLst>
              <p:tags r:id="rId1"/>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云安全管理技术</a:t>
            </a:r>
          </a:p>
        </p:txBody>
      </p:sp>
      <p:sp>
        <p:nvSpPr>
          <p:cNvPr id="9" name="MH_Other_5"/>
          <p:cNvSpPr/>
          <p:nvPr>
            <p:custDataLst>
              <p:tags r:id="rId2"/>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07</a:t>
            </a:r>
            <a:endParaRPr lang="zh-CN" altLang="en-US" sz="3200" dirty="0">
              <a:solidFill>
                <a:srgbClr val="FFFFFF"/>
              </a:solidFill>
              <a:latin typeface="Impact" panose="020B0806030902050204" pitchFamily="34" charset="0"/>
              <a:ea typeface="微软雅黑" panose="020B0503020204020204" charset="-122"/>
            </a:endParaRPr>
          </a:p>
        </p:txBody>
      </p:sp>
      <p:sp>
        <p:nvSpPr>
          <p:cNvPr id="10" name="MH_Other_6"/>
          <p:cNvSpPr/>
          <p:nvPr>
            <p:custDataLst>
              <p:tags r:id="rId3"/>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11.4.2  云计算的关键技术</a:t>
            </a:r>
          </a:p>
        </p:txBody>
      </p:sp>
      <p:grpSp>
        <p:nvGrpSpPr>
          <p:cNvPr id="7" name="组合 6"/>
          <p:cNvGrpSpPr/>
          <p:nvPr/>
        </p:nvGrpSpPr>
        <p:grpSpPr>
          <a:xfrm>
            <a:off x="8338782" y="2778006"/>
            <a:ext cx="2848373" cy="3080385"/>
            <a:chOff x="8349307" y="2016744"/>
            <a:chExt cx="2471075" cy="3171919"/>
          </a:xfrm>
        </p:grpSpPr>
        <p:pic>
          <p:nvPicPr>
            <p:cNvPr id="2" name="图片 1" descr="1429840463710"/>
            <p:cNvPicPr>
              <a:picLocks noChangeAspect="1"/>
            </p:cNvPicPr>
            <p:nvPr/>
          </p:nvPicPr>
          <p:blipFill>
            <a:blip r:embed="rId6" cstate="print"/>
            <a:stretch>
              <a:fillRect/>
            </a:stretch>
          </p:blipFill>
          <p:spPr>
            <a:xfrm>
              <a:off x="8349307" y="2016744"/>
              <a:ext cx="2465837" cy="1593304"/>
            </a:xfrm>
            <a:prstGeom prst="horizontalScroll">
              <a:avLst/>
            </a:prstGeom>
          </p:spPr>
        </p:pic>
        <p:pic>
          <p:nvPicPr>
            <p:cNvPr id="2050" name="Picture 2"/>
            <p:cNvPicPr>
              <a:picLocks noChangeAspect="1" noChangeArrowheads="1"/>
            </p:cNvPicPr>
            <p:nvPr/>
          </p:nvPicPr>
          <p:blipFill>
            <a:blip r:embed="rId7" cstate="print"/>
            <a:srcRect/>
            <a:stretch>
              <a:fillRect/>
            </a:stretch>
          </p:blipFill>
          <p:spPr bwMode="auto">
            <a:xfrm>
              <a:off x="8349307" y="3610304"/>
              <a:ext cx="2471075" cy="1578359"/>
            </a:xfrm>
            <a:prstGeom prst="horizontalScroll">
              <a:avLst/>
            </a:prstGeom>
            <a:noFill/>
            <a:ln w="9525">
              <a:noFill/>
              <a:miter lim="800000"/>
              <a:headEnd/>
              <a:tailEnd/>
            </a:ln>
            <a:effectLst/>
          </p:spPr>
        </p:pic>
      </p:grpSp>
      <p:sp>
        <p:nvSpPr>
          <p:cNvPr id="19" name="矩形 18"/>
          <p:cNvSpPr/>
          <p:nvPr/>
        </p:nvSpPr>
        <p:spPr>
          <a:xfrm>
            <a:off x="624142" y="2668824"/>
            <a:ext cx="7578166" cy="3416320"/>
          </a:xfrm>
          <a:prstGeom prst="rect">
            <a:avLst/>
          </a:prstGeom>
        </p:spPr>
        <p:txBody>
          <a:bodyPr wrap="square">
            <a:spAutoFit/>
          </a:bodyPr>
          <a:lstStyle/>
          <a:p>
            <a:pPr indent="457200">
              <a:lnSpc>
                <a:spcPct val="150000"/>
              </a:lnSpc>
              <a:defRPr/>
            </a:pP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目前很多公司如Amazon，IBM，Microsoft等都有自己的云计算解决方案和产品</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以Google云计算技术为例，</a:t>
            </a:r>
            <a:r>
              <a:rPr lang="en-US" altLang="zh-CN" b="1" kern="0" dirty="0" err="1" smtClean="0">
                <a:solidFill>
                  <a:srgbClr val="7030A0"/>
                </a:solidFill>
                <a:latin typeface="微软雅黑" panose="020B0503020204020204" charset="-122"/>
                <a:ea typeface="微软雅黑" panose="020B0503020204020204" charset="-122"/>
                <a:cs typeface="宋体" panose="02010600030101010101" pitchFamily="2" charset="-122"/>
                <a:sym typeface="+mn-ea"/>
              </a:rPr>
              <a:t>它包括Google文件系统（GFS</a:t>
            </a:r>
            <a:r>
              <a:rPr lang="en-US" altLang="zh-CN" b="1" kern="0" dirty="0" smtClean="0">
                <a:solidFill>
                  <a:srgbClr val="7030A0"/>
                </a:solidFill>
                <a:latin typeface="微软雅黑" panose="020B0503020204020204" charset="-122"/>
                <a:ea typeface="微软雅黑" panose="020B0503020204020204" charset="-122"/>
                <a:cs typeface="宋体" panose="02010600030101010101" pitchFamily="2" charset="-122"/>
                <a:sym typeface="+mn-ea"/>
              </a:rPr>
              <a:t>）、</a:t>
            </a:r>
            <a:r>
              <a:rPr lang="en-US" altLang="zh-CN" b="1" kern="0" dirty="0" err="1" smtClean="0">
                <a:solidFill>
                  <a:srgbClr val="7030A0"/>
                </a:solidFill>
                <a:latin typeface="微软雅黑" panose="020B0503020204020204" charset="-122"/>
                <a:ea typeface="微软雅黑" panose="020B0503020204020204" charset="-122"/>
                <a:cs typeface="宋体" panose="02010600030101010101" pitchFamily="2" charset="-122"/>
                <a:sym typeface="+mn-ea"/>
              </a:rPr>
              <a:t>分布式计算编程模型MapReduce、分布式锁服务和分布式结构化数据存储系统BigTable</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等</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。其中GFS提供了海量数据的存储和访问功能，MapReduce使得海量信息的并行处理变得简单易行，分布式锁服务保证了分布式环境下并发操作的同步问题，BigTable使得海量数据的管理和组织十分方便。</a:t>
            </a:r>
            <a:r>
              <a:rPr lang="en-US" altLang="zh-CN" kern="0" dirty="0" err="1" smtClean="0">
                <a:latin typeface="微软雅黑" panose="020B0503020204020204" charset="-122"/>
                <a:ea typeface="微软雅黑" panose="020B0503020204020204" charset="-122"/>
                <a:cs typeface="宋体" panose="02010600030101010101" pitchFamily="2" charset="-122"/>
                <a:sym typeface="+mn-ea"/>
              </a:rPr>
              <a:t>限于篇幅，这些技术的详细内容可以去查看Google已发布的相关知识资料</a:t>
            </a:r>
            <a:r>
              <a:rPr lang="en-US" altLang="zh-CN" kern="0" dirty="0" smtClean="0">
                <a:latin typeface="微软雅黑" panose="020B0503020204020204" charset="-122"/>
                <a:ea typeface="微软雅黑" panose="020B0503020204020204" charset="-122"/>
                <a:cs typeface="宋体" panose="02010600030101010101" pitchFamily="2" charset="-122"/>
                <a:sym typeface="+mn-ea"/>
              </a:rPr>
              <a:t>。</a:t>
            </a:r>
          </a:p>
        </p:txBody>
      </p:sp>
      <p:sp>
        <p:nvSpPr>
          <p:cNvPr id="10" name="MH_SubTitle_2"/>
          <p:cNvSpPr/>
          <p:nvPr>
            <p:custDataLst>
              <p:tags r:id="rId1"/>
            </p:custDataLst>
          </p:nvPr>
        </p:nvSpPr>
        <p:spPr>
          <a:xfrm flipH="1">
            <a:off x="6579870" y="1864360"/>
            <a:ext cx="4110355"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云安全管理技术</a:t>
            </a:r>
          </a:p>
        </p:txBody>
      </p:sp>
      <p:sp>
        <p:nvSpPr>
          <p:cNvPr id="11" name="MH_Other_5"/>
          <p:cNvSpPr/>
          <p:nvPr>
            <p:custDataLst>
              <p:tags r:id="rId2"/>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07</a:t>
            </a:r>
            <a:endParaRPr lang="zh-CN" altLang="en-US" sz="3200" dirty="0">
              <a:solidFill>
                <a:srgbClr val="FFFFFF"/>
              </a:solidFill>
              <a:latin typeface="Impact" panose="020B0806030902050204" pitchFamily="34" charset="0"/>
              <a:ea typeface="微软雅黑" panose="020B0503020204020204" charset="-122"/>
            </a:endParaRPr>
          </a:p>
        </p:txBody>
      </p:sp>
      <p:sp>
        <p:nvSpPr>
          <p:cNvPr id="12" name="MH_Other_6"/>
          <p:cNvSpPr/>
          <p:nvPr>
            <p:custDataLst>
              <p:tags r:id="rId3"/>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wedg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11.4.3  云计算平台与软件开发</a:t>
            </a:r>
          </a:p>
        </p:txBody>
      </p:sp>
      <p:grpSp>
        <p:nvGrpSpPr>
          <p:cNvPr id="7" name="组合 6"/>
          <p:cNvGrpSpPr/>
          <p:nvPr/>
        </p:nvGrpSpPr>
        <p:grpSpPr>
          <a:xfrm>
            <a:off x="1253490" y="1638935"/>
            <a:ext cx="9822180" cy="5082741"/>
            <a:chOff x="377825" y="1698625"/>
            <a:chExt cx="8440738" cy="5082425"/>
          </a:xfrm>
        </p:grpSpPr>
        <p:sp>
          <p:nvSpPr>
            <p:cNvPr id="6" name="MH_Desc_1"/>
            <p:cNvSpPr>
              <a:spLocks noChangeArrowheads="1"/>
            </p:cNvSpPr>
            <p:nvPr/>
          </p:nvSpPr>
          <p:spPr bwMode="auto">
            <a:xfrm>
              <a:off x="2111375" y="2514606"/>
              <a:ext cx="5095875" cy="3132838"/>
            </a:xfrm>
            <a:prstGeom prst="roundRect">
              <a:avLst>
                <a:gd name="adj" fmla="val 8912"/>
              </a:avLst>
            </a:prstGeom>
            <a:solidFill>
              <a:srgbClr val="E85252"/>
            </a:solidFill>
            <a:ln>
              <a:noFill/>
            </a:ln>
            <a:extLst>
              <a:ext uri="{91240B29-F687-4F45-9708-019B960494DF}">
                <a14:hiddenLine xmlns="" xmlns:a14="http://schemas.microsoft.com/office/drawing/2010/main"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dirty="0">
                  <a:solidFill>
                    <a:schemeClr val="bg1"/>
                  </a:solidFill>
                  <a:latin typeface="微软雅黑" panose="020B0503020204020204" charset="-122"/>
                  <a:ea typeface="微软雅黑" panose="020B0503020204020204" charset="-122"/>
                </a:rPr>
                <a:t>云计算平台也称为云平台，它能够以快速、简单和可扩展的方式创建和管理大型、复杂的IT基础设施。云计算平台可以划分为3类：</a:t>
              </a:r>
              <a:r>
                <a:rPr b="1" dirty="0">
                  <a:solidFill>
                    <a:srgbClr val="FFFF00"/>
                  </a:solidFill>
                  <a:latin typeface="微软雅黑" panose="020B0503020204020204" charset="-122"/>
                  <a:ea typeface="微软雅黑" panose="020B0503020204020204" charset="-122"/>
                </a:rPr>
                <a:t>以数据存储为主的存储型云平台，以数据处理为主的计算型云平台以及计算和数据存储处理兼顾的综合云计算平台。</a:t>
              </a:r>
              <a:r>
                <a:rPr dirty="0">
                  <a:solidFill>
                    <a:schemeClr val="bg1"/>
                  </a:solidFill>
                  <a:latin typeface="微软雅黑" panose="020B0503020204020204" charset="-122"/>
                  <a:ea typeface="微软雅黑" panose="020B0503020204020204" charset="-122"/>
                </a:rPr>
                <a:t>云平台的实例有如微软公司致力打造的Azure平台（中文翻译为“蓝天”）等。</a:t>
              </a:r>
            </a:p>
          </p:txBody>
        </p:sp>
        <p:sp>
          <p:nvSpPr>
            <p:cNvPr id="3076" name="MH_Other_1"/>
            <p:cNvSpPr>
              <a:spLocks noChangeArrowheads="1"/>
            </p:cNvSpPr>
            <p:nvPr/>
          </p:nvSpPr>
          <p:spPr bwMode="auto">
            <a:xfrm>
              <a:off x="377825" y="1698625"/>
              <a:ext cx="1658938" cy="18439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sp>
          <p:nvSpPr>
            <p:cNvPr id="3077" name="MH_Other_2"/>
            <p:cNvSpPr>
              <a:spLocks noChangeArrowheads="1"/>
            </p:cNvSpPr>
            <p:nvPr/>
          </p:nvSpPr>
          <p:spPr bwMode="auto">
            <a:xfrm>
              <a:off x="7159625" y="4937125"/>
              <a:ext cx="1658938" cy="18439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grpSp>
    </p:spTree>
  </p:cSld>
  <p:clrMapOvr>
    <a:masterClrMapping/>
  </p:clrMapOvr>
  <p:transition>
    <p:wedg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11.4.3  云计算平台与软件开发</a:t>
            </a:r>
          </a:p>
        </p:txBody>
      </p:sp>
      <p:grpSp>
        <p:nvGrpSpPr>
          <p:cNvPr id="23" name="组合 22"/>
          <p:cNvGrpSpPr/>
          <p:nvPr/>
        </p:nvGrpSpPr>
        <p:grpSpPr>
          <a:xfrm>
            <a:off x="844419" y="1969463"/>
            <a:ext cx="10502900" cy="2310130"/>
            <a:chOff x="1840" y="2871"/>
            <a:chExt cx="16540" cy="3638"/>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396" y="3183"/>
              <a:ext cx="14984" cy="332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rgbClr val="92D050"/>
                  </a:solidFill>
                  <a:ea typeface="微软雅黑" panose="020B0503020204020204" charset="-122"/>
                </a:rPr>
                <a:t>云计算环境下，软件技术、架构将发生显著变化。</a:t>
              </a:r>
            </a:p>
            <a:p>
              <a:pPr indent="457200" fontAlgn="auto">
                <a:lnSpc>
                  <a:spcPct val="130000"/>
                </a:lnSpc>
              </a:pPr>
              <a:r>
                <a:rPr lang="zh-CN" altLang="en-US" dirty="0">
                  <a:solidFill>
                    <a:schemeClr val="tx1"/>
                  </a:solidFill>
                  <a:ea typeface="微软雅黑" panose="020B0503020204020204" charset="-122"/>
                </a:rPr>
                <a:t>首先，所开发的软件必须与云相适应，能够与虚拟化为核心的云平台有机结合，适应运算能力、存储能力的动态变化；二是要能够满足大量用户的使用，包括数据存储结构、处理能力；三是要互联网化，基于互联网提供软件的应用；四是安全性要求更高，可以抗攻击，并能保护私有信息；五是可工作于移动终端、手机、网络计算机等各种环境。</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1</a:t>
              </a:r>
            </a:p>
          </p:txBody>
        </p:sp>
      </p:grpSp>
      <p:grpSp>
        <p:nvGrpSpPr>
          <p:cNvPr id="2" name="组合 1"/>
          <p:cNvGrpSpPr/>
          <p:nvPr/>
        </p:nvGrpSpPr>
        <p:grpSpPr>
          <a:xfrm>
            <a:off x="868549" y="4184496"/>
            <a:ext cx="10502265" cy="1850390"/>
            <a:chOff x="1630" y="5726"/>
            <a:chExt cx="16539" cy="2914"/>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186" y="6041"/>
              <a:ext cx="14983" cy="259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rPr>
                <a:t>云计算环境下，软件开发的环境、工作模式也将发生变化。</a:t>
              </a:r>
            </a:p>
            <a:p>
              <a:pPr indent="457200" fontAlgn="auto">
                <a:lnSpc>
                  <a:spcPct val="130000"/>
                </a:lnSpc>
              </a:pPr>
              <a:r>
                <a:rPr lang="zh-CN" altLang="en-US" dirty="0">
                  <a:ea typeface="微软雅黑" panose="020B0503020204020204" charset="-122"/>
                </a:rPr>
                <a:t>虽然，传统的软件工程理论不会发生根本性的变革，但基于云平台的开发工具、开发环境、开发平台将为敏捷开发、项目组内协同、异地开发等带来便利。软件开发项目组内可以利用云平台，实现在线开发，并通过云实现知识积累和软件复用。</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2</a:t>
              </a:r>
            </a:p>
          </p:txBody>
        </p:sp>
      </p:grpSp>
    </p:spTree>
  </p:cSld>
  <p:clrMapOvr>
    <a:masterClrMapping/>
  </p:clrMapOvr>
  <p:transition>
    <p:wedg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11.4.3  云计算平台与软件开发</a:t>
            </a:r>
          </a:p>
        </p:txBody>
      </p:sp>
      <p:grpSp>
        <p:nvGrpSpPr>
          <p:cNvPr id="18" name="组合 17"/>
          <p:cNvGrpSpPr/>
          <p:nvPr/>
        </p:nvGrpSpPr>
        <p:grpSpPr>
          <a:xfrm>
            <a:off x="874899" y="2099156"/>
            <a:ext cx="10521315" cy="1456055"/>
            <a:chOff x="1630" y="5726"/>
            <a:chExt cx="16569" cy="2293"/>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3229" y="6041"/>
              <a:ext cx="14970" cy="1978"/>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chemeClr val="accent2">
                      <a:lumMod val="60000"/>
                      <a:lumOff val="40000"/>
                    </a:schemeClr>
                  </a:solidFill>
                </a:rPr>
                <a:t>云计算环境下，软件产品的最终表现形式更为丰富多样。</a:t>
              </a:r>
            </a:p>
            <a:p>
              <a:pPr indent="457200" fontAlgn="auto">
                <a:lnSpc>
                  <a:spcPct val="130000"/>
                </a:lnSpc>
              </a:pPr>
              <a:r>
                <a:rPr lang="zh-CN" altLang="en-US" dirty="0">
                  <a:ea typeface="微软雅黑" panose="020B0503020204020204" charset="-122"/>
                </a:rPr>
                <a:t>在云平台上，软件可以是一种服务，也可以是一个Web Services，也可能是可以在线下载的应用，如苹果在线商店中的应用软件等。</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3</a:t>
              </a:r>
            </a:p>
          </p:txBody>
        </p:sp>
      </p:grpSp>
      <p:grpSp>
        <p:nvGrpSpPr>
          <p:cNvPr id="10" name="组合 9"/>
          <p:cNvGrpSpPr/>
          <p:nvPr/>
        </p:nvGrpSpPr>
        <p:grpSpPr>
          <a:xfrm>
            <a:off x="850769" y="3685386"/>
            <a:ext cx="10617200" cy="2144395"/>
            <a:chOff x="1630" y="5563"/>
            <a:chExt cx="16720" cy="3377"/>
          </a:xfrm>
        </p:grpSpPr>
        <p:cxnSp>
          <p:nvCxnSpPr>
            <p:cNvPr id="11"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2"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3229" y="5563"/>
              <a:ext cx="15121" cy="337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30000"/>
                </a:lnSpc>
              </a:pPr>
              <a:r>
                <a:rPr lang="en-US" altLang="zh-CN" sz="2000" b="1" dirty="0">
                  <a:solidFill>
                    <a:srgbClr val="00B0F0"/>
                  </a:solidFill>
                </a:rPr>
                <a:t>      </a:t>
              </a:r>
              <a:r>
                <a:rPr lang="zh-CN" altLang="en-US" sz="2000" b="1" dirty="0">
                  <a:solidFill>
                    <a:srgbClr val="00B0F0"/>
                  </a:solidFill>
                </a:rPr>
                <a:t>在云计算环境下，由于软件开发工作的变化，也必然对软件测试带来影响和变化。</a:t>
              </a:r>
            </a:p>
            <a:p>
              <a:pPr indent="0" fontAlgn="auto">
                <a:lnSpc>
                  <a:spcPct val="130000"/>
                </a:lnSpc>
              </a:pPr>
              <a:r>
                <a:rPr lang="zh-CN" altLang="en-US" sz="2000" b="1" dirty="0">
                  <a:solidFill>
                    <a:srgbClr val="00B0F0"/>
                  </a:solidFill>
                </a:rPr>
                <a:t>       </a:t>
              </a:r>
              <a:r>
                <a:rPr lang="zh-CN" altLang="en-US" dirty="0">
                  <a:ea typeface="微软雅黑" panose="020B0503020204020204" charset="-122"/>
                </a:rPr>
                <a:t>软件技术、架构发生变化，要求软件测试的关注点也应做出相对应的调整。软件测试在关注传统的软件质量的同时，还应该关注云计算环境所提出的新的质量要求，如软件动态适应能力、大量用户支持能力、安全性、多平台兼容性等。</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4</a:t>
              </a:r>
            </a:p>
          </p:txBody>
        </p:sp>
      </p:grpSp>
    </p:spTree>
  </p:cSld>
  <p:clrMapOvr>
    <a:masterClrMapping/>
  </p:clrMapOvr>
  <p:transition>
    <p:wedg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11.4.3  云计算平台与软件开发</a:t>
            </a:r>
          </a:p>
        </p:txBody>
      </p:sp>
      <p:grpSp>
        <p:nvGrpSpPr>
          <p:cNvPr id="15" name="组合 14"/>
          <p:cNvGrpSpPr/>
          <p:nvPr/>
        </p:nvGrpSpPr>
        <p:grpSpPr>
          <a:xfrm>
            <a:off x="985389" y="2468832"/>
            <a:ext cx="10220960" cy="2851150"/>
            <a:chOff x="1840" y="2871"/>
            <a:chExt cx="16096" cy="4490"/>
          </a:xfrm>
        </p:grpSpPr>
        <p:cxnSp>
          <p:nvCxnSpPr>
            <p:cNvPr id="16"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2"/>
            <p:cNvSpPr txBox="1">
              <a:spLocks noChangeArrowheads="1"/>
            </p:cNvSpPr>
            <p:nvPr/>
          </p:nvSpPr>
          <p:spPr bwMode="auto">
            <a:xfrm>
              <a:off x="3417" y="3183"/>
              <a:ext cx="14519" cy="4178"/>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sz="2000" b="1" dirty="0">
                  <a:solidFill>
                    <a:schemeClr val="accent6">
                      <a:lumMod val="60000"/>
                      <a:lumOff val="40000"/>
                    </a:schemeClr>
                  </a:solidFill>
                  <a:ea typeface="微软雅黑" panose="020B0503020204020204" charset="-122"/>
                </a:rPr>
                <a:t>云计算环境下，软件开发工具、环境、工作模式发生了转变，也就要求软件测试的工具、环境、工作模式发生相应的转变。</a:t>
              </a:r>
            </a:p>
            <a:p>
              <a:pPr indent="457200" fontAlgn="auto">
                <a:lnSpc>
                  <a:spcPct val="130000"/>
                </a:lnSpc>
              </a:pPr>
              <a:r>
                <a:rPr lang="zh-CN" altLang="en-US" dirty="0">
                  <a:solidFill>
                    <a:schemeClr val="tx1"/>
                  </a:solidFill>
                  <a:ea typeface="微软雅黑" panose="020B0503020204020204" charset="-122"/>
                </a:rPr>
                <a:t>软件测试工具也应工作于云平台之上，测试工具的使用也应可通过云平台来进行，而不再是传统的本地方式。软件测试的环境也可移植到云平台上，通过云构建测试环境。软件测试也应该可以通过云实现协同、知识共享、测试复用。</a:t>
              </a:r>
            </a:p>
            <a:p>
              <a:pPr indent="457200" fontAlgn="auto">
                <a:lnSpc>
                  <a:spcPct val="130000"/>
                </a:lnSpc>
              </a:pPr>
              <a:r>
                <a:rPr lang="zh-CN" altLang="en-US" dirty="0">
                  <a:solidFill>
                    <a:srgbClr val="00B050"/>
                  </a:solidFill>
                  <a:ea typeface="微软雅黑" panose="020B0503020204020204" charset="-122"/>
                </a:rPr>
                <a:t>软件产品表现形式的变化，要求软件测试可以对不同形式的产品进行测试，</a:t>
              </a:r>
              <a:r>
                <a:rPr lang="zh-CN" altLang="en-US" dirty="0">
                  <a:solidFill>
                    <a:schemeClr val="tx1"/>
                  </a:solidFill>
                  <a:ea typeface="微软雅黑" panose="020B0503020204020204" charset="-122"/>
                </a:rPr>
                <a:t>如Web Services的测试、互联网应用的测试、移动智能终端内软件的测试等。</a:t>
              </a:r>
            </a:p>
          </p:txBody>
        </p:sp>
        <p:sp>
          <p:nvSpPr>
            <p:cNvPr id="21"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5</a:t>
              </a:r>
            </a:p>
          </p:txBody>
        </p:sp>
      </p:grpSp>
    </p:spTree>
  </p:cSld>
  <p:clrMapOvr>
    <a:masterClrMapping/>
  </p:clrMapOvr>
  <p:transition>
    <p:wedg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11.4.3  云计算平台与软件开发</a:t>
            </a:r>
          </a:p>
        </p:txBody>
      </p:sp>
      <p:grpSp>
        <p:nvGrpSpPr>
          <p:cNvPr id="2" name="组合 1"/>
          <p:cNvGrpSpPr/>
          <p:nvPr/>
        </p:nvGrpSpPr>
        <p:grpSpPr>
          <a:xfrm>
            <a:off x="1339215" y="2182495"/>
            <a:ext cx="9513570" cy="4217035"/>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b="1" dirty="0">
                  <a:solidFill>
                    <a:schemeClr val="tx1"/>
                  </a:solidFill>
                  <a:latin typeface="微软雅黑" panose="020B0503020204020204" charset="-122"/>
                  <a:ea typeface="微软雅黑" panose="020B0503020204020204" charset="-122"/>
                </a:rPr>
                <a:t>云计算的普及和应用，还有很长的道路，社会认可、人们习惯、技术能力，甚至是社会管理制度等都应做出相应的改变，方能使云计算真正普及。但无论怎样，基于互联网的应用将会逐渐渗透到每个人的生活中，对我们的服务、生活都会带来深远的影响。要应对这种变化，我们也很有必要讨论我们业务未来的发展模式，确定我们努力的方向。</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p:transition>
    <p:wedg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grpSp>
        <p:nvGrpSpPr>
          <p:cNvPr id="9" name="组合 8"/>
          <p:cNvGrpSpPr/>
          <p:nvPr/>
        </p:nvGrpSpPr>
        <p:grpSpPr>
          <a:xfrm>
            <a:off x="802640" y="1403985"/>
            <a:ext cx="10443845" cy="4657090"/>
            <a:chOff x="683934" y="1099955"/>
            <a:chExt cx="10748079" cy="4598538"/>
          </a:xfrm>
        </p:grpSpPr>
        <p:sp>
          <p:nvSpPr>
            <p:cNvPr id="10" name="MH_Other_1"/>
            <p:cNvSpPr/>
            <p:nvPr>
              <p:custDataLst>
                <p:tags r:id="rId1"/>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2"/>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3"/>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4"/>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5"/>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6"/>
              </p:custDataLst>
            </p:nvPr>
          </p:nvSpPr>
          <p:spPr bwMode="auto">
            <a:xfrm>
              <a:off x="7379673" y="2888833"/>
              <a:ext cx="4052340" cy="13712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fontAlgn="auto">
                <a:lnSpc>
                  <a:spcPct val="130000"/>
                </a:lnSpc>
                <a:defRPr/>
              </a:pPr>
              <a:r>
                <a:rPr dirty="0" smtClean="0">
                  <a:latin typeface="微软雅黑" panose="020B0503020204020204" charset="-122"/>
                  <a:ea typeface="微软雅黑" panose="020B0503020204020204" charset="-122"/>
                  <a:sym typeface="+mn-ea"/>
                </a:rPr>
                <a:t>它是基于互联网基础上的一个网络</a:t>
              </a:r>
              <a:r>
                <a:rPr dirty="0">
                  <a:latin typeface="微软雅黑" panose="020B0503020204020204" charset="-122"/>
                  <a:ea typeface="微软雅黑" panose="020B0503020204020204" charset="-122"/>
                  <a:sym typeface="+mn-ea"/>
                </a:rPr>
                <a:t>，其核心和基础仍然是互联网，甚至可以说属于互联网的延伸应用。</a:t>
              </a:r>
            </a:p>
          </p:txBody>
        </p:sp>
        <p:sp>
          <p:nvSpPr>
            <p:cNvPr id="17" name="MH_SubTitle_2"/>
            <p:cNvSpPr txBox="1">
              <a:spLocks noChangeArrowheads="1"/>
            </p:cNvSpPr>
            <p:nvPr>
              <p:custDataLst>
                <p:tags r:id="rId7"/>
              </p:custDataLst>
            </p:nvPr>
          </p:nvSpPr>
          <p:spPr bwMode="auto">
            <a:xfrm>
              <a:off x="8189687" y="1099955"/>
              <a:ext cx="2371712" cy="758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8"/>
              </p:custDataLst>
            </p:nvPr>
          </p:nvSpPr>
          <p:spPr bwMode="auto">
            <a:xfrm>
              <a:off x="7379430" y="2426328"/>
              <a:ext cx="486833"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9" name="MH_Text_1"/>
            <p:cNvSpPr txBox="1">
              <a:spLocks noChangeArrowheads="1"/>
            </p:cNvSpPr>
            <p:nvPr>
              <p:custDataLst>
                <p:tags r:id="rId9"/>
              </p:custDataLst>
            </p:nvPr>
          </p:nvSpPr>
          <p:spPr bwMode="auto">
            <a:xfrm>
              <a:off x="683934" y="3942220"/>
              <a:ext cx="4262767" cy="15211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30000"/>
                </a:lnSpc>
              </a:pPr>
              <a:r>
                <a:rPr lang="en-US" dirty="0" smtClean="0">
                  <a:latin typeface="微软雅黑" panose="020B0503020204020204" charset="-122"/>
                  <a:ea typeface="微软雅黑" panose="020B0503020204020204" charset="-122"/>
                  <a:sym typeface="+mn-ea"/>
                </a:rPr>
                <a:t>        </a:t>
              </a:r>
              <a:r>
                <a:rPr dirty="0" smtClean="0">
                  <a:latin typeface="微软雅黑" panose="020B0503020204020204" charset="-122"/>
                  <a:ea typeface="微软雅黑" panose="020B0503020204020204" charset="-122"/>
                  <a:sym typeface="+mn-ea"/>
                </a:rPr>
                <a:t>它有触角</a:t>
              </a:r>
              <a:r>
                <a:rPr dirty="0">
                  <a:latin typeface="微软雅黑" panose="020B0503020204020204" charset="-122"/>
                  <a:ea typeface="微软雅黑" panose="020B0503020204020204" charset="-122"/>
                  <a:sym typeface="+mn-ea"/>
                </a:rPr>
                <a:t>，已经伸到任何可以通信的物体，能够彼此之间进行信息的沟通，甚至互相制约与控制，目的是将所有电子终端融为一体。</a:t>
              </a:r>
            </a:p>
          </p:txBody>
        </p:sp>
        <p:sp>
          <p:nvSpPr>
            <p:cNvPr id="20" name="MH_SubTitle_1"/>
            <p:cNvSpPr txBox="1">
              <a:spLocks noChangeArrowheads="1"/>
            </p:cNvSpPr>
            <p:nvPr>
              <p:custDataLst>
                <p:tags r:id="rId10"/>
              </p:custDataLst>
            </p:nvPr>
          </p:nvSpPr>
          <p:spPr bwMode="auto">
            <a:xfrm>
              <a:off x="2187577" y="3388044"/>
              <a:ext cx="2565400" cy="758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1"/>
              </p:custDataLst>
            </p:nvPr>
          </p:nvSpPr>
          <p:spPr bwMode="auto">
            <a:xfrm>
              <a:off x="1894206" y="3387735"/>
              <a:ext cx="486833" cy="554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2"/>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3" name="文本框 42"/>
          <p:cNvSpPr txBox="1"/>
          <p:nvPr/>
        </p:nvSpPr>
        <p:spPr>
          <a:xfrm>
            <a:off x="941696" y="1956094"/>
            <a:ext cx="10765995"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b="1" dirty="0">
                <a:solidFill>
                  <a:srgbClr val="00B050"/>
                </a:solidFill>
                <a:latin typeface="微软雅黑" panose="020B0503020204020204" charset="-122"/>
                <a:ea typeface="微软雅黑" panose="020B0503020204020204" charset="-122"/>
                <a:sym typeface="+mn-ea"/>
              </a:rPr>
              <a:t>物联网</a:t>
            </a:r>
            <a:r>
              <a:rPr dirty="0">
                <a:solidFill>
                  <a:schemeClr val="tx1"/>
                </a:solidFill>
                <a:latin typeface="微软雅黑" panose="020B0503020204020204" charset="-122"/>
                <a:ea typeface="微软雅黑" panose="020B0503020204020204" charset="-122"/>
                <a:sym typeface="+mn-ea"/>
              </a:rPr>
              <a:t>的英文名称是“Internet of Things”。顾名思义，物联网简单地说，就是“物与物相联而形成的一个彼此互相通信的网络”。其中包含两层含义：</a:t>
            </a:r>
          </a:p>
        </p:txBody>
      </p:sp>
    </p:spTree>
  </p:cSld>
  <p:clrMapOvr>
    <a:masterClrMapping/>
  </p:clrMapOvr>
  <p:transition>
    <p:wedg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grpSp>
        <p:nvGrpSpPr>
          <p:cNvPr id="4" name="组合 3"/>
          <p:cNvGrpSpPr/>
          <p:nvPr/>
        </p:nvGrpSpPr>
        <p:grpSpPr>
          <a:xfrm>
            <a:off x="1932940" y="2279015"/>
            <a:ext cx="8425815" cy="4012565"/>
            <a:chOff x="2266241" y="1830388"/>
            <a:chExt cx="7775928" cy="4198982"/>
          </a:xfrm>
        </p:grpSpPr>
        <p:sp>
          <p:nvSpPr>
            <p:cNvPr id="5" name="MH_Other_1"/>
            <p:cNvSpPr/>
            <p:nvPr/>
          </p:nvSpPr>
          <p:spPr>
            <a:xfrm>
              <a:off x="2510442" y="1830388"/>
              <a:ext cx="5173059"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sp>
          <p:nvSpPr>
            <p:cNvPr id="2" name="MH_Desc_1"/>
            <p:cNvSpPr/>
            <p:nvPr/>
          </p:nvSpPr>
          <p:spPr>
            <a:xfrm>
              <a:off x="2266241" y="2117667"/>
              <a:ext cx="7013928" cy="3911703"/>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a:lnSpc>
                  <a:spcPct val="140000"/>
                </a:lnSpc>
              </a:pPr>
              <a:r>
                <a:rPr lang="en-US" sz="2000" dirty="0" smtClean="0">
                  <a:latin typeface="+mn-ea"/>
                </a:rPr>
                <a:t>    </a:t>
              </a:r>
              <a:r>
                <a:rPr sz="2000" dirty="0" smtClean="0">
                  <a:latin typeface="+mn-ea"/>
                </a:rPr>
                <a:t>基于此，对物联网可以这样下定义：</a:t>
              </a:r>
              <a:r>
                <a:rPr sz="2000" b="1" dirty="0" smtClean="0">
                  <a:solidFill>
                    <a:srgbClr val="0070C0"/>
                  </a:solidFill>
                  <a:latin typeface="+mn-ea"/>
                </a:rPr>
                <a:t>通过射频识别（RFID）、红外感应器、全球定位系统、激光扫描器等信息传感设备，按约定的协议，把任何物体与互联网相连接，进行信息交换和通信，以实现对物体的智能化识别、定位、跟踪、监控和管理的一种网络。</a:t>
              </a:r>
            </a:p>
          </p:txBody>
        </p:sp>
        <p:sp>
          <p:nvSpPr>
            <p:cNvPr id="10" name="MH_Other_2"/>
            <p:cNvSpPr/>
            <p:nvPr/>
          </p:nvSpPr>
          <p:spPr bwMode="auto">
            <a:xfrm>
              <a:off x="7136136" y="3671934"/>
              <a:ext cx="2906033" cy="2332343"/>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grpSp>
    </p:spTree>
  </p:cSld>
  <p:clrMapOvr>
    <a:masterClrMapping/>
  </p:clrMapOvr>
  <p:transition>
    <p:wedg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sp>
        <p:nvSpPr>
          <p:cNvPr id="6" name="MH_Other_1"/>
          <p:cNvSpPr/>
          <p:nvPr>
            <p:custDataLst>
              <p:tags r:id="rId1"/>
            </p:custDataLst>
          </p:nvPr>
        </p:nvSpPr>
        <p:spPr bwMode="auto">
          <a:xfrm>
            <a:off x="814705" y="1939290"/>
            <a:ext cx="10321868" cy="424942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2" name="文本框 1"/>
          <p:cNvSpPr txBox="1"/>
          <p:nvPr/>
        </p:nvSpPr>
        <p:spPr>
          <a:xfrm>
            <a:off x="1064260" y="2087245"/>
            <a:ext cx="6264588" cy="2613023"/>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对物联网这个平台的理解，可以从现实世界中寻找支撑点，除信息传输的互联网环节外，那些具有感知能力、识别能力的智能化传感设备，比如传感器、RFID、无线传输技术，还有一些移动通信模块都属于这范畴。总的说来，物联网技术就是通过智能技术，打破空间距离的限制，从而实现隔空的物物交流、人物交流、人人交流，从而达到监控和管理设备的目的。      </a:t>
            </a:r>
          </a:p>
        </p:txBody>
      </p:sp>
      <p:sp>
        <p:nvSpPr>
          <p:cNvPr id="7" name="文本框 6"/>
          <p:cNvSpPr txBox="1"/>
          <p:nvPr/>
        </p:nvSpPr>
        <p:spPr>
          <a:xfrm>
            <a:off x="1064260" y="4590442"/>
            <a:ext cx="9881244" cy="1532727"/>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物联网实质包含两个元素，一是物，二是网。那么把二者通过一个“联”字整合起来而产生了神奇的效应。这个“联”字的背后，是传感器收集来的信息传送到网络上进行传输与处理，而沉重的负担就在于如何将海量的信息在互联网上进行分析处理，并能及时反馈，从而对物体实施智能化的控制。</a:t>
            </a:r>
          </a:p>
        </p:txBody>
      </p:sp>
      <p:pic>
        <p:nvPicPr>
          <p:cNvPr id="4" name="图片 3" descr="u=2080009489,765656174&amp;fm=21&amp;gp=0"/>
          <p:cNvPicPr>
            <a:picLocks noChangeAspect="1"/>
          </p:cNvPicPr>
          <p:nvPr/>
        </p:nvPicPr>
        <p:blipFill>
          <a:blip r:embed="rId4" cstate="print"/>
          <a:stretch>
            <a:fillRect/>
          </a:stretch>
        </p:blipFill>
        <p:spPr>
          <a:xfrm>
            <a:off x="7503663" y="2169994"/>
            <a:ext cx="3682971" cy="2279177"/>
          </a:xfrm>
          <a:prstGeom prst="rect">
            <a:avLst/>
          </a:prstGeom>
        </p:spPr>
      </p:pic>
    </p:spTree>
  </p:cSld>
  <p:clrMapOvr>
    <a:masterClrMapping/>
  </p:clrMapOvr>
  <p:transition>
    <p:wedg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sp>
        <p:nvSpPr>
          <p:cNvPr id="100" name="文本框 99"/>
          <p:cNvSpPr txBox="1"/>
          <p:nvPr/>
        </p:nvSpPr>
        <p:spPr>
          <a:xfrm>
            <a:off x="925470" y="2389274"/>
            <a:ext cx="5188728" cy="3677603"/>
          </a:xfrm>
          <a:prstGeom prst="roundRect">
            <a:avLst/>
          </a:prstGeom>
          <a:noFill/>
          <a:ln w="9525">
            <a:noFill/>
            <a:prstDash val="sysDot"/>
          </a:ln>
        </p:spPr>
        <p:txBody>
          <a:bodyPr wrap="square">
            <a:spAutoFit/>
          </a:bodyPr>
          <a:lstStyle/>
          <a:p>
            <a:pPr marL="0" indent="457200" algn="l" fontAlgn="auto">
              <a:lnSpc>
                <a:spcPct val="150000"/>
              </a:lnSpc>
            </a:pPr>
            <a:r>
              <a:rPr lang="zh-CN" altLang="en-US" sz="2000" u="none" dirty="0">
                <a:latin typeface="微软雅黑" panose="020B0503020204020204" charset="-122"/>
                <a:ea typeface="微软雅黑" panose="020B0503020204020204" charset="-122"/>
                <a:cs typeface="宋体" panose="02010600030101010101" pitchFamily="2" charset="-122"/>
              </a:rPr>
              <a:t>云计算的诞生，为物联网备好了一套完整的、全新的体系结构。</a:t>
            </a:r>
            <a:r>
              <a:rPr lang="zh-CN" altLang="en-US" sz="2000" b="1" u="none" dirty="0">
                <a:solidFill>
                  <a:srgbClr val="0070C0"/>
                </a:solidFill>
                <a:latin typeface="微软雅黑" panose="020B0503020204020204" charset="-122"/>
                <a:ea typeface="微软雅黑" panose="020B0503020204020204" charset="-122"/>
                <a:cs typeface="宋体" panose="02010600030101010101" pitchFamily="2" charset="-122"/>
              </a:rPr>
              <a:t>物联网会采集到大量真实和实时的信息，接下来还要对这些海量数据进行处理，提取价值，而云计算技术和模式特别适用于处理物联网所形成的大数据。</a:t>
            </a:r>
            <a:r>
              <a:rPr lang="zh-CN" altLang="en-US" sz="2000" u="none" dirty="0">
                <a:latin typeface="微软雅黑" panose="020B0503020204020204" charset="-122"/>
                <a:ea typeface="微软雅黑" panose="020B0503020204020204" charset="-122"/>
                <a:cs typeface="宋体" panose="02010600030101010101" pitchFamily="2" charset="-122"/>
              </a:rPr>
              <a:t>物联网发展程度越高，对云计算的需求越强烈。</a:t>
            </a:r>
          </a:p>
        </p:txBody>
      </p:sp>
      <p:pic>
        <p:nvPicPr>
          <p:cNvPr id="2" name="图片 1" descr="timg (13)"/>
          <p:cNvPicPr>
            <a:picLocks noChangeAspect="1"/>
          </p:cNvPicPr>
          <p:nvPr/>
        </p:nvPicPr>
        <p:blipFill>
          <a:blip r:embed="rId3" cstate="print">
            <a:clrChange>
              <a:clrFrom>
                <a:srgbClr val="FFFFFF"/>
              </a:clrFrom>
              <a:clrTo>
                <a:srgbClr val="FFFFFF">
                  <a:alpha val="0"/>
                </a:srgbClr>
              </a:clrTo>
            </a:clrChange>
          </a:blip>
          <a:stretch>
            <a:fillRect/>
          </a:stretch>
        </p:blipFill>
        <p:spPr>
          <a:xfrm>
            <a:off x="5630721" y="1637732"/>
            <a:ext cx="6077265" cy="4545121"/>
          </a:xfrm>
          <a:prstGeom prst="rect">
            <a:avLst/>
          </a:prstGeom>
        </p:spPr>
      </p:pic>
    </p:spTree>
  </p:cSld>
  <p:clrMapOvr>
    <a:masterClrMapping/>
  </p:clrMapOvr>
  <p:transition>
    <p:wedg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sp>
        <p:nvSpPr>
          <p:cNvPr id="134" name=" 134"/>
          <p:cNvSpPr/>
          <p:nvPr/>
        </p:nvSpPr>
        <p:spPr>
          <a:xfrm>
            <a:off x="4107905" y="3362969"/>
            <a:ext cx="1410335" cy="1826260"/>
          </a:xfrm>
          <a:custGeom>
            <a:avLst/>
            <a:gdLst>
              <a:gd name="connsiteX0" fmla="*/ 1720704 w 1721074"/>
              <a:gd name="connsiteY0" fmla="*/ 0 h 1180530"/>
              <a:gd name="connsiteX1" fmla="*/ 1721074 w 1721074"/>
              <a:gd name="connsiteY1" fmla="*/ 328961 h 1180530"/>
              <a:gd name="connsiteX2" fmla="*/ 1609393 w 1721074"/>
              <a:gd name="connsiteY2" fmla="*/ 253106 h 1180530"/>
              <a:gd name="connsiteX3" fmla="*/ 1153934 w 1721074"/>
              <a:gd name="connsiteY3" fmla="*/ 933995 h 1180530"/>
              <a:gd name="connsiteX4" fmla="*/ 899597 w 1721074"/>
              <a:gd name="connsiteY4" fmla="*/ 519521 h 1180530"/>
              <a:gd name="connsiteX5" fmla="*/ 532223 w 1721074"/>
              <a:gd name="connsiteY5" fmla="*/ 1009354 h 1180530"/>
              <a:gd name="connsiteX6" fmla="*/ 292016 w 1721074"/>
              <a:gd name="connsiteY6" fmla="*/ 792697 h 1180530"/>
              <a:gd name="connsiteX7" fmla="*/ 0 w 1721074"/>
              <a:gd name="connsiteY7" fmla="*/ 1180530 h 1180530"/>
              <a:gd name="connsiteX8" fmla="*/ 0 w 1721074"/>
              <a:gd name="connsiteY8" fmla="*/ 996382 h 1180530"/>
              <a:gd name="connsiteX9" fmla="*/ 277886 w 1721074"/>
              <a:gd name="connsiteY9" fmla="*/ 613720 h 1180530"/>
              <a:gd name="connsiteX10" fmla="*/ 503963 w 1721074"/>
              <a:gd name="connsiteY10" fmla="*/ 839796 h 1180530"/>
              <a:gd name="connsiteX11" fmla="*/ 923147 w 1721074"/>
              <a:gd name="connsiteY11" fmla="*/ 316994 h 1180530"/>
              <a:gd name="connsiteX12" fmla="*/ 1158644 w 1721074"/>
              <a:gd name="connsiteY12" fmla="*/ 731468 h 1180530"/>
              <a:gd name="connsiteX13" fmla="*/ 1529274 w 1721074"/>
              <a:gd name="connsiteY13" fmla="*/ 198688 h 1180530"/>
              <a:gd name="connsiteX14" fmla="*/ 1414772 w 1721074"/>
              <a:gd name="connsiteY14" fmla="*/ 120917 h 118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1074" h="1180530">
                <a:moveTo>
                  <a:pt x="1720704" y="0"/>
                </a:moveTo>
                <a:lnTo>
                  <a:pt x="1721074" y="328961"/>
                </a:lnTo>
                <a:lnTo>
                  <a:pt x="1609393" y="253106"/>
                </a:lnTo>
                <a:lnTo>
                  <a:pt x="1153934" y="933995"/>
                </a:lnTo>
                <a:lnTo>
                  <a:pt x="899597" y="519521"/>
                </a:lnTo>
                <a:lnTo>
                  <a:pt x="532223" y="1009354"/>
                </a:lnTo>
                <a:lnTo>
                  <a:pt x="292016" y="792697"/>
                </a:lnTo>
                <a:lnTo>
                  <a:pt x="0" y="1180530"/>
                </a:lnTo>
                <a:lnTo>
                  <a:pt x="0" y="996382"/>
                </a:lnTo>
                <a:lnTo>
                  <a:pt x="277886" y="613720"/>
                </a:lnTo>
                <a:lnTo>
                  <a:pt x="503963" y="839796"/>
                </a:lnTo>
                <a:lnTo>
                  <a:pt x="923147" y="316994"/>
                </a:lnTo>
                <a:lnTo>
                  <a:pt x="1158644" y="731468"/>
                </a:lnTo>
                <a:lnTo>
                  <a:pt x="1529274" y="198688"/>
                </a:lnTo>
                <a:lnTo>
                  <a:pt x="1414772" y="1209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8" name="文本框 7"/>
          <p:cNvSpPr txBox="1"/>
          <p:nvPr/>
        </p:nvSpPr>
        <p:spPr>
          <a:xfrm>
            <a:off x="5613767" y="2061210"/>
            <a:ext cx="5757545" cy="3653790"/>
          </a:xfrm>
          <a:prstGeom prst="rect">
            <a:avLst/>
          </a:prstGeom>
          <a:noFill/>
          <a:ln w="9525">
            <a:solidFill>
              <a:schemeClr val="accent1"/>
            </a:solidFill>
          </a:ln>
        </p:spPr>
        <p:txBody>
          <a:bodyPr wrap="square">
            <a:spAutoFit/>
          </a:bodyPr>
          <a:lstStyle/>
          <a:p>
            <a:pPr marL="0" indent="457200" algn="l" fontAlgn="auto">
              <a:lnSpc>
                <a:spcPct val="130000"/>
              </a:lnSpc>
            </a:pPr>
            <a:r>
              <a:rPr lang="zh-CN" altLang="en-US" u="none" dirty="0">
                <a:latin typeface="微软雅黑" panose="020B0503020204020204" charset="-122"/>
                <a:ea typeface="微软雅黑" panose="020B0503020204020204" charset="-122"/>
                <a:cs typeface="宋体" panose="02010600030101010101" pitchFamily="2" charset="-122"/>
              </a:rPr>
              <a:t>云计算机是实现物联网的核心。物联网需要三大支撑，</a:t>
            </a:r>
            <a:r>
              <a:rPr lang="zh-CN" altLang="en-US" b="1" u="none" dirty="0">
                <a:solidFill>
                  <a:srgbClr val="00B050"/>
                </a:solidFill>
                <a:latin typeface="微软雅黑" panose="020B0503020204020204" charset="-122"/>
                <a:ea typeface="微软雅黑" panose="020B0503020204020204" charset="-122"/>
                <a:cs typeface="宋体" panose="02010600030101010101" pitchFamily="2" charset="-122"/>
              </a:rPr>
              <a:t>一是用于感知的传感器设备；二是物联网设备互相联动时彼此之间需要传输大量信息的传输设施；三是控制和支配对象的，且动态运行、效率极高的、可大规模扩展的智能处理中心，也就是计算资源处理中心。</a:t>
            </a:r>
            <a:r>
              <a:rPr lang="zh-CN" altLang="en-US" u="none" dirty="0">
                <a:latin typeface="微软雅黑" panose="020B0503020204020204" charset="-122"/>
                <a:ea typeface="微软雅黑" panose="020B0503020204020204" charset="-122"/>
                <a:cs typeface="宋体" panose="02010600030101010101" pitchFamily="2" charset="-122"/>
              </a:rPr>
              <a:t>这个资源处理中心，目前普遍采用的架构环节就是云计算。利用云计算机模式，可以处理海量数据，并能实时动态管理和即时智能分析，并通过无线或有线传输动态信息送达计算资源处理中心，进行数据的汇总、分析、管理、处理，从而将各种物体连接。</a:t>
            </a:r>
          </a:p>
        </p:txBody>
      </p:sp>
      <p:pic>
        <p:nvPicPr>
          <p:cNvPr id="2" name="图片 1" descr="timg (1)"/>
          <p:cNvPicPr>
            <a:picLocks noChangeAspect="1"/>
          </p:cNvPicPr>
          <p:nvPr/>
        </p:nvPicPr>
        <p:blipFill>
          <a:blip r:embed="rId3" cstate="print"/>
          <a:stretch>
            <a:fillRect/>
          </a:stretch>
        </p:blipFill>
        <p:spPr>
          <a:xfrm>
            <a:off x="367879" y="2710815"/>
            <a:ext cx="3808341" cy="2787015"/>
          </a:xfrm>
          <a:prstGeom prst="rect">
            <a:avLst/>
          </a:prstGeom>
        </p:spPr>
      </p:pic>
    </p:spTree>
  </p:cSld>
  <p:clrMapOvr>
    <a:masterClrMapping/>
  </p:clrMapOvr>
  <p:transition>
    <p:wedg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264" y="4448"/>
              <a:ext cx="8062" cy="3781"/>
            </a:xfrm>
            <a:prstGeom prst="rect">
              <a:avLst/>
            </a:prstGeom>
          </p:spPr>
          <p:txBody>
            <a:bodyPr wrap="square">
              <a:spAutoFit/>
            </a:bodyPr>
            <a:lstStyle/>
            <a:p>
              <a:pPr indent="457200">
                <a:lnSpc>
                  <a:spcPct val="150000"/>
                </a:lnSpc>
                <a:defRPr/>
              </a:pPr>
              <a:r>
                <a:rPr lang="en-US"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物联网云计算的实现需要有一个物联网云计算数据中心，</a:t>
              </a:r>
              <a:r>
                <a:rPr lang="en-US" altLang="zh-CN" sz="2000" b="1" kern="0" dirty="0" smtClean="0">
                  <a:solidFill>
                    <a:srgbClr val="FFFF00"/>
                  </a:solidFill>
                  <a:latin typeface="微软雅黑" panose="020B0503020204020204" charset="-122"/>
                  <a:ea typeface="微软雅黑" panose="020B0503020204020204" charset="-122"/>
                  <a:cs typeface="宋体" panose="02010600030101010101" pitchFamily="2" charset="-122"/>
                  <a:sym typeface="+mn-ea"/>
                </a:rPr>
                <a:t>该中心具有云计算管理平台，能够将成千上万的计算机、超级计算机和巨型计算机协同工作，并具有管理这些计算处理、存储输入输出的功能。</a:t>
              </a:r>
              <a:endParaRPr lang="en-US"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endParaRPr>
            </a:p>
          </p:txBody>
        </p:sp>
      </p:grpSp>
      <p:pic>
        <p:nvPicPr>
          <p:cNvPr id="2" name="图片 1" descr="timg (15)"/>
          <p:cNvPicPr>
            <a:picLocks noChangeAspect="1"/>
          </p:cNvPicPr>
          <p:nvPr/>
        </p:nvPicPr>
        <p:blipFill>
          <a:blip r:embed="rId3" cstate="print"/>
          <a:stretch>
            <a:fillRect/>
          </a:stretch>
        </p:blipFill>
        <p:spPr>
          <a:xfrm>
            <a:off x="6017260" y="2585085"/>
            <a:ext cx="5988050" cy="2731135"/>
          </a:xfrm>
          <a:prstGeom prst="rect">
            <a:avLst/>
          </a:prstGeom>
        </p:spPr>
      </p:pic>
    </p:spTree>
  </p:cSld>
  <p:clrMapOvr>
    <a:masterClrMapping/>
  </p:clrMapOvr>
  <p:transition>
    <p:wedg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grpSp>
        <p:nvGrpSpPr>
          <p:cNvPr id="27" name="组合 26"/>
          <p:cNvGrpSpPr/>
          <p:nvPr/>
        </p:nvGrpSpPr>
        <p:grpSpPr>
          <a:xfrm>
            <a:off x="693420" y="4376535"/>
            <a:ext cx="11125835" cy="2228850"/>
            <a:chOff x="2842" y="8085"/>
            <a:chExt cx="17521" cy="3510"/>
          </a:xfrm>
        </p:grpSpPr>
        <p:sp>
          <p:nvSpPr>
            <p:cNvPr id="11" name="MH_Other_6"/>
            <p:cNvSpPr>
              <a:spLocks noChangeArrowheads="1"/>
            </p:cNvSpPr>
            <p:nvPr>
              <p:custDataLst>
                <p:tags r:id="rId8"/>
              </p:custDataLst>
            </p:nvPr>
          </p:nvSpPr>
          <p:spPr bwMode="auto">
            <a:xfrm>
              <a:off x="3708" y="828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9"/>
              </p:custDataLst>
            </p:nvPr>
          </p:nvSpPr>
          <p:spPr bwMode="auto">
            <a:xfrm>
              <a:off x="3708" y="892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0"/>
              </p:custDataLst>
            </p:nvPr>
          </p:nvSpPr>
          <p:spPr bwMode="auto">
            <a:xfrm>
              <a:off x="4138" y="8605"/>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9"/>
            <p:cNvSpPr/>
            <p:nvPr>
              <p:custDataLst>
                <p:tags r:id="rId11"/>
              </p:custDataLst>
            </p:nvPr>
          </p:nvSpPr>
          <p:spPr>
            <a:xfrm>
              <a:off x="2898" y="8085"/>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10"/>
            <p:cNvSpPr/>
            <p:nvPr>
              <p:custDataLst>
                <p:tags r:id="rId12"/>
              </p:custDataLst>
            </p:nvPr>
          </p:nvSpPr>
          <p:spPr bwMode="auto">
            <a:xfrm>
              <a:off x="2842" y="8085"/>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7" name="MH_Text_3"/>
            <p:cNvSpPr/>
            <p:nvPr>
              <p:custDataLst>
                <p:tags r:id="rId13"/>
              </p:custDataLst>
            </p:nvPr>
          </p:nvSpPr>
          <p:spPr>
            <a:xfrm>
              <a:off x="5034" y="9068"/>
              <a:ext cx="15329" cy="2527"/>
            </a:xfrm>
            <a:prstGeom prst="rect">
              <a:avLst/>
            </a:prstGeom>
          </p:spPr>
          <p:txBody>
            <a:bodyPr>
              <a:normAutofit/>
            </a:bodyPr>
            <a:lstStyle/>
            <a:p>
              <a:pPr indent="457200">
                <a:lnSpc>
                  <a:spcPct val="150000"/>
                </a:lnSpc>
              </a:pPr>
              <a:r>
                <a:rPr lang="zh-CN" altLang="en-US" dirty="0" smtClean="0">
                  <a:latin typeface="+mn-ea"/>
                </a:rPr>
                <a:t>目前云计算的架构和云平台要达到的目的都是一样的，但技术细节和某些处理环节，对很多云计算服务平台而言，还是有很大的不同之处，各自为政的云技术打造的应用程序，平台间彼此不能融合，从而导致物联网技术的发展也还有一定的瓶颈，网和网之间不能畅通地通信。</a:t>
              </a:r>
            </a:p>
          </p:txBody>
        </p:sp>
        <p:sp>
          <p:nvSpPr>
            <p:cNvPr id="18" name="MH_SubTitle_3"/>
            <p:cNvSpPr/>
            <p:nvPr>
              <p:custDataLst>
                <p:tags r:id="rId14"/>
              </p:custDataLst>
            </p:nvPr>
          </p:nvSpPr>
          <p:spPr>
            <a:xfrm>
              <a:off x="5034" y="8308"/>
              <a:ext cx="7360" cy="845"/>
            </a:xfrm>
            <a:prstGeom prst="rect">
              <a:avLst/>
            </a:prstGeom>
          </p:spPr>
          <p:txBody>
            <a:bodyPr anchor="b">
              <a:normAutofit/>
            </a:bodyPr>
            <a:lstStyle/>
            <a:p>
              <a:r>
                <a:rPr lang="zh-CN" altLang="en-US" b="1" dirty="0" smtClean="0">
                  <a:solidFill>
                    <a:srgbClr val="00B0F0"/>
                  </a:solidFill>
                </a:rPr>
                <a:t>标准化问题</a:t>
              </a:r>
            </a:p>
          </p:txBody>
        </p:sp>
      </p:grpSp>
      <p:grpSp>
        <p:nvGrpSpPr>
          <p:cNvPr id="26" name="组合 25"/>
          <p:cNvGrpSpPr/>
          <p:nvPr/>
        </p:nvGrpSpPr>
        <p:grpSpPr>
          <a:xfrm>
            <a:off x="693420" y="2639202"/>
            <a:ext cx="10805160" cy="1985645"/>
            <a:chOff x="1092" y="3793"/>
            <a:chExt cx="17016" cy="3127"/>
          </a:xfrm>
        </p:grpSpPr>
        <p:sp>
          <p:nvSpPr>
            <p:cNvPr id="9" name="MH_Text_1"/>
            <p:cNvSpPr/>
            <p:nvPr>
              <p:custDataLst>
                <p:tags r:id="rId1"/>
              </p:custDataLst>
            </p:nvPr>
          </p:nvSpPr>
          <p:spPr>
            <a:xfrm>
              <a:off x="3289" y="4752"/>
              <a:ext cx="14819" cy="2168"/>
            </a:xfrm>
            <a:prstGeom prst="rect">
              <a:avLst/>
            </a:prstGeom>
          </p:spPr>
          <p:txBody>
            <a:bodyPr>
              <a:normAutofit/>
            </a:bodyPr>
            <a:lstStyle/>
            <a:p>
              <a:pPr indent="457200">
                <a:lnSpc>
                  <a:spcPct val="150000"/>
                </a:lnSpc>
              </a:pPr>
              <a:r>
                <a:rPr lang="zh-CN" altLang="en-US" dirty="0" smtClean="0">
                  <a:latin typeface="+mn-ea"/>
                </a:rPr>
                <a:t>互联网的发展，计算机病毒层出不穷，从伤害个人信息与数据，到影响国家重要信息安全，致使每个使用计算机的人达到提毒色变的程度。而基于互联网信息传输的物联网技术和云计算机技术，也存在着严重的安全隐患。</a:t>
              </a:r>
            </a:p>
          </p:txBody>
        </p:sp>
        <p:sp>
          <p:nvSpPr>
            <p:cNvPr id="10" name="MH_SubTitle_1"/>
            <p:cNvSpPr/>
            <p:nvPr>
              <p:custDataLst>
                <p:tags r:id="rId2"/>
              </p:custDataLst>
            </p:nvPr>
          </p:nvSpPr>
          <p:spPr>
            <a:xfrm>
              <a:off x="3265" y="3905"/>
              <a:ext cx="7357" cy="847"/>
            </a:xfrm>
            <a:prstGeom prst="rect">
              <a:avLst/>
            </a:prstGeom>
          </p:spPr>
          <p:txBody>
            <a:bodyPr anchor="b">
              <a:normAutofit/>
            </a:bodyPr>
            <a:lstStyle/>
            <a:p>
              <a:r>
                <a:rPr lang="zh-CN" altLang="en-US" b="1" dirty="0">
                  <a:solidFill>
                    <a:srgbClr val="FF7C80"/>
                  </a:solidFill>
                </a:rPr>
                <a:t>安全问题</a:t>
              </a:r>
            </a:p>
          </p:txBody>
        </p:sp>
        <p:sp>
          <p:nvSpPr>
            <p:cNvPr id="19" name="MH_Other_11"/>
            <p:cNvSpPr>
              <a:spLocks noChangeArrowheads="1"/>
            </p:cNvSpPr>
            <p:nvPr>
              <p:custDataLst>
                <p:tags r:id="rId3"/>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4"/>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5"/>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6"/>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7"/>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24" name="矩形 23"/>
          <p:cNvSpPr/>
          <p:nvPr/>
        </p:nvSpPr>
        <p:spPr>
          <a:xfrm>
            <a:off x="1132754" y="1969026"/>
            <a:ext cx="10345013" cy="646331"/>
          </a:xfrm>
          <a:prstGeom prst="rect">
            <a:avLst/>
          </a:prstGeom>
        </p:spPr>
        <p:txBody>
          <a:bodyPr wrap="square">
            <a:spAutoFit/>
          </a:bodyPr>
          <a:lstStyle/>
          <a:p>
            <a:r>
              <a:rPr lang="zh-CN" altLang="en-US" dirty="0" smtClean="0"/>
              <a:t>任何技术的应用与推广，都会经历从萌芽到成熟的过程。云计算机和物联网技术，作为信息技术界新兴的技术，也尚处于完成与成熟阶段，目前自然会存有一些问题或尚待解决的问题。</a:t>
            </a:r>
            <a:endParaRPr lang="zh-CN" altLang="en-US" dirty="0"/>
          </a:p>
        </p:txBody>
      </p:sp>
    </p:spTree>
  </p:cSld>
  <p:clrMapOvr>
    <a:masterClrMapping/>
  </p:clrMapOvr>
  <p:transition>
    <p:wedg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solidFill>
                  <a:srgbClr val="FF0000"/>
                </a:solidFill>
                <a:sym typeface="+mn-ea"/>
              </a:rPr>
              <a:t>11.4  云计算与软件开发</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11.4.4  云计算与物联网</a:t>
            </a:r>
          </a:p>
        </p:txBody>
      </p:sp>
      <p:grpSp>
        <p:nvGrpSpPr>
          <p:cNvPr id="7" name="组合 6"/>
          <p:cNvGrpSpPr/>
          <p:nvPr/>
        </p:nvGrpSpPr>
        <p:grpSpPr>
          <a:xfrm>
            <a:off x="845820" y="1969770"/>
            <a:ext cx="10604500" cy="1933575"/>
            <a:chOff x="1021" y="3475"/>
            <a:chExt cx="16700" cy="3045"/>
          </a:xfrm>
        </p:grpSpPr>
        <p:sp>
          <p:nvSpPr>
            <p:cNvPr id="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2">
                      <a:lumMod val="75000"/>
                    </a:schemeClr>
                  </a:solidFill>
                </a:rPr>
                <a:t>数据版权问题</a:t>
              </a:r>
            </a:p>
          </p:txBody>
        </p:sp>
        <p:grpSp>
          <p:nvGrpSpPr>
            <p:cNvPr id="12" name="组合 11"/>
            <p:cNvGrpSpPr/>
            <p:nvPr/>
          </p:nvGrpSpPr>
          <p:grpSpPr>
            <a:xfrm>
              <a:off x="1021" y="3475"/>
              <a:ext cx="16700" cy="3045"/>
              <a:chOff x="1685" y="3271"/>
              <a:chExt cx="16700" cy="3045"/>
            </a:xfrm>
          </p:grpSpPr>
          <p:sp>
            <p:nvSpPr>
              <p:cNvPr id="24" name="MH_Text_1"/>
              <p:cNvSpPr/>
              <p:nvPr>
                <p:custDataLst>
                  <p:tags r:id="rId2"/>
                </p:custDataLst>
              </p:nvPr>
            </p:nvSpPr>
            <p:spPr>
              <a:xfrm>
                <a:off x="3968" y="4448"/>
                <a:ext cx="14417" cy="1868"/>
              </a:xfrm>
              <a:prstGeom prst="rect">
                <a:avLst/>
              </a:prstGeom>
            </p:spPr>
            <p:txBody>
              <a:bodyPr>
                <a:normAutofit/>
              </a:bodyPr>
              <a:lstStyle/>
              <a:p>
                <a:pPr indent="457200">
                  <a:lnSpc>
                    <a:spcPct val="150000"/>
                  </a:lnSpc>
                </a:pPr>
                <a:r>
                  <a:rPr lang="zh-CN" altLang="en-US" dirty="0" smtClean="0">
                    <a:latin typeface="+mn-ea"/>
                  </a:rPr>
                  <a:t>云计算中心是个数据存储与处理的仓库，为用户提供服务，要收取一定的经济回报，从而导致利益的纷争，所以这也是一个需要考虑的重要因素。</a:t>
                </a:r>
              </a:p>
            </p:txBody>
          </p:sp>
          <p:sp>
            <p:nvSpPr>
              <p:cNvPr id="31"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7"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2" name="组合 1"/>
          <p:cNvGrpSpPr/>
          <p:nvPr/>
        </p:nvGrpSpPr>
        <p:grpSpPr>
          <a:xfrm>
            <a:off x="802640" y="3781425"/>
            <a:ext cx="10647680" cy="2051050"/>
            <a:chOff x="9359" y="3147"/>
            <a:chExt cx="8195" cy="5661"/>
          </a:xfrm>
        </p:grpSpPr>
        <p:sp>
          <p:nvSpPr>
            <p:cNvPr id="4" name="矩形 3"/>
            <p:cNvSpPr/>
            <p:nvPr/>
          </p:nvSpPr>
          <p:spPr>
            <a:xfrm>
              <a:off x="9658" y="3581"/>
              <a:ext cx="7654" cy="4672"/>
            </a:xfrm>
            <a:prstGeom prst="rect">
              <a:avLst/>
            </a:prstGeom>
          </p:spPr>
          <p:txBody>
            <a:bodyPr wrap="square">
              <a:spAutoFit/>
            </a:bodyPr>
            <a:lstStyle/>
            <a:p>
              <a:pPr indent="457200">
                <a:lnSpc>
                  <a:spcPct val="130000"/>
                </a:lnSpc>
              </a:pPr>
              <a:r>
                <a:rPr sz="2000" dirty="0" smtClean="0">
                  <a:latin typeface="+mn-ea"/>
                </a:rPr>
                <a:t>基于云计算技术还不完全成熟，尚处于测试阶段，但</a:t>
              </a:r>
              <a:r>
                <a:rPr sz="2000" b="1" dirty="0" smtClean="0">
                  <a:solidFill>
                    <a:srgbClr val="7030A0"/>
                  </a:solidFill>
                  <a:latin typeface="+mn-ea"/>
                </a:rPr>
                <a:t>云计算能提供全球统一虚拟基础设施平台，提供顺畅的上下层接口，从而很好地实现信息资源的共享与共管，搭建起各行各业共同作业的平台。</a:t>
              </a:r>
              <a:r>
                <a:rPr sz="2000" dirty="0" smtClean="0">
                  <a:latin typeface="+mn-ea"/>
                </a:rPr>
                <a:t>随着物联网产业界对云计算技术的关注与需求，相信不久的将来，云计算技术会在物联网中广泛铺开，形成一个全球性的信息共享共同体。</a:t>
              </a:r>
            </a:p>
          </p:txBody>
        </p:sp>
        <p:sp>
          <p:nvSpPr>
            <p:cNvPr id="5" name="圆角矩形 4"/>
            <p:cNvSpPr/>
            <p:nvPr/>
          </p:nvSpPr>
          <p:spPr>
            <a:xfrm>
              <a:off x="9359" y="3147"/>
              <a:ext cx="8195" cy="5661"/>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wedg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5</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网构软件</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网构软件的概念</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网构软件模型特点</a:t>
              </a:r>
            </a:p>
          </p:txBody>
        </p:sp>
      </p:grpSp>
      <p:sp>
        <p:nvSpPr>
          <p:cNvPr id="13" name="文本框 12"/>
          <p:cNvSpPr txBox="1"/>
          <p:nvPr/>
        </p:nvSpPr>
        <p:spPr>
          <a:xfrm>
            <a:off x="6459855" y="5229860"/>
            <a:ext cx="418782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网构软件开发方法</a:t>
            </a:r>
          </a:p>
        </p:txBody>
      </p:sp>
    </p:spTree>
  </p:cSld>
  <p:clrMapOvr>
    <a:masterClrMapping/>
  </p:clrMapOvr>
  <p:transition spd="slow">
    <p:wip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sym typeface="+mn-ea"/>
              </a:rPr>
              <a:t>11.5  网构软件</a:t>
            </a:r>
            <a:endParaRPr lang="en-US" altLang="zh-CN" dirty="0">
              <a:solidFill>
                <a:srgbClr val="FF0000"/>
              </a:solidFill>
              <a:sym typeface="+mn-ea"/>
            </a:endParaRPr>
          </a:p>
        </p:txBody>
      </p:sp>
      <p:grpSp>
        <p:nvGrpSpPr>
          <p:cNvPr id="2" name="组合 1"/>
          <p:cNvGrpSpPr/>
          <p:nvPr/>
        </p:nvGrpSpPr>
        <p:grpSpPr>
          <a:xfrm>
            <a:off x="366829" y="1649952"/>
            <a:ext cx="11988944" cy="4232475"/>
            <a:chOff x="0" y="2764"/>
            <a:chExt cx="15580" cy="4894"/>
          </a:xfrm>
        </p:grpSpPr>
        <p:sp>
          <p:nvSpPr>
            <p:cNvPr id="4" name="矩形 3"/>
            <p:cNvSpPr/>
            <p:nvPr>
              <p:custDataLst>
                <p:tags r:id="rId1"/>
              </p:custDataLst>
            </p:nvPr>
          </p:nvSpPr>
          <p:spPr>
            <a:xfrm>
              <a:off x="0" y="2764"/>
              <a:ext cx="15105" cy="47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6" name="组合 9"/>
            <p:cNvGrpSpPr/>
            <p:nvPr/>
          </p:nvGrpSpPr>
          <p:grpSpPr>
            <a:xfrm>
              <a:off x="2" y="2822"/>
              <a:ext cx="15578" cy="4836"/>
              <a:chOff x="2" y="2822"/>
              <a:chExt cx="15578" cy="4836"/>
            </a:xfrm>
          </p:grpSpPr>
          <p:sp>
            <p:nvSpPr>
              <p:cNvPr id="8" name="文本框 10"/>
              <p:cNvSpPr txBox="1"/>
              <p:nvPr>
                <p:custDataLst>
                  <p:tags r:id="rId2"/>
                </p:custDataLst>
              </p:nvPr>
            </p:nvSpPr>
            <p:spPr>
              <a:xfrm>
                <a:off x="2" y="3002"/>
                <a:ext cx="11239" cy="4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defPPr>
                  <a:defRPr lang="zh-CN"/>
                </a:defPPr>
                <a:lvl1pPr algn="ctr">
                  <a:lnSpc>
                    <a:spcPct val="200000"/>
                  </a:lnSpc>
                  <a:spcBef>
                    <a:spcPct val="0"/>
                  </a:spcBef>
                  <a:buFontTx/>
                  <a:buNone/>
                  <a:defRPr sz="1800">
                    <a:solidFill>
                      <a:srgbClr val="FFFFFF"/>
                    </a:solidFill>
                  </a:defRPr>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indent="457200" algn="l">
                  <a:lnSpc>
                    <a:spcPct val="130000"/>
                  </a:lnSpc>
                </a:pPr>
                <a:r>
                  <a:rPr lang="zh-CN" altLang="en-US" sz="2000" dirty="0" smtClean="0">
                    <a:solidFill>
                      <a:schemeClr val="tx1"/>
                    </a:solidFill>
                    <a:latin typeface="微软雅黑" panose="020B0503020204020204" charset="-122"/>
                    <a:ea typeface="微软雅黑" panose="020B0503020204020204" charset="-122"/>
                  </a:rPr>
                  <a:t>由于软件系统所基于的计算机硬件平台正经历着从集中封闭的个人环境向开放的Internet平台的转变，软件系统作为计算机系统的灵魂，也在随着运行环境的演变而更新。</a:t>
                </a:r>
              </a:p>
              <a:p>
                <a:pPr indent="457200" algn="l">
                  <a:lnSpc>
                    <a:spcPct val="130000"/>
                  </a:lnSpc>
                </a:pPr>
                <a:r>
                  <a:rPr lang="zh-CN" altLang="en-US" sz="2000" dirty="0">
                    <a:solidFill>
                      <a:schemeClr val="tx1"/>
                    </a:solidFill>
                    <a:latin typeface="微软雅黑" panose="020B0503020204020204" charset="-122"/>
                    <a:ea typeface="微软雅黑" panose="020B0503020204020204" charset="-122"/>
                  </a:rPr>
                  <a:t>目前，面向网络的计算环境正从大家熟知的</a:t>
                </a:r>
                <a:r>
                  <a:rPr lang="zh-CN" altLang="en-US" sz="2000" b="1" dirty="0">
                    <a:solidFill>
                      <a:srgbClr val="00B050"/>
                    </a:solidFill>
                    <a:latin typeface="微软雅黑" panose="020B0503020204020204" charset="-122"/>
                    <a:ea typeface="微软雅黑" panose="020B0503020204020204" charset="-122"/>
                  </a:rPr>
                  <a:t>客户/服务器（Client/Server）模式</a:t>
                </a:r>
                <a:r>
                  <a:rPr lang="zh-CN" altLang="en-US" sz="2000" dirty="0">
                    <a:solidFill>
                      <a:schemeClr val="tx1"/>
                    </a:solidFill>
                    <a:latin typeface="微软雅黑" panose="020B0503020204020204" charset="-122"/>
                    <a:ea typeface="微软雅黑" panose="020B0503020204020204" charset="-122"/>
                  </a:rPr>
                  <a:t>发展为</a:t>
                </a:r>
                <a:r>
                  <a:rPr lang="zh-CN" altLang="en-US" sz="2000" b="1" dirty="0">
                    <a:solidFill>
                      <a:srgbClr val="00B050"/>
                    </a:solidFill>
                    <a:latin typeface="微软雅黑" panose="020B0503020204020204" charset="-122"/>
                    <a:ea typeface="微软雅黑" panose="020B0503020204020204" charset="-122"/>
                  </a:rPr>
                  <a:t>客户/簇（Client/Cluster）模式</a:t>
                </a:r>
                <a:r>
                  <a:rPr lang="zh-CN" altLang="en-US" sz="2000" dirty="0">
                    <a:solidFill>
                      <a:schemeClr val="tx1"/>
                    </a:solidFill>
                    <a:latin typeface="微软雅黑" panose="020B0503020204020204" charset="-122"/>
                    <a:ea typeface="微软雅黑" panose="020B0503020204020204" charset="-122"/>
                  </a:rPr>
                  <a:t>，并朝着</a:t>
                </a:r>
                <a:r>
                  <a:rPr lang="zh-CN" altLang="en-US" sz="2000" b="1" dirty="0">
                    <a:solidFill>
                      <a:srgbClr val="00B050"/>
                    </a:solidFill>
                    <a:latin typeface="微软雅黑" panose="020B0503020204020204" charset="-122"/>
                    <a:ea typeface="微软雅黑" panose="020B0503020204020204" charset="-122"/>
                  </a:rPr>
                  <a:t>客户/网络（Client/Network）模式和客户/虚拟环境（Client/Virtual Environment）</a:t>
                </a:r>
                <a:r>
                  <a:rPr lang="zh-CN" altLang="en-US" sz="2000" dirty="0">
                    <a:solidFill>
                      <a:schemeClr val="tx1"/>
                    </a:solidFill>
                    <a:latin typeface="微软雅黑" panose="020B0503020204020204" charset="-122"/>
                    <a:ea typeface="微软雅黑" panose="020B0503020204020204" charset="-122"/>
                  </a:rPr>
                  <a:t>的方向发展，而传统的软件工程方法学体系本质上是一种静态和封闭的框架体系，难以支持开放、动态、多变的Internet环境，因此出现了一种新的适应Internet环境的全新软件形态——</a:t>
                </a:r>
                <a:r>
                  <a:rPr lang="zh-CN" altLang="en-US" sz="2000" b="1" dirty="0">
                    <a:solidFill>
                      <a:srgbClr val="00B050"/>
                    </a:solidFill>
                    <a:latin typeface="微软雅黑" panose="020B0503020204020204" charset="-122"/>
                    <a:ea typeface="微软雅黑" panose="020B0503020204020204" charset="-122"/>
                  </a:rPr>
                  <a:t>网构软件</a:t>
                </a:r>
                <a:r>
                  <a:rPr lang="zh-CN" altLang="en-US" sz="2000" dirty="0">
                    <a:solidFill>
                      <a:schemeClr val="tx1"/>
                    </a:solidFill>
                    <a:latin typeface="微软雅黑" panose="020B0503020204020204" charset="-122"/>
                    <a:ea typeface="微软雅黑" panose="020B0503020204020204" charset="-122"/>
                  </a:rPr>
                  <a:t>。</a:t>
                </a:r>
              </a:p>
            </p:txBody>
          </p:sp>
          <p:pic>
            <p:nvPicPr>
              <p:cNvPr id="9" name="图片 8"/>
              <p:cNvPicPr>
                <a:picLocks noChangeAspect="1"/>
              </p:cNvPicPr>
              <p:nvPr>
                <p:custDataLst>
                  <p:tags r:id="rId3"/>
                </p:custDataLst>
              </p:nvPr>
            </p:nvPicPr>
            <p:blipFill>
              <a:blip r:embed="rId6" cstate="print"/>
              <a:stretch>
                <a:fillRect/>
              </a:stretch>
            </p:blipFill>
            <p:spPr>
              <a:xfrm>
                <a:off x="11180" y="2822"/>
                <a:ext cx="4400" cy="3927"/>
              </a:xfrm>
              <a:prstGeom prst="rect">
                <a:avLst/>
              </a:prstGeom>
              <a:effectLst>
                <a:outerShdw blurRad="76200" dir="13500000" sy="23000" kx="1200000" algn="br" rotWithShape="0">
                  <a:prstClr val="black">
                    <a:alpha val="20000"/>
                  </a:prstClr>
                </a:outerShdw>
              </a:effectLst>
            </p:spPr>
          </p:pic>
        </p:grpSp>
      </p:grpSp>
    </p:spTree>
  </p:cSld>
  <p:clrMapOvr>
    <a:masterClrMapping/>
  </p:clrMapOvr>
  <p:transition>
    <p:pull dir="rd"/>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11.5.1  网构软件的概念</a:t>
            </a:r>
          </a:p>
        </p:txBody>
      </p:sp>
      <p:grpSp>
        <p:nvGrpSpPr>
          <p:cNvPr id="8" name="组合 7"/>
          <p:cNvGrpSpPr/>
          <p:nvPr/>
        </p:nvGrpSpPr>
        <p:grpSpPr>
          <a:xfrm>
            <a:off x="834390" y="1830705"/>
            <a:ext cx="10302240" cy="4192270"/>
            <a:chOff x="1314" y="2883"/>
            <a:chExt cx="16224" cy="6602"/>
          </a:xfrm>
        </p:grpSpPr>
        <p:grpSp>
          <p:nvGrpSpPr>
            <p:cNvPr id="6" name="组合 5"/>
            <p:cNvGrpSpPr/>
            <p:nvPr/>
          </p:nvGrpSpPr>
          <p:grpSpPr>
            <a:xfrm>
              <a:off x="1314" y="2883"/>
              <a:ext cx="15149" cy="3844"/>
              <a:chOff x="1699" y="2402"/>
              <a:chExt cx="15149" cy="3844"/>
            </a:xfrm>
          </p:grpSpPr>
          <p:sp>
            <p:nvSpPr>
              <p:cNvPr id="2" name="MH_Text_1"/>
              <p:cNvSpPr/>
              <p:nvPr>
                <p:custDataLst>
                  <p:tags r:id="rId3"/>
                </p:custDataLst>
              </p:nvPr>
            </p:nvSpPr>
            <p:spPr bwMode="auto">
              <a:xfrm>
                <a:off x="3483" y="3075"/>
                <a:ext cx="13365" cy="269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mtClean="0">
                    <a:latin typeface="+mn-ea"/>
                  </a:rPr>
                  <a:t>从技术的角度看，以</a:t>
                </a:r>
                <a:r>
                  <a:rPr b="1" smtClean="0">
                    <a:solidFill>
                      <a:srgbClr val="7030A0"/>
                    </a:solidFill>
                    <a:latin typeface="+mn-ea"/>
                  </a:rPr>
                  <a:t>软件构件等技术支</a:t>
                </a:r>
                <a:r>
                  <a:rPr smtClean="0">
                    <a:latin typeface="+mn-ea"/>
                  </a:rPr>
                  <a:t>持的软件实体将以开放、自主的方式存在于Internet的各个节点之上，任何一个软件实体可在开放的环境下通过某种方式加以发布，</a:t>
                </a:r>
                <a:r>
                  <a:rPr b="1" smtClean="0">
                    <a:solidFill>
                      <a:srgbClr val="7030A0"/>
                    </a:solidFill>
                    <a:latin typeface="+mn-ea"/>
                  </a:rPr>
                  <a:t>并以各种协同方式与其他软件实体进行跨网络的互连、互通、协作和联盟，</a:t>
                </a:r>
                <a:r>
                  <a:rPr smtClean="0">
                    <a:latin typeface="+mn-ea"/>
                  </a:rPr>
                  <a:t>从而在Internet上展现为一种与当前的信息Web类似的Software Web。这样的一种全新的软件形态称为网构软件。</a:t>
                </a:r>
              </a:p>
            </p:txBody>
          </p:sp>
          <p:sp>
            <p:nvSpPr>
              <p:cNvPr id="4" name="MH_Other_1"/>
              <p:cNvSpPr txBox="1">
                <a:spLocks noChangeArrowheads="1"/>
              </p:cNvSpPr>
              <p:nvPr>
                <p:custDataLst>
                  <p:tags r:id="rId4"/>
                </p:custDataLst>
              </p:nvPr>
            </p:nvSpPr>
            <p:spPr bwMode="auto">
              <a:xfrm>
                <a:off x="1699" y="2402"/>
                <a:ext cx="1563" cy="3844"/>
              </a:xfrm>
              <a:prstGeom prst="rect">
                <a:avLst/>
              </a:prstGeom>
              <a:noFill/>
              <a:ln w="9525">
                <a:noFill/>
                <a:miter lim="800000"/>
              </a:ln>
            </p:spPr>
            <p:txBody>
              <a:bodyPr anchor="ctr"/>
              <a:lstStyle/>
              <a:p>
                <a:pPr algn="ctr" eaLnBrk="1" hangingPunct="1"/>
                <a:r>
                  <a:rPr lang="zh-CN" altLang="en-US" sz="6600" b="1" dirty="0" smtClean="0">
                    <a:solidFill>
                      <a:srgbClr val="01AFEE"/>
                    </a:solidFill>
                    <a:latin typeface="MS PMincho" panose="02020600040205080304" pitchFamily="18" charset="-128"/>
                    <a:ea typeface="MS PMincho" panose="02020600040205080304" pitchFamily="18" charset="-128"/>
                  </a:rPr>
                  <a:t>网构</a:t>
                </a:r>
                <a:endParaRPr lang="zh-CN" altLang="en-US" sz="6600" b="1" dirty="0">
                  <a:solidFill>
                    <a:srgbClr val="01AFEE"/>
                  </a:solidFill>
                  <a:latin typeface="MS PMincho" panose="02020600040205080304" pitchFamily="18" charset="-128"/>
                  <a:ea typeface="MS PMincho" panose="02020600040205080304" pitchFamily="18" charset="-128"/>
                </a:endParaRPr>
              </a:p>
            </p:txBody>
          </p:sp>
        </p:grpSp>
        <p:sp>
          <p:nvSpPr>
            <p:cNvPr id="5" name="MH_Text_2"/>
            <p:cNvSpPr/>
            <p:nvPr>
              <p:custDataLst>
                <p:tags r:id="rId2"/>
              </p:custDataLst>
            </p:nvPr>
          </p:nvSpPr>
          <p:spPr bwMode="auto">
            <a:xfrm>
              <a:off x="4394" y="6605"/>
              <a:ext cx="13144" cy="288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dirty="0" smtClean="0">
                  <a:latin typeface="+mn-ea"/>
                </a:rPr>
                <a:t>由于Internet的开放、动态和多变，以及用户使用方式的个性化要求，决定了网构软件的开发不同于传统软件开发的“一次成型”式。具体表现为：</a:t>
              </a:r>
              <a:r>
                <a:rPr b="1" dirty="0" smtClean="0">
                  <a:solidFill>
                    <a:srgbClr val="7030A0"/>
                  </a:solidFill>
                  <a:latin typeface="+mn-ea"/>
                </a:rPr>
                <a:t>网构软件在发布之后，能够感知外部网络环境的动态变化，并随着这种变化按照功能指标、性能指标和可信性指标等进行静态的调整和动态的演化，以使系统具有尽可能高的用户满意度。</a:t>
              </a:r>
            </a:p>
          </p:txBody>
        </p:sp>
      </p:grpSp>
      <p:sp>
        <p:nvSpPr>
          <p:cNvPr id="10" name="MH_Other_1"/>
          <p:cNvSpPr txBox="1">
            <a:spLocks noChangeArrowheads="1"/>
          </p:cNvSpPr>
          <p:nvPr>
            <p:custDataLst>
              <p:tags r:id="rId1"/>
            </p:custDataLst>
          </p:nvPr>
        </p:nvSpPr>
        <p:spPr bwMode="auto">
          <a:xfrm>
            <a:off x="1737492" y="3893701"/>
            <a:ext cx="992505" cy="2400300"/>
          </a:xfrm>
          <a:prstGeom prst="rect">
            <a:avLst/>
          </a:prstGeom>
          <a:noFill/>
          <a:ln w="9525">
            <a:noFill/>
            <a:miter lim="800000"/>
          </a:ln>
        </p:spPr>
        <p:txBody>
          <a:bodyPr anchor="ctr"/>
          <a:lstStyle/>
          <a:p>
            <a:pPr algn="ctr" eaLnBrk="1" hangingPunct="1"/>
            <a:r>
              <a:rPr lang="zh-CN" altLang="en-US" sz="6600" b="1" dirty="0" smtClean="0">
                <a:solidFill>
                  <a:srgbClr val="01AFEE"/>
                </a:solidFill>
                <a:latin typeface="MS PMincho" panose="02020600040205080304" pitchFamily="18" charset="-128"/>
                <a:ea typeface="MS PMincho" panose="02020600040205080304" pitchFamily="18" charset="-128"/>
              </a:rPr>
              <a:t>软件</a:t>
            </a:r>
            <a:endParaRPr lang="zh-CN" altLang="en-US" sz="6600" b="1" dirty="0">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pull dir="rd"/>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11.5.1  网构软件的概念</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264" y="4253"/>
              <a:ext cx="9410" cy="4032"/>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因此，网构软件具有区别于传统软件形态的独有特征，网构软件是在Internet开放、动态和多变环境下软件系统基本形态的一种抽象，它既是传统软件结构的自然延伸，又具有区别于在集中封闭环境下发展起来的传统软件形态的独有的5个基本特征：</a:t>
              </a:r>
              <a:r>
                <a:rPr lang="en-US" altLang="zh-CN" b="1" kern="0" smtClean="0">
                  <a:solidFill>
                    <a:srgbClr val="FFFF00"/>
                  </a:solidFill>
                  <a:latin typeface="微软雅黑" panose="020B0503020204020204" charset="-122"/>
                  <a:ea typeface="微软雅黑" panose="020B0503020204020204" charset="-122"/>
                  <a:cs typeface="宋体" panose="02010600030101010101" pitchFamily="2" charset="-122"/>
                  <a:sym typeface="+mn-ea"/>
                </a:rPr>
                <a:t>自主性、协同性、反应性、演化性和多态性。</a:t>
              </a:r>
            </a:p>
          </p:txBody>
        </p:sp>
      </p:grpSp>
      <p:pic>
        <p:nvPicPr>
          <p:cNvPr id="2" name="图片 1" descr="u=1919803524,1164694154&amp;fm=214&amp;gp=0"/>
          <p:cNvPicPr>
            <a:picLocks noChangeAspect="1"/>
          </p:cNvPicPr>
          <p:nvPr/>
        </p:nvPicPr>
        <p:blipFill>
          <a:blip r:embed="rId3" cstate="print"/>
          <a:stretch>
            <a:fillRect/>
          </a:stretch>
        </p:blipFill>
        <p:spPr>
          <a:xfrm>
            <a:off x="7232015" y="2553335"/>
            <a:ext cx="4498975" cy="2792730"/>
          </a:xfrm>
          <a:prstGeom prst="rect">
            <a:avLst/>
          </a:prstGeom>
        </p:spPr>
      </p:pic>
    </p:spTree>
  </p:cSld>
  <p:clrMapOvr>
    <a:masterClrMapping/>
  </p:clrMapOvr>
  <p:transition>
    <p:pull dir="rd"/>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11.5.1  网构软件的概念</a:t>
            </a:r>
          </a:p>
        </p:txBody>
      </p:sp>
      <p:grpSp>
        <p:nvGrpSpPr>
          <p:cNvPr id="4" name="组合 3"/>
          <p:cNvGrpSpPr/>
          <p:nvPr/>
        </p:nvGrpSpPr>
        <p:grpSpPr>
          <a:xfrm>
            <a:off x="754380" y="2124075"/>
            <a:ext cx="10663065" cy="1303020"/>
            <a:chOff x="1188" y="3092"/>
            <a:chExt cx="15766"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自主性</a:t>
                </a:r>
              </a:p>
            </p:txBody>
          </p:sp>
        </p:grpSp>
        <p:sp>
          <p:nvSpPr>
            <p:cNvPr id="35" name="矩形 34"/>
            <p:cNvSpPr>
              <a:spLocks noChangeArrowheads="1"/>
            </p:cNvSpPr>
            <p:nvPr/>
          </p:nvSpPr>
          <p:spPr bwMode="auto">
            <a:xfrm>
              <a:off x="1893" y="3848"/>
              <a:ext cx="15061"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自主性是指网构软件系统中的软件实体具有相对独立性、主动性和自适应性。自主性使其区别于传统软件系统中软件实体的依赖性和被动性。</a:t>
              </a:r>
            </a:p>
          </p:txBody>
        </p:sp>
      </p:grpSp>
      <p:grpSp>
        <p:nvGrpSpPr>
          <p:cNvPr id="36" name="组合 35"/>
          <p:cNvGrpSpPr/>
          <p:nvPr/>
        </p:nvGrpSpPr>
        <p:grpSpPr>
          <a:xfrm>
            <a:off x="754380" y="3427095"/>
            <a:ext cx="10662027" cy="1303020"/>
            <a:chOff x="1188" y="3092"/>
            <a:chExt cx="15765" cy="2052"/>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协同性</a:t>
                </a:r>
              </a:p>
            </p:txBody>
          </p:sp>
        </p:grpSp>
        <p:sp>
          <p:nvSpPr>
            <p:cNvPr id="41" name="矩形 40"/>
            <p:cNvSpPr>
              <a:spLocks noChangeArrowheads="1"/>
            </p:cNvSpPr>
            <p:nvPr/>
          </p:nvSpPr>
          <p:spPr bwMode="auto">
            <a:xfrm>
              <a:off x="1893" y="3848"/>
              <a:ext cx="15060"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协同性是指网构软件系统中软件实体与软件实体之间可按多种静态连接和动态合作方式，在开放的网络环境下加以互连、互通、协作和联盟。协同性使其区别于传统软件系统在封闭集中环境下单一静态的连接模式。</a:t>
              </a:r>
            </a:p>
          </p:txBody>
        </p:sp>
      </p:grpSp>
      <p:grpSp>
        <p:nvGrpSpPr>
          <p:cNvPr id="2" name="组合 1"/>
          <p:cNvGrpSpPr/>
          <p:nvPr/>
        </p:nvGrpSpPr>
        <p:grpSpPr>
          <a:xfrm>
            <a:off x="792480" y="4835525"/>
            <a:ext cx="10606929" cy="1303020"/>
            <a:chOff x="1188" y="3092"/>
            <a:chExt cx="15683" cy="2052"/>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反应性</a:t>
                </a:r>
              </a:p>
            </p:txBody>
          </p:sp>
        </p:grpSp>
        <p:sp>
          <p:nvSpPr>
            <p:cNvPr id="11" name="矩形 10"/>
            <p:cNvSpPr>
              <a:spLocks noChangeArrowheads="1"/>
            </p:cNvSpPr>
            <p:nvPr/>
          </p:nvSpPr>
          <p:spPr bwMode="auto">
            <a:xfrm>
              <a:off x="1893" y="3848"/>
              <a:ext cx="14978"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反应性是指网构软件具有感知外部运行和使用环境并对系统演化提供有用信息的能力。反应性使网构软件系统具备了适应Internet开放、动态和多变环境的感知能力。</a:t>
              </a:r>
            </a:p>
          </p:txBody>
        </p:sp>
      </p:grpSp>
    </p:spTree>
  </p:cSld>
  <p:clrMapOvr>
    <a:masterClrMapping/>
  </p:clrMapOvr>
  <p:transition>
    <p:pull dir="rd"/>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11.5.1  网构软件的概念</a:t>
            </a:r>
          </a:p>
        </p:txBody>
      </p:sp>
      <p:grpSp>
        <p:nvGrpSpPr>
          <p:cNvPr id="4" name="组合 3"/>
          <p:cNvGrpSpPr/>
          <p:nvPr/>
        </p:nvGrpSpPr>
        <p:grpSpPr>
          <a:xfrm>
            <a:off x="754380" y="2124075"/>
            <a:ext cx="10663065" cy="1668780"/>
            <a:chOff x="1188" y="3092"/>
            <a:chExt cx="15766" cy="2628"/>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演化性</a:t>
                </a:r>
              </a:p>
            </p:txBody>
          </p:sp>
        </p:grpSp>
        <p:sp>
          <p:nvSpPr>
            <p:cNvPr id="35" name="矩形 34"/>
            <p:cNvSpPr>
              <a:spLocks noChangeArrowheads="1"/>
            </p:cNvSpPr>
            <p:nvPr/>
          </p:nvSpPr>
          <p:spPr bwMode="auto">
            <a:xfrm>
              <a:off x="1893" y="3848"/>
              <a:ext cx="15061" cy="18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演化性是指网构软件结构可根据应用需求和网络环境变化而发生动态演化，主要表现在其实体元素数目的可变性，结构关系的可调节性和结构形态的动态可配置性。演化性使网构软件系统具备了适应Internet开放、动态和多变环境的应变能力。</a:t>
              </a:r>
            </a:p>
          </p:txBody>
        </p:sp>
      </p:grpSp>
      <p:grpSp>
        <p:nvGrpSpPr>
          <p:cNvPr id="36" name="组合 35"/>
          <p:cNvGrpSpPr/>
          <p:nvPr/>
        </p:nvGrpSpPr>
        <p:grpSpPr>
          <a:xfrm>
            <a:off x="802640" y="3930650"/>
            <a:ext cx="10662027" cy="1668780"/>
            <a:chOff x="1188" y="3092"/>
            <a:chExt cx="15765" cy="2628"/>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多态性</a:t>
                </a:r>
              </a:p>
            </p:txBody>
          </p:sp>
        </p:grpSp>
        <p:sp>
          <p:nvSpPr>
            <p:cNvPr id="41" name="矩形 40"/>
            <p:cNvSpPr>
              <a:spLocks noChangeArrowheads="1"/>
            </p:cNvSpPr>
            <p:nvPr/>
          </p:nvSpPr>
          <p:spPr bwMode="auto">
            <a:xfrm>
              <a:off x="1893" y="3848"/>
              <a:ext cx="15060" cy="18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多态性是指网构软件系统的效果体现出相容的多目标性。它可根据某些基本协同原则，在动态变化的网络环境下，满足多种相容的目标形态。多态性使网构软件系统在网络环境下具备了一定的柔性和满足个性化需求的能力。</a:t>
              </a:r>
            </a:p>
          </p:txBody>
        </p:sp>
      </p:grpSp>
    </p:spTree>
  </p:cSld>
  <p:clrMapOvr>
    <a:masterClrMapping/>
  </p:clrMapOvr>
  <p:transition>
    <p:pull dir="rd"/>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11.5.1  网构软件的概念</a:t>
            </a:r>
          </a:p>
        </p:txBody>
      </p:sp>
      <p:sp>
        <p:nvSpPr>
          <p:cNvPr id="12" name="MH_Text_1"/>
          <p:cNvSpPr txBox="1">
            <a:spLocks noChangeArrowheads="1"/>
          </p:cNvSpPr>
          <p:nvPr>
            <p:custDataLst>
              <p:tags r:id="rId1"/>
            </p:custDataLst>
          </p:nvPr>
        </p:nvSpPr>
        <p:spPr bwMode="auto">
          <a:xfrm>
            <a:off x="1046159" y="2173550"/>
            <a:ext cx="5422880" cy="38314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77500" lnSpcReduction="20000"/>
          </a:bodyPr>
          <a:lstStyle>
            <a:lvl1pPr>
              <a:lnSpc>
                <a:spcPct val="90000"/>
              </a:lnSpc>
              <a:spcBef>
                <a:spcPts val="1000"/>
              </a:spcBef>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lvl="0" indent="457200" fontAlgn="base">
              <a:lnSpc>
                <a:spcPct val="170000"/>
              </a:lnSpc>
              <a:spcBef>
                <a:spcPct val="0"/>
              </a:spcBef>
              <a:spcAft>
                <a:spcPct val="0"/>
              </a:spcAft>
              <a:buNone/>
            </a:pPr>
            <a:r>
              <a:rPr lang="zh-CN" dirty="0" smtClean="0">
                <a:latin typeface="微软雅黑" panose="020B0503020204020204" charset="-122"/>
                <a:ea typeface="微软雅黑" panose="020B0503020204020204" charset="-122"/>
              </a:rPr>
              <a:t>可以说，网构软件的概念是广泛的。实际上，</a:t>
            </a:r>
            <a:r>
              <a:rPr lang="zh-CN" b="1" dirty="0" smtClean="0">
                <a:solidFill>
                  <a:srgbClr val="0070C0"/>
                </a:solidFill>
                <a:latin typeface="微软雅黑" panose="020B0503020204020204" charset="-122"/>
                <a:ea typeface="微软雅黑" panose="020B0503020204020204" charset="-122"/>
              </a:rPr>
              <a:t>从单机结构上的软件系统，到主/从结构的软件系统，到客户机/服务器模式的软件系统，一直到现有的浏览器/服务器结构的软件系统，</a:t>
            </a:r>
            <a:r>
              <a:rPr lang="zh-CN" dirty="0" smtClean="0">
                <a:latin typeface="微软雅黑" panose="020B0503020204020204" charset="-122"/>
                <a:ea typeface="微软雅黑" panose="020B0503020204020204" charset="-122"/>
              </a:rPr>
              <a:t>从本质上来说，都是网构软件系统的一种特例（具有网构软件的某些特性）。</a:t>
            </a:r>
          </a:p>
        </p:txBody>
      </p:sp>
      <p:grpSp>
        <p:nvGrpSpPr>
          <p:cNvPr id="13" name="组合 12"/>
          <p:cNvGrpSpPr/>
          <p:nvPr/>
        </p:nvGrpSpPr>
        <p:grpSpPr>
          <a:xfrm>
            <a:off x="6799580" y="1636395"/>
            <a:ext cx="4335780" cy="4188460"/>
            <a:chOff x="682572" y="1447038"/>
            <a:chExt cx="5225663" cy="4788675"/>
          </a:xfrm>
        </p:grpSpPr>
        <p:sp>
          <p:nvSpPr>
            <p:cNvPr id="14" name="MH_Picture_2"/>
            <p:cNvSpPr/>
            <p:nvPr>
              <p:custDataLst>
                <p:tags r:id="rId2"/>
              </p:custDataLst>
            </p:nvPr>
          </p:nvSpPr>
          <p:spPr>
            <a:xfrm rot="1155168">
              <a:off x="1694636" y="3646503"/>
              <a:ext cx="4213599" cy="2589210"/>
            </a:xfrm>
            <a:prstGeom prst="rect">
              <a:avLst/>
            </a:prstGeom>
            <a:blipFill dpi="0" rotWithShape="1">
              <a:blip r:embed="rId6" cstate="print"/>
              <a:srcRect/>
              <a:stretch>
                <a:fillRect/>
              </a:stretch>
            </a:blipFill>
            <a:ln w="47625" cap="flat" cmpd="sng" algn="ctr">
              <a:solidFill>
                <a:sysClr val="window" lastClr="FFFFFF"/>
              </a:solidFill>
              <a:prstDash val="solid"/>
              <a:miter lim="800000"/>
            </a:ln>
            <a:effectLst>
              <a:outerShdw blurRad="25400" dist="25400" dir="2700000" algn="tl" rotWithShape="0">
                <a:prstClr val="black">
                  <a:alpha val="2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15" name="MH_Picture_1"/>
            <p:cNvSpPr/>
            <p:nvPr>
              <p:custDataLst>
                <p:tags r:id="rId3"/>
              </p:custDataLst>
            </p:nvPr>
          </p:nvSpPr>
          <p:spPr>
            <a:xfrm rot="21059547">
              <a:off x="682572" y="1447038"/>
              <a:ext cx="4366227" cy="2248525"/>
            </a:xfrm>
            <a:prstGeom prst="rect">
              <a:avLst/>
            </a:prstGeom>
            <a:blipFill dpi="0" rotWithShape="1">
              <a:blip r:embed="rId7" cstate="print"/>
              <a:srcRect/>
              <a:stretch>
                <a:fillRect/>
              </a:stretch>
            </a:blipFill>
            <a:ln w="47625" cap="flat" cmpd="sng" algn="ctr">
              <a:solidFill>
                <a:sysClr val="window" lastClr="FFFFFF"/>
              </a:solidFill>
              <a:prstDash val="solid"/>
              <a:miter lim="800000"/>
            </a:ln>
            <a:effectLst>
              <a:outerShdw blurRad="25400" dist="25400" dir="8100000" algn="tr" rotWithShape="0">
                <a:prstClr val="black">
                  <a:alpha val="2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spTree>
  </p:cSld>
  <p:clrMapOvr>
    <a:masterClrMapping/>
  </p:clrMapOvr>
  <p:transition>
    <p:pull dir="rd"/>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11.5.1  网构软件的概念</a:t>
            </a:r>
          </a:p>
        </p:txBody>
      </p:sp>
      <p:grpSp>
        <p:nvGrpSpPr>
          <p:cNvPr id="2" name="组合 1"/>
          <p:cNvGrpSpPr/>
          <p:nvPr/>
        </p:nvGrpSpPr>
        <p:grpSpPr>
          <a:xfrm>
            <a:off x="328645" y="2141168"/>
            <a:ext cx="11053588" cy="4067622"/>
            <a:chOff x="1097936" y="459994"/>
            <a:chExt cx="13817189" cy="4991218"/>
          </a:xfrm>
        </p:grpSpPr>
        <p:sp>
          <p:nvSpPr>
            <p:cNvPr id="4" name="MH_Other_1"/>
            <p:cNvSpPr/>
            <p:nvPr>
              <p:custDataLst>
                <p:tags r:id="rId1"/>
              </p:custDataLst>
            </p:nvPr>
          </p:nvSpPr>
          <p:spPr bwMode="auto">
            <a:xfrm>
              <a:off x="1097936" y="3285887"/>
              <a:ext cx="4125915" cy="2147458"/>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 xmlns:a14="http://schemas.microsoft.com/office/drawing/2010/main"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5" name="MH_Other_2"/>
            <p:cNvSpPr/>
            <p:nvPr>
              <p:custDataLst>
                <p:tags r:id="rId2"/>
              </p:custDataLst>
            </p:nvPr>
          </p:nvSpPr>
          <p:spPr bwMode="auto">
            <a:xfrm>
              <a:off x="2285387" y="4055305"/>
              <a:ext cx="3040064" cy="1395907"/>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solidFill>
              <a:schemeClr val="bg1">
                <a:lumMod val="75000"/>
              </a:schemeClr>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6" name="MH_Other_3"/>
            <p:cNvSpPr/>
            <p:nvPr>
              <p:custDataLst>
                <p:tags r:id="rId3"/>
              </p:custDataLst>
            </p:nvPr>
          </p:nvSpPr>
          <p:spPr bwMode="auto">
            <a:xfrm>
              <a:off x="1751988" y="3349014"/>
              <a:ext cx="617537" cy="1241071"/>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 xmlns:a14="http://schemas.microsoft.com/office/drawing/2010/main"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7" name="MH_Other_4"/>
            <p:cNvSpPr/>
            <p:nvPr>
              <p:custDataLst>
                <p:tags r:id="rId4"/>
              </p:custDataLst>
            </p:nvPr>
          </p:nvSpPr>
          <p:spPr bwMode="auto">
            <a:xfrm>
              <a:off x="2048850" y="2174640"/>
              <a:ext cx="3890964" cy="1754412"/>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CC99FF"/>
                </a:gs>
                <a:gs pos="50000">
                  <a:srgbClr val="E6CDFF"/>
                </a:gs>
                <a:gs pos="100000">
                  <a:srgbClr val="CC99FF"/>
                </a:gs>
              </a:gsLst>
              <a:lin ang="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8" name="MH_Other_5"/>
            <p:cNvSpPr/>
            <p:nvPr>
              <p:custDataLst>
                <p:tags r:id="rId5"/>
              </p:custDataLst>
            </p:nvPr>
          </p:nvSpPr>
          <p:spPr bwMode="auto">
            <a:xfrm>
              <a:off x="5346089" y="2834480"/>
              <a:ext cx="414337" cy="1210104"/>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CC99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9" name="MH_Other_6"/>
            <p:cNvSpPr/>
            <p:nvPr>
              <p:custDataLst>
                <p:tags r:id="rId6"/>
              </p:custDataLst>
            </p:nvPr>
          </p:nvSpPr>
          <p:spPr bwMode="auto">
            <a:xfrm>
              <a:off x="2317138" y="2385456"/>
              <a:ext cx="2549525" cy="983805"/>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F0E1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0" name="MH_Other_7"/>
            <p:cNvSpPr/>
            <p:nvPr>
              <p:custDataLst>
                <p:tags r:id="rId7"/>
              </p:custDataLst>
            </p:nvPr>
          </p:nvSpPr>
          <p:spPr bwMode="auto">
            <a:xfrm>
              <a:off x="4742838" y="3801610"/>
              <a:ext cx="698500" cy="24297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1" name="MH_Other_8"/>
            <p:cNvSpPr/>
            <p:nvPr>
              <p:custDataLst>
                <p:tags r:id="rId8"/>
              </p:custDataLst>
            </p:nvPr>
          </p:nvSpPr>
          <p:spPr bwMode="auto">
            <a:xfrm>
              <a:off x="2048849" y="3222762"/>
              <a:ext cx="395288" cy="146499"/>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2" name="MH_Other_9"/>
            <p:cNvSpPr/>
            <p:nvPr>
              <p:custDataLst>
                <p:tags r:id="rId9"/>
              </p:custDataLst>
            </p:nvPr>
          </p:nvSpPr>
          <p:spPr bwMode="auto">
            <a:xfrm>
              <a:off x="3276812" y="5191074"/>
              <a:ext cx="11505576" cy="93502"/>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zh-CN" altLang="en-US" sz="1350" kern="10" dirty="0" smtClean="0">
                <a:solidFill>
                  <a:schemeClr val="bg1"/>
                </a:solidFill>
                <a:latin typeface="微软雅黑" panose="020B0503020204020204" charset="-122"/>
                <a:ea typeface="微软雅黑" panose="020B0503020204020204" charset="-122"/>
              </a:endParaRPr>
            </a:p>
          </p:txBody>
        </p:sp>
        <p:sp>
          <p:nvSpPr>
            <p:cNvPr id="13" name="MH_Other_10"/>
            <p:cNvSpPr>
              <a:spLocks noChangeShapeType="1"/>
            </p:cNvSpPr>
            <p:nvPr>
              <p:custDataLst>
                <p:tags r:id="rId10"/>
              </p:custDataLst>
            </p:nvPr>
          </p:nvSpPr>
          <p:spPr bwMode="auto">
            <a:xfrm rot="21307710" flipH="1">
              <a:off x="2830255" y="4022472"/>
              <a:ext cx="465139" cy="470297"/>
            </a:xfrm>
            <a:prstGeom prst="line">
              <a:avLst/>
            </a:prstGeom>
            <a:noFill/>
            <a:ln w="76200">
              <a:solidFill>
                <a:schemeClr val="tx1">
                  <a:lumMod val="50000"/>
                  <a:lumOff val="50000"/>
                </a:schemeClr>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14" name="MH_Other_11"/>
            <p:cNvSpPr>
              <a:spLocks noChangeShapeType="1"/>
            </p:cNvSpPr>
            <p:nvPr>
              <p:custDataLst>
                <p:tags r:id="rId11"/>
              </p:custDataLst>
            </p:nvPr>
          </p:nvSpPr>
          <p:spPr bwMode="auto">
            <a:xfrm rot="21307710" flipV="1">
              <a:off x="3744657" y="2862803"/>
              <a:ext cx="392113" cy="438150"/>
            </a:xfrm>
            <a:prstGeom prst="line">
              <a:avLst/>
            </a:prstGeom>
            <a:noFill/>
            <a:ln w="76200">
              <a:solidFill>
                <a:srgbClr val="CC99FF"/>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15" name="MH_Desc_1"/>
            <p:cNvSpPr/>
            <p:nvPr>
              <p:custDataLst>
                <p:tags r:id="rId12"/>
              </p:custDataLst>
            </p:nvPr>
          </p:nvSpPr>
          <p:spPr bwMode="auto">
            <a:xfrm>
              <a:off x="5820463" y="459994"/>
              <a:ext cx="9094662" cy="4362648"/>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noAutofit/>
            </a:bodyPr>
            <a:lstStyle/>
            <a:p>
              <a:pPr indent="457200">
                <a:lnSpc>
                  <a:spcPct val="130000"/>
                </a:lnSpc>
              </a:pPr>
              <a:r>
                <a:rPr lang="en-US" sz="2000" dirty="0" smtClean="0">
                  <a:solidFill>
                    <a:schemeClr val="tx1"/>
                  </a:solidFill>
                  <a:latin typeface="+mn-ea"/>
                </a:rPr>
                <a:t> </a:t>
              </a:r>
              <a:r>
                <a:rPr sz="2000" dirty="0" smtClean="0">
                  <a:solidFill>
                    <a:schemeClr val="tx1"/>
                  </a:solidFill>
                  <a:latin typeface="+mn-ea"/>
                </a:rPr>
                <a:t>例如，当今有代表性的</a:t>
              </a:r>
              <a:r>
                <a:rPr sz="2000" b="1" dirty="0" smtClean="0">
                  <a:solidFill>
                    <a:srgbClr val="00B050"/>
                  </a:solidFill>
                  <a:latin typeface="+mn-ea"/>
                </a:rPr>
                <a:t>浏览器/服务器（Browser/Server）结构</a:t>
              </a:r>
              <a:r>
                <a:rPr sz="2000" dirty="0" smtClean="0">
                  <a:solidFill>
                    <a:schemeClr val="tx1"/>
                  </a:solidFill>
                  <a:latin typeface="+mn-ea"/>
                </a:rPr>
                <a:t>在Server端具有</a:t>
              </a:r>
              <a:r>
                <a:rPr sz="2000" b="1" dirty="0" smtClean="0">
                  <a:solidFill>
                    <a:schemeClr val="accent6">
                      <a:lumMod val="50000"/>
                    </a:schemeClr>
                  </a:solidFill>
                  <a:latin typeface="+mn-ea"/>
                </a:rPr>
                <a:t>相对独立性</a:t>
              </a:r>
              <a:r>
                <a:rPr sz="2000" dirty="0" smtClean="0">
                  <a:solidFill>
                    <a:schemeClr val="tx1"/>
                  </a:solidFill>
                  <a:latin typeface="+mn-ea"/>
                </a:rPr>
                <a:t>，而众多Browser与Server端的连接则具有开放环境下跨网络的</a:t>
              </a:r>
              <a:r>
                <a:rPr sz="2000" b="1" dirty="0" smtClean="0">
                  <a:solidFill>
                    <a:schemeClr val="accent6">
                      <a:lumMod val="50000"/>
                    </a:schemeClr>
                  </a:solidFill>
                  <a:latin typeface="+mn-ea"/>
                </a:rPr>
                <a:t>初级协同性；</a:t>
              </a:r>
              <a:r>
                <a:rPr sz="2000" dirty="0" smtClean="0">
                  <a:solidFill>
                    <a:schemeClr val="tx1"/>
                  </a:solidFill>
                  <a:latin typeface="+mn-ea"/>
                </a:rPr>
                <a:t>而Browser搜索引擎搜索结果的多重性则体现了其随网络环境变化而产生的</a:t>
              </a:r>
              <a:r>
                <a:rPr sz="2000" b="1" dirty="0" smtClean="0">
                  <a:solidFill>
                    <a:schemeClr val="accent6">
                      <a:lumMod val="50000"/>
                    </a:schemeClr>
                  </a:solidFill>
                  <a:latin typeface="+mn-ea"/>
                </a:rPr>
                <a:t>多态性；</a:t>
              </a:r>
              <a:r>
                <a:rPr sz="2000" dirty="0" smtClean="0">
                  <a:solidFill>
                    <a:schemeClr val="tx1"/>
                  </a:solidFill>
                  <a:latin typeface="+mn-ea"/>
                </a:rPr>
                <a:t>Applet等技术则在某种意义下体现了</a:t>
              </a:r>
              <a:r>
                <a:rPr sz="2000" b="1" dirty="0" smtClean="0">
                  <a:solidFill>
                    <a:schemeClr val="accent6">
                      <a:lumMod val="50000"/>
                    </a:schemeClr>
                  </a:solidFill>
                  <a:latin typeface="+mn-ea"/>
                </a:rPr>
                <a:t>演化性</a:t>
              </a:r>
              <a:r>
                <a:rPr sz="2000" dirty="0" smtClean="0">
                  <a:solidFill>
                    <a:schemeClr val="tx1"/>
                  </a:solidFill>
                  <a:latin typeface="+mn-ea"/>
                </a:rPr>
                <a:t>的需求；而活动软件（Active Software）和自主软件（Autonomous Software）则反映了在网络环境下对软件实体</a:t>
              </a:r>
              <a:r>
                <a:rPr sz="2000" b="1" dirty="0" smtClean="0">
                  <a:solidFill>
                    <a:schemeClr val="accent6">
                      <a:lumMod val="50000"/>
                    </a:schemeClr>
                  </a:solidFill>
                  <a:latin typeface="+mn-ea"/>
                </a:rPr>
                <a:t>自主性</a:t>
              </a:r>
              <a:r>
                <a:rPr sz="2000" dirty="0" smtClean="0">
                  <a:solidFill>
                    <a:schemeClr val="tx1"/>
                  </a:solidFill>
                  <a:latin typeface="+mn-ea"/>
                </a:rPr>
                <a:t>的需求。因此，有理由相信，网构软件概念基本概括了在Internet开放、动态和多变环境下软件技术的发展趋势，它将在未来成为软件的一种主流形态。</a:t>
              </a:r>
            </a:p>
          </p:txBody>
        </p:sp>
      </p:grpSp>
    </p:spTree>
  </p:cSld>
  <p:clrMapOvr>
    <a:masterClrMapping/>
  </p:clrMapOvr>
  <p:transition>
    <p:pull dir="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11.5.2  网构软件模型特点</a:t>
            </a:r>
          </a:p>
        </p:txBody>
      </p:sp>
      <p:sp>
        <p:nvSpPr>
          <p:cNvPr id="7" name="矩形 6"/>
          <p:cNvSpPr/>
          <p:nvPr/>
        </p:nvSpPr>
        <p:spPr>
          <a:xfrm>
            <a:off x="0" y="2169997"/>
            <a:ext cx="12192000" cy="368489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6287" y="2296331"/>
            <a:ext cx="5871873" cy="3416320"/>
          </a:xfrm>
          <a:prstGeom prst="rect">
            <a:avLst/>
          </a:prstGeom>
        </p:spPr>
        <p:txBody>
          <a:bodyPr wrap="square">
            <a:spAutoFit/>
          </a:bodyPr>
          <a:lstStyle/>
          <a:p>
            <a:pPr indent="457200" fontAlgn="auto">
              <a:lnSpc>
                <a:spcPct val="150000"/>
              </a:lnSpc>
            </a:pPr>
            <a:r>
              <a:rPr lang="zh-CN" altLang="en-US" sz="2400" dirty="0" smtClean="0">
                <a:solidFill>
                  <a:schemeClr val="bg1"/>
                </a:solidFill>
                <a:latin typeface="+mn-ea"/>
              </a:rPr>
              <a:t>一般来说，软件结构模型决定了软件的基本形态，它是软件方法学的核心。作为开放、动态和网络环境下的面向Internet的网构软件模型，在</a:t>
            </a:r>
            <a:r>
              <a:rPr lang="zh-CN" altLang="en-US" sz="2400" b="1" dirty="0" smtClean="0">
                <a:solidFill>
                  <a:srgbClr val="FFFF00"/>
                </a:solidFill>
                <a:latin typeface="+mn-ea"/>
              </a:rPr>
              <a:t>构成、运行、正确性、开发、可信性</a:t>
            </a:r>
            <a:r>
              <a:rPr lang="zh-CN" altLang="en-US" sz="2400" dirty="0" smtClean="0">
                <a:solidFill>
                  <a:schemeClr val="bg1"/>
                </a:solidFill>
                <a:latin typeface="+mn-ea"/>
              </a:rPr>
              <a:t>等方面与传统软件模型相比均存在差异。</a:t>
            </a:r>
          </a:p>
        </p:txBody>
      </p:sp>
      <p:pic>
        <p:nvPicPr>
          <p:cNvPr id="3074" name="Picture 2"/>
          <p:cNvPicPr>
            <a:picLocks noChangeAspect="1" noChangeArrowheads="1"/>
          </p:cNvPicPr>
          <p:nvPr/>
        </p:nvPicPr>
        <p:blipFill>
          <a:blip r:embed="rId3" cstate="print"/>
          <a:srcRect/>
          <a:stretch>
            <a:fillRect/>
          </a:stretch>
        </p:blipFill>
        <p:spPr bwMode="auto">
          <a:xfrm>
            <a:off x="6933064" y="2308732"/>
            <a:ext cx="5327176" cy="3418982"/>
          </a:xfrm>
          <a:prstGeom prst="flowChartPreparation">
            <a:avLst/>
          </a:prstGeom>
          <a:noFill/>
          <a:ln w="9525">
            <a:noFill/>
            <a:miter lim="800000"/>
            <a:headEnd/>
            <a:tailEnd/>
          </a:ln>
          <a:effectLst/>
        </p:spPr>
      </p:pic>
    </p:spTree>
  </p:cSld>
  <p:clrMapOvr>
    <a:masterClrMapping/>
  </p:clrMapOvr>
  <p:transition>
    <p:pull dir="rd"/>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11.5.2  网构软件模型特点</a:t>
            </a:r>
          </a:p>
        </p:txBody>
      </p:sp>
      <p:grpSp>
        <p:nvGrpSpPr>
          <p:cNvPr id="2" name="组合 1"/>
          <p:cNvGrpSpPr/>
          <p:nvPr/>
        </p:nvGrpSpPr>
        <p:grpSpPr>
          <a:xfrm>
            <a:off x="930275" y="2475865"/>
            <a:ext cx="10391140" cy="3451226"/>
            <a:chOff x="876432" y="2247367"/>
            <a:chExt cx="10391082" cy="3451126"/>
          </a:xfrm>
        </p:grpSpPr>
        <p:sp>
          <p:nvSpPr>
            <p:cNvPr id="4" name="MH_Other_1"/>
            <p:cNvSpPr/>
            <p:nvPr>
              <p:custDataLst>
                <p:tags r:id="rId7"/>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8"/>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9"/>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10"/>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11"/>
              </p:custDataLst>
            </p:nvPr>
          </p:nvCxnSpPr>
          <p:spPr>
            <a:xfrm>
              <a:off x="7482199" y="2980559"/>
              <a:ext cx="295063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12"/>
              </p:custDataLst>
            </p:nvPr>
          </p:nvSpPr>
          <p:spPr bwMode="auto">
            <a:xfrm>
              <a:off x="7283546" y="2979501"/>
              <a:ext cx="3983968" cy="13715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开放性是指网构软件由分布在广域范围内、通常由第三方提供的、具有主体化服务特征的一组软件实体，通过各类风格各异的协同连接加以互联而形成。</a:t>
              </a:r>
            </a:p>
          </p:txBody>
        </p:sp>
        <p:sp>
          <p:nvSpPr>
            <p:cNvPr id="11" name="MH_SubTitle_2"/>
            <p:cNvSpPr txBox="1">
              <a:spLocks noChangeArrowheads="1"/>
            </p:cNvSpPr>
            <p:nvPr>
              <p:custDataLst>
                <p:tags r:id="rId13"/>
              </p:custDataLst>
            </p:nvPr>
          </p:nvSpPr>
          <p:spPr bwMode="auto">
            <a:xfrm>
              <a:off x="7803421" y="2251789"/>
              <a:ext cx="2567516" cy="758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14"/>
              </p:custDataLst>
            </p:nvPr>
          </p:nvSpPr>
          <p:spPr bwMode="auto">
            <a:xfrm>
              <a:off x="7379430" y="2487286"/>
              <a:ext cx="486833" cy="554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5"/>
              </p:custDataLst>
            </p:nvPr>
          </p:nvSpPr>
          <p:spPr bwMode="auto">
            <a:xfrm>
              <a:off x="876432" y="4062144"/>
              <a:ext cx="4070327" cy="15207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反射性是指网构软件包括两个层次的内容，即目标层与控制层。目标层不仅包括经典软件系统的范围，还包括显式的环境抽象。控制层则主要包括用于反映环境变化的感知机制部分和用于调节系统行为的演化机制部分。</a:t>
              </a:r>
            </a:p>
          </p:txBody>
        </p:sp>
        <p:sp>
          <p:nvSpPr>
            <p:cNvPr id="14" name="MH_SubTitle_1"/>
            <p:cNvSpPr txBox="1">
              <a:spLocks noChangeArrowheads="1"/>
            </p:cNvSpPr>
            <p:nvPr>
              <p:custDataLst>
                <p:tags r:id="rId16"/>
              </p:custDataLst>
            </p:nvPr>
          </p:nvSpPr>
          <p:spPr bwMode="auto">
            <a:xfrm>
              <a:off x="2381251" y="3402014"/>
              <a:ext cx="2565400" cy="758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7"/>
              </p:custDataLst>
            </p:nvPr>
          </p:nvSpPr>
          <p:spPr bwMode="auto">
            <a:xfrm>
              <a:off x="1993901" y="3603629"/>
              <a:ext cx="486833" cy="554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8"/>
              </p:custDataLst>
            </p:nvPr>
          </p:nvCxnSpPr>
          <p:spPr>
            <a:xfrm>
              <a:off x="1993901" y="4062097"/>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741920" y="2810510"/>
            <a:ext cx="2540000" cy="365760"/>
          </a:xfrm>
          <a:prstGeom prst="rect">
            <a:avLst/>
          </a:prstGeom>
          <a:noFill/>
        </p:spPr>
        <p:txBody>
          <a:bodyPr wrap="square" rtlCol="0" anchor="t">
            <a:spAutoFit/>
          </a:bodyPr>
          <a:lstStyle/>
          <a:p>
            <a:r>
              <a:rPr lang="zh-CN" altLang="en-US" b="1">
                <a:solidFill>
                  <a:schemeClr val="accent2">
                    <a:lumMod val="75000"/>
                  </a:schemeClr>
                </a:solidFill>
              </a:rPr>
              <a:t>开放性</a:t>
            </a:r>
          </a:p>
        </p:txBody>
      </p:sp>
      <p:sp>
        <p:nvSpPr>
          <p:cNvPr id="18" name="文本框 17"/>
          <p:cNvSpPr txBox="1"/>
          <p:nvPr/>
        </p:nvSpPr>
        <p:spPr>
          <a:xfrm>
            <a:off x="2421255" y="3924935"/>
            <a:ext cx="2540000" cy="365760"/>
          </a:xfrm>
          <a:prstGeom prst="rect">
            <a:avLst/>
          </a:prstGeom>
          <a:noFill/>
        </p:spPr>
        <p:txBody>
          <a:bodyPr wrap="square" rtlCol="0" anchor="t">
            <a:spAutoFit/>
          </a:bodyPr>
          <a:lstStyle/>
          <a:p>
            <a:r>
              <a:rPr lang="zh-CN" altLang="en-US" b="1">
                <a:solidFill>
                  <a:schemeClr val="accent1">
                    <a:lumMod val="75000"/>
                  </a:schemeClr>
                </a:solidFill>
              </a:rPr>
              <a:t>反射性</a:t>
            </a:r>
          </a:p>
        </p:txBody>
      </p:sp>
      <p:grpSp>
        <p:nvGrpSpPr>
          <p:cNvPr id="22" name="组合 21"/>
          <p:cNvGrpSpPr/>
          <p:nvPr/>
        </p:nvGrpSpPr>
        <p:grpSpPr>
          <a:xfrm>
            <a:off x="845820" y="1969770"/>
            <a:ext cx="3818255" cy="1017270"/>
            <a:chOff x="1021" y="3475"/>
            <a:chExt cx="6013" cy="1602"/>
          </a:xfrm>
        </p:grpSpPr>
        <p:sp>
          <p:nvSpPr>
            <p:cNvPr id="23"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rgbClr val="FF7C80"/>
                  </a:solidFill>
                </a:rPr>
                <a:t>系统构成</a:t>
              </a:r>
            </a:p>
          </p:txBody>
        </p:sp>
        <p:grpSp>
          <p:nvGrpSpPr>
            <p:cNvPr id="24" name="组合 6"/>
            <p:cNvGrpSpPr/>
            <p:nvPr/>
          </p:nvGrpSpPr>
          <p:grpSpPr>
            <a:xfrm>
              <a:off x="1021" y="3475"/>
              <a:ext cx="1987" cy="1602"/>
              <a:chOff x="1685" y="3271"/>
              <a:chExt cx="1987" cy="1602"/>
            </a:xfrm>
          </p:grpSpPr>
          <p:sp>
            <p:nvSpPr>
              <p:cNvPr id="26" name="MH_Other_11"/>
              <p:cNvSpPr>
                <a:spLocks noChangeArrowheads="1"/>
              </p:cNvSpPr>
              <p:nvPr>
                <p:custDataLst>
                  <p:tags r:id="rId2"/>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2"/>
              <p:cNvSpPr>
                <a:spLocks noChangeArrowheads="1"/>
              </p:cNvSpPr>
              <p:nvPr>
                <p:custDataLst>
                  <p:tags r:id="rId3"/>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3"/>
              <p:cNvSpPr>
                <a:spLocks noChangeArrowheads="1"/>
              </p:cNvSpPr>
              <p:nvPr>
                <p:custDataLst>
                  <p:tags r:id="rId4"/>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14"/>
              <p:cNvSpPr/>
              <p:nvPr>
                <p:custDataLst>
                  <p:tags r:id="rId5"/>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1" name="MH_Other_15"/>
              <p:cNvSpPr/>
              <p:nvPr>
                <p:custDataLst>
                  <p:tags r:id="rId6"/>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pull dir="rd"/>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11.5.2  网构软件模型特点</a:t>
            </a:r>
          </a:p>
        </p:txBody>
      </p:sp>
      <p:grpSp>
        <p:nvGrpSpPr>
          <p:cNvPr id="35" name="组合 34"/>
          <p:cNvGrpSpPr/>
          <p:nvPr/>
        </p:nvGrpSpPr>
        <p:grpSpPr>
          <a:xfrm>
            <a:off x="975995" y="4437380"/>
            <a:ext cx="10491470" cy="2292350"/>
            <a:chOff x="964" y="3475"/>
            <a:chExt cx="16522" cy="3610"/>
          </a:xfrm>
        </p:grpSpPr>
        <p:sp>
          <p:nvSpPr>
            <p:cNvPr id="18"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smtClean="0">
                  <a:solidFill>
                    <a:schemeClr val="accent6">
                      <a:lumMod val="75000"/>
                    </a:schemeClr>
                  </a:solidFill>
                </a:rPr>
                <a:t>系统正确性</a:t>
              </a:r>
            </a:p>
          </p:txBody>
        </p:sp>
        <p:grpSp>
          <p:nvGrpSpPr>
            <p:cNvPr id="34" name="组合 33"/>
            <p:cNvGrpSpPr/>
            <p:nvPr/>
          </p:nvGrpSpPr>
          <p:grpSpPr>
            <a:xfrm>
              <a:off x="964" y="3475"/>
              <a:ext cx="16522" cy="3610"/>
              <a:chOff x="1628" y="3271"/>
              <a:chExt cx="16522" cy="3610"/>
            </a:xfrm>
          </p:grpSpPr>
          <p:sp>
            <p:nvSpPr>
              <p:cNvPr id="4" name="MH_Text_1"/>
              <p:cNvSpPr/>
              <p:nvPr>
                <p:custDataLst>
                  <p:tags r:id="rId9"/>
                </p:custDataLst>
              </p:nvPr>
            </p:nvSpPr>
            <p:spPr>
              <a:xfrm>
                <a:off x="2925" y="4318"/>
                <a:ext cx="15225" cy="2563"/>
              </a:xfrm>
              <a:prstGeom prst="rect">
                <a:avLst/>
              </a:prstGeom>
            </p:spPr>
            <p:txBody>
              <a:bodyPr>
                <a:normAutofit/>
              </a:bodyPr>
              <a:lstStyle/>
              <a:p>
                <a:pPr indent="457200">
                  <a:lnSpc>
                    <a:spcPct val="150000"/>
                  </a:lnSpc>
                </a:pPr>
                <a:r>
                  <a:rPr lang="zh-CN" altLang="en-US" dirty="0" smtClean="0">
                    <a:latin typeface="+mn-ea"/>
                  </a:rPr>
                  <a:t>在系统正确性方面，通过不断的系统演化，网构软件所追求的刚性的正确性要求逐步转向随时段变化而变化的用户柔性满意度。</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1"/>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2"/>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45820" y="1969770"/>
            <a:ext cx="10621645" cy="3140710"/>
            <a:chOff x="1021" y="3475"/>
            <a:chExt cx="16727" cy="4946"/>
          </a:xfrm>
        </p:grpSpPr>
        <p:sp>
          <p:nvSpPr>
            <p:cNvPr id="6"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rgbClr val="FF7C80"/>
                  </a:solidFill>
                </a:rPr>
                <a:t>系统运行</a:t>
              </a:r>
            </a:p>
          </p:txBody>
        </p:sp>
        <p:grpSp>
          <p:nvGrpSpPr>
            <p:cNvPr id="7" name="组合 6"/>
            <p:cNvGrpSpPr/>
            <p:nvPr/>
          </p:nvGrpSpPr>
          <p:grpSpPr>
            <a:xfrm>
              <a:off x="1021" y="3475"/>
              <a:ext cx="16727" cy="4946"/>
              <a:chOff x="1685" y="3271"/>
              <a:chExt cx="16727" cy="4946"/>
            </a:xfrm>
          </p:grpSpPr>
          <p:sp>
            <p:nvSpPr>
              <p:cNvPr id="8" name="MH_Text_1"/>
              <p:cNvSpPr/>
              <p:nvPr>
                <p:custDataLst>
                  <p:tags r:id="rId2"/>
                </p:custDataLst>
              </p:nvPr>
            </p:nvSpPr>
            <p:spPr>
              <a:xfrm>
                <a:off x="3087" y="4448"/>
                <a:ext cx="15325" cy="3769"/>
              </a:xfrm>
              <a:prstGeom prst="rect">
                <a:avLst/>
              </a:prstGeom>
            </p:spPr>
            <p:txBody>
              <a:bodyPr>
                <a:normAutofit/>
              </a:bodyPr>
              <a:lstStyle/>
              <a:p>
                <a:pPr indent="457200">
                  <a:lnSpc>
                    <a:spcPct val="150000"/>
                  </a:lnSpc>
                </a:pPr>
                <a:r>
                  <a:rPr lang="zh-CN" altLang="en-US" dirty="0" smtClean="0">
                    <a:latin typeface="+mn-ea"/>
                  </a:rPr>
                  <a:t>在系统运行方面，网构软件能够主动适应运行环境。目标层系统的运行，主要用于满足某一时段内用户的需求；控制层根据环境的变化对运行系统按照所需的指标加以调整和演化，从而使目标层系统在下一个时段能更好地满足用户的需求。如此不断往复，系统的运行过程也是系统不断演化的过程。这也导致在生存周期方面，网构软件强调一种以演化为主的动态模型。</a:t>
                </a:r>
              </a:p>
              <a:p>
                <a:pPr indent="457200">
                  <a:lnSpc>
                    <a:spcPct val="150000"/>
                  </a:lnSpc>
                </a:pPr>
                <a:endParaRPr lang="zh-CN" altLang="en-US" dirty="0" smtClean="0">
                  <a:latin typeface="+mn-ea"/>
                </a:endParaRPr>
              </a:p>
            </p:txBody>
          </p:sp>
          <p:sp>
            <p:nvSpPr>
              <p:cNvPr id="9" name="MH_Other_11"/>
              <p:cNvSpPr>
                <a:spLocks noChangeArrowheads="1"/>
              </p:cNvSpPr>
              <p:nvPr>
                <p:custDataLst>
                  <p:tags r:id="rId3"/>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4"/>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5"/>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pull dir="rd"/>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11.5.2  网构软件模型特点</a:t>
            </a:r>
          </a:p>
        </p:txBody>
      </p:sp>
      <p:grpSp>
        <p:nvGrpSpPr>
          <p:cNvPr id="35" name="组合 34"/>
          <p:cNvGrpSpPr/>
          <p:nvPr/>
        </p:nvGrpSpPr>
        <p:grpSpPr>
          <a:xfrm>
            <a:off x="883920" y="4024630"/>
            <a:ext cx="10584180" cy="2313305"/>
            <a:chOff x="964" y="3475"/>
            <a:chExt cx="16668" cy="3643"/>
          </a:xfrm>
        </p:grpSpPr>
        <p:sp>
          <p:nvSpPr>
            <p:cNvPr id="18"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smtClean="0">
                  <a:solidFill>
                    <a:schemeClr val="accent3">
                      <a:lumMod val="75000"/>
                    </a:schemeClr>
                  </a:solidFill>
                </a:rPr>
                <a:t>系统可信性</a:t>
              </a:r>
            </a:p>
          </p:txBody>
        </p:sp>
        <p:grpSp>
          <p:nvGrpSpPr>
            <p:cNvPr id="34" name="组合 33"/>
            <p:cNvGrpSpPr/>
            <p:nvPr/>
          </p:nvGrpSpPr>
          <p:grpSpPr>
            <a:xfrm>
              <a:off x="964" y="3475"/>
              <a:ext cx="16668" cy="3643"/>
              <a:chOff x="1628" y="3271"/>
              <a:chExt cx="16668" cy="3643"/>
            </a:xfrm>
          </p:grpSpPr>
          <p:sp>
            <p:nvSpPr>
              <p:cNvPr id="4" name="MH_Text_1"/>
              <p:cNvSpPr/>
              <p:nvPr>
                <p:custDataLst>
                  <p:tags r:id="rId9"/>
                </p:custDataLst>
              </p:nvPr>
            </p:nvSpPr>
            <p:spPr>
              <a:xfrm>
                <a:off x="3125" y="4351"/>
                <a:ext cx="15171" cy="2563"/>
              </a:xfrm>
              <a:prstGeom prst="rect">
                <a:avLst/>
              </a:prstGeom>
            </p:spPr>
            <p:txBody>
              <a:bodyPr>
                <a:normAutofit/>
              </a:bodyPr>
              <a:lstStyle/>
              <a:p>
                <a:pPr indent="457200">
                  <a:lnSpc>
                    <a:spcPct val="150000"/>
                  </a:lnSpc>
                </a:pPr>
                <a:r>
                  <a:rPr lang="zh-CN" altLang="en-US" dirty="0" smtClean="0">
                    <a:latin typeface="+mn-ea"/>
                  </a:rPr>
                  <a:t>在系统可信性方面，在经典的安全与可靠保障技术基础上，强调一种在开放环境下基于历史运行信息评价的柔性可信度量、推断与应用机制。</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1"/>
                </p:custDataLst>
              </p:nvPr>
            </p:nvSpPr>
            <p:spPr bwMode="auto">
              <a:xfrm>
                <a:off x="2495" y="411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2"/>
                </p:custDataLst>
              </p:nvPr>
            </p:nvSpPr>
            <p:spPr bwMode="auto">
              <a:xfrm>
                <a:off x="2925" y="3791"/>
                <a:ext cx="747" cy="560"/>
              </a:xfrm>
              <a:prstGeom prst="diamond">
                <a:avLst/>
              </a:prstGeom>
              <a:solidFill>
                <a:schemeClr val="accent3">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3">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45820" y="1969770"/>
            <a:ext cx="10621645" cy="2245995"/>
            <a:chOff x="1021" y="3475"/>
            <a:chExt cx="16727" cy="3537"/>
          </a:xfrm>
        </p:grpSpPr>
        <p:sp>
          <p:nvSpPr>
            <p:cNvPr id="6"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2">
                      <a:lumMod val="75000"/>
                    </a:schemeClr>
                  </a:solidFill>
                </a:rPr>
                <a:t>系统开发</a:t>
              </a:r>
            </a:p>
          </p:txBody>
        </p:sp>
        <p:grpSp>
          <p:nvGrpSpPr>
            <p:cNvPr id="7" name="组合 6"/>
            <p:cNvGrpSpPr/>
            <p:nvPr/>
          </p:nvGrpSpPr>
          <p:grpSpPr>
            <a:xfrm>
              <a:off x="1021" y="3475"/>
              <a:ext cx="16727" cy="3537"/>
              <a:chOff x="1685" y="3271"/>
              <a:chExt cx="16727" cy="3537"/>
            </a:xfrm>
          </p:grpSpPr>
          <p:sp>
            <p:nvSpPr>
              <p:cNvPr id="8" name="MH_Text_1"/>
              <p:cNvSpPr/>
              <p:nvPr>
                <p:custDataLst>
                  <p:tags r:id="rId2"/>
                </p:custDataLst>
              </p:nvPr>
            </p:nvSpPr>
            <p:spPr>
              <a:xfrm>
                <a:off x="3087" y="4448"/>
                <a:ext cx="15325" cy="2360"/>
              </a:xfrm>
              <a:prstGeom prst="rect">
                <a:avLst/>
              </a:prstGeom>
            </p:spPr>
            <p:txBody>
              <a:bodyPr>
                <a:normAutofit/>
              </a:bodyPr>
              <a:lstStyle/>
              <a:p>
                <a:pPr indent="457200">
                  <a:lnSpc>
                    <a:spcPct val="150000"/>
                  </a:lnSpc>
                </a:pPr>
                <a:r>
                  <a:rPr lang="zh-CN" altLang="en-US" dirty="0" smtClean="0">
                    <a:latin typeface="+mn-ea"/>
                  </a:rPr>
                  <a:t>在系统开发方面，软件开发过程就是不断获取最佳的服务与增值服务的过程，在此过程中，由主体化的软件实体与分离的协同机制所支持的成长式开发方式，本质上蕴含了基于构件组装的软件复用思想。</a:t>
                </a:r>
              </a:p>
            </p:txBody>
          </p:sp>
          <p:sp>
            <p:nvSpPr>
              <p:cNvPr id="9"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pull dir="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sp>
        <p:nvSpPr>
          <p:cNvPr id="8" name="矩形 7"/>
          <p:cNvSpPr/>
          <p:nvPr/>
        </p:nvSpPr>
        <p:spPr>
          <a:xfrm>
            <a:off x="612140" y="2517140"/>
            <a:ext cx="7502525" cy="2722880"/>
          </a:xfrm>
          <a:prstGeom prst="rect">
            <a:avLst/>
          </a:prstGeom>
        </p:spPr>
        <p:txBody>
          <a:bodyPr wrap="square">
            <a:spAutoFit/>
          </a:bodyPr>
          <a:lstStyle/>
          <a:p>
            <a:pPr indent="457200">
              <a:lnSpc>
                <a:spcPct val="120000"/>
              </a:lnSpc>
            </a:pPr>
            <a:r>
              <a:rPr lang="zh-CN" altLang="en-US" dirty="0" smtClean="0">
                <a:solidFill>
                  <a:schemeClr val="bg1"/>
                </a:solidFill>
                <a:latin typeface="+mn-ea"/>
              </a:rPr>
              <a:t>Internet的发展为信息技术的应用开启了新的篇章，同时也带来了诸多的技术挑战，并由此产生了多个信息技术新领域。网构软件的开发也是一个全新的领域，从技术角度看，网构软件在Internet上展现为一种与当前Web信息类似的形式，以软件构件等技术支持的软件实体将以开放、自主的方式存在于Internet的各个节点之上。而且由于用户需求的多样化和个性化以及投资回收等因素，一个软件系统往往存在时间较长，因此网构软件的演化过程也会持续较长时间。它在开发过程、开发方法、支持技术等方面都面临着与传统软件系统截然不同的挑战。</a:t>
            </a:r>
          </a:p>
        </p:txBody>
      </p:sp>
      <p:pic>
        <p:nvPicPr>
          <p:cNvPr id="2" name="图片 1" descr="A000220150320J57PPIC.png"/>
          <p:cNvPicPr>
            <a:picLocks noChangeAspect="1"/>
          </p:cNvPicPr>
          <p:nvPr/>
        </p:nvPicPr>
        <p:blipFill>
          <a:blip r:embed="rId3" cstate="print"/>
          <a:stretch>
            <a:fillRect/>
          </a:stretch>
        </p:blipFill>
        <p:spPr>
          <a:xfrm>
            <a:off x="7057830" y="914400"/>
            <a:ext cx="5049079" cy="4959985"/>
          </a:xfrm>
          <a:prstGeom prst="rect">
            <a:avLst/>
          </a:prstGeom>
        </p:spPr>
      </p:pic>
      <p:grpSp>
        <p:nvGrpSpPr>
          <p:cNvPr id="6" name="组合 5"/>
          <p:cNvGrpSpPr/>
          <p:nvPr/>
        </p:nvGrpSpPr>
        <p:grpSpPr>
          <a:xfrm>
            <a:off x="567690" y="2155191"/>
            <a:ext cx="6351725" cy="3870960"/>
            <a:chOff x="108324" y="3963372"/>
            <a:chExt cx="13674800" cy="3523427"/>
          </a:xfrm>
        </p:grpSpPr>
        <p:sp>
          <p:nvSpPr>
            <p:cNvPr id="5" name="矩形 4"/>
            <p:cNvSpPr/>
            <p:nvPr/>
          </p:nvSpPr>
          <p:spPr>
            <a:xfrm>
              <a:off x="108324" y="3963372"/>
              <a:ext cx="13674800" cy="3523427"/>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898" name="Rectangle 2"/>
            <p:cNvSpPr>
              <a:spLocks noChangeArrowheads="1"/>
            </p:cNvSpPr>
            <p:nvPr/>
          </p:nvSpPr>
          <p:spPr bwMode="auto">
            <a:xfrm>
              <a:off x="213792" y="3996749"/>
              <a:ext cx="13465231" cy="3489903"/>
            </a:xfrm>
            <a:prstGeom prst="rect">
              <a:avLst/>
            </a:prstGeom>
            <a:noFill/>
            <a:ln w="9525">
              <a:noFill/>
              <a:miter lim="800000"/>
            </a:ln>
            <a:effectLst/>
          </p:spPr>
          <p:txBody>
            <a:bodyPr vert="horz" wrap="square" lIns="180000" tIns="108000" rIns="180000" bIns="108000" numCol="1" anchor="ctr" anchorCtr="0" compatLnSpc="1">
              <a:spAutoFit/>
            </a:bodyPr>
            <a:lstStyle/>
            <a:p>
              <a:pPr marL="0" marR="0" lvl="0" indent="457200" algn="l" defTabSz="914400" rtl="0" eaLnBrk="1" fontAlgn="base" latinLnBrk="0" hangingPunct="1">
                <a:lnSpc>
                  <a:spcPct val="120000"/>
                </a:lnSpc>
                <a:spcBef>
                  <a:spcPct val="0"/>
                </a:spcBef>
                <a:spcAft>
                  <a:spcPct val="0"/>
                </a:spcAft>
                <a:buClrTx/>
                <a:buSzTx/>
                <a:buFontTx/>
                <a:buNone/>
              </a:pPr>
              <a:r>
                <a:rPr kumimoji="0" lang="zh-CN"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Internet的发展为信息技术的应用开启了新的篇章，同时也带来了诸多的技术挑战，并由此产生了多个信息技术新领域。网构软件的开发也是一个全新的领域，从技术角度看，</a:t>
              </a:r>
              <a:r>
                <a:rPr kumimoji="0" lang="zh-CN" b="1" i="0" u="none" strike="noStrike" cap="none" normalizeH="0" baseline="0" dirty="0" smtClean="0">
                  <a:ln>
                    <a:noFill/>
                  </a:ln>
                  <a:solidFill>
                    <a:srgbClr val="7030A0"/>
                  </a:solidFill>
                  <a:effectLst/>
                  <a:latin typeface="微软雅黑" panose="020B0503020204020204" charset="-122"/>
                  <a:ea typeface="微软雅黑" panose="020B0503020204020204" charset="-122"/>
                  <a:cs typeface="Times New Roman" panose="02020603050405020304" pitchFamily="18" charset="0"/>
                </a:rPr>
                <a:t>网构软件在Internet上展现为一种与当前Web信息类似的形式，以软件构件等技术支持的软件实体将以开放、自主的方式存在于Internet的各个节点之上。</a:t>
              </a:r>
              <a:r>
                <a:rPr kumimoji="0" lang="zh-CN"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而且由于用户需求的多样化和个性化以及投资回收等因素，一个软件系统往往存在时间较长，因此网构软件的演化过程也会持续较长时间。它在开发过程、开发方法、支持技术等方面都面临着与传统软件系统截然不同的挑战。</a:t>
              </a:r>
            </a:p>
          </p:txBody>
        </p:sp>
      </p:grpSp>
    </p:spTree>
  </p:cSld>
  <p:clrMapOvr>
    <a:masterClrMapping/>
  </p:clrMapOvr>
  <p:transition>
    <p:pull dir="rd"/>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grpSp>
        <p:nvGrpSpPr>
          <p:cNvPr id="14" name="组合 13"/>
          <p:cNvGrpSpPr/>
          <p:nvPr/>
        </p:nvGrpSpPr>
        <p:grpSpPr>
          <a:xfrm>
            <a:off x="7776323" y="362607"/>
            <a:ext cx="4415677" cy="5376041"/>
            <a:chOff x="6970741" y="362696"/>
            <a:chExt cx="4965088" cy="5057484"/>
          </a:xfrm>
        </p:grpSpPr>
        <p:sp>
          <p:nvSpPr>
            <p:cNvPr id="16" name="MH_Other_1"/>
            <p:cNvSpPr/>
            <p:nvPr>
              <p:custDataLst>
                <p:tags r:id="rId1"/>
              </p:custDataLst>
            </p:nvPr>
          </p:nvSpPr>
          <p:spPr>
            <a:xfrm rot="1655153">
              <a:off x="6970741" y="1180049"/>
              <a:ext cx="4032448" cy="216024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MH_Picture_1"/>
            <p:cNvSpPr/>
            <p:nvPr>
              <p:custDataLst>
                <p:tags r:id="rId2"/>
              </p:custDataLst>
            </p:nvPr>
          </p:nvSpPr>
          <p:spPr>
            <a:xfrm rot="1655153">
              <a:off x="7159309" y="1334611"/>
              <a:ext cx="3709139" cy="1872208"/>
            </a:xfrm>
            <a:prstGeom prst="rect">
              <a:avLst/>
            </a:prstGeom>
            <a:blipFill dpi="0" rotWithShape="1">
              <a:blip r:embed="rId9"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1" name="MH_Other_2"/>
            <p:cNvPicPr>
              <a:picLocks noChangeAspect="1"/>
            </p:cNvPicPr>
            <p:nvPr>
              <p:custDataLst>
                <p:tags r:id="rId3"/>
              </p:custDataLst>
            </p:nvPr>
          </p:nvPicPr>
          <p:blipFill>
            <a:blip r:embed="rId10" cstate="email"/>
            <a:stretch>
              <a:fillRect/>
            </a:stretch>
          </p:blipFill>
          <p:spPr>
            <a:xfrm rot="1655153">
              <a:off x="7350812" y="362696"/>
              <a:ext cx="1220523" cy="948085"/>
            </a:xfrm>
            <a:prstGeom prst="rect">
              <a:avLst/>
            </a:prstGeom>
            <a:effectLst/>
          </p:spPr>
        </p:pic>
        <p:sp>
          <p:nvSpPr>
            <p:cNvPr id="23" name="MH_Other_3"/>
            <p:cNvSpPr/>
            <p:nvPr>
              <p:custDataLst>
                <p:tags r:id="rId4"/>
              </p:custDataLst>
            </p:nvPr>
          </p:nvSpPr>
          <p:spPr>
            <a:xfrm rot="20132716">
              <a:off x="7180392" y="3259940"/>
              <a:ext cx="4032448" cy="2160240"/>
            </a:xfrm>
            <a:prstGeom prst="rect">
              <a:avLst/>
            </a:prstGeom>
            <a:solidFill>
              <a:srgbClr val="FFFFF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4" name="MH_Picture_2"/>
            <p:cNvSpPr/>
            <p:nvPr>
              <p:custDataLst>
                <p:tags r:id="rId5"/>
              </p:custDataLst>
            </p:nvPr>
          </p:nvSpPr>
          <p:spPr>
            <a:xfrm rot="20132716">
              <a:off x="7369688" y="3394528"/>
              <a:ext cx="3709139" cy="1872208"/>
            </a:xfrm>
            <a:prstGeom prst="rect">
              <a:avLst/>
            </a:prstGeom>
            <a:blipFill dpi="0" rotWithShape="1">
              <a:blip r:embed="rId11"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5" name="MH_Other_4"/>
            <p:cNvPicPr>
              <a:picLocks noChangeAspect="1"/>
            </p:cNvPicPr>
            <p:nvPr>
              <p:custDataLst>
                <p:tags r:id="rId6"/>
              </p:custDataLst>
            </p:nvPr>
          </p:nvPicPr>
          <p:blipFill>
            <a:blip r:embed="rId12" cstate="email"/>
            <a:stretch>
              <a:fillRect/>
            </a:stretch>
          </p:blipFill>
          <p:spPr>
            <a:xfrm rot="9280632">
              <a:off x="10795057" y="4177033"/>
              <a:ext cx="1140772" cy="886135"/>
            </a:xfrm>
            <a:prstGeom prst="rect">
              <a:avLst/>
            </a:prstGeom>
            <a:effectLst/>
          </p:spPr>
        </p:pic>
      </p:grpSp>
      <p:sp>
        <p:nvSpPr>
          <p:cNvPr id="5122" name="MH_Desc_1"/>
          <p:cNvSpPr>
            <a:spLocks noChangeArrowheads="1"/>
          </p:cNvSpPr>
          <p:nvPr/>
        </p:nvSpPr>
        <p:spPr bwMode="auto">
          <a:xfrm>
            <a:off x="213360" y="2244725"/>
            <a:ext cx="7235190" cy="3801745"/>
          </a:xfrm>
          <a:prstGeom prst="roundRect">
            <a:avLst/>
          </a:prstGeom>
          <a:noFill/>
          <a:ln w="28575">
            <a:noFill/>
            <a:prstDash val="sysDash"/>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000" r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eaLnBrk="1" fontAlgn="auto" hangingPunct="1">
              <a:lnSpc>
                <a:spcPct val="130000"/>
              </a:lnSpc>
              <a:spcAft>
                <a:spcPts val="1200"/>
              </a:spcAft>
              <a:defRPr/>
            </a:pPr>
            <a:r>
              <a:rPr lang="en-US" altLang="zh-CN">
                <a:latin typeface="微软雅黑" panose="020B0503020204020204" charset="-122"/>
                <a:ea typeface="微软雅黑" panose="020B0503020204020204" charset="-122"/>
                <a:sym typeface="+mn-ea"/>
              </a:rPr>
              <a:t>在软件开发过程方面，由于传统软件系统的开发基于一个相对封闭、稳定、静态的平台，因此常规方法是采用自顶向下的途径，先确定系统范围，再分解系统功能逐一实现。这样，整个开发过程处于有序控制之下。而</a:t>
            </a:r>
            <a:r>
              <a:rPr lang="en-US" altLang="zh-CN" b="1">
                <a:solidFill>
                  <a:srgbClr val="00B050"/>
                </a:solidFill>
                <a:latin typeface="微软雅黑" panose="020B0503020204020204" charset="-122"/>
                <a:ea typeface="微软雅黑" panose="020B0503020204020204" charset="-122"/>
                <a:sym typeface="+mn-ea"/>
              </a:rPr>
              <a:t>网构软件系统的开发所基于的平台是一个有着丰富软件资源，同时又开放、动态、多变的框架，因此它的开发活动呈现为将原本“无序”的丰富资源组合为“有序”的基本系统。</a:t>
            </a:r>
            <a:r>
              <a:rPr lang="en-US" altLang="zh-CN">
                <a:latin typeface="微软雅黑" panose="020B0503020204020204" charset="-122"/>
                <a:ea typeface="微软雅黑" panose="020B0503020204020204" charset="-122"/>
                <a:sym typeface="+mn-ea"/>
              </a:rPr>
              <a:t>随着时间的推移，这些系统和资源在功能、质量、数量上的变化会导致它们再次呈现出“无序”的状态，</a:t>
            </a:r>
            <a:r>
              <a:rPr lang="en-US" altLang="zh-CN" b="1">
                <a:solidFill>
                  <a:srgbClr val="00B050"/>
                </a:solidFill>
                <a:latin typeface="微软雅黑" panose="020B0503020204020204" charset="-122"/>
                <a:ea typeface="微软雅黑" panose="020B0503020204020204" charset="-122"/>
                <a:sym typeface="+mn-ea"/>
              </a:rPr>
              <a:t>这种由“无序”到“有序”的过程往复循环，基本上是一种自底向上、由内向外的螺旋方式。</a:t>
            </a:r>
          </a:p>
        </p:txBody>
      </p:sp>
    </p:spTree>
  </p:cSld>
  <p:clrMapOvr>
    <a:masterClrMapping/>
  </p:clrMapOvr>
  <p:transition>
    <p:pull dir="rd"/>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2"/>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8"/>
              </p:custDataLst>
            </p:nvPr>
          </p:nvSpPr>
          <p:spPr bwMode="auto">
            <a:xfrm>
              <a:off x="7375134" y="2354751"/>
              <a:ext cx="12695334" cy="231946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sz="2000" dirty="0" smtClean="0">
                  <a:solidFill>
                    <a:schemeClr val="tx1"/>
                  </a:solidFill>
                  <a:latin typeface="微软雅黑" panose="020B0503020204020204" charset="-122"/>
                  <a:ea typeface="微软雅黑" panose="020B0503020204020204" charset="-122"/>
                </a:rPr>
                <a:t>此外，在传统的软件工程中，软件生存周期更强调的是从问题提出到软件交付的整个开发过程，而对于交付之后的软件变化过程往往只用“软件维护”加以简单概括，现实中很多软件工程师也对“软件维护”阶段不够重视。</a:t>
              </a:r>
              <a:r>
                <a:rPr lang="da-DK" altLang="zh-CN" sz="2000" b="1" dirty="0" smtClean="0">
                  <a:solidFill>
                    <a:schemeClr val="accent5">
                      <a:lumMod val="50000"/>
                    </a:schemeClr>
                  </a:solidFill>
                  <a:latin typeface="微软雅黑" panose="020B0503020204020204" charset="-122"/>
                  <a:ea typeface="微软雅黑" panose="020B0503020204020204" charset="-122"/>
                </a:rPr>
                <a:t>这样的软件生存周期概念对于Internet环境下开放、多变、动态的网构软件系统开发肯定是有明显局限性的。</a:t>
              </a:r>
              <a:endParaRPr lang="zh-CN" altLang="zh-CN" sz="2000" dirty="0" smtClean="0">
                <a:solidFill>
                  <a:schemeClr val="tx1"/>
                </a:solidFill>
                <a:latin typeface="微软雅黑" panose="020B0503020204020204" charset="-122"/>
                <a:ea typeface="微软雅黑" panose="020B0503020204020204" charset="-122"/>
              </a:endParaRPr>
            </a:p>
          </p:txBody>
        </p:sp>
      </p:grpSp>
    </p:spTree>
  </p:cSld>
  <p:clrMapOvr>
    <a:masterClrMapping/>
  </p:clrMapOvr>
  <p:transition>
    <p:pull dir="rd"/>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grpSp>
        <p:nvGrpSpPr>
          <p:cNvPr id="5" name="组合 4"/>
          <p:cNvGrpSpPr/>
          <p:nvPr/>
        </p:nvGrpSpPr>
        <p:grpSpPr>
          <a:xfrm>
            <a:off x="876578" y="2337847"/>
            <a:ext cx="10413723" cy="1219300"/>
            <a:chOff x="2060" y="3277"/>
            <a:chExt cx="16400" cy="1920"/>
          </a:xfrm>
        </p:grpSpPr>
        <p:sp>
          <p:nvSpPr>
            <p:cNvPr id="8" name="MH_Other_1"/>
            <p:cNvSpPr>
              <a:spLocks noChangeArrowheads="1"/>
            </p:cNvSpPr>
            <p:nvPr>
              <p:custDataLst>
                <p:tags r:id="rId11"/>
              </p:custDataLst>
            </p:nvPr>
          </p:nvSpPr>
          <p:spPr bwMode="auto">
            <a:xfrm>
              <a:off x="2060" y="3526"/>
              <a:ext cx="1060" cy="795"/>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1</a:t>
              </a:r>
            </a:p>
          </p:txBody>
        </p:sp>
        <p:sp>
          <p:nvSpPr>
            <p:cNvPr id="9" name="MH_Other_2"/>
            <p:cNvSpPr>
              <a:spLocks noChangeArrowheads="1"/>
            </p:cNvSpPr>
            <p:nvPr>
              <p:custDataLst>
                <p:tags r:id="rId12"/>
              </p:custDataLst>
            </p:nvPr>
          </p:nvSpPr>
          <p:spPr bwMode="auto">
            <a:xfrm>
              <a:off x="3180" y="3691"/>
              <a:ext cx="840" cy="630"/>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3"/>
            <p:cNvSpPr>
              <a:spLocks noChangeArrowheads="1"/>
            </p:cNvSpPr>
            <p:nvPr>
              <p:custDataLst>
                <p:tags r:id="rId13"/>
              </p:custDataLst>
            </p:nvPr>
          </p:nvSpPr>
          <p:spPr bwMode="auto">
            <a:xfrm>
              <a:off x="2300" y="4366"/>
              <a:ext cx="820" cy="615"/>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4"/>
            <p:cNvSpPr>
              <a:spLocks noChangeArrowheads="1"/>
            </p:cNvSpPr>
            <p:nvPr>
              <p:custDataLst>
                <p:tags r:id="rId14"/>
              </p:custDataLst>
            </p:nvPr>
          </p:nvSpPr>
          <p:spPr bwMode="auto">
            <a:xfrm>
              <a:off x="3180" y="4366"/>
              <a:ext cx="1060" cy="525"/>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15"/>
              </p:custDataLst>
            </p:nvPr>
          </p:nvSpPr>
          <p:spPr>
            <a:xfrm>
              <a:off x="4685" y="3277"/>
              <a:ext cx="13775" cy="192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（1）新的软件实体往往通过已有的软件实体组装而成，由于这些实体彼此独立、自主运行，因此在系统交付运行之前，很难由这些实体构件准确无误地推演出目标系统的功能和质量。</a:t>
              </a:r>
            </a:p>
          </p:txBody>
        </p:sp>
      </p:grpSp>
      <p:grpSp>
        <p:nvGrpSpPr>
          <p:cNvPr id="2" name="组合 1"/>
          <p:cNvGrpSpPr/>
          <p:nvPr/>
        </p:nvGrpSpPr>
        <p:grpSpPr>
          <a:xfrm>
            <a:off x="877636" y="4577037"/>
            <a:ext cx="10411394" cy="1577975"/>
            <a:chOff x="7327" y="7425"/>
            <a:chExt cx="16396" cy="2485"/>
          </a:xfrm>
        </p:grpSpPr>
        <p:sp>
          <p:nvSpPr>
            <p:cNvPr id="13" name="MH_Other_5"/>
            <p:cNvSpPr>
              <a:spLocks noChangeArrowheads="1"/>
            </p:cNvSpPr>
            <p:nvPr>
              <p:custDataLst>
                <p:tags r:id="rId6"/>
              </p:custDataLst>
            </p:nvPr>
          </p:nvSpPr>
          <p:spPr bwMode="auto">
            <a:xfrm>
              <a:off x="7327" y="7570"/>
              <a:ext cx="1060" cy="795"/>
            </a:xfrm>
            <a:prstGeom prst="rect">
              <a:avLst/>
            </a:prstGeom>
            <a:solidFill>
              <a:schemeClr val="accent2">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3</a:t>
              </a:r>
            </a:p>
          </p:txBody>
        </p:sp>
        <p:sp>
          <p:nvSpPr>
            <p:cNvPr id="14" name="MH_Other_6"/>
            <p:cNvSpPr>
              <a:spLocks noChangeArrowheads="1"/>
            </p:cNvSpPr>
            <p:nvPr>
              <p:custDataLst>
                <p:tags r:id="rId7"/>
              </p:custDataLst>
            </p:nvPr>
          </p:nvSpPr>
          <p:spPr bwMode="auto">
            <a:xfrm>
              <a:off x="8447" y="7735"/>
              <a:ext cx="840" cy="630"/>
            </a:xfrm>
            <a:prstGeom prst="rect">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8"/>
              </p:custDataLst>
            </p:nvPr>
          </p:nvSpPr>
          <p:spPr bwMode="auto">
            <a:xfrm>
              <a:off x="7567" y="8410"/>
              <a:ext cx="820" cy="615"/>
            </a:xfrm>
            <a:prstGeom prst="rect">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9"/>
              </p:custDataLst>
            </p:nvPr>
          </p:nvSpPr>
          <p:spPr bwMode="auto">
            <a:xfrm>
              <a:off x="8447" y="8410"/>
              <a:ext cx="1060" cy="525"/>
            </a:xfrm>
            <a:prstGeom prst="rect">
              <a:avLst/>
            </a:prstGeom>
            <a:solidFill>
              <a:schemeClr val="accent2">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0"/>
              </p:custDataLst>
            </p:nvPr>
          </p:nvSpPr>
          <p:spPr>
            <a:xfrm>
              <a:off x="9924" y="7425"/>
              <a:ext cx="13799" cy="2485"/>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网构软件既服务那些处在不同时区的用户，也服务随时到达的其他网构软件的请求。而且一个网构软件系统本身就是由散布在Internet上的软件组成，因此一个网构软件系统一旦交付使用，往往就不能完全停机。这意味着改错、优化、增加新功能等许多活动都有在线执行，这些活动也需要经历分析、设计、实现、测试、部署，而传统软件生存周期中的“软件维护”难以准确刻画这些活动。</a:t>
              </a:r>
            </a:p>
          </p:txBody>
        </p:sp>
      </p:grpSp>
      <p:grpSp>
        <p:nvGrpSpPr>
          <p:cNvPr id="4" name="组合 3"/>
          <p:cNvGrpSpPr/>
          <p:nvPr/>
        </p:nvGrpSpPr>
        <p:grpSpPr>
          <a:xfrm>
            <a:off x="877848" y="3421620"/>
            <a:ext cx="10411818" cy="1080136"/>
            <a:chOff x="1954" y="5258"/>
            <a:chExt cx="16397" cy="1701"/>
          </a:xfrm>
        </p:grpSpPr>
        <p:sp>
          <p:nvSpPr>
            <p:cNvPr id="18" name="MH_Other_9"/>
            <p:cNvSpPr>
              <a:spLocks noChangeArrowheads="1"/>
            </p:cNvSpPr>
            <p:nvPr>
              <p:custDataLst>
                <p:tags r:id="rId1"/>
              </p:custDataLst>
            </p:nvPr>
          </p:nvSpPr>
          <p:spPr bwMode="auto">
            <a:xfrm>
              <a:off x="1954" y="5504"/>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9" name="MH_Other_10"/>
            <p:cNvSpPr>
              <a:spLocks noChangeArrowheads="1"/>
            </p:cNvSpPr>
            <p:nvPr>
              <p:custDataLst>
                <p:tags r:id="rId2"/>
              </p:custDataLst>
            </p:nvPr>
          </p:nvSpPr>
          <p:spPr bwMode="auto">
            <a:xfrm>
              <a:off x="3074" y="5669"/>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1"/>
            <p:cNvSpPr>
              <a:spLocks noChangeArrowheads="1"/>
            </p:cNvSpPr>
            <p:nvPr>
              <p:custDataLst>
                <p:tags r:id="rId3"/>
              </p:custDataLst>
            </p:nvPr>
          </p:nvSpPr>
          <p:spPr bwMode="auto">
            <a:xfrm>
              <a:off x="2194" y="6344"/>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2"/>
            <p:cNvSpPr>
              <a:spLocks noChangeArrowheads="1"/>
            </p:cNvSpPr>
            <p:nvPr>
              <p:custDataLst>
                <p:tags r:id="rId4"/>
              </p:custDataLst>
            </p:nvPr>
          </p:nvSpPr>
          <p:spPr bwMode="auto">
            <a:xfrm>
              <a:off x="3074" y="6344"/>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SubTitle_2"/>
            <p:cNvSpPr/>
            <p:nvPr>
              <p:custDataLst>
                <p:tags r:id="rId5"/>
              </p:custDataLst>
            </p:nvPr>
          </p:nvSpPr>
          <p:spPr>
            <a:xfrm>
              <a:off x="4577" y="5258"/>
              <a:ext cx="13774" cy="1700"/>
            </a:xfrm>
            <a:prstGeom prst="rect">
              <a:avLst/>
            </a:prstGeom>
          </p:spPr>
          <p:txBody>
            <a:bodyPr lIns="0" tIns="0" rIns="0" bIns="0" anchor="ctr">
              <a:noAutofit/>
            </a:bodyPr>
            <a:lstStyle/>
            <a:p>
              <a:pPr lvl="0" algn="just" fontAlgn="auto">
                <a:lnSpc>
                  <a:spcPct val="130000"/>
                </a:lnSpc>
                <a:spcBef>
                  <a:spcPct val="0"/>
                </a:spcBef>
              </a:pPr>
              <a:r>
                <a:rPr lang="en-US" altLang="zh-CN" sz="1600" dirty="0" smtClean="0">
                  <a:solidFill>
                    <a:srgbClr val="000000"/>
                  </a:solidFill>
                  <a:latin typeface="微软雅黑" panose="020B0503020204020204" charset="-122"/>
                  <a:ea typeface="微软雅黑" panose="020B0503020204020204" charset="-122"/>
                  <a:sym typeface="+mn-ea"/>
                </a:rPr>
                <a:t>       </a:t>
              </a:r>
              <a:r>
                <a:rPr lang="zh-CN" altLang="en-US" sz="1600" dirty="0" smtClean="0">
                  <a:solidFill>
                    <a:srgbClr val="000000"/>
                  </a:solidFill>
                  <a:latin typeface="微软雅黑" panose="020B0503020204020204" charset="-122"/>
                  <a:ea typeface="微软雅黑" panose="020B0503020204020204" charset="-122"/>
                  <a:sym typeface="+mn-ea"/>
                </a:rPr>
                <a:t>（2）使用环境的开放、动态和多变决定了软件实体以及它们之间的协同面临着诸多变化，不论这些变化能否提前预知，网构软件系统都不得不进行持续的适应性调整。</a:t>
              </a:r>
            </a:p>
          </p:txBody>
        </p:sp>
      </p:grpSp>
      <p:sp>
        <p:nvSpPr>
          <p:cNvPr id="23" name="矩形 22"/>
          <p:cNvSpPr/>
          <p:nvPr/>
        </p:nvSpPr>
        <p:spPr>
          <a:xfrm>
            <a:off x="814555" y="2016037"/>
            <a:ext cx="1481496" cy="369332"/>
          </a:xfrm>
          <a:prstGeom prst="rect">
            <a:avLst/>
          </a:prstGeom>
        </p:spPr>
        <p:txBody>
          <a:bodyPr wrap="none">
            <a:spAutoFit/>
          </a:bodyPr>
          <a:lstStyle/>
          <a:p>
            <a:r>
              <a:rPr lang="da-DK" altLang="zh-CN" b="1" dirty="0" smtClean="0">
                <a:latin typeface="微软雅黑" panose="020B0503020204020204" charset="-122"/>
                <a:ea typeface="微软雅黑" panose="020B0503020204020204" charset="-122"/>
              </a:rPr>
              <a:t>原因有3点</a:t>
            </a:r>
            <a:r>
              <a:rPr lang="zh-CN" altLang="en-US" b="1" dirty="0" smtClean="0">
                <a:latin typeface="微软雅黑" panose="020B0503020204020204" charset="-122"/>
                <a:ea typeface="微软雅黑" panose="020B0503020204020204" charset="-122"/>
              </a:rPr>
              <a:t>：</a:t>
            </a:r>
            <a:endParaRPr lang="zh-CN" altLang="en-US" b="1" dirty="0"/>
          </a:p>
        </p:txBody>
      </p:sp>
    </p:spTree>
  </p:cSld>
  <p:clrMapOvr>
    <a:masterClrMapping/>
  </p:clrMapOvr>
  <p:transition>
    <p:pull dir="rd"/>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cxnSp>
        <p:nvCxnSpPr>
          <p:cNvPr id="40" name="MH_Other_5"/>
          <p:cNvCxnSpPr/>
          <p:nvPr/>
        </p:nvCxnSpPr>
        <p:spPr>
          <a:xfrm>
            <a:off x="1117814" y="2247736"/>
            <a:ext cx="2373312"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43" name="MH_Other_6"/>
          <p:cNvCxnSpPr/>
          <p:nvPr/>
        </p:nvCxnSpPr>
        <p:spPr>
          <a:xfrm>
            <a:off x="1117814" y="2442998"/>
            <a:ext cx="0" cy="741363"/>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3" name="MH_Other_7"/>
          <p:cNvCxnSpPr/>
          <p:nvPr/>
        </p:nvCxnSpPr>
        <p:spPr>
          <a:xfrm rot="10800000">
            <a:off x="5203940" y="5869173"/>
            <a:ext cx="2371725"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4" name="MH_Other_8"/>
          <p:cNvCxnSpPr/>
          <p:nvPr/>
        </p:nvCxnSpPr>
        <p:spPr>
          <a:xfrm rot="10800000">
            <a:off x="7574078" y="4930961"/>
            <a:ext cx="0" cy="741362"/>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sp>
        <p:nvSpPr>
          <p:cNvPr id="5135" name="MH_Desc_1"/>
          <p:cNvSpPr txBox="1">
            <a:spLocks noChangeArrowheads="1"/>
          </p:cNvSpPr>
          <p:nvPr/>
        </p:nvSpPr>
        <p:spPr bwMode="auto">
          <a:xfrm>
            <a:off x="1253242" y="2204021"/>
            <a:ext cx="6283960" cy="3717925"/>
          </a:xfrm>
          <a:prstGeom prst="rect">
            <a:avLst/>
          </a:prstGeom>
          <a:noFill/>
          <a:ln w="9525">
            <a:noFill/>
            <a:miter lim="800000"/>
          </a:ln>
        </p:spPr>
        <p:txBody>
          <a:bodyPr lIns="90000" tIns="90000" rIns="90000" b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spcBef>
                <a:spcPts val="600"/>
              </a:spcBef>
              <a:spcAft>
                <a:spcPts val="600"/>
              </a:spcAft>
            </a:pPr>
            <a:r>
              <a:rPr lang="en-US" altLang="zh-CN" dirty="0">
                <a:latin typeface="微软雅黑" panose="020B0503020204020204" charset="-122"/>
                <a:ea typeface="微软雅黑" panose="020B0503020204020204" charset="-122"/>
              </a:rPr>
              <a:t>在软件开发方法方面，由于第11.5.1节中提到的网构软件所具有的5个特性：</a:t>
            </a:r>
            <a:r>
              <a:rPr lang="en-US" altLang="zh-CN" b="1" dirty="0">
                <a:solidFill>
                  <a:srgbClr val="00B050"/>
                </a:solidFill>
                <a:latin typeface="微软雅黑" panose="020B0503020204020204" charset="-122"/>
                <a:ea typeface="微软雅黑" panose="020B0503020204020204" charset="-122"/>
              </a:rPr>
              <a:t>自主性、协同性、反应性、演化性和多态性，因此网构软件在软件开发技术上的主要共性是自适应性。</a:t>
            </a:r>
            <a:r>
              <a:rPr lang="en-US" altLang="zh-CN" dirty="0">
                <a:latin typeface="微软雅黑" panose="020B0503020204020204" charset="-122"/>
                <a:ea typeface="微软雅黑" panose="020B0503020204020204" charset="-122"/>
              </a:rPr>
              <a:t>具体表现为软件实体的自适应性和软件结构的自适应性，也就是网构软件在运行过程中能够在合适的时刻、合适的场合准确捕捉变化并进行合理的适应性调整，以满足功能和质量的需求。</a:t>
            </a:r>
            <a:r>
              <a:rPr lang="en-US" altLang="zh-CN" dirty="0" err="1">
                <a:latin typeface="微软雅黑" panose="020B0503020204020204" charset="-122"/>
                <a:ea typeface="微软雅黑" panose="020B0503020204020204" charset="-122"/>
              </a:rPr>
              <a:t>人在网构软件适应过程中的参与程度决定了网构软件自适应性的高低</a:t>
            </a:r>
            <a:r>
              <a:rPr lang="en-US" altLang="zh-CN" dirty="0">
                <a:latin typeface="微软雅黑" panose="020B0503020204020204" charset="-122"/>
                <a:ea typeface="微软雅黑" panose="020B0503020204020204" charset="-122"/>
              </a:rPr>
              <a:t>。</a:t>
            </a:r>
            <a:r>
              <a:rPr lang="en-US" altLang="zh-CN" dirty="0" err="1">
                <a:latin typeface="微软雅黑" panose="020B0503020204020204" charset="-122"/>
                <a:ea typeface="微软雅黑" panose="020B0503020204020204" charset="-122"/>
              </a:rPr>
              <a:t>因此，网构软件开发方法的最大变化是尽可能减少运行过程中人的参与，尽可能让软件系统具有自适应能力</a:t>
            </a:r>
            <a:r>
              <a:rPr lang="en-US" altLang="zh-CN" dirty="0">
                <a:latin typeface="微软雅黑" panose="020B0503020204020204" charset="-122"/>
                <a:ea typeface="微软雅黑" panose="020B0503020204020204" charset="-122"/>
              </a:rPr>
              <a:t>。</a:t>
            </a:r>
          </a:p>
        </p:txBody>
      </p:sp>
      <p:pic>
        <p:nvPicPr>
          <p:cNvPr id="17" name="图片 16" descr="A000220150319F73PPIC.png"/>
          <p:cNvPicPr>
            <a:picLocks noChangeAspect="1"/>
          </p:cNvPicPr>
          <p:nvPr/>
        </p:nvPicPr>
        <p:blipFill>
          <a:blip r:embed="rId3" cstate="print"/>
          <a:stretch>
            <a:fillRect/>
          </a:stretch>
        </p:blipFill>
        <p:spPr>
          <a:xfrm>
            <a:off x="7764769" y="2352126"/>
            <a:ext cx="4427231" cy="2629776"/>
          </a:xfrm>
          <a:prstGeom prst="rect">
            <a:avLst/>
          </a:prstGeom>
        </p:spPr>
      </p:pic>
    </p:spTree>
  </p:cSld>
  <p:clrMapOvr>
    <a:masterClrMapping/>
  </p:clrMapOvr>
  <p:transition>
    <p:pull dir="rd"/>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grpSp>
        <p:nvGrpSpPr>
          <p:cNvPr id="9" name="组合 8"/>
          <p:cNvGrpSpPr/>
          <p:nvPr/>
        </p:nvGrpSpPr>
        <p:grpSpPr>
          <a:xfrm>
            <a:off x="7250275" y="2752816"/>
            <a:ext cx="4004732" cy="2735263"/>
            <a:chOff x="631497" y="2493909"/>
            <a:chExt cx="4004732" cy="2735263"/>
          </a:xfrm>
        </p:grpSpPr>
        <p:sp>
          <p:nvSpPr>
            <p:cNvPr id="21" name="MH_SubTitle_1"/>
            <p:cNvSpPr/>
            <p:nvPr>
              <p:custDataLst>
                <p:tags r:id="rId2"/>
              </p:custDataLst>
            </p:nvPr>
          </p:nvSpPr>
          <p:spPr>
            <a:xfrm>
              <a:off x="631497" y="2493909"/>
              <a:ext cx="1996017" cy="1362075"/>
            </a:xfrm>
            <a:custGeom>
              <a:avLst/>
              <a:gdLst>
                <a:gd name="connsiteX0" fmla="*/ 642391 w 2037100"/>
                <a:gd name="connsiteY0" fmla="*/ 48 h 1855148"/>
                <a:gd name="connsiteX1" fmla="*/ 1525960 w 2037100"/>
                <a:gd name="connsiteY1" fmla="*/ 299770 h 1855148"/>
                <a:gd name="connsiteX2" fmla="*/ 2017271 w 2037100"/>
                <a:gd name="connsiteY2" fmla="*/ 1687170 h 1855148"/>
                <a:gd name="connsiteX3" fmla="*/ 2009145 w 2037100"/>
                <a:gd name="connsiteY3" fmla="*/ 1728202 h 1855148"/>
                <a:gd name="connsiteX4" fmla="*/ 1970730 w 2037100"/>
                <a:gd name="connsiteY4" fmla="*/ 1744754 h 1855148"/>
                <a:gd name="connsiteX5" fmla="*/ 511140 w 2037100"/>
                <a:gd name="connsiteY5" fmla="*/ 1555378 h 1855148"/>
                <a:gd name="connsiteX6" fmla="*/ 19829 w 2037100"/>
                <a:gd name="connsiteY6" fmla="*/ 167979 h 1855148"/>
                <a:gd name="connsiteX7" fmla="*/ 27955 w 2037100"/>
                <a:gd name="connsiteY7" fmla="*/ 126946 h 1855148"/>
                <a:gd name="connsiteX8" fmla="*/ 66371 w 2037100"/>
                <a:gd name="connsiteY8" fmla="*/ 110395 h 1855148"/>
                <a:gd name="connsiteX9" fmla="*/ 642391 w 2037100"/>
                <a:gd name="connsiteY9" fmla="*/ 48 h 18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8">
                  <a:moveTo>
                    <a:pt x="642391" y="48"/>
                  </a:moveTo>
                  <a:cubicBezTo>
                    <a:pt x="962148" y="-2471"/>
                    <a:pt x="1272177" y="94656"/>
                    <a:pt x="1525960" y="299770"/>
                  </a:cubicBezTo>
                  <a:cubicBezTo>
                    <a:pt x="1932011" y="627952"/>
                    <a:pt x="2097967" y="1154910"/>
                    <a:pt x="2017271" y="1687170"/>
                  </a:cubicBezTo>
                  <a:lnTo>
                    <a:pt x="2009145" y="1728202"/>
                  </a:lnTo>
                  <a:lnTo>
                    <a:pt x="1970730" y="1744754"/>
                  </a:lnTo>
                  <a:cubicBezTo>
                    <a:pt x="1467236" y="1935295"/>
                    <a:pt x="917192" y="1883561"/>
                    <a:pt x="511140" y="1555378"/>
                  </a:cubicBezTo>
                  <a:cubicBezTo>
                    <a:pt x="105089" y="1227196"/>
                    <a:pt x="-60866" y="700239"/>
                    <a:pt x="19829" y="167979"/>
                  </a:cubicBezTo>
                  <a:lnTo>
                    <a:pt x="27955" y="126946"/>
                  </a:lnTo>
                  <a:lnTo>
                    <a:pt x="66371" y="110395"/>
                  </a:lnTo>
                  <a:cubicBezTo>
                    <a:pt x="255181" y="38942"/>
                    <a:pt x="450537" y="1559"/>
                    <a:pt x="642391" y="48"/>
                  </a:cubicBezTo>
                  <a:close/>
                </a:path>
              </a:pathLst>
            </a:custGeom>
            <a:blipFill>
              <a:blip r:embed="rId9"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2" name="MH_SubTitle_2"/>
            <p:cNvSpPr/>
            <p:nvPr>
              <p:custDataLst>
                <p:tags r:id="rId3"/>
              </p:custDataLst>
            </p:nvPr>
          </p:nvSpPr>
          <p:spPr>
            <a:xfrm>
              <a:off x="2640213" y="2493909"/>
              <a:ext cx="1996016" cy="1362075"/>
            </a:xfrm>
            <a:custGeom>
              <a:avLst/>
              <a:gdLst>
                <a:gd name="connsiteX0" fmla="*/ 1394709 w 2037100"/>
                <a:gd name="connsiteY0" fmla="*/ 48 h 1855148"/>
                <a:gd name="connsiteX1" fmla="*/ 1970730 w 2037100"/>
                <a:gd name="connsiteY1" fmla="*/ 110395 h 1855148"/>
                <a:gd name="connsiteX2" fmla="*/ 2009145 w 2037100"/>
                <a:gd name="connsiteY2" fmla="*/ 126946 h 1855148"/>
                <a:gd name="connsiteX3" fmla="*/ 2017271 w 2037100"/>
                <a:gd name="connsiteY3" fmla="*/ 167979 h 1855148"/>
                <a:gd name="connsiteX4" fmla="*/ 1525960 w 2037100"/>
                <a:gd name="connsiteY4" fmla="*/ 1555378 h 1855148"/>
                <a:gd name="connsiteX5" fmla="*/ 66370 w 2037100"/>
                <a:gd name="connsiteY5" fmla="*/ 1744754 h 1855148"/>
                <a:gd name="connsiteX6" fmla="*/ 27955 w 2037100"/>
                <a:gd name="connsiteY6" fmla="*/ 1728202 h 1855148"/>
                <a:gd name="connsiteX7" fmla="*/ 19829 w 2037100"/>
                <a:gd name="connsiteY7" fmla="*/ 1687170 h 1855148"/>
                <a:gd name="connsiteX8" fmla="*/ 511140 w 2037100"/>
                <a:gd name="connsiteY8" fmla="*/ 299770 h 1855148"/>
                <a:gd name="connsiteX9" fmla="*/ 1394709 w 2037100"/>
                <a:gd name="connsiteY9" fmla="*/ 48 h 18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8">
                  <a:moveTo>
                    <a:pt x="1394709" y="48"/>
                  </a:moveTo>
                  <a:cubicBezTo>
                    <a:pt x="1586563" y="1559"/>
                    <a:pt x="1781920" y="38942"/>
                    <a:pt x="1970730" y="110395"/>
                  </a:cubicBezTo>
                  <a:lnTo>
                    <a:pt x="2009145" y="126946"/>
                  </a:lnTo>
                  <a:lnTo>
                    <a:pt x="2017271" y="167979"/>
                  </a:lnTo>
                  <a:cubicBezTo>
                    <a:pt x="2097966" y="700239"/>
                    <a:pt x="1932011" y="1227196"/>
                    <a:pt x="1525960" y="1555378"/>
                  </a:cubicBezTo>
                  <a:cubicBezTo>
                    <a:pt x="1119908" y="1883561"/>
                    <a:pt x="569864" y="1935295"/>
                    <a:pt x="66370" y="1744754"/>
                  </a:cubicBezTo>
                  <a:lnTo>
                    <a:pt x="27955" y="1728202"/>
                  </a:lnTo>
                  <a:lnTo>
                    <a:pt x="19829" y="1687170"/>
                  </a:lnTo>
                  <a:cubicBezTo>
                    <a:pt x="-60867" y="1154910"/>
                    <a:pt x="105089" y="627952"/>
                    <a:pt x="511140" y="299770"/>
                  </a:cubicBezTo>
                  <a:cubicBezTo>
                    <a:pt x="764922" y="94656"/>
                    <a:pt x="1074952" y="-2471"/>
                    <a:pt x="1394709" y="48"/>
                  </a:cubicBezTo>
                  <a:close/>
                </a:path>
              </a:pathLst>
            </a:custGeom>
            <a:blipFill>
              <a:blip r:embed="rId10"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3" name="MH_SubTitle_3"/>
            <p:cNvSpPr/>
            <p:nvPr>
              <p:custDataLst>
                <p:tags r:id="rId4"/>
              </p:custDataLst>
            </p:nvPr>
          </p:nvSpPr>
          <p:spPr>
            <a:xfrm>
              <a:off x="631497" y="3865509"/>
              <a:ext cx="1996017" cy="1363663"/>
            </a:xfrm>
            <a:custGeom>
              <a:avLst/>
              <a:gdLst>
                <a:gd name="connsiteX0" fmla="*/ 1394709 w 2037100"/>
                <a:gd name="connsiteY0" fmla="*/ 47 h 1855146"/>
                <a:gd name="connsiteX1" fmla="*/ 1970730 w 2037100"/>
                <a:gd name="connsiteY1" fmla="*/ 110394 h 1855146"/>
                <a:gd name="connsiteX2" fmla="*/ 2009145 w 2037100"/>
                <a:gd name="connsiteY2" fmla="*/ 126945 h 1855146"/>
                <a:gd name="connsiteX3" fmla="*/ 2017271 w 2037100"/>
                <a:gd name="connsiteY3" fmla="*/ 167978 h 1855146"/>
                <a:gd name="connsiteX4" fmla="*/ 1525960 w 2037100"/>
                <a:gd name="connsiteY4" fmla="*/ 1555377 h 1855146"/>
                <a:gd name="connsiteX5" fmla="*/ 66370 w 2037100"/>
                <a:gd name="connsiteY5" fmla="*/ 1744752 h 1855146"/>
                <a:gd name="connsiteX6" fmla="*/ 27955 w 2037100"/>
                <a:gd name="connsiteY6" fmla="*/ 1728201 h 1855146"/>
                <a:gd name="connsiteX7" fmla="*/ 19829 w 2037100"/>
                <a:gd name="connsiteY7" fmla="*/ 1687168 h 1855146"/>
                <a:gd name="connsiteX8" fmla="*/ 511140 w 2037100"/>
                <a:gd name="connsiteY8" fmla="*/ 299769 h 1855146"/>
                <a:gd name="connsiteX9" fmla="*/ 1394709 w 2037100"/>
                <a:gd name="connsiteY9" fmla="*/ 47 h 1855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6">
                  <a:moveTo>
                    <a:pt x="1394709" y="47"/>
                  </a:moveTo>
                  <a:cubicBezTo>
                    <a:pt x="1586563" y="1558"/>
                    <a:pt x="1781919" y="38941"/>
                    <a:pt x="1970730" y="110394"/>
                  </a:cubicBezTo>
                  <a:lnTo>
                    <a:pt x="2009145" y="126945"/>
                  </a:lnTo>
                  <a:lnTo>
                    <a:pt x="2017271" y="167978"/>
                  </a:lnTo>
                  <a:cubicBezTo>
                    <a:pt x="2097966" y="700237"/>
                    <a:pt x="1932011" y="1227194"/>
                    <a:pt x="1525960" y="1555377"/>
                  </a:cubicBezTo>
                  <a:cubicBezTo>
                    <a:pt x="1119908" y="1883559"/>
                    <a:pt x="569864" y="1935294"/>
                    <a:pt x="66370" y="1744752"/>
                  </a:cubicBezTo>
                  <a:lnTo>
                    <a:pt x="27955" y="1728201"/>
                  </a:lnTo>
                  <a:lnTo>
                    <a:pt x="19829" y="1687168"/>
                  </a:lnTo>
                  <a:cubicBezTo>
                    <a:pt x="-60867" y="1154909"/>
                    <a:pt x="105089" y="627951"/>
                    <a:pt x="511140" y="299769"/>
                  </a:cubicBezTo>
                  <a:cubicBezTo>
                    <a:pt x="764923" y="94655"/>
                    <a:pt x="1074952" y="-2472"/>
                    <a:pt x="1394709" y="47"/>
                  </a:cubicBezTo>
                  <a:close/>
                </a:path>
              </a:pathLst>
            </a:custGeom>
            <a:blipFill>
              <a:blip r:embed="rId11"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4" name="MH_SubTitle_4"/>
            <p:cNvSpPr/>
            <p:nvPr>
              <p:custDataLst>
                <p:tags r:id="rId5"/>
              </p:custDataLst>
            </p:nvPr>
          </p:nvSpPr>
          <p:spPr>
            <a:xfrm>
              <a:off x="2640213" y="3865509"/>
              <a:ext cx="1996016" cy="1363663"/>
            </a:xfrm>
            <a:custGeom>
              <a:avLst/>
              <a:gdLst>
                <a:gd name="connsiteX0" fmla="*/ 642391 w 2037100"/>
                <a:gd name="connsiteY0" fmla="*/ 47 h 1855146"/>
                <a:gd name="connsiteX1" fmla="*/ 1525960 w 2037100"/>
                <a:gd name="connsiteY1" fmla="*/ 299769 h 1855146"/>
                <a:gd name="connsiteX2" fmla="*/ 2017271 w 2037100"/>
                <a:gd name="connsiteY2" fmla="*/ 1687168 h 1855146"/>
                <a:gd name="connsiteX3" fmla="*/ 2009145 w 2037100"/>
                <a:gd name="connsiteY3" fmla="*/ 1728201 h 1855146"/>
                <a:gd name="connsiteX4" fmla="*/ 1970730 w 2037100"/>
                <a:gd name="connsiteY4" fmla="*/ 1744752 h 1855146"/>
                <a:gd name="connsiteX5" fmla="*/ 511140 w 2037100"/>
                <a:gd name="connsiteY5" fmla="*/ 1555377 h 1855146"/>
                <a:gd name="connsiteX6" fmla="*/ 19829 w 2037100"/>
                <a:gd name="connsiteY6" fmla="*/ 167978 h 1855146"/>
                <a:gd name="connsiteX7" fmla="*/ 27955 w 2037100"/>
                <a:gd name="connsiteY7" fmla="*/ 126945 h 1855146"/>
                <a:gd name="connsiteX8" fmla="*/ 66370 w 2037100"/>
                <a:gd name="connsiteY8" fmla="*/ 110394 h 1855146"/>
                <a:gd name="connsiteX9" fmla="*/ 642391 w 2037100"/>
                <a:gd name="connsiteY9" fmla="*/ 47 h 1855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6">
                  <a:moveTo>
                    <a:pt x="642391" y="47"/>
                  </a:moveTo>
                  <a:cubicBezTo>
                    <a:pt x="962148" y="-2472"/>
                    <a:pt x="1272178" y="94655"/>
                    <a:pt x="1525960" y="299769"/>
                  </a:cubicBezTo>
                  <a:cubicBezTo>
                    <a:pt x="1932011" y="627951"/>
                    <a:pt x="2097967" y="1154909"/>
                    <a:pt x="2017271" y="1687168"/>
                  </a:cubicBezTo>
                  <a:lnTo>
                    <a:pt x="2009145" y="1728201"/>
                  </a:lnTo>
                  <a:lnTo>
                    <a:pt x="1970730" y="1744752"/>
                  </a:lnTo>
                  <a:cubicBezTo>
                    <a:pt x="1467237" y="1935294"/>
                    <a:pt x="917192" y="1883559"/>
                    <a:pt x="511140" y="1555377"/>
                  </a:cubicBezTo>
                  <a:cubicBezTo>
                    <a:pt x="105089" y="1227194"/>
                    <a:pt x="-60866" y="700237"/>
                    <a:pt x="19829" y="167978"/>
                  </a:cubicBezTo>
                  <a:lnTo>
                    <a:pt x="27955" y="126945"/>
                  </a:lnTo>
                  <a:lnTo>
                    <a:pt x="66370" y="110394"/>
                  </a:lnTo>
                  <a:cubicBezTo>
                    <a:pt x="255181" y="38941"/>
                    <a:pt x="450537" y="1558"/>
                    <a:pt x="642391" y="47"/>
                  </a:cubicBezTo>
                  <a:close/>
                </a:path>
              </a:pathLst>
            </a:custGeom>
            <a:blipFill>
              <a:blip r:embed="rId1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5" name="MH_Other_1"/>
            <p:cNvSpPr>
              <a:spLocks noChangeArrowheads="1"/>
            </p:cNvSpPr>
            <p:nvPr>
              <p:custDataLst>
                <p:tags r:id="rId6"/>
              </p:custDataLst>
            </p:nvPr>
          </p:nvSpPr>
          <p:spPr bwMode="gray">
            <a:xfrm>
              <a:off x="1975581" y="3367034"/>
              <a:ext cx="1316567" cy="989013"/>
            </a:xfrm>
            <a:prstGeom prst="ellipse">
              <a:avLst/>
            </a:prstGeom>
            <a:solidFill>
              <a:schemeClr val="bg1">
                <a:alpha val="50195"/>
              </a:schemeClr>
            </a:solidFill>
            <a:ln>
              <a:noFill/>
            </a:ln>
            <a:extLst>
              <a:ext uri="{91240B29-F687-4F45-9708-019B960494DF}">
                <a14:hiddenLine xmlns="" xmlns:a14="http://schemas.microsoft.com/office/drawing/2010/main" w="9525">
                  <a:solidFill>
                    <a:srgbClr val="000000"/>
                  </a:solidFill>
                  <a:round/>
                </a14:hiddenLine>
              </a:ext>
            </a:extLst>
          </p:spPr>
          <p:txBody>
            <a:bodyPr anchor="ctr">
              <a:normAutofit/>
            </a:bodyPr>
            <a:lstStyle/>
            <a:p>
              <a:pPr eaLnBrk="1" fontAlgn="auto" hangingPunct="1">
                <a:spcBef>
                  <a:spcPts val="0"/>
                </a:spcBef>
                <a:spcAft>
                  <a:spcPts val="0"/>
                </a:spcAft>
                <a:defRPr/>
              </a:pPr>
              <a:endParaRPr lang="zh-CN" altLang="en-US" sz="1350">
                <a:latin typeface="+mn-lt"/>
                <a:ea typeface="+mn-ea"/>
              </a:endParaRPr>
            </a:p>
          </p:txBody>
        </p:sp>
      </p:grpSp>
      <p:sp>
        <p:nvSpPr>
          <p:cNvPr id="26" name="MH_Desc_1"/>
          <p:cNvSpPr/>
          <p:nvPr>
            <p:custDataLst>
              <p:tags r:id="rId1"/>
            </p:custDataLst>
          </p:nvPr>
        </p:nvSpPr>
        <p:spPr bwMode="auto">
          <a:xfrm>
            <a:off x="882159" y="2273908"/>
            <a:ext cx="6078200" cy="341892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fontAlgn="auto">
              <a:lnSpc>
                <a:spcPct val="130000"/>
              </a:lnSpc>
            </a:pPr>
            <a:endParaRPr lang="en-US" altLang="zh-CN" dirty="0" smtClean="0">
              <a:solidFill>
                <a:schemeClr val="tx1"/>
              </a:solidFill>
              <a:latin typeface="微软雅黑" panose="020B0503020204020204" charset="-122"/>
              <a:ea typeface="微软雅黑" panose="020B0503020204020204" charset="-122"/>
              <a:sym typeface="Arial" panose="020B0604020202020204" pitchFamily="34" charset="0"/>
            </a:endParaRPr>
          </a:p>
          <a:p>
            <a:pPr indent="457200" fontAlgn="auto">
              <a:lnSpc>
                <a:spcPct val="130000"/>
              </a:lnSpc>
            </a:pPr>
            <a:r>
              <a:rPr lang="zh-CN" altLang="en-US" dirty="0" smtClean="0">
                <a:solidFill>
                  <a:schemeClr val="tx1"/>
                </a:solidFill>
                <a:latin typeface="微软雅黑" panose="020B0503020204020204" charset="-122"/>
                <a:ea typeface="微软雅黑" panose="020B0503020204020204" charset="-122"/>
                <a:sym typeface="Arial" panose="020B0604020202020204" pitchFamily="34" charset="0"/>
              </a:rPr>
              <a:t>在软件运行支撑技术方面，传统的软件开发工具往往针对软件交付前的分析、设计、实现、测试阶段，而软件交付后则部署在运行平台上，利用各种管理工具进行维护。对于网构软件来说，它的开发已经不仅仅局限于软件交付之前，软件开发的重心从交付前逐渐转移到运行过程中。因此，</a:t>
            </a:r>
            <a:r>
              <a:rPr lang="zh-CN" altLang="en-US" b="1" dirty="0" smtClean="0">
                <a:solidFill>
                  <a:schemeClr val="accent6">
                    <a:lumMod val="50000"/>
                  </a:schemeClr>
                </a:solidFill>
                <a:latin typeface="微软雅黑" panose="020B0503020204020204" charset="-122"/>
                <a:ea typeface="微软雅黑" panose="020B0503020204020204" charset="-122"/>
                <a:sym typeface="Arial" panose="020B0604020202020204" pitchFamily="34" charset="0"/>
              </a:rPr>
              <a:t>网构软件开发工具不仅要覆盖整个软件生存周期，还要与运行平台融合，从而支持软件运行中持续不断的开发活动。</a:t>
            </a:r>
            <a:r>
              <a:rPr lang="zh-CN" altLang="en-US" dirty="0" smtClean="0">
                <a:solidFill>
                  <a:schemeClr val="tx1"/>
                </a:solidFill>
                <a:latin typeface="微软雅黑" panose="020B0503020204020204" charset="-122"/>
                <a:ea typeface="微软雅黑" panose="020B0503020204020204" charset="-122"/>
                <a:sym typeface="Arial" panose="020B0604020202020204" pitchFamily="34" charset="0"/>
              </a:rPr>
              <a:t>这样对运行平台也提出了较高的要求。</a:t>
            </a:r>
          </a:p>
        </p:txBody>
      </p:sp>
    </p:spTree>
  </p:cSld>
  <p:clrMapOvr>
    <a:masterClrMapping/>
  </p:clrMapOvr>
  <p:transition>
    <p:pull dir="rd"/>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sym typeface="+mn-ea"/>
              </a:rPr>
              <a:t>11.5  网构软件</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11.5.3  网构软件开发方法</a:t>
            </a:r>
          </a:p>
        </p:txBody>
      </p:sp>
      <p:grpSp>
        <p:nvGrpSpPr>
          <p:cNvPr id="2" name="组合 1"/>
          <p:cNvGrpSpPr/>
          <p:nvPr/>
        </p:nvGrpSpPr>
        <p:grpSpPr>
          <a:xfrm>
            <a:off x="1339215" y="2182495"/>
            <a:ext cx="9513570" cy="4217035"/>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solidFill>
                    <a:schemeClr val="tx1"/>
                  </a:solidFill>
                  <a:latin typeface="微软雅黑" panose="020B0503020204020204" charset="-122"/>
                  <a:ea typeface="微软雅黑" panose="020B0503020204020204" charset="-122"/>
                </a:rPr>
                <a:t>综上所述，网构软件的开发过程需要遵循自底向上、从“无序”到“有序”的新型构造途径，开发重心由系统交付前向系统运行时转移。网构软件的开发方法需要重点考虑软件实体和结构的自适应性。在支持技术方面，需要整合开发工具和运行平台以支持整个软件生存周期的开发，而运行平台应提供软件实体和结构自适应性所需的基本机制。</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Sld>
  <p:clrMapOvr>
    <a:masterClrMapping/>
  </p:clrMapOvr>
  <p:transition>
    <p:pull dir="rd"/>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rPr>
              <a:t>本章小结</a:t>
            </a:r>
            <a:endParaRPr lang="zh-CN" altLang="en-US" dirty="0">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786889" y="2927350"/>
            <a:ext cx="9499809" cy="1920240"/>
          </a:xfrm>
          <a:prstGeom prst="rect">
            <a:avLst/>
          </a:prstGeom>
          <a:noFill/>
          <a:ln w="9525">
            <a:noFill/>
          </a:ln>
        </p:spPr>
        <p:txBody>
          <a:bodyPr wrap="square">
            <a:spAutoFit/>
          </a:bodyPr>
          <a:lstStyle/>
          <a:p>
            <a:pPr indent="0" algn="l" fontAlgn="auto">
              <a:lnSpc>
                <a:spcPct val="150000"/>
              </a:lnSpc>
              <a:buNone/>
            </a:pPr>
            <a:r>
              <a:rPr lang="en-US" dirty="0">
                <a:latin typeface="微软雅黑" panose="020B0503020204020204" charset="-122"/>
                <a:ea typeface="微软雅黑" panose="020B0503020204020204" charset="-122"/>
                <a:sym typeface="+mn-ea"/>
              </a:rPr>
              <a:t>     </a:t>
            </a:r>
            <a:r>
              <a:rPr lang="en-US" sz="2000" dirty="0">
                <a:latin typeface="微软雅黑" panose="020B0503020204020204" charset="-122"/>
                <a:ea typeface="微软雅黑" panose="020B0503020204020204" charset="-122"/>
                <a:sym typeface="+mn-ea"/>
              </a:rPr>
              <a:t>  </a:t>
            </a:r>
            <a:r>
              <a:rPr sz="2000" dirty="0">
                <a:latin typeface="微软雅黑" panose="020B0503020204020204" charset="-122"/>
                <a:ea typeface="微软雅黑" panose="020B0503020204020204" charset="-122"/>
                <a:sym typeface="+mn-ea"/>
              </a:rPr>
              <a:t>随着计算机技术的发展，软件工程领域也在不断地涌现新的技术。本章主要介绍了敏捷开发与极限编程技术、净室软件工程思想和面向服务的软件体系架构，并介绍了当前较为流行的云计算技术与网构软件。以上这些软件开发中的新思想、新方法体现了21世纪互联网时代软件开发模式的先进理念和价值观。</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randomBar dir="vert"/>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3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3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3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3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3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3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3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3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4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4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4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4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4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4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4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5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5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5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6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65.xml><?xml version="1.0" encoding="utf-8"?>
<p:tagLst xmlns:a="http://schemas.openxmlformats.org/drawingml/2006/main" xmlns:r="http://schemas.openxmlformats.org/officeDocument/2006/relationships" xmlns:p="http://schemas.openxmlformats.org/presentationml/2006/main">
  <p:tag name="MH" val="20170105154928"/>
  <p:tag name="MH_LIBRARY" val="GRAPHIC"/>
  <p:tag name="MH_TYPE" val="Text"/>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70105154928"/>
  <p:tag name="MH_LIBRARY" val="GRAPHIC"/>
  <p:tag name="MH_TYPE" val="SubTitle"/>
  <p:tag name="MH_ORDER" val="2"/>
</p:tagLst>
</file>

<file path=ppt/tags/tag67.xml><?xml version="1.0" encoding="utf-8"?>
<p:tagLst xmlns:a="http://schemas.openxmlformats.org/drawingml/2006/main" xmlns:r="http://schemas.openxmlformats.org/officeDocument/2006/relationships" xmlns:p="http://schemas.openxmlformats.org/presentationml/2006/main">
  <p:tag name="MH" val="20170105154928"/>
  <p:tag name="MH_LIBRARY" val="GRAPHIC"/>
  <p:tag name="MH_TYPE" val="SubTitle"/>
  <p:tag name="MH_ORDER" val="4"/>
</p:tagLst>
</file>

<file path=ppt/tags/tag68.xml><?xml version="1.0" encoding="utf-8"?>
<p:tagLst xmlns:a="http://schemas.openxmlformats.org/drawingml/2006/main" xmlns:r="http://schemas.openxmlformats.org/officeDocument/2006/relationships" xmlns:p="http://schemas.openxmlformats.org/presentationml/2006/main">
  <p:tag name="MH" val="20170105154928"/>
  <p:tag name="MH_LIBRARY" val="GRAPHIC"/>
  <p:tag name="MH_TYPE" val="SubTitle"/>
  <p:tag name="MH_ORDER" val="3"/>
</p:tagLst>
</file>

<file path=ppt/tags/tag6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70.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7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f"/>
  <p:tag name="KSO_WM_UNIT_INDEX" val="2"/>
  <p:tag name="KSO_WM_UNIT_ID" val="custom160596_40*f*2"/>
  <p:tag name="KSO_WM_UNIT_LAYERLEVEL" val="1"/>
  <p:tag name="KSO_WM_UNIT_VALUE" val="36"/>
  <p:tag name="KSO_WM_UNIT_HIGHLIGHT" val="0"/>
  <p:tag name="KSO_WM_UNIT_COMPATIBLE" val="0"/>
  <p:tag name="KSO_WM_UNIT_CLEAR" val="0"/>
  <p:tag name="KSO_WM_UNIT_PRESET_TEXT" val="春种一粒粟,秋收万颗籽，点滴进步，成就价值是我们的一贯的追求。"/>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8"/>
  <p:tag name="KSO_WM_TEMPLATE_CATEGORY" val="custom"/>
  <p:tag name="KSO_WM_TEMPLATE_INDEX" val="160596"/>
  <p:tag name="KSO_WM_UNIT_INDEX" val="8"/>
</p:tagLst>
</file>

<file path=ppt/tags/tag7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8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8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8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8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8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8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9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9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0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0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0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0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0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07.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Text"/>
  <p:tag name="MH_ORDER" val="1"/>
</p:tagLst>
</file>

<file path=ppt/tags/tag108.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Other"/>
  <p:tag name="MH_ORDER" val="1"/>
</p:tagLst>
</file>

<file path=ppt/tags/tag109.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Other"/>
  <p:tag name="MH_ORDER" val="2"/>
</p:tagLst>
</file>

<file path=ppt/tags/tag110.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Picture"/>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Other"/>
  <p:tag name="MH_ORDER" val="3"/>
</p:tagLst>
</file>

<file path=ppt/tags/tag11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3"/>
  <p:tag name="KSO_WM_TEMPLATE_CATEGORY" val="custom"/>
  <p:tag name="KSO_WM_TEMPLATE_INDEX" val="160596"/>
  <p:tag name="KSO_WM_UNIT_INDEX" val="3"/>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3"/>
  <p:tag name="KSO_WM_TEMPLATE_CATEGORY" val="custom"/>
  <p:tag name="KSO_WM_TEMPLATE_INDEX" val="160596"/>
  <p:tag name="KSO_WM_UNIT_INDEX" val="3"/>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4"/>
  <p:tag name="KSO_WM_TEMPLATE_CATEGORY" val="custom"/>
  <p:tag name="KSO_WM_TEMPLATE_INDEX" val="160596"/>
  <p:tag name="KSO_WM_UNIT_INDEX" val="4"/>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f"/>
  <p:tag name="KSO_WM_UNIT_INDEX" val="2"/>
  <p:tag name="KSO_WM_UNIT_ID" val="custom160596_40*f*2"/>
  <p:tag name="KSO_WM_UNIT_LAYERLEVEL" val="1"/>
  <p:tag name="KSO_WM_UNIT_VALUE" val="36"/>
  <p:tag name="KSO_WM_UNIT_HIGHLIGHT" val="0"/>
  <p:tag name="KSO_WM_UNIT_COMPATIBLE" val="0"/>
  <p:tag name="KSO_WM_UNIT_CLEAR" val="0"/>
  <p:tag name="KSO_WM_UNIT_PRESET_TEXT" val="春种一粒粟,秋收万颗籽，点滴进步，成就价值是我们的一贯的追求。"/>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f"/>
  <p:tag name="KSO_WM_UNIT_INDEX" val="1"/>
  <p:tag name="KSO_WM_UNIT_ID" val="custom160596_40*f*1"/>
  <p:tag name="KSO_WM_UNIT_LAYERLEVEL" val="1"/>
  <p:tag name="KSO_WM_UNIT_VALUE" val="12"/>
  <p:tag name="KSO_WM_UNIT_HIGHLIGHT" val="0"/>
  <p:tag name="KSO_WM_UNIT_COMPATIBLE" val="0"/>
  <p:tag name="KSO_WM_UNIT_CLEAR" val="0"/>
  <p:tag name="KSO_WM_UNIT_PRESET_TEXT" val="乌云后面依然是灿烂的晴天"/>
</p:tagLst>
</file>

<file path=ppt/tags/tag119.xml><?xml version="1.0" encoding="utf-8"?>
<p:tagLst xmlns:a="http://schemas.openxmlformats.org/drawingml/2006/main" xmlns:r="http://schemas.openxmlformats.org/officeDocument/2006/relationships" xmlns:p="http://schemas.openxmlformats.org/presentationml/2006/main">
  <p:tag name="MH" val="20170104152528"/>
  <p:tag name="MH_LIBRARY" val="GRAPHIC"/>
  <p:tag name="MH_TYPE" val="Other"/>
  <p:tag name="MH_ORDER" val="1"/>
</p:tagLst>
</file>

<file path=ppt/tags/tag120.xml><?xml version="1.0" encoding="utf-8"?>
<p:tagLst xmlns:a="http://schemas.openxmlformats.org/drawingml/2006/main" xmlns:r="http://schemas.openxmlformats.org/officeDocument/2006/relationships" xmlns:p="http://schemas.openxmlformats.org/presentationml/2006/main">
  <p:tag name="MH" val="20170104152528"/>
  <p:tag name="MH_LIBRARY" val="GRAPHIC"/>
  <p:tag name="MH_TYPE" val="Other"/>
  <p:tag name="MH_ORDER" val="2"/>
</p:tagLst>
</file>

<file path=ppt/tags/tag121.xml><?xml version="1.0" encoding="utf-8"?>
<p:tagLst xmlns:a="http://schemas.openxmlformats.org/drawingml/2006/main" xmlns:r="http://schemas.openxmlformats.org/officeDocument/2006/relationships" xmlns:p="http://schemas.openxmlformats.org/presentationml/2006/main">
  <p:tag name="MH" val="20170104152528"/>
  <p:tag name="MH_LIBRARY" val="GRAPHIC"/>
  <p:tag name="MH_TYPE" val="Picture"/>
  <p:tag name="MH_ORDER" val="3"/>
</p:tagLst>
</file>

<file path=ppt/tags/tag122.xml><?xml version="1.0" encoding="utf-8"?>
<p:tagLst xmlns:a="http://schemas.openxmlformats.org/drawingml/2006/main" xmlns:r="http://schemas.openxmlformats.org/officeDocument/2006/relationships" xmlns:p="http://schemas.openxmlformats.org/presentationml/2006/main">
  <p:tag name="MH" val="20170104152528"/>
  <p:tag name="MH_LIBRARY" val="GRAPHIC"/>
  <p:tag name="MH_TYPE" val="Text"/>
  <p:tag name="MH_ORDER" val="1"/>
</p:tagLst>
</file>

<file path=ppt/tags/tag123.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1"/>
</p:tagLst>
</file>

<file path=ppt/tags/tag124.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2"/>
</p:tagLst>
</file>

<file path=ppt/tags/tag125.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3"/>
</p:tagLst>
</file>

<file path=ppt/tags/tag126.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Desc"/>
  <p:tag name="MH_ORDER" val="1"/>
</p:tagLst>
</file>

<file path=ppt/tags/tag127.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4"/>
</p:tagLst>
</file>

<file path=ppt/tags/tag128.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12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30.xml><?xml version="1.0" encoding="utf-8"?>
<p:tagLst xmlns:a="http://schemas.openxmlformats.org/drawingml/2006/main" xmlns:r="http://schemas.openxmlformats.org/officeDocument/2006/relationships" xmlns:p="http://schemas.openxmlformats.org/presentationml/2006/main">
  <p:tag name="MH" val="20170104165212"/>
  <p:tag name="MH_LIBRARY" val="GRAPHIC"/>
  <p:tag name="MH_TYPE" val="Other"/>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70104165212"/>
  <p:tag name="MH_LIBRARY" val="GRAPHIC"/>
  <p:tag name="MH_TYPE" val="Text"/>
  <p:tag name="MH_ORDER" val="1"/>
</p:tagLst>
</file>

<file path=ppt/tags/tag132.xml><?xml version="1.0" encoding="utf-8"?>
<p:tagLst xmlns:a="http://schemas.openxmlformats.org/drawingml/2006/main" xmlns:r="http://schemas.openxmlformats.org/officeDocument/2006/relationships" xmlns:p="http://schemas.openxmlformats.org/presentationml/2006/main">
  <p:tag name="MH" val="20170104165212"/>
  <p:tag name="MH_LIBRARY" val="GRAPHIC"/>
  <p:tag name="MH_TYPE" val="Other"/>
  <p:tag name="MH_ORDER" val="2"/>
</p:tagLst>
</file>

<file path=ppt/tags/tag1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34.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35.xml><?xml version="1.0" encoding="utf-8"?>
<p:tagLst xmlns:a="http://schemas.openxmlformats.org/drawingml/2006/main" xmlns:r="http://schemas.openxmlformats.org/officeDocument/2006/relationships" xmlns:p="http://schemas.openxmlformats.org/presentationml/2006/main">
  <p:tag name="MH" val="20161215130751"/>
  <p:tag name="MH_LIBRARY" val="GRAPHIC"/>
  <p:tag name="MH_TYPE" val="Desc"/>
  <p:tag name="MH_ORDER" val="1"/>
</p:tagLst>
</file>

<file path=ppt/tags/tag1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39.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Text"/>
  <p:tag name="MH_ORDER" val="1"/>
</p:tagLst>
</file>

<file path=ppt/tags/tag1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3.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Other"/>
  <p:tag name="MH_ORDER" val="1"/>
</p:tagLst>
</file>

<file path=ppt/tags/tag144.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Other"/>
  <p:tag name="MH_ORDER" val="2"/>
</p:tagLst>
</file>

<file path=ppt/tags/tag145.xml><?xml version="1.0" encoding="utf-8"?>
<p:tagLst xmlns:a="http://schemas.openxmlformats.org/drawingml/2006/main" xmlns:r="http://schemas.openxmlformats.org/officeDocument/2006/relationships" xmlns:p="http://schemas.openxmlformats.org/presentationml/2006/main">
  <p:tag name="MH" val="20170104191750"/>
  <p:tag name="MH_LIBRARY" val="GRAPHIC"/>
  <p:tag name="MH_TYPE" val="Other"/>
  <p:tag name="MH_ORDER" val="3"/>
</p:tagLst>
</file>

<file path=ppt/tags/tag1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4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9.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SubTitle"/>
  <p:tag name="MH_ORDER" val="1"/>
</p:tagLst>
</file>

<file path=ppt/tags/tag1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5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5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6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16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16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16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16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17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17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17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17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17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17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17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177.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17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7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8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8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8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1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1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18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18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19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19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19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9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9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9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2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f"/>
  <p:tag name="KSO_WM_UNIT_INDEX" val="2"/>
  <p:tag name="KSO_WM_UNIT_ID" val="custom160596_40*f*2"/>
  <p:tag name="KSO_WM_UNIT_LAYERLEVEL" val="1"/>
  <p:tag name="KSO_WM_UNIT_VALUE" val="36"/>
  <p:tag name="KSO_WM_UNIT_HIGHLIGHT" val="0"/>
  <p:tag name="KSO_WM_UNIT_COMPATIBLE" val="0"/>
  <p:tag name="KSO_WM_UNIT_CLEAR" val="0"/>
  <p:tag name="KSO_WM_UNIT_PRESET_TEXT" val="春种一粒粟,秋收万颗籽，点滴进步，成就价值是我们的一贯的追求。"/>
</p:tagLst>
</file>

<file path=ppt/tags/tag2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8"/>
  <p:tag name="KSO_WM_TEMPLATE_CATEGORY" val="custom"/>
  <p:tag name="KSO_WM_TEMPLATE_INDEX" val="160596"/>
  <p:tag name="KSO_WM_UNIT_INDEX" val="8"/>
</p:tagLst>
</file>

<file path=ppt/tags/tag20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20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205.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206.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207.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Text"/>
  <p:tag name="MH_ORDER" val="1"/>
</p:tagLst>
</file>

<file path=ppt/tags/tag208.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Picture"/>
  <p:tag name="MH_ORDER" val="2"/>
</p:tagLst>
</file>

<file path=ppt/tags/tag209.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Picture"/>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
</p:tagLst>
</file>

<file path=ppt/tags/tag211.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2"/>
</p:tagLst>
</file>

<file path=ppt/tags/tag212.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3"/>
</p:tagLst>
</file>

<file path=ppt/tags/tag213.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4"/>
</p:tagLst>
</file>

<file path=ppt/tags/tag214.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5"/>
</p:tagLst>
</file>

<file path=ppt/tags/tag215.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6"/>
</p:tagLst>
</file>

<file path=ppt/tags/tag216.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7"/>
</p:tagLst>
</file>

<file path=ppt/tags/tag21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8"/>
</p:tagLst>
</file>

<file path=ppt/tags/tag21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9"/>
</p:tagLst>
</file>

<file path=ppt/tags/tag219.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0"/>
</p:tagLst>
</file>

<file path=ppt/tags/tag220.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1"/>
</p:tagLst>
</file>

<file path=ppt/tags/tag221.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Desc"/>
  <p:tag name="MH_ORDER" val="1"/>
</p:tagLst>
</file>

<file path=ppt/tags/tag2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2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2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2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2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23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23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23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23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23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23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23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24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4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4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4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4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4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4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4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4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4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5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5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5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5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5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5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5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5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5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5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6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6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6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6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6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6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6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6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68.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Other"/>
  <p:tag name="MH_ORDER" val="1"/>
</p:tagLst>
</file>

<file path=ppt/tags/tag269.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Picture"/>
  <p:tag name="MH_ORDER" val="1"/>
</p:tagLst>
</file>

<file path=ppt/tags/tag270.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Other"/>
  <p:tag name="MH_ORDER" val="2"/>
</p:tagLst>
</file>

<file path=ppt/tags/tag271.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Other"/>
  <p:tag name="MH_ORDER" val="3"/>
</p:tagLst>
</file>

<file path=ppt/tags/tag272.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Picture"/>
  <p:tag name="MH_ORDER" val="2"/>
</p:tagLst>
</file>

<file path=ppt/tags/tag273.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Other"/>
  <p:tag name="MH_ORDER" val="4"/>
</p:tagLst>
</file>

<file path=ppt/tags/tag27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7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7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7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8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8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8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8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8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8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8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8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8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8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9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97.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Desc"/>
  <p:tag name="MH_ORDER" val="1"/>
</p:tagLst>
</file>

<file path=ppt/tags/tag298.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1"/>
</p:tagLst>
</file>

<file path=ppt/tags/tag299.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2"/>
</p:tagLst>
</file>

<file path=ppt/tags/tag300.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3"/>
</p:tagLst>
</file>

<file path=ppt/tags/tag301.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4"/>
</p:tagLst>
</file>

<file path=ppt/tags/tag302.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Other"/>
  <p:tag name="MH_ORDER" val="1"/>
</p:tagLst>
</file>

<file path=ppt/tags/tag3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7642</Words>
  <Application>WPS 演示</Application>
  <PresentationFormat>自定义</PresentationFormat>
  <Paragraphs>512</Paragraphs>
  <Slides>98</Slides>
  <Notes>71</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98</vt:i4>
      </vt:variant>
    </vt:vector>
  </HeadingPairs>
  <TitlesOfParts>
    <vt:vector size="101" baseType="lpstr">
      <vt:lpstr>Office 主题</vt:lpstr>
      <vt:lpstr>1_A000120141119A01PPBG</vt:lpstr>
      <vt:lpstr>Microsoft Office Word 文档</vt:lpstr>
      <vt:lpstr>幻灯片 1</vt:lpstr>
      <vt:lpstr>11  软件工程技术的发展</vt:lpstr>
      <vt:lpstr>幻灯片 3</vt:lpstr>
      <vt:lpstr>幻灯片 4</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11.1  敏捷开发与极限编程技术</vt:lpstr>
      <vt:lpstr>幻灯片 22</vt:lpstr>
      <vt:lpstr>11.2  净室软件工程</vt:lpstr>
      <vt:lpstr>11.2  净室软件工程 </vt:lpstr>
      <vt:lpstr>11.2  净室软件工程 </vt:lpstr>
      <vt:lpstr>11.2  净室软件工程  </vt:lpstr>
      <vt:lpstr>11.2  净室软件工程  </vt:lpstr>
      <vt:lpstr>11.2  净室软件工程  </vt:lpstr>
      <vt:lpstr>11.2  净室软件工程  </vt:lpstr>
      <vt:lpstr>11.2  净室软件工程  </vt:lpstr>
      <vt:lpstr>11.2  净室软件工程  </vt:lpstr>
      <vt:lpstr>11.2  净室软件工程  </vt:lpstr>
      <vt:lpstr>幻灯片 33</vt:lpstr>
      <vt:lpstr>11.3  面向服务的架构技术 </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11.3  面向服务的架构技术</vt:lpstr>
      <vt:lpstr>幻灯片 49</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 </vt:lpstr>
      <vt:lpstr>11.4  云计算与软件开发 </vt:lpstr>
      <vt:lpstr>11.4  云计算与软件开发 </vt:lpstr>
      <vt:lpstr>11.4  云计算与软件开发 </vt:lpstr>
      <vt:lpstr>11.4  云计算与软件开发 </vt:lpstr>
      <vt:lpstr>11.4  云计算与软件开发 </vt:lpstr>
      <vt:lpstr>11.4  云计算与软件开发 </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11.4  云计算与软件开发</vt:lpstr>
      <vt:lpstr>幻灯片 78</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11.5  网构软件</vt:lpstr>
      <vt:lpstr>本章小结</vt:lpstr>
      <vt:lpstr>幻灯片 98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30</cp:revision>
  <dcterms:created xsi:type="dcterms:W3CDTF">2017-02-09T16:21:00Z</dcterms:created>
  <dcterms:modified xsi:type="dcterms:W3CDTF">2017-03-30T00:35:45Z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