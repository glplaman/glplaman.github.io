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1.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2.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3.xml" ContentType="application/vnd.openxmlformats-officedocument.presentationml.notesSlide+xml"/>
  <Override PartName="/ppt/tags/tag59.xml" ContentType="application/vnd.openxmlformats-officedocument.presentationml.tags+xml"/>
  <Override PartName="/ppt/notesSlides/notesSlide4.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notesSlides/notesSlide5.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notesSlides/notesSlide6.xml" ContentType="application/vnd.openxmlformats-officedocument.presentationml.notesSlide+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notesSlides/notesSlide7.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notesSlides/notesSlide8.xml" ContentType="application/vnd.openxmlformats-officedocument.presentationml.notesSlide+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notesSlides/notesSlide9.xml" ContentType="application/vnd.openxmlformats-officedocument.presentationml.notesSlide+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notesSlides/notesSlide10.xml" ContentType="application/vnd.openxmlformats-officedocument.presentationml.notesSlide+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91.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notesSlides/notesSlide19.xml" ContentType="application/vnd.openxmlformats-officedocument.presentationml.notesSlide+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notesSlides/notesSlide23.xml" ContentType="application/vnd.openxmlformats-officedocument.presentationml.notesSlide+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notesSlides/notesSlide24.xml" ContentType="application/vnd.openxmlformats-officedocument.presentationml.notesSlide+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notesSlides/notesSlide25.xml" ContentType="application/vnd.openxmlformats-officedocument.presentationml.notesSlide+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notesSlides/notesSlide26.xml" ContentType="application/vnd.openxmlformats-officedocument.presentationml.notesSlide+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notesSlides/notesSlide41.xml" ContentType="application/vnd.openxmlformats-officedocument.presentationml.notesSlide+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notesSlides/notesSlide42.xml" ContentType="application/vnd.openxmlformats-officedocument.presentationml.notesSlide+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notesSlides/notesSlide45.xml" ContentType="application/vnd.openxmlformats-officedocument.presentationml.notesSlide+xml"/>
  <Override PartName="/ppt/tags/tag535.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notesSlides/notesSlide49.xml" ContentType="application/vnd.openxmlformats-officedocument.presentationml.notesSlide+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tags/tag571.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tags/tag596.xml" ContentType="application/vnd.openxmlformats-officedocument.presentationml.tags+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597.xml" ContentType="application/vnd.openxmlformats-officedocument.presentationml.tags+xml"/>
  <Override PartName="/ppt/notesSlides/notesSlide65.xml" ContentType="application/vnd.openxmlformats-officedocument.presentationml.notesSlide+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notesSlides/notesSlide66.xml" ContentType="application/vnd.openxmlformats-officedocument.presentationml.notesSlide+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tags/tag62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1" r:id="rId1"/>
    <p:sldMasterId id="2147483683" r:id="rId2"/>
  </p:sldMasterIdLst>
  <p:notesMasterIdLst>
    <p:notesMasterId r:id="rId146"/>
  </p:notesMasterIdLst>
  <p:sldIdLst>
    <p:sldId id="257" r:id="rId3"/>
    <p:sldId id="258" r:id="rId4"/>
    <p:sldId id="260" r:id="rId5"/>
    <p:sldId id="259" r:id="rId6"/>
    <p:sldId id="270" r:id="rId7"/>
    <p:sldId id="459" r:id="rId8"/>
    <p:sldId id="460" r:id="rId9"/>
    <p:sldId id="283" r:id="rId10"/>
    <p:sldId id="461" r:id="rId11"/>
    <p:sldId id="284" r:id="rId12"/>
    <p:sldId id="285" r:id="rId13"/>
    <p:sldId id="286" r:id="rId14"/>
    <p:sldId id="287" r:id="rId15"/>
    <p:sldId id="293" r:id="rId16"/>
    <p:sldId id="289" r:id="rId17"/>
    <p:sldId id="290" r:id="rId18"/>
    <p:sldId id="292" r:id="rId19"/>
    <p:sldId id="291" r:id="rId20"/>
    <p:sldId id="261" r:id="rId21"/>
    <p:sldId id="462" r:id="rId22"/>
    <p:sldId id="298" r:id="rId23"/>
    <p:sldId id="463" r:id="rId24"/>
    <p:sldId id="464" r:id="rId25"/>
    <p:sldId id="465" r:id="rId26"/>
    <p:sldId id="451" r:id="rId27"/>
    <p:sldId id="450" r:id="rId28"/>
    <p:sldId id="300" r:id="rId29"/>
    <p:sldId id="301" r:id="rId30"/>
    <p:sldId id="452" r:id="rId31"/>
    <p:sldId id="453" r:id="rId32"/>
    <p:sldId id="296" r:id="rId33"/>
    <p:sldId id="302" r:id="rId34"/>
    <p:sldId id="303" r:id="rId35"/>
    <p:sldId id="304" r:id="rId36"/>
    <p:sldId id="305" r:id="rId37"/>
    <p:sldId id="306" r:id="rId38"/>
    <p:sldId id="307" r:id="rId39"/>
    <p:sldId id="308" r:id="rId40"/>
    <p:sldId id="310" r:id="rId41"/>
    <p:sldId id="312" r:id="rId42"/>
    <p:sldId id="314" r:id="rId43"/>
    <p:sldId id="466" r:id="rId44"/>
    <p:sldId id="297" r:id="rId45"/>
    <p:sldId id="317" r:id="rId46"/>
    <p:sldId id="318" r:id="rId47"/>
    <p:sldId id="319" r:id="rId48"/>
    <p:sldId id="320" r:id="rId49"/>
    <p:sldId id="263" r:id="rId50"/>
    <p:sldId id="329" r:id="rId51"/>
    <p:sldId id="330" r:id="rId52"/>
    <p:sldId id="331" r:id="rId53"/>
    <p:sldId id="332" r:id="rId54"/>
    <p:sldId id="333" r:id="rId55"/>
    <p:sldId id="334" r:id="rId56"/>
    <p:sldId id="264" r:id="rId57"/>
    <p:sldId id="336" r:id="rId58"/>
    <p:sldId id="337" r:id="rId59"/>
    <p:sldId id="338" r:id="rId60"/>
    <p:sldId id="339" r:id="rId61"/>
    <p:sldId id="340" r:id="rId62"/>
    <p:sldId id="341" r:id="rId63"/>
    <p:sldId id="265" r:id="rId64"/>
    <p:sldId id="348" r:id="rId65"/>
    <p:sldId id="349" r:id="rId66"/>
    <p:sldId id="350" r:id="rId67"/>
    <p:sldId id="352" r:id="rId68"/>
    <p:sldId id="353" r:id="rId69"/>
    <p:sldId id="354" r:id="rId70"/>
    <p:sldId id="355" r:id="rId71"/>
    <p:sldId id="356" r:id="rId72"/>
    <p:sldId id="357" r:id="rId73"/>
    <p:sldId id="359" r:id="rId74"/>
    <p:sldId id="360" r:id="rId75"/>
    <p:sldId id="361" r:id="rId76"/>
    <p:sldId id="362" r:id="rId77"/>
    <p:sldId id="363" r:id="rId78"/>
    <p:sldId id="364" r:id="rId79"/>
    <p:sldId id="365" r:id="rId80"/>
    <p:sldId id="366" r:id="rId81"/>
    <p:sldId id="367" r:id="rId82"/>
    <p:sldId id="368" r:id="rId83"/>
    <p:sldId id="369" r:id="rId84"/>
    <p:sldId id="371" r:id="rId85"/>
    <p:sldId id="372" r:id="rId86"/>
    <p:sldId id="373" r:id="rId87"/>
    <p:sldId id="374" r:id="rId88"/>
    <p:sldId id="375" r:id="rId89"/>
    <p:sldId id="376" r:id="rId90"/>
    <p:sldId id="377" r:id="rId91"/>
    <p:sldId id="358" r:id="rId92"/>
    <p:sldId id="378" r:id="rId93"/>
    <p:sldId id="379" r:id="rId94"/>
    <p:sldId id="468" r:id="rId95"/>
    <p:sldId id="380" r:id="rId96"/>
    <p:sldId id="381" r:id="rId97"/>
    <p:sldId id="384" r:id="rId98"/>
    <p:sldId id="266" r:id="rId99"/>
    <p:sldId id="385" r:id="rId100"/>
    <p:sldId id="392" r:id="rId101"/>
    <p:sldId id="393" r:id="rId102"/>
    <p:sldId id="391" r:id="rId103"/>
    <p:sldId id="396" r:id="rId104"/>
    <p:sldId id="400" r:id="rId105"/>
    <p:sldId id="397" r:id="rId106"/>
    <p:sldId id="401" r:id="rId107"/>
    <p:sldId id="402" r:id="rId108"/>
    <p:sldId id="406" r:id="rId109"/>
    <p:sldId id="407" r:id="rId110"/>
    <p:sldId id="267" r:id="rId111"/>
    <p:sldId id="440" r:id="rId112"/>
    <p:sldId id="441" r:id="rId113"/>
    <p:sldId id="408" r:id="rId114"/>
    <p:sldId id="442" r:id="rId115"/>
    <p:sldId id="444" r:id="rId116"/>
    <p:sldId id="445" r:id="rId117"/>
    <p:sldId id="446" r:id="rId118"/>
    <p:sldId id="447" r:id="rId119"/>
    <p:sldId id="448" r:id="rId120"/>
    <p:sldId id="449" r:id="rId121"/>
    <p:sldId id="410" r:id="rId122"/>
    <p:sldId id="411" r:id="rId123"/>
    <p:sldId id="268" r:id="rId124"/>
    <p:sldId id="427" r:id="rId125"/>
    <p:sldId id="428" r:id="rId126"/>
    <p:sldId id="429" r:id="rId127"/>
    <p:sldId id="430" r:id="rId128"/>
    <p:sldId id="432" r:id="rId129"/>
    <p:sldId id="433" r:id="rId130"/>
    <p:sldId id="434" r:id="rId131"/>
    <p:sldId id="438" r:id="rId132"/>
    <p:sldId id="454" r:id="rId133"/>
    <p:sldId id="456" r:id="rId134"/>
    <p:sldId id="457" r:id="rId135"/>
    <p:sldId id="262" r:id="rId136"/>
    <p:sldId id="418" r:id="rId137"/>
    <p:sldId id="419" r:id="rId138"/>
    <p:sldId id="420" r:id="rId139"/>
    <p:sldId id="421" r:id="rId140"/>
    <p:sldId id="424" r:id="rId141"/>
    <p:sldId id="422" r:id="rId142"/>
    <p:sldId id="425" r:id="rId143"/>
    <p:sldId id="426" r:id="rId144"/>
    <p:sldId id="458" r:id="rId145"/>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3" d="100"/>
          <a:sy n="103" d="100"/>
        </p:scale>
        <p:origin x="138" y="33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theme" Target="theme/theme1.xml"/><Relationship Id="rId5" Type="http://schemas.openxmlformats.org/officeDocument/2006/relationships/slide" Target="slides/slide3.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tableStyles" Target="tableStyles.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atin typeface="Times New Roman" panose="02020603050405020304" pitchFamily="18" charset="0"/>
              </a:defRPr>
            </a:lvl1pPr>
          </a:lstStyle>
          <a:p>
            <a:endParaRPr lang="zh-CN" altLang="en-US" dirty="0"/>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atin typeface="Times New Roman" panose="02020603050405020304" pitchFamily="18" charset="0"/>
              </a:defRPr>
            </a:lvl1pPr>
          </a:lstStyle>
          <a:p>
            <a:fld id="{D2A48B96-639E-45A3-A0BA-2464DFDB1FAA}" type="datetimeFigureOut">
              <a:rPr lang="zh-CN" altLang="en-US" smtClean="0"/>
              <a:pPr/>
              <a:t>2026/5/23</a:t>
            </a:fld>
            <a:endParaRPr lang="zh-CN" altLang="en-US" dirty="0"/>
          </a:p>
        </p:txBody>
      </p:sp>
      <p:sp>
        <p:nvSpPr>
          <p:cNvPr id="4" name="幻灯片图像占位符 3"/>
          <p:cNvSpPr>
            <a:spLocks noGrp="1" noRot="1" noChangeAspect="1"/>
          </p:cNvSpPr>
          <p:nvPr>
            <p:ph type="sldImg" idx="2"/>
          </p:nvPr>
        </p:nvSpPr>
        <p:spPr>
          <a:xfrm>
            <a:off x="481584" y="1279287"/>
            <a:ext cx="6140578" cy="3454075"/>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atin typeface="Times New Roman" panose="02020603050405020304" pitchFamily="18" charset="0"/>
              </a:defRPr>
            </a:lvl1pPr>
          </a:lstStyle>
          <a:p>
            <a:endParaRPr lang="zh-CN" altLang="en-US" dirty="0"/>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atin typeface="Times New Roman" panose="02020603050405020304" pitchFamily="18" charset="0"/>
              </a:defRPr>
            </a:lvl1pPr>
          </a:lstStyle>
          <a:p>
            <a:fld id="{A6837353-30EB-4A48-80EB-173D804AEFBD}"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panose="02020603050405020304" pitchFamily="18"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481013" y="1279525"/>
            <a:ext cx="6140450" cy="3454400"/>
          </a:xfrm>
        </p:spPr>
      </p:sp>
      <p:sp>
        <p:nvSpPr>
          <p:cNvPr id="6147" name="备注占位符 2"/>
          <p:cNvSpPr>
            <a:spLocks noGrp="1"/>
          </p:cNvSpPr>
          <p:nvPr>
            <p:ph type="body" idx="1"/>
          </p:nvPr>
        </p:nvSpPr>
        <p:spPr>
          <a:noFill/>
        </p:spPr>
        <p:txBody>
          <a:bodyPr anchor="t"/>
          <a:lstStyle/>
          <a:p>
            <a:pPr eaLnBrk="1" hangingPunct="1">
              <a:spcBef>
                <a:spcPct val="0"/>
              </a:spcBef>
            </a:pPr>
            <a:r>
              <a:rPr lang="zh-CN" altLang="en-US">
                <a:ea typeface="宋体" panose="02010600030101010101" pitchFamily="2" charset="-122"/>
              </a:rPr>
              <a:t>模板来自于 </a:t>
            </a:r>
            <a:r>
              <a:rPr lang="en-US" altLang="zh-CN">
                <a:ea typeface="宋体" panose="02010600030101010101" pitchFamily="2" charset="-122"/>
              </a:rPr>
              <a:t>http://docer.wps.cn</a:t>
            </a:r>
            <a:endParaRPr lang="zh-CN" altLang="en-US">
              <a:ea typeface="宋体" panose="02010600030101010101" pitchFamily="2" charset="-122"/>
            </a:endParaRPr>
          </a:p>
        </p:txBody>
      </p:sp>
      <p:sp>
        <p:nvSpPr>
          <p:cNvPr id="6148" name="灯片编号占位符 3"/>
          <p:cNvSpPr txBox="1">
            <a:spLocks noGrp="1" noChangeArrowheads="1"/>
          </p:cNvSpPr>
          <p:nvPr/>
        </p:nvSpPr>
        <p:spPr bwMode="auto">
          <a:xfrm>
            <a:off x="4023992" y="9721107"/>
            <a:ext cx="3078427" cy="513507"/>
          </a:xfrm>
          <a:prstGeom prst="rect">
            <a:avLst/>
          </a:prstGeom>
          <a:noFill/>
          <a:ln w="9525">
            <a:noFill/>
            <a:miter lim="800000"/>
          </a:ln>
        </p:spPr>
        <p:txBody>
          <a:bodyPr lIns="99075" tIns="49538" rIns="99075" bIns="49538" anchor="b"/>
          <a:lstStyle/>
          <a:p>
            <a:pPr algn="r" eaLnBrk="1" hangingPunct="1">
              <a:buFont typeface="Arial" panose="020B0604020202020204" pitchFamily="34" charset="0"/>
              <a:buNone/>
            </a:pPr>
            <a:fld id="{AAED0429-06AC-4391-B511-C2D4F3A38C12}" type="slidenum">
              <a:rPr lang="zh-CN" altLang="en-US" sz="1300">
                <a:latin typeface="Times New Roman" panose="02020603050405020304" pitchFamily="18" charset="0"/>
                <a:ea typeface="宋体" panose="02010600030101010101" pitchFamily="2" charset="-122"/>
              </a:rPr>
              <a:pPr algn="r" eaLnBrk="1" hangingPunct="1">
                <a:buFont typeface="Arial" panose="020B0604020202020204" pitchFamily="34" charset="0"/>
                <a:buNone/>
              </a:pPr>
              <a:t>2</a:t>
            </a:fld>
            <a:endParaRPr lang="zh-CN" altLang="en-US" sz="1300" dirty="0">
              <a:latin typeface="Times New Roman" panose="02020603050405020304" pitchFamily="18"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481013" y="1279525"/>
            <a:ext cx="6140450" cy="3454400"/>
          </a:xfrm>
        </p:spPr>
      </p:sp>
      <p:sp>
        <p:nvSpPr>
          <p:cNvPr id="6147" name="备注占位符 2"/>
          <p:cNvSpPr>
            <a:spLocks noGrp="1"/>
          </p:cNvSpPr>
          <p:nvPr>
            <p:ph type="body" idx="1"/>
          </p:nvPr>
        </p:nvSpPr>
        <p:spPr>
          <a:noFill/>
        </p:spPr>
        <p:txBody>
          <a:bodyPr anchor="t"/>
          <a:lstStyle/>
          <a:p>
            <a:pPr eaLnBrk="1" hangingPunct="1">
              <a:spcBef>
                <a:spcPct val="0"/>
              </a:spcBef>
            </a:pPr>
            <a:r>
              <a:rPr lang="zh-CN" altLang="en-US">
                <a:ea typeface="宋体" panose="02010600030101010101" pitchFamily="2" charset="-122"/>
              </a:rPr>
              <a:t>模板来自于 </a:t>
            </a:r>
            <a:r>
              <a:rPr lang="en-US" altLang="zh-CN">
                <a:ea typeface="宋体" panose="02010600030101010101" pitchFamily="2" charset="-122"/>
              </a:rPr>
              <a:t>http://docer.wps.cn</a:t>
            </a:r>
            <a:endParaRPr lang="zh-CN" altLang="en-US">
              <a:ea typeface="宋体" panose="02010600030101010101" pitchFamily="2" charset="-122"/>
            </a:endParaRPr>
          </a:p>
        </p:txBody>
      </p:sp>
      <p:sp>
        <p:nvSpPr>
          <p:cNvPr id="6148" name="灯片编号占位符 3"/>
          <p:cNvSpPr txBox="1">
            <a:spLocks noGrp="1" noChangeArrowheads="1"/>
          </p:cNvSpPr>
          <p:nvPr/>
        </p:nvSpPr>
        <p:spPr bwMode="auto">
          <a:xfrm>
            <a:off x="4023992" y="9721107"/>
            <a:ext cx="3078427" cy="513507"/>
          </a:xfrm>
          <a:prstGeom prst="rect">
            <a:avLst/>
          </a:prstGeom>
          <a:noFill/>
          <a:ln w="9525">
            <a:noFill/>
            <a:miter lim="800000"/>
          </a:ln>
        </p:spPr>
        <p:txBody>
          <a:bodyPr lIns="99075" tIns="49538" rIns="99075" bIns="49538" anchor="b"/>
          <a:lstStyle/>
          <a:p>
            <a:pPr algn="r" eaLnBrk="1" hangingPunct="1">
              <a:buFont typeface="Arial" panose="020B0604020202020204" pitchFamily="34" charset="0"/>
              <a:buNone/>
            </a:pPr>
            <a:fld id="{AAED0429-06AC-4391-B511-C2D4F3A38C12}" type="slidenum">
              <a:rPr lang="zh-CN" altLang="en-US" sz="1300">
                <a:latin typeface="Times New Roman" panose="02020603050405020304" pitchFamily="18" charset="0"/>
                <a:ea typeface="宋体" panose="02010600030101010101" pitchFamily="2" charset="-122"/>
              </a:rPr>
              <a:pPr algn="r" eaLnBrk="1" hangingPunct="1">
                <a:buFont typeface="Arial" panose="020B0604020202020204" pitchFamily="34" charset="0"/>
                <a:buNone/>
              </a:pPr>
              <a:t>3</a:t>
            </a:fld>
            <a:endParaRPr lang="zh-CN" altLang="en-US" sz="1300" dirty="0">
              <a:latin typeface="Times New Roman" panose="02020603050405020304" pitchFamily="18"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11.xml"/><Relationship Id="rId3" Type="http://schemas.openxmlformats.org/officeDocument/2006/relationships/tags" Target="../tags/tag6.xml"/><Relationship Id="rId7" Type="http://schemas.openxmlformats.org/officeDocument/2006/relationships/tags" Target="../tags/tag10.xml"/><Relationship Id="rId12"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5" Type="http://schemas.openxmlformats.org/officeDocument/2006/relationships/tags" Target="../tags/tag8.xml"/><Relationship Id="rId10" Type="http://schemas.openxmlformats.org/officeDocument/2006/relationships/tags" Target="../tags/tag13.xml"/><Relationship Id="rId4" Type="http://schemas.openxmlformats.org/officeDocument/2006/relationships/tags" Target="../tags/tag7.xml"/><Relationship Id="rId9"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895671" y="3784600"/>
            <a:ext cx="8400658" cy="1612449"/>
          </a:xfrm>
        </p:spPr>
        <p:txBody>
          <a:bodyPr lIns="90000" tIns="46800" rIns="90000" bIns="46800" anchor="ctr">
            <a:normAutofit/>
          </a:bodyPr>
          <a:lstStyle>
            <a:lvl1pPr algn="ctr">
              <a:lnSpc>
                <a:spcPct val="150000"/>
              </a:lnSpc>
              <a:defRPr sz="4800" b="1" i="0">
                <a:ln>
                  <a:noFill/>
                </a:ln>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2411701" y="5574846"/>
            <a:ext cx="7368599" cy="566737"/>
          </a:xfrm>
        </p:spPr>
        <p:txBody>
          <a:bodyPr lIns="90000" tIns="46800" rIns="90000" bIns="46800" anchor="ctr">
            <a:normAutofit/>
          </a:bodyPr>
          <a:lstStyle>
            <a:lvl1pPr marL="0" indent="0" algn="ctr">
              <a:lnSpc>
                <a:spcPct val="15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pic>
        <p:nvPicPr>
          <p:cNvPr id="30" name="图片 3"/>
          <p:cNvPicPr>
            <a:picLocks noChangeAspect="1"/>
          </p:cNvPicPr>
          <p:nvPr/>
        </p:nvPicPr>
        <p:blipFill>
          <a:blip r:embed="rId2" cstate="print">
            <a:extLst>
              <a:ext uri="{28A0092B-C50C-407E-A947-70E740481C1C}">
                <a14:useLocalDpi xmlns:a14="http://schemas.microsoft.com/office/drawing/2010/main" val="0"/>
              </a:ext>
            </a:extLst>
          </a:blip>
          <a:srcRect l="-2" r="714" b="5389"/>
          <a:stretch>
            <a:fillRect/>
          </a:stretch>
        </p:blipFill>
        <p:spPr bwMode="auto">
          <a:xfrm flipV="1">
            <a:off x="0" y="0"/>
            <a:ext cx="12192000" cy="412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 name="组合 33"/>
          <p:cNvGrpSpPr/>
          <p:nvPr/>
        </p:nvGrpSpPr>
        <p:grpSpPr>
          <a:xfrm>
            <a:off x="2616200" y="5434853"/>
            <a:ext cx="6959600" cy="102347"/>
            <a:chOff x="2654300" y="5054600"/>
            <a:chExt cx="6908800" cy="101600"/>
          </a:xfrm>
          <a:solidFill>
            <a:schemeClr val="accent3"/>
          </a:solidFill>
        </p:grpSpPr>
        <p:sp>
          <p:nvSpPr>
            <p:cNvPr id="35" name="菱形 34"/>
            <p:cNvSpPr/>
            <p:nvPr/>
          </p:nvSpPr>
          <p:spPr>
            <a:xfrm>
              <a:off x="2654300"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36" name="菱形 35"/>
            <p:cNvSpPr/>
            <p:nvPr/>
          </p:nvSpPr>
          <p:spPr>
            <a:xfrm>
              <a:off x="2889031"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37" name="菱形 36"/>
            <p:cNvSpPr/>
            <p:nvPr/>
          </p:nvSpPr>
          <p:spPr>
            <a:xfrm>
              <a:off x="3123762"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38" name="菱形 37"/>
            <p:cNvSpPr/>
            <p:nvPr/>
          </p:nvSpPr>
          <p:spPr>
            <a:xfrm>
              <a:off x="3358493"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39" name="菱形 38"/>
            <p:cNvSpPr/>
            <p:nvPr/>
          </p:nvSpPr>
          <p:spPr>
            <a:xfrm>
              <a:off x="3593224"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40" name="菱形 39"/>
            <p:cNvSpPr/>
            <p:nvPr/>
          </p:nvSpPr>
          <p:spPr>
            <a:xfrm>
              <a:off x="3827955"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41" name="菱形 40"/>
            <p:cNvSpPr/>
            <p:nvPr/>
          </p:nvSpPr>
          <p:spPr>
            <a:xfrm>
              <a:off x="4532148"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42" name="菱形 41"/>
            <p:cNvSpPr/>
            <p:nvPr/>
          </p:nvSpPr>
          <p:spPr>
            <a:xfrm>
              <a:off x="4062686"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43" name="菱形 42"/>
            <p:cNvSpPr/>
            <p:nvPr/>
          </p:nvSpPr>
          <p:spPr>
            <a:xfrm>
              <a:off x="4297417"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44" name="菱形 43"/>
            <p:cNvSpPr/>
            <p:nvPr/>
          </p:nvSpPr>
          <p:spPr>
            <a:xfrm>
              <a:off x="4766879"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45" name="菱形 44"/>
            <p:cNvSpPr/>
            <p:nvPr/>
          </p:nvSpPr>
          <p:spPr>
            <a:xfrm>
              <a:off x="5001610"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46" name="菱形 45"/>
            <p:cNvSpPr/>
            <p:nvPr/>
          </p:nvSpPr>
          <p:spPr>
            <a:xfrm>
              <a:off x="5940534"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47" name="菱形 46"/>
            <p:cNvSpPr/>
            <p:nvPr/>
          </p:nvSpPr>
          <p:spPr>
            <a:xfrm>
              <a:off x="5236341"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48" name="菱形 47"/>
            <p:cNvSpPr/>
            <p:nvPr/>
          </p:nvSpPr>
          <p:spPr>
            <a:xfrm>
              <a:off x="5471072"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49" name="菱形 48"/>
            <p:cNvSpPr/>
            <p:nvPr/>
          </p:nvSpPr>
          <p:spPr>
            <a:xfrm>
              <a:off x="5705803"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50" name="菱形 49"/>
            <p:cNvSpPr/>
            <p:nvPr/>
          </p:nvSpPr>
          <p:spPr>
            <a:xfrm>
              <a:off x="6175265"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51" name="菱形 50"/>
            <p:cNvSpPr/>
            <p:nvPr/>
          </p:nvSpPr>
          <p:spPr>
            <a:xfrm>
              <a:off x="6409996"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52" name="菱形 51"/>
            <p:cNvSpPr/>
            <p:nvPr/>
          </p:nvSpPr>
          <p:spPr>
            <a:xfrm>
              <a:off x="6644727"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53" name="菱形 52"/>
            <p:cNvSpPr/>
            <p:nvPr/>
          </p:nvSpPr>
          <p:spPr>
            <a:xfrm>
              <a:off x="7348920"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54" name="菱形 53"/>
            <p:cNvSpPr/>
            <p:nvPr/>
          </p:nvSpPr>
          <p:spPr>
            <a:xfrm>
              <a:off x="6879458"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55" name="菱形 54"/>
            <p:cNvSpPr/>
            <p:nvPr/>
          </p:nvSpPr>
          <p:spPr>
            <a:xfrm>
              <a:off x="7114189"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56" name="菱形 55"/>
            <p:cNvSpPr/>
            <p:nvPr/>
          </p:nvSpPr>
          <p:spPr>
            <a:xfrm>
              <a:off x="7583651"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57" name="菱形 56"/>
            <p:cNvSpPr/>
            <p:nvPr/>
          </p:nvSpPr>
          <p:spPr>
            <a:xfrm>
              <a:off x="7818382"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58" name="菱形 57"/>
            <p:cNvSpPr/>
            <p:nvPr/>
          </p:nvSpPr>
          <p:spPr>
            <a:xfrm>
              <a:off x="8053113"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59" name="菱形 58"/>
            <p:cNvSpPr/>
            <p:nvPr/>
          </p:nvSpPr>
          <p:spPr>
            <a:xfrm>
              <a:off x="8287844"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60" name="菱形 59"/>
            <p:cNvSpPr/>
            <p:nvPr/>
          </p:nvSpPr>
          <p:spPr>
            <a:xfrm>
              <a:off x="8992037"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61" name="菱形 60"/>
            <p:cNvSpPr/>
            <p:nvPr/>
          </p:nvSpPr>
          <p:spPr>
            <a:xfrm>
              <a:off x="8522575"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62" name="菱形 61"/>
            <p:cNvSpPr/>
            <p:nvPr/>
          </p:nvSpPr>
          <p:spPr>
            <a:xfrm>
              <a:off x="8757306"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63" name="菱形 62"/>
            <p:cNvSpPr/>
            <p:nvPr/>
          </p:nvSpPr>
          <p:spPr>
            <a:xfrm>
              <a:off x="9226768"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sp>
          <p:nvSpPr>
            <p:cNvPr id="64" name="菱形 63"/>
            <p:cNvSpPr/>
            <p:nvPr/>
          </p:nvSpPr>
          <p:spPr>
            <a:xfrm>
              <a:off x="9461500" y="5054600"/>
              <a:ext cx="101600" cy="1016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anchor="ctr">
              <a:normAutofit fontScale="25000" lnSpcReduction="20000"/>
            </a:bodyPr>
            <a:lstStyle/>
            <a:p>
              <a:pPr algn="ctr" eaLnBrk="1" hangingPunct="1">
                <a:spcBef>
                  <a:spcPts val="0"/>
                </a:spcBef>
                <a:spcAft>
                  <a:spcPts val="0"/>
                </a:spcAft>
                <a:defRPr/>
              </a:pPr>
              <a:endParaRPr lang="zh-CN" altLang="en-US"/>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823861" y="1828804"/>
            <a:ext cx="5484748" cy="1741784"/>
          </a:xfrm>
        </p:spPr>
        <p:txBody>
          <a:bodyPr lIns="90000" tIns="46800" rIns="90000" bIns="46800" anchor="b"/>
          <a:lstStyle>
            <a:lvl1pPr algn="ctr">
              <a:lnSpc>
                <a:spcPct val="150000"/>
              </a:lnSpc>
              <a:defRPr sz="4000">
                <a:solidFill>
                  <a:schemeClr val="accent1"/>
                </a:solidFill>
              </a:defRPr>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5817484" y="3605826"/>
            <a:ext cx="5495285" cy="508977"/>
          </a:xfrm>
        </p:spPr>
        <p:txBody>
          <a:bodyPr lIns="90000" tIns="46800" rIns="90000" bIns="46800"/>
          <a:lstStyle>
            <a:lvl1pPr marL="0" indent="0" algn="ctr">
              <a:lnSpc>
                <a:spcPct val="150000"/>
              </a:lnSpc>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pic>
        <p:nvPicPr>
          <p:cNvPr id="9" name="图片 3"/>
          <p:cNvPicPr>
            <a:picLocks noChangeAspect="1"/>
          </p:cNvPicPr>
          <p:nvPr/>
        </p:nvPicPr>
        <p:blipFill>
          <a:blip r:embed="rId2" cstate="print">
            <a:extLst>
              <a:ext uri="{28A0092B-C50C-407E-A947-70E740481C1C}">
                <a14:useLocalDpi xmlns:a14="http://schemas.microsoft.com/office/drawing/2010/main" val="0"/>
              </a:ext>
            </a:extLst>
          </a:blip>
          <a:srcRect l="16782" r="17427" b="5389"/>
          <a:stretch>
            <a:fillRect/>
          </a:stretch>
        </p:blipFill>
        <p:spPr bwMode="auto">
          <a:xfrm rot="16200000" flipV="1">
            <a:off x="-942975" y="942975"/>
            <a:ext cx="6858000" cy="497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a:prstGeom prst="rect">
            <a:avLst/>
          </a:prstGeom>
        </p:spPr>
        <p:txBody>
          <a:bodyPr/>
          <a:lstStyle>
            <a:lvl1pPr>
              <a:defRPr lang="zh-CN" altLang="en-US" dirty="0"/>
            </a:lvl1pPr>
          </a:lstStyle>
          <a:p>
            <a:r>
              <a:rPr lang="zh-CN" altLang="en-US" dirty="0"/>
              <a:t>单击此处编辑母版标题样式</a:t>
            </a:r>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a:prstGeom prst="rect">
            <a:avLst/>
          </a:prstGeom>
        </p:spPr>
        <p:txBody>
          <a:bodyPr/>
          <a:lstStyle>
            <a:lvl1pPr>
              <a:defRPr lang="zh-CN" altLang="en-US" dirty="0"/>
            </a:lvl1pPr>
          </a:lstStyle>
          <a:p>
            <a:r>
              <a:rPr lang="zh-CN" altLang="en-US" dirty="0"/>
              <a:t>单击此处编辑母版标题样式</a:t>
            </a:r>
          </a:p>
        </p:txBody>
      </p:sp>
      <p:grpSp>
        <p:nvGrpSpPr>
          <p:cNvPr id="17" name="组合 16"/>
          <p:cNvGrpSpPr/>
          <p:nvPr userDrawn="1"/>
        </p:nvGrpSpPr>
        <p:grpSpPr>
          <a:xfrm>
            <a:off x="523836" y="1214422"/>
            <a:ext cx="3357586" cy="755143"/>
            <a:chOff x="523836" y="1428736"/>
            <a:chExt cx="3357586" cy="755143"/>
          </a:xfrm>
        </p:grpSpPr>
        <p:sp>
          <p:nvSpPr>
            <p:cNvPr id="18" name="任意多边形 17"/>
            <p:cNvSpPr/>
            <p:nvPr/>
          </p:nvSpPr>
          <p:spPr>
            <a:xfrm>
              <a:off x="523836" y="1428736"/>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6"/>
            <p:cNvSpPr txBox="1"/>
            <p:nvPr/>
          </p:nvSpPr>
          <p:spPr>
            <a:xfrm>
              <a:off x="809588" y="1617459"/>
              <a:ext cx="3071834"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endParaRPr lang="zh-CN" altLang="zh-CN" sz="2400" dirty="0">
                <a:solidFill>
                  <a:schemeClr val="tx1"/>
                </a:solidFill>
              </a:endParaRPr>
            </a:p>
          </p:txBody>
        </p:sp>
      </p:grpSp>
      <p:sp>
        <p:nvSpPr>
          <p:cNvPr id="7" name="矩形 6"/>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grpSp>
        <p:nvGrpSpPr>
          <p:cNvPr id="3" name="组合 2"/>
          <p:cNvGrpSpPr/>
          <p:nvPr userDrawn="1"/>
        </p:nvGrpSpPr>
        <p:grpSpPr>
          <a:xfrm>
            <a:off x="403225" y="1775460"/>
            <a:ext cx="11303635" cy="4248150"/>
            <a:chOff x="1211" y="3019"/>
            <a:chExt cx="17232" cy="6690"/>
          </a:xfrm>
        </p:grpSpPr>
        <p:sp>
          <p:nvSpPr>
            <p:cNvPr id="10" name="矩形 9"/>
            <p:cNvSpPr/>
            <p:nvPr userDrawn="1"/>
          </p:nvSpPr>
          <p:spPr>
            <a:xfrm>
              <a:off x="1211" y="3245"/>
              <a:ext cx="17232" cy="63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11" name="矩形 10"/>
            <p:cNvSpPr/>
            <p:nvPr userDrawn="1"/>
          </p:nvSpPr>
          <p:spPr>
            <a:xfrm>
              <a:off x="1551" y="3019"/>
              <a:ext cx="1020" cy="6691"/>
            </a:xfrm>
            <a:prstGeom prst="rect">
              <a:avLst/>
            </a:prstGeom>
            <a:solidFill>
              <a:schemeClr val="accent3">
                <a:lumMod val="75000"/>
              </a:schemeClr>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charset="-122"/>
                <a:ea typeface="微软雅黑" panose="020B0503020204020204" charset="-122"/>
              </a:endParaRPr>
            </a:p>
          </p:txBody>
        </p:sp>
      </p:grpSp>
      <p:sp>
        <p:nvSpPr>
          <p:cNvPr id="2" name="标题 1"/>
          <p:cNvSpPr>
            <a:spLocks noGrp="1"/>
          </p:cNvSpPr>
          <p:nvPr>
            <p:ph type="title"/>
          </p:nvPr>
        </p:nvSpPr>
        <p:spPr>
          <a:xfrm>
            <a:off x="720000" y="360000"/>
            <a:ext cx="8415337" cy="480131"/>
          </a:xfrm>
          <a:prstGeom prst="rect">
            <a:avLst/>
          </a:prstGeom>
        </p:spPr>
        <p:txBody>
          <a:bodyPr/>
          <a:lstStyle>
            <a:lvl1pPr>
              <a:defRPr lang="zh-CN" altLang="en-US"/>
            </a:lvl1pPr>
          </a:lstStyle>
          <a:p>
            <a:r>
              <a:rPr lang="zh-CN" altLang="en-US" dirty="0"/>
              <a:t>单击此处编辑母版标题样式</a:t>
            </a:r>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userDrawn="1"/>
        </p:nvGrpSpPr>
        <p:grpSpPr>
          <a:xfrm>
            <a:off x="0" y="665480"/>
            <a:ext cx="12192000" cy="964565"/>
            <a:chOff x="0" y="-127"/>
            <a:chExt cx="19200" cy="1519"/>
          </a:xfrm>
        </p:grpSpPr>
        <p:cxnSp>
          <p:nvCxnSpPr>
            <p:cNvPr id="13" name="直接连接符 12"/>
            <p:cNvCxnSpPr/>
            <p:nvPr userDrawn="1"/>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userDrawn="1"/>
          </p:nvSpPr>
          <p:spPr>
            <a:xfrm>
              <a:off x="0" y="434"/>
              <a:ext cx="16437"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1" name="矩形 20"/>
            <p:cNvSpPr/>
            <p:nvPr userDrawn="1"/>
          </p:nvSpPr>
          <p:spPr>
            <a:xfrm>
              <a:off x="18066" y="434"/>
              <a:ext cx="1134"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userDrawn="1"/>
          </p:nvSpPr>
          <p:spPr>
            <a:xfrm>
              <a:off x="16230" y="-127"/>
              <a:ext cx="2022" cy="1519"/>
            </a:xfrm>
            <a:prstGeom prst="rect">
              <a:avLst/>
            </a:prstGeom>
            <a:solidFill>
              <a:schemeClr val="bg2">
                <a:lumMod val="90000"/>
                <a:alpha val="85000"/>
              </a:scheme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endPar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endParaRPr>
            </a:p>
          </p:txBody>
        </p:sp>
      </p:gr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en-US" dirty="0"/>
            </a:lvl1pPr>
          </a:lstStyle>
          <a:p>
            <a:r>
              <a:rPr lang="zh-CN" altLang="en-US"/>
              <a:t>单击此处编辑母版标题样式</a:t>
            </a:r>
            <a:endParaRPr lang="en-US" dirty="0"/>
          </a:p>
        </p:txBody>
      </p:sp>
      <p:sp>
        <p:nvSpPr>
          <p:cNvPr id="3" name="Content Placeholder 2"/>
          <p:cNvSpPr>
            <a:spLocks noGrp="1"/>
          </p:cNvSpPr>
          <p:nvPr>
            <p:ph idx="1"/>
          </p:nvPr>
        </p:nvSpPr>
        <p:spPr>
          <a:xfrm>
            <a:off x="754063" y="1337732"/>
            <a:ext cx="10680700" cy="4891617"/>
          </a:xfrm>
        </p:spPr>
        <p:txBody>
          <a:bodyPr/>
          <a:lstStyle/>
          <a:p>
            <a:pPr lvl="0"/>
            <a:r>
              <a:rPr lang="zh-CN" altLang="en-US"/>
              <a:t>单击此处编辑母版文本样式</a:t>
            </a:r>
          </a:p>
          <a:p>
            <a:pPr lvl="1"/>
            <a:r>
              <a:rPr lang="zh-CN" altLang="en-US"/>
              <a:t>第二级</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4312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7" name="图片 3"/>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rcRect l="-2" r="714" b="5389"/>
          <a:stretch>
            <a:fillRect/>
          </a:stretch>
        </p:blipFill>
        <p:spPr bwMode="auto">
          <a:xfrm flipV="1">
            <a:off x="0" y="0"/>
            <a:ext cx="12192000" cy="412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hasCustomPrompt="1"/>
          </p:nvPr>
        </p:nvSpPr>
        <p:spPr>
          <a:xfrm>
            <a:off x="2184600" y="4037748"/>
            <a:ext cx="7822800" cy="1512152"/>
          </a:xfrm>
        </p:spPr>
        <p:txBody>
          <a:bodyPr lIns="90000" tIns="46800" rIns="90000" bIns="46800" anchor="t">
            <a:normAutofit/>
          </a:bodyPr>
          <a:lstStyle>
            <a:lvl1pPr algn="dist">
              <a:defRPr sz="9600"/>
            </a:lvl1pPr>
          </a:lstStyle>
          <a:p>
            <a:r>
              <a:rPr lang="zh-CN" altLang="en-US" dirty="0"/>
              <a:t>编辑标题</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1_首页">
    <p:bg>
      <p:bgPr>
        <a:solidFill>
          <a:schemeClr val="bg1"/>
        </a:solidFill>
        <a:effectLst/>
      </p:bgPr>
    </p:bg>
    <p:spTree>
      <p:nvGrpSpPr>
        <p:cNvPr id="1" name=""/>
        <p:cNvGrpSpPr/>
        <p:nvPr/>
      </p:nvGrpSpPr>
      <p:grpSpPr>
        <a:xfrm>
          <a:off x="0" y="0"/>
          <a:ext cx="0" cy="0"/>
          <a:chOff x="0" y="0"/>
          <a:chExt cx="0" cy="0"/>
        </a:xfrm>
      </p:grpSpPr>
      <p:sp>
        <p:nvSpPr>
          <p:cNvPr id="31" name="矩形 30"/>
          <p:cNvSpPr/>
          <p:nvPr userDrawn="1">
            <p:custDataLst>
              <p:tags r:id="rId1"/>
            </p:custDataLst>
          </p:nvPr>
        </p:nvSpPr>
        <p:spPr>
          <a:xfrm>
            <a:off x="0" y="-1"/>
            <a:ext cx="12192000" cy="35528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2"/>
          <p:cNvSpPr txBox="1">
            <a:spLocks noChangeArrowheads="1"/>
          </p:cNvSpPr>
          <p:nvPr userDrawn="1">
            <p:custDataLst>
              <p:tags r:id="rId2"/>
            </p:custDataLst>
          </p:nvPr>
        </p:nvSpPr>
        <p:spPr bwMode="auto">
          <a:xfrm>
            <a:off x="2254956" y="1411817"/>
            <a:ext cx="4670777" cy="3073400"/>
          </a:xfrm>
          <a:prstGeom prst="rect">
            <a:avLst/>
          </a:prstGeom>
          <a:noFill/>
          <a:ln w="9525">
            <a:noFill/>
            <a:miter lim="800000"/>
            <a:headEnd/>
            <a:tailEnd/>
          </a:ln>
        </p:spPr>
        <p:txBody>
          <a:bodyPr lIns="145143" tIns="72571" rIns="145143" bIns="72571"/>
          <a:lstStyle/>
          <a:p>
            <a:pPr eaLnBrk="1" hangingPunct="1"/>
            <a:r>
              <a:rPr lang="en-US" altLang="zh-CN" sz="21400" dirty="0">
                <a:latin typeface="Arial" charset="0"/>
                <a:cs typeface="Arial" charset="0"/>
              </a:rPr>
              <a:t>T</a:t>
            </a:r>
            <a:endParaRPr lang="zh-CN" altLang="en-US" sz="21400" dirty="0">
              <a:latin typeface="Arial" charset="0"/>
              <a:cs typeface="Arial" charset="0"/>
            </a:endParaRPr>
          </a:p>
        </p:txBody>
      </p:sp>
      <p:sp>
        <p:nvSpPr>
          <p:cNvPr id="21" name="TextBox 20"/>
          <p:cNvSpPr txBox="1"/>
          <p:nvPr userDrawn="1">
            <p:custDataLst>
              <p:tags r:id="rId3"/>
            </p:custDataLst>
          </p:nvPr>
        </p:nvSpPr>
        <p:spPr>
          <a:xfrm>
            <a:off x="4591757" y="1873252"/>
            <a:ext cx="6019799" cy="1299633"/>
          </a:xfrm>
          <a:prstGeom prst="rect">
            <a:avLst/>
          </a:prstGeom>
          <a:noFill/>
        </p:spPr>
        <p:txBody>
          <a:bodyPr lIns="145143" tIns="72571" rIns="145143" bIns="72571">
            <a:normAutofit lnSpcReduction="10000"/>
          </a:bodyPr>
          <a:lstStyle/>
          <a:p>
            <a:pPr>
              <a:defRPr/>
            </a:pPr>
            <a:r>
              <a:rPr lang="zh-CN" altLang="en-US" sz="7600" dirty="0">
                <a:solidFill>
                  <a:srgbClr val="FF0080"/>
                </a:solidFill>
                <a:latin typeface="+mj-ea"/>
                <a:ea typeface="+mj-ea"/>
              </a:rPr>
              <a:t>谢</a:t>
            </a:r>
            <a:r>
              <a:rPr lang="zh-CN" altLang="en-US" sz="7600" dirty="0">
                <a:solidFill>
                  <a:srgbClr val="FF8000"/>
                </a:solidFill>
                <a:latin typeface="+mj-ea"/>
                <a:ea typeface="+mj-ea"/>
              </a:rPr>
              <a:t>谢</a:t>
            </a:r>
            <a:r>
              <a:rPr lang="zh-CN" altLang="en-US" sz="7600" dirty="0">
                <a:solidFill>
                  <a:srgbClr val="FFC000"/>
                </a:solidFill>
                <a:latin typeface="+mj-ea"/>
                <a:ea typeface="+mj-ea"/>
              </a:rPr>
              <a:t>观</a:t>
            </a:r>
            <a:r>
              <a:rPr lang="zh-CN" altLang="en-US" sz="7600" dirty="0">
                <a:solidFill>
                  <a:srgbClr val="92D050"/>
                </a:solidFill>
                <a:latin typeface="+mj-ea"/>
                <a:ea typeface="+mj-ea"/>
              </a:rPr>
              <a:t>看</a:t>
            </a:r>
          </a:p>
        </p:txBody>
      </p:sp>
      <p:sp>
        <p:nvSpPr>
          <p:cNvPr id="22" name="TextBox 4"/>
          <p:cNvSpPr txBox="1">
            <a:spLocks noChangeArrowheads="1"/>
          </p:cNvSpPr>
          <p:nvPr userDrawn="1">
            <p:custDataLst>
              <p:tags r:id="rId4"/>
            </p:custDataLst>
          </p:nvPr>
        </p:nvSpPr>
        <p:spPr bwMode="auto">
          <a:xfrm>
            <a:off x="4222045" y="2980267"/>
            <a:ext cx="6268156" cy="984251"/>
          </a:xfrm>
          <a:prstGeom prst="rect">
            <a:avLst/>
          </a:prstGeom>
          <a:noFill/>
          <a:ln w="9525">
            <a:noFill/>
            <a:miter lim="800000"/>
            <a:headEnd/>
            <a:tailEnd/>
          </a:ln>
        </p:spPr>
        <p:txBody>
          <a:bodyPr lIns="145143" tIns="72571" rIns="145143" bIns="72571"/>
          <a:lstStyle/>
          <a:p>
            <a:pPr eaLnBrk="1" hangingPunct="1"/>
            <a:r>
              <a:rPr lang="en-US" altLang="zh-CN" sz="5700" b="1" dirty="0">
                <a:latin typeface="Arial" charset="0"/>
                <a:cs typeface="Arial" charset="0"/>
              </a:rPr>
              <a:t>HANK   YOU!</a:t>
            </a:r>
            <a:endParaRPr lang="zh-CN" altLang="en-US" sz="5700" b="1" dirty="0">
              <a:latin typeface="Arial" charset="0"/>
              <a:cs typeface="Arial" charset="0"/>
            </a:endParaRPr>
          </a:p>
        </p:txBody>
      </p:sp>
      <p:sp>
        <p:nvSpPr>
          <p:cNvPr id="23" name="直角三角形 22"/>
          <p:cNvSpPr/>
          <p:nvPr userDrawn="1">
            <p:custDataLst>
              <p:tags r:id="rId5"/>
            </p:custDataLst>
          </p:nvPr>
        </p:nvSpPr>
        <p:spPr>
          <a:xfrm rot="1665221">
            <a:off x="10301111" y="4826000"/>
            <a:ext cx="259644" cy="391584"/>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4" name="直角三角形 23"/>
          <p:cNvSpPr/>
          <p:nvPr userDrawn="1">
            <p:custDataLst>
              <p:tags r:id="rId6"/>
            </p:custDataLst>
          </p:nvPr>
        </p:nvSpPr>
        <p:spPr>
          <a:xfrm rot="9441503">
            <a:off x="10947401" y="4068233"/>
            <a:ext cx="496711" cy="745067"/>
          </a:xfrm>
          <a:prstGeom prst="rtTriangle">
            <a:avLst/>
          </a:prstGeom>
          <a:solidFill>
            <a:srgbClr val="FF008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5" name="直角三角形 24"/>
          <p:cNvSpPr/>
          <p:nvPr userDrawn="1">
            <p:custDataLst>
              <p:tags r:id="rId7"/>
            </p:custDataLst>
          </p:nvPr>
        </p:nvSpPr>
        <p:spPr>
          <a:xfrm rot="14258978">
            <a:off x="7802740" y="4298951"/>
            <a:ext cx="376767"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6" name="直角三角形 25"/>
          <p:cNvSpPr/>
          <p:nvPr userDrawn="1">
            <p:custDataLst>
              <p:tags r:id="rId8"/>
            </p:custDataLst>
          </p:nvPr>
        </p:nvSpPr>
        <p:spPr>
          <a:xfrm rot="1312468">
            <a:off x="9214556" y="4974167"/>
            <a:ext cx="406400" cy="609600"/>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7" name="直角三角形 26"/>
          <p:cNvSpPr/>
          <p:nvPr userDrawn="1">
            <p:custDataLst>
              <p:tags r:id="rId9"/>
            </p:custDataLst>
          </p:nvPr>
        </p:nvSpPr>
        <p:spPr>
          <a:xfrm rot="14258978">
            <a:off x="1666170" y="4439710"/>
            <a:ext cx="378884"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8" name="直角三角形 27"/>
          <p:cNvSpPr/>
          <p:nvPr userDrawn="1">
            <p:custDataLst>
              <p:tags r:id="rId10"/>
            </p:custDataLst>
          </p:nvPr>
        </p:nvSpPr>
        <p:spPr>
          <a:xfrm rot="4526379">
            <a:off x="3207104" y="5064125"/>
            <a:ext cx="141816" cy="381001"/>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9" name="直角三角形 28"/>
          <p:cNvSpPr/>
          <p:nvPr userDrawn="1">
            <p:custDataLst>
              <p:tags r:id="rId11"/>
            </p:custDataLst>
          </p:nvPr>
        </p:nvSpPr>
        <p:spPr>
          <a:xfrm rot="1665221">
            <a:off x="5012267" y="4514851"/>
            <a:ext cx="632178" cy="952500"/>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Tree>
    <p:extLst>
      <p:ext uri="{BB962C8B-B14F-4D97-AF65-F5344CB8AC3E}">
        <p14:creationId xmlns:p14="http://schemas.microsoft.com/office/powerpoint/2010/main" val="4223807772"/>
      </p:ext>
    </p:extLst>
  </p:cSld>
  <p:clrMapOvr>
    <a:masterClrMapping/>
  </p:clrMapOvr>
  <p:transition>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051" name="Group 3" descr="#wm#_34_1_*Z"/>
          <p:cNvGrpSpPr/>
          <p:nvPr/>
        </p:nvGrpSpPr>
        <p:grpSpPr bwMode="auto">
          <a:xfrm>
            <a:off x="3012018" y="2514600"/>
            <a:ext cx="6165849" cy="1343025"/>
            <a:chOff x="0" y="0"/>
            <a:chExt cx="7282" cy="1730"/>
          </a:xfrm>
        </p:grpSpPr>
        <p:sp>
          <p:nvSpPr>
            <p:cNvPr id="2052" name="Rectangle 4" descr="#wm#_34_01_100_1001_a_1_10#clear#"/>
            <p:cNvSpPr>
              <a:spLocks noChangeArrowheads="1"/>
            </p:cNvSpPr>
            <p:nvPr/>
          </p:nvSpPr>
          <p:spPr bwMode="auto">
            <a:xfrm>
              <a:off x="0" y="0"/>
              <a:ext cx="7282" cy="1610"/>
            </a:xfrm>
            <a:prstGeom prst="rect">
              <a:avLst/>
            </a:prstGeom>
            <a:solidFill>
              <a:srgbClr val="475F77"/>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algn="r">
                <a:spcBef>
                  <a:spcPct val="20000"/>
                </a:spcBef>
                <a:defRPr>
                  <a:solidFill>
                    <a:srgbClr val="475F77"/>
                  </a:solidFill>
                  <a:latin typeface="Arial" panose="020B0604020202020204" pitchFamily="34" charset="0"/>
                  <a:ea typeface="黑体" panose="02010609060101010101" pitchFamily="49" charset="-122"/>
                  <a:sym typeface="Arial" panose="020B0604020202020204" pitchFamily="34" charset="0"/>
                </a:defRPr>
              </a:lvl1pPr>
              <a:lvl2pPr algn="ctr">
                <a:spcBef>
                  <a:spcPct val="20000"/>
                </a:spcBef>
                <a:defRPr sz="2800">
                  <a:solidFill>
                    <a:schemeClr val="tx1"/>
                  </a:solidFill>
                  <a:latin typeface="Arial" panose="020B0604020202020204" pitchFamily="34" charset="0"/>
                  <a:ea typeface="宋体" panose="02010600030101010101" pitchFamily="2" charset="-122"/>
                  <a:sym typeface="Arial" panose="020B0604020202020204" pitchFamily="34" charset="0"/>
                </a:defRPr>
              </a:lvl2pPr>
              <a:lvl3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marL="14605" indent="-14605" algn="l">
                <a:buFontTx/>
                <a:buChar char="•"/>
              </a:pPr>
              <a:endParaRPr lang="en-AU" altLang="en-US" sz="1600"/>
            </a:p>
          </p:txBody>
        </p:sp>
        <p:sp>
          <p:nvSpPr>
            <p:cNvPr id="2053" name="Rectangle 5"/>
            <p:cNvSpPr>
              <a:spLocks noChangeArrowheads="1"/>
            </p:cNvSpPr>
            <p:nvPr/>
          </p:nvSpPr>
          <p:spPr bwMode="auto">
            <a:xfrm>
              <a:off x="0" y="1610"/>
              <a:ext cx="7282" cy="120"/>
            </a:xfrm>
            <a:prstGeom prst="rect">
              <a:avLst/>
            </a:prstGeom>
            <a:solidFill>
              <a:srgbClr val="D74B4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spcBef>
                  <a:spcPct val="20000"/>
                </a:spcBef>
                <a:defRPr>
                  <a:solidFill>
                    <a:srgbClr val="475F77"/>
                  </a:solidFill>
                  <a:latin typeface="Arial" panose="020B0604020202020204" pitchFamily="34" charset="0"/>
                  <a:ea typeface="黑体" panose="02010609060101010101" pitchFamily="49" charset="-122"/>
                  <a:sym typeface="Arial" panose="020B0604020202020204" pitchFamily="34" charset="0"/>
                </a:defRPr>
              </a:lvl1pPr>
              <a:lvl2pPr algn="ctr">
                <a:spcBef>
                  <a:spcPct val="20000"/>
                </a:spcBef>
                <a:defRPr sz="2800">
                  <a:solidFill>
                    <a:schemeClr val="tx1"/>
                  </a:solidFill>
                  <a:latin typeface="Arial" panose="020B0604020202020204" pitchFamily="34" charset="0"/>
                  <a:ea typeface="宋体" panose="02010600030101010101" pitchFamily="2" charset="-122"/>
                  <a:sym typeface="Arial" panose="020B0604020202020204" pitchFamily="34" charset="0"/>
                </a:defRPr>
              </a:lvl2pPr>
              <a:lvl3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marL="14605" indent="-14605" algn="l">
                <a:buFontTx/>
                <a:buChar char="•"/>
              </a:pPr>
              <a:endParaRPr lang="zh-CN" altLang="zh-CN" sz="1600"/>
            </a:p>
          </p:txBody>
        </p:sp>
      </p:grpSp>
      <p:sp>
        <p:nvSpPr>
          <p:cNvPr id="2054" name="Rectangle 6"/>
          <p:cNvSpPr>
            <a:spLocks noGrp="1" noChangeArrowheads="1"/>
          </p:cNvSpPr>
          <p:nvPr>
            <p:ph type="ctrTitle" hasCustomPrompt="1"/>
          </p:nvPr>
        </p:nvSpPr>
        <p:spPr>
          <a:xfrm>
            <a:off x="3012018" y="2514600"/>
            <a:ext cx="6165849" cy="1246189"/>
          </a:xfrm>
        </p:spPr>
        <p:txBody>
          <a:bodyPr/>
          <a:lstStyle>
            <a:lvl1pPr algn="ctr">
              <a:defRPr sz="3600">
                <a:solidFill>
                  <a:schemeClr val="bg1"/>
                </a:solidFill>
              </a:defRPr>
            </a:lvl1pPr>
          </a:lstStyle>
          <a:p>
            <a:pPr lvl="0"/>
            <a:r>
              <a:rPr lang="zh-CN" altLang="en-US" noProof="0" dirty="0">
                <a:sym typeface="Arial" panose="020B0604020202020204" pitchFamily="34" charset="0"/>
              </a:rPr>
              <a:t>编辑标题</a:t>
            </a:r>
            <a:endParaRPr lang="zh-CN" noProof="0" dirty="0">
              <a:sym typeface="Arial" panose="020B0604020202020204" pitchFamily="34" charset="0"/>
            </a:endParaRPr>
          </a:p>
        </p:txBody>
      </p:sp>
      <p:sp>
        <p:nvSpPr>
          <p:cNvPr id="2055" name="Rectangle 7"/>
          <p:cNvSpPr>
            <a:spLocks noGrp="1" noChangeArrowheads="1"/>
          </p:cNvSpPr>
          <p:nvPr>
            <p:ph type="subTitle" idx="1"/>
          </p:nvPr>
        </p:nvSpPr>
        <p:spPr>
          <a:xfrm>
            <a:off x="3012018" y="3878262"/>
            <a:ext cx="6165849" cy="686536"/>
          </a:xfrm>
        </p:spPr>
        <p:txBody>
          <a:bodyPr anchor="b" anchorCtr="0"/>
          <a:lstStyle>
            <a:lvl1pPr marL="0" indent="0" algn="ctr">
              <a:buFontTx/>
              <a:buNone/>
              <a:defRPr sz="1800"/>
            </a:lvl1pPr>
          </a:lstStyle>
          <a:p>
            <a:pPr lvl="0"/>
            <a:r>
              <a:rPr lang="zh-CN" noProof="0" dirty="0">
                <a:sym typeface="Arial" panose="020B0604020202020204" pitchFamily="34" charset="0"/>
              </a:rPr>
              <a:t>单击此处编辑母版副标题样式</a:t>
            </a: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179" y="-224876"/>
            <a:ext cx="3238095" cy="3238095"/>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35604" y="3547549"/>
            <a:ext cx="3238095" cy="323809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1" y="341314"/>
            <a:ext cx="10765367" cy="581025"/>
          </a:xfrm>
        </p:spPr>
        <p:txBody>
          <a:bodyPr/>
          <a:lstStyle/>
          <a:p>
            <a:r>
              <a:rPr lang="zh-CN" altLang="en-US"/>
              <a:t>单击此处编辑母版标题样式</a:t>
            </a:r>
          </a:p>
        </p:txBody>
      </p:sp>
      <p:sp>
        <p:nvSpPr>
          <p:cNvPr id="3" name="内容占位符 2"/>
          <p:cNvSpPr>
            <a:spLocks noGrp="1"/>
          </p:cNvSpPr>
          <p:nvPr>
            <p:ph idx="1"/>
          </p:nvPr>
        </p:nvSpPr>
        <p:spPr/>
        <p:txBody>
          <a:bodyPr/>
          <a:lstStyle>
            <a:lvl1pPr marL="342900" indent="-342900">
              <a:buFont typeface="Arial" panose="020B0604020202020204" pitchFamily="34" charset="0"/>
              <a:buChar char="•"/>
              <a:defRPr/>
            </a:lvl1pPr>
            <a:lvl2pPr marL="800100" indent="-342900">
              <a:buFont typeface="Arial" panose="020B0604020202020204" pitchFamily="34" charset="0"/>
              <a:buChar char="•"/>
              <a:defRPr/>
            </a:lvl2pPr>
            <a:lvl3pPr marL="1200150" indent="-285750">
              <a:buFont typeface="Arial" panose="020B0604020202020204" pitchFamily="34" charset="0"/>
              <a:buChar char="•"/>
              <a:defRPr/>
            </a:lvl3pPr>
            <a:lvl4pPr marL="1657350" indent="-285750">
              <a:buFont typeface="Arial" panose="020B0604020202020204" pitchFamily="34" charset="0"/>
              <a:buChar char="•"/>
              <a:defRPr/>
            </a:lvl4pPr>
            <a:lvl5pPr marL="2114550" indent="-285750">
              <a:buFont typeface="Arial" panose="020B0604020202020204" pitchFamily="34" charset="0"/>
              <a:buChar char="•"/>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23"/>
          <p:cNvSpPr>
            <a:spLocks noChangeArrowheads="1"/>
          </p:cNvSpPr>
          <p:nvPr/>
        </p:nvSpPr>
        <p:spPr bwMode="auto">
          <a:xfrm flipH="1">
            <a:off x="1" y="339726"/>
            <a:ext cx="251884" cy="581025"/>
          </a:xfrm>
          <a:prstGeom prst="rect">
            <a:avLst/>
          </a:prstGeom>
          <a:solidFill>
            <a:srgbClr val="D74B4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14605" indent="-14605">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buFontTx/>
              <a:buChar char="•"/>
            </a:pPr>
            <a:endParaRPr lang="zh-CN" altLang="zh-CN" sz="1600">
              <a:latin typeface="Arial" panose="020B0604020202020204" pitchFamily="34" charset="0"/>
              <a:ea typeface="黑体" panose="02010609060101010101" pitchFamily="49" charset="-122"/>
              <a:sym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Rectangle 2"/>
          <p:cNvSpPr>
            <a:spLocks noGrp="1" noChangeArrowheads="1"/>
          </p:cNvSpPr>
          <p:nvPr>
            <p:ph type="ctrTitle" hasCustomPrompt="1"/>
          </p:nvPr>
        </p:nvSpPr>
        <p:spPr>
          <a:xfrm>
            <a:off x="1667934" y="4262438"/>
            <a:ext cx="10513484" cy="457200"/>
          </a:xfrm>
        </p:spPr>
        <p:txBody>
          <a:bodyPr/>
          <a:lstStyle>
            <a:lvl1pPr algn="r">
              <a:defRPr sz="2400"/>
            </a:lvl1pPr>
          </a:lstStyle>
          <a:p>
            <a:pPr lvl="0"/>
            <a:r>
              <a:rPr lang="zh-CN" altLang="en-US" noProof="0" dirty="0">
                <a:sym typeface="Arial" panose="020B0604020202020204" pitchFamily="34" charset="0"/>
              </a:rPr>
              <a:t>编辑标题</a:t>
            </a:r>
            <a:endParaRPr lang="zh-CN" noProof="0" dirty="0">
              <a:sym typeface="Arial" panose="020B0604020202020204" pitchFamily="34" charset="0"/>
            </a:endParaRPr>
          </a:p>
        </p:txBody>
      </p:sp>
      <p:sp>
        <p:nvSpPr>
          <p:cNvPr id="15" name="Line 10"/>
          <p:cNvSpPr>
            <a:spLocks noChangeShapeType="1"/>
          </p:cNvSpPr>
          <p:nvPr/>
        </p:nvSpPr>
        <p:spPr bwMode="auto">
          <a:xfrm>
            <a:off x="1667934" y="4792663"/>
            <a:ext cx="10513484" cy="0"/>
          </a:xfrm>
          <a:prstGeom prst="line">
            <a:avLst/>
          </a:prstGeom>
          <a:noFill/>
          <a:ln w="38100" cap="flat" cmpd="sng">
            <a:solidFill>
              <a:srgbClr val="D74B4B"/>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Oval 2" descr="#wm#_34_6_*Z"/>
          <p:cNvSpPr>
            <a:spLocks noChangeArrowheads="1"/>
          </p:cNvSpPr>
          <p:nvPr/>
        </p:nvSpPr>
        <p:spPr bwMode="auto">
          <a:xfrm>
            <a:off x="3130662" y="2042349"/>
            <a:ext cx="2213060" cy="2215167"/>
          </a:xfrm>
          <a:prstGeom prst="ellipse">
            <a:avLst/>
          </a:prstGeom>
          <a:solidFill>
            <a:srgbClr val="D74B4B"/>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spcBef>
                <a:spcPct val="20000"/>
              </a:spcBef>
              <a:defRPr sz="6000">
                <a:solidFill>
                  <a:schemeClr val="bg1"/>
                </a:solidFill>
                <a:latin typeface="Arial" panose="020B0604020202020204" pitchFamily="34" charset="0"/>
                <a:ea typeface="黑体" panose="02010609060101010101" pitchFamily="49" charset="-122"/>
                <a:sym typeface="Arial" panose="020B0604020202020204" pitchFamily="34" charset="0"/>
              </a:defRPr>
            </a:lvl1pPr>
            <a:lvl2pPr algn="ctr">
              <a:spcBef>
                <a:spcPct val="20000"/>
              </a:spcBef>
              <a:defRPr sz="2800">
                <a:solidFill>
                  <a:schemeClr val="tx1"/>
                </a:solidFill>
                <a:latin typeface="Arial" panose="020B0604020202020204" pitchFamily="34" charset="0"/>
                <a:ea typeface="宋体" panose="02010600030101010101" pitchFamily="2" charset="-122"/>
                <a:sym typeface="Arial" panose="020B0604020202020204" pitchFamily="34" charset="0"/>
              </a:defRPr>
            </a:lvl2pPr>
            <a:lvl3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marL="14605" indent="-14605" algn="l">
              <a:buFontTx/>
              <a:buChar char="•"/>
            </a:pPr>
            <a:endParaRPr lang="zh-CN" altLang="en-US" sz="1600">
              <a:solidFill>
                <a:srgbClr val="475F77"/>
              </a:solidFill>
            </a:endParaRPr>
          </a:p>
        </p:txBody>
      </p:sp>
      <p:grpSp>
        <p:nvGrpSpPr>
          <p:cNvPr id="17" name="Group 3" descr="#wm#_34_6_*Z"/>
          <p:cNvGrpSpPr/>
          <p:nvPr/>
        </p:nvGrpSpPr>
        <p:grpSpPr bwMode="auto">
          <a:xfrm>
            <a:off x="5073939" y="2668328"/>
            <a:ext cx="961101" cy="961100"/>
            <a:chOff x="0" y="0"/>
            <a:chExt cx="1140" cy="1140"/>
          </a:xfrm>
        </p:grpSpPr>
        <p:sp>
          <p:nvSpPr>
            <p:cNvPr id="18" name="Oval 4"/>
            <p:cNvSpPr>
              <a:spLocks noChangeArrowheads="1"/>
            </p:cNvSpPr>
            <p:nvPr/>
          </p:nvSpPr>
          <p:spPr bwMode="auto">
            <a:xfrm>
              <a:off x="0" y="0"/>
              <a:ext cx="1140" cy="1140"/>
            </a:xfrm>
            <a:prstGeom prst="ellipse">
              <a:avLst/>
            </a:prstGeom>
            <a:solidFill>
              <a:srgbClr val="475F77">
                <a:alpha val="73999"/>
              </a:srgb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spcBef>
                  <a:spcPct val="20000"/>
                </a:spcBef>
                <a:defRPr sz="6000">
                  <a:solidFill>
                    <a:schemeClr val="bg1"/>
                  </a:solidFill>
                  <a:latin typeface="Arial" panose="020B0604020202020204" pitchFamily="34" charset="0"/>
                  <a:ea typeface="黑体" panose="02010609060101010101" pitchFamily="49" charset="-122"/>
                  <a:sym typeface="Arial" panose="020B0604020202020204" pitchFamily="34" charset="0"/>
                </a:defRPr>
              </a:lvl1pPr>
              <a:lvl2pPr algn="ctr">
                <a:spcBef>
                  <a:spcPct val="20000"/>
                </a:spcBef>
                <a:defRPr sz="2800">
                  <a:solidFill>
                    <a:schemeClr val="tx1"/>
                  </a:solidFill>
                  <a:latin typeface="Arial" panose="020B0604020202020204" pitchFamily="34" charset="0"/>
                  <a:ea typeface="宋体" panose="02010600030101010101" pitchFamily="2" charset="-122"/>
                  <a:sym typeface="Arial" panose="020B0604020202020204" pitchFamily="34" charset="0"/>
                </a:defRPr>
              </a:lvl2pPr>
              <a:lvl3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marL="14605" indent="-14605" algn="l">
                <a:buFontTx/>
                <a:buChar char="•"/>
              </a:pPr>
              <a:endParaRPr lang="zh-CN" altLang="zh-CN" sz="1600">
                <a:solidFill>
                  <a:srgbClr val="475F77"/>
                </a:solidFill>
              </a:endParaRPr>
            </a:p>
          </p:txBody>
        </p:sp>
        <p:grpSp>
          <p:nvGrpSpPr>
            <p:cNvPr id="19" name="Group 5"/>
            <p:cNvGrpSpPr/>
            <p:nvPr/>
          </p:nvGrpSpPr>
          <p:grpSpPr bwMode="auto">
            <a:xfrm>
              <a:off x="490" y="358"/>
              <a:ext cx="228" cy="405"/>
              <a:chOff x="0" y="0"/>
              <a:chExt cx="228" cy="405"/>
            </a:xfrm>
          </p:grpSpPr>
          <p:sp>
            <p:nvSpPr>
              <p:cNvPr id="20" name="Line 6"/>
              <p:cNvSpPr>
                <a:spLocks noChangeShapeType="1"/>
              </p:cNvSpPr>
              <p:nvPr/>
            </p:nvSpPr>
            <p:spPr bwMode="auto">
              <a:xfrm>
                <a:off x="0" y="0"/>
                <a:ext cx="229" cy="229"/>
              </a:xfrm>
              <a:prstGeom prst="line">
                <a:avLst/>
              </a:prstGeom>
              <a:noFill/>
              <a:ln w="19050" cap="flat" cmpd="sng">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7"/>
              <p:cNvSpPr>
                <a:spLocks noChangeShapeType="1"/>
              </p:cNvSpPr>
              <p:nvPr/>
            </p:nvSpPr>
            <p:spPr bwMode="auto">
              <a:xfrm flipH="1">
                <a:off x="28" y="203"/>
                <a:ext cx="201" cy="202"/>
              </a:xfrm>
              <a:prstGeom prst="line">
                <a:avLst/>
              </a:prstGeom>
              <a:noFill/>
              <a:ln w="19050" cap="flat" cmpd="sng">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22" name="Oval 8" descr="#wm#_34_6_*Z"/>
          <p:cNvSpPr>
            <a:spLocks noChangeArrowheads="1"/>
          </p:cNvSpPr>
          <p:nvPr/>
        </p:nvSpPr>
        <p:spPr bwMode="auto">
          <a:xfrm>
            <a:off x="1667934" y="2668328"/>
            <a:ext cx="961101" cy="961100"/>
          </a:xfrm>
          <a:prstGeom prst="ellipse">
            <a:avLst/>
          </a:prstGeom>
          <a:solidFill>
            <a:srgbClr val="475F77"/>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algn="ctr">
              <a:spcBef>
                <a:spcPct val="20000"/>
              </a:spcBef>
              <a:defRPr sz="6000">
                <a:solidFill>
                  <a:schemeClr val="bg1"/>
                </a:solidFill>
                <a:latin typeface="Arial" panose="020B0604020202020204" pitchFamily="34" charset="0"/>
                <a:ea typeface="黑体" panose="02010609060101010101" pitchFamily="49" charset="-122"/>
                <a:sym typeface="Arial" panose="020B0604020202020204" pitchFamily="34" charset="0"/>
              </a:defRPr>
            </a:lvl1pPr>
            <a:lvl2pPr algn="ctr">
              <a:spcBef>
                <a:spcPct val="20000"/>
              </a:spcBef>
              <a:defRPr sz="2800">
                <a:solidFill>
                  <a:schemeClr val="tx1"/>
                </a:solidFill>
                <a:latin typeface="Arial" panose="020B0604020202020204" pitchFamily="34" charset="0"/>
                <a:ea typeface="宋体" panose="02010600030101010101" pitchFamily="2" charset="-122"/>
                <a:sym typeface="Arial" panose="020B0604020202020204" pitchFamily="34" charset="0"/>
              </a:defRPr>
            </a:lvl2pPr>
            <a:lvl3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marL="14605" indent="-14605" algn="l">
              <a:buFontTx/>
              <a:buChar char="•"/>
            </a:pPr>
            <a:endParaRPr lang="zh-CN" altLang="en-US" sz="1600">
              <a:solidFill>
                <a:srgbClr val="475F77"/>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grpSp>
        <p:nvGrpSpPr>
          <p:cNvPr id="5" name="Group 3" descr="#wm#_34_1_*Z"/>
          <p:cNvGrpSpPr/>
          <p:nvPr/>
        </p:nvGrpSpPr>
        <p:grpSpPr bwMode="auto">
          <a:xfrm>
            <a:off x="4178400" y="2759075"/>
            <a:ext cx="3835200" cy="1098550"/>
            <a:chOff x="0" y="0"/>
            <a:chExt cx="7282" cy="1730"/>
          </a:xfrm>
        </p:grpSpPr>
        <p:sp>
          <p:nvSpPr>
            <p:cNvPr id="6" name="Rectangle 4" descr="#wm#_34_01_100_1001_a_1_10#clear#"/>
            <p:cNvSpPr>
              <a:spLocks noChangeArrowheads="1"/>
            </p:cNvSpPr>
            <p:nvPr/>
          </p:nvSpPr>
          <p:spPr bwMode="auto">
            <a:xfrm>
              <a:off x="0" y="0"/>
              <a:ext cx="7282" cy="1610"/>
            </a:xfrm>
            <a:prstGeom prst="rect">
              <a:avLst/>
            </a:prstGeom>
            <a:solidFill>
              <a:srgbClr val="475F77"/>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algn="r">
                <a:spcBef>
                  <a:spcPct val="20000"/>
                </a:spcBef>
                <a:defRPr>
                  <a:solidFill>
                    <a:srgbClr val="475F77"/>
                  </a:solidFill>
                  <a:latin typeface="Arial" panose="020B0604020202020204" pitchFamily="34" charset="0"/>
                  <a:ea typeface="黑体" panose="02010609060101010101" pitchFamily="49" charset="-122"/>
                  <a:sym typeface="Arial" panose="020B0604020202020204" pitchFamily="34" charset="0"/>
                </a:defRPr>
              </a:lvl1pPr>
              <a:lvl2pPr algn="ctr">
                <a:spcBef>
                  <a:spcPct val="20000"/>
                </a:spcBef>
                <a:defRPr sz="2800">
                  <a:solidFill>
                    <a:schemeClr val="tx1"/>
                  </a:solidFill>
                  <a:latin typeface="Arial" panose="020B0604020202020204" pitchFamily="34" charset="0"/>
                  <a:ea typeface="宋体" panose="02010600030101010101" pitchFamily="2" charset="-122"/>
                  <a:sym typeface="Arial" panose="020B0604020202020204" pitchFamily="34" charset="0"/>
                </a:defRPr>
              </a:lvl2pPr>
              <a:lvl3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marL="14605" indent="-14605" algn="l">
                <a:buFontTx/>
                <a:buChar char="•"/>
              </a:pPr>
              <a:endParaRPr lang="en-AU" altLang="en-US" sz="1600"/>
            </a:p>
          </p:txBody>
        </p:sp>
        <p:sp>
          <p:nvSpPr>
            <p:cNvPr id="7" name="Rectangle 5"/>
            <p:cNvSpPr>
              <a:spLocks noChangeArrowheads="1"/>
            </p:cNvSpPr>
            <p:nvPr/>
          </p:nvSpPr>
          <p:spPr bwMode="auto">
            <a:xfrm>
              <a:off x="0" y="1610"/>
              <a:ext cx="7282" cy="120"/>
            </a:xfrm>
            <a:prstGeom prst="rect">
              <a:avLst/>
            </a:prstGeom>
            <a:solidFill>
              <a:srgbClr val="D74B4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spcBef>
                  <a:spcPct val="20000"/>
                </a:spcBef>
                <a:defRPr>
                  <a:solidFill>
                    <a:srgbClr val="475F77"/>
                  </a:solidFill>
                  <a:latin typeface="Arial" panose="020B0604020202020204" pitchFamily="34" charset="0"/>
                  <a:ea typeface="黑体" panose="02010609060101010101" pitchFamily="49" charset="-122"/>
                  <a:sym typeface="Arial" panose="020B0604020202020204" pitchFamily="34" charset="0"/>
                </a:defRPr>
              </a:lvl1pPr>
              <a:lvl2pPr algn="ctr">
                <a:spcBef>
                  <a:spcPct val="20000"/>
                </a:spcBef>
                <a:defRPr sz="2800">
                  <a:solidFill>
                    <a:schemeClr val="tx1"/>
                  </a:solidFill>
                  <a:latin typeface="Arial" panose="020B0604020202020204" pitchFamily="34" charset="0"/>
                  <a:ea typeface="宋体" panose="02010600030101010101" pitchFamily="2" charset="-122"/>
                  <a:sym typeface="Arial" panose="020B0604020202020204" pitchFamily="34" charset="0"/>
                </a:defRPr>
              </a:lvl2pPr>
              <a:lvl3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algn="ctr">
                <a:spcBef>
                  <a:spcPct val="20000"/>
                </a:spcBef>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algn="ctr" eaLnBrk="0" fontAlgn="base" hangingPunct="0">
                <a:spcBef>
                  <a:spcPct val="20000"/>
                </a:spcBef>
                <a:spcAft>
                  <a:spcPct val="0"/>
                </a:spcAft>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marL="14605" indent="-14605" algn="l">
                <a:buFontTx/>
                <a:buChar char="•"/>
              </a:pPr>
              <a:endParaRPr lang="zh-CN" altLang="zh-CN" sz="1600"/>
            </a:p>
          </p:txBody>
        </p:sp>
      </p:grpSp>
      <p:sp>
        <p:nvSpPr>
          <p:cNvPr id="8" name="Rectangle 6"/>
          <p:cNvSpPr>
            <a:spLocks noGrp="1" noChangeArrowheads="1"/>
          </p:cNvSpPr>
          <p:nvPr>
            <p:ph type="ctrTitle" hasCustomPrompt="1"/>
          </p:nvPr>
        </p:nvSpPr>
        <p:spPr>
          <a:xfrm>
            <a:off x="4178400" y="2779714"/>
            <a:ext cx="3835200" cy="981075"/>
          </a:xfrm>
        </p:spPr>
        <p:txBody>
          <a:bodyPr/>
          <a:lstStyle>
            <a:lvl1pPr algn="ctr">
              <a:defRPr sz="3600">
                <a:solidFill>
                  <a:schemeClr val="bg1"/>
                </a:solidFill>
              </a:defRPr>
            </a:lvl1pPr>
          </a:lstStyle>
          <a:p>
            <a:pPr lvl="0"/>
            <a:r>
              <a:rPr lang="zh-CN" noProof="0" dirty="0">
                <a:sym typeface="Arial" panose="020B0604020202020204" pitchFamily="34" charset="0"/>
              </a:rPr>
              <a:t>编辑</a:t>
            </a:r>
            <a:r>
              <a:rPr lang="zh-CN" altLang="en-US" noProof="0" dirty="0">
                <a:sym typeface="Arial" panose="020B0604020202020204" pitchFamily="34" charset="0"/>
              </a:rPr>
              <a:t>标题</a:t>
            </a:r>
            <a:endParaRPr lang="zh-CN" noProof="0" dirty="0">
              <a:sym typeface="Arial" panose="020B0604020202020204" pitchFamily="34" charset="0"/>
            </a:endParaRPr>
          </a:p>
        </p:txBody>
      </p:sp>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179" y="-224876"/>
            <a:ext cx="3238095" cy="3238095"/>
          </a:xfrm>
          <a:prstGeom prst="rect">
            <a:avLst/>
          </a:prstGeom>
        </p:spPr>
      </p:pic>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35604" y="3547549"/>
            <a:ext cx="3238095" cy="323809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55099" y="335280"/>
            <a:ext cx="11396900" cy="579600"/>
          </a:xfrm>
        </p:spPr>
        <p:txBody>
          <a:bodyPr anchor="b"/>
          <a:lstStyle>
            <a:lvl1pPr>
              <a:defRPr sz="3200"/>
            </a:lvl1pPr>
          </a:lstStyle>
          <a:p>
            <a:r>
              <a:rPr lang="zh-CN" altLang="en-US" dirty="0"/>
              <a:t>单击此处编辑母版标题样式</a:t>
            </a:r>
          </a:p>
        </p:txBody>
      </p:sp>
      <p:sp>
        <p:nvSpPr>
          <p:cNvPr id="3" name="图片占位符 2"/>
          <p:cNvSpPr>
            <a:spLocks noGrp="1"/>
          </p:cNvSpPr>
          <p:nvPr>
            <p:ph type="pic" idx="1"/>
          </p:nvPr>
        </p:nvSpPr>
        <p:spPr>
          <a:xfrm>
            <a:off x="540000" y="4462145"/>
            <a:ext cx="11112000" cy="2001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540000" y="1264920"/>
            <a:ext cx="11112000" cy="3038400"/>
          </a:xfrm>
        </p:spPr>
        <p:txBody>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23"/>
          <p:cNvSpPr>
            <a:spLocks noChangeArrowheads="1"/>
          </p:cNvSpPr>
          <p:nvPr/>
        </p:nvSpPr>
        <p:spPr bwMode="auto">
          <a:xfrm flipH="1">
            <a:off x="1" y="339726"/>
            <a:ext cx="251884" cy="581025"/>
          </a:xfrm>
          <a:prstGeom prst="rect">
            <a:avLst/>
          </a:prstGeom>
          <a:solidFill>
            <a:srgbClr val="D74B4B"/>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14605" indent="-14605">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buFontTx/>
              <a:buChar char="•"/>
            </a:pPr>
            <a:endParaRPr lang="zh-CN" altLang="zh-CN" sz="1600">
              <a:latin typeface="Arial" panose="020B0604020202020204" pitchFamily="34" charset="0"/>
              <a:ea typeface="黑体" panose="02010609060101010101" pitchFamily="49" charset="-122"/>
              <a:sym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1.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Text Placeholder 2"/>
          <p:cNvSpPr>
            <a:spLocks noGrp="1"/>
          </p:cNvSpPr>
          <p:nvPr>
            <p:ph type="body" idx="1"/>
            <p:custDataLst>
              <p:tags r:id="rId11"/>
            </p:custDataLst>
          </p:nvPr>
        </p:nvSpPr>
        <p:spPr bwMode="auto">
          <a:xfrm>
            <a:off x="720000" y="1080000"/>
            <a:ext cx="10680700" cy="4891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p>
            <a:pPr lvl="0"/>
            <a:r>
              <a:rPr lang="zh-CN" altLang="en-US" dirty="0"/>
              <a:t>单击此处编辑母版文本样式</a:t>
            </a:r>
          </a:p>
          <a:p>
            <a:pPr lvl="4"/>
            <a:r>
              <a:rPr lang="zh-CN" altLang="en-US" dirty="0"/>
              <a:t>第二级</a:t>
            </a:r>
          </a:p>
          <a:p>
            <a:pPr lvl="6"/>
            <a:r>
              <a:rPr lang="zh-CN" altLang="en-US" dirty="0"/>
              <a:t>第三级</a:t>
            </a:r>
          </a:p>
        </p:txBody>
      </p:sp>
      <p:sp>
        <p:nvSpPr>
          <p:cNvPr id="1031" name="Title Placeholder 1"/>
          <p:cNvSpPr>
            <a:spLocks noGrp="1"/>
          </p:cNvSpPr>
          <p:nvPr>
            <p:ph type="title"/>
            <p:custDataLst>
              <p:tags r:id="rId12"/>
            </p:custDataLst>
          </p:nvPr>
        </p:nvSpPr>
        <p:spPr bwMode="auto">
          <a:xfrm>
            <a:off x="720000" y="360000"/>
            <a:ext cx="8415337"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p>
            <a:pPr lvl="0"/>
            <a:r>
              <a:rPr lang="zh-CN" altLang="en-US" dirty="0"/>
              <a:t>单击此处编辑母版标题样式</a:t>
            </a:r>
            <a:endParaRPr lang="en-US" dirty="0"/>
          </a:p>
        </p:txBody>
      </p:sp>
      <p:pic>
        <p:nvPicPr>
          <p:cNvPr id="11" name="图片 10"/>
          <p:cNvPicPr>
            <a:picLocks noChangeAspect="1"/>
          </p:cNvPicPr>
          <p:nvPr/>
        </p:nvPicPr>
        <p:blipFill rotWithShape="1">
          <a:blip r:embed="rId13" cstate="print"/>
          <a:srcRect l="20452" r="17427" b="5390"/>
          <a:stretch>
            <a:fillRect/>
          </a:stretch>
        </p:blipFill>
        <p:spPr>
          <a:xfrm rot="16200000" flipV="1">
            <a:off x="-100248" y="100244"/>
            <a:ext cx="863601" cy="663109"/>
          </a:xfrm>
          <a:custGeom>
            <a:avLst/>
            <a:gdLst>
              <a:gd name="connsiteX0" fmla="*/ 1007279 w 1007279"/>
              <a:gd name="connsiteY0" fmla="*/ 773431 h 773431"/>
              <a:gd name="connsiteX1" fmla="*/ 1007279 w 1007279"/>
              <a:gd name="connsiteY1" fmla="*/ 0 h 773431"/>
              <a:gd name="connsiteX2" fmla="*/ 404691 w 1007279"/>
              <a:gd name="connsiteY2" fmla="*/ 0 h 773431"/>
              <a:gd name="connsiteX3" fmla="*/ 473879 w 1007279"/>
              <a:gd name="connsiteY3" fmla="*/ 45011 h 773431"/>
              <a:gd name="connsiteX4" fmla="*/ 0 w 1007279"/>
              <a:gd name="connsiteY4" fmla="*/ 773431 h 773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279" h="773431">
                <a:moveTo>
                  <a:pt x="1007279" y="773431"/>
                </a:moveTo>
                <a:lnTo>
                  <a:pt x="1007279" y="0"/>
                </a:lnTo>
                <a:lnTo>
                  <a:pt x="404691" y="0"/>
                </a:lnTo>
                <a:lnTo>
                  <a:pt x="473879" y="45011"/>
                </a:lnTo>
                <a:lnTo>
                  <a:pt x="0" y="773431"/>
                </a:lnTo>
                <a:close/>
              </a:path>
            </a:pathLst>
          </a:custGeom>
        </p:spPr>
      </p:pic>
    </p:spTree>
  </p:cSld>
  <p:clrMap bg1="lt1" tx1="dk1" bg2="lt2" tx2="dk2" accent1="accent1" accent2="accent2" accent3="accent3" accent4="accent4" accent5="accent5" accent6="accent6" hlink="hlink" folHlink="folHlink"/>
  <p:sldLayoutIdLst>
    <p:sldLayoutId id="2147483672" r:id="rId1"/>
    <p:sldLayoutId id="2147483674" r:id="rId2"/>
    <p:sldLayoutId id="2147483664" r:id="rId3"/>
    <p:sldLayoutId id="2147483666" r:id="rId4"/>
    <p:sldLayoutId id="2147483665" r:id="rId5"/>
    <p:sldLayoutId id="2147483673" r:id="rId6"/>
    <p:sldLayoutId id="2147483695" r:id="rId7"/>
    <p:sldLayoutId id="2147483677" r:id="rId8"/>
    <p:sldLayoutId id="2147483694" r:id="rId9"/>
  </p:sldLayoutIdLst>
  <p:txStyles>
    <p:titleStyle>
      <a:lvl1pPr algn="l" rtl="0" eaLnBrk="1" fontAlgn="base" hangingPunct="1">
        <a:lnSpc>
          <a:spcPct val="90000"/>
        </a:lnSpc>
        <a:spcBef>
          <a:spcPct val="0"/>
        </a:spcBef>
        <a:spcAft>
          <a:spcPct val="0"/>
        </a:spcAft>
        <a:defRPr sz="2800" kern="1200">
          <a:solidFill>
            <a:srgbClr val="00B0F0"/>
          </a:solidFill>
          <a:latin typeface="+mj-lt"/>
          <a:ea typeface="+mj-ea"/>
          <a:cs typeface="+mj-cs"/>
        </a:defRPr>
      </a:lvl1pPr>
      <a:lvl2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2pPr>
      <a:lvl3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3pPr>
      <a:lvl4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4pPr>
      <a:lvl5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5pPr>
      <a:lvl6pPr marL="4572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6pPr>
      <a:lvl7pPr marL="9144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7pPr>
      <a:lvl8pPr marL="13716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8pPr>
      <a:lvl9pPr marL="18288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9pPr>
    </p:titleStyle>
    <p:bodyStyle>
      <a:lvl1pPr marL="0" indent="-179705" algn="l" rtl="0" eaLnBrk="1" fontAlgn="base" hangingPunct="1">
        <a:lnSpc>
          <a:spcPct val="150000"/>
        </a:lnSpc>
        <a:spcBef>
          <a:spcPts val="0"/>
        </a:spcBef>
        <a:spcAft>
          <a:spcPts val="0"/>
        </a:spcAft>
        <a:buClr>
          <a:schemeClr val="tx1"/>
        </a:buClr>
        <a:buSzPct val="80000"/>
        <a:buFont typeface="Arial" panose="020B0604020202020204" pitchFamily="34" charset="0"/>
        <a:buChar char="•"/>
        <a:defRPr lang="zh-CN" altLang="en-US" sz="2000" kern="1200" dirty="0">
          <a:solidFill>
            <a:schemeClr val="tx1"/>
          </a:solidFill>
          <a:latin typeface="+mn-lt"/>
          <a:ea typeface="+mn-ea"/>
          <a:cs typeface="+mn-cs"/>
        </a:defRPr>
      </a:lvl1pPr>
      <a:lvl2pPr marL="0" indent="0" algn="l" rtl="0" eaLnBrk="1" fontAlgn="base" hangingPunct="1">
        <a:lnSpc>
          <a:spcPct val="130000"/>
        </a:lnSpc>
        <a:spcBef>
          <a:spcPct val="0"/>
        </a:spcBef>
        <a:spcAft>
          <a:spcPct val="0"/>
        </a:spcAft>
        <a:buClr>
          <a:schemeClr val="tx1"/>
        </a:buClr>
        <a:buSzPct val="80000"/>
        <a:buFont typeface="Wingdings" panose="05000000000000000000" pitchFamily="2" charset="2"/>
        <a:buChar char="ü"/>
        <a:defRPr sz="2000" kern="1200">
          <a:solidFill>
            <a:schemeClr val="tx1"/>
          </a:solidFill>
          <a:latin typeface="+mn-lt"/>
          <a:ea typeface="+mn-ea"/>
          <a:cs typeface="+mn-cs"/>
        </a:defRPr>
      </a:lvl2pPr>
      <a:lvl3pPr marL="0" indent="0" algn="l" rtl="0" eaLnBrk="1" fontAlgn="base" hangingPunct="1">
        <a:spcBef>
          <a:spcPts val="500"/>
        </a:spcBef>
        <a:spcAft>
          <a:spcPct val="0"/>
        </a:spcAft>
        <a:buClr>
          <a:schemeClr val="tx1"/>
        </a:buClr>
        <a:buSzPct val="80000"/>
        <a:buFont typeface="Wingdings" panose="05000000000000000000" pitchFamily="2" charset="2"/>
        <a:buChar char="ü"/>
        <a:defRPr sz="1800" kern="1200">
          <a:solidFill>
            <a:srgbClr val="262626"/>
          </a:solidFill>
          <a:latin typeface="+mn-lt"/>
          <a:ea typeface="+mn-ea"/>
          <a:cs typeface="+mn-cs"/>
        </a:defRPr>
      </a:lvl3pPr>
      <a:lvl4pPr marL="0" indent="0" algn="l" rtl="0" eaLnBrk="1" fontAlgn="base" hangingPunct="1">
        <a:spcBef>
          <a:spcPts val="500"/>
        </a:spcBef>
        <a:spcAft>
          <a:spcPct val="0"/>
        </a:spcAft>
        <a:buClr>
          <a:schemeClr val="tx1"/>
        </a:buClr>
        <a:buSzPct val="80000"/>
        <a:buFont typeface="Wingdings" panose="05000000000000000000" pitchFamily="2" charset="2"/>
        <a:buChar char="ü"/>
        <a:defRPr sz="1800" kern="1200">
          <a:solidFill>
            <a:srgbClr val="262626"/>
          </a:solidFill>
          <a:latin typeface="+mn-lt"/>
          <a:ea typeface="+mn-ea"/>
          <a:cs typeface="+mn-cs"/>
        </a:defRPr>
      </a:lvl4pPr>
      <a:lvl5pPr marL="360045" indent="-179705" algn="l" rtl="0" eaLnBrk="1" fontAlgn="base" hangingPunct="1">
        <a:lnSpc>
          <a:spcPct val="150000"/>
        </a:lnSpc>
        <a:spcBef>
          <a:spcPts val="0"/>
        </a:spcBef>
        <a:spcAft>
          <a:spcPts val="0"/>
        </a:spcAft>
        <a:buClr>
          <a:schemeClr val="tx1"/>
        </a:buClr>
        <a:buSzPct val="80000"/>
        <a:buFont typeface="Arial" panose="020B0604020202020204" pitchFamily="34" charset="0"/>
        <a:buChar char="•"/>
        <a:defRPr lang="zh-CN" altLang="en-US" kern="1200" dirty="0">
          <a:solidFill>
            <a:schemeClr val="tx1"/>
          </a:solidFill>
          <a:latin typeface="+mn-lt"/>
          <a:ea typeface="+mn-ea"/>
          <a:cs typeface="+mn-cs"/>
        </a:defRPr>
      </a:lvl5pPr>
      <a:lvl6pPr marL="0" indent="0" algn="l" defTabSz="914400" rtl="0" eaLnBrk="1" latinLnBrk="0" hangingPunct="1">
        <a:lnSpc>
          <a:spcPct val="9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6pPr>
      <a:lvl7pPr marL="720000" indent="-179705" algn="l" defTabSz="914400" rtl="0" eaLnBrk="1" latinLnBrk="0" hangingPunct="1">
        <a:lnSpc>
          <a:spcPct val="150000"/>
        </a:lnSpc>
        <a:spcBef>
          <a:spcPts val="0"/>
        </a:spcBef>
        <a:spcAft>
          <a:spcPts val="0"/>
        </a:spcAft>
        <a:buClr>
          <a:schemeClr val="tx1"/>
        </a:buClr>
        <a:buSzPct val="80000"/>
        <a:buFont typeface="Arial" panose="020B0604020202020204" pitchFamily="34" charset="0"/>
        <a:buChar char="•"/>
        <a:defRPr lang="zh-CN" altLang="en-US" sz="1600" kern="1200" dirty="0">
          <a:solidFill>
            <a:schemeClr val="tx1"/>
          </a:solidFill>
          <a:latin typeface="+mn-lt"/>
          <a:ea typeface="+mn-ea"/>
          <a:cs typeface="+mn-cs"/>
        </a:defRPr>
      </a:lvl7pPr>
      <a:lvl8pPr marL="1080135"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8pPr>
      <a:lvl9pPr marL="144018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ECECEC"/>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38200" y="341314"/>
            <a:ext cx="10515600" cy="850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a:bodyPr>
          <a:lstStyle/>
          <a:p>
            <a:pPr lvl="0"/>
            <a:r>
              <a:rPr lang="zh-CN">
                <a:sym typeface="Arial" panose="020B0604020202020204" pitchFamily="34" charset="0"/>
              </a:rPr>
              <a:t>单击此处编辑母版标题样式</a:t>
            </a:r>
          </a:p>
        </p:txBody>
      </p:sp>
      <p:sp>
        <p:nvSpPr>
          <p:cNvPr id="1031" name="Rectangle 3"/>
          <p:cNvSpPr>
            <a:spLocks noGrp="1" noChangeArrowheads="1"/>
          </p:cNvSpPr>
          <p:nvPr>
            <p:ph type="body" idx="1"/>
          </p:nvPr>
        </p:nvSpPr>
        <p:spPr bwMode="auto">
          <a:xfrm>
            <a:off x="838200" y="1335088"/>
            <a:ext cx="10515600" cy="474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p>
            <a:pPr lvl="0"/>
            <a:r>
              <a:rPr lang="zh-CN" dirty="0">
                <a:sym typeface="Arial" panose="020B0604020202020204" pitchFamily="34" charset="0"/>
              </a:rPr>
              <a:t>单击此处编辑母版文本样式</a:t>
            </a:r>
          </a:p>
          <a:p>
            <a:pPr lvl="1"/>
            <a:r>
              <a:rPr lang="zh-CN" dirty="0">
                <a:sym typeface="Arial" panose="020B0604020202020204" pitchFamily="34" charset="0"/>
              </a:rPr>
              <a:t>第二级</a:t>
            </a:r>
          </a:p>
          <a:p>
            <a:pPr lvl="2"/>
            <a:r>
              <a:rPr lang="zh-CN" dirty="0">
                <a:sym typeface="Arial" panose="020B0604020202020204" pitchFamily="34" charset="0"/>
              </a:rPr>
              <a:t>第三级</a:t>
            </a:r>
          </a:p>
          <a:p>
            <a:pPr lvl="3"/>
            <a:r>
              <a:rPr lang="zh-CN" dirty="0">
                <a:sym typeface="Arial" panose="020B0604020202020204" pitchFamily="34" charset="0"/>
              </a:rPr>
              <a:t>第四级</a:t>
            </a:r>
          </a:p>
          <a:p>
            <a:pPr lvl="4"/>
            <a:r>
              <a:rPr lang="zh-CN" dirty="0">
                <a:sym typeface="Arial" panose="020B0604020202020204" pitchFamily="34" charset="0"/>
              </a:rPr>
              <a:t>第五级</a:t>
            </a:r>
          </a:p>
        </p:txBody>
      </p:sp>
      <p:sp>
        <p:nvSpPr>
          <p:cNvPr id="2" name="日期占位符 1"/>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D1EB09-2F7F-4678-88FC-6C392734DEF4}" type="datetimeFigureOut">
              <a:rPr lang="zh-CN" altLang="en-US" smtClean="0"/>
              <a:pPr/>
              <a:t>2026/5/23</a:t>
            </a:fld>
            <a:endParaRPr lang="zh-CN" altLang="en-US"/>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9" r:id="rId4"/>
    <p:sldLayoutId id="2147483690" r:id="rId5"/>
    <p:sldLayoutId id="2147483691" r:id="rId6"/>
  </p:sldLayoutIdLst>
  <p:txStyles>
    <p:titleStyle>
      <a:lvl1pPr algn="l" rtl="0" eaLnBrk="0" fontAlgn="base" hangingPunct="0">
        <a:spcBef>
          <a:spcPct val="0"/>
        </a:spcBef>
        <a:spcAft>
          <a:spcPct val="0"/>
        </a:spcAft>
        <a:defRPr sz="3600" kern="1200">
          <a:solidFill>
            <a:srgbClr val="475F77"/>
          </a:solidFill>
          <a:latin typeface="Arial" panose="020B0604020202020204" pitchFamily="34" charset="0"/>
          <a:ea typeface="黑体" panose="02010609060101010101" pitchFamily="49" charset="-122"/>
          <a:cs typeface="+mj-cs"/>
          <a:sym typeface="Arial" panose="020B0604020202020204" pitchFamily="34" charset="0"/>
        </a:defRPr>
      </a:lvl1pPr>
      <a:lvl2pPr algn="l" rtl="0" eaLnBrk="0" fontAlgn="base" hangingPunct="0">
        <a:spcBef>
          <a:spcPct val="0"/>
        </a:spcBef>
        <a:spcAft>
          <a:spcPct val="0"/>
        </a:spcAft>
        <a:defRPr sz="32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algn="l" rtl="0" eaLnBrk="0" fontAlgn="base" hangingPunct="0">
        <a:spcBef>
          <a:spcPct val="0"/>
        </a:spcBef>
        <a:spcAft>
          <a:spcPct val="0"/>
        </a:spcAft>
        <a:defRPr sz="32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algn="l" rtl="0" eaLnBrk="0" fontAlgn="base" hangingPunct="0">
        <a:spcBef>
          <a:spcPct val="0"/>
        </a:spcBef>
        <a:spcAft>
          <a:spcPct val="0"/>
        </a:spcAft>
        <a:defRPr sz="32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algn="l" rtl="0" eaLnBrk="0" fontAlgn="base" hangingPunct="0">
        <a:spcBef>
          <a:spcPct val="0"/>
        </a:spcBef>
        <a:spcAft>
          <a:spcPct val="0"/>
        </a:spcAft>
        <a:defRPr sz="32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457200" algn="l" rtl="0" eaLnBrk="0" fontAlgn="base" hangingPunct="0">
        <a:spcBef>
          <a:spcPct val="0"/>
        </a:spcBef>
        <a:spcAft>
          <a:spcPct val="0"/>
        </a:spcAft>
        <a:defRPr sz="32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914400" algn="l" rtl="0" eaLnBrk="0" fontAlgn="base" hangingPunct="0">
        <a:spcBef>
          <a:spcPct val="0"/>
        </a:spcBef>
        <a:spcAft>
          <a:spcPct val="0"/>
        </a:spcAft>
        <a:defRPr sz="32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1371600" algn="l" rtl="0" eaLnBrk="0" fontAlgn="base" hangingPunct="0">
        <a:spcBef>
          <a:spcPct val="0"/>
        </a:spcBef>
        <a:spcAft>
          <a:spcPct val="0"/>
        </a:spcAft>
        <a:defRPr sz="32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1828800" algn="l" rtl="0" eaLnBrk="0" fontAlgn="base" hangingPunct="0">
        <a:spcBef>
          <a:spcPct val="0"/>
        </a:spcBef>
        <a:spcAft>
          <a:spcPct val="0"/>
        </a:spcAft>
        <a:defRPr sz="3200">
          <a:solidFill>
            <a:srgbClr val="475F77"/>
          </a:solidFill>
          <a:latin typeface="Arial" panose="020B0604020202020204" pitchFamily="34" charset="0"/>
          <a:ea typeface="黑体" panose="02010609060101010101" pitchFamily="49" charset="-122"/>
          <a:sym typeface="Arial" panose="020B0604020202020204" pitchFamily="34" charset="0"/>
        </a:defRPr>
      </a:lvl9pPr>
    </p:titleStyle>
    <p:bodyStyle>
      <a:lvl1pPr marL="14605" indent="-14605" algn="l" rtl="0" eaLnBrk="0" fontAlgn="base" hangingPunct="0">
        <a:spcBef>
          <a:spcPct val="20000"/>
        </a:spcBef>
        <a:spcAft>
          <a:spcPct val="0"/>
        </a:spcAft>
        <a:buChar char="•"/>
        <a:defRPr sz="2400" kern="1200">
          <a:solidFill>
            <a:srgbClr val="475F77"/>
          </a:solidFill>
          <a:latin typeface="Arial" panose="020B0604020202020204" pitchFamily="34" charset="0"/>
          <a:ea typeface="黑体" panose="02010609060101010101" pitchFamily="49" charset="-122"/>
          <a:cs typeface="+mn-cs"/>
          <a:sym typeface="Arial" panose="020B060402020202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rgbClr val="475F77"/>
          </a:solidFill>
          <a:latin typeface="Arial" panose="020B0604020202020204" pitchFamily="34" charset="0"/>
          <a:ea typeface="黑体" panose="02010609060101010101" pitchFamily="49" charset="-122"/>
          <a:cs typeface="+mn-cs"/>
          <a:sym typeface="Arial" panose="020B0604020202020204" pitchFamily="34" charset="0"/>
        </a:defRPr>
      </a:lvl2pPr>
      <a:lvl3pPr marL="1200150" indent="-285750" algn="l" rtl="0" eaLnBrk="0" fontAlgn="base" hangingPunct="0">
        <a:spcBef>
          <a:spcPct val="20000"/>
        </a:spcBef>
        <a:spcAft>
          <a:spcPct val="0"/>
        </a:spcAft>
        <a:buFont typeface="Arial" panose="020B0604020202020204" pitchFamily="34" charset="0"/>
        <a:buChar char="•"/>
        <a:defRPr sz="1800" kern="1200">
          <a:solidFill>
            <a:srgbClr val="475F77"/>
          </a:solidFill>
          <a:latin typeface="Arial" panose="020B0604020202020204" pitchFamily="34" charset="0"/>
          <a:ea typeface="黑体" panose="02010609060101010101" pitchFamily="49" charset="-122"/>
          <a:cs typeface="+mn-cs"/>
          <a:sym typeface="Arial" panose="020B0604020202020204" pitchFamily="34" charset="0"/>
        </a:defRPr>
      </a:lvl3pPr>
      <a:lvl4pPr marL="1657350" indent="-285750" algn="l" rtl="0" eaLnBrk="0" fontAlgn="base" hangingPunct="0">
        <a:spcBef>
          <a:spcPct val="20000"/>
        </a:spcBef>
        <a:spcAft>
          <a:spcPct val="0"/>
        </a:spcAft>
        <a:buFont typeface="Arial" panose="020B0604020202020204" pitchFamily="34" charset="0"/>
        <a:buChar char="•"/>
        <a:defRPr sz="1800" kern="1200">
          <a:solidFill>
            <a:srgbClr val="475F77"/>
          </a:solidFill>
          <a:latin typeface="Arial" panose="020B0604020202020204" pitchFamily="34" charset="0"/>
          <a:ea typeface="黑体" panose="02010609060101010101" pitchFamily="49" charset="-122"/>
          <a:cs typeface="+mn-cs"/>
          <a:sym typeface="Arial" panose="020B0604020202020204" pitchFamily="34" charset="0"/>
        </a:defRPr>
      </a:lvl4pPr>
      <a:lvl5pPr marL="2114550" indent="-285750" algn="l" rtl="0" eaLnBrk="0" fontAlgn="base" hangingPunct="0">
        <a:spcBef>
          <a:spcPct val="20000"/>
        </a:spcBef>
        <a:spcAft>
          <a:spcPct val="0"/>
        </a:spcAft>
        <a:buFont typeface="Arial" panose="020B0604020202020204" pitchFamily="34" charset="0"/>
        <a:buChar char="•"/>
        <a:defRPr sz="1800" kern="1200">
          <a:solidFill>
            <a:srgbClr val="475F77"/>
          </a:solidFill>
          <a:latin typeface="Arial" panose="020B0604020202020204" pitchFamily="34" charset="0"/>
          <a:ea typeface="黑体" panose="02010609060101010101" pitchFamily="49" charset="-122"/>
          <a:cs typeface="+mn-cs"/>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7.xml"/><Relationship Id="rId7" Type="http://schemas.openxmlformats.org/officeDocument/2006/relationships/image" Target="../media/image5.jpe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slideLayout" Target="../slideLayouts/slideLayout7.xml"/><Relationship Id="rId5" Type="http://schemas.openxmlformats.org/officeDocument/2006/relationships/tags" Target="../tags/tag19.xml"/><Relationship Id="rId4" Type="http://schemas.openxmlformats.org/officeDocument/2006/relationships/tags" Target="../tags/tag18.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22.xml"/><Relationship Id="rId7" Type="http://schemas.openxmlformats.org/officeDocument/2006/relationships/slideLayout" Target="../slideLayouts/slideLayout7.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image" Target="../media/image8.png"/><Relationship Id="rId5" Type="http://schemas.openxmlformats.org/officeDocument/2006/relationships/tags" Target="../tags/tag24.xml"/><Relationship Id="rId10" Type="http://schemas.openxmlformats.org/officeDocument/2006/relationships/image" Target="../media/image7.png"/><Relationship Id="rId4" Type="http://schemas.openxmlformats.org/officeDocument/2006/relationships/tags" Target="../tags/tag23.xml"/><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28.xml"/><Relationship Id="rId7" Type="http://schemas.openxmlformats.org/officeDocument/2006/relationships/slideLayout" Target="../slideLayouts/slideLayout7.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7.png"/><Relationship Id="rId4" Type="http://schemas.openxmlformats.org/officeDocument/2006/relationships/tags" Target="../tags/tag29.xml"/><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tags" Target="../tags/tag40.xml"/><Relationship Id="rId3" Type="http://schemas.openxmlformats.org/officeDocument/2006/relationships/tags" Target="../tags/tag35.xml"/><Relationship Id="rId7" Type="http://schemas.openxmlformats.org/officeDocument/2006/relationships/tags" Target="../tags/tag39.xml"/><Relationship Id="rId12" Type="http://schemas.openxmlformats.org/officeDocument/2006/relationships/slideLayout" Target="../slideLayouts/slideLayout5.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tags" Target="../tags/tag43.xml"/><Relationship Id="rId5" Type="http://schemas.openxmlformats.org/officeDocument/2006/relationships/tags" Target="../tags/tag37.xml"/><Relationship Id="rId10" Type="http://schemas.openxmlformats.org/officeDocument/2006/relationships/tags" Target="../tags/tag42.xml"/><Relationship Id="rId4" Type="http://schemas.openxmlformats.org/officeDocument/2006/relationships/tags" Target="../tags/tag36.xml"/><Relationship Id="rId9" Type="http://schemas.openxmlformats.org/officeDocument/2006/relationships/tags" Target="../tags/tag41.xml"/></Relationships>
</file>

<file path=ppt/slides/_rels/slide7.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tags" Target="../tags/tag56.xml"/><Relationship Id="rId3" Type="http://schemas.openxmlformats.org/officeDocument/2006/relationships/tags" Target="../tags/tag46.xml"/><Relationship Id="rId7" Type="http://schemas.openxmlformats.org/officeDocument/2006/relationships/tags" Target="../tags/tag50.xml"/><Relationship Id="rId12" Type="http://schemas.openxmlformats.org/officeDocument/2006/relationships/tags" Target="../tags/tag55.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tags" Target="../tags/tag54.xml"/><Relationship Id="rId5" Type="http://schemas.openxmlformats.org/officeDocument/2006/relationships/tags" Target="../tags/tag48.xml"/><Relationship Id="rId15" Type="http://schemas.openxmlformats.org/officeDocument/2006/relationships/slideLayout" Target="../slideLayouts/slideLayout5.xml"/><Relationship Id="rId10" Type="http://schemas.openxmlformats.org/officeDocument/2006/relationships/tags" Target="../tags/tag53.xml"/><Relationship Id="rId4" Type="http://schemas.openxmlformats.org/officeDocument/2006/relationships/tags" Target="../tags/tag47.xml"/><Relationship Id="rId9" Type="http://schemas.openxmlformats.org/officeDocument/2006/relationships/tags" Target="../tags/tag52.xml"/><Relationship Id="rId14" Type="http://schemas.openxmlformats.org/officeDocument/2006/relationships/tags" Target="../tags/tag5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58.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59.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5.xml"/><Relationship Id="rId1" Type="http://schemas.openxmlformats.org/officeDocument/2006/relationships/tags" Target="../tags/tag6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61.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5.xml"/><Relationship Id="rId1" Type="http://schemas.openxmlformats.org/officeDocument/2006/relationships/tags" Target="../tags/tag6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3" Type="http://schemas.openxmlformats.org/officeDocument/2006/relationships/tags" Target="../tags/tag75.xml"/><Relationship Id="rId18" Type="http://schemas.openxmlformats.org/officeDocument/2006/relationships/tags" Target="../tags/tag80.xml"/><Relationship Id="rId26" Type="http://schemas.openxmlformats.org/officeDocument/2006/relationships/tags" Target="../tags/tag88.xml"/><Relationship Id="rId21" Type="http://schemas.openxmlformats.org/officeDocument/2006/relationships/tags" Target="../tags/tag83.xml"/><Relationship Id="rId34" Type="http://schemas.openxmlformats.org/officeDocument/2006/relationships/tags" Target="../tags/tag96.xml"/><Relationship Id="rId7" Type="http://schemas.openxmlformats.org/officeDocument/2006/relationships/tags" Target="../tags/tag69.xml"/><Relationship Id="rId12" Type="http://schemas.openxmlformats.org/officeDocument/2006/relationships/tags" Target="../tags/tag74.xml"/><Relationship Id="rId17" Type="http://schemas.openxmlformats.org/officeDocument/2006/relationships/tags" Target="../tags/tag79.xml"/><Relationship Id="rId25" Type="http://schemas.openxmlformats.org/officeDocument/2006/relationships/tags" Target="../tags/tag87.xml"/><Relationship Id="rId33" Type="http://schemas.openxmlformats.org/officeDocument/2006/relationships/tags" Target="../tags/tag95.xml"/><Relationship Id="rId2" Type="http://schemas.openxmlformats.org/officeDocument/2006/relationships/tags" Target="../tags/tag64.xml"/><Relationship Id="rId16" Type="http://schemas.openxmlformats.org/officeDocument/2006/relationships/tags" Target="../tags/tag78.xml"/><Relationship Id="rId20" Type="http://schemas.openxmlformats.org/officeDocument/2006/relationships/tags" Target="../tags/tag82.xml"/><Relationship Id="rId29" Type="http://schemas.openxmlformats.org/officeDocument/2006/relationships/tags" Target="../tags/tag91.xml"/><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tags" Target="../tags/tag73.xml"/><Relationship Id="rId24" Type="http://schemas.openxmlformats.org/officeDocument/2006/relationships/tags" Target="../tags/tag86.xml"/><Relationship Id="rId32" Type="http://schemas.openxmlformats.org/officeDocument/2006/relationships/tags" Target="../tags/tag94.xml"/><Relationship Id="rId37" Type="http://schemas.openxmlformats.org/officeDocument/2006/relationships/slideLayout" Target="../slideLayouts/slideLayout4.xml"/><Relationship Id="rId5" Type="http://schemas.openxmlformats.org/officeDocument/2006/relationships/tags" Target="../tags/tag67.xml"/><Relationship Id="rId15" Type="http://schemas.openxmlformats.org/officeDocument/2006/relationships/tags" Target="../tags/tag77.xml"/><Relationship Id="rId23" Type="http://schemas.openxmlformats.org/officeDocument/2006/relationships/tags" Target="../tags/tag85.xml"/><Relationship Id="rId28" Type="http://schemas.openxmlformats.org/officeDocument/2006/relationships/tags" Target="../tags/tag90.xml"/><Relationship Id="rId36" Type="http://schemas.openxmlformats.org/officeDocument/2006/relationships/tags" Target="../tags/tag98.xml"/><Relationship Id="rId10" Type="http://schemas.openxmlformats.org/officeDocument/2006/relationships/tags" Target="../tags/tag72.xml"/><Relationship Id="rId19" Type="http://schemas.openxmlformats.org/officeDocument/2006/relationships/tags" Target="../tags/tag81.xml"/><Relationship Id="rId31" Type="http://schemas.openxmlformats.org/officeDocument/2006/relationships/tags" Target="../tags/tag93.xml"/><Relationship Id="rId4" Type="http://schemas.openxmlformats.org/officeDocument/2006/relationships/tags" Target="../tags/tag66.xml"/><Relationship Id="rId9" Type="http://schemas.openxmlformats.org/officeDocument/2006/relationships/tags" Target="../tags/tag71.xml"/><Relationship Id="rId14" Type="http://schemas.openxmlformats.org/officeDocument/2006/relationships/tags" Target="../tags/tag76.xml"/><Relationship Id="rId22" Type="http://schemas.openxmlformats.org/officeDocument/2006/relationships/tags" Target="../tags/tag84.xml"/><Relationship Id="rId27" Type="http://schemas.openxmlformats.org/officeDocument/2006/relationships/tags" Target="../tags/tag89.xml"/><Relationship Id="rId30" Type="http://schemas.openxmlformats.org/officeDocument/2006/relationships/tags" Target="../tags/tag92.xml"/><Relationship Id="rId35" Type="http://schemas.openxmlformats.org/officeDocument/2006/relationships/tags" Target="../tags/tag97.xml"/><Relationship Id="rId8" Type="http://schemas.openxmlformats.org/officeDocument/2006/relationships/tags" Target="../tags/tag70.xml"/><Relationship Id="rId3" Type="http://schemas.openxmlformats.org/officeDocument/2006/relationships/tags" Target="../tags/tag65.xml"/></Relationships>
</file>

<file path=ppt/slides/_rels/slide15.xml.rels><?xml version="1.0" encoding="UTF-8" standalone="yes"?>
<Relationships xmlns="http://schemas.openxmlformats.org/package/2006/relationships"><Relationship Id="rId8" Type="http://schemas.openxmlformats.org/officeDocument/2006/relationships/tags" Target="../tags/tag106.xml"/><Relationship Id="rId13" Type="http://schemas.openxmlformats.org/officeDocument/2006/relationships/slide" Target="slide16.xml"/><Relationship Id="rId3" Type="http://schemas.openxmlformats.org/officeDocument/2006/relationships/tags" Target="../tags/tag101.xml"/><Relationship Id="rId7" Type="http://schemas.openxmlformats.org/officeDocument/2006/relationships/tags" Target="../tags/tag105.xml"/><Relationship Id="rId12" Type="http://schemas.openxmlformats.org/officeDocument/2006/relationships/notesSlide" Target="../notesSlides/notesSlide5.xml"/><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tags" Target="../tags/tag104.xml"/><Relationship Id="rId11" Type="http://schemas.openxmlformats.org/officeDocument/2006/relationships/slideLayout" Target="../slideLayouts/slideLayout4.xml"/><Relationship Id="rId5" Type="http://schemas.openxmlformats.org/officeDocument/2006/relationships/tags" Target="../tags/tag103.xml"/><Relationship Id="rId10" Type="http://schemas.openxmlformats.org/officeDocument/2006/relationships/tags" Target="../tags/tag108.xml"/><Relationship Id="rId4" Type="http://schemas.openxmlformats.org/officeDocument/2006/relationships/tags" Target="../tags/tag102.xml"/><Relationship Id="rId9" Type="http://schemas.openxmlformats.org/officeDocument/2006/relationships/tags" Target="../tags/tag107.xml"/></Relationships>
</file>

<file path=ppt/slides/_rels/slide16.xml.rels><?xml version="1.0" encoding="UTF-8" standalone="yes"?>
<Relationships xmlns="http://schemas.openxmlformats.org/package/2006/relationships"><Relationship Id="rId8" Type="http://schemas.openxmlformats.org/officeDocument/2006/relationships/tags" Target="../tags/tag116.xml"/><Relationship Id="rId13" Type="http://schemas.openxmlformats.org/officeDocument/2006/relationships/tags" Target="../tags/tag121.xml"/><Relationship Id="rId18" Type="http://schemas.openxmlformats.org/officeDocument/2006/relationships/notesSlide" Target="../notesSlides/notesSlide6.xml"/><Relationship Id="rId3" Type="http://schemas.openxmlformats.org/officeDocument/2006/relationships/tags" Target="../tags/tag111.xml"/><Relationship Id="rId7" Type="http://schemas.openxmlformats.org/officeDocument/2006/relationships/tags" Target="../tags/tag115.xml"/><Relationship Id="rId12" Type="http://schemas.openxmlformats.org/officeDocument/2006/relationships/tags" Target="../tags/tag120.xml"/><Relationship Id="rId17" Type="http://schemas.openxmlformats.org/officeDocument/2006/relationships/slideLayout" Target="../slideLayouts/slideLayout4.xml"/><Relationship Id="rId2" Type="http://schemas.openxmlformats.org/officeDocument/2006/relationships/tags" Target="../tags/tag110.xml"/><Relationship Id="rId16" Type="http://schemas.openxmlformats.org/officeDocument/2006/relationships/tags" Target="../tags/tag124.xml"/><Relationship Id="rId1" Type="http://schemas.openxmlformats.org/officeDocument/2006/relationships/tags" Target="../tags/tag109.xml"/><Relationship Id="rId6" Type="http://schemas.openxmlformats.org/officeDocument/2006/relationships/tags" Target="../tags/tag114.xml"/><Relationship Id="rId11" Type="http://schemas.openxmlformats.org/officeDocument/2006/relationships/tags" Target="../tags/tag119.xml"/><Relationship Id="rId5" Type="http://schemas.openxmlformats.org/officeDocument/2006/relationships/tags" Target="../tags/tag113.xml"/><Relationship Id="rId15" Type="http://schemas.openxmlformats.org/officeDocument/2006/relationships/tags" Target="../tags/tag123.xml"/><Relationship Id="rId10" Type="http://schemas.openxmlformats.org/officeDocument/2006/relationships/tags" Target="../tags/tag118.xml"/><Relationship Id="rId4" Type="http://schemas.openxmlformats.org/officeDocument/2006/relationships/tags" Target="../tags/tag112.xml"/><Relationship Id="rId9" Type="http://schemas.openxmlformats.org/officeDocument/2006/relationships/tags" Target="../tags/tag117.xml"/><Relationship Id="rId14" Type="http://schemas.openxmlformats.org/officeDocument/2006/relationships/tags" Target="../tags/tag122.xml"/></Relationships>
</file>

<file path=ppt/slides/_rels/slide17.xml.rels><?xml version="1.0" encoding="UTF-8" standalone="yes"?>
<Relationships xmlns="http://schemas.openxmlformats.org/package/2006/relationships"><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 Id="rId4"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130.xml"/><Relationship Id="rId7" Type="http://schemas.openxmlformats.org/officeDocument/2006/relationships/tags" Target="../tags/tag134.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tags" Target="../tags/tag133.xml"/><Relationship Id="rId5" Type="http://schemas.openxmlformats.org/officeDocument/2006/relationships/tags" Target="../tags/tag132.xml"/><Relationship Id="rId4" Type="http://schemas.openxmlformats.org/officeDocument/2006/relationships/tags" Target="../tags/tag131.xml"/><Relationship Id="rId9"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35.xml"/></Relationships>
</file>

<file path=ppt/slides/_rels/slide20.xml.rels><?xml version="1.0" encoding="UTF-8" standalone="yes"?>
<Relationships xmlns="http://schemas.openxmlformats.org/package/2006/relationships"><Relationship Id="rId8" Type="http://schemas.openxmlformats.org/officeDocument/2006/relationships/tags" Target="../tags/tag143.xml"/><Relationship Id="rId13" Type="http://schemas.openxmlformats.org/officeDocument/2006/relationships/tags" Target="../tags/tag148.xml"/><Relationship Id="rId18" Type="http://schemas.openxmlformats.org/officeDocument/2006/relationships/tags" Target="../tags/tag153.xml"/><Relationship Id="rId26" Type="http://schemas.openxmlformats.org/officeDocument/2006/relationships/slideLayout" Target="../slideLayouts/slideLayout4.xml"/><Relationship Id="rId3" Type="http://schemas.openxmlformats.org/officeDocument/2006/relationships/tags" Target="../tags/tag138.xml"/><Relationship Id="rId21" Type="http://schemas.openxmlformats.org/officeDocument/2006/relationships/tags" Target="../tags/tag156.xml"/><Relationship Id="rId7" Type="http://schemas.openxmlformats.org/officeDocument/2006/relationships/tags" Target="../tags/tag142.xml"/><Relationship Id="rId12" Type="http://schemas.openxmlformats.org/officeDocument/2006/relationships/tags" Target="../tags/tag147.xml"/><Relationship Id="rId17" Type="http://schemas.openxmlformats.org/officeDocument/2006/relationships/tags" Target="../tags/tag152.xml"/><Relationship Id="rId25" Type="http://schemas.openxmlformats.org/officeDocument/2006/relationships/tags" Target="../tags/tag160.xml"/><Relationship Id="rId2" Type="http://schemas.openxmlformats.org/officeDocument/2006/relationships/tags" Target="../tags/tag137.xml"/><Relationship Id="rId16" Type="http://schemas.openxmlformats.org/officeDocument/2006/relationships/tags" Target="../tags/tag151.xml"/><Relationship Id="rId20" Type="http://schemas.openxmlformats.org/officeDocument/2006/relationships/tags" Target="../tags/tag155.xml"/><Relationship Id="rId1" Type="http://schemas.openxmlformats.org/officeDocument/2006/relationships/tags" Target="../tags/tag136.xml"/><Relationship Id="rId6" Type="http://schemas.openxmlformats.org/officeDocument/2006/relationships/tags" Target="../tags/tag141.xml"/><Relationship Id="rId11" Type="http://schemas.openxmlformats.org/officeDocument/2006/relationships/tags" Target="../tags/tag146.xml"/><Relationship Id="rId24" Type="http://schemas.openxmlformats.org/officeDocument/2006/relationships/tags" Target="../tags/tag159.xml"/><Relationship Id="rId5" Type="http://schemas.openxmlformats.org/officeDocument/2006/relationships/tags" Target="../tags/tag140.xml"/><Relationship Id="rId15" Type="http://schemas.openxmlformats.org/officeDocument/2006/relationships/tags" Target="../tags/tag150.xml"/><Relationship Id="rId23" Type="http://schemas.openxmlformats.org/officeDocument/2006/relationships/tags" Target="../tags/tag158.xml"/><Relationship Id="rId10" Type="http://schemas.openxmlformats.org/officeDocument/2006/relationships/tags" Target="../tags/tag145.xml"/><Relationship Id="rId19" Type="http://schemas.openxmlformats.org/officeDocument/2006/relationships/tags" Target="../tags/tag154.xml"/><Relationship Id="rId4" Type="http://schemas.openxmlformats.org/officeDocument/2006/relationships/tags" Target="../tags/tag139.xml"/><Relationship Id="rId9" Type="http://schemas.openxmlformats.org/officeDocument/2006/relationships/tags" Target="../tags/tag144.xml"/><Relationship Id="rId14" Type="http://schemas.openxmlformats.org/officeDocument/2006/relationships/tags" Target="../tags/tag149.xml"/><Relationship Id="rId22" Type="http://schemas.openxmlformats.org/officeDocument/2006/relationships/tags" Target="../tags/tag15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61.xml"/></Relationships>
</file>

<file path=ppt/slides/_rels/slide22.xml.rels><?xml version="1.0" encoding="UTF-8" standalone="yes"?>
<Relationships xmlns="http://schemas.openxmlformats.org/package/2006/relationships"><Relationship Id="rId8" Type="http://schemas.openxmlformats.org/officeDocument/2006/relationships/tags" Target="../tags/tag169.xml"/><Relationship Id="rId13" Type="http://schemas.openxmlformats.org/officeDocument/2006/relationships/tags" Target="../tags/tag174.xml"/><Relationship Id="rId18" Type="http://schemas.openxmlformats.org/officeDocument/2006/relationships/tags" Target="../tags/tag179.xml"/><Relationship Id="rId3" Type="http://schemas.openxmlformats.org/officeDocument/2006/relationships/tags" Target="../tags/tag164.xml"/><Relationship Id="rId21" Type="http://schemas.openxmlformats.org/officeDocument/2006/relationships/slideLayout" Target="../slideLayouts/slideLayout4.xml"/><Relationship Id="rId7" Type="http://schemas.openxmlformats.org/officeDocument/2006/relationships/tags" Target="../tags/tag168.xml"/><Relationship Id="rId12" Type="http://schemas.openxmlformats.org/officeDocument/2006/relationships/tags" Target="../tags/tag173.xml"/><Relationship Id="rId17" Type="http://schemas.openxmlformats.org/officeDocument/2006/relationships/tags" Target="../tags/tag178.xml"/><Relationship Id="rId2" Type="http://schemas.openxmlformats.org/officeDocument/2006/relationships/tags" Target="../tags/tag163.xml"/><Relationship Id="rId16" Type="http://schemas.openxmlformats.org/officeDocument/2006/relationships/tags" Target="../tags/tag177.xml"/><Relationship Id="rId20" Type="http://schemas.openxmlformats.org/officeDocument/2006/relationships/tags" Target="../tags/tag181.xml"/><Relationship Id="rId1" Type="http://schemas.openxmlformats.org/officeDocument/2006/relationships/tags" Target="../tags/tag162.xml"/><Relationship Id="rId6" Type="http://schemas.openxmlformats.org/officeDocument/2006/relationships/tags" Target="../tags/tag167.xml"/><Relationship Id="rId11" Type="http://schemas.openxmlformats.org/officeDocument/2006/relationships/tags" Target="../tags/tag172.xml"/><Relationship Id="rId5" Type="http://schemas.openxmlformats.org/officeDocument/2006/relationships/tags" Target="../tags/tag166.xml"/><Relationship Id="rId15" Type="http://schemas.openxmlformats.org/officeDocument/2006/relationships/tags" Target="../tags/tag176.xml"/><Relationship Id="rId10" Type="http://schemas.openxmlformats.org/officeDocument/2006/relationships/tags" Target="../tags/tag171.xml"/><Relationship Id="rId19" Type="http://schemas.openxmlformats.org/officeDocument/2006/relationships/tags" Target="../tags/tag180.xml"/><Relationship Id="rId4" Type="http://schemas.openxmlformats.org/officeDocument/2006/relationships/tags" Target="../tags/tag165.xml"/><Relationship Id="rId9" Type="http://schemas.openxmlformats.org/officeDocument/2006/relationships/tags" Target="../tags/tag170.xml"/><Relationship Id="rId14" Type="http://schemas.openxmlformats.org/officeDocument/2006/relationships/tags" Target="../tags/tag175.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82.xml"/></Relationships>
</file>

<file path=ppt/slides/_rels/slide24.xml.rels><?xml version="1.0" encoding="UTF-8" standalone="yes"?>
<Relationships xmlns="http://schemas.openxmlformats.org/package/2006/relationships"><Relationship Id="rId3" Type="http://schemas.openxmlformats.org/officeDocument/2006/relationships/tags" Target="../tags/tag185.xml"/><Relationship Id="rId7" Type="http://schemas.openxmlformats.org/officeDocument/2006/relationships/slideLayout" Target="../slideLayouts/slideLayout4.xml"/><Relationship Id="rId2" Type="http://schemas.openxmlformats.org/officeDocument/2006/relationships/tags" Target="../tags/tag184.xml"/><Relationship Id="rId1" Type="http://schemas.openxmlformats.org/officeDocument/2006/relationships/tags" Target="../tags/tag183.xml"/><Relationship Id="rId6" Type="http://schemas.openxmlformats.org/officeDocument/2006/relationships/tags" Target="../tags/tag188.xml"/><Relationship Id="rId5" Type="http://schemas.openxmlformats.org/officeDocument/2006/relationships/tags" Target="../tags/tag187.xml"/><Relationship Id="rId4" Type="http://schemas.openxmlformats.org/officeDocument/2006/relationships/tags" Target="../tags/tag186.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89.xml"/></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8.wmf"/><Relationship Id="rId18" Type="http://schemas.openxmlformats.org/officeDocument/2006/relationships/oleObject" Target="../embeddings/oleObject9.bin"/><Relationship Id="rId26" Type="http://schemas.openxmlformats.org/officeDocument/2006/relationships/image" Target="../media/image25.wmf"/><Relationship Id="rId3" Type="http://schemas.openxmlformats.org/officeDocument/2006/relationships/image" Target="../media/image13.wmf"/><Relationship Id="rId21" Type="http://schemas.openxmlformats.org/officeDocument/2006/relationships/image" Target="../media/image22.wmf"/><Relationship Id="rId7" Type="http://schemas.openxmlformats.org/officeDocument/2006/relationships/image" Target="../media/image15.wmf"/><Relationship Id="rId12" Type="http://schemas.openxmlformats.org/officeDocument/2006/relationships/oleObject" Target="../embeddings/oleObject6.bin"/><Relationship Id="rId17" Type="http://schemas.openxmlformats.org/officeDocument/2006/relationships/image" Target="../media/image20.wmf"/><Relationship Id="rId25" Type="http://schemas.openxmlformats.org/officeDocument/2006/relationships/oleObject" Target="../embeddings/oleObject12.bin"/><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4.xml"/><Relationship Id="rId6" Type="http://schemas.openxmlformats.org/officeDocument/2006/relationships/oleObject" Target="../embeddings/oleObject3.bin"/><Relationship Id="rId11" Type="http://schemas.openxmlformats.org/officeDocument/2006/relationships/image" Target="../media/image17.wmf"/><Relationship Id="rId24" Type="http://schemas.openxmlformats.org/officeDocument/2006/relationships/image" Target="../media/image24.wmf"/><Relationship Id="rId5" Type="http://schemas.openxmlformats.org/officeDocument/2006/relationships/image" Target="../media/image14.wmf"/><Relationship Id="rId15" Type="http://schemas.openxmlformats.org/officeDocument/2006/relationships/image" Target="../media/image19.wmf"/><Relationship Id="rId23" Type="http://schemas.openxmlformats.org/officeDocument/2006/relationships/image" Target="../media/image23.wmf"/><Relationship Id="rId10" Type="http://schemas.openxmlformats.org/officeDocument/2006/relationships/oleObject" Target="../embeddings/oleObject5.bin"/><Relationship Id="rId19" Type="http://schemas.openxmlformats.org/officeDocument/2006/relationships/image" Target="../media/image21.wmf"/><Relationship Id="rId4" Type="http://schemas.openxmlformats.org/officeDocument/2006/relationships/oleObject" Target="../embeddings/oleObject2.bin"/><Relationship Id="rId9" Type="http://schemas.openxmlformats.org/officeDocument/2006/relationships/image" Target="../media/image16.wmf"/><Relationship Id="rId14" Type="http://schemas.openxmlformats.org/officeDocument/2006/relationships/oleObject" Target="../embeddings/oleObject7.bin"/><Relationship Id="rId22" Type="http://schemas.openxmlformats.org/officeDocument/2006/relationships/oleObject" Target="../embeddings/oleObject11.bin"/><Relationship Id="rId27" Type="http://schemas.openxmlformats.org/officeDocument/2006/relationships/image" Target="../media/image26.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8" Type="http://schemas.openxmlformats.org/officeDocument/2006/relationships/tags" Target="../tags/tag197.xml"/><Relationship Id="rId3" Type="http://schemas.openxmlformats.org/officeDocument/2006/relationships/tags" Target="../tags/tag192.xml"/><Relationship Id="rId7" Type="http://schemas.openxmlformats.org/officeDocument/2006/relationships/tags" Target="../tags/tag196.xml"/><Relationship Id="rId2" Type="http://schemas.openxmlformats.org/officeDocument/2006/relationships/tags" Target="../tags/tag191.xml"/><Relationship Id="rId1" Type="http://schemas.openxmlformats.org/officeDocument/2006/relationships/tags" Target="../tags/tag190.xml"/><Relationship Id="rId6" Type="http://schemas.openxmlformats.org/officeDocument/2006/relationships/tags" Target="../tags/tag195.xml"/><Relationship Id="rId11" Type="http://schemas.openxmlformats.org/officeDocument/2006/relationships/slideLayout" Target="../slideLayouts/slideLayout4.xml"/><Relationship Id="rId5" Type="http://schemas.openxmlformats.org/officeDocument/2006/relationships/tags" Target="../tags/tag194.xml"/><Relationship Id="rId10" Type="http://schemas.openxmlformats.org/officeDocument/2006/relationships/tags" Target="../tags/tag199.xml"/><Relationship Id="rId4" Type="http://schemas.openxmlformats.org/officeDocument/2006/relationships/tags" Target="../tags/tag193.xml"/><Relationship Id="rId9" Type="http://schemas.openxmlformats.org/officeDocument/2006/relationships/tags" Target="../tags/tag198.xml"/></Relationships>
</file>

<file path=ppt/slides/_rels/slide29.xml.rels><?xml version="1.0" encoding="UTF-8" standalone="yes"?>
<Relationships xmlns="http://schemas.openxmlformats.org/package/2006/relationships"><Relationship Id="rId8" Type="http://schemas.openxmlformats.org/officeDocument/2006/relationships/tags" Target="../tags/tag207.xml"/><Relationship Id="rId3" Type="http://schemas.openxmlformats.org/officeDocument/2006/relationships/tags" Target="../tags/tag202.xml"/><Relationship Id="rId7" Type="http://schemas.openxmlformats.org/officeDocument/2006/relationships/tags" Target="../tags/tag206.xml"/><Relationship Id="rId2" Type="http://schemas.openxmlformats.org/officeDocument/2006/relationships/tags" Target="../tags/tag201.xml"/><Relationship Id="rId1" Type="http://schemas.openxmlformats.org/officeDocument/2006/relationships/tags" Target="../tags/tag200.xml"/><Relationship Id="rId6" Type="http://schemas.openxmlformats.org/officeDocument/2006/relationships/tags" Target="../tags/tag205.xml"/><Relationship Id="rId11" Type="http://schemas.openxmlformats.org/officeDocument/2006/relationships/slideLayout" Target="../slideLayouts/slideLayout4.xml"/><Relationship Id="rId5" Type="http://schemas.openxmlformats.org/officeDocument/2006/relationships/tags" Target="../tags/tag204.xml"/><Relationship Id="rId10" Type="http://schemas.openxmlformats.org/officeDocument/2006/relationships/tags" Target="../tags/tag209.xml"/><Relationship Id="rId4" Type="http://schemas.openxmlformats.org/officeDocument/2006/relationships/tags" Target="../tags/tag203.xml"/><Relationship Id="rId9" Type="http://schemas.openxmlformats.org/officeDocument/2006/relationships/tags" Target="../tags/tag208.xml"/></Relationships>
</file>

<file path=ppt/slides/_rels/slide30.xml.rels><?xml version="1.0" encoding="UTF-8" standalone="yes"?>
<Relationships xmlns="http://schemas.openxmlformats.org/package/2006/relationships"><Relationship Id="rId8" Type="http://schemas.openxmlformats.org/officeDocument/2006/relationships/tags" Target="../tags/tag217.xml"/><Relationship Id="rId3" Type="http://schemas.openxmlformats.org/officeDocument/2006/relationships/tags" Target="../tags/tag212.xml"/><Relationship Id="rId7" Type="http://schemas.openxmlformats.org/officeDocument/2006/relationships/tags" Target="../tags/tag216.xml"/><Relationship Id="rId2" Type="http://schemas.openxmlformats.org/officeDocument/2006/relationships/tags" Target="../tags/tag211.xml"/><Relationship Id="rId1" Type="http://schemas.openxmlformats.org/officeDocument/2006/relationships/tags" Target="../tags/tag210.xml"/><Relationship Id="rId6" Type="http://schemas.openxmlformats.org/officeDocument/2006/relationships/tags" Target="../tags/tag215.xml"/><Relationship Id="rId11" Type="http://schemas.openxmlformats.org/officeDocument/2006/relationships/slideLayout" Target="../slideLayouts/slideLayout4.xml"/><Relationship Id="rId5" Type="http://schemas.openxmlformats.org/officeDocument/2006/relationships/tags" Target="../tags/tag214.xml"/><Relationship Id="rId10" Type="http://schemas.openxmlformats.org/officeDocument/2006/relationships/tags" Target="../tags/tag219.xml"/><Relationship Id="rId4" Type="http://schemas.openxmlformats.org/officeDocument/2006/relationships/tags" Target="../tags/tag213.xml"/><Relationship Id="rId9" Type="http://schemas.openxmlformats.org/officeDocument/2006/relationships/tags" Target="../tags/tag218.xml"/></Relationships>
</file>

<file path=ppt/slides/_rels/slide31.xml.rels><?xml version="1.0" encoding="UTF-8" standalone="yes"?>
<Relationships xmlns="http://schemas.openxmlformats.org/package/2006/relationships"><Relationship Id="rId8" Type="http://schemas.openxmlformats.org/officeDocument/2006/relationships/tags" Target="../tags/tag227.xml"/><Relationship Id="rId13" Type="http://schemas.openxmlformats.org/officeDocument/2006/relationships/tags" Target="../tags/tag232.xml"/><Relationship Id="rId3" Type="http://schemas.openxmlformats.org/officeDocument/2006/relationships/tags" Target="../tags/tag222.xml"/><Relationship Id="rId7" Type="http://schemas.openxmlformats.org/officeDocument/2006/relationships/tags" Target="../tags/tag226.xml"/><Relationship Id="rId12" Type="http://schemas.openxmlformats.org/officeDocument/2006/relationships/tags" Target="../tags/tag231.xml"/><Relationship Id="rId2" Type="http://schemas.openxmlformats.org/officeDocument/2006/relationships/tags" Target="../tags/tag221.xml"/><Relationship Id="rId1" Type="http://schemas.openxmlformats.org/officeDocument/2006/relationships/tags" Target="../tags/tag220.xml"/><Relationship Id="rId6" Type="http://schemas.openxmlformats.org/officeDocument/2006/relationships/tags" Target="../tags/tag225.xml"/><Relationship Id="rId11" Type="http://schemas.openxmlformats.org/officeDocument/2006/relationships/tags" Target="../tags/tag230.xml"/><Relationship Id="rId5" Type="http://schemas.openxmlformats.org/officeDocument/2006/relationships/tags" Target="../tags/tag224.xml"/><Relationship Id="rId15" Type="http://schemas.openxmlformats.org/officeDocument/2006/relationships/slideLayout" Target="../slideLayouts/slideLayout4.xml"/><Relationship Id="rId10" Type="http://schemas.openxmlformats.org/officeDocument/2006/relationships/tags" Target="../tags/tag229.xml"/><Relationship Id="rId4" Type="http://schemas.openxmlformats.org/officeDocument/2006/relationships/tags" Target="../tags/tag223.xml"/><Relationship Id="rId9" Type="http://schemas.openxmlformats.org/officeDocument/2006/relationships/tags" Target="../tags/tag228.xml"/><Relationship Id="rId14" Type="http://schemas.openxmlformats.org/officeDocument/2006/relationships/tags" Target="../tags/tag23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8" Type="http://schemas.openxmlformats.org/officeDocument/2006/relationships/tags" Target="../tags/tag241.xml"/><Relationship Id="rId13" Type="http://schemas.openxmlformats.org/officeDocument/2006/relationships/slideLayout" Target="../slideLayouts/slideLayout4.xml"/><Relationship Id="rId3" Type="http://schemas.openxmlformats.org/officeDocument/2006/relationships/tags" Target="../tags/tag236.xml"/><Relationship Id="rId7" Type="http://schemas.openxmlformats.org/officeDocument/2006/relationships/tags" Target="../tags/tag240.xml"/><Relationship Id="rId12" Type="http://schemas.openxmlformats.org/officeDocument/2006/relationships/tags" Target="../tags/tag245.xml"/><Relationship Id="rId2" Type="http://schemas.openxmlformats.org/officeDocument/2006/relationships/tags" Target="../tags/tag235.xml"/><Relationship Id="rId1" Type="http://schemas.openxmlformats.org/officeDocument/2006/relationships/tags" Target="../tags/tag234.xml"/><Relationship Id="rId6" Type="http://schemas.openxmlformats.org/officeDocument/2006/relationships/tags" Target="../tags/tag239.xml"/><Relationship Id="rId11" Type="http://schemas.openxmlformats.org/officeDocument/2006/relationships/tags" Target="../tags/tag244.xml"/><Relationship Id="rId5" Type="http://schemas.openxmlformats.org/officeDocument/2006/relationships/tags" Target="../tags/tag238.xml"/><Relationship Id="rId10" Type="http://schemas.openxmlformats.org/officeDocument/2006/relationships/tags" Target="../tags/tag243.xml"/><Relationship Id="rId4" Type="http://schemas.openxmlformats.org/officeDocument/2006/relationships/tags" Target="../tags/tag237.xml"/><Relationship Id="rId9" Type="http://schemas.openxmlformats.org/officeDocument/2006/relationships/tags" Target="../tags/tag242.xml"/><Relationship Id="rId14" Type="http://schemas.openxmlformats.org/officeDocument/2006/relationships/notesSlide" Target="../notesSlides/notesSlide8.xml"/></Relationships>
</file>

<file path=ppt/slides/_rels/slide40.xml.rels><?xml version="1.0" encoding="UTF-8" standalone="yes"?>
<Relationships xmlns="http://schemas.openxmlformats.org/package/2006/relationships"><Relationship Id="rId8" Type="http://schemas.openxmlformats.org/officeDocument/2006/relationships/tags" Target="../tags/tag253.xml"/><Relationship Id="rId3" Type="http://schemas.openxmlformats.org/officeDocument/2006/relationships/tags" Target="../tags/tag248.xml"/><Relationship Id="rId7" Type="http://schemas.openxmlformats.org/officeDocument/2006/relationships/tags" Target="../tags/tag252.xml"/><Relationship Id="rId2" Type="http://schemas.openxmlformats.org/officeDocument/2006/relationships/tags" Target="../tags/tag247.xml"/><Relationship Id="rId1" Type="http://schemas.openxmlformats.org/officeDocument/2006/relationships/tags" Target="../tags/tag246.xml"/><Relationship Id="rId6" Type="http://schemas.openxmlformats.org/officeDocument/2006/relationships/tags" Target="../tags/tag251.xml"/><Relationship Id="rId11" Type="http://schemas.openxmlformats.org/officeDocument/2006/relationships/image" Target="../media/image28.png"/><Relationship Id="rId5" Type="http://schemas.openxmlformats.org/officeDocument/2006/relationships/tags" Target="../tags/tag250.xml"/><Relationship Id="rId10" Type="http://schemas.openxmlformats.org/officeDocument/2006/relationships/notesSlide" Target="../notesSlides/notesSlide9.xml"/><Relationship Id="rId4" Type="http://schemas.openxmlformats.org/officeDocument/2006/relationships/tags" Target="../tags/tag249.xml"/><Relationship Id="rId9"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tags" Target="../tags/tag256.xml"/><Relationship Id="rId7" Type="http://schemas.openxmlformats.org/officeDocument/2006/relationships/image" Target="../media/image29.png"/><Relationship Id="rId2" Type="http://schemas.openxmlformats.org/officeDocument/2006/relationships/tags" Target="../tags/tag255.xml"/><Relationship Id="rId1" Type="http://schemas.openxmlformats.org/officeDocument/2006/relationships/tags" Target="../tags/tag254.xml"/><Relationship Id="rId6" Type="http://schemas.openxmlformats.org/officeDocument/2006/relationships/notesSlide" Target="../notesSlides/notesSlide10.xml"/><Relationship Id="rId5" Type="http://schemas.openxmlformats.org/officeDocument/2006/relationships/slideLayout" Target="../slideLayouts/slideLayout4.xml"/><Relationship Id="rId4" Type="http://schemas.openxmlformats.org/officeDocument/2006/relationships/tags" Target="../tags/tag257.xml"/></Relationships>
</file>

<file path=ppt/slides/_rels/slide42.xml.rels><?xml version="1.0" encoding="UTF-8" standalone="yes"?>
<Relationships xmlns="http://schemas.openxmlformats.org/package/2006/relationships"><Relationship Id="rId3" Type="http://schemas.openxmlformats.org/officeDocument/2006/relationships/tags" Target="../tags/tag260.xml"/><Relationship Id="rId2" Type="http://schemas.openxmlformats.org/officeDocument/2006/relationships/tags" Target="../tags/tag259.xml"/><Relationship Id="rId1" Type="http://schemas.openxmlformats.org/officeDocument/2006/relationships/tags" Target="../tags/tag258.xml"/><Relationship Id="rId5" Type="http://schemas.openxmlformats.org/officeDocument/2006/relationships/slideLayout" Target="../slideLayouts/slideLayout4.xml"/><Relationship Id="rId4" Type="http://schemas.openxmlformats.org/officeDocument/2006/relationships/tags" Target="../tags/tag261.xml"/></Relationships>
</file>

<file path=ppt/slides/_rels/slide43.xml.rels><?xml version="1.0" encoding="UTF-8" standalone="yes"?>
<Relationships xmlns="http://schemas.openxmlformats.org/package/2006/relationships"><Relationship Id="rId8" Type="http://schemas.openxmlformats.org/officeDocument/2006/relationships/tags" Target="../tags/tag269.xml"/><Relationship Id="rId13" Type="http://schemas.openxmlformats.org/officeDocument/2006/relationships/tags" Target="../tags/tag274.xml"/><Relationship Id="rId18" Type="http://schemas.openxmlformats.org/officeDocument/2006/relationships/notesSlide" Target="../notesSlides/notesSlide11.xml"/><Relationship Id="rId3" Type="http://schemas.openxmlformats.org/officeDocument/2006/relationships/tags" Target="../tags/tag264.xml"/><Relationship Id="rId7" Type="http://schemas.openxmlformats.org/officeDocument/2006/relationships/tags" Target="../tags/tag268.xml"/><Relationship Id="rId12" Type="http://schemas.openxmlformats.org/officeDocument/2006/relationships/tags" Target="../tags/tag273.xml"/><Relationship Id="rId17" Type="http://schemas.openxmlformats.org/officeDocument/2006/relationships/slideLayout" Target="../slideLayouts/slideLayout4.xml"/><Relationship Id="rId2" Type="http://schemas.openxmlformats.org/officeDocument/2006/relationships/tags" Target="../tags/tag263.xml"/><Relationship Id="rId16" Type="http://schemas.openxmlformats.org/officeDocument/2006/relationships/tags" Target="../tags/tag277.xml"/><Relationship Id="rId1" Type="http://schemas.openxmlformats.org/officeDocument/2006/relationships/tags" Target="../tags/tag262.xml"/><Relationship Id="rId6" Type="http://schemas.openxmlformats.org/officeDocument/2006/relationships/tags" Target="../tags/tag267.xml"/><Relationship Id="rId11" Type="http://schemas.openxmlformats.org/officeDocument/2006/relationships/tags" Target="../tags/tag272.xml"/><Relationship Id="rId5" Type="http://schemas.openxmlformats.org/officeDocument/2006/relationships/tags" Target="../tags/tag266.xml"/><Relationship Id="rId15" Type="http://schemas.openxmlformats.org/officeDocument/2006/relationships/tags" Target="../tags/tag276.xml"/><Relationship Id="rId10" Type="http://schemas.openxmlformats.org/officeDocument/2006/relationships/tags" Target="../tags/tag271.xml"/><Relationship Id="rId4" Type="http://schemas.openxmlformats.org/officeDocument/2006/relationships/tags" Target="../tags/tag265.xml"/><Relationship Id="rId9" Type="http://schemas.openxmlformats.org/officeDocument/2006/relationships/tags" Target="../tags/tag270.xml"/><Relationship Id="rId14" Type="http://schemas.openxmlformats.org/officeDocument/2006/relationships/tags" Target="../tags/tag275.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8" Type="http://schemas.openxmlformats.org/officeDocument/2006/relationships/tags" Target="../tags/tag285.xml"/><Relationship Id="rId13" Type="http://schemas.openxmlformats.org/officeDocument/2006/relationships/tags" Target="../tags/tag290.xml"/><Relationship Id="rId3" Type="http://schemas.openxmlformats.org/officeDocument/2006/relationships/tags" Target="../tags/tag280.xml"/><Relationship Id="rId7" Type="http://schemas.openxmlformats.org/officeDocument/2006/relationships/tags" Target="../tags/tag284.xml"/><Relationship Id="rId12" Type="http://schemas.openxmlformats.org/officeDocument/2006/relationships/tags" Target="../tags/tag289.xml"/><Relationship Id="rId2" Type="http://schemas.openxmlformats.org/officeDocument/2006/relationships/tags" Target="../tags/tag279.xml"/><Relationship Id="rId1" Type="http://schemas.openxmlformats.org/officeDocument/2006/relationships/tags" Target="../tags/tag278.xml"/><Relationship Id="rId6" Type="http://schemas.openxmlformats.org/officeDocument/2006/relationships/tags" Target="../tags/tag283.xml"/><Relationship Id="rId11" Type="http://schemas.openxmlformats.org/officeDocument/2006/relationships/tags" Target="../tags/tag288.xml"/><Relationship Id="rId5" Type="http://schemas.openxmlformats.org/officeDocument/2006/relationships/tags" Target="../tags/tag282.xml"/><Relationship Id="rId15" Type="http://schemas.openxmlformats.org/officeDocument/2006/relationships/notesSlide" Target="../notesSlides/notesSlide13.xml"/><Relationship Id="rId10" Type="http://schemas.openxmlformats.org/officeDocument/2006/relationships/tags" Target="../tags/tag287.xml"/><Relationship Id="rId4" Type="http://schemas.openxmlformats.org/officeDocument/2006/relationships/tags" Target="../tags/tag281.xml"/><Relationship Id="rId9" Type="http://schemas.openxmlformats.org/officeDocument/2006/relationships/tags" Target="../tags/tag286.xml"/><Relationship Id="rId14"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9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9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8" Type="http://schemas.openxmlformats.org/officeDocument/2006/relationships/tags" Target="../tags/tag300.xml"/><Relationship Id="rId13" Type="http://schemas.openxmlformats.org/officeDocument/2006/relationships/tags" Target="../tags/tag305.xml"/><Relationship Id="rId18" Type="http://schemas.openxmlformats.org/officeDocument/2006/relationships/tags" Target="../tags/tag310.xml"/><Relationship Id="rId3" Type="http://schemas.openxmlformats.org/officeDocument/2006/relationships/tags" Target="../tags/tag295.xml"/><Relationship Id="rId21" Type="http://schemas.openxmlformats.org/officeDocument/2006/relationships/slideLayout" Target="../slideLayouts/slideLayout3.xml"/><Relationship Id="rId7" Type="http://schemas.openxmlformats.org/officeDocument/2006/relationships/tags" Target="../tags/tag299.xml"/><Relationship Id="rId12" Type="http://schemas.openxmlformats.org/officeDocument/2006/relationships/tags" Target="../tags/tag304.xml"/><Relationship Id="rId17" Type="http://schemas.openxmlformats.org/officeDocument/2006/relationships/tags" Target="../tags/tag309.xml"/><Relationship Id="rId2" Type="http://schemas.openxmlformats.org/officeDocument/2006/relationships/tags" Target="../tags/tag294.xml"/><Relationship Id="rId16" Type="http://schemas.openxmlformats.org/officeDocument/2006/relationships/tags" Target="../tags/tag308.xml"/><Relationship Id="rId20" Type="http://schemas.openxmlformats.org/officeDocument/2006/relationships/tags" Target="../tags/tag312.xml"/><Relationship Id="rId1" Type="http://schemas.openxmlformats.org/officeDocument/2006/relationships/tags" Target="../tags/tag293.xml"/><Relationship Id="rId6" Type="http://schemas.openxmlformats.org/officeDocument/2006/relationships/tags" Target="../tags/tag298.xml"/><Relationship Id="rId11" Type="http://schemas.openxmlformats.org/officeDocument/2006/relationships/tags" Target="../tags/tag303.xml"/><Relationship Id="rId5" Type="http://schemas.openxmlformats.org/officeDocument/2006/relationships/tags" Target="../tags/tag297.xml"/><Relationship Id="rId15" Type="http://schemas.openxmlformats.org/officeDocument/2006/relationships/tags" Target="../tags/tag307.xml"/><Relationship Id="rId10" Type="http://schemas.openxmlformats.org/officeDocument/2006/relationships/tags" Target="../tags/tag302.xml"/><Relationship Id="rId19" Type="http://schemas.openxmlformats.org/officeDocument/2006/relationships/tags" Target="../tags/tag311.xml"/><Relationship Id="rId4" Type="http://schemas.openxmlformats.org/officeDocument/2006/relationships/tags" Target="../tags/tag296.xml"/><Relationship Id="rId9" Type="http://schemas.openxmlformats.org/officeDocument/2006/relationships/tags" Target="../tags/tag301.xml"/><Relationship Id="rId14" Type="http://schemas.openxmlformats.org/officeDocument/2006/relationships/tags" Target="../tags/tag306.xml"/></Relationships>
</file>

<file path=ppt/slides/_rels/slide58.xml.rels><?xml version="1.0" encoding="UTF-8" standalone="yes"?>
<Relationships xmlns="http://schemas.openxmlformats.org/package/2006/relationships"><Relationship Id="rId8" Type="http://schemas.openxmlformats.org/officeDocument/2006/relationships/tags" Target="../tags/tag320.xml"/><Relationship Id="rId3" Type="http://schemas.openxmlformats.org/officeDocument/2006/relationships/tags" Target="../tags/tag315.xml"/><Relationship Id="rId7" Type="http://schemas.openxmlformats.org/officeDocument/2006/relationships/tags" Target="../tags/tag319.xml"/><Relationship Id="rId2" Type="http://schemas.openxmlformats.org/officeDocument/2006/relationships/tags" Target="../tags/tag314.xml"/><Relationship Id="rId1" Type="http://schemas.openxmlformats.org/officeDocument/2006/relationships/tags" Target="../tags/tag313.xml"/><Relationship Id="rId6" Type="http://schemas.openxmlformats.org/officeDocument/2006/relationships/tags" Target="../tags/tag318.xml"/><Relationship Id="rId5" Type="http://schemas.openxmlformats.org/officeDocument/2006/relationships/tags" Target="../tags/tag317.xml"/><Relationship Id="rId10" Type="http://schemas.openxmlformats.org/officeDocument/2006/relationships/notesSlide" Target="../notesSlides/notesSlide19.xml"/><Relationship Id="rId4" Type="http://schemas.openxmlformats.org/officeDocument/2006/relationships/tags" Target="../tags/tag316.xml"/><Relationship Id="rId9"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8" Type="http://schemas.openxmlformats.org/officeDocument/2006/relationships/tags" Target="../tags/tag328.xml"/><Relationship Id="rId3" Type="http://schemas.openxmlformats.org/officeDocument/2006/relationships/tags" Target="../tags/tag323.xml"/><Relationship Id="rId7" Type="http://schemas.openxmlformats.org/officeDocument/2006/relationships/tags" Target="../tags/tag327.xml"/><Relationship Id="rId2" Type="http://schemas.openxmlformats.org/officeDocument/2006/relationships/tags" Target="../tags/tag322.xml"/><Relationship Id="rId1" Type="http://schemas.openxmlformats.org/officeDocument/2006/relationships/tags" Target="../tags/tag321.xml"/><Relationship Id="rId6" Type="http://schemas.openxmlformats.org/officeDocument/2006/relationships/tags" Target="../tags/tag326.xml"/><Relationship Id="rId5" Type="http://schemas.openxmlformats.org/officeDocument/2006/relationships/tags" Target="../tags/tag325.xml"/><Relationship Id="rId10" Type="http://schemas.openxmlformats.org/officeDocument/2006/relationships/notesSlide" Target="../notesSlides/notesSlide20.xml"/><Relationship Id="rId4" Type="http://schemas.openxmlformats.org/officeDocument/2006/relationships/tags" Target="../tags/tag324.xml"/><Relationship Id="rId9"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37.png"/><Relationship Id="rId4" Type="http://schemas.openxmlformats.org/officeDocument/2006/relationships/image" Target="../media/image36.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2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8" Type="http://schemas.openxmlformats.org/officeDocument/2006/relationships/tags" Target="../tags/tag337.xml"/><Relationship Id="rId13" Type="http://schemas.openxmlformats.org/officeDocument/2006/relationships/tags" Target="../tags/tag342.xml"/><Relationship Id="rId18" Type="http://schemas.openxmlformats.org/officeDocument/2006/relationships/tags" Target="../tags/tag347.xml"/><Relationship Id="rId3" Type="http://schemas.openxmlformats.org/officeDocument/2006/relationships/tags" Target="../tags/tag332.xml"/><Relationship Id="rId21" Type="http://schemas.openxmlformats.org/officeDocument/2006/relationships/tags" Target="../tags/tag350.xml"/><Relationship Id="rId7" Type="http://schemas.openxmlformats.org/officeDocument/2006/relationships/tags" Target="../tags/tag336.xml"/><Relationship Id="rId12" Type="http://schemas.openxmlformats.org/officeDocument/2006/relationships/tags" Target="../tags/tag341.xml"/><Relationship Id="rId17" Type="http://schemas.openxmlformats.org/officeDocument/2006/relationships/tags" Target="../tags/tag346.xml"/><Relationship Id="rId2" Type="http://schemas.openxmlformats.org/officeDocument/2006/relationships/tags" Target="../tags/tag331.xml"/><Relationship Id="rId16" Type="http://schemas.openxmlformats.org/officeDocument/2006/relationships/tags" Target="../tags/tag345.xml"/><Relationship Id="rId20" Type="http://schemas.openxmlformats.org/officeDocument/2006/relationships/tags" Target="../tags/tag349.xml"/><Relationship Id="rId1" Type="http://schemas.openxmlformats.org/officeDocument/2006/relationships/tags" Target="../tags/tag330.xml"/><Relationship Id="rId6" Type="http://schemas.openxmlformats.org/officeDocument/2006/relationships/tags" Target="../tags/tag335.xml"/><Relationship Id="rId11" Type="http://schemas.openxmlformats.org/officeDocument/2006/relationships/tags" Target="../tags/tag340.xml"/><Relationship Id="rId5" Type="http://schemas.openxmlformats.org/officeDocument/2006/relationships/tags" Target="../tags/tag334.xml"/><Relationship Id="rId15" Type="http://schemas.openxmlformats.org/officeDocument/2006/relationships/tags" Target="../tags/tag344.xml"/><Relationship Id="rId10" Type="http://schemas.openxmlformats.org/officeDocument/2006/relationships/tags" Target="../tags/tag339.xml"/><Relationship Id="rId19" Type="http://schemas.openxmlformats.org/officeDocument/2006/relationships/tags" Target="../tags/tag348.xml"/><Relationship Id="rId4" Type="http://schemas.openxmlformats.org/officeDocument/2006/relationships/tags" Target="../tags/tag333.xml"/><Relationship Id="rId9" Type="http://schemas.openxmlformats.org/officeDocument/2006/relationships/tags" Target="../tags/tag338.xml"/><Relationship Id="rId14" Type="http://schemas.openxmlformats.org/officeDocument/2006/relationships/tags" Target="../tags/tag343.xml"/><Relationship Id="rId22"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8" Type="http://schemas.openxmlformats.org/officeDocument/2006/relationships/tags" Target="../tags/tag358.xml"/><Relationship Id="rId13" Type="http://schemas.openxmlformats.org/officeDocument/2006/relationships/tags" Target="../tags/tag363.xml"/><Relationship Id="rId18" Type="http://schemas.openxmlformats.org/officeDocument/2006/relationships/tags" Target="../tags/tag368.xml"/><Relationship Id="rId3" Type="http://schemas.openxmlformats.org/officeDocument/2006/relationships/tags" Target="../tags/tag353.xml"/><Relationship Id="rId21" Type="http://schemas.openxmlformats.org/officeDocument/2006/relationships/tags" Target="../tags/tag371.xml"/><Relationship Id="rId7" Type="http://schemas.openxmlformats.org/officeDocument/2006/relationships/tags" Target="../tags/tag357.xml"/><Relationship Id="rId12" Type="http://schemas.openxmlformats.org/officeDocument/2006/relationships/tags" Target="../tags/tag362.xml"/><Relationship Id="rId17" Type="http://schemas.openxmlformats.org/officeDocument/2006/relationships/tags" Target="../tags/tag367.xml"/><Relationship Id="rId2" Type="http://schemas.openxmlformats.org/officeDocument/2006/relationships/tags" Target="../tags/tag352.xml"/><Relationship Id="rId16" Type="http://schemas.openxmlformats.org/officeDocument/2006/relationships/tags" Target="../tags/tag366.xml"/><Relationship Id="rId20" Type="http://schemas.openxmlformats.org/officeDocument/2006/relationships/tags" Target="../tags/tag370.xml"/><Relationship Id="rId1" Type="http://schemas.openxmlformats.org/officeDocument/2006/relationships/tags" Target="../tags/tag351.xml"/><Relationship Id="rId6" Type="http://schemas.openxmlformats.org/officeDocument/2006/relationships/tags" Target="../tags/tag356.xml"/><Relationship Id="rId11" Type="http://schemas.openxmlformats.org/officeDocument/2006/relationships/tags" Target="../tags/tag361.xml"/><Relationship Id="rId5" Type="http://schemas.openxmlformats.org/officeDocument/2006/relationships/tags" Target="../tags/tag355.xml"/><Relationship Id="rId15" Type="http://schemas.openxmlformats.org/officeDocument/2006/relationships/tags" Target="../tags/tag365.xml"/><Relationship Id="rId23" Type="http://schemas.openxmlformats.org/officeDocument/2006/relationships/notesSlide" Target="../notesSlides/notesSlide23.xml"/><Relationship Id="rId10" Type="http://schemas.openxmlformats.org/officeDocument/2006/relationships/tags" Target="../tags/tag360.xml"/><Relationship Id="rId19" Type="http://schemas.openxmlformats.org/officeDocument/2006/relationships/tags" Target="../tags/tag369.xml"/><Relationship Id="rId4" Type="http://schemas.openxmlformats.org/officeDocument/2006/relationships/tags" Target="../tags/tag354.xml"/><Relationship Id="rId9" Type="http://schemas.openxmlformats.org/officeDocument/2006/relationships/tags" Target="../tags/tag359.xml"/><Relationship Id="rId14" Type="http://schemas.openxmlformats.org/officeDocument/2006/relationships/tags" Target="../tags/tag364.xml"/><Relationship Id="rId22"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8" Type="http://schemas.openxmlformats.org/officeDocument/2006/relationships/tags" Target="../tags/tag379.xml"/><Relationship Id="rId13" Type="http://schemas.openxmlformats.org/officeDocument/2006/relationships/tags" Target="../tags/tag384.xml"/><Relationship Id="rId3" Type="http://schemas.openxmlformats.org/officeDocument/2006/relationships/tags" Target="../tags/tag374.xml"/><Relationship Id="rId7" Type="http://schemas.openxmlformats.org/officeDocument/2006/relationships/tags" Target="../tags/tag378.xml"/><Relationship Id="rId12" Type="http://schemas.openxmlformats.org/officeDocument/2006/relationships/tags" Target="../tags/tag383.xml"/><Relationship Id="rId17" Type="http://schemas.openxmlformats.org/officeDocument/2006/relationships/notesSlide" Target="../notesSlides/notesSlide24.xml"/><Relationship Id="rId2" Type="http://schemas.openxmlformats.org/officeDocument/2006/relationships/tags" Target="../tags/tag373.xml"/><Relationship Id="rId16" Type="http://schemas.openxmlformats.org/officeDocument/2006/relationships/slideLayout" Target="../slideLayouts/slideLayout4.xml"/><Relationship Id="rId1" Type="http://schemas.openxmlformats.org/officeDocument/2006/relationships/tags" Target="../tags/tag372.xml"/><Relationship Id="rId6" Type="http://schemas.openxmlformats.org/officeDocument/2006/relationships/tags" Target="../tags/tag377.xml"/><Relationship Id="rId11" Type="http://schemas.openxmlformats.org/officeDocument/2006/relationships/tags" Target="../tags/tag382.xml"/><Relationship Id="rId5" Type="http://schemas.openxmlformats.org/officeDocument/2006/relationships/tags" Target="../tags/tag376.xml"/><Relationship Id="rId15" Type="http://schemas.openxmlformats.org/officeDocument/2006/relationships/tags" Target="../tags/tag386.xml"/><Relationship Id="rId10" Type="http://schemas.openxmlformats.org/officeDocument/2006/relationships/tags" Target="../tags/tag381.xml"/><Relationship Id="rId4" Type="http://schemas.openxmlformats.org/officeDocument/2006/relationships/tags" Target="../tags/tag375.xml"/><Relationship Id="rId9" Type="http://schemas.openxmlformats.org/officeDocument/2006/relationships/tags" Target="../tags/tag380.xml"/><Relationship Id="rId14" Type="http://schemas.openxmlformats.org/officeDocument/2006/relationships/tags" Target="../tags/tag385.xml"/></Relationships>
</file>

<file path=ppt/slides/_rels/slide68.xml.rels><?xml version="1.0" encoding="UTF-8" standalone="yes"?>
<Relationships xmlns="http://schemas.openxmlformats.org/package/2006/relationships"><Relationship Id="rId8" Type="http://schemas.openxmlformats.org/officeDocument/2006/relationships/tags" Target="../tags/tag394.xml"/><Relationship Id="rId13" Type="http://schemas.openxmlformats.org/officeDocument/2006/relationships/tags" Target="../tags/tag399.xml"/><Relationship Id="rId18" Type="http://schemas.openxmlformats.org/officeDocument/2006/relationships/tags" Target="../tags/tag404.xml"/><Relationship Id="rId3" Type="http://schemas.openxmlformats.org/officeDocument/2006/relationships/tags" Target="../tags/tag389.xml"/><Relationship Id="rId21" Type="http://schemas.openxmlformats.org/officeDocument/2006/relationships/slideLayout" Target="../slideLayouts/slideLayout4.xml"/><Relationship Id="rId7" Type="http://schemas.openxmlformats.org/officeDocument/2006/relationships/tags" Target="../tags/tag393.xml"/><Relationship Id="rId12" Type="http://schemas.openxmlformats.org/officeDocument/2006/relationships/tags" Target="../tags/tag398.xml"/><Relationship Id="rId17" Type="http://schemas.openxmlformats.org/officeDocument/2006/relationships/tags" Target="../tags/tag403.xml"/><Relationship Id="rId2" Type="http://schemas.openxmlformats.org/officeDocument/2006/relationships/tags" Target="../tags/tag388.xml"/><Relationship Id="rId16" Type="http://schemas.openxmlformats.org/officeDocument/2006/relationships/tags" Target="../tags/tag402.xml"/><Relationship Id="rId20" Type="http://schemas.openxmlformats.org/officeDocument/2006/relationships/tags" Target="../tags/tag406.xml"/><Relationship Id="rId1" Type="http://schemas.openxmlformats.org/officeDocument/2006/relationships/tags" Target="../tags/tag387.xml"/><Relationship Id="rId6" Type="http://schemas.openxmlformats.org/officeDocument/2006/relationships/tags" Target="../tags/tag392.xml"/><Relationship Id="rId11" Type="http://schemas.openxmlformats.org/officeDocument/2006/relationships/tags" Target="../tags/tag397.xml"/><Relationship Id="rId5" Type="http://schemas.openxmlformats.org/officeDocument/2006/relationships/tags" Target="../tags/tag391.xml"/><Relationship Id="rId15" Type="http://schemas.openxmlformats.org/officeDocument/2006/relationships/tags" Target="../tags/tag401.xml"/><Relationship Id="rId10" Type="http://schemas.openxmlformats.org/officeDocument/2006/relationships/tags" Target="../tags/tag396.xml"/><Relationship Id="rId19" Type="http://schemas.openxmlformats.org/officeDocument/2006/relationships/tags" Target="../tags/tag405.xml"/><Relationship Id="rId4" Type="http://schemas.openxmlformats.org/officeDocument/2006/relationships/tags" Target="../tags/tag390.xml"/><Relationship Id="rId9" Type="http://schemas.openxmlformats.org/officeDocument/2006/relationships/tags" Target="../tags/tag395.xml"/><Relationship Id="rId14" Type="http://schemas.openxmlformats.org/officeDocument/2006/relationships/tags" Target="../tags/tag400.xml"/><Relationship Id="rId22" Type="http://schemas.openxmlformats.org/officeDocument/2006/relationships/notesSlide" Target="../notesSlides/notesSlide25.xml"/></Relationships>
</file>

<file path=ppt/slides/_rels/slide69.xml.rels><?xml version="1.0" encoding="UTF-8" standalone="yes"?>
<Relationships xmlns="http://schemas.openxmlformats.org/package/2006/relationships"><Relationship Id="rId8" Type="http://schemas.openxmlformats.org/officeDocument/2006/relationships/tags" Target="../tags/tag414.xml"/><Relationship Id="rId13" Type="http://schemas.openxmlformats.org/officeDocument/2006/relationships/tags" Target="../tags/tag419.xml"/><Relationship Id="rId18" Type="http://schemas.openxmlformats.org/officeDocument/2006/relationships/tags" Target="../tags/tag424.xml"/><Relationship Id="rId3" Type="http://schemas.openxmlformats.org/officeDocument/2006/relationships/tags" Target="../tags/tag409.xml"/><Relationship Id="rId21" Type="http://schemas.openxmlformats.org/officeDocument/2006/relationships/slideLayout" Target="../slideLayouts/slideLayout4.xml"/><Relationship Id="rId7" Type="http://schemas.openxmlformats.org/officeDocument/2006/relationships/tags" Target="../tags/tag413.xml"/><Relationship Id="rId12" Type="http://schemas.openxmlformats.org/officeDocument/2006/relationships/tags" Target="../tags/tag418.xml"/><Relationship Id="rId17" Type="http://schemas.openxmlformats.org/officeDocument/2006/relationships/tags" Target="../tags/tag423.xml"/><Relationship Id="rId2" Type="http://schemas.openxmlformats.org/officeDocument/2006/relationships/tags" Target="../tags/tag408.xml"/><Relationship Id="rId16" Type="http://schemas.openxmlformats.org/officeDocument/2006/relationships/tags" Target="../tags/tag422.xml"/><Relationship Id="rId20" Type="http://schemas.openxmlformats.org/officeDocument/2006/relationships/tags" Target="../tags/tag426.xml"/><Relationship Id="rId1" Type="http://schemas.openxmlformats.org/officeDocument/2006/relationships/tags" Target="../tags/tag407.xml"/><Relationship Id="rId6" Type="http://schemas.openxmlformats.org/officeDocument/2006/relationships/tags" Target="../tags/tag412.xml"/><Relationship Id="rId11" Type="http://schemas.openxmlformats.org/officeDocument/2006/relationships/tags" Target="../tags/tag417.xml"/><Relationship Id="rId5" Type="http://schemas.openxmlformats.org/officeDocument/2006/relationships/tags" Target="../tags/tag411.xml"/><Relationship Id="rId15" Type="http://schemas.openxmlformats.org/officeDocument/2006/relationships/tags" Target="../tags/tag421.xml"/><Relationship Id="rId10" Type="http://schemas.openxmlformats.org/officeDocument/2006/relationships/tags" Target="../tags/tag416.xml"/><Relationship Id="rId19" Type="http://schemas.openxmlformats.org/officeDocument/2006/relationships/tags" Target="../tags/tag425.xml"/><Relationship Id="rId4" Type="http://schemas.openxmlformats.org/officeDocument/2006/relationships/tags" Target="../tags/tag410.xml"/><Relationship Id="rId9" Type="http://schemas.openxmlformats.org/officeDocument/2006/relationships/tags" Target="../tags/tag415.xml"/><Relationship Id="rId14" Type="http://schemas.openxmlformats.org/officeDocument/2006/relationships/tags" Target="../tags/tag420.xml"/><Relationship Id="rId22" Type="http://schemas.openxmlformats.org/officeDocument/2006/relationships/notesSlide" Target="../notesSlides/notesSlide26.xml"/></Relationships>
</file>

<file path=ppt/slides/_rels/slide70.xml.rels><?xml version="1.0" encoding="UTF-8" standalone="yes"?>
<Relationships xmlns="http://schemas.openxmlformats.org/package/2006/relationships"><Relationship Id="rId8" Type="http://schemas.openxmlformats.org/officeDocument/2006/relationships/tags" Target="../tags/tag434.xml"/><Relationship Id="rId13" Type="http://schemas.openxmlformats.org/officeDocument/2006/relationships/tags" Target="../tags/tag439.xml"/><Relationship Id="rId18" Type="http://schemas.openxmlformats.org/officeDocument/2006/relationships/tags" Target="../tags/tag444.xml"/><Relationship Id="rId3" Type="http://schemas.openxmlformats.org/officeDocument/2006/relationships/tags" Target="../tags/tag429.xml"/><Relationship Id="rId21" Type="http://schemas.openxmlformats.org/officeDocument/2006/relationships/slideLayout" Target="../slideLayouts/slideLayout4.xml"/><Relationship Id="rId7" Type="http://schemas.openxmlformats.org/officeDocument/2006/relationships/tags" Target="../tags/tag433.xml"/><Relationship Id="rId12" Type="http://schemas.openxmlformats.org/officeDocument/2006/relationships/tags" Target="../tags/tag438.xml"/><Relationship Id="rId17" Type="http://schemas.openxmlformats.org/officeDocument/2006/relationships/tags" Target="../tags/tag443.xml"/><Relationship Id="rId2" Type="http://schemas.openxmlformats.org/officeDocument/2006/relationships/tags" Target="../tags/tag428.xml"/><Relationship Id="rId16" Type="http://schemas.openxmlformats.org/officeDocument/2006/relationships/tags" Target="../tags/tag442.xml"/><Relationship Id="rId20" Type="http://schemas.openxmlformats.org/officeDocument/2006/relationships/tags" Target="../tags/tag446.xml"/><Relationship Id="rId1" Type="http://schemas.openxmlformats.org/officeDocument/2006/relationships/tags" Target="../tags/tag427.xml"/><Relationship Id="rId6" Type="http://schemas.openxmlformats.org/officeDocument/2006/relationships/tags" Target="../tags/tag432.xml"/><Relationship Id="rId11" Type="http://schemas.openxmlformats.org/officeDocument/2006/relationships/tags" Target="../tags/tag437.xml"/><Relationship Id="rId5" Type="http://schemas.openxmlformats.org/officeDocument/2006/relationships/tags" Target="../tags/tag431.xml"/><Relationship Id="rId15" Type="http://schemas.openxmlformats.org/officeDocument/2006/relationships/tags" Target="../tags/tag441.xml"/><Relationship Id="rId10" Type="http://schemas.openxmlformats.org/officeDocument/2006/relationships/tags" Target="../tags/tag436.xml"/><Relationship Id="rId19" Type="http://schemas.openxmlformats.org/officeDocument/2006/relationships/tags" Target="../tags/tag445.xml"/><Relationship Id="rId4" Type="http://schemas.openxmlformats.org/officeDocument/2006/relationships/tags" Target="../tags/tag430.xml"/><Relationship Id="rId9" Type="http://schemas.openxmlformats.org/officeDocument/2006/relationships/tags" Target="../tags/tag435.xml"/><Relationship Id="rId14" Type="http://schemas.openxmlformats.org/officeDocument/2006/relationships/tags" Target="../tags/tag440.xml"/><Relationship Id="rId22" Type="http://schemas.openxmlformats.org/officeDocument/2006/relationships/notesSlide" Target="../notesSlides/notesSlide27.xml"/></Relationships>
</file>

<file path=ppt/slides/_rels/slide71.xml.rels><?xml version="1.0" encoding="UTF-8" standalone="yes"?>
<Relationships xmlns="http://schemas.openxmlformats.org/package/2006/relationships"><Relationship Id="rId8" Type="http://schemas.openxmlformats.org/officeDocument/2006/relationships/image" Target="../media/image44.jpeg"/><Relationship Id="rId13" Type="http://schemas.openxmlformats.org/officeDocument/2006/relationships/image" Target="../media/image49.jpeg"/><Relationship Id="rId3" Type="http://schemas.openxmlformats.org/officeDocument/2006/relationships/image" Target="../media/image39.jpeg"/><Relationship Id="rId7" Type="http://schemas.openxmlformats.org/officeDocument/2006/relationships/image" Target="../media/image43.jpeg"/><Relationship Id="rId12" Type="http://schemas.openxmlformats.org/officeDocument/2006/relationships/image" Target="../media/image48.jpeg"/><Relationship Id="rId2" Type="http://schemas.openxmlformats.org/officeDocument/2006/relationships/image" Target="../media/image38.jpeg"/><Relationship Id="rId1" Type="http://schemas.openxmlformats.org/officeDocument/2006/relationships/slideLayout" Target="../slideLayouts/slideLayout5.xml"/><Relationship Id="rId6" Type="http://schemas.openxmlformats.org/officeDocument/2006/relationships/image" Target="../media/image42.jpeg"/><Relationship Id="rId11" Type="http://schemas.openxmlformats.org/officeDocument/2006/relationships/image" Target="../media/image47.jpeg"/><Relationship Id="rId5" Type="http://schemas.openxmlformats.org/officeDocument/2006/relationships/image" Target="../media/image41.jpeg"/><Relationship Id="rId15" Type="http://schemas.openxmlformats.org/officeDocument/2006/relationships/image" Target="../media/image51.jpeg"/><Relationship Id="rId10" Type="http://schemas.openxmlformats.org/officeDocument/2006/relationships/image" Target="../media/image46.jpeg"/><Relationship Id="rId4" Type="http://schemas.openxmlformats.org/officeDocument/2006/relationships/image" Target="../media/image40.jpeg"/><Relationship Id="rId9" Type="http://schemas.openxmlformats.org/officeDocument/2006/relationships/image" Target="../media/image45.jpeg"/><Relationship Id="rId14" Type="http://schemas.openxmlformats.org/officeDocument/2006/relationships/image" Target="../media/image50.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8" Type="http://schemas.openxmlformats.org/officeDocument/2006/relationships/tags" Target="../tags/tag454.xml"/><Relationship Id="rId13" Type="http://schemas.openxmlformats.org/officeDocument/2006/relationships/tags" Target="../tags/tag459.xml"/><Relationship Id="rId18" Type="http://schemas.openxmlformats.org/officeDocument/2006/relationships/tags" Target="../tags/tag464.xml"/><Relationship Id="rId26" Type="http://schemas.openxmlformats.org/officeDocument/2006/relationships/slideLayout" Target="../slideLayouts/slideLayout4.xml"/><Relationship Id="rId3" Type="http://schemas.openxmlformats.org/officeDocument/2006/relationships/tags" Target="../tags/tag449.xml"/><Relationship Id="rId21" Type="http://schemas.openxmlformats.org/officeDocument/2006/relationships/tags" Target="../tags/tag467.xml"/><Relationship Id="rId7" Type="http://schemas.openxmlformats.org/officeDocument/2006/relationships/tags" Target="../tags/tag453.xml"/><Relationship Id="rId12" Type="http://schemas.openxmlformats.org/officeDocument/2006/relationships/tags" Target="../tags/tag458.xml"/><Relationship Id="rId17" Type="http://schemas.openxmlformats.org/officeDocument/2006/relationships/tags" Target="../tags/tag463.xml"/><Relationship Id="rId25" Type="http://schemas.openxmlformats.org/officeDocument/2006/relationships/tags" Target="../tags/tag471.xml"/><Relationship Id="rId2" Type="http://schemas.openxmlformats.org/officeDocument/2006/relationships/tags" Target="../tags/tag448.xml"/><Relationship Id="rId16" Type="http://schemas.openxmlformats.org/officeDocument/2006/relationships/tags" Target="../tags/tag462.xml"/><Relationship Id="rId20" Type="http://schemas.openxmlformats.org/officeDocument/2006/relationships/tags" Target="../tags/tag466.xml"/><Relationship Id="rId1" Type="http://schemas.openxmlformats.org/officeDocument/2006/relationships/tags" Target="../tags/tag447.xml"/><Relationship Id="rId6" Type="http://schemas.openxmlformats.org/officeDocument/2006/relationships/tags" Target="../tags/tag452.xml"/><Relationship Id="rId11" Type="http://schemas.openxmlformats.org/officeDocument/2006/relationships/tags" Target="../tags/tag457.xml"/><Relationship Id="rId24" Type="http://schemas.openxmlformats.org/officeDocument/2006/relationships/tags" Target="../tags/tag470.xml"/><Relationship Id="rId5" Type="http://schemas.openxmlformats.org/officeDocument/2006/relationships/tags" Target="../tags/tag451.xml"/><Relationship Id="rId15" Type="http://schemas.openxmlformats.org/officeDocument/2006/relationships/tags" Target="../tags/tag461.xml"/><Relationship Id="rId23" Type="http://schemas.openxmlformats.org/officeDocument/2006/relationships/tags" Target="../tags/tag469.xml"/><Relationship Id="rId10" Type="http://schemas.openxmlformats.org/officeDocument/2006/relationships/tags" Target="../tags/tag456.xml"/><Relationship Id="rId19" Type="http://schemas.openxmlformats.org/officeDocument/2006/relationships/tags" Target="../tags/tag465.xml"/><Relationship Id="rId4" Type="http://schemas.openxmlformats.org/officeDocument/2006/relationships/tags" Target="../tags/tag450.xml"/><Relationship Id="rId9" Type="http://schemas.openxmlformats.org/officeDocument/2006/relationships/tags" Target="../tags/tag455.xml"/><Relationship Id="rId14" Type="http://schemas.openxmlformats.org/officeDocument/2006/relationships/tags" Target="../tags/tag460.xml"/><Relationship Id="rId22" Type="http://schemas.openxmlformats.org/officeDocument/2006/relationships/tags" Target="../tags/tag468.xml"/><Relationship Id="rId27" Type="http://schemas.openxmlformats.org/officeDocument/2006/relationships/notesSlide" Target="../notesSlides/notesSlide30.xml"/></Relationships>
</file>

<file path=ppt/slides/_rels/slide8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8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8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image" Target="../media/image62.emf"/><Relationship Id="rId4" Type="http://schemas.openxmlformats.org/officeDocument/2006/relationships/oleObject" Target="../embeddings/oleObject13.bin"/></Relationships>
</file>

<file path=ppt/slides/_rels/slide8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4.xml"/><Relationship Id="rId1" Type="http://schemas.openxmlformats.org/officeDocument/2006/relationships/slideLayout" Target="../slideLayouts/slideLayout4.xml"/><Relationship Id="rId5" Type="http://schemas.openxmlformats.org/officeDocument/2006/relationships/image" Target="../media/image65.png"/><Relationship Id="rId4" Type="http://schemas.openxmlformats.org/officeDocument/2006/relationships/image" Target="../media/image64.png"/></Relationships>
</file>

<file path=ppt/slides/_rels/slide8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5.xml"/><Relationship Id="rId1" Type="http://schemas.openxmlformats.org/officeDocument/2006/relationships/slideLayout" Target="../slideLayouts/slideLayout4.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88.xml.rels><?xml version="1.0" encoding="UTF-8" standalone="yes"?>
<Relationships xmlns="http://schemas.openxmlformats.org/package/2006/relationships"><Relationship Id="rId8" Type="http://schemas.openxmlformats.org/officeDocument/2006/relationships/tags" Target="../tags/tag479.xml"/><Relationship Id="rId13" Type="http://schemas.openxmlformats.org/officeDocument/2006/relationships/tags" Target="../tags/tag484.xml"/><Relationship Id="rId18" Type="http://schemas.openxmlformats.org/officeDocument/2006/relationships/notesSlide" Target="../notesSlides/notesSlide36.xml"/><Relationship Id="rId3" Type="http://schemas.openxmlformats.org/officeDocument/2006/relationships/tags" Target="../tags/tag474.xml"/><Relationship Id="rId7" Type="http://schemas.openxmlformats.org/officeDocument/2006/relationships/tags" Target="../tags/tag478.xml"/><Relationship Id="rId12" Type="http://schemas.openxmlformats.org/officeDocument/2006/relationships/tags" Target="../tags/tag483.xml"/><Relationship Id="rId17" Type="http://schemas.openxmlformats.org/officeDocument/2006/relationships/slideLayout" Target="../slideLayouts/slideLayout4.xml"/><Relationship Id="rId2" Type="http://schemas.openxmlformats.org/officeDocument/2006/relationships/tags" Target="../tags/tag473.xml"/><Relationship Id="rId16" Type="http://schemas.openxmlformats.org/officeDocument/2006/relationships/tags" Target="../tags/tag487.xml"/><Relationship Id="rId1" Type="http://schemas.openxmlformats.org/officeDocument/2006/relationships/tags" Target="../tags/tag472.xml"/><Relationship Id="rId6" Type="http://schemas.openxmlformats.org/officeDocument/2006/relationships/tags" Target="../tags/tag477.xml"/><Relationship Id="rId11" Type="http://schemas.openxmlformats.org/officeDocument/2006/relationships/tags" Target="../tags/tag482.xml"/><Relationship Id="rId5" Type="http://schemas.openxmlformats.org/officeDocument/2006/relationships/tags" Target="../tags/tag476.xml"/><Relationship Id="rId15" Type="http://schemas.openxmlformats.org/officeDocument/2006/relationships/tags" Target="../tags/tag486.xml"/><Relationship Id="rId10" Type="http://schemas.openxmlformats.org/officeDocument/2006/relationships/tags" Target="../tags/tag481.xml"/><Relationship Id="rId4" Type="http://schemas.openxmlformats.org/officeDocument/2006/relationships/tags" Target="../tags/tag475.xml"/><Relationship Id="rId9" Type="http://schemas.openxmlformats.org/officeDocument/2006/relationships/tags" Target="../tags/tag480.xml"/><Relationship Id="rId14" Type="http://schemas.openxmlformats.org/officeDocument/2006/relationships/tags" Target="../tags/tag485.xml"/></Relationships>
</file>

<file path=ppt/slides/_rels/slide8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7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8" Type="http://schemas.openxmlformats.org/officeDocument/2006/relationships/tags" Target="../tags/tag495.xml"/><Relationship Id="rId13" Type="http://schemas.openxmlformats.org/officeDocument/2006/relationships/tags" Target="../tags/tag500.xml"/><Relationship Id="rId3" Type="http://schemas.openxmlformats.org/officeDocument/2006/relationships/tags" Target="../tags/tag490.xml"/><Relationship Id="rId7" Type="http://schemas.openxmlformats.org/officeDocument/2006/relationships/tags" Target="../tags/tag494.xml"/><Relationship Id="rId12" Type="http://schemas.openxmlformats.org/officeDocument/2006/relationships/tags" Target="../tags/tag499.xml"/><Relationship Id="rId2" Type="http://schemas.openxmlformats.org/officeDocument/2006/relationships/tags" Target="../tags/tag489.xml"/><Relationship Id="rId16" Type="http://schemas.openxmlformats.org/officeDocument/2006/relationships/notesSlide" Target="../notesSlides/notesSlide41.xml"/><Relationship Id="rId1" Type="http://schemas.openxmlformats.org/officeDocument/2006/relationships/tags" Target="../tags/tag488.xml"/><Relationship Id="rId6" Type="http://schemas.openxmlformats.org/officeDocument/2006/relationships/tags" Target="../tags/tag493.xml"/><Relationship Id="rId11" Type="http://schemas.openxmlformats.org/officeDocument/2006/relationships/tags" Target="../tags/tag498.xml"/><Relationship Id="rId5" Type="http://schemas.openxmlformats.org/officeDocument/2006/relationships/tags" Target="../tags/tag492.xml"/><Relationship Id="rId15" Type="http://schemas.openxmlformats.org/officeDocument/2006/relationships/slideLayout" Target="../slideLayouts/slideLayout4.xml"/><Relationship Id="rId10" Type="http://schemas.openxmlformats.org/officeDocument/2006/relationships/tags" Target="../tags/tag497.xml"/><Relationship Id="rId4" Type="http://schemas.openxmlformats.org/officeDocument/2006/relationships/tags" Target="../tags/tag491.xml"/><Relationship Id="rId9" Type="http://schemas.openxmlformats.org/officeDocument/2006/relationships/tags" Target="../tags/tag496.xml"/><Relationship Id="rId14" Type="http://schemas.openxmlformats.org/officeDocument/2006/relationships/tags" Target="../tags/tag501.xml"/></Relationships>
</file>

<file path=ppt/slides/_rels/slide96.xml.rels><?xml version="1.0" encoding="UTF-8" standalone="yes"?>
<Relationships xmlns="http://schemas.openxmlformats.org/package/2006/relationships"><Relationship Id="rId8" Type="http://schemas.openxmlformats.org/officeDocument/2006/relationships/notesSlide" Target="../notesSlides/notesSlide42.xml"/><Relationship Id="rId3" Type="http://schemas.openxmlformats.org/officeDocument/2006/relationships/tags" Target="../tags/tag504.xml"/><Relationship Id="rId7" Type="http://schemas.openxmlformats.org/officeDocument/2006/relationships/slideLayout" Target="../slideLayouts/slideLayout4.xml"/><Relationship Id="rId2" Type="http://schemas.openxmlformats.org/officeDocument/2006/relationships/tags" Target="../tags/tag503.xml"/><Relationship Id="rId1" Type="http://schemas.openxmlformats.org/officeDocument/2006/relationships/tags" Target="../tags/tag502.xml"/><Relationship Id="rId6" Type="http://schemas.openxmlformats.org/officeDocument/2006/relationships/tags" Target="../tags/tag507.xml"/><Relationship Id="rId5" Type="http://schemas.openxmlformats.org/officeDocument/2006/relationships/tags" Target="../tags/tag506.xml"/><Relationship Id="rId4" Type="http://schemas.openxmlformats.org/officeDocument/2006/relationships/tags" Target="../tags/tag505.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08.xml"/></Relationships>
</file>

<file path=ppt/slides/_rels/slide98.xml.rels><?xml version="1.0" encoding="UTF-8" standalone="yes"?>
<Relationships xmlns="http://schemas.openxmlformats.org/package/2006/relationships"><Relationship Id="rId8" Type="http://schemas.openxmlformats.org/officeDocument/2006/relationships/tags" Target="../tags/tag516.xml"/><Relationship Id="rId13" Type="http://schemas.openxmlformats.org/officeDocument/2006/relationships/tags" Target="../tags/tag521.xml"/><Relationship Id="rId18" Type="http://schemas.openxmlformats.org/officeDocument/2006/relationships/tags" Target="../tags/tag526.xml"/><Relationship Id="rId3" Type="http://schemas.openxmlformats.org/officeDocument/2006/relationships/tags" Target="../tags/tag511.xml"/><Relationship Id="rId21" Type="http://schemas.openxmlformats.org/officeDocument/2006/relationships/slideLayout" Target="../slideLayouts/slideLayout4.xml"/><Relationship Id="rId7" Type="http://schemas.openxmlformats.org/officeDocument/2006/relationships/tags" Target="../tags/tag515.xml"/><Relationship Id="rId12" Type="http://schemas.openxmlformats.org/officeDocument/2006/relationships/tags" Target="../tags/tag520.xml"/><Relationship Id="rId17" Type="http://schemas.openxmlformats.org/officeDocument/2006/relationships/tags" Target="../tags/tag525.xml"/><Relationship Id="rId2" Type="http://schemas.openxmlformats.org/officeDocument/2006/relationships/tags" Target="../tags/tag510.xml"/><Relationship Id="rId16" Type="http://schemas.openxmlformats.org/officeDocument/2006/relationships/tags" Target="../tags/tag524.xml"/><Relationship Id="rId20" Type="http://schemas.openxmlformats.org/officeDocument/2006/relationships/tags" Target="../tags/tag528.xml"/><Relationship Id="rId1" Type="http://schemas.openxmlformats.org/officeDocument/2006/relationships/tags" Target="../tags/tag509.xml"/><Relationship Id="rId6" Type="http://schemas.openxmlformats.org/officeDocument/2006/relationships/tags" Target="../tags/tag514.xml"/><Relationship Id="rId11" Type="http://schemas.openxmlformats.org/officeDocument/2006/relationships/tags" Target="../tags/tag519.xml"/><Relationship Id="rId5" Type="http://schemas.openxmlformats.org/officeDocument/2006/relationships/tags" Target="../tags/tag513.xml"/><Relationship Id="rId15" Type="http://schemas.openxmlformats.org/officeDocument/2006/relationships/tags" Target="../tags/tag523.xml"/><Relationship Id="rId10" Type="http://schemas.openxmlformats.org/officeDocument/2006/relationships/tags" Target="../tags/tag518.xml"/><Relationship Id="rId19" Type="http://schemas.openxmlformats.org/officeDocument/2006/relationships/tags" Target="../tags/tag527.xml"/><Relationship Id="rId4" Type="http://schemas.openxmlformats.org/officeDocument/2006/relationships/tags" Target="../tags/tag512.xml"/><Relationship Id="rId9" Type="http://schemas.openxmlformats.org/officeDocument/2006/relationships/tags" Target="../tags/tag517.xml"/><Relationship Id="rId14" Type="http://schemas.openxmlformats.org/officeDocument/2006/relationships/tags" Target="../tags/tag522.xml"/><Relationship Id="rId22" Type="http://schemas.openxmlformats.org/officeDocument/2006/relationships/notesSlide" Target="../notesSlides/notesSlide4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8" Type="http://schemas.openxmlformats.org/officeDocument/2006/relationships/notesSlide" Target="../notesSlides/notesSlide45.xml"/><Relationship Id="rId3" Type="http://schemas.openxmlformats.org/officeDocument/2006/relationships/tags" Target="../tags/tag531.xml"/><Relationship Id="rId7" Type="http://schemas.openxmlformats.org/officeDocument/2006/relationships/slideLayout" Target="../slideLayouts/slideLayout4.xml"/><Relationship Id="rId2" Type="http://schemas.openxmlformats.org/officeDocument/2006/relationships/tags" Target="../tags/tag530.xml"/><Relationship Id="rId1" Type="http://schemas.openxmlformats.org/officeDocument/2006/relationships/tags" Target="../tags/tag529.xml"/><Relationship Id="rId6" Type="http://schemas.openxmlformats.org/officeDocument/2006/relationships/tags" Target="../tags/tag534.xml"/><Relationship Id="rId5" Type="http://schemas.openxmlformats.org/officeDocument/2006/relationships/tags" Target="../tags/tag533.xml"/><Relationship Id="rId4" Type="http://schemas.openxmlformats.org/officeDocument/2006/relationships/tags" Target="../tags/tag532.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4.xml"/><Relationship Id="rId1" Type="http://schemas.openxmlformats.org/officeDocument/2006/relationships/tags" Target="../tags/tag535.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8" Type="http://schemas.openxmlformats.org/officeDocument/2006/relationships/tags" Target="../tags/tag543.xml"/><Relationship Id="rId13" Type="http://schemas.openxmlformats.org/officeDocument/2006/relationships/tags" Target="../tags/tag548.xml"/><Relationship Id="rId3" Type="http://schemas.openxmlformats.org/officeDocument/2006/relationships/tags" Target="../tags/tag538.xml"/><Relationship Id="rId7" Type="http://schemas.openxmlformats.org/officeDocument/2006/relationships/tags" Target="../tags/tag542.xml"/><Relationship Id="rId12" Type="http://schemas.openxmlformats.org/officeDocument/2006/relationships/tags" Target="../tags/tag547.xml"/><Relationship Id="rId2" Type="http://schemas.openxmlformats.org/officeDocument/2006/relationships/tags" Target="../tags/tag537.xml"/><Relationship Id="rId16" Type="http://schemas.openxmlformats.org/officeDocument/2006/relationships/notesSlide" Target="../notesSlides/notesSlide49.xml"/><Relationship Id="rId1" Type="http://schemas.openxmlformats.org/officeDocument/2006/relationships/tags" Target="../tags/tag536.xml"/><Relationship Id="rId6" Type="http://schemas.openxmlformats.org/officeDocument/2006/relationships/tags" Target="../tags/tag541.xml"/><Relationship Id="rId11" Type="http://schemas.openxmlformats.org/officeDocument/2006/relationships/tags" Target="../tags/tag546.xml"/><Relationship Id="rId5" Type="http://schemas.openxmlformats.org/officeDocument/2006/relationships/tags" Target="../tags/tag540.xml"/><Relationship Id="rId15" Type="http://schemas.openxmlformats.org/officeDocument/2006/relationships/slideLayout" Target="../slideLayouts/slideLayout4.xml"/><Relationship Id="rId10" Type="http://schemas.openxmlformats.org/officeDocument/2006/relationships/tags" Target="../tags/tag545.xml"/><Relationship Id="rId4" Type="http://schemas.openxmlformats.org/officeDocument/2006/relationships/tags" Target="../tags/tag539.xml"/><Relationship Id="rId9" Type="http://schemas.openxmlformats.org/officeDocument/2006/relationships/tags" Target="../tags/tag544.xml"/><Relationship Id="rId14" Type="http://schemas.openxmlformats.org/officeDocument/2006/relationships/tags" Target="../tags/tag549.xml"/></Relationships>
</file>

<file path=ppt/slides/_rels/slide105.xml.rels><?xml version="1.0" encoding="UTF-8" standalone="yes"?>
<Relationships xmlns="http://schemas.openxmlformats.org/package/2006/relationships"><Relationship Id="rId8" Type="http://schemas.openxmlformats.org/officeDocument/2006/relationships/tags" Target="../tags/tag557.xml"/><Relationship Id="rId13" Type="http://schemas.openxmlformats.org/officeDocument/2006/relationships/tags" Target="../tags/tag562.xml"/><Relationship Id="rId18" Type="http://schemas.openxmlformats.org/officeDocument/2006/relationships/tags" Target="../tags/tag567.xml"/><Relationship Id="rId3" Type="http://schemas.openxmlformats.org/officeDocument/2006/relationships/tags" Target="../tags/tag552.xml"/><Relationship Id="rId21" Type="http://schemas.openxmlformats.org/officeDocument/2006/relationships/tags" Target="../tags/tag570.xml"/><Relationship Id="rId7" Type="http://schemas.openxmlformats.org/officeDocument/2006/relationships/tags" Target="../tags/tag556.xml"/><Relationship Id="rId12" Type="http://schemas.openxmlformats.org/officeDocument/2006/relationships/tags" Target="../tags/tag561.xml"/><Relationship Id="rId17" Type="http://schemas.openxmlformats.org/officeDocument/2006/relationships/tags" Target="../tags/tag566.xml"/><Relationship Id="rId2" Type="http://schemas.openxmlformats.org/officeDocument/2006/relationships/tags" Target="../tags/tag551.xml"/><Relationship Id="rId16" Type="http://schemas.openxmlformats.org/officeDocument/2006/relationships/tags" Target="../tags/tag565.xml"/><Relationship Id="rId20" Type="http://schemas.openxmlformats.org/officeDocument/2006/relationships/tags" Target="../tags/tag569.xml"/><Relationship Id="rId1" Type="http://schemas.openxmlformats.org/officeDocument/2006/relationships/tags" Target="../tags/tag550.xml"/><Relationship Id="rId6" Type="http://schemas.openxmlformats.org/officeDocument/2006/relationships/tags" Target="../tags/tag555.xml"/><Relationship Id="rId11" Type="http://schemas.openxmlformats.org/officeDocument/2006/relationships/tags" Target="../tags/tag560.xml"/><Relationship Id="rId5" Type="http://schemas.openxmlformats.org/officeDocument/2006/relationships/tags" Target="../tags/tag554.xml"/><Relationship Id="rId15" Type="http://schemas.openxmlformats.org/officeDocument/2006/relationships/tags" Target="../tags/tag564.xml"/><Relationship Id="rId23" Type="http://schemas.openxmlformats.org/officeDocument/2006/relationships/notesSlide" Target="../notesSlides/notesSlide50.xml"/><Relationship Id="rId10" Type="http://schemas.openxmlformats.org/officeDocument/2006/relationships/tags" Target="../tags/tag559.xml"/><Relationship Id="rId19" Type="http://schemas.openxmlformats.org/officeDocument/2006/relationships/tags" Target="../tags/tag568.xml"/><Relationship Id="rId4" Type="http://schemas.openxmlformats.org/officeDocument/2006/relationships/tags" Target="../tags/tag553.xml"/><Relationship Id="rId9" Type="http://schemas.openxmlformats.org/officeDocument/2006/relationships/tags" Target="../tags/tag558.xml"/><Relationship Id="rId14" Type="http://schemas.openxmlformats.org/officeDocument/2006/relationships/tags" Target="../tags/tag563.xml"/><Relationship Id="rId22"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71.xml"/></Relationships>
</file>

<file path=ppt/slides/_rels/slide110.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8" Type="http://schemas.openxmlformats.org/officeDocument/2006/relationships/tags" Target="../tags/tag579.xml"/><Relationship Id="rId13" Type="http://schemas.openxmlformats.org/officeDocument/2006/relationships/tags" Target="../tags/tag584.xml"/><Relationship Id="rId18" Type="http://schemas.openxmlformats.org/officeDocument/2006/relationships/tags" Target="../tags/tag589.xml"/><Relationship Id="rId26" Type="http://schemas.openxmlformats.org/officeDocument/2006/relationships/notesSlide" Target="../notesSlides/notesSlide56.xml"/><Relationship Id="rId3" Type="http://schemas.openxmlformats.org/officeDocument/2006/relationships/tags" Target="../tags/tag574.xml"/><Relationship Id="rId21" Type="http://schemas.openxmlformats.org/officeDocument/2006/relationships/tags" Target="../tags/tag592.xml"/><Relationship Id="rId7" Type="http://schemas.openxmlformats.org/officeDocument/2006/relationships/tags" Target="../tags/tag578.xml"/><Relationship Id="rId12" Type="http://schemas.openxmlformats.org/officeDocument/2006/relationships/tags" Target="../tags/tag583.xml"/><Relationship Id="rId17" Type="http://schemas.openxmlformats.org/officeDocument/2006/relationships/tags" Target="../tags/tag588.xml"/><Relationship Id="rId25" Type="http://schemas.openxmlformats.org/officeDocument/2006/relationships/slideLayout" Target="../slideLayouts/slideLayout4.xml"/><Relationship Id="rId2" Type="http://schemas.openxmlformats.org/officeDocument/2006/relationships/tags" Target="../tags/tag573.xml"/><Relationship Id="rId16" Type="http://schemas.openxmlformats.org/officeDocument/2006/relationships/tags" Target="../tags/tag587.xml"/><Relationship Id="rId20" Type="http://schemas.openxmlformats.org/officeDocument/2006/relationships/tags" Target="../tags/tag591.xml"/><Relationship Id="rId1" Type="http://schemas.openxmlformats.org/officeDocument/2006/relationships/tags" Target="../tags/tag572.xml"/><Relationship Id="rId6" Type="http://schemas.openxmlformats.org/officeDocument/2006/relationships/tags" Target="../tags/tag577.xml"/><Relationship Id="rId11" Type="http://schemas.openxmlformats.org/officeDocument/2006/relationships/tags" Target="../tags/tag582.xml"/><Relationship Id="rId24" Type="http://schemas.openxmlformats.org/officeDocument/2006/relationships/tags" Target="../tags/tag595.xml"/><Relationship Id="rId5" Type="http://schemas.openxmlformats.org/officeDocument/2006/relationships/tags" Target="../tags/tag576.xml"/><Relationship Id="rId15" Type="http://schemas.openxmlformats.org/officeDocument/2006/relationships/tags" Target="../tags/tag586.xml"/><Relationship Id="rId23" Type="http://schemas.openxmlformats.org/officeDocument/2006/relationships/tags" Target="../tags/tag594.xml"/><Relationship Id="rId10" Type="http://schemas.openxmlformats.org/officeDocument/2006/relationships/tags" Target="../tags/tag581.xml"/><Relationship Id="rId19" Type="http://schemas.openxmlformats.org/officeDocument/2006/relationships/tags" Target="../tags/tag590.xml"/><Relationship Id="rId4" Type="http://schemas.openxmlformats.org/officeDocument/2006/relationships/tags" Target="../tags/tag575.xml"/><Relationship Id="rId9" Type="http://schemas.openxmlformats.org/officeDocument/2006/relationships/tags" Target="../tags/tag580.xml"/><Relationship Id="rId14" Type="http://schemas.openxmlformats.org/officeDocument/2006/relationships/tags" Target="../tags/tag585.xml"/><Relationship Id="rId22" Type="http://schemas.openxmlformats.org/officeDocument/2006/relationships/tags" Target="../tags/tag593.xml"/></Relationships>
</file>

<file path=ppt/slides/_rels/slide113.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oleObject" Target="../embeddings/oleObject14.bin"/><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4.xml"/><Relationship Id="rId1" Type="http://schemas.openxmlformats.org/officeDocument/2006/relationships/tags" Target="../tags/tag596.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97.xml"/></Relationships>
</file>

<file path=ppt/slides/_rels/slide123.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4.xml"/><Relationship Id="rId4" Type="http://schemas.openxmlformats.org/officeDocument/2006/relationships/image" Target="../media/image78.png"/></Relationships>
</file>

<file path=ppt/slides/_rels/slide125.xml.rels><?xml version="1.0" encoding="UTF-8" standalone="yes"?>
<Relationships xmlns="http://schemas.openxmlformats.org/package/2006/relationships"><Relationship Id="rId8" Type="http://schemas.openxmlformats.org/officeDocument/2006/relationships/tags" Target="../tags/tag605.xml"/><Relationship Id="rId13" Type="http://schemas.openxmlformats.org/officeDocument/2006/relationships/tags" Target="../tags/tag610.xml"/><Relationship Id="rId3" Type="http://schemas.openxmlformats.org/officeDocument/2006/relationships/tags" Target="../tags/tag600.xml"/><Relationship Id="rId7" Type="http://schemas.openxmlformats.org/officeDocument/2006/relationships/tags" Target="../tags/tag604.xml"/><Relationship Id="rId12" Type="http://schemas.openxmlformats.org/officeDocument/2006/relationships/tags" Target="../tags/tag609.xml"/><Relationship Id="rId17" Type="http://schemas.openxmlformats.org/officeDocument/2006/relationships/notesSlide" Target="../notesSlides/notesSlide66.xml"/><Relationship Id="rId2" Type="http://schemas.openxmlformats.org/officeDocument/2006/relationships/tags" Target="../tags/tag599.xml"/><Relationship Id="rId16" Type="http://schemas.openxmlformats.org/officeDocument/2006/relationships/slideLayout" Target="../slideLayouts/slideLayout4.xml"/><Relationship Id="rId1" Type="http://schemas.openxmlformats.org/officeDocument/2006/relationships/tags" Target="../tags/tag598.xml"/><Relationship Id="rId6" Type="http://schemas.openxmlformats.org/officeDocument/2006/relationships/tags" Target="../tags/tag603.xml"/><Relationship Id="rId11" Type="http://schemas.openxmlformats.org/officeDocument/2006/relationships/tags" Target="../tags/tag608.xml"/><Relationship Id="rId5" Type="http://schemas.openxmlformats.org/officeDocument/2006/relationships/tags" Target="../tags/tag602.xml"/><Relationship Id="rId15" Type="http://schemas.openxmlformats.org/officeDocument/2006/relationships/tags" Target="../tags/tag612.xml"/><Relationship Id="rId10" Type="http://schemas.openxmlformats.org/officeDocument/2006/relationships/tags" Target="../tags/tag607.xml"/><Relationship Id="rId4" Type="http://schemas.openxmlformats.org/officeDocument/2006/relationships/tags" Target="../tags/tag601.xml"/><Relationship Id="rId9" Type="http://schemas.openxmlformats.org/officeDocument/2006/relationships/tags" Target="../tags/tag606.xml"/><Relationship Id="rId14" Type="http://schemas.openxmlformats.org/officeDocument/2006/relationships/tags" Target="../tags/tag611.xml"/></Relationships>
</file>

<file path=ppt/slides/_rels/slide126.xml.rels><?xml version="1.0" encoding="UTF-8" standalone="yes"?>
<Relationships xmlns="http://schemas.openxmlformats.org/package/2006/relationships"><Relationship Id="rId8" Type="http://schemas.openxmlformats.org/officeDocument/2006/relationships/tags" Target="../tags/tag620.xml"/><Relationship Id="rId13" Type="http://schemas.openxmlformats.org/officeDocument/2006/relationships/notesSlide" Target="../notesSlides/notesSlide67.xml"/><Relationship Id="rId3" Type="http://schemas.openxmlformats.org/officeDocument/2006/relationships/tags" Target="../tags/tag615.xml"/><Relationship Id="rId7" Type="http://schemas.openxmlformats.org/officeDocument/2006/relationships/tags" Target="../tags/tag619.xml"/><Relationship Id="rId12" Type="http://schemas.openxmlformats.org/officeDocument/2006/relationships/slideLayout" Target="../slideLayouts/slideLayout4.xml"/><Relationship Id="rId2" Type="http://schemas.openxmlformats.org/officeDocument/2006/relationships/tags" Target="../tags/tag614.xml"/><Relationship Id="rId1" Type="http://schemas.openxmlformats.org/officeDocument/2006/relationships/tags" Target="../tags/tag613.xml"/><Relationship Id="rId6" Type="http://schemas.openxmlformats.org/officeDocument/2006/relationships/tags" Target="../tags/tag618.xml"/><Relationship Id="rId11" Type="http://schemas.openxmlformats.org/officeDocument/2006/relationships/tags" Target="../tags/tag623.xml"/><Relationship Id="rId5" Type="http://schemas.openxmlformats.org/officeDocument/2006/relationships/tags" Target="../tags/tag617.xml"/><Relationship Id="rId10" Type="http://schemas.openxmlformats.org/officeDocument/2006/relationships/tags" Target="../tags/tag622.xml"/><Relationship Id="rId4" Type="http://schemas.openxmlformats.org/officeDocument/2006/relationships/tags" Target="../tags/tag616.xml"/><Relationship Id="rId9" Type="http://schemas.openxmlformats.org/officeDocument/2006/relationships/tags" Target="../tags/tag621.xml"/></Relationships>
</file>

<file path=ppt/slides/_rels/slide1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2.xml"/><Relationship Id="rId1" Type="http://schemas.openxmlformats.org/officeDocument/2006/relationships/slideLayout" Target="../slideLayouts/slideLayout4.xml"/><Relationship Id="rId4" Type="http://schemas.openxmlformats.org/officeDocument/2006/relationships/image" Target="../media/image79.png"/></Relationships>
</file>

<file path=ppt/slides/_rels/slide1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4.xml"/><Relationship Id="rId1" Type="http://schemas.openxmlformats.org/officeDocument/2006/relationships/slideLayout" Target="../slideLayouts/slideLayout4.xml"/><Relationship Id="rId4" Type="http://schemas.openxmlformats.org/officeDocument/2006/relationships/image" Target="../media/image80.png"/></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24.xml"/></Relationships>
</file>

<file path=ppt/slides/_rels/slide13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5.xml"/></Relationships>
</file>

<file path=ppt/slides/_rels/slide13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5.xml"/></Relationships>
</file>

<file path=ppt/slides/_rels/slide13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5.xml"/></Relationships>
</file>

<file path=ppt/slides/_rels/slide139.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5.xml"/></Relationships>
</file>

<file path=ppt/slides/_rels/slide14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H_Picture_1"/>
          <p:cNvSpPr/>
          <p:nvPr>
            <p:custDataLst>
              <p:tags r:id="rId2"/>
            </p:custDataLst>
          </p:nvPr>
        </p:nvSpPr>
        <p:spPr>
          <a:xfrm>
            <a:off x="2397843" y="1061577"/>
            <a:ext cx="9794157" cy="4218037"/>
          </a:xfrm>
          <a:custGeom>
            <a:avLst/>
            <a:gdLst>
              <a:gd name="connsiteX0" fmla="*/ 0 w 7345618"/>
              <a:gd name="connsiteY0" fmla="*/ 0 h 4218037"/>
              <a:gd name="connsiteX1" fmla="*/ 7345618 w 7345618"/>
              <a:gd name="connsiteY1" fmla="*/ 0 h 4218037"/>
              <a:gd name="connsiteX2" fmla="*/ 7345618 w 7345618"/>
              <a:gd name="connsiteY2" fmla="*/ 4218037 h 4218037"/>
              <a:gd name="connsiteX3" fmla="*/ 2604652 w 7345618"/>
              <a:gd name="connsiteY3" fmla="*/ 4218037 h 4218037"/>
            </a:gdLst>
            <a:ahLst/>
            <a:cxnLst>
              <a:cxn ang="0">
                <a:pos x="connsiteX0" y="connsiteY0"/>
              </a:cxn>
              <a:cxn ang="0">
                <a:pos x="connsiteX1" y="connsiteY1"/>
              </a:cxn>
              <a:cxn ang="0">
                <a:pos x="connsiteX2" y="connsiteY2"/>
              </a:cxn>
              <a:cxn ang="0">
                <a:pos x="connsiteX3" y="connsiteY3"/>
              </a:cxn>
            </a:cxnLst>
            <a:rect l="l" t="t" r="r" b="b"/>
            <a:pathLst>
              <a:path w="7345618" h="4218037">
                <a:moveTo>
                  <a:pt x="0" y="0"/>
                </a:moveTo>
                <a:lnTo>
                  <a:pt x="7345618" y="0"/>
                </a:lnTo>
                <a:lnTo>
                  <a:pt x="7345618" y="4218037"/>
                </a:lnTo>
                <a:lnTo>
                  <a:pt x="2604652" y="4218037"/>
                </a:lnTo>
                <a:close/>
              </a:path>
            </a:pathLst>
          </a:custGeom>
          <a:blipFill dpi="0" rotWithShape="1">
            <a:blip r:embed="rId7" cstate="print">
              <a:alphaModFix amt="80000"/>
            </a:blip>
            <a:srcRect/>
            <a:stretch>
              <a:fillRect t="-3066" b="-2835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ndParaRPr>
          </a:p>
        </p:txBody>
      </p:sp>
      <p:sp>
        <p:nvSpPr>
          <p:cNvPr id="24" name="MH_Text_1"/>
          <p:cNvSpPr/>
          <p:nvPr>
            <p:custDataLst>
              <p:tags r:id="rId3"/>
            </p:custDataLst>
          </p:nvPr>
        </p:nvSpPr>
        <p:spPr>
          <a:xfrm>
            <a:off x="4643" y="1060521"/>
            <a:ext cx="5308601" cy="4234460"/>
          </a:xfrm>
          <a:custGeom>
            <a:avLst/>
            <a:gdLst>
              <a:gd name="connsiteX0" fmla="*/ 0 w 3905250"/>
              <a:gd name="connsiteY0" fmla="*/ 0 h 4204068"/>
              <a:gd name="connsiteX1" fmla="*/ 1314884 w 3905250"/>
              <a:gd name="connsiteY1" fmla="*/ 0 h 4204068"/>
              <a:gd name="connsiteX2" fmla="*/ 3905250 w 3905250"/>
              <a:gd name="connsiteY2" fmla="*/ 4204068 h 4204068"/>
              <a:gd name="connsiteX3" fmla="*/ 0 w 3905250"/>
              <a:gd name="connsiteY3" fmla="*/ 4204068 h 4204068"/>
            </a:gdLst>
            <a:ahLst/>
            <a:cxnLst>
              <a:cxn ang="0">
                <a:pos x="connsiteX0" y="connsiteY0"/>
              </a:cxn>
              <a:cxn ang="0">
                <a:pos x="connsiteX1" y="connsiteY1"/>
              </a:cxn>
              <a:cxn ang="0">
                <a:pos x="connsiteX2" y="connsiteY2"/>
              </a:cxn>
              <a:cxn ang="0">
                <a:pos x="connsiteX3" y="connsiteY3"/>
              </a:cxn>
            </a:cxnLst>
            <a:rect l="l" t="t" r="r" b="b"/>
            <a:pathLst>
              <a:path w="3905250" h="4204068">
                <a:moveTo>
                  <a:pt x="0" y="0"/>
                </a:moveTo>
                <a:lnTo>
                  <a:pt x="1314884" y="0"/>
                </a:lnTo>
                <a:lnTo>
                  <a:pt x="3905250" y="4204068"/>
                </a:lnTo>
                <a:lnTo>
                  <a:pt x="0" y="4204068"/>
                </a:lnTo>
                <a:close/>
              </a:path>
            </a:pathLst>
          </a:cu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0" rIns="0" bIns="144000" rtlCol="0" anchor="b" anchorCtr="0">
            <a:normAutofit/>
          </a:bodyPr>
          <a:lstStyle/>
          <a:p>
            <a:pPr>
              <a:lnSpc>
                <a:spcPct val="120000"/>
              </a:lnSpc>
            </a:pPr>
            <a:endParaRPr lang="en-US" altLang="zh-CN" sz="2000" dirty="0">
              <a:solidFill>
                <a:srgbClr val="292929"/>
              </a:solidFill>
              <a:latin typeface="Times New Roman" panose="02020603050405020304" pitchFamily="18" charset="0"/>
            </a:endParaRPr>
          </a:p>
        </p:txBody>
      </p:sp>
      <p:cxnSp>
        <p:nvCxnSpPr>
          <p:cNvPr id="9" name="MH_Other_2"/>
          <p:cNvCxnSpPr/>
          <p:nvPr>
            <p:custDataLst>
              <p:tags r:id="rId4"/>
            </p:custDataLst>
          </p:nvPr>
        </p:nvCxnSpPr>
        <p:spPr>
          <a:xfrm>
            <a:off x="1200897" y="0"/>
            <a:ext cx="5683044" cy="685800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2" name="MH_Other_3"/>
          <p:cNvSpPr/>
          <p:nvPr>
            <p:custDataLst>
              <p:tags r:id="rId5"/>
            </p:custDataLst>
          </p:nvPr>
        </p:nvSpPr>
        <p:spPr>
          <a:xfrm>
            <a:off x="5404987" y="4717307"/>
            <a:ext cx="6787015" cy="385547"/>
          </a:xfrm>
          <a:custGeom>
            <a:avLst/>
            <a:gdLst>
              <a:gd name="connsiteX0" fmla="*/ 0 w 5090261"/>
              <a:gd name="connsiteY0" fmla="*/ 0 h 385547"/>
              <a:gd name="connsiteX1" fmla="*/ 5090261 w 5090261"/>
              <a:gd name="connsiteY1" fmla="*/ 0 h 385547"/>
              <a:gd name="connsiteX2" fmla="*/ 5090261 w 5090261"/>
              <a:gd name="connsiteY2" fmla="*/ 385547 h 385547"/>
              <a:gd name="connsiteX3" fmla="*/ 240311 w 5090261"/>
              <a:gd name="connsiteY3" fmla="*/ 385547 h 385547"/>
            </a:gdLst>
            <a:ahLst/>
            <a:cxnLst>
              <a:cxn ang="0">
                <a:pos x="connsiteX0" y="connsiteY0"/>
              </a:cxn>
              <a:cxn ang="0">
                <a:pos x="connsiteX1" y="connsiteY1"/>
              </a:cxn>
              <a:cxn ang="0">
                <a:pos x="connsiteX2" y="connsiteY2"/>
              </a:cxn>
              <a:cxn ang="0">
                <a:pos x="connsiteX3" y="connsiteY3"/>
              </a:cxn>
            </a:cxnLst>
            <a:rect l="l" t="t" r="r" b="b"/>
            <a:pathLst>
              <a:path w="5090261" h="385547">
                <a:moveTo>
                  <a:pt x="0" y="0"/>
                </a:moveTo>
                <a:lnTo>
                  <a:pt x="5090261" y="0"/>
                </a:lnTo>
                <a:lnTo>
                  <a:pt x="5090261" y="385547"/>
                </a:lnTo>
                <a:lnTo>
                  <a:pt x="240311" y="385547"/>
                </a:lnTo>
                <a:close/>
              </a:path>
            </a:pathLst>
          </a:custGeom>
          <a:solidFill>
            <a:srgbClr val="66CC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324000" rtlCol="0" anchor="ctr"/>
          <a:lstStyle/>
          <a:p>
            <a:pPr algn="r"/>
            <a:endParaRPr lang="zh-CN" altLang="en-US" dirty="0">
              <a:solidFill>
                <a:srgbClr val="292929"/>
              </a:solidFill>
              <a:latin typeface="Times New Roman" panose="02020603050405020304" pitchFamily="18" charset="0"/>
            </a:endParaRPr>
          </a:p>
        </p:txBody>
      </p:sp>
      <p:sp>
        <p:nvSpPr>
          <p:cNvPr id="10" name="TextBox 9"/>
          <p:cNvSpPr txBox="1"/>
          <p:nvPr/>
        </p:nvSpPr>
        <p:spPr>
          <a:xfrm>
            <a:off x="201928" y="2586439"/>
            <a:ext cx="3866607" cy="2616200"/>
          </a:xfrm>
          <a:prstGeom prst="rect">
            <a:avLst/>
          </a:prstGeom>
          <a:noFill/>
        </p:spPr>
        <p:txBody>
          <a:bodyPr wrap="square" rtlCol="0">
            <a:spAutoFit/>
          </a:bodyPr>
          <a:lstStyle/>
          <a:p>
            <a:r>
              <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软件</a:t>
            </a:r>
            <a:endParaRPr lang="en-US" altLang="zh-CN"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a:p>
            <a:pPr algn="r"/>
            <a:r>
              <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工程</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任意多边形 17"/>
          <p:cNvSpPr/>
          <p:nvPr>
            <p:custDataLst>
              <p:tags r:id="rId2"/>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5123" name="Text Box 20"/>
          <p:cNvSpPr txBox="1">
            <a:spLocks noChangeArrowheads="1"/>
          </p:cNvSpPr>
          <p:nvPr>
            <p:custDataLst>
              <p:tags r:id="rId3"/>
            </p:custDataLst>
          </p:nvPr>
        </p:nvSpPr>
        <p:spPr bwMode="auto">
          <a:xfrm>
            <a:off x="1794269" y="1781267"/>
            <a:ext cx="2415116" cy="489585"/>
          </a:xfrm>
          <a:prstGeom prst="rect">
            <a:avLst/>
          </a:prstGeom>
          <a:noFill/>
          <a:ln w="9525">
            <a:noFill/>
            <a:miter lim="800000"/>
          </a:ln>
          <a:effectLst/>
        </p:spPr>
        <p:txBody>
          <a:bodyPr>
            <a:spAutoFit/>
          </a:bodyPr>
          <a:lstStyle/>
          <a:p>
            <a:pPr algn="dist" eaLnBrk="1" hangingPunct="1">
              <a:buFont typeface="Arial" panose="020B0604020202020204" pitchFamily="34" charset="0"/>
              <a:buNone/>
            </a:pPr>
            <a:r>
              <a:rPr lang="zh-CN" altLang="en-US" sz="2400" dirty="0">
                <a:solidFill>
                  <a:srgbClr val="FFFFFF"/>
                </a:solidFill>
                <a:latin typeface="Arial Black" panose="020B0A04020102020204" pitchFamily="34" charset="0"/>
                <a:ea typeface="华文新魏" panose="02010800040101010101" pitchFamily="2" charset="-122"/>
              </a:rPr>
              <a:t>Contents</a:t>
            </a:r>
          </a:p>
        </p:txBody>
      </p:sp>
      <p:sp>
        <p:nvSpPr>
          <p:cNvPr id="5124" name="文本框 20"/>
          <p:cNvSpPr txBox="1">
            <a:spLocks noChangeArrowheads="1"/>
          </p:cNvSpPr>
          <p:nvPr>
            <p:custDataLst>
              <p:tags r:id="rId4"/>
            </p:custDataLst>
          </p:nvPr>
        </p:nvSpPr>
        <p:spPr bwMode="auto">
          <a:xfrm>
            <a:off x="178820" y="828675"/>
            <a:ext cx="1797049" cy="822960"/>
          </a:xfrm>
          <a:prstGeom prst="rect">
            <a:avLst/>
          </a:prstGeom>
          <a:noFill/>
          <a:ln w="9525">
            <a:noFill/>
            <a:miter lim="800000"/>
          </a:ln>
        </p:spPr>
        <p:txBody>
          <a:bodyPr>
            <a:spAutoFit/>
          </a:bodyPr>
          <a:lstStyle/>
          <a:p>
            <a:pPr algn="ctr" eaLnBrk="1" hangingPunct="1">
              <a:buFont typeface="Arial" panose="020B0604020202020204" pitchFamily="34" charset="0"/>
              <a:buNone/>
            </a:pPr>
            <a:r>
              <a:rPr lang="zh-CN" altLang="en-US" sz="4800" dirty="0">
                <a:solidFill>
                  <a:srgbClr val="FFFFFF"/>
                </a:solidFill>
                <a:latin typeface="微软雅黑" panose="020B0503020204020204" charset="-122"/>
              </a:rPr>
              <a:t>目录</a:t>
            </a:r>
          </a:p>
        </p:txBody>
      </p:sp>
      <p:cxnSp>
        <p:nvCxnSpPr>
          <p:cNvPr id="5125" name="直接连接符 22"/>
          <p:cNvCxnSpPr>
            <a:cxnSpLocks noChangeShapeType="1"/>
          </p:cNvCxnSpPr>
          <p:nvPr>
            <p:custDataLst>
              <p:tags r:id="rId5"/>
            </p:custDataLst>
          </p:nvPr>
        </p:nvCxnSpPr>
        <p:spPr bwMode="auto">
          <a:xfrm>
            <a:off x="762001" y="1628775"/>
            <a:ext cx="3240617" cy="0"/>
          </a:xfrm>
          <a:prstGeom prst="line">
            <a:avLst/>
          </a:prstGeom>
          <a:noFill/>
          <a:ln w="9525">
            <a:solidFill>
              <a:srgbClr val="FFFFFF"/>
            </a:solidFill>
            <a:prstDash val="sysDash"/>
            <a:round/>
          </a:ln>
        </p:spPr>
      </p:cxnSp>
      <p:cxnSp>
        <p:nvCxnSpPr>
          <p:cNvPr id="5126" name="直接连接符 24"/>
          <p:cNvCxnSpPr>
            <a:cxnSpLocks noChangeShapeType="1"/>
          </p:cNvCxnSpPr>
          <p:nvPr>
            <p:custDataLst>
              <p:tags r:id="rId6"/>
            </p:custDataLst>
          </p:nvPr>
        </p:nvCxnSpPr>
        <p:spPr bwMode="auto">
          <a:xfrm>
            <a:off x="1761067" y="534989"/>
            <a:ext cx="0" cy="2124075"/>
          </a:xfrm>
          <a:prstGeom prst="line">
            <a:avLst/>
          </a:prstGeom>
          <a:noFill/>
          <a:ln w="9525">
            <a:solidFill>
              <a:srgbClr val="FFFFFF"/>
            </a:solidFill>
            <a:prstDash val="sysDash"/>
            <a:round/>
          </a:ln>
        </p:spPr>
      </p:cxnSp>
      <p:pic>
        <p:nvPicPr>
          <p:cNvPr id="47" name="图片 14"/>
          <p:cNvPicPr>
            <a:picLocks noChangeAspect="1"/>
          </p:cNvPicPr>
          <p:nvPr/>
        </p:nvPicPr>
        <p:blipFill>
          <a:blip r:embed="rId9" cstate="print"/>
          <a:stretch>
            <a:fillRect/>
          </a:stretch>
        </p:blipFill>
        <p:spPr>
          <a:xfrm>
            <a:off x="5542280" y="1628775"/>
            <a:ext cx="611505" cy="611505"/>
          </a:xfrm>
          <a:prstGeom prst="rect">
            <a:avLst/>
          </a:prstGeom>
          <a:noFill/>
          <a:ln w="9525">
            <a:noFill/>
          </a:ln>
        </p:spPr>
      </p:pic>
      <p:sp>
        <p:nvSpPr>
          <p:cNvPr id="48" name="椭圆 47"/>
          <p:cNvSpPr/>
          <p:nvPr/>
        </p:nvSpPr>
        <p:spPr>
          <a:xfrm>
            <a:off x="5542280" y="1628775"/>
            <a:ext cx="611505" cy="61150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2" name="组合 20"/>
          <p:cNvGrpSpPr/>
          <p:nvPr/>
        </p:nvGrpSpPr>
        <p:grpSpPr>
          <a:xfrm>
            <a:off x="6275705" y="1628775"/>
            <a:ext cx="4351655" cy="609600"/>
            <a:chOff x="6004452" y="1971917"/>
            <a:chExt cx="3406249" cy="610204"/>
          </a:xfrm>
        </p:grpSpPr>
        <p:pic>
          <p:nvPicPr>
            <p:cNvPr id="50" name="图片 10"/>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51" name="圆角矩形 50"/>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2" name="文本框 19"/>
          <p:cNvSpPr txBox="1"/>
          <p:nvPr/>
        </p:nvSpPr>
        <p:spPr>
          <a:xfrm>
            <a:off x="6556375" y="1689100"/>
            <a:ext cx="3947795" cy="483235"/>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zh-CN" sz="2400" b="1" dirty="0">
                <a:solidFill>
                  <a:schemeClr val="bg1"/>
                </a:solidFill>
                <a:latin typeface="微软雅黑" panose="020B0503020204020204" charset="-122"/>
                <a:ea typeface="微软雅黑" panose="020B0503020204020204" charset="-122"/>
              </a:rPr>
              <a:t>软件设计步骤</a:t>
            </a:r>
          </a:p>
        </p:txBody>
      </p:sp>
      <p:sp>
        <p:nvSpPr>
          <p:cNvPr id="53" name="文本框 21"/>
          <p:cNvSpPr txBox="1"/>
          <p:nvPr/>
        </p:nvSpPr>
        <p:spPr>
          <a:xfrm>
            <a:off x="5580380" y="1714500"/>
            <a:ext cx="63500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01</a:t>
            </a:r>
            <a:endParaRPr lang="zh-CN" altLang="en-US" sz="2400" b="1" dirty="0">
              <a:solidFill>
                <a:schemeClr val="bg1"/>
              </a:solidFill>
              <a:latin typeface="微软雅黑" panose="020B0503020204020204" charset="-122"/>
              <a:ea typeface="微软雅黑" panose="020B0503020204020204" charset="-122"/>
            </a:endParaRPr>
          </a:p>
        </p:txBody>
      </p:sp>
      <p:pic>
        <p:nvPicPr>
          <p:cNvPr id="54" name="图片 24"/>
          <p:cNvPicPr>
            <a:picLocks noChangeAspect="1"/>
          </p:cNvPicPr>
          <p:nvPr/>
        </p:nvPicPr>
        <p:blipFill>
          <a:blip r:embed="rId9" cstate="print"/>
          <a:stretch>
            <a:fillRect/>
          </a:stretch>
        </p:blipFill>
        <p:spPr>
          <a:xfrm>
            <a:off x="4923790" y="2543175"/>
            <a:ext cx="611505" cy="612775"/>
          </a:xfrm>
          <a:prstGeom prst="rect">
            <a:avLst/>
          </a:prstGeom>
          <a:noFill/>
          <a:ln w="9525">
            <a:noFill/>
          </a:ln>
        </p:spPr>
      </p:pic>
      <p:sp>
        <p:nvSpPr>
          <p:cNvPr id="55" name="椭圆 54"/>
          <p:cNvSpPr/>
          <p:nvPr/>
        </p:nvSpPr>
        <p:spPr>
          <a:xfrm>
            <a:off x="4923790" y="2543175"/>
            <a:ext cx="611505" cy="61277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3" name="组合 26"/>
          <p:cNvGrpSpPr/>
          <p:nvPr/>
        </p:nvGrpSpPr>
        <p:grpSpPr>
          <a:xfrm>
            <a:off x="5657215" y="2543175"/>
            <a:ext cx="4038600" cy="611505"/>
            <a:chOff x="6004452" y="1971917"/>
            <a:chExt cx="3406249" cy="610204"/>
          </a:xfrm>
        </p:grpSpPr>
        <p:pic>
          <p:nvPicPr>
            <p:cNvPr id="57" name="图片 29"/>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58" name="圆角矩形 57"/>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9" name="文本框 27"/>
          <p:cNvSpPr txBox="1"/>
          <p:nvPr/>
        </p:nvSpPr>
        <p:spPr>
          <a:xfrm>
            <a:off x="5938520" y="2605405"/>
            <a:ext cx="331470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软件结构设计</a:t>
            </a:r>
          </a:p>
        </p:txBody>
      </p:sp>
      <p:sp>
        <p:nvSpPr>
          <p:cNvPr id="60" name="文本框 28"/>
          <p:cNvSpPr txBox="1"/>
          <p:nvPr/>
        </p:nvSpPr>
        <p:spPr>
          <a:xfrm>
            <a:off x="4961890" y="2630805"/>
            <a:ext cx="63500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02</a:t>
            </a:r>
            <a:endParaRPr lang="zh-CN" altLang="en-US" sz="2400" b="1" dirty="0">
              <a:solidFill>
                <a:schemeClr val="bg1"/>
              </a:solidFill>
              <a:latin typeface="微软雅黑" panose="020B0503020204020204" charset="-122"/>
              <a:ea typeface="微软雅黑" panose="020B0503020204020204" charset="-122"/>
            </a:endParaRPr>
          </a:p>
        </p:txBody>
      </p:sp>
      <p:pic>
        <p:nvPicPr>
          <p:cNvPr id="61" name="图片 32"/>
          <p:cNvPicPr>
            <a:picLocks noChangeAspect="1"/>
          </p:cNvPicPr>
          <p:nvPr/>
        </p:nvPicPr>
        <p:blipFill>
          <a:blip r:embed="rId9" cstate="print"/>
          <a:stretch>
            <a:fillRect/>
          </a:stretch>
        </p:blipFill>
        <p:spPr>
          <a:xfrm>
            <a:off x="4201160" y="3459480"/>
            <a:ext cx="611505" cy="612775"/>
          </a:xfrm>
          <a:prstGeom prst="rect">
            <a:avLst/>
          </a:prstGeom>
          <a:noFill/>
          <a:ln w="9525">
            <a:noFill/>
          </a:ln>
        </p:spPr>
      </p:pic>
      <p:sp>
        <p:nvSpPr>
          <p:cNvPr id="62" name="椭圆 61"/>
          <p:cNvSpPr/>
          <p:nvPr/>
        </p:nvSpPr>
        <p:spPr>
          <a:xfrm>
            <a:off x="4201160" y="3459480"/>
            <a:ext cx="611505" cy="61277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4" name="组合 34"/>
          <p:cNvGrpSpPr/>
          <p:nvPr/>
        </p:nvGrpSpPr>
        <p:grpSpPr>
          <a:xfrm>
            <a:off x="4934585" y="3459480"/>
            <a:ext cx="4037330" cy="610870"/>
            <a:chOff x="6004452" y="1971917"/>
            <a:chExt cx="3406249" cy="610204"/>
          </a:xfrm>
        </p:grpSpPr>
        <p:pic>
          <p:nvPicPr>
            <p:cNvPr id="64" name="图片 37"/>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65" name="圆角矩形 64"/>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66" name="文本框 35"/>
          <p:cNvSpPr txBox="1"/>
          <p:nvPr/>
        </p:nvSpPr>
        <p:spPr>
          <a:xfrm>
            <a:off x="5215255" y="3521075"/>
            <a:ext cx="3756660" cy="483235"/>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软件结构设计的图形工具</a:t>
            </a:r>
          </a:p>
        </p:txBody>
      </p:sp>
      <p:sp>
        <p:nvSpPr>
          <p:cNvPr id="67" name="文本框 36"/>
          <p:cNvSpPr txBox="1"/>
          <p:nvPr/>
        </p:nvSpPr>
        <p:spPr>
          <a:xfrm>
            <a:off x="4239260" y="3546475"/>
            <a:ext cx="63500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03</a:t>
            </a:r>
            <a:endParaRPr lang="zh-CN" altLang="en-US" sz="2400" b="1" dirty="0">
              <a:solidFill>
                <a:schemeClr val="bg1"/>
              </a:solidFill>
              <a:latin typeface="微软雅黑" panose="020B0503020204020204" charset="-122"/>
              <a:ea typeface="微软雅黑" panose="020B0503020204020204" charset="-122"/>
            </a:endParaRPr>
          </a:p>
        </p:txBody>
      </p:sp>
      <p:grpSp>
        <p:nvGrpSpPr>
          <p:cNvPr id="6" name="组合 5"/>
          <p:cNvGrpSpPr/>
          <p:nvPr/>
        </p:nvGrpSpPr>
        <p:grpSpPr>
          <a:xfrm>
            <a:off x="3549650" y="4378325"/>
            <a:ext cx="4683760" cy="611505"/>
            <a:chOff x="5228" y="7274"/>
            <a:chExt cx="7100" cy="963"/>
          </a:xfrm>
        </p:grpSpPr>
        <p:pic>
          <p:nvPicPr>
            <p:cNvPr id="68" name="图片 40"/>
            <p:cNvPicPr>
              <a:picLocks noChangeAspect="1"/>
            </p:cNvPicPr>
            <p:nvPr/>
          </p:nvPicPr>
          <p:blipFill>
            <a:blip r:embed="rId9" cstate="print"/>
            <a:stretch>
              <a:fillRect/>
            </a:stretch>
          </p:blipFill>
          <p:spPr>
            <a:xfrm>
              <a:off x="5228" y="7274"/>
              <a:ext cx="963" cy="963"/>
            </a:xfrm>
            <a:prstGeom prst="rect">
              <a:avLst/>
            </a:prstGeom>
            <a:noFill/>
            <a:ln w="9525">
              <a:noFill/>
            </a:ln>
          </p:spPr>
        </p:pic>
        <p:sp>
          <p:nvSpPr>
            <p:cNvPr id="69" name="椭圆 68"/>
            <p:cNvSpPr/>
            <p:nvPr/>
          </p:nvSpPr>
          <p:spPr>
            <a:xfrm>
              <a:off x="5228" y="7274"/>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5" name="组合 42"/>
            <p:cNvGrpSpPr/>
            <p:nvPr/>
          </p:nvGrpSpPr>
          <p:grpSpPr>
            <a:xfrm>
              <a:off x="6383" y="7274"/>
              <a:ext cx="5945" cy="960"/>
              <a:chOff x="6004452" y="1971917"/>
              <a:chExt cx="3406249" cy="610204"/>
            </a:xfrm>
          </p:grpSpPr>
          <p:pic>
            <p:nvPicPr>
              <p:cNvPr id="71" name="图片 45"/>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72" name="圆角矩形 71"/>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73" name="文本框 43"/>
            <p:cNvSpPr txBox="1"/>
            <p:nvPr/>
          </p:nvSpPr>
          <p:spPr>
            <a:xfrm>
              <a:off x="6825" y="7371"/>
              <a:ext cx="522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面向数据流的设计方法</a:t>
              </a:r>
            </a:p>
          </p:txBody>
        </p:sp>
        <p:sp>
          <p:nvSpPr>
            <p:cNvPr id="74" name="文本框 44"/>
            <p:cNvSpPr txBox="1"/>
            <p:nvPr/>
          </p:nvSpPr>
          <p:spPr>
            <a:xfrm>
              <a:off x="5288" y="7411"/>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04</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7" name="组合 6"/>
          <p:cNvGrpSpPr/>
          <p:nvPr/>
        </p:nvGrpSpPr>
        <p:grpSpPr>
          <a:xfrm>
            <a:off x="2767330" y="5290185"/>
            <a:ext cx="4666637" cy="611505"/>
            <a:chOff x="5228" y="7274"/>
            <a:chExt cx="7100" cy="963"/>
          </a:xfrm>
        </p:grpSpPr>
        <p:pic>
          <p:nvPicPr>
            <p:cNvPr id="8" name="图片 40"/>
            <p:cNvPicPr>
              <a:picLocks noChangeAspect="1"/>
            </p:cNvPicPr>
            <p:nvPr/>
          </p:nvPicPr>
          <p:blipFill>
            <a:blip r:embed="rId9" cstate="print"/>
            <a:stretch>
              <a:fillRect/>
            </a:stretch>
          </p:blipFill>
          <p:spPr>
            <a:xfrm>
              <a:off x="5228" y="7274"/>
              <a:ext cx="963" cy="963"/>
            </a:xfrm>
            <a:prstGeom prst="rect">
              <a:avLst/>
            </a:prstGeom>
            <a:noFill/>
            <a:ln w="9525">
              <a:noFill/>
            </a:ln>
          </p:spPr>
        </p:pic>
        <p:sp>
          <p:nvSpPr>
            <p:cNvPr id="9" name="椭圆 8"/>
            <p:cNvSpPr/>
            <p:nvPr/>
          </p:nvSpPr>
          <p:spPr>
            <a:xfrm>
              <a:off x="5228" y="7274"/>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10" name="组合 42"/>
            <p:cNvGrpSpPr/>
            <p:nvPr/>
          </p:nvGrpSpPr>
          <p:grpSpPr>
            <a:xfrm>
              <a:off x="6383" y="7274"/>
              <a:ext cx="5945" cy="960"/>
              <a:chOff x="6004452" y="1971917"/>
              <a:chExt cx="3406249" cy="610204"/>
            </a:xfrm>
          </p:grpSpPr>
          <p:pic>
            <p:nvPicPr>
              <p:cNvPr id="11" name="图片 45"/>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12" name="圆角矩形 11"/>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13" name="文本框 43"/>
            <p:cNvSpPr txBox="1"/>
            <p:nvPr/>
          </p:nvSpPr>
          <p:spPr>
            <a:xfrm>
              <a:off x="6825" y="7371"/>
              <a:ext cx="522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过程设计工具</a:t>
              </a:r>
            </a:p>
          </p:txBody>
        </p:sp>
        <p:sp>
          <p:nvSpPr>
            <p:cNvPr id="14" name="文本框 44"/>
            <p:cNvSpPr txBox="1"/>
            <p:nvPr/>
          </p:nvSpPr>
          <p:spPr>
            <a:xfrm>
              <a:off x="5288" y="7411"/>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05</a:t>
              </a:r>
              <a:endParaRPr lang="zh-CN" altLang="en-US" sz="2400" b="1" dirty="0">
                <a:solidFill>
                  <a:schemeClr val="bg1"/>
                </a:solidFill>
                <a:latin typeface="微软雅黑" panose="020B0503020204020204" charset="-122"/>
                <a:ea typeface="微软雅黑" panose="020B0503020204020204" charset="-122"/>
              </a:endParaRPr>
            </a:p>
          </p:txBody>
        </p:sp>
      </p:grpSp>
    </p:spTree>
    <p:custDataLst>
      <p:tags r:id="rId1"/>
    </p:custDataLst>
  </p:cSld>
  <p:clrMapOvr>
    <a:masterClrMapping/>
  </p:clrMapOvr>
  <p:transition>
    <p:dissolv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任意多边形 17"/>
          <p:cNvSpPr/>
          <p:nvPr>
            <p:custDataLst>
              <p:tags r:id="rId2"/>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5123" name="Text Box 20"/>
          <p:cNvSpPr txBox="1">
            <a:spLocks noChangeArrowheads="1"/>
          </p:cNvSpPr>
          <p:nvPr>
            <p:custDataLst>
              <p:tags r:id="rId3"/>
            </p:custDataLst>
          </p:nvPr>
        </p:nvSpPr>
        <p:spPr bwMode="auto">
          <a:xfrm>
            <a:off x="1794269" y="1781267"/>
            <a:ext cx="2415116" cy="489585"/>
          </a:xfrm>
          <a:prstGeom prst="rect">
            <a:avLst/>
          </a:prstGeom>
          <a:noFill/>
          <a:ln w="9525">
            <a:noFill/>
            <a:miter lim="800000"/>
          </a:ln>
          <a:effectLst/>
        </p:spPr>
        <p:txBody>
          <a:bodyPr>
            <a:spAutoFit/>
          </a:bodyPr>
          <a:lstStyle/>
          <a:p>
            <a:pPr algn="dist" eaLnBrk="1" hangingPunct="1">
              <a:buFont typeface="Arial" panose="020B0604020202020204" pitchFamily="34" charset="0"/>
              <a:buNone/>
            </a:pPr>
            <a:r>
              <a:rPr lang="zh-CN" altLang="en-US" sz="2400" dirty="0">
                <a:solidFill>
                  <a:srgbClr val="FFFFFF"/>
                </a:solidFill>
                <a:latin typeface="Arial Black" panose="020B0A04020102020204" pitchFamily="34" charset="0"/>
                <a:ea typeface="华文新魏" panose="02010800040101010101" pitchFamily="2" charset="-122"/>
              </a:rPr>
              <a:t>Contents</a:t>
            </a:r>
          </a:p>
        </p:txBody>
      </p:sp>
      <p:sp>
        <p:nvSpPr>
          <p:cNvPr id="5124" name="文本框 20"/>
          <p:cNvSpPr txBox="1">
            <a:spLocks noChangeArrowheads="1"/>
          </p:cNvSpPr>
          <p:nvPr>
            <p:custDataLst>
              <p:tags r:id="rId4"/>
            </p:custDataLst>
          </p:nvPr>
        </p:nvSpPr>
        <p:spPr bwMode="auto">
          <a:xfrm>
            <a:off x="178820" y="828675"/>
            <a:ext cx="1797049" cy="822960"/>
          </a:xfrm>
          <a:prstGeom prst="rect">
            <a:avLst/>
          </a:prstGeom>
          <a:noFill/>
          <a:ln w="9525">
            <a:noFill/>
            <a:miter lim="800000"/>
          </a:ln>
        </p:spPr>
        <p:txBody>
          <a:bodyPr>
            <a:spAutoFit/>
          </a:bodyPr>
          <a:lstStyle>
            <a:defPPr>
              <a:defRPr lang="zh-CN"/>
            </a:defPPr>
            <a:lvl1pPr algn="ctr">
              <a:buFont typeface="Arial" panose="020B0604020202020204" pitchFamily="34" charset="0"/>
              <a:buNone/>
              <a:defRPr sz="4800">
                <a:solidFill>
                  <a:srgbClr val="FFFFFF"/>
                </a:solidFill>
                <a:latin typeface="微软雅黑" panose="020B0503020204020204" charset="-122"/>
              </a:defRPr>
            </a:lvl1pPr>
          </a:lstStyle>
          <a:p>
            <a:r>
              <a:rPr lang="zh-CN" altLang="en-US" dirty="0"/>
              <a:t>目录</a:t>
            </a:r>
          </a:p>
        </p:txBody>
      </p:sp>
      <p:cxnSp>
        <p:nvCxnSpPr>
          <p:cNvPr id="5125" name="直接连接符 22"/>
          <p:cNvCxnSpPr>
            <a:cxnSpLocks noChangeShapeType="1"/>
          </p:cNvCxnSpPr>
          <p:nvPr>
            <p:custDataLst>
              <p:tags r:id="rId5"/>
            </p:custDataLst>
          </p:nvPr>
        </p:nvCxnSpPr>
        <p:spPr bwMode="auto">
          <a:xfrm>
            <a:off x="762001" y="1628775"/>
            <a:ext cx="3240617" cy="0"/>
          </a:xfrm>
          <a:prstGeom prst="line">
            <a:avLst/>
          </a:prstGeom>
          <a:noFill/>
          <a:ln w="9525">
            <a:solidFill>
              <a:srgbClr val="FFFFFF"/>
            </a:solidFill>
            <a:prstDash val="sysDash"/>
            <a:round/>
          </a:ln>
        </p:spPr>
      </p:cxnSp>
      <p:cxnSp>
        <p:nvCxnSpPr>
          <p:cNvPr id="5126" name="直接连接符 24"/>
          <p:cNvCxnSpPr>
            <a:cxnSpLocks noChangeShapeType="1"/>
          </p:cNvCxnSpPr>
          <p:nvPr>
            <p:custDataLst>
              <p:tags r:id="rId6"/>
            </p:custDataLst>
          </p:nvPr>
        </p:nvCxnSpPr>
        <p:spPr bwMode="auto">
          <a:xfrm>
            <a:off x="1761067" y="534989"/>
            <a:ext cx="0" cy="2124075"/>
          </a:xfrm>
          <a:prstGeom prst="line">
            <a:avLst/>
          </a:prstGeom>
          <a:noFill/>
          <a:ln w="9525">
            <a:solidFill>
              <a:srgbClr val="FFFFFF"/>
            </a:solidFill>
            <a:prstDash val="sysDash"/>
            <a:round/>
          </a:ln>
        </p:spPr>
      </p:cxnSp>
      <p:grpSp>
        <p:nvGrpSpPr>
          <p:cNvPr id="17" name="组合 16"/>
          <p:cNvGrpSpPr/>
          <p:nvPr/>
        </p:nvGrpSpPr>
        <p:grpSpPr>
          <a:xfrm>
            <a:off x="5424805" y="1630680"/>
            <a:ext cx="5085080" cy="611505"/>
            <a:chOff x="8728" y="2565"/>
            <a:chExt cx="8008" cy="963"/>
          </a:xfrm>
        </p:grpSpPr>
        <p:pic>
          <p:nvPicPr>
            <p:cNvPr id="47" name="图片 14"/>
            <p:cNvPicPr>
              <a:picLocks noChangeAspect="1"/>
            </p:cNvPicPr>
            <p:nvPr/>
          </p:nvPicPr>
          <p:blipFill>
            <a:blip r:embed="rId9" cstate="print"/>
            <a:stretch>
              <a:fillRect/>
            </a:stretch>
          </p:blipFill>
          <p:spPr>
            <a:xfrm>
              <a:off x="8728" y="2565"/>
              <a:ext cx="963" cy="963"/>
            </a:xfrm>
            <a:prstGeom prst="rect">
              <a:avLst/>
            </a:prstGeom>
            <a:noFill/>
            <a:ln w="9525">
              <a:noFill/>
            </a:ln>
          </p:spPr>
        </p:pic>
        <p:sp>
          <p:nvSpPr>
            <p:cNvPr id="48" name="椭圆 47"/>
            <p:cNvSpPr/>
            <p:nvPr/>
          </p:nvSpPr>
          <p:spPr>
            <a:xfrm>
              <a:off x="8728" y="2565"/>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2" name="组合 20"/>
            <p:cNvGrpSpPr/>
            <p:nvPr/>
          </p:nvGrpSpPr>
          <p:grpSpPr>
            <a:xfrm>
              <a:off x="9883" y="2565"/>
              <a:ext cx="6853" cy="960"/>
              <a:chOff x="6004452" y="1971917"/>
              <a:chExt cx="3406249" cy="610204"/>
            </a:xfrm>
          </p:grpSpPr>
          <p:pic>
            <p:nvPicPr>
              <p:cNvPr id="50" name="图片 10"/>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51" name="圆角矩形 50"/>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2" name="文本框 19"/>
            <p:cNvSpPr txBox="1"/>
            <p:nvPr/>
          </p:nvSpPr>
          <p:spPr>
            <a:xfrm>
              <a:off x="10325" y="2660"/>
              <a:ext cx="6217"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zh-CN" sz="2400" b="1" dirty="0">
                  <a:solidFill>
                    <a:schemeClr val="bg1"/>
                  </a:solidFill>
                  <a:latin typeface="微软雅黑" panose="020B0503020204020204" charset="-122"/>
                  <a:ea typeface="微软雅黑" panose="020B0503020204020204" charset="-122"/>
                </a:rPr>
                <a:t>用户界面设计</a:t>
              </a:r>
            </a:p>
          </p:txBody>
        </p:sp>
        <p:sp>
          <p:nvSpPr>
            <p:cNvPr id="53" name="文本框 21"/>
            <p:cNvSpPr txBox="1"/>
            <p:nvPr/>
          </p:nvSpPr>
          <p:spPr>
            <a:xfrm>
              <a:off x="8788" y="2700"/>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06</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6" name="组合 15"/>
          <p:cNvGrpSpPr/>
          <p:nvPr/>
        </p:nvGrpSpPr>
        <p:grpSpPr>
          <a:xfrm>
            <a:off x="4691380" y="2659380"/>
            <a:ext cx="4772025" cy="612775"/>
            <a:chOff x="7754" y="4005"/>
            <a:chExt cx="7515" cy="965"/>
          </a:xfrm>
        </p:grpSpPr>
        <p:pic>
          <p:nvPicPr>
            <p:cNvPr id="54" name="图片 24"/>
            <p:cNvPicPr>
              <a:picLocks noChangeAspect="1"/>
            </p:cNvPicPr>
            <p:nvPr/>
          </p:nvPicPr>
          <p:blipFill>
            <a:blip r:embed="rId9" cstate="print"/>
            <a:stretch>
              <a:fillRect/>
            </a:stretch>
          </p:blipFill>
          <p:spPr>
            <a:xfrm>
              <a:off x="7754" y="4005"/>
              <a:ext cx="963" cy="965"/>
            </a:xfrm>
            <a:prstGeom prst="rect">
              <a:avLst/>
            </a:prstGeom>
            <a:noFill/>
            <a:ln w="9525">
              <a:noFill/>
            </a:ln>
          </p:spPr>
        </p:pic>
        <p:sp>
          <p:nvSpPr>
            <p:cNvPr id="55" name="椭圆 54"/>
            <p:cNvSpPr/>
            <p:nvPr/>
          </p:nvSpPr>
          <p:spPr>
            <a:xfrm>
              <a:off x="7754" y="4005"/>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3" name="组合 26"/>
            <p:cNvGrpSpPr/>
            <p:nvPr/>
          </p:nvGrpSpPr>
          <p:grpSpPr>
            <a:xfrm>
              <a:off x="8909" y="4005"/>
              <a:ext cx="6360" cy="963"/>
              <a:chOff x="6004452" y="1971917"/>
              <a:chExt cx="3406249" cy="610204"/>
            </a:xfrm>
          </p:grpSpPr>
          <p:pic>
            <p:nvPicPr>
              <p:cNvPr id="57" name="图片 29"/>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58" name="圆角矩形 57"/>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9" name="文本框 27"/>
            <p:cNvSpPr txBox="1"/>
            <p:nvPr/>
          </p:nvSpPr>
          <p:spPr>
            <a:xfrm>
              <a:off x="9352" y="4103"/>
              <a:ext cx="522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数据代码设计</a:t>
              </a:r>
            </a:p>
          </p:txBody>
        </p:sp>
        <p:sp>
          <p:nvSpPr>
            <p:cNvPr id="60" name="文本框 28"/>
            <p:cNvSpPr txBox="1"/>
            <p:nvPr/>
          </p:nvSpPr>
          <p:spPr>
            <a:xfrm>
              <a:off x="7814" y="4143"/>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07</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5" name="组合 14"/>
          <p:cNvGrpSpPr/>
          <p:nvPr/>
        </p:nvGrpSpPr>
        <p:grpSpPr>
          <a:xfrm>
            <a:off x="4083050" y="3623945"/>
            <a:ext cx="4770755" cy="612775"/>
            <a:chOff x="6616" y="5448"/>
            <a:chExt cx="7513" cy="965"/>
          </a:xfrm>
        </p:grpSpPr>
        <p:pic>
          <p:nvPicPr>
            <p:cNvPr id="61" name="图片 32"/>
            <p:cNvPicPr>
              <a:picLocks noChangeAspect="1"/>
            </p:cNvPicPr>
            <p:nvPr/>
          </p:nvPicPr>
          <p:blipFill>
            <a:blip r:embed="rId9" cstate="print"/>
            <a:stretch>
              <a:fillRect/>
            </a:stretch>
          </p:blipFill>
          <p:spPr>
            <a:xfrm>
              <a:off x="6616" y="5448"/>
              <a:ext cx="963" cy="965"/>
            </a:xfrm>
            <a:prstGeom prst="rect">
              <a:avLst/>
            </a:prstGeom>
            <a:noFill/>
            <a:ln w="9525">
              <a:noFill/>
            </a:ln>
          </p:spPr>
        </p:pic>
        <p:sp>
          <p:nvSpPr>
            <p:cNvPr id="62" name="椭圆 61"/>
            <p:cNvSpPr/>
            <p:nvPr/>
          </p:nvSpPr>
          <p:spPr>
            <a:xfrm>
              <a:off x="6616" y="5448"/>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4" name="组合 34"/>
            <p:cNvGrpSpPr/>
            <p:nvPr/>
          </p:nvGrpSpPr>
          <p:grpSpPr>
            <a:xfrm>
              <a:off x="7771" y="5448"/>
              <a:ext cx="6358" cy="962"/>
              <a:chOff x="6004452" y="1971917"/>
              <a:chExt cx="3406249" cy="610204"/>
            </a:xfrm>
          </p:grpSpPr>
          <p:pic>
            <p:nvPicPr>
              <p:cNvPr id="64" name="图片 37"/>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65" name="圆角矩形 64"/>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66" name="文本框 35"/>
            <p:cNvSpPr txBox="1"/>
            <p:nvPr/>
          </p:nvSpPr>
          <p:spPr>
            <a:xfrm>
              <a:off x="8213" y="5545"/>
              <a:ext cx="5916"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面向数据结构的设计方法</a:t>
              </a:r>
            </a:p>
          </p:txBody>
        </p:sp>
        <p:sp>
          <p:nvSpPr>
            <p:cNvPr id="67" name="文本框 36"/>
            <p:cNvSpPr txBox="1"/>
            <p:nvPr/>
          </p:nvSpPr>
          <p:spPr>
            <a:xfrm>
              <a:off x="6676" y="5585"/>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08</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6" name="组合 5"/>
          <p:cNvGrpSpPr/>
          <p:nvPr/>
        </p:nvGrpSpPr>
        <p:grpSpPr>
          <a:xfrm>
            <a:off x="3321050" y="4641850"/>
            <a:ext cx="4683760" cy="611505"/>
            <a:chOff x="5228" y="7274"/>
            <a:chExt cx="7100" cy="963"/>
          </a:xfrm>
        </p:grpSpPr>
        <p:pic>
          <p:nvPicPr>
            <p:cNvPr id="68" name="图片 40"/>
            <p:cNvPicPr>
              <a:picLocks noChangeAspect="1"/>
            </p:cNvPicPr>
            <p:nvPr/>
          </p:nvPicPr>
          <p:blipFill>
            <a:blip r:embed="rId9" cstate="print"/>
            <a:stretch>
              <a:fillRect/>
            </a:stretch>
          </p:blipFill>
          <p:spPr>
            <a:xfrm>
              <a:off x="5228" y="7274"/>
              <a:ext cx="963" cy="963"/>
            </a:xfrm>
            <a:prstGeom prst="rect">
              <a:avLst/>
            </a:prstGeom>
            <a:noFill/>
            <a:ln w="9525">
              <a:noFill/>
            </a:ln>
          </p:spPr>
        </p:pic>
        <p:sp>
          <p:nvSpPr>
            <p:cNvPr id="69" name="椭圆 68"/>
            <p:cNvSpPr/>
            <p:nvPr/>
          </p:nvSpPr>
          <p:spPr>
            <a:xfrm>
              <a:off x="5228" y="7274"/>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5" name="组合 42"/>
            <p:cNvGrpSpPr/>
            <p:nvPr/>
          </p:nvGrpSpPr>
          <p:grpSpPr>
            <a:xfrm>
              <a:off x="6383" y="7274"/>
              <a:ext cx="5945" cy="960"/>
              <a:chOff x="6004452" y="1971917"/>
              <a:chExt cx="3406249" cy="610204"/>
            </a:xfrm>
          </p:grpSpPr>
          <p:pic>
            <p:nvPicPr>
              <p:cNvPr id="71" name="图片 45"/>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72" name="圆角矩形 71"/>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73" name="文本框 43"/>
            <p:cNvSpPr txBox="1"/>
            <p:nvPr/>
          </p:nvSpPr>
          <p:spPr>
            <a:xfrm>
              <a:off x="6825" y="7371"/>
              <a:ext cx="522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软件设计文档</a:t>
              </a:r>
            </a:p>
          </p:txBody>
        </p:sp>
        <p:sp>
          <p:nvSpPr>
            <p:cNvPr id="74" name="文本框 44"/>
            <p:cNvSpPr txBox="1"/>
            <p:nvPr/>
          </p:nvSpPr>
          <p:spPr>
            <a:xfrm>
              <a:off x="5288" y="7411"/>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09</a:t>
              </a:r>
              <a:endParaRPr lang="zh-CN" altLang="en-US" sz="2400" b="1" dirty="0">
                <a:solidFill>
                  <a:schemeClr val="bg1"/>
                </a:solidFill>
                <a:latin typeface="微软雅黑" panose="020B0503020204020204" charset="-122"/>
                <a:ea typeface="微软雅黑" panose="020B0503020204020204" charset="-122"/>
              </a:endParaRPr>
            </a:p>
          </p:txBody>
        </p:sp>
      </p:grpSp>
    </p:spTree>
    <p:custDataLst>
      <p:tags r:id="rId1"/>
    </p:custDataLst>
  </p:cSld>
  <p:clrMapOvr>
    <a:masterClrMapping/>
  </p:clrMapOvr>
  <p:transition>
    <p:dissolv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latin typeface="Times New Roman" panose="02020603050405020304" pitchFamily="18" charset="0"/>
            </a:endParaRPr>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1</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软件设计步骤</a:t>
            </a:r>
          </a:p>
        </p:txBody>
      </p:sp>
      <p:grpSp>
        <p:nvGrpSpPr>
          <p:cNvPr id="11" name="组合 10"/>
          <p:cNvGrpSpPr/>
          <p:nvPr/>
        </p:nvGrpSpPr>
        <p:grpSpPr>
          <a:xfrm>
            <a:off x="6006465" y="4135755"/>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概要设计的一般步骤</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详细设计的基本任务</a:t>
              </a:r>
            </a:p>
          </p:txBody>
        </p:sp>
      </p:gr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t>3.1 </a:t>
            </a:r>
            <a:r>
              <a:rPr lang="zh-CN" altLang="en-US"/>
              <a:t>软件设计步骤</a:t>
            </a:r>
            <a:endParaRPr lang="zh-CN" altLang="en-US" dirty="0"/>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dirty="0">
                <a:ln>
                  <a:noFill/>
                </a:ln>
                <a:solidFill>
                  <a:schemeClr val="tx1"/>
                </a:solidFill>
                <a:effectLst/>
                <a:uLnTx/>
                <a:uFillTx/>
                <a:latin typeface="微软雅黑" panose="020B0503020204020204" charset="-122"/>
                <a:ea typeface="微软雅黑" panose="020B0503020204020204" charset="-122"/>
              </a:rPr>
              <a:t>软件设计</a:t>
            </a:r>
          </a:p>
        </p:txBody>
      </p:sp>
      <p:sp>
        <p:nvSpPr>
          <p:cNvPr id="100" name="文本框 99"/>
          <p:cNvSpPr txBox="1"/>
          <p:nvPr/>
        </p:nvSpPr>
        <p:spPr>
          <a:xfrm>
            <a:off x="1422400" y="1930400"/>
            <a:ext cx="10329545" cy="4053417"/>
          </a:xfrm>
          <a:prstGeom prst="rect">
            <a:avLst/>
          </a:prstGeom>
          <a:noFill/>
          <a:ln w="9525">
            <a:noFill/>
          </a:ln>
        </p:spPr>
        <p:txBody>
          <a:bodyPr wrap="square">
            <a:spAutoFit/>
          </a:bodyPr>
          <a:lstStyle/>
          <a:p>
            <a:pPr marL="0" indent="0" algn="l" fontAlgn="auto">
              <a:lnSpc>
                <a:spcPct val="130000"/>
              </a:lnSpc>
            </a:pPr>
            <a:r>
              <a:rPr lang="en-US" altLang="zh-CN" b="0" u="none" dirty="0">
                <a:latin typeface="宋体" panose="02010600030101010101" pitchFamily="2" charset="-122"/>
                <a:ea typeface="宋体" panose="02010600030101010101" pitchFamily="2" charset="-122"/>
                <a:cs typeface="宋体" panose="02010600030101010101" pitchFamily="2" charset="-122"/>
              </a:rPr>
              <a:t>    </a:t>
            </a:r>
            <a:r>
              <a:rPr lang="zh-CN" altLang="en-US" b="0" u="none" dirty="0">
                <a:latin typeface="宋体" panose="02010600030101010101" pitchFamily="2" charset="-122"/>
                <a:ea typeface="宋体" panose="02010600030101010101" pitchFamily="2" charset="-122"/>
                <a:cs typeface="宋体" panose="02010600030101010101" pitchFamily="2" charset="-122"/>
              </a:rPr>
              <a:t>经过需求分析阶段，已经明确了软件系统要“做什么”，</a:t>
            </a:r>
            <a:r>
              <a:rPr lang="zh-CN" altLang="en-US" b="0" u="none" dirty="0">
                <a:solidFill>
                  <a:schemeClr val="accent6">
                    <a:lumMod val="50000"/>
                  </a:schemeClr>
                </a:solidFill>
                <a:latin typeface="宋体" panose="02010600030101010101" pitchFamily="2" charset="-122"/>
                <a:ea typeface="宋体" panose="02010600030101010101" pitchFamily="2" charset="-122"/>
                <a:cs typeface="宋体" panose="02010600030101010101" pitchFamily="2" charset="-122"/>
              </a:rPr>
              <a:t>下一步的任务</a:t>
            </a:r>
            <a:r>
              <a:rPr lang="zh-CN" altLang="en-US" b="0" u="none" dirty="0">
                <a:latin typeface="宋体" panose="02010600030101010101" pitchFamily="2" charset="-122"/>
                <a:ea typeface="宋体" panose="02010600030101010101" pitchFamily="2" charset="-122"/>
                <a:cs typeface="宋体" panose="02010600030101010101" pitchFamily="2" charset="-122"/>
              </a:rPr>
              <a:t>是如何实现软件系统的需求。如果系统比较简单，一旦确定了需求，便可立即开始编写程序。但对于大型软件系统来说，则不能急于进入编写程序的阶段。为了保证软件产品的质量，提高软件开发效率，必须先制订软件系统设计方案，确定软件的结构，然后根据系统的特点选择合适的设计方法。</a:t>
            </a:r>
          </a:p>
          <a:p>
            <a:pPr>
              <a:lnSpc>
                <a:spcPct val="130000"/>
              </a:lnSpc>
            </a:pPr>
            <a:r>
              <a:rPr lang="zh-CN" altLang="en-US" b="0" u="none" dirty="0">
                <a:latin typeface="宋体" panose="02010600030101010101" pitchFamily="2" charset="-122"/>
                <a:ea typeface="宋体" panose="02010600030101010101" pitchFamily="2" charset="-122"/>
                <a:cs typeface="宋体" panose="02010600030101010101" pitchFamily="2" charset="-122"/>
              </a:rPr>
              <a:t>    传统的软件工程方法学采用</a:t>
            </a:r>
            <a:r>
              <a:rPr lang="zh-CN" altLang="en-US" b="0" u="none" dirty="0">
                <a:solidFill>
                  <a:schemeClr val="accent1">
                    <a:lumMod val="50000"/>
                  </a:schemeClr>
                </a:solidFill>
                <a:latin typeface="宋体" panose="02010600030101010101" pitchFamily="2" charset="-122"/>
                <a:ea typeface="宋体" panose="02010600030101010101" pitchFamily="2" charset="-122"/>
                <a:cs typeface="宋体" panose="02010600030101010101" pitchFamily="2" charset="-122"/>
              </a:rPr>
              <a:t>结构化设计</a:t>
            </a:r>
            <a:r>
              <a:rPr lang="zh-CN" altLang="en-US" b="0" u="none" dirty="0">
                <a:latin typeface="宋体" panose="02010600030101010101" pitchFamily="2" charset="-122"/>
                <a:ea typeface="宋体" panose="02010600030101010101" pitchFamily="2" charset="-122"/>
                <a:cs typeface="宋体" panose="02010600030101010101" pitchFamily="2" charset="-122"/>
              </a:rPr>
              <a:t>（</a:t>
            </a:r>
            <a:r>
              <a:rPr lang="en-US" altLang="zh-CN" b="0" u="none" dirty="0">
                <a:latin typeface="宋体" panose="02010600030101010101" pitchFamily="2" charset="-122"/>
                <a:ea typeface="宋体" panose="02010600030101010101" pitchFamily="2" charset="-122"/>
                <a:cs typeface="宋体" panose="02010600030101010101" pitchFamily="2" charset="-122"/>
              </a:rPr>
              <a:t>Structured Design</a:t>
            </a:r>
            <a:r>
              <a:rPr lang="zh-CN" altLang="en-US" b="0" u="none" dirty="0">
                <a:latin typeface="宋体" panose="02010600030101010101" pitchFamily="2" charset="-122"/>
                <a:ea typeface="宋体" panose="02010600030101010101" pitchFamily="2" charset="-122"/>
                <a:cs typeface="宋体" panose="02010600030101010101" pitchFamily="2" charset="-122"/>
              </a:rPr>
              <a:t>，</a:t>
            </a:r>
            <a:r>
              <a:rPr lang="en-US" altLang="zh-CN" b="0" u="none" dirty="0">
                <a:latin typeface="Times New Roman" panose="02020603050405020304" charset="0"/>
                <a:ea typeface="Times New Roman" panose="02020603050405020304" charset="0"/>
                <a:cs typeface="Times New Roman" panose="02020603050405020304" charset="0"/>
              </a:rPr>
              <a:t>SD</a:t>
            </a:r>
            <a:r>
              <a:rPr lang="zh-CN" altLang="en-US" b="0" u="none" dirty="0">
                <a:latin typeface="宋体" panose="02010600030101010101" pitchFamily="2" charset="-122"/>
                <a:ea typeface="宋体" panose="02010600030101010101" pitchFamily="2" charset="-122"/>
                <a:cs typeface="宋体" panose="02010600030101010101" pitchFamily="2" charset="-122"/>
              </a:rPr>
              <a:t>）技术完成软件设计工作。结构化设计通常把软件设计工作分为概要设计和详细设计两个阶段，其基本要点为：</a:t>
            </a:r>
            <a:endParaRPr lang="zh-CN" altLang="en-US" b="0" u="none" dirty="0">
              <a:solidFill>
                <a:srgbClr val="7F00E4"/>
              </a:solidFill>
              <a:latin typeface="Wingdings" panose="05000000000000000000" charset="0"/>
              <a:ea typeface="Wingdings" panose="05000000000000000000" charset="0"/>
              <a:cs typeface="Wingdings" panose="05000000000000000000" charset="0"/>
            </a:endParaRPr>
          </a:p>
          <a:p>
            <a:pPr marL="0" indent="0" algn="l" fontAlgn="auto">
              <a:lnSpc>
                <a:spcPct val="130000"/>
              </a:lnSpc>
            </a:pPr>
            <a:r>
              <a:rPr lang="en-US" altLang="zh-CN" b="0" u="none" dirty="0">
                <a:solidFill>
                  <a:srgbClr val="7F00E4"/>
                </a:solidFill>
                <a:latin typeface="Wingdings" panose="05000000000000000000" charset="0"/>
                <a:ea typeface="Wingdings" panose="05000000000000000000" charset="0"/>
                <a:cs typeface="Wingdings" panose="05000000000000000000" charset="0"/>
              </a:rPr>
              <a:t>Ø </a:t>
            </a:r>
            <a:r>
              <a:rPr lang="zh-CN" altLang="en-US" b="0" u="none" dirty="0">
                <a:solidFill>
                  <a:schemeClr val="accent3">
                    <a:lumMod val="50000"/>
                  </a:schemeClr>
                </a:solidFill>
                <a:latin typeface="宋体" panose="02010600030101010101" pitchFamily="2" charset="-122"/>
                <a:ea typeface="宋体" panose="02010600030101010101" pitchFamily="2" charset="-122"/>
                <a:cs typeface="宋体" panose="02010600030101010101" pitchFamily="2" charset="-122"/>
              </a:rPr>
              <a:t>软件系统由层次结构的模块构成；</a:t>
            </a:r>
          </a:p>
          <a:p>
            <a:pPr marL="0" indent="0" algn="l" fontAlgn="auto">
              <a:lnSpc>
                <a:spcPct val="130000"/>
              </a:lnSpc>
            </a:pPr>
            <a:r>
              <a:rPr lang="en-US" altLang="zh-CN" b="0" u="none" dirty="0">
                <a:solidFill>
                  <a:srgbClr val="7F00E4"/>
                </a:solidFill>
                <a:latin typeface="Wingdings" panose="05000000000000000000" charset="0"/>
                <a:ea typeface="Wingdings" panose="05000000000000000000" charset="0"/>
                <a:cs typeface="Wingdings" panose="05000000000000000000" charset="0"/>
              </a:rPr>
              <a:t>Ø </a:t>
            </a:r>
            <a:r>
              <a:rPr lang="zh-CN" altLang="en-US" b="0" u="none" dirty="0">
                <a:solidFill>
                  <a:schemeClr val="accent3">
                    <a:lumMod val="50000"/>
                  </a:schemeClr>
                </a:solidFill>
                <a:latin typeface="宋体" panose="02010600030101010101" pitchFamily="2" charset="-122"/>
                <a:ea typeface="宋体" panose="02010600030101010101" pitchFamily="2" charset="-122"/>
                <a:cs typeface="宋体" panose="02010600030101010101" pitchFamily="2" charset="-122"/>
              </a:rPr>
              <a:t>模块是单入口、单出口的；</a:t>
            </a:r>
          </a:p>
          <a:p>
            <a:pPr marL="0" indent="0" algn="l" fontAlgn="auto">
              <a:lnSpc>
                <a:spcPct val="130000"/>
              </a:lnSpc>
            </a:pPr>
            <a:r>
              <a:rPr lang="en-US" altLang="zh-CN" b="0" u="none" dirty="0">
                <a:solidFill>
                  <a:srgbClr val="7F00E4"/>
                </a:solidFill>
                <a:latin typeface="Wingdings" panose="05000000000000000000" charset="0"/>
                <a:ea typeface="Wingdings" panose="05000000000000000000" charset="0"/>
                <a:cs typeface="Wingdings" panose="05000000000000000000" charset="0"/>
              </a:rPr>
              <a:t>Ø </a:t>
            </a:r>
            <a:r>
              <a:rPr lang="zh-CN" altLang="en-US" b="0" u="none" dirty="0">
                <a:solidFill>
                  <a:schemeClr val="accent3">
                    <a:lumMod val="50000"/>
                  </a:schemeClr>
                </a:solidFill>
                <a:latin typeface="宋体" panose="02010600030101010101" pitchFamily="2" charset="-122"/>
                <a:ea typeface="宋体" panose="02010600030101010101" pitchFamily="2" charset="-122"/>
                <a:cs typeface="宋体" panose="02010600030101010101" pitchFamily="2" charset="-122"/>
              </a:rPr>
              <a:t>模块构造和联结的基本准则是模块独立；</a:t>
            </a:r>
          </a:p>
          <a:p>
            <a:pPr marL="0" indent="0" algn="l" fontAlgn="auto">
              <a:lnSpc>
                <a:spcPct val="130000"/>
              </a:lnSpc>
            </a:pPr>
            <a:r>
              <a:rPr lang="en-US" altLang="zh-CN" b="0" u="none" dirty="0">
                <a:solidFill>
                  <a:srgbClr val="7F00E4"/>
                </a:solidFill>
                <a:latin typeface="Wingdings" panose="05000000000000000000" charset="0"/>
                <a:ea typeface="Wingdings" panose="05000000000000000000" charset="0"/>
                <a:cs typeface="Wingdings" panose="05000000000000000000" charset="0"/>
              </a:rPr>
              <a:t>Ø </a:t>
            </a:r>
            <a:r>
              <a:rPr lang="zh-CN" altLang="en-US" b="0" u="none" dirty="0">
                <a:solidFill>
                  <a:schemeClr val="accent3">
                    <a:lumMod val="50000"/>
                  </a:schemeClr>
                </a:solidFill>
                <a:latin typeface="宋体" panose="02010600030101010101" pitchFamily="2" charset="-122"/>
                <a:ea typeface="宋体" panose="02010600030101010101" pitchFamily="2" charset="-122"/>
                <a:cs typeface="宋体" panose="02010600030101010101" pitchFamily="2" charset="-122"/>
              </a:rPr>
              <a:t>软件系统结构用图来描述。</a:t>
            </a:r>
          </a:p>
          <a:p>
            <a:pPr marL="0" indent="0" algn="l" fontAlgn="auto">
              <a:lnSpc>
                <a:spcPct val="130000"/>
              </a:lnSpc>
            </a:pPr>
            <a:r>
              <a:rPr lang="zh-CN" altLang="en-US" b="0" u="none" dirty="0">
                <a:solidFill>
                  <a:srgbClr val="7F00E4"/>
                </a:solidFill>
                <a:latin typeface="黑体" panose="02010609060101010101" pitchFamily="49" charset="-122"/>
                <a:ea typeface="黑体" panose="02010609060101010101" pitchFamily="49" charset="-122"/>
                <a:cs typeface="黑体" panose="02010609060101010101" pitchFamily="49" charset="-122"/>
              </a:rPr>
              <a:t>★ 本章重点：</a:t>
            </a:r>
            <a:r>
              <a:rPr lang="zh-CN" altLang="en-US" b="0" u="none" dirty="0">
                <a:latin typeface="宋体" panose="02010600030101010101" pitchFamily="2" charset="-122"/>
                <a:ea typeface="宋体" panose="02010600030101010101" pitchFamily="2" charset="-122"/>
                <a:cs typeface="宋体" panose="02010600030101010101" pitchFamily="2" charset="-122"/>
              </a:rPr>
              <a:t>软件结构设计；过程设计工具；用户界面设计。</a:t>
            </a:r>
            <a:endParaRPr lang="zh-CN" altLang="en-US" dirty="0"/>
          </a:p>
        </p:txBody>
      </p:sp>
    </p:spTree>
  </p:cSld>
  <p:clrMapOvr>
    <a:masterClrMapping/>
  </p:clrMapOvr>
  <p:transition>
    <p:wedg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p:cNvSpPr txBox="1">
            <a:spLocks/>
          </p:cNvSpPr>
          <p:nvPr/>
        </p:nvSpPr>
        <p:spPr>
          <a:xfrm>
            <a:off x="754063" y="274898"/>
            <a:ext cx="8415337" cy="855290"/>
          </a:xfrm>
          <a:prstGeom prst="rect">
            <a:avLst/>
          </a:prstGeom>
        </p:spPr>
        <p:txBody>
          <a:bodyPr/>
          <a:lstStyle/>
          <a:p>
            <a:pPr marL="0" marR="0" lvl="0" indent="0" algn="l" defTabSz="914400" rtl="0" eaLnBrk="1" fontAlgn="base" latinLnBrk="0" hangingPunct="1">
              <a:lnSpc>
                <a:spcPct val="90000"/>
              </a:lnSpc>
              <a:spcBef>
                <a:spcPct val="0"/>
              </a:spcBef>
              <a:spcAft>
                <a:spcPct val="0"/>
              </a:spcAft>
              <a:buClrTx/>
              <a:buSzTx/>
              <a:buFontTx/>
              <a:buNone/>
              <a:tabLst/>
              <a:defRPr/>
            </a:pPr>
            <a:endParaRPr kumimoji="0" lang="zh-CN" altLang="en-US" sz="3600" b="0" i="0" u="none" strike="noStrike" kern="1200" cap="none" spc="0" normalizeH="0" baseline="0" noProof="0" dirty="0">
              <a:ln>
                <a:noFill/>
              </a:ln>
              <a:solidFill>
                <a:srgbClr val="FF0000"/>
              </a:solidFill>
              <a:effectLst/>
              <a:uLnTx/>
              <a:uFillTx/>
              <a:latin typeface="+mj-lt"/>
              <a:ea typeface="+mj-ea"/>
              <a:cs typeface="+mj-cs"/>
            </a:endParaRPr>
          </a:p>
        </p:txBody>
      </p:sp>
      <p:sp>
        <p:nvSpPr>
          <p:cNvPr id="7" name="MH_Other_1"/>
          <p:cNvSpPr/>
          <p:nvPr>
            <p:custDataLst>
              <p:tags r:id="rId1"/>
            </p:custDataLst>
          </p:nvPr>
        </p:nvSpPr>
        <p:spPr>
          <a:xfrm>
            <a:off x="5986212" y="2338584"/>
            <a:ext cx="141204" cy="3882115"/>
          </a:xfrm>
          <a:prstGeom prst="roundRect">
            <a:avLst>
              <a:gd name="adj" fmla="val 50000"/>
            </a:avLst>
          </a:prstGeom>
          <a:gradFill flip="none" rotWithShape="1">
            <a:gsLst>
              <a:gs pos="42000">
                <a:schemeClr val="bg1">
                  <a:lumMod val="95000"/>
                </a:schemeClr>
              </a:gs>
              <a:gs pos="0">
                <a:schemeClr val="tx1">
                  <a:lumMod val="50000"/>
                  <a:lumOff val="50000"/>
                </a:schemeClr>
              </a:gs>
              <a:gs pos="98000">
                <a:schemeClr val="bg1">
                  <a:lumMod val="65000"/>
                </a:schemeClr>
              </a:gs>
            </a:gsLst>
            <a:lin ang="0" scaled="1"/>
            <a:tileRect/>
          </a:gra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zh-CN" altLang="en-US" sz="1350">
              <a:latin typeface="+mn-ea"/>
            </a:endParaRPr>
          </a:p>
        </p:txBody>
      </p:sp>
      <p:sp>
        <p:nvSpPr>
          <p:cNvPr id="8" name="MH_Other_2"/>
          <p:cNvSpPr>
            <a:spLocks noChangeArrowheads="1"/>
          </p:cNvSpPr>
          <p:nvPr>
            <p:custDataLst>
              <p:tags r:id="rId2"/>
            </p:custDataLst>
          </p:nvPr>
        </p:nvSpPr>
        <p:spPr bwMode="auto">
          <a:xfrm>
            <a:off x="5713161" y="5477069"/>
            <a:ext cx="660336" cy="159461"/>
          </a:xfrm>
          <a:prstGeom prst="ellipse">
            <a:avLst/>
          </a:prstGeom>
          <a:gradFill rotWithShape="1">
            <a:gsLst>
              <a:gs pos="0">
                <a:schemeClr val="bg2">
                  <a:gamma/>
                  <a:shade val="46275"/>
                  <a:invGamma/>
                </a:schemeClr>
              </a:gs>
              <a:gs pos="100000">
                <a:schemeClr val="bg2">
                  <a:alpha val="0"/>
                </a:schemeClr>
              </a:gs>
            </a:gsLst>
            <a:path path="shape">
              <a:fillToRect l="50000" t="50000" r="50000" b="50000"/>
            </a:path>
          </a:gradFill>
          <a:ln w="9525">
            <a:noFill/>
            <a:round/>
            <a:headEnd/>
            <a:tailEnd/>
          </a:ln>
          <a:effectLst/>
        </p:spPr>
        <p:txBody>
          <a:bodyPr wrap="none" anchor="ctr"/>
          <a:lstStyle/>
          <a:p>
            <a:pPr eaLnBrk="1" fontAlgn="auto" hangingPunct="1">
              <a:spcBef>
                <a:spcPts val="0"/>
              </a:spcBef>
              <a:spcAft>
                <a:spcPts val="0"/>
              </a:spcAft>
              <a:defRPr/>
            </a:pPr>
            <a:endParaRPr lang="zh-CN" altLang="en-US" sz="1350">
              <a:latin typeface="+mn-ea"/>
              <a:ea typeface="+mn-ea"/>
            </a:endParaRPr>
          </a:p>
        </p:txBody>
      </p:sp>
      <p:sp>
        <p:nvSpPr>
          <p:cNvPr id="9" name="MH_Other_3"/>
          <p:cNvSpPr/>
          <p:nvPr>
            <p:custDataLst>
              <p:tags r:id="rId3"/>
            </p:custDataLst>
          </p:nvPr>
        </p:nvSpPr>
        <p:spPr>
          <a:xfrm>
            <a:off x="5397778" y="2791020"/>
            <a:ext cx="1198156" cy="440416"/>
          </a:xfrm>
          <a:custGeom>
            <a:avLst/>
            <a:gdLst>
              <a:gd name="connsiteX0" fmla="*/ 0 w 1779373"/>
              <a:gd name="connsiteY0" fmla="*/ 568411 h 568411"/>
              <a:gd name="connsiteX1" fmla="*/ 864973 w 1779373"/>
              <a:gd name="connsiteY1" fmla="*/ 0 h 568411"/>
              <a:gd name="connsiteX2" fmla="*/ 1779373 w 1779373"/>
              <a:gd name="connsiteY2" fmla="*/ 543698 h 568411"/>
              <a:gd name="connsiteX0" fmla="*/ 0 w 1902269"/>
              <a:gd name="connsiteY0" fmla="*/ 711790 h 711790"/>
              <a:gd name="connsiteX1" fmla="*/ 987869 w 1902269"/>
              <a:gd name="connsiteY1" fmla="*/ 0 h 711790"/>
              <a:gd name="connsiteX2" fmla="*/ 1902269 w 1902269"/>
              <a:gd name="connsiteY2" fmla="*/ 543698 h 711790"/>
              <a:gd name="connsiteX0" fmla="*/ 0 w 2025165"/>
              <a:gd name="connsiteY0" fmla="*/ 814204 h 814204"/>
              <a:gd name="connsiteX1" fmla="*/ 1110765 w 2025165"/>
              <a:gd name="connsiteY1" fmla="*/ 0 h 814204"/>
              <a:gd name="connsiteX2" fmla="*/ 2025165 w 2025165"/>
              <a:gd name="connsiteY2" fmla="*/ 543698 h 814204"/>
            </a:gdLst>
            <a:ahLst/>
            <a:cxnLst>
              <a:cxn ang="0">
                <a:pos x="connsiteX0" y="connsiteY0"/>
              </a:cxn>
              <a:cxn ang="0">
                <a:pos x="connsiteX1" y="connsiteY1"/>
              </a:cxn>
              <a:cxn ang="0">
                <a:pos x="connsiteX2" y="connsiteY2"/>
              </a:cxn>
            </a:cxnLst>
            <a:rect l="l" t="t" r="r" b="b"/>
            <a:pathLst>
              <a:path w="2025165" h="814204">
                <a:moveTo>
                  <a:pt x="0" y="814204"/>
                </a:moveTo>
                <a:lnTo>
                  <a:pt x="1110765" y="0"/>
                </a:lnTo>
                <a:lnTo>
                  <a:pt x="2025165" y="543698"/>
                </a:lnTo>
              </a:path>
            </a:pathLst>
          </a:cu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latin typeface="+mn-ea"/>
            </a:endParaRPr>
          </a:p>
        </p:txBody>
      </p:sp>
      <p:sp>
        <p:nvSpPr>
          <p:cNvPr id="10" name="MH_Other_4"/>
          <p:cNvSpPr/>
          <p:nvPr>
            <p:custDataLst>
              <p:tags r:id="rId4"/>
            </p:custDataLst>
          </p:nvPr>
        </p:nvSpPr>
        <p:spPr bwMode="auto">
          <a:xfrm>
            <a:off x="5984094" y="2724346"/>
            <a:ext cx="180659" cy="165157"/>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zh-CN" altLang="en-US" sz="1350">
              <a:latin typeface="+mn-ea"/>
            </a:endParaRPr>
          </a:p>
        </p:txBody>
      </p:sp>
      <p:sp>
        <p:nvSpPr>
          <p:cNvPr id="11" name="MH_Other_5"/>
          <p:cNvSpPr/>
          <p:nvPr>
            <p:custDataLst>
              <p:tags r:id="rId5"/>
            </p:custDataLst>
          </p:nvPr>
        </p:nvSpPr>
        <p:spPr bwMode="auto">
          <a:xfrm rot="1267204">
            <a:off x="6006113" y="2740754"/>
            <a:ext cx="132919" cy="121513"/>
          </a:xfrm>
          <a:prstGeom prst="ellipse">
            <a:avLst/>
          </a:prstGeom>
          <a:gradFill flip="none" rotWithShape="1">
            <a:gsLst>
              <a:gs pos="0">
                <a:schemeClr val="bg1">
                  <a:lumMod val="95000"/>
                </a:schemeClr>
              </a:gs>
              <a:gs pos="47000">
                <a:schemeClr val="bg1">
                  <a:lumMod val="65000"/>
                </a:schemeClr>
              </a:gs>
              <a:gs pos="82000">
                <a:schemeClr val="tx1">
                  <a:lumMod val="50000"/>
                  <a:lumOff val="50000"/>
                </a:schemeClr>
              </a:gs>
            </a:gsLst>
            <a:path path="circle">
              <a:fillToRect r="100000" b="100000"/>
            </a:path>
            <a:tileRect l="-100000" t="-100000"/>
          </a:gradFill>
          <a:ln w="6350">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latin typeface="+mn-ea"/>
            </a:endParaRPr>
          </a:p>
        </p:txBody>
      </p:sp>
      <p:sp>
        <p:nvSpPr>
          <p:cNvPr id="12" name="MH_Other_6"/>
          <p:cNvSpPr/>
          <p:nvPr>
            <p:custDataLst>
              <p:tags r:id="rId6"/>
            </p:custDataLst>
          </p:nvPr>
        </p:nvSpPr>
        <p:spPr bwMode="auto">
          <a:xfrm rot="21389837">
            <a:off x="6027197" y="2819619"/>
            <a:ext cx="80986" cy="45719"/>
          </a:xfrm>
          <a:prstGeom prst="ellipse">
            <a:avLst/>
          </a:prstGeom>
          <a:gradFill flip="none" rotWithShape="1">
            <a:gsLst>
              <a:gs pos="0">
                <a:schemeClr val="bg1">
                  <a:alpha val="55000"/>
                </a:schemeClr>
              </a:gs>
              <a:gs pos="50000">
                <a:schemeClr val="bg1">
                  <a:shade val="67500"/>
                  <a:satMod val="115000"/>
                  <a:alpha val="12000"/>
                </a:schemeClr>
              </a:gs>
              <a:gs pos="100000">
                <a:schemeClr val="bg1">
                  <a:shade val="100000"/>
                  <a:satMod val="11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latin typeface="+mn-ea"/>
            </a:endParaRPr>
          </a:p>
        </p:txBody>
      </p:sp>
      <p:sp>
        <p:nvSpPr>
          <p:cNvPr id="13" name="MH_Other_7"/>
          <p:cNvSpPr/>
          <p:nvPr>
            <p:custDataLst>
              <p:tags r:id="rId7"/>
            </p:custDataLst>
          </p:nvPr>
        </p:nvSpPr>
        <p:spPr bwMode="auto">
          <a:xfrm rot="2179789">
            <a:off x="6044067" y="2743352"/>
            <a:ext cx="74755" cy="45719"/>
          </a:xfrm>
          <a:prstGeom prst="ellipse">
            <a:avLst/>
          </a:prstGeom>
          <a:gradFill flip="none" rotWithShape="1">
            <a:gsLst>
              <a:gs pos="0">
                <a:schemeClr val="bg1">
                  <a:alpha val="0"/>
                </a:schemeClr>
              </a:gs>
              <a:gs pos="16000">
                <a:schemeClr val="bg1">
                  <a:alpha val="51000"/>
                </a:schemeClr>
              </a:gs>
              <a:gs pos="30000">
                <a:schemeClr val="bg1">
                  <a:alpha val="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latin typeface="+mn-ea"/>
            </a:endParaRPr>
          </a:p>
        </p:txBody>
      </p:sp>
      <p:sp>
        <p:nvSpPr>
          <p:cNvPr id="14" name="MH_Title_1"/>
          <p:cNvSpPr/>
          <p:nvPr>
            <p:custDataLst>
              <p:tags r:id="rId8"/>
            </p:custDataLst>
          </p:nvPr>
        </p:nvSpPr>
        <p:spPr>
          <a:xfrm rot="21119712">
            <a:off x="4708922" y="3083294"/>
            <a:ext cx="2755554" cy="451806"/>
          </a:xfrm>
          <a:prstGeom prst="homePlate">
            <a:avLst/>
          </a:prstGeom>
          <a:solidFill>
            <a:schemeClr val="accent1"/>
          </a:solidFill>
          <a:ln w="9525">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400">
                <a:solidFill>
                  <a:srgbClr val="FFFFFF"/>
                </a:solidFill>
              </a:rPr>
              <a:t>LOREM</a:t>
            </a:r>
            <a:endParaRPr lang="zh-CN" altLang="en-US" sz="2400" dirty="0">
              <a:solidFill>
                <a:srgbClr val="FFFFFF"/>
              </a:solidFill>
            </a:endParaRPr>
          </a:p>
        </p:txBody>
      </p:sp>
      <p:sp>
        <p:nvSpPr>
          <p:cNvPr id="15" name="MH_SubTitle_1"/>
          <p:cNvSpPr/>
          <p:nvPr>
            <p:custDataLst>
              <p:tags r:id="rId9"/>
            </p:custDataLst>
          </p:nvPr>
        </p:nvSpPr>
        <p:spPr>
          <a:xfrm>
            <a:off x="2052685" y="3945464"/>
            <a:ext cx="3725237" cy="1895783"/>
          </a:xfrm>
          <a:prstGeom prst="roundRect">
            <a:avLst/>
          </a:prstGeom>
          <a:solidFill>
            <a:schemeClr val="accent1">
              <a:lumMod val="20000"/>
              <a:lumOff val="80000"/>
            </a:schemeClr>
          </a:solidFill>
          <a:ln w="9525">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normAutofit/>
          </a:bodyPr>
          <a:lstStyle/>
          <a:p>
            <a:pPr algn="ctr">
              <a:lnSpc>
                <a:spcPct val="120000"/>
              </a:lnSpc>
              <a:defRPr/>
            </a:pPr>
            <a:r>
              <a:rPr lang="zh-CN" altLang="en-US" sz="2000" dirty="0">
                <a:solidFill>
                  <a:schemeClr val="tx1"/>
                </a:solidFill>
              </a:rPr>
              <a:t>概要设计的任务是确定设计方案和进行软件结构设计，与此同时要进行数据库设计和制订测试计划；</a:t>
            </a:r>
          </a:p>
        </p:txBody>
      </p:sp>
      <p:sp>
        <p:nvSpPr>
          <p:cNvPr id="16" name="MH_SubTitle_2"/>
          <p:cNvSpPr/>
          <p:nvPr>
            <p:custDataLst>
              <p:tags r:id="rId10"/>
            </p:custDataLst>
          </p:nvPr>
        </p:nvSpPr>
        <p:spPr>
          <a:xfrm>
            <a:off x="6483279" y="3986408"/>
            <a:ext cx="3725237" cy="1895783"/>
          </a:xfrm>
          <a:prstGeom prst="roundRect">
            <a:avLst/>
          </a:prstGeom>
          <a:solidFill>
            <a:schemeClr val="accent1">
              <a:lumMod val="20000"/>
              <a:lumOff val="80000"/>
            </a:schemeClr>
          </a:solidFill>
          <a:ln w="9525">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lnSpc>
                <a:spcPct val="120000"/>
              </a:lnSpc>
              <a:defRPr/>
            </a:pPr>
            <a:r>
              <a:rPr lang="zh-CN" altLang="en-US" sz="2000" dirty="0">
                <a:solidFill>
                  <a:schemeClr val="tx1"/>
                </a:solidFill>
              </a:rPr>
              <a:t>详细设计的任务是进行软件过程设计、系统接口设计和数据设计。</a:t>
            </a:r>
          </a:p>
        </p:txBody>
      </p:sp>
      <p:sp>
        <p:nvSpPr>
          <p:cNvPr id="17" name="MH_Text_1"/>
          <p:cNvSpPr txBox="1">
            <a:spLocks noChangeArrowheads="1"/>
          </p:cNvSpPr>
          <p:nvPr>
            <p:custDataLst>
              <p:tags r:id="rId11"/>
            </p:custDataLst>
          </p:nvPr>
        </p:nvSpPr>
        <p:spPr bwMode="auto">
          <a:xfrm>
            <a:off x="1502153" y="1928932"/>
            <a:ext cx="9961966" cy="5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fontAlgn="auto">
              <a:lnSpc>
                <a:spcPct val="120000"/>
              </a:lnSpc>
              <a:defRPr/>
            </a:pPr>
            <a:r>
              <a:rPr lang="zh-CN" altLang="en-US" b="1" dirty="0">
                <a:latin typeface="Times New Roman" panose="02020603050405020304" pitchFamily="18" charset="0"/>
              </a:rPr>
              <a:t>软件设计是一个把需求分析变换成软件表示的过程，它分为概要设计和详细设计两个阶段。</a:t>
            </a:r>
            <a:endParaRPr lang="zh-CN" altLang="en-US" b="1" dirty="0">
              <a:latin typeface="宋体" panose="02010600030101010101" pitchFamily="2" charset="-122"/>
              <a:cs typeface="宋体" panose="02010600030101010101" pitchFamily="2" charset="-122"/>
            </a:endParaRPr>
          </a:p>
        </p:txBody>
      </p:sp>
      <p:sp>
        <p:nvSpPr>
          <p:cNvPr id="21" name="矩形 20"/>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dirty="0">
                <a:ln>
                  <a:noFill/>
                </a:ln>
                <a:solidFill>
                  <a:schemeClr val="tx1"/>
                </a:solidFill>
                <a:effectLst/>
                <a:uLnTx/>
                <a:uFillTx/>
                <a:latin typeface="微软雅黑" panose="020B0503020204020204" charset="-122"/>
                <a:ea typeface="微软雅黑" panose="020B0503020204020204" charset="-122"/>
              </a:rPr>
              <a:t>软件设计</a:t>
            </a:r>
          </a:p>
        </p:txBody>
      </p:sp>
      <p:sp>
        <p:nvSpPr>
          <p:cNvPr id="2" name="标题 1">
            <a:extLst>
              <a:ext uri="{FF2B5EF4-FFF2-40B4-BE49-F238E27FC236}">
                <a16:creationId xmlns:a16="http://schemas.microsoft.com/office/drawing/2014/main" id="{2BE66420-CE57-6776-E144-1DE2F468F50F}"/>
              </a:ext>
            </a:extLst>
          </p:cNvPr>
          <p:cNvSpPr>
            <a:spLocks noGrp="1"/>
          </p:cNvSpPr>
          <p:nvPr>
            <p:ph type="title"/>
          </p:nvPr>
        </p:nvSpPr>
        <p:spPr>
          <a:xfrm>
            <a:off x="720000" y="360000"/>
            <a:ext cx="8415337" cy="480131"/>
          </a:xfrm>
        </p:spPr>
        <p:txBody>
          <a:bodyPr/>
          <a:lstStyle/>
          <a:p>
            <a:r>
              <a:rPr lang="en-US" altLang="zh-CN" dirty="0"/>
              <a:t>3.1 </a:t>
            </a:r>
            <a:r>
              <a:rPr lang="zh-CN" altLang="en-US" dirty="0"/>
              <a:t>软件设计步骤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H_Title_1"/>
          <p:cNvSpPr/>
          <p:nvPr>
            <p:custDataLst>
              <p:tags r:id="rId1"/>
            </p:custDataLst>
          </p:nvPr>
        </p:nvSpPr>
        <p:spPr>
          <a:xfrm>
            <a:off x="1797051" y="2320925"/>
            <a:ext cx="1763183" cy="3449638"/>
          </a:xfrm>
          <a:prstGeom prst="rect">
            <a:avLst/>
          </a:prstGeom>
          <a:noFill/>
          <a:ln w="12700" cap="flat" cmpd="sng" algn="ctr">
            <a:noFill/>
            <a:prstDash val="solid"/>
            <a:miter lim="800000"/>
          </a:ln>
          <a:effectLst/>
        </p:spPr>
        <p:txBody>
          <a:bodyPr vert="eaVert" anchor="ctr"/>
          <a:lstStyle/>
          <a:p>
            <a:pPr algn="ctr">
              <a:defRPr/>
            </a:pPr>
            <a:r>
              <a:rPr lang="zh-CN" altLang="en-US" sz="3200" dirty="0"/>
              <a:t>详细设计</a:t>
            </a:r>
            <a:endParaRPr lang="zh-CN" altLang="en-US" sz="3200" b="1" kern="0" dirty="0">
              <a:solidFill>
                <a:srgbClr val="1CADE4"/>
              </a:solidFill>
              <a:latin typeface="微软雅黑" pitchFamily="34" charset="-122"/>
              <a:ea typeface="微软雅黑" pitchFamily="34" charset="-122"/>
            </a:endParaRPr>
          </a:p>
        </p:txBody>
      </p:sp>
      <p:sp>
        <p:nvSpPr>
          <p:cNvPr id="3" name="MH_Other_1"/>
          <p:cNvSpPr/>
          <p:nvPr>
            <p:custDataLst>
              <p:tags r:id="rId2"/>
            </p:custDataLst>
          </p:nvPr>
        </p:nvSpPr>
        <p:spPr>
          <a:xfrm>
            <a:off x="3560234" y="2065338"/>
            <a:ext cx="215900" cy="3959225"/>
          </a:xfrm>
          <a:prstGeom prst="rect">
            <a:avLst/>
          </a:prstGeom>
          <a:solidFill>
            <a:srgbClr val="1CADE4">
              <a:lumMod val="60000"/>
              <a:lumOff val="40000"/>
            </a:srgb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mn-lt"/>
              <a:ea typeface="+mn-ea"/>
            </a:endParaRPr>
          </a:p>
        </p:txBody>
      </p:sp>
      <p:cxnSp>
        <p:nvCxnSpPr>
          <p:cNvPr id="4" name="MH_Other_2"/>
          <p:cNvCxnSpPr>
            <a:cxnSpLocks noChangeShapeType="1"/>
            <a:stCxn id="5" idx="6"/>
          </p:cNvCxnSpPr>
          <p:nvPr>
            <p:custDataLst>
              <p:tags r:id="rId3"/>
            </p:custDataLst>
          </p:nvPr>
        </p:nvCxnSpPr>
        <p:spPr bwMode="auto">
          <a:xfrm>
            <a:off x="3759200" y="2317750"/>
            <a:ext cx="592667" cy="147638"/>
          </a:xfrm>
          <a:prstGeom prst="line">
            <a:avLst/>
          </a:prstGeom>
          <a:noFill/>
          <a:ln w="28575" algn="ctr">
            <a:solidFill>
              <a:srgbClr val="A4DEF4"/>
            </a:solidFill>
            <a:miter lim="800000"/>
            <a:headEnd/>
            <a:tailEnd/>
          </a:ln>
        </p:spPr>
      </p:cxnSp>
      <p:sp>
        <p:nvSpPr>
          <p:cNvPr id="5" name="MH_Other_3"/>
          <p:cNvSpPr/>
          <p:nvPr>
            <p:custDataLst>
              <p:tags r:id="rId4"/>
            </p:custDataLst>
          </p:nvPr>
        </p:nvSpPr>
        <p:spPr>
          <a:xfrm>
            <a:off x="3577168" y="2249489"/>
            <a:ext cx="182033" cy="134937"/>
          </a:xfrm>
          <a:prstGeom prst="ellipse">
            <a:avLst/>
          </a:prstGeom>
          <a:solidFill>
            <a:srgbClr val="1CADE4"/>
          </a:solidFill>
          <a:ln w="381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mn-lt"/>
              <a:ea typeface="+mn-ea"/>
            </a:endParaRPr>
          </a:p>
        </p:txBody>
      </p:sp>
      <p:sp>
        <p:nvSpPr>
          <p:cNvPr id="6" name="MH_Text_1"/>
          <p:cNvSpPr txBox="1">
            <a:spLocks noChangeArrowheads="1"/>
          </p:cNvSpPr>
          <p:nvPr>
            <p:custDataLst>
              <p:tags r:id="rId5"/>
            </p:custDataLst>
          </p:nvPr>
        </p:nvSpPr>
        <p:spPr bwMode="auto">
          <a:xfrm>
            <a:off x="4777317" y="2030925"/>
            <a:ext cx="5611283" cy="947737"/>
          </a:xfrm>
          <a:prstGeom prst="rect">
            <a:avLst/>
          </a:prstGeom>
          <a:noFill/>
          <a:ln w="9525">
            <a:noFill/>
            <a:miter lim="800000"/>
            <a:headEnd/>
            <a:tailEnd/>
          </a:ln>
        </p:spPr>
        <p:txBody>
          <a:bodyPr/>
          <a:lstStyle/>
          <a:p>
            <a:r>
              <a:rPr lang="zh-CN" altLang="en-US" dirty="0"/>
              <a:t>过程设计是指设计每个模块的实现算法。传统软件工程方法在进行过程设计时，只用顺序结构、条件选择结构和循环结构这</a:t>
            </a:r>
            <a:r>
              <a:rPr lang="en-US" dirty="0"/>
              <a:t>3</a:t>
            </a:r>
            <a:r>
              <a:rPr lang="zh-CN" altLang="en-US" dirty="0"/>
              <a:t>种基本控制结构，用并且仅用这</a:t>
            </a:r>
            <a:r>
              <a:rPr lang="en-US" dirty="0"/>
              <a:t>3</a:t>
            </a:r>
            <a:r>
              <a:rPr lang="zh-CN" altLang="en-US" dirty="0"/>
              <a:t>种结构就可以组成任何一个复杂的程序。</a:t>
            </a:r>
          </a:p>
        </p:txBody>
      </p:sp>
      <p:sp>
        <p:nvSpPr>
          <p:cNvPr id="7" name="MH_Other_4"/>
          <p:cNvSpPr txBox="1">
            <a:spLocks noChangeArrowheads="1"/>
          </p:cNvSpPr>
          <p:nvPr>
            <p:custDataLst>
              <p:tags r:id="rId6"/>
            </p:custDataLst>
          </p:nvPr>
        </p:nvSpPr>
        <p:spPr bwMode="auto">
          <a:xfrm>
            <a:off x="4207934" y="2195513"/>
            <a:ext cx="709084" cy="508000"/>
          </a:xfrm>
          <a:prstGeom prst="rect">
            <a:avLst/>
          </a:prstGeom>
          <a:noFill/>
          <a:ln w="9525">
            <a:noFill/>
            <a:miter lim="800000"/>
            <a:headEnd/>
            <a:tailEnd/>
          </a:ln>
        </p:spPr>
        <p:txBody>
          <a:bodyPr wrap="none" anchor="ctr"/>
          <a:lstStyle/>
          <a:p>
            <a:pPr eaLnBrk="1" hangingPunct="1"/>
            <a:r>
              <a:rPr lang="en-US" altLang="zh-CN" sz="2400" b="1">
                <a:solidFill>
                  <a:srgbClr val="1CADE4"/>
                </a:solidFill>
                <a:latin typeface="Arial Unicode MS" pitchFamily="34" charset="-122"/>
                <a:ea typeface="Arial Unicode MS" pitchFamily="34" charset="-122"/>
                <a:cs typeface="Arial Unicode MS" pitchFamily="34" charset="-122"/>
              </a:rPr>
              <a:t>01</a:t>
            </a:r>
            <a:endParaRPr lang="zh-CN" altLang="en-US" sz="1200" b="1">
              <a:solidFill>
                <a:srgbClr val="1CADE4"/>
              </a:solidFill>
              <a:latin typeface="Arial Unicode MS" pitchFamily="34" charset="-122"/>
              <a:ea typeface="Arial Unicode MS" pitchFamily="34" charset="-122"/>
              <a:cs typeface="Arial Unicode MS" pitchFamily="34" charset="-122"/>
            </a:endParaRPr>
          </a:p>
        </p:txBody>
      </p:sp>
      <p:cxnSp>
        <p:nvCxnSpPr>
          <p:cNvPr id="8" name="MH_Other_5"/>
          <p:cNvCxnSpPr>
            <a:cxnSpLocks noChangeShapeType="1"/>
            <a:stCxn id="9" idx="6"/>
          </p:cNvCxnSpPr>
          <p:nvPr>
            <p:custDataLst>
              <p:tags r:id="rId7"/>
            </p:custDataLst>
          </p:nvPr>
        </p:nvCxnSpPr>
        <p:spPr bwMode="auto">
          <a:xfrm>
            <a:off x="3759200" y="3687764"/>
            <a:ext cx="592667" cy="147637"/>
          </a:xfrm>
          <a:prstGeom prst="line">
            <a:avLst/>
          </a:prstGeom>
          <a:noFill/>
          <a:ln w="28575" algn="ctr">
            <a:solidFill>
              <a:srgbClr val="A4DEF4"/>
            </a:solidFill>
            <a:miter lim="800000"/>
            <a:headEnd/>
            <a:tailEnd/>
          </a:ln>
        </p:spPr>
      </p:cxnSp>
      <p:sp>
        <p:nvSpPr>
          <p:cNvPr id="9" name="MH_Other_6"/>
          <p:cNvSpPr/>
          <p:nvPr>
            <p:custDataLst>
              <p:tags r:id="rId8"/>
            </p:custDataLst>
          </p:nvPr>
        </p:nvSpPr>
        <p:spPr>
          <a:xfrm>
            <a:off x="3577168" y="3619500"/>
            <a:ext cx="182033" cy="134938"/>
          </a:xfrm>
          <a:prstGeom prst="ellipse">
            <a:avLst/>
          </a:prstGeom>
          <a:solidFill>
            <a:srgbClr val="1CADE4"/>
          </a:solidFill>
          <a:ln w="381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mn-lt"/>
              <a:ea typeface="+mn-ea"/>
            </a:endParaRPr>
          </a:p>
        </p:txBody>
      </p:sp>
      <p:sp>
        <p:nvSpPr>
          <p:cNvPr id="10" name="MH_Text_2"/>
          <p:cNvSpPr txBox="1">
            <a:spLocks noChangeArrowheads="1"/>
          </p:cNvSpPr>
          <p:nvPr>
            <p:custDataLst>
              <p:tags r:id="rId9"/>
            </p:custDataLst>
          </p:nvPr>
        </p:nvSpPr>
        <p:spPr bwMode="auto">
          <a:xfrm>
            <a:off x="4777317" y="3537416"/>
            <a:ext cx="5611283" cy="947738"/>
          </a:xfrm>
          <a:prstGeom prst="rect">
            <a:avLst/>
          </a:prstGeom>
          <a:noFill/>
          <a:ln w="9525">
            <a:noFill/>
            <a:miter lim="800000"/>
            <a:headEnd/>
            <a:tailEnd/>
          </a:ln>
        </p:spPr>
        <p:txBody>
          <a:bodyPr/>
          <a:lstStyle/>
          <a:p>
            <a:r>
              <a:rPr lang="zh-CN" altLang="en-US" dirty="0"/>
              <a:t>接口设计包括软件模块间的接口设计、模块与外部实体的接口设计和用户界面设计。</a:t>
            </a:r>
          </a:p>
        </p:txBody>
      </p:sp>
      <p:sp>
        <p:nvSpPr>
          <p:cNvPr id="11" name="MH_Other_7"/>
          <p:cNvSpPr txBox="1">
            <a:spLocks noChangeArrowheads="1"/>
          </p:cNvSpPr>
          <p:nvPr>
            <p:custDataLst>
              <p:tags r:id="rId10"/>
            </p:custDataLst>
          </p:nvPr>
        </p:nvSpPr>
        <p:spPr bwMode="auto">
          <a:xfrm>
            <a:off x="4207934" y="3565525"/>
            <a:ext cx="709084" cy="508000"/>
          </a:xfrm>
          <a:prstGeom prst="rect">
            <a:avLst/>
          </a:prstGeom>
          <a:noFill/>
          <a:ln w="9525">
            <a:noFill/>
            <a:miter lim="800000"/>
            <a:headEnd/>
            <a:tailEnd/>
          </a:ln>
        </p:spPr>
        <p:txBody>
          <a:bodyPr wrap="none" anchor="ctr"/>
          <a:lstStyle/>
          <a:p>
            <a:pPr eaLnBrk="1" hangingPunct="1"/>
            <a:r>
              <a:rPr lang="en-US" altLang="zh-CN" sz="2400" b="1">
                <a:solidFill>
                  <a:srgbClr val="1CADE4"/>
                </a:solidFill>
                <a:latin typeface="Arial Unicode MS" pitchFamily="34" charset="-122"/>
                <a:ea typeface="Arial Unicode MS" pitchFamily="34" charset="-122"/>
                <a:cs typeface="Arial Unicode MS" pitchFamily="34" charset="-122"/>
              </a:rPr>
              <a:t>02</a:t>
            </a:r>
            <a:endParaRPr lang="zh-CN" altLang="en-US" sz="1200" b="1">
              <a:solidFill>
                <a:srgbClr val="1CADE4"/>
              </a:solidFill>
              <a:latin typeface="Arial Unicode MS" pitchFamily="34" charset="-122"/>
              <a:ea typeface="Arial Unicode MS" pitchFamily="34" charset="-122"/>
              <a:cs typeface="Arial Unicode MS" pitchFamily="34" charset="-122"/>
            </a:endParaRPr>
          </a:p>
        </p:txBody>
      </p:sp>
      <p:cxnSp>
        <p:nvCxnSpPr>
          <p:cNvPr id="12" name="MH_Other_8"/>
          <p:cNvCxnSpPr>
            <a:cxnSpLocks noChangeShapeType="1"/>
            <a:stCxn id="13" idx="6"/>
          </p:cNvCxnSpPr>
          <p:nvPr>
            <p:custDataLst>
              <p:tags r:id="rId11"/>
            </p:custDataLst>
          </p:nvPr>
        </p:nvCxnSpPr>
        <p:spPr bwMode="auto">
          <a:xfrm>
            <a:off x="3759200" y="5057775"/>
            <a:ext cx="592667" cy="147638"/>
          </a:xfrm>
          <a:prstGeom prst="line">
            <a:avLst/>
          </a:prstGeom>
          <a:noFill/>
          <a:ln w="28575" algn="ctr">
            <a:solidFill>
              <a:srgbClr val="A4DEF4"/>
            </a:solidFill>
            <a:miter lim="800000"/>
            <a:headEnd/>
            <a:tailEnd/>
          </a:ln>
        </p:spPr>
      </p:cxnSp>
      <p:sp>
        <p:nvSpPr>
          <p:cNvPr id="13" name="MH_Other_9"/>
          <p:cNvSpPr/>
          <p:nvPr>
            <p:custDataLst>
              <p:tags r:id="rId12"/>
            </p:custDataLst>
          </p:nvPr>
        </p:nvSpPr>
        <p:spPr>
          <a:xfrm>
            <a:off x="3577168" y="4989514"/>
            <a:ext cx="182033" cy="134937"/>
          </a:xfrm>
          <a:prstGeom prst="ellipse">
            <a:avLst/>
          </a:prstGeom>
          <a:solidFill>
            <a:srgbClr val="1CADE4"/>
          </a:solidFill>
          <a:ln w="381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mn-lt"/>
              <a:ea typeface="+mn-ea"/>
            </a:endParaRPr>
          </a:p>
        </p:txBody>
      </p:sp>
      <p:sp>
        <p:nvSpPr>
          <p:cNvPr id="14" name="MH_Text_3"/>
          <p:cNvSpPr txBox="1">
            <a:spLocks noChangeArrowheads="1"/>
          </p:cNvSpPr>
          <p:nvPr>
            <p:custDataLst>
              <p:tags r:id="rId13"/>
            </p:custDataLst>
          </p:nvPr>
        </p:nvSpPr>
        <p:spPr bwMode="auto">
          <a:xfrm>
            <a:off x="4777317" y="4648118"/>
            <a:ext cx="5611283" cy="949325"/>
          </a:xfrm>
          <a:prstGeom prst="rect">
            <a:avLst/>
          </a:prstGeom>
          <a:noFill/>
          <a:ln w="9525">
            <a:noFill/>
            <a:miter lim="800000"/>
            <a:headEnd/>
            <a:tailEnd/>
          </a:ln>
        </p:spPr>
        <p:txBody>
          <a:bodyPr/>
          <a:lstStyle/>
          <a:p>
            <a:r>
              <a:rPr lang="zh-CN" altLang="en-US" dirty="0"/>
              <a:t>数据设计包括数据库设计、数据代码设计、数据输入和输出设计。如果在计算机软件系统中要处理的数据量很大，需要对这些数据进行代码设计，其目的是将自然语言转换成便于计算机处理的形态，从而提高计算机的处理效率和操作性能。</a:t>
            </a:r>
          </a:p>
        </p:txBody>
      </p:sp>
      <p:sp>
        <p:nvSpPr>
          <p:cNvPr id="15" name="MH_Other_10"/>
          <p:cNvSpPr txBox="1">
            <a:spLocks noChangeArrowheads="1"/>
          </p:cNvSpPr>
          <p:nvPr>
            <p:custDataLst>
              <p:tags r:id="rId14"/>
            </p:custDataLst>
          </p:nvPr>
        </p:nvSpPr>
        <p:spPr bwMode="auto">
          <a:xfrm>
            <a:off x="4207934" y="4935538"/>
            <a:ext cx="709084" cy="508000"/>
          </a:xfrm>
          <a:prstGeom prst="rect">
            <a:avLst/>
          </a:prstGeom>
          <a:noFill/>
          <a:ln w="9525">
            <a:noFill/>
            <a:miter lim="800000"/>
            <a:headEnd/>
            <a:tailEnd/>
          </a:ln>
        </p:spPr>
        <p:txBody>
          <a:bodyPr wrap="none" anchor="ctr"/>
          <a:lstStyle/>
          <a:p>
            <a:pPr eaLnBrk="1" hangingPunct="1"/>
            <a:r>
              <a:rPr lang="en-US" altLang="zh-CN" sz="2400" b="1">
                <a:solidFill>
                  <a:srgbClr val="1CADE4"/>
                </a:solidFill>
                <a:latin typeface="Arial Unicode MS" pitchFamily="34" charset="-122"/>
                <a:ea typeface="Arial Unicode MS" pitchFamily="34" charset="-122"/>
                <a:cs typeface="Arial Unicode MS" pitchFamily="34" charset="-122"/>
              </a:rPr>
              <a:t>03</a:t>
            </a:r>
            <a:endParaRPr lang="zh-CN" altLang="en-US" sz="1200" b="1">
              <a:solidFill>
                <a:srgbClr val="1CADE4"/>
              </a:solidFill>
              <a:latin typeface="Arial Unicode MS" pitchFamily="34" charset="-122"/>
              <a:ea typeface="Arial Unicode MS" pitchFamily="34" charset="-122"/>
              <a:cs typeface="Arial Unicode MS" pitchFamily="34" charset="-122"/>
            </a:endParaRPr>
          </a:p>
        </p:txBody>
      </p:sp>
      <p:sp>
        <p:nvSpPr>
          <p:cNvPr id="17" name="矩形 16"/>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dirty="0">
                <a:ln>
                  <a:noFill/>
                </a:ln>
                <a:solidFill>
                  <a:schemeClr val="tx1"/>
                </a:solidFill>
                <a:effectLst/>
                <a:uLnTx/>
                <a:uFillTx/>
                <a:latin typeface="微软雅黑" panose="020B0503020204020204" charset="-122"/>
                <a:ea typeface="微软雅黑" panose="020B0503020204020204" charset="-122"/>
              </a:rPr>
              <a:t>软件设计</a:t>
            </a:r>
          </a:p>
        </p:txBody>
      </p:sp>
      <p:sp>
        <p:nvSpPr>
          <p:cNvPr id="18" name="标题 2"/>
          <p:cNvSpPr txBox="1">
            <a:spLocks/>
          </p:cNvSpPr>
          <p:nvPr/>
        </p:nvSpPr>
        <p:spPr>
          <a:xfrm>
            <a:off x="754063" y="274898"/>
            <a:ext cx="8415337" cy="855290"/>
          </a:xfrm>
          <a:prstGeom prst="rect">
            <a:avLst/>
          </a:prstGeom>
        </p:spPr>
        <p:txBody>
          <a:bodyPr/>
          <a:lstStyle/>
          <a:p>
            <a:pPr marL="0" marR="0" lvl="0" indent="0" algn="l" defTabSz="914400" rtl="0" eaLnBrk="1" fontAlgn="base" latinLnBrk="0" hangingPunct="1">
              <a:lnSpc>
                <a:spcPct val="90000"/>
              </a:lnSpc>
              <a:spcBef>
                <a:spcPct val="0"/>
              </a:spcBef>
              <a:spcAft>
                <a:spcPct val="0"/>
              </a:spcAft>
              <a:buClrTx/>
              <a:buSzTx/>
              <a:buFontTx/>
              <a:buNone/>
              <a:tabLst/>
              <a:defRPr/>
            </a:pPr>
            <a:endParaRPr kumimoji="0" lang="zh-CN" altLang="en-US" sz="3600" b="0" i="0" u="none" strike="noStrike" kern="1200" cap="none" spc="0" normalizeH="0" baseline="0" noProof="0" dirty="0">
              <a:ln>
                <a:noFill/>
              </a:ln>
              <a:solidFill>
                <a:srgbClr val="FF0000"/>
              </a:solidFill>
              <a:effectLst/>
              <a:uLnTx/>
              <a:uFillTx/>
              <a:latin typeface="+mj-lt"/>
              <a:ea typeface="+mj-ea"/>
              <a:cs typeface="+mj-cs"/>
            </a:endParaRPr>
          </a:p>
        </p:txBody>
      </p:sp>
      <p:sp>
        <p:nvSpPr>
          <p:cNvPr id="16" name="标题 15">
            <a:extLst>
              <a:ext uri="{FF2B5EF4-FFF2-40B4-BE49-F238E27FC236}">
                <a16:creationId xmlns:a16="http://schemas.microsoft.com/office/drawing/2014/main" id="{F4AC0BAA-1025-14D1-E2FA-93BFC5AF40FE}"/>
              </a:ext>
            </a:extLst>
          </p:cNvPr>
          <p:cNvSpPr>
            <a:spLocks noGrp="1"/>
          </p:cNvSpPr>
          <p:nvPr>
            <p:ph type="title"/>
          </p:nvPr>
        </p:nvSpPr>
        <p:spPr>
          <a:xfrm>
            <a:off x="720000" y="360000"/>
            <a:ext cx="8415337" cy="480131"/>
          </a:xfrm>
        </p:spPr>
        <p:txBody>
          <a:bodyPr/>
          <a:lstStyle/>
          <a:p>
            <a:r>
              <a:rPr lang="en-US" altLang="zh-CN" dirty="0"/>
              <a:t>3.1 </a:t>
            </a:r>
            <a:r>
              <a:rPr lang="zh-CN" altLang="en-US" dirty="0"/>
              <a:t>软件设计步骤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0D5E105-FE47-BB15-EAEB-BC4216BC3ABF}"/>
              </a:ext>
            </a:extLst>
          </p:cNvPr>
          <p:cNvSpPr>
            <a:spLocks noGrp="1"/>
          </p:cNvSpPr>
          <p:nvPr>
            <p:ph type="title"/>
          </p:nvPr>
        </p:nvSpPr>
        <p:spPr>
          <a:xfrm>
            <a:off x="720000" y="360000"/>
            <a:ext cx="8415337" cy="480131"/>
          </a:xfrm>
        </p:spPr>
        <p:txBody>
          <a:bodyPr/>
          <a:lstStyle/>
          <a:p>
            <a:r>
              <a:rPr lang="en-US" altLang="zh-CN" dirty="0"/>
              <a:t>3.1 </a:t>
            </a:r>
            <a:r>
              <a:rPr lang="zh-CN" altLang="en-US" dirty="0"/>
              <a:t>软件设计步骤</a:t>
            </a:r>
          </a:p>
        </p:txBody>
      </p:sp>
      <p:sp>
        <p:nvSpPr>
          <p:cNvPr id="3078" name="MH_Text_1"/>
          <p:cNvSpPr txBox="1">
            <a:spLocks noChangeArrowheads="1"/>
          </p:cNvSpPr>
          <p:nvPr>
            <p:custDataLst>
              <p:tags r:id="rId1"/>
            </p:custDataLst>
          </p:nvPr>
        </p:nvSpPr>
        <p:spPr bwMode="auto">
          <a:xfrm>
            <a:off x="1494155" y="2563307"/>
            <a:ext cx="8550598" cy="314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fontAlgn="auto">
              <a:lnSpc>
                <a:spcPct val="130000"/>
              </a:lnSpc>
              <a:defRPr/>
            </a:pPr>
            <a:r>
              <a:rPr lang="zh-CN" altLang="en-US" dirty="0">
                <a:latin typeface="宋体" panose="02010600030101010101" pitchFamily="2" charset="-122"/>
                <a:cs typeface="宋体" panose="02010600030101010101" pitchFamily="2" charset="-122"/>
              </a:rPr>
              <a:t>1）设计供选择的方案</a:t>
            </a:r>
          </a:p>
          <a:p>
            <a:pPr fontAlgn="auto">
              <a:lnSpc>
                <a:spcPct val="130000"/>
              </a:lnSpc>
              <a:defRPr/>
            </a:pPr>
            <a:r>
              <a:rPr lang="zh-CN" altLang="en-US" dirty="0">
                <a:latin typeface="宋体" panose="02010600030101010101" pitchFamily="2" charset="-122"/>
                <a:cs typeface="宋体" panose="02010600030101010101" pitchFamily="2" charset="-122"/>
              </a:rPr>
              <a:t>    需求分析阶段得出的数据流图是总体设计的出发点。把数据流图中的某些处理逻辑地进行组合得出不同的实现方案。通过分析，首先抛弃行不通的方案，然后提供各个合理方案的以下几方面的资料。</a:t>
            </a:r>
          </a:p>
          <a:p>
            <a:pPr marL="285750" indent="-285750" fontAlgn="auto">
              <a:lnSpc>
                <a:spcPct val="130000"/>
              </a:lnSpc>
              <a:buClrTx/>
              <a:buFont typeface="Wingdings" panose="05000000000000000000" charset="0"/>
              <a:buChar char="Ø"/>
              <a:defRPr/>
            </a:pPr>
            <a:r>
              <a:rPr lang="zh-CN" altLang="en-US" dirty="0">
                <a:solidFill>
                  <a:srgbClr val="C00000"/>
                </a:solidFill>
                <a:latin typeface="宋体" panose="02010600030101010101" pitchFamily="2" charset="-122"/>
                <a:cs typeface="宋体" panose="02010600030101010101" pitchFamily="2" charset="-122"/>
              </a:rPr>
              <a:t>数据流图、IPO图等；</a:t>
            </a:r>
          </a:p>
          <a:p>
            <a:pPr marL="285750" indent="-285750" fontAlgn="auto">
              <a:lnSpc>
                <a:spcPct val="130000"/>
              </a:lnSpc>
              <a:buClrTx/>
              <a:buFont typeface="Wingdings" panose="05000000000000000000" charset="0"/>
              <a:buChar char="Ø"/>
              <a:defRPr/>
            </a:pPr>
            <a:r>
              <a:rPr lang="zh-CN" altLang="en-US" dirty="0">
                <a:solidFill>
                  <a:srgbClr val="C00000"/>
                </a:solidFill>
                <a:latin typeface="宋体" panose="02010600030101010101" pitchFamily="2" charset="-122"/>
                <a:cs typeface="宋体" panose="02010600030101010101" pitchFamily="2" charset="-122"/>
              </a:rPr>
              <a:t>组成系统的元素清单、数据字典；</a:t>
            </a:r>
          </a:p>
          <a:p>
            <a:pPr marL="285750" indent="-285750" fontAlgn="auto">
              <a:lnSpc>
                <a:spcPct val="130000"/>
              </a:lnSpc>
              <a:buClrTx/>
              <a:buFont typeface="Wingdings" panose="05000000000000000000" charset="0"/>
              <a:buChar char="Ø"/>
              <a:defRPr/>
            </a:pPr>
            <a:r>
              <a:rPr lang="zh-CN" altLang="en-US" dirty="0">
                <a:solidFill>
                  <a:srgbClr val="C00000"/>
                </a:solidFill>
                <a:latin typeface="宋体" panose="02010600030101010101" pitchFamily="2" charset="-122"/>
                <a:cs typeface="宋体" panose="02010600030101010101" pitchFamily="2" charset="-122"/>
              </a:rPr>
              <a:t>成本/效益分析；</a:t>
            </a:r>
          </a:p>
          <a:p>
            <a:pPr marL="285750" indent="-285750" fontAlgn="auto">
              <a:lnSpc>
                <a:spcPct val="130000"/>
              </a:lnSpc>
              <a:buClrTx/>
              <a:buFont typeface="Wingdings" panose="05000000000000000000" charset="0"/>
              <a:buChar char="Ø"/>
              <a:defRPr/>
            </a:pPr>
            <a:r>
              <a:rPr lang="zh-CN" altLang="en-US" dirty="0">
                <a:solidFill>
                  <a:srgbClr val="C00000"/>
                </a:solidFill>
                <a:latin typeface="宋体" panose="02010600030101010101" pitchFamily="2" charset="-122"/>
                <a:cs typeface="宋体" panose="02010600030101010101" pitchFamily="2" charset="-122"/>
              </a:rPr>
              <a:t>开发该系统的进度计划。</a:t>
            </a: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概要设计</a:t>
            </a:r>
          </a:p>
        </p:txBody>
      </p:sp>
      <p:sp>
        <p:nvSpPr>
          <p:cNvPr id="7" name="文本框 6"/>
          <p:cNvSpPr txBox="1"/>
          <p:nvPr/>
        </p:nvSpPr>
        <p:spPr>
          <a:xfrm>
            <a:off x="753981" y="2206386"/>
            <a:ext cx="461665" cy="3062698"/>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3.1.1 </a:t>
            </a:r>
            <a:r>
              <a:rPr lang="zh-CN" altLang="en-US" spc="160" dirty="0">
                <a:solidFill>
                  <a:schemeClr val="bg1"/>
                </a:solidFill>
                <a:latin typeface="微软雅黑" panose="020B0503020204020204" charset="-122"/>
                <a:ea typeface="微软雅黑" panose="020B0503020204020204" charset="-122"/>
              </a:rPr>
              <a:t>概要设计的一般步骤</a:t>
            </a:r>
            <a:endParaRPr lang="en-US" altLang="zh-CN" spc="160" dirty="0">
              <a:solidFill>
                <a:schemeClr val="bg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4" cstate="screen"/>
          <a:stretch>
            <a:fillRect/>
          </a:stretch>
        </p:blipFill>
        <p:spPr>
          <a:xfrm>
            <a:off x="9367520" y="1990090"/>
            <a:ext cx="2329180" cy="3843655"/>
          </a:xfrm>
          <a:prstGeom prst="rect">
            <a:avLst/>
          </a:prstGeom>
        </p:spPr>
      </p:pic>
      <p:sp>
        <p:nvSpPr>
          <p:cNvPr id="8" name="TextBox 1"/>
          <p:cNvSpPr txBox="1">
            <a:spLocks noChangeArrowheads="1"/>
          </p:cNvSpPr>
          <p:nvPr/>
        </p:nvSpPr>
        <p:spPr bwMode="auto">
          <a:xfrm>
            <a:off x="1423132" y="1871534"/>
            <a:ext cx="32092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sp>
        <p:nvSpPr>
          <p:cNvPr id="9" name="矩形 7"/>
          <p:cNvSpPr>
            <a:spLocks noChangeArrowheads="1"/>
          </p:cNvSpPr>
          <p:nvPr/>
        </p:nvSpPr>
        <p:spPr bwMode="auto">
          <a:xfrm>
            <a:off x="1766389" y="1966784"/>
            <a:ext cx="26889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确定设计方案</a:t>
            </a:r>
          </a:p>
        </p:txBody>
      </p:sp>
    </p:spTree>
  </p:cSld>
  <p:clrMapOvr>
    <a:masterClrMapping/>
  </p:clrMapOvr>
  <p:transition>
    <p:wedg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t>3.1 </a:t>
            </a:r>
            <a:r>
              <a:rPr lang="zh-CN" altLang="en-US" dirty="0"/>
              <a:t>软件设计步骤</a:t>
            </a:r>
          </a:p>
        </p:txBody>
      </p:sp>
      <p:sp>
        <p:nvSpPr>
          <p:cNvPr id="3078" name="MH_Text_1"/>
          <p:cNvSpPr txBox="1">
            <a:spLocks noChangeArrowheads="1"/>
          </p:cNvSpPr>
          <p:nvPr>
            <p:custDataLst>
              <p:tags r:id="rId1"/>
            </p:custDataLst>
          </p:nvPr>
        </p:nvSpPr>
        <p:spPr bwMode="auto">
          <a:xfrm>
            <a:off x="1494155" y="2563307"/>
            <a:ext cx="8100222" cy="3236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fontAlgn="auto">
              <a:lnSpc>
                <a:spcPct val="130000"/>
              </a:lnSpc>
              <a:defRPr/>
            </a:pPr>
            <a:r>
              <a:rPr lang="zh-CN" altLang="en-US" dirty="0">
                <a:latin typeface="宋体" panose="02010600030101010101" pitchFamily="2" charset="-122"/>
                <a:cs typeface="宋体" panose="02010600030101010101" pitchFamily="2" charset="-122"/>
              </a:rPr>
              <a:t>2）推荐最佳实现方案</a:t>
            </a:r>
          </a:p>
          <a:p>
            <a:pPr fontAlgn="auto">
              <a:lnSpc>
                <a:spcPct val="130000"/>
              </a:lnSpc>
              <a:defRPr/>
            </a:pPr>
            <a:r>
              <a:rPr lang="zh-CN" altLang="en-US" dirty="0">
                <a:latin typeface="宋体" panose="02010600030101010101" pitchFamily="2" charset="-122"/>
                <a:cs typeface="宋体" panose="02010600030101010101" pitchFamily="2" charset="-122"/>
              </a:rPr>
              <a:t>     系统分析员应比较各个合理方案的利弊，选择一个最佳方案向用户推荐，并为所推荐的方案制订详细的实现计划。</a:t>
            </a:r>
            <a:endParaRPr lang="en-US" altLang="zh-CN" dirty="0">
              <a:latin typeface="宋体" panose="02010600030101010101" pitchFamily="2" charset="-122"/>
              <a:cs typeface="宋体" panose="02010600030101010101" pitchFamily="2" charset="-122"/>
            </a:endParaRPr>
          </a:p>
          <a:p>
            <a:pPr>
              <a:lnSpc>
                <a:spcPct val="130000"/>
              </a:lnSpc>
              <a:defRPr/>
            </a:pPr>
            <a:r>
              <a:rPr lang="zh-CN" altLang="en-US" dirty="0">
                <a:latin typeface="宋体" panose="02010600030101010101" pitchFamily="2" charset="-122"/>
                <a:cs typeface="宋体" panose="02010600030101010101" pitchFamily="2" charset="-122"/>
              </a:rPr>
              <a:t>     用户和有关专家应认真审查系统分析员所提供的几种方案，如果确认某方案为最佳方案，且在现有条件下完全能实现，则应提请用户单位的负责人进一步审核。在用户单位的负责人审批并确定了要使用的系统方案后，方可进入软件工程的下一步</a:t>
            </a:r>
            <a:r>
              <a:rPr lang="en-US" altLang="zh-CN" dirty="0">
                <a:latin typeface="宋体" panose="02010600030101010101" pitchFamily="2" charset="-122"/>
                <a:cs typeface="宋体" panose="02010600030101010101" pitchFamily="2" charset="-122"/>
              </a:rPr>
              <a:t>——</a:t>
            </a:r>
            <a:r>
              <a:rPr lang="zh-CN" altLang="en-US" dirty="0">
                <a:latin typeface="宋体" panose="02010600030101010101" pitchFamily="2" charset="-122"/>
                <a:cs typeface="宋体" panose="02010600030101010101" pitchFamily="2" charset="-122"/>
              </a:rPr>
              <a:t>软件结构设计阶段。</a:t>
            </a:r>
          </a:p>
          <a:p>
            <a:pPr fontAlgn="auto">
              <a:lnSpc>
                <a:spcPct val="130000"/>
              </a:lnSpc>
              <a:defRPr/>
            </a:pPr>
            <a:endParaRPr lang="zh-CN" altLang="en-US" dirty="0">
              <a:latin typeface="宋体" panose="02010600030101010101" pitchFamily="2" charset="-122"/>
              <a:cs typeface="宋体" panose="02010600030101010101" pitchFamily="2" charset="-122"/>
            </a:endParaRP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概要设计</a:t>
            </a:r>
          </a:p>
        </p:txBody>
      </p:sp>
      <p:sp>
        <p:nvSpPr>
          <p:cNvPr id="7" name="文本框 6"/>
          <p:cNvSpPr txBox="1"/>
          <p:nvPr/>
        </p:nvSpPr>
        <p:spPr>
          <a:xfrm>
            <a:off x="753981" y="2206386"/>
            <a:ext cx="461665" cy="3062698"/>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3.1.1 </a:t>
            </a:r>
            <a:r>
              <a:rPr lang="zh-CN" altLang="en-US" spc="160" dirty="0">
                <a:solidFill>
                  <a:schemeClr val="bg1"/>
                </a:solidFill>
                <a:latin typeface="微软雅黑" panose="020B0503020204020204" charset="-122"/>
                <a:ea typeface="微软雅黑" panose="020B0503020204020204" charset="-122"/>
              </a:rPr>
              <a:t>概要设计的一般步骤</a:t>
            </a:r>
            <a:endParaRPr lang="en-US" altLang="zh-CN" spc="160" dirty="0">
              <a:solidFill>
                <a:schemeClr val="bg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4" cstate="screen"/>
          <a:stretch>
            <a:fillRect/>
          </a:stretch>
        </p:blipFill>
        <p:spPr>
          <a:xfrm>
            <a:off x="9367520" y="1990090"/>
            <a:ext cx="2329180" cy="3843655"/>
          </a:xfrm>
          <a:prstGeom prst="rect">
            <a:avLst/>
          </a:prstGeom>
        </p:spPr>
      </p:pic>
      <p:sp>
        <p:nvSpPr>
          <p:cNvPr id="8" name="TextBox 1"/>
          <p:cNvSpPr txBox="1">
            <a:spLocks noChangeArrowheads="1"/>
          </p:cNvSpPr>
          <p:nvPr/>
        </p:nvSpPr>
        <p:spPr bwMode="auto">
          <a:xfrm>
            <a:off x="1423132" y="1871534"/>
            <a:ext cx="32092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sp>
        <p:nvSpPr>
          <p:cNvPr id="9" name="矩形 7"/>
          <p:cNvSpPr>
            <a:spLocks noChangeArrowheads="1"/>
          </p:cNvSpPr>
          <p:nvPr/>
        </p:nvSpPr>
        <p:spPr bwMode="auto">
          <a:xfrm>
            <a:off x="1766389" y="1966784"/>
            <a:ext cx="26889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确定设计方案</a:t>
            </a:r>
          </a:p>
        </p:txBody>
      </p:sp>
    </p:spTree>
  </p:cSld>
  <p:clrMapOvr>
    <a:masterClrMapping/>
  </p:clrMapOvr>
  <p:transition>
    <p:wedg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normAutofit fontScale="90000"/>
          </a:bodyPr>
          <a:lstStyle/>
          <a:p>
            <a:r>
              <a:rPr lang="en-US" altLang="zh-CN" dirty="0"/>
              <a:t>3.1 </a:t>
            </a:r>
            <a:r>
              <a:rPr lang="zh-CN" altLang="en-US" dirty="0"/>
              <a:t>软件设计步骤</a:t>
            </a:r>
            <a:br>
              <a:rPr lang="zh-CN" altLang="en-US" dirty="0"/>
            </a:br>
            <a:endParaRPr lang="zh-CN" altLang="en-US" dirty="0"/>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概要设计</a:t>
            </a:r>
          </a:p>
        </p:txBody>
      </p:sp>
      <p:sp>
        <p:nvSpPr>
          <p:cNvPr id="3081" name="MH_Text_2"/>
          <p:cNvSpPr txBox="1">
            <a:spLocks noChangeArrowheads="1"/>
          </p:cNvSpPr>
          <p:nvPr>
            <p:custDataLst>
              <p:tags r:id="rId1"/>
            </p:custDataLst>
          </p:nvPr>
        </p:nvSpPr>
        <p:spPr bwMode="auto">
          <a:xfrm>
            <a:off x="1556745" y="2233295"/>
            <a:ext cx="5537835" cy="343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20000"/>
              </a:lnSpc>
            </a:pPr>
            <a:r>
              <a:rPr lang="zh-CN" altLang="en-US" dirty="0">
                <a:latin typeface="Times New Roman" panose="02020603050405020304" pitchFamily="18" charset="0"/>
              </a:rPr>
              <a:t>          对于大型系统，通常先进行结构设计，然后再进行详细设计。</a:t>
            </a:r>
            <a:endParaRPr lang="en-US" altLang="zh-CN" dirty="0">
              <a:latin typeface="Times New Roman" panose="02020603050405020304" pitchFamily="18" charset="0"/>
            </a:endParaRPr>
          </a:p>
          <a:p>
            <a:pPr>
              <a:lnSpc>
                <a:spcPct val="120000"/>
              </a:lnSpc>
            </a:pPr>
            <a:endParaRPr lang="zh-CN" altLang="en-US" dirty="0">
              <a:latin typeface="宋体" panose="02010600030101010101" pitchFamily="2" charset="-122"/>
              <a:cs typeface="宋体" panose="02010600030101010101" pitchFamily="2" charset="-122"/>
            </a:endParaRPr>
          </a:p>
          <a:p>
            <a:pPr fontAlgn="auto">
              <a:lnSpc>
                <a:spcPct val="120000"/>
              </a:lnSpc>
            </a:pPr>
            <a:r>
              <a:rPr lang="zh-CN" altLang="en-US" dirty="0">
                <a:solidFill>
                  <a:srgbClr val="0070C0"/>
                </a:solidFill>
                <a:latin typeface="宋体" panose="02010600030101010101" pitchFamily="2" charset="-122"/>
                <a:cs typeface="宋体" panose="02010600030101010101" pitchFamily="2" charset="-122"/>
              </a:rPr>
              <a:t>1）功能分解</a:t>
            </a:r>
          </a:p>
          <a:p>
            <a:pPr fontAlgn="auto">
              <a:lnSpc>
                <a:spcPct val="120000"/>
              </a:lnSpc>
            </a:pPr>
            <a:r>
              <a:rPr lang="zh-CN" altLang="en-US" dirty="0">
                <a:latin typeface="宋体" panose="02010600030101010101" pitchFamily="2" charset="-122"/>
                <a:cs typeface="宋体" panose="02010600030101010101" pitchFamily="2" charset="-122"/>
              </a:rPr>
              <a:t>    为了进行结构设计，首先把复杂的功能进一步分解为一系列比较简单的功能，此时数据流图和IPO图也可进一步细化。通常，一个模块完成一个适当的子功能。</a:t>
            </a:r>
          </a:p>
          <a:p>
            <a:pPr fontAlgn="auto">
              <a:lnSpc>
                <a:spcPct val="120000"/>
              </a:lnSpc>
            </a:pPr>
            <a:endParaRPr lang="zh-CN" altLang="en-US" dirty="0">
              <a:latin typeface="宋体" panose="02010600030101010101" pitchFamily="2" charset="-122"/>
              <a:cs typeface="宋体" panose="02010600030101010101" pitchFamily="2" charset="-122"/>
            </a:endParaRPr>
          </a:p>
        </p:txBody>
      </p:sp>
      <p:pic>
        <p:nvPicPr>
          <p:cNvPr id="4" name="图片 3" descr="A000220150821B05PPIC"/>
          <p:cNvPicPr>
            <a:picLocks noChangeAspect="1"/>
          </p:cNvPicPr>
          <p:nvPr/>
        </p:nvPicPr>
        <p:blipFill>
          <a:blip r:embed="rId3" cstate="print"/>
          <a:stretch>
            <a:fillRect/>
          </a:stretch>
        </p:blipFill>
        <p:spPr>
          <a:xfrm>
            <a:off x="7520940" y="1967836"/>
            <a:ext cx="4191000" cy="3086100"/>
          </a:xfrm>
          <a:prstGeom prst="rect">
            <a:avLst/>
          </a:prstGeom>
        </p:spPr>
      </p:pic>
      <p:sp>
        <p:nvSpPr>
          <p:cNvPr id="5" name="文本框 4"/>
          <p:cNvSpPr txBox="1"/>
          <p:nvPr/>
        </p:nvSpPr>
        <p:spPr>
          <a:xfrm>
            <a:off x="1379325" y="4658894"/>
            <a:ext cx="9613900" cy="1421928"/>
          </a:xfrm>
          <a:prstGeom prst="rect">
            <a:avLst/>
          </a:prstGeom>
          <a:noFill/>
        </p:spPr>
        <p:txBody>
          <a:bodyPr wrap="square" rtlCol="0" anchor="t">
            <a:spAutoFit/>
          </a:bodyPr>
          <a:lstStyle/>
          <a:p>
            <a:pPr fontAlgn="auto">
              <a:lnSpc>
                <a:spcPct val="120000"/>
              </a:lnSpc>
            </a:pPr>
            <a:r>
              <a:rPr lang="zh-CN" altLang="en-US" dirty="0">
                <a:solidFill>
                  <a:srgbClr val="0070C0"/>
                </a:solidFill>
                <a:latin typeface="宋体" panose="02010600030101010101" pitchFamily="2" charset="-122"/>
                <a:ea typeface="宋体" panose="02010600030101010101" pitchFamily="2" charset="-122"/>
                <a:cs typeface="宋体" panose="02010600030101010101" pitchFamily="2" charset="-122"/>
                <a:sym typeface="+mn-ea"/>
              </a:rPr>
              <a:t>2）设计软件结构</a:t>
            </a:r>
          </a:p>
          <a:p>
            <a:pPr>
              <a:lnSpc>
                <a:spcPct val="120000"/>
              </a:lnSpc>
            </a:pPr>
            <a:r>
              <a:rPr lang="zh-CN" altLang="en-US" b="1" dirty="0">
                <a:latin typeface="微软雅黑" panose="020B0503020204020204" charset="-122"/>
                <a:ea typeface="微软雅黑" panose="020B0503020204020204" charset="-122"/>
                <a:sym typeface="+mn-ea"/>
              </a:rPr>
              <a:t>       </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系统分析员应把模块组织成层次结构，顶层模块能</a:t>
            </a:r>
          </a:p>
          <a:p>
            <a:pPr>
              <a:lnSpc>
                <a:spcPct val="120000"/>
              </a:lnSpc>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调用它的下一层模块，下一层模块再调用其下层模块，如此依次地向下调用，最底层的模块完成某项具体的功能。</a:t>
            </a:r>
            <a:endParaRPr lang="zh-CN" altLang="en-US" dirty="0">
              <a:latin typeface="宋体" panose="02010600030101010101" pitchFamily="2" charset="-122"/>
              <a:ea typeface="宋体" panose="02010600030101010101" pitchFamily="2" charset="-122"/>
              <a:cs typeface="宋体" panose="02010600030101010101" pitchFamily="2" charset="-122"/>
            </a:endParaRPr>
          </a:p>
        </p:txBody>
      </p:sp>
      <p:sp>
        <p:nvSpPr>
          <p:cNvPr id="8" name="文本框 6"/>
          <p:cNvSpPr txBox="1"/>
          <p:nvPr/>
        </p:nvSpPr>
        <p:spPr>
          <a:xfrm>
            <a:off x="753981" y="2206386"/>
            <a:ext cx="461665" cy="3062698"/>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3.1.1 </a:t>
            </a:r>
            <a:r>
              <a:rPr lang="zh-CN" altLang="en-US" spc="160" dirty="0">
                <a:solidFill>
                  <a:schemeClr val="bg1"/>
                </a:solidFill>
                <a:latin typeface="微软雅黑" panose="020B0503020204020204" charset="-122"/>
                <a:ea typeface="微软雅黑" panose="020B0503020204020204" charset="-122"/>
              </a:rPr>
              <a:t>概要设计的一般步骤</a:t>
            </a:r>
            <a:endParaRPr lang="en-US" altLang="zh-CN" spc="160" dirty="0">
              <a:solidFill>
                <a:schemeClr val="bg1"/>
              </a:solidFill>
              <a:latin typeface="微软雅黑" panose="020B0503020204020204" charset="-122"/>
              <a:ea typeface="微软雅黑" panose="020B0503020204020204" charset="-122"/>
            </a:endParaRPr>
          </a:p>
        </p:txBody>
      </p:sp>
      <p:sp>
        <p:nvSpPr>
          <p:cNvPr id="9" name="TextBox 1"/>
          <p:cNvSpPr txBox="1">
            <a:spLocks noChangeArrowheads="1"/>
          </p:cNvSpPr>
          <p:nvPr/>
        </p:nvSpPr>
        <p:spPr bwMode="auto">
          <a:xfrm>
            <a:off x="1423132" y="1816942"/>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2</a:t>
            </a:r>
            <a:endParaRPr lang="zh-CN" altLang="en-US" sz="2800" dirty="0">
              <a:solidFill>
                <a:srgbClr val="E67819"/>
              </a:solidFill>
              <a:latin typeface="Impact" panose="020B0806030902050204" pitchFamily="34" charset="0"/>
              <a:ea typeface="MS UI Gothic" panose="020B0600070205080204" pitchFamily="34" charset="-128"/>
            </a:endParaRPr>
          </a:p>
        </p:txBody>
      </p:sp>
      <p:sp>
        <p:nvSpPr>
          <p:cNvPr id="10" name="矩形 7"/>
          <p:cNvSpPr>
            <a:spLocks noChangeArrowheads="1"/>
          </p:cNvSpPr>
          <p:nvPr/>
        </p:nvSpPr>
        <p:spPr bwMode="auto">
          <a:xfrm>
            <a:off x="1766389" y="1912192"/>
            <a:ext cx="26889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软件结构设计</a:t>
            </a:r>
          </a:p>
        </p:txBody>
      </p:sp>
    </p:spTree>
  </p:cSld>
  <p:clrMapOvr>
    <a:masterClrMapping/>
  </p:clrMapOvr>
  <p:transition>
    <p:wedg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normAutofit fontScale="90000"/>
          </a:bodyPr>
          <a:lstStyle/>
          <a:p>
            <a:r>
              <a:rPr lang="en-US" altLang="zh-CN" dirty="0"/>
              <a:t>3.1 </a:t>
            </a:r>
            <a:r>
              <a:rPr lang="zh-CN" altLang="en-US" dirty="0"/>
              <a:t>软件设计步骤</a:t>
            </a:r>
            <a:br>
              <a:rPr lang="zh-CN" altLang="en-US" dirty="0"/>
            </a:br>
            <a:endParaRPr lang="zh-CN" altLang="en-US" dirty="0"/>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概要设计</a:t>
            </a:r>
          </a:p>
        </p:txBody>
      </p:sp>
      <p:sp>
        <p:nvSpPr>
          <p:cNvPr id="12" name="MH_Text_1"/>
          <p:cNvSpPr txBox="1">
            <a:spLocks noChangeArrowheads="1"/>
          </p:cNvSpPr>
          <p:nvPr>
            <p:custDataLst>
              <p:tags r:id="rId1"/>
            </p:custDataLst>
          </p:nvPr>
        </p:nvSpPr>
        <p:spPr bwMode="auto">
          <a:xfrm>
            <a:off x="1633835" y="2688430"/>
            <a:ext cx="9393556" cy="2838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20000"/>
              </a:lnSpc>
              <a:defRPr/>
            </a:pPr>
            <a:r>
              <a:rPr lang="en-US" altLang="zh-CN" b="1" dirty="0">
                <a:latin typeface="微软雅黑" panose="020B0503020204020204" charset="-122"/>
                <a:ea typeface="微软雅黑" panose="020B0503020204020204" charset="-122"/>
              </a:rPr>
              <a:t>       </a:t>
            </a:r>
            <a:r>
              <a:rPr lang="zh-CN" altLang="en-US" dirty="0">
                <a:latin typeface="宋体" panose="02010600030101010101" pitchFamily="2" charset="-122"/>
                <a:cs typeface="宋体" panose="02010600030101010101" pitchFamily="2" charset="-122"/>
              </a:rPr>
              <a:t>需求分析阶段所作的</a:t>
            </a:r>
            <a:r>
              <a:rPr lang="zh-CN" altLang="en-US" dirty="0">
                <a:solidFill>
                  <a:srgbClr val="C00000"/>
                </a:solidFill>
                <a:latin typeface="宋体" panose="02010600030101010101" pitchFamily="2" charset="-122"/>
                <a:cs typeface="宋体" panose="02010600030101010101" pitchFamily="2" charset="-122"/>
              </a:rPr>
              <a:t>实体－关系图</a:t>
            </a:r>
            <a:r>
              <a:rPr lang="zh-CN" altLang="en-US" dirty="0">
                <a:latin typeface="宋体" panose="02010600030101010101" pitchFamily="2" charset="-122"/>
                <a:cs typeface="宋体" panose="02010600030101010101" pitchFamily="2" charset="-122"/>
              </a:rPr>
              <a:t>（E-R图）和</a:t>
            </a:r>
            <a:r>
              <a:rPr lang="zh-CN" altLang="en-US" dirty="0">
                <a:solidFill>
                  <a:srgbClr val="C00000"/>
                </a:solidFill>
                <a:latin typeface="宋体" panose="02010600030101010101" pitchFamily="2" charset="-122"/>
                <a:cs typeface="宋体" panose="02010600030101010101" pitchFamily="2" charset="-122"/>
              </a:rPr>
              <a:t>数据字典</a:t>
            </a:r>
            <a:r>
              <a:rPr lang="zh-CN" altLang="en-US" dirty="0">
                <a:latin typeface="宋体" panose="02010600030101010101" pitchFamily="2" charset="-122"/>
                <a:cs typeface="宋体" panose="02010600030101010101" pitchFamily="2" charset="-122"/>
              </a:rPr>
              <a:t>是数据文件设计的依据。软件系统中常用数据文件存放数据，供系统中各模块共享或与系统外部通信时使用。</a:t>
            </a:r>
            <a:r>
              <a:rPr lang="zh-CN" altLang="en-US" dirty="0">
                <a:solidFill>
                  <a:srgbClr val="C00000"/>
                </a:solidFill>
                <a:latin typeface="宋体" panose="02010600030101010101" pitchFamily="2" charset="-122"/>
                <a:cs typeface="宋体" panose="02010600030101010101" pitchFamily="2" charset="-122"/>
              </a:rPr>
              <a:t>数据文件设计主要是数据结构设计</a:t>
            </a:r>
            <a:r>
              <a:rPr lang="zh-CN" altLang="en-US" dirty="0">
                <a:latin typeface="宋体" panose="02010600030101010101" pitchFamily="2" charset="-122"/>
                <a:cs typeface="宋体" panose="02010600030101010101" pitchFamily="2" charset="-122"/>
              </a:rPr>
              <a:t>。对于管理信息系统，通常都用数据库来存放数据。在需求分析阶段已对系统的数据要求作过分析，系统分析员在此基础上进行数据文件设计，主要是进行数据代码设计和数据库设计。</a:t>
            </a:r>
          </a:p>
          <a:p>
            <a:pPr>
              <a:lnSpc>
                <a:spcPct val="120000"/>
              </a:lnSpc>
              <a:defRPr/>
            </a:pPr>
            <a:r>
              <a:rPr lang="zh-CN" altLang="en-US" dirty="0">
                <a:latin typeface="宋体" panose="02010600030101010101" pitchFamily="2" charset="-122"/>
                <a:cs typeface="宋体" panose="02010600030101010101" pitchFamily="2" charset="-122"/>
              </a:rPr>
              <a:t>    数据库设计首先要确定数据库结构，还需考虑数据库的完整性、安全性、一致性以及优化等问题。</a:t>
            </a:r>
          </a:p>
        </p:txBody>
      </p:sp>
      <p:sp>
        <p:nvSpPr>
          <p:cNvPr id="6" name="文本框 6"/>
          <p:cNvSpPr txBox="1"/>
          <p:nvPr/>
        </p:nvSpPr>
        <p:spPr>
          <a:xfrm>
            <a:off x="753981" y="2206386"/>
            <a:ext cx="461665" cy="3062698"/>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3.1.1 </a:t>
            </a:r>
            <a:r>
              <a:rPr lang="zh-CN" altLang="en-US" spc="160" dirty="0">
                <a:solidFill>
                  <a:schemeClr val="bg1"/>
                </a:solidFill>
                <a:latin typeface="微软雅黑" panose="020B0503020204020204" charset="-122"/>
                <a:ea typeface="微软雅黑" panose="020B0503020204020204" charset="-122"/>
              </a:rPr>
              <a:t>概要设计的一般步骤</a:t>
            </a:r>
            <a:endParaRPr lang="en-US" altLang="zh-CN" spc="160" dirty="0">
              <a:solidFill>
                <a:schemeClr val="bg1"/>
              </a:solidFill>
              <a:latin typeface="微软雅黑" panose="020B0503020204020204" charset="-122"/>
              <a:ea typeface="微软雅黑" panose="020B0503020204020204" charset="-122"/>
            </a:endParaRPr>
          </a:p>
        </p:txBody>
      </p:sp>
      <p:sp>
        <p:nvSpPr>
          <p:cNvPr id="7" name="TextBox 1"/>
          <p:cNvSpPr txBox="1">
            <a:spLocks noChangeArrowheads="1"/>
          </p:cNvSpPr>
          <p:nvPr/>
        </p:nvSpPr>
        <p:spPr bwMode="auto">
          <a:xfrm>
            <a:off x="1423132" y="1953422"/>
            <a:ext cx="37542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3</a:t>
            </a:r>
            <a:endParaRPr lang="zh-CN" altLang="en-US" sz="2800" dirty="0">
              <a:solidFill>
                <a:srgbClr val="E67819"/>
              </a:solidFill>
              <a:latin typeface="Impact" panose="020B0806030902050204" pitchFamily="34" charset="0"/>
              <a:ea typeface="MS UI Gothic" panose="020B0600070205080204" pitchFamily="34" charset="-128"/>
            </a:endParaRPr>
          </a:p>
        </p:txBody>
      </p:sp>
      <p:sp>
        <p:nvSpPr>
          <p:cNvPr id="8" name="矩形 7"/>
          <p:cNvSpPr>
            <a:spLocks noChangeArrowheads="1"/>
          </p:cNvSpPr>
          <p:nvPr/>
        </p:nvSpPr>
        <p:spPr bwMode="auto">
          <a:xfrm>
            <a:off x="1766389" y="2048672"/>
            <a:ext cx="26889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数据文件设计</a:t>
            </a:r>
          </a:p>
        </p:txBody>
      </p:sp>
    </p:spTree>
  </p:cSld>
  <p:clrMapOvr>
    <a:masterClrMapping/>
  </p:clrMapOvr>
  <p:transition>
    <p:wedg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normAutofit fontScale="90000"/>
          </a:bodyPr>
          <a:lstStyle/>
          <a:p>
            <a:r>
              <a:rPr lang="en-US" altLang="zh-CN" dirty="0"/>
              <a:t>3.1 </a:t>
            </a:r>
            <a:r>
              <a:rPr lang="zh-CN" altLang="en-US" dirty="0"/>
              <a:t>软件设计步骤</a:t>
            </a:r>
            <a:br>
              <a:rPr lang="zh-CN" altLang="en-US" dirty="0"/>
            </a:br>
            <a:endParaRPr lang="zh-CN" altLang="en-US" dirty="0"/>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概要设计</a:t>
            </a:r>
          </a:p>
        </p:txBody>
      </p:sp>
      <p:sp>
        <p:nvSpPr>
          <p:cNvPr id="6" name="MH_Text_1"/>
          <p:cNvSpPr txBox="1">
            <a:spLocks noChangeArrowheads="1"/>
          </p:cNvSpPr>
          <p:nvPr>
            <p:custDataLst>
              <p:tags r:id="rId1"/>
            </p:custDataLst>
          </p:nvPr>
        </p:nvSpPr>
        <p:spPr bwMode="auto">
          <a:xfrm>
            <a:off x="2129950" y="2870627"/>
            <a:ext cx="3697643" cy="1783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fontAlgn="auto">
              <a:lnSpc>
                <a:spcPct val="120000"/>
              </a:lnSpc>
              <a:defRPr/>
            </a:pPr>
            <a:r>
              <a:rPr lang="en-US" altLang="zh-CN" dirty="0">
                <a:latin typeface="宋体" panose="02010600030101010101" pitchFamily="2" charset="-122"/>
                <a:cs typeface="宋体" panose="02010600030101010101" pitchFamily="2" charset="-122"/>
              </a:rPr>
              <a:t>    </a:t>
            </a:r>
            <a:r>
              <a:rPr lang="zh-CN" altLang="en-US" dirty="0">
                <a:latin typeface="宋体" panose="02010600030101010101" pitchFamily="2" charset="-122"/>
                <a:cs typeface="宋体" panose="02010600030101010101" pitchFamily="2" charset="-122"/>
              </a:rPr>
              <a:t>在软件开发的设计阶段提前考虑软件测试方案，有利于提高软件的可测试性。</a:t>
            </a:r>
            <a:r>
              <a:rPr lang="zh-CN" altLang="en-US" dirty="0">
                <a:solidFill>
                  <a:srgbClr val="0070C0"/>
                </a:solidFill>
                <a:latin typeface="宋体" panose="02010600030101010101" pitchFamily="2" charset="-122"/>
                <a:cs typeface="宋体" panose="02010600030101010101" pitchFamily="2" charset="-122"/>
              </a:rPr>
              <a:t>测试计划包括测试策略、测试方案、预期的测试结果、测试进度计划</a:t>
            </a:r>
            <a:r>
              <a:rPr lang="zh-CN" altLang="en-US" dirty="0">
                <a:latin typeface="宋体" panose="02010600030101010101" pitchFamily="2" charset="-122"/>
                <a:cs typeface="宋体" panose="02010600030101010101" pitchFamily="2" charset="-122"/>
              </a:rPr>
              <a:t>等。</a:t>
            </a:r>
          </a:p>
        </p:txBody>
      </p:sp>
      <p:pic>
        <p:nvPicPr>
          <p:cNvPr id="8" name="图片 7" descr="20150912095423385.jpg"/>
          <p:cNvPicPr>
            <a:picLocks noChangeAspect="1"/>
          </p:cNvPicPr>
          <p:nvPr/>
        </p:nvPicPr>
        <p:blipFill>
          <a:blip r:embed="rId3" cstate="print"/>
          <a:stretch>
            <a:fillRect/>
          </a:stretch>
        </p:blipFill>
        <p:spPr>
          <a:xfrm>
            <a:off x="6550925" y="2420437"/>
            <a:ext cx="4795621" cy="2941315"/>
          </a:xfrm>
          <a:prstGeom prst="rect">
            <a:avLst/>
          </a:prstGeom>
        </p:spPr>
      </p:pic>
      <p:sp>
        <p:nvSpPr>
          <p:cNvPr id="9" name="文本框 6"/>
          <p:cNvSpPr txBox="1"/>
          <p:nvPr/>
        </p:nvSpPr>
        <p:spPr>
          <a:xfrm>
            <a:off x="753981" y="2206386"/>
            <a:ext cx="461665" cy="3062698"/>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3.1.1 </a:t>
            </a:r>
            <a:r>
              <a:rPr lang="zh-CN" altLang="en-US" spc="160" dirty="0">
                <a:solidFill>
                  <a:schemeClr val="bg1"/>
                </a:solidFill>
                <a:latin typeface="微软雅黑" panose="020B0503020204020204" charset="-122"/>
                <a:ea typeface="微软雅黑" panose="020B0503020204020204" charset="-122"/>
              </a:rPr>
              <a:t>概要设计的一般步骤</a:t>
            </a:r>
            <a:endParaRPr lang="en-US" altLang="zh-CN" spc="160" dirty="0">
              <a:solidFill>
                <a:schemeClr val="bg1"/>
              </a:solidFill>
              <a:latin typeface="微软雅黑" panose="020B0503020204020204" charset="-122"/>
              <a:ea typeface="微软雅黑" panose="020B0503020204020204" charset="-122"/>
            </a:endParaRPr>
          </a:p>
        </p:txBody>
      </p:sp>
      <p:sp>
        <p:nvSpPr>
          <p:cNvPr id="7" name="TextBox 1"/>
          <p:cNvSpPr txBox="1">
            <a:spLocks noChangeArrowheads="1"/>
          </p:cNvSpPr>
          <p:nvPr/>
        </p:nvSpPr>
        <p:spPr bwMode="auto">
          <a:xfrm>
            <a:off x="1423132" y="1953422"/>
            <a:ext cx="37542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4</a:t>
            </a:r>
            <a:endParaRPr lang="zh-CN" altLang="en-US" sz="2800" dirty="0">
              <a:solidFill>
                <a:srgbClr val="E67819"/>
              </a:solidFill>
              <a:latin typeface="Impact" panose="020B0806030902050204" pitchFamily="34" charset="0"/>
              <a:ea typeface="MS UI Gothic" panose="020B0600070205080204" pitchFamily="34" charset="-128"/>
            </a:endParaRPr>
          </a:p>
        </p:txBody>
      </p:sp>
      <p:sp>
        <p:nvSpPr>
          <p:cNvPr id="10" name="矩形 9"/>
          <p:cNvSpPr>
            <a:spLocks noChangeArrowheads="1"/>
          </p:cNvSpPr>
          <p:nvPr/>
        </p:nvSpPr>
        <p:spPr bwMode="auto">
          <a:xfrm>
            <a:off x="1766389" y="2048672"/>
            <a:ext cx="26889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制订测试计划</a:t>
            </a:r>
          </a:p>
        </p:txBody>
      </p:sp>
    </p:spTree>
  </p:cSld>
  <p:clrMapOvr>
    <a:masterClrMapping/>
  </p:clrMapOvr>
  <p:transition>
    <p:wedg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normAutofit fontScale="90000"/>
          </a:bodyPr>
          <a:lstStyle/>
          <a:p>
            <a:r>
              <a:rPr lang="en-US" altLang="zh-CN" dirty="0"/>
              <a:t>3.1 </a:t>
            </a:r>
            <a:r>
              <a:rPr lang="zh-CN" altLang="en-US" dirty="0"/>
              <a:t>软件设计步骤</a:t>
            </a:r>
            <a:br>
              <a:rPr lang="zh-CN" altLang="en-US" dirty="0"/>
            </a:br>
            <a:endParaRPr lang="zh-CN" altLang="en-US" dirty="0"/>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概要设计</a:t>
            </a:r>
          </a:p>
        </p:txBody>
      </p:sp>
      <p:sp>
        <p:nvSpPr>
          <p:cNvPr id="100" name="文本框 99"/>
          <p:cNvSpPr txBox="1"/>
          <p:nvPr/>
        </p:nvSpPr>
        <p:spPr>
          <a:xfrm>
            <a:off x="1544320" y="2439938"/>
            <a:ext cx="6481445" cy="3282117"/>
          </a:xfrm>
          <a:prstGeom prst="rect">
            <a:avLst/>
          </a:prstGeom>
          <a:noFill/>
          <a:ln w="9525">
            <a:noFill/>
          </a:ln>
        </p:spPr>
        <p:txBody>
          <a:bodyPr wrap="square">
            <a:spAutoFit/>
          </a:bodyPr>
          <a:lstStyle/>
          <a:p>
            <a:pPr marL="0" algn="l">
              <a:lnSpc>
                <a:spcPct val="130000"/>
              </a:lnSpc>
              <a:defRPr/>
            </a:pPr>
            <a:r>
              <a:rPr lang="zh-CN" altLang="en-US" dirty="0">
                <a:latin typeface="宋体" panose="02010600030101010101" pitchFamily="2" charset="-122"/>
                <a:ea typeface="宋体" panose="02010600030101010101" pitchFamily="2" charset="-122"/>
                <a:cs typeface="宋体" panose="02010600030101010101" pitchFamily="2" charset="-122"/>
              </a:rPr>
              <a:t>概要设计文档包括以下内容。</a:t>
            </a:r>
          </a:p>
          <a:p>
            <a:pPr>
              <a:lnSpc>
                <a:spcPct val="130000"/>
              </a:lnSpc>
            </a:pPr>
            <a:r>
              <a:rPr lang="zh-CN" altLang="en-US" dirty="0">
                <a:latin typeface="宋体" panose="02010600030101010101" pitchFamily="2" charset="-122"/>
                <a:ea typeface="宋体" panose="02010600030101010101" pitchFamily="2" charset="-122"/>
                <a:cs typeface="宋体" panose="02010600030101010101" pitchFamily="2" charset="-122"/>
              </a:rPr>
              <a:t>（1）</a:t>
            </a:r>
            <a:r>
              <a:rPr lang="zh-CN" altLang="en-US" b="1" dirty="0">
                <a:solidFill>
                  <a:srgbClr val="0070C0"/>
                </a:solidFill>
                <a:latin typeface="宋体" panose="02010600030101010101" pitchFamily="2" charset="-122"/>
                <a:ea typeface="宋体" panose="02010600030101010101" pitchFamily="2" charset="-122"/>
                <a:cs typeface="宋体" panose="02010600030101010101" pitchFamily="2" charset="-122"/>
              </a:rPr>
              <a:t>系统说明</a:t>
            </a:r>
            <a:r>
              <a:rPr lang="zh-CN" altLang="en-US" dirty="0">
                <a:latin typeface="宋体" panose="02010600030101010101" pitchFamily="2" charset="-122"/>
                <a:ea typeface="宋体" panose="02010600030101010101" pitchFamily="2" charset="-122"/>
                <a:cs typeface="宋体" panose="02010600030101010101" pitchFamily="2" charset="-122"/>
              </a:rPr>
              <a:t>：包括系统构成，成本/效益分析，对最佳方案的描述，细化的数据流图，用层次图或结构图描述的软件结构，IPO图，需求、功能和模块之间的关系等。</a:t>
            </a:r>
          </a:p>
          <a:p>
            <a:pPr>
              <a:lnSpc>
                <a:spcPct val="130000"/>
              </a:lnSpc>
            </a:pPr>
            <a:r>
              <a:rPr lang="zh-CN" altLang="en-US" dirty="0">
                <a:latin typeface="宋体" panose="02010600030101010101" pitchFamily="2" charset="-122"/>
                <a:ea typeface="宋体" panose="02010600030101010101" pitchFamily="2" charset="-122"/>
                <a:cs typeface="宋体" panose="02010600030101010101" pitchFamily="2" charset="-122"/>
              </a:rPr>
              <a:t>（2）</a:t>
            </a:r>
            <a:r>
              <a:rPr lang="zh-CN" altLang="en-US" b="1" dirty="0">
                <a:solidFill>
                  <a:srgbClr val="0070C0"/>
                </a:solidFill>
                <a:latin typeface="宋体" panose="02010600030101010101" pitchFamily="2" charset="-122"/>
                <a:ea typeface="宋体" panose="02010600030101010101" pitchFamily="2" charset="-122"/>
                <a:cs typeface="宋体" panose="02010600030101010101" pitchFamily="2" charset="-122"/>
              </a:rPr>
              <a:t>用户手册</a:t>
            </a:r>
            <a:r>
              <a:rPr lang="zh-CN" altLang="en-US" dirty="0">
                <a:latin typeface="宋体" panose="02010600030101010101" pitchFamily="2" charset="-122"/>
                <a:ea typeface="宋体" panose="02010600030101010101" pitchFamily="2" charset="-122"/>
                <a:cs typeface="宋体" panose="02010600030101010101" pitchFamily="2" charset="-122"/>
              </a:rPr>
              <a:t>：根据概要设计结果，修订需求分析阶段产生的初步的用户手册。</a:t>
            </a:r>
          </a:p>
          <a:p>
            <a:pPr>
              <a:lnSpc>
                <a:spcPct val="130000"/>
              </a:lnSpc>
            </a:pPr>
            <a:r>
              <a:rPr lang="zh-CN" altLang="en-US" dirty="0">
                <a:latin typeface="宋体" panose="02010600030101010101" pitchFamily="2" charset="-122"/>
                <a:ea typeface="宋体" panose="02010600030101010101" pitchFamily="2" charset="-122"/>
                <a:cs typeface="宋体" panose="02010600030101010101" pitchFamily="2" charset="-122"/>
              </a:rPr>
              <a:t>（3）</a:t>
            </a:r>
            <a:r>
              <a:rPr lang="zh-CN" altLang="en-US" b="1" dirty="0">
                <a:solidFill>
                  <a:srgbClr val="0070C0"/>
                </a:solidFill>
                <a:latin typeface="宋体" panose="02010600030101010101" pitchFamily="2" charset="-122"/>
                <a:ea typeface="宋体" panose="02010600030101010101" pitchFamily="2" charset="-122"/>
                <a:cs typeface="宋体" panose="02010600030101010101" pitchFamily="2" charset="-122"/>
              </a:rPr>
              <a:t>软件测试计划</a:t>
            </a:r>
            <a:r>
              <a:rPr lang="zh-CN" altLang="en-US" dirty="0">
                <a:latin typeface="宋体" panose="02010600030101010101" pitchFamily="2" charset="-122"/>
                <a:ea typeface="宋体" panose="02010600030101010101" pitchFamily="2" charset="-122"/>
                <a:cs typeface="宋体" panose="02010600030101010101" pitchFamily="2" charset="-122"/>
              </a:rPr>
              <a:t>。</a:t>
            </a:r>
          </a:p>
          <a:p>
            <a:pPr>
              <a:lnSpc>
                <a:spcPct val="130000"/>
              </a:lnSpc>
            </a:pPr>
            <a:r>
              <a:rPr lang="zh-CN" altLang="en-US" dirty="0">
                <a:latin typeface="宋体" panose="02010600030101010101" pitchFamily="2" charset="-122"/>
                <a:ea typeface="宋体" panose="02010600030101010101" pitchFamily="2" charset="-122"/>
                <a:cs typeface="宋体" panose="02010600030101010101" pitchFamily="2" charset="-122"/>
              </a:rPr>
              <a:t>（4）</a:t>
            </a:r>
            <a:r>
              <a:rPr lang="zh-CN" altLang="en-US" b="1" dirty="0">
                <a:solidFill>
                  <a:srgbClr val="0070C0"/>
                </a:solidFill>
                <a:latin typeface="宋体" panose="02010600030101010101" pitchFamily="2" charset="-122"/>
                <a:ea typeface="宋体" panose="02010600030101010101" pitchFamily="2" charset="-122"/>
                <a:cs typeface="宋体" panose="02010600030101010101" pitchFamily="2" charset="-122"/>
              </a:rPr>
              <a:t>详细的软件工程进度计划</a:t>
            </a:r>
            <a:r>
              <a:rPr lang="zh-CN" altLang="en-US" dirty="0">
                <a:latin typeface="宋体" panose="02010600030101010101" pitchFamily="2" charset="-122"/>
                <a:ea typeface="宋体" panose="02010600030101010101" pitchFamily="2" charset="-122"/>
                <a:cs typeface="宋体" panose="02010600030101010101" pitchFamily="2" charset="-122"/>
              </a:rPr>
              <a:t>。</a:t>
            </a:r>
          </a:p>
          <a:p>
            <a:pPr>
              <a:lnSpc>
                <a:spcPct val="130000"/>
              </a:lnSpc>
            </a:pPr>
            <a:r>
              <a:rPr lang="zh-CN" altLang="en-US" dirty="0">
                <a:latin typeface="宋体" panose="02010600030101010101" pitchFamily="2" charset="-122"/>
                <a:ea typeface="宋体" panose="02010600030101010101" pitchFamily="2" charset="-122"/>
                <a:cs typeface="宋体" panose="02010600030101010101" pitchFamily="2" charset="-122"/>
              </a:rPr>
              <a:t>（5）</a:t>
            </a:r>
            <a:r>
              <a:rPr lang="zh-CN" altLang="en-US" b="1" dirty="0">
                <a:solidFill>
                  <a:srgbClr val="0070C0"/>
                </a:solidFill>
                <a:latin typeface="宋体" panose="02010600030101010101" pitchFamily="2" charset="-122"/>
                <a:ea typeface="宋体" panose="02010600030101010101" pitchFamily="2" charset="-122"/>
                <a:cs typeface="宋体" panose="02010600030101010101" pitchFamily="2" charset="-122"/>
              </a:rPr>
              <a:t>数据文件设计结果</a:t>
            </a:r>
            <a:r>
              <a:rPr lang="zh-CN" altLang="en-US" dirty="0">
                <a:latin typeface="宋体" panose="02010600030101010101" pitchFamily="2" charset="-122"/>
                <a:ea typeface="宋体" panose="02010600030101010101" pitchFamily="2" charset="-122"/>
                <a:cs typeface="宋体" panose="02010600030101010101" pitchFamily="2" charset="-122"/>
              </a:rPr>
              <a:t>：包括代码设计和数据库设计的结果。</a:t>
            </a:r>
          </a:p>
        </p:txBody>
      </p:sp>
      <p:pic>
        <p:nvPicPr>
          <p:cNvPr id="2" name="图片 1"/>
          <p:cNvPicPr>
            <a:picLocks noChangeAspect="1"/>
          </p:cNvPicPr>
          <p:nvPr/>
        </p:nvPicPr>
        <p:blipFill>
          <a:blip r:embed="rId2" cstate="screen"/>
          <a:stretch>
            <a:fillRect/>
          </a:stretch>
        </p:blipFill>
        <p:spPr>
          <a:xfrm>
            <a:off x="8062612" y="2753663"/>
            <a:ext cx="3629660" cy="3150870"/>
          </a:xfrm>
          <a:prstGeom prst="rect">
            <a:avLst/>
          </a:prstGeom>
        </p:spPr>
      </p:pic>
      <p:sp>
        <p:nvSpPr>
          <p:cNvPr id="8" name="文本框 6"/>
          <p:cNvSpPr txBox="1"/>
          <p:nvPr/>
        </p:nvSpPr>
        <p:spPr>
          <a:xfrm>
            <a:off x="753981" y="2206386"/>
            <a:ext cx="461665" cy="3062698"/>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3.1.1 </a:t>
            </a:r>
            <a:r>
              <a:rPr lang="zh-CN" altLang="en-US" spc="160" dirty="0">
                <a:solidFill>
                  <a:schemeClr val="bg1"/>
                </a:solidFill>
                <a:latin typeface="微软雅黑" panose="020B0503020204020204" charset="-122"/>
                <a:ea typeface="微软雅黑" panose="020B0503020204020204" charset="-122"/>
              </a:rPr>
              <a:t>概要设计的一般步骤</a:t>
            </a:r>
            <a:endParaRPr lang="en-US" altLang="zh-CN" spc="160" dirty="0">
              <a:solidFill>
                <a:schemeClr val="bg1"/>
              </a:solidFill>
              <a:latin typeface="微软雅黑" panose="020B0503020204020204" charset="-122"/>
              <a:ea typeface="微软雅黑" panose="020B0503020204020204" charset="-122"/>
            </a:endParaRPr>
          </a:p>
        </p:txBody>
      </p:sp>
      <p:sp>
        <p:nvSpPr>
          <p:cNvPr id="9" name="TextBox 1"/>
          <p:cNvSpPr txBox="1">
            <a:spLocks noChangeArrowheads="1"/>
          </p:cNvSpPr>
          <p:nvPr/>
        </p:nvSpPr>
        <p:spPr bwMode="auto">
          <a:xfrm>
            <a:off x="1423132" y="1953422"/>
            <a:ext cx="37542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5</a:t>
            </a:r>
            <a:endParaRPr lang="zh-CN" altLang="en-US" sz="2800" dirty="0">
              <a:solidFill>
                <a:srgbClr val="E67819"/>
              </a:solidFill>
              <a:latin typeface="Impact" panose="020B0806030902050204" pitchFamily="34" charset="0"/>
              <a:ea typeface="MS UI Gothic" panose="020B0600070205080204" pitchFamily="34" charset="-128"/>
            </a:endParaRPr>
          </a:p>
        </p:txBody>
      </p:sp>
      <p:sp>
        <p:nvSpPr>
          <p:cNvPr id="10" name="矩形 9"/>
          <p:cNvSpPr>
            <a:spLocks noChangeArrowheads="1"/>
          </p:cNvSpPr>
          <p:nvPr/>
        </p:nvSpPr>
        <p:spPr bwMode="auto">
          <a:xfrm>
            <a:off x="1766389" y="2048672"/>
            <a:ext cx="26889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书写概要设计文档</a:t>
            </a:r>
          </a:p>
        </p:txBody>
      </p:sp>
    </p:spTree>
  </p:cSld>
  <p:clrMapOvr>
    <a:masterClrMapping/>
  </p:clrMapOvr>
  <p:transition>
    <p:wedg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normAutofit fontScale="90000"/>
          </a:bodyPr>
          <a:lstStyle/>
          <a:p>
            <a:r>
              <a:rPr lang="en-US" altLang="zh-CN" dirty="0"/>
              <a:t>3.1 </a:t>
            </a:r>
            <a:r>
              <a:rPr lang="zh-CN" altLang="en-US" dirty="0"/>
              <a:t>软件设计步骤</a:t>
            </a:r>
            <a:br>
              <a:rPr lang="zh-CN" altLang="en-US" dirty="0">
                <a:sym typeface="+mn-ea"/>
              </a:rPr>
            </a:br>
            <a:endParaRPr lang="zh-CN" altLang="en-US" dirty="0"/>
          </a:p>
        </p:txBody>
      </p:sp>
      <p:grpSp>
        <p:nvGrpSpPr>
          <p:cNvPr id="4" name="组合 3"/>
          <p:cNvGrpSpPr/>
          <p:nvPr/>
        </p:nvGrpSpPr>
        <p:grpSpPr>
          <a:xfrm>
            <a:off x="1052803" y="1303020"/>
            <a:ext cx="10428624" cy="5151755"/>
            <a:chOff x="2090" y="2292"/>
            <a:chExt cx="16424" cy="8113"/>
          </a:xfrm>
        </p:grpSpPr>
        <p:cxnSp>
          <p:nvCxnSpPr>
            <p:cNvPr id="36" name="直接连接符 35"/>
            <p:cNvCxnSpPr/>
            <p:nvPr>
              <p:custDataLst>
                <p:tags r:id="rId1"/>
              </p:custDataLst>
            </p:nvPr>
          </p:nvCxnSpPr>
          <p:spPr>
            <a:xfrm flipH="1">
              <a:off x="12605" y="5245"/>
              <a:ext cx="9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文本框 36"/>
            <p:cNvSpPr txBox="1"/>
            <p:nvPr>
              <p:custDataLst>
                <p:tags r:id="rId2"/>
              </p:custDataLst>
            </p:nvPr>
          </p:nvSpPr>
          <p:spPr>
            <a:xfrm>
              <a:off x="13891" y="4941"/>
              <a:ext cx="4623" cy="1192"/>
            </a:xfrm>
            <a:prstGeom prst="rect">
              <a:avLst/>
            </a:prstGeom>
            <a:noFill/>
          </p:spPr>
          <p:txBody>
            <a:bodyPr>
              <a:normAutofit/>
            </a:bodyPr>
            <a:lstStyle/>
            <a:p>
              <a:pPr eaLnBrk="1" hangingPunct="1">
                <a:lnSpc>
                  <a:spcPct val="120000"/>
                </a:lnSpc>
                <a:spcBef>
                  <a:spcPts val="0"/>
                </a:spcBef>
                <a:spcAft>
                  <a:spcPts val="0"/>
                </a:spcAft>
                <a:defRPr/>
              </a:pPr>
              <a:r>
                <a:rPr lang="zh-CN" altLang="en-US" sz="1600" b="1" dirty="0">
                  <a:latin typeface="微软雅黑" panose="020B0503020204020204" charset="-122"/>
                  <a:ea typeface="微软雅黑" panose="020B0503020204020204" charset="-122"/>
                </a:rPr>
                <a:t>接口设计</a:t>
              </a:r>
            </a:p>
          </p:txBody>
        </p:sp>
        <p:cxnSp>
          <p:nvCxnSpPr>
            <p:cNvPr id="38" name="直接连接符 37"/>
            <p:cNvCxnSpPr/>
            <p:nvPr>
              <p:custDataLst>
                <p:tags r:id="rId3"/>
              </p:custDataLst>
            </p:nvPr>
          </p:nvCxnSpPr>
          <p:spPr>
            <a:xfrm flipH="1">
              <a:off x="12605" y="7405"/>
              <a:ext cx="9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文本框 38"/>
            <p:cNvSpPr txBox="1"/>
            <p:nvPr>
              <p:custDataLst>
                <p:tags r:id="rId4"/>
              </p:custDataLst>
            </p:nvPr>
          </p:nvSpPr>
          <p:spPr>
            <a:xfrm>
              <a:off x="13891" y="7209"/>
              <a:ext cx="4623" cy="1192"/>
            </a:xfrm>
            <a:prstGeom prst="rect">
              <a:avLst/>
            </a:prstGeom>
            <a:noFill/>
          </p:spPr>
          <p:txBody>
            <a:bodyPr>
              <a:normAutofit/>
            </a:bodyPr>
            <a:lstStyle/>
            <a:p>
              <a:pPr eaLnBrk="1" hangingPunct="1">
                <a:lnSpc>
                  <a:spcPct val="120000"/>
                </a:lnSpc>
                <a:spcBef>
                  <a:spcPts val="0"/>
                </a:spcBef>
                <a:spcAft>
                  <a:spcPts val="0"/>
                </a:spcAft>
                <a:defRPr/>
              </a:pPr>
              <a:r>
                <a:rPr lang="zh-CN" altLang="en-US" sz="1600" b="1" dirty="0">
                  <a:latin typeface="微软雅黑" panose="020B0503020204020204" charset="-122"/>
                  <a:ea typeface="微软雅黑" panose="020B0503020204020204" charset="-122"/>
                </a:rPr>
                <a:t>过程设计</a:t>
              </a:r>
            </a:p>
          </p:txBody>
        </p:sp>
        <p:grpSp>
          <p:nvGrpSpPr>
            <p:cNvPr id="40" name="组合 10"/>
            <p:cNvGrpSpPr/>
            <p:nvPr>
              <p:custDataLst>
                <p:tags r:id="rId5"/>
              </p:custDataLst>
            </p:nvPr>
          </p:nvGrpSpPr>
          <p:grpSpPr bwMode="auto">
            <a:xfrm flipH="1" flipV="1">
              <a:off x="10120" y="9295"/>
              <a:ext cx="2373" cy="413"/>
              <a:chOff x="4255294" y="1661160"/>
              <a:chExt cx="1505426" cy="262890"/>
            </a:xfrm>
          </p:grpSpPr>
          <p:cxnSp>
            <p:nvCxnSpPr>
              <p:cNvPr id="41" name="Straight Connector 31@|9FFC:0|FBC:0|LFC:6905428|LBC:16777215"/>
              <p:cNvCxnSpPr/>
              <p:nvPr>
                <p:custDataLst>
                  <p:tags r:id="rId35"/>
                </p:custDataLst>
              </p:nvPr>
            </p:nvCxnSpPr>
            <p:spPr>
              <a:xfrm flipH="1" flipV="1">
                <a:off x="5410141" y="1661160"/>
                <a:ext cx="350579" cy="26289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32@|9FFC:0|FBC:0|LFC:6905428|LBC:16777215"/>
              <p:cNvCxnSpPr/>
              <p:nvPr>
                <p:custDataLst>
                  <p:tags r:id="rId36"/>
                </p:custDataLst>
              </p:nvPr>
            </p:nvCxnSpPr>
            <p:spPr>
              <a:xfrm flipH="1">
                <a:off x="4255294" y="1662754"/>
                <a:ext cx="11580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3" name="文本框 42"/>
            <p:cNvSpPr txBox="1"/>
            <p:nvPr>
              <p:custDataLst>
                <p:tags r:id="rId6"/>
              </p:custDataLst>
            </p:nvPr>
          </p:nvSpPr>
          <p:spPr>
            <a:xfrm>
              <a:off x="12669" y="9213"/>
              <a:ext cx="4623" cy="1192"/>
            </a:xfrm>
            <a:prstGeom prst="rect">
              <a:avLst/>
            </a:prstGeom>
            <a:noFill/>
          </p:spPr>
          <p:txBody>
            <a:bodyPr>
              <a:normAutofit/>
            </a:bodyPr>
            <a:lstStyle/>
            <a:p>
              <a:pPr eaLnBrk="1" hangingPunct="1">
                <a:lnSpc>
                  <a:spcPct val="120000"/>
                </a:lnSpc>
                <a:spcBef>
                  <a:spcPts val="0"/>
                </a:spcBef>
                <a:spcAft>
                  <a:spcPts val="0"/>
                </a:spcAft>
                <a:defRPr/>
              </a:pPr>
              <a:r>
                <a:rPr lang="zh-CN" altLang="en-US" sz="1600" b="1" dirty="0">
                  <a:latin typeface="微软雅黑" panose="020B0503020204020204" charset="-122"/>
                  <a:ea typeface="微软雅黑" panose="020B0503020204020204" charset="-122"/>
                </a:rPr>
                <a:t>代码设计、输入</a:t>
              </a:r>
              <a:r>
                <a:rPr lang="en-US" altLang="zh-CN" sz="1600" b="1" dirty="0">
                  <a:latin typeface="微软雅黑" panose="020B0503020204020204" charset="-122"/>
                  <a:ea typeface="微软雅黑" panose="020B0503020204020204" charset="-122"/>
                </a:rPr>
                <a:t>/</a:t>
              </a:r>
              <a:r>
                <a:rPr lang="zh-CN" altLang="en-US" sz="1600" b="1" dirty="0">
                  <a:latin typeface="微软雅黑" panose="020B0503020204020204" charset="-122"/>
                  <a:ea typeface="微软雅黑" panose="020B0503020204020204" charset="-122"/>
                </a:rPr>
                <a:t>输出设计、网络设计等等</a:t>
              </a:r>
            </a:p>
          </p:txBody>
        </p:sp>
        <p:cxnSp>
          <p:nvCxnSpPr>
            <p:cNvPr id="44" name="直接连接符 43"/>
            <p:cNvCxnSpPr/>
            <p:nvPr>
              <p:custDataLst>
                <p:tags r:id="rId7"/>
              </p:custDataLst>
            </p:nvPr>
          </p:nvCxnSpPr>
          <p:spPr>
            <a:xfrm flipH="1">
              <a:off x="5593" y="7408"/>
              <a:ext cx="9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文本框 44"/>
            <p:cNvSpPr txBox="1"/>
            <p:nvPr>
              <p:custDataLst>
                <p:tags r:id="rId8"/>
              </p:custDataLst>
            </p:nvPr>
          </p:nvSpPr>
          <p:spPr>
            <a:xfrm>
              <a:off x="2090" y="6981"/>
              <a:ext cx="3567" cy="1020"/>
            </a:xfrm>
            <a:prstGeom prst="rect">
              <a:avLst/>
            </a:prstGeom>
            <a:noFill/>
          </p:spPr>
          <p:txBody>
            <a:bodyPr>
              <a:normAutofit/>
            </a:bodyPr>
            <a:lstStyle/>
            <a:p>
              <a:pPr eaLnBrk="1" hangingPunct="1">
                <a:spcBef>
                  <a:spcPts val="0"/>
                </a:spcBef>
                <a:spcAft>
                  <a:spcPts val="0"/>
                </a:spcAft>
                <a:defRPr/>
              </a:pPr>
              <a:r>
                <a:rPr lang="zh-CN" altLang="en-US" sz="1600" b="1" dirty="0">
                  <a:latin typeface="微软雅黑" panose="020B0503020204020204" charset="-122"/>
                  <a:ea typeface="微软雅黑" panose="020B0503020204020204" charset="-122"/>
                </a:rPr>
                <a:t>编写详细设计说明书、用户操作手册等文档</a:t>
              </a:r>
            </a:p>
          </p:txBody>
        </p:sp>
        <p:cxnSp>
          <p:nvCxnSpPr>
            <p:cNvPr id="46" name="直接连接符 45"/>
            <p:cNvCxnSpPr/>
            <p:nvPr>
              <p:custDataLst>
                <p:tags r:id="rId9"/>
              </p:custDataLst>
            </p:nvPr>
          </p:nvCxnSpPr>
          <p:spPr>
            <a:xfrm rot="10800000" flipV="1">
              <a:off x="5053" y="5245"/>
              <a:ext cx="1505" cy="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文本框 46"/>
            <p:cNvSpPr txBox="1"/>
            <p:nvPr>
              <p:custDataLst>
                <p:tags r:id="rId10"/>
              </p:custDataLst>
            </p:nvPr>
          </p:nvSpPr>
          <p:spPr>
            <a:xfrm>
              <a:off x="3476" y="5028"/>
              <a:ext cx="4622" cy="1017"/>
            </a:xfrm>
            <a:prstGeom prst="rect">
              <a:avLst/>
            </a:prstGeom>
            <a:noFill/>
          </p:spPr>
          <p:txBody>
            <a:bodyPr>
              <a:normAutofit/>
            </a:bodyPr>
            <a:lstStyle/>
            <a:p>
              <a:pPr eaLnBrk="1" hangingPunct="1">
                <a:spcBef>
                  <a:spcPts val="0"/>
                </a:spcBef>
                <a:spcAft>
                  <a:spcPts val="0"/>
                </a:spcAft>
                <a:defRPr/>
              </a:pPr>
              <a:r>
                <a:rPr lang="zh-CN" altLang="en-US" sz="1600" b="1" dirty="0">
                  <a:latin typeface="微软雅黑" panose="020B0503020204020204" charset="-122"/>
                  <a:ea typeface="微软雅黑" panose="020B0503020204020204" charset="-122"/>
                </a:rPr>
                <a:t>复审</a:t>
              </a:r>
            </a:p>
          </p:txBody>
        </p:sp>
        <p:grpSp>
          <p:nvGrpSpPr>
            <p:cNvPr id="48" name="组合 21"/>
            <p:cNvGrpSpPr/>
            <p:nvPr>
              <p:custDataLst>
                <p:tags r:id="rId11"/>
              </p:custDataLst>
            </p:nvPr>
          </p:nvGrpSpPr>
          <p:grpSpPr bwMode="auto">
            <a:xfrm>
              <a:off x="10143" y="2806"/>
              <a:ext cx="3427" cy="417"/>
              <a:chOff x="6483375" y="1659892"/>
              <a:chExt cx="2176860" cy="264158"/>
            </a:xfrm>
          </p:grpSpPr>
          <p:cxnSp>
            <p:nvCxnSpPr>
              <p:cNvPr id="49" name="Straight Connector 39@|9FFC:0|FBC:0|LFC:6905428|LBC:16777215"/>
              <p:cNvCxnSpPr/>
              <p:nvPr>
                <p:custDataLst>
                  <p:tags r:id="rId33"/>
                </p:custDataLst>
              </p:nvPr>
            </p:nvCxnSpPr>
            <p:spPr>
              <a:xfrm flipV="1">
                <a:off x="6483375" y="1659892"/>
                <a:ext cx="454738" cy="2641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0@|9FFC:0|FBC:0|LFC:6905428|LBC:16777215"/>
              <p:cNvCxnSpPr/>
              <p:nvPr>
                <p:custDataLst>
                  <p:tags r:id="rId34"/>
                </p:custDataLst>
              </p:nvPr>
            </p:nvCxnSpPr>
            <p:spPr>
              <a:xfrm flipH="1">
                <a:off x="6893637" y="1659894"/>
                <a:ext cx="1766598" cy="152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1" name="文本框 50"/>
            <p:cNvSpPr txBox="1"/>
            <p:nvPr>
              <p:custDataLst>
                <p:tags r:id="rId12"/>
              </p:custDataLst>
            </p:nvPr>
          </p:nvSpPr>
          <p:spPr>
            <a:xfrm>
              <a:off x="13912" y="2292"/>
              <a:ext cx="3076" cy="1017"/>
            </a:xfrm>
            <a:prstGeom prst="rect">
              <a:avLst/>
            </a:prstGeom>
            <a:noFill/>
          </p:spPr>
          <p:txBody>
            <a:bodyPr>
              <a:normAutofit/>
            </a:bodyPr>
            <a:lstStyle/>
            <a:p>
              <a:pPr eaLnBrk="1" hangingPunct="1">
                <a:spcBef>
                  <a:spcPts val="0"/>
                </a:spcBef>
                <a:spcAft>
                  <a:spcPts val="0"/>
                </a:spcAft>
                <a:defRPr/>
              </a:pPr>
              <a:r>
                <a:rPr lang="zh-CN" altLang="en-US" sz="1600" b="1" dirty="0">
                  <a:latin typeface="微软雅黑" panose="020B0503020204020204" charset="-122"/>
                  <a:ea typeface="微软雅黑" panose="020B0503020204020204" charset="-122"/>
                </a:rPr>
                <a:t>数据结构设计和数据库设计</a:t>
              </a:r>
            </a:p>
          </p:txBody>
        </p:sp>
        <p:sp>
          <p:nvSpPr>
            <p:cNvPr id="52" name="六边形 51"/>
            <p:cNvSpPr/>
            <p:nvPr>
              <p:custDataLst>
                <p:tags r:id="rId13"/>
              </p:custDataLst>
            </p:nvPr>
          </p:nvSpPr>
          <p:spPr>
            <a:xfrm>
              <a:off x="10710" y="4415"/>
              <a:ext cx="1895" cy="16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53" name="文本框 27"/>
            <p:cNvSpPr txBox="1">
              <a:spLocks noChangeArrowheads="1"/>
            </p:cNvSpPr>
            <p:nvPr>
              <p:custDataLst>
                <p:tags r:id="rId14"/>
              </p:custDataLst>
            </p:nvPr>
          </p:nvSpPr>
          <p:spPr bwMode="auto">
            <a:xfrm>
              <a:off x="10995" y="4888"/>
              <a:ext cx="1293" cy="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en-US" altLang="zh-CN" sz="2400" b="1" dirty="0">
                  <a:latin typeface="+mn-lt"/>
                  <a:ea typeface="+mn-ea"/>
                </a:rPr>
                <a:t>02</a:t>
              </a:r>
              <a:endParaRPr lang="zh-CN" altLang="en-US" sz="2400" b="1" baseline="-3000" dirty="0">
                <a:latin typeface="+mn-lt"/>
                <a:ea typeface="+mn-ea"/>
              </a:endParaRPr>
            </a:p>
          </p:txBody>
        </p:sp>
        <p:sp>
          <p:nvSpPr>
            <p:cNvPr id="54" name="六边形 53"/>
            <p:cNvSpPr/>
            <p:nvPr>
              <p:custDataLst>
                <p:tags r:id="rId15"/>
              </p:custDataLst>
            </p:nvPr>
          </p:nvSpPr>
          <p:spPr>
            <a:xfrm>
              <a:off x="8635" y="3223"/>
              <a:ext cx="1898" cy="1655"/>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55" name="文本框 30"/>
            <p:cNvSpPr txBox="1">
              <a:spLocks noChangeArrowheads="1"/>
            </p:cNvSpPr>
            <p:nvPr>
              <p:custDataLst>
                <p:tags r:id="rId16"/>
              </p:custDataLst>
            </p:nvPr>
          </p:nvSpPr>
          <p:spPr bwMode="auto">
            <a:xfrm>
              <a:off x="8980" y="3595"/>
              <a:ext cx="1210" cy="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20000"/>
                </a:lnSpc>
                <a:spcBef>
                  <a:spcPct val="0"/>
                </a:spcBef>
                <a:buFontTx/>
                <a:buNone/>
              </a:pPr>
              <a:r>
                <a:rPr lang="en-US" altLang="zh-CN" sz="2400" b="1" dirty="0">
                  <a:latin typeface="+mn-lt"/>
                  <a:ea typeface="+mn-ea"/>
                </a:rPr>
                <a:t>01</a:t>
              </a:r>
              <a:endParaRPr lang="zh-CN" altLang="en-US" sz="2400" b="1" dirty="0">
                <a:latin typeface="+mn-lt"/>
                <a:ea typeface="+mn-ea"/>
              </a:endParaRPr>
            </a:p>
          </p:txBody>
        </p:sp>
        <p:sp>
          <p:nvSpPr>
            <p:cNvPr id="56" name="六边形 55"/>
            <p:cNvSpPr/>
            <p:nvPr>
              <p:custDataLst>
                <p:tags r:id="rId17"/>
              </p:custDataLst>
            </p:nvPr>
          </p:nvSpPr>
          <p:spPr>
            <a:xfrm>
              <a:off x="10710" y="6575"/>
              <a:ext cx="1895" cy="1658"/>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57" name="文本框 33"/>
            <p:cNvSpPr txBox="1">
              <a:spLocks noChangeArrowheads="1"/>
            </p:cNvSpPr>
            <p:nvPr>
              <p:custDataLst>
                <p:tags r:id="rId18"/>
              </p:custDataLst>
            </p:nvPr>
          </p:nvSpPr>
          <p:spPr bwMode="auto">
            <a:xfrm>
              <a:off x="11033" y="6950"/>
              <a:ext cx="1210" cy="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20000"/>
                </a:lnSpc>
                <a:spcBef>
                  <a:spcPct val="0"/>
                </a:spcBef>
                <a:buFontTx/>
                <a:buNone/>
              </a:pPr>
              <a:r>
                <a:rPr lang="en-US" altLang="zh-CN" sz="2400" b="1">
                  <a:latin typeface="+mn-lt"/>
                  <a:ea typeface="+mn-ea"/>
                </a:rPr>
                <a:t>03</a:t>
              </a:r>
              <a:endParaRPr lang="zh-CN" altLang="en-US" sz="2400" b="1">
                <a:latin typeface="+mn-lt"/>
                <a:ea typeface="+mn-ea"/>
              </a:endParaRPr>
            </a:p>
          </p:txBody>
        </p:sp>
        <p:sp>
          <p:nvSpPr>
            <p:cNvPr id="58" name="六边形 57"/>
            <p:cNvSpPr/>
            <p:nvPr>
              <p:custDataLst>
                <p:tags r:id="rId19"/>
              </p:custDataLst>
            </p:nvPr>
          </p:nvSpPr>
          <p:spPr>
            <a:xfrm>
              <a:off x="6558" y="6575"/>
              <a:ext cx="1895" cy="1658"/>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59" name="文本框 36"/>
            <p:cNvSpPr txBox="1">
              <a:spLocks noChangeArrowheads="1"/>
            </p:cNvSpPr>
            <p:nvPr>
              <p:custDataLst>
                <p:tags r:id="rId20"/>
              </p:custDataLst>
            </p:nvPr>
          </p:nvSpPr>
          <p:spPr bwMode="auto">
            <a:xfrm>
              <a:off x="6898" y="6950"/>
              <a:ext cx="1210" cy="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20000"/>
                </a:lnSpc>
                <a:spcBef>
                  <a:spcPct val="0"/>
                </a:spcBef>
                <a:buFontTx/>
                <a:buNone/>
              </a:pPr>
              <a:r>
                <a:rPr lang="en-US" altLang="zh-CN" sz="2400" b="1" dirty="0">
                  <a:latin typeface="+mn-lt"/>
                  <a:ea typeface="+mn-ea"/>
                </a:rPr>
                <a:t>05</a:t>
              </a:r>
              <a:endParaRPr lang="zh-CN" altLang="en-US" sz="2400" b="1" dirty="0">
                <a:latin typeface="+mn-lt"/>
                <a:ea typeface="+mn-ea"/>
              </a:endParaRPr>
            </a:p>
          </p:txBody>
        </p:sp>
        <p:sp>
          <p:nvSpPr>
            <p:cNvPr id="60" name="六边形 59"/>
            <p:cNvSpPr/>
            <p:nvPr>
              <p:custDataLst>
                <p:tags r:id="rId21"/>
              </p:custDataLst>
            </p:nvPr>
          </p:nvSpPr>
          <p:spPr>
            <a:xfrm>
              <a:off x="6558" y="4415"/>
              <a:ext cx="1895" cy="16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61" name="文本框 39"/>
            <p:cNvSpPr txBox="1">
              <a:spLocks noChangeArrowheads="1"/>
            </p:cNvSpPr>
            <p:nvPr>
              <p:custDataLst>
                <p:tags r:id="rId22"/>
              </p:custDataLst>
            </p:nvPr>
          </p:nvSpPr>
          <p:spPr bwMode="auto">
            <a:xfrm>
              <a:off x="6843" y="4888"/>
              <a:ext cx="1292" cy="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en-US" altLang="zh-CN" sz="2400" b="1" dirty="0">
                  <a:latin typeface="+mn-lt"/>
                  <a:ea typeface="+mn-ea"/>
                </a:rPr>
                <a:t>06</a:t>
              </a:r>
              <a:endParaRPr lang="zh-CN" altLang="en-US" sz="2400" b="1" dirty="0">
                <a:latin typeface="+mn-lt"/>
                <a:ea typeface="+mn-ea"/>
              </a:endParaRPr>
            </a:p>
          </p:txBody>
        </p:sp>
        <p:sp>
          <p:nvSpPr>
            <p:cNvPr id="62" name="六边形 61"/>
            <p:cNvSpPr/>
            <p:nvPr>
              <p:custDataLst>
                <p:tags r:id="rId23"/>
              </p:custDataLst>
            </p:nvPr>
          </p:nvSpPr>
          <p:spPr>
            <a:xfrm>
              <a:off x="8635" y="7638"/>
              <a:ext cx="1898" cy="1657"/>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63" name="文本框 42"/>
            <p:cNvSpPr txBox="1">
              <a:spLocks noChangeArrowheads="1"/>
            </p:cNvSpPr>
            <p:nvPr>
              <p:custDataLst>
                <p:tags r:id="rId24"/>
              </p:custDataLst>
            </p:nvPr>
          </p:nvSpPr>
          <p:spPr bwMode="auto">
            <a:xfrm>
              <a:off x="8900" y="8108"/>
              <a:ext cx="1293" cy="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en-US" altLang="zh-CN" sz="2400" b="1" dirty="0">
                  <a:latin typeface="+mn-lt"/>
                  <a:ea typeface="+mn-ea"/>
                </a:rPr>
                <a:t>04</a:t>
              </a:r>
              <a:endParaRPr lang="zh-CN" altLang="en-US" sz="2400" b="1" dirty="0">
                <a:latin typeface="+mn-lt"/>
                <a:ea typeface="+mn-ea"/>
              </a:endParaRPr>
            </a:p>
          </p:txBody>
        </p:sp>
        <p:sp>
          <p:nvSpPr>
            <p:cNvPr id="64" name="六边形 63"/>
            <p:cNvSpPr/>
            <p:nvPr>
              <p:custDataLst>
                <p:tags r:id="rId25"/>
              </p:custDataLst>
            </p:nvPr>
          </p:nvSpPr>
          <p:spPr>
            <a:xfrm>
              <a:off x="8098" y="5028"/>
              <a:ext cx="2972" cy="2507"/>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grpSp>
          <p:nvGrpSpPr>
            <p:cNvPr id="65" name="组合 64"/>
            <p:cNvGrpSpPr>
              <a:grpSpLocks noChangeAspect="1"/>
            </p:cNvGrpSpPr>
            <p:nvPr>
              <p:custDataLst>
                <p:tags r:id="rId26"/>
              </p:custDataLst>
            </p:nvPr>
          </p:nvGrpSpPr>
          <p:grpSpPr>
            <a:xfrm>
              <a:off x="8800" y="5725"/>
              <a:ext cx="1521" cy="1020"/>
              <a:chOff x="3784600" y="1525588"/>
              <a:chExt cx="935038" cy="568325"/>
            </a:xfrm>
            <a:solidFill>
              <a:schemeClr val="bg1"/>
            </a:solidFill>
          </p:grpSpPr>
          <p:sp>
            <p:nvSpPr>
              <p:cNvPr id="66" name="Freeform 8@|5FFC:16777215|FBC:16777215|LFC:11960852|LBC:16777215"/>
              <p:cNvSpPr/>
              <p:nvPr>
                <p:custDataLst>
                  <p:tags r:id="rId27"/>
                </p:custDataLst>
              </p:nvPr>
            </p:nvSpPr>
            <p:spPr bwMode="auto">
              <a:xfrm>
                <a:off x="3871913" y="2011363"/>
                <a:ext cx="112713" cy="82550"/>
              </a:xfrm>
              <a:custGeom>
                <a:avLst/>
                <a:gdLst>
                  <a:gd name="T0" fmla="*/ 30 w 30"/>
                  <a:gd name="T1" fmla="*/ 19 h 22"/>
                  <a:gd name="T2" fmla="*/ 30 w 30"/>
                  <a:gd name="T3" fmla="*/ 0 h 22"/>
                  <a:gd name="T4" fmla="*/ 1 w 30"/>
                  <a:gd name="T5" fmla="*/ 22 h 22"/>
                  <a:gd name="T6" fmla="*/ 27 w 30"/>
                  <a:gd name="T7" fmla="*/ 22 h 22"/>
                  <a:gd name="T8" fmla="*/ 30 w 30"/>
                  <a:gd name="T9" fmla="*/ 19 h 22"/>
                </a:gdLst>
                <a:ahLst/>
                <a:cxnLst>
                  <a:cxn ang="0">
                    <a:pos x="T0" y="T1"/>
                  </a:cxn>
                  <a:cxn ang="0">
                    <a:pos x="T2" y="T3"/>
                  </a:cxn>
                  <a:cxn ang="0">
                    <a:pos x="T4" y="T5"/>
                  </a:cxn>
                  <a:cxn ang="0">
                    <a:pos x="T6" y="T7"/>
                  </a:cxn>
                  <a:cxn ang="0">
                    <a:pos x="T8" y="T9"/>
                  </a:cxn>
                </a:cxnLst>
                <a:rect l="0" t="0" r="r" b="b"/>
                <a:pathLst>
                  <a:path w="30" h="22">
                    <a:moveTo>
                      <a:pt x="30" y="19"/>
                    </a:moveTo>
                    <a:cubicBezTo>
                      <a:pt x="30" y="0"/>
                      <a:pt x="30" y="0"/>
                      <a:pt x="30" y="0"/>
                    </a:cubicBezTo>
                    <a:cubicBezTo>
                      <a:pt x="30" y="0"/>
                      <a:pt x="0" y="22"/>
                      <a:pt x="1" y="22"/>
                    </a:cubicBezTo>
                    <a:cubicBezTo>
                      <a:pt x="27" y="22"/>
                      <a:pt x="27" y="22"/>
                      <a:pt x="27" y="22"/>
                    </a:cubicBezTo>
                    <a:cubicBezTo>
                      <a:pt x="29" y="22"/>
                      <a:pt x="30" y="21"/>
                      <a:pt x="30" y="19"/>
                    </a:cubicBezTo>
                    <a:close/>
                  </a:path>
                </a:pathLst>
              </a:custGeom>
              <a:grpFill/>
              <a:ln>
                <a:noFill/>
              </a:ln>
              <a:extLst>
                <a:ext uri="{91240B29-F687-4F45-9708-019B960494DF}">
                  <a14:hiddenLine xmlns:a14="http://schemas.microsoft.com/office/drawing/2010/main" w="9525">
                    <a:solidFill>
                      <a:srgbClr val="1482B6"/>
                    </a:solidFill>
                    <a:round/>
                  </a14:hiddenLine>
                </a:ext>
              </a:extLst>
            </p:spPr>
            <p:txBody>
              <a:bodyPr>
                <a:normAutofit fontScale="25000" lnSpcReduction="20000"/>
              </a:bodyPr>
              <a:lstStyle/>
              <a:p>
                <a:pPr eaLnBrk="1" hangingPunct="1">
                  <a:spcBef>
                    <a:spcPts val="0"/>
                  </a:spcBef>
                  <a:spcAft>
                    <a:spcPts val="0"/>
                  </a:spcAft>
                  <a:defRPr/>
                </a:pPr>
                <a:endParaRPr lang="zh-CN" altLang="en-US" sz="1800"/>
              </a:p>
            </p:txBody>
          </p:sp>
          <p:sp>
            <p:nvSpPr>
              <p:cNvPr id="67" name="Freeform 9@|5FFC:16777215|FBC:16777215|LFC:11960852|LBC:16777215"/>
              <p:cNvSpPr/>
              <p:nvPr>
                <p:custDataLst>
                  <p:tags r:id="rId28"/>
                </p:custDataLst>
              </p:nvPr>
            </p:nvSpPr>
            <p:spPr bwMode="auto">
              <a:xfrm>
                <a:off x="4022725" y="1893888"/>
                <a:ext cx="120650" cy="200025"/>
              </a:xfrm>
              <a:custGeom>
                <a:avLst/>
                <a:gdLst>
                  <a:gd name="T0" fmla="*/ 29 w 32"/>
                  <a:gd name="T1" fmla="*/ 53 h 53"/>
                  <a:gd name="T2" fmla="*/ 32 w 32"/>
                  <a:gd name="T3" fmla="*/ 50 h 53"/>
                  <a:gd name="T4" fmla="*/ 32 w 32"/>
                  <a:gd name="T5" fmla="*/ 0 h 53"/>
                  <a:gd name="T6" fmla="*/ 0 w 32"/>
                  <a:gd name="T7" fmla="*/ 23 h 53"/>
                  <a:gd name="T8" fmla="*/ 0 w 32"/>
                  <a:gd name="T9" fmla="*/ 24 h 53"/>
                  <a:gd name="T10" fmla="*/ 0 w 32"/>
                  <a:gd name="T11" fmla="*/ 50 h 53"/>
                  <a:gd name="T12" fmla="*/ 2 w 32"/>
                  <a:gd name="T13" fmla="*/ 53 h 53"/>
                  <a:gd name="T14" fmla="*/ 29 w 32"/>
                  <a:gd name="T15" fmla="*/ 53 h 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53">
                    <a:moveTo>
                      <a:pt x="29" y="53"/>
                    </a:moveTo>
                    <a:cubicBezTo>
                      <a:pt x="30" y="53"/>
                      <a:pt x="32" y="52"/>
                      <a:pt x="32" y="50"/>
                    </a:cubicBezTo>
                    <a:cubicBezTo>
                      <a:pt x="32" y="0"/>
                      <a:pt x="32" y="0"/>
                      <a:pt x="32" y="0"/>
                    </a:cubicBezTo>
                    <a:cubicBezTo>
                      <a:pt x="0" y="23"/>
                      <a:pt x="0" y="23"/>
                      <a:pt x="0" y="23"/>
                    </a:cubicBezTo>
                    <a:cubicBezTo>
                      <a:pt x="0" y="24"/>
                      <a:pt x="0" y="24"/>
                      <a:pt x="0" y="24"/>
                    </a:cubicBezTo>
                    <a:cubicBezTo>
                      <a:pt x="0" y="50"/>
                      <a:pt x="0" y="50"/>
                      <a:pt x="0" y="50"/>
                    </a:cubicBezTo>
                    <a:cubicBezTo>
                      <a:pt x="0" y="52"/>
                      <a:pt x="1" y="53"/>
                      <a:pt x="2" y="53"/>
                    </a:cubicBezTo>
                    <a:lnTo>
                      <a:pt x="29" y="53"/>
                    </a:lnTo>
                    <a:close/>
                  </a:path>
                </a:pathLst>
              </a:custGeom>
              <a:grpFill/>
              <a:ln>
                <a:noFill/>
              </a:ln>
              <a:extLst>
                <a:ext uri="{91240B29-F687-4F45-9708-019B960494DF}">
                  <a14:hiddenLine xmlns:a14="http://schemas.microsoft.com/office/drawing/2010/main" w="9525">
                    <a:solidFill>
                      <a:srgbClr val="1482B6"/>
                    </a:solidFill>
                    <a:round/>
                  </a14:hiddenLine>
                </a:ext>
              </a:extLst>
            </p:spPr>
            <p:txBody>
              <a:bodyPr>
                <a:normAutofit fontScale="62500" lnSpcReduction="20000"/>
              </a:bodyPr>
              <a:lstStyle/>
              <a:p>
                <a:pPr eaLnBrk="1" hangingPunct="1">
                  <a:spcBef>
                    <a:spcPts val="0"/>
                  </a:spcBef>
                  <a:spcAft>
                    <a:spcPts val="0"/>
                  </a:spcAft>
                  <a:defRPr/>
                </a:pPr>
                <a:endParaRPr lang="zh-CN" altLang="en-US" sz="1800"/>
              </a:p>
            </p:txBody>
          </p:sp>
          <p:sp>
            <p:nvSpPr>
              <p:cNvPr id="68" name="Freeform 10@|5FFC:16777215|FBC:16777215|LFC:11960852|LBC:16777215"/>
              <p:cNvSpPr/>
              <p:nvPr>
                <p:custDataLst>
                  <p:tags r:id="rId29"/>
                </p:custDataLst>
              </p:nvPr>
            </p:nvSpPr>
            <p:spPr bwMode="auto">
              <a:xfrm>
                <a:off x="4176713" y="1800225"/>
                <a:ext cx="120650" cy="293688"/>
              </a:xfrm>
              <a:custGeom>
                <a:avLst/>
                <a:gdLst>
                  <a:gd name="T0" fmla="*/ 29 w 32"/>
                  <a:gd name="T1" fmla="*/ 78 h 78"/>
                  <a:gd name="T2" fmla="*/ 32 w 32"/>
                  <a:gd name="T3" fmla="*/ 75 h 78"/>
                  <a:gd name="T4" fmla="*/ 32 w 32"/>
                  <a:gd name="T5" fmla="*/ 9 h 78"/>
                  <a:gd name="T6" fmla="*/ 23 w 32"/>
                  <a:gd name="T7" fmla="*/ 0 h 78"/>
                  <a:gd name="T8" fmla="*/ 10 w 32"/>
                  <a:gd name="T9" fmla="*/ 10 h 78"/>
                  <a:gd name="T10" fmla="*/ 0 w 32"/>
                  <a:gd name="T11" fmla="*/ 17 h 78"/>
                  <a:gd name="T12" fmla="*/ 0 w 32"/>
                  <a:gd name="T13" fmla="*/ 75 h 78"/>
                  <a:gd name="T14" fmla="*/ 3 w 32"/>
                  <a:gd name="T15" fmla="*/ 78 h 78"/>
                  <a:gd name="T16" fmla="*/ 29 w 32"/>
                  <a:gd name="T17"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78">
                    <a:moveTo>
                      <a:pt x="29" y="78"/>
                    </a:moveTo>
                    <a:cubicBezTo>
                      <a:pt x="31" y="78"/>
                      <a:pt x="32" y="77"/>
                      <a:pt x="32" y="75"/>
                    </a:cubicBezTo>
                    <a:cubicBezTo>
                      <a:pt x="32" y="9"/>
                      <a:pt x="32" y="9"/>
                      <a:pt x="32" y="9"/>
                    </a:cubicBezTo>
                    <a:cubicBezTo>
                      <a:pt x="23" y="0"/>
                      <a:pt x="23" y="0"/>
                      <a:pt x="23" y="0"/>
                    </a:cubicBezTo>
                    <a:cubicBezTo>
                      <a:pt x="10" y="10"/>
                      <a:pt x="10" y="10"/>
                      <a:pt x="10" y="10"/>
                    </a:cubicBezTo>
                    <a:cubicBezTo>
                      <a:pt x="0" y="17"/>
                      <a:pt x="0" y="17"/>
                      <a:pt x="0" y="17"/>
                    </a:cubicBezTo>
                    <a:cubicBezTo>
                      <a:pt x="0" y="75"/>
                      <a:pt x="0" y="75"/>
                      <a:pt x="0" y="75"/>
                    </a:cubicBezTo>
                    <a:cubicBezTo>
                      <a:pt x="0" y="77"/>
                      <a:pt x="1" y="78"/>
                      <a:pt x="3" y="78"/>
                    </a:cubicBezTo>
                    <a:lnTo>
                      <a:pt x="29" y="78"/>
                    </a:lnTo>
                    <a:close/>
                  </a:path>
                </a:pathLst>
              </a:custGeom>
              <a:grpFill/>
              <a:ln>
                <a:noFill/>
              </a:ln>
              <a:extLst>
                <a:ext uri="{91240B29-F687-4F45-9708-019B960494DF}">
                  <a14:hiddenLine xmlns:a14="http://schemas.microsoft.com/office/drawing/2010/main" w="9525">
                    <a:solidFill>
                      <a:srgbClr val="1482B6"/>
                    </a:solidFill>
                    <a:round/>
                  </a14:hiddenLine>
                </a:ext>
              </a:extLst>
            </p:spPr>
            <p:txBody>
              <a:bodyPr>
                <a:normAutofit fontScale="92500" lnSpcReduction="10000"/>
              </a:bodyPr>
              <a:lstStyle/>
              <a:p>
                <a:pPr eaLnBrk="1" hangingPunct="1">
                  <a:spcBef>
                    <a:spcPts val="0"/>
                  </a:spcBef>
                  <a:spcAft>
                    <a:spcPts val="0"/>
                  </a:spcAft>
                  <a:defRPr/>
                </a:pPr>
                <a:endParaRPr lang="zh-CN" altLang="en-US" sz="1800"/>
              </a:p>
            </p:txBody>
          </p:sp>
          <p:sp>
            <p:nvSpPr>
              <p:cNvPr id="69" name="Freeform 11@|5FFC:16777215|FBC:16777215|LFC:11960852|LBC:16777215"/>
              <p:cNvSpPr/>
              <p:nvPr>
                <p:custDataLst>
                  <p:tags r:id="rId30"/>
                </p:custDataLst>
              </p:nvPr>
            </p:nvSpPr>
            <p:spPr bwMode="auto">
              <a:xfrm>
                <a:off x="4330700" y="1841500"/>
                <a:ext cx="120650" cy="252413"/>
              </a:xfrm>
              <a:custGeom>
                <a:avLst/>
                <a:gdLst>
                  <a:gd name="T0" fmla="*/ 30 w 32"/>
                  <a:gd name="T1" fmla="*/ 67 h 67"/>
                  <a:gd name="T2" fmla="*/ 32 w 32"/>
                  <a:gd name="T3" fmla="*/ 64 h 67"/>
                  <a:gd name="T4" fmla="*/ 32 w 32"/>
                  <a:gd name="T5" fmla="*/ 0 h 67"/>
                  <a:gd name="T6" fmla="*/ 20 w 32"/>
                  <a:gd name="T7" fmla="*/ 10 h 67"/>
                  <a:gd name="T8" fmla="*/ 16 w 32"/>
                  <a:gd name="T9" fmla="*/ 13 h 67"/>
                  <a:gd name="T10" fmla="*/ 5 w 32"/>
                  <a:gd name="T11" fmla="*/ 12 h 67"/>
                  <a:gd name="T12" fmla="*/ 4 w 32"/>
                  <a:gd name="T13" fmla="*/ 11 h 67"/>
                  <a:gd name="T14" fmla="*/ 0 w 32"/>
                  <a:gd name="T15" fmla="*/ 7 h 67"/>
                  <a:gd name="T16" fmla="*/ 0 w 32"/>
                  <a:gd name="T17" fmla="*/ 64 h 67"/>
                  <a:gd name="T18" fmla="*/ 3 w 32"/>
                  <a:gd name="T19" fmla="*/ 67 h 67"/>
                  <a:gd name="T20" fmla="*/ 30 w 32"/>
                  <a:gd name="T21"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67">
                    <a:moveTo>
                      <a:pt x="30" y="67"/>
                    </a:moveTo>
                    <a:cubicBezTo>
                      <a:pt x="31" y="67"/>
                      <a:pt x="32" y="66"/>
                      <a:pt x="32" y="64"/>
                    </a:cubicBezTo>
                    <a:cubicBezTo>
                      <a:pt x="32" y="0"/>
                      <a:pt x="32" y="0"/>
                      <a:pt x="32" y="0"/>
                    </a:cubicBezTo>
                    <a:cubicBezTo>
                      <a:pt x="20" y="10"/>
                      <a:pt x="20" y="10"/>
                      <a:pt x="20" y="10"/>
                    </a:cubicBezTo>
                    <a:cubicBezTo>
                      <a:pt x="16" y="13"/>
                      <a:pt x="16" y="13"/>
                      <a:pt x="16" y="13"/>
                    </a:cubicBezTo>
                    <a:cubicBezTo>
                      <a:pt x="13" y="16"/>
                      <a:pt x="8" y="15"/>
                      <a:pt x="5" y="12"/>
                    </a:cubicBezTo>
                    <a:cubicBezTo>
                      <a:pt x="4" y="11"/>
                      <a:pt x="4" y="11"/>
                      <a:pt x="4" y="11"/>
                    </a:cubicBezTo>
                    <a:cubicBezTo>
                      <a:pt x="0" y="7"/>
                      <a:pt x="0" y="7"/>
                      <a:pt x="0" y="7"/>
                    </a:cubicBezTo>
                    <a:cubicBezTo>
                      <a:pt x="0" y="64"/>
                      <a:pt x="0" y="64"/>
                      <a:pt x="0" y="64"/>
                    </a:cubicBezTo>
                    <a:cubicBezTo>
                      <a:pt x="0" y="66"/>
                      <a:pt x="2" y="67"/>
                      <a:pt x="3" y="67"/>
                    </a:cubicBezTo>
                    <a:lnTo>
                      <a:pt x="30" y="67"/>
                    </a:lnTo>
                    <a:close/>
                  </a:path>
                </a:pathLst>
              </a:custGeom>
              <a:grpFill/>
              <a:ln>
                <a:noFill/>
              </a:ln>
              <a:extLst>
                <a:ext uri="{91240B29-F687-4F45-9708-019B960494DF}">
                  <a14:hiddenLine xmlns:a14="http://schemas.microsoft.com/office/drawing/2010/main" w="9525">
                    <a:solidFill>
                      <a:srgbClr val="1482B6"/>
                    </a:solidFill>
                    <a:round/>
                  </a14:hiddenLine>
                </a:ext>
              </a:extLst>
            </p:spPr>
            <p:txBody>
              <a:bodyPr>
                <a:normAutofit fontScale="85000" lnSpcReduction="20000"/>
              </a:bodyPr>
              <a:lstStyle/>
              <a:p>
                <a:pPr eaLnBrk="1" hangingPunct="1">
                  <a:spcBef>
                    <a:spcPts val="0"/>
                  </a:spcBef>
                  <a:spcAft>
                    <a:spcPts val="0"/>
                  </a:spcAft>
                  <a:defRPr/>
                </a:pPr>
                <a:endParaRPr lang="zh-CN" altLang="en-US" sz="1800"/>
              </a:p>
            </p:txBody>
          </p:sp>
          <p:sp>
            <p:nvSpPr>
              <p:cNvPr id="70" name="Freeform 12@|5FFC:16777215|FBC:16777215|LFC:11960852|LBC:16777215"/>
              <p:cNvSpPr/>
              <p:nvPr>
                <p:custDataLst>
                  <p:tags r:id="rId31"/>
                </p:custDataLst>
              </p:nvPr>
            </p:nvSpPr>
            <p:spPr bwMode="auto">
              <a:xfrm>
                <a:off x="4489450" y="1720850"/>
                <a:ext cx="120650" cy="373063"/>
              </a:xfrm>
              <a:custGeom>
                <a:avLst/>
                <a:gdLst>
                  <a:gd name="T0" fmla="*/ 29 w 32"/>
                  <a:gd name="T1" fmla="*/ 99 h 99"/>
                  <a:gd name="T2" fmla="*/ 32 w 32"/>
                  <a:gd name="T3" fmla="*/ 96 h 99"/>
                  <a:gd name="T4" fmla="*/ 32 w 32"/>
                  <a:gd name="T5" fmla="*/ 0 h 99"/>
                  <a:gd name="T6" fmla="*/ 13 w 32"/>
                  <a:gd name="T7" fmla="*/ 15 h 99"/>
                  <a:gd name="T8" fmla="*/ 0 w 32"/>
                  <a:gd name="T9" fmla="*/ 25 h 99"/>
                  <a:gd name="T10" fmla="*/ 0 w 32"/>
                  <a:gd name="T11" fmla="*/ 96 h 99"/>
                  <a:gd name="T12" fmla="*/ 3 w 32"/>
                  <a:gd name="T13" fmla="*/ 99 h 99"/>
                  <a:gd name="T14" fmla="*/ 29 w 32"/>
                  <a:gd name="T15" fmla="*/ 99 h 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99">
                    <a:moveTo>
                      <a:pt x="29" y="99"/>
                    </a:moveTo>
                    <a:cubicBezTo>
                      <a:pt x="31" y="99"/>
                      <a:pt x="32" y="98"/>
                      <a:pt x="32" y="96"/>
                    </a:cubicBezTo>
                    <a:cubicBezTo>
                      <a:pt x="32" y="0"/>
                      <a:pt x="32" y="0"/>
                      <a:pt x="32" y="0"/>
                    </a:cubicBezTo>
                    <a:cubicBezTo>
                      <a:pt x="13" y="15"/>
                      <a:pt x="13" y="15"/>
                      <a:pt x="13" y="15"/>
                    </a:cubicBezTo>
                    <a:cubicBezTo>
                      <a:pt x="0" y="25"/>
                      <a:pt x="0" y="25"/>
                      <a:pt x="0" y="25"/>
                    </a:cubicBezTo>
                    <a:cubicBezTo>
                      <a:pt x="0" y="96"/>
                      <a:pt x="0" y="96"/>
                      <a:pt x="0" y="96"/>
                    </a:cubicBezTo>
                    <a:cubicBezTo>
                      <a:pt x="0" y="98"/>
                      <a:pt x="1" y="99"/>
                      <a:pt x="3" y="99"/>
                    </a:cubicBezTo>
                    <a:lnTo>
                      <a:pt x="29" y="99"/>
                    </a:lnTo>
                    <a:close/>
                  </a:path>
                </a:pathLst>
              </a:custGeom>
              <a:grpFill/>
              <a:ln>
                <a:noFill/>
              </a:ln>
              <a:extLst>
                <a:ext uri="{91240B29-F687-4F45-9708-019B960494DF}">
                  <a14:hiddenLine xmlns:a14="http://schemas.microsoft.com/office/drawing/2010/main" w="9525">
                    <a:solidFill>
                      <a:srgbClr val="1482B6"/>
                    </a:solidFill>
                    <a:round/>
                  </a14:hiddenLine>
                </a:ext>
              </a:extLst>
            </p:spPr>
            <p:txBody>
              <a:bodyPr>
                <a:normAutofit/>
              </a:bodyPr>
              <a:lstStyle/>
              <a:p>
                <a:pPr eaLnBrk="1" hangingPunct="1">
                  <a:spcBef>
                    <a:spcPts val="0"/>
                  </a:spcBef>
                  <a:spcAft>
                    <a:spcPts val="0"/>
                  </a:spcAft>
                  <a:defRPr/>
                </a:pPr>
                <a:endParaRPr lang="zh-CN" altLang="en-US" sz="1800"/>
              </a:p>
            </p:txBody>
          </p:sp>
          <p:sp>
            <p:nvSpPr>
              <p:cNvPr id="71" name="Freeform 13@|5FFC:16777215|FBC:16777215|LFC:11960852|LBC:16777215"/>
              <p:cNvSpPr/>
              <p:nvPr>
                <p:custDataLst>
                  <p:tags r:id="rId32"/>
                </p:custDataLst>
              </p:nvPr>
            </p:nvSpPr>
            <p:spPr bwMode="auto">
              <a:xfrm>
                <a:off x="3784600" y="1525588"/>
                <a:ext cx="935038" cy="541338"/>
              </a:xfrm>
              <a:custGeom>
                <a:avLst/>
                <a:gdLst>
                  <a:gd name="T0" fmla="*/ 248 w 248"/>
                  <a:gd name="T1" fmla="*/ 8 h 144"/>
                  <a:gd name="T2" fmla="*/ 245 w 248"/>
                  <a:gd name="T3" fmla="*/ 2 h 144"/>
                  <a:gd name="T4" fmla="*/ 239 w 248"/>
                  <a:gd name="T5" fmla="*/ 0 h 144"/>
                  <a:gd name="T6" fmla="*/ 230 w 248"/>
                  <a:gd name="T7" fmla="*/ 0 h 144"/>
                  <a:gd name="T8" fmla="*/ 200 w 248"/>
                  <a:gd name="T9" fmla="*/ 0 h 144"/>
                  <a:gd name="T10" fmla="*/ 197 w 248"/>
                  <a:gd name="T11" fmla="*/ 1 h 144"/>
                  <a:gd name="T12" fmla="*/ 196 w 248"/>
                  <a:gd name="T13" fmla="*/ 1 h 144"/>
                  <a:gd name="T14" fmla="*/ 191 w 248"/>
                  <a:gd name="T15" fmla="*/ 8 h 144"/>
                  <a:gd name="T16" fmla="*/ 197 w 248"/>
                  <a:gd name="T17" fmla="*/ 16 h 144"/>
                  <a:gd name="T18" fmla="*/ 200 w 248"/>
                  <a:gd name="T19" fmla="*/ 17 h 144"/>
                  <a:gd name="T20" fmla="*/ 210 w 248"/>
                  <a:gd name="T21" fmla="*/ 17 h 144"/>
                  <a:gd name="T22" fmla="*/ 215 w 248"/>
                  <a:gd name="T23" fmla="*/ 17 h 144"/>
                  <a:gd name="T24" fmla="*/ 206 w 248"/>
                  <a:gd name="T25" fmla="*/ 24 h 144"/>
                  <a:gd name="T26" fmla="*/ 189 w 248"/>
                  <a:gd name="T27" fmla="*/ 39 h 144"/>
                  <a:gd name="T28" fmla="*/ 179 w 248"/>
                  <a:gd name="T29" fmla="*/ 47 h 144"/>
                  <a:gd name="T30" fmla="*/ 166 w 248"/>
                  <a:gd name="T31" fmla="*/ 57 h 144"/>
                  <a:gd name="T32" fmla="*/ 158 w 248"/>
                  <a:gd name="T33" fmla="*/ 63 h 144"/>
                  <a:gd name="T34" fmla="*/ 150 w 248"/>
                  <a:gd name="T35" fmla="*/ 55 h 144"/>
                  <a:gd name="T36" fmla="*/ 146 w 248"/>
                  <a:gd name="T37" fmla="*/ 52 h 144"/>
                  <a:gd name="T38" fmla="*/ 136 w 248"/>
                  <a:gd name="T39" fmla="*/ 42 h 144"/>
                  <a:gd name="T40" fmla="*/ 134 w 248"/>
                  <a:gd name="T41" fmla="*/ 40 h 144"/>
                  <a:gd name="T42" fmla="*/ 123 w 248"/>
                  <a:gd name="T43" fmla="*/ 39 h 144"/>
                  <a:gd name="T44" fmla="*/ 114 w 248"/>
                  <a:gd name="T45" fmla="*/ 46 h 144"/>
                  <a:gd name="T46" fmla="*/ 104 w 248"/>
                  <a:gd name="T47" fmla="*/ 54 h 144"/>
                  <a:gd name="T48" fmla="*/ 97 w 248"/>
                  <a:gd name="T49" fmla="*/ 58 h 144"/>
                  <a:gd name="T50" fmla="*/ 94 w 248"/>
                  <a:gd name="T51" fmla="*/ 61 h 144"/>
                  <a:gd name="T52" fmla="*/ 62 w 248"/>
                  <a:gd name="T53" fmla="*/ 85 h 144"/>
                  <a:gd name="T54" fmla="*/ 61 w 248"/>
                  <a:gd name="T55" fmla="*/ 86 h 144"/>
                  <a:gd name="T56" fmla="*/ 51 w 248"/>
                  <a:gd name="T57" fmla="*/ 93 h 144"/>
                  <a:gd name="T58" fmla="*/ 9 w 248"/>
                  <a:gd name="T59" fmla="*/ 124 h 144"/>
                  <a:gd name="T60" fmla="*/ 4 w 248"/>
                  <a:gd name="T61" fmla="*/ 128 h 144"/>
                  <a:gd name="T62" fmla="*/ 3 w 248"/>
                  <a:gd name="T63" fmla="*/ 140 h 144"/>
                  <a:gd name="T64" fmla="*/ 11 w 248"/>
                  <a:gd name="T65" fmla="*/ 143 h 144"/>
                  <a:gd name="T66" fmla="*/ 15 w 248"/>
                  <a:gd name="T67" fmla="*/ 142 h 144"/>
                  <a:gd name="T68" fmla="*/ 51 w 248"/>
                  <a:gd name="T69" fmla="*/ 114 h 144"/>
                  <a:gd name="T70" fmla="*/ 61 w 248"/>
                  <a:gd name="T71" fmla="*/ 107 h 144"/>
                  <a:gd name="T72" fmla="*/ 62 w 248"/>
                  <a:gd name="T73" fmla="*/ 107 h 144"/>
                  <a:gd name="T74" fmla="*/ 94 w 248"/>
                  <a:gd name="T75" fmla="*/ 82 h 144"/>
                  <a:gd name="T76" fmla="*/ 98 w 248"/>
                  <a:gd name="T77" fmla="*/ 80 h 144"/>
                  <a:gd name="T78" fmla="*/ 104 w 248"/>
                  <a:gd name="T79" fmla="*/ 75 h 144"/>
                  <a:gd name="T80" fmla="*/ 114 w 248"/>
                  <a:gd name="T81" fmla="*/ 67 h 144"/>
                  <a:gd name="T82" fmla="*/ 127 w 248"/>
                  <a:gd name="T83" fmla="*/ 57 h 144"/>
                  <a:gd name="T84" fmla="*/ 136 w 248"/>
                  <a:gd name="T85" fmla="*/ 66 h 144"/>
                  <a:gd name="T86" fmla="*/ 146 w 248"/>
                  <a:gd name="T87" fmla="*/ 76 h 144"/>
                  <a:gd name="T88" fmla="*/ 150 w 248"/>
                  <a:gd name="T89" fmla="*/ 79 h 144"/>
                  <a:gd name="T90" fmla="*/ 151 w 248"/>
                  <a:gd name="T91" fmla="*/ 81 h 144"/>
                  <a:gd name="T92" fmla="*/ 162 w 248"/>
                  <a:gd name="T93" fmla="*/ 82 h 144"/>
                  <a:gd name="T94" fmla="*/ 166 w 248"/>
                  <a:gd name="T95" fmla="*/ 79 h 144"/>
                  <a:gd name="T96" fmla="*/ 179 w 248"/>
                  <a:gd name="T97" fmla="*/ 69 h 144"/>
                  <a:gd name="T98" fmla="*/ 189 w 248"/>
                  <a:gd name="T99" fmla="*/ 61 h 144"/>
                  <a:gd name="T100" fmla="*/ 202 w 248"/>
                  <a:gd name="T101" fmla="*/ 51 h 144"/>
                  <a:gd name="T102" fmla="*/ 230 w 248"/>
                  <a:gd name="T103" fmla="*/ 27 h 144"/>
                  <a:gd name="T104" fmla="*/ 231 w 248"/>
                  <a:gd name="T105" fmla="*/ 26 h 144"/>
                  <a:gd name="T106" fmla="*/ 231 w 248"/>
                  <a:gd name="T107" fmla="*/ 46 h 144"/>
                  <a:gd name="T108" fmla="*/ 239 w 248"/>
                  <a:gd name="T109" fmla="*/ 54 h 144"/>
                  <a:gd name="T110" fmla="*/ 248 w 248"/>
                  <a:gd name="T111" fmla="*/ 46 h 144"/>
                  <a:gd name="T112" fmla="*/ 248 w 248"/>
                  <a:gd name="T113" fmla="*/ 8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8" h="144">
                    <a:moveTo>
                      <a:pt x="248" y="8"/>
                    </a:moveTo>
                    <a:cubicBezTo>
                      <a:pt x="248" y="6"/>
                      <a:pt x="247" y="4"/>
                      <a:pt x="245" y="2"/>
                    </a:cubicBezTo>
                    <a:cubicBezTo>
                      <a:pt x="243" y="1"/>
                      <a:pt x="241" y="0"/>
                      <a:pt x="239" y="0"/>
                    </a:cubicBezTo>
                    <a:cubicBezTo>
                      <a:pt x="230" y="0"/>
                      <a:pt x="230" y="0"/>
                      <a:pt x="230" y="0"/>
                    </a:cubicBezTo>
                    <a:cubicBezTo>
                      <a:pt x="200" y="0"/>
                      <a:pt x="200" y="0"/>
                      <a:pt x="200" y="0"/>
                    </a:cubicBezTo>
                    <a:cubicBezTo>
                      <a:pt x="199" y="0"/>
                      <a:pt x="198" y="0"/>
                      <a:pt x="197" y="1"/>
                    </a:cubicBezTo>
                    <a:cubicBezTo>
                      <a:pt x="197" y="1"/>
                      <a:pt x="196" y="1"/>
                      <a:pt x="196" y="1"/>
                    </a:cubicBezTo>
                    <a:cubicBezTo>
                      <a:pt x="193" y="2"/>
                      <a:pt x="191" y="5"/>
                      <a:pt x="191" y="8"/>
                    </a:cubicBezTo>
                    <a:cubicBezTo>
                      <a:pt x="191" y="12"/>
                      <a:pt x="194" y="15"/>
                      <a:pt x="197" y="16"/>
                    </a:cubicBezTo>
                    <a:cubicBezTo>
                      <a:pt x="198" y="17"/>
                      <a:pt x="199" y="17"/>
                      <a:pt x="200" y="17"/>
                    </a:cubicBezTo>
                    <a:cubicBezTo>
                      <a:pt x="210" y="17"/>
                      <a:pt x="210" y="17"/>
                      <a:pt x="210" y="17"/>
                    </a:cubicBezTo>
                    <a:cubicBezTo>
                      <a:pt x="215" y="17"/>
                      <a:pt x="215" y="17"/>
                      <a:pt x="215" y="17"/>
                    </a:cubicBezTo>
                    <a:cubicBezTo>
                      <a:pt x="206" y="24"/>
                      <a:pt x="206" y="24"/>
                      <a:pt x="206" y="24"/>
                    </a:cubicBezTo>
                    <a:cubicBezTo>
                      <a:pt x="189" y="39"/>
                      <a:pt x="189" y="39"/>
                      <a:pt x="189" y="39"/>
                    </a:cubicBezTo>
                    <a:cubicBezTo>
                      <a:pt x="179" y="47"/>
                      <a:pt x="179" y="47"/>
                      <a:pt x="179" y="47"/>
                    </a:cubicBezTo>
                    <a:cubicBezTo>
                      <a:pt x="166" y="57"/>
                      <a:pt x="166" y="57"/>
                      <a:pt x="166" y="57"/>
                    </a:cubicBezTo>
                    <a:cubicBezTo>
                      <a:pt x="158" y="63"/>
                      <a:pt x="158" y="63"/>
                      <a:pt x="158" y="63"/>
                    </a:cubicBezTo>
                    <a:cubicBezTo>
                      <a:pt x="150" y="55"/>
                      <a:pt x="150" y="55"/>
                      <a:pt x="150" y="55"/>
                    </a:cubicBezTo>
                    <a:cubicBezTo>
                      <a:pt x="146" y="52"/>
                      <a:pt x="146" y="52"/>
                      <a:pt x="146" y="52"/>
                    </a:cubicBezTo>
                    <a:cubicBezTo>
                      <a:pt x="136" y="42"/>
                      <a:pt x="136" y="42"/>
                      <a:pt x="136" y="42"/>
                    </a:cubicBezTo>
                    <a:cubicBezTo>
                      <a:pt x="134" y="40"/>
                      <a:pt x="134" y="40"/>
                      <a:pt x="134" y="40"/>
                    </a:cubicBezTo>
                    <a:cubicBezTo>
                      <a:pt x="131" y="37"/>
                      <a:pt x="127" y="36"/>
                      <a:pt x="123" y="39"/>
                    </a:cubicBezTo>
                    <a:cubicBezTo>
                      <a:pt x="114" y="46"/>
                      <a:pt x="114" y="46"/>
                      <a:pt x="114" y="46"/>
                    </a:cubicBezTo>
                    <a:cubicBezTo>
                      <a:pt x="104" y="54"/>
                      <a:pt x="104" y="54"/>
                      <a:pt x="104" y="54"/>
                    </a:cubicBezTo>
                    <a:cubicBezTo>
                      <a:pt x="97" y="58"/>
                      <a:pt x="97" y="58"/>
                      <a:pt x="97" y="58"/>
                    </a:cubicBezTo>
                    <a:cubicBezTo>
                      <a:pt x="94" y="61"/>
                      <a:pt x="94" y="61"/>
                      <a:pt x="94" y="61"/>
                    </a:cubicBezTo>
                    <a:cubicBezTo>
                      <a:pt x="62" y="85"/>
                      <a:pt x="62" y="85"/>
                      <a:pt x="62" y="85"/>
                    </a:cubicBezTo>
                    <a:cubicBezTo>
                      <a:pt x="61" y="86"/>
                      <a:pt x="61" y="86"/>
                      <a:pt x="61" y="86"/>
                    </a:cubicBezTo>
                    <a:cubicBezTo>
                      <a:pt x="51" y="93"/>
                      <a:pt x="51" y="93"/>
                      <a:pt x="51" y="93"/>
                    </a:cubicBezTo>
                    <a:cubicBezTo>
                      <a:pt x="9" y="124"/>
                      <a:pt x="9" y="124"/>
                      <a:pt x="9" y="124"/>
                    </a:cubicBezTo>
                    <a:cubicBezTo>
                      <a:pt x="4" y="128"/>
                      <a:pt x="4" y="128"/>
                      <a:pt x="4" y="128"/>
                    </a:cubicBezTo>
                    <a:cubicBezTo>
                      <a:pt x="1" y="131"/>
                      <a:pt x="0" y="136"/>
                      <a:pt x="3" y="140"/>
                    </a:cubicBezTo>
                    <a:cubicBezTo>
                      <a:pt x="5" y="143"/>
                      <a:pt x="8" y="144"/>
                      <a:pt x="11" y="143"/>
                    </a:cubicBezTo>
                    <a:cubicBezTo>
                      <a:pt x="12" y="143"/>
                      <a:pt x="14" y="143"/>
                      <a:pt x="15" y="142"/>
                    </a:cubicBezTo>
                    <a:cubicBezTo>
                      <a:pt x="51" y="114"/>
                      <a:pt x="51" y="114"/>
                      <a:pt x="51" y="114"/>
                    </a:cubicBezTo>
                    <a:cubicBezTo>
                      <a:pt x="61" y="107"/>
                      <a:pt x="61" y="107"/>
                      <a:pt x="61" y="107"/>
                    </a:cubicBezTo>
                    <a:cubicBezTo>
                      <a:pt x="62" y="107"/>
                      <a:pt x="62" y="107"/>
                      <a:pt x="62" y="107"/>
                    </a:cubicBezTo>
                    <a:cubicBezTo>
                      <a:pt x="94" y="82"/>
                      <a:pt x="94" y="82"/>
                      <a:pt x="94" y="82"/>
                    </a:cubicBezTo>
                    <a:cubicBezTo>
                      <a:pt x="98" y="80"/>
                      <a:pt x="98" y="80"/>
                      <a:pt x="98" y="80"/>
                    </a:cubicBezTo>
                    <a:cubicBezTo>
                      <a:pt x="104" y="75"/>
                      <a:pt x="104" y="75"/>
                      <a:pt x="104" y="75"/>
                    </a:cubicBezTo>
                    <a:cubicBezTo>
                      <a:pt x="114" y="67"/>
                      <a:pt x="114" y="67"/>
                      <a:pt x="114" y="67"/>
                    </a:cubicBezTo>
                    <a:cubicBezTo>
                      <a:pt x="127" y="57"/>
                      <a:pt x="127" y="57"/>
                      <a:pt x="127" y="57"/>
                    </a:cubicBezTo>
                    <a:cubicBezTo>
                      <a:pt x="136" y="66"/>
                      <a:pt x="136" y="66"/>
                      <a:pt x="136" y="66"/>
                    </a:cubicBezTo>
                    <a:cubicBezTo>
                      <a:pt x="146" y="76"/>
                      <a:pt x="146" y="76"/>
                      <a:pt x="146" y="76"/>
                    </a:cubicBezTo>
                    <a:cubicBezTo>
                      <a:pt x="150" y="79"/>
                      <a:pt x="150" y="79"/>
                      <a:pt x="150" y="79"/>
                    </a:cubicBezTo>
                    <a:cubicBezTo>
                      <a:pt x="151" y="81"/>
                      <a:pt x="151" y="81"/>
                      <a:pt x="151" y="81"/>
                    </a:cubicBezTo>
                    <a:cubicBezTo>
                      <a:pt x="154" y="84"/>
                      <a:pt x="159" y="84"/>
                      <a:pt x="162" y="82"/>
                    </a:cubicBezTo>
                    <a:cubicBezTo>
                      <a:pt x="166" y="79"/>
                      <a:pt x="166" y="79"/>
                      <a:pt x="166" y="79"/>
                    </a:cubicBezTo>
                    <a:cubicBezTo>
                      <a:pt x="179" y="69"/>
                      <a:pt x="179" y="69"/>
                      <a:pt x="179" y="69"/>
                    </a:cubicBezTo>
                    <a:cubicBezTo>
                      <a:pt x="189" y="61"/>
                      <a:pt x="189" y="61"/>
                      <a:pt x="189" y="61"/>
                    </a:cubicBezTo>
                    <a:cubicBezTo>
                      <a:pt x="202" y="51"/>
                      <a:pt x="202" y="51"/>
                      <a:pt x="202" y="51"/>
                    </a:cubicBezTo>
                    <a:cubicBezTo>
                      <a:pt x="230" y="27"/>
                      <a:pt x="230" y="27"/>
                      <a:pt x="230" y="27"/>
                    </a:cubicBezTo>
                    <a:cubicBezTo>
                      <a:pt x="231" y="26"/>
                      <a:pt x="231" y="26"/>
                      <a:pt x="231" y="26"/>
                    </a:cubicBezTo>
                    <a:cubicBezTo>
                      <a:pt x="231" y="46"/>
                      <a:pt x="231" y="46"/>
                      <a:pt x="231" y="46"/>
                    </a:cubicBezTo>
                    <a:cubicBezTo>
                      <a:pt x="231" y="50"/>
                      <a:pt x="234" y="54"/>
                      <a:pt x="239" y="54"/>
                    </a:cubicBezTo>
                    <a:cubicBezTo>
                      <a:pt x="244" y="54"/>
                      <a:pt x="248" y="50"/>
                      <a:pt x="248" y="46"/>
                    </a:cubicBezTo>
                    <a:lnTo>
                      <a:pt x="248" y="8"/>
                    </a:lnTo>
                    <a:close/>
                  </a:path>
                </a:pathLst>
              </a:custGeom>
              <a:grpFill/>
              <a:ln>
                <a:noFill/>
              </a:ln>
              <a:extLst>
                <a:ext uri="{91240B29-F687-4F45-9708-019B960494DF}">
                  <a14:hiddenLine xmlns:a14="http://schemas.microsoft.com/office/drawing/2010/main" w="9525">
                    <a:solidFill>
                      <a:srgbClr val="1482B6"/>
                    </a:solidFill>
                    <a:round/>
                  </a14:hiddenLine>
                </a:ext>
              </a:extLst>
            </p:spPr>
            <p:txBody>
              <a:bodyPr>
                <a:normAutofit/>
              </a:bodyPr>
              <a:lstStyle/>
              <a:p>
                <a:pPr eaLnBrk="1" hangingPunct="1">
                  <a:spcBef>
                    <a:spcPts val="0"/>
                  </a:spcBef>
                  <a:spcAft>
                    <a:spcPts val="0"/>
                  </a:spcAft>
                  <a:defRPr/>
                </a:pPr>
                <a:endParaRPr lang="zh-CN" altLang="en-US" sz="1800"/>
              </a:p>
            </p:txBody>
          </p:sp>
        </p:grpSp>
      </p:gr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3.1.2 </a:t>
            </a:r>
            <a:r>
              <a:rPr lang="zh-CN" altLang="en-US" sz="2400" dirty="0">
                <a:solidFill>
                  <a:schemeClr val="tx1"/>
                </a:solidFill>
              </a:rPr>
              <a:t>详细设计的基本任务</a:t>
            </a:r>
          </a:p>
        </p:txBody>
      </p:sp>
    </p:spTree>
  </p:cSld>
  <p:clrMapOvr>
    <a:masterClrMapping/>
  </p:clrMapOvr>
  <p:transition>
    <p:wedg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t>3.1 </a:t>
            </a:r>
            <a:r>
              <a:rPr lang="zh-CN" altLang="en-US" dirty="0"/>
              <a:t>软件设计步骤</a:t>
            </a:r>
            <a:endParaRPr lang="zh-CN" altLang="en-US" dirty="0">
              <a:sym typeface="+mn-ea"/>
            </a:endParaRPr>
          </a:p>
        </p:txBody>
      </p:sp>
      <p:grpSp>
        <p:nvGrpSpPr>
          <p:cNvPr id="4" name="组合 3"/>
          <p:cNvGrpSpPr/>
          <p:nvPr/>
        </p:nvGrpSpPr>
        <p:grpSpPr>
          <a:xfrm>
            <a:off x="482600" y="2305050"/>
            <a:ext cx="11374755" cy="3147060"/>
            <a:chOff x="760" y="3630"/>
            <a:chExt cx="17913" cy="4956"/>
          </a:xfrm>
        </p:grpSpPr>
        <p:cxnSp>
          <p:nvCxnSpPr>
            <p:cNvPr id="3075" name="MH_Other_1"/>
            <p:cNvCxnSpPr>
              <a:cxnSpLocks noChangeShapeType="1"/>
            </p:cNvCxnSpPr>
            <p:nvPr>
              <p:custDataLst>
                <p:tags r:id="rId1"/>
              </p:custDataLst>
            </p:nvPr>
          </p:nvCxnSpPr>
          <p:spPr bwMode="auto">
            <a:xfrm>
              <a:off x="760" y="5558"/>
              <a:ext cx="17913" cy="0"/>
            </a:xfrm>
            <a:prstGeom prst="line">
              <a:avLst/>
            </a:prstGeom>
            <a:noFill/>
            <a:ln w="76200" algn="ctr">
              <a:solidFill>
                <a:srgbClr val="E0E0E0"/>
              </a:solidFill>
              <a:miter lim="800000"/>
              <a:tailEnd type="triangle" w="med" len="med"/>
            </a:ln>
          </p:spPr>
        </p:cxnSp>
        <p:sp>
          <p:nvSpPr>
            <p:cNvPr id="70" name="MH_SubTitle_1"/>
            <p:cNvSpPr/>
            <p:nvPr>
              <p:custDataLst>
                <p:tags r:id="rId2"/>
              </p:custDataLst>
            </p:nvPr>
          </p:nvSpPr>
          <p:spPr>
            <a:xfrm>
              <a:off x="2330" y="3983"/>
              <a:ext cx="3297" cy="1372"/>
            </a:xfrm>
            <a:prstGeom prst="rect">
              <a:avLst/>
            </a:prstGeom>
            <a:solidFill>
              <a:srgbClr val="85C036"/>
            </a:solidFill>
            <a:ln w="12700" cap="flat" cmpd="sng" algn="ctr">
              <a:noFill/>
              <a:prstDash val="solid"/>
              <a:miter lim="800000"/>
            </a:ln>
            <a:effectLst/>
          </p:spPr>
          <p:txBody>
            <a:bodyPr tIns="180000" anchor="ctr">
              <a:normAutofit/>
            </a:bodyPr>
            <a:lstStyle/>
            <a:p>
              <a:pPr algn="ctr"/>
              <a:r>
                <a:rPr lang="zh-CN" altLang="en-US" b="1" dirty="0">
                  <a:solidFill>
                    <a:schemeClr val="bg1"/>
                  </a:solidFill>
                  <a:latin typeface="微软雅黑" panose="020B0503020204020204" charset="-122"/>
                  <a:ea typeface="微软雅黑" panose="020B0503020204020204" charset="-122"/>
                </a:rPr>
                <a:t>数据结构设计</a:t>
              </a:r>
            </a:p>
            <a:p>
              <a:pPr algn="ctr"/>
              <a:r>
                <a:rPr lang="zh-CN" altLang="en-US" b="1" dirty="0">
                  <a:solidFill>
                    <a:schemeClr val="bg1"/>
                  </a:solidFill>
                  <a:latin typeface="微软雅黑" panose="020B0503020204020204" charset="-122"/>
                  <a:ea typeface="微软雅黑" panose="020B0503020204020204" charset="-122"/>
                </a:rPr>
                <a:t>和数据库设计</a:t>
              </a:r>
            </a:p>
          </p:txBody>
        </p:sp>
        <p:sp>
          <p:nvSpPr>
            <p:cNvPr id="71" name="MH_Other_2"/>
            <p:cNvSpPr/>
            <p:nvPr>
              <p:custDataLst>
                <p:tags r:id="rId3"/>
              </p:custDataLst>
            </p:nvPr>
          </p:nvSpPr>
          <p:spPr>
            <a:xfrm>
              <a:off x="2090" y="3630"/>
              <a:ext cx="940" cy="705"/>
            </a:xfrm>
            <a:prstGeom prst="ellipse">
              <a:avLst/>
            </a:prstGeom>
            <a:solidFill>
              <a:srgbClr val="65922A"/>
            </a:solidFill>
            <a:ln w="254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r>
                <a:rPr lang="en-US" altLang="zh-CN" sz="2800" b="1" kern="0" dirty="0">
                  <a:solidFill>
                    <a:srgbClr val="FFFFFF"/>
                  </a:solidFill>
                  <a:latin typeface="Arial" panose="020B0604020202020204" pitchFamily="34" charset="0"/>
                  <a:ea typeface="幼圆" panose="02010509060101010101" pitchFamily="49" charset="-122"/>
                  <a:cs typeface="Arial" panose="020B0604020202020204" pitchFamily="34" charset="0"/>
                </a:rPr>
                <a:t>1</a:t>
              </a:r>
              <a:endParaRPr lang="zh-CN" altLang="en-US" sz="2800" b="1" kern="0" dirty="0">
                <a:solidFill>
                  <a:srgbClr val="FFFFFF"/>
                </a:solidFill>
                <a:latin typeface="Arial" panose="020B0604020202020204" pitchFamily="34" charset="0"/>
                <a:ea typeface="幼圆" panose="02010509060101010101" pitchFamily="49" charset="-122"/>
                <a:cs typeface="Arial" panose="020B0604020202020204" pitchFamily="34" charset="0"/>
              </a:endParaRPr>
            </a:p>
          </p:txBody>
        </p:sp>
        <p:sp>
          <p:nvSpPr>
            <p:cNvPr id="3078" name="MH_Text_1"/>
            <p:cNvSpPr txBox="1">
              <a:spLocks noChangeArrowheads="1"/>
            </p:cNvSpPr>
            <p:nvPr>
              <p:custDataLst>
                <p:tags r:id="rId4"/>
              </p:custDataLst>
            </p:nvPr>
          </p:nvSpPr>
          <p:spPr bwMode="auto">
            <a:xfrm>
              <a:off x="1725" y="5894"/>
              <a:ext cx="4508" cy="2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20000"/>
                </a:lnSpc>
                <a:defRPr/>
              </a:pPr>
              <a:r>
                <a:rPr lang="en-US" altLang="zh-CN" b="1" dirty="0">
                  <a:latin typeface="微软雅黑" panose="020B0503020204020204" charset="-122"/>
                  <a:ea typeface="微软雅黑" panose="020B0503020204020204" charset="-122"/>
                </a:rPr>
                <a:t>       </a:t>
              </a:r>
              <a:r>
                <a:rPr lang="zh-CN" altLang="en-US" sz="1600" b="1" dirty="0">
                  <a:latin typeface="微软雅黑" panose="020B0503020204020204" charset="-122"/>
                  <a:ea typeface="微软雅黑" panose="020B0503020204020204" charset="-122"/>
                </a:rPr>
                <a:t>在概要设计的基础上，确定每个模块使用的数据结构，进一步设计软件的数据库结构。</a:t>
              </a:r>
            </a:p>
          </p:txBody>
        </p:sp>
        <p:sp>
          <p:nvSpPr>
            <p:cNvPr id="73" name="MH_SubTitle_2"/>
            <p:cNvSpPr/>
            <p:nvPr>
              <p:custDataLst>
                <p:tags r:id="rId5"/>
              </p:custDataLst>
            </p:nvPr>
          </p:nvSpPr>
          <p:spPr>
            <a:xfrm>
              <a:off x="7668" y="3983"/>
              <a:ext cx="3297" cy="1372"/>
            </a:xfrm>
            <a:prstGeom prst="rect">
              <a:avLst/>
            </a:prstGeom>
            <a:solidFill>
              <a:srgbClr val="ACC337"/>
            </a:solidFill>
            <a:ln w="12700" cap="flat" cmpd="sng" algn="ctr">
              <a:noFill/>
              <a:prstDash val="solid"/>
              <a:miter lim="800000"/>
            </a:ln>
            <a:effectLst/>
          </p:spPr>
          <p:txBody>
            <a:bodyPr tIns="180000" anchor="ctr">
              <a:normAutofit/>
            </a:bodyPr>
            <a:lstStyle/>
            <a:p>
              <a:pPr algn="ctr"/>
              <a:r>
                <a:rPr lang="zh-CN" altLang="en-US" b="1" dirty="0">
                  <a:solidFill>
                    <a:schemeClr val="bg1"/>
                  </a:solidFill>
                  <a:latin typeface="微软雅黑" panose="020B0503020204020204" charset="-122"/>
                  <a:ea typeface="微软雅黑" panose="020B0503020204020204" charset="-122"/>
                </a:rPr>
                <a:t>接口设计</a:t>
              </a:r>
            </a:p>
          </p:txBody>
        </p:sp>
        <p:sp>
          <p:nvSpPr>
            <p:cNvPr id="74" name="MH_Other_3"/>
            <p:cNvSpPr/>
            <p:nvPr>
              <p:custDataLst>
                <p:tags r:id="rId6"/>
              </p:custDataLst>
            </p:nvPr>
          </p:nvSpPr>
          <p:spPr>
            <a:xfrm>
              <a:off x="7428" y="3630"/>
              <a:ext cx="940" cy="705"/>
            </a:xfrm>
            <a:prstGeom prst="ellipse">
              <a:avLst/>
            </a:prstGeom>
            <a:solidFill>
              <a:srgbClr val="BED15D">
                <a:lumMod val="75000"/>
              </a:srgbClr>
            </a:solidFill>
            <a:ln w="254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r>
                <a:rPr lang="en-US" altLang="zh-CN" sz="2800" b="1" kern="0" dirty="0">
                  <a:solidFill>
                    <a:srgbClr val="FFFFFF"/>
                  </a:solidFill>
                  <a:latin typeface="Arial" panose="020B0604020202020204" pitchFamily="34" charset="0"/>
                  <a:ea typeface="幼圆" panose="02010509060101010101" pitchFamily="49" charset="-122"/>
                  <a:cs typeface="Arial" panose="020B0604020202020204" pitchFamily="34" charset="0"/>
                </a:rPr>
                <a:t>2</a:t>
              </a:r>
              <a:endParaRPr lang="zh-CN" altLang="en-US" sz="2800" b="1" kern="0" dirty="0">
                <a:solidFill>
                  <a:srgbClr val="FFFFFF"/>
                </a:solidFill>
                <a:latin typeface="Arial" panose="020B0604020202020204" pitchFamily="34" charset="0"/>
                <a:ea typeface="幼圆" panose="02010509060101010101" pitchFamily="49" charset="-122"/>
                <a:cs typeface="Arial" panose="020B0604020202020204" pitchFamily="34" charset="0"/>
              </a:endParaRPr>
            </a:p>
          </p:txBody>
        </p:sp>
        <p:sp>
          <p:nvSpPr>
            <p:cNvPr id="3081" name="MH_Text_2"/>
            <p:cNvSpPr txBox="1">
              <a:spLocks noChangeArrowheads="1"/>
            </p:cNvSpPr>
            <p:nvPr>
              <p:custDataLst>
                <p:tags r:id="rId7"/>
              </p:custDataLst>
            </p:nvPr>
          </p:nvSpPr>
          <p:spPr bwMode="auto">
            <a:xfrm>
              <a:off x="6869" y="5894"/>
              <a:ext cx="4440" cy="2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pPr>
              <a:r>
                <a:rPr lang="zh-CN" altLang="en-US" b="1" dirty="0">
                  <a:latin typeface="微软雅黑" panose="020B0503020204020204" charset="-122"/>
                  <a:ea typeface="微软雅黑" panose="020B0503020204020204" charset="-122"/>
                </a:rPr>
                <a:t>       </a:t>
              </a:r>
              <a:r>
                <a:rPr lang="zh-CN" altLang="en-US" sz="1600" b="1" dirty="0">
                  <a:latin typeface="微软雅黑" panose="020B0503020204020204" charset="-122"/>
                  <a:ea typeface="微软雅黑" panose="020B0503020204020204" charset="-122"/>
                </a:rPr>
                <a:t>接口设计包括软件模块间的接口设计、模块与外部实体的接口设计和用户界面设计。</a:t>
              </a:r>
            </a:p>
          </p:txBody>
        </p:sp>
        <p:sp>
          <p:nvSpPr>
            <p:cNvPr id="76" name="MH_SubTitle_3"/>
            <p:cNvSpPr/>
            <p:nvPr>
              <p:custDataLst>
                <p:tags r:id="rId8"/>
              </p:custDataLst>
            </p:nvPr>
          </p:nvSpPr>
          <p:spPr>
            <a:xfrm>
              <a:off x="12913" y="3983"/>
              <a:ext cx="3297" cy="1372"/>
            </a:xfrm>
            <a:prstGeom prst="rect">
              <a:avLst/>
            </a:prstGeom>
            <a:solidFill>
              <a:srgbClr val="44C0A2"/>
            </a:solidFill>
            <a:ln w="12700" cap="flat" cmpd="sng" algn="ctr">
              <a:noFill/>
              <a:prstDash val="solid"/>
              <a:miter lim="800000"/>
            </a:ln>
            <a:effectLst/>
          </p:spPr>
          <p:txBody>
            <a:bodyPr tIns="180000" anchor="ctr">
              <a:normAutofit/>
            </a:bodyPr>
            <a:lstStyle/>
            <a:p>
              <a:pPr algn="ctr"/>
              <a:r>
                <a:rPr lang="zh-CN" altLang="en-US" b="1" dirty="0">
                  <a:solidFill>
                    <a:schemeClr val="bg1"/>
                  </a:solidFill>
                  <a:latin typeface="微软雅黑" panose="020B0503020204020204" charset="-122"/>
                  <a:ea typeface="微软雅黑" panose="020B0503020204020204" charset="-122"/>
                </a:rPr>
                <a:t>过程设计</a:t>
              </a:r>
            </a:p>
          </p:txBody>
        </p:sp>
        <p:sp>
          <p:nvSpPr>
            <p:cNvPr id="77" name="MH_Other_4"/>
            <p:cNvSpPr/>
            <p:nvPr>
              <p:custDataLst>
                <p:tags r:id="rId9"/>
              </p:custDataLst>
            </p:nvPr>
          </p:nvSpPr>
          <p:spPr>
            <a:xfrm>
              <a:off x="12673" y="3630"/>
              <a:ext cx="940" cy="705"/>
            </a:xfrm>
            <a:prstGeom prst="ellipse">
              <a:avLst/>
            </a:prstGeom>
            <a:solidFill>
              <a:srgbClr val="38A68C"/>
            </a:solidFill>
            <a:ln w="254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r>
                <a:rPr lang="en-US" altLang="zh-CN" sz="2800" b="1" kern="0" dirty="0">
                  <a:solidFill>
                    <a:srgbClr val="FFFFFF"/>
                  </a:solidFill>
                  <a:latin typeface="Arial" panose="020B0604020202020204" pitchFamily="34" charset="0"/>
                  <a:ea typeface="幼圆" panose="02010509060101010101" pitchFamily="49" charset="-122"/>
                  <a:cs typeface="Arial" panose="020B0604020202020204" pitchFamily="34" charset="0"/>
                </a:rPr>
                <a:t>3</a:t>
              </a:r>
              <a:endParaRPr lang="zh-CN" altLang="en-US" sz="2800" b="1" kern="0" dirty="0">
                <a:solidFill>
                  <a:srgbClr val="FFFFFF"/>
                </a:solidFill>
                <a:latin typeface="Arial" panose="020B0604020202020204" pitchFamily="34" charset="0"/>
                <a:ea typeface="幼圆" panose="02010509060101010101" pitchFamily="49" charset="-122"/>
                <a:cs typeface="Arial" panose="020B0604020202020204" pitchFamily="34" charset="0"/>
              </a:endParaRPr>
            </a:p>
          </p:txBody>
        </p:sp>
        <p:sp>
          <p:nvSpPr>
            <p:cNvPr id="3084" name="MH_Text_3"/>
            <p:cNvSpPr txBox="1">
              <a:spLocks noChangeArrowheads="1"/>
            </p:cNvSpPr>
            <p:nvPr>
              <p:custDataLst>
                <p:tags r:id="rId10"/>
              </p:custDataLst>
            </p:nvPr>
          </p:nvSpPr>
          <p:spPr bwMode="auto">
            <a:xfrm>
              <a:off x="11713" y="5894"/>
              <a:ext cx="6553" cy="2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20000"/>
                </a:lnSpc>
                <a:defRPr/>
              </a:pPr>
              <a:r>
                <a:rPr lang="en-US" altLang="zh-CN" b="1" dirty="0">
                  <a:latin typeface="微软雅黑" panose="020B0503020204020204" charset="-122"/>
                  <a:ea typeface="微软雅黑" panose="020B0503020204020204" charset="-122"/>
                </a:rPr>
                <a:t>      </a:t>
              </a:r>
              <a:r>
                <a:rPr lang="zh-CN" altLang="en-US" sz="1600" b="1" dirty="0">
                  <a:latin typeface="微软雅黑" panose="020B0503020204020204" charset="-122"/>
                  <a:ea typeface="微软雅黑" panose="020B0503020204020204" charset="-122"/>
                </a:rPr>
                <a:t>过程设计应在系统结构设计、数据结构设计、接口设计完成之后进行，它是详细设计阶段应完成的主要任务之一。软件过程设计规定了运用方法的顺序、应该交付的文档、开发软件的管理措施和各阶段任务完成的标志。</a:t>
              </a:r>
            </a:p>
          </p:txBody>
        </p:sp>
      </p:gr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3.1.2 </a:t>
            </a:r>
            <a:r>
              <a:rPr lang="zh-CN" altLang="en-US" sz="2400" dirty="0">
                <a:solidFill>
                  <a:schemeClr val="tx1"/>
                </a:solidFill>
              </a:rPr>
              <a:t>详细设计的基本任务</a:t>
            </a:r>
          </a:p>
        </p:txBody>
      </p:sp>
      <p:sp>
        <p:nvSpPr>
          <p:cNvPr id="5" name="动作按钮: 信息 4">
            <a:hlinkClick r:id="" action="ppaction://hlinkshowjump?jump=nextslide"/>
          </p:cNvPr>
          <p:cNvSpPr/>
          <p:nvPr/>
        </p:nvSpPr>
        <p:spPr>
          <a:xfrm>
            <a:off x="7608570" y="5848350"/>
            <a:ext cx="439420" cy="365760"/>
          </a:xfrm>
          <a:prstGeom prst="actionButtonInformation">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8047355" y="5848350"/>
            <a:ext cx="3078480" cy="365760"/>
          </a:xfrm>
          <a:prstGeom prst="rect">
            <a:avLst/>
          </a:prstGeom>
          <a:noFill/>
        </p:spPr>
        <p:txBody>
          <a:bodyPr wrap="square" rtlCol="0">
            <a:spAutoFit/>
          </a:bodyPr>
          <a:lstStyle/>
          <a:p>
            <a:r>
              <a:rPr lang="zh-CN" altLang="en-US" dirty="0">
                <a:hlinkClick r:id="rId13" action="ppaction://hlinksldjump"/>
              </a:rPr>
              <a:t>过程设计要点</a:t>
            </a:r>
            <a:endParaRPr lang="zh-CN" altLang="en-US" dirty="0"/>
          </a:p>
        </p:txBody>
      </p:sp>
    </p:spTree>
  </p:cSld>
  <p:clrMapOvr>
    <a:masterClrMapping/>
  </p:clrMapOvr>
  <p:transition>
    <p:wedg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t>3.1 </a:t>
            </a:r>
            <a:r>
              <a:rPr lang="zh-CN" altLang="en-US" dirty="0"/>
              <a:t>软件设计步骤</a:t>
            </a:r>
            <a:endParaRPr lang="zh-CN" altLang="en-US" dirty="0">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3.1.2 </a:t>
            </a:r>
            <a:r>
              <a:rPr lang="zh-CN" altLang="en-US" sz="2400" dirty="0">
                <a:solidFill>
                  <a:schemeClr val="tx1"/>
                </a:solidFill>
              </a:rPr>
              <a:t>详细设计的基本任务</a:t>
            </a:r>
          </a:p>
        </p:txBody>
      </p:sp>
      <p:grpSp>
        <p:nvGrpSpPr>
          <p:cNvPr id="11" name="组合 10"/>
          <p:cNvGrpSpPr/>
          <p:nvPr/>
        </p:nvGrpSpPr>
        <p:grpSpPr>
          <a:xfrm>
            <a:off x="4421872" y="2606722"/>
            <a:ext cx="2916896" cy="2708228"/>
            <a:chOff x="6718" y="4218"/>
            <a:chExt cx="4517" cy="4053"/>
          </a:xfrm>
        </p:grpSpPr>
        <p:sp>
          <p:nvSpPr>
            <p:cNvPr id="19" name="椭圆 18"/>
            <p:cNvSpPr/>
            <p:nvPr>
              <p:custDataLst>
                <p:tags r:id="rId4"/>
              </p:custDataLst>
            </p:nvPr>
          </p:nvSpPr>
          <p:spPr>
            <a:xfrm>
              <a:off x="6718" y="5889"/>
              <a:ext cx="2624" cy="2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20" name="文本框 22"/>
            <p:cNvSpPr txBox="1">
              <a:spLocks noChangeArrowheads="1"/>
            </p:cNvSpPr>
            <p:nvPr>
              <p:custDataLst>
                <p:tags r:id="rId5"/>
              </p:custDataLst>
            </p:nvPr>
          </p:nvSpPr>
          <p:spPr bwMode="auto">
            <a:xfrm>
              <a:off x="7293" y="6686"/>
              <a:ext cx="878"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6600" b="1" dirty="0">
                  <a:solidFill>
                    <a:schemeClr val="bg1"/>
                  </a:solidFill>
                  <a:latin typeface="+mn-lt"/>
                  <a:ea typeface="+mn-ea"/>
                </a:rPr>
                <a:t>设</a:t>
              </a:r>
            </a:p>
          </p:txBody>
        </p:sp>
        <p:sp>
          <p:nvSpPr>
            <p:cNvPr id="39" name="椭圆 38"/>
            <p:cNvSpPr/>
            <p:nvPr>
              <p:custDataLst>
                <p:tags r:id="rId6"/>
              </p:custDataLst>
            </p:nvPr>
          </p:nvSpPr>
          <p:spPr>
            <a:xfrm>
              <a:off x="6718" y="4218"/>
              <a:ext cx="2624" cy="2382"/>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40" name="椭圆 39"/>
            <p:cNvSpPr/>
            <p:nvPr>
              <p:custDataLst>
                <p:tags r:id="rId7"/>
              </p:custDataLst>
            </p:nvPr>
          </p:nvSpPr>
          <p:spPr>
            <a:xfrm>
              <a:off x="8611" y="4218"/>
              <a:ext cx="2624" cy="2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42" name="椭圆 41"/>
            <p:cNvSpPr/>
            <p:nvPr>
              <p:custDataLst>
                <p:tags r:id="rId8"/>
              </p:custDataLst>
            </p:nvPr>
          </p:nvSpPr>
          <p:spPr>
            <a:xfrm>
              <a:off x="8611" y="5889"/>
              <a:ext cx="2624" cy="2382"/>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nvGrpSpPr>
            <p:cNvPr id="43" name="组合 42"/>
            <p:cNvGrpSpPr/>
            <p:nvPr>
              <p:custDataLst>
                <p:tags r:id="rId9"/>
              </p:custDataLst>
            </p:nvPr>
          </p:nvGrpSpPr>
          <p:grpSpPr>
            <a:xfrm>
              <a:off x="7093" y="4579"/>
              <a:ext cx="3761" cy="3313"/>
              <a:chOff x="4933659" y="1528513"/>
              <a:chExt cx="3096541" cy="3006076"/>
            </a:xfrm>
            <a:solidFill>
              <a:schemeClr val="bg1"/>
            </a:solidFill>
          </p:grpSpPr>
          <p:sp>
            <p:nvSpPr>
              <p:cNvPr id="44" name="Freeform 16@|5FFC:0|FBC:0|LFC:16777215|LBC:16777215"/>
              <p:cNvSpPr/>
              <p:nvPr>
                <p:custDataLst>
                  <p:tags r:id="rId13"/>
                </p:custDataLst>
              </p:nvPr>
            </p:nvSpPr>
            <p:spPr>
              <a:xfrm>
                <a:off x="6181299" y="1528513"/>
                <a:ext cx="601263" cy="1489462"/>
              </a:xfrm>
              <a:custGeom>
                <a:avLst/>
                <a:gdLst>
                  <a:gd name="connsiteX0" fmla="*/ 300632 w 601263"/>
                  <a:gd name="connsiteY0" fmla="*/ 0 h 1489462"/>
                  <a:gd name="connsiteX1" fmla="*/ 416779 w 601263"/>
                  <a:gd name="connsiteY1" fmla="*/ 140772 h 1489462"/>
                  <a:gd name="connsiteX2" fmla="*/ 601263 w 601263"/>
                  <a:gd name="connsiteY2" fmla="*/ 744731 h 1489462"/>
                  <a:gd name="connsiteX3" fmla="*/ 416779 w 601263"/>
                  <a:gd name="connsiteY3" fmla="*/ 1348690 h 1489462"/>
                  <a:gd name="connsiteX4" fmla="*/ 300632 w 601263"/>
                  <a:gd name="connsiteY4" fmla="*/ 1489462 h 1489462"/>
                  <a:gd name="connsiteX5" fmla="*/ 184484 w 601263"/>
                  <a:gd name="connsiteY5" fmla="*/ 1348690 h 1489462"/>
                  <a:gd name="connsiteX6" fmla="*/ 0 w 601263"/>
                  <a:gd name="connsiteY6" fmla="*/ 744731 h 1489462"/>
                  <a:gd name="connsiteX7" fmla="*/ 184484 w 601263"/>
                  <a:gd name="connsiteY7" fmla="*/ 140772 h 1489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2">
                    <a:moveTo>
                      <a:pt x="300632" y="0"/>
                    </a:moveTo>
                    <a:lnTo>
                      <a:pt x="416779" y="140772"/>
                    </a:lnTo>
                    <a:cubicBezTo>
                      <a:pt x="533253" y="313176"/>
                      <a:pt x="601263" y="521011"/>
                      <a:pt x="601263" y="744731"/>
                    </a:cubicBezTo>
                    <a:cubicBezTo>
                      <a:pt x="601263" y="968451"/>
                      <a:pt x="533253" y="1176287"/>
                      <a:pt x="416779" y="1348690"/>
                    </a:cubicBezTo>
                    <a:lnTo>
                      <a:pt x="300632" y="1489462"/>
                    </a:lnTo>
                    <a:lnTo>
                      <a:pt x="184484" y="1348690"/>
                    </a:lnTo>
                    <a:cubicBezTo>
                      <a:pt x="68011" y="1176287"/>
                      <a:pt x="0" y="968451"/>
                      <a:pt x="0" y="744731"/>
                    </a:cubicBezTo>
                    <a:cubicBezTo>
                      <a:pt x="0" y="521011"/>
                      <a:pt x="68011" y="313176"/>
                      <a:pt x="184484" y="1407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45" name="Freeform 17@|5FFC:0|FBC:0|LFC:16777215|LBC:16777215"/>
              <p:cNvSpPr/>
              <p:nvPr>
                <p:custDataLst>
                  <p:tags r:id="rId14"/>
                </p:custDataLst>
              </p:nvPr>
            </p:nvSpPr>
            <p:spPr>
              <a:xfrm>
                <a:off x="6181299" y="3045126"/>
                <a:ext cx="601263" cy="1489463"/>
              </a:xfrm>
              <a:custGeom>
                <a:avLst/>
                <a:gdLst>
                  <a:gd name="connsiteX0" fmla="*/ 300923 w 601263"/>
                  <a:gd name="connsiteY0" fmla="*/ 0 h 1489463"/>
                  <a:gd name="connsiteX1" fmla="*/ 416779 w 601263"/>
                  <a:gd name="connsiteY1" fmla="*/ 140419 h 1489463"/>
                  <a:gd name="connsiteX2" fmla="*/ 601263 w 601263"/>
                  <a:gd name="connsiteY2" fmla="*/ 744378 h 1489463"/>
                  <a:gd name="connsiteX3" fmla="*/ 416779 w 601263"/>
                  <a:gd name="connsiteY3" fmla="*/ 1348337 h 1489463"/>
                  <a:gd name="connsiteX4" fmla="*/ 300340 w 601263"/>
                  <a:gd name="connsiteY4" fmla="*/ 1489463 h 1489463"/>
                  <a:gd name="connsiteX5" fmla="*/ 184484 w 601263"/>
                  <a:gd name="connsiteY5" fmla="*/ 1349044 h 1489463"/>
                  <a:gd name="connsiteX6" fmla="*/ 0 w 601263"/>
                  <a:gd name="connsiteY6" fmla="*/ 745085 h 1489463"/>
                  <a:gd name="connsiteX7" fmla="*/ 184484 w 601263"/>
                  <a:gd name="connsiteY7" fmla="*/ 141126 h 14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3">
                    <a:moveTo>
                      <a:pt x="300923" y="0"/>
                    </a:moveTo>
                    <a:lnTo>
                      <a:pt x="416779" y="140419"/>
                    </a:lnTo>
                    <a:cubicBezTo>
                      <a:pt x="533253" y="312823"/>
                      <a:pt x="601263" y="520658"/>
                      <a:pt x="601263" y="744378"/>
                    </a:cubicBezTo>
                    <a:cubicBezTo>
                      <a:pt x="601263" y="968098"/>
                      <a:pt x="533253" y="1175934"/>
                      <a:pt x="416779" y="1348337"/>
                    </a:cubicBezTo>
                    <a:lnTo>
                      <a:pt x="300340" y="1489463"/>
                    </a:lnTo>
                    <a:lnTo>
                      <a:pt x="184484" y="1349044"/>
                    </a:lnTo>
                    <a:cubicBezTo>
                      <a:pt x="68011" y="1176641"/>
                      <a:pt x="0" y="968805"/>
                      <a:pt x="0" y="745085"/>
                    </a:cubicBezTo>
                    <a:cubicBezTo>
                      <a:pt x="0" y="521365"/>
                      <a:pt x="68011" y="313530"/>
                      <a:pt x="184484" y="14112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46" name="Freeform 18@|5FFC:0|FBC:0|LFC:16777215|LBC:16777215"/>
              <p:cNvSpPr/>
              <p:nvPr>
                <p:custDataLst>
                  <p:tags r:id="rId15"/>
                </p:custDataLst>
              </p:nvPr>
            </p:nvSpPr>
            <p:spPr>
              <a:xfrm>
                <a:off x="4933659" y="2709994"/>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47" name="Freeform 19@|5FFC:0|FBC:0|LFC:16777215|LBC:16777215"/>
              <p:cNvSpPr/>
              <p:nvPr>
                <p:custDataLst>
                  <p:tags r:id="rId16"/>
                </p:custDataLst>
              </p:nvPr>
            </p:nvSpPr>
            <p:spPr>
              <a:xfrm>
                <a:off x="6492828" y="2708580"/>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sp>
          <p:nvSpPr>
            <p:cNvPr id="48" name="文本框 20"/>
            <p:cNvSpPr txBox="1">
              <a:spLocks noChangeArrowheads="1"/>
            </p:cNvSpPr>
            <p:nvPr>
              <p:custDataLst>
                <p:tags r:id="rId10"/>
              </p:custDataLst>
            </p:nvPr>
          </p:nvSpPr>
          <p:spPr bwMode="auto">
            <a:xfrm>
              <a:off x="7293" y="4615"/>
              <a:ext cx="878"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6600" b="1" dirty="0">
                  <a:solidFill>
                    <a:schemeClr val="bg1"/>
                  </a:solidFill>
                  <a:latin typeface="+mn-lt"/>
                  <a:ea typeface="+mn-ea"/>
                </a:rPr>
                <a:t>过</a:t>
              </a:r>
            </a:p>
          </p:txBody>
        </p:sp>
        <p:sp>
          <p:nvSpPr>
            <p:cNvPr id="49" name="文本框 21"/>
            <p:cNvSpPr txBox="1">
              <a:spLocks noChangeArrowheads="1"/>
            </p:cNvSpPr>
            <p:nvPr>
              <p:custDataLst>
                <p:tags r:id="rId11"/>
              </p:custDataLst>
            </p:nvPr>
          </p:nvSpPr>
          <p:spPr bwMode="auto">
            <a:xfrm>
              <a:off x="9499" y="4579"/>
              <a:ext cx="876"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6600" b="1" dirty="0">
                  <a:solidFill>
                    <a:schemeClr val="bg1"/>
                  </a:solidFill>
                  <a:latin typeface="+mn-lt"/>
                  <a:ea typeface="+mn-ea"/>
                </a:rPr>
                <a:t>程</a:t>
              </a:r>
            </a:p>
          </p:txBody>
        </p:sp>
        <p:sp>
          <p:nvSpPr>
            <p:cNvPr id="51" name="文本框 23"/>
            <p:cNvSpPr txBox="1">
              <a:spLocks noChangeArrowheads="1"/>
            </p:cNvSpPr>
            <p:nvPr>
              <p:custDataLst>
                <p:tags r:id="rId12"/>
              </p:custDataLst>
            </p:nvPr>
          </p:nvSpPr>
          <p:spPr bwMode="auto">
            <a:xfrm>
              <a:off x="9660" y="6686"/>
              <a:ext cx="876"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6600" b="1" dirty="0">
                  <a:solidFill>
                    <a:schemeClr val="bg1"/>
                  </a:solidFill>
                  <a:latin typeface="+mn-lt"/>
                  <a:ea typeface="+mn-ea"/>
                </a:rPr>
                <a:t>计</a:t>
              </a:r>
            </a:p>
          </p:txBody>
        </p:sp>
      </p:grpSp>
      <p:sp>
        <p:nvSpPr>
          <p:cNvPr id="7" name="文本框 6"/>
          <p:cNvSpPr txBox="1"/>
          <p:nvPr>
            <p:custDataLst>
              <p:tags r:id="rId1"/>
            </p:custDataLst>
          </p:nvPr>
        </p:nvSpPr>
        <p:spPr>
          <a:xfrm>
            <a:off x="447665" y="2307521"/>
            <a:ext cx="3851380" cy="1568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fontAlgn="auto">
              <a:lnSpc>
                <a:spcPct val="120000"/>
              </a:lnSpc>
            </a:pPr>
            <a:r>
              <a:rPr lang="en-US" altLang="zh-CN" sz="1600" dirty="0">
                <a:latin typeface="微软雅黑" panose="020B0503020204020204" charset="-122"/>
                <a:ea typeface="微软雅黑" panose="020B0503020204020204" charset="-122"/>
                <a:sym typeface="+mn-ea"/>
              </a:rPr>
              <a:t>1</a:t>
            </a:r>
            <a:r>
              <a:rPr lang="zh-CN" altLang="en-US" sz="1600" dirty="0">
                <a:latin typeface="微软雅黑" panose="020B0503020204020204" charset="-122"/>
                <a:ea typeface="微软雅黑" panose="020B0503020204020204" charset="-122"/>
                <a:sym typeface="+mn-ea"/>
              </a:rPr>
              <a:t>）</a:t>
            </a:r>
            <a:r>
              <a:rPr lang="zh-CN" altLang="en-US" sz="1600" dirty="0">
                <a:solidFill>
                  <a:srgbClr val="0070C0"/>
                </a:solidFill>
                <a:latin typeface="微软雅黑" panose="020B0503020204020204" charset="-122"/>
                <a:ea typeface="微软雅黑" panose="020B0503020204020204" charset="-122"/>
                <a:sym typeface="+mn-ea"/>
              </a:rPr>
              <a:t>过程设计并不是具体地编写程序，而是逻辑上设计能正确实现每个模块功能的处理过程</a:t>
            </a:r>
            <a:r>
              <a:rPr lang="zh-CN" altLang="en-US" sz="1600" dirty="0">
                <a:latin typeface="微软雅黑" panose="020B0503020204020204" charset="-122"/>
                <a:ea typeface="微软雅黑" panose="020B0503020204020204" charset="-122"/>
                <a:sym typeface="+mn-ea"/>
              </a:rPr>
              <a:t>。过程设计可以采用面向数据流的设计方法，也可以采用面向数据结构的设计方法。</a:t>
            </a:r>
          </a:p>
        </p:txBody>
      </p:sp>
      <p:sp>
        <p:nvSpPr>
          <p:cNvPr id="9" name="文本框 8"/>
          <p:cNvSpPr txBox="1"/>
          <p:nvPr>
            <p:custDataLst>
              <p:tags r:id="rId2"/>
            </p:custDataLst>
          </p:nvPr>
        </p:nvSpPr>
        <p:spPr>
          <a:xfrm>
            <a:off x="7435573" y="4067998"/>
            <a:ext cx="4322445" cy="1937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2500" lnSpcReduction="10000"/>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marL="0" indent="0" algn="l" fontAlgn="auto">
              <a:lnSpc>
                <a:spcPct val="120000"/>
              </a:lnSpc>
            </a:pPr>
            <a:r>
              <a:rPr lang="en-US" altLang="zh-CN" sz="1600" dirty="0">
                <a:latin typeface="微软雅黑" panose="020B0503020204020204" charset="-122"/>
                <a:ea typeface="微软雅黑" panose="020B0503020204020204" charset="-122"/>
                <a:sym typeface="+mn-ea"/>
              </a:rPr>
              <a:t>3</a:t>
            </a:r>
            <a:r>
              <a:rPr lang="zh-CN" altLang="en-US" sz="1600" dirty="0">
                <a:latin typeface="微软雅黑" panose="020B0503020204020204" charset="-122"/>
                <a:ea typeface="微软雅黑" panose="020B0503020204020204" charset="-122"/>
                <a:sym typeface="+mn-ea"/>
              </a:rPr>
              <a:t>）</a:t>
            </a:r>
            <a:r>
              <a:rPr lang="zh-CN" altLang="en-US" sz="1600" dirty="0">
                <a:solidFill>
                  <a:srgbClr val="0070C0"/>
                </a:solidFill>
                <a:latin typeface="微软雅黑" panose="020B0503020204020204" charset="-122"/>
                <a:ea typeface="微软雅黑" panose="020B0503020204020204" charset="-122"/>
                <a:sym typeface="+mn-ea"/>
              </a:rPr>
              <a:t>在进行过程设计时要描述程序的处理过程，可采用图形、表格或语言类工具</a:t>
            </a:r>
            <a:r>
              <a:rPr lang="zh-CN" altLang="en-US" sz="1600" dirty="0">
                <a:latin typeface="微软雅黑" panose="020B0503020204020204" charset="-122"/>
                <a:ea typeface="微软雅黑" panose="020B0503020204020204" charset="-122"/>
                <a:sym typeface="+mn-ea"/>
              </a:rPr>
              <a:t>。无论采用哪类工具，都需要对设计进行清晰、无歧义性的描述，应表明控制流程、系统功能、数据结构等方面的细节。过程设计可用</a:t>
            </a:r>
            <a:r>
              <a:rPr lang="zh-CN" altLang="en-US" sz="1600" dirty="0">
                <a:solidFill>
                  <a:srgbClr val="C00000"/>
                </a:solidFill>
                <a:latin typeface="微软雅黑" panose="020B0503020204020204" charset="-122"/>
                <a:ea typeface="微软雅黑" panose="020B0503020204020204" charset="-122"/>
                <a:sym typeface="+mn-ea"/>
              </a:rPr>
              <a:t>流程图、盒图（</a:t>
            </a:r>
            <a:r>
              <a:rPr lang="en-US" altLang="zh-CN" sz="1600" dirty="0">
                <a:solidFill>
                  <a:srgbClr val="C00000"/>
                </a:solidFill>
                <a:latin typeface="微软雅黑" panose="020B0503020204020204" charset="-122"/>
                <a:ea typeface="微软雅黑" panose="020B0503020204020204" charset="-122"/>
                <a:sym typeface="+mn-ea"/>
              </a:rPr>
              <a:t>N-S</a:t>
            </a:r>
            <a:r>
              <a:rPr lang="zh-CN" altLang="en-US" sz="1600" dirty="0">
                <a:solidFill>
                  <a:srgbClr val="C00000"/>
                </a:solidFill>
                <a:latin typeface="微软雅黑" panose="020B0503020204020204" charset="-122"/>
                <a:ea typeface="微软雅黑" panose="020B0503020204020204" charset="-122"/>
                <a:sym typeface="+mn-ea"/>
              </a:rPr>
              <a:t>图）、问题分析图（</a:t>
            </a:r>
            <a:r>
              <a:rPr lang="en-US" altLang="zh-CN" sz="1600" dirty="0">
                <a:solidFill>
                  <a:srgbClr val="C00000"/>
                </a:solidFill>
                <a:latin typeface="微软雅黑" panose="020B0503020204020204" charset="-122"/>
                <a:ea typeface="微软雅黑" panose="020B0503020204020204" charset="-122"/>
                <a:sym typeface="+mn-ea"/>
              </a:rPr>
              <a:t>PAD</a:t>
            </a:r>
            <a:r>
              <a:rPr lang="zh-CN" altLang="en-US" sz="1600" dirty="0">
                <a:solidFill>
                  <a:srgbClr val="C00000"/>
                </a:solidFill>
                <a:latin typeface="微软雅黑" panose="020B0503020204020204" charset="-122"/>
                <a:ea typeface="微软雅黑" panose="020B0503020204020204" charset="-122"/>
                <a:sym typeface="+mn-ea"/>
              </a:rPr>
              <a:t>图）、判定表、判定树、过程设计语言（</a:t>
            </a:r>
            <a:r>
              <a:rPr lang="en-US" altLang="zh-CN" sz="1600" dirty="0">
                <a:solidFill>
                  <a:srgbClr val="C00000"/>
                </a:solidFill>
                <a:latin typeface="微软雅黑" panose="020B0503020204020204" charset="-122"/>
                <a:ea typeface="微软雅黑" panose="020B0503020204020204" charset="-122"/>
                <a:sym typeface="+mn-ea"/>
              </a:rPr>
              <a:t>PDL</a:t>
            </a:r>
            <a:r>
              <a:rPr lang="zh-CN" altLang="en-US" sz="1600" dirty="0">
                <a:solidFill>
                  <a:srgbClr val="C00000"/>
                </a:solidFill>
                <a:latin typeface="微软雅黑" panose="020B0503020204020204" charset="-122"/>
                <a:ea typeface="微软雅黑" panose="020B0503020204020204" charset="-122"/>
                <a:sym typeface="+mn-ea"/>
              </a:rPr>
              <a:t>）</a:t>
            </a:r>
            <a:r>
              <a:rPr lang="zh-CN" altLang="en-US" sz="1600" dirty="0">
                <a:latin typeface="微软雅黑" panose="020B0503020204020204" charset="-122"/>
                <a:ea typeface="微软雅黑" panose="020B0503020204020204" charset="-122"/>
                <a:sym typeface="+mn-ea"/>
              </a:rPr>
              <a:t>等进行描述。</a:t>
            </a:r>
          </a:p>
        </p:txBody>
      </p:sp>
      <p:sp>
        <p:nvSpPr>
          <p:cNvPr id="10" name="文本框 9"/>
          <p:cNvSpPr txBox="1"/>
          <p:nvPr>
            <p:custDataLst>
              <p:tags r:id="rId3"/>
            </p:custDataLst>
          </p:nvPr>
        </p:nvSpPr>
        <p:spPr>
          <a:xfrm>
            <a:off x="7475882" y="2131475"/>
            <a:ext cx="4323080" cy="159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just">
              <a:lnSpc>
                <a:spcPct val="120000"/>
              </a:lnSpc>
            </a:pPr>
            <a:r>
              <a:rPr lang="en-US" altLang="zh-CN" sz="1600" dirty="0">
                <a:latin typeface="微软雅黑" panose="020B0503020204020204" charset="-122"/>
                <a:ea typeface="微软雅黑" panose="020B0503020204020204" charset="-122"/>
                <a:sym typeface="+mn-ea"/>
              </a:rPr>
              <a:t>2</a:t>
            </a:r>
            <a:r>
              <a:rPr lang="zh-CN" altLang="en-US" sz="1600" dirty="0">
                <a:latin typeface="微软雅黑" panose="020B0503020204020204" charset="-122"/>
                <a:ea typeface="微软雅黑" panose="020B0503020204020204" charset="-122"/>
                <a:sym typeface="+mn-ea"/>
              </a:rPr>
              <a:t>）</a:t>
            </a:r>
            <a:r>
              <a:rPr lang="zh-CN" altLang="en-US" sz="1600" dirty="0">
                <a:solidFill>
                  <a:srgbClr val="0070C0"/>
                </a:solidFill>
                <a:latin typeface="微软雅黑" panose="020B0503020204020204" charset="-122"/>
                <a:ea typeface="微软雅黑" panose="020B0503020204020204" charset="-122"/>
                <a:sym typeface="+mn-ea"/>
              </a:rPr>
              <a:t>过程设计阶段应当尽可能简明易懂地设计处理算法</a:t>
            </a:r>
            <a:r>
              <a:rPr lang="zh-CN" altLang="en-US" sz="1600" dirty="0">
                <a:latin typeface="微软雅黑" panose="020B0503020204020204" charset="-122"/>
                <a:ea typeface="微软雅黑" panose="020B0503020204020204" charset="-122"/>
                <a:sym typeface="+mn-ea"/>
              </a:rPr>
              <a:t>，以便在程序设计阶段程序员可以依据过程设计所描述的细节直接而简单地编写程序代码。过程设计的结果基本上决定了程序的质量。</a:t>
            </a:r>
          </a:p>
        </p:txBody>
      </p:sp>
      <p:sp>
        <p:nvSpPr>
          <p:cNvPr id="13" name="文本框 12"/>
          <p:cNvSpPr txBox="1"/>
          <p:nvPr/>
        </p:nvSpPr>
        <p:spPr>
          <a:xfrm>
            <a:off x="474961" y="4232559"/>
            <a:ext cx="3742197" cy="1274195"/>
          </a:xfrm>
          <a:prstGeom prst="rect">
            <a:avLst/>
          </a:prstGeom>
          <a:noFill/>
        </p:spPr>
        <p:txBody>
          <a:bodyPr wrap="square" rtlCol="0">
            <a:spAutoFit/>
          </a:bodyPr>
          <a:lstStyle/>
          <a:p>
            <a:pPr algn="just">
              <a:lnSpc>
                <a:spcPct val="120000"/>
              </a:lnSpc>
              <a:buFontTx/>
            </a:pPr>
            <a:r>
              <a:rPr lang="en-US" altLang="zh-CN" sz="1600" dirty="0">
                <a:latin typeface="微软雅黑" panose="020B0503020204020204" charset="-122"/>
                <a:ea typeface="微软雅黑" panose="020B0503020204020204" charset="-122"/>
                <a:sym typeface="+mn-ea"/>
              </a:rPr>
              <a:t>4</a:t>
            </a:r>
            <a:r>
              <a:rPr lang="zh-CN" altLang="en-US" sz="1600" dirty="0">
                <a:latin typeface="微软雅黑" panose="020B0503020204020204" charset="-122"/>
                <a:ea typeface="微软雅黑" panose="020B0503020204020204" charset="-122"/>
                <a:sym typeface="+mn-ea"/>
              </a:rPr>
              <a:t>）过程设计一般只用</a:t>
            </a:r>
            <a:r>
              <a:rPr lang="en-US" altLang="zh-CN" sz="1600" dirty="0">
                <a:latin typeface="微软雅黑" panose="020B0503020204020204" charset="-122"/>
                <a:ea typeface="微软雅黑" panose="020B0503020204020204" charset="-122"/>
                <a:sym typeface="+mn-ea"/>
              </a:rPr>
              <a:t>3</a:t>
            </a:r>
            <a:r>
              <a:rPr lang="zh-CN" altLang="en-US" sz="1600" dirty="0">
                <a:latin typeface="微软雅黑" panose="020B0503020204020204" charset="-122"/>
                <a:ea typeface="微软雅黑" panose="020B0503020204020204" charset="-122"/>
                <a:sym typeface="+mn-ea"/>
              </a:rPr>
              <a:t>种基本控制结构：</a:t>
            </a:r>
            <a:r>
              <a:rPr lang="zh-CN" altLang="en-US" sz="1600" dirty="0">
                <a:solidFill>
                  <a:srgbClr val="0070C0"/>
                </a:solidFill>
                <a:latin typeface="微软雅黑" panose="020B0503020204020204" charset="-122"/>
                <a:ea typeface="微软雅黑" panose="020B0503020204020204" charset="-122"/>
                <a:sym typeface="+mn-ea"/>
              </a:rPr>
              <a:t>顺序结构、条件选择结构和循环结构</a:t>
            </a:r>
            <a:r>
              <a:rPr lang="zh-CN" altLang="en-US" sz="1600" dirty="0">
                <a:latin typeface="微软雅黑" panose="020B0503020204020204" charset="-122"/>
                <a:ea typeface="微软雅黑" panose="020B0503020204020204" charset="-122"/>
                <a:sym typeface="+mn-ea"/>
              </a:rPr>
              <a:t>。过程设计就是用这</a:t>
            </a:r>
            <a:r>
              <a:rPr lang="en-US" altLang="zh-CN" sz="1600" dirty="0">
                <a:latin typeface="微软雅黑" panose="020B0503020204020204" charset="-122"/>
                <a:ea typeface="微软雅黑" panose="020B0503020204020204" charset="-122"/>
                <a:sym typeface="+mn-ea"/>
              </a:rPr>
              <a:t>3</a:t>
            </a:r>
            <a:r>
              <a:rPr lang="zh-CN" altLang="en-US" sz="1600" dirty="0">
                <a:latin typeface="微软雅黑" panose="020B0503020204020204" charset="-122"/>
                <a:ea typeface="微软雅黑" panose="020B0503020204020204" charset="-122"/>
                <a:sym typeface="+mn-ea"/>
              </a:rPr>
              <a:t>种结构的有限次组合或嵌套来描述模块功能的实现算法。</a:t>
            </a:r>
          </a:p>
        </p:txBody>
      </p:sp>
    </p:spTree>
  </p:cSld>
  <p:clrMapOvr>
    <a:masterClrMapping/>
  </p:clrMapOvr>
  <p:transition>
    <p:wedg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0000" y="360000"/>
            <a:ext cx="8415337" cy="480131"/>
          </a:xfrm>
        </p:spPr>
        <p:txBody>
          <a:bodyPr>
            <a:normAutofit fontScale="90000"/>
          </a:bodyPr>
          <a:lstStyle/>
          <a:p>
            <a:r>
              <a:rPr lang="en-US" altLang="zh-CN" dirty="0"/>
              <a:t>3.1 </a:t>
            </a:r>
            <a:r>
              <a:rPr lang="zh-CN" altLang="en-US" dirty="0"/>
              <a:t>软件设计步骤</a:t>
            </a:r>
            <a:br>
              <a:rPr lang="zh-CN" altLang="en-US" dirty="0">
                <a:sym typeface="+mn-ea"/>
              </a:rPr>
            </a:br>
            <a:endParaRPr lang="zh-CN" altLang="en-US" dirty="0"/>
          </a:p>
        </p:txBody>
      </p:sp>
      <p:grpSp>
        <p:nvGrpSpPr>
          <p:cNvPr id="3" name="组合 2"/>
          <p:cNvGrpSpPr/>
          <p:nvPr/>
        </p:nvGrpSpPr>
        <p:grpSpPr>
          <a:xfrm>
            <a:off x="643255" y="1604010"/>
            <a:ext cx="10906125" cy="1219200"/>
            <a:chOff x="-2470" y="3707"/>
            <a:chExt cx="17175" cy="1920"/>
          </a:xfrm>
        </p:grpSpPr>
        <p:cxnSp>
          <p:nvCxnSpPr>
            <p:cNvPr id="5" name="MH_Other_1"/>
            <p:cNvCxnSpPr>
              <a:cxnSpLocks noChangeShapeType="1"/>
            </p:cNvCxnSpPr>
            <p:nvPr>
              <p:custDataLst>
                <p:tags r:id="rId1"/>
              </p:custDataLst>
            </p:nvPr>
          </p:nvCxnSpPr>
          <p:spPr bwMode="auto">
            <a:xfrm>
              <a:off x="-2470" y="5602"/>
              <a:ext cx="17175" cy="25"/>
            </a:xfrm>
            <a:prstGeom prst="line">
              <a:avLst/>
            </a:prstGeom>
            <a:noFill/>
            <a:ln w="76200" algn="ctr">
              <a:solidFill>
                <a:srgbClr val="E0E0E0"/>
              </a:solidFill>
              <a:miter lim="800000"/>
              <a:tailEnd type="triangle" w="med" len="med"/>
            </a:ln>
          </p:spPr>
        </p:cxnSp>
        <p:sp>
          <p:nvSpPr>
            <p:cNvPr id="18" name="MH_SubTitle_2"/>
            <p:cNvSpPr/>
            <p:nvPr>
              <p:custDataLst>
                <p:tags r:id="rId2"/>
              </p:custDataLst>
            </p:nvPr>
          </p:nvSpPr>
          <p:spPr>
            <a:xfrm>
              <a:off x="4293" y="3990"/>
              <a:ext cx="3297" cy="1372"/>
            </a:xfrm>
            <a:prstGeom prst="rect">
              <a:avLst/>
            </a:prstGeom>
            <a:solidFill>
              <a:srgbClr val="ACC337"/>
            </a:solidFill>
            <a:ln w="12700" cap="flat" cmpd="sng" algn="ctr">
              <a:noFill/>
              <a:prstDash val="solid"/>
              <a:miter lim="800000"/>
            </a:ln>
            <a:effectLst/>
          </p:spPr>
          <p:txBody>
            <a:bodyPr tIns="180000" anchor="ctr">
              <a:normAutofit fontScale="90000"/>
            </a:bodyPr>
            <a:lstStyle/>
            <a:p>
              <a:pPr algn="ctr"/>
              <a:r>
                <a:rPr lang="zh-CN" altLang="en-US" b="1" dirty="0">
                  <a:solidFill>
                    <a:schemeClr val="bg1"/>
                  </a:solidFill>
                  <a:latin typeface="微软雅黑" panose="020B0503020204020204" charset="-122"/>
                  <a:ea typeface="微软雅黑" panose="020B0503020204020204" charset="-122"/>
                  <a:sym typeface="+mn-ea"/>
                </a:rPr>
                <a:t>代码设计、输入/输出设计、网络设计等</a:t>
              </a:r>
              <a:endParaRPr lang="zh-CN" altLang="en-US" b="1" dirty="0">
                <a:solidFill>
                  <a:schemeClr val="bg1"/>
                </a:solidFill>
                <a:latin typeface="微软雅黑" panose="020B0503020204020204" charset="-122"/>
                <a:ea typeface="微软雅黑" panose="020B0503020204020204" charset="-122"/>
              </a:endParaRPr>
            </a:p>
          </p:txBody>
        </p:sp>
        <p:sp>
          <p:nvSpPr>
            <p:cNvPr id="9" name="MH_Other_3"/>
            <p:cNvSpPr/>
            <p:nvPr>
              <p:custDataLst>
                <p:tags r:id="rId3"/>
              </p:custDataLst>
            </p:nvPr>
          </p:nvSpPr>
          <p:spPr>
            <a:xfrm>
              <a:off x="3919" y="3707"/>
              <a:ext cx="940" cy="705"/>
            </a:xfrm>
            <a:prstGeom prst="ellipse">
              <a:avLst/>
            </a:prstGeom>
            <a:solidFill>
              <a:srgbClr val="BED15D">
                <a:lumMod val="75000"/>
              </a:srgbClr>
            </a:solidFill>
            <a:ln w="254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r>
                <a:rPr lang="en-US" sz="2800" b="1" kern="0" dirty="0">
                  <a:solidFill>
                    <a:srgbClr val="FFFFFF"/>
                  </a:solidFill>
                  <a:latin typeface="Arial" panose="020B0604020202020204" pitchFamily="34" charset="0"/>
                  <a:ea typeface="幼圆" panose="02010509060101010101" pitchFamily="49" charset="-122"/>
                  <a:cs typeface="Arial" panose="020B0604020202020204" pitchFamily="34" charset="0"/>
                </a:rPr>
                <a:t>4</a:t>
              </a:r>
            </a:p>
          </p:txBody>
        </p:sp>
      </p:gr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3.1.2 </a:t>
            </a:r>
            <a:r>
              <a:rPr lang="zh-CN" altLang="en-US" sz="2400" dirty="0">
                <a:solidFill>
                  <a:schemeClr val="tx1"/>
                </a:solidFill>
              </a:rPr>
              <a:t>详细设计的基本任务</a:t>
            </a:r>
          </a:p>
        </p:txBody>
      </p:sp>
      <p:grpSp>
        <p:nvGrpSpPr>
          <p:cNvPr id="14" name="组合 13"/>
          <p:cNvGrpSpPr/>
          <p:nvPr/>
        </p:nvGrpSpPr>
        <p:grpSpPr>
          <a:xfrm>
            <a:off x="809625" y="3005455"/>
            <a:ext cx="5034915" cy="2034540"/>
            <a:chOff x="1188" y="3092"/>
            <a:chExt cx="7929" cy="3204"/>
          </a:xfrm>
        </p:grpSpPr>
        <p:grpSp>
          <p:nvGrpSpPr>
            <p:cNvPr id="7" name="组合 6"/>
            <p:cNvGrpSpPr/>
            <p:nvPr/>
          </p:nvGrpSpPr>
          <p:grpSpPr>
            <a:xfrm>
              <a:off x="1188" y="3092"/>
              <a:ext cx="4947" cy="930"/>
              <a:chOff x="508000" y="3196191"/>
              <a:chExt cx="3141314" cy="590550"/>
            </a:xfrm>
          </p:grpSpPr>
          <p:sp>
            <p:nvSpPr>
              <p:cNvPr id="21" name="TextBox 1"/>
              <p:cNvSpPr txBox="1">
                <a:spLocks noChangeArrowheads="1"/>
              </p:cNvSpPr>
              <p:nvPr/>
            </p:nvSpPr>
            <p:spPr bwMode="auto">
              <a:xfrm>
                <a:off x="508000" y="3196191"/>
                <a:ext cx="31813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代码设计</a:t>
                </a:r>
              </a:p>
            </p:txBody>
          </p:sp>
        </p:grpSp>
        <p:sp>
          <p:nvSpPr>
            <p:cNvPr id="24" name="矩形 8"/>
            <p:cNvSpPr>
              <a:spLocks noChangeArrowheads="1"/>
            </p:cNvSpPr>
            <p:nvPr/>
          </p:nvSpPr>
          <p:spPr bwMode="auto">
            <a:xfrm>
              <a:off x="1893" y="3848"/>
              <a:ext cx="7224" cy="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代码是信息处理系统中使用的数字、文字等符号，用来代替自然语言，具有识别、分类和排序3项基本功能。代码设计应当遵循标准化、唯一性、可扩充性、简单性、规范化和适应性等原则。</a:t>
              </a:r>
            </a:p>
          </p:txBody>
        </p:sp>
      </p:grpSp>
      <p:grpSp>
        <p:nvGrpSpPr>
          <p:cNvPr id="15" name="组合 14"/>
          <p:cNvGrpSpPr/>
          <p:nvPr/>
        </p:nvGrpSpPr>
        <p:grpSpPr>
          <a:xfrm>
            <a:off x="810260" y="5039995"/>
            <a:ext cx="5235575" cy="1256665"/>
            <a:chOff x="1195" y="5840"/>
            <a:chExt cx="8245" cy="1979"/>
          </a:xfrm>
        </p:grpSpPr>
        <p:grpSp>
          <p:nvGrpSpPr>
            <p:cNvPr id="16" name="组合 15"/>
            <p:cNvGrpSpPr/>
            <p:nvPr/>
          </p:nvGrpSpPr>
          <p:grpSpPr>
            <a:xfrm>
              <a:off x="1195" y="5840"/>
              <a:ext cx="2433" cy="930"/>
              <a:chOff x="512763" y="4940853"/>
              <a:chExt cx="1544876" cy="590550"/>
            </a:xfrm>
          </p:grpSpPr>
          <p:sp>
            <p:nvSpPr>
              <p:cNvPr id="8" name="TextBox 10"/>
              <p:cNvSpPr txBox="1">
                <a:spLocks noChangeArrowheads="1"/>
              </p:cNvSpPr>
              <p:nvPr/>
            </p:nvSpPr>
            <p:spPr bwMode="auto">
              <a:xfrm>
                <a:off x="512763" y="4940853"/>
                <a:ext cx="371448"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3</a:t>
                </a:r>
              </a:p>
            </p:txBody>
          </p:sp>
          <p:cxnSp>
            <p:nvCxnSpPr>
              <p:cNvPr id="19" name="直接连接符 18"/>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0" name="矩形 12"/>
              <p:cNvSpPr>
                <a:spLocks noChangeArrowheads="1"/>
              </p:cNvSpPr>
              <p:nvPr/>
            </p:nvSpPr>
            <p:spPr bwMode="auto">
              <a:xfrm>
                <a:off x="960438" y="5036103"/>
                <a:ext cx="1097201"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网络设计</a:t>
                </a:r>
              </a:p>
            </p:txBody>
          </p:sp>
        </p:grpSp>
        <p:sp>
          <p:nvSpPr>
            <p:cNvPr id="30" name="矩形 9"/>
            <p:cNvSpPr>
              <a:spLocks noChangeArrowheads="1"/>
            </p:cNvSpPr>
            <p:nvPr/>
          </p:nvSpPr>
          <p:spPr bwMode="auto">
            <a:xfrm>
              <a:off x="1789" y="6665"/>
              <a:ext cx="7651" cy="1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现在，很多软件系统之间相互连网、共享资源，因而网络设计往往是软件工程必不可少的。</a:t>
              </a:r>
            </a:p>
          </p:txBody>
        </p:sp>
      </p:grpSp>
      <p:grpSp>
        <p:nvGrpSpPr>
          <p:cNvPr id="10" name="组合 9"/>
          <p:cNvGrpSpPr/>
          <p:nvPr/>
        </p:nvGrpSpPr>
        <p:grpSpPr>
          <a:xfrm>
            <a:off x="5965825" y="3100705"/>
            <a:ext cx="5156835" cy="3176905"/>
            <a:chOff x="1195" y="5840"/>
            <a:chExt cx="8121" cy="5003"/>
          </a:xfrm>
        </p:grpSpPr>
        <p:grpSp>
          <p:nvGrpSpPr>
            <p:cNvPr id="11" name="组合 10"/>
            <p:cNvGrpSpPr/>
            <p:nvPr/>
          </p:nvGrpSpPr>
          <p:grpSpPr>
            <a:xfrm>
              <a:off x="1195" y="5840"/>
              <a:ext cx="3323" cy="930"/>
              <a:chOff x="512763" y="4940853"/>
              <a:chExt cx="2109943" cy="590550"/>
            </a:xfrm>
          </p:grpSpPr>
          <p:sp>
            <p:nvSpPr>
              <p:cNvPr id="25" name="TextBox 10"/>
              <p:cNvSpPr txBox="1">
                <a:spLocks noChangeArrowheads="1"/>
              </p:cNvSpPr>
              <p:nvPr/>
            </p:nvSpPr>
            <p:spPr bwMode="auto">
              <a:xfrm>
                <a:off x="512763" y="4940853"/>
                <a:ext cx="3612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2</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6" name="直接连接符 25"/>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12"/>
              <p:cNvSpPr>
                <a:spLocks noChangeArrowheads="1"/>
              </p:cNvSpPr>
              <p:nvPr/>
            </p:nvSpPr>
            <p:spPr bwMode="auto">
              <a:xfrm>
                <a:off x="960438" y="5036103"/>
                <a:ext cx="1662268"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输入</a:t>
                </a:r>
                <a:r>
                  <a:rPr lang="en-US" altLang="zh-CN" b="1" dirty="0">
                    <a:solidFill>
                      <a:srgbClr val="E67819"/>
                    </a:solidFill>
                    <a:latin typeface="微软雅黑" panose="020B0503020204020204" charset="-122"/>
                    <a:ea typeface="微软雅黑" panose="020B0503020204020204" charset="-122"/>
                  </a:rPr>
                  <a:t>/</a:t>
                </a:r>
                <a:r>
                  <a:rPr lang="zh-CN" altLang="en-US" b="1" dirty="0">
                    <a:solidFill>
                      <a:srgbClr val="E67819"/>
                    </a:solidFill>
                    <a:latin typeface="微软雅黑" panose="020B0503020204020204" charset="-122"/>
                    <a:ea typeface="微软雅黑" panose="020B0503020204020204" charset="-122"/>
                  </a:rPr>
                  <a:t>输出设计</a:t>
                </a:r>
              </a:p>
            </p:txBody>
          </p:sp>
        </p:grpSp>
        <p:sp>
          <p:nvSpPr>
            <p:cNvPr id="28" name="矩形 9"/>
            <p:cNvSpPr>
              <a:spLocks noChangeArrowheads="1"/>
            </p:cNvSpPr>
            <p:nvPr/>
          </p:nvSpPr>
          <p:spPr bwMode="auto">
            <a:xfrm>
              <a:off x="1900" y="6665"/>
              <a:ext cx="7416" cy="4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数据输入设计需要对信息的发生、收集、介质化、输入和内容等方面进行详细的调查、研究后才能进行。同样，数据输出设计需要对用户的输出设备、输出介质、输出内容、输出方式（集中输出还是分散输出）以及数据通过什么途径、采用什么方式、什么周期、送给什么人等进行反复调查、研究后才能进行。设计时要防止数据的遗失、泄密和延误。</a:t>
              </a:r>
            </a:p>
          </p:txBody>
        </p:sp>
      </p:grpSp>
    </p:spTree>
  </p:cSld>
  <p:clrMapOvr>
    <a:masterClrMapping/>
  </p:clrMapOvr>
  <p:transition>
    <p:wedg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t>3.1 </a:t>
            </a:r>
            <a:r>
              <a:rPr lang="zh-CN" altLang="en-US" dirty="0"/>
              <a:t>软件设计步骤</a:t>
            </a:r>
            <a:endParaRPr lang="zh-CN" altLang="en-US" dirty="0">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3.1.2 </a:t>
            </a:r>
            <a:r>
              <a:rPr lang="zh-CN" altLang="en-US" sz="2400" dirty="0">
                <a:solidFill>
                  <a:schemeClr val="tx1"/>
                </a:solidFill>
              </a:rPr>
              <a:t>详细设计的基本任务</a:t>
            </a:r>
          </a:p>
        </p:txBody>
      </p:sp>
      <p:grpSp>
        <p:nvGrpSpPr>
          <p:cNvPr id="3" name="组合 2"/>
          <p:cNvGrpSpPr/>
          <p:nvPr/>
        </p:nvGrpSpPr>
        <p:grpSpPr>
          <a:xfrm>
            <a:off x="408940" y="1954530"/>
            <a:ext cx="11374755" cy="3585210"/>
            <a:chOff x="760" y="3462"/>
            <a:chExt cx="17913" cy="5646"/>
          </a:xfrm>
        </p:grpSpPr>
        <p:cxnSp>
          <p:nvCxnSpPr>
            <p:cNvPr id="7" name="MH_Other_1"/>
            <p:cNvCxnSpPr>
              <a:cxnSpLocks noChangeShapeType="1"/>
            </p:cNvCxnSpPr>
            <p:nvPr>
              <p:custDataLst>
                <p:tags r:id="rId1"/>
              </p:custDataLst>
            </p:nvPr>
          </p:nvCxnSpPr>
          <p:spPr bwMode="auto">
            <a:xfrm>
              <a:off x="760" y="5513"/>
              <a:ext cx="17913" cy="0"/>
            </a:xfrm>
            <a:prstGeom prst="line">
              <a:avLst/>
            </a:prstGeom>
            <a:noFill/>
            <a:ln w="76200" algn="ctr">
              <a:solidFill>
                <a:srgbClr val="E0E0E0"/>
              </a:solidFill>
              <a:miter lim="800000"/>
              <a:tailEnd type="triangle" w="med" len="med"/>
            </a:ln>
          </p:spPr>
        </p:cxnSp>
        <p:sp>
          <p:nvSpPr>
            <p:cNvPr id="9" name="MH_Text_2"/>
            <p:cNvSpPr txBox="1">
              <a:spLocks noChangeArrowheads="1"/>
            </p:cNvSpPr>
            <p:nvPr>
              <p:custDataLst>
                <p:tags r:id="rId2"/>
              </p:custDataLst>
            </p:nvPr>
          </p:nvSpPr>
          <p:spPr bwMode="auto">
            <a:xfrm>
              <a:off x="1152" y="5728"/>
              <a:ext cx="10097" cy="2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pPr>
              <a:r>
                <a:rPr lang="zh-CN" altLang="en-US" sz="1600" dirty="0">
                  <a:latin typeface="微软雅黑" panose="020B0503020204020204" charset="-122"/>
                  <a:ea typeface="微软雅黑" panose="020B0503020204020204" charset="-122"/>
                </a:rPr>
                <a:t>       编写详细设计说明书时，可以根据实际需要包含以下内容：程序的功能、性能、输入项、输出项、算法、流程逻辑、接口、存储分配、注释设计、限制条件、测试计划、尚未解决的问题等。</a:t>
              </a:r>
            </a:p>
            <a:p>
              <a:pPr>
                <a:lnSpc>
                  <a:spcPct val="130000"/>
                </a:lnSpc>
              </a:pPr>
              <a:r>
                <a:rPr lang="zh-CN" altLang="en-US" sz="1600" dirty="0">
                  <a:latin typeface="微软雅黑" panose="020B0503020204020204" charset="-122"/>
                  <a:ea typeface="微软雅黑" panose="020B0503020204020204" charset="-122"/>
                </a:rPr>
                <a:t>       在详细设计阶段，可以编写出初步的用户操作手册，在程序编码阶段，再对其进行补充和修改。用户操作手册的内容通常包括软件的结构、安装和初始化过程、每种可能的运行及其步骤、具体操作要求、输入/输出过程和非常规过程、远程操作等</a:t>
              </a:r>
              <a:r>
                <a:rPr lang="zh-CN" altLang="en-US" b="1" dirty="0">
                  <a:latin typeface="微软雅黑" panose="020B0503020204020204" charset="-122"/>
                  <a:ea typeface="微软雅黑" panose="020B0503020204020204" charset="-122"/>
                </a:rPr>
                <a:t>。</a:t>
              </a:r>
            </a:p>
          </p:txBody>
        </p:sp>
        <p:sp>
          <p:nvSpPr>
            <p:cNvPr id="10" name="MH_Text_3"/>
            <p:cNvSpPr txBox="1">
              <a:spLocks noChangeArrowheads="1"/>
            </p:cNvSpPr>
            <p:nvPr>
              <p:custDataLst>
                <p:tags r:id="rId3"/>
              </p:custDataLst>
            </p:nvPr>
          </p:nvSpPr>
          <p:spPr bwMode="auto">
            <a:xfrm>
              <a:off x="11915" y="6416"/>
              <a:ext cx="5805" cy="2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20000"/>
                </a:lnSpc>
                <a:defRPr/>
              </a:pPr>
              <a:r>
                <a:rPr lang="en-US" altLang="zh-CN" b="1"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软件的详细设计完成以后，必须从软件的正确性和可维护性两方面，对软件的逻辑结构、数据结构和用户界面等进行审查，以保证软件设计的质量。</a:t>
              </a:r>
            </a:p>
          </p:txBody>
        </p:sp>
        <p:sp>
          <p:nvSpPr>
            <p:cNvPr id="18" name="MH_SubTitle_2"/>
            <p:cNvSpPr/>
            <p:nvPr>
              <p:custDataLst>
                <p:tags r:id="rId4"/>
              </p:custDataLst>
            </p:nvPr>
          </p:nvSpPr>
          <p:spPr>
            <a:xfrm>
              <a:off x="3989" y="3839"/>
              <a:ext cx="3369" cy="1372"/>
            </a:xfrm>
            <a:prstGeom prst="rect">
              <a:avLst/>
            </a:prstGeom>
            <a:solidFill>
              <a:srgbClr val="ACC337"/>
            </a:solidFill>
            <a:ln w="12700" cap="flat" cmpd="sng" algn="ctr">
              <a:noFill/>
              <a:prstDash val="solid"/>
              <a:miter lim="800000"/>
            </a:ln>
            <a:effectLst/>
          </p:spPr>
          <p:txBody>
            <a:bodyPr tIns="180000" anchor="ctr">
              <a:normAutofit fontScale="90000"/>
            </a:bodyPr>
            <a:lstStyle/>
            <a:p>
              <a:pPr algn="ctr"/>
              <a:r>
                <a:rPr lang="zh-CN" altLang="en-US" b="1" dirty="0">
                  <a:solidFill>
                    <a:schemeClr val="bg1"/>
                  </a:solidFill>
                  <a:latin typeface="微软雅黑" panose="020B0503020204020204" charset="-122"/>
                  <a:ea typeface="微软雅黑" panose="020B0503020204020204" charset="-122"/>
                </a:rPr>
                <a:t>编写详细设计说明书用户操作手册等文档</a:t>
              </a:r>
            </a:p>
          </p:txBody>
        </p:sp>
        <p:sp>
          <p:nvSpPr>
            <p:cNvPr id="19" name="MH_Other_3"/>
            <p:cNvSpPr/>
            <p:nvPr>
              <p:custDataLst>
                <p:tags r:id="rId5"/>
              </p:custDataLst>
            </p:nvPr>
          </p:nvSpPr>
          <p:spPr>
            <a:xfrm>
              <a:off x="3564" y="3462"/>
              <a:ext cx="940" cy="705"/>
            </a:xfrm>
            <a:prstGeom prst="ellipse">
              <a:avLst/>
            </a:prstGeom>
            <a:solidFill>
              <a:srgbClr val="BED15D">
                <a:lumMod val="75000"/>
              </a:srgbClr>
            </a:solidFill>
            <a:ln w="254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r>
                <a:rPr lang="en-US" altLang="zh-CN" sz="2800" b="1" kern="0" dirty="0">
                  <a:solidFill>
                    <a:srgbClr val="FFFFFF"/>
                  </a:solidFill>
                  <a:latin typeface="Arial" panose="020B0604020202020204" pitchFamily="34" charset="0"/>
                  <a:ea typeface="幼圆" panose="02010509060101010101" pitchFamily="49" charset="-122"/>
                  <a:cs typeface="Arial" panose="020B0604020202020204" pitchFamily="34" charset="0"/>
                </a:rPr>
                <a:t>5</a:t>
              </a:r>
              <a:endParaRPr lang="zh-CN" altLang="en-US" sz="2800" b="1" kern="0" dirty="0">
                <a:solidFill>
                  <a:srgbClr val="FFFFFF"/>
                </a:solidFill>
                <a:latin typeface="Arial" panose="020B0604020202020204" pitchFamily="34" charset="0"/>
                <a:ea typeface="幼圆" panose="02010509060101010101" pitchFamily="49" charset="-122"/>
                <a:cs typeface="Arial" panose="020B0604020202020204" pitchFamily="34" charset="0"/>
              </a:endParaRPr>
            </a:p>
          </p:txBody>
        </p:sp>
        <p:sp>
          <p:nvSpPr>
            <p:cNvPr id="20" name="MH_SubTitle_3"/>
            <p:cNvSpPr/>
            <p:nvPr>
              <p:custDataLst>
                <p:tags r:id="rId6"/>
              </p:custDataLst>
            </p:nvPr>
          </p:nvSpPr>
          <p:spPr>
            <a:xfrm>
              <a:off x="13133" y="3839"/>
              <a:ext cx="3297" cy="1372"/>
            </a:xfrm>
            <a:prstGeom prst="rect">
              <a:avLst/>
            </a:prstGeom>
            <a:solidFill>
              <a:srgbClr val="44C0A2"/>
            </a:solidFill>
            <a:ln w="12700" cap="flat" cmpd="sng" algn="ctr">
              <a:noFill/>
              <a:prstDash val="solid"/>
              <a:miter lim="800000"/>
            </a:ln>
            <a:effectLst/>
          </p:spPr>
          <p:txBody>
            <a:bodyPr tIns="180000" anchor="ctr">
              <a:normAutofit/>
            </a:bodyPr>
            <a:lstStyle/>
            <a:p>
              <a:pPr algn="ctr"/>
              <a:r>
                <a:rPr lang="zh-CN" altLang="en-US" b="1" dirty="0">
                  <a:solidFill>
                    <a:schemeClr val="bg1"/>
                  </a:solidFill>
                  <a:latin typeface="微软雅黑" panose="020B0503020204020204" charset="-122"/>
                  <a:ea typeface="微软雅黑" panose="020B0503020204020204" charset="-122"/>
                </a:rPr>
                <a:t>复审</a:t>
              </a:r>
            </a:p>
          </p:txBody>
        </p:sp>
        <p:sp>
          <p:nvSpPr>
            <p:cNvPr id="21" name="MH_Other_4"/>
            <p:cNvSpPr/>
            <p:nvPr>
              <p:custDataLst>
                <p:tags r:id="rId7"/>
              </p:custDataLst>
            </p:nvPr>
          </p:nvSpPr>
          <p:spPr>
            <a:xfrm>
              <a:off x="12710" y="3486"/>
              <a:ext cx="940" cy="705"/>
            </a:xfrm>
            <a:prstGeom prst="ellipse">
              <a:avLst/>
            </a:prstGeom>
            <a:solidFill>
              <a:srgbClr val="38A68C"/>
            </a:solidFill>
            <a:ln w="254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r>
                <a:rPr lang="en-US" altLang="zh-CN" sz="2800" b="1" kern="0" dirty="0">
                  <a:solidFill>
                    <a:srgbClr val="FFFFFF"/>
                  </a:solidFill>
                  <a:latin typeface="Arial" panose="020B0604020202020204" pitchFamily="34" charset="0"/>
                  <a:ea typeface="幼圆" panose="02010509060101010101" pitchFamily="49" charset="-122"/>
                  <a:cs typeface="Arial" panose="020B0604020202020204" pitchFamily="34" charset="0"/>
                </a:rPr>
                <a:t>6</a:t>
              </a:r>
              <a:endParaRPr lang="zh-CN" altLang="en-US" sz="2800" b="1" kern="0" dirty="0">
                <a:solidFill>
                  <a:srgbClr val="FFFFFF"/>
                </a:solidFill>
                <a:latin typeface="Arial" panose="020B0604020202020204" pitchFamily="34" charset="0"/>
                <a:ea typeface="幼圆" panose="02010509060101010101" pitchFamily="49" charset="-122"/>
                <a:cs typeface="Arial" panose="020B0604020202020204" pitchFamily="34" charset="0"/>
              </a:endParaRPr>
            </a:p>
          </p:txBody>
        </p:sp>
      </p:grpSp>
    </p:spTree>
  </p:cSld>
  <p:clrMapOvr>
    <a:masterClrMapping/>
  </p:clrMapOvr>
  <p:transition>
    <p:wedg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latin typeface="Times New Roman" panose="02020603050405020304" pitchFamily="18" charset="0"/>
            </a:endParaRPr>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2</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软件结构设计</a:t>
            </a:r>
          </a:p>
        </p:txBody>
      </p:sp>
      <p:sp>
        <p:nvSpPr>
          <p:cNvPr id="48" name="文本框 47"/>
          <p:cNvSpPr txBox="1"/>
          <p:nvPr/>
        </p:nvSpPr>
        <p:spPr>
          <a:xfrm>
            <a:off x="6006465" y="4003040"/>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软件结构设计的基本原理</a:t>
            </a:r>
          </a:p>
        </p:txBody>
      </p:sp>
      <p:sp>
        <p:nvSpPr>
          <p:cNvPr id="50" name="文本框 49"/>
          <p:cNvSpPr txBox="1"/>
          <p:nvPr/>
        </p:nvSpPr>
        <p:spPr>
          <a:xfrm>
            <a:off x="6006465" y="453199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模块化</a:t>
            </a:r>
          </a:p>
        </p:txBody>
      </p:sp>
      <p:sp>
        <p:nvSpPr>
          <p:cNvPr id="3" name="文本框 2"/>
          <p:cNvSpPr txBox="1"/>
          <p:nvPr/>
        </p:nvSpPr>
        <p:spPr>
          <a:xfrm>
            <a:off x="6006465" y="5619750"/>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模块设计启发规则</a:t>
            </a:r>
          </a:p>
        </p:txBody>
      </p:sp>
      <p:sp>
        <p:nvSpPr>
          <p:cNvPr id="5" name="文本框 4"/>
          <p:cNvSpPr txBox="1"/>
          <p:nvPr/>
        </p:nvSpPr>
        <p:spPr>
          <a:xfrm>
            <a:off x="6006465" y="506793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模块独立性</a:t>
            </a:r>
          </a:p>
        </p:txBody>
      </p:sp>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p>
        </p:txBody>
      </p:sp>
      <p:sp>
        <p:nvSpPr>
          <p:cNvPr id="4"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3.2.1 </a:t>
            </a:r>
            <a:r>
              <a:rPr lang="zh-CN" altLang="en-US" sz="2400" dirty="0">
                <a:solidFill>
                  <a:schemeClr val="tx1"/>
                </a:solidFill>
              </a:rPr>
              <a:t>软件结构设计的基本原理</a:t>
            </a:r>
          </a:p>
        </p:txBody>
      </p:sp>
      <p:sp>
        <p:nvSpPr>
          <p:cNvPr id="5" name="MH_Other_1"/>
          <p:cNvSpPr/>
          <p:nvPr>
            <p:custDataLst>
              <p:tags r:id="rId1"/>
            </p:custDataLst>
          </p:nvPr>
        </p:nvSpPr>
        <p:spPr>
          <a:xfrm>
            <a:off x="7684121" y="2161500"/>
            <a:ext cx="997396" cy="284116"/>
          </a:xfrm>
          <a:custGeom>
            <a:avLst/>
            <a:gdLst/>
            <a:ahLst/>
            <a:cxnLst/>
            <a:rect l="l" t="t" r="r" b="b"/>
            <a:pathLst>
              <a:path w="821962" h="312188">
                <a:moveTo>
                  <a:pt x="188867" y="0"/>
                </a:moveTo>
                <a:lnTo>
                  <a:pt x="633096" y="0"/>
                </a:lnTo>
                <a:cubicBezTo>
                  <a:pt x="739691" y="66233"/>
                  <a:pt x="813171" y="180146"/>
                  <a:pt x="821962" y="312188"/>
                </a:cubicBezTo>
                <a:lnTo>
                  <a:pt x="0" y="312188"/>
                </a:lnTo>
                <a:cubicBezTo>
                  <a:pt x="8791" y="180146"/>
                  <a:pt x="82272" y="66233"/>
                  <a:pt x="188867" y="0"/>
                </a:cubicBezTo>
                <a:close/>
              </a:path>
            </a:pathLst>
          </a:custGeom>
          <a:solidFill>
            <a:srgbClr val="D9D9D9"/>
          </a:solidFill>
          <a:ln w="25400" cap="flat" cmpd="sng" algn="ctr">
            <a:noFill/>
            <a:prstDash val="solid"/>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350" kern="0" dirty="0">
              <a:solidFill>
                <a:sysClr val="window" lastClr="FFFFFF"/>
              </a:solidFill>
              <a:latin typeface="Times New Roman" panose="02020603050405020304" pitchFamily="18" charset="0"/>
              <a:ea typeface="宋体"/>
            </a:endParaRPr>
          </a:p>
        </p:txBody>
      </p:sp>
      <p:sp>
        <p:nvSpPr>
          <p:cNvPr id="6" name="MH_Other_2"/>
          <p:cNvSpPr/>
          <p:nvPr>
            <p:custDataLst>
              <p:tags r:id="rId2"/>
            </p:custDataLst>
          </p:nvPr>
        </p:nvSpPr>
        <p:spPr>
          <a:xfrm flipV="1">
            <a:off x="7684121" y="5269116"/>
            <a:ext cx="997396" cy="284116"/>
          </a:xfrm>
          <a:custGeom>
            <a:avLst/>
            <a:gdLst/>
            <a:ahLst/>
            <a:cxnLst/>
            <a:rect l="l" t="t" r="r" b="b"/>
            <a:pathLst>
              <a:path w="821962" h="312188">
                <a:moveTo>
                  <a:pt x="188867" y="0"/>
                </a:moveTo>
                <a:lnTo>
                  <a:pt x="633096" y="0"/>
                </a:lnTo>
                <a:cubicBezTo>
                  <a:pt x="739691" y="66233"/>
                  <a:pt x="813171" y="180146"/>
                  <a:pt x="821962" y="312188"/>
                </a:cubicBezTo>
                <a:lnTo>
                  <a:pt x="0" y="312188"/>
                </a:lnTo>
                <a:cubicBezTo>
                  <a:pt x="8791" y="180146"/>
                  <a:pt x="82272" y="66233"/>
                  <a:pt x="188867" y="0"/>
                </a:cubicBezTo>
                <a:close/>
              </a:path>
            </a:pathLst>
          </a:custGeom>
          <a:solidFill>
            <a:srgbClr val="D9D9D9"/>
          </a:solidFill>
          <a:ln w="25400" cap="flat" cmpd="sng" algn="ctr">
            <a:noFill/>
            <a:prstDash val="solid"/>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350" kern="0" dirty="0">
              <a:solidFill>
                <a:sysClr val="window" lastClr="FFFFFF"/>
              </a:solidFill>
              <a:latin typeface="Times New Roman" panose="02020603050405020304" pitchFamily="18" charset="0"/>
              <a:ea typeface="宋体"/>
            </a:endParaRPr>
          </a:p>
        </p:txBody>
      </p:sp>
      <p:sp>
        <p:nvSpPr>
          <p:cNvPr id="7" name="MH_Other_3"/>
          <p:cNvSpPr/>
          <p:nvPr>
            <p:custDataLst>
              <p:tags r:id="rId3"/>
            </p:custDataLst>
          </p:nvPr>
        </p:nvSpPr>
        <p:spPr>
          <a:xfrm flipH="1">
            <a:off x="3500994" y="2161500"/>
            <a:ext cx="997396" cy="284116"/>
          </a:xfrm>
          <a:custGeom>
            <a:avLst/>
            <a:gdLst/>
            <a:ahLst/>
            <a:cxnLst/>
            <a:rect l="l" t="t" r="r" b="b"/>
            <a:pathLst>
              <a:path w="821962" h="312188">
                <a:moveTo>
                  <a:pt x="188867" y="0"/>
                </a:moveTo>
                <a:lnTo>
                  <a:pt x="633096" y="0"/>
                </a:lnTo>
                <a:cubicBezTo>
                  <a:pt x="739691" y="66233"/>
                  <a:pt x="813171" y="180146"/>
                  <a:pt x="821962" y="312188"/>
                </a:cubicBezTo>
                <a:lnTo>
                  <a:pt x="0" y="312188"/>
                </a:lnTo>
                <a:cubicBezTo>
                  <a:pt x="8791" y="180146"/>
                  <a:pt x="82272" y="66233"/>
                  <a:pt x="188867" y="0"/>
                </a:cubicBezTo>
                <a:close/>
              </a:path>
            </a:pathLst>
          </a:custGeom>
          <a:solidFill>
            <a:srgbClr val="D9D9D9"/>
          </a:solidFill>
          <a:ln w="25400" cap="flat" cmpd="sng" algn="ctr">
            <a:noFill/>
            <a:prstDash val="solid"/>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defRPr/>
            </a:pPr>
            <a:endParaRPr lang="zh-CN" altLang="en-US" sz="1350" kern="0" dirty="0">
              <a:solidFill>
                <a:sysClr val="window" lastClr="FFFFFF"/>
              </a:solidFill>
              <a:latin typeface="Times New Roman" panose="02020603050405020304" pitchFamily="18" charset="0"/>
              <a:ea typeface="宋体"/>
            </a:endParaRPr>
          </a:p>
        </p:txBody>
      </p:sp>
      <p:sp>
        <p:nvSpPr>
          <p:cNvPr id="8" name="MH_Other_4"/>
          <p:cNvSpPr/>
          <p:nvPr>
            <p:custDataLst>
              <p:tags r:id="rId4"/>
            </p:custDataLst>
          </p:nvPr>
        </p:nvSpPr>
        <p:spPr>
          <a:xfrm flipH="1" flipV="1">
            <a:off x="3500994" y="5269116"/>
            <a:ext cx="997396" cy="284116"/>
          </a:xfrm>
          <a:custGeom>
            <a:avLst/>
            <a:gdLst/>
            <a:ahLst/>
            <a:cxnLst/>
            <a:rect l="l" t="t" r="r" b="b"/>
            <a:pathLst>
              <a:path w="821962" h="312188">
                <a:moveTo>
                  <a:pt x="188867" y="0"/>
                </a:moveTo>
                <a:lnTo>
                  <a:pt x="633096" y="0"/>
                </a:lnTo>
                <a:cubicBezTo>
                  <a:pt x="739691" y="66233"/>
                  <a:pt x="813171" y="180146"/>
                  <a:pt x="821962" y="312188"/>
                </a:cubicBezTo>
                <a:lnTo>
                  <a:pt x="0" y="312188"/>
                </a:lnTo>
                <a:cubicBezTo>
                  <a:pt x="8791" y="180146"/>
                  <a:pt x="82272" y="66233"/>
                  <a:pt x="188867" y="0"/>
                </a:cubicBezTo>
                <a:close/>
              </a:path>
            </a:pathLst>
          </a:custGeom>
          <a:solidFill>
            <a:srgbClr val="D9D9D9"/>
          </a:solidFill>
          <a:ln w="25400" cap="flat" cmpd="sng" algn="ctr">
            <a:noFill/>
            <a:prstDash val="solid"/>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350" kern="0" dirty="0">
              <a:solidFill>
                <a:sysClr val="window" lastClr="FFFFFF"/>
              </a:solidFill>
              <a:latin typeface="Times New Roman" panose="02020603050405020304" pitchFamily="18" charset="0"/>
              <a:ea typeface="宋体"/>
            </a:endParaRPr>
          </a:p>
        </p:txBody>
      </p:sp>
      <p:cxnSp>
        <p:nvCxnSpPr>
          <p:cNvPr id="9" name="MH_Other_5"/>
          <p:cNvCxnSpPr/>
          <p:nvPr>
            <p:custDataLst>
              <p:tags r:id="rId5"/>
            </p:custDataLst>
          </p:nvPr>
        </p:nvCxnSpPr>
        <p:spPr>
          <a:xfrm>
            <a:off x="3900799" y="2161500"/>
            <a:ext cx="1636520" cy="1113234"/>
          </a:xfrm>
          <a:prstGeom prst="line">
            <a:avLst/>
          </a:prstGeom>
          <a:noFill/>
          <a:ln w="9525" cap="flat" cmpd="sng" algn="ctr">
            <a:solidFill>
              <a:sysClr val="window" lastClr="FFFFFF"/>
            </a:solidFill>
            <a:prstDash val="solid"/>
          </a:ln>
          <a:effectLst/>
        </p:spPr>
      </p:cxnSp>
      <p:cxnSp>
        <p:nvCxnSpPr>
          <p:cNvPr id="10" name="MH_Other_6"/>
          <p:cNvCxnSpPr/>
          <p:nvPr>
            <p:custDataLst>
              <p:tags r:id="rId6"/>
            </p:custDataLst>
          </p:nvPr>
        </p:nvCxnSpPr>
        <p:spPr>
          <a:xfrm flipH="1">
            <a:off x="6645190" y="2161500"/>
            <a:ext cx="1636519" cy="1113234"/>
          </a:xfrm>
          <a:prstGeom prst="line">
            <a:avLst/>
          </a:prstGeom>
          <a:noFill/>
          <a:ln w="9525" cap="flat" cmpd="sng" algn="ctr">
            <a:solidFill>
              <a:sysClr val="window" lastClr="FFFFFF"/>
            </a:solidFill>
            <a:prstDash val="solid"/>
          </a:ln>
          <a:effectLst/>
        </p:spPr>
      </p:cxnSp>
      <p:cxnSp>
        <p:nvCxnSpPr>
          <p:cNvPr id="11" name="MH_Other_7"/>
          <p:cNvCxnSpPr/>
          <p:nvPr>
            <p:custDataLst>
              <p:tags r:id="rId7"/>
            </p:custDataLst>
          </p:nvPr>
        </p:nvCxnSpPr>
        <p:spPr>
          <a:xfrm flipV="1">
            <a:off x="3900799" y="4446781"/>
            <a:ext cx="1636520" cy="1106455"/>
          </a:xfrm>
          <a:prstGeom prst="line">
            <a:avLst/>
          </a:prstGeom>
          <a:noFill/>
          <a:ln w="9525" cap="flat" cmpd="sng" algn="ctr">
            <a:solidFill>
              <a:sysClr val="window" lastClr="FFFFFF"/>
            </a:solidFill>
            <a:prstDash val="solid"/>
          </a:ln>
          <a:effectLst/>
        </p:spPr>
      </p:cxnSp>
      <p:cxnSp>
        <p:nvCxnSpPr>
          <p:cNvPr id="12" name="MH_Other_8"/>
          <p:cNvCxnSpPr/>
          <p:nvPr>
            <p:custDataLst>
              <p:tags r:id="rId8"/>
            </p:custDataLst>
          </p:nvPr>
        </p:nvCxnSpPr>
        <p:spPr>
          <a:xfrm flipH="1" flipV="1">
            <a:off x="6645190" y="4446781"/>
            <a:ext cx="1537628" cy="1106455"/>
          </a:xfrm>
          <a:prstGeom prst="line">
            <a:avLst/>
          </a:prstGeom>
          <a:noFill/>
          <a:ln w="9525" cap="flat" cmpd="sng" algn="ctr">
            <a:solidFill>
              <a:sysClr val="window" lastClr="FFFFFF"/>
            </a:solidFill>
            <a:prstDash val="solid"/>
          </a:ln>
          <a:effectLst/>
        </p:spPr>
      </p:cxnSp>
      <p:sp>
        <p:nvSpPr>
          <p:cNvPr id="13" name="MH_SubTitle_2"/>
          <p:cNvSpPr/>
          <p:nvPr>
            <p:custDataLst>
              <p:tags r:id="rId9"/>
            </p:custDataLst>
          </p:nvPr>
        </p:nvSpPr>
        <p:spPr>
          <a:xfrm rot="19120543">
            <a:off x="5765063" y="1942586"/>
            <a:ext cx="2730363" cy="1289593"/>
          </a:xfrm>
          <a:custGeom>
            <a:avLst/>
            <a:gdLst/>
            <a:ahLst/>
            <a:cxnLst/>
            <a:rect l="l" t="t" r="r" b="b"/>
            <a:pathLst>
              <a:path w="2250115" h="1417020">
                <a:moveTo>
                  <a:pt x="1444324" y="354255"/>
                </a:moveTo>
                <a:lnTo>
                  <a:pt x="2250115" y="1062765"/>
                </a:lnTo>
                <a:lnTo>
                  <a:pt x="708510" y="1062765"/>
                </a:lnTo>
                <a:lnTo>
                  <a:pt x="708510" y="1417020"/>
                </a:lnTo>
                <a:lnTo>
                  <a:pt x="0" y="708510"/>
                </a:lnTo>
                <a:lnTo>
                  <a:pt x="708510" y="0"/>
                </a:lnTo>
                <a:lnTo>
                  <a:pt x="708510" y="354255"/>
                </a:lnTo>
                <a:close/>
              </a:path>
            </a:pathLst>
          </a:custGeom>
          <a:solidFill>
            <a:srgbClr val="76BFCF"/>
          </a:solidFill>
          <a:ln w="25400" cap="flat" cmpd="sng" algn="ctr">
            <a:noFill/>
            <a:prstDash val="solid"/>
          </a:ln>
          <a:effectLst/>
        </p:spPr>
        <p:txBody>
          <a:bodyPr rot="0" spcFirstLastPara="0" vertOverflow="overflow" horzOverflow="overflow" vert="vert" wrap="square" lIns="0" tIns="324000" rIns="459000" bIns="324000" numCol="1" spcCol="0" rtlCol="0" fromWordArt="0" anchor="ctr" anchorCtr="0" forceAA="0" compatLnSpc="1">
            <a:prstTxWarp prst="textNoShape">
              <a:avLst/>
            </a:prstTxWarp>
            <a:normAutofit/>
          </a:bodyPr>
          <a:lstStyle/>
          <a:p>
            <a:pPr algn="ctr"/>
            <a:r>
              <a:rPr lang="en-US" altLang="zh-CN" sz="1600" b="1" kern="0">
                <a:solidFill>
                  <a:srgbClr val="FFFFFF"/>
                </a:solidFill>
                <a:latin typeface="华文细黑" panose="02010600040101010101" pitchFamily="2" charset="-122"/>
                <a:ea typeface="华文细黑" panose="02010600040101010101" pitchFamily="2" charset="-122"/>
              </a:rPr>
              <a:t>AMET</a:t>
            </a:r>
            <a:endParaRPr lang="zh-CN" altLang="en-US" sz="1600" b="1" kern="0" dirty="0">
              <a:solidFill>
                <a:srgbClr val="FFFFFF"/>
              </a:solidFill>
              <a:latin typeface="华文细黑" panose="02010600040101010101" pitchFamily="2" charset="-122"/>
              <a:ea typeface="华文细黑" panose="02010600040101010101" pitchFamily="2" charset="-122"/>
            </a:endParaRPr>
          </a:p>
        </p:txBody>
      </p:sp>
      <p:sp>
        <p:nvSpPr>
          <p:cNvPr id="14" name="MH_SubTitle_1"/>
          <p:cNvSpPr/>
          <p:nvPr>
            <p:custDataLst>
              <p:tags r:id="rId10"/>
            </p:custDataLst>
          </p:nvPr>
        </p:nvSpPr>
        <p:spPr>
          <a:xfrm rot="2479457" flipH="1">
            <a:off x="3687079" y="1942586"/>
            <a:ext cx="2730363" cy="1289593"/>
          </a:xfrm>
          <a:custGeom>
            <a:avLst/>
            <a:gdLst/>
            <a:ahLst/>
            <a:cxnLst/>
            <a:rect l="l" t="t" r="r" b="b"/>
            <a:pathLst>
              <a:path w="2250115" h="1417020">
                <a:moveTo>
                  <a:pt x="1444324" y="354255"/>
                </a:moveTo>
                <a:lnTo>
                  <a:pt x="2250115" y="1062765"/>
                </a:lnTo>
                <a:lnTo>
                  <a:pt x="708510" y="1062765"/>
                </a:lnTo>
                <a:lnTo>
                  <a:pt x="708510" y="1417020"/>
                </a:lnTo>
                <a:lnTo>
                  <a:pt x="0" y="708510"/>
                </a:lnTo>
                <a:lnTo>
                  <a:pt x="708510" y="0"/>
                </a:lnTo>
                <a:lnTo>
                  <a:pt x="708510" y="354255"/>
                </a:lnTo>
                <a:close/>
              </a:path>
            </a:pathLst>
          </a:custGeom>
          <a:solidFill>
            <a:srgbClr val="76BFCF"/>
          </a:solidFill>
          <a:ln w="25400" cap="flat" cmpd="sng" algn="ctr">
            <a:noFill/>
            <a:prstDash val="solid"/>
          </a:ln>
          <a:effectLst/>
        </p:spPr>
        <p:txBody>
          <a:bodyPr rot="0" spcFirstLastPara="0" vertOverflow="overflow" horzOverflow="overflow" vert="vert270" wrap="square" lIns="459000" tIns="324000" rIns="68580" bIns="324000" numCol="1" spcCol="0" rtlCol="0" fromWordArt="0" anchor="ctr" anchorCtr="0" forceAA="0" compatLnSpc="1">
            <a:prstTxWarp prst="textNoShape">
              <a:avLst/>
            </a:prstTxWarp>
            <a:normAutofit/>
          </a:bodyPr>
          <a:lstStyle/>
          <a:p>
            <a:pPr algn="ctr"/>
            <a:r>
              <a:rPr lang="en-US" altLang="zh-CN" sz="1600" b="1" kern="0">
                <a:solidFill>
                  <a:srgbClr val="FFFFFF"/>
                </a:solidFill>
                <a:latin typeface="华文细黑" panose="02010600040101010101" pitchFamily="2" charset="-122"/>
                <a:ea typeface="华文细黑" panose="02010600040101010101" pitchFamily="2" charset="-122"/>
              </a:rPr>
              <a:t>AMET</a:t>
            </a:r>
            <a:endParaRPr lang="zh-CN" altLang="en-US" sz="1600" b="1" kern="0" dirty="0">
              <a:solidFill>
                <a:srgbClr val="FFFFFF"/>
              </a:solidFill>
              <a:latin typeface="华文细黑" panose="02010600040101010101" pitchFamily="2" charset="-122"/>
              <a:ea typeface="华文细黑" panose="02010600040101010101" pitchFamily="2" charset="-122"/>
            </a:endParaRPr>
          </a:p>
        </p:txBody>
      </p:sp>
      <p:sp>
        <p:nvSpPr>
          <p:cNvPr id="15" name="MH_Title_1"/>
          <p:cNvSpPr txBox="1"/>
          <p:nvPr>
            <p:custDataLst>
              <p:tags r:id="rId11"/>
            </p:custDataLst>
          </p:nvPr>
        </p:nvSpPr>
        <p:spPr>
          <a:xfrm>
            <a:off x="5167560" y="3310271"/>
            <a:ext cx="1710917" cy="1085239"/>
          </a:xfrm>
          <a:prstGeom prst="rect">
            <a:avLst/>
          </a:prstGeom>
          <a:noFill/>
        </p:spPr>
        <p:txBody>
          <a:bodyPr wrap="square" rtlCol="0" anchor="ctr" anchorCtr="0">
            <a:normAutofit/>
          </a:bodyPr>
          <a:lstStyle/>
          <a:p>
            <a:pPr lvl="0" algn="ctr">
              <a:lnSpc>
                <a:spcPct val="130000"/>
              </a:lnSpc>
              <a:defRPr/>
            </a:pPr>
            <a:r>
              <a:rPr lang="zh-CN" altLang="en-US" dirty="0"/>
              <a:t>软件结构设计的基本原理</a:t>
            </a:r>
            <a:endParaRPr lang="zh-CN" altLang="en-US" kern="0" dirty="0">
              <a:solidFill>
                <a:srgbClr val="E2AC00"/>
              </a:solidFill>
              <a:latin typeface="微软雅黑" pitchFamily="34" charset="-122"/>
              <a:ea typeface="微软雅黑" pitchFamily="34" charset="-122"/>
            </a:endParaRPr>
          </a:p>
        </p:txBody>
      </p:sp>
      <p:sp>
        <p:nvSpPr>
          <p:cNvPr id="16" name="MH_Other_9"/>
          <p:cNvSpPr txBox="1"/>
          <p:nvPr>
            <p:custDataLst>
              <p:tags r:id="rId12"/>
            </p:custDataLst>
          </p:nvPr>
        </p:nvSpPr>
        <p:spPr>
          <a:xfrm>
            <a:off x="10282540" y="4235820"/>
            <a:ext cx="480000" cy="360000"/>
          </a:xfrm>
          <a:prstGeom prst="rect">
            <a:avLst/>
          </a:prstGeom>
          <a:noFill/>
        </p:spPr>
        <p:txBody>
          <a:bodyPr wrap="square" lIns="0" tIns="0" rIns="0" bIns="0" rtlCol="0" anchor="t" anchorCtr="0">
            <a:noAutofit/>
          </a:bodyPr>
          <a:lstStyle>
            <a:defPPr>
              <a:defRPr lang="zh-CN"/>
            </a:defPPr>
            <a:lvl1pPr marR="0" lvl="0" indent="0" fontAlgn="auto">
              <a:spcBef>
                <a:spcPts val="0"/>
              </a:spcBef>
              <a:spcAft>
                <a:spcPts val="0"/>
              </a:spcAft>
              <a:buClrTx/>
              <a:buSzTx/>
              <a:buFontTx/>
              <a:buNone/>
              <a:tabLst/>
              <a:defRPr kumimoji="0" sz="2400" b="1" i="0" u="none" strike="noStrike" kern="0" cap="none" spc="0" normalizeH="0" baseline="0">
                <a:ln>
                  <a:noFill/>
                </a:ln>
                <a:solidFill>
                  <a:schemeClr val="accent2"/>
                </a:solidFill>
                <a:effectLst/>
                <a:uLnTx/>
                <a:uFillTx/>
                <a:latin typeface="Arial" pitchFamily="34" charset="0"/>
                <a:ea typeface="微软雅黑" pitchFamily="34" charset="-122"/>
                <a:cs typeface="Arial" pitchFamily="34" charset="0"/>
              </a:defRPr>
            </a:lvl1pPr>
          </a:lstStyle>
          <a:p>
            <a:r>
              <a:rPr lang="en-US" altLang="zh-CN" dirty="0">
                <a:solidFill>
                  <a:srgbClr val="FEC200"/>
                </a:solidFill>
              </a:rPr>
              <a:t>04</a:t>
            </a:r>
            <a:endParaRPr lang="zh-CN" altLang="en-US" dirty="0">
              <a:solidFill>
                <a:srgbClr val="FEC200"/>
              </a:solidFill>
            </a:endParaRPr>
          </a:p>
        </p:txBody>
      </p:sp>
      <p:sp>
        <p:nvSpPr>
          <p:cNvPr id="17" name="MH_Other_10"/>
          <p:cNvSpPr txBox="1"/>
          <p:nvPr>
            <p:custDataLst>
              <p:tags r:id="rId13"/>
            </p:custDataLst>
          </p:nvPr>
        </p:nvSpPr>
        <p:spPr>
          <a:xfrm>
            <a:off x="1457869" y="4236087"/>
            <a:ext cx="480000" cy="360000"/>
          </a:xfrm>
          <a:prstGeom prst="rect">
            <a:avLst/>
          </a:prstGeom>
          <a:noFill/>
        </p:spPr>
        <p:txBody>
          <a:bodyPr wrap="square" lIns="0" tIns="0" rIns="0" bIns="0" rtlCol="0" anchor="t" anchorCtr="0">
            <a:noAutofit/>
          </a:bodyPr>
          <a:lstStyle>
            <a:defPPr>
              <a:defRPr lang="zh-CN"/>
            </a:defPPr>
            <a:lvl1pPr marR="0" lvl="0" indent="0" fontAlgn="auto">
              <a:spcBef>
                <a:spcPts val="0"/>
              </a:spcBef>
              <a:spcAft>
                <a:spcPts val="0"/>
              </a:spcAft>
              <a:buClrTx/>
              <a:buSzTx/>
              <a:buFontTx/>
              <a:buNone/>
              <a:tabLst/>
              <a:defRPr kumimoji="0" sz="2400" b="1" i="0" u="none" strike="noStrike" kern="0" cap="none" spc="0" normalizeH="0" baseline="0">
                <a:ln>
                  <a:noFill/>
                </a:ln>
                <a:solidFill>
                  <a:schemeClr val="accent2"/>
                </a:solidFill>
                <a:effectLst/>
                <a:uLnTx/>
                <a:uFillTx/>
                <a:latin typeface="Arial" pitchFamily="34" charset="0"/>
                <a:ea typeface="微软雅黑" pitchFamily="34" charset="-122"/>
                <a:cs typeface="Arial" pitchFamily="34" charset="0"/>
              </a:defRPr>
            </a:lvl1pPr>
          </a:lstStyle>
          <a:p>
            <a:r>
              <a:rPr lang="en-US" altLang="zh-CN" dirty="0">
                <a:solidFill>
                  <a:srgbClr val="FEC200"/>
                </a:solidFill>
              </a:rPr>
              <a:t>03</a:t>
            </a:r>
            <a:endParaRPr lang="zh-CN" altLang="en-US" dirty="0">
              <a:solidFill>
                <a:srgbClr val="FEC200"/>
              </a:solidFill>
            </a:endParaRPr>
          </a:p>
        </p:txBody>
      </p:sp>
      <p:sp>
        <p:nvSpPr>
          <p:cNvPr id="18" name="MH_Other_11"/>
          <p:cNvSpPr txBox="1"/>
          <p:nvPr>
            <p:custDataLst>
              <p:tags r:id="rId14"/>
            </p:custDataLst>
          </p:nvPr>
        </p:nvSpPr>
        <p:spPr>
          <a:xfrm>
            <a:off x="10290796" y="2487178"/>
            <a:ext cx="480000" cy="360000"/>
          </a:xfrm>
          <a:prstGeom prst="rect">
            <a:avLst/>
          </a:prstGeom>
          <a:noFill/>
        </p:spPr>
        <p:txBody>
          <a:bodyPr wrap="square" lIns="0" tIns="0" rIns="0" bIns="0" rtlCol="0" anchor="t" anchorCtr="0">
            <a:noAutofit/>
          </a:bodyPr>
          <a:lstStyle>
            <a:defPPr>
              <a:defRPr lang="zh-CN"/>
            </a:defPPr>
            <a:lvl1pPr marR="0" lvl="0" indent="0" fontAlgn="auto">
              <a:spcBef>
                <a:spcPts val="0"/>
              </a:spcBef>
              <a:spcAft>
                <a:spcPts val="0"/>
              </a:spcAft>
              <a:buClrTx/>
              <a:buSzTx/>
              <a:buFontTx/>
              <a:buNone/>
              <a:tabLst/>
              <a:defRPr kumimoji="0" sz="2400" b="1" i="0" u="none" strike="noStrike" kern="0" cap="none" spc="0" normalizeH="0" baseline="0">
                <a:ln>
                  <a:noFill/>
                </a:ln>
                <a:solidFill>
                  <a:schemeClr val="accent2"/>
                </a:solidFill>
                <a:effectLst/>
                <a:uLnTx/>
                <a:uFillTx/>
                <a:latin typeface="Arial" pitchFamily="34" charset="0"/>
                <a:ea typeface="微软雅黑" pitchFamily="34" charset="-122"/>
                <a:cs typeface="Arial" pitchFamily="34" charset="0"/>
              </a:defRPr>
            </a:lvl1pPr>
          </a:lstStyle>
          <a:p>
            <a:r>
              <a:rPr lang="en-US" altLang="zh-CN" dirty="0">
                <a:solidFill>
                  <a:srgbClr val="FEC200"/>
                </a:solidFill>
              </a:rPr>
              <a:t>02</a:t>
            </a:r>
            <a:endParaRPr lang="zh-CN" altLang="en-US" dirty="0">
              <a:solidFill>
                <a:srgbClr val="FEC200"/>
              </a:solidFill>
            </a:endParaRPr>
          </a:p>
        </p:txBody>
      </p:sp>
      <p:sp>
        <p:nvSpPr>
          <p:cNvPr id="19" name="MH_Other_12"/>
          <p:cNvSpPr txBox="1"/>
          <p:nvPr>
            <p:custDataLst>
              <p:tags r:id="rId15"/>
            </p:custDataLst>
          </p:nvPr>
        </p:nvSpPr>
        <p:spPr>
          <a:xfrm>
            <a:off x="1451303" y="2498396"/>
            <a:ext cx="480000" cy="360000"/>
          </a:xfrm>
          <a:prstGeom prst="rect">
            <a:avLst/>
          </a:prstGeom>
          <a:noFill/>
        </p:spPr>
        <p:txBody>
          <a:bodyPr wrap="square" lIns="0" tIns="0" rIns="0" bIns="0" rtlCol="0" anchor="t" anchorCtr="0">
            <a:noAutofit/>
          </a:bodyPr>
          <a:lstStyle/>
          <a:p>
            <a:pPr>
              <a:defRPr/>
            </a:pPr>
            <a:r>
              <a:rPr lang="en-US" altLang="zh-CN" sz="2400" b="1" kern="0" dirty="0">
                <a:solidFill>
                  <a:srgbClr val="FEC200"/>
                </a:solidFill>
                <a:latin typeface="Arial" pitchFamily="34" charset="0"/>
                <a:ea typeface="微软雅黑" pitchFamily="34" charset="-122"/>
                <a:cs typeface="Arial" pitchFamily="34" charset="0"/>
              </a:rPr>
              <a:t>01</a:t>
            </a:r>
            <a:endParaRPr lang="zh-CN" altLang="en-US" sz="2400" b="1" kern="0" dirty="0">
              <a:solidFill>
                <a:srgbClr val="FEC200"/>
              </a:solidFill>
              <a:latin typeface="Arial" pitchFamily="34" charset="0"/>
              <a:ea typeface="微软雅黑" pitchFamily="34" charset="-122"/>
              <a:cs typeface="Arial" pitchFamily="34" charset="0"/>
            </a:endParaRPr>
          </a:p>
        </p:txBody>
      </p:sp>
      <p:cxnSp>
        <p:nvCxnSpPr>
          <p:cNvPr id="20" name="MH_Other_13"/>
          <p:cNvCxnSpPr/>
          <p:nvPr>
            <p:custDataLst>
              <p:tags r:id="rId16"/>
            </p:custDataLst>
          </p:nvPr>
        </p:nvCxnSpPr>
        <p:spPr>
          <a:xfrm>
            <a:off x="7994654" y="2445616"/>
            <a:ext cx="2729793" cy="0"/>
          </a:xfrm>
          <a:prstGeom prst="line">
            <a:avLst/>
          </a:prstGeom>
          <a:ln>
            <a:solidFill>
              <a:srgbClr val="C7C7C7"/>
            </a:solidFill>
          </a:ln>
        </p:spPr>
        <p:style>
          <a:lnRef idx="1">
            <a:schemeClr val="accent1"/>
          </a:lnRef>
          <a:fillRef idx="0">
            <a:schemeClr val="accent1"/>
          </a:fillRef>
          <a:effectRef idx="0">
            <a:schemeClr val="accent1"/>
          </a:effectRef>
          <a:fontRef idx="minor">
            <a:schemeClr val="tx1"/>
          </a:fontRef>
        </p:style>
      </p:cxnSp>
      <p:cxnSp>
        <p:nvCxnSpPr>
          <p:cNvPr id="21" name="MH_Other_14"/>
          <p:cNvCxnSpPr/>
          <p:nvPr>
            <p:custDataLst>
              <p:tags r:id="rId17"/>
            </p:custDataLst>
          </p:nvPr>
        </p:nvCxnSpPr>
        <p:spPr>
          <a:xfrm>
            <a:off x="1471788" y="2445616"/>
            <a:ext cx="2729793" cy="0"/>
          </a:xfrm>
          <a:prstGeom prst="line">
            <a:avLst/>
          </a:prstGeom>
          <a:ln>
            <a:solidFill>
              <a:srgbClr val="C7C7C7"/>
            </a:solidFill>
          </a:ln>
        </p:spPr>
        <p:style>
          <a:lnRef idx="1">
            <a:schemeClr val="accent1"/>
          </a:lnRef>
          <a:fillRef idx="0">
            <a:schemeClr val="accent1"/>
          </a:fillRef>
          <a:effectRef idx="0">
            <a:schemeClr val="accent1"/>
          </a:effectRef>
          <a:fontRef idx="minor">
            <a:schemeClr val="tx1"/>
          </a:fontRef>
        </p:style>
      </p:cxnSp>
      <p:cxnSp>
        <p:nvCxnSpPr>
          <p:cNvPr id="22" name="MH_Other_15"/>
          <p:cNvCxnSpPr/>
          <p:nvPr>
            <p:custDataLst>
              <p:tags r:id="rId18"/>
            </p:custDataLst>
          </p:nvPr>
        </p:nvCxnSpPr>
        <p:spPr>
          <a:xfrm>
            <a:off x="7994654" y="5269116"/>
            <a:ext cx="2729793" cy="0"/>
          </a:xfrm>
          <a:prstGeom prst="line">
            <a:avLst/>
          </a:prstGeom>
          <a:ln>
            <a:solidFill>
              <a:srgbClr val="C7C7C7"/>
            </a:solidFill>
          </a:ln>
        </p:spPr>
        <p:style>
          <a:lnRef idx="1">
            <a:schemeClr val="accent1"/>
          </a:lnRef>
          <a:fillRef idx="0">
            <a:schemeClr val="accent1"/>
          </a:fillRef>
          <a:effectRef idx="0">
            <a:schemeClr val="accent1"/>
          </a:effectRef>
          <a:fontRef idx="minor">
            <a:schemeClr val="tx1"/>
          </a:fontRef>
        </p:style>
      </p:cxnSp>
      <p:cxnSp>
        <p:nvCxnSpPr>
          <p:cNvPr id="23" name="MH_Other_16"/>
          <p:cNvCxnSpPr/>
          <p:nvPr>
            <p:custDataLst>
              <p:tags r:id="rId19"/>
            </p:custDataLst>
          </p:nvPr>
        </p:nvCxnSpPr>
        <p:spPr>
          <a:xfrm>
            <a:off x="1445916" y="5269116"/>
            <a:ext cx="2729793" cy="0"/>
          </a:xfrm>
          <a:prstGeom prst="line">
            <a:avLst/>
          </a:prstGeom>
          <a:ln>
            <a:solidFill>
              <a:srgbClr val="C7C7C7"/>
            </a:solidFill>
          </a:ln>
        </p:spPr>
        <p:style>
          <a:lnRef idx="1">
            <a:schemeClr val="accent1"/>
          </a:lnRef>
          <a:fillRef idx="0">
            <a:schemeClr val="accent1"/>
          </a:fillRef>
          <a:effectRef idx="0">
            <a:schemeClr val="accent1"/>
          </a:effectRef>
          <a:fontRef idx="minor">
            <a:schemeClr val="tx1"/>
          </a:fontRef>
        </p:style>
      </p:cxnSp>
      <p:sp>
        <p:nvSpPr>
          <p:cNvPr id="24" name="MH_SubTitle_4"/>
          <p:cNvSpPr/>
          <p:nvPr>
            <p:custDataLst>
              <p:tags r:id="rId20"/>
            </p:custDataLst>
          </p:nvPr>
        </p:nvSpPr>
        <p:spPr>
          <a:xfrm rot="2479457" flipV="1">
            <a:off x="5765063" y="4482560"/>
            <a:ext cx="2730363" cy="1289593"/>
          </a:xfrm>
          <a:custGeom>
            <a:avLst/>
            <a:gdLst/>
            <a:ahLst/>
            <a:cxnLst/>
            <a:rect l="l" t="t" r="r" b="b"/>
            <a:pathLst>
              <a:path w="2250115" h="1417020">
                <a:moveTo>
                  <a:pt x="1444324" y="354255"/>
                </a:moveTo>
                <a:lnTo>
                  <a:pt x="2250115" y="1062765"/>
                </a:lnTo>
                <a:lnTo>
                  <a:pt x="708510" y="1062765"/>
                </a:lnTo>
                <a:lnTo>
                  <a:pt x="708510" y="1417020"/>
                </a:lnTo>
                <a:lnTo>
                  <a:pt x="0" y="708510"/>
                </a:lnTo>
                <a:lnTo>
                  <a:pt x="708510" y="0"/>
                </a:lnTo>
                <a:lnTo>
                  <a:pt x="708510" y="354255"/>
                </a:lnTo>
                <a:close/>
              </a:path>
            </a:pathLst>
          </a:custGeom>
          <a:solidFill>
            <a:srgbClr val="76BFCF"/>
          </a:solidFill>
          <a:ln w="25400" cap="flat" cmpd="sng" algn="ctr">
            <a:noFill/>
            <a:prstDash val="solid"/>
          </a:ln>
          <a:effectLst/>
        </p:spPr>
        <p:txBody>
          <a:bodyPr rot="0" spcFirstLastPara="0" vertOverflow="overflow" horzOverflow="overflow" vert="vert" wrap="square" lIns="459000" tIns="324000" rIns="68580" bIns="324000" numCol="1" spcCol="0" rtlCol="0" fromWordArt="0" anchor="ctr" anchorCtr="0" forceAA="0" compatLnSpc="1">
            <a:prstTxWarp prst="textNoShape">
              <a:avLst/>
            </a:prstTxWarp>
            <a:normAutofit/>
          </a:bodyPr>
          <a:lstStyle/>
          <a:p>
            <a:pPr algn="ctr"/>
            <a:r>
              <a:rPr lang="en-US" altLang="zh-CN" sz="1600" b="1" kern="0">
                <a:solidFill>
                  <a:srgbClr val="FFFFFF"/>
                </a:solidFill>
                <a:latin typeface="华文细黑" panose="02010600040101010101" pitchFamily="2" charset="-122"/>
                <a:ea typeface="华文细黑" panose="02010600040101010101" pitchFamily="2" charset="-122"/>
              </a:rPr>
              <a:t>AMET</a:t>
            </a:r>
            <a:endParaRPr lang="zh-CN" altLang="en-US" sz="1600" b="1" kern="0" dirty="0">
              <a:solidFill>
                <a:srgbClr val="FFFFFF"/>
              </a:solidFill>
              <a:latin typeface="华文细黑" panose="02010600040101010101" pitchFamily="2" charset="-122"/>
              <a:ea typeface="华文细黑" panose="02010600040101010101" pitchFamily="2" charset="-122"/>
            </a:endParaRPr>
          </a:p>
        </p:txBody>
      </p:sp>
      <p:sp>
        <p:nvSpPr>
          <p:cNvPr id="25" name="MH_SubTitle_3"/>
          <p:cNvSpPr/>
          <p:nvPr>
            <p:custDataLst>
              <p:tags r:id="rId21"/>
            </p:custDataLst>
          </p:nvPr>
        </p:nvSpPr>
        <p:spPr>
          <a:xfrm rot="19120543" flipH="1" flipV="1">
            <a:off x="3687079" y="4482560"/>
            <a:ext cx="2730363" cy="1289593"/>
          </a:xfrm>
          <a:custGeom>
            <a:avLst/>
            <a:gdLst/>
            <a:ahLst/>
            <a:cxnLst/>
            <a:rect l="l" t="t" r="r" b="b"/>
            <a:pathLst>
              <a:path w="2250115" h="1417020">
                <a:moveTo>
                  <a:pt x="1444324" y="354255"/>
                </a:moveTo>
                <a:lnTo>
                  <a:pt x="2250115" y="1062765"/>
                </a:lnTo>
                <a:lnTo>
                  <a:pt x="708510" y="1062765"/>
                </a:lnTo>
                <a:lnTo>
                  <a:pt x="708510" y="1417020"/>
                </a:lnTo>
                <a:lnTo>
                  <a:pt x="0" y="708510"/>
                </a:lnTo>
                <a:lnTo>
                  <a:pt x="708510" y="0"/>
                </a:lnTo>
                <a:lnTo>
                  <a:pt x="708510" y="354255"/>
                </a:lnTo>
                <a:close/>
              </a:path>
            </a:pathLst>
          </a:custGeom>
          <a:solidFill>
            <a:srgbClr val="76BFCF"/>
          </a:solidFill>
          <a:ln w="25400" cap="flat" cmpd="sng" algn="ctr">
            <a:noFill/>
            <a:prstDash val="solid"/>
          </a:ln>
          <a:effectLst/>
        </p:spPr>
        <p:txBody>
          <a:bodyPr rot="0" spcFirstLastPara="0" vertOverflow="overflow" horzOverflow="overflow" vert="vert270" wrap="square" lIns="0" tIns="324000" rIns="459000" bIns="324000" numCol="1" spcCol="0" rtlCol="0" fromWordArt="0" anchor="ctr" anchorCtr="0" forceAA="0" compatLnSpc="1">
            <a:prstTxWarp prst="textNoShape">
              <a:avLst/>
            </a:prstTxWarp>
            <a:normAutofit/>
          </a:bodyPr>
          <a:lstStyle/>
          <a:p>
            <a:pPr algn="ctr"/>
            <a:r>
              <a:rPr lang="en-US" altLang="zh-CN" sz="1600" b="1" kern="0">
                <a:solidFill>
                  <a:srgbClr val="FFFFFF"/>
                </a:solidFill>
                <a:latin typeface="华文细黑" panose="02010600040101010101" pitchFamily="2" charset="-122"/>
                <a:ea typeface="华文细黑" panose="02010600040101010101" pitchFamily="2" charset="-122"/>
              </a:rPr>
              <a:t>AMET</a:t>
            </a:r>
            <a:endParaRPr lang="zh-CN" altLang="en-US" sz="1600" b="1" kern="0" dirty="0">
              <a:solidFill>
                <a:srgbClr val="FFFFFF"/>
              </a:solidFill>
              <a:latin typeface="华文细黑" panose="02010600040101010101" pitchFamily="2" charset="-122"/>
              <a:ea typeface="华文细黑" panose="02010600040101010101" pitchFamily="2" charset="-122"/>
            </a:endParaRPr>
          </a:p>
        </p:txBody>
      </p:sp>
      <p:sp>
        <p:nvSpPr>
          <p:cNvPr id="26" name="MH_Text_4"/>
          <p:cNvSpPr txBox="1"/>
          <p:nvPr>
            <p:custDataLst>
              <p:tags r:id="rId22"/>
            </p:custDataLst>
          </p:nvPr>
        </p:nvSpPr>
        <p:spPr>
          <a:xfrm>
            <a:off x="7656395" y="4278779"/>
            <a:ext cx="2497212" cy="910524"/>
          </a:xfrm>
          <a:prstGeom prst="rect">
            <a:avLst/>
          </a:prstGeom>
          <a:noFill/>
        </p:spPr>
        <p:txBody>
          <a:bodyPr wrap="square" lIns="0" tIns="0" rIns="0" bIns="0" rtlCol="0" anchor="t" anchorCtr="0">
            <a:normAutofit/>
          </a:bodyPr>
          <a:lstStyle/>
          <a:p>
            <a:pPr lvl="0" algn="r">
              <a:lnSpc>
                <a:spcPct val="130000"/>
              </a:lnSpc>
              <a:defRPr/>
            </a:pPr>
            <a:r>
              <a:rPr lang="zh-CN" altLang="en-US" sz="2400" dirty="0"/>
              <a:t>信息隐蔽和局部化</a:t>
            </a:r>
            <a:endParaRPr lang="en-US" altLang="zh-CN" sz="2400" kern="0" dirty="0">
              <a:latin typeface="微软雅黑" panose="020B0503020204020204" pitchFamily="34" charset="-122"/>
              <a:ea typeface="微软雅黑" panose="020B0503020204020204" pitchFamily="34" charset="-122"/>
            </a:endParaRPr>
          </a:p>
        </p:txBody>
      </p:sp>
      <p:sp>
        <p:nvSpPr>
          <p:cNvPr id="27" name="MH_Text_3"/>
          <p:cNvSpPr txBox="1"/>
          <p:nvPr>
            <p:custDataLst>
              <p:tags r:id="rId23"/>
            </p:custDataLst>
          </p:nvPr>
        </p:nvSpPr>
        <p:spPr>
          <a:xfrm>
            <a:off x="2028508" y="4278779"/>
            <a:ext cx="2147197" cy="910524"/>
          </a:xfrm>
          <a:prstGeom prst="rect">
            <a:avLst/>
          </a:prstGeom>
          <a:noFill/>
        </p:spPr>
        <p:txBody>
          <a:bodyPr wrap="square" lIns="0" tIns="0" rIns="0" bIns="0" rtlCol="0" anchor="t" anchorCtr="0">
            <a:normAutofit/>
          </a:bodyPr>
          <a:lstStyle/>
          <a:p>
            <a:pPr lvl="0">
              <a:lnSpc>
                <a:spcPct val="130000"/>
              </a:lnSpc>
              <a:defRPr/>
            </a:pPr>
            <a:r>
              <a:rPr lang="zh-CN" altLang="en-US" sz="2400" dirty="0"/>
              <a:t>抽象和逐步求精</a:t>
            </a:r>
            <a:endParaRPr lang="en-US" altLang="zh-CN" sz="2400" kern="0" dirty="0">
              <a:latin typeface="微软雅黑" panose="020B0503020204020204" pitchFamily="34" charset="-122"/>
              <a:ea typeface="微软雅黑" panose="020B0503020204020204" pitchFamily="34" charset="-122"/>
            </a:endParaRPr>
          </a:p>
        </p:txBody>
      </p:sp>
      <p:sp>
        <p:nvSpPr>
          <p:cNvPr id="28" name="MH_Text_2"/>
          <p:cNvSpPr txBox="1"/>
          <p:nvPr>
            <p:custDataLst>
              <p:tags r:id="rId24"/>
            </p:custDataLst>
          </p:nvPr>
        </p:nvSpPr>
        <p:spPr>
          <a:xfrm>
            <a:off x="8006407" y="2481153"/>
            <a:ext cx="2147199" cy="1092020"/>
          </a:xfrm>
          <a:prstGeom prst="rect">
            <a:avLst/>
          </a:prstGeom>
          <a:noFill/>
        </p:spPr>
        <p:txBody>
          <a:bodyPr wrap="square" lIns="0" tIns="0" rIns="0" bIns="0" rtlCol="0" anchor="t" anchorCtr="0">
            <a:normAutofit/>
          </a:bodyPr>
          <a:lstStyle/>
          <a:p>
            <a:pPr lvl="0" algn="r">
              <a:lnSpc>
                <a:spcPct val="130000"/>
              </a:lnSpc>
              <a:defRPr/>
            </a:pPr>
            <a:r>
              <a:rPr lang="zh-CN" altLang="en-US" sz="2400" dirty="0"/>
              <a:t>模块独立性</a:t>
            </a:r>
            <a:endParaRPr lang="en-US" altLang="zh-CN" sz="2400" kern="0" dirty="0">
              <a:latin typeface="微软雅黑" panose="020B0503020204020204" pitchFamily="34" charset="-122"/>
              <a:ea typeface="微软雅黑" panose="020B0503020204020204" pitchFamily="34" charset="-122"/>
            </a:endParaRPr>
          </a:p>
        </p:txBody>
      </p:sp>
      <p:sp>
        <p:nvSpPr>
          <p:cNvPr id="29" name="MH_Text_1"/>
          <p:cNvSpPr txBox="1"/>
          <p:nvPr>
            <p:custDataLst>
              <p:tags r:id="rId25"/>
            </p:custDataLst>
          </p:nvPr>
        </p:nvSpPr>
        <p:spPr>
          <a:xfrm>
            <a:off x="2028508" y="2485915"/>
            <a:ext cx="2147197" cy="1092020"/>
          </a:xfrm>
          <a:prstGeom prst="rect">
            <a:avLst/>
          </a:prstGeom>
          <a:noFill/>
        </p:spPr>
        <p:txBody>
          <a:bodyPr wrap="square" lIns="0" tIns="0" rIns="0" bIns="0" rtlCol="0" anchor="t" anchorCtr="0">
            <a:normAutofit/>
          </a:bodyPr>
          <a:lstStyle/>
          <a:p>
            <a:pPr lvl="0">
              <a:lnSpc>
                <a:spcPct val="130000"/>
              </a:lnSpc>
              <a:defRPr/>
            </a:pPr>
            <a:r>
              <a:rPr lang="zh-CN" altLang="en-US" sz="2400" dirty="0"/>
              <a:t>软件的模块化</a:t>
            </a:r>
            <a:endParaRPr lang="en-US" altLang="zh-CN" sz="2400" kern="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endParaRPr lang="zh-CN" altLang="en-US" dirty="0"/>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3.2.1 </a:t>
            </a:r>
            <a:r>
              <a:rPr lang="zh-CN" altLang="en-US" sz="2400" dirty="0">
                <a:solidFill>
                  <a:schemeClr val="tx1"/>
                </a:solidFill>
              </a:rPr>
              <a:t>软件结构设计的基本原理</a:t>
            </a:r>
          </a:p>
        </p:txBody>
      </p:sp>
      <p:grpSp>
        <p:nvGrpSpPr>
          <p:cNvPr id="41" name="组合 6"/>
          <p:cNvGrpSpPr/>
          <p:nvPr/>
        </p:nvGrpSpPr>
        <p:grpSpPr>
          <a:xfrm>
            <a:off x="809625" y="2145646"/>
            <a:ext cx="3141345" cy="590550"/>
            <a:chOff x="508000" y="3196191"/>
            <a:chExt cx="3141314" cy="590550"/>
          </a:xfrm>
        </p:grpSpPr>
        <p:sp>
          <p:nvSpPr>
            <p:cNvPr id="48" name="TextBox 1"/>
            <p:cNvSpPr txBox="1">
              <a:spLocks noChangeArrowheads="1"/>
            </p:cNvSpPr>
            <p:nvPr/>
          </p:nvSpPr>
          <p:spPr bwMode="auto">
            <a:xfrm>
              <a:off x="508000" y="3196191"/>
              <a:ext cx="31813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49" name="直接连接符 4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50" name="矩形 7"/>
            <p:cNvSpPr>
              <a:spLocks noChangeArrowheads="1"/>
            </p:cNvSpPr>
            <p:nvPr/>
          </p:nvSpPr>
          <p:spPr bwMode="auto">
            <a:xfrm>
              <a:off x="960437" y="3291441"/>
              <a:ext cx="268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模块</a:t>
              </a:r>
            </a:p>
          </p:txBody>
        </p:sp>
      </p:grpSp>
      <p:sp>
        <p:nvSpPr>
          <p:cNvPr id="52" name="MH_SubTitle_4"/>
          <p:cNvSpPr txBox="1"/>
          <p:nvPr>
            <p:custDataLst>
              <p:tags r:id="rId1"/>
            </p:custDataLst>
          </p:nvPr>
        </p:nvSpPr>
        <p:spPr bwMode="auto">
          <a:xfrm>
            <a:off x="659121" y="2993351"/>
            <a:ext cx="10764055" cy="2629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indent="457200">
              <a:lnSpc>
                <a:spcPct val="120000"/>
              </a:lnSpc>
            </a:pPr>
            <a:r>
              <a:rPr lang="zh-CN" altLang="en-US" sz="2000" dirty="0">
                <a:latin typeface="Times New Roman" panose="02020603050405020304" pitchFamily="18" charset="0"/>
              </a:rPr>
              <a:t>模块（</a:t>
            </a:r>
            <a:r>
              <a:rPr lang="en-US" sz="2000" dirty="0">
                <a:latin typeface="Times New Roman" panose="02020603050405020304" pitchFamily="18" charset="0"/>
              </a:rPr>
              <a:t>Module</a:t>
            </a:r>
            <a:r>
              <a:rPr lang="zh-CN" altLang="en-US" sz="2000" dirty="0">
                <a:latin typeface="Times New Roman" panose="02020603050405020304" pitchFamily="18" charset="0"/>
              </a:rPr>
              <a:t>）是能够单独命名，由边界元素限定的程序元素的序列。在软件的体系结构中，模块能独立地完成一定的功能，是可以组合、分解和更换的单元。</a:t>
            </a:r>
            <a:endParaRPr lang="en-US" altLang="zh-CN" sz="2000" dirty="0">
              <a:latin typeface="Times New Roman" panose="02020603050405020304" pitchFamily="18" charset="0"/>
            </a:endParaRPr>
          </a:p>
          <a:p>
            <a:pPr indent="457200"/>
            <a:r>
              <a:rPr lang="zh-CN" altLang="en-US" sz="2000" dirty="0">
                <a:latin typeface="Times New Roman" panose="02020603050405020304" pitchFamily="18" charset="0"/>
              </a:rPr>
              <a:t>一般地，模块从调用者那里获得输入数据，然后把产生的输出数据返回给调用者。</a:t>
            </a:r>
          </a:p>
          <a:p>
            <a:pPr indent="457200"/>
            <a:r>
              <a:rPr lang="zh-CN" altLang="en-US" sz="2000" dirty="0">
                <a:latin typeface="Times New Roman" panose="02020603050405020304" pitchFamily="18" charset="0"/>
              </a:rPr>
              <a:t>模块是程序的基本构件，由边界元素限定。例如，像</a:t>
            </a:r>
            <a:r>
              <a:rPr lang="en-US" sz="2000" dirty="0">
                <a:latin typeface="Times New Roman" panose="02020603050405020304" pitchFamily="18" charset="0"/>
              </a:rPr>
              <a:t>Pascal</a:t>
            </a:r>
            <a:r>
              <a:rPr lang="zh-CN" altLang="en-US" sz="2000" dirty="0">
                <a:latin typeface="Times New Roman" panose="02020603050405020304" pitchFamily="18" charset="0"/>
              </a:rPr>
              <a:t>或</a:t>
            </a:r>
            <a:r>
              <a:rPr lang="en-US" sz="2000" dirty="0" err="1">
                <a:latin typeface="Times New Roman" panose="02020603050405020304" pitchFamily="18" charset="0"/>
              </a:rPr>
              <a:t>Ada</a:t>
            </a:r>
            <a:r>
              <a:rPr lang="zh-CN" altLang="en-US" sz="2000" dirty="0">
                <a:latin typeface="Times New Roman" panose="02020603050405020304" pitchFamily="18" charset="0"/>
              </a:rPr>
              <a:t>这样的块结构程序设计语言中的</a:t>
            </a:r>
            <a:r>
              <a:rPr lang="en-US" sz="2000" dirty="0">
                <a:latin typeface="Times New Roman" panose="02020603050405020304" pitchFamily="18" charset="0"/>
              </a:rPr>
              <a:t>Begin…End</a:t>
            </a:r>
            <a:r>
              <a:rPr lang="zh-CN" altLang="en-US" sz="2000" dirty="0">
                <a:latin typeface="Times New Roman" panose="02020603050405020304" pitchFamily="18" charset="0"/>
              </a:rPr>
              <a:t>对，或</a:t>
            </a:r>
            <a:r>
              <a:rPr lang="en-US" sz="2000" dirty="0">
                <a:latin typeface="Times New Roman" panose="02020603050405020304" pitchFamily="18" charset="0"/>
              </a:rPr>
              <a:t>C</a:t>
            </a:r>
            <a:r>
              <a:rPr lang="zh-CN" altLang="en-US" sz="2000" dirty="0">
                <a:latin typeface="Times New Roman" panose="02020603050405020304" pitchFamily="18" charset="0"/>
              </a:rPr>
              <a:t>，</a:t>
            </a:r>
            <a:r>
              <a:rPr lang="en-US" sz="2000" dirty="0">
                <a:latin typeface="Times New Roman" panose="02020603050405020304" pitchFamily="18" charset="0"/>
              </a:rPr>
              <a:t>C++</a:t>
            </a:r>
            <a:r>
              <a:rPr lang="zh-CN" altLang="en-US" sz="2000" dirty="0">
                <a:latin typeface="Times New Roman" panose="02020603050405020304" pitchFamily="18" charset="0"/>
              </a:rPr>
              <a:t>和</a:t>
            </a:r>
            <a:r>
              <a:rPr lang="en-US" sz="2000" dirty="0">
                <a:latin typeface="Times New Roman" panose="02020603050405020304" pitchFamily="18" charset="0"/>
              </a:rPr>
              <a:t>Java</a:t>
            </a:r>
            <a:r>
              <a:rPr lang="zh-CN" altLang="en-US" sz="2000" dirty="0">
                <a:latin typeface="Times New Roman" panose="02020603050405020304" pitchFamily="18" charset="0"/>
              </a:rPr>
              <a:t>语言中的</a:t>
            </a:r>
            <a:r>
              <a:rPr lang="en-US" sz="2000" dirty="0">
                <a:latin typeface="Times New Roman" panose="02020603050405020304" pitchFamily="18" charset="0"/>
              </a:rPr>
              <a:t>{…}</a:t>
            </a:r>
            <a:r>
              <a:rPr lang="zh-CN" altLang="en-US" sz="2000" dirty="0">
                <a:latin typeface="Times New Roman" panose="02020603050405020304" pitchFamily="18" charset="0"/>
              </a:rPr>
              <a:t>对，就是边界元素的例子。过程、函数、子程序和宏等，都可以作为模块。面向对象方法中的对象、对象内的方法也是模块。</a:t>
            </a:r>
          </a:p>
          <a:p>
            <a:pPr indent="457200"/>
            <a:r>
              <a:rPr lang="zh-CN" altLang="en-US" sz="2000" dirty="0">
                <a:latin typeface="Times New Roman" panose="02020603050405020304" pitchFamily="18" charset="0"/>
              </a:rPr>
              <a:t>模块化是把系统分割成能完成独立功能的模块；模块独立性要求模块之间低耦合、模块内部高内聚。</a:t>
            </a:r>
          </a:p>
          <a:p>
            <a:pPr>
              <a:lnSpc>
                <a:spcPct val="120000"/>
              </a:lnSpc>
            </a:pPr>
            <a:endParaRPr lang="zh-CN" altLang="en-US" sz="2000" dirty="0">
              <a:latin typeface="Times New Roman" panose="02020603050405020304" pitchFamily="18" charset="0"/>
            </a:endParaRPr>
          </a:p>
          <a:p>
            <a:pPr fontAlgn="auto">
              <a:lnSpc>
                <a:spcPct val="120000"/>
              </a:lnSpc>
            </a:pPr>
            <a:endParaRPr lang="zh-CN" altLang="en-US" sz="2000" dirty="0">
              <a:latin typeface="Times New Roman" panose="02020603050405020304" pitchFamily="18" charset="0"/>
            </a:endParaRPr>
          </a:p>
        </p:txBody>
      </p:sp>
    </p:spTree>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endParaRPr lang="zh-CN" altLang="en-US" dirty="0"/>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3.2.1 </a:t>
            </a:r>
            <a:r>
              <a:rPr lang="zh-CN" altLang="en-US" sz="2400" dirty="0">
                <a:solidFill>
                  <a:schemeClr val="tx1"/>
                </a:solidFill>
              </a:rPr>
              <a:t>软件结构设计的基本原理</a:t>
            </a:r>
          </a:p>
        </p:txBody>
      </p:sp>
      <p:grpSp>
        <p:nvGrpSpPr>
          <p:cNvPr id="3" name="组合 27"/>
          <p:cNvGrpSpPr/>
          <p:nvPr/>
        </p:nvGrpSpPr>
        <p:grpSpPr>
          <a:xfrm>
            <a:off x="798851" y="3042786"/>
            <a:ext cx="5080000" cy="2065020"/>
            <a:chOff x="1302" y="3610"/>
            <a:chExt cx="8000" cy="3252"/>
          </a:xfrm>
        </p:grpSpPr>
        <p:sp>
          <p:nvSpPr>
            <p:cNvPr id="30" name="Oval 5"/>
            <p:cNvSpPr/>
            <p:nvPr>
              <p:custDataLst>
                <p:tags r:id="rId17"/>
              </p:custDataLst>
            </p:nvPr>
          </p:nvSpPr>
          <p:spPr>
            <a:xfrm>
              <a:off x="1302" y="3791"/>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31" name="Freeform 7"/>
            <p:cNvSpPr>
              <a:spLocks noEditPoints="1"/>
            </p:cNvSpPr>
            <p:nvPr>
              <p:custDataLst>
                <p:tags r:id="rId18"/>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32" name="文本框 18"/>
            <p:cNvSpPr txBox="1">
              <a:spLocks noChangeArrowheads="1"/>
            </p:cNvSpPr>
            <p:nvPr>
              <p:custDataLst>
                <p:tags r:id="rId19"/>
              </p:custDataLst>
            </p:nvPr>
          </p:nvSpPr>
          <p:spPr bwMode="auto">
            <a:xfrm>
              <a:off x="2719" y="3610"/>
              <a:ext cx="374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zh-CN" altLang="en-US" sz="1800" b="1" dirty="0">
                  <a:latin typeface="+mj-lt"/>
                  <a:ea typeface="+mj-ea"/>
                  <a:cs typeface="+mj-cs"/>
                </a:rPr>
                <a:t>名称</a:t>
              </a:r>
            </a:p>
          </p:txBody>
        </p:sp>
        <p:sp>
          <p:nvSpPr>
            <p:cNvPr id="33" name="文本框 20"/>
            <p:cNvSpPr txBox="1"/>
            <p:nvPr>
              <p:custDataLst>
                <p:tags r:id="rId20"/>
              </p:custDataLst>
            </p:nvPr>
          </p:nvSpPr>
          <p:spPr>
            <a:xfrm>
              <a:off x="2735" y="4236"/>
              <a:ext cx="6567" cy="2626"/>
            </a:xfrm>
            <a:prstGeom prst="rect">
              <a:avLst/>
            </a:prstGeom>
          </p:spPr>
          <p:txBody>
            <a:bodyPr lIns="90000" tIns="46800" rIns="90000" bIns="46800">
              <a:normAutofit/>
            </a:bodyPr>
            <a:lstStyle>
              <a:defPPr>
                <a:defRPr lang="zh-CN"/>
              </a:defPPr>
              <a:lvl1pPr>
                <a:spcBef>
                  <a:spcPts val="0"/>
                </a:spcBef>
                <a:spcAft>
                  <a:spcPts val="0"/>
                </a:spcAft>
                <a:defRPr sz="1800"/>
              </a:lvl1pPr>
            </a:lstStyle>
            <a:p>
              <a:r>
                <a:rPr lang="zh-CN" altLang="en-US" dirty="0"/>
                <a:t>模块的名称必须表达该模块的功能，指明每次调用它时应完成的功能。模块的名称由一个动词和一个名词组成，如计算成绩总评分、计算日销售额等。</a:t>
              </a:r>
            </a:p>
          </p:txBody>
        </p:sp>
      </p:grpSp>
      <p:grpSp>
        <p:nvGrpSpPr>
          <p:cNvPr id="4" name="组合 33"/>
          <p:cNvGrpSpPr/>
          <p:nvPr/>
        </p:nvGrpSpPr>
        <p:grpSpPr>
          <a:xfrm>
            <a:off x="738890" y="4714137"/>
            <a:ext cx="5047628" cy="1579880"/>
            <a:chOff x="10373" y="3752"/>
            <a:chExt cx="7718" cy="2488"/>
          </a:xfrm>
        </p:grpSpPr>
        <p:grpSp>
          <p:nvGrpSpPr>
            <p:cNvPr id="5" name="组合 22"/>
            <p:cNvGrpSpPr/>
            <p:nvPr/>
          </p:nvGrpSpPr>
          <p:grpSpPr>
            <a:xfrm>
              <a:off x="10373" y="3752"/>
              <a:ext cx="7718" cy="2488"/>
              <a:chOff x="10236" y="7461"/>
              <a:chExt cx="7718" cy="2488"/>
            </a:xfrm>
          </p:grpSpPr>
          <p:sp>
            <p:nvSpPr>
              <p:cNvPr id="38" name="Oval 26"/>
              <p:cNvSpPr/>
              <p:nvPr>
                <p:custDataLst>
                  <p:tags r:id="rId14"/>
                </p:custDataLst>
              </p:nvPr>
            </p:nvSpPr>
            <p:spPr>
              <a:xfrm>
                <a:off x="10236" y="7461"/>
                <a:ext cx="1223" cy="1223"/>
              </a:xfrm>
              <a:prstGeom prst="ellipse">
                <a:avLst/>
              </a:prstGeom>
              <a:solidFill>
                <a:schemeClr val="accent5"/>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39" name="文本框 24"/>
              <p:cNvSpPr txBox="1">
                <a:spLocks noChangeArrowheads="1"/>
              </p:cNvSpPr>
              <p:nvPr>
                <p:custDataLst>
                  <p:tags r:id="rId15"/>
                </p:custDataLst>
              </p:nvPr>
            </p:nvSpPr>
            <p:spPr bwMode="auto">
              <a:xfrm>
                <a:off x="11626" y="7500"/>
                <a:ext cx="3745"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zh-CN" altLang="en-US" sz="1800" b="1" dirty="0">
                    <a:latin typeface="+mj-lt"/>
                    <a:ea typeface="+mj-ea"/>
                    <a:cs typeface="+mj-cs"/>
                    <a:sym typeface="+mn-ea"/>
                  </a:rPr>
                  <a:t>接口</a:t>
                </a:r>
              </a:p>
            </p:txBody>
          </p:sp>
          <p:sp>
            <p:nvSpPr>
              <p:cNvPr id="40" name="文本框 19"/>
              <p:cNvSpPr txBox="1"/>
              <p:nvPr>
                <p:custDataLst>
                  <p:tags r:id="rId16"/>
                </p:custDataLst>
              </p:nvPr>
            </p:nvSpPr>
            <p:spPr>
              <a:xfrm>
                <a:off x="11626" y="8083"/>
                <a:ext cx="6328" cy="1866"/>
              </a:xfrm>
              <a:prstGeom prst="rect">
                <a:avLst/>
              </a:prstGeom>
            </p:spPr>
            <p:txBody>
              <a:bodyPr lIns="90000" tIns="46800" rIns="90000" bIns="46800">
                <a:normAutofit/>
              </a:bodyPr>
              <a:lstStyle>
                <a:defPPr>
                  <a:defRPr lang="zh-CN"/>
                </a:defPPr>
                <a:lvl1pPr>
                  <a:spcBef>
                    <a:spcPts val="0"/>
                  </a:spcBef>
                  <a:spcAft>
                    <a:spcPts val="0"/>
                  </a:spcAft>
                  <a:defRPr sz="1800"/>
                </a:lvl1pPr>
              </a:lstStyle>
              <a:p>
                <a:r>
                  <a:rPr lang="zh-CN" altLang="en-US" dirty="0"/>
                  <a:t>模块的输入和输出。</a:t>
                </a:r>
              </a:p>
            </p:txBody>
          </p:sp>
        </p:grpSp>
        <p:sp>
          <p:nvSpPr>
            <p:cNvPr id="37" name="Freeform 7"/>
            <p:cNvSpPr>
              <a:spLocks noEditPoints="1"/>
            </p:cNvSpPr>
            <p:nvPr>
              <p:custDataLst>
                <p:tags r:id="rId13"/>
              </p:custDataLst>
            </p:nvPr>
          </p:nvSpPr>
          <p:spPr bwMode="auto">
            <a:xfrm>
              <a:off x="10684" y="4056"/>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grpSp>
      <p:grpSp>
        <p:nvGrpSpPr>
          <p:cNvPr id="6" name="组合 14"/>
          <p:cNvGrpSpPr/>
          <p:nvPr/>
        </p:nvGrpSpPr>
        <p:grpSpPr>
          <a:xfrm>
            <a:off x="6317730" y="1955668"/>
            <a:ext cx="5080000" cy="1268730"/>
            <a:chOff x="1302" y="3610"/>
            <a:chExt cx="8000" cy="1998"/>
          </a:xfrm>
        </p:grpSpPr>
        <p:sp>
          <p:nvSpPr>
            <p:cNvPr id="16" name="Oval 5"/>
            <p:cNvSpPr/>
            <p:nvPr>
              <p:custDataLst>
                <p:tags r:id="rId9"/>
              </p:custDataLst>
            </p:nvPr>
          </p:nvSpPr>
          <p:spPr>
            <a:xfrm>
              <a:off x="1302" y="3791"/>
              <a:ext cx="1222" cy="1220"/>
            </a:xfrm>
            <a:prstGeom prst="ellipse">
              <a:avLst/>
            </a:prstGeom>
            <a:solidFill>
              <a:srgbClr val="92D050"/>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7" name="Freeform 7"/>
            <p:cNvSpPr>
              <a:spLocks noEditPoints="1"/>
            </p:cNvSpPr>
            <p:nvPr>
              <p:custDataLst>
                <p:tags r:id="rId10"/>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8" name="文本框 18"/>
            <p:cNvSpPr txBox="1">
              <a:spLocks noChangeArrowheads="1"/>
            </p:cNvSpPr>
            <p:nvPr>
              <p:custDataLst>
                <p:tags r:id="rId11"/>
              </p:custDataLst>
            </p:nvPr>
          </p:nvSpPr>
          <p:spPr bwMode="auto">
            <a:xfrm>
              <a:off x="2719" y="3610"/>
              <a:ext cx="374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zh-CN" altLang="en-US" sz="1800" b="1" dirty="0">
                  <a:latin typeface="+mj-lt"/>
                  <a:ea typeface="+mj-ea"/>
                  <a:cs typeface="+mj-cs"/>
                </a:rPr>
                <a:t>功能</a:t>
              </a:r>
            </a:p>
          </p:txBody>
        </p:sp>
        <p:sp>
          <p:nvSpPr>
            <p:cNvPr id="19" name="文本框 20"/>
            <p:cNvSpPr txBox="1"/>
            <p:nvPr>
              <p:custDataLst>
                <p:tags r:id="rId12"/>
              </p:custDataLst>
            </p:nvPr>
          </p:nvSpPr>
          <p:spPr>
            <a:xfrm>
              <a:off x="2735" y="4236"/>
              <a:ext cx="6567" cy="1372"/>
            </a:xfrm>
            <a:prstGeom prst="rect">
              <a:avLst/>
            </a:prstGeom>
          </p:spPr>
          <p:txBody>
            <a:bodyPr lIns="90000" tIns="46800" rIns="90000" bIns="46800">
              <a:normAutofit/>
            </a:bodyPr>
            <a:lstStyle>
              <a:defPPr>
                <a:defRPr lang="zh-CN"/>
              </a:defPPr>
              <a:lvl1pPr>
                <a:spcBef>
                  <a:spcPts val="0"/>
                </a:spcBef>
                <a:spcAft>
                  <a:spcPts val="0"/>
                </a:spcAft>
                <a:defRPr sz="1800"/>
              </a:lvl1pPr>
            </a:lstStyle>
            <a:p>
              <a:r>
                <a:rPr lang="zh-CN" altLang="en-US" dirty="0"/>
                <a:t>模块所实现的功能。</a:t>
              </a:r>
            </a:p>
          </p:txBody>
        </p:sp>
      </p:grpSp>
      <p:grpSp>
        <p:nvGrpSpPr>
          <p:cNvPr id="7" name="组合 19"/>
          <p:cNvGrpSpPr/>
          <p:nvPr/>
        </p:nvGrpSpPr>
        <p:grpSpPr>
          <a:xfrm>
            <a:off x="6317730" y="3282627"/>
            <a:ext cx="5080000" cy="1268730"/>
            <a:chOff x="1302" y="3610"/>
            <a:chExt cx="8000" cy="1998"/>
          </a:xfrm>
        </p:grpSpPr>
        <p:sp>
          <p:nvSpPr>
            <p:cNvPr id="21" name="Oval 5"/>
            <p:cNvSpPr/>
            <p:nvPr>
              <p:custDataLst>
                <p:tags r:id="rId5"/>
              </p:custDataLst>
            </p:nvPr>
          </p:nvSpPr>
          <p:spPr>
            <a:xfrm>
              <a:off x="1302" y="3791"/>
              <a:ext cx="1222" cy="1220"/>
            </a:xfrm>
            <a:prstGeom prst="ellipse">
              <a:avLst/>
            </a:prstGeom>
            <a:solidFill>
              <a:schemeClr val="accent4">
                <a:lumMod val="60000"/>
                <a:lumOff val="40000"/>
              </a:schemeClr>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22" name="Freeform 7"/>
            <p:cNvSpPr>
              <a:spLocks noEditPoints="1"/>
            </p:cNvSpPr>
            <p:nvPr>
              <p:custDataLst>
                <p:tags r:id="rId6"/>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23" name="文本框 18"/>
            <p:cNvSpPr txBox="1">
              <a:spLocks noChangeArrowheads="1"/>
            </p:cNvSpPr>
            <p:nvPr>
              <p:custDataLst>
                <p:tags r:id="rId7"/>
              </p:custDataLst>
            </p:nvPr>
          </p:nvSpPr>
          <p:spPr bwMode="auto">
            <a:xfrm>
              <a:off x="2719" y="3610"/>
              <a:ext cx="374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zh-CN" altLang="en-US" sz="1800" b="1" dirty="0">
                  <a:latin typeface="+mj-lt"/>
                  <a:ea typeface="+mj-ea"/>
                  <a:cs typeface="+mj-cs"/>
                </a:rPr>
                <a:t>逻辑</a:t>
              </a:r>
            </a:p>
          </p:txBody>
        </p:sp>
        <p:sp>
          <p:nvSpPr>
            <p:cNvPr id="24" name="文本框 20"/>
            <p:cNvSpPr txBox="1"/>
            <p:nvPr>
              <p:custDataLst>
                <p:tags r:id="rId8"/>
              </p:custDataLst>
            </p:nvPr>
          </p:nvSpPr>
          <p:spPr>
            <a:xfrm>
              <a:off x="2735" y="4236"/>
              <a:ext cx="6567" cy="1372"/>
            </a:xfrm>
            <a:prstGeom prst="rect">
              <a:avLst/>
            </a:prstGeom>
          </p:spPr>
          <p:txBody>
            <a:bodyPr lIns="90000" tIns="46800" rIns="90000" bIns="46800">
              <a:normAutofit/>
            </a:bodyPr>
            <a:lstStyle>
              <a:defPPr>
                <a:defRPr lang="zh-CN"/>
              </a:defPPr>
              <a:lvl1pPr>
                <a:spcBef>
                  <a:spcPts val="0"/>
                </a:spcBef>
                <a:spcAft>
                  <a:spcPts val="0"/>
                </a:spcAft>
                <a:defRPr sz="1800"/>
              </a:lvl1pPr>
            </a:lstStyle>
            <a:p>
              <a:r>
                <a:rPr lang="zh-CN" altLang="en-US" dirty="0"/>
                <a:t>模块内部如何实现功能及所需要的数据。</a:t>
              </a:r>
            </a:p>
          </p:txBody>
        </p:sp>
      </p:grpSp>
      <p:grpSp>
        <p:nvGrpSpPr>
          <p:cNvPr id="8" name="组合 41"/>
          <p:cNvGrpSpPr/>
          <p:nvPr/>
        </p:nvGrpSpPr>
        <p:grpSpPr>
          <a:xfrm>
            <a:off x="6328468" y="4699147"/>
            <a:ext cx="5080000" cy="1268730"/>
            <a:chOff x="1302" y="3610"/>
            <a:chExt cx="8000" cy="1998"/>
          </a:xfrm>
        </p:grpSpPr>
        <p:sp>
          <p:nvSpPr>
            <p:cNvPr id="43" name="Oval 5"/>
            <p:cNvSpPr/>
            <p:nvPr>
              <p:custDataLst>
                <p:tags r:id="rId1"/>
              </p:custDataLst>
            </p:nvPr>
          </p:nvSpPr>
          <p:spPr>
            <a:xfrm>
              <a:off x="1302" y="3791"/>
              <a:ext cx="1222" cy="1220"/>
            </a:xfrm>
            <a:prstGeom prst="ellipse">
              <a:avLst/>
            </a:prstGeom>
            <a:solidFill>
              <a:schemeClr val="accent6">
                <a:lumMod val="60000"/>
                <a:lumOff val="40000"/>
              </a:schemeClr>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44" name="Freeform 7"/>
            <p:cNvSpPr>
              <a:spLocks noEditPoints="1"/>
            </p:cNvSpPr>
            <p:nvPr>
              <p:custDataLst>
                <p:tags r:id="rId2"/>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45" name="文本框 18"/>
            <p:cNvSpPr txBox="1">
              <a:spLocks noChangeArrowheads="1"/>
            </p:cNvSpPr>
            <p:nvPr>
              <p:custDataLst>
                <p:tags r:id="rId3"/>
              </p:custDataLst>
            </p:nvPr>
          </p:nvSpPr>
          <p:spPr bwMode="auto">
            <a:xfrm>
              <a:off x="2719" y="3610"/>
              <a:ext cx="374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zh-CN" altLang="en-US" sz="1800" b="1" dirty="0">
                  <a:latin typeface="+mj-lt"/>
                  <a:ea typeface="+mj-ea"/>
                  <a:cs typeface="+mj-cs"/>
                </a:rPr>
                <a:t>名称</a:t>
              </a:r>
            </a:p>
          </p:txBody>
        </p:sp>
        <p:sp>
          <p:nvSpPr>
            <p:cNvPr id="46" name="文本框 20"/>
            <p:cNvSpPr txBox="1"/>
            <p:nvPr>
              <p:custDataLst>
                <p:tags r:id="rId4"/>
              </p:custDataLst>
            </p:nvPr>
          </p:nvSpPr>
          <p:spPr>
            <a:xfrm>
              <a:off x="2735" y="4236"/>
              <a:ext cx="6567" cy="1372"/>
            </a:xfrm>
            <a:prstGeom prst="rect">
              <a:avLst/>
            </a:prstGeom>
          </p:spPr>
          <p:txBody>
            <a:bodyPr lIns="90000" tIns="46800" rIns="90000" bIns="46800">
              <a:normAutofit/>
            </a:bodyPr>
            <a:lstStyle>
              <a:defPPr>
                <a:defRPr lang="zh-CN"/>
              </a:defPPr>
              <a:lvl1pPr>
                <a:spcBef>
                  <a:spcPts val="0"/>
                </a:spcBef>
                <a:spcAft>
                  <a:spcPts val="0"/>
                </a:spcAft>
                <a:defRPr sz="1800"/>
              </a:lvl1pPr>
            </a:lstStyle>
            <a:p>
              <a:r>
                <a:rPr lang="zh-CN" altLang="en-US" dirty="0"/>
                <a:t>模块的调用与被调用关系。</a:t>
              </a:r>
            </a:p>
          </p:txBody>
        </p:sp>
      </p:grpSp>
      <p:grpSp>
        <p:nvGrpSpPr>
          <p:cNvPr id="9" name="组合 6"/>
          <p:cNvGrpSpPr/>
          <p:nvPr/>
        </p:nvGrpSpPr>
        <p:grpSpPr>
          <a:xfrm>
            <a:off x="809625" y="2145646"/>
            <a:ext cx="3141345" cy="590550"/>
            <a:chOff x="508000" y="3196191"/>
            <a:chExt cx="3141314" cy="590550"/>
          </a:xfrm>
        </p:grpSpPr>
        <p:sp>
          <p:nvSpPr>
            <p:cNvPr id="48" name="TextBox 1"/>
            <p:cNvSpPr txBox="1">
              <a:spLocks noChangeArrowheads="1"/>
            </p:cNvSpPr>
            <p:nvPr/>
          </p:nvSpPr>
          <p:spPr bwMode="auto">
            <a:xfrm>
              <a:off x="508000" y="3196191"/>
              <a:ext cx="31813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49" name="直接连接符 4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50" name="矩形 7"/>
            <p:cNvSpPr>
              <a:spLocks noChangeArrowheads="1"/>
            </p:cNvSpPr>
            <p:nvPr/>
          </p:nvSpPr>
          <p:spPr bwMode="auto">
            <a:xfrm>
              <a:off x="960437" y="3291441"/>
              <a:ext cx="268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模块</a:t>
              </a:r>
            </a:p>
          </p:txBody>
        </p:sp>
      </p:grpSp>
    </p:spTree>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endParaRPr lang="zh-CN" altLang="en-US" dirty="0"/>
          </a:p>
        </p:txBody>
      </p:sp>
      <p:sp>
        <p:nvSpPr>
          <p:cNvPr id="4"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3.2.1 </a:t>
            </a:r>
            <a:r>
              <a:rPr lang="zh-CN" altLang="en-US" sz="2400" dirty="0">
                <a:solidFill>
                  <a:schemeClr val="tx1"/>
                </a:solidFill>
              </a:rPr>
              <a:t>软件结构设计的基本原理</a:t>
            </a:r>
          </a:p>
        </p:txBody>
      </p:sp>
      <p:grpSp>
        <p:nvGrpSpPr>
          <p:cNvPr id="5" name="组合 6"/>
          <p:cNvGrpSpPr/>
          <p:nvPr/>
        </p:nvGrpSpPr>
        <p:grpSpPr>
          <a:xfrm>
            <a:off x="809625" y="2145646"/>
            <a:ext cx="3141345" cy="590550"/>
            <a:chOff x="508000" y="3196191"/>
            <a:chExt cx="3141314" cy="590550"/>
          </a:xfrm>
        </p:grpSpPr>
        <p:sp>
          <p:nvSpPr>
            <p:cNvPr id="6"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2</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7" name="直接连接符 6"/>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960437" y="3291441"/>
              <a:ext cx="268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抽象和逐步求精</a:t>
              </a:r>
            </a:p>
          </p:txBody>
        </p:sp>
      </p:grpSp>
      <p:sp>
        <p:nvSpPr>
          <p:cNvPr id="9" name="MH_SubTitle_4"/>
          <p:cNvSpPr txBox="1"/>
          <p:nvPr>
            <p:custDataLst>
              <p:tags r:id="rId1"/>
            </p:custDataLst>
          </p:nvPr>
        </p:nvSpPr>
        <p:spPr bwMode="auto">
          <a:xfrm>
            <a:off x="659121" y="2774983"/>
            <a:ext cx="10764055" cy="2629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indent="457200"/>
            <a:r>
              <a:rPr lang="zh-CN" altLang="en-US" dirty="0">
                <a:latin typeface="Times New Roman" panose="02020603050405020304" pitchFamily="18" charset="0"/>
              </a:rPr>
              <a:t>抽象是人们认识复杂事物过程中经常使用的思维方式，先抽出事物本质的共同特性，而暂时不考虑它的细节，不考虑其他因素。</a:t>
            </a:r>
          </a:p>
          <a:p>
            <a:pPr indent="457200"/>
            <a:r>
              <a:rPr lang="zh-CN" altLang="en-US" dirty="0">
                <a:latin typeface="Times New Roman" panose="02020603050405020304" pitchFamily="18" charset="0"/>
              </a:rPr>
              <a:t>逐步求精就是先抓住并解决主要问题，然后分阶段逐步深入考虑问题的细节。</a:t>
            </a:r>
          </a:p>
          <a:p>
            <a:pPr indent="457200"/>
            <a:r>
              <a:rPr lang="zh-CN" altLang="en-US" dirty="0">
                <a:latin typeface="Times New Roman" panose="02020603050405020304" pitchFamily="18" charset="0"/>
              </a:rPr>
              <a:t>人们在认识事物的过程中，普遍遵守</a:t>
            </a:r>
            <a:r>
              <a:rPr lang="en-US" dirty="0">
                <a:latin typeface="Times New Roman" panose="02020603050405020304" pitchFamily="18" charset="0"/>
              </a:rPr>
              <a:t>Miller</a:t>
            </a:r>
            <a:r>
              <a:rPr lang="zh-CN" altLang="en-US" dirty="0">
                <a:latin typeface="Times New Roman" panose="02020603050405020304" pitchFamily="18" charset="0"/>
              </a:rPr>
              <a:t>法则：一个人在任何时候都只能把注意力集中在（</a:t>
            </a:r>
            <a:r>
              <a:rPr lang="en-US" dirty="0">
                <a:latin typeface="Times New Roman" panose="02020603050405020304" pitchFamily="18" charset="0"/>
              </a:rPr>
              <a:t>7</a:t>
            </a:r>
            <a:r>
              <a:rPr lang="en-US" altLang="zh-CN" dirty="0">
                <a:latin typeface="Times New Roman" panose="02020603050405020304" pitchFamily="18" charset="0"/>
              </a:rPr>
              <a:t>±</a:t>
            </a:r>
            <a:r>
              <a:rPr lang="en-US" dirty="0">
                <a:latin typeface="Times New Roman" panose="02020603050405020304" pitchFamily="18" charset="0"/>
              </a:rPr>
              <a:t>2</a:t>
            </a:r>
            <a:r>
              <a:rPr lang="zh-CN" altLang="en-US" dirty="0">
                <a:latin typeface="Times New Roman" panose="02020603050405020304" pitchFamily="18" charset="0"/>
              </a:rPr>
              <a:t>）个知识点上。软件设计时要考虑的问题通常不止</a:t>
            </a:r>
            <a:r>
              <a:rPr lang="en-US" dirty="0">
                <a:latin typeface="Times New Roman" panose="02020603050405020304" pitchFamily="18" charset="0"/>
              </a:rPr>
              <a:t>7</a:t>
            </a:r>
            <a:r>
              <a:rPr lang="zh-CN" altLang="en-US" dirty="0">
                <a:latin typeface="Times New Roman" panose="02020603050405020304" pitchFamily="18" charset="0"/>
              </a:rPr>
              <a:t>个，因而不可能一下子解决所有问题，要先解决最主要的</a:t>
            </a:r>
            <a:r>
              <a:rPr lang="en-US" dirty="0">
                <a:latin typeface="Times New Roman" panose="02020603050405020304" pitchFamily="18" charset="0"/>
              </a:rPr>
              <a:t>7</a:t>
            </a:r>
            <a:r>
              <a:rPr lang="zh-CN" altLang="en-US" dirty="0">
                <a:latin typeface="Times New Roman" panose="02020603050405020304" pitchFamily="18" charset="0"/>
              </a:rPr>
              <a:t>个问题，再解决其他问题。因此，应当先考虑整体解决方案，以后再逐步深入地考虑细节问题。</a:t>
            </a:r>
          </a:p>
          <a:p>
            <a:pPr indent="457200"/>
            <a:r>
              <a:rPr lang="zh-CN" altLang="en-US" dirty="0">
                <a:latin typeface="Times New Roman" panose="02020603050405020304" pitchFamily="18" charset="0"/>
              </a:rPr>
              <a:t>软件工程实施过程中，首先用抽象概念来理解和构造一个复杂系统，此后的每一步都可以看做是对软件抽象层次的一次细化。在软件需求分析阶段，要采取逐步求精的方法，在软件系统结构设计时，同样要采取逐步求精的方法。软件结构顶层的模块控制了系统的主要功能，然后逐步求精，逐步揭示各模块的细节，软件结构底层的模块完成对数据的一个具体处理。</a:t>
            </a:r>
          </a:p>
          <a:p>
            <a:pPr indent="457200"/>
            <a:r>
              <a:rPr lang="zh-CN" altLang="en-US" dirty="0">
                <a:latin typeface="Times New Roman" panose="02020603050405020304" pitchFamily="18" charset="0"/>
              </a:rPr>
              <a:t>软件开发过程的每一阶段都在采用逐步求精方法，用自顶向下、由抽象到具体的逐步求精方法，进行软件的设计和实现。</a:t>
            </a:r>
          </a:p>
          <a:p>
            <a:pPr indent="457200"/>
            <a:endParaRPr lang="zh-CN" altLang="en-US" dirty="0">
              <a:latin typeface="Times New Roman" panose="02020603050405020304" pitchFamily="18" charset="0"/>
            </a:endParaRPr>
          </a:p>
          <a:p>
            <a:pPr indent="457200">
              <a:lnSpc>
                <a:spcPct val="120000"/>
              </a:lnSpc>
            </a:pPr>
            <a:endParaRPr lang="zh-CN" altLang="en-US" dirty="0">
              <a:latin typeface="Times New Roman" panose="02020603050405020304" pitchFamily="18" charset="0"/>
            </a:endParaRPr>
          </a:p>
          <a:p>
            <a:pPr indent="457200" fontAlgn="auto">
              <a:lnSpc>
                <a:spcPct val="120000"/>
              </a:lnSpc>
            </a:pPr>
            <a:endParaRPr lang="zh-CN" altLang="en-US" dirty="0">
              <a:latin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endParaRPr lang="zh-CN" altLang="en-US" dirty="0"/>
          </a:p>
        </p:txBody>
      </p:sp>
      <p:sp>
        <p:nvSpPr>
          <p:cNvPr id="10"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3.2.1 </a:t>
            </a:r>
            <a:r>
              <a:rPr lang="zh-CN" altLang="en-US" sz="2400" dirty="0">
                <a:solidFill>
                  <a:schemeClr val="tx1"/>
                </a:solidFill>
              </a:rPr>
              <a:t>软件结构设计的基本原理</a:t>
            </a:r>
          </a:p>
        </p:txBody>
      </p:sp>
      <p:grpSp>
        <p:nvGrpSpPr>
          <p:cNvPr id="11" name="组合 6"/>
          <p:cNvGrpSpPr/>
          <p:nvPr/>
        </p:nvGrpSpPr>
        <p:grpSpPr>
          <a:xfrm>
            <a:off x="809625" y="2145646"/>
            <a:ext cx="3141345" cy="590550"/>
            <a:chOff x="508000" y="3196191"/>
            <a:chExt cx="3141314" cy="590550"/>
          </a:xfrm>
        </p:grpSpPr>
        <p:sp>
          <p:nvSpPr>
            <p:cNvPr id="12" name="TextBox 1"/>
            <p:cNvSpPr txBox="1">
              <a:spLocks noChangeArrowheads="1"/>
            </p:cNvSpPr>
            <p:nvPr/>
          </p:nvSpPr>
          <p:spPr bwMode="auto">
            <a:xfrm>
              <a:off x="508000" y="3196191"/>
              <a:ext cx="3754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3</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13" name="直接连接符 12"/>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4" name="矩形 13"/>
            <p:cNvSpPr>
              <a:spLocks noChangeArrowheads="1"/>
            </p:cNvSpPr>
            <p:nvPr/>
          </p:nvSpPr>
          <p:spPr bwMode="auto">
            <a:xfrm>
              <a:off x="960437" y="3291441"/>
              <a:ext cx="268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信息隐蔽和局部化</a:t>
              </a:r>
            </a:p>
          </p:txBody>
        </p:sp>
      </p:grpSp>
      <p:sp>
        <p:nvSpPr>
          <p:cNvPr id="16" name="MH_Desc_1"/>
          <p:cNvSpPr>
            <a:spLocks noChangeArrowheads="1"/>
          </p:cNvSpPr>
          <p:nvPr>
            <p:custDataLst>
              <p:tags r:id="rId1"/>
            </p:custDataLst>
          </p:nvPr>
        </p:nvSpPr>
        <p:spPr bwMode="auto">
          <a:xfrm>
            <a:off x="838200" y="2660403"/>
            <a:ext cx="10515600" cy="464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r>
              <a:rPr lang="en-US" sz="2000" dirty="0" err="1">
                <a:latin typeface="Times New Roman" panose="02020603050405020304" pitchFamily="18" charset="0"/>
              </a:rPr>
              <a:t>Parnas</a:t>
            </a:r>
            <a:r>
              <a:rPr lang="zh-CN" altLang="en-US" sz="2000" dirty="0">
                <a:latin typeface="Times New Roman" panose="02020603050405020304" pitchFamily="18" charset="0"/>
              </a:rPr>
              <a:t>提出在模块划分时的信息隐蔽和局部化原则。</a:t>
            </a:r>
          </a:p>
        </p:txBody>
      </p:sp>
      <p:sp>
        <p:nvSpPr>
          <p:cNvPr id="17" name="MH_Title_1"/>
          <p:cNvSpPr/>
          <p:nvPr>
            <p:custDataLst>
              <p:tags r:id="rId2"/>
            </p:custDataLst>
          </p:nvPr>
        </p:nvSpPr>
        <p:spPr>
          <a:xfrm>
            <a:off x="932407" y="3337873"/>
            <a:ext cx="3344333" cy="2508250"/>
          </a:xfrm>
          <a:prstGeom prst="ellipse">
            <a:avLst/>
          </a:prstGeom>
          <a:solidFill>
            <a:srgbClr val="45C1A4"/>
          </a:solidFill>
          <a:ln w="57150" cap="flat" cmpd="sng" algn="ctr">
            <a:solidFill>
              <a:srgbClr val="45C1A4"/>
            </a:solidFill>
            <a:prstDash val="sysDot"/>
            <a:miter lim="800000"/>
          </a:ln>
          <a:effectLst/>
        </p:spPr>
        <p:txBody>
          <a:bodyPr lIns="0" tIns="0" rIns="0" bIns="0" anchor="ctr">
            <a:normAutofit/>
          </a:bodyPr>
          <a:lstStyle/>
          <a:p>
            <a:pPr>
              <a:defRPr/>
            </a:pPr>
            <a:r>
              <a:rPr lang="zh-CN" altLang="en-US" sz="2000" b="1" dirty="0">
                <a:solidFill>
                  <a:schemeClr val="bg1"/>
                </a:solidFill>
                <a:latin typeface="微软雅黑" panose="020B0503020204020204" charset="-122"/>
                <a:ea typeface="微软雅黑" panose="020B0503020204020204" charset="-122"/>
              </a:rPr>
              <a:t>信息隐蔽和局部化</a:t>
            </a:r>
            <a:endParaRPr lang="zh-CN" altLang="en-US" sz="2000" kern="0" dirty="0">
              <a:solidFill>
                <a:schemeClr val="bg1"/>
              </a:solidFill>
              <a:latin typeface="微软雅黑" panose="020B0503020204020204" pitchFamily="34" charset="-122"/>
            </a:endParaRPr>
          </a:p>
        </p:txBody>
      </p:sp>
      <p:sp>
        <p:nvSpPr>
          <p:cNvPr id="18" name="MH_Other_1"/>
          <p:cNvSpPr/>
          <p:nvPr>
            <p:custDataLst>
              <p:tags r:id="rId3"/>
            </p:custDataLst>
          </p:nvPr>
        </p:nvSpPr>
        <p:spPr>
          <a:xfrm>
            <a:off x="3391974" y="5176199"/>
            <a:ext cx="884767" cy="669925"/>
          </a:xfrm>
          <a:prstGeom prst="ellipse">
            <a:avLst/>
          </a:prstGeom>
          <a:solidFill>
            <a:srgbClr val="ADCF1F">
              <a:alpha val="64706"/>
            </a:srgbClr>
          </a:solidFill>
          <a:ln w="12700" cap="flat" cmpd="sng" algn="ctr">
            <a:noFill/>
            <a:prstDash val="solid"/>
            <a:miter lim="800000"/>
          </a:ln>
          <a:effectLst/>
        </p:spPr>
        <p:txBody>
          <a:bodyPr anchor="ctr"/>
          <a:lstStyle/>
          <a:p>
            <a:pPr algn="ctr" eaLnBrk="1" fontAlgn="auto" hangingPunct="1">
              <a:spcBef>
                <a:spcPts val="0"/>
              </a:spcBef>
              <a:spcAft>
                <a:spcPts val="0"/>
              </a:spcAft>
              <a:defRPr/>
            </a:pPr>
            <a:r>
              <a:rPr lang="en-US" altLang="zh-CN" sz="4400" kern="0" dirty="0">
                <a:solidFill>
                  <a:prstClr val="white"/>
                </a:solidFill>
                <a:latin typeface="Times New Roman" panose="02020603050405020304" pitchFamily="18" charset="0"/>
                <a:ea typeface="宋体" panose="02010600030101010101" pitchFamily="2" charset="-122"/>
              </a:rPr>
              <a:t>B</a:t>
            </a:r>
            <a:endParaRPr lang="zh-CN" altLang="en-US" sz="4400" kern="0" dirty="0">
              <a:solidFill>
                <a:prstClr val="white"/>
              </a:solidFill>
              <a:latin typeface="Times New Roman" panose="02020603050405020304" pitchFamily="18" charset="0"/>
              <a:ea typeface="宋体" panose="02010600030101010101" pitchFamily="2" charset="-122"/>
            </a:endParaRPr>
          </a:p>
        </p:txBody>
      </p:sp>
      <p:sp>
        <p:nvSpPr>
          <p:cNvPr id="19" name="MH_Other_2"/>
          <p:cNvSpPr/>
          <p:nvPr>
            <p:custDataLst>
              <p:tags r:id="rId4"/>
            </p:custDataLst>
          </p:nvPr>
        </p:nvSpPr>
        <p:spPr>
          <a:xfrm>
            <a:off x="3184541" y="3329936"/>
            <a:ext cx="1485900" cy="1117600"/>
          </a:xfrm>
          <a:prstGeom prst="ellipse">
            <a:avLst/>
          </a:prstGeom>
          <a:solidFill>
            <a:srgbClr val="875896">
              <a:alpha val="65000"/>
            </a:srgbClr>
          </a:solidFill>
          <a:ln w="12700" cap="flat" cmpd="sng" algn="ctr">
            <a:noFill/>
            <a:prstDash val="solid"/>
            <a:miter lim="800000"/>
          </a:ln>
          <a:effectLst/>
        </p:spPr>
        <p:txBody>
          <a:bodyPr anchor="ctr"/>
          <a:lstStyle/>
          <a:p>
            <a:pPr algn="ctr" eaLnBrk="1" fontAlgn="auto" hangingPunct="1">
              <a:spcBef>
                <a:spcPts val="0"/>
              </a:spcBef>
              <a:spcAft>
                <a:spcPts val="0"/>
              </a:spcAft>
              <a:defRPr/>
            </a:pPr>
            <a:r>
              <a:rPr lang="en-US" altLang="zh-CN" sz="4400" kern="0" dirty="0">
                <a:solidFill>
                  <a:prstClr val="white"/>
                </a:solidFill>
                <a:latin typeface="Times New Roman" panose="02020603050405020304" pitchFamily="18" charset="0"/>
                <a:ea typeface="宋体" panose="02010600030101010101" pitchFamily="2" charset="-122"/>
              </a:rPr>
              <a:t>A</a:t>
            </a:r>
            <a:endParaRPr lang="zh-CN" altLang="en-US" sz="4400" kern="0" dirty="0">
              <a:solidFill>
                <a:prstClr val="white"/>
              </a:solidFill>
              <a:latin typeface="Times New Roman" panose="02020603050405020304" pitchFamily="18" charset="0"/>
              <a:ea typeface="宋体" panose="02010600030101010101" pitchFamily="2" charset="-122"/>
            </a:endParaRPr>
          </a:p>
        </p:txBody>
      </p:sp>
      <p:sp>
        <p:nvSpPr>
          <p:cNvPr id="20" name="MH_SubTitle_1"/>
          <p:cNvSpPr txBox="1">
            <a:spLocks noChangeArrowheads="1"/>
          </p:cNvSpPr>
          <p:nvPr>
            <p:custDataLst>
              <p:tags r:id="rId5"/>
            </p:custDataLst>
          </p:nvPr>
        </p:nvSpPr>
        <p:spPr bwMode="auto">
          <a:xfrm>
            <a:off x="4722123" y="3174052"/>
            <a:ext cx="6864823" cy="1837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r>
              <a:rPr lang="zh-CN" altLang="en-US" sz="1800" dirty="0">
                <a:latin typeface="Times New Roman" panose="02020603050405020304" pitchFamily="18" charset="0"/>
              </a:rPr>
              <a:t>所谓信息隐蔽，是指在设计和确定模块时，使得一个模块内所包含的信息（过程或数据）对于不需要这些信息的其他模块来说，是不能访问的。在定义和实现模块时，通过信息隐蔽，对模块的过程细节和局部数据结构进行存取限制。这里“隐蔽”的不是模块的一切信息，而是模块的实现细节。有效的模块化通过一组相互独立的模块来实现，这些独立的模块彼此之间仅仅交换为完成系统功能所必需的信息，而将自身的实现细节与数据“隐藏”起来。</a:t>
            </a:r>
          </a:p>
        </p:txBody>
      </p:sp>
      <p:sp>
        <p:nvSpPr>
          <p:cNvPr id="21" name="MH_SubTitle_2"/>
          <p:cNvSpPr txBox="1">
            <a:spLocks noChangeArrowheads="1"/>
          </p:cNvSpPr>
          <p:nvPr>
            <p:custDataLst>
              <p:tags r:id="rId6"/>
            </p:custDataLst>
          </p:nvPr>
        </p:nvSpPr>
        <p:spPr bwMode="auto">
          <a:xfrm>
            <a:off x="4831307" y="5290739"/>
            <a:ext cx="6864823"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r>
              <a:rPr lang="zh-CN" altLang="en-US" sz="1800" dirty="0">
                <a:latin typeface="Times New Roman" panose="02020603050405020304" pitchFamily="18" charset="0"/>
              </a:rPr>
              <a:t>所谓局部化，就是把关系密切的软件元素放在一起。局部化有利于信息隐蔽。</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endParaRPr lang="zh-CN" altLang="en-US" dirty="0"/>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3.2.2 </a:t>
            </a:r>
            <a:r>
              <a:rPr lang="zh-CN" altLang="en-US" sz="2400" dirty="0">
                <a:solidFill>
                  <a:schemeClr val="tx1"/>
                </a:solidFill>
              </a:rPr>
              <a:t>模块化</a:t>
            </a:r>
          </a:p>
        </p:txBody>
      </p:sp>
      <p:grpSp>
        <p:nvGrpSpPr>
          <p:cNvPr id="3" name="组合 78"/>
          <p:cNvGrpSpPr/>
          <p:nvPr/>
        </p:nvGrpSpPr>
        <p:grpSpPr>
          <a:xfrm>
            <a:off x="4158369" y="1928195"/>
            <a:ext cx="7371716" cy="4149725"/>
            <a:chOff x="6007" y="2932"/>
            <a:chExt cx="11609" cy="6535"/>
          </a:xfrm>
        </p:grpSpPr>
        <p:sp>
          <p:nvSpPr>
            <p:cNvPr id="36" name="任意多边形 35"/>
            <p:cNvSpPr/>
            <p:nvPr/>
          </p:nvSpPr>
          <p:spPr>
            <a:xfrm rot="10800000">
              <a:off x="14158" y="2932"/>
              <a:ext cx="3458" cy="6535"/>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9485" name="文本框 47"/>
            <p:cNvSpPr txBox="1"/>
            <p:nvPr/>
          </p:nvSpPr>
          <p:spPr>
            <a:xfrm>
              <a:off x="14669" y="8142"/>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4</a:t>
              </a:r>
              <a:endParaRPr lang="zh-CN" altLang="en-US" sz="2400" b="1" dirty="0">
                <a:solidFill>
                  <a:schemeClr val="bg1"/>
                </a:solidFill>
                <a:latin typeface="微软雅黑" panose="020B0503020204020204" charset="-122"/>
                <a:ea typeface="微软雅黑" panose="020B0503020204020204" charset="-122"/>
              </a:endParaRPr>
            </a:p>
          </p:txBody>
        </p:sp>
        <p:sp>
          <p:nvSpPr>
            <p:cNvPr id="57" name="圆角矩形 56"/>
            <p:cNvSpPr/>
            <p:nvPr/>
          </p:nvSpPr>
          <p:spPr>
            <a:xfrm rot="10800000">
              <a:off x="6017" y="8138"/>
              <a:ext cx="8817"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8" name="椭圆 57"/>
            <p:cNvSpPr/>
            <p:nvPr/>
          </p:nvSpPr>
          <p:spPr>
            <a:xfrm rot="10800000">
              <a:off x="13908" y="8069"/>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9" name="圆角矩形 58"/>
            <p:cNvSpPr/>
            <p:nvPr/>
          </p:nvSpPr>
          <p:spPr>
            <a:xfrm rot="10800000">
              <a:off x="6032" y="6972"/>
              <a:ext cx="9774"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0" name="椭圆 59"/>
            <p:cNvSpPr/>
            <p:nvPr/>
          </p:nvSpPr>
          <p:spPr>
            <a:xfrm rot="10800000">
              <a:off x="14900" y="6904"/>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1" name="圆角矩形 60"/>
            <p:cNvSpPr/>
            <p:nvPr/>
          </p:nvSpPr>
          <p:spPr>
            <a:xfrm rot="10800000">
              <a:off x="6031" y="5814"/>
              <a:ext cx="10010"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2" name="圆角矩形 61"/>
            <p:cNvSpPr/>
            <p:nvPr/>
          </p:nvSpPr>
          <p:spPr>
            <a:xfrm rot="10800000">
              <a:off x="6031" y="4606"/>
              <a:ext cx="9821"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3" name="椭圆 62"/>
            <p:cNvSpPr/>
            <p:nvPr/>
          </p:nvSpPr>
          <p:spPr>
            <a:xfrm rot="10800000">
              <a:off x="14964" y="4533"/>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4" name="圆角矩形 63"/>
            <p:cNvSpPr/>
            <p:nvPr/>
          </p:nvSpPr>
          <p:spPr>
            <a:xfrm rot="10800000">
              <a:off x="6007" y="3441"/>
              <a:ext cx="8861"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5" name="椭圆 64"/>
            <p:cNvSpPr/>
            <p:nvPr/>
          </p:nvSpPr>
          <p:spPr>
            <a:xfrm rot="10800000">
              <a:off x="13940" y="3371"/>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6" name="文本框 44"/>
            <p:cNvSpPr txBox="1"/>
            <p:nvPr/>
          </p:nvSpPr>
          <p:spPr>
            <a:xfrm>
              <a:off x="14130" y="3489"/>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1</a:t>
              </a:r>
              <a:endParaRPr lang="zh-CN" altLang="en-US" sz="2400" b="1" dirty="0">
                <a:solidFill>
                  <a:schemeClr val="bg1"/>
                </a:solidFill>
                <a:latin typeface="微软雅黑" panose="020B0503020204020204" charset="-122"/>
                <a:ea typeface="微软雅黑" panose="020B0503020204020204" charset="-122"/>
              </a:endParaRPr>
            </a:p>
          </p:txBody>
        </p:sp>
        <p:sp>
          <p:nvSpPr>
            <p:cNvPr id="67" name="文本框 45"/>
            <p:cNvSpPr txBox="1"/>
            <p:nvPr/>
          </p:nvSpPr>
          <p:spPr>
            <a:xfrm>
              <a:off x="15090" y="4631"/>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2</a:t>
              </a:r>
              <a:endParaRPr lang="zh-CN" altLang="en-US" sz="2400" b="1" dirty="0">
                <a:solidFill>
                  <a:schemeClr val="bg1"/>
                </a:solidFill>
                <a:latin typeface="微软雅黑" panose="020B0503020204020204" charset="-122"/>
                <a:ea typeface="微软雅黑" panose="020B0503020204020204" charset="-122"/>
              </a:endParaRPr>
            </a:p>
          </p:txBody>
        </p:sp>
        <p:sp>
          <p:nvSpPr>
            <p:cNvPr id="68" name="文本框 46"/>
            <p:cNvSpPr txBox="1"/>
            <p:nvPr/>
          </p:nvSpPr>
          <p:spPr>
            <a:xfrm>
              <a:off x="15318" y="5889"/>
              <a:ext cx="487"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sp>
          <p:nvSpPr>
            <p:cNvPr id="69" name="文本框 47"/>
            <p:cNvSpPr txBox="1"/>
            <p:nvPr/>
          </p:nvSpPr>
          <p:spPr>
            <a:xfrm>
              <a:off x="15090" y="7059"/>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4</a:t>
              </a:r>
              <a:endParaRPr lang="zh-CN" altLang="en-US" sz="2400" b="1" dirty="0">
                <a:solidFill>
                  <a:schemeClr val="bg1"/>
                </a:solidFill>
                <a:latin typeface="微软雅黑" panose="020B0503020204020204" charset="-122"/>
                <a:ea typeface="微软雅黑" panose="020B0503020204020204" charset="-122"/>
              </a:endParaRPr>
            </a:p>
          </p:txBody>
        </p:sp>
        <p:sp>
          <p:nvSpPr>
            <p:cNvPr id="70" name="文本框 48"/>
            <p:cNvSpPr txBox="1"/>
            <p:nvPr/>
          </p:nvSpPr>
          <p:spPr>
            <a:xfrm>
              <a:off x="14108" y="8224"/>
              <a:ext cx="487"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5</a:t>
              </a:r>
              <a:endParaRPr lang="zh-CN" altLang="en-US" sz="2400" b="1" dirty="0">
                <a:solidFill>
                  <a:schemeClr val="bg1"/>
                </a:solidFill>
                <a:latin typeface="微软雅黑" panose="020B0503020204020204" charset="-122"/>
                <a:ea typeface="微软雅黑" panose="020B0503020204020204" charset="-122"/>
              </a:endParaRPr>
            </a:p>
          </p:txBody>
        </p:sp>
        <p:sp>
          <p:nvSpPr>
            <p:cNvPr id="71" name="文本框 59"/>
            <p:cNvSpPr txBox="1"/>
            <p:nvPr/>
          </p:nvSpPr>
          <p:spPr>
            <a:xfrm>
              <a:off x="6688" y="3548"/>
              <a:ext cx="6842"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减少复杂性</a:t>
              </a:r>
            </a:p>
          </p:txBody>
        </p:sp>
        <p:sp>
          <p:nvSpPr>
            <p:cNvPr id="72" name="文本框 60"/>
            <p:cNvSpPr txBox="1"/>
            <p:nvPr/>
          </p:nvSpPr>
          <p:spPr>
            <a:xfrm>
              <a:off x="6688" y="4708"/>
              <a:ext cx="7041"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提高软件的可靠性</a:t>
              </a:r>
            </a:p>
          </p:txBody>
        </p:sp>
        <p:sp>
          <p:nvSpPr>
            <p:cNvPr id="73" name="文本框 61"/>
            <p:cNvSpPr txBox="1"/>
            <p:nvPr/>
          </p:nvSpPr>
          <p:spPr>
            <a:xfrm>
              <a:off x="6688" y="6031"/>
              <a:ext cx="5886"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提高软件的可维护性</a:t>
              </a:r>
            </a:p>
          </p:txBody>
        </p:sp>
        <p:sp>
          <p:nvSpPr>
            <p:cNvPr id="74" name="文本框 62"/>
            <p:cNvSpPr txBox="1"/>
            <p:nvPr/>
          </p:nvSpPr>
          <p:spPr>
            <a:xfrm>
              <a:off x="6688" y="7059"/>
              <a:ext cx="4766"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有助于软件工程的组织管理</a:t>
              </a:r>
            </a:p>
          </p:txBody>
        </p:sp>
        <p:sp>
          <p:nvSpPr>
            <p:cNvPr id="75" name="文本框 63"/>
            <p:cNvSpPr txBox="1"/>
            <p:nvPr/>
          </p:nvSpPr>
          <p:spPr>
            <a:xfrm>
              <a:off x="6688" y="8224"/>
              <a:ext cx="6371"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有助于信息屏蔽</a:t>
              </a:r>
            </a:p>
          </p:txBody>
        </p:sp>
        <p:sp>
          <p:nvSpPr>
            <p:cNvPr id="76" name="椭圆 75"/>
            <p:cNvSpPr/>
            <p:nvPr/>
          </p:nvSpPr>
          <p:spPr>
            <a:xfrm rot="10800000">
              <a:off x="15145" y="5779"/>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7" name="文本框 46"/>
            <p:cNvSpPr txBox="1"/>
            <p:nvPr/>
          </p:nvSpPr>
          <p:spPr>
            <a:xfrm>
              <a:off x="15318" y="5814"/>
              <a:ext cx="837"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grpSp>
      <p:sp>
        <p:nvSpPr>
          <p:cNvPr id="28" name="MH_SubTitle_1"/>
          <p:cNvSpPr txBox="1">
            <a:spLocks noChangeArrowheads="1"/>
          </p:cNvSpPr>
          <p:nvPr>
            <p:custDataLst>
              <p:tags r:id="rId1"/>
            </p:custDataLst>
          </p:nvPr>
        </p:nvSpPr>
        <p:spPr bwMode="auto">
          <a:xfrm>
            <a:off x="873451" y="2696377"/>
            <a:ext cx="2661313"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r>
              <a:rPr lang="zh-CN" altLang="en-US" sz="2000" dirty="0">
                <a:latin typeface="Times New Roman" panose="02020603050405020304" pitchFamily="18" charset="0"/>
              </a:rPr>
              <a:t>模块化（</a:t>
            </a:r>
            <a:r>
              <a:rPr lang="en-US" sz="2000" dirty="0">
                <a:latin typeface="Times New Roman" panose="02020603050405020304" pitchFamily="18" charset="0"/>
              </a:rPr>
              <a:t>Modularization</a:t>
            </a:r>
            <a:r>
              <a:rPr lang="zh-CN" altLang="en-US" sz="2000" dirty="0">
                <a:latin typeface="Times New Roman" panose="02020603050405020304" pitchFamily="18" charset="0"/>
              </a:rPr>
              <a:t>）是指把系统分割成能完成独立功能的模块，明确规定各模块及其输入输出规格，使模块的界面不会产生任何混乱。在软件工程中，模块化是大型软件设计的基本策略。</a:t>
            </a:r>
          </a:p>
        </p:txBody>
      </p:sp>
      <p:grpSp>
        <p:nvGrpSpPr>
          <p:cNvPr id="30" name="组合 6"/>
          <p:cNvGrpSpPr/>
          <p:nvPr/>
        </p:nvGrpSpPr>
        <p:grpSpPr>
          <a:xfrm>
            <a:off x="809625" y="2145646"/>
            <a:ext cx="3141345" cy="590550"/>
            <a:chOff x="508000" y="3196191"/>
            <a:chExt cx="3141314" cy="590550"/>
          </a:xfrm>
        </p:grpSpPr>
        <p:sp>
          <p:nvSpPr>
            <p:cNvPr id="31" name="TextBox 1"/>
            <p:cNvSpPr txBox="1">
              <a:spLocks noChangeArrowheads="1"/>
            </p:cNvSpPr>
            <p:nvPr/>
          </p:nvSpPr>
          <p:spPr bwMode="auto">
            <a:xfrm>
              <a:off x="508000" y="3196191"/>
              <a:ext cx="31813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32" name="直接连接符 3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3" name="矩形 7"/>
            <p:cNvSpPr>
              <a:spLocks noChangeArrowheads="1"/>
            </p:cNvSpPr>
            <p:nvPr/>
          </p:nvSpPr>
          <p:spPr bwMode="auto">
            <a:xfrm>
              <a:off x="960437" y="3291441"/>
              <a:ext cx="268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模块化可产生的效果</a:t>
              </a:r>
            </a:p>
          </p:txBody>
        </p:sp>
      </p:grpSp>
    </p:spTree>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endParaRPr lang="zh-CN" altLang="en-US" dirty="0"/>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3.2.2 </a:t>
            </a:r>
            <a:r>
              <a:rPr lang="zh-CN" altLang="en-US" sz="2400" dirty="0">
                <a:solidFill>
                  <a:schemeClr val="tx1"/>
                </a:solidFill>
              </a:rPr>
              <a:t>模块化</a:t>
            </a:r>
          </a:p>
        </p:txBody>
      </p:sp>
      <p:grpSp>
        <p:nvGrpSpPr>
          <p:cNvPr id="3" name="组合 13"/>
          <p:cNvGrpSpPr/>
          <p:nvPr/>
        </p:nvGrpSpPr>
        <p:grpSpPr>
          <a:xfrm>
            <a:off x="877210" y="2144499"/>
            <a:ext cx="9765665" cy="3822700"/>
            <a:chOff x="1188" y="3092"/>
            <a:chExt cx="15379" cy="6020"/>
          </a:xfrm>
        </p:grpSpPr>
        <p:grpSp>
          <p:nvGrpSpPr>
            <p:cNvPr id="4" name="组合 4"/>
            <p:cNvGrpSpPr/>
            <p:nvPr/>
          </p:nvGrpSpPr>
          <p:grpSpPr>
            <a:xfrm>
              <a:off x="1188" y="3092"/>
              <a:ext cx="4947" cy="930"/>
              <a:chOff x="508000" y="3196191"/>
              <a:chExt cx="3141314" cy="590550"/>
            </a:xfrm>
          </p:grpSpPr>
          <p:sp>
            <p:nvSpPr>
              <p:cNvPr id="21" name="TextBox 1"/>
              <p:cNvSpPr txBox="1">
                <a:spLocks noChangeArrowheads="1"/>
              </p:cNvSpPr>
              <p:nvPr/>
            </p:nvSpPr>
            <p:spPr bwMode="auto">
              <a:xfrm>
                <a:off x="508000" y="3196191"/>
                <a:ext cx="32091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减少复杂性</a:t>
                </a:r>
              </a:p>
            </p:txBody>
          </p:sp>
        </p:grpSp>
        <p:sp>
          <p:nvSpPr>
            <p:cNvPr id="24" name="矩形 8"/>
            <p:cNvSpPr>
              <a:spLocks noChangeArrowheads="1"/>
            </p:cNvSpPr>
            <p:nvPr/>
          </p:nvSpPr>
          <p:spPr bwMode="auto">
            <a:xfrm>
              <a:off x="1893" y="3848"/>
              <a:ext cx="14674" cy="5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1600" dirty="0">
                  <a:latin typeface="微软雅黑" panose="020B0503020204020204" charset="-122"/>
                  <a:ea typeface="微软雅黑" panose="020B0503020204020204" charset="-122"/>
                </a:rPr>
                <a:t>       对复杂问题进行分割后，每个模块的信息量小，问题简单，便于对系统进行理解和处理。</a:t>
              </a:r>
            </a:p>
            <a:p>
              <a:pPr>
                <a:lnSpc>
                  <a:spcPct val="130000"/>
                </a:lnSpc>
              </a:pPr>
              <a:r>
                <a:rPr lang="zh-CN" altLang="en-US" sz="1600" dirty="0">
                  <a:latin typeface="微软雅黑" panose="020B0503020204020204" charset="-122"/>
                  <a:ea typeface="微软雅黑" panose="020B0503020204020204" charset="-122"/>
                </a:rPr>
                <a:t>       设函数</a:t>
              </a:r>
              <a:r>
                <a:rPr lang="en-US"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定义问题</a:t>
              </a:r>
              <a:r>
                <a:rPr lang="en-US" sz="1600" dirty="0">
                  <a:latin typeface="微软雅黑" panose="020B0503020204020204" charset="-122"/>
                  <a:ea typeface="微软雅黑" panose="020B0503020204020204" charset="-122"/>
                </a:rPr>
                <a:t>x</a:t>
              </a:r>
              <a:r>
                <a:rPr lang="zh-CN" altLang="en-US" sz="1600" dirty="0">
                  <a:latin typeface="微软雅黑" panose="020B0503020204020204" charset="-122"/>
                  <a:ea typeface="微软雅黑" panose="020B0503020204020204" charset="-122"/>
                </a:rPr>
                <a:t>的复杂程度，函数    </a:t>
              </a:r>
              <a:r>
                <a:rPr lang="en-US"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确定解决问题</a:t>
              </a:r>
              <a:r>
                <a:rPr lang="en-US" sz="1600" dirty="0">
                  <a:latin typeface="微软雅黑" panose="020B0503020204020204" charset="-122"/>
                  <a:ea typeface="微软雅黑" panose="020B0503020204020204" charset="-122"/>
                </a:rPr>
                <a:t>x</a:t>
              </a:r>
              <a:r>
                <a:rPr lang="zh-CN" altLang="en-US" sz="1600" dirty="0">
                  <a:latin typeface="微软雅黑" panose="020B0503020204020204" charset="-122"/>
                  <a:ea typeface="微软雅黑" panose="020B0503020204020204" charset="-122"/>
                </a:rPr>
                <a:t>所需要的工作量（时间）。对于问题</a:t>
              </a:r>
              <a:endParaRPr lang="en-US" altLang="zh-CN" sz="1600" dirty="0">
                <a:latin typeface="微软雅黑" panose="020B0503020204020204" charset="-122"/>
                <a:ea typeface="微软雅黑" panose="020B0503020204020204" charset="-122"/>
              </a:endParaRPr>
            </a:p>
            <a:p>
              <a:pPr>
                <a:lnSpc>
                  <a:spcPct val="130000"/>
                </a:lnSpc>
              </a:pPr>
              <a:r>
                <a:rPr lang="en-US"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和 </a:t>
              </a:r>
              <a:r>
                <a:rPr lang="en-US"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，如果</a:t>
              </a:r>
              <a:r>
                <a:rPr lang="en-US"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，显然有               </a:t>
              </a:r>
              <a:r>
                <a:rPr lang="en-US"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a:t>
              </a:r>
            </a:p>
            <a:p>
              <a:pPr>
                <a:lnSpc>
                  <a:spcPct val="130000"/>
                </a:lnSpc>
              </a:pPr>
              <a:r>
                <a:rPr lang="zh-CN" altLang="en-US" sz="1600" dirty="0">
                  <a:latin typeface="微软雅黑" panose="020B0503020204020204" charset="-122"/>
                  <a:ea typeface="微软雅黑" panose="020B0503020204020204" charset="-122"/>
                </a:rPr>
                <a:t>       根据一般经验，另一个有趣的规律是  </a:t>
              </a:r>
              <a:r>
                <a:rPr lang="en-US"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，即由问题</a:t>
              </a:r>
              <a:r>
                <a:rPr lang="en-US"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和  </a:t>
              </a:r>
              <a:r>
                <a:rPr lang="en-US"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组合而成的问题的复杂程度大于分别考虑每个问题时的复杂程度之和。从而得到下面的不等式</a:t>
              </a:r>
              <a:endParaRPr lang="en-US" altLang="zh-CN" sz="1600" dirty="0">
                <a:latin typeface="微软雅黑" panose="020B0503020204020204" charset="-122"/>
                <a:ea typeface="微软雅黑" panose="020B0503020204020204" charset="-122"/>
              </a:endParaRPr>
            </a:p>
            <a:p>
              <a:pPr>
                <a:lnSpc>
                  <a:spcPct val="130000"/>
                </a:lnSpc>
              </a:pPr>
              <a:endParaRPr lang="zh-CN" altLang="en-US" sz="1600" dirty="0">
                <a:latin typeface="微软雅黑" panose="020B0503020204020204" charset="-122"/>
                <a:ea typeface="微软雅黑" panose="020B0503020204020204" charset="-122"/>
              </a:endParaRPr>
            </a:p>
            <a:p>
              <a:pPr>
                <a:lnSpc>
                  <a:spcPct val="130000"/>
                </a:lnSpc>
              </a:pPr>
              <a:r>
                <a:rPr lang="zh-CN" altLang="en-US" sz="1600" dirty="0">
                  <a:latin typeface="微软雅黑" panose="020B0503020204020204" charset="-122"/>
                  <a:ea typeface="微软雅黑" panose="020B0503020204020204" charset="-122"/>
                </a:rPr>
                <a:t>       即独立解决问题  </a:t>
              </a:r>
              <a:r>
                <a:rPr lang="en-US"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和  </a:t>
              </a:r>
              <a:r>
                <a:rPr lang="en-US"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所需的工作量比把</a:t>
              </a:r>
              <a:r>
                <a:rPr lang="en-US"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和</a:t>
              </a:r>
              <a:r>
                <a:rPr lang="en-US"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合起来解决所需的时间少。</a:t>
              </a:r>
            </a:p>
            <a:p>
              <a:pPr>
                <a:lnSpc>
                  <a:spcPct val="130000"/>
                </a:lnSpc>
              </a:pPr>
              <a:r>
                <a:rPr lang="zh-CN" altLang="en-US" sz="1600" dirty="0">
                  <a:latin typeface="微软雅黑" panose="020B0503020204020204" charset="-122"/>
                  <a:ea typeface="微软雅黑" panose="020B0503020204020204" charset="-122"/>
                </a:rPr>
                <a:t>       由此可见，模块化是控制复杂性的最好方法。先独立地对各部分进行分析，确定解决问题的途径的正确性，然后才对整体进行验证，是行之有效的方法，有利于提高软件的开发效率。</a:t>
              </a:r>
            </a:p>
            <a:p>
              <a:pPr>
                <a:lnSpc>
                  <a:spcPct val="150000"/>
                </a:lnSpc>
              </a:pPr>
              <a:endParaRPr sz="1600" dirty="0">
                <a:latin typeface="微软雅黑" panose="020B0503020204020204" charset="-122"/>
                <a:ea typeface="微软雅黑" panose="020B0503020204020204" charset="-122"/>
              </a:endParaRPr>
            </a:p>
          </p:txBody>
        </p:sp>
      </p:grpSp>
      <p:graphicFrame>
        <p:nvGraphicFramePr>
          <p:cNvPr id="30" name="对象 29"/>
          <p:cNvGraphicFramePr>
            <a:graphicFrameLocks noChangeAspect="1"/>
          </p:cNvGraphicFramePr>
          <p:nvPr/>
        </p:nvGraphicFramePr>
        <p:xfrm>
          <a:off x="2463800" y="3065463"/>
          <a:ext cx="330200" cy="215900"/>
        </p:xfrm>
        <a:graphic>
          <a:graphicData uri="http://schemas.openxmlformats.org/presentationml/2006/ole">
            <mc:AlternateContent xmlns:mc="http://schemas.openxmlformats.org/markup-compatibility/2006">
              <mc:Choice xmlns:v="urn:schemas-microsoft-com:vml" Requires="v">
                <p:oleObj name="公式" r:id="rId2" imgW="330120" imgH="215640" progId="">
                  <p:embed/>
                </p:oleObj>
              </mc:Choice>
              <mc:Fallback>
                <p:oleObj name="公式" r:id="rId2" imgW="330120" imgH="215640" progId="">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3800" y="3065463"/>
                        <a:ext cx="3302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0772" name="Object 4"/>
          <p:cNvGraphicFramePr>
            <a:graphicFrameLocks noChangeAspect="1"/>
          </p:cNvGraphicFramePr>
          <p:nvPr/>
        </p:nvGraphicFramePr>
        <p:xfrm>
          <a:off x="5321300" y="3065463"/>
          <a:ext cx="330200" cy="215900"/>
        </p:xfrm>
        <a:graphic>
          <a:graphicData uri="http://schemas.openxmlformats.org/presentationml/2006/ole">
            <mc:AlternateContent xmlns:mc="http://schemas.openxmlformats.org/markup-compatibility/2006">
              <mc:Choice xmlns:v="urn:schemas-microsoft-com:vml" Requires="v">
                <p:oleObj name="公式" r:id="rId4" imgW="330120" imgH="215640" progId="">
                  <p:embed/>
                </p:oleObj>
              </mc:Choice>
              <mc:Fallback>
                <p:oleObj name="公式" r:id="rId4" imgW="330120" imgH="215640" progId="">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21300" y="3065463"/>
                        <a:ext cx="3302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0773" name="Object 5"/>
          <p:cNvGraphicFramePr>
            <a:graphicFrameLocks noChangeAspect="1"/>
          </p:cNvGraphicFramePr>
          <p:nvPr/>
        </p:nvGraphicFramePr>
        <p:xfrm>
          <a:off x="10312400" y="3065463"/>
          <a:ext cx="152400" cy="215900"/>
        </p:xfrm>
        <a:graphic>
          <a:graphicData uri="http://schemas.openxmlformats.org/presentationml/2006/ole">
            <mc:AlternateContent xmlns:mc="http://schemas.openxmlformats.org/markup-compatibility/2006">
              <mc:Choice xmlns:v="urn:schemas-microsoft-com:vml" Requires="v">
                <p:oleObj name="公式" r:id="rId6" imgW="152280" imgH="215640" progId="">
                  <p:embed/>
                </p:oleObj>
              </mc:Choice>
              <mc:Fallback>
                <p:oleObj name="公式" r:id="rId6" imgW="152280" imgH="215640" progId="">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12400" y="3065463"/>
                        <a:ext cx="152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0774" name="Object 6"/>
          <p:cNvGraphicFramePr>
            <a:graphicFrameLocks noChangeAspect="1"/>
          </p:cNvGraphicFramePr>
          <p:nvPr/>
        </p:nvGraphicFramePr>
        <p:xfrm>
          <a:off x="1670050" y="3370263"/>
          <a:ext cx="165100" cy="215900"/>
        </p:xfrm>
        <a:graphic>
          <a:graphicData uri="http://schemas.openxmlformats.org/presentationml/2006/ole">
            <mc:AlternateContent xmlns:mc="http://schemas.openxmlformats.org/markup-compatibility/2006">
              <mc:Choice xmlns:v="urn:schemas-microsoft-com:vml" Requires="v">
                <p:oleObj name="公式" r:id="rId8" imgW="164880" imgH="215640" progId="">
                  <p:embed/>
                </p:oleObj>
              </mc:Choice>
              <mc:Fallback>
                <p:oleObj name="公式" r:id="rId8" imgW="164880" imgH="215640" progId="">
                  <p:embed/>
                  <p:pic>
                    <p:nvPicPr>
                      <p:cNvPr id="0"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70050" y="3370263"/>
                        <a:ext cx="1651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0775" name="Object 7"/>
          <p:cNvGraphicFramePr>
            <a:graphicFrameLocks noChangeAspect="1"/>
          </p:cNvGraphicFramePr>
          <p:nvPr/>
        </p:nvGraphicFramePr>
        <p:xfrm>
          <a:off x="2432050" y="3357563"/>
          <a:ext cx="850900" cy="215900"/>
        </p:xfrm>
        <a:graphic>
          <a:graphicData uri="http://schemas.openxmlformats.org/presentationml/2006/ole">
            <mc:AlternateContent xmlns:mc="http://schemas.openxmlformats.org/markup-compatibility/2006">
              <mc:Choice xmlns:v="urn:schemas-microsoft-com:vml" Requires="v">
                <p:oleObj name="公式" r:id="rId10" imgW="850680" imgH="215640" progId="">
                  <p:embed/>
                </p:oleObj>
              </mc:Choice>
              <mc:Fallback>
                <p:oleObj name="公式" r:id="rId10" imgW="850680" imgH="215640" progId="">
                  <p:embed/>
                  <p:pic>
                    <p:nvPicPr>
                      <p:cNvPr id="0"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32050" y="3357563"/>
                        <a:ext cx="8509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0776" name="Object 8"/>
          <p:cNvGraphicFramePr>
            <a:graphicFrameLocks noChangeAspect="1"/>
          </p:cNvGraphicFramePr>
          <p:nvPr/>
        </p:nvGraphicFramePr>
        <p:xfrm>
          <a:off x="4133850" y="3370263"/>
          <a:ext cx="850900" cy="215900"/>
        </p:xfrm>
        <a:graphic>
          <a:graphicData uri="http://schemas.openxmlformats.org/presentationml/2006/ole">
            <mc:AlternateContent xmlns:mc="http://schemas.openxmlformats.org/markup-compatibility/2006">
              <mc:Choice xmlns:v="urn:schemas-microsoft-com:vml" Requires="v">
                <p:oleObj name="公式" r:id="rId12" imgW="850680" imgH="215640" progId="">
                  <p:embed/>
                </p:oleObj>
              </mc:Choice>
              <mc:Fallback>
                <p:oleObj name="公式" r:id="rId12" imgW="850680" imgH="215640" progId="">
                  <p:embed/>
                  <p:pic>
                    <p:nvPicPr>
                      <p:cNvPr id="0" name="Picture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33850" y="3370263"/>
                        <a:ext cx="8509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0777" name="Object 9"/>
          <p:cNvGraphicFramePr>
            <a:graphicFrameLocks noChangeAspect="1"/>
          </p:cNvGraphicFramePr>
          <p:nvPr/>
        </p:nvGraphicFramePr>
        <p:xfrm>
          <a:off x="5073650" y="3687763"/>
          <a:ext cx="1587500" cy="215900"/>
        </p:xfrm>
        <a:graphic>
          <a:graphicData uri="http://schemas.openxmlformats.org/presentationml/2006/ole">
            <mc:AlternateContent xmlns:mc="http://schemas.openxmlformats.org/markup-compatibility/2006">
              <mc:Choice xmlns:v="urn:schemas-microsoft-com:vml" Requires="v">
                <p:oleObj name="公式" r:id="rId14" imgW="1587240" imgH="215640" progId="">
                  <p:embed/>
                </p:oleObj>
              </mc:Choice>
              <mc:Fallback>
                <p:oleObj name="公式" r:id="rId14" imgW="1587240" imgH="215640" progId="">
                  <p:embed/>
                  <p:pic>
                    <p:nvPicPr>
                      <p:cNvPr id="0" name="Picture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73650" y="3687763"/>
                        <a:ext cx="15875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0778" name="Object 10"/>
          <p:cNvGraphicFramePr>
            <a:graphicFrameLocks noChangeAspect="1"/>
          </p:cNvGraphicFramePr>
          <p:nvPr/>
        </p:nvGraphicFramePr>
        <p:xfrm>
          <a:off x="7632700" y="3700463"/>
          <a:ext cx="152400" cy="215900"/>
        </p:xfrm>
        <a:graphic>
          <a:graphicData uri="http://schemas.openxmlformats.org/presentationml/2006/ole">
            <mc:AlternateContent xmlns:mc="http://schemas.openxmlformats.org/markup-compatibility/2006">
              <mc:Choice xmlns:v="urn:schemas-microsoft-com:vml" Requires="v">
                <p:oleObj name="公式" r:id="rId16" imgW="152280" imgH="215640" progId="">
                  <p:embed/>
                </p:oleObj>
              </mc:Choice>
              <mc:Fallback>
                <p:oleObj name="公式" r:id="rId16" imgW="152280" imgH="215640" progId="">
                  <p:embed/>
                  <p:pic>
                    <p:nvPicPr>
                      <p:cNvPr id="0" name="Picture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32700" y="3700463"/>
                        <a:ext cx="152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0779" name="Object 11"/>
          <p:cNvGraphicFramePr>
            <a:graphicFrameLocks noChangeAspect="1"/>
          </p:cNvGraphicFramePr>
          <p:nvPr/>
        </p:nvGraphicFramePr>
        <p:xfrm>
          <a:off x="7994650" y="3700463"/>
          <a:ext cx="165100" cy="215900"/>
        </p:xfrm>
        <a:graphic>
          <a:graphicData uri="http://schemas.openxmlformats.org/presentationml/2006/ole">
            <mc:AlternateContent xmlns:mc="http://schemas.openxmlformats.org/markup-compatibility/2006">
              <mc:Choice xmlns:v="urn:schemas-microsoft-com:vml" Requires="v">
                <p:oleObj name="公式" r:id="rId18" imgW="164880" imgH="215640" progId="">
                  <p:embed/>
                </p:oleObj>
              </mc:Choice>
              <mc:Fallback>
                <p:oleObj name="公式" r:id="rId18" imgW="164880" imgH="215640" progId="">
                  <p:embed/>
                  <p:pic>
                    <p:nvPicPr>
                      <p:cNvPr id="0" name="Picture 1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994650" y="3700463"/>
                        <a:ext cx="1651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0780" name="Object 12"/>
          <p:cNvGraphicFramePr>
            <a:graphicFrameLocks noChangeAspect="1"/>
          </p:cNvGraphicFramePr>
          <p:nvPr/>
        </p:nvGraphicFramePr>
        <p:xfrm>
          <a:off x="4743450" y="4284663"/>
          <a:ext cx="1587500" cy="215900"/>
        </p:xfrm>
        <a:graphic>
          <a:graphicData uri="http://schemas.openxmlformats.org/presentationml/2006/ole">
            <mc:AlternateContent xmlns:mc="http://schemas.openxmlformats.org/markup-compatibility/2006">
              <mc:Choice xmlns:v="urn:schemas-microsoft-com:vml" Requires="v">
                <p:oleObj name="公式" r:id="rId20" imgW="1587240" imgH="215640" progId="">
                  <p:embed/>
                </p:oleObj>
              </mc:Choice>
              <mc:Fallback>
                <p:oleObj name="公式" r:id="rId20" imgW="1587240" imgH="215640" progId="">
                  <p:embed/>
                  <p:pic>
                    <p:nvPicPr>
                      <p:cNvPr id="0" name="Picture 1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743450" y="4284663"/>
                        <a:ext cx="15875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0781" name="Object 13"/>
          <p:cNvGraphicFramePr>
            <a:graphicFrameLocks noChangeAspect="1"/>
          </p:cNvGraphicFramePr>
          <p:nvPr/>
        </p:nvGraphicFramePr>
        <p:xfrm>
          <a:off x="3276600" y="4652963"/>
          <a:ext cx="152400" cy="215900"/>
        </p:xfrm>
        <a:graphic>
          <a:graphicData uri="http://schemas.openxmlformats.org/presentationml/2006/ole">
            <mc:AlternateContent xmlns:mc="http://schemas.openxmlformats.org/markup-compatibility/2006">
              <mc:Choice xmlns:v="urn:schemas-microsoft-com:vml" Requires="v">
                <p:oleObj name="公式" r:id="rId22" imgW="152280" imgH="215640" progId="">
                  <p:embed/>
                </p:oleObj>
              </mc:Choice>
              <mc:Fallback>
                <p:oleObj name="公式" r:id="rId22" imgW="152280" imgH="215640" progId="">
                  <p:embed/>
                  <p:pic>
                    <p:nvPicPr>
                      <p:cNvPr id="0" name="Picture 1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276600" y="4652963"/>
                        <a:ext cx="152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0782" name="Object 14"/>
          <p:cNvGraphicFramePr>
            <a:graphicFrameLocks noChangeAspect="1"/>
          </p:cNvGraphicFramePr>
          <p:nvPr/>
        </p:nvGraphicFramePr>
        <p:xfrm>
          <a:off x="5499100" y="4627563"/>
          <a:ext cx="152400" cy="215900"/>
        </p:xfrm>
        <a:graphic>
          <a:graphicData uri="http://schemas.openxmlformats.org/presentationml/2006/ole">
            <mc:AlternateContent xmlns:mc="http://schemas.openxmlformats.org/markup-compatibility/2006">
              <mc:Choice xmlns:v="urn:schemas-microsoft-com:vml" Requires="v">
                <p:oleObj name="公式" r:id="rId22" imgW="152280" imgH="215640" progId="">
                  <p:embed/>
                </p:oleObj>
              </mc:Choice>
              <mc:Fallback>
                <p:oleObj name="公式" r:id="rId22" imgW="152280" imgH="215640" progId="">
                  <p:embed/>
                  <p:pic>
                    <p:nvPicPr>
                      <p:cNvPr id="0" name="Picture 1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499100" y="4627563"/>
                        <a:ext cx="152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0783" name="Object 15"/>
          <p:cNvGraphicFramePr>
            <a:graphicFrameLocks noChangeAspect="1"/>
          </p:cNvGraphicFramePr>
          <p:nvPr/>
        </p:nvGraphicFramePr>
        <p:xfrm>
          <a:off x="3638550" y="4627563"/>
          <a:ext cx="165100" cy="215900"/>
        </p:xfrm>
        <a:graphic>
          <a:graphicData uri="http://schemas.openxmlformats.org/presentationml/2006/ole">
            <mc:AlternateContent xmlns:mc="http://schemas.openxmlformats.org/markup-compatibility/2006">
              <mc:Choice xmlns:v="urn:schemas-microsoft-com:vml" Requires="v">
                <p:oleObj name="公式" r:id="rId25" imgW="164880" imgH="215640" progId="">
                  <p:embed/>
                </p:oleObj>
              </mc:Choice>
              <mc:Fallback>
                <p:oleObj name="公式" r:id="rId25" imgW="164880" imgH="215640" progId="">
                  <p:embed/>
                  <p:pic>
                    <p:nvPicPr>
                      <p:cNvPr id="0" name="Picture 1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638550" y="4627563"/>
                        <a:ext cx="1651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0784" name="Object 16"/>
          <p:cNvGraphicFramePr>
            <a:graphicFrameLocks noChangeAspect="1"/>
          </p:cNvGraphicFramePr>
          <p:nvPr/>
        </p:nvGraphicFramePr>
        <p:xfrm>
          <a:off x="5886450" y="4640263"/>
          <a:ext cx="165100" cy="215900"/>
        </p:xfrm>
        <a:graphic>
          <a:graphicData uri="http://schemas.openxmlformats.org/presentationml/2006/ole">
            <mc:AlternateContent xmlns:mc="http://schemas.openxmlformats.org/markup-compatibility/2006">
              <mc:Choice xmlns:v="urn:schemas-microsoft-com:vml" Requires="v">
                <p:oleObj name="公式" r:id="rId25" imgW="164880" imgH="215640" progId="">
                  <p:embed/>
                </p:oleObj>
              </mc:Choice>
              <mc:Fallback>
                <p:oleObj name="公式" r:id="rId25" imgW="164880" imgH="215640" progId="">
                  <p:embed/>
                  <p:pic>
                    <p:nvPicPr>
                      <p:cNvPr id="0" name="Picture 1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886450" y="4640263"/>
                        <a:ext cx="1651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endParaRPr lang="zh-CN" altLang="en-US" dirty="0"/>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3.2.2 </a:t>
            </a:r>
            <a:r>
              <a:rPr lang="zh-CN" altLang="en-US" sz="2400" dirty="0">
                <a:solidFill>
                  <a:schemeClr val="tx1"/>
                </a:solidFill>
              </a:rPr>
              <a:t>模块化</a:t>
            </a:r>
          </a:p>
        </p:txBody>
      </p:sp>
      <p:grpSp>
        <p:nvGrpSpPr>
          <p:cNvPr id="14" name="组合 13"/>
          <p:cNvGrpSpPr/>
          <p:nvPr/>
        </p:nvGrpSpPr>
        <p:grpSpPr>
          <a:xfrm>
            <a:off x="754380" y="2444750"/>
            <a:ext cx="5252085" cy="1668780"/>
            <a:chOff x="1188" y="3092"/>
            <a:chExt cx="8271" cy="2628"/>
          </a:xfrm>
        </p:grpSpPr>
        <p:grpSp>
          <p:nvGrpSpPr>
            <p:cNvPr id="5" name="组合 4"/>
            <p:cNvGrpSpPr/>
            <p:nvPr/>
          </p:nvGrpSpPr>
          <p:grpSpPr>
            <a:xfrm>
              <a:off x="1188" y="3092"/>
              <a:ext cx="4947" cy="930"/>
              <a:chOff x="508000" y="3196191"/>
              <a:chExt cx="3141314" cy="590550"/>
            </a:xfrm>
          </p:grpSpPr>
          <p:sp>
            <p:nvSpPr>
              <p:cNvPr id="21" name="TextBox 1"/>
              <p:cNvSpPr txBox="1">
                <a:spLocks noChangeArrowheads="1"/>
              </p:cNvSpPr>
              <p:nvPr/>
            </p:nvSpPr>
            <p:spPr bwMode="auto">
              <a:xfrm>
                <a:off x="508000" y="3196191"/>
                <a:ext cx="3613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2</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提高软件的可靠性</a:t>
                </a:r>
              </a:p>
            </p:txBody>
          </p:sp>
        </p:grpSp>
        <p:sp>
          <p:nvSpPr>
            <p:cNvPr id="24" name="矩形 8"/>
            <p:cNvSpPr>
              <a:spLocks noChangeArrowheads="1"/>
            </p:cNvSpPr>
            <p:nvPr/>
          </p:nvSpPr>
          <p:spPr bwMode="auto">
            <a:xfrm>
              <a:off x="1893" y="3848"/>
              <a:ext cx="7566" cy="1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程序的错误通常出现在模块内及模块间的接口中，模块化使软件易于测试和调试，有助于提高软件开发的可靠性。</a:t>
              </a:r>
            </a:p>
          </p:txBody>
        </p:sp>
      </p:grpSp>
      <p:grpSp>
        <p:nvGrpSpPr>
          <p:cNvPr id="6" name="组合 5"/>
          <p:cNvGrpSpPr/>
          <p:nvPr/>
        </p:nvGrpSpPr>
        <p:grpSpPr>
          <a:xfrm>
            <a:off x="754380" y="4113530"/>
            <a:ext cx="5252085" cy="1882775"/>
            <a:chOff x="1195" y="5840"/>
            <a:chExt cx="8271" cy="2965"/>
          </a:xfrm>
        </p:grpSpPr>
        <p:grpSp>
          <p:nvGrpSpPr>
            <p:cNvPr id="3" name="组合 2"/>
            <p:cNvGrpSpPr/>
            <p:nvPr/>
          </p:nvGrpSpPr>
          <p:grpSpPr>
            <a:xfrm>
              <a:off x="1195" y="5840"/>
              <a:ext cx="4233" cy="930"/>
              <a:chOff x="512763" y="4940853"/>
              <a:chExt cx="2687695" cy="590550"/>
            </a:xfrm>
          </p:grpSpPr>
          <p:sp>
            <p:nvSpPr>
              <p:cNvPr id="25" name="TextBox 10"/>
              <p:cNvSpPr txBox="1">
                <a:spLocks noChangeArrowheads="1"/>
              </p:cNvSpPr>
              <p:nvPr/>
            </p:nvSpPr>
            <p:spPr bwMode="auto">
              <a:xfrm>
                <a:off x="512763" y="4940853"/>
                <a:ext cx="37143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3</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6" name="直接连接符 25"/>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12"/>
              <p:cNvSpPr>
                <a:spLocks noChangeArrowheads="1"/>
              </p:cNvSpPr>
              <p:nvPr/>
            </p:nvSpPr>
            <p:spPr bwMode="auto">
              <a:xfrm>
                <a:off x="960438" y="5036103"/>
                <a:ext cx="2240020"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提高软件的可维护性</a:t>
                </a:r>
              </a:p>
            </p:txBody>
          </p:sp>
        </p:grpSp>
        <p:sp>
          <p:nvSpPr>
            <p:cNvPr id="28" name="矩形 9"/>
            <p:cNvSpPr>
              <a:spLocks noChangeArrowheads="1"/>
            </p:cNvSpPr>
            <p:nvPr/>
          </p:nvSpPr>
          <p:spPr bwMode="auto">
            <a:xfrm>
              <a:off x="1900" y="6665"/>
              <a:ext cx="7566" cy="2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altLang="zh-CN"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软件模块化后，即使对少数模块进行大幅度修改，也不会对整个系统产生很大影响，因为其他模块没有变动，这样可使系统能适应各种环境变化，易于维护。</a:t>
              </a:r>
            </a:p>
          </p:txBody>
        </p:sp>
      </p:grpSp>
      <p:grpSp>
        <p:nvGrpSpPr>
          <p:cNvPr id="4" name="组合 3"/>
          <p:cNvGrpSpPr/>
          <p:nvPr/>
        </p:nvGrpSpPr>
        <p:grpSpPr>
          <a:xfrm>
            <a:off x="6062345" y="878840"/>
            <a:ext cx="5572125" cy="1566545"/>
            <a:chOff x="1195" y="5840"/>
            <a:chExt cx="8775" cy="2467"/>
          </a:xfrm>
        </p:grpSpPr>
        <p:grpSp>
          <p:nvGrpSpPr>
            <p:cNvPr id="7" name="组合 6"/>
            <p:cNvGrpSpPr/>
            <p:nvPr/>
          </p:nvGrpSpPr>
          <p:grpSpPr>
            <a:xfrm>
              <a:off x="1195" y="5840"/>
              <a:ext cx="5313" cy="930"/>
              <a:chOff x="512763" y="4940853"/>
              <a:chExt cx="3373279" cy="590550"/>
            </a:xfrm>
          </p:grpSpPr>
          <p:sp>
            <p:nvSpPr>
              <p:cNvPr id="8" name="TextBox 10"/>
              <p:cNvSpPr txBox="1">
                <a:spLocks noChangeArrowheads="1"/>
              </p:cNvSpPr>
              <p:nvPr/>
            </p:nvSpPr>
            <p:spPr bwMode="auto">
              <a:xfrm>
                <a:off x="512763" y="4940853"/>
                <a:ext cx="36062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4</a:t>
                </a:r>
              </a:p>
            </p:txBody>
          </p:sp>
          <p:cxnSp>
            <p:nvCxnSpPr>
              <p:cNvPr id="9" name="直接连接符 8"/>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0" name="矩形 12"/>
              <p:cNvSpPr>
                <a:spLocks noChangeArrowheads="1"/>
              </p:cNvSpPr>
              <p:nvPr/>
            </p:nvSpPr>
            <p:spPr bwMode="auto">
              <a:xfrm>
                <a:off x="960438" y="5036103"/>
                <a:ext cx="2925604"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有助于软件工程的组织管理</a:t>
                </a:r>
              </a:p>
            </p:txBody>
          </p:sp>
        </p:grpSp>
        <p:sp>
          <p:nvSpPr>
            <p:cNvPr id="11" name="矩形 9"/>
            <p:cNvSpPr>
              <a:spLocks noChangeArrowheads="1"/>
            </p:cNvSpPr>
            <p:nvPr/>
          </p:nvSpPr>
          <p:spPr bwMode="auto">
            <a:xfrm>
              <a:off x="2131" y="6666"/>
              <a:ext cx="7839" cy="1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altLang="zh-CN"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承担各模块设计的人员可以独立地、并行地进行开发，有利于软件开发团队的任务安排，可将设计难度大的模块分配给技术熟练的程序开发员。</a:t>
              </a:r>
            </a:p>
          </p:txBody>
        </p:sp>
      </p:grpSp>
      <p:grpSp>
        <p:nvGrpSpPr>
          <p:cNvPr id="12" name="组合 11"/>
          <p:cNvGrpSpPr/>
          <p:nvPr/>
        </p:nvGrpSpPr>
        <p:grpSpPr>
          <a:xfrm>
            <a:off x="6062345" y="2540000"/>
            <a:ext cx="5572125" cy="3131820"/>
            <a:chOff x="1188" y="3092"/>
            <a:chExt cx="8775" cy="4932"/>
          </a:xfrm>
        </p:grpSpPr>
        <p:grpSp>
          <p:nvGrpSpPr>
            <p:cNvPr id="13" name="组合 12"/>
            <p:cNvGrpSpPr/>
            <p:nvPr/>
          </p:nvGrpSpPr>
          <p:grpSpPr>
            <a:xfrm>
              <a:off x="1188" y="3092"/>
              <a:ext cx="4947" cy="930"/>
              <a:chOff x="508000" y="3196191"/>
              <a:chExt cx="3141314" cy="590550"/>
            </a:xfrm>
          </p:grpSpPr>
          <p:sp>
            <p:nvSpPr>
              <p:cNvPr id="15" name="TextBox 1"/>
              <p:cNvSpPr txBox="1">
                <a:spLocks noChangeArrowheads="1"/>
              </p:cNvSpPr>
              <p:nvPr/>
            </p:nvSpPr>
            <p:spPr bwMode="auto">
              <a:xfrm>
                <a:off x="508000" y="3196191"/>
                <a:ext cx="3740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5</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16" name="直接连接符 1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8"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有助于信息隐蔽</a:t>
                </a:r>
              </a:p>
            </p:txBody>
          </p:sp>
        </p:grpSp>
        <p:sp>
          <p:nvSpPr>
            <p:cNvPr id="19" name="矩形 8"/>
            <p:cNvSpPr>
              <a:spLocks noChangeArrowheads="1"/>
            </p:cNvSpPr>
            <p:nvPr/>
          </p:nvSpPr>
          <p:spPr bwMode="auto">
            <a:xfrm>
              <a:off x="1893" y="3848"/>
              <a:ext cx="8070" cy="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在设计和确定模块时，尽量设法将可变性因素隐蔽在一个或几个局部模块中。具体的做法是：先将可能发生变化的因素列出，然后在划分模块时将这些因素隐蔽在某几个模块内，使其他模块与这些可变因素无关。这样可避免软件维护时错误的传递，使得所列出的因素的任何一个变化，仅影响与其相关的模块，不会影响其他模块，从而提高软件的可维护性。</a:t>
              </a:r>
            </a:p>
          </p:txBody>
        </p:sp>
      </p:grpSp>
    </p:spTree>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endParaRPr lang="zh-CN" altLang="en-US" dirty="0"/>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3.2.2 </a:t>
            </a:r>
            <a:r>
              <a:rPr lang="zh-CN" altLang="en-US" sz="2400" dirty="0">
                <a:solidFill>
                  <a:schemeClr val="tx1"/>
                </a:solidFill>
              </a:rPr>
              <a:t>模块化</a:t>
            </a:r>
            <a:endParaRPr lang="en-US" altLang="zh-CN" sz="2400" dirty="0">
              <a:solidFill>
                <a:schemeClr val="tx1"/>
              </a:solidFill>
            </a:endParaRPr>
          </a:p>
        </p:txBody>
      </p:sp>
      <p:grpSp>
        <p:nvGrpSpPr>
          <p:cNvPr id="24" name="组合 23"/>
          <p:cNvGrpSpPr/>
          <p:nvPr/>
        </p:nvGrpSpPr>
        <p:grpSpPr>
          <a:xfrm>
            <a:off x="1036216" y="2567772"/>
            <a:ext cx="10358120" cy="3143250"/>
            <a:chOff x="496570" y="2252980"/>
            <a:chExt cx="10358120" cy="3143250"/>
          </a:xfrm>
        </p:grpSpPr>
        <p:grpSp>
          <p:nvGrpSpPr>
            <p:cNvPr id="5" name="组合 7"/>
            <p:cNvGrpSpPr/>
            <p:nvPr/>
          </p:nvGrpSpPr>
          <p:grpSpPr>
            <a:xfrm>
              <a:off x="496570" y="2620645"/>
              <a:ext cx="2769235" cy="2775585"/>
              <a:chOff x="1326396" y="2857496"/>
              <a:chExt cx="3253555" cy="3356199"/>
            </a:xfrm>
          </p:grpSpPr>
          <p:grpSp>
            <p:nvGrpSpPr>
              <p:cNvPr id="16" name="组合 10"/>
              <p:cNvGrpSpPr/>
              <p:nvPr/>
            </p:nvGrpSpPr>
            <p:grpSpPr>
              <a:xfrm>
                <a:off x="1452526" y="2857496"/>
                <a:ext cx="3111298" cy="2928958"/>
                <a:chOff x="3413330" y="1857364"/>
                <a:chExt cx="5365341" cy="4053374"/>
              </a:xfrm>
            </p:grpSpPr>
            <p:sp>
              <p:nvSpPr>
                <p:cNvPr id="19" name="MH_SubTitle_1"/>
                <p:cNvSpPr/>
                <p:nvPr>
                  <p:custDataLst>
                    <p:tags r:id="rId6"/>
                  </p:custDataLst>
                </p:nvPr>
              </p:nvSpPr>
              <p:spPr bwMode="auto">
                <a:xfrm>
                  <a:off x="3413330" y="1857364"/>
                  <a:ext cx="2832476" cy="3042398"/>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0" name="MH_SubTitle_3"/>
                <p:cNvSpPr/>
                <p:nvPr>
                  <p:custDataLst>
                    <p:tags r:id="rId7"/>
                  </p:custDataLst>
                </p:nvPr>
              </p:nvSpPr>
              <p:spPr bwMode="auto">
                <a:xfrm>
                  <a:off x="3900190" y="4561024"/>
                  <a:ext cx="4551279" cy="1349714"/>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1" name="MH_Other_1"/>
                <p:cNvSpPr/>
                <p:nvPr>
                  <p:custDataLst>
                    <p:tags r:id="rId8"/>
                  </p:custDataLst>
                </p:nvPr>
              </p:nvSpPr>
              <p:spPr bwMode="auto">
                <a:xfrm>
                  <a:off x="6038836" y="1886732"/>
                  <a:ext cx="2739835" cy="2952220"/>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chemeClr val="accent5">
                    <a:lumMod val="60000"/>
                    <a:lumOff val="4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2" name="MH_Title_1"/>
                <p:cNvSpPr/>
                <p:nvPr>
                  <p:custDataLst>
                    <p:tags r:id="rId9"/>
                  </p:custDataLst>
                </p:nvPr>
              </p:nvSpPr>
              <p:spPr>
                <a:xfrm>
                  <a:off x="4473783" y="2682073"/>
                  <a:ext cx="3244436" cy="2433327"/>
                </a:xfrm>
                <a:prstGeom prst="ellipse">
                  <a:avLst/>
                </a:prstGeom>
                <a:solidFill>
                  <a:schemeClr val="accent5">
                    <a:lumMod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模块分割方法</a:t>
                  </a:r>
                </a:p>
              </p:txBody>
            </p:sp>
            <p:sp>
              <p:nvSpPr>
                <p:cNvPr id="23" name="MH_Other_2"/>
                <p:cNvSpPr/>
                <p:nvPr>
                  <p:custDataLst>
                    <p:tags r:id="rId10"/>
                  </p:custDataLst>
                </p:nvPr>
              </p:nvSpPr>
              <p:spPr>
                <a:xfrm rot="10873167">
                  <a:off x="3933420" y="2276800"/>
                  <a:ext cx="4325161" cy="3243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rgbClr val="7D7D7D"/>
                      </a:solidFill>
                      <a:latin typeface="微软雅黑" panose="020B0503020204020204" charset="-122"/>
                      <a:ea typeface="微软雅黑" panose="020B0503020204020204" charset="-122"/>
                    </a:rPr>
                    <a:t>模块分割顺序</a:t>
                  </a:r>
                </a:p>
              </p:txBody>
            </p:sp>
          </p:grpSp>
          <p:sp>
            <p:nvSpPr>
              <p:cNvPr id="17" name="MH_SubTitle_2"/>
              <p:cNvSpPr/>
              <p:nvPr>
                <p:custDataLst>
                  <p:tags r:id="rId4"/>
                </p:custDataLst>
              </p:nvPr>
            </p:nvSpPr>
            <p:spPr>
              <a:xfrm rot="3673167">
                <a:off x="1180142" y="3116078"/>
                <a:ext cx="3243871" cy="29513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b="1" dirty="0">
                    <a:solidFill>
                      <a:schemeClr val="tx1"/>
                    </a:solidFill>
                    <a:latin typeface="微软雅黑" panose="020B0503020204020204" charset="-122"/>
                    <a:ea typeface="微软雅黑" panose="020B0503020204020204" charset="-122"/>
                  </a:rPr>
                  <a:t>横向分割</a:t>
                </a:r>
              </a:p>
            </p:txBody>
          </p:sp>
          <p:sp>
            <p:nvSpPr>
              <p:cNvPr id="18" name="MH_Other_3"/>
              <p:cNvSpPr/>
              <p:nvPr>
                <p:custDataLst>
                  <p:tags r:id="rId5"/>
                </p:custDataLst>
              </p:nvPr>
            </p:nvSpPr>
            <p:spPr>
              <a:xfrm rot="18073167">
                <a:off x="1532859" y="3092810"/>
                <a:ext cx="3243871" cy="2850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rgbClr val="7D7D7D"/>
                    </a:solidFill>
                    <a:latin typeface="微软雅黑" panose="020B0503020204020204" charset="-122"/>
                    <a:ea typeface="微软雅黑" panose="020B0503020204020204" charset="-122"/>
                  </a:rPr>
                  <a:t>纵向分割</a:t>
                </a:r>
              </a:p>
            </p:txBody>
          </p:sp>
        </p:grpSp>
        <p:sp>
          <p:nvSpPr>
            <p:cNvPr id="6" name="任意多边形 5"/>
            <p:cNvSpPr/>
            <p:nvPr/>
          </p:nvSpPr>
          <p:spPr>
            <a:xfrm flipH="1">
              <a:off x="2853690" y="2252980"/>
              <a:ext cx="8001000" cy="714375"/>
            </a:xfrm>
            <a:custGeom>
              <a:avLst/>
              <a:gdLst>
                <a:gd name="connsiteX0" fmla="*/ 3336967 w 3336967"/>
                <a:gd name="connsiteY0" fmla="*/ 534390 h 534390"/>
                <a:gd name="connsiteX1" fmla="*/ 2315689 w 3336967"/>
                <a:gd name="connsiteY1" fmla="*/ 0 h 534390"/>
                <a:gd name="connsiteX2" fmla="*/ 0 w 3336967"/>
                <a:gd name="connsiteY2" fmla="*/ 0 h 534390"/>
                <a:gd name="connsiteX0-1" fmla="*/ 3336967 w 3336967"/>
                <a:gd name="connsiteY0-2" fmla="*/ 534390 h 534390"/>
                <a:gd name="connsiteX1-3" fmla="*/ 2955249 w 3336967"/>
                <a:gd name="connsiteY1-4" fmla="*/ 0 h 534390"/>
                <a:gd name="connsiteX2-5" fmla="*/ 0 w 3336967"/>
                <a:gd name="connsiteY2-6" fmla="*/ 0 h 534390"/>
                <a:gd name="connsiteX0-7" fmla="*/ 3336967 w 3336967"/>
                <a:gd name="connsiteY0-8" fmla="*/ 534390 h 534390"/>
                <a:gd name="connsiteX1-9" fmla="*/ 3160870 w 3336967"/>
                <a:gd name="connsiteY1-10" fmla="*/ 0 h 534390"/>
                <a:gd name="connsiteX2-11" fmla="*/ 0 w 3336967"/>
                <a:gd name="connsiteY2-12" fmla="*/ 0 h 534390"/>
              </a:gdLst>
              <a:ahLst/>
              <a:cxnLst>
                <a:cxn ang="0">
                  <a:pos x="connsiteX0-1" y="connsiteY0-2"/>
                </a:cxn>
                <a:cxn ang="0">
                  <a:pos x="connsiteX1-3" y="connsiteY1-4"/>
                </a:cxn>
                <a:cxn ang="0">
                  <a:pos x="connsiteX2-5" y="connsiteY2-6"/>
                </a:cxn>
              </a:cxnLst>
              <a:rect l="l" t="t" r="r" b="b"/>
              <a:pathLst>
                <a:path w="3336967" h="534390">
                  <a:moveTo>
                    <a:pt x="3336967" y="534390"/>
                  </a:moveTo>
                  <a:lnTo>
                    <a:pt x="3160870" y="0"/>
                  </a:lnTo>
                  <a:lnTo>
                    <a:pt x="0" y="0"/>
                  </a:lnTo>
                </a:path>
              </a:pathLst>
            </a:custGeom>
            <a:ln w="28575">
              <a:solidFill>
                <a:schemeClr val="tx1"/>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7" name="组合 19"/>
            <p:cNvGrpSpPr/>
            <p:nvPr/>
          </p:nvGrpSpPr>
          <p:grpSpPr>
            <a:xfrm>
              <a:off x="3498850" y="2432050"/>
              <a:ext cx="3609340" cy="535305"/>
              <a:chOff x="4238100" y="2643182"/>
              <a:chExt cx="4495181" cy="677876"/>
            </a:xfrm>
          </p:grpSpPr>
          <p:sp>
            <p:nvSpPr>
              <p:cNvPr id="14" name="MH_SubTitle_1"/>
              <p:cNvSpPr/>
              <p:nvPr>
                <p:custDataLst>
                  <p:tags r:id="rId2"/>
                </p:custDataLst>
              </p:nvPr>
            </p:nvSpPr>
            <p:spPr>
              <a:xfrm>
                <a:off x="4552858" y="2648007"/>
                <a:ext cx="4180423" cy="667422"/>
              </a:xfrm>
              <a:prstGeom prst="rect">
                <a:avLst/>
              </a:prstGeom>
              <a:solidFill>
                <a:schemeClr val="accent5">
                  <a:lumMod val="75000"/>
                </a:schemeClr>
              </a:solidFill>
              <a:ln w="28575" cap="flat" cmpd="sng" algn="ctr">
                <a:solidFill>
                  <a:srgbClr val="FFFFFF"/>
                </a:solidFill>
                <a:prstDash val="solid"/>
                <a:miter lim="800000"/>
              </a:ln>
              <a:effectLst>
                <a:outerShdw blurRad="50800" dist="25400" dir="2700000" algn="tl" rotWithShape="0">
                  <a:srgbClr val="3D3F41">
                    <a:lumMod val="40000"/>
                    <a:lumOff val="60000"/>
                    <a:alpha val="40000"/>
                  </a:srgbClr>
                </a:outerShdw>
              </a:effectLst>
            </p:spPr>
            <p:txBody>
              <a:bodyPr lIns="432000" tIns="36000" rIns="72000" bIns="36000" anchor="ctr">
                <a:normAutofit/>
              </a:bodyPr>
              <a:lstStyle/>
              <a:p>
                <a:pPr algn="just">
                  <a:lnSpc>
                    <a:spcPct val="110000"/>
                  </a:lnSpc>
                  <a:defRPr/>
                </a:pPr>
                <a:r>
                  <a:rPr lang="zh-CN" altLang="en-US" sz="2100" b="1" dirty="0">
                    <a:solidFill>
                      <a:schemeClr val="bg1"/>
                    </a:solidFill>
                    <a:latin typeface="微软雅黑" panose="020B0503020204020204" charset="-122"/>
                    <a:ea typeface="微软雅黑" panose="020B0503020204020204" charset="-122"/>
                  </a:rPr>
                  <a:t>横向分割</a:t>
                </a:r>
              </a:p>
            </p:txBody>
          </p:sp>
          <p:sp>
            <p:nvSpPr>
              <p:cNvPr id="15" name="MH_Other_1"/>
              <p:cNvSpPr/>
              <p:nvPr>
                <p:custDataLst>
                  <p:tags r:id="rId3"/>
                </p:custDataLst>
              </p:nvPr>
            </p:nvSpPr>
            <p:spPr>
              <a:xfrm>
                <a:off x="4238100" y="2643182"/>
                <a:ext cx="714892" cy="677876"/>
              </a:xfrm>
              <a:prstGeom prst="ellipse">
                <a:avLst/>
              </a:prstGeom>
              <a:solidFill>
                <a:srgbClr val="FFFFFF"/>
              </a:solidFill>
              <a:ln w="28575" cap="flat" cmpd="sng" algn="ctr">
                <a:solidFill>
                  <a:schemeClr val="tx1"/>
                </a:solidFill>
                <a:prstDash val="solid"/>
                <a:miter lim="800000"/>
              </a:ln>
              <a:effectLst>
                <a:outerShdw blurRad="50800" dist="12700" dir="2700000" algn="tl" rotWithShape="0">
                  <a:srgbClr val="3D3F41">
                    <a:lumMod val="20000"/>
                    <a:lumOff val="80000"/>
                    <a:alpha val="36000"/>
                  </a:srgbClr>
                </a:outerShdw>
              </a:effectLst>
            </p:spPr>
            <p:txBody>
              <a:bodyPr lIns="0" tIns="0" rIns="0" bIns="0" anchor="ctr">
                <a:normAutofit/>
              </a:bodyPr>
              <a:lstStyle/>
              <a:p>
                <a:pPr algn="ctr" eaLnBrk="1" fontAlgn="auto" hangingPunct="1">
                  <a:spcBef>
                    <a:spcPts val="0"/>
                  </a:spcBef>
                  <a:spcAft>
                    <a:spcPts val="0"/>
                  </a:spcAft>
                  <a:defRPr/>
                </a:pPr>
                <a:r>
                  <a:rPr lang="en-US" altLang="zh-CN" sz="2000" b="1" kern="0" dirty="0">
                    <a:solidFill>
                      <a:schemeClr val="accent5">
                        <a:lumMod val="75000"/>
                      </a:schemeClr>
                    </a:solidFill>
                    <a:latin typeface="Kozuka Gothic Pr6N B" panose="020B0800000000000000" pitchFamily="34" charset="-128"/>
                    <a:ea typeface="Kozuka Gothic Pr6N B" panose="020B0800000000000000" pitchFamily="34" charset="-128"/>
                  </a:rPr>
                  <a:t>1</a:t>
                </a:r>
                <a:endParaRPr lang="zh-CN" altLang="en-US" sz="2000" b="1" kern="0" dirty="0">
                  <a:solidFill>
                    <a:schemeClr val="accent5">
                      <a:lumMod val="75000"/>
                    </a:schemeClr>
                  </a:solidFill>
                  <a:latin typeface="Kozuka Gothic Pr6N B" panose="020B0800000000000000" pitchFamily="34" charset="-128"/>
                  <a:ea typeface="Kozuka Gothic Pr6N B" panose="020B0800000000000000" pitchFamily="34" charset="-128"/>
                </a:endParaRPr>
              </a:p>
            </p:txBody>
          </p:sp>
        </p:grpSp>
        <p:sp>
          <p:nvSpPr>
            <p:cNvPr id="8" name="MH_SubTitle_1"/>
            <p:cNvSpPr txBox="1">
              <a:spLocks noChangeArrowheads="1"/>
            </p:cNvSpPr>
            <p:nvPr>
              <p:custDataLst>
                <p:tags r:id="rId1"/>
              </p:custDataLst>
            </p:nvPr>
          </p:nvSpPr>
          <p:spPr bwMode="auto">
            <a:xfrm flipH="1">
              <a:off x="3676013" y="3256280"/>
              <a:ext cx="7011973" cy="857250"/>
            </a:xfrm>
            <a:prstGeom prst="rect">
              <a:avLst/>
            </a:prstGeom>
            <a:noFill/>
            <a:ln w="9525">
              <a:noFill/>
              <a:miter lim="800000"/>
            </a:ln>
          </p:spPr>
          <p:txBody>
            <a:bodyPr lIns="216000" tIns="34290" rIns="68580" bIns="34290" anchor="ctr"/>
            <a:lstStyle/>
            <a:p>
              <a:pPr>
                <a:lnSpc>
                  <a:spcPct val="130000"/>
                </a:lnSpc>
              </a:pPr>
              <a:r>
                <a:rPr lang="zh-CN" altLang="en-US" sz="1600" dirty="0"/>
                <a:t>       横向分割是指根据输入输出等功能的不同来分割模块。       </a:t>
              </a:r>
              <a:endParaRPr lang="en-US" altLang="zh-CN" sz="1600" dirty="0"/>
            </a:p>
            <a:p>
              <a:pPr>
                <a:lnSpc>
                  <a:spcPct val="130000"/>
                </a:lnSpc>
              </a:pPr>
              <a:r>
                <a:rPr lang="en-US" altLang="zh-CN" sz="1600" dirty="0"/>
                <a:t>       </a:t>
              </a:r>
              <a:r>
                <a:rPr lang="zh-CN" altLang="en-US" sz="1600" dirty="0"/>
                <a:t>例如，计算机辅助绘图软件</a:t>
              </a:r>
              <a:r>
                <a:rPr lang="en-US" sz="1600" dirty="0"/>
                <a:t>AutoCAD</a:t>
              </a:r>
              <a:r>
                <a:rPr lang="zh-CN" altLang="en-US" sz="1600" dirty="0"/>
                <a:t>可划分为绘图、文件管理、外设配置、版本转换、打印输出等不同功能模块。</a:t>
              </a:r>
            </a:p>
          </p:txBody>
        </p:sp>
      </p:grpSp>
      <p:grpSp>
        <p:nvGrpSpPr>
          <p:cNvPr id="25" name="组合 6"/>
          <p:cNvGrpSpPr/>
          <p:nvPr/>
        </p:nvGrpSpPr>
        <p:grpSpPr>
          <a:xfrm>
            <a:off x="809625" y="2145646"/>
            <a:ext cx="3141345" cy="590550"/>
            <a:chOff x="508000" y="3196191"/>
            <a:chExt cx="3141314" cy="590550"/>
          </a:xfrm>
        </p:grpSpPr>
        <p:sp>
          <p:nvSpPr>
            <p:cNvPr id="26"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2</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7" name="直接连接符 26"/>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8" name="矩形 7"/>
            <p:cNvSpPr>
              <a:spLocks noChangeArrowheads="1"/>
            </p:cNvSpPr>
            <p:nvPr/>
          </p:nvSpPr>
          <p:spPr bwMode="auto">
            <a:xfrm>
              <a:off x="960437" y="3291441"/>
              <a:ext cx="268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模块分割方法</a:t>
              </a:r>
            </a:p>
          </p:txBody>
        </p:sp>
      </p:grpSp>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endParaRPr lang="zh-CN" altLang="en-US" dirty="0"/>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3.2.2 </a:t>
            </a:r>
            <a:r>
              <a:rPr lang="zh-CN" altLang="en-US" sz="2400" dirty="0">
                <a:solidFill>
                  <a:schemeClr val="tx1"/>
                </a:solidFill>
              </a:rPr>
              <a:t>模块化</a:t>
            </a:r>
            <a:endParaRPr lang="en-US" altLang="zh-CN" sz="2400" dirty="0">
              <a:solidFill>
                <a:schemeClr val="tx1"/>
              </a:solidFill>
            </a:endParaRPr>
          </a:p>
        </p:txBody>
      </p:sp>
      <p:grpSp>
        <p:nvGrpSpPr>
          <p:cNvPr id="3" name="组合 23"/>
          <p:cNvGrpSpPr/>
          <p:nvPr/>
        </p:nvGrpSpPr>
        <p:grpSpPr>
          <a:xfrm>
            <a:off x="1036216" y="2447851"/>
            <a:ext cx="10461239" cy="3143250"/>
            <a:chOff x="496570" y="2252980"/>
            <a:chExt cx="10461239" cy="3143250"/>
          </a:xfrm>
        </p:grpSpPr>
        <p:grpSp>
          <p:nvGrpSpPr>
            <p:cNvPr id="4" name="组合 7"/>
            <p:cNvGrpSpPr/>
            <p:nvPr/>
          </p:nvGrpSpPr>
          <p:grpSpPr>
            <a:xfrm>
              <a:off x="496570" y="2620645"/>
              <a:ext cx="2769235" cy="2775585"/>
              <a:chOff x="1326396" y="2857496"/>
              <a:chExt cx="3253555" cy="3356199"/>
            </a:xfrm>
          </p:grpSpPr>
          <p:grpSp>
            <p:nvGrpSpPr>
              <p:cNvPr id="5" name="组合 10"/>
              <p:cNvGrpSpPr/>
              <p:nvPr/>
            </p:nvGrpSpPr>
            <p:grpSpPr>
              <a:xfrm>
                <a:off x="1452526" y="2857496"/>
                <a:ext cx="3111298" cy="2928958"/>
                <a:chOff x="3413330" y="1857364"/>
                <a:chExt cx="5365341" cy="4053374"/>
              </a:xfrm>
            </p:grpSpPr>
            <p:sp>
              <p:nvSpPr>
                <p:cNvPr id="19" name="MH_SubTitle_1"/>
                <p:cNvSpPr/>
                <p:nvPr>
                  <p:custDataLst>
                    <p:tags r:id="rId6"/>
                  </p:custDataLst>
                </p:nvPr>
              </p:nvSpPr>
              <p:spPr bwMode="auto">
                <a:xfrm>
                  <a:off x="3413330" y="1857364"/>
                  <a:ext cx="2832476" cy="3042398"/>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0" name="MH_SubTitle_3"/>
                <p:cNvSpPr/>
                <p:nvPr>
                  <p:custDataLst>
                    <p:tags r:id="rId7"/>
                  </p:custDataLst>
                </p:nvPr>
              </p:nvSpPr>
              <p:spPr bwMode="auto">
                <a:xfrm>
                  <a:off x="3900190" y="4561024"/>
                  <a:ext cx="4551279" cy="1349714"/>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1" name="MH_Other_1"/>
                <p:cNvSpPr/>
                <p:nvPr>
                  <p:custDataLst>
                    <p:tags r:id="rId8"/>
                  </p:custDataLst>
                </p:nvPr>
              </p:nvSpPr>
              <p:spPr bwMode="auto">
                <a:xfrm>
                  <a:off x="6038836" y="1886732"/>
                  <a:ext cx="2739835" cy="2952220"/>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chemeClr val="accent5">
                    <a:lumMod val="60000"/>
                    <a:lumOff val="4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2" name="MH_Title_1"/>
                <p:cNvSpPr/>
                <p:nvPr>
                  <p:custDataLst>
                    <p:tags r:id="rId9"/>
                  </p:custDataLst>
                </p:nvPr>
              </p:nvSpPr>
              <p:spPr>
                <a:xfrm>
                  <a:off x="4473783" y="2682073"/>
                  <a:ext cx="3244436" cy="2433327"/>
                </a:xfrm>
                <a:prstGeom prst="ellipse">
                  <a:avLst/>
                </a:prstGeom>
                <a:solidFill>
                  <a:schemeClr val="accent5">
                    <a:lumMod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模块分割方法</a:t>
                  </a:r>
                </a:p>
              </p:txBody>
            </p:sp>
            <p:sp>
              <p:nvSpPr>
                <p:cNvPr id="23" name="MH_Other_2"/>
                <p:cNvSpPr/>
                <p:nvPr>
                  <p:custDataLst>
                    <p:tags r:id="rId10"/>
                  </p:custDataLst>
                </p:nvPr>
              </p:nvSpPr>
              <p:spPr>
                <a:xfrm rot="10873167">
                  <a:off x="3933420" y="2276800"/>
                  <a:ext cx="4325161" cy="3243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rgbClr val="7D7D7D"/>
                      </a:solidFill>
                      <a:latin typeface="微软雅黑" panose="020B0503020204020204" charset="-122"/>
                      <a:ea typeface="微软雅黑" panose="020B0503020204020204" charset="-122"/>
                    </a:rPr>
                    <a:t>模块分割顺序</a:t>
                  </a:r>
                </a:p>
              </p:txBody>
            </p:sp>
          </p:grpSp>
          <p:sp>
            <p:nvSpPr>
              <p:cNvPr id="17" name="MH_SubTitle_2"/>
              <p:cNvSpPr/>
              <p:nvPr>
                <p:custDataLst>
                  <p:tags r:id="rId4"/>
                </p:custDataLst>
              </p:nvPr>
            </p:nvSpPr>
            <p:spPr>
              <a:xfrm rot="3673167">
                <a:off x="1180142" y="3116078"/>
                <a:ext cx="3243871" cy="29513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b="1" dirty="0">
                    <a:solidFill>
                      <a:schemeClr val="tx1"/>
                    </a:solidFill>
                    <a:latin typeface="微软雅黑" panose="020B0503020204020204" charset="-122"/>
                    <a:ea typeface="微软雅黑" panose="020B0503020204020204" charset="-122"/>
                  </a:rPr>
                  <a:t>纵向分割</a:t>
                </a:r>
              </a:p>
            </p:txBody>
          </p:sp>
          <p:sp>
            <p:nvSpPr>
              <p:cNvPr id="18" name="MH_Other_3"/>
              <p:cNvSpPr/>
              <p:nvPr>
                <p:custDataLst>
                  <p:tags r:id="rId5"/>
                </p:custDataLst>
              </p:nvPr>
            </p:nvSpPr>
            <p:spPr>
              <a:xfrm rot="18073167">
                <a:off x="1532859" y="3092810"/>
                <a:ext cx="3243871" cy="2850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rgbClr val="7D7D7D"/>
                    </a:solidFill>
                    <a:latin typeface="微软雅黑" panose="020B0503020204020204" charset="-122"/>
                    <a:ea typeface="微软雅黑" panose="020B0503020204020204" charset="-122"/>
                  </a:rPr>
                  <a:t>横向分割</a:t>
                </a:r>
              </a:p>
            </p:txBody>
          </p:sp>
        </p:grpSp>
        <p:sp>
          <p:nvSpPr>
            <p:cNvPr id="6" name="任意多边形 5"/>
            <p:cNvSpPr/>
            <p:nvPr/>
          </p:nvSpPr>
          <p:spPr>
            <a:xfrm flipH="1">
              <a:off x="2853690" y="2252980"/>
              <a:ext cx="8001000" cy="714375"/>
            </a:xfrm>
            <a:custGeom>
              <a:avLst/>
              <a:gdLst>
                <a:gd name="connsiteX0" fmla="*/ 3336967 w 3336967"/>
                <a:gd name="connsiteY0" fmla="*/ 534390 h 534390"/>
                <a:gd name="connsiteX1" fmla="*/ 2315689 w 3336967"/>
                <a:gd name="connsiteY1" fmla="*/ 0 h 534390"/>
                <a:gd name="connsiteX2" fmla="*/ 0 w 3336967"/>
                <a:gd name="connsiteY2" fmla="*/ 0 h 534390"/>
                <a:gd name="connsiteX0-1" fmla="*/ 3336967 w 3336967"/>
                <a:gd name="connsiteY0-2" fmla="*/ 534390 h 534390"/>
                <a:gd name="connsiteX1-3" fmla="*/ 2955249 w 3336967"/>
                <a:gd name="connsiteY1-4" fmla="*/ 0 h 534390"/>
                <a:gd name="connsiteX2-5" fmla="*/ 0 w 3336967"/>
                <a:gd name="connsiteY2-6" fmla="*/ 0 h 534390"/>
                <a:gd name="connsiteX0-7" fmla="*/ 3336967 w 3336967"/>
                <a:gd name="connsiteY0-8" fmla="*/ 534390 h 534390"/>
                <a:gd name="connsiteX1-9" fmla="*/ 3160870 w 3336967"/>
                <a:gd name="connsiteY1-10" fmla="*/ 0 h 534390"/>
                <a:gd name="connsiteX2-11" fmla="*/ 0 w 3336967"/>
                <a:gd name="connsiteY2-12" fmla="*/ 0 h 534390"/>
              </a:gdLst>
              <a:ahLst/>
              <a:cxnLst>
                <a:cxn ang="0">
                  <a:pos x="connsiteX0-1" y="connsiteY0-2"/>
                </a:cxn>
                <a:cxn ang="0">
                  <a:pos x="connsiteX1-3" y="connsiteY1-4"/>
                </a:cxn>
                <a:cxn ang="0">
                  <a:pos x="connsiteX2-5" y="connsiteY2-6"/>
                </a:cxn>
              </a:cxnLst>
              <a:rect l="l" t="t" r="r" b="b"/>
              <a:pathLst>
                <a:path w="3336967" h="534390">
                  <a:moveTo>
                    <a:pt x="3336967" y="534390"/>
                  </a:moveTo>
                  <a:lnTo>
                    <a:pt x="3160870" y="0"/>
                  </a:lnTo>
                  <a:lnTo>
                    <a:pt x="0" y="0"/>
                  </a:lnTo>
                </a:path>
              </a:pathLst>
            </a:custGeom>
            <a:ln w="28575">
              <a:solidFill>
                <a:schemeClr val="tx1"/>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7" name="组合 19"/>
            <p:cNvGrpSpPr/>
            <p:nvPr/>
          </p:nvGrpSpPr>
          <p:grpSpPr>
            <a:xfrm>
              <a:off x="3498850" y="2432050"/>
              <a:ext cx="3609340" cy="535305"/>
              <a:chOff x="4238100" y="2643182"/>
              <a:chExt cx="4495181" cy="677876"/>
            </a:xfrm>
          </p:grpSpPr>
          <p:sp>
            <p:nvSpPr>
              <p:cNvPr id="14" name="MH_SubTitle_1"/>
              <p:cNvSpPr/>
              <p:nvPr>
                <p:custDataLst>
                  <p:tags r:id="rId2"/>
                </p:custDataLst>
              </p:nvPr>
            </p:nvSpPr>
            <p:spPr>
              <a:xfrm>
                <a:off x="4552858" y="2648007"/>
                <a:ext cx="4180423" cy="667422"/>
              </a:xfrm>
              <a:prstGeom prst="rect">
                <a:avLst/>
              </a:prstGeom>
              <a:solidFill>
                <a:schemeClr val="accent5">
                  <a:lumMod val="75000"/>
                </a:schemeClr>
              </a:solidFill>
              <a:ln w="28575" cap="flat" cmpd="sng" algn="ctr">
                <a:solidFill>
                  <a:srgbClr val="FFFFFF"/>
                </a:solidFill>
                <a:prstDash val="solid"/>
                <a:miter lim="800000"/>
              </a:ln>
              <a:effectLst>
                <a:outerShdw blurRad="50800" dist="25400" dir="2700000" algn="tl" rotWithShape="0">
                  <a:srgbClr val="3D3F41">
                    <a:lumMod val="40000"/>
                    <a:lumOff val="60000"/>
                    <a:alpha val="40000"/>
                  </a:srgbClr>
                </a:outerShdw>
              </a:effectLst>
            </p:spPr>
            <p:txBody>
              <a:bodyPr lIns="432000" tIns="36000" rIns="72000" bIns="36000" anchor="ctr">
                <a:normAutofit/>
              </a:bodyPr>
              <a:lstStyle/>
              <a:p>
                <a:pPr algn="just">
                  <a:lnSpc>
                    <a:spcPct val="110000"/>
                  </a:lnSpc>
                  <a:defRPr/>
                </a:pPr>
                <a:r>
                  <a:rPr lang="zh-CN" altLang="en-US" sz="2100" b="1" dirty="0">
                    <a:solidFill>
                      <a:schemeClr val="bg1"/>
                    </a:solidFill>
                    <a:latin typeface="微软雅黑" panose="020B0503020204020204" charset="-122"/>
                    <a:ea typeface="微软雅黑" panose="020B0503020204020204" charset="-122"/>
                  </a:rPr>
                  <a:t>纵向分割</a:t>
                </a:r>
              </a:p>
            </p:txBody>
          </p:sp>
          <p:sp>
            <p:nvSpPr>
              <p:cNvPr id="15" name="MH_Other_1"/>
              <p:cNvSpPr/>
              <p:nvPr>
                <p:custDataLst>
                  <p:tags r:id="rId3"/>
                </p:custDataLst>
              </p:nvPr>
            </p:nvSpPr>
            <p:spPr>
              <a:xfrm>
                <a:off x="4238100" y="2643182"/>
                <a:ext cx="714892" cy="677876"/>
              </a:xfrm>
              <a:prstGeom prst="ellipse">
                <a:avLst/>
              </a:prstGeom>
              <a:solidFill>
                <a:srgbClr val="FFFFFF"/>
              </a:solidFill>
              <a:ln w="28575" cap="flat" cmpd="sng" algn="ctr">
                <a:solidFill>
                  <a:schemeClr val="tx1"/>
                </a:solidFill>
                <a:prstDash val="solid"/>
                <a:miter lim="800000"/>
              </a:ln>
              <a:effectLst>
                <a:outerShdw blurRad="50800" dist="12700" dir="2700000" algn="tl" rotWithShape="0">
                  <a:srgbClr val="3D3F41">
                    <a:lumMod val="20000"/>
                    <a:lumOff val="80000"/>
                    <a:alpha val="36000"/>
                  </a:srgbClr>
                </a:outerShdw>
              </a:effectLst>
            </p:spPr>
            <p:txBody>
              <a:bodyPr lIns="0" tIns="0" rIns="0" bIns="0" anchor="ctr">
                <a:normAutofit/>
              </a:bodyPr>
              <a:lstStyle/>
              <a:p>
                <a:pPr algn="ctr" eaLnBrk="1" fontAlgn="auto" hangingPunct="1">
                  <a:spcBef>
                    <a:spcPts val="0"/>
                  </a:spcBef>
                  <a:spcAft>
                    <a:spcPts val="0"/>
                  </a:spcAft>
                  <a:defRPr/>
                </a:pPr>
                <a:r>
                  <a:rPr lang="en-US" altLang="zh-CN" sz="2000" b="1" kern="0" dirty="0">
                    <a:solidFill>
                      <a:schemeClr val="accent5">
                        <a:lumMod val="75000"/>
                      </a:schemeClr>
                    </a:solidFill>
                    <a:latin typeface="Kozuka Gothic Pr6N B" panose="020B0800000000000000" pitchFamily="34" charset="-128"/>
                    <a:ea typeface="Kozuka Gothic Pr6N B" panose="020B0800000000000000" pitchFamily="34" charset="-128"/>
                  </a:rPr>
                  <a:t>2</a:t>
                </a:r>
                <a:endParaRPr lang="zh-CN" altLang="en-US" sz="2000" b="1" kern="0" dirty="0">
                  <a:solidFill>
                    <a:schemeClr val="accent5">
                      <a:lumMod val="75000"/>
                    </a:schemeClr>
                  </a:solidFill>
                  <a:latin typeface="Kozuka Gothic Pr6N B" panose="020B0800000000000000" pitchFamily="34" charset="-128"/>
                  <a:ea typeface="Kozuka Gothic Pr6N B" panose="020B0800000000000000" pitchFamily="34" charset="-128"/>
                </a:endParaRPr>
              </a:p>
            </p:txBody>
          </p:sp>
        </p:grpSp>
        <p:sp>
          <p:nvSpPr>
            <p:cNvPr id="8" name="MH_SubTitle_1"/>
            <p:cNvSpPr txBox="1">
              <a:spLocks noChangeArrowheads="1"/>
            </p:cNvSpPr>
            <p:nvPr>
              <p:custDataLst>
                <p:tags r:id="rId1"/>
              </p:custDataLst>
            </p:nvPr>
          </p:nvSpPr>
          <p:spPr bwMode="auto">
            <a:xfrm flipH="1">
              <a:off x="3586070" y="3502511"/>
              <a:ext cx="7371739" cy="1639616"/>
            </a:xfrm>
            <a:prstGeom prst="rect">
              <a:avLst/>
            </a:prstGeom>
            <a:noFill/>
            <a:ln w="9525">
              <a:noFill/>
              <a:miter lim="800000"/>
            </a:ln>
          </p:spPr>
          <p:txBody>
            <a:bodyPr lIns="216000" tIns="34290" rIns="68580" bIns="34290" anchor="ctr">
              <a:spAutoFit/>
            </a:bodyPr>
            <a:lstStyle/>
            <a:p>
              <a:pPr>
                <a:lnSpc>
                  <a:spcPct val="130000"/>
                </a:lnSpc>
              </a:pPr>
              <a:r>
                <a:rPr lang="zh-CN" altLang="en-US" sz="1600" dirty="0"/>
                <a:t>        纵向分割是指根据系统对信息进行处理过程中不同的阶段来分割。</a:t>
              </a:r>
            </a:p>
            <a:p>
              <a:pPr>
                <a:lnSpc>
                  <a:spcPct val="130000"/>
                </a:lnSpc>
              </a:pPr>
              <a:r>
                <a:rPr lang="zh-CN" altLang="en-US" sz="1600" dirty="0"/>
                <a:t>        比如，在例</a:t>
              </a:r>
              <a:r>
                <a:rPr lang="en-US" sz="1600" dirty="0"/>
                <a:t>2-3</a:t>
              </a:r>
              <a:r>
                <a:rPr lang="zh-CN" altLang="en-US" sz="1600" dirty="0"/>
                <a:t>招聘考试成绩管理系统中，数据处理要逐步进行，前一步结束了后一步才可进行，前一步数据有误，会影响后一步工作的数据的正确性。该系统可划分为以下几个模块：输入考生基本情况，考前处理，输入考试成绩，计算考生成绩总分，排序，录用，输出录用名单，统计考试情况。</a:t>
              </a:r>
            </a:p>
          </p:txBody>
        </p:sp>
      </p:grpSp>
    </p:spTree>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endParaRPr lang="zh-CN" altLang="en-US" dirty="0"/>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3.2.2 </a:t>
            </a:r>
            <a:r>
              <a:rPr lang="zh-CN" altLang="en-US" sz="2400" dirty="0">
                <a:solidFill>
                  <a:schemeClr val="tx1"/>
                </a:solidFill>
              </a:rPr>
              <a:t>模块化</a:t>
            </a:r>
            <a:endParaRPr lang="en-US" altLang="zh-CN" sz="2400" dirty="0">
              <a:solidFill>
                <a:schemeClr val="tx1"/>
              </a:solidFill>
            </a:endParaRPr>
          </a:p>
        </p:txBody>
      </p:sp>
      <p:grpSp>
        <p:nvGrpSpPr>
          <p:cNvPr id="3" name="组合 23"/>
          <p:cNvGrpSpPr/>
          <p:nvPr/>
        </p:nvGrpSpPr>
        <p:grpSpPr>
          <a:xfrm>
            <a:off x="1006236" y="2267968"/>
            <a:ext cx="10358120" cy="3833498"/>
            <a:chOff x="496570" y="2252980"/>
            <a:chExt cx="10358120" cy="3833498"/>
          </a:xfrm>
        </p:grpSpPr>
        <p:grpSp>
          <p:nvGrpSpPr>
            <p:cNvPr id="4" name="组合 7"/>
            <p:cNvGrpSpPr/>
            <p:nvPr/>
          </p:nvGrpSpPr>
          <p:grpSpPr>
            <a:xfrm>
              <a:off x="496570" y="2620645"/>
              <a:ext cx="2769235" cy="2775585"/>
              <a:chOff x="1326396" y="2857496"/>
              <a:chExt cx="3253555" cy="3356199"/>
            </a:xfrm>
          </p:grpSpPr>
          <p:grpSp>
            <p:nvGrpSpPr>
              <p:cNvPr id="5" name="组合 10"/>
              <p:cNvGrpSpPr/>
              <p:nvPr/>
            </p:nvGrpSpPr>
            <p:grpSpPr>
              <a:xfrm>
                <a:off x="1452526" y="2857496"/>
                <a:ext cx="3111298" cy="2928958"/>
                <a:chOff x="3413330" y="1857364"/>
                <a:chExt cx="5365341" cy="4053374"/>
              </a:xfrm>
            </p:grpSpPr>
            <p:sp>
              <p:nvSpPr>
                <p:cNvPr id="19" name="MH_SubTitle_1"/>
                <p:cNvSpPr/>
                <p:nvPr>
                  <p:custDataLst>
                    <p:tags r:id="rId6"/>
                  </p:custDataLst>
                </p:nvPr>
              </p:nvSpPr>
              <p:spPr bwMode="auto">
                <a:xfrm>
                  <a:off x="3413330" y="1857364"/>
                  <a:ext cx="2832476" cy="3042398"/>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0" name="MH_SubTitle_3"/>
                <p:cNvSpPr/>
                <p:nvPr>
                  <p:custDataLst>
                    <p:tags r:id="rId7"/>
                  </p:custDataLst>
                </p:nvPr>
              </p:nvSpPr>
              <p:spPr bwMode="auto">
                <a:xfrm>
                  <a:off x="3900190" y="4561024"/>
                  <a:ext cx="4551279" cy="1349714"/>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1" name="MH_Other_1"/>
                <p:cNvSpPr/>
                <p:nvPr>
                  <p:custDataLst>
                    <p:tags r:id="rId8"/>
                  </p:custDataLst>
                </p:nvPr>
              </p:nvSpPr>
              <p:spPr bwMode="auto">
                <a:xfrm>
                  <a:off x="6038836" y="1886732"/>
                  <a:ext cx="2739835" cy="2952220"/>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chemeClr val="accent5">
                    <a:lumMod val="60000"/>
                    <a:lumOff val="4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2" name="MH_Title_1"/>
                <p:cNvSpPr/>
                <p:nvPr>
                  <p:custDataLst>
                    <p:tags r:id="rId9"/>
                  </p:custDataLst>
                </p:nvPr>
              </p:nvSpPr>
              <p:spPr>
                <a:xfrm>
                  <a:off x="4473783" y="2682073"/>
                  <a:ext cx="3244436" cy="2433327"/>
                </a:xfrm>
                <a:prstGeom prst="ellipse">
                  <a:avLst/>
                </a:prstGeom>
                <a:solidFill>
                  <a:schemeClr val="accent5">
                    <a:lumMod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模块分割方法</a:t>
                  </a:r>
                </a:p>
              </p:txBody>
            </p:sp>
            <p:sp>
              <p:nvSpPr>
                <p:cNvPr id="23" name="MH_Other_2"/>
                <p:cNvSpPr/>
                <p:nvPr>
                  <p:custDataLst>
                    <p:tags r:id="rId10"/>
                  </p:custDataLst>
                </p:nvPr>
              </p:nvSpPr>
              <p:spPr>
                <a:xfrm rot="10873167">
                  <a:off x="3933420" y="2276800"/>
                  <a:ext cx="4325161" cy="3243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rgbClr val="7D7D7D"/>
                      </a:solidFill>
                      <a:latin typeface="微软雅黑" panose="020B0503020204020204" charset="-122"/>
                      <a:ea typeface="微软雅黑" panose="020B0503020204020204" charset="-122"/>
                    </a:rPr>
                    <a:t>横向分割</a:t>
                  </a:r>
                </a:p>
              </p:txBody>
            </p:sp>
          </p:grpSp>
          <p:sp>
            <p:nvSpPr>
              <p:cNvPr id="17" name="MH_SubTitle_2"/>
              <p:cNvSpPr/>
              <p:nvPr>
                <p:custDataLst>
                  <p:tags r:id="rId4"/>
                </p:custDataLst>
              </p:nvPr>
            </p:nvSpPr>
            <p:spPr>
              <a:xfrm rot="3673167">
                <a:off x="1180142" y="3116078"/>
                <a:ext cx="3243871" cy="29513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b="1" dirty="0">
                    <a:solidFill>
                      <a:schemeClr val="tx1"/>
                    </a:solidFill>
                    <a:latin typeface="微软雅黑" panose="020B0503020204020204" charset="-122"/>
                    <a:ea typeface="微软雅黑" panose="020B0503020204020204" charset="-122"/>
                  </a:rPr>
                  <a:t>模块分割顺序</a:t>
                </a:r>
              </a:p>
            </p:txBody>
          </p:sp>
          <p:sp>
            <p:nvSpPr>
              <p:cNvPr id="18" name="MH_Other_3"/>
              <p:cNvSpPr/>
              <p:nvPr>
                <p:custDataLst>
                  <p:tags r:id="rId5"/>
                </p:custDataLst>
              </p:nvPr>
            </p:nvSpPr>
            <p:spPr>
              <a:xfrm rot="18073167">
                <a:off x="1532859" y="3092810"/>
                <a:ext cx="3243871" cy="2850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rgbClr val="7D7D7D"/>
                    </a:solidFill>
                    <a:latin typeface="微软雅黑" panose="020B0503020204020204" charset="-122"/>
                    <a:ea typeface="微软雅黑" panose="020B0503020204020204" charset="-122"/>
                  </a:rPr>
                  <a:t>纵向分割</a:t>
                </a:r>
              </a:p>
            </p:txBody>
          </p:sp>
        </p:grpSp>
        <p:sp>
          <p:nvSpPr>
            <p:cNvPr id="6" name="任意多边形 5"/>
            <p:cNvSpPr/>
            <p:nvPr/>
          </p:nvSpPr>
          <p:spPr>
            <a:xfrm flipH="1">
              <a:off x="2853690" y="2252980"/>
              <a:ext cx="8001000" cy="714375"/>
            </a:xfrm>
            <a:custGeom>
              <a:avLst/>
              <a:gdLst>
                <a:gd name="connsiteX0" fmla="*/ 3336967 w 3336967"/>
                <a:gd name="connsiteY0" fmla="*/ 534390 h 534390"/>
                <a:gd name="connsiteX1" fmla="*/ 2315689 w 3336967"/>
                <a:gd name="connsiteY1" fmla="*/ 0 h 534390"/>
                <a:gd name="connsiteX2" fmla="*/ 0 w 3336967"/>
                <a:gd name="connsiteY2" fmla="*/ 0 h 534390"/>
                <a:gd name="connsiteX0-1" fmla="*/ 3336967 w 3336967"/>
                <a:gd name="connsiteY0-2" fmla="*/ 534390 h 534390"/>
                <a:gd name="connsiteX1-3" fmla="*/ 2955249 w 3336967"/>
                <a:gd name="connsiteY1-4" fmla="*/ 0 h 534390"/>
                <a:gd name="connsiteX2-5" fmla="*/ 0 w 3336967"/>
                <a:gd name="connsiteY2-6" fmla="*/ 0 h 534390"/>
                <a:gd name="connsiteX0-7" fmla="*/ 3336967 w 3336967"/>
                <a:gd name="connsiteY0-8" fmla="*/ 534390 h 534390"/>
                <a:gd name="connsiteX1-9" fmla="*/ 3160870 w 3336967"/>
                <a:gd name="connsiteY1-10" fmla="*/ 0 h 534390"/>
                <a:gd name="connsiteX2-11" fmla="*/ 0 w 3336967"/>
                <a:gd name="connsiteY2-12" fmla="*/ 0 h 534390"/>
              </a:gdLst>
              <a:ahLst/>
              <a:cxnLst>
                <a:cxn ang="0">
                  <a:pos x="connsiteX0-1" y="connsiteY0-2"/>
                </a:cxn>
                <a:cxn ang="0">
                  <a:pos x="connsiteX1-3" y="connsiteY1-4"/>
                </a:cxn>
                <a:cxn ang="0">
                  <a:pos x="connsiteX2-5" y="connsiteY2-6"/>
                </a:cxn>
              </a:cxnLst>
              <a:rect l="l" t="t" r="r" b="b"/>
              <a:pathLst>
                <a:path w="3336967" h="534390">
                  <a:moveTo>
                    <a:pt x="3336967" y="534390"/>
                  </a:moveTo>
                  <a:lnTo>
                    <a:pt x="3160870" y="0"/>
                  </a:lnTo>
                  <a:lnTo>
                    <a:pt x="0" y="0"/>
                  </a:lnTo>
                </a:path>
              </a:pathLst>
            </a:custGeom>
            <a:ln w="28575">
              <a:solidFill>
                <a:schemeClr val="tx1"/>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7" name="组合 19"/>
            <p:cNvGrpSpPr/>
            <p:nvPr/>
          </p:nvGrpSpPr>
          <p:grpSpPr>
            <a:xfrm>
              <a:off x="3498850" y="2432050"/>
              <a:ext cx="3609340" cy="535305"/>
              <a:chOff x="4238100" y="2643182"/>
              <a:chExt cx="4495181" cy="677876"/>
            </a:xfrm>
          </p:grpSpPr>
          <p:sp>
            <p:nvSpPr>
              <p:cNvPr id="14" name="MH_SubTitle_1"/>
              <p:cNvSpPr/>
              <p:nvPr>
                <p:custDataLst>
                  <p:tags r:id="rId2"/>
                </p:custDataLst>
              </p:nvPr>
            </p:nvSpPr>
            <p:spPr>
              <a:xfrm>
                <a:off x="4552858" y="2648007"/>
                <a:ext cx="4180423" cy="667422"/>
              </a:xfrm>
              <a:prstGeom prst="rect">
                <a:avLst/>
              </a:prstGeom>
              <a:solidFill>
                <a:schemeClr val="accent5">
                  <a:lumMod val="75000"/>
                </a:schemeClr>
              </a:solidFill>
              <a:ln w="28575" cap="flat" cmpd="sng" algn="ctr">
                <a:solidFill>
                  <a:srgbClr val="FFFFFF"/>
                </a:solidFill>
                <a:prstDash val="solid"/>
                <a:miter lim="800000"/>
              </a:ln>
              <a:effectLst>
                <a:outerShdw blurRad="50800" dist="25400" dir="2700000" algn="tl" rotWithShape="0">
                  <a:srgbClr val="3D3F41">
                    <a:lumMod val="40000"/>
                    <a:lumOff val="60000"/>
                    <a:alpha val="40000"/>
                  </a:srgbClr>
                </a:outerShdw>
              </a:effectLst>
            </p:spPr>
            <p:txBody>
              <a:bodyPr lIns="432000" tIns="36000" rIns="72000" bIns="36000" anchor="ctr">
                <a:normAutofit/>
              </a:bodyPr>
              <a:lstStyle/>
              <a:p>
                <a:pPr algn="just">
                  <a:lnSpc>
                    <a:spcPct val="110000"/>
                  </a:lnSpc>
                  <a:defRPr/>
                </a:pPr>
                <a:r>
                  <a:rPr lang="zh-CN" altLang="en-US" sz="2100" b="1" dirty="0">
                    <a:solidFill>
                      <a:schemeClr val="bg1"/>
                    </a:solidFill>
                    <a:latin typeface="微软雅黑" panose="020B0503020204020204" charset="-122"/>
                    <a:ea typeface="微软雅黑" panose="020B0503020204020204" charset="-122"/>
                  </a:rPr>
                  <a:t>模块分割顺序</a:t>
                </a:r>
              </a:p>
            </p:txBody>
          </p:sp>
          <p:sp>
            <p:nvSpPr>
              <p:cNvPr id="15" name="MH_Other_1"/>
              <p:cNvSpPr/>
              <p:nvPr>
                <p:custDataLst>
                  <p:tags r:id="rId3"/>
                </p:custDataLst>
              </p:nvPr>
            </p:nvSpPr>
            <p:spPr>
              <a:xfrm>
                <a:off x="4238100" y="2643182"/>
                <a:ext cx="714892" cy="677876"/>
              </a:xfrm>
              <a:prstGeom prst="ellipse">
                <a:avLst/>
              </a:prstGeom>
              <a:solidFill>
                <a:srgbClr val="FFFFFF"/>
              </a:solidFill>
              <a:ln w="28575" cap="flat" cmpd="sng" algn="ctr">
                <a:solidFill>
                  <a:schemeClr val="tx1"/>
                </a:solidFill>
                <a:prstDash val="solid"/>
                <a:miter lim="800000"/>
              </a:ln>
              <a:effectLst>
                <a:outerShdw blurRad="50800" dist="12700" dir="2700000" algn="tl" rotWithShape="0">
                  <a:srgbClr val="3D3F41">
                    <a:lumMod val="20000"/>
                    <a:lumOff val="80000"/>
                    <a:alpha val="36000"/>
                  </a:srgbClr>
                </a:outerShdw>
              </a:effectLst>
            </p:spPr>
            <p:txBody>
              <a:bodyPr lIns="0" tIns="0" rIns="0" bIns="0" anchor="ctr">
                <a:normAutofit/>
              </a:bodyPr>
              <a:lstStyle/>
              <a:p>
                <a:pPr algn="ctr" eaLnBrk="1" fontAlgn="auto" hangingPunct="1">
                  <a:spcBef>
                    <a:spcPts val="0"/>
                  </a:spcBef>
                  <a:spcAft>
                    <a:spcPts val="0"/>
                  </a:spcAft>
                  <a:defRPr/>
                </a:pPr>
                <a:r>
                  <a:rPr lang="en-US" altLang="zh-CN" sz="2000" b="1" kern="0" dirty="0">
                    <a:solidFill>
                      <a:schemeClr val="accent5">
                        <a:lumMod val="75000"/>
                      </a:schemeClr>
                    </a:solidFill>
                    <a:latin typeface="Kozuka Gothic Pr6N B" panose="020B0800000000000000" pitchFamily="34" charset="-128"/>
                    <a:ea typeface="Kozuka Gothic Pr6N B" panose="020B0800000000000000" pitchFamily="34" charset="-128"/>
                  </a:rPr>
                  <a:t>3</a:t>
                </a:r>
                <a:endParaRPr lang="zh-CN" altLang="en-US" sz="2000" b="1" kern="0" dirty="0">
                  <a:solidFill>
                    <a:schemeClr val="accent5">
                      <a:lumMod val="75000"/>
                    </a:schemeClr>
                  </a:solidFill>
                  <a:latin typeface="Kozuka Gothic Pr6N B" panose="020B0800000000000000" pitchFamily="34" charset="-128"/>
                  <a:ea typeface="Kozuka Gothic Pr6N B" panose="020B0800000000000000" pitchFamily="34" charset="-128"/>
                </a:endParaRPr>
              </a:p>
            </p:txBody>
          </p:sp>
        </p:grpSp>
        <p:sp>
          <p:nvSpPr>
            <p:cNvPr id="8" name="MH_SubTitle_1"/>
            <p:cNvSpPr txBox="1">
              <a:spLocks noChangeArrowheads="1"/>
            </p:cNvSpPr>
            <p:nvPr>
              <p:custDataLst>
                <p:tags r:id="rId1"/>
              </p:custDataLst>
            </p:nvPr>
          </p:nvSpPr>
          <p:spPr bwMode="auto">
            <a:xfrm flipH="1">
              <a:off x="3357796" y="3381955"/>
              <a:ext cx="7345179" cy="2704523"/>
            </a:xfrm>
            <a:prstGeom prst="rect">
              <a:avLst/>
            </a:prstGeom>
            <a:noFill/>
            <a:ln w="9525">
              <a:noFill/>
              <a:miter lim="800000"/>
            </a:ln>
          </p:spPr>
          <p:txBody>
            <a:bodyPr lIns="216000" tIns="34290" rIns="68580" bIns="34290" anchor="ctr">
              <a:spAutoFit/>
            </a:bodyPr>
            <a:lstStyle/>
            <a:p>
              <a:pPr>
                <a:lnSpc>
                  <a:spcPct val="120000"/>
                </a:lnSpc>
              </a:pPr>
              <a:r>
                <a:rPr lang="zh-CN" altLang="en-US" sz="1600" dirty="0"/>
                <a:t>       正确的模块分割顺序应该是：</a:t>
              </a:r>
              <a:r>
                <a:rPr lang="zh-CN" altLang="en-US" sz="1600" dirty="0">
                  <a:solidFill>
                    <a:schemeClr val="accent4">
                      <a:lumMod val="50000"/>
                    </a:schemeClr>
                  </a:solidFill>
                </a:rPr>
                <a:t>先确定中心控制模块，由控制模块指示从属模块，逐次进行分解。把各个功能层次化、具体化，各个功能模块最好只有一个入口、一个出口</a:t>
              </a:r>
              <a:r>
                <a:rPr lang="zh-CN" altLang="en-US" sz="1600" dirty="0"/>
                <a:t>。</a:t>
              </a:r>
            </a:p>
            <a:p>
              <a:pPr>
                <a:lnSpc>
                  <a:spcPct val="120000"/>
                </a:lnSpc>
              </a:pPr>
              <a:r>
                <a:rPr lang="zh-CN" altLang="en-US" sz="1600" dirty="0"/>
                <a:t>        例如，图书馆管理系统的用户有图书馆工作人员和读者。图书馆工作人员又分图书采编（采购、图书编码）、读者管理、图书流通（借书、还书）等岗位，各司其职、职责分明。读者只能查询图书信息，不能进入图书流通和读者管理等图书馆工作人员才能进入的功能模块。在进入该系统时，要根据系统用户的权限，确定允许其进入哪个模块。该系统的模块分割方法就是先确定中心控制模块，再将每个从属模块的功能逐步细化。</a:t>
              </a:r>
            </a:p>
          </p:txBody>
        </p:sp>
      </p:grpSp>
    </p:spTree>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3.2.2 </a:t>
            </a:r>
            <a:r>
              <a:rPr lang="zh-CN" altLang="en-US" sz="2400" dirty="0">
                <a:solidFill>
                  <a:schemeClr val="tx1"/>
                </a:solidFill>
              </a:rPr>
              <a:t>模块化</a:t>
            </a:r>
          </a:p>
        </p:txBody>
      </p:sp>
      <p:grpSp>
        <p:nvGrpSpPr>
          <p:cNvPr id="39" name="组合 38"/>
          <p:cNvGrpSpPr/>
          <p:nvPr/>
        </p:nvGrpSpPr>
        <p:grpSpPr>
          <a:xfrm>
            <a:off x="1287530" y="2693504"/>
            <a:ext cx="10422255" cy="2857500"/>
            <a:chOff x="1188" y="3746"/>
            <a:chExt cx="16413" cy="4500"/>
          </a:xfrm>
        </p:grpSpPr>
        <p:sp>
          <p:nvSpPr>
            <p:cNvPr id="7" name="文本框 6"/>
            <p:cNvSpPr txBox="1"/>
            <p:nvPr/>
          </p:nvSpPr>
          <p:spPr>
            <a:xfrm>
              <a:off x="1188" y="4112"/>
              <a:ext cx="750" cy="3131"/>
            </a:xfrm>
            <a:prstGeom prst="rect">
              <a:avLst/>
            </a:prstGeom>
            <a:noFill/>
          </p:spPr>
          <p:txBody>
            <a:bodyPr vert="eaVert" wrap="none" rtlCol="0">
              <a:spAutoFit/>
            </a:bodyPr>
            <a:lstStyle/>
            <a:p>
              <a:pPr algn="l"/>
              <a:r>
                <a:rPr lang="en-US" altLang="zh-CN" spc="160" dirty="0">
                  <a:solidFill>
                    <a:schemeClr val="bg1"/>
                  </a:solidFill>
                  <a:latin typeface="微软雅黑" panose="020B0503020204020204" charset="-122"/>
                  <a:ea typeface="微软雅黑" panose="020B0503020204020204" charset="-122"/>
                </a:rPr>
                <a:t>1</a:t>
              </a:r>
              <a:r>
                <a:rPr lang="zh-CN" altLang="en-US" spc="160" dirty="0">
                  <a:solidFill>
                    <a:schemeClr val="bg1"/>
                  </a:solidFill>
                  <a:latin typeface="微软雅黑" panose="020B0503020204020204" charset="-122"/>
                  <a:ea typeface="微软雅黑" panose="020B0503020204020204" charset="-122"/>
                </a:rPr>
                <a:t>）确定设计方案</a:t>
              </a:r>
              <a:endParaRPr lang="en-US" altLang="zh-CN" spc="160" dirty="0">
                <a:solidFill>
                  <a:schemeClr val="bg1"/>
                </a:solidFill>
                <a:latin typeface="微软雅黑" panose="020B0503020204020204" charset="-122"/>
                <a:ea typeface="微软雅黑" panose="020B0503020204020204" charset="-122"/>
              </a:endParaRPr>
            </a:p>
          </p:txBody>
        </p:sp>
        <p:grpSp>
          <p:nvGrpSpPr>
            <p:cNvPr id="12" name="组合 11"/>
            <p:cNvGrpSpPr/>
            <p:nvPr/>
          </p:nvGrpSpPr>
          <p:grpSpPr>
            <a:xfrm>
              <a:off x="1491" y="3746"/>
              <a:ext cx="16110" cy="4500"/>
              <a:chOff x="1140" y="3596"/>
              <a:chExt cx="16110" cy="4500"/>
            </a:xfrm>
          </p:grpSpPr>
          <p:sp>
            <p:nvSpPr>
              <p:cNvPr id="8" name="MH_SubTitle_2"/>
              <p:cNvSpPr/>
              <p:nvPr>
                <p:custDataLst>
                  <p:tags r:id="rId1"/>
                </p:custDataLst>
              </p:nvPr>
            </p:nvSpPr>
            <p:spPr>
              <a:xfrm>
                <a:off x="1140" y="3941"/>
                <a:ext cx="3898" cy="3863"/>
              </a:xfrm>
              <a:custGeom>
                <a:avLst/>
                <a:gdLst>
                  <a:gd name="connsiteX0" fmla="*/ 701384 w 1754501"/>
                  <a:gd name="connsiteY0" fmla="*/ 0 h 2106234"/>
                  <a:gd name="connsiteX1" fmla="*/ 1754501 w 1754501"/>
                  <a:gd name="connsiteY1" fmla="*/ 1053117 h 2106234"/>
                  <a:gd name="connsiteX2" fmla="*/ 701384 w 1754501"/>
                  <a:gd name="connsiteY2" fmla="*/ 2106234 h 2106234"/>
                  <a:gd name="connsiteX3" fmla="*/ 1391 w 1754501"/>
                  <a:gd name="connsiteY3" fmla="*/ 1406241 h 2106234"/>
                  <a:gd name="connsiteX4" fmla="*/ 353124 w 1754501"/>
                  <a:gd name="connsiteY4" fmla="*/ 1054508 h 2106234"/>
                  <a:gd name="connsiteX5" fmla="*/ 695 w 1754501"/>
                  <a:gd name="connsiteY5" fmla="*/ 702079 h 2106234"/>
                  <a:gd name="connsiteX6" fmla="*/ 695 w 1754501"/>
                  <a:gd name="connsiteY6" fmla="*/ 702079 h 2106234"/>
                  <a:gd name="connsiteX7" fmla="*/ 0 w 1754501"/>
                  <a:gd name="connsiteY7" fmla="*/ 701384 h 2106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54501" h="2106234">
                    <a:moveTo>
                      <a:pt x="701384" y="0"/>
                    </a:moveTo>
                    <a:lnTo>
                      <a:pt x="1754501" y="1053117"/>
                    </a:lnTo>
                    <a:lnTo>
                      <a:pt x="701384" y="2106234"/>
                    </a:lnTo>
                    <a:lnTo>
                      <a:pt x="1391" y="1406241"/>
                    </a:lnTo>
                    <a:lnTo>
                      <a:pt x="353124" y="1054508"/>
                    </a:lnTo>
                    <a:lnTo>
                      <a:pt x="695" y="702079"/>
                    </a:lnTo>
                    <a:lnTo>
                      <a:pt x="695" y="702079"/>
                    </a:lnTo>
                    <a:lnTo>
                      <a:pt x="0" y="701384"/>
                    </a:lnTo>
                    <a:close/>
                  </a:path>
                </a:pathLst>
              </a:custGeom>
              <a:solidFill>
                <a:schemeClr val="accent6">
                  <a:lumMod val="75000"/>
                </a:schemeClr>
              </a:solidFill>
              <a:ln w="127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216000" anchor="ctr">
                <a:normAutofit/>
              </a:bodyPr>
              <a:lstStyle/>
              <a:p>
                <a:pPr algn="ctr" eaLnBrk="1" fontAlgn="auto" hangingPunct="1">
                  <a:spcBef>
                    <a:spcPts val="0"/>
                  </a:spcBef>
                  <a:spcAft>
                    <a:spcPts val="0"/>
                  </a:spcAft>
                  <a:defRPr/>
                </a:pPr>
                <a:endParaRPr lang="zh-CN" altLang="en-US" sz="2400" dirty="0">
                  <a:solidFill>
                    <a:schemeClr val="bg1"/>
                  </a:solidFill>
                  <a:latin typeface="微软雅黑" panose="020B0503020204020204" charset="-122"/>
                  <a:ea typeface="微软雅黑" panose="020B0503020204020204" charset="-122"/>
                </a:endParaRPr>
              </a:p>
            </p:txBody>
          </p:sp>
          <p:cxnSp>
            <p:nvCxnSpPr>
              <p:cNvPr id="9" name="MH_Other_6"/>
              <p:cNvCxnSpPr>
                <a:stCxn id="19" idx="3"/>
                <a:endCxn id="16" idx="2"/>
              </p:cNvCxnSpPr>
              <p:nvPr>
                <p:custDataLst>
                  <p:tags r:id="rId2"/>
                </p:custDataLst>
              </p:nvPr>
            </p:nvCxnSpPr>
            <p:spPr>
              <a:xfrm flipH="1">
                <a:off x="4127" y="4043"/>
                <a:ext cx="1989" cy="50"/>
              </a:xfrm>
              <a:prstGeom prst="line">
                <a:avLst/>
              </a:prstGeom>
              <a:ln w="19050">
                <a:solidFill>
                  <a:srgbClr val="B4B4B4"/>
                </a:solidFill>
              </a:ln>
            </p:spPr>
            <p:style>
              <a:lnRef idx="1">
                <a:schemeClr val="accent1"/>
              </a:lnRef>
              <a:fillRef idx="0">
                <a:schemeClr val="accent1"/>
              </a:fillRef>
              <a:effectRef idx="0">
                <a:schemeClr val="accent1"/>
              </a:effectRef>
              <a:fontRef idx="minor">
                <a:schemeClr val="tx1"/>
              </a:fontRef>
            </p:style>
          </p:cxnSp>
          <p:cxnSp>
            <p:nvCxnSpPr>
              <p:cNvPr id="10" name="MH_Other_7"/>
              <p:cNvCxnSpPr/>
              <p:nvPr>
                <p:custDataLst>
                  <p:tags r:id="rId3"/>
                </p:custDataLst>
              </p:nvPr>
            </p:nvCxnSpPr>
            <p:spPr>
              <a:xfrm rot="5400000">
                <a:off x="6278" y="4596"/>
                <a:ext cx="1" cy="1150"/>
              </a:xfrm>
              <a:prstGeom prst="line">
                <a:avLst/>
              </a:prstGeom>
              <a:ln w="19050">
                <a:solidFill>
                  <a:srgbClr val="B4B4B4"/>
                </a:solidFill>
              </a:ln>
            </p:spPr>
            <p:style>
              <a:lnRef idx="1">
                <a:schemeClr val="accent1"/>
              </a:lnRef>
              <a:fillRef idx="0">
                <a:schemeClr val="accent1"/>
              </a:fillRef>
              <a:effectRef idx="0">
                <a:schemeClr val="accent1"/>
              </a:effectRef>
              <a:fontRef idx="minor">
                <a:schemeClr val="tx1"/>
              </a:fontRef>
            </p:style>
          </p:cxnSp>
          <p:cxnSp>
            <p:nvCxnSpPr>
              <p:cNvPr id="11" name="MH_Other_8"/>
              <p:cNvCxnSpPr/>
              <p:nvPr>
                <p:custDataLst>
                  <p:tags r:id="rId4"/>
                </p:custDataLst>
              </p:nvPr>
            </p:nvCxnSpPr>
            <p:spPr>
              <a:xfrm flipH="1">
                <a:off x="5680" y="6453"/>
                <a:ext cx="943" cy="0"/>
              </a:xfrm>
              <a:prstGeom prst="line">
                <a:avLst/>
              </a:prstGeom>
              <a:ln w="19050">
                <a:solidFill>
                  <a:srgbClr val="B4B4B4"/>
                </a:solidFill>
              </a:ln>
            </p:spPr>
            <p:style>
              <a:lnRef idx="1">
                <a:schemeClr val="accent1"/>
              </a:lnRef>
              <a:fillRef idx="0">
                <a:schemeClr val="accent1"/>
              </a:fillRef>
              <a:effectRef idx="0">
                <a:schemeClr val="accent1"/>
              </a:effectRef>
              <a:fontRef idx="minor">
                <a:schemeClr val="tx1"/>
              </a:fontRef>
            </p:style>
          </p:cxnSp>
          <p:cxnSp>
            <p:nvCxnSpPr>
              <p:cNvPr id="13" name="MH_Other_9"/>
              <p:cNvCxnSpPr>
                <a:stCxn id="32" idx="3"/>
                <a:endCxn id="16" idx="0"/>
              </p:cNvCxnSpPr>
              <p:nvPr>
                <p:custDataLst>
                  <p:tags r:id="rId5"/>
                </p:custDataLst>
              </p:nvPr>
            </p:nvCxnSpPr>
            <p:spPr>
              <a:xfrm flipH="1">
                <a:off x="4244" y="7642"/>
                <a:ext cx="1943" cy="11"/>
              </a:xfrm>
              <a:prstGeom prst="line">
                <a:avLst/>
              </a:prstGeom>
              <a:ln w="19050">
                <a:solidFill>
                  <a:srgbClr val="B4B4B4"/>
                </a:solidFill>
              </a:ln>
            </p:spPr>
            <p:style>
              <a:lnRef idx="1">
                <a:schemeClr val="accent1"/>
              </a:lnRef>
              <a:fillRef idx="0">
                <a:schemeClr val="accent1"/>
              </a:fillRef>
              <a:effectRef idx="0">
                <a:schemeClr val="accent1"/>
              </a:effectRef>
              <a:fontRef idx="minor">
                <a:schemeClr val="tx1"/>
              </a:fontRef>
            </p:style>
          </p:cxnSp>
          <p:sp>
            <p:nvSpPr>
              <p:cNvPr id="16" name="MH_Other_10"/>
              <p:cNvSpPr/>
              <p:nvPr>
                <p:custDataLst>
                  <p:tags r:id="rId6"/>
                </p:custDataLst>
              </p:nvPr>
            </p:nvSpPr>
            <p:spPr>
              <a:xfrm flipH="1">
                <a:off x="4127" y="4093"/>
                <a:ext cx="1677" cy="3560"/>
              </a:xfrm>
              <a:custGeom>
                <a:avLst/>
                <a:gdLst>
                  <a:gd name="connsiteX0" fmla="*/ 1656184 w 1779897"/>
                  <a:gd name="connsiteY0" fmla="*/ 0 h 5164353"/>
                  <a:gd name="connsiteX1" fmla="*/ 1656184 w 1779897"/>
                  <a:gd name="connsiteY1" fmla="*/ 5164353 h 5164353"/>
                  <a:gd name="connsiteX2" fmla="*/ 0 w 1779897"/>
                  <a:gd name="connsiteY2" fmla="*/ 2582176 h 5164353"/>
                  <a:gd name="connsiteX3" fmla="*/ 1779897 w 1779897"/>
                  <a:gd name="connsiteY3" fmla="*/ 123713 h 5164353"/>
                  <a:gd name="connsiteX0-1" fmla="*/ 1656184 w 1779897"/>
                  <a:gd name="connsiteY0-2" fmla="*/ 5040640 h 5040640"/>
                  <a:gd name="connsiteX1-3" fmla="*/ 0 w 1779897"/>
                  <a:gd name="connsiteY1-4" fmla="*/ 2458463 h 5040640"/>
                  <a:gd name="connsiteX2-5" fmla="*/ 1779897 w 1779897"/>
                  <a:gd name="connsiteY2-6" fmla="*/ 0 h 5040640"/>
                </a:gdLst>
                <a:ahLst/>
                <a:cxnLst>
                  <a:cxn ang="0">
                    <a:pos x="connsiteX0-1" y="connsiteY0-2"/>
                  </a:cxn>
                  <a:cxn ang="0">
                    <a:pos x="connsiteX1-3" y="connsiteY1-4"/>
                  </a:cxn>
                  <a:cxn ang="0">
                    <a:pos x="connsiteX2-5" y="connsiteY2-6"/>
                  </a:cxn>
                </a:cxnLst>
                <a:rect l="l" t="t" r="r" b="b"/>
                <a:pathLst>
                  <a:path w="1779897" h="5040640">
                    <a:moveTo>
                      <a:pt x="1656184" y="5040640"/>
                    </a:moveTo>
                    <a:cubicBezTo>
                      <a:pt x="672218" y="4560603"/>
                      <a:pt x="0" y="3584328"/>
                      <a:pt x="0" y="2458463"/>
                    </a:cubicBezTo>
                    <a:cubicBezTo>
                      <a:pt x="0" y="1332599"/>
                      <a:pt x="672218" y="356323"/>
                      <a:pt x="1779897" y="0"/>
                    </a:cubicBezTo>
                  </a:path>
                </a:pathLst>
              </a:custGeom>
              <a:noFill/>
              <a:ln w="76200" cmpd="sng">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FFFFFF"/>
                  </a:solidFill>
                  <a:latin typeface="微软雅黑" panose="020B0503020204020204" charset="-122"/>
                  <a:ea typeface="微软雅黑" panose="020B0503020204020204" charset="-122"/>
                </a:endParaRPr>
              </a:p>
            </p:txBody>
          </p:sp>
          <p:sp>
            <p:nvSpPr>
              <p:cNvPr id="19" name="MH_Text_2"/>
              <p:cNvSpPr/>
              <p:nvPr>
                <p:custDataLst>
                  <p:tags r:id="rId7"/>
                </p:custDataLst>
              </p:nvPr>
            </p:nvSpPr>
            <p:spPr>
              <a:xfrm rot="25868" flipH="1">
                <a:off x="6116" y="3604"/>
                <a:ext cx="2132" cy="893"/>
              </a:xfrm>
              <a:prstGeom prst="rect">
                <a:avLst/>
              </a:prstGeom>
              <a:solidFill>
                <a:schemeClr val="accent6">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fontAlgn="auto" hangingPunct="1">
                  <a:spcBef>
                    <a:spcPts val="0"/>
                  </a:spcBef>
                  <a:spcAft>
                    <a:spcPts val="0"/>
                  </a:spcAft>
                  <a:defRPr/>
                </a:pPr>
                <a:r>
                  <a:rPr lang="zh-CN" altLang="en-US" sz="2400" dirty="0">
                    <a:solidFill>
                      <a:srgbClr val="000000"/>
                    </a:solidFill>
                    <a:latin typeface="微软雅黑" panose="020B0503020204020204" charset="-122"/>
                    <a:ea typeface="微软雅黑" panose="020B0503020204020204" charset="-122"/>
                  </a:rPr>
                  <a:t>模块大小</a:t>
                </a:r>
              </a:p>
            </p:txBody>
          </p:sp>
          <p:sp>
            <p:nvSpPr>
              <p:cNvPr id="30" name="MH_Text_4"/>
              <p:cNvSpPr/>
              <p:nvPr>
                <p:custDataLst>
                  <p:tags r:id="rId8"/>
                </p:custDataLst>
              </p:nvPr>
            </p:nvSpPr>
            <p:spPr>
              <a:xfrm rot="25868" flipH="1">
                <a:off x="6566" y="4729"/>
                <a:ext cx="1681" cy="893"/>
              </a:xfrm>
              <a:prstGeom prst="rect">
                <a:avLst/>
              </a:prstGeom>
              <a:solidFill>
                <a:schemeClr val="accent6">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fontAlgn="auto" hangingPunct="1">
                  <a:spcBef>
                    <a:spcPts val="0"/>
                  </a:spcBef>
                  <a:spcAft>
                    <a:spcPts val="0"/>
                  </a:spcAft>
                  <a:defRPr/>
                </a:pPr>
                <a:r>
                  <a:rPr lang="zh-CN" altLang="en-US" sz="2400" dirty="0">
                    <a:solidFill>
                      <a:srgbClr val="000000"/>
                    </a:solidFill>
                    <a:latin typeface="微软雅黑" panose="020B0503020204020204" charset="-122"/>
                    <a:ea typeface="微软雅黑" panose="020B0503020204020204" charset="-122"/>
                  </a:rPr>
                  <a:t>耦合</a:t>
                </a:r>
              </a:p>
            </p:txBody>
          </p:sp>
          <p:sp>
            <p:nvSpPr>
              <p:cNvPr id="31" name="MH_Text_6"/>
              <p:cNvSpPr/>
              <p:nvPr>
                <p:custDataLst>
                  <p:tags r:id="rId9"/>
                </p:custDataLst>
              </p:nvPr>
            </p:nvSpPr>
            <p:spPr>
              <a:xfrm rot="25868" flipH="1">
                <a:off x="6615" y="6010"/>
                <a:ext cx="1633" cy="893"/>
              </a:xfrm>
              <a:prstGeom prst="rect">
                <a:avLst/>
              </a:prstGeom>
              <a:solidFill>
                <a:schemeClr val="accent6">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fontAlgn="auto" hangingPunct="1">
                  <a:spcBef>
                    <a:spcPts val="0"/>
                  </a:spcBef>
                  <a:spcAft>
                    <a:spcPts val="0"/>
                  </a:spcAft>
                  <a:defRPr/>
                </a:pPr>
                <a:r>
                  <a:rPr lang="zh-CN" altLang="en-US" sz="2400" dirty="0">
                    <a:solidFill>
                      <a:srgbClr val="000000"/>
                    </a:solidFill>
                    <a:latin typeface="微软雅黑" panose="020B0503020204020204" charset="-122"/>
                    <a:ea typeface="微软雅黑" panose="020B0503020204020204" charset="-122"/>
                  </a:rPr>
                  <a:t>内聚</a:t>
                </a:r>
              </a:p>
            </p:txBody>
          </p:sp>
          <p:sp>
            <p:nvSpPr>
              <p:cNvPr id="32" name="MH_Text_8"/>
              <p:cNvSpPr/>
              <p:nvPr>
                <p:custDataLst>
                  <p:tags r:id="rId10"/>
                </p:custDataLst>
              </p:nvPr>
            </p:nvSpPr>
            <p:spPr>
              <a:xfrm rot="25868" flipH="1">
                <a:off x="6187" y="7203"/>
                <a:ext cx="2061" cy="893"/>
              </a:xfrm>
              <a:prstGeom prst="rect">
                <a:avLst/>
              </a:prstGeom>
              <a:solidFill>
                <a:schemeClr val="accent6">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0"/>
                  </a:spcAft>
                  <a:defRPr/>
                </a:pPr>
                <a:r>
                  <a:rPr lang="zh-CN" altLang="en-US" sz="2400" dirty="0">
                    <a:solidFill>
                      <a:srgbClr val="000000"/>
                    </a:solidFill>
                    <a:latin typeface="微软雅黑" panose="020B0503020204020204" charset="-122"/>
                    <a:ea typeface="微软雅黑" panose="020B0503020204020204" charset="-122"/>
                  </a:rPr>
                  <a:t>信息隐蔽</a:t>
                </a:r>
              </a:p>
            </p:txBody>
          </p:sp>
          <p:sp>
            <p:nvSpPr>
              <p:cNvPr id="33" name="MH_Text_2"/>
              <p:cNvSpPr>
                <a:spLocks noChangeArrowheads="1"/>
              </p:cNvSpPr>
              <p:nvPr>
                <p:custDataLst>
                  <p:tags r:id="rId11"/>
                </p:custDataLst>
              </p:nvPr>
            </p:nvSpPr>
            <p:spPr bwMode="auto">
              <a:xfrm>
                <a:off x="8250" y="3596"/>
                <a:ext cx="9000"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0" tIns="144000" rIns="0" bIns="144000">
                <a:no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20000"/>
                  </a:lnSpc>
                </a:pPr>
                <a:r>
                  <a:rPr sz="2000" b="1" dirty="0"/>
                  <a:t>模块的大小和问题的复杂程度相关</a:t>
                </a:r>
                <a:r>
                  <a:rPr lang="zh-CN" sz="2000" b="1" dirty="0"/>
                  <a:t>。</a:t>
                </a:r>
              </a:p>
            </p:txBody>
          </p:sp>
          <p:sp>
            <p:nvSpPr>
              <p:cNvPr id="34" name="MH_Text_2"/>
              <p:cNvSpPr>
                <a:spLocks noChangeArrowheads="1"/>
              </p:cNvSpPr>
              <p:nvPr>
                <p:custDataLst>
                  <p:tags r:id="rId12"/>
                </p:custDataLst>
              </p:nvPr>
            </p:nvSpPr>
            <p:spPr bwMode="auto">
              <a:xfrm>
                <a:off x="8250" y="4721"/>
                <a:ext cx="9000"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0" tIns="144000" rIns="0" bIns="144000">
                <a:no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20000"/>
                  </a:lnSpc>
                </a:pPr>
                <a:r>
                  <a:rPr sz="2000" b="1" dirty="0"/>
                  <a:t>模块之间的联系程度。</a:t>
                </a:r>
              </a:p>
            </p:txBody>
          </p:sp>
          <p:sp>
            <p:nvSpPr>
              <p:cNvPr id="35" name="MH_Text_2"/>
              <p:cNvSpPr>
                <a:spLocks noChangeArrowheads="1"/>
              </p:cNvSpPr>
              <p:nvPr>
                <p:custDataLst>
                  <p:tags r:id="rId13"/>
                </p:custDataLst>
              </p:nvPr>
            </p:nvSpPr>
            <p:spPr bwMode="auto">
              <a:xfrm>
                <a:off x="8250" y="5958"/>
                <a:ext cx="9000"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0" tIns="144000" rIns="0" bIns="144000">
                <a:no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20000"/>
                  </a:lnSpc>
                </a:pPr>
                <a:r>
                  <a:rPr sz="2000" b="1" dirty="0"/>
                  <a:t>模块内的软件元素的联系程度。</a:t>
                </a:r>
              </a:p>
            </p:txBody>
          </p:sp>
          <p:sp>
            <p:nvSpPr>
              <p:cNvPr id="36" name="MH_Text_2"/>
              <p:cNvSpPr>
                <a:spLocks noChangeArrowheads="1"/>
              </p:cNvSpPr>
              <p:nvPr>
                <p:custDataLst>
                  <p:tags r:id="rId14"/>
                </p:custDataLst>
              </p:nvPr>
            </p:nvSpPr>
            <p:spPr bwMode="auto">
              <a:xfrm>
                <a:off x="8250" y="7196"/>
                <a:ext cx="9000"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0" tIns="144000" rIns="0" bIns="144000">
                <a:no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20000"/>
                  </a:lnSpc>
                </a:pPr>
                <a:r>
                  <a:rPr sz="2000" b="1" dirty="0"/>
                  <a:t>模块信息的隐蔽程度。</a:t>
                </a:r>
              </a:p>
            </p:txBody>
          </p:sp>
        </p:grpSp>
        <p:sp>
          <p:nvSpPr>
            <p:cNvPr id="38" name="文本框 37"/>
            <p:cNvSpPr txBox="1"/>
            <p:nvPr/>
          </p:nvSpPr>
          <p:spPr>
            <a:xfrm>
              <a:off x="1275" y="5001"/>
              <a:ext cx="3768" cy="2345"/>
            </a:xfrm>
            <a:prstGeom prst="rect">
              <a:avLst/>
            </a:prstGeom>
            <a:noFill/>
          </p:spPr>
          <p:txBody>
            <a:bodyPr wrap="square" rtlCol="0">
              <a:spAutoFit/>
            </a:bodyPr>
            <a:lstStyle/>
            <a:p>
              <a:pPr algn="ctr" eaLnBrk="1" fontAlgn="auto" hangingPunct="1">
                <a:spcBef>
                  <a:spcPts val="0"/>
                </a:spcBef>
                <a:spcAft>
                  <a:spcPts val="0"/>
                </a:spcAft>
                <a:defRPr/>
              </a:pPr>
              <a:r>
                <a:rPr lang="zh-CN" altLang="en-US" sz="2400" dirty="0">
                  <a:solidFill>
                    <a:schemeClr val="bg1"/>
                  </a:solidFill>
                  <a:latin typeface="微软雅黑" panose="020B0503020204020204" charset="-122"/>
                  <a:ea typeface="微软雅黑" panose="020B0503020204020204" charset="-122"/>
                  <a:sym typeface="+mn-ea"/>
                </a:rPr>
                <a:t>评价模块</a:t>
              </a:r>
              <a:endParaRPr lang="zh-CN" altLang="en-US" sz="2400" dirty="0">
                <a:solidFill>
                  <a:schemeClr val="bg1"/>
                </a:solidFill>
                <a:latin typeface="微软雅黑" panose="020B0503020204020204" charset="-122"/>
                <a:ea typeface="微软雅黑" panose="020B0503020204020204" charset="-122"/>
              </a:endParaRPr>
            </a:p>
            <a:p>
              <a:pPr algn="ctr" eaLnBrk="1" fontAlgn="auto" hangingPunct="1">
                <a:spcBef>
                  <a:spcPts val="0"/>
                </a:spcBef>
                <a:spcAft>
                  <a:spcPts val="0"/>
                </a:spcAft>
                <a:defRPr/>
              </a:pPr>
              <a:r>
                <a:rPr lang="zh-CN" altLang="en-US" sz="2400" dirty="0">
                  <a:solidFill>
                    <a:schemeClr val="bg1"/>
                  </a:solidFill>
                  <a:latin typeface="微软雅黑" panose="020B0503020204020204" charset="-122"/>
                  <a:ea typeface="微软雅黑" panose="020B0503020204020204" charset="-122"/>
                  <a:sym typeface="+mn-ea"/>
                </a:rPr>
                <a:t>分割的</a:t>
              </a:r>
              <a:endParaRPr lang="zh-CN" altLang="en-US" sz="2400" dirty="0">
                <a:solidFill>
                  <a:schemeClr val="bg1"/>
                </a:solidFill>
                <a:latin typeface="微软雅黑" panose="020B0503020204020204" charset="-122"/>
                <a:ea typeface="微软雅黑" panose="020B0503020204020204" charset="-122"/>
              </a:endParaRPr>
            </a:p>
            <a:p>
              <a:pPr algn="ctr" eaLnBrk="1" fontAlgn="auto" hangingPunct="1">
                <a:spcBef>
                  <a:spcPts val="0"/>
                </a:spcBef>
                <a:spcAft>
                  <a:spcPts val="0"/>
                </a:spcAft>
                <a:defRPr/>
              </a:pPr>
              <a:r>
                <a:rPr lang="zh-CN" altLang="en-US" sz="2400" dirty="0">
                  <a:solidFill>
                    <a:schemeClr val="bg1"/>
                  </a:solidFill>
                  <a:latin typeface="微软雅黑" panose="020B0503020204020204" charset="-122"/>
                  <a:ea typeface="微软雅黑" panose="020B0503020204020204" charset="-122"/>
                  <a:sym typeface="+mn-ea"/>
                </a:rPr>
                <a:t>几个标准</a:t>
              </a:r>
              <a:endParaRPr lang="zh-CN" altLang="en-US" sz="2400" dirty="0">
                <a:solidFill>
                  <a:schemeClr val="bg1"/>
                </a:solidFill>
                <a:latin typeface="微软雅黑" panose="020B0503020204020204" charset="-122"/>
                <a:ea typeface="微软雅黑" panose="020B0503020204020204" charset="-122"/>
              </a:endParaRPr>
            </a:p>
            <a:p>
              <a:endParaRPr lang="zh-CN" altLang="en-US"/>
            </a:p>
          </p:txBody>
        </p:sp>
      </p:grpSp>
    </p:spTree>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p>
        </p:txBody>
      </p:sp>
      <p:sp>
        <p:nvSpPr>
          <p:cNvPr id="4" name="文本框 3"/>
          <p:cNvSpPr txBox="1"/>
          <p:nvPr/>
        </p:nvSpPr>
        <p:spPr>
          <a:xfrm>
            <a:off x="768971" y="2611120"/>
            <a:ext cx="461665" cy="2057294"/>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3.2.3 </a:t>
            </a:r>
            <a:r>
              <a:rPr lang="zh-CN" altLang="en-US" spc="160" dirty="0">
                <a:solidFill>
                  <a:schemeClr val="bg1"/>
                </a:solidFill>
                <a:latin typeface="微软雅黑" panose="020B0503020204020204" charset="-122"/>
                <a:ea typeface="微软雅黑" panose="020B0503020204020204" charset="-122"/>
              </a:rPr>
              <a:t>模块独立性</a:t>
            </a:r>
            <a:endParaRPr lang="en-US" altLang="zh-CN" spc="160" dirty="0">
              <a:solidFill>
                <a:schemeClr val="bg1"/>
              </a:solidFill>
              <a:latin typeface="微软雅黑" panose="020B0503020204020204" charset="-122"/>
              <a:ea typeface="微软雅黑" panose="020B0503020204020204" charset="-122"/>
            </a:endParaRPr>
          </a:p>
        </p:txBody>
      </p:sp>
      <p:sp>
        <p:nvSpPr>
          <p:cNvPr id="100" name="文本框 99"/>
          <p:cNvSpPr txBox="1"/>
          <p:nvPr/>
        </p:nvSpPr>
        <p:spPr>
          <a:xfrm>
            <a:off x="1646940" y="2164943"/>
            <a:ext cx="9607550" cy="2169825"/>
          </a:xfrm>
          <a:prstGeom prst="rect">
            <a:avLst/>
          </a:prstGeom>
          <a:noFill/>
          <a:ln w="9525">
            <a:noFill/>
          </a:ln>
        </p:spPr>
        <p:txBody>
          <a:bodyPr wrap="square">
            <a:spAutoFit/>
          </a:bodyPr>
          <a:lstStyle/>
          <a:p>
            <a:pPr marL="0" algn="l">
              <a:lnSpc>
                <a:spcPct val="130000"/>
              </a:lnSpc>
            </a:pPr>
            <a:r>
              <a:rPr lang="zh-CN" altLang="en-US" b="0" u="none" dirty="0">
                <a:solidFill>
                  <a:srgbClr val="7030A0"/>
                </a:solidFill>
                <a:latin typeface="宋体" panose="02010600030101010101" pitchFamily="2" charset="-122"/>
                <a:ea typeface="宋体" panose="02010600030101010101" pitchFamily="2" charset="-122"/>
                <a:cs typeface="宋体" panose="02010600030101010101" pitchFamily="2" charset="-122"/>
              </a:rPr>
              <a:t>    软件结构中模块之间互相依赖的程度用耦合来度量</a:t>
            </a:r>
            <a:r>
              <a:rPr lang="zh-CN" altLang="en-US" b="0" u="none" dirty="0">
                <a:latin typeface="宋体" panose="02010600030101010101" pitchFamily="2" charset="-122"/>
                <a:ea typeface="宋体" panose="02010600030101010101" pitchFamily="2" charset="-122"/>
                <a:cs typeface="宋体" panose="02010600030101010101" pitchFamily="2" charset="-122"/>
              </a:rPr>
              <a:t>。耦合的强弱取决于模块间接口的复杂程度，一般由模块之间的调用方式、传递信息的类型和数量来决定。在设计软件结构时应追求尽可能松散的耦合。如果系统中两个模块彼此间完全独立，不需要另一个模块就能单独地工作，则这两个模块之间耦合程度最低。但事实上，一个软件系统中不可能所有模块之间都没有任何联系。</a:t>
            </a:r>
          </a:p>
          <a:p>
            <a:endParaRPr lang="zh-CN" altLang="en-US" dirty="0"/>
          </a:p>
        </p:txBody>
      </p:sp>
      <p:sp>
        <p:nvSpPr>
          <p:cNvPr id="5" name="文本框 4"/>
          <p:cNvSpPr txBox="1"/>
          <p:nvPr/>
        </p:nvSpPr>
        <p:spPr>
          <a:xfrm>
            <a:off x="1704610" y="4083279"/>
            <a:ext cx="8559165" cy="1892826"/>
          </a:xfrm>
          <a:prstGeom prst="rect">
            <a:avLst/>
          </a:prstGeom>
          <a:noFill/>
        </p:spPr>
        <p:txBody>
          <a:bodyPr wrap="square" rtlCol="0" anchor="t">
            <a:spAutoFit/>
          </a:bodyPr>
          <a:lstStyle/>
          <a:p>
            <a:pPr marL="0" indent="0" algn="l" fontAlgn="auto">
              <a:lnSpc>
                <a:spcPct val="130000"/>
              </a:lnSpc>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    模块之间传递的信息有以下</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3</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种</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a:t>
            </a:r>
            <a:endParaRPr lang="en-US" altLang="zh-CN" dirty="0">
              <a:solidFill>
                <a:srgbClr val="7F00E4"/>
              </a:solidFill>
              <a:latin typeface="宋体" panose="02010600030101010101" pitchFamily="2" charset="-122"/>
              <a:ea typeface="宋体" panose="02010600030101010101" pitchFamily="2" charset="-122"/>
              <a:cs typeface="宋体" panose="02010600030101010101" pitchFamily="2" charset="-122"/>
              <a:sym typeface="+mn-ea"/>
            </a:endParaRPr>
          </a:p>
          <a:p>
            <a:pPr marL="0" indent="0" algn="l" fontAlgn="auto">
              <a:lnSpc>
                <a:spcPct val="130000"/>
              </a:lnSpc>
            </a:pPr>
            <a:r>
              <a:rPr lang="en-US" altLang="zh-CN" dirty="0">
                <a:solidFill>
                  <a:srgbClr val="7F00E4"/>
                </a:solidFill>
                <a:latin typeface="Wingdings" panose="05000000000000000000" charset="0"/>
                <a:ea typeface="Wingdings" panose="05000000000000000000" charset="0"/>
                <a:cs typeface="Wingdings" panose="05000000000000000000" charset="0"/>
                <a:sym typeface="+mn-ea"/>
              </a:rPr>
              <a:t>Ø </a:t>
            </a:r>
            <a:r>
              <a:rPr lang="zh-CN" altLang="en-US" dirty="0">
                <a:solidFill>
                  <a:srgbClr val="7F00E4"/>
                </a:solidFill>
                <a:latin typeface="黑体" panose="02010609060101010101" pitchFamily="49" charset="-122"/>
                <a:ea typeface="黑体" panose="02010609060101010101" pitchFamily="49" charset="-122"/>
                <a:cs typeface="黑体" panose="02010609060101010101" pitchFamily="49" charset="-122"/>
                <a:sym typeface="+mn-ea"/>
              </a:rPr>
              <a:t>数据信息：</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记录某种事实，一般可用名词表示，如考生成绩。</a:t>
            </a:r>
            <a:endParaRPr lang="zh-CN" altLang="en-US" dirty="0">
              <a:solidFill>
                <a:srgbClr val="7F00E4"/>
              </a:solidFill>
              <a:latin typeface="Wingdings" panose="05000000000000000000" charset="0"/>
              <a:ea typeface="Wingdings" panose="05000000000000000000" charset="0"/>
              <a:cs typeface="Wingdings" panose="05000000000000000000" charset="0"/>
              <a:sym typeface="+mn-ea"/>
            </a:endParaRPr>
          </a:p>
          <a:p>
            <a:pPr marL="0" indent="0" algn="l" fontAlgn="auto">
              <a:lnSpc>
                <a:spcPct val="130000"/>
              </a:lnSpc>
            </a:pPr>
            <a:r>
              <a:rPr lang="en-US" altLang="zh-CN" dirty="0">
                <a:solidFill>
                  <a:srgbClr val="7F00E4"/>
                </a:solidFill>
                <a:latin typeface="Wingdings" panose="05000000000000000000" charset="0"/>
                <a:ea typeface="Wingdings" panose="05000000000000000000" charset="0"/>
                <a:cs typeface="Wingdings" panose="05000000000000000000" charset="0"/>
                <a:sym typeface="+mn-ea"/>
              </a:rPr>
              <a:t>Ø </a:t>
            </a:r>
            <a:r>
              <a:rPr lang="zh-CN" altLang="en-US" dirty="0">
                <a:solidFill>
                  <a:srgbClr val="7F00E4"/>
                </a:solidFill>
                <a:latin typeface="黑体" panose="02010609060101010101" pitchFamily="49" charset="-122"/>
                <a:ea typeface="黑体" panose="02010609060101010101" pitchFamily="49" charset="-122"/>
                <a:cs typeface="黑体" panose="02010609060101010101" pitchFamily="49" charset="-122"/>
                <a:sym typeface="+mn-ea"/>
              </a:rPr>
              <a:t>描述标志信息：</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描述数据状态或性质，如已录用、未被录用等。</a:t>
            </a:r>
            <a:endParaRPr lang="zh-CN" altLang="en-US" dirty="0">
              <a:solidFill>
                <a:srgbClr val="7F00E4"/>
              </a:solidFill>
              <a:latin typeface="Wingdings" panose="05000000000000000000" charset="0"/>
              <a:ea typeface="Wingdings" panose="05000000000000000000" charset="0"/>
              <a:cs typeface="Wingdings" panose="05000000000000000000" charset="0"/>
              <a:sym typeface="+mn-ea"/>
            </a:endParaRPr>
          </a:p>
          <a:p>
            <a:pPr marL="0" indent="0" algn="l" fontAlgn="auto">
              <a:lnSpc>
                <a:spcPct val="130000"/>
              </a:lnSpc>
            </a:pPr>
            <a:r>
              <a:rPr lang="en-US" altLang="zh-CN" dirty="0">
                <a:solidFill>
                  <a:srgbClr val="7F00E4"/>
                </a:solidFill>
                <a:latin typeface="Wingdings" panose="05000000000000000000" charset="0"/>
                <a:ea typeface="Wingdings" panose="05000000000000000000" charset="0"/>
                <a:cs typeface="Wingdings" panose="05000000000000000000" charset="0"/>
                <a:sym typeface="+mn-ea"/>
              </a:rPr>
              <a:t>Ø </a:t>
            </a:r>
            <a:r>
              <a:rPr lang="zh-CN" altLang="en-US" dirty="0">
                <a:solidFill>
                  <a:srgbClr val="7F00E4"/>
                </a:solidFill>
                <a:latin typeface="黑体" panose="02010609060101010101" pitchFamily="49" charset="-122"/>
                <a:ea typeface="黑体" panose="02010609060101010101" pitchFamily="49" charset="-122"/>
                <a:cs typeface="黑体" panose="02010609060101010101" pitchFamily="49" charset="-122"/>
                <a:sym typeface="+mn-ea"/>
              </a:rPr>
              <a:t>控制标志信息：</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要求执行非正常的动作或某个功能，如显示“准考证号超范围，重新输入”。</a:t>
            </a:r>
            <a:endParaRPr lang="zh-CN" altLang="en-US" dirty="0"/>
          </a:p>
        </p:txBody>
      </p:sp>
      <p:grpSp>
        <p:nvGrpSpPr>
          <p:cNvPr id="7" name="组合 6"/>
          <p:cNvGrpSpPr/>
          <p:nvPr/>
        </p:nvGrpSpPr>
        <p:grpSpPr>
          <a:xfrm>
            <a:off x="1036325" y="1295097"/>
            <a:ext cx="8408035" cy="861060"/>
            <a:chOff x="1188" y="3071"/>
            <a:chExt cx="13241" cy="1356"/>
          </a:xfrm>
        </p:grpSpPr>
        <p:sp>
          <p:nvSpPr>
            <p:cNvPr id="8" name="圆角矩形"/>
            <p:cNvSpPr/>
            <p:nvPr/>
          </p:nvSpPr>
          <p:spPr>
            <a:xfrm>
              <a:off x="1188" y="3479"/>
              <a:ext cx="12661" cy="948"/>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9" name="学士帽"/>
            <p:cNvSpPr/>
            <p:nvPr/>
          </p:nvSpPr>
          <p:spPr bwMode="auto">
            <a:xfrm>
              <a:off x="1188" y="3071"/>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ndParaRPr>
            </a:p>
          </p:txBody>
        </p:sp>
        <p:sp>
          <p:nvSpPr>
            <p:cNvPr id="10" name="文本框 42"/>
            <p:cNvSpPr txBox="1"/>
            <p:nvPr/>
          </p:nvSpPr>
          <p:spPr>
            <a:xfrm>
              <a:off x="1188" y="3647"/>
              <a:ext cx="13241" cy="582"/>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dirty="0">
                  <a:solidFill>
                    <a:schemeClr val="bg2">
                      <a:lumMod val="50000"/>
                    </a:schemeClr>
                  </a:solidFill>
                  <a:sym typeface="+mn-ea"/>
                </a:rPr>
                <a:t>衡量模块独立程度的两个定性度量标准是耦合和内聚。</a:t>
              </a:r>
              <a:r>
                <a:rPr lang="en-US" altLang="zh-CN" dirty="0">
                  <a:solidFill>
                    <a:schemeClr val="bg2">
                      <a:lumMod val="50000"/>
                    </a:schemeClr>
                  </a:solidFill>
                  <a:sym typeface="+mn-ea"/>
                </a:rPr>
                <a:t>——</a:t>
              </a:r>
              <a:r>
                <a:rPr lang="zh-CN" altLang="en-US" b="1" dirty="0">
                  <a:solidFill>
                    <a:schemeClr val="bg2">
                      <a:lumMod val="50000"/>
                    </a:schemeClr>
                  </a:solidFill>
                  <a:sym typeface="+mn-ea"/>
                </a:rPr>
                <a:t>耦合</a:t>
              </a:r>
              <a:endParaRPr b="1" dirty="0">
                <a:solidFill>
                  <a:schemeClr val="bg2">
                    <a:lumMod val="50000"/>
                  </a:schemeClr>
                </a:solidFill>
                <a:sym typeface="+mn-ea"/>
              </a:endParaRPr>
            </a:p>
          </p:txBody>
        </p:sp>
      </p:grpSp>
    </p:spTree>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数据耦合</a:t>
            </a:r>
          </a:p>
        </p:txBody>
      </p:sp>
      <p:sp>
        <p:nvSpPr>
          <p:cNvPr id="4" name="文本框 3"/>
          <p:cNvSpPr txBox="1"/>
          <p:nvPr/>
        </p:nvSpPr>
        <p:spPr>
          <a:xfrm>
            <a:off x="768971" y="2611120"/>
            <a:ext cx="461665" cy="2057294"/>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3.2.3 </a:t>
            </a:r>
            <a:r>
              <a:rPr lang="zh-CN" altLang="en-US" spc="160" dirty="0">
                <a:solidFill>
                  <a:schemeClr val="bg1"/>
                </a:solidFill>
                <a:latin typeface="微软雅黑" panose="020B0503020204020204" charset="-122"/>
                <a:ea typeface="微软雅黑" panose="020B0503020204020204" charset="-122"/>
              </a:rPr>
              <a:t>模块独立性</a:t>
            </a:r>
            <a:endParaRPr lang="en-US" altLang="zh-CN" spc="160" dirty="0">
              <a:solidFill>
                <a:schemeClr val="bg1"/>
              </a:solidFill>
              <a:latin typeface="微软雅黑" panose="020B0503020204020204" charset="-122"/>
              <a:ea typeface="微软雅黑" panose="020B0503020204020204" charset="-122"/>
            </a:endParaRPr>
          </a:p>
        </p:txBody>
      </p:sp>
      <p:sp>
        <p:nvSpPr>
          <p:cNvPr id="100" name="文本框 99"/>
          <p:cNvSpPr txBox="1"/>
          <p:nvPr/>
        </p:nvSpPr>
        <p:spPr>
          <a:xfrm>
            <a:off x="1865017" y="2861821"/>
            <a:ext cx="9242696" cy="1018164"/>
          </a:xfrm>
          <a:prstGeom prst="rect">
            <a:avLst/>
          </a:prstGeom>
          <a:noFill/>
          <a:ln w="9525">
            <a:noFill/>
          </a:ln>
        </p:spPr>
        <p:txBody>
          <a:bodyPr wrap="square">
            <a:spAutoFit/>
          </a:bodyPr>
          <a:lstStyle/>
          <a:p>
            <a:pPr marL="0" algn="l">
              <a:lnSpc>
                <a:spcPct val="130000"/>
              </a:lnSpc>
            </a:pPr>
            <a:r>
              <a:rPr lang="zh-CN" altLang="en-US" sz="1600" b="0" u="none" dirty="0">
                <a:latin typeface="宋体" panose="02010600030101010101" pitchFamily="2" charset="-122"/>
                <a:ea typeface="宋体" panose="02010600030101010101" pitchFamily="2" charset="-122"/>
                <a:cs typeface="宋体" panose="02010600030101010101" pitchFamily="2" charset="-122"/>
              </a:rPr>
              <a:t>     </a:t>
            </a:r>
            <a:r>
              <a:rPr lang="zh-CN" altLang="en-US" sz="1600" b="0" u="none" dirty="0">
                <a:solidFill>
                  <a:srgbClr val="C00000"/>
                </a:solidFill>
                <a:latin typeface="宋体" panose="02010600030101010101" pitchFamily="2" charset="-122"/>
                <a:ea typeface="宋体" panose="02010600030101010101" pitchFamily="2" charset="-122"/>
                <a:cs typeface="宋体" panose="02010600030101010101" pitchFamily="2" charset="-122"/>
              </a:rPr>
              <a:t>两个模块彼此间交换的信息仅仅是数据，那么这种耦合称为数据耦合</a:t>
            </a:r>
            <a:r>
              <a:rPr lang="zh-CN" altLang="en-US" sz="1600" b="0" u="none" dirty="0">
                <a:latin typeface="宋体" panose="02010600030101010101" pitchFamily="2" charset="-122"/>
                <a:ea typeface="宋体" panose="02010600030101010101" pitchFamily="2" charset="-122"/>
                <a:cs typeface="宋体" panose="02010600030101010101" pitchFamily="2" charset="-122"/>
              </a:rPr>
              <a:t>。数据耦合是低耦合。例如，当某个模块的输出数据是另一模块的输入数据时，这两个模块是数据耦合。一般两个数据耦合的模块共同完成一个任务。</a:t>
            </a:r>
            <a:endParaRPr lang="zh-CN" altLang="en-US" sz="1600" dirty="0"/>
          </a:p>
        </p:txBody>
      </p:sp>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控制耦合</a:t>
            </a:r>
          </a:p>
        </p:txBody>
      </p:sp>
      <p:sp>
        <p:nvSpPr>
          <p:cNvPr id="4" name="文本框 3"/>
          <p:cNvSpPr txBox="1"/>
          <p:nvPr/>
        </p:nvSpPr>
        <p:spPr>
          <a:xfrm>
            <a:off x="768971" y="2611120"/>
            <a:ext cx="461665" cy="2057294"/>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3.2.3 </a:t>
            </a:r>
            <a:r>
              <a:rPr lang="zh-CN" altLang="en-US" spc="160" dirty="0">
                <a:solidFill>
                  <a:schemeClr val="bg1"/>
                </a:solidFill>
                <a:latin typeface="微软雅黑" panose="020B0503020204020204" charset="-122"/>
                <a:ea typeface="微软雅黑" panose="020B0503020204020204" charset="-122"/>
              </a:rPr>
              <a:t>模块独立性</a:t>
            </a:r>
            <a:endParaRPr lang="en-US" altLang="zh-CN" spc="160" dirty="0">
              <a:solidFill>
                <a:schemeClr val="bg1"/>
              </a:solidFill>
              <a:latin typeface="微软雅黑" panose="020B0503020204020204" charset="-122"/>
              <a:ea typeface="微软雅黑" panose="020B0503020204020204" charset="-122"/>
            </a:endParaRPr>
          </a:p>
        </p:txBody>
      </p:sp>
      <p:sp>
        <p:nvSpPr>
          <p:cNvPr id="100" name="文本框 99"/>
          <p:cNvSpPr txBox="1"/>
          <p:nvPr/>
        </p:nvSpPr>
        <p:spPr>
          <a:xfrm>
            <a:off x="1456668" y="2049603"/>
            <a:ext cx="7927175" cy="1532727"/>
          </a:xfrm>
          <a:prstGeom prst="rect">
            <a:avLst/>
          </a:prstGeom>
          <a:noFill/>
          <a:ln w="9525">
            <a:noFill/>
          </a:ln>
        </p:spPr>
        <p:txBody>
          <a:bodyPr wrap="square">
            <a:spAutoFit/>
          </a:bodyPr>
          <a:lstStyle/>
          <a:p>
            <a:pPr marL="0" algn="l">
              <a:lnSpc>
                <a:spcPct val="130000"/>
              </a:lnSpc>
            </a:pPr>
            <a:r>
              <a:rPr lang="zh-CN" altLang="en-US" b="0" u="none" dirty="0">
                <a:latin typeface="宋体" panose="02010600030101010101" pitchFamily="2" charset="-122"/>
                <a:ea typeface="宋体" panose="02010600030101010101" pitchFamily="2" charset="-122"/>
                <a:cs typeface="宋体" panose="02010600030101010101" pitchFamily="2" charset="-122"/>
              </a:rPr>
              <a:t>    </a:t>
            </a:r>
            <a:r>
              <a:rPr lang="zh-CN" altLang="en-US" b="0" u="none" dirty="0">
                <a:solidFill>
                  <a:srgbClr val="C00000"/>
                </a:solidFill>
                <a:latin typeface="宋体" panose="02010600030101010101" pitchFamily="2" charset="-122"/>
                <a:ea typeface="宋体" panose="02010600030101010101" pitchFamily="2" charset="-122"/>
                <a:cs typeface="宋体" panose="02010600030101010101" pitchFamily="2" charset="-122"/>
              </a:rPr>
              <a:t>两个模块之间传递的信息中有控制信息，则称这种耦合为控制耦合</a:t>
            </a:r>
            <a:r>
              <a:rPr lang="zh-CN" altLang="en-US" b="0" u="none" dirty="0">
                <a:latin typeface="宋体" panose="02010600030101010101" pitchFamily="2" charset="-122"/>
                <a:ea typeface="宋体" panose="02010600030101010101" pitchFamily="2" charset="-122"/>
                <a:cs typeface="宋体" panose="02010600030101010101" pitchFamily="2" charset="-122"/>
              </a:rPr>
              <a:t>。有时这种控制信息是以数据形式出现的。控制耦合是中等程度的耦合，它增加了系统的复杂程度。</a:t>
            </a:r>
          </a:p>
          <a:p>
            <a:pPr>
              <a:lnSpc>
                <a:spcPct val="130000"/>
              </a:lnSpc>
            </a:pPr>
            <a:r>
              <a:rPr lang="zh-CN" altLang="en-US" b="0" u="none" dirty="0">
                <a:latin typeface="宋体" panose="02010600030101010101" pitchFamily="2" charset="-122"/>
                <a:ea typeface="宋体" panose="02010600030101010101" pitchFamily="2" charset="-122"/>
                <a:cs typeface="宋体" panose="02010600030101010101" pitchFamily="2" charset="-122"/>
              </a:rPr>
              <a:t>    </a:t>
            </a:r>
            <a:endParaRPr lang="zh-CN" altLang="en-US" dirty="0"/>
          </a:p>
        </p:txBody>
      </p:sp>
      <p:pic>
        <p:nvPicPr>
          <p:cNvPr id="7" name="图片 -2147482266"/>
          <p:cNvPicPr>
            <a:picLocks noChangeAspect="1"/>
          </p:cNvPicPr>
          <p:nvPr/>
        </p:nvPicPr>
        <p:blipFill>
          <a:blip r:embed="rId2" cstate="print"/>
          <a:stretch>
            <a:fillRect/>
          </a:stretch>
        </p:blipFill>
        <p:spPr>
          <a:xfrm>
            <a:off x="9615853" y="2083836"/>
            <a:ext cx="2034883" cy="2665585"/>
          </a:xfrm>
          <a:prstGeom prst="rect">
            <a:avLst/>
          </a:prstGeom>
          <a:noFill/>
          <a:ln w="9525">
            <a:noFill/>
          </a:ln>
        </p:spPr>
      </p:pic>
      <p:sp>
        <p:nvSpPr>
          <p:cNvPr id="8" name="矩形 7"/>
          <p:cNvSpPr/>
          <p:nvPr/>
        </p:nvSpPr>
        <p:spPr>
          <a:xfrm>
            <a:off x="1454043" y="3073543"/>
            <a:ext cx="10088383" cy="2973122"/>
          </a:xfrm>
          <a:prstGeom prst="rect">
            <a:avLst/>
          </a:prstGeom>
        </p:spPr>
        <p:txBody>
          <a:bodyPr wrap="square">
            <a:spAutoFit/>
          </a:bodyPr>
          <a:lstStyle/>
          <a:p>
            <a:pPr>
              <a:lnSpc>
                <a:spcPct val="130000"/>
              </a:lnSpc>
            </a:pPr>
            <a:r>
              <a:rPr lang="zh-CN" altLang="en-US" dirty="0">
                <a:latin typeface="宋体" panose="02010600030101010101" pitchFamily="2" charset="-122"/>
                <a:ea typeface="宋体" panose="02010600030101010101" pitchFamily="2" charset="-122"/>
                <a:cs typeface="宋体" panose="02010600030101010101" pitchFamily="2" charset="-122"/>
              </a:rPr>
              <a:t>    例如，模块</a:t>
            </a:r>
            <a:r>
              <a:rPr lang="en-US" altLang="zh-CN" dirty="0">
                <a:latin typeface="宋体" panose="02010600030101010101" pitchFamily="2" charset="-122"/>
                <a:ea typeface="宋体" panose="02010600030101010101" pitchFamily="2" charset="-122"/>
                <a:cs typeface="宋体" panose="02010600030101010101" pitchFamily="2" charset="-122"/>
              </a:rPr>
              <a:t>B</a:t>
            </a:r>
            <a:r>
              <a:rPr lang="zh-CN" altLang="en-US" dirty="0">
                <a:latin typeface="宋体" panose="02010600030101010101" pitchFamily="2" charset="-122"/>
                <a:ea typeface="宋体" panose="02010600030101010101" pitchFamily="2" charset="-122"/>
                <a:cs typeface="宋体" panose="02010600030101010101" pitchFamily="2" charset="-122"/>
              </a:rPr>
              <a:t>是打印会计收支</a:t>
            </a:r>
            <a:r>
              <a:rPr lang="zh-CN" altLang="en-US" dirty="0">
                <a:solidFill>
                  <a:srgbClr val="000000"/>
                </a:solidFill>
                <a:latin typeface="宋体" panose="02010600030101010101" pitchFamily="2" charset="-122"/>
                <a:ea typeface="宋体" panose="02010600030101010101" pitchFamily="2" charset="-122"/>
                <a:cs typeface="宋体" panose="02010600030101010101" pitchFamily="2" charset="-122"/>
              </a:rPr>
              <a:t>账目</a:t>
            </a:r>
            <a:r>
              <a:rPr lang="zh-CN" altLang="en-US" dirty="0">
                <a:latin typeface="宋体" panose="02010600030101010101" pitchFamily="2" charset="-122"/>
                <a:ea typeface="宋体" panose="02010600030101010101" pitchFamily="2" charset="-122"/>
                <a:cs typeface="宋体" panose="02010600030101010101" pitchFamily="2" charset="-122"/>
              </a:rPr>
              <a:t>统计报表的，可以是日报表、月报表、</a:t>
            </a:r>
            <a:endParaRPr lang="en-US" altLang="zh-CN" dirty="0">
              <a:latin typeface="宋体" panose="02010600030101010101" pitchFamily="2" charset="-122"/>
              <a:ea typeface="宋体" panose="02010600030101010101" pitchFamily="2" charset="-122"/>
              <a:cs typeface="宋体" panose="02010600030101010101" pitchFamily="2" charset="-122"/>
            </a:endParaRPr>
          </a:p>
          <a:p>
            <a:pPr>
              <a:lnSpc>
                <a:spcPct val="130000"/>
              </a:lnSpc>
            </a:pPr>
            <a:r>
              <a:rPr lang="zh-CN" altLang="en-US" dirty="0">
                <a:latin typeface="宋体" panose="02010600030101010101" pitchFamily="2" charset="-122"/>
                <a:ea typeface="宋体" panose="02010600030101010101" pitchFamily="2" charset="-122"/>
                <a:cs typeface="宋体" panose="02010600030101010101" pitchFamily="2" charset="-122"/>
              </a:rPr>
              <a:t>年报表等不同报表。模块</a:t>
            </a:r>
            <a:r>
              <a:rPr lang="en-US" altLang="zh-CN" dirty="0">
                <a:latin typeface="宋体" panose="02010600030101010101" pitchFamily="2" charset="-122"/>
                <a:ea typeface="宋体" panose="02010600030101010101" pitchFamily="2" charset="-122"/>
                <a:cs typeface="宋体" panose="02010600030101010101" pitchFamily="2" charset="-122"/>
              </a:rPr>
              <a:t>A</a:t>
            </a:r>
            <a:r>
              <a:rPr lang="zh-CN" altLang="en-US" dirty="0">
                <a:latin typeface="宋体" panose="02010600030101010101" pitchFamily="2" charset="-122"/>
                <a:ea typeface="宋体" panose="02010600030101010101" pitchFamily="2" charset="-122"/>
                <a:cs typeface="宋体" panose="02010600030101010101" pitchFamily="2" charset="-122"/>
              </a:rPr>
              <a:t>是调用模块</a:t>
            </a:r>
            <a:r>
              <a:rPr lang="en-US" altLang="zh-CN" dirty="0">
                <a:latin typeface="Times New Roman" panose="02020603050405020304" charset="0"/>
                <a:ea typeface="Times New Roman" panose="02020603050405020304" charset="0"/>
                <a:cs typeface="Times New Roman" panose="02020603050405020304" charset="0"/>
              </a:rPr>
              <a:t>B</a:t>
            </a:r>
            <a:r>
              <a:rPr lang="zh-CN" altLang="en-US" dirty="0">
                <a:latin typeface="宋体" panose="02010600030101010101" pitchFamily="2" charset="-122"/>
                <a:ea typeface="宋体" panose="02010600030101010101" pitchFamily="2" charset="-122"/>
                <a:cs typeface="宋体" panose="02010600030101010101" pitchFamily="2" charset="-122"/>
              </a:rPr>
              <a:t>的，调用时必须传递的信息是要打印</a:t>
            </a:r>
            <a:endParaRPr lang="en-US" altLang="zh-CN" dirty="0">
              <a:latin typeface="宋体" panose="02010600030101010101" pitchFamily="2" charset="-122"/>
              <a:ea typeface="宋体" panose="02010600030101010101" pitchFamily="2" charset="-122"/>
              <a:cs typeface="宋体" panose="02010600030101010101" pitchFamily="2" charset="-122"/>
            </a:endParaRPr>
          </a:p>
          <a:p>
            <a:pPr>
              <a:lnSpc>
                <a:spcPct val="130000"/>
              </a:lnSpc>
            </a:pPr>
            <a:r>
              <a:rPr lang="zh-CN" altLang="en-US" dirty="0">
                <a:latin typeface="宋体" panose="02010600030101010101" pitchFamily="2" charset="-122"/>
                <a:ea typeface="宋体" panose="02010600030101010101" pitchFamily="2" charset="-122"/>
                <a:cs typeface="宋体" panose="02010600030101010101" pitchFamily="2" charset="-122"/>
              </a:rPr>
              <a:t>日报表、月报表还是年报表。若是日报表，则必须指明日期；若是月报表，</a:t>
            </a:r>
            <a:endParaRPr lang="en-US" altLang="zh-CN" dirty="0">
              <a:latin typeface="宋体" panose="02010600030101010101" pitchFamily="2" charset="-122"/>
              <a:ea typeface="宋体" panose="02010600030101010101" pitchFamily="2" charset="-122"/>
              <a:cs typeface="宋体" panose="02010600030101010101" pitchFamily="2" charset="-122"/>
            </a:endParaRPr>
          </a:p>
          <a:p>
            <a:pPr>
              <a:lnSpc>
                <a:spcPct val="130000"/>
              </a:lnSpc>
            </a:pPr>
            <a:r>
              <a:rPr lang="zh-CN" altLang="en-US" dirty="0">
                <a:latin typeface="宋体" panose="02010600030101010101" pitchFamily="2" charset="-122"/>
                <a:ea typeface="宋体" panose="02010600030101010101" pitchFamily="2" charset="-122"/>
                <a:cs typeface="宋体" panose="02010600030101010101" pitchFamily="2" charset="-122"/>
              </a:rPr>
              <a:t>则必须指明年、月；若是年报表，则必须指明年份。这是因为在调用数据库</a:t>
            </a:r>
            <a:endParaRPr lang="en-US" altLang="zh-CN" dirty="0">
              <a:latin typeface="宋体" panose="02010600030101010101" pitchFamily="2" charset="-122"/>
              <a:ea typeface="宋体" panose="02010600030101010101" pitchFamily="2" charset="-122"/>
              <a:cs typeface="宋体" panose="02010600030101010101" pitchFamily="2" charset="-122"/>
            </a:endParaRPr>
          </a:p>
          <a:p>
            <a:pPr>
              <a:lnSpc>
                <a:spcPct val="130000"/>
              </a:lnSpc>
            </a:pPr>
            <a:r>
              <a:rPr lang="zh-CN" altLang="en-US" dirty="0">
                <a:latin typeface="宋体" panose="02010600030101010101" pitchFamily="2" charset="-122"/>
                <a:ea typeface="宋体" panose="02010600030101010101" pitchFamily="2" charset="-122"/>
                <a:cs typeface="宋体" panose="02010600030101010101" pitchFamily="2" charset="-122"/>
              </a:rPr>
              <a:t>内容时</a:t>
            </a:r>
            <a:r>
              <a:rPr lang="en-US" altLang="zh-CN" dirty="0">
                <a:latin typeface="Times New Roman" panose="02020603050405020304" charset="0"/>
                <a:ea typeface="Times New Roman" panose="02020603050405020304" charset="0"/>
                <a:cs typeface="Times New Roman" panose="02020603050405020304" charset="0"/>
              </a:rPr>
              <a:t>3</a:t>
            </a:r>
            <a:r>
              <a:rPr lang="zh-CN" altLang="en-US" dirty="0">
                <a:latin typeface="宋体" panose="02010600030101010101" pitchFamily="2" charset="-122"/>
                <a:ea typeface="宋体" panose="02010600030101010101" pitchFamily="2" charset="-122"/>
                <a:cs typeface="宋体" panose="02010600030101010101" pitchFamily="2" charset="-122"/>
              </a:rPr>
              <a:t>种报表所调用的内容是不同的。日报表只调出某日的所有收支情况，</a:t>
            </a:r>
            <a:endParaRPr lang="en-US" altLang="zh-CN" dirty="0">
              <a:latin typeface="宋体" panose="02010600030101010101" pitchFamily="2" charset="-122"/>
              <a:ea typeface="宋体" panose="02010600030101010101" pitchFamily="2" charset="-122"/>
              <a:cs typeface="宋体" panose="02010600030101010101" pitchFamily="2" charset="-122"/>
            </a:endParaRPr>
          </a:p>
          <a:p>
            <a:pPr>
              <a:lnSpc>
                <a:spcPct val="130000"/>
              </a:lnSpc>
            </a:pPr>
            <a:r>
              <a:rPr lang="zh-CN" altLang="en-US" dirty="0">
                <a:latin typeface="宋体" panose="02010600030101010101" pitchFamily="2" charset="-122"/>
                <a:ea typeface="宋体" panose="02010600030101010101" pitchFamily="2" charset="-122"/>
                <a:cs typeface="宋体" panose="02010600030101010101" pitchFamily="2" charset="-122"/>
              </a:rPr>
              <a:t>然后统计总共收入多少，支出多少，余额多少；而月报表是统计某月内所有收支情况；年报表则是将某年中每月收支的合计情况分别打印出来并汇总成年收支情况。这里</a:t>
            </a:r>
            <a:r>
              <a:rPr lang="en-US" altLang="zh-CN" dirty="0">
                <a:latin typeface="Times New Roman" panose="02020603050405020304" charset="0"/>
                <a:ea typeface="Times New Roman" panose="02020603050405020304" charset="0"/>
                <a:cs typeface="Times New Roman" panose="02020603050405020304" charset="0"/>
              </a:rPr>
              <a:t>3</a:t>
            </a:r>
            <a:r>
              <a:rPr lang="zh-CN" altLang="en-US" dirty="0">
                <a:latin typeface="宋体" panose="02010600030101010101" pitchFamily="2" charset="-122"/>
                <a:ea typeface="宋体" panose="02010600030101010101" pitchFamily="2" charset="-122"/>
                <a:cs typeface="宋体" panose="02010600030101010101" pitchFamily="2" charset="-122"/>
              </a:rPr>
              <a:t>种报表打印格式相似，但实际工作过程不同。模块</a:t>
            </a:r>
            <a:r>
              <a:rPr lang="en-US" altLang="zh-CN" dirty="0">
                <a:latin typeface="Times New Roman" panose="02020603050405020304" charset="0"/>
                <a:ea typeface="Times New Roman" panose="02020603050405020304" charset="0"/>
                <a:cs typeface="Times New Roman" panose="02020603050405020304" charset="0"/>
              </a:rPr>
              <a:t>A</a:t>
            </a:r>
            <a:r>
              <a:rPr lang="zh-CN" altLang="en-US" dirty="0">
                <a:latin typeface="宋体" panose="02010600030101010101" pitchFamily="2" charset="-122"/>
                <a:ea typeface="宋体" panose="02010600030101010101" pitchFamily="2" charset="-122"/>
                <a:cs typeface="宋体" panose="02010600030101010101" pitchFamily="2" charset="-122"/>
              </a:rPr>
              <a:t>和模块</a:t>
            </a:r>
            <a:r>
              <a:rPr lang="en-US" altLang="zh-CN" dirty="0">
                <a:latin typeface="Times New Roman" panose="02020603050405020304" charset="0"/>
                <a:ea typeface="Times New Roman" panose="02020603050405020304" charset="0"/>
                <a:cs typeface="Times New Roman" panose="02020603050405020304" charset="0"/>
              </a:rPr>
              <a:t>B</a:t>
            </a:r>
            <a:r>
              <a:rPr lang="zh-CN" altLang="en-US" dirty="0">
                <a:latin typeface="宋体" panose="02010600030101010101" pitchFamily="2" charset="-122"/>
                <a:ea typeface="宋体" panose="02010600030101010101" pitchFamily="2" charset="-122"/>
                <a:cs typeface="宋体" panose="02010600030101010101" pitchFamily="2" charset="-122"/>
              </a:rPr>
              <a:t>是控制耦合，如图所示。</a:t>
            </a:r>
            <a:endParaRPr lang="zh-CN" altLang="en-US" dirty="0"/>
          </a:p>
        </p:txBody>
      </p:sp>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特征耦合</a:t>
            </a:r>
          </a:p>
        </p:txBody>
      </p:sp>
      <p:sp>
        <p:nvSpPr>
          <p:cNvPr id="4" name="文本框 3"/>
          <p:cNvSpPr txBox="1"/>
          <p:nvPr/>
        </p:nvSpPr>
        <p:spPr>
          <a:xfrm>
            <a:off x="768971" y="2611120"/>
            <a:ext cx="461665" cy="2057294"/>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3.2.3 </a:t>
            </a:r>
            <a:r>
              <a:rPr lang="zh-CN" altLang="en-US" spc="160" dirty="0">
                <a:solidFill>
                  <a:schemeClr val="bg1"/>
                </a:solidFill>
                <a:latin typeface="微软雅黑" panose="020B0503020204020204" charset="-122"/>
                <a:ea typeface="微软雅黑" panose="020B0503020204020204" charset="-122"/>
              </a:rPr>
              <a:t>模块独立性</a:t>
            </a:r>
            <a:endParaRPr lang="en-US" altLang="zh-CN" spc="160" dirty="0">
              <a:solidFill>
                <a:schemeClr val="bg1"/>
              </a:solidFill>
              <a:latin typeface="微软雅黑" panose="020B0503020204020204" charset="-122"/>
              <a:ea typeface="微软雅黑" panose="020B0503020204020204" charset="-122"/>
            </a:endParaRPr>
          </a:p>
        </p:txBody>
      </p:sp>
      <p:sp>
        <p:nvSpPr>
          <p:cNvPr id="100" name="文本框 99"/>
          <p:cNvSpPr txBox="1"/>
          <p:nvPr/>
        </p:nvSpPr>
        <p:spPr>
          <a:xfrm>
            <a:off x="2248525" y="2596129"/>
            <a:ext cx="8274570" cy="698076"/>
          </a:xfrm>
          <a:prstGeom prst="rect">
            <a:avLst/>
          </a:prstGeom>
          <a:noFill/>
          <a:ln w="9525">
            <a:noFill/>
          </a:ln>
        </p:spPr>
        <p:txBody>
          <a:bodyPr wrap="square">
            <a:spAutoFit/>
          </a:bodyPr>
          <a:lstStyle/>
          <a:p>
            <a:pPr marL="0" algn="l">
              <a:lnSpc>
                <a:spcPct val="130000"/>
              </a:lnSpc>
            </a:pPr>
            <a:r>
              <a:rPr lang="zh-CN" altLang="en-US" sz="1600" b="0" u="none" dirty="0">
                <a:latin typeface="宋体" panose="02010600030101010101" pitchFamily="2" charset="-122"/>
                <a:ea typeface="宋体" panose="02010600030101010101" pitchFamily="2" charset="-122"/>
                <a:cs typeface="宋体" panose="02010600030101010101" pitchFamily="2" charset="-122"/>
              </a:rPr>
              <a:t>    </a:t>
            </a:r>
            <a:r>
              <a:rPr lang="zh-CN" altLang="en-US" sz="1600" b="0" u="none" dirty="0">
                <a:solidFill>
                  <a:srgbClr val="C00000"/>
                </a:solidFill>
                <a:latin typeface="宋体" panose="02010600030101010101" pitchFamily="2" charset="-122"/>
                <a:ea typeface="宋体" panose="02010600030101010101" pitchFamily="2" charset="-122"/>
                <a:cs typeface="宋体" panose="02010600030101010101" pitchFamily="2" charset="-122"/>
              </a:rPr>
              <a:t>被调用的模块可以使用的数据多于它实际需要的数据，就是特征耦合</a:t>
            </a:r>
            <a:r>
              <a:rPr lang="zh-CN" altLang="en-US" sz="1600" b="0" u="none" dirty="0">
                <a:latin typeface="宋体" panose="02010600030101010101" pitchFamily="2" charset="-122"/>
                <a:ea typeface="宋体" panose="02010600030101010101" pitchFamily="2" charset="-122"/>
                <a:cs typeface="宋体" panose="02010600030101010101" pitchFamily="2" charset="-122"/>
              </a:rPr>
              <a:t>。这将导致可能对数据的访问失去控制，从而给计算机犯罪提供了机会，要避免此类设计。</a:t>
            </a:r>
            <a:endParaRPr lang="zh-CN" altLang="en-US" sz="1600" dirty="0"/>
          </a:p>
        </p:txBody>
      </p:sp>
    </p:spTree>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公共环境耦合</a:t>
            </a:r>
          </a:p>
        </p:txBody>
      </p:sp>
      <p:sp>
        <p:nvSpPr>
          <p:cNvPr id="4" name="文本框 3"/>
          <p:cNvSpPr txBox="1"/>
          <p:nvPr/>
        </p:nvSpPr>
        <p:spPr>
          <a:xfrm>
            <a:off x="768971" y="2611120"/>
            <a:ext cx="461665" cy="2057294"/>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3.2.3 </a:t>
            </a:r>
            <a:r>
              <a:rPr lang="zh-CN" altLang="en-US" spc="160" dirty="0">
                <a:solidFill>
                  <a:schemeClr val="bg1"/>
                </a:solidFill>
                <a:latin typeface="微软雅黑" panose="020B0503020204020204" charset="-122"/>
                <a:ea typeface="微软雅黑" panose="020B0503020204020204" charset="-122"/>
              </a:rPr>
              <a:t>模块独立性</a:t>
            </a:r>
            <a:endParaRPr lang="en-US" altLang="zh-CN" spc="160" dirty="0">
              <a:solidFill>
                <a:schemeClr val="bg1"/>
              </a:solidFill>
              <a:latin typeface="微软雅黑" panose="020B0503020204020204" charset="-122"/>
              <a:ea typeface="微软雅黑" panose="020B0503020204020204" charset="-122"/>
            </a:endParaRPr>
          </a:p>
        </p:txBody>
      </p:sp>
      <p:sp>
        <p:nvSpPr>
          <p:cNvPr id="100" name="文本框 99"/>
          <p:cNvSpPr txBox="1"/>
          <p:nvPr/>
        </p:nvSpPr>
        <p:spPr>
          <a:xfrm>
            <a:off x="1517692" y="1965533"/>
            <a:ext cx="10221595" cy="4053417"/>
          </a:xfrm>
          <a:prstGeom prst="rect">
            <a:avLst/>
          </a:prstGeom>
          <a:noFill/>
          <a:ln w="9525">
            <a:noFill/>
          </a:ln>
        </p:spPr>
        <p:txBody>
          <a:bodyPr wrap="square">
            <a:spAutoFit/>
          </a:bodyPr>
          <a:lstStyle/>
          <a:p>
            <a:pPr marL="0" algn="l" fontAlgn="auto">
              <a:lnSpc>
                <a:spcPct val="130000"/>
              </a:lnSpc>
            </a:pPr>
            <a:r>
              <a:rPr lang="zh-CN" altLang="en-US" b="0" u="none" dirty="0">
                <a:latin typeface="宋体" panose="02010600030101010101" pitchFamily="2" charset="-122"/>
                <a:ea typeface="宋体" panose="02010600030101010101" pitchFamily="2" charset="-122"/>
                <a:cs typeface="宋体" panose="02010600030101010101" pitchFamily="2" charset="-122"/>
              </a:rPr>
              <a:t>    </a:t>
            </a:r>
            <a:r>
              <a:rPr lang="zh-CN" altLang="en-US" b="0" u="none" dirty="0">
                <a:solidFill>
                  <a:srgbClr val="C00000"/>
                </a:solidFill>
                <a:latin typeface="宋体" panose="02010600030101010101" pitchFamily="2" charset="-122"/>
                <a:ea typeface="宋体" panose="02010600030101010101" pitchFamily="2" charset="-122"/>
                <a:cs typeface="宋体" panose="02010600030101010101" pitchFamily="2" charset="-122"/>
              </a:rPr>
              <a:t>两个或多个模块共享信息，这几个模块的耦合称为公共环境耦合</a:t>
            </a:r>
            <a:r>
              <a:rPr lang="zh-CN" altLang="en-US" b="0" u="none" dirty="0">
                <a:latin typeface="宋体" panose="02010600030101010101" pitchFamily="2" charset="-122"/>
                <a:ea typeface="宋体" panose="02010600030101010101" pitchFamily="2" charset="-122"/>
                <a:cs typeface="宋体" panose="02010600030101010101" pitchFamily="2" charset="-122"/>
              </a:rPr>
              <a:t>。</a:t>
            </a:r>
          </a:p>
          <a:p>
            <a:pPr>
              <a:lnSpc>
                <a:spcPct val="130000"/>
              </a:lnSpc>
            </a:pPr>
            <a:r>
              <a:rPr lang="zh-CN" altLang="en-US" b="0" u="none" dirty="0">
                <a:latin typeface="宋体" panose="02010600030101010101" pitchFamily="2" charset="-122"/>
                <a:ea typeface="宋体" panose="02010600030101010101" pitchFamily="2" charset="-122"/>
                <a:cs typeface="宋体" panose="02010600030101010101" pitchFamily="2" charset="-122"/>
              </a:rPr>
              <a:t>    这里的</a:t>
            </a:r>
            <a:r>
              <a:rPr lang="zh-CN" altLang="en-US" b="0" u="none" dirty="0">
                <a:solidFill>
                  <a:srgbClr val="0070C0"/>
                </a:solidFill>
                <a:latin typeface="宋体" panose="02010600030101010101" pitchFamily="2" charset="-122"/>
                <a:ea typeface="宋体" panose="02010600030101010101" pitchFamily="2" charset="-122"/>
                <a:cs typeface="宋体" panose="02010600030101010101" pitchFamily="2" charset="-122"/>
              </a:rPr>
              <a:t>公共环境可以是全局变量、内存的公共覆盖区、可供各个模块使用的数据文件、物理设备</a:t>
            </a:r>
            <a:r>
              <a:rPr lang="zh-CN" altLang="en-US" b="0" u="none" dirty="0">
                <a:latin typeface="宋体" panose="02010600030101010101" pitchFamily="2" charset="-122"/>
                <a:ea typeface="宋体" panose="02010600030101010101" pitchFamily="2" charset="-122"/>
                <a:cs typeface="宋体" panose="02010600030101010101" pitchFamily="2" charset="-122"/>
              </a:rPr>
              <a:t>等。这种设计方案的复杂程度随耦合的模块个数多少而不同，如果多个模块交叉共用大量的数据，那么设计方案是不易理解的，必须弄清某个模块究竟用了哪些数据，某个数据究竟被哪几个模块使用（必须在数据字典里加以说明）。</a:t>
            </a:r>
          </a:p>
          <a:p>
            <a:pPr>
              <a:lnSpc>
                <a:spcPct val="130000"/>
              </a:lnSpc>
            </a:pPr>
            <a:r>
              <a:rPr lang="zh-CN" altLang="en-US" b="0" u="none" dirty="0">
                <a:latin typeface="宋体" panose="02010600030101010101" pitchFamily="2" charset="-122"/>
                <a:ea typeface="宋体" panose="02010600030101010101" pitchFamily="2" charset="-122"/>
                <a:cs typeface="宋体" panose="02010600030101010101" pitchFamily="2" charset="-122"/>
              </a:rPr>
              <a:t>    这种设计方案</a:t>
            </a:r>
            <a:r>
              <a:rPr lang="zh-CN" altLang="en-US" b="0" u="none" dirty="0">
                <a:solidFill>
                  <a:srgbClr val="7030A0"/>
                </a:solidFill>
                <a:latin typeface="宋体" panose="02010600030101010101" pitchFamily="2" charset="-122"/>
                <a:ea typeface="宋体" panose="02010600030101010101" pitchFamily="2" charset="-122"/>
                <a:cs typeface="宋体" panose="02010600030101010101" pitchFamily="2" charset="-122"/>
              </a:rPr>
              <a:t>不利于修改</a:t>
            </a:r>
            <a:r>
              <a:rPr lang="zh-CN" altLang="en-US" b="0" u="none" dirty="0">
                <a:latin typeface="宋体" panose="02010600030101010101" pitchFamily="2" charset="-122"/>
                <a:ea typeface="宋体" panose="02010600030101010101" pitchFamily="2" charset="-122"/>
                <a:cs typeface="宋体" panose="02010600030101010101" pitchFamily="2" charset="-122"/>
              </a:rPr>
              <a:t>，当需要改动某个变量名字或类型时，难以确定这一改动会影响到哪几个模块，极容易引发潜伏的错误。这种设计方案</a:t>
            </a:r>
            <a:r>
              <a:rPr lang="zh-CN" altLang="en-US" b="0" u="none" dirty="0">
                <a:solidFill>
                  <a:srgbClr val="7030A0"/>
                </a:solidFill>
                <a:latin typeface="宋体" panose="02010600030101010101" pitchFamily="2" charset="-122"/>
                <a:ea typeface="宋体" panose="02010600030101010101" pitchFamily="2" charset="-122"/>
                <a:cs typeface="宋体" panose="02010600030101010101" pitchFamily="2" charset="-122"/>
              </a:rPr>
              <a:t>可靠性差</a:t>
            </a:r>
            <a:r>
              <a:rPr lang="zh-CN" altLang="en-US" b="0" u="none" dirty="0">
                <a:latin typeface="宋体" panose="02010600030101010101" pitchFamily="2" charset="-122"/>
                <a:ea typeface="宋体" panose="02010600030101010101" pitchFamily="2" charset="-122"/>
                <a:cs typeface="宋体" panose="02010600030101010101" pitchFamily="2" charset="-122"/>
              </a:rPr>
              <a:t>，当某个模块发生错误，而引起全局变量出错时，还会通过公共数据蔓延扩散到系统的其他部分。所以，通常应限制公共环境耦合的使用。</a:t>
            </a:r>
          </a:p>
          <a:p>
            <a:pPr>
              <a:lnSpc>
                <a:spcPct val="130000"/>
              </a:lnSpc>
            </a:pPr>
            <a:r>
              <a:rPr lang="zh-CN" altLang="en-US" b="0" u="none" dirty="0">
                <a:latin typeface="宋体" panose="02010600030101010101" pitchFamily="2" charset="-122"/>
                <a:ea typeface="宋体" panose="02010600030101010101" pitchFamily="2" charset="-122"/>
                <a:cs typeface="宋体" panose="02010600030101010101" pitchFamily="2" charset="-122"/>
              </a:rPr>
              <a:t>    如果两个模块共享的</a:t>
            </a:r>
            <a:r>
              <a:rPr lang="zh-CN" altLang="en-US" b="0" u="none" dirty="0">
                <a:solidFill>
                  <a:srgbClr val="0070C0"/>
                </a:solidFill>
                <a:latin typeface="宋体" panose="02010600030101010101" pitchFamily="2" charset="-122"/>
                <a:ea typeface="宋体" panose="02010600030101010101" pitchFamily="2" charset="-122"/>
                <a:cs typeface="宋体" panose="02010600030101010101" pitchFamily="2" charset="-122"/>
              </a:rPr>
              <a:t>数据很多，通过参数传递不方便，此时，可以利用公共环境耦合</a:t>
            </a:r>
            <a:r>
              <a:rPr lang="zh-CN" altLang="en-US" b="0" u="none" dirty="0">
                <a:latin typeface="宋体" panose="02010600030101010101" pitchFamily="2" charset="-122"/>
                <a:ea typeface="宋体" panose="02010600030101010101" pitchFamily="2" charset="-122"/>
                <a:cs typeface="宋体" panose="02010600030101010101" pitchFamily="2" charset="-122"/>
              </a:rPr>
              <a:t>，但应注意共享数据的命名，使其含义明确，变量名应适当地加长一些，避免不相干的模块使用相同名字的变量，从而引起不必要的麻烦。</a:t>
            </a:r>
            <a:endParaRPr lang="zh-CN" altLang="en-US" dirty="0"/>
          </a:p>
        </p:txBody>
      </p:sp>
    </p:spTree>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内容耦合</a:t>
            </a:r>
          </a:p>
        </p:txBody>
      </p:sp>
      <p:sp>
        <p:nvSpPr>
          <p:cNvPr id="4" name="文本框 3"/>
          <p:cNvSpPr txBox="1"/>
          <p:nvPr/>
        </p:nvSpPr>
        <p:spPr>
          <a:xfrm>
            <a:off x="768971" y="2559685"/>
            <a:ext cx="461665" cy="2057294"/>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3.2.3 </a:t>
            </a:r>
            <a:r>
              <a:rPr lang="zh-CN" altLang="en-US" spc="160" dirty="0">
                <a:solidFill>
                  <a:schemeClr val="bg1"/>
                </a:solidFill>
                <a:latin typeface="微软雅黑" panose="020B0503020204020204" charset="-122"/>
                <a:ea typeface="微软雅黑" panose="020B0503020204020204" charset="-122"/>
              </a:rPr>
              <a:t>模块独立性</a:t>
            </a:r>
            <a:endParaRPr lang="en-US" altLang="zh-CN" spc="160" dirty="0">
              <a:solidFill>
                <a:schemeClr val="bg1"/>
              </a:solidFill>
              <a:latin typeface="微软雅黑" panose="020B0503020204020204" charset="-122"/>
              <a:ea typeface="微软雅黑" panose="020B0503020204020204" charset="-122"/>
            </a:endParaRPr>
          </a:p>
        </p:txBody>
      </p:sp>
      <p:sp>
        <p:nvSpPr>
          <p:cNvPr id="100" name="文本框 99"/>
          <p:cNvSpPr txBox="1"/>
          <p:nvPr/>
        </p:nvSpPr>
        <p:spPr>
          <a:xfrm>
            <a:off x="1494520" y="1979774"/>
            <a:ext cx="9987946" cy="4053417"/>
          </a:xfrm>
          <a:prstGeom prst="rect">
            <a:avLst/>
          </a:prstGeom>
          <a:noFill/>
          <a:ln w="9525">
            <a:noFill/>
          </a:ln>
        </p:spPr>
        <p:txBody>
          <a:bodyPr wrap="square">
            <a:spAutoFit/>
          </a:bodyPr>
          <a:lstStyle/>
          <a:p>
            <a:pPr marL="0" indent="0" algn="l" fontAlgn="auto">
              <a:lnSpc>
                <a:spcPct val="130000"/>
              </a:lnSpc>
            </a:pPr>
            <a:r>
              <a:rPr lang="zh-CN" altLang="en-US" b="0" u="none" dirty="0">
                <a:latin typeface="宋体" panose="02010600030101010101" pitchFamily="2" charset="-122"/>
                <a:ea typeface="宋体" panose="02010600030101010101" pitchFamily="2" charset="-122"/>
                <a:cs typeface="宋体" panose="02010600030101010101" pitchFamily="2" charset="-122"/>
              </a:rPr>
              <a:t>    </a:t>
            </a:r>
            <a:r>
              <a:rPr lang="zh-CN" altLang="en-US" b="0" u="none" dirty="0">
                <a:solidFill>
                  <a:srgbClr val="C00000"/>
                </a:solidFill>
                <a:latin typeface="宋体" panose="02010600030101010101" pitchFamily="2" charset="-122"/>
                <a:ea typeface="宋体" panose="02010600030101010101" pitchFamily="2" charset="-122"/>
                <a:cs typeface="宋体" panose="02010600030101010101" pitchFamily="2" charset="-122"/>
              </a:rPr>
              <a:t>两个模块之间有下列情况之一时，产生内容耦合</a:t>
            </a:r>
            <a:r>
              <a:rPr lang="zh-CN" altLang="en-US" b="0" u="none" dirty="0">
                <a:latin typeface="宋体" panose="02010600030101010101" pitchFamily="2" charset="-122"/>
                <a:ea typeface="宋体" panose="02010600030101010101" pitchFamily="2" charset="-122"/>
                <a:cs typeface="宋体" panose="02010600030101010101" pitchFamily="2" charset="-122"/>
              </a:rPr>
              <a:t>。内容耦合是耦合程度最高的，应避免使用。</a:t>
            </a:r>
            <a:endParaRPr lang="zh-CN" altLang="en-US" b="0" u="none" dirty="0">
              <a:solidFill>
                <a:srgbClr val="7F00E4"/>
              </a:solidFill>
              <a:latin typeface="Wingdings" panose="05000000000000000000" charset="0"/>
              <a:ea typeface="Wingdings" panose="05000000000000000000" charset="0"/>
              <a:cs typeface="Wingdings" panose="05000000000000000000" charset="0"/>
            </a:endParaRPr>
          </a:p>
          <a:p>
            <a:pPr marL="0" indent="0" algn="l" fontAlgn="auto">
              <a:lnSpc>
                <a:spcPct val="130000"/>
              </a:lnSpc>
            </a:pPr>
            <a:r>
              <a:rPr lang="en-US" altLang="zh-CN" b="1" u="none" dirty="0">
                <a:solidFill>
                  <a:srgbClr val="7F00E4"/>
                </a:solidFill>
                <a:latin typeface="Wingdings" panose="05000000000000000000" charset="0"/>
                <a:ea typeface="Wingdings" panose="05000000000000000000" charset="0"/>
                <a:cs typeface="Wingdings" panose="05000000000000000000" charset="0"/>
              </a:rPr>
              <a:t>Ø </a:t>
            </a:r>
            <a:r>
              <a:rPr lang="zh-CN" altLang="en-US" b="1" u="none" dirty="0">
                <a:latin typeface="宋体" panose="02010600030101010101" pitchFamily="2" charset="-122"/>
                <a:ea typeface="宋体" panose="02010600030101010101" pitchFamily="2" charset="-122"/>
                <a:cs typeface="宋体" panose="02010600030101010101" pitchFamily="2" charset="-122"/>
              </a:rPr>
              <a:t>某个模块直接访问另一模块的内部数据；</a:t>
            </a:r>
            <a:endParaRPr lang="zh-CN" altLang="en-US" b="1" u="none" dirty="0">
              <a:solidFill>
                <a:srgbClr val="7F00E4"/>
              </a:solidFill>
              <a:latin typeface="Wingdings" panose="05000000000000000000" charset="0"/>
              <a:ea typeface="Wingdings" panose="05000000000000000000" charset="0"/>
              <a:cs typeface="Wingdings" panose="05000000000000000000" charset="0"/>
            </a:endParaRPr>
          </a:p>
          <a:p>
            <a:pPr marL="0" indent="0" algn="l" fontAlgn="auto">
              <a:lnSpc>
                <a:spcPct val="130000"/>
              </a:lnSpc>
            </a:pPr>
            <a:r>
              <a:rPr lang="en-US" altLang="zh-CN" b="1" u="none" dirty="0">
                <a:solidFill>
                  <a:srgbClr val="7F00E4"/>
                </a:solidFill>
                <a:latin typeface="Wingdings" panose="05000000000000000000" charset="0"/>
                <a:ea typeface="Wingdings" panose="05000000000000000000" charset="0"/>
                <a:cs typeface="Wingdings" panose="05000000000000000000" charset="0"/>
              </a:rPr>
              <a:t>Ø </a:t>
            </a:r>
            <a:r>
              <a:rPr lang="zh-CN" altLang="en-US" b="1" u="none" dirty="0">
                <a:latin typeface="宋体" panose="02010600030101010101" pitchFamily="2" charset="-122"/>
                <a:ea typeface="宋体" panose="02010600030101010101" pitchFamily="2" charset="-122"/>
                <a:cs typeface="宋体" panose="02010600030101010101" pitchFamily="2" charset="-122"/>
              </a:rPr>
              <a:t>两个模块有相同的程序段；</a:t>
            </a:r>
            <a:endParaRPr lang="zh-CN" altLang="en-US" b="1" u="none" dirty="0">
              <a:solidFill>
                <a:srgbClr val="7F00E4"/>
              </a:solidFill>
              <a:latin typeface="Wingdings" panose="05000000000000000000" charset="0"/>
              <a:ea typeface="Wingdings" panose="05000000000000000000" charset="0"/>
              <a:cs typeface="Wingdings" panose="05000000000000000000" charset="0"/>
            </a:endParaRPr>
          </a:p>
          <a:p>
            <a:pPr marL="0" indent="0" algn="l" fontAlgn="auto">
              <a:lnSpc>
                <a:spcPct val="130000"/>
              </a:lnSpc>
            </a:pPr>
            <a:r>
              <a:rPr lang="en-US" altLang="zh-CN" b="1" u="none" dirty="0">
                <a:solidFill>
                  <a:srgbClr val="7F00E4"/>
                </a:solidFill>
                <a:latin typeface="Wingdings" panose="05000000000000000000" charset="0"/>
                <a:ea typeface="Wingdings" panose="05000000000000000000" charset="0"/>
                <a:cs typeface="Wingdings" panose="05000000000000000000" charset="0"/>
              </a:rPr>
              <a:t>Ø </a:t>
            </a:r>
            <a:r>
              <a:rPr lang="zh-CN" altLang="en-US" b="1" u="none" dirty="0">
                <a:latin typeface="宋体" panose="02010600030101010101" pitchFamily="2" charset="-122"/>
                <a:ea typeface="宋体" panose="02010600030101010101" pitchFamily="2" charset="-122"/>
                <a:cs typeface="宋体" panose="02010600030101010101" pitchFamily="2" charset="-122"/>
              </a:rPr>
              <a:t>一个模块直接进入另一模块的内部；</a:t>
            </a:r>
            <a:endParaRPr lang="zh-CN" altLang="en-US" b="1" u="none" dirty="0">
              <a:solidFill>
                <a:srgbClr val="7F00E4"/>
              </a:solidFill>
              <a:latin typeface="Wingdings" panose="05000000000000000000" charset="0"/>
              <a:ea typeface="Wingdings" panose="05000000000000000000" charset="0"/>
              <a:cs typeface="Wingdings" panose="05000000000000000000" charset="0"/>
            </a:endParaRPr>
          </a:p>
          <a:p>
            <a:pPr marL="0" indent="0" algn="l" fontAlgn="auto">
              <a:lnSpc>
                <a:spcPct val="130000"/>
              </a:lnSpc>
            </a:pPr>
            <a:r>
              <a:rPr lang="en-US" altLang="zh-CN" b="1" u="none" dirty="0">
                <a:solidFill>
                  <a:srgbClr val="7F00E4"/>
                </a:solidFill>
                <a:latin typeface="Wingdings" panose="05000000000000000000" charset="0"/>
                <a:ea typeface="Wingdings" panose="05000000000000000000" charset="0"/>
                <a:cs typeface="Wingdings" panose="05000000000000000000" charset="0"/>
              </a:rPr>
              <a:t>Ø </a:t>
            </a:r>
            <a:r>
              <a:rPr lang="zh-CN" altLang="en-US" b="1" u="none" dirty="0">
                <a:latin typeface="宋体" panose="02010600030101010101" pitchFamily="2" charset="-122"/>
                <a:ea typeface="宋体" panose="02010600030101010101" pitchFamily="2" charset="-122"/>
                <a:cs typeface="宋体" panose="02010600030101010101" pitchFamily="2" charset="-122"/>
              </a:rPr>
              <a:t>一个模块有多个入口，即模块有多个功能。</a:t>
            </a:r>
          </a:p>
          <a:p>
            <a:pPr>
              <a:lnSpc>
                <a:spcPct val="130000"/>
              </a:lnSpc>
            </a:pPr>
            <a:r>
              <a:rPr lang="zh-CN" altLang="en-US" b="0" u="none" dirty="0">
                <a:latin typeface="宋体" panose="02010600030101010101" pitchFamily="2" charset="-122"/>
                <a:ea typeface="宋体" panose="02010600030101010101" pitchFamily="2" charset="-122"/>
                <a:cs typeface="宋体" panose="02010600030101010101" pitchFamily="2" charset="-122"/>
              </a:rPr>
              <a:t>    总之，为了降低模块间的耦合程度，应采用以下设计原则。</a:t>
            </a:r>
          </a:p>
          <a:p>
            <a:pPr>
              <a:lnSpc>
                <a:spcPct val="130000"/>
              </a:lnSpc>
            </a:pPr>
            <a:r>
              <a:rPr lang="zh-CN" altLang="en-US" b="0" u="none" dirty="0">
                <a:latin typeface="宋体" panose="02010600030101010101" pitchFamily="2" charset="-122"/>
                <a:ea typeface="宋体" panose="02010600030101010101" pitchFamily="2" charset="-122"/>
                <a:cs typeface="宋体" panose="02010600030101010101" pitchFamily="2" charset="-122"/>
              </a:rPr>
              <a:t>（</a:t>
            </a:r>
            <a:r>
              <a:rPr lang="en-US" altLang="zh-CN" b="0" u="none" dirty="0">
                <a:latin typeface="宋体" panose="02010600030101010101" pitchFamily="2" charset="-122"/>
                <a:ea typeface="宋体" panose="02010600030101010101" pitchFamily="2" charset="-122"/>
                <a:cs typeface="宋体" panose="02010600030101010101" pitchFamily="2" charset="-122"/>
              </a:rPr>
              <a:t>1</a:t>
            </a:r>
            <a:r>
              <a:rPr lang="zh-CN" altLang="en-US" b="0" u="none" dirty="0">
                <a:latin typeface="宋体" panose="02010600030101010101" pitchFamily="2" charset="-122"/>
                <a:ea typeface="宋体" panose="02010600030101010101" pitchFamily="2" charset="-122"/>
                <a:cs typeface="宋体" panose="02010600030101010101" pitchFamily="2" charset="-122"/>
              </a:rPr>
              <a:t>）</a:t>
            </a:r>
            <a:r>
              <a:rPr lang="zh-CN" altLang="en-US" b="0" u="none" dirty="0">
                <a:solidFill>
                  <a:schemeClr val="accent6">
                    <a:lumMod val="50000"/>
                  </a:schemeClr>
                </a:solidFill>
                <a:latin typeface="宋体" panose="02010600030101010101" pitchFamily="2" charset="-122"/>
                <a:ea typeface="宋体" panose="02010600030101010101" pitchFamily="2" charset="-122"/>
                <a:cs typeface="宋体" panose="02010600030101010101" pitchFamily="2" charset="-122"/>
              </a:rPr>
              <a:t>在传递信息时尽量使用数据耦合，少用控制耦合和特征耦合</a:t>
            </a:r>
            <a:r>
              <a:rPr lang="zh-CN" altLang="en-US" b="0" u="none" dirty="0">
                <a:latin typeface="宋体" panose="02010600030101010101" pitchFamily="2" charset="-122"/>
                <a:ea typeface="宋体" panose="02010600030101010101" pitchFamily="2" charset="-122"/>
                <a:cs typeface="宋体" panose="02010600030101010101" pitchFamily="2" charset="-122"/>
              </a:rPr>
              <a:t>。在耦合方式上，通过语句调用，用参数传递信息，不采用直接引用方式（内容耦合），尽量控制公共环境耦合。</a:t>
            </a:r>
          </a:p>
          <a:p>
            <a:pPr>
              <a:lnSpc>
                <a:spcPct val="130000"/>
              </a:lnSpc>
            </a:pPr>
            <a:r>
              <a:rPr lang="zh-CN" altLang="en-US" b="0" u="none" dirty="0">
                <a:latin typeface="宋体" panose="02010600030101010101" pitchFamily="2" charset="-122"/>
                <a:ea typeface="宋体" panose="02010600030101010101" pitchFamily="2" charset="-122"/>
                <a:cs typeface="宋体" panose="02010600030101010101" pitchFamily="2" charset="-122"/>
              </a:rPr>
              <a:t>（</a:t>
            </a:r>
            <a:r>
              <a:rPr lang="en-US" altLang="zh-CN" b="0" u="none" dirty="0">
                <a:latin typeface="宋体" panose="02010600030101010101" pitchFamily="2" charset="-122"/>
                <a:ea typeface="宋体" panose="02010600030101010101" pitchFamily="2" charset="-122"/>
                <a:cs typeface="宋体" panose="02010600030101010101" pitchFamily="2" charset="-122"/>
              </a:rPr>
              <a:t>2</a:t>
            </a:r>
            <a:r>
              <a:rPr lang="zh-CN" altLang="en-US" b="0" u="none" dirty="0">
                <a:latin typeface="宋体" panose="02010600030101010101" pitchFamily="2" charset="-122"/>
                <a:ea typeface="宋体" panose="02010600030101010101" pitchFamily="2" charset="-122"/>
                <a:cs typeface="宋体" panose="02010600030101010101" pitchFamily="2" charset="-122"/>
              </a:rPr>
              <a:t>）</a:t>
            </a:r>
            <a:r>
              <a:rPr lang="zh-CN" altLang="en-US" b="0" u="none" dirty="0">
                <a:solidFill>
                  <a:schemeClr val="accent6">
                    <a:lumMod val="50000"/>
                  </a:schemeClr>
                </a:solidFill>
                <a:latin typeface="宋体" panose="02010600030101010101" pitchFamily="2" charset="-122"/>
                <a:ea typeface="宋体" panose="02010600030101010101" pitchFamily="2" charset="-122"/>
                <a:cs typeface="宋体" panose="02010600030101010101" pitchFamily="2" charset="-122"/>
              </a:rPr>
              <a:t>模块之间相互调用时，传递的参数最好只有</a:t>
            </a:r>
            <a:r>
              <a:rPr lang="en-US" altLang="zh-CN" b="0" u="none" dirty="0">
                <a:solidFill>
                  <a:schemeClr val="accent6">
                    <a:lumMod val="50000"/>
                  </a:schemeClr>
                </a:solidFill>
                <a:latin typeface="Times New Roman" panose="02020603050405020304" charset="0"/>
                <a:ea typeface="Times New Roman" panose="02020603050405020304" charset="0"/>
                <a:cs typeface="Times New Roman" panose="02020603050405020304" charset="0"/>
              </a:rPr>
              <a:t>1</a:t>
            </a:r>
            <a:r>
              <a:rPr lang="zh-CN" altLang="en-US" b="0" u="none" dirty="0">
                <a:solidFill>
                  <a:schemeClr val="accent6">
                    <a:lumMod val="50000"/>
                  </a:schemeClr>
                </a:solidFill>
                <a:latin typeface="宋体" panose="02010600030101010101" pitchFamily="2" charset="-122"/>
                <a:ea typeface="宋体" panose="02010600030101010101" pitchFamily="2" charset="-122"/>
                <a:cs typeface="宋体" panose="02010600030101010101" pitchFamily="2" charset="-122"/>
              </a:rPr>
              <a:t>个，最多不超过</a:t>
            </a:r>
            <a:r>
              <a:rPr lang="en-US" altLang="zh-CN" b="0" u="none" dirty="0">
                <a:solidFill>
                  <a:schemeClr val="accent6">
                    <a:lumMod val="50000"/>
                  </a:schemeClr>
                </a:solidFill>
                <a:latin typeface="Times New Roman" panose="02020603050405020304" charset="0"/>
                <a:ea typeface="Times New Roman" panose="02020603050405020304" charset="0"/>
                <a:cs typeface="Times New Roman" panose="02020603050405020304" charset="0"/>
              </a:rPr>
              <a:t>4</a:t>
            </a:r>
            <a:r>
              <a:rPr lang="zh-CN" altLang="en-US" b="0" u="none" dirty="0">
                <a:solidFill>
                  <a:schemeClr val="accent6">
                    <a:lumMod val="50000"/>
                  </a:schemeClr>
                </a:solidFill>
                <a:latin typeface="宋体" panose="02010600030101010101" pitchFamily="2" charset="-122"/>
                <a:ea typeface="宋体" panose="02010600030101010101" pitchFamily="2" charset="-122"/>
                <a:cs typeface="宋体" panose="02010600030101010101" pitchFamily="2" charset="-122"/>
              </a:rPr>
              <a:t>个</a:t>
            </a:r>
            <a:r>
              <a:rPr lang="zh-CN" altLang="en-US" b="0" u="none" dirty="0">
                <a:latin typeface="宋体" panose="02010600030101010101" pitchFamily="2" charset="-122"/>
                <a:ea typeface="宋体" panose="02010600030101010101" pitchFamily="2" charset="-122"/>
                <a:cs typeface="宋体" panose="02010600030101010101" pitchFamily="2" charset="-122"/>
              </a:rPr>
              <a:t>。</a:t>
            </a:r>
          </a:p>
          <a:p>
            <a:pPr>
              <a:lnSpc>
                <a:spcPct val="130000"/>
              </a:lnSpc>
            </a:pPr>
            <a:r>
              <a:rPr lang="zh-CN" altLang="en-US" b="0" u="none" dirty="0">
                <a:latin typeface="宋体" panose="02010600030101010101" pitchFamily="2" charset="-122"/>
                <a:ea typeface="宋体" panose="02010600030101010101" pitchFamily="2" charset="-122"/>
                <a:cs typeface="宋体" panose="02010600030101010101" pitchFamily="2" charset="-122"/>
              </a:rPr>
              <a:t>（</a:t>
            </a:r>
            <a:r>
              <a:rPr lang="en-US" altLang="zh-CN" b="0" u="none" dirty="0">
                <a:latin typeface="宋体" panose="02010600030101010101" pitchFamily="2" charset="-122"/>
                <a:ea typeface="宋体" panose="02010600030101010101" pitchFamily="2" charset="-122"/>
                <a:cs typeface="宋体" panose="02010600030101010101" pitchFamily="2" charset="-122"/>
              </a:rPr>
              <a:t>3</a:t>
            </a:r>
            <a:r>
              <a:rPr lang="zh-CN" altLang="en-US" b="0" u="none" dirty="0">
                <a:latin typeface="宋体" panose="02010600030101010101" pitchFamily="2" charset="-122"/>
                <a:ea typeface="宋体" panose="02010600030101010101" pitchFamily="2" charset="-122"/>
                <a:cs typeface="宋体" panose="02010600030101010101" pitchFamily="2" charset="-122"/>
              </a:rPr>
              <a:t>）</a:t>
            </a:r>
            <a:r>
              <a:rPr lang="zh-CN" altLang="en-US" b="0" u="none" dirty="0">
                <a:solidFill>
                  <a:schemeClr val="accent6">
                    <a:lumMod val="50000"/>
                  </a:schemeClr>
                </a:solidFill>
                <a:latin typeface="宋体" panose="02010600030101010101" pitchFamily="2" charset="-122"/>
                <a:ea typeface="宋体" panose="02010600030101010101" pitchFamily="2" charset="-122"/>
                <a:cs typeface="宋体" panose="02010600030101010101" pitchFamily="2" charset="-122"/>
              </a:rPr>
              <a:t>在设计模块时尽量做到把模块之间的连接限制到最少，模块环境的任何变化都不应引起模块内部发生改变。</a:t>
            </a:r>
            <a:endParaRPr lang="zh-CN" altLang="en-US" dirty="0">
              <a:solidFill>
                <a:schemeClr val="accent6">
                  <a:lumMod val="50000"/>
                </a:schemeClr>
              </a:solidFill>
            </a:endParaRPr>
          </a:p>
        </p:txBody>
      </p:sp>
    </p:spTree>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p>
        </p:txBody>
      </p:sp>
      <p:sp>
        <p:nvSpPr>
          <p:cNvPr id="4" name="文本框 3"/>
          <p:cNvSpPr txBox="1"/>
          <p:nvPr/>
        </p:nvSpPr>
        <p:spPr>
          <a:xfrm>
            <a:off x="768971" y="2611120"/>
            <a:ext cx="461665" cy="2057294"/>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3.2.3 </a:t>
            </a:r>
            <a:r>
              <a:rPr lang="zh-CN" altLang="en-US" spc="160" dirty="0">
                <a:solidFill>
                  <a:schemeClr val="bg1"/>
                </a:solidFill>
                <a:latin typeface="微软雅黑" panose="020B0503020204020204" charset="-122"/>
                <a:ea typeface="微软雅黑" panose="020B0503020204020204" charset="-122"/>
              </a:rPr>
              <a:t>模块独立性</a:t>
            </a:r>
            <a:endParaRPr lang="en-US" altLang="zh-CN" spc="160" dirty="0">
              <a:solidFill>
                <a:schemeClr val="bg1"/>
              </a:solidFill>
              <a:latin typeface="微软雅黑" panose="020B0503020204020204" charset="-122"/>
              <a:ea typeface="微软雅黑" panose="020B0503020204020204" charset="-122"/>
            </a:endParaRPr>
          </a:p>
        </p:txBody>
      </p:sp>
      <p:sp>
        <p:nvSpPr>
          <p:cNvPr id="100" name="文本框 99"/>
          <p:cNvSpPr txBox="1"/>
          <p:nvPr/>
        </p:nvSpPr>
        <p:spPr>
          <a:xfrm>
            <a:off x="1737359" y="2611120"/>
            <a:ext cx="9730116" cy="2769989"/>
          </a:xfrm>
          <a:prstGeom prst="rect">
            <a:avLst/>
          </a:prstGeom>
          <a:noFill/>
          <a:ln w="9525">
            <a:noFill/>
          </a:ln>
        </p:spPr>
        <p:txBody>
          <a:bodyPr wrap="square">
            <a:spAutoFit/>
          </a:bodyPr>
          <a:lstStyle/>
          <a:p>
            <a:pPr marL="0" indent="0" algn="l" fontAlgn="auto">
              <a:lnSpc>
                <a:spcPct val="130000"/>
              </a:lnSpc>
            </a:pPr>
            <a:r>
              <a:rPr lang="zh-CN" altLang="en-US" sz="2400" b="0" u="none" dirty="0">
                <a:latin typeface="宋体" panose="02010600030101010101" pitchFamily="2" charset="-122"/>
                <a:ea typeface="宋体" panose="02010600030101010101" pitchFamily="2" charset="-122"/>
                <a:cs typeface="宋体" panose="02010600030101010101" pitchFamily="2" charset="-122"/>
              </a:rPr>
              <a:t>    </a:t>
            </a:r>
            <a:r>
              <a:rPr lang="zh-CN" altLang="en-US" sz="2400" b="0" u="none" dirty="0">
                <a:solidFill>
                  <a:srgbClr val="C00000"/>
                </a:solidFill>
                <a:latin typeface="宋体" panose="02010600030101010101" pitchFamily="2" charset="-122"/>
                <a:ea typeface="宋体" panose="02010600030101010101" pitchFamily="2" charset="-122"/>
                <a:cs typeface="宋体" panose="02010600030101010101" pitchFamily="2" charset="-122"/>
              </a:rPr>
              <a:t>一个模块内各个元素彼此结合的紧密程度用内聚来度量</a:t>
            </a:r>
            <a:r>
              <a:rPr lang="zh-CN" altLang="en-US" sz="2400" b="0" u="none" dirty="0">
                <a:latin typeface="宋体" panose="02010600030101010101" pitchFamily="2" charset="-122"/>
                <a:ea typeface="宋体" panose="02010600030101010101" pitchFamily="2" charset="-122"/>
                <a:cs typeface="宋体" panose="02010600030101010101" pitchFamily="2" charset="-122"/>
              </a:rPr>
              <a:t>。理想的模块只完成一个功能，模块设计的目标之一是力求做到高内聚。</a:t>
            </a:r>
          </a:p>
          <a:p>
            <a:pPr marL="0" indent="0" algn="l" fontAlgn="auto">
              <a:lnSpc>
                <a:spcPct val="130000"/>
              </a:lnSpc>
            </a:pPr>
            <a:r>
              <a:rPr lang="zh-CN" altLang="en-US" sz="2400" b="0" u="none" dirty="0">
                <a:latin typeface="宋体" panose="02010600030101010101" pitchFamily="2" charset="-122"/>
                <a:ea typeface="宋体" panose="02010600030101010101" pitchFamily="2" charset="-122"/>
                <a:cs typeface="宋体" panose="02010600030101010101" pitchFamily="2" charset="-122"/>
              </a:rPr>
              <a:t>    内聚和耦合是进行模块化设计时应考虑的密切相关的两个工具，模块的高内聚往往会有模块间的松耦合，但事实证明内聚更加重要，设计时应更多地考虑如何提高模块的内聚程度。</a:t>
            </a:r>
          </a:p>
          <a:p>
            <a:pPr marL="0" indent="0" algn="l" fontAlgn="auto"/>
            <a:endParaRPr lang="zh-CN" altLang="en-US" b="0" u="none" dirty="0">
              <a:latin typeface="宋体" panose="02010600030101010101" pitchFamily="2" charset="-122"/>
              <a:ea typeface="宋体" panose="02010600030101010101" pitchFamily="2" charset="-122"/>
              <a:cs typeface="宋体" panose="02010600030101010101" pitchFamily="2" charset="-122"/>
            </a:endParaRPr>
          </a:p>
        </p:txBody>
      </p:sp>
      <p:grpSp>
        <p:nvGrpSpPr>
          <p:cNvPr id="6" name="组合 5"/>
          <p:cNvGrpSpPr/>
          <p:nvPr/>
        </p:nvGrpSpPr>
        <p:grpSpPr>
          <a:xfrm>
            <a:off x="1036325" y="1295097"/>
            <a:ext cx="8408035" cy="861060"/>
            <a:chOff x="1188" y="3071"/>
            <a:chExt cx="13241" cy="1356"/>
          </a:xfrm>
        </p:grpSpPr>
        <p:sp>
          <p:nvSpPr>
            <p:cNvPr id="7" name="圆角矩形"/>
            <p:cNvSpPr/>
            <p:nvPr/>
          </p:nvSpPr>
          <p:spPr>
            <a:xfrm>
              <a:off x="1188" y="3479"/>
              <a:ext cx="12661" cy="948"/>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8" name="学士帽"/>
            <p:cNvSpPr/>
            <p:nvPr/>
          </p:nvSpPr>
          <p:spPr bwMode="auto">
            <a:xfrm>
              <a:off x="1188" y="3071"/>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ndParaRPr>
            </a:p>
          </p:txBody>
        </p:sp>
        <p:sp>
          <p:nvSpPr>
            <p:cNvPr id="9" name="文本框 42"/>
            <p:cNvSpPr txBox="1"/>
            <p:nvPr/>
          </p:nvSpPr>
          <p:spPr>
            <a:xfrm>
              <a:off x="1188" y="3647"/>
              <a:ext cx="13241" cy="582"/>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dirty="0">
                  <a:solidFill>
                    <a:schemeClr val="bg2">
                      <a:lumMod val="50000"/>
                    </a:schemeClr>
                  </a:solidFill>
                  <a:sym typeface="+mn-ea"/>
                </a:rPr>
                <a:t>衡量模块独立程度的两个定性度量标准是耦合和内聚。</a:t>
              </a:r>
              <a:r>
                <a:rPr lang="en-US" altLang="zh-CN" dirty="0">
                  <a:solidFill>
                    <a:schemeClr val="bg2">
                      <a:lumMod val="50000"/>
                    </a:schemeClr>
                  </a:solidFill>
                  <a:sym typeface="+mn-ea"/>
                </a:rPr>
                <a:t>——</a:t>
              </a:r>
              <a:r>
                <a:rPr lang="zh-CN" altLang="en-US" b="1" dirty="0">
                  <a:solidFill>
                    <a:schemeClr val="bg2">
                      <a:lumMod val="50000"/>
                    </a:schemeClr>
                  </a:solidFill>
                  <a:sym typeface="+mn-ea"/>
                </a:rPr>
                <a:t>内聚</a:t>
              </a:r>
              <a:endParaRPr b="1" dirty="0">
                <a:solidFill>
                  <a:schemeClr val="bg2">
                    <a:lumMod val="50000"/>
                  </a:schemeClr>
                </a:solidFill>
                <a:sym typeface="+mn-ea"/>
              </a:endParaRPr>
            </a:p>
          </p:txBody>
        </p:sp>
      </p:grpSp>
    </p:spTree>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3.2.3 </a:t>
            </a:r>
            <a:r>
              <a:rPr lang="zh-CN" altLang="en-US" sz="2400" dirty="0">
                <a:solidFill>
                  <a:schemeClr val="tx1"/>
                </a:solidFill>
              </a:rPr>
              <a:t>模块独立性</a:t>
            </a:r>
          </a:p>
        </p:txBody>
      </p:sp>
      <p:grpSp>
        <p:nvGrpSpPr>
          <p:cNvPr id="26" name="组合 25"/>
          <p:cNvGrpSpPr/>
          <p:nvPr/>
        </p:nvGrpSpPr>
        <p:grpSpPr>
          <a:xfrm>
            <a:off x="647700" y="1969770"/>
            <a:ext cx="11024235" cy="1636395"/>
            <a:chOff x="1302" y="3610"/>
            <a:chExt cx="17361" cy="2577"/>
          </a:xfrm>
        </p:grpSpPr>
        <p:sp>
          <p:nvSpPr>
            <p:cNvPr id="14" name="Oval 5"/>
            <p:cNvSpPr/>
            <p:nvPr>
              <p:custDataLst>
                <p:tags r:id="rId9"/>
              </p:custDataLst>
            </p:nvPr>
          </p:nvSpPr>
          <p:spPr>
            <a:xfrm>
              <a:off x="1302" y="3791"/>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5" name="Freeform 7"/>
            <p:cNvSpPr>
              <a:spLocks noEditPoints="1"/>
            </p:cNvSpPr>
            <p:nvPr>
              <p:custDataLst>
                <p:tags r:id="rId10"/>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6" name="文本框 18"/>
            <p:cNvSpPr txBox="1">
              <a:spLocks noChangeArrowheads="1"/>
            </p:cNvSpPr>
            <p:nvPr>
              <p:custDataLst>
                <p:tags r:id="rId11"/>
              </p:custDataLst>
            </p:nvPr>
          </p:nvSpPr>
          <p:spPr bwMode="auto">
            <a:xfrm>
              <a:off x="2719" y="3610"/>
              <a:ext cx="374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偶然内聚</a:t>
              </a:r>
            </a:p>
          </p:txBody>
        </p:sp>
        <p:sp>
          <p:nvSpPr>
            <p:cNvPr id="21" name="文本框 20"/>
            <p:cNvSpPr txBox="1"/>
            <p:nvPr>
              <p:custDataLst>
                <p:tags r:id="rId12"/>
              </p:custDataLst>
            </p:nvPr>
          </p:nvSpPr>
          <p:spPr>
            <a:xfrm>
              <a:off x="2735" y="4236"/>
              <a:ext cx="15928" cy="1951"/>
            </a:xfrm>
            <a:prstGeom prst="rect">
              <a:avLst/>
            </a:prstGeom>
          </p:spPr>
          <p:txBody>
            <a:bodyPr lIns="90000" tIns="46800" rIns="90000" bIns="46800">
              <a:normAutofit fontScale="92500"/>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solidFill>
                    <a:srgbClr val="C00000"/>
                  </a:solidFill>
                </a:rPr>
                <a:t>模块完成一组任务，这些任务之间关系松散，实际上没有什么联系时，称为偶然内聚。</a:t>
              </a:r>
              <a:r>
                <a:rPr lang="zh-CN" altLang="en-US" dirty="0"/>
                <a:t>假如模块A，B，C，D中都含有某些相同的语句段，程序员将A，B，C，D放在同一模块中，共同使用相同的语句段，则A，B，C，D将成为该同一模块即模块T的几个成分，这样就形成了偶然内聚的模块T。</a:t>
              </a:r>
            </a:p>
          </p:txBody>
        </p:sp>
      </p:grpSp>
      <p:grpSp>
        <p:nvGrpSpPr>
          <p:cNvPr id="25" name="组合 24"/>
          <p:cNvGrpSpPr/>
          <p:nvPr/>
        </p:nvGrpSpPr>
        <p:grpSpPr>
          <a:xfrm>
            <a:off x="647700" y="3499485"/>
            <a:ext cx="11023292" cy="2614295"/>
            <a:chOff x="10373" y="3791"/>
            <a:chExt cx="16855" cy="4117"/>
          </a:xfrm>
        </p:grpSpPr>
        <p:grpSp>
          <p:nvGrpSpPr>
            <p:cNvPr id="23" name="组合 22"/>
            <p:cNvGrpSpPr/>
            <p:nvPr/>
          </p:nvGrpSpPr>
          <p:grpSpPr>
            <a:xfrm>
              <a:off x="10373" y="3791"/>
              <a:ext cx="16855" cy="4117"/>
              <a:chOff x="10236" y="7500"/>
              <a:chExt cx="16855" cy="4117"/>
            </a:xfrm>
          </p:grpSpPr>
          <p:sp>
            <p:nvSpPr>
              <p:cNvPr id="17" name="Oval 26"/>
              <p:cNvSpPr/>
              <p:nvPr>
                <p:custDataLst>
                  <p:tags r:id="rId6"/>
                </p:custDataLst>
              </p:nvPr>
            </p:nvSpPr>
            <p:spPr>
              <a:xfrm>
                <a:off x="10236" y="7681"/>
                <a:ext cx="1223" cy="1223"/>
              </a:xfrm>
              <a:prstGeom prst="ellipse">
                <a:avLst/>
              </a:prstGeom>
              <a:solidFill>
                <a:schemeClr val="accent5"/>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9" name="文本框 24"/>
              <p:cNvSpPr txBox="1">
                <a:spLocks noChangeArrowheads="1"/>
              </p:cNvSpPr>
              <p:nvPr>
                <p:custDataLst>
                  <p:tags r:id="rId7"/>
                </p:custDataLst>
              </p:nvPr>
            </p:nvSpPr>
            <p:spPr bwMode="auto">
              <a:xfrm>
                <a:off x="11626" y="7500"/>
                <a:ext cx="3745"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sym typeface="+mn-ea"/>
                  </a:rPr>
                  <a:t>逻辑内聚</a:t>
                </a:r>
                <a:endParaRPr lang="zh-CN" altLang="en-US" sz="1800" b="1">
                  <a:latin typeface="+mj-lt"/>
                  <a:ea typeface="+mj-ea"/>
                  <a:cs typeface="+mj-cs"/>
                </a:endParaRPr>
              </a:p>
            </p:txBody>
          </p:sp>
          <p:sp>
            <p:nvSpPr>
              <p:cNvPr id="20" name="文本框 19"/>
              <p:cNvSpPr txBox="1"/>
              <p:nvPr>
                <p:custDataLst>
                  <p:tags r:id="rId8"/>
                </p:custDataLst>
              </p:nvPr>
            </p:nvSpPr>
            <p:spPr>
              <a:xfrm>
                <a:off x="11626" y="8083"/>
                <a:ext cx="15465" cy="3534"/>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solidFill>
                      <a:srgbClr val="C00000"/>
                    </a:solidFill>
                  </a:rPr>
                  <a:t>将逻辑上相同或相似的一类任务放在同一模块中，称为逻辑内聚。</a:t>
                </a:r>
                <a:r>
                  <a:rPr lang="zh-CN" altLang="en-US" dirty="0"/>
                  <a:t>例如，对某个数据库中的数据可以按各种条件进行查询，这些不同的查询条件所用的查询方式也不相同，设计时，将不同条件的查询放在同一个“查询”模块中，这就是逻辑内聚。</a:t>
                </a:r>
              </a:p>
            </p:txBody>
          </p:sp>
        </p:grpSp>
        <p:sp>
          <p:nvSpPr>
            <p:cNvPr id="24" name="Freeform 7"/>
            <p:cNvSpPr>
              <a:spLocks noEditPoints="1"/>
            </p:cNvSpPr>
            <p:nvPr>
              <p:custDataLst>
                <p:tags r:id="rId5"/>
              </p:custDataLst>
            </p:nvPr>
          </p:nvSpPr>
          <p:spPr bwMode="auto">
            <a:xfrm>
              <a:off x="10665" y="4236"/>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grpSp>
      <p:grpSp>
        <p:nvGrpSpPr>
          <p:cNvPr id="27" name="组合 26"/>
          <p:cNvGrpSpPr/>
          <p:nvPr/>
        </p:nvGrpSpPr>
        <p:grpSpPr>
          <a:xfrm>
            <a:off x="647700" y="4879975"/>
            <a:ext cx="10999470" cy="1433195"/>
            <a:chOff x="1302" y="3610"/>
            <a:chExt cx="17322" cy="2257"/>
          </a:xfrm>
        </p:grpSpPr>
        <p:sp>
          <p:nvSpPr>
            <p:cNvPr id="28" name="Oval 5"/>
            <p:cNvSpPr/>
            <p:nvPr>
              <p:custDataLst>
                <p:tags r:id="rId1"/>
              </p:custDataLst>
            </p:nvPr>
          </p:nvSpPr>
          <p:spPr>
            <a:xfrm>
              <a:off x="1302" y="3791"/>
              <a:ext cx="1222" cy="1220"/>
            </a:xfrm>
            <a:prstGeom prst="ellipse">
              <a:avLst/>
            </a:prstGeom>
            <a:solidFill>
              <a:schemeClr val="accent4"/>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30" name="Freeform 7"/>
            <p:cNvSpPr>
              <a:spLocks noEditPoints="1"/>
            </p:cNvSpPr>
            <p:nvPr>
              <p:custDataLst>
                <p:tags r:id="rId2"/>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31" name="文本框 18"/>
            <p:cNvSpPr txBox="1">
              <a:spLocks noChangeArrowheads="1"/>
            </p:cNvSpPr>
            <p:nvPr>
              <p:custDataLst>
                <p:tags r:id="rId3"/>
              </p:custDataLst>
            </p:nvPr>
          </p:nvSpPr>
          <p:spPr bwMode="auto">
            <a:xfrm>
              <a:off x="2719" y="3610"/>
              <a:ext cx="374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时间内聚</a:t>
              </a:r>
            </a:p>
          </p:txBody>
        </p:sp>
        <p:sp>
          <p:nvSpPr>
            <p:cNvPr id="32" name="文本框 31"/>
            <p:cNvSpPr txBox="1"/>
            <p:nvPr>
              <p:custDataLst>
                <p:tags r:id="rId4"/>
              </p:custDataLst>
            </p:nvPr>
          </p:nvSpPr>
          <p:spPr>
            <a:xfrm>
              <a:off x="2719" y="4190"/>
              <a:ext cx="15905" cy="1677"/>
            </a:xfrm>
            <a:prstGeom prst="rect">
              <a:avLst/>
            </a:prstGeom>
          </p:spPr>
          <p:txBody>
            <a:bodyPr lIns="90000" tIns="46800" rIns="90000" bIns="46800">
              <a:spAutoFit/>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solidFill>
                    <a:srgbClr val="C00000"/>
                  </a:solidFill>
                </a:rPr>
                <a:t>将需要同时执行的成分放在同一模块中，称为时间内聚。</a:t>
              </a:r>
              <a:r>
                <a:rPr lang="zh-CN" altLang="en-US" dirty="0"/>
                <a:t>例如，在财务软件中，“年终结算” 时需要做的一系列任务：如第4季度结算、年结算、年底经费结余额转入下一年度的“经费来源”、下一年度的“支出”取初始值为0等，把这些任务放在同一模块中同时执行，就是时间内聚。</a:t>
              </a:r>
            </a:p>
          </p:txBody>
        </p:sp>
      </p:grpSp>
      <p:grpSp>
        <p:nvGrpSpPr>
          <p:cNvPr id="33" name="组合 32"/>
          <p:cNvGrpSpPr/>
          <p:nvPr/>
        </p:nvGrpSpPr>
        <p:grpSpPr>
          <a:xfrm>
            <a:off x="6065937" y="1081367"/>
            <a:ext cx="5318760" cy="1112520"/>
            <a:chOff x="1188" y="3071"/>
            <a:chExt cx="8376" cy="1752"/>
          </a:xfrm>
        </p:grpSpPr>
        <p:sp>
          <p:nvSpPr>
            <p:cNvPr id="167" name="圆角矩形"/>
            <p:cNvSpPr/>
            <p:nvPr/>
          </p:nvSpPr>
          <p:spPr>
            <a:xfrm>
              <a:off x="1188" y="3479"/>
              <a:ext cx="8376" cy="134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4" name="学士帽"/>
            <p:cNvSpPr/>
            <p:nvPr/>
          </p:nvSpPr>
          <p:spPr bwMode="auto">
            <a:xfrm>
              <a:off x="1188" y="3071"/>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ndParaRPr>
            </a:p>
          </p:txBody>
        </p:sp>
        <p:sp>
          <p:nvSpPr>
            <p:cNvPr id="35" name="文本框 34"/>
            <p:cNvSpPr txBox="1"/>
            <p:nvPr/>
          </p:nvSpPr>
          <p:spPr>
            <a:xfrm>
              <a:off x="1188" y="3647"/>
              <a:ext cx="8312" cy="1008"/>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lang="zh-CN" altLang="en-US">
                  <a:sym typeface="+mn-ea"/>
                </a:rPr>
                <a:t>以下3种内聚的模块内部各成分并没有共用数据，属于很弱的块内联系。</a:t>
              </a:r>
              <a:endParaRPr dirty="0">
                <a:solidFill>
                  <a:schemeClr val="bg2">
                    <a:lumMod val="50000"/>
                  </a:schemeClr>
                </a:solidFill>
                <a:sym typeface="+mn-ea"/>
              </a:endParaRPr>
            </a:p>
          </p:txBody>
        </p:sp>
      </p:grpSp>
    </p:spTree>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3.2.3 </a:t>
            </a:r>
            <a:r>
              <a:rPr lang="zh-CN" altLang="en-US" sz="2400" dirty="0">
                <a:solidFill>
                  <a:schemeClr val="tx1"/>
                </a:solidFill>
              </a:rPr>
              <a:t>模块独立性</a:t>
            </a:r>
          </a:p>
        </p:txBody>
      </p:sp>
      <p:grpSp>
        <p:nvGrpSpPr>
          <p:cNvPr id="5" name="组合 4"/>
          <p:cNvGrpSpPr/>
          <p:nvPr/>
        </p:nvGrpSpPr>
        <p:grpSpPr>
          <a:xfrm>
            <a:off x="573394" y="4940493"/>
            <a:ext cx="10795000" cy="1323975"/>
            <a:chOff x="10373" y="3791"/>
            <a:chExt cx="17000" cy="2085"/>
          </a:xfrm>
        </p:grpSpPr>
        <p:grpSp>
          <p:nvGrpSpPr>
            <p:cNvPr id="23" name="组合 22"/>
            <p:cNvGrpSpPr/>
            <p:nvPr/>
          </p:nvGrpSpPr>
          <p:grpSpPr>
            <a:xfrm>
              <a:off x="10373" y="3791"/>
              <a:ext cx="17000" cy="2085"/>
              <a:chOff x="10236" y="7500"/>
              <a:chExt cx="17000" cy="2085"/>
            </a:xfrm>
          </p:grpSpPr>
          <p:sp>
            <p:nvSpPr>
              <p:cNvPr id="17" name="Oval 26"/>
              <p:cNvSpPr/>
              <p:nvPr>
                <p:custDataLst>
                  <p:tags r:id="rId6"/>
                </p:custDataLst>
              </p:nvPr>
            </p:nvSpPr>
            <p:spPr>
              <a:xfrm>
                <a:off x="10236" y="7681"/>
                <a:ext cx="1223" cy="1223"/>
              </a:xfrm>
              <a:prstGeom prst="ellipse">
                <a:avLst/>
              </a:prstGeom>
              <a:solidFill>
                <a:schemeClr val="accent6"/>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9" name="文本框 24"/>
              <p:cNvSpPr txBox="1">
                <a:spLocks noChangeArrowheads="1"/>
              </p:cNvSpPr>
              <p:nvPr>
                <p:custDataLst>
                  <p:tags r:id="rId7"/>
                </p:custDataLst>
              </p:nvPr>
            </p:nvSpPr>
            <p:spPr bwMode="auto">
              <a:xfrm>
                <a:off x="11626" y="7500"/>
                <a:ext cx="3745"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sym typeface="+mn-ea"/>
                  </a:rPr>
                  <a:t>过程内聚</a:t>
                </a:r>
                <a:endParaRPr lang="zh-CN" altLang="en-US" sz="1800" b="1">
                  <a:latin typeface="+mj-lt"/>
                  <a:ea typeface="+mj-ea"/>
                  <a:cs typeface="+mj-cs"/>
                </a:endParaRPr>
              </a:p>
            </p:txBody>
          </p:sp>
          <p:sp>
            <p:nvSpPr>
              <p:cNvPr id="20" name="文本框 19"/>
              <p:cNvSpPr txBox="1"/>
              <p:nvPr>
                <p:custDataLst>
                  <p:tags r:id="rId8"/>
                </p:custDataLst>
              </p:nvPr>
            </p:nvSpPr>
            <p:spPr>
              <a:xfrm>
                <a:off x="11626" y="8128"/>
                <a:ext cx="15610" cy="1457"/>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solidFill>
                      <a:srgbClr val="C00000"/>
                    </a:solidFill>
                  </a:rPr>
                  <a:t>如果一个模块内的处理元素是相关的，必须以特定次序执行，则称为过程内聚。</a:t>
                </a:r>
                <a:r>
                  <a:rPr lang="zh-CN" altLang="en-US" dirty="0"/>
                  <a:t>通过数据流程图确定模块的划分，往往得到过程内聚的模块。</a:t>
                </a:r>
              </a:p>
            </p:txBody>
          </p:sp>
        </p:grpSp>
        <p:sp>
          <p:nvSpPr>
            <p:cNvPr id="24" name="Freeform 7"/>
            <p:cNvSpPr>
              <a:spLocks noEditPoints="1"/>
            </p:cNvSpPr>
            <p:nvPr>
              <p:custDataLst>
                <p:tags r:id="rId5"/>
              </p:custDataLst>
            </p:nvPr>
          </p:nvSpPr>
          <p:spPr bwMode="auto">
            <a:xfrm>
              <a:off x="10665" y="4236"/>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grpSp>
      <p:grpSp>
        <p:nvGrpSpPr>
          <p:cNvPr id="6" name="组合 5"/>
          <p:cNvGrpSpPr/>
          <p:nvPr/>
        </p:nvGrpSpPr>
        <p:grpSpPr>
          <a:xfrm>
            <a:off x="546099" y="2188523"/>
            <a:ext cx="6482715" cy="2748280"/>
            <a:chOff x="1302" y="3610"/>
            <a:chExt cx="10209" cy="4328"/>
          </a:xfrm>
        </p:grpSpPr>
        <p:sp>
          <p:nvSpPr>
            <p:cNvPr id="7" name="Oval 5"/>
            <p:cNvSpPr/>
            <p:nvPr>
              <p:custDataLst>
                <p:tags r:id="rId1"/>
              </p:custDataLst>
            </p:nvPr>
          </p:nvSpPr>
          <p:spPr>
            <a:xfrm>
              <a:off x="1302" y="3791"/>
              <a:ext cx="1222" cy="1220"/>
            </a:xfrm>
            <a:prstGeom prst="ellipse">
              <a:avLst/>
            </a:prstGeom>
            <a:solidFill>
              <a:schemeClr val="accent2"/>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8" name="Freeform 7"/>
            <p:cNvSpPr>
              <a:spLocks noEditPoints="1"/>
            </p:cNvSpPr>
            <p:nvPr>
              <p:custDataLst>
                <p:tags r:id="rId2"/>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9" name="文本框 18"/>
            <p:cNvSpPr txBox="1">
              <a:spLocks noChangeArrowheads="1"/>
            </p:cNvSpPr>
            <p:nvPr>
              <p:custDataLst>
                <p:tags r:id="rId3"/>
              </p:custDataLst>
            </p:nvPr>
          </p:nvSpPr>
          <p:spPr bwMode="auto">
            <a:xfrm>
              <a:off x="2719" y="3610"/>
              <a:ext cx="374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通信内聚</a:t>
              </a:r>
            </a:p>
          </p:txBody>
        </p:sp>
        <p:sp>
          <p:nvSpPr>
            <p:cNvPr id="10" name="文本框 9"/>
            <p:cNvSpPr txBox="1"/>
            <p:nvPr>
              <p:custDataLst>
                <p:tags r:id="rId4"/>
              </p:custDataLst>
            </p:nvPr>
          </p:nvSpPr>
          <p:spPr>
            <a:xfrm>
              <a:off x="2719" y="4236"/>
              <a:ext cx="8792" cy="3702"/>
            </a:xfrm>
            <a:prstGeom prst="rect">
              <a:avLst/>
            </a:prstGeom>
          </p:spPr>
          <p:txBody>
            <a:bodyPr lIns="90000" tIns="46800" rIns="90000" bIns="46800">
              <a:normAutofit fontScale="92500" lnSpcReduction="20000"/>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solidFill>
                    <a:srgbClr val="C00000"/>
                  </a:solidFill>
                </a:rPr>
                <a:t>模块中的各成分引用共同的数据，称为通信内聚</a:t>
              </a:r>
              <a:r>
                <a:rPr lang="zh-CN" altLang="en-US" dirty="0"/>
                <a:t>。例如模块中含有4个部分，这4个部分使用同一数据文件产生不同的报表，属于通信内聚。若模块中几个部分产生同一个输出数据，也属于通信内聚。</a:t>
              </a:r>
            </a:p>
            <a:p>
              <a:pPr>
                <a:lnSpc>
                  <a:spcPct val="120000"/>
                </a:lnSpc>
              </a:pPr>
              <a:r>
                <a:rPr lang="zh-CN" altLang="en-US" dirty="0"/>
                <a:t>       比如，财务软件的流水账文件中含有某个月内的全部收支流水账记录，利用该文件可分别产生该月上旬、中旬和下旬的3种不同统计报表，以及该月的总统计报表，如右图所示。</a:t>
              </a:r>
            </a:p>
          </p:txBody>
        </p:sp>
      </p:grpSp>
      <p:pic>
        <p:nvPicPr>
          <p:cNvPr id="13" name="图片 -2147482560"/>
          <p:cNvPicPr>
            <a:picLocks noChangeAspect="1"/>
          </p:cNvPicPr>
          <p:nvPr/>
        </p:nvPicPr>
        <p:blipFill>
          <a:blip r:embed="rId11" cstate="print"/>
          <a:stretch>
            <a:fillRect/>
          </a:stretch>
        </p:blipFill>
        <p:spPr>
          <a:xfrm>
            <a:off x="6997755" y="2924205"/>
            <a:ext cx="4853052" cy="1538614"/>
          </a:xfrm>
          <a:prstGeom prst="rect">
            <a:avLst/>
          </a:prstGeom>
          <a:noFill/>
          <a:ln w="9525">
            <a:noFill/>
          </a:ln>
        </p:spPr>
      </p:pic>
    </p:spTree>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3.2.3 </a:t>
            </a:r>
            <a:r>
              <a:rPr lang="zh-CN" altLang="en-US" sz="2400" dirty="0">
                <a:solidFill>
                  <a:schemeClr val="tx1"/>
                </a:solidFill>
              </a:rPr>
              <a:t>模块独立性</a:t>
            </a:r>
          </a:p>
        </p:txBody>
      </p:sp>
      <p:grpSp>
        <p:nvGrpSpPr>
          <p:cNvPr id="17" name="组合 16"/>
          <p:cNvGrpSpPr/>
          <p:nvPr/>
        </p:nvGrpSpPr>
        <p:grpSpPr>
          <a:xfrm>
            <a:off x="811780" y="2127458"/>
            <a:ext cx="10515861" cy="1575112"/>
            <a:chOff x="826770" y="2292350"/>
            <a:chExt cx="10515861" cy="1575112"/>
          </a:xfrm>
        </p:grpSpPr>
        <p:sp>
          <p:nvSpPr>
            <p:cNvPr id="14" name="Oval 5"/>
            <p:cNvSpPr/>
            <p:nvPr>
              <p:custDataLst>
                <p:tags r:id="rId1"/>
              </p:custDataLst>
            </p:nvPr>
          </p:nvSpPr>
          <p:spPr>
            <a:xfrm>
              <a:off x="826770" y="2407285"/>
              <a:ext cx="775970" cy="774700"/>
            </a:xfrm>
            <a:prstGeom prst="ellipse">
              <a:avLst/>
            </a:prstGeom>
            <a:solidFill>
              <a:schemeClr val="accent1"/>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5" name="Freeform 7"/>
            <p:cNvSpPr>
              <a:spLocks noEditPoints="1"/>
            </p:cNvSpPr>
            <p:nvPr>
              <p:custDataLst>
                <p:tags r:id="rId2"/>
              </p:custDataLst>
            </p:nvPr>
          </p:nvSpPr>
          <p:spPr bwMode="auto">
            <a:xfrm>
              <a:off x="1012190" y="2591435"/>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6" name="文本框 18"/>
            <p:cNvSpPr txBox="1">
              <a:spLocks noChangeArrowheads="1"/>
            </p:cNvSpPr>
            <p:nvPr>
              <p:custDataLst>
                <p:tags r:id="rId3"/>
              </p:custDataLst>
            </p:nvPr>
          </p:nvSpPr>
          <p:spPr bwMode="auto">
            <a:xfrm>
              <a:off x="1726565" y="2292350"/>
              <a:ext cx="237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顺序内聚</a:t>
              </a:r>
            </a:p>
          </p:txBody>
        </p:sp>
        <p:sp>
          <p:nvSpPr>
            <p:cNvPr id="21" name="文本框 20"/>
            <p:cNvSpPr txBox="1"/>
            <p:nvPr>
              <p:custDataLst>
                <p:tags r:id="rId4"/>
              </p:custDataLst>
            </p:nvPr>
          </p:nvSpPr>
          <p:spPr>
            <a:xfrm>
              <a:off x="1726564" y="2689860"/>
              <a:ext cx="9616067" cy="1177602"/>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solidFill>
                    <a:srgbClr val="C00000"/>
                  </a:solidFill>
                </a:rPr>
                <a:t>如果模块内某个成分的输出是另一成分的输入，因而这两个模块必须依次执行，则称为顺序内聚。</a:t>
              </a:r>
            </a:p>
            <a:p>
              <a:pPr>
                <a:lnSpc>
                  <a:spcPct val="120000"/>
                </a:lnSpc>
              </a:pPr>
              <a:r>
                <a:rPr lang="zh-CN" altLang="en-US" dirty="0"/>
                <a:t>       例如，图3-3中的模块A和模块B都属于顺序内聚。</a:t>
              </a:r>
            </a:p>
          </p:txBody>
        </p:sp>
      </p:grpSp>
      <p:pic>
        <p:nvPicPr>
          <p:cNvPr id="2" name="图片 -2147482559"/>
          <p:cNvPicPr>
            <a:picLocks noChangeAspect="1"/>
          </p:cNvPicPr>
          <p:nvPr/>
        </p:nvPicPr>
        <p:blipFill>
          <a:blip r:embed="rId7" cstate="print"/>
          <a:stretch>
            <a:fillRect/>
          </a:stretch>
        </p:blipFill>
        <p:spPr>
          <a:xfrm>
            <a:off x="4671629" y="3676527"/>
            <a:ext cx="3551555" cy="2441575"/>
          </a:xfrm>
          <a:prstGeom prst="rect">
            <a:avLst/>
          </a:prstGeom>
          <a:noFill/>
          <a:ln w="9525">
            <a:noFill/>
          </a:ln>
        </p:spPr>
      </p:pic>
    </p:spTree>
  </p:cSld>
  <p:clrMapOvr>
    <a:masterClrMapping/>
  </p:clrMapOvr>
  <p:transition>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96789" y="2476557"/>
            <a:ext cx="10862945" cy="3052445"/>
            <a:chOff x="1302" y="3610"/>
            <a:chExt cx="17107" cy="4807"/>
          </a:xfrm>
        </p:grpSpPr>
        <p:sp>
          <p:nvSpPr>
            <p:cNvPr id="4" name="Oval 5"/>
            <p:cNvSpPr/>
            <p:nvPr>
              <p:custDataLst>
                <p:tags r:id="rId1"/>
              </p:custDataLst>
            </p:nvPr>
          </p:nvSpPr>
          <p:spPr>
            <a:xfrm>
              <a:off x="1302" y="3791"/>
              <a:ext cx="1222" cy="1220"/>
            </a:xfrm>
            <a:prstGeom prst="ellipse">
              <a:avLst/>
            </a:prstGeom>
            <a:solidFill>
              <a:schemeClr val="accent5"/>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5" name="Freeform 7"/>
            <p:cNvSpPr>
              <a:spLocks noEditPoints="1"/>
            </p:cNvSpPr>
            <p:nvPr>
              <p:custDataLst>
                <p:tags r:id="rId2"/>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6" name="文本框 18"/>
            <p:cNvSpPr txBox="1">
              <a:spLocks noChangeArrowheads="1"/>
            </p:cNvSpPr>
            <p:nvPr>
              <p:custDataLst>
                <p:tags r:id="rId3"/>
              </p:custDataLst>
            </p:nvPr>
          </p:nvSpPr>
          <p:spPr bwMode="auto">
            <a:xfrm>
              <a:off x="2719" y="3610"/>
              <a:ext cx="374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功能内聚</a:t>
              </a:r>
            </a:p>
          </p:txBody>
        </p:sp>
        <p:sp>
          <p:nvSpPr>
            <p:cNvPr id="7" name="文本框 11"/>
            <p:cNvSpPr txBox="1"/>
            <p:nvPr>
              <p:custDataLst>
                <p:tags r:id="rId4"/>
              </p:custDataLst>
            </p:nvPr>
          </p:nvSpPr>
          <p:spPr>
            <a:xfrm>
              <a:off x="2719" y="4236"/>
              <a:ext cx="15690" cy="4181"/>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a:solidFill>
                    <a:srgbClr val="C00000"/>
                  </a:solidFill>
                </a:rPr>
                <a:t>       </a:t>
              </a:r>
              <a:r>
                <a:rPr lang="zh-CN" altLang="en-US" dirty="0">
                  <a:solidFill>
                    <a:srgbClr val="C00000"/>
                  </a:solidFill>
                </a:rPr>
                <a:t>一个模块内所有元素都是完成某一功能所必需的处理对象，由这些元素组成一个整体，从而完成一个特定的功能，则称为功能内聚。</a:t>
              </a:r>
              <a:r>
                <a:rPr lang="zh-CN" altLang="en-US" dirty="0"/>
                <a:t>功能内聚是最高程度的内聚。</a:t>
              </a:r>
              <a:endParaRPr lang="en-US" altLang="zh-CN" dirty="0"/>
            </a:p>
            <a:p>
              <a:pPr>
                <a:lnSpc>
                  <a:spcPct val="120000"/>
                </a:lnSpc>
              </a:pPr>
              <a:endParaRPr lang="zh-CN" altLang="en-US" dirty="0"/>
            </a:p>
            <a:p>
              <a:pPr>
                <a:lnSpc>
                  <a:spcPct val="120000"/>
                </a:lnSpc>
              </a:pPr>
              <a:r>
                <a:rPr lang="zh-CN" altLang="en-US" dirty="0"/>
                <a:t>       内聚的概念是由Constantine，Yourdon，Stevens等人提出的。按他们的观点，把上述几种内聚按紧密程度从高到低进行排列，次序为：功能内聚、顺序内聚、通信内聚、过程内聚、时间内聚、逻辑内聚、偶然内聚。但紧密程度的增长是非线性的。偶然内聚和逻辑内聚联系松散，前面几种内聚相差不多，功能内聚最理想，一个模块完成一个功能，独立性强，内部结构紧密。</a:t>
              </a:r>
            </a:p>
          </p:txBody>
        </p:sp>
      </p:grpSp>
      <p:sp>
        <p:nvSpPr>
          <p:cNvPr id="8" name="标题 2"/>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p>
        </p:txBody>
      </p:sp>
      <p:sp>
        <p:nvSpPr>
          <p:cNvPr id="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3.2.3 </a:t>
            </a:r>
            <a:r>
              <a:rPr lang="zh-CN" altLang="en-US" sz="2400" dirty="0">
                <a:solidFill>
                  <a:schemeClr val="tx1"/>
                </a:solidFill>
              </a:rPr>
              <a:t>模块独立性</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p>
        </p:txBody>
      </p:sp>
      <p:sp>
        <p:nvSpPr>
          <p:cNvPr id="7" name="文本框 6"/>
          <p:cNvSpPr txBox="1"/>
          <p:nvPr/>
        </p:nvSpPr>
        <p:spPr>
          <a:xfrm>
            <a:off x="754380" y="2611120"/>
            <a:ext cx="476250" cy="1988185"/>
          </a:xfrm>
          <a:prstGeom prst="rect">
            <a:avLst/>
          </a:prstGeom>
          <a:noFill/>
        </p:spPr>
        <p:txBody>
          <a:bodyPr vert="eaVert" wrap="none" rtlCol="0">
            <a:spAutoFit/>
          </a:bodyPr>
          <a:lstStyle/>
          <a:p>
            <a:pPr algn="l"/>
            <a:r>
              <a:rPr lang="en-US" altLang="zh-CN" spc="160" dirty="0">
                <a:solidFill>
                  <a:schemeClr val="bg1"/>
                </a:solidFill>
                <a:latin typeface="微软雅黑" panose="020B0503020204020204" charset="-122"/>
                <a:ea typeface="微软雅黑" panose="020B0503020204020204" charset="-122"/>
              </a:rPr>
              <a:t>1</a:t>
            </a:r>
            <a:r>
              <a:rPr lang="zh-CN" altLang="en-US" spc="160" dirty="0">
                <a:solidFill>
                  <a:schemeClr val="bg1"/>
                </a:solidFill>
                <a:latin typeface="微软雅黑" panose="020B0503020204020204" charset="-122"/>
                <a:ea typeface="微软雅黑" panose="020B0503020204020204" charset="-122"/>
              </a:rPr>
              <a:t>）确定设计方案</a:t>
            </a:r>
            <a:endParaRPr lang="en-US" altLang="zh-CN" spc="160" dirty="0">
              <a:solidFill>
                <a:schemeClr val="bg1"/>
              </a:solidFill>
              <a:latin typeface="微软雅黑" panose="020B0503020204020204" charset="-122"/>
              <a:ea typeface="微软雅黑" panose="020B0503020204020204" charset="-122"/>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3.2.4 </a:t>
            </a:r>
            <a:r>
              <a:rPr lang="zh-CN" altLang="en-US" sz="2400" dirty="0">
                <a:solidFill>
                  <a:schemeClr val="tx1"/>
                </a:solidFill>
              </a:rPr>
              <a:t>模块设计启发规则</a:t>
            </a:r>
          </a:p>
        </p:txBody>
      </p:sp>
      <p:grpSp>
        <p:nvGrpSpPr>
          <p:cNvPr id="6" name="组合 5"/>
          <p:cNvGrpSpPr/>
          <p:nvPr/>
        </p:nvGrpSpPr>
        <p:grpSpPr>
          <a:xfrm>
            <a:off x="1932458" y="2078952"/>
            <a:ext cx="8699144" cy="4269688"/>
            <a:chOff x="9622" y="2668"/>
            <a:chExt cx="14418" cy="7323"/>
          </a:xfrm>
        </p:grpSpPr>
        <p:sp>
          <p:nvSpPr>
            <p:cNvPr id="12" name="任意多边形 11"/>
            <p:cNvSpPr/>
            <p:nvPr>
              <p:custDataLst>
                <p:tags r:id="rId1"/>
              </p:custDataLst>
            </p:nvPr>
          </p:nvSpPr>
          <p:spPr>
            <a:xfrm>
              <a:off x="9622" y="2668"/>
              <a:ext cx="3872" cy="7323"/>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8" name="圆角矩形 7"/>
            <p:cNvSpPr/>
            <p:nvPr>
              <p:custDataLst>
                <p:tags r:id="rId2"/>
              </p:custDataLst>
            </p:nvPr>
          </p:nvSpPr>
          <p:spPr>
            <a:xfrm>
              <a:off x="12582" y="3231"/>
              <a:ext cx="11345" cy="922"/>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9" name="椭圆 8"/>
            <p:cNvSpPr/>
            <p:nvPr>
              <p:custDataLst>
                <p:tags r:id="rId3"/>
              </p:custDataLst>
            </p:nvPr>
          </p:nvSpPr>
          <p:spPr>
            <a:xfrm>
              <a:off x="11502" y="3153"/>
              <a:ext cx="1076" cy="107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eaLnBrk="1" hangingPunct="1">
                <a:spcBef>
                  <a:spcPts val="0"/>
                </a:spcBef>
                <a:spcAft>
                  <a:spcPts val="0"/>
                </a:spcAft>
                <a:defRPr/>
              </a:pPr>
              <a:r>
                <a:rPr lang="en-US" altLang="zh-CN" sz="2400">
                  <a:solidFill>
                    <a:schemeClr val="bg1"/>
                  </a:solidFill>
                </a:rPr>
                <a:t>1</a:t>
              </a:r>
            </a:p>
          </p:txBody>
        </p:sp>
        <p:sp>
          <p:nvSpPr>
            <p:cNvPr id="16" name="圆角矩形 15"/>
            <p:cNvSpPr/>
            <p:nvPr>
              <p:custDataLst>
                <p:tags r:id="rId4"/>
              </p:custDataLst>
            </p:nvPr>
          </p:nvSpPr>
          <p:spPr>
            <a:xfrm>
              <a:off x="10426" y="4537"/>
              <a:ext cx="13569" cy="922"/>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0" name="椭圆 9"/>
            <p:cNvSpPr/>
            <p:nvPr>
              <p:custDataLst>
                <p:tags r:id="rId5"/>
              </p:custDataLst>
            </p:nvPr>
          </p:nvSpPr>
          <p:spPr>
            <a:xfrm>
              <a:off x="10393" y="4461"/>
              <a:ext cx="1076" cy="107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65000" lnSpcReduction="20000"/>
            </a:bodyPr>
            <a:lstStyle/>
            <a:p>
              <a:pPr algn="ctr" eaLnBrk="1" hangingPunct="1">
                <a:spcBef>
                  <a:spcPts val="0"/>
                </a:spcBef>
                <a:spcAft>
                  <a:spcPts val="0"/>
                </a:spcAft>
                <a:defRPr/>
              </a:pPr>
              <a:r>
                <a:rPr lang="en-US" altLang="zh-CN" sz="4000">
                  <a:solidFill>
                    <a:schemeClr val="bg1"/>
                  </a:solidFill>
                </a:rPr>
                <a:t>2</a:t>
              </a:r>
            </a:p>
          </p:txBody>
        </p:sp>
        <p:sp>
          <p:nvSpPr>
            <p:cNvPr id="11" name="圆角矩形 10"/>
            <p:cNvSpPr/>
            <p:nvPr>
              <p:custDataLst>
                <p:tags r:id="rId6"/>
              </p:custDataLst>
            </p:nvPr>
          </p:nvSpPr>
          <p:spPr>
            <a:xfrm>
              <a:off x="10171" y="5867"/>
              <a:ext cx="13756" cy="924"/>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9" name="椭圆 18"/>
            <p:cNvSpPr/>
            <p:nvPr>
              <p:custDataLst>
                <p:tags r:id="rId7"/>
              </p:custDataLst>
            </p:nvPr>
          </p:nvSpPr>
          <p:spPr>
            <a:xfrm>
              <a:off x="10135" y="5792"/>
              <a:ext cx="1076" cy="107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65000" lnSpcReduction="20000"/>
            </a:bodyPr>
            <a:lstStyle/>
            <a:p>
              <a:pPr algn="ctr" eaLnBrk="1" hangingPunct="1">
                <a:spcBef>
                  <a:spcPts val="0"/>
                </a:spcBef>
                <a:spcAft>
                  <a:spcPts val="0"/>
                </a:spcAft>
                <a:defRPr/>
              </a:pPr>
              <a:r>
                <a:rPr lang="en-US" altLang="zh-CN" sz="4000">
                  <a:solidFill>
                    <a:schemeClr val="bg1"/>
                  </a:solidFill>
                </a:rPr>
                <a:t>3</a:t>
              </a:r>
            </a:p>
          </p:txBody>
        </p:sp>
        <p:sp>
          <p:nvSpPr>
            <p:cNvPr id="13" name="圆角矩形 12"/>
            <p:cNvSpPr/>
            <p:nvPr>
              <p:custDataLst>
                <p:tags r:id="rId8"/>
              </p:custDataLst>
            </p:nvPr>
          </p:nvSpPr>
          <p:spPr>
            <a:xfrm>
              <a:off x="10426" y="7265"/>
              <a:ext cx="13456" cy="922"/>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30" name="椭圆 29"/>
            <p:cNvSpPr/>
            <p:nvPr>
              <p:custDataLst>
                <p:tags r:id="rId9"/>
              </p:custDataLst>
            </p:nvPr>
          </p:nvSpPr>
          <p:spPr>
            <a:xfrm>
              <a:off x="10393" y="7187"/>
              <a:ext cx="1076" cy="107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65000" lnSpcReduction="20000"/>
            </a:bodyPr>
            <a:lstStyle/>
            <a:p>
              <a:pPr algn="ctr" eaLnBrk="1" hangingPunct="1">
                <a:spcBef>
                  <a:spcPts val="0"/>
                </a:spcBef>
                <a:spcAft>
                  <a:spcPts val="0"/>
                </a:spcAft>
                <a:defRPr/>
              </a:pPr>
              <a:r>
                <a:rPr lang="en-US" altLang="zh-CN" sz="4000">
                  <a:solidFill>
                    <a:schemeClr val="bg1"/>
                  </a:solidFill>
                </a:rPr>
                <a:t>4</a:t>
              </a:r>
            </a:p>
          </p:txBody>
        </p:sp>
        <p:sp>
          <p:nvSpPr>
            <p:cNvPr id="31" name="圆角矩形 30"/>
            <p:cNvSpPr/>
            <p:nvPr>
              <p:custDataLst>
                <p:tags r:id="rId10"/>
              </p:custDataLst>
            </p:nvPr>
          </p:nvSpPr>
          <p:spPr>
            <a:xfrm>
              <a:off x="11539" y="8571"/>
              <a:ext cx="12501" cy="922"/>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32" name="椭圆 31"/>
            <p:cNvSpPr/>
            <p:nvPr>
              <p:custDataLst>
                <p:tags r:id="rId11"/>
              </p:custDataLst>
            </p:nvPr>
          </p:nvSpPr>
          <p:spPr>
            <a:xfrm>
              <a:off x="11538" y="8494"/>
              <a:ext cx="1073" cy="107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65000" lnSpcReduction="20000"/>
            </a:bodyPr>
            <a:lstStyle/>
            <a:p>
              <a:pPr algn="ctr" eaLnBrk="1" hangingPunct="1">
                <a:spcBef>
                  <a:spcPts val="0"/>
                </a:spcBef>
                <a:spcAft>
                  <a:spcPts val="0"/>
                </a:spcAft>
                <a:defRPr/>
              </a:pPr>
              <a:r>
                <a:rPr lang="en-US" altLang="zh-CN" sz="4000">
                  <a:solidFill>
                    <a:schemeClr val="bg1"/>
                  </a:solidFill>
                </a:rPr>
                <a:t>5</a:t>
              </a:r>
            </a:p>
          </p:txBody>
        </p:sp>
        <p:sp>
          <p:nvSpPr>
            <p:cNvPr id="47" name="文本框 54"/>
            <p:cNvSpPr txBox="1">
              <a:spLocks noChangeArrowheads="1"/>
            </p:cNvSpPr>
            <p:nvPr>
              <p:custDataLst>
                <p:tags r:id="rId12"/>
              </p:custDataLst>
            </p:nvPr>
          </p:nvSpPr>
          <p:spPr bwMode="auto">
            <a:xfrm>
              <a:off x="12648" y="3388"/>
              <a:ext cx="4300"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n-lt"/>
                  <a:ea typeface="+mn-ea"/>
                </a:rPr>
                <a:t>尽力提高模块独立性</a:t>
              </a:r>
            </a:p>
          </p:txBody>
        </p:sp>
        <p:sp>
          <p:nvSpPr>
            <p:cNvPr id="48" name="文本框 55"/>
            <p:cNvSpPr txBox="1">
              <a:spLocks noChangeArrowheads="1"/>
            </p:cNvSpPr>
            <p:nvPr>
              <p:custDataLst>
                <p:tags r:id="rId13"/>
              </p:custDataLst>
            </p:nvPr>
          </p:nvSpPr>
          <p:spPr bwMode="auto">
            <a:xfrm>
              <a:off x="12661" y="4671"/>
              <a:ext cx="10430" cy="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n-lt"/>
                  <a:ea typeface="+mn-ea"/>
                </a:rPr>
                <a:t>注意模块的可靠性、通用性、可维护性和简单性</a:t>
              </a:r>
            </a:p>
          </p:txBody>
        </p:sp>
        <p:sp>
          <p:nvSpPr>
            <p:cNvPr id="49" name="文本框 56"/>
            <p:cNvSpPr txBox="1">
              <a:spLocks noChangeArrowheads="1"/>
            </p:cNvSpPr>
            <p:nvPr>
              <p:custDataLst>
                <p:tags r:id="rId14"/>
              </p:custDataLst>
            </p:nvPr>
          </p:nvSpPr>
          <p:spPr bwMode="auto">
            <a:xfrm>
              <a:off x="12661" y="6002"/>
              <a:ext cx="10332"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a:latin typeface="+mn-lt"/>
                  <a:ea typeface="+mn-ea"/>
                </a:rPr>
                <a:t>模块应大小适中</a:t>
              </a:r>
            </a:p>
          </p:txBody>
        </p:sp>
        <p:sp>
          <p:nvSpPr>
            <p:cNvPr id="50" name="文本框 57"/>
            <p:cNvSpPr txBox="1">
              <a:spLocks noChangeArrowheads="1"/>
            </p:cNvSpPr>
            <p:nvPr>
              <p:custDataLst>
                <p:tags r:id="rId15"/>
              </p:custDataLst>
            </p:nvPr>
          </p:nvSpPr>
          <p:spPr bwMode="auto">
            <a:xfrm>
              <a:off x="12661" y="7401"/>
              <a:ext cx="11239"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n-lt"/>
                  <a:ea typeface="+mn-ea"/>
                </a:rPr>
                <a:t>模块的深度、宽度、扇出和扇入要适当</a:t>
              </a:r>
            </a:p>
          </p:txBody>
        </p:sp>
        <p:sp>
          <p:nvSpPr>
            <p:cNvPr id="51" name="文本框 58"/>
            <p:cNvSpPr txBox="1">
              <a:spLocks noChangeArrowheads="1"/>
            </p:cNvSpPr>
            <p:nvPr>
              <p:custDataLst>
                <p:tags r:id="rId16"/>
              </p:custDataLst>
            </p:nvPr>
          </p:nvSpPr>
          <p:spPr bwMode="auto">
            <a:xfrm>
              <a:off x="12661" y="8707"/>
              <a:ext cx="9748"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n-lt"/>
                  <a:ea typeface="+mn-ea"/>
                </a:rPr>
                <a:t>模块接口要简单和清晰</a:t>
              </a:r>
            </a:p>
          </p:txBody>
        </p:sp>
      </p:grpSp>
    </p:spTree>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6551930" y="2442012"/>
            <a:ext cx="5435600" cy="3481070"/>
            <a:chOff x="924" y="3019"/>
            <a:chExt cx="8560" cy="5482"/>
          </a:xfrm>
        </p:grpSpPr>
        <p:sp>
          <p:nvSpPr>
            <p:cNvPr id="15" name="矩形 14"/>
            <p:cNvSpPr/>
            <p:nvPr/>
          </p:nvSpPr>
          <p:spPr>
            <a:xfrm>
              <a:off x="979" y="3699"/>
              <a:ext cx="8505" cy="4802"/>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17" name="图片 16"/>
            <p:cNvPicPr>
              <a:picLocks noChangeAspect="1"/>
            </p:cNvPicPr>
            <p:nvPr/>
          </p:nvPicPr>
          <p:blipFill>
            <a:blip r:embed="rId3" cstate="print">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924" y="3655"/>
              <a:ext cx="2290" cy="2277"/>
            </a:xfrm>
            <a:prstGeom prst="rect">
              <a:avLst/>
            </a:prstGeom>
          </p:spPr>
        </p:pic>
        <p:sp>
          <p:nvSpPr>
            <p:cNvPr id="18" name="Text Box 44"/>
            <p:cNvSpPr txBox="1">
              <a:spLocks noChangeArrowheads="1"/>
            </p:cNvSpPr>
            <p:nvPr/>
          </p:nvSpPr>
          <p:spPr bwMode="auto">
            <a:xfrm>
              <a:off x="2185" y="4407"/>
              <a:ext cx="6621" cy="1893"/>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en-US" altLang="zh-CN" sz="1800" b="1" dirty="0">
                  <a:solidFill>
                    <a:srgbClr val="00B050"/>
                  </a:solidFill>
                </a:rPr>
                <a:t>      </a:t>
              </a:r>
              <a:r>
                <a:rPr sz="1800" dirty="0"/>
                <a:t>独立的模块修改所需的工作量较小，错误传播的范围小，要扩充功能时也较容易。</a:t>
              </a:r>
            </a:p>
          </p:txBody>
        </p:sp>
        <p:sp>
          <p:nvSpPr>
            <p:cNvPr id="20" name="TextBox 6"/>
            <p:cNvSpPr txBox="1"/>
            <p:nvPr/>
          </p:nvSpPr>
          <p:spPr>
            <a:xfrm rot="18836568">
              <a:off x="488" y="4336"/>
              <a:ext cx="2448" cy="606"/>
            </a:xfrm>
            <a:prstGeom prst="rect">
              <a:avLst/>
            </a:prstGeom>
            <a:noFill/>
          </p:spPr>
          <p:txBody>
            <a:bodyPr wrap="square" rtlCol="0">
              <a:spAutoFit/>
            </a:bodyPr>
            <a:lstStyle/>
            <a:p>
              <a:pPr algn="l"/>
              <a:r>
                <a:rPr lang="zh-CN" altLang="en-US" b="1" dirty="0">
                  <a:solidFill>
                    <a:schemeClr val="bg1"/>
                  </a:solidFill>
                  <a:latin typeface="微软雅黑" panose="020B0503020204020204" charset="-122"/>
                  <a:ea typeface="微软雅黑" panose="020B0503020204020204" charset="-122"/>
                </a:rPr>
                <a:t>易于测试维护</a:t>
              </a:r>
            </a:p>
          </p:txBody>
        </p:sp>
        <p:sp>
          <p:nvSpPr>
            <p:cNvPr id="21" name="TextBox 26"/>
            <p:cNvSpPr txBox="1"/>
            <p:nvPr/>
          </p:nvSpPr>
          <p:spPr>
            <a:xfrm>
              <a:off x="8350" y="3019"/>
              <a:ext cx="1089" cy="1710"/>
            </a:xfrm>
            <a:prstGeom prst="rect">
              <a:avLst/>
            </a:prstGeom>
            <a:noFill/>
          </p:spPr>
          <p:txBody>
            <a:bodyPr wrap="none" rtlCol="0">
              <a:spAutoFit/>
            </a:bodyPr>
            <a:lstStyle/>
            <a:p>
              <a:r>
                <a:rPr lang="en-US" sz="6000" b="1" dirty="0">
                  <a:ln>
                    <a:solidFill>
                      <a:schemeClr val="tx2"/>
                    </a:solidFill>
                  </a:ln>
                  <a:solidFill>
                    <a:schemeClr val="bg1"/>
                  </a:solidFill>
                  <a:effectLst>
                    <a:reflection blurRad="6350" stA="55000" endA="300" endPos="45500" dir="5400000" sy="-100000" algn="bl" rotWithShape="0"/>
                  </a:effectLst>
                  <a:latin typeface="Arial Black" panose="020B0A04020102020204" pitchFamily="34" charset="0"/>
                </a:rPr>
                <a:t>2</a:t>
              </a:r>
            </a:p>
          </p:txBody>
        </p:sp>
      </p:grpSp>
      <p:sp>
        <p:nvSpPr>
          <p:cNvPr id="7" name="文本框 6"/>
          <p:cNvSpPr txBox="1"/>
          <p:nvPr/>
        </p:nvSpPr>
        <p:spPr>
          <a:xfrm>
            <a:off x="754380" y="3211632"/>
            <a:ext cx="476250" cy="1988185"/>
          </a:xfrm>
          <a:prstGeom prst="rect">
            <a:avLst/>
          </a:prstGeom>
          <a:noFill/>
        </p:spPr>
        <p:txBody>
          <a:bodyPr vert="eaVert" wrap="none" rtlCol="0">
            <a:spAutoFit/>
          </a:bodyPr>
          <a:lstStyle/>
          <a:p>
            <a:pPr algn="l"/>
            <a:r>
              <a:rPr lang="en-US" altLang="zh-CN" spc="160" dirty="0">
                <a:solidFill>
                  <a:schemeClr val="bg1"/>
                </a:solidFill>
                <a:latin typeface="微软雅黑" panose="020B0503020204020204" charset="-122"/>
                <a:ea typeface="微软雅黑" panose="020B0503020204020204" charset="-122"/>
              </a:rPr>
              <a:t>1</a:t>
            </a:r>
            <a:r>
              <a:rPr lang="zh-CN" altLang="en-US" spc="160" dirty="0">
                <a:solidFill>
                  <a:schemeClr val="bg1"/>
                </a:solidFill>
                <a:latin typeface="微软雅黑" panose="020B0503020204020204" charset="-122"/>
                <a:ea typeface="微软雅黑" panose="020B0503020204020204" charset="-122"/>
              </a:rPr>
              <a:t>）确定设计方案</a:t>
            </a:r>
            <a:endParaRPr lang="en-US" altLang="zh-CN" spc="160" dirty="0">
              <a:solidFill>
                <a:schemeClr val="bg1"/>
              </a:solidFill>
              <a:latin typeface="微软雅黑" panose="020B0503020204020204" charset="-122"/>
              <a:ea typeface="微软雅黑" panose="020B0503020204020204" charset="-122"/>
            </a:endParaRPr>
          </a:p>
        </p:txBody>
      </p:sp>
      <p:grpSp>
        <p:nvGrpSpPr>
          <p:cNvPr id="2" name="组合 1"/>
          <p:cNvGrpSpPr/>
          <p:nvPr/>
        </p:nvGrpSpPr>
        <p:grpSpPr>
          <a:xfrm>
            <a:off x="719455" y="2469952"/>
            <a:ext cx="5435600" cy="3453130"/>
            <a:chOff x="924" y="3019"/>
            <a:chExt cx="8560" cy="5438"/>
          </a:xfrm>
        </p:grpSpPr>
        <p:sp>
          <p:nvSpPr>
            <p:cNvPr id="43" name="矩形 42"/>
            <p:cNvSpPr/>
            <p:nvPr/>
          </p:nvSpPr>
          <p:spPr>
            <a:xfrm>
              <a:off x="979" y="3699"/>
              <a:ext cx="8505" cy="4758"/>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52" name="图片 51"/>
            <p:cNvPicPr>
              <a:picLocks noChangeAspect="1"/>
            </p:cNvPicPr>
            <p:nvPr/>
          </p:nvPicPr>
          <p:blipFill>
            <a:blip r:embed="rId3" cstate="print">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924" y="3655"/>
              <a:ext cx="2290" cy="2277"/>
            </a:xfrm>
            <a:prstGeom prst="rect">
              <a:avLst/>
            </a:prstGeom>
          </p:spPr>
        </p:pic>
        <p:sp>
          <p:nvSpPr>
            <p:cNvPr id="45" name="Text Box 44"/>
            <p:cNvSpPr txBox="1">
              <a:spLocks noChangeArrowheads="1"/>
            </p:cNvSpPr>
            <p:nvPr/>
          </p:nvSpPr>
          <p:spPr bwMode="auto">
            <a:xfrm>
              <a:off x="1729" y="4363"/>
              <a:ext cx="7477" cy="3821"/>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en-US" altLang="zh-CN" sz="1800" b="1" dirty="0">
                  <a:solidFill>
                    <a:srgbClr val="00B050"/>
                  </a:solidFill>
                </a:rPr>
                <a:t>       </a:t>
              </a:r>
              <a:r>
                <a:rPr lang="zh-CN" altLang="en-US" dirty="0"/>
                <a:t>要使一个模块在总体设计中起到应有的作用，它必须满足一定的功能，对每一模块的设计目标应能简明地理解该模块的功能，方便地掌握功能范围，也就是知道模块应该做什么，这样才能有效地构造该模块。有时可以通过模块的分解或合并，减少控制信息的传递和对全局数据的引用，降低模块之间接口的复杂程度。</a:t>
              </a:r>
            </a:p>
          </p:txBody>
        </p:sp>
        <p:sp>
          <p:nvSpPr>
            <p:cNvPr id="4" name="TextBox 6"/>
            <p:cNvSpPr txBox="1"/>
            <p:nvPr/>
          </p:nvSpPr>
          <p:spPr>
            <a:xfrm rot="18836568">
              <a:off x="800" y="4291"/>
              <a:ext cx="1728" cy="606"/>
            </a:xfrm>
            <a:prstGeom prst="rect">
              <a:avLst/>
            </a:prstGeom>
            <a:noFill/>
          </p:spPr>
          <p:txBody>
            <a:bodyPr wrap="none" rtlCol="0">
              <a:spAutoFit/>
            </a:bodyPr>
            <a:lstStyle/>
            <a:p>
              <a:pPr algn="l"/>
              <a:r>
                <a:rPr lang="zh-CN" altLang="en-US" b="1" dirty="0">
                  <a:solidFill>
                    <a:schemeClr val="bg1"/>
                  </a:solidFill>
                  <a:latin typeface="微软雅黑" panose="020B0503020204020204" charset="-122"/>
                  <a:ea typeface="微软雅黑" panose="020B0503020204020204" charset="-122"/>
                </a:rPr>
                <a:t>易于开发</a:t>
              </a:r>
            </a:p>
          </p:txBody>
        </p:sp>
        <p:sp>
          <p:nvSpPr>
            <p:cNvPr id="5" name="TextBox 26"/>
            <p:cNvSpPr txBox="1"/>
            <p:nvPr/>
          </p:nvSpPr>
          <p:spPr>
            <a:xfrm>
              <a:off x="8350" y="3019"/>
              <a:ext cx="1089" cy="1710"/>
            </a:xfrm>
            <a:prstGeom prst="rect">
              <a:avLst/>
            </a:prstGeom>
            <a:noFill/>
          </p:spPr>
          <p:txBody>
            <a:bodyPr wrap="none" rtlCol="0">
              <a:spAutoFit/>
            </a:bodyPr>
            <a:lstStyle/>
            <a:p>
              <a:r>
                <a:rPr lang="en-US" sz="6000" b="1" dirty="0">
                  <a:ln>
                    <a:solidFill>
                      <a:schemeClr val="tx2"/>
                    </a:solidFill>
                  </a:ln>
                  <a:solidFill>
                    <a:schemeClr val="bg1"/>
                  </a:solidFill>
                  <a:effectLst>
                    <a:reflection blurRad="6350" stA="55000" endA="300" endPos="45500" dir="5400000" sy="-100000" algn="bl" rotWithShape="0"/>
                  </a:effectLst>
                  <a:latin typeface="Arial Black" panose="020B0A04020102020204" pitchFamily="34" charset="0"/>
                </a:rPr>
                <a:t>1</a:t>
              </a:r>
            </a:p>
          </p:txBody>
        </p:sp>
      </p:grpSp>
      <p:sp>
        <p:nvSpPr>
          <p:cNvPr id="3" name="标题 2"/>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endParaRPr lang="en-US" altLang="zh-CN" dirty="0">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3.2.4 </a:t>
            </a:r>
            <a:r>
              <a:rPr lang="zh-CN" altLang="en-US" sz="2400" dirty="0">
                <a:solidFill>
                  <a:schemeClr val="tx1"/>
                </a:solidFill>
              </a:rPr>
              <a:t>模块设计启发规则</a:t>
            </a:r>
            <a:endParaRPr sz="2400" dirty="0">
              <a:solidFill>
                <a:schemeClr val="tx1"/>
              </a:solidFill>
            </a:endParaRPr>
          </a:p>
        </p:txBody>
      </p:sp>
      <p:grpSp>
        <p:nvGrpSpPr>
          <p:cNvPr id="19" name="组合 6"/>
          <p:cNvGrpSpPr/>
          <p:nvPr/>
        </p:nvGrpSpPr>
        <p:grpSpPr>
          <a:xfrm>
            <a:off x="809625" y="2145646"/>
            <a:ext cx="3141345" cy="590550"/>
            <a:chOff x="508000" y="3196191"/>
            <a:chExt cx="3141314" cy="590550"/>
          </a:xfrm>
        </p:grpSpPr>
        <p:sp>
          <p:nvSpPr>
            <p:cNvPr id="22" name="TextBox 1"/>
            <p:cNvSpPr txBox="1">
              <a:spLocks noChangeArrowheads="1"/>
            </p:cNvSpPr>
            <p:nvPr/>
          </p:nvSpPr>
          <p:spPr bwMode="auto">
            <a:xfrm>
              <a:off x="508000" y="3196191"/>
              <a:ext cx="32091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3" name="直接连接符 22"/>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4" name="矩形 23"/>
            <p:cNvSpPr>
              <a:spLocks noChangeArrowheads="1"/>
            </p:cNvSpPr>
            <p:nvPr/>
          </p:nvSpPr>
          <p:spPr bwMode="auto">
            <a:xfrm>
              <a:off x="960437" y="3291441"/>
              <a:ext cx="268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尽力提高模块独立性</a:t>
              </a:r>
            </a:p>
          </p:txBody>
        </p:sp>
      </p:grpSp>
    </p:spTree>
  </p:cSld>
  <p:clrMapOvr>
    <a:masterClrMapping/>
  </p:clrMapOvr>
  <p:transition>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endParaRPr lang="en-US" altLang="zh-CN" dirty="0">
              <a:sym typeface="+mn-ea"/>
            </a:endParaRPr>
          </a:p>
        </p:txBody>
      </p:sp>
      <p:sp>
        <p:nvSpPr>
          <p:cNvPr id="29"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3.2.4 </a:t>
            </a:r>
            <a:r>
              <a:rPr lang="zh-CN" altLang="en-US" sz="2400" dirty="0">
                <a:solidFill>
                  <a:schemeClr val="tx1"/>
                </a:solidFill>
              </a:rPr>
              <a:t>模块设计启发规则</a:t>
            </a:r>
            <a:endParaRPr sz="2400" dirty="0">
              <a:solidFill>
                <a:schemeClr val="tx1"/>
              </a:solidFill>
            </a:endParaRPr>
          </a:p>
        </p:txBody>
      </p:sp>
      <p:grpSp>
        <p:nvGrpSpPr>
          <p:cNvPr id="11" name="组合 10"/>
          <p:cNvGrpSpPr/>
          <p:nvPr/>
        </p:nvGrpSpPr>
        <p:grpSpPr>
          <a:xfrm>
            <a:off x="4455160" y="2901207"/>
            <a:ext cx="3101975" cy="2908935"/>
            <a:chOff x="6718" y="4218"/>
            <a:chExt cx="4517" cy="4053"/>
          </a:xfrm>
        </p:grpSpPr>
        <p:sp>
          <p:nvSpPr>
            <p:cNvPr id="19" name="椭圆 18"/>
            <p:cNvSpPr/>
            <p:nvPr>
              <p:custDataLst>
                <p:tags r:id="rId1"/>
              </p:custDataLst>
            </p:nvPr>
          </p:nvSpPr>
          <p:spPr>
            <a:xfrm>
              <a:off x="6718" y="5889"/>
              <a:ext cx="2624" cy="2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6" name="文本框 22"/>
            <p:cNvSpPr txBox="1">
              <a:spLocks noChangeArrowheads="1"/>
            </p:cNvSpPr>
            <p:nvPr>
              <p:custDataLst>
                <p:tags r:id="rId2"/>
              </p:custDataLst>
            </p:nvPr>
          </p:nvSpPr>
          <p:spPr bwMode="auto">
            <a:xfrm>
              <a:off x="7293" y="6686"/>
              <a:ext cx="878"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a:solidFill>
                    <a:schemeClr val="bg1"/>
                  </a:solidFill>
                  <a:latin typeface="+mn-lt"/>
                  <a:ea typeface="+mn-ea"/>
                </a:rPr>
                <a:t>D</a:t>
              </a:r>
              <a:endParaRPr lang="zh-CN" altLang="en-US" sz="6600" b="1" dirty="0">
                <a:solidFill>
                  <a:schemeClr val="bg1"/>
                </a:solidFill>
                <a:latin typeface="+mn-lt"/>
                <a:ea typeface="+mn-ea"/>
              </a:endParaRPr>
            </a:p>
          </p:txBody>
        </p:sp>
        <p:sp>
          <p:nvSpPr>
            <p:cNvPr id="39" name="椭圆 38"/>
            <p:cNvSpPr/>
            <p:nvPr>
              <p:custDataLst>
                <p:tags r:id="rId3"/>
              </p:custDataLst>
            </p:nvPr>
          </p:nvSpPr>
          <p:spPr>
            <a:xfrm>
              <a:off x="6718" y="4218"/>
              <a:ext cx="2624" cy="2382"/>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40" name="椭圆 39"/>
            <p:cNvSpPr/>
            <p:nvPr>
              <p:custDataLst>
                <p:tags r:id="rId4"/>
              </p:custDataLst>
            </p:nvPr>
          </p:nvSpPr>
          <p:spPr>
            <a:xfrm>
              <a:off x="8611" y="4218"/>
              <a:ext cx="2624" cy="2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42" name="椭圆 41"/>
            <p:cNvSpPr/>
            <p:nvPr>
              <p:custDataLst>
                <p:tags r:id="rId5"/>
              </p:custDataLst>
            </p:nvPr>
          </p:nvSpPr>
          <p:spPr>
            <a:xfrm>
              <a:off x="8611" y="5889"/>
              <a:ext cx="2624" cy="2382"/>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nvGrpSpPr>
            <p:cNvPr id="8" name="组合 7"/>
            <p:cNvGrpSpPr/>
            <p:nvPr>
              <p:custDataLst>
                <p:tags r:id="rId6"/>
              </p:custDataLst>
            </p:nvPr>
          </p:nvGrpSpPr>
          <p:grpSpPr>
            <a:xfrm>
              <a:off x="7093" y="4579"/>
              <a:ext cx="3761" cy="3313"/>
              <a:chOff x="4933659" y="1528513"/>
              <a:chExt cx="3096541" cy="3006076"/>
            </a:xfrm>
            <a:solidFill>
              <a:schemeClr val="bg1"/>
            </a:solidFill>
          </p:grpSpPr>
          <p:sp>
            <p:nvSpPr>
              <p:cNvPr id="44" name="Freeform 16@|5FFC:0|FBC:0|LFC:16777215|LBC:16777215"/>
              <p:cNvSpPr/>
              <p:nvPr>
                <p:custDataLst>
                  <p:tags r:id="rId10"/>
                </p:custDataLst>
              </p:nvPr>
            </p:nvSpPr>
            <p:spPr>
              <a:xfrm>
                <a:off x="6181299" y="1528513"/>
                <a:ext cx="601263" cy="1489462"/>
              </a:xfrm>
              <a:custGeom>
                <a:avLst/>
                <a:gdLst>
                  <a:gd name="connsiteX0" fmla="*/ 300632 w 601263"/>
                  <a:gd name="connsiteY0" fmla="*/ 0 h 1489462"/>
                  <a:gd name="connsiteX1" fmla="*/ 416779 w 601263"/>
                  <a:gd name="connsiteY1" fmla="*/ 140772 h 1489462"/>
                  <a:gd name="connsiteX2" fmla="*/ 601263 w 601263"/>
                  <a:gd name="connsiteY2" fmla="*/ 744731 h 1489462"/>
                  <a:gd name="connsiteX3" fmla="*/ 416779 w 601263"/>
                  <a:gd name="connsiteY3" fmla="*/ 1348690 h 1489462"/>
                  <a:gd name="connsiteX4" fmla="*/ 300632 w 601263"/>
                  <a:gd name="connsiteY4" fmla="*/ 1489462 h 1489462"/>
                  <a:gd name="connsiteX5" fmla="*/ 184484 w 601263"/>
                  <a:gd name="connsiteY5" fmla="*/ 1348690 h 1489462"/>
                  <a:gd name="connsiteX6" fmla="*/ 0 w 601263"/>
                  <a:gd name="connsiteY6" fmla="*/ 744731 h 1489462"/>
                  <a:gd name="connsiteX7" fmla="*/ 184484 w 601263"/>
                  <a:gd name="connsiteY7" fmla="*/ 140772 h 1489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2">
                    <a:moveTo>
                      <a:pt x="300632" y="0"/>
                    </a:moveTo>
                    <a:lnTo>
                      <a:pt x="416779" y="140772"/>
                    </a:lnTo>
                    <a:cubicBezTo>
                      <a:pt x="533253" y="313176"/>
                      <a:pt x="601263" y="521011"/>
                      <a:pt x="601263" y="744731"/>
                    </a:cubicBezTo>
                    <a:cubicBezTo>
                      <a:pt x="601263" y="968451"/>
                      <a:pt x="533253" y="1176287"/>
                      <a:pt x="416779" y="1348690"/>
                    </a:cubicBezTo>
                    <a:lnTo>
                      <a:pt x="300632" y="1489462"/>
                    </a:lnTo>
                    <a:lnTo>
                      <a:pt x="184484" y="1348690"/>
                    </a:lnTo>
                    <a:cubicBezTo>
                      <a:pt x="68011" y="1176287"/>
                      <a:pt x="0" y="968451"/>
                      <a:pt x="0" y="744731"/>
                    </a:cubicBezTo>
                    <a:cubicBezTo>
                      <a:pt x="0" y="521011"/>
                      <a:pt x="68011" y="313176"/>
                      <a:pt x="184484" y="1407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9" name="Freeform 17@|5FFC:0|FBC:0|LFC:16777215|LBC:16777215"/>
              <p:cNvSpPr/>
              <p:nvPr>
                <p:custDataLst>
                  <p:tags r:id="rId11"/>
                </p:custDataLst>
              </p:nvPr>
            </p:nvSpPr>
            <p:spPr>
              <a:xfrm>
                <a:off x="6181299" y="3045126"/>
                <a:ext cx="601263" cy="1489463"/>
              </a:xfrm>
              <a:custGeom>
                <a:avLst/>
                <a:gdLst>
                  <a:gd name="connsiteX0" fmla="*/ 300923 w 601263"/>
                  <a:gd name="connsiteY0" fmla="*/ 0 h 1489463"/>
                  <a:gd name="connsiteX1" fmla="*/ 416779 w 601263"/>
                  <a:gd name="connsiteY1" fmla="*/ 140419 h 1489463"/>
                  <a:gd name="connsiteX2" fmla="*/ 601263 w 601263"/>
                  <a:gd name="connsiteY2" fmla="*/ 744378 h 1489463"/>
                  <a:gd name="connsiteX3" fmla="*/ 416779 w 601263"/>
                  <a:gd name="connsiteY3" fmla="*/ 1348337 h 1489463"/>
                  <a:gd name="connsiteX4" fmla="*/ 300340 w 601263"/>
                  <a:gd name="connsiteY4" fmla="*/ 1489463 h 1489463"/>
                  <a:gd name="connsiteX5" fmla="*/ 184484 w 601263"/>
                  <a:gd name="connsiteY5" fmla="*/ 1349044 h 1489463"/>
                  <a:gd name="connsiteX6" fmla="*/ 0 w 601263"/>
                  <a:gd name="connsiteY6" fmla="*/ 745085 h 1489463"/>
                  <a:gd name="connsiteX7" fmla="*/ 184484 w 601263"/>
                  <a:gd name="connsiteY7" fmla="*/ 141126 h 14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3">
                    <a:moveTo>
                      <a:pt x="300923" y="0"/>
                    </a:moveTo>
                    <a:lnTo>
                      <a:pt x="416779" y="140419"/>
                    </a:lnTo>
                    <a:cubicBezTo>
                      <a:pt x="533253" y="312823"/>
                      <a:pt x="601263" y="520658"/>
                      <a:pt x="601263" y="744378"/>
                    </a:cubicBezTo>
                    <a:cubicBezTo>
                      <a:pt x="601263" y="968098"/>
                      <a:pt x="533253" y="1175934"/>
                      <a:pt x="416779" y="1348337"/>
                    </a:cubicBezTo>
                    <a:lnTo>
                      <a:pt x="300340" y="1489463"/>
                    </a:lnTo>
                    <a:lnTo>
                      <a:pt x="184484" y="1349044"/>
                    </a:lnTo>
                    <a:cubicBezTo>
                      <a:pt x="68011" y="1176641"/>
                      <a:pt x="0" y="968805"/>
                      <a:pt x="0" y="745085"/>
                    </a:cubicBezTo>
                    <a:cubicBezTo>
                      <a:pt x="0" y="521365"/>
                      <a:pt x="68011" y="313530"/>
                      <a:pt x="184484" y="14112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46" name="Freeform 18@|5FFC:0|FBC:0|LFC:16777215|LBC:16777215"/>
              <p:cNvSpPr/>
              <p:nvPr>
                <p:custDataLst>
                  <p:tags r:id="rId12"/>
                </p:custDataLst>
              </p:nvPr>
            </p:nvSpPr>
            <p:spPr>
              <a:xfrm>
                <a:off x="4933659" y="2709994"/>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47" name="Freeform 19@|5FFC:0|FBC:0|LFC:16777215|LBC:16777215"/>
              <p:cNvSpPr/>
              <p:nvPr>
                <p:custDataLst>
                  <p:tags r:id="rId13"/>
                </p:custDataLst>
              </p:nvPr>
            </p:nvSpPr>
            <p:spPr>
              <a:xfrm>
                <a:off x="6492828" y="2708580"/>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sp>
          <p:nvSpPr>
            <p:cNvPr id="48" name="文本框 20"/>
            <p:cNvSpPr txBox="1">
              <a:spLocks noChangeArrowheads="1"/>
            </p:cNvSpPr>
            <p:nvPr>
              <p:custDataLst>
                <p:tags r:id="rId7"/>
              </p:custDataLst>
            </p:nvPr>
          </p:nvSpPr>
          <p:spPr bwMode="auto">
            <a:xfrm>
              <a:off x="7293" y="4615"/>
              <a:ext cx="878"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a:solidFill>
                    <a:schemeClr val="bg1"/>
                  </a:solidFill>
                  <a:latin typeface="+mn-lt"/>
                  <a:ea typeface="+mn-ea"/>
                </a:rPr>
                <a:t>A</a:t>
              </a:r>
              <a:endParaRPr lang="zh-CN" altLang="en-US" sz="6600" b="1" dirty="0">
                <a:solidFill>
                  <a:schemeClr val="bg1"/>
                </a:solidFill>
                <a:latin typeface="+mn-lt"/>
                <a:ea typeface="+mn-ea"/>
              </a:endParaRPr>
            </a:p>
          </p:txBody>
        </p:sp>
        <p:sp>
          <p:nvSpPr>
            <p:cNvPr id="49" name="文本框 21"/>
            <p:cNvSpPr txBox="1">
              <a:spLocks noChangeArrowheads="1"/>
            </p:cNvSpPr>
            <p:nvPr>
              <p:custDataLst>
                <p:tags r:id="rId8"/>
              </p:custDataLst>
            </p:nvPr>
          </p:nvSpPr>
          <p:spPr bwMode="auto">
            <a:xfrm>
              <a:off x="9499" y="4579"/>
              <a:ext cx="876"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a:solidFill>
                    <a:schemeClr val="bg1"/>
                  </a:solidFill>
                  <a:latin typeface="+mn-lt"/>
                  <a:ea typeface="+mn-ea"/>
                </a:rPr>
                <a:t>B</a:t>
              </a:r>
              <a:endParaRPr lang="zh-CN" altLang="en-US" sz="6600" b="1" dirty="0">
                <a:solidFill>
                  <a:schemeClr val="bg1"/>
                </a:solidFill>
                <a:latin typeface="+mn-lt"/>
                <a:ea typeface="+mn-ea"/>
              </a:endParaRPr>
            </a:p>
          </p:txBody>
        </p:sp>
        <p:sp>
          <p:nvSpPr>
            <p:cNvPr id="51" name="文本框 23"/>
            <p:cNvSpPr txBox="1">
              <a:spLocks noChangeArrowheads="1"/>
            </p:cNvSpPr>
            <p:nvPr>
              <p:custDataLst>
                <p:tags r:id="rId9"/>
              </p:custDataLst>
            </p:nvPr>
          </p:nvSpPr>
          <p:spPr bwMode="auto">
            <a:xfrm>
              <a:off x="9660" y="6686"/>
              <a:ext cx="876"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a:solidFill>
                    <a:schemeClr val="bg1"/>
                  </a:solidFill>
                  <a:latin typeface="+mn-lt"/>
                  <a:ea typeface="+mn-ea"/>
                </a:rPr>
                <a:t>C</a:t>
              </a:r>
              <a:endParaRPr lang="zh-CN" altLang="en-US" sz="6600" b="1" dirty="0">
                <a:solidFill>
                  <a:schemeClr val="bg1"/>
                </a:solidFill>
                <a:latin typeface="+mn-lt"/>
                <a:ea typeface="+mn-ea"/>
              </a:endParaRPr>
            </a:p>
          </p:txBody>
        </p:sp>
      </p:grpSp>
      <p:sp>
        <p:nvSpPr>
          <p:cNvPr id="100" name="文本框 99"/>
          <p:cNvSpPr txBox="1"/>
          <p:nvPr/>
        </p:nvSpPr>
        <p:spPr>
          <a:xfrm>
            <a:off x="454660" y="3191526"/>
            <a:ext cx="3787140" cy="1463040"/>
          </a:xfrm>
          <a:prstGeom prst="rect">
            <a:avLst/>
          </a:prstGeom>
          <a:noFill/>
          <a:ln w="9525">
            <a:noFill/>
          </a:ln>
        </p:spPr>
        <p:txBody>
          <a:bodyPr wrap="square">
            <a:spAutoFit/>
          </a:bodyPr>
          <a:lstStyle/>
          <a:p>
            <a:pPr marL="266700" indent="0" fontAlgn="auto"/>
            <a:r>
              <a:rPr lang="en-US" altLang="zh-CN" b="0" u="none" dirty="0">
                <a:solidFill>
                  <a:srgbClr val="7F00E4"/>
                </a:solidFill>
                <a:latin typeface="Wingdings" panose="05000000000000000000" charset="0"/>
                <a:ea typeface="Wingdings" panose="05000000000000000000" charset="0"/>
                <a:cs typeface="Wingdings" panose="05000000000000000000" charset="0"/>
              </a:rPr>
              <a:t>Ø </a:t>
            </a:r>
            <a:r>
              <a:rPr lang="zh-CN" altLang="en-US" b="0" u="none" dirty="0">
                <a:solidFill>
                  <a:srgbClr val="7F00E4"/>
                </a:solidFill>
                <a:latin typeface="黑体" panose="02010609060101010101" pitchFamily="49" charset="-122"/>
                <a:ea typeface="黑体" panose="02010609060101010101" pitchFamily="49" charset="-122"/>
                <a:cs typeface="黑体" panose="02010609060101010101" pitchFamily="49" charset="-122"/>
              </a:rPr>
              <a:t>可靠性：</a:t>
            </a:r>
            <a:r>
              <a:rPr lang="zh-CN" altLang="en-US" b="0" u="none" dirty="0">
                <a:latin typeface="宋体" panose="02010600030101010101" pitchFamily="2" charset="-122"/>
                <a:ea typeface="宋体" panose="02010600030101010101" pitchFamily="2" charset="-122"/>
                <a:cs typeface="宋体" panose="02010600030101010101" pitchFamily="2" charset="-122"/>
              </a:rPr>
              <a:t>模块运行应无差错，才可把它整体地组装到系统中去。在设计时应先对模块作测试，使差错尽可能少。</a:t>
            </a:r>
            <a:endParaRPr lang="zh-CN" altLang="en-US" b="0" u="none" dirty="0">
              <a:solidFill>
                <a:srgbClr val="7F00E4"/>
              </a:solidFill>
              <a:latin typeface="Wingdings" panose="05000000000000000000" charset="0"/>
              <a:ea typeface="Wingdings" panose="05000000000000000000" charset="0"/>
              <a:cs typeface="Wingdings" panose="05000000000000000000" charset="0"/>
            </a:endParaRPr>
          </a:p>
          <a:p>
            <a:endParaRPr lang="zh-CN" altLang="en-US" dirty="0"/>
          </a:p>
        </p:txBody>
      </p:sp>
      <p:sp>
        <p:nvSpPr>
          <p:cNvPr id="10" name="文本框 9"/>
          <p:cNvSpPr txBox="1"/>
          <p:nvPr/>
        </p:nvSpPr>
        <p:spPr>
          <a:xfrm>
            <a:off x="7557135" y="3164230"/>
            <a:ext cx="3803015" cy="914400"/>
          </a:xfrm>
          <a:prstGeom prst="rect">
            <a:avLst/>
          </a:prstGeom>
          <a:noFill/>
        </p:spPr>
        <p:txBody>
          <a:bodyPr wrap="square" rtlCol="0" anchor="t">
            <a:spAutoFit/>
          </a:bodyPr>
          <a:lstStyle/>
          <a:p>
            <a:pPr marL="266700" indent="0" fontAlgn="auto"/>
            <a:r>
              <a:rPr lang="en-US" altLang="zh-CN" dirty="0">
                <a:solidFill>
                  <a:srgbClr val="7F00E4"/>
                </a:solidFill>
                <a:latin typeface="Wingdings" panose="05000000000000000000" charset="0"/>
                <a:ea typeface="Wingdings" panose="05000000000000000000" charset="0"/>
                <a:cs typeface="Wingdings" panose="05000000000000000000" charset="0"/>
                <a:sym typeface="+mn-ea"/>
              </a:rPr>
              <a:t>Ø </a:t>
            </a:r>
            <a:r>
              <a:rPr lang="zh-CN" altLang="en-US" dirty="0">
                <a:solidFill>
                  <a:srgbClr val="7F00E4"/>
                </a:solidFill>
                <a:latin typeface="黑体" panose="02010609060101010101" pitchFamily="49" charset="-122"/>
                <a:ea typeface="黑体" panose="02010609060101010101" pitchFamily="49" charset="-122"/>
                <a:cs typeface="黑体" panose="02010609060101010101" pitchFamily="49" charset="-122"/>
                <a:sym typeface="+mn-ea"/>
              </a:rPr>
              <a:t>通用性：</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在设计模块时尽可能使其通用化，以扩大其应用性。</a:t>
            </a:r>
            <a:endParaRPr lang="zh-CN" altLang="en-US" dirty="0">
              <a:solidFill>
                <a:srgbClr val="7F00E4"/>
              </a:solidFill>
              <a:latin typeface="Wingdings" panose="05000000000000000000" charset="0"/>
              <a:ea typeface="Wingdings" panose="05000000000000000000" charset="0"/>
              <a:cs typeface="Wingdings" panose="05000000000000000000" charset="0"/>
              <a:sym typeface="+mn-ea"/>
            </a:endParaRPr>
          </a:p>
          <a:p>
            <a:pPr marL="266700" indent="0" fontAlgn="auto"/>
            <a:endParaRPr lang="zh-CN" altLang="en-US" dirty="0"/>
          </a:p>
        </p:txBody>
      </p:sp>
      <p:sp>
        <p:nvSpPr>
          <p:cNvPr id="12" name="文本框 11"/>
          <p:cNvSpPr txBox="1"/>
          <p:nvPr/>
        </p:nvSpPr>
        <p:spPr>
          <a:xfrm>
            <a:off x="455295" y="4672857"/>
            <a:ext cx="3786505" cy="1188720"/>
          </a:xfrm>
          <a:prstGeom prst="rect">
            <a:avLst/>
          </a:prstGeom>
          <a:noFill/>
        </p:spPr>
        <p:txBody>
          <a:bodyPr wrap="square" rtlCol="0" anchor="t">
            <a:spAutoFit/>
          </a:bodyPr>
          <a:lstStyle/>
          <a:p>
            <a:pPr marL="266700" indent="0" fontAlgn="auto"/>
            <a:r>
              <a:rPr lang="en-US" altLang="zh-CN">
                <a:solidFill>
                  <a:srgbClr val="7F00E4"/>
                </a:solidFill>
                <a:latin typeface="Wingdings" panose="05000000000000000000" charset="0"/>
                <a:ea typeface="Wingdings" panose="05000000000000000000" charset="0"/>
                <a:cs typeface="Wingdings" panose="05000000000000000000" charset="0"/>
                <a:sym typeface="+mn-ea"/>
              </a:rPr>
              <a:t>Ø </a:t>
            </a:r>
            <a:r>
              <a:rPr lang="zh-CN" altLang="en-US">
                <a:solidFill>
                  <a:srgbClr val="7F00E4"/>
                </a:solidFill>
                <a:latin typeface="黑体" panose="02010609060101010101" pitchFamily="49" charset="-122"/>
                <a:ea typeface="黑体" panose="02010609060101010101" pitchFamily="49" charset="-122"/>
                <a:cs typeface="黑体" panose="02010609060101010101" pitchFamily="49" charset="-122"/>
                <a:sym typeface="+mn-ea"/>
              </a:rPr>
              <a:t>可维护性：</a:t>
            </a:r>
            <a:r>
              <a:rPr lang="zh-CN" altLang="en-US">
                <a:latin typeface="宋体" panose="02010600030101010101" pitchFamily="2" charset="-122"/>
                <a:ea typeface="宋体" panose="02010600030101010101" pitchFamily="2" charset="-122"/>
                <a:cs typeface="宋体" panose="02010600030101010101" pitchFamily="2" charset="-122"/>
                <a:sym typeface="+mn-ea"/>
              </a:rPr>
              <a:t>设计完善的模块应易于修改。可维护性在第</a:t>
            </a:r>
            <a:r>
              <a:rPr lang="en-US" altLang="zh-CN">
                <a:latin typeface="宋体" panose="02010600030101010101" pitchFamily="2" charset="-122"/>
                <a:ea typeface="宋体" panose="02010600030101010101" pitchFamily="2" charset="-122"/>
                <a:cs typeface="宋体" panose="02010600030101010101" pitchFamily="2" charset="-122"/>
                <a:sym typeface="+mn-ea"/>
              </a:rPr>
              <a:t>5</a:t>
            </a:r>
            <a:r>
              <a:rPr lang="zh-CN" altLang="en-US">
                <a:latin typeface="宋体" panose="02010600030101010101" pitchFamily="2" charset="-122"/>
                <a:ea typeface="宋体" panose="02010600030101010101" pitchFamily="2" charset="-122"/>
                <a:cs typeface="宋体" panose="02010600030101010101" pitchFamily="2" charset="-122"/>
                <a:sym typeface="+mn-ea"/>
              </a:rPr>
              <a:t>章还将进一步介绍。</a:t>
            </a:r>
            <a:endParaRPr lang="zh-CN" altLang="en-US">
              <a:solidFill>
                <a:srgbClr val="7F00E4"/>
              </a:solidFill>
              <a:latin typeface="Wingdings" panose="05000000000000000000" charset="0"/>
              <a:ea typeface="Wingdings" panose="05000000000000000000" charset="0"/>
              <a:cs typeface="Wingdings" panose="05000000000000000000" charset="0"/>
              <a:sym typeface="+mn-ea"/>
            </a:endParaRPr>
          </a:p>
          <a:p>
            <a:pPr marL="266700" indent="0" fontAlgn="auto"/>
            <a:endParaRPr lang="zh-CN" altLang="en-US"/>
          </a:p>
        </p:txBody>
      </p:sp>
      <p:sp>
        <p:nvSpPr>
          <p:cNvPr id="13" name="文本框 12"/>
          <p:cNvSpPr txBox="1"/>
          <p:nvPr/>
        </p:nvSpPr>
        <p:spPr>
          <a:xfrm>
            <a:off x="7557135" y="4672857"/>
            <a:ext cx="3803015" cy="914400"/>
          </a:xfrm>
          <a:prstGeom prst="rect">
            <a:avLst/>
          </a:prstGeom>
          <a:noFill/>
        </p:spPr>
        <p:txBody>
          <a:bodyPr wrap="square" rtlCol="0" anchor="t">
            <a:spAutoFit/>
          </a:bodyPr>
          <a:lstStyle/>
          <a:p>
            <a:pPr marL="266700" indent="0" fontAlgn="auto"/>
            <a:r>
              <a:rPr lang="en-US" altLang="zh-CN">
                <a:solidFill>
                  <a:srgbClr val="7F00E4"/>
                </a:solidFill>
                <a:latin typeface="Wingdings" panose="05000000000000000000" charset="0"/>
                <a:ea typeface="Wingdings" panose="05000000000000000000" charset="0"/>
                <a:cs typeface="Wingdings" panose="05000000000000000000" charset="0"/>
                <a:sym typeface="+mn-ea"/>
              </a:rPr>
              <a:t>Ø </a:t>
            </a:r>
            <a:r>
              <a:rPr lang="zh-CN" altLang="en-US">
                <a:solidFill>
                  <a:srgbClr val="7F00E4"/>
                </a:solidFill>
                <a:latin typeface="黑体" panose="02010609060101010101" pitchFamily="49" charset="-122"/>
                <a:ea typeface="黑体" panose="02010609060101010101" pitchFamily="49" charset="-122"/>
                <a:cs typeface="黑体" panose="02010609060101010101" pitchFamily="49" charset="-122"/>
                <a:sym typeface="+mn-ea"/>
              </a:rPr>
              <a:t>简单性：</a:t>
            </a:r>
            <a:r>
              <a:rPr lang="zh-CN" altLang="en-US">
                <a:latin typeface="宋体" panose="02010600030101010101" pitchFamily="2" charset="-122"/>
                <a:ea typeface="宋体" panose="02010600030101010101" pitchFamily="2" charset="-122"/>
                <a:cs typeface="宋体" panose="02010600030101010101" pitchFamily="2" charset="-122"/>
                <a:sym typeface="+mn-ea"/>
              </a:rPr>
              <a:t>减少复杂性，有利于人们理解，使模块易于设计和使用。</a:t>
            </a:r>
            <a:endParaRPr lang="zh-CN" altLang="en-US"/>
          </a:p>
        </p:txBody>
      </p:sp>
      <p:grpSp>
        <p:nvGrpSpPr>
          <p:cNvPr id="22" name="组合 6"/>
          <p:cNvGrpSpPr/>
          <p:nvPr/>
        </p:nvGrpSpPr>
        <p:grpSpPr>
          <a:xfrm>
            <a:off x="809625" y="2145646"/>
            <a:ext cx="7024189" cy="590550"/>
            <a:chOff x="508000" y="3196191"/>
            <a:chExt cx="7024120" cy="590550"/>
          </a:xfrm>
        </p:grpSpPr>
        <p:sp>
          <p:nvSpPr>
            <p:cNvPr id="23"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2</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4" name="直接连接符 23"/>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5" name="矩形 24"/>
            <p:cNvSpPr>
              <a:spLocks noChangeArrowheads="1"/>
            </p:cNvSpPr>
            <p:nvPr/>
          </p:nvSpPr>
          <p:spPr bwMode="auto">
            <a:xfrm>
              <a:off x="960436" y="3291441"/>
              <a:ext cx="65716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注意模块的可靠性、通用性、可维护性和简单性</a:t>
              </a:r>
            </a:p>
          </p:txBody>
        </p:sp>
      </p:grpSp>
    </p:spTree>
  </p:cSld>
  <p:clrMapOvr>
    <a:masterClrMapping/>
  </p:clrMapOvr>
  <p:transition>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endParaRPr lang="en-US" altLang="zh-CN" dirty="0">
              <a:sym typeface="+mn-ea"/>
            </a:endParaRPr>
          </a:p>
        </p:txBody>
      </p:sp>
      <p:sp>
        <p:nvSpPr>
          <p:cNvPr id="7" name="文本框 6"/>
          <p:cNvSpPr txBox="1"/>
          <p:nvPr/>
        </p:nvSpPr>
        <p:spPr>
          <a:xfrm>
            <a:off x="754380" y="2611120"/>
            <a:ext cx="476250" cy="1988185"/>
          </a:xfrm>
          <a:prstGeom prst="rect">
            <a:avLst/>
          </a:prstGeom>
          <a:noFill/>
        </p:spPr>
        <p:txBody>
          <a:bodyPr vert="eaVert" wrap="none" rtlCol="0">
            <a:spAutoFit/>
          </a:bodyPr>
          <a:lstStyle/>
          <a:p>
            <a:pPr algn="l"/>
            <a:r>
              <a:rPr lang="en-US" altLang="zh-CN" spc="160" dirty="0">
                <a:solidFill>
                  <a:schemeClr val="bg1"/>
                </a:solidFill>
                <a:latin typeface="微软雅黑" panose="020B0503020204020204" charset="-122"/>
                <a:ea typeface="微软雅黑" panose="020B0503020204020204" charset="-122"/>
              </a:rPr>
              <a:t>1</a:t>
            </a:r>
            <a:r>
              <a:rPr lang="zh-CN" altLang="en-US" spc="160" dirty="0">
                <a:solidFill>
                  <a:schemeClr val="bg1"/>
                </a:solidFill>
                <a:latin typeface="微软雅黑" panose="020B0503020204020204" charset="-122"/>
                <a:ea typeface="微软雅黑" panose="020B0503020204020204" charset="-122"/>
              </a:rPr>
              <a:t>）确定设计方案</a:t>
            </a:r>
            <a:endParaRPr lang="en-US" altLang="zh-CN" spc="160" dirty="0">
              <a:solidFill>
                <a:schemeClr val="bg1"/>
              </a:solidFill>
              <a:latin typeface="微软雅黑" panose="020B0503020204020204" charset="-122"/>
              <a:ea typeface="微软雅黑" panose="020B0503020204020204" charset="-122"/>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3.2.4 </a:t>
            </a:r>
            <a:r>
              <a:rPr lang="zh-CN" altLang="en-US" sz="2400" dirty="0">
                <a:solidFill>
                  <a:schemeClr val="tx1"/>
                </a:solidFill>
              </a:rPr>
              <a:t>模块设计启发规则</a:t>
            </a:r>
            <a:endParaRPr lang="zh-CN" sz="2400" dirty="0">
              <a:solidFill>
                <a:schemeClr val="tx1"/>
              </a:solidFill>
            </a:endParaRPr>
          </a:p>
        </p:txBody>
      </p:sp>
      <p:grpSp>
        <p:nvGrpSpPr>
          <p:cNvPr id="2" name="组合 1"/>
          <p:cNvGrpSpPr/>
          <p:nvPr/>
        </p:nvGrpSpPr>
        <p:grpSpPr>
          <a:xfrm>
            <a:off x="719455" y="2969348"/>
            <a:ext cx="10968990" cy="2667000"/>
            <a:chOff x="924" y="3655"/>
            <a:chExt cx="17274" cy="4200"/>
          </a:xfrm>
        </p:grpSpPr>
        <p:sp>
          <p:nvSpPr>
            <p:cNvPr id="43" name="矩形 42"/>
            <p:cNvSpPr/>
            <p:nvPr/>
          </p:nvSpPr>
          <p:spPr>
            <a:xfrm>
              <a:off x="979" y="3699"/>
              <a:ext cx="17219" cy="4156"/>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52" name="图片 51"/>
            <p:cNvPicPr>
              <a:picLocks noChangeAspect="1"/>
            </p:cNvPicPr>
            <p:nvPr/>
          </p:nvPicPr>
          <p:blipFill>
            <a:blip r:embed="rId3" cstate="print">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924" y="3655"/>
              <a:ext cx="2290" cy="2277"/>
            </a:xfrm>
            <a:prstGeom prst="rect">
              <a:avLst/>
            </a:prstGeom>
          </p:spPr>
        </p:pic>
        <p:sp>
          <p:nvSpPr>
            <p:cNvPr id="45" name="Text Box 44"/>
            <p:cNvSpPr txBox="1">
              <a:spLocks noChangeArrowheads="1"/>
            </p:cNvSpPr>
            <p:nvPr/>
          </p:nvSpPr>
          <p:spPr bwMode="auto">
            <a:xfrm>
              <a:off x="1920" y="4770"/>
              <a:ext cx="15605" cy="2709"/>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en-US" altLang="zh-CN" b="1" dirty="0">
                  <a:solidFill>
                    <a:srgbClr val="00B050"/>
                  </a:solidFill>
                </a:rPr>
                <a:t>      </a:t>
              </a:r>
              <a:r>
                <a:rPr dirty="0">
                  <a:solidFill>
                    <a:srgbClr val="C00000"/>
                  </a:solidFill>
                </a:rPr>
                <a:t>模块不宜太大</a:t>
              </a:r>
              <a:r>
                <a:rPr dirty="0"/>
                <a:t>。根据经验，模块规模最好在一页以内（通常不超过50行语句），这种规模易于阅读和理解。由于种种原因，一个模块可能会大于一页，只要不影响程序的清晰性，可允许大于一页，但应仔细分析一下，是否应进一步分解模块。不过不能以模块长度为绝对标准，还应根据具体情况仔细斟酌，最主要的是要使模块功能不太复杂，边界明确，模块分解不应降低模块独立性。</a:t>
              </a:r>
            </a:p>
            <a:p>
              <a:pPr indent="0"/>
              <a:r>
                <a:rPr dirty="0">
                  <a:solidFill>
                    <a:srgbClr val="C00000"/>
                  </a:solidFill>
                </a:rPr>
                <a:t>       过小的模块有时不值得单独存在</a:t>
              </a:r>
              <a:r>
                <a:rPr dirty="0"/>
                <a:t>，可以把它合并到上级模块中去。模块数目过多会导致系统接口复杂。</a:t>
              </a:r>
            </a:p>
          </p:txBody>
        </p:sp>
        <p:sp>
          <p:nvSpPr>
            <p:cNvPr id="4" name="TextBox 6"/>
            <p:cNvSpPr txBox="1"/>
            <p:nvPr/>
          </p:nvSpPr>
          <p:spPr>
            <a:xfrm rot="18836568">
              <a:off x="800" y="4291"/>
              <a:ext cx="1728" cy="606"/>
            </a:xfrm>
            <a:prstGeom prst="rect">
              <a:avLst/>
            </a:prstGeom>
            <a:noFill/>
          </p:spPr>
          <p:txBody>
            <a:bodyPr wrap="none" rtlCol="0">
              <a:spAutoFit/>
            </a:bodyPr>
            <a:lstStyle/>
            <a:p>
              <a:pPr algn="l"/>
              <a:r>
                <a:rPr lang="zh-CN" altLang="en-US" b="1" dirty="0">
                  <a:solidFill>
                    <a:schemeClr val="bg1"/>
                  </a:solidFill>
                  <a:latin typeface="微软雅黑" panose="020B0503020204020204" charset="-122"/>
                  <a:ea typeface="微软雅黑" panose="020B0503020204020204" charset="-122"/>
                </a:rPr>
                <a:t>大小适中</a:t>
              </a:r>
            </a:p>
          </p:txBody>
        </p:sp>
      </p:grpSp>
      <p:grpSp>
        <p:nvGrpSpPr>
          <p:cNvPr id="11" name="组合 6"/>
          <p:cNvGrpSpPr/>
          <p:nvPr/>
        </p:nvGrpSpPr>
        <p:grpSpPr>
          <a:xfrm>
            <a:off x="809625" y="2145646"/>
            <a:ext cx="7024189" cy="590550"/>
            <a:chOff x="508000" y="3196191"/>
            <a:chExt cx="7024120" cy="590550"/>
          </a:xfrm>
        </p:grpSpPr>
        <p:sp>
          <p:nvSpPr>
            <p:cNvPr id="12" name="TextBox 1"/>
            <p:cNvSpPr txBox="1">
              <a:spLocks noChangeArrowheads="1"/>
            </p:cNvSpPr>
            <p:nvPr/>
          </p:nvSpPr>
          <p:spPr bwMode="auto">
            <a:xfrm>
              <a:off x="508000" y="3196191"/>
              <a:ext cx="3754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3</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13" name="直接连接符 12"/>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4" name="矩形 13"/>
            <p:cNvSpPr>
              <a:spLocks noChangeArrowheads="1"/>
            </p:cNvSpPr>
            <p:nvPr/>
          </p:nvSpPr>
          <p:spPr bwMode="auto">
            <a:xfrm>
              <a:off x="960436" y="3291441"/>
              <a:ext cx="65716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模块应大小适中</a:t>
              </a:r>
            </a:p>
          </p:txBody>
        </p:sp>
      </p:grpSp>
    </p:spTree>
  </p:cSld>
  <p:clrMapOvr>
    <a:masterClrMapping/>
  </p:clrMapOvr>
  <p:transition>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3.2 </a:t>
            </a:r>
            <a:r>
              <a:rPr lang="zh-CN" altLang="en-US" dirty="0">
                <a:sym typeface="+mn-ea"/>
              </a:rPr>
              <a:t>软件结构设计</a:t>
            </a:r>
            <a:endParaRPr lang="en-US" altLang="zh-CN" dirty="0">
              <a:sym typeface="+mn-ea"/>
            </a:endParaRPr>
          </a:p>
        </p:txBody>
      </p:sp>
      <p:sp>
        <p:nvSpPr>
          <p:cNvPr id="7" name="文本框 6"/>
          <p:cNvSpPr txBox="1"/>
          <p:nvPr/>
        </p:nvSpPr>
        <p:spPr>
          <a:xfrm>
            <a:off x="754380" y="2611120"/>
            <a:ext cx="476250" cy="1988185"/>
          </a:xfrm>
          <a:prstGeom prst="rect">
            <a:avLst/>
          </a:prstGeom>
          <a:noFill/>
        </p:spPr>
        <p:txBody>
          <a:bodyPr vert="eaVert" wrap="none" rtlCol="0">
            <a:spAutoFit/>
          </a:bodyPr>
          <a:lstStyle/>
          <a:p>
            <a:pPr algn="l"/>
            <a:r>
              <a:rPr lang="en-US" altLang="zh-CN" spc="160" dirty="0">
                <a:solidFill>
                  <a:schemeClr val="bg1"/>
                </a:solidFill>
                <a:latin typeface="微软雅黑" panose="020B0503020204020204" charset="-122"/>
                <a:ea typeface="微软雅黑" panose="020B0503020204020204" charset="-122"/>
              </a:rPr>
              <a:t>1</a:t>
            </a:r>
            <a:r>
              <a:rPr lang="zh-CN" altLang="en-US" spc="160" dirty="0">
                <a:solidFill>
                  <a:schemeClr val="bg1"/>
                </a:solidFill>
                <a:latin typeface="微软雅黑" panose="020B0503020204020204" charset="-122"/>
                <a:ea typeface="微软雅黑" panose="020B0503020204020204" charset="-122"/>
              </a:rPr>
              <a:t>）确定设计方案</a:t>
            </a:r>
            <a:endParaRPr lang="en-US" altLang="zh-CN" spc="160" dirty="0">
              <a:solidFill>
                <a:schemeClr val="bg1"/>
              </a:solidFill>
              <a:latin typeface="微软雅黑" panose="020B0503020204020204" charset="-122"/>
              <a:ea typeface="微软雅黑" panose="020B0503020204020204" charset="-122"/>
            </a:endParaRPr>
          </a:p>
        </p:txBody>
      </p:sp>
      <p:sp>
        <p:nvSpPr>
          <p:cNvPr id="29" name="TextBox 6"/>
          <p:cNvSpPr txBox="1"/>
          <p:nvPr/>
        </p:nvSpPr>
        <p:spPr>
          <a:xfrm>
            <a:off x="809625" y="1403350"/>
            <a:ext cx="905002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3.2.4 </a:t>
            </a:r>
            <a:r>
              <a:rPr lang="zh-CN" altLang="en-US" sz="2400" dirty="0">
                <a:solidFill>
                  <a:schemeClr val="tx1"/>
                </a:solidFill>
              </a:rPr>
              <a:t>模块设计启发规则</a:t>
            </a:r>
            <a:endParaRPr lang="zh-CN" sz="2400" dirty="0">
              <a:solidFill>
                <a:schemeClr val="tx1"/>
              </a:solidFill>
            </a:endParaRPr>
          </a:p>
        </p:txBody>
      </p:sp>
      <p:grpSp>
        <p:nvGrpSpPr>
          <p:cNvPr id="2" name="组合 1"/>
          <p:cNvGrpSpPr/>
          <p:nvPr/>
        </p:nvGrpSpPr>
        <p:grpSpPr>
          <a:xfrm>
            <a:off x="719455" y="2873812"/>
            <a:ext cx="11044555" cy="3090545"/>
            <a:chOff x="924" y="3655"/>
            <a:chExt cx="17393" cy="4867"/>
          </a:xfrm>
        </p:grpSpPr>
        <p:sp>
          <p:nvSpPr>
            <p:cNvPr id="43" name="矩形 42"/>
            <p:cNvSpPr/>
            <p:nvPr/>
          </p:nvSpPr>
          <p:spPr>
            <a:xfrm>
              <a:off x="979" y="3699"/>
              <a:ext cx="17219" cy="4823"/>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52" name="图片 51"/>
            <p:cNvPicPr>
              <a:picLocks noChangeAspect="1"/>
            </p:cNvPicPr>
            <p:nvPr/>
          </p:nvPicPr>
          <p:blipFill>
            <a:blip r:embed="rId3" cstate="print">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924" y="3655"/>
              <a:ext cx="2290" cy="2277"/>
            </a:xfrm>
            <a:prstGeom prst="rect">
              <a:avLst/>
            </a:prstGeom>
          </p:spPr>
        </p:pic>
        <p:sp>
          <p:nvSpPr>
            <p:cNvPr id="45" name="Text Box 44"/>
            <p:cNvSpPr txBox="1">
              <a:spLocks noChangeArrowheads="1"/>
            </p:cNvSpPr>
            <p:nvPr/>
          </p:nvSpPr>
          <p:spPr bwMode="auto">
            <a:xfrm>
              <a:off x="1376" y="4520"/>
              <a:ext cx="16941" cy="3756"/>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en-US" altLang="zh-CN" b="1" dirty="0">
                  <a:solidFill>
                    <a:srgbClr val="00B050"/>
                  </a:solidFill>
                </a:rPr>
                <a:t>      </a:t>
              </a:r>
              <a:r>
                <a:rPr dirty="0"/>
                <a:t>模块的深度是指软件结构中模块的层数。如果层数过多，则应考虑是否有某些模块过于简单，应予以适当合并。</a:t>
              </a:r>
            </a:p>
            <a:p>
              <a:pPr indent="0"/>
              <a:r>
                <a:rPr dirty="0"/>
                <a:t>      模块的宽度是指软件结构内同一层次上的模块数的最大值。一般来说，宽度越大，系统结构越复杂。</a:t>
              </a:r>
            </a:p>
            <a:p>
              <a:pPr indent="0"/>
              <a:r>
                <a:rPr dirty="0"/>
                <a:t>      </a:t>
              </a:r>
              <a:r>
                <a:rPr dirty="0">
                  <a:solidFill>
                    <a:srgbClr val="0070C0"/>
                  </a:solidFill>
                </a:rPr>
                <a:t>模块扇出</a:t>
              </a:r>
              <a:r>
                <a:rPr dirty="0"/>
                <a:t>是指一个模块所调用的模块数。扇出太大意味着模块过于复杂，所控制的下级模块太多。扇出  过小也不好，有时可把下级模块合并到上级模块中去。</a:t>
              </a:r>
            </a:p>
            <a:p>
              <a:pPr indent="0"/>
              <a:r>
                <a:rPr dirty="0"/>
                <a:t>      </a:t>
              </a:r>
              <a:r>
                <a:rPr dirty="0">
                  <a:solidFill>
                    <a:srgbClr val="0070C0"/>
                  </a:solidFill>
                </a:rPr>
                <a:t>模块扇入</a:t>
              </a:r>
              <a:r>
                <a:rPr dirty="0"/>
                <a:t>是指有多少上级模块调用它。扇入大，说明上级模块共享该模块的数目多，这是有好处的，但不要违背模块独立原理而单纯追求高扇入。</a:t>
              </a:r>
            </a:p>
            <a:p>
              <a:pPr indent="0"/>
              <a:r>
                <a:rPr dirty="0"/>
                <a:t>      设计得很好的软件结构通常顶层扇出比较大，中间扇出较小，下层调用公共模块。</a:t>
              </a:r>
            </a:p>
          </p:txBody>
        </p:sp>
        <p:sp>
          <p:nvSpPr>
            <p:cNvPr id="4" name="TextBox 6"/>
            <p:cNvSpPr txBox="1"/>
            <p:nvPr/>
          </p:nvSpPr>
          <p:spPr>
            <a:xfrm rot="18836568">
              <a:off x="1519" y="4303"/>
              <a:ext cx="291" cy="582"/>
            </a:xfrm>
            <a:prstGeom prst="rect">
              <a:avLst/>
            </a:prstGeom>
            <a:noFill/>
          </p:spPr>
          <p:txBody>
            <a:bodyPr wrap="none" rtlCol="0">
              <a:spAutoFit/>
            </a:bodyPr>
            <a:lstStyle/>
            <a:p>
              <a:pPr algn="l"/>
              <a:endParaRPr lang="zh-CN" altLang="en-US" b="1" dirty="0">
                <a:solidFill>
                  <a:schemeClr val="bg1"/>
                </a:solidFill>
                <a:latin typeface="微软雅黑" panose="020B0503020204020204" charset="-122"/>
                <a:ea typeface="微软雅黑" panose="020B0503020204020204" charset="-122"/>
              </a:endParaRPr>
            </a:p>
          </p:txBody>
        </p:sp>
      </p:grpSp>
      <p:grpSp>
        <p:nvGrpSpPr>
          <p:cNvPr id="11" name="组合 6"/>
          <p:cNvGrpSpPr/>
          <p:nvPr/>
        </p:nvGrpSpPr>
        <p:grpSpPr>
          <a:xfrm>
            <a:off x="809625" y="2145646"/>
            <a:ext cx="7024189" cy="590550"/>
            <a:chOff x="508000" y="3196191"/>
            <a:chExt cx="7024120" cy="590550"/>
          </a:xfrm>
        </p:grpSpPr>
        <p:sp>
          <p:nvSpPr>
            <p:cNvPr id="12" name="TextBox 1"/>
            <p:cNvSpPr txBox="1">
              <a:spLocks noChangeArrowheads="1"/>
            </p:cNvSpPr>
            <p:nvPr/>
          </p:nvSpPr>
          <p:spPr bwMode="auto">
            <a:xfrm>
              <a:off x="508000" y="3196191"/>
              <a:ext cx="3754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4</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13" name="直接连接符 12"/>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4" name="矩形 13"/>
            <p:cNvSpPr>
              <a:spLocks noChangeArrowheads="1"/>
            </p:cNvSpPr>
            <p:nvPr/>
          </p:nvSpPr>
          <p:spPr bwMode="auto">
            <a:xfrm>
              <a:off x="960436" y="3291441"/>
              <a:ext cx="65716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模块的深度、宽度、扇出和扇入要适当</a:t>
              </a:r>
            </a:p>
          </p:txBody>
        </p:sp>
      </p:grpSp>
    </p:spTree>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latin typeface="Times New Roman" panose="02020603050405020304" pitchFamily="18" charset="0"/>
            </a:endParaRPr>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3</a:t>
              </a:r>
            </a:p>
          </p:txBody>
        </p:sp>
      </p:grpSp>
      <p:sp>
        <p:nvSpPr>
          <p:cNvPr id="40" name="文本框 39"/>
          <p:cNvSpPr txBox="1"/>
          <p:nvPr/>
        </p:nvSpPr>
        <p:spPr>
          <a:xfrm>
            <a:off x="6006555" y="2626178"/>
            <a:ext cx="5137150" cy="160591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软件结构设计的</a:t>
            </a: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图形工具</a:t>
            </a:r>
          </a:p>
        </p:txBody>
      </p:sp>
      <p:grpSp>
        <p:nvGrpSpPr>
          <p:cNvPr id="11" name="组合 10"/>
          <p:cNvGrpSpPr/>
          <p:nvPr/>
        </p:nvGrpSpPr>
        <p:grpSpPr>
          <a:xfrm>
            <a:off x="6006465" y="4531995"/>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层次图和</a:t>
              </a: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HIPO</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图</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结构图</a:t>
              </a:r>
            </a:p>
          </p:txBody>
        </p:sp>
      </p:grpSp>
    </p:spTree>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3 </a:t>
            </a:r>
            <a:r>
              <a:rPr lang="zh-CN">
                <a:sym typeface="+mn-ea"/>
              </a:rPr>
              <a:t>软件结构设计的图形工具</a:t>
            </a:r>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图形工具</a:t>
            </a:r>
          </a:p>
        </p:txBody>
      </p:sp>
      <p:sp>
        <p:nvSpPr>
          <p:cNvPr id="4" name="文本框 3"/>
          <p:cNvSpPr txBox="1"/>
          <p:nvPr/>
        </p:nvSpPr>
        <p:spPr>
          <a:xfrm>
            <a:off x="753984" y="2551160"/>
            <a:ext cx="461665" cy="2713243"/>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3.3.1 </a:t>
            </a:r>
            <a:r>
              <a:rPr lang="zh-CN" altLang="en-US" spc="160" dirty="0">
                <a:solidFill>
                  <a:schemeClr val="bg1"/>
                </a:solidFill>
                <a:latin typeface="微软雅黑" panose="020B0503020204020204" charset="-122"/>
                <a:ea typeface="微软雅黑" panose="020B0503020204020204" charset="-122"/>
              </a:rPr>
              <a:t>层次图和</a:t>
            </a:r>
            <a:r>
              <a:rPr lang="en-US" altLang="zh-CN" spc="160" dirty="0">
                <a:solidFill>
                  <a:schemeClr val="bg1"/>
                </a:solidFill>
                <a:latin typeface="微软雅黑" panose="020B0503020204020204" charset="-122"/>
                <a:ea typeface="微软雅黑" panose="020B0503020204020204" charset="-122"/>
              </a:rPr>
              <a:t>HIPO</a:t>
            </a:r>
            <a:r>
              <a:rPr lang="zh-CN" altLang="en-US" spc="160" dirty="0">
                <a:solidFill>
                  <a:schemeClr val="bg1"/>
                </a:solidFill>
                <a:latin typeface="微软雅黑" panose="020B0503020204020204" charset="-122"/>
                <a:ea typeface="微软雅黑" panose="020B0503020204020204" charset="-122"/>
              </a:rPr>
              <a:t>图</a:t>
            </a:r>
          </a:p>
        </p:txBody>
      </p:sp>
      <p:sp>
        <p:nvSpPr>
          <p:cNvPr id="100" name="文本框 99"/>
          <p:cNvSpPr txBox="1"/>
          <p:nvPr/>
        </p:nvSpPr>
        <p:spPr>
          <a:xfrm>
            <a:off x="1437297" y="2343711"/>
            <a:ext cx="9955227" cy="2446824"/>
          </a:xfrm>
          <a:prstGeom prst="rect">
            <a:avLst/>
          </a:prstGeom>
          <a:noFill/>
          <a:ln w="9525">
            <a:noFill/>
          </a:ln>
        </p:spPr>
        <p:txBody>
          <a:bodyPr wrap="square">
            <a:spAutoFit/>
          </a:bodyPr>
          <a:lstStyle/>
          <a:p>
            <a:pPr marL="0" indent="0" algn="l" fontAlgn="auto">
              <a:lnSpc>
                <a:spcPct val="130000"/>
              </a:lnSpc>
            </a:pPr>
            <a:r>
              <a:rPr lang="en-US" altLang="zh-CN" b="0" u="none" dirty="0">
                <a:latin typeface="宋体" panose="02010600030101010101" pitchFamily="2" charset="-122"/>
                <a:ea typeface="宋体" panose="02010600030101010101" pitchFamily="2" charset="-122"/>
                <a:cs typeface="宋体" panose="02010600030101010101" pitchFamily="2" charset="-122"/>
              </a:rPr>
              <a:t>    </a:t>
            </a:r>
            <a:r>
              <a:rPr lang="zh-CN" altLang="en-US" b="0" u="none" dirty="0">
                <a:solidFill>
                  <a:srgbClr val="C00000"/>
                </a:solidFill>
                <a:latin typeface="宋体" panose="02010600030101010101" pitchFamily="2" charset="-122"/>
                <a:ea typeface="宋体" panose="02010600030101010101" pitchFamily="2" charset="-122"/>
                <a:cs typeface="宋体" panose="02010600030101010101" pitchFamily="2" charset="-122"/>
              </a:rPr>
              <a:t>层次图适合于描绘软件的层次结构，特别适合于在自顶向下设计时使用。</a:t>
            </a:r>
            <a:r>
              <a:rPr lang="zh-CN" altLang="en-US" b="0" u="none" dirty="0">
                <a:latin typeface="宋体" panose="02010600030101010101" pitchFamily="2" charset="-122"/>
                <a:ea typeface="宋体" panose="02010600030101010101" pitchFamily="2" charset="-122"/>
                <a:cs typeface="宋体" panose="02010600030101010101" pitchFamily="2" charset="-122"/>
              </a:rPr>
              <a:t>在层次图（H图）里，一个矩形框代表一个模块，方框间的连线表示调用关系。</a:t>
            </a:r>
          </a:p>
          <a:p>
            <a:pPr marL="0" indent="0" algn="l" fontAlgn="auto">
              <a:lnSpc>
                <a:spcPct val="130000"/>
              </a:lnSpc>
            </a:pPr>
            <a:r>
              <a:rPr lang="zh-CN" altLang="en-US" b="0" u="none" dirty="0">
                <a:latin typeface="宋体" panose="02010600030101010101" pitchFamily="2" charset="-122"/>
                <a:ea typeface="宋体" panose="02010600030101010101" pitchFamily="2" charset="-122"/>
                <a:cs typeface="宋体" panose="02010600030101010101" pitchFamily="2" charset="-122"/>
              </a:rPr>
              <a:t>    在层次图里，如果除最顶层的方框之外，每个方框里都加了编号，则称这种带编号的层次图为HIPO（Hierarchy plus Input-Process-Output，层次图加输入/处理/输出）图。编号的规则是：每个处理的下层处理的编号在其上层编号后加“.”号及序号，序号可用数字或英文字母表示。</a:t>
            </a:r>
          </a:p>
          <a:p>
            <a:pPr marL="0" indent="0" algn="l" fontAlgn="auto"/>
            <a:endParaRPr lang="zh-CN" altLang="en-US" b="0" u="none" dirty="0">
              <a:latin typeface="宋体" panose="02010600030101010101" pitchFamily="2" charset="-122"/>
              <a:ea typeface="宋体" panose="02010600030101010101" pitchFamily="2" charset="-122"/>
              <a:cs typeface="宋体" panose="02010600030101010101" pitchFamily="2" charset="-122"/>
            </a:endParaRPr>
          </a:p>
          <a:p>
            <a:pPr marL="0" indent="0" algn="l" fontAlgn="auto"/>
            <a:endParaRPr lang="zh-CN" altLang="en-US" b="0" u="none" dirty="0">
              <a:latin typeface="宋体" panose="02010600030101010101" pitchFamily="2" charset="-122"/>
              <a:ea typeface="宋体" panose="02010600030101010101" pitchFamily="2" charset="-122"/>
              <a:cs typeface="宋体" panose="02010600030101010101" pitchFamily="2" charset="-122"/>
            </a:endParaRPr>
          </a:p>
        </p:txBody>
      </p:sp>
      <p:sp>
        <p:nvSpPr>
          <p:cNvPr id="6" name="文本框 5"/>
          <p:cNvSpPr txBox="1"/>
          <p:nvPr/>
        </p:nvSpPr>
        <p:spPr>
          <a:xfrm>
            <a:off x="1377336" y="4100070"/>
            <a:ext cx="10344972" cy="1532727"/>
          </a:xfrm>
          <a:prstGeom prst="rect">
            <a:avLst/>
          </a:prstGeom>
          <a:noFill/>
        </p:spPr>
        <p:txBody>
          <a:bodyPr wrap="square" rtlCol="0">
            <a:spAutoFit/>
          </a:bodyPr>
          <a:lstStyle/>
          <a:p>
            <a:pPr>
              <a:lnSpc>
                <a:spcPct val="130000"/>
              </a:lnSpc>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dirty="0">
                <a:solidFill>
                  <a:srgbClr val="C00000"/>
                </a:solidFill>
                <a:latin typeface="宋体" panose="02010600030101010101" pitchFamily="2" charset="-122"/>
                <a:ea typeface="宋体" panose="02010600030101010101" pitchFamily="2" charset="-122"/>
                <a:cs typeface="宋体" panose="02010600030101010101" pitchFamily="2" charset="-122"/>
                <a:sym typeface="+mn-ea"/>
              </a:rPr>
              <a:t>在系统设计时，一般最上层的模块含有退出、输入、处理、输出、查询和系统维护模块。根据系统的具体要求，下层再将功能进一步细化</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例如，查询可以用多种方式、按不同的条件进行。数据库里存放的数据可以进行插入、修改、删除、排序等；系统的状态或数据可以进行初始化；处理的过程可以逐步详细描述等。一般将类似的功能放在一个模块中，不同类型的功能放在不同的模块中。</a:t>
            </a:r>
            <a:endParaRPr lang="zh-CN" altLang="en-US" dirty="0"/>
          </a:p>
        </p:txBody>
      </p:sp>
    </p:spTree>
  </p:cSld>
  <p:clrMapOvr>
    <a:masterClrMapping/>
  </p:clrMapOvr>
  <p:transition>
    <p:wipe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3 </a:t>
            </a:r>
            <a:r>
              <a:rPr lang="zh-CN">
                <a:sym typeface="+mn-ea"/>
              </a:rPr>
              <a:t>软件结构设计的图形工具</a:t>
            </a:r>
            <a:endParaRPr lang="zh-CN" altLang="en-US"/>
          </a:p>
        </p:txBody>
      </p:sp>
      <p:grpSp>
        <p:nvGrpSpPr>
          <p:cNvPr id="2" name="组合 1"/>
          <p:cNvGrpSpPr/>
          <p:nvPr/>
        </p:nvGrpSpPr>
        <p:grpSpPr>
          <a:xfrm>
            <a:off x="809625" y="1403350"/>
            <a:ext cx="10575290" cy="3931920"/>
            <a:chOff x="1275" y="2210"/>
            <a:chExt cx="16654" cy="6192"/>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500" y="3150"/>
              <a:ext cx="16429" cy="5252"/>
              <a:chOff x="1500" y="3150"/>
              <a:chExt cx="16429" cy="5252"/>
            </a:xfrm>
          </p:grpSpPr>
          <p:sp>
            <p:nvSpPr>
              <p:cNvPr id="22" name="TextBox 21"/>
              <p:cNvSpPr txBox="1"/>
              <p:nvPr/>
            </p:nvSpPr>
            <p:spPr>
              <a:xfrm>
                <a:off x="3431" y="3419"/>
                <a:ext cx="13522" cy="624"/>
              </a:xfrm>
              <a:prstGeom prst="rect">
                <a:avLst/>
              </a:prstGeom>
              <a:noFill/>
            </p:spPr>
            <p:txBody>
              <a:bodyPr wrap="square">
                <a:spAutoFit/>
              </a:bodyPr>
              <a:lstStyle/>
              <a:p>
                <a:r>
                  <a:rPr sz="2000" dirty="0">
                    <a:sym typeface="+mn-ea"/>
                  </a:rPr>
                  <a:t>画出例2-1医疗费管理系统的HIPO图。</a:t>
                </a:r>
              </a:p>
            </p:txBody>
          </p:sp>
          <p:sp>
            <p:nvSpPr>
              <p:cNvPr id="24" name="矩形 23"/>
              <p:cNvSpPr>
                <a:spLocks noChangeAspect="1"/>
              </p:cNvSpPr>
              <p:nvPr/>
            </p:nvSpPr>
            <p:spPr>
              <a:xfrm>
                <a:off x="1500" y="4725"/>
                <a:ext cx="16429" cy="3677"/>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2"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3-1</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5052"/>
                <a:ext cx="15536" cy="3024"/>
              </a:xfrm>
              <a:prstGeom prst="rect">
                <a:avLst/>
              </a:prstGeom>
              <a:solidFill>
                <a:schemeClr val="bg1">
                  <a:lumMod val="95000"/>
                </a:schemeClr>
              </a:solidFill>
            </p:spPr>
            <p:txBody>
              <a:bodyPr wrap="square">
                <a:spAutoFit/>
              </a:bodyPr>
              <a:lstStyle/>
              <a:p>
                <a:pPr fontAlgn="auto">
                  <a:lnSpc>
                    <a:spcPct val="120000"/>
                  </a:lnSpc>
                </a:pPr>
                <a:r>
                  <a:rPr lang="en-US" sz="2000" dirty="0">
                    <a:latin typeface="Times New Roman" panose="02020603050405020304" charset="0"/>
                    <a:ea typeface="宋体" panose="02010600030101010101" pitchFamily="2" charset="-122"/>
                  </a:rPr>
                  <a:t>        </a:t>
                </a:r>
                <a:r>
                  <a:rPr sz="2000" dirty="0">
                    <a:latin typeface="Times New Roman" panose="02020603050405020304" charset="0"/>
                    <a:ea typeface="宋体" panose="02010600030101010101" pitchFamily="2" charset="-122"/>
                  </a:rPr>
                  <a:t>该系统共有4个主要模块：数据输入、统计、查询打印、系统维护。其中，数据输入（1.0）分为报销（1.A）、结算（1.B）、累加（1.C）3个子模块；统计（2.0）有5个功能；查询打印（3.0）可以从7种内容中选择一种；系统维护（4.0）分为改医疗费限额（4.A）、初始化（4.B）、人员调动（4.C）3个功能。此外，主菜单还应该有“退出”系统的功能。</a:t>
                </a:r>
              </a:p>
            </p:txBody>
          </p:sp>
        </p:grpSp>
      </p:grpSp>
    </p:spTree>
  </p:cSld>
  <p:clrMapOvr>
    <a:masterClrMapping/>
  </p:clrMapOvr>
  <p:transition>
    <p:wipe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3 </a:t>
            </a:r>
            <a:r>
              <a:rPr lang="zh-CN">
                <a:sym typeface="+mn-ea"/>
              </a:rPr>
              <a:t>软件结构设计的图形工具</a:t>
            </a:r>
            <a:endParaRPr lang="zh-CN" altLang="en-US"/>
          </a:p>
        </p:txBody>
      </p:sp>
      <p:grpSp>
        <p:nvGrpSpPr>
          <p:cNvPr id="2" name="组合 1"/>
          <p:cNvGrpSpPr/>
          <p:nvPr/>
        </p:nvGrpSpPr>
        <p:grpSpPr>
          <a:xfrm>
            <a:off x="737235" y="1419225"/>
            <a:ext cx="10575290" cy="4969510"/>
            <a:chOff x="1275" y="2210"/>
            <a:chExt cx="16654" cy="7826"/>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500" y="3150"/>
              <a:ext cx="16429" cy="6886"/>
              <a:chOff x="1500" y="3150"/>
              <a:chExt cx="16429" cy="6886"/>
            </a:xfrm>
          </p:grpSpPr>
          <p:sp>
            <p:nvSpPr>
              <p:cNvPr id="22" name="TextBox 21"/>
              <p:cNvSpPr txBox="1"/>
              <p:nvPr/>
            </p:nvSpPr>
            <p:spPr>
              <a:xfrm>
                <a:off x="3431" y="3419"/>
                <a:ext cx="13522" cy="624"/>
              </a:xfrm>
              <a:prstGeom prst="rect">
                <a:avLst/>
              </a:prstGeom>
              <a:noFill/>
            </p:spPr>
            <p:txBody>
              <a:bodyPr wrap="square">
                <a:spAutoFit/>
              </a:bodyPr>
              <a:lstStyle/>
              <a:p>
                <a:r>
                  <a:rPr sz="2000" dirty="0">
                    <a:sym typeface="+mn-ea"/>
                  </a:rPr>
                  <a:t>画出例2-1医疗费管理系统的HIPO图。</a:t>
                </a:r>
              </a:p>
            </p:txBody>
          </p:sp>
          <p:sp>
            <p:nvSpPr>
              <p:cNvPr id="24" name="矩形 23"/>
              <p:cNvSpPr>
                <a:spLocks noChangeAspect="1"/>
              </p:cNvSpPr>
              <p:nvPr/>
            </p:nvSpPr>
            <p:spPr>
              <a:xfrm>
                <a:off x="1500" y="4275"/>
                <a:ext cx="16429" cy="5761"/>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8"/>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4"/>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3-1</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33"/>
                <a:ext cx="15536" cy="5328"/>
              </a:xfrm>
              <a:prstGeom prst="rect">
                <a:avLst/>
              </a:prstGeom>
              <a:solidFill>
                <a:schemeClr val="bg1">
                  <a:lumMod val="95000"/>
                </a:schemeClr>
              </a:solidFill>
            </p:spPr>
            <p:txBody>
              <a:bodyPr wrap="square">
                <a:spAutoFit/>
              </a:bodyPr>
              <a:lstStyle/>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p:txBody>
          </p:sp>
        </p:grpSp>
      </p:grpSp>
      <p:sp>
        <p:nvSpPr>
          <p:cNvPr id="286769" name="Rectangle 49"/>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86721" name="Group 1"/>
          <p:cNvGrpSpPr>
            <a:grpSpLocks/>
          </p:cNvGrpSpPr>
          <p:nvPr/>
        </p:nvGrpSpPr>
        <p:grpSpPr bwMode="auto">
          <a:xfrm>
            <a:off x="1573965" y="2923081"/>
            <a:ext cx="9084039" cy="3282848"/>
            <a:chOff x="1286" y="4450"/>
            <a:chExt cx="8102" cy="3884"/>
          </a:xfrm>
        </p:grpSpPr>
        <p:sp>
          <p:nvSpPr>
            <p:cNvPr id="286768" name="Line 48"/>
            <p:cNvSpPr>
              <a:spLocks noChangeShapeType="1"/>
            </p:cNvSpPr>
            <p:nvPr/>
          </p:nvSpPr>
          <p:spPr bwMode="auto">
            <a:xfrm>
              <a:off x="5942" y="5168"/>
              <a:ext cx="0" cy="39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6767" name="Line 47"/>
            <p:cNvSpPr>
              <a:spLocks noChangeShapeType="1"/>
            </p:cNvSpPr>
            <p:nvPr/>
          </p:nvSpPr>
          <p:spPr bwMode="auto">
            <a:xfrm>
              <a:off x="8008" y="5159"/>
              <a:ext cx="0" cy="39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6766" name="Line 46"/>
            <p:cNvSpPr>
              <a:spLocks noChangeShapeType="1"/>
            </p:cNvSpPr>
            <p:nvPr/>
          </p:nvSpPr>
          <p:spPr bwMode="auto">
            <a:xfrm>
              <a:off x="5438" y="4771"/>
              <a:ext cx="0" cy="38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6765" name="Line 45"/>
            <p:cNvSpPr>
              <a:spLocks noChangeShapeType="1"/>
            </p:cNvSpPr>
            <p:nvPr/>
          </p:nvSpPr>
          <p:spPr bwMode="auto">
            <a:xfrm>
              <a:off x="3490" y="5159"/>
              <a:ext cx="0" cy="39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6764" name="Freeform 44"/>
            <p:cNvSpPr>
              <a:spLocks/>
            </p:cNvSpPr>
            <p:nvPr/>
          </p:nvSpPr>
          <p:spPr bwMode="auto">
            <a:xfrm>
              <a:off x="1848" y="5158"/>
              <a:ext cx="7178" cy="450"/>
            </a:xfrm>
            <a:custGeom>
              <a:avLst/>
              <a:gdLst/>
              <a:ahLst/>
              <a:cxnLst>
                <a:cxn ang="0">
                  <a:pos x="0" y="450"/>
                </a:cxn>
                <a:cxn ang="0">
                  <a:pos x="0" y="0"/>
                </a:cxn>
                <a:cxn ang="0">
                  <a:pos x="7230" y="0"/>
                </a:cxn>
                <a:cxn ang="0">
                  <a:pos x="7230" y="450"/>
                </a:cxn>
              </a:cxnLst>
              <a:rect l="0" t="0" r="r" b="b"/>
              <a:pathLst>
                <a:path w="7230" h="450">
                  <a:moveTo>
                    <a:pt x="0" y="450"/>
                  </a:moveTo>
                  <a:lnTo>
                    <a:pt x="0" y="0"/>
                  </a:lnTo>
                  <a:lnTo>
                    <a:pt x="7230" y="0"/>
                  </a:lnTo>
                  <a:lnTo>
                    <a:pt x="7230" y="450"/>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6763" name="AutoShape 43"/>
            <p:cNvSpPr>
              <a:spLocks noChangeArrowheads="1"/>
            </p:cNvSpPr>
            <p:nvPr/>
          </p:nvSpPr>
          <p:spPr bwMode="auto">
            <a:xfrm>
              <a:off x="8663" y="5548"/>
              <a:ext cx="725" cy="340"/>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退出</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5.0</a:t>
              </a:r>
              <a:endParaRPr kumimoji="0" lang="en-US"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nvGrpSpPr>
            <p:cNvPr id="286756" name="Group 36"/>
            <p:cNvGrpSpPr>
              <a:grpSpLocks/>
            </p:cNvGrpSpPr>
            <p:nvPr/>
          </p:nvGrpSpPr>
          <p:grpSpPr bwMode="auto">
            <a:xfrm>
              <a:off x="1286" y="5548"/>
              <a:ext cx="1115" cy="1834"/>
              <a:chOff x="1286" y="5548"/>
              <a:chExt cx="1115" cy="1834"/>
            </a:xfrm>
          </p:grpSpPr>
          <p:sp>
            <p:nvSpPr>
              <p:cNvPr id="286762" name="AutoShape 42"/>
              <p:cNvSpPr>
                <a:spLocks noChangeShapeType="1"/>
              </p:cNvSpPr>
              <p:nvPr/>
            </p:nvSpPr>
            <p:spPr bwMode="auto">
              <a:xfrm>
                <a:off x="1848" y="5838"/>
                <a:ext cx="0" cy="73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6761" name="AutoShape 41"/>
              <p:cNvSpPr>
                <a:spLocks noChangeArrowheads="1"/>
              </p:cNvSpPr>
              <p:nvPr/>
            </p:nvSpPr>
            <p:spPr bwMode="auto">
              <a:xfrm>
                <a:off x="1286" y="5548"/>
                <a:ext cx="1115" cy="340"/>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数据输入</a:t>
                </a:r>
                <a:r>
                  <a:rPr kumimoji="0"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1.0</a:t>
                </a:r>
                <a:endParaRPr kumimoji="0" lang="en-US"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286760" name="Freeform 40"/>
              <p:cNvSpPr>
                <a:spLocks/>
              </p:cNvSpPr>
              <p:nvPr/>
            </p:nvSpPr>
            <p:spPr bwMode="auto">
              <a:xfrm>
                <a:off x="1463" y="6318"/>
                <a:ext cx="771" cy="255"/>
              </a:xfrm>
              <a:custGeom>
                <a:avLst/>
                <a:gdLst/>
                <a:ahLst/>
                <a:cxnLst>
                  <a:cxn ang="0">
                    <a:pos x="0" y="358"/>
                  </a:cxn>
                  <a:cxn ang="0">
                    <a:pos x="0" y="0"/>
                  </a:cxn>
                  <a:cxn ang="0">
                    <a:pos x="818" y="0"/>
                  </a:cxn>
                  <a:cxn ang="0">
                    <a:pos x="818" y="358"/>
                  </a:cxn>
                </a:cxnLst>
                <a:rect l="0" t="0" r="r" b="b"/>
                <a:pathLst>
                  <a:path w="818" h="358">
                    <a:moveTo>
                      <a:pt x="0" y="358"/>
                    </a:moveTo>
                    <a:lnTo>
                      <a:pt x="0" y="0"/>
                    </a:lnTo>
                    <a:lnTo>
                      <a:pt x="818" y="0"/>
                    </a:lnTo>
                    <a:lnTo>
                      <a:pt x="818" y="358"/>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6759" name="AutoShape 39"/>
              <p:cNvSpPr>
                <a:spLocks noChangeArrowheads="1"/>
              </p:cNvSpPr>
              <p:nvPr/>
            </p:nvSpPr>
            <p:spPr bwMode="auto">
              <a:xfrm>
                <a:off x="1287" y="6568"/>
                <a:ext cx="340" cy="814"/>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报销</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a:t>
                </a:r>
                <a:endParaRPr kumimoji="0" lang="en-US"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6758" name="AutoShape 38"/>
              <p:cNvSpPr>
                <a:spLocks noChangeArrowheads="1"/>
              </p:cNvSpPr>
              <p:nvPr/>
            </p:nvSpPr>
            <p:spPr bwMode="auto">
              <a:xfrm>
                <a:off x="1674" y="6568"/>
                <a:ext cx="340" cy="814"/>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结算</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1.B</a:t>
                </a:r>
                <a:endParaRPr kumimoji="0" lang="en-US"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6757" name="AutoShape 37"/>
              <p:cNvSpPr>
                <a:spLocks noChangeArrowheads="1"/>
              </p:cNvSpPr>
              <p:nvPr/>
            </p:nvSpPr>
            <p:spPr bwMode="auto">
              <a:xfrm>
                <a:off x="2061" y="6568"/>
                <a:ext cx="340" cy="814"/>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累加</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1.C</a:t>
                </a:r>
                <a:endParaRPr kumimoji="0" lang="en-US"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grpSp>
          <p:nvGrpSpPr>
            <p:cNvPr id="286745" name="Group 25"/>
            <p:cNvGrpSpPr>
              <a:grpSpLocks/>
            </p:cNvGrpSpPr>
            <p:nvPr/>
          </p:nvGrpSpPr>
          <p:grpSpPr bwMode="auto">
            <a:xfrm>
              <a:off x="2506" y="5548"/>
              <a:ext cx="1960" cy="2579"/>
              <a:chOff x="2506" y="5548"/>
              <a:chExt cx="1960" cy="2579"/>
            </a:xfrm>
          </p:grpSpPr>
          <p:sp>
            <p:nvSpPr>
              <p:cNvPr id="286755" name="AutoShape 35"/>
              <p:cNvSpPr>
                <a:spLocks noChangeShapeType="1"/>
              </p:cNvSpPr>
              <p:nvPr/>
            </p:nvSpPr>
            <p:spPr bwMode="auto">
              <a:xfrm>
                <a:off x="3891" y="6319"/>
                <a:ext cx="0" cy="25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6754" name="AutoShape 34"/>
              <p:cNvSpPr>
                <a:spLocks noChangeShapeType="1"/>
              </p:cNvSpPr>
              <p:nvPr/>
            </p:nvSpPr>
            <p:spPr bwMode="auto">
              <a:xfrm>
                <a:off x="3084" y="6319"/>
                <a:ext cx="0" cy="25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6753" name="Freeform 33"/>
              <p:cNvSpPr>
                <a:spLocks/>
              </p:cNvSpPr>
              <p:nvPr/>
            </p:nvSpPr>
            <p:spPr bwMode="auto">
              <a:xfrm>
                <a:off x="2681" y="6318"/>
                <a:ext cx="1616" cy="255"/>
              </a:xfrm>
              <a:custGeom>
                <a:avLst/>
                <a:gdLst/>
                <a:ahLst/>
                <a:cxnLst>
                  <a:cxn ang="0">
                    <a:pos x="0" y="358"/>
                  </a:cxn>
                  <a:cxn ang="0">
                    <a:pos x="0" y="0"/>
                  </a:cxn>
                  <a:cxn ang="0">
                    <a:pos x="818" y="0"/>
                  </a:cxn>
                  <a:cxn ang="0">
                    <a:pos x="818" y="358"/>
                  </a:cxn>
                </a:cxnLst>
                <a:rect l="0" t="0" r="r" b="b"/>
                <a:pathLst>
                  <a:path w="818" h="358">
                    <a:moveTo>
                      <a:pt x="0" y="358"/>
                    </a:moveTo>
                    <a:lnTo>
                      <a:pt x="0" y="0"/>
                    </a:lnTo>
                    <a:lnTo>
                      <a:pt x="818" y="0"/>
                    </a:lnTo>
                    <a:lnTo>
                      <a:pt x="818" y="358"/>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6752" name="AutoShape 32"/>
              <p:cNvSpPr>
                <a:spLocks noChangeArrowheads="1"/>
              </p:cNvSpPr>
              <p:nvPr/>
            </p:nvSpPr>
            <p:spPr bwMode="auto">
              <a:xfrm>
                <a:off x="2506" y="6568"/>
                <a:ext cx="340" cy="1559"/>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未超支职工</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2.A</a:t>
                </a:r>
                <a:endParaRPr kumimoji="0" lang="en-US"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6751" name="AutoShape 31"/>
              <p:cNvSpPr>
                <a:spLocks noChangeArrowheads="1"/>
              </p:cNvSpPr>
              <p:nvPr/>
            </p:nvSpPr>
            <p:spPr bwMode="auto">
              <a:xfrm>
                <a:off x="3316" y="6568"/>
                <a:ext cx="340" cy="1559"/>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未超支子女</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2.C</a:t>
                </a:r>
                <a:endParaRPr kumimoji="0" lang="en-US"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6750" name="AutoShape 30"/>
              <p:cNvSpPr>
                <a:spLocks noChangeArrowheads="1"/>
              </p:cNvSpPr>
              <p:nvPr/>
            </p:nvSpPr>
            <p:spPr bwMode="auto">
              <a:xfrm>
                <a:off x="3721" y="6568"/>
                <a:ext cx="340" cy="1559"/>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已超支子女</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2.D</a:t>
                </a:r>
                <a:endParaRPr kumimoji="0" lang="en-US"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6749" name="AutoShape 29"/>
              <p:cNvSpPr>
                <a:spLocks noChangeArrowheads="1"/>
              </p:cNvSpPr>
              <p:nvPr/>
            </p:nvSpPr>
            <p:spPr bwMode="auto">
              <a:xfrm>
                <a:off x="4126" y="6568"/>
                <a:ext cx="340" cy="1559"/>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全校总支出</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2.E</a:t>
                </a:r>
                <a:endParaRPr kumimoji="0" lang="en-US"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6748" name="AutoShape 28"/>
              <p:cNvSpPr>
                <a:spLocks noChangeShapeType="1"/>
              </p:cNvSpPr>
              <p:nvPr/>
            </p:nvSpPr>
            <p:spPr bwMode="auto">
              <a:xfrm>
                <a:off x="3489" y="5838"/>
                <a:ext cx="0" cy="73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6747" name="AutoShape 27"/>
              <p:cNvSpPr>
                <a:spLocks noChangeArrowheads="1"/>
              </p:cNvSpPr>
              <p:nvPr/>
            </p:nvSpPr>
            <p:spPr bwMode="auto">
              <a:xfrm>
                <a:off x="3094" y="5548"/>
                <a:ext cx="790" cy="340"/>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统计</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2.0</a:t>
                </a:r>
                <a:endParaRPr kumimoji="0" lang="en-US"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6746" name="AutoShape 26"/>
              <p:cNvSpPr>
                <a:spLocks noChangeArrowheads="1"/>
              </p:cNvSpPr>
              <p:nvPr/>
            </p:nvSpPr>
            <p:spPr bwMode="auto">
              <a:xfrm>
                <a:off x="2911" y="6568"/>
                <a:ext cx="340" cy="1559"/>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已超支职工</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2.B</a:t>
                </a:r>
                <a:endParaRPr kumimoji="0" lang="en-US"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grpSp>
          <p:nvGrpSpPr>
            <p:cNvPr id="286730" name="Group 10"/>
            <p:cNvGrpSpPr>
              <a:grpSpLocks/>
            </p:cNvGrpSpPr>
            <p:nvPr/>
          </p:nvGrpSpPr>
          <p:grpSpPr bwMode="auto">
            <a:xfrm>
              <a:off x="4564" y="5548"/>
              <a:ext cx="2754" cy="2579"/>
              <a:chOff x="4616" y="5548"/>
              <a:chExt cx="2754" cy="2579"/>
            </a:xfrm>
          </p:grpSpPr>
          <p:sp>
            <p:nvSpPr>
              <p:cNvPr id="286744" name="Freeform 24"/>
              <p:cNvSpPr>
                <a:spLocks/>
              </p:cNvSpPr>
              <p:nvPr/>
            </p:nvSpPr>
            <p:spPr bwMode="auto">
              <a:xfrm>
                <a:off x="4791" y="6318"/>
                <a:ext cx="2409" cy="255"/>
              </a:xfrm>
              <a:custGeom>
                <a:avLst/>
                <a:gdLst/>
                <a:ahLst/>
                <a:cxnLst>
                  <a:cxn ang="0">
                    <a:pos x="0" y="358"/>
                  </a:cxn>
                  <a:cxn ang="0">
                    <a:pos x="0" y="0"/>
                  </a:cxn>
                  <a:cxn ang="0">
                    <a:pos x="818" y="0"/>
                  </a:cxn>
                  <a:cxn ang="0">
                    <a:pos x="818" y="358"/>
                  </a:cxn>
                </a:cxnLst>
                <a:rect l="0" t="0" r="r" b="b"/>
                <a:pathLst>
                  <a:path w="818" h="358">
                    <a:moveTo>
                      <a:pt x="0" y="358"/>
                    </a:moveTo>
                    <a:lnTo>
                      <a:pt x="0" y="0"/>
                    </a:lnTo>
                    <a:lnTo>
                      <a:pt x="818" y="0"/>
                    </a:lnTo>
                    <a:lnTo>
                      <a:pt x="818" y="358"/>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6743" name="AutoShape 23"/>
              <p:cNvSpPr>
                <a:spLocks noChangeArrowheads="1"/>
              </p:cNvSpPr>
              <p:nvPr/>
            </p:nvSpPr>
            <p:spPr bwMode="auto">
              <a:xfrm>
                <a:off x="4616" y="6568"/>
                <a:ext cx="340" cy="1559"/>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未超支职工</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3.A</a:t>
                </a:r>
                <a:endParaRPr kumimoji="0" lang="en-US"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6742" name="AutoShape 22"/>
              <p:cNvSpPr>
                <a:spLocks noChangeArrowheads="1"/>
              </p:cNvSpPr>
              <p:nvPr/>
            </p:nvSpPr>
            <p:spPr bwMode="auto">
              <a:xfrm>
                <a:off x="5823" y="6568"/>
                <a:ext cx="340" cy="1559"/>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已超支子女</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3.D</a:t>
                </a:r>
                <a:endParaRPr kumimoji="0" lang="en-US"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6741" name="AutoShape 21"/>
              <p:cNvSpPr>
                <a:spLocks noChangeArrowheads="1"/>
              </p:cNvSpPr>
              <p:nvPr/>
            </p:nvSpPr>
            <p:spPr bwMode="auto">
              <a:xfrm>
                <a:off x="7030" y="6568"/>
                <a:ext cx="340" cy="1559"/>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全校明细账</a:t>
                </a:r>
                <a:r>
                  <a:rPr kumimoji="0"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3.G</a:t>
                </a:r>
                <a:endParaRPr kumimoji="0" lang="en-US"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286740" name="AutoShape 20"/>
              <p:cNvSpPr>
                <a:spLocks noChangeShapeType="1"/>
              </p:cNvSpPr>
              <p:nvPr/>
            </p:nvSpPr>
            <p:spPr bwMode="auto">
              <a:xfrm>
                <a:off x="5192" y="6319"/>
                <a:ext cx="0" cy="25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6739" name="AutoShape 19"/>
              <p:cNvSpPr>
                <a:spLocks noChangeArrowheads="1"/>
              </p:cNvSpPr>
              <p:nvPr/>
            </p:nvSpPr>
            <p:spPr bwMode="auto">
              <a:xfrm>
                <a:off x="5018" y="6568"/>
                <a:ext cx="340" cy="1559"/>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已超支职工</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3.B</a:t>
                </a:r>
                <a:endParaRPr kumimoji="0" lang="en-US"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6738" name="AutoShape 18"/>
              <p:cNvSpPr>
                <a:spLocks noChangeShapeType="1"/>
              </p:cNvSpPr>
              <p:nvPr/>
            </p:nvSpPr>
            <p:spPr bwMode="auto">
              <a:xfrm>
                <a:off x="5594" y="6319"/>
                <a:ext cx="0" cy="25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6737" name="AutoShape 17"/>
              <p:cNvSpPr>
                <a:spLocks noChangeArrowheads="1"/>
              </p:cNvSpPr>
              <p:nvPr/>
            </p:nvSpPr>
            <p:spPr bwMode="auto">
              <a:xfrm>
                <a:off x="5420" y="6568"/>
                <a:ext cx="340" cy="1559"/>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未超支子女</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3.C</a:t>
                </a:r>
                <a:endParaRPr kumimoji="0" lang="en-US"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6736" name="AutoShape 16"/>
              <p:cNvSpPr>
                <a:spLocks noChangeShapeType="1"/>
              </p:cNvSpPr>
              <p:nvPr/>
            </p:nvSpPr>
            <p:spPr bwMode="auto">
              <a:xfrm>
                <a:off x="6395" y="6319"/>
                <a:ext cx="0" cy="25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6735" name="AutoShape 15"/>
              <p:cNvSpPr>
                <a:spLocks noChangeArrowheads="1"/>
              </p:cNvSpPr>
              <p:nvPr/>
            </p:nvSpPr>
            <p:spPr bwMode="auto">
              <a:xfrm>
                <a:off x="6225" y="6568"/>
                <a:ext cx="340" cy="1559"/>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全校总支出</a:t>
                </a:r>
                <a:r>
                  <a:rPr kumimoji="0"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3.E</a:t>
                </a:r>
                <a:endParaRPr kumimoji="0" lang="en-US"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286734" name="AutoShape 14"/>
              <p:cNvSpPr>
                <a:spLocks noChangeShapeType="1"/>
              </p:cNvSpPr>
              <p:nvPr/>
            </p:nvSpPr>
            <p:spPr bwMode="auto">
              <a:xfrm>
                <a:off x="6797" y="6319"/>
                <a:ext cx="0" cy="25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6733" name="AutoShape 13"/>
              <p:cNvSpPr>
                <a:spLocks noChangeArrowheads="1"/>
              </p:cNvSpPr>
              <p:nvPr/>
            </p:nvSpPr>
            <p:spPr bwMode="auto">
              <a:xfrm>
                <a:off x="6627" y="6568"/>
                <a:ext cx="340" cy="1559"/>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个人明细账</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3.F</a:t>
                </a:r>
                <a:endParaRPr kumimoji="0" lang="en-US"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6732" name="AutoShape 12"/>
              <p:cNvSpPr>
                <a:spLocks noChangeShapeType="1"/>
              </p:cNvSpPr>
              <p:nvPr/>
            </p:nvSpPr>
            <p:spPr bwMode="auto">
              <a:xfrm>
                <a:off x="5996" y="5838"/>
                <a:ext cx="0" cy="73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6731" name="AutoShape 11"/>
              <p:cNvSpPr>
                <a:spLocks noChangeArrowheads="1"/>
              </p:cNvSpPr>
              <p:nvPr/>
            </p:nvSpPr>
            <p:spPr bwMode="auto">
              <a:xfrm>
                <a:off x="5431" y="5548"/>
                <a:ext cx="1122" cy="340"/>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查询打印</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3.0</a:t>
                </a:r>
                <a:endParaRPr kumimoji="0" lang="en-US"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grpSp>
          <p:nvGrpSpPr>
            <p:cNvPr id="286723" name="Group 3"/>
            <p:cNvGrpSpPr>
              <a:grpSpLocks/>
            </p:cNvGrpSpPr>
            <p:nvPr/>
          </p:nvGrpSpPr>
          <p:grpSpPr bwMode="auto">
            <a:xfrm>
              <a:off x="7424" y="5548"/>
              <a:ext cx="1167" cy="2786"/>
              <a:chOff x="7544" y="5548"/>
              <a:chExt cx="1167" cy="2786"/>
            </a:xfrm>
          </p:grpSpPr>
          <p:sp>
            <p:nvSpPr>
              <p:cNvPr id="286729" name="Freeform 9"/>
              <p:cNvSpPr>
                <a:spLocks/>
              </p:cNvSpPr>
              <p:nvPr/>
            </p:nvSpPr>
            <p:spPr bwMode="auto">
              <a:xfrm>
                <a:off x="7715" y="6318"/>
                <a:ext cx="822" cy="255"/>
              </a:xfrm>
              <a:custGeom>
                <a:avLst/>
                <a:gdLst/>
                <a:ahLst/>
                <a:cxnLst>
                  <a:cxn ang="0">
                    <a:pos x="0" y="358"/>
                  </a:cxn>
                  <a:cxn ang="0">
                    <a:pos x="0" y="0"/>
                  </a:cxn>
                  <a:cxn ang="0">
                    <a:pos x="818" y="0"/>
                  </a:cxn>
                  <a:cxn ang="0">
                    <a:pos x="818" y="358"/>
                  </a:cxn>
                </a:cxnLst>
                <a:rect l="0" t="0" r="r" b="b"/>
                <a:pathLst>
                  <a:path w="818" h="358">
                    <a:moveTo>
                      <a:pt x="0" y="358"/>
                    </a:moveTo>
                    <a:lnTo>
                      <a:pt x="0" y="0"/>
                    </a:lnTo>
                    <a:lnTo>
                      <a:pt x="818" y="0"/>
                    </a:lnTo>
                    <a:lnTo>
                      <a:pt x="818" y="358"/>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6728" name="AutoShape 8"/>
              <p:cNvSpPr>
                <a:spLocks noChangeShapeType="1"/>
              </p:cNvSpPr>
              <p:nvPr/>
            </p:nvSpPr>
            <p:spPr bwMode="auto">
              <a:xfrm>
                <a:off x="8127" y="5838"/>
                <a:ext cx="0" cy="73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6727" name="AutoShape 7"/>
              <p:cNvSpPr>
                <a:spLocks noChangeArrowheads="1"/>
              </p:cNvSpPr>
              <p:nvPr/>
            </p:nvSpPr>
            <p:spPr bwMode="auto">
              <a:xfrm>
                <a:off x="7544" y="6568"/>
                <a:ext cx="340" cy="1766"/>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改医疗费限额</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a:t>
                </a:r>
                <a:endParaRPr kumimoji="0" lang="en-US"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6726" name="AutoShape 6"/>
              <p:cNvSpPr>
                <a:spLocks noChangeArrowheads="1"/>
              </p:cNvSpPr>
              <p:nvPr/>
            </p:nvSpPr>
            <p:spPr bwMode="auto">
              <a:xfrm>
                <a:off x="8371" y="6568"/>
                <a:ext cx="340" cy="1297"/>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人员调动</a:t>
                </a:r>
                <a:r>
                  <a:rPr kumimoji="0"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4.C</a:t>
                </a:r>
                <a:endParaRPr kumimoji="0" lang="en-US"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286725" name="AutoShape 5"/>
              <p:cNvSpPr>
                <a:spLocks noChangeArrowheads="1"/>
              </p:cNvSpPr>
              <p:nvPr/>
            </p:nvSpPr>
            <p:spPr bwMode="auto">
              <a:xfrm>
                <a:off x="7957" y="6568"/>
                <a:ext cx="340" cy="1053"/>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初始化</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4.B</a:t>
                </a:r>
                <a:endParaRPr kumimoji="0" lang="en-US"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86724" name="AutoShape 4"/>
              <p:cNvSpPr>
                <a:spLocks noChangeArrowheads="1"/>
              </p:cNvSpPr>
              <p:nvPr/>
            </p:nvSpPr>
            <p:spPr bwMode="auto">
              <a:xfrm>
                <a:off x="7565" y="5548"/>
                <a:ext cx="1122" cy="340"/>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系统维护</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4.0</a:t>
                </a:r>
                <a:endParaRPr kumimoji="0" lang="en-US" alt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sp>
          <p:nvSpPr>
            <p:cNvPr id="286722" name="AutoShape 2"/>
            <p:cNvSpPr>
              <a:spLocks noChangeArrowheads="1"/>
            </p:cNvSpPr>
            <p:nvPr/>
          </p:nvSpPr>
          <p:spPr bwMode="auto">
            <a:xfrm>
              <a:off x="4760" y="4450"/>
              <a:ext cx="1355" cy="340"/>
            </a:xfrm>
            <a:prstGeom prst="flowChartProcess">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医疗费管理系统</a:t>
              </a:r>
              <a:endParaRPr kumimoji="0" lang="zh-CN" sz="14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spTree>
  </p:cSld>
  <p:clrMapOvr>
    <a:masterClrMapping/>
  </p:clrMapOvr>
  <p:transition>
    <p:wipe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3 </a:t>
            </a:r>
            <a:r>
              <a:rPr lang="zh-CN">
                <a:sym typeface="+mn-ea"/>
              </a:rPr>
              <a:t>软件结构设计的图形工具</a:t>
            </a:r>
            <a:endParaRPr lang="zh-CN" altLang="en-US">
              <a:sym typeface="+mn-ea"/>
            </a:endParaRPr>
          </a:p>
        </p:txBody>
      </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3.3.2 </a:t>
            </a:r>
            <a:r>
              <a:rPr lang="zh-CN" altLang="en-US" sz="2400" dirty="0">
                <a:solidFill>
                  <a:schemeClr val="tx1"/>
                </a:solidFill>
              </a:rPr>
              <a:t>结构图的符号</a:t>
            </a:r>
          </a:p>
        </p:txBody>
      </p:sp>
      <p:sp>
        <p:nvSpPr>
          <p:cNvPr id="22" name="矩形 21"/>
          <p:cNvSpPr/>
          <p:nvPr/>
        </p:nvSpPr>
        <p:spPr>
          <a:xfrm>
            <a:off x="1000125" y="1969770"/>
            <a:ext cx="10028555" cy="4411345"/>
          </a:xfrm>
          <a:prstGeom prst="rect">
            <a:avLst/>
          </a:prstGeom>
          <a:solidFill>
            <a:sysClr val="window" lastClr="FFFFFF"/>
          </a:solidFill>
          <a:ln w="3175" cap="flat" cmpd="sng" algn="ctr">
            <a:solidFill>
              <a:sysClr val="window" lastClr="FFFFFF">
                <a:lumMod val="75000"/>
              </a:sysClr>
            </a:solidFill>
            <a:prstDash val="solid"/>
          </a:ln>
          <a:effectLst>
            <a:outerShdw blurRad="50800" dist="38100" dir="5400000" algn="t" rotWithShape="0">
              <a:prstClr val="black">
                <a:alpha val="40000"/>
              </a:prstClr>
            </a:outerShdw>
          </a:effectLst>
        </p:spPr>
        <p:txBody>
          <a:bodyPr anchor="ctr"/>
          <a:lstStyle/>
          <a:p>
            <a:pPr algn="ctr">
              <a:defRPr/>
            </a:pPr>
            <a:endParaRPr lang="zh-CN" altLang="en-US" kern="0">
              <a:solidFill>
                <a:sysClr val="window" lastClr="FFFFFF"/>
              </a:solidFill>
              <a:latin typeface="Tahoma" panose="020B0604030504040204"/>
              <a:ea typeface="微软雅黑" panose="020B0503020204020204" charset="-122"/>
            </a:endParaRPr>
          </a:p>
        </p:txBody>
      </p:sp>
      <p:graphicFrame>
        <p:nvGraphicFramePr>
          <p:cNvPr id="23" name="表格 22"/>
          <p:cNvGraphicFramePr>
            <a:graphicFrameLocks noGrp="1"/>
          </p:cNvGraphicFramePr>
          <p:nvPr/>
        </p:nvGraphicFramePr>
        <p:xfrm>
          <a:off x="1270000" y="2083435"/>
          <a:ext cx="9488170" cy="4151630"/>
        </p:xfrm>
        <a:graphic>
          <a:graphicData uri="http://schemas.openxmlformats.org/drawingml/2006/table">
            <a:tbl>
              <a:tblPr firstRow="1" firstCol="1" bandRow="1">
                <a:tableStyleId>{F5AB1C69-6EDB-4FF4-983F-18BD219EF322}</a:tableStyleId>
              </a:tblPr>
              <a:tblGrid>
                <a:gridCol w="2873375">
                  <a:extLst>
                    <a:ext uri="{9D8B030D-6E8A-4147-A177-3AD203B41FA5}">
                      <a16:colId xmlns:a16="http://schemas.microsoft.com/office/drawing/2014/main" val="20000"/>
                    </a:ext>
                  </a:extLst>
                </a:gridCol>
                <a:gridCol w="6614795">
                  <a:extLst>
                    <a:ext uri="{9D8B030D-6E8A-4147-A177-3AD203B41FA5}">
                      <a16:colId xmlns:a16="http://schemas.microsoft.com/office/drawing/2014/main" val="20001"/>
                    </a:ext>
                  </a:extLst>
                </a:gridCol>
              </a:tblGrid>
              <a:tr h="475615">
                <a:tc>
                  <a:txBody>
                    <a:bodyPr/>
                    <a:lstStyle/>
                    <a:p>
                      <a:pPr algn="ctr">
                        <a:lnSpc>
                          <a:spcPct val="115000"/>
                        </a:lnSpc>
                        <a:spcAft>
                          <a:spcPts val="0"/>
                        </a:spcAft>
                      </a:pPr>
                      <a:r>
                        <a:rPr lang="zh-CN" altLang="en-US" sz="2000" kern="100" dirty="0">
                          <a:effectLst/>
                        </a:rPr>
                        <a:t>符号</a:t>
                      </a:r>
                      <a:endParaRPr lang="zh-CN" altLang="en-US" sz="2000" kern="100" dirty="0">
                        <a:effectLst/>
                        <a:latin typeface="微软雅黑" panose="020B0503020204020204" charset="-122"/>
                        <a:ea typeface="微软雅黑" panose="020B0503020204020204" charset="-122"/>
                      </a:endParaRPr>
                    </a:p>
                  </a:txBody>
                  <a:tcPr marL="68580" marR="68580" marT="0" marB="0" anchor="ctr"/>
                </a:tc>
                <a:tc>
                  <a:txBody>
                    <a:bodyPr/>
                    <a:lstStyle/>
                    <a:p>
                      <a:pPr algn="ctr">
                        <a:lnSpc>
                          <a:spcPct val="115000"/>
                        </a:lnSpc>
                        <a:spcAft>
                          <a:spcPts val="0"/>
                        </a:spcAft>
                      </a:pPr>
                      <a:r>
                        <a:rPr lang="zh-CN" sz="2000" kern="100" dirty="0">
                          <a:effectLst/>
                        </a:rPr>
                        <a:t>表示内容</a:t>
                      </a:r>
                      <a:endParaRPr lang="zh-CN" sz="2000" kern="100" dirty="0">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0"/>
                  </a:ext>
                </a:extLst>
              </a:tr>
              <a:tr h="554355">
                <a:tc>
                  <a:txBody>
                    <a:bodyPr/>
                    <a:lstStyle/>
                    <a:p>
                      <a:pPr algn="ctr">
                        <a:lnSpc>
                          <a:spcPct val="115000"/>
                        </a:lnSpc>
                        <a:spcAft>
                          <a:spcPts val="0"/>
                        </a:spcAft>
                      </a:pPr>
                      <a:endParaRPr lang="en-US" alt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600" kern="100" dirty="0">
                          <a:effectLst/>
                        </a:rPr>
                        <a:t>代表模块，框内注明模块的名字或主要功能。</a:t>
                      </a:r>
                      <a:endParaRPr lang="zh-CN" altLang="en-US"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1"/>
                  </a:ext>
                </a:extLst>
              </a:tr>
              <a:tr h="447040">
                <a:tc>
                  <a:txBody>
                    <a:bodyPr/>
                    <a:lstStyle/>
                    <a:p>
                      <a:pPr algn="ctr">
                        <a:lnSpc>
                          <a:spcPct val="115000"/>
                        </a:lnSpc>
                        <a:spcAft>
                          <a:spcPts val="0"/>
                        </a:spcAft>
                      </a:pPr>
                      <a:r>
                        <a:rPr lang="zh-CN" altLang="en-US" sz="1800" kern="100" dirty="0">
                          <a:effectLst/>
                        </a:rPr>
                        <a:t>或   </a:t>
                      </a:r>
                      <a:endParaRPr lang="zh-CN" altLang="en-US"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sz="1600" kern="100" dirty="0">
                          <a:effectLst/>
                        </a:rPr>
                        <a:t>表示模块的调用关系。</a:t>
                      </a:r>
                      <a:endParaRPr lang="zh-CN"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2"/>
                  </a:ext>
                </a:extLst>
              </a:tr>
              <a:tr h="557530">
                <a:tc>
                  <a:txBody>
                    <a:bodyPr/>
                    <a:lstStyle/>
                    <a:p>
                      <a:pPr algn="ctr">
                        <a:lnSpc>
                          <a:spcPct val="115000"/>
                        </a:lnSpc>
                        <a:spcAft>
                          <a:spcPts val="0"/>
                        </a:spcAft>
                      </a:pPr>
                      <a:r>
                        <a:rPr lang="en-US" altLang="zh-CN" sz="1800" kern="100" dirty="0">
                          <a:effectLst/>
                        </a:rPr>
                        <a:t>  </a:t>
                      </a:r>
                      <a:r>
                        <a:rPr lang="zh-CN" altLang="en-US" sz="1800" kern="100" dirty="0">
                          <a:effectLst/>
                        </a:rPr>
                        <a:t>注释</a:t>
                      </a:r>
                      <a:r>
                        <a:rPr lang="en-US" altLang="zh-CN" sz="1800" kern="100" dirty="0">
                          <a:effectLst/>
                        </a:rPr>
                        <a:t> </a:t>
                      </a: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sz="1600" kern="100" dirty="0">
                          <a:effectLst/>
                          <a:sym typeface="+mn-ea"/>
                        </a:rPr>
                        <a:t>表示模块调用时传递的信息及其传递方向。</a:t>
                      </a:r>
                      <a:endParaRPr lang="zh-CN" sz="1600" kern="100" dirty="0">
                        <a:solidFill>
                          <a:srgbClr val="5F5E5C"/>
                        </a:solidFill>
                        <a:effectLst/>
                        <a:latin typeface="微软雅黑" panose="020B0503020204020204" charset="-122"/>
                        <a:ea typeface="微软雅黑" panose="020B0503020204020204" charset="-122"/>
                        <a:sym typeface="+mn-ea"/>
                      </a:endParaRPr>
                    </a:p>
                  </a:txBody>
                  <a:tcPr marL="68580" marR="68580" marT="0" marB="0" anchor="ctr"/>
                </a:tc>
                <a:extLst>
                  <a:ext uri="{0D108BD9-81ED-4DB2-BD59-A6C34878D82A}">
                    <a16:rowId xmlns:a16="http://schemas.microsoft.com/office/drawing/2014/main" val="10003"/>
                  </a:ext>
                </a:extLst>
              </a:tr>
              <a:tr h="553720">
                <a:tc>
                  <a:txBody>
                    <a:bodyPr/>
                    <a:lstStyle/>
                    <a:p>
                      <a:pPr algn="ctr">
                        <a:lnSpc>
                          <a:spcPct val="115000"/>
                        </a:lnSpc>
                        <a:spcAft>
                          <a:spcPts val="0"/>
                        </a:spcAft>
                        <a:buNone/>
                      </a:pPr>
                      <a:endParaRPr lang="zh-CN" altLang="en-US"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600" kern="100" dirty="0">
                          <a:effectLst/>
                          <a:sym typeface="+mn-ea"/>
                        </a:rPr>
                        <a:t>表示传递数据信息</a:t>
                      </a:r>
                      <a:endParaRPr lang="zh-CN" altLang="en-US" sz="1600" kern="100" dirty="0">
                        <a:solidFill>
                          <a:srgbClr val="5F5E5C"/>
                        </a:solidFill>
                        <a:effectLst/>
                        <a:latin typeface="微软雅黑" panose="020B0503020204020204" charset="-122"/>
                        <a:ea typeface="微软雅黑" panose="020B0503020204020204" charset="-122"/>
                        <a:sym typeface="+mn-ea"/>
                      </a:endParaRPr>
                    </a:p>
                  </a:txBody>
                  <a:tcPr marL="68580" marR="68580" marT="0" marB="0" anchor="ctr"/>
                </a:tc>
                <a:extLst>
                  <a:ext uri="{0D108BD9-81ED-4DB2-BD59-A6C34878D82A}">
                    <a16:rowId xmlns:a16="http://schemas.microsoft.com/office/drawing/2014/main" val="10004"/>
                  </a:ext>
                </a:extLst>
              </a:tr>
              <a:tr h="516255">
                <a:tc>
                  <a:txBody>
                    <a:bodyPr/>
                    <a:lstStyle/>
                    <a:p>
                      <a:pPr algn="ctr">
                        <a:lnSpc>
                          <a:spcPct val="115000"/>
                        </a:lnSpc>
                        <a:spcAft>
                          <a:spcPts val="0"/>
                        </a:spcAft>
                        <a:buNone/>
                      </a:pPr>
                      <a:endParaRPr lang="zh-CN" altLang="en-US"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600" kern="100" dirty="0">
                          <a:effectLst/>
                          <a:sym typeface="+mn-ea"/>
                        </a:rPr>
                        <a:t>表示传递控制信息。</a:t>
                      </a:r>
                      <a:endParaRPr lang="zh-CN" altLang="en-US" sz="1600" kern="100" dirty="0">
                        <a:solidFill>
                          <a:srgbClr val="5F5E5C"/>
                        </a:solidFill>
                        <a:effectLst/>
                        <a:latin typeface="微软雅黑" panose="020B0503020204020204" charset="-122"/>
                        <a:ea typeface="微软雅黑" panose="020B0503020204020204" charset="-122"/>
                        <a:sym typeface="+mn-ea"/>
                      </a:endParaRPr>
                    </a:p>
                  </a:txBody>
                  <a:tcPr marL="68580" marR="68580" marT="0" marB="0" anchor="ctr"/>
                </a:tc>
                <a:extLst>
                  <a:ext uri="{0D108BD9-81ED-4DB2-BD59-A6C34878D82A}">
                    <a16:rowId xmlns:a16="http://schemas.microsoft.com/office/drawing/2014/main" val="10005"/>
                  </a:ext>
                </a:extLst>
              </a:tr>
              <a:tr h="483870">
                <a:tc>
                  <a:txBody>
                    <a:bodyPr/>
                    <a:lstStyle/>
                    <a:p>
                      <a:pPr algn="ctr">
                        <a:lnSpc>
                          <a:spcPct val="115000"/>
                        </a:lnSpc>
                        <a:spcAft>
                          <a:spcPts val="0"/>
                        </a:spcAft>
                        <a:buNone/>
                      </a:pPr>
                      <a:endParaRPr lang="zh-CN" altLang="en-US"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600" kern="100" dirty="0">
                          <a:effectLst/>
                          <a:sym typeface="+mn-ea"/>
                        </a:rPr>
                        <a:t>选择结构：模块H中条件符合时调用模块A，不符合时调用模块B。</a:t>
                      </a:r>
                      <a:endParaRPr lang="zh-CN" altLang="en-US" sz="1600" kern="100" dirty="0">
                        <a:solidFill>
                          <a:srgbClr val="5F5E5C"/>
                        </a:solidFill>
                        <a:effectLst/>
                        <a:latin typeface="微软雅黑" panose="020B0503020204020204" charset="-122"/>
                        <a:ea typeface="微软雅黑" panose="020B0503020204020204" charset="-122"/>
                        <a:sym typeface="+mn-ea"/>
                      </a:endParaRPr>
                    </a:p>
                  </a:txBody>
                  <a:tcPr marL="68580" marR="68580" marT="0" marB="0" anchor="ctr"/>
                </a:tc>
                <a:extLst>
                  <a:ext uri="{0D108BD9-81ED-4DB2-BD59-A6C34878D82A}">
                    <a16:rowId xmlns:a16="http://schemas.microsoft.com/office/drawing/2014/main" val="10006"/>
                  </a:ext>
                </a:extLst>
              </a:tr>
              <a:tr h="563245">
                <a:tc>
                  <a:txBody>
                    <a:bodyPr/>
                    <a:lstStyle/>
                    <a:p>
                      <a:pPr algn="ctr">
                        <a:lnSpc>
                          <a:spcPct val="115000"/>
                        </a:lnSpc>
                        <a:spcAft>
                          <a:spcPts val="0"/>
                        </a:spcAft>
                        <a:buNone/>
                      </a:pPr>
                      <a:endParaRPr lang="zh-CN" altLang="en-US"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600" kern="100" dirty="0">
                          <a:effectLst/>
                          <a:sym typeface="+mn-ea"/>
                        </a:rPr>
                        <a:t>循环结构：模块H循环调用模块A，B，C。</a:t>
                      </a:r>
                      <a:endParaRPr lang="zh-CN" altLang="en-US" sz="1600" kern="100" dirty="0">
                        <a:solidFill>
                          <a:srgbClr val="5F5E5C"/>
                        </a:solidFill>
                        <a:effectLst/>
                        <a:latin typeface="微软雅黑" panose="020B0503020204020204" charset="-122"/>
                        <a:ea typeface="微软雅黑" panose="020B0503020204020204" charset="-122"/>
                        <a:sym typeface="+mn-ea"/>
                      </a:endParaRPr>
                    </a:p>
                  </a:txBody>
                  <a:tcPr marL="68580" marR="68580" marT="0" marB="0" anchor="ctr"/>
                </a:tc>
                <a:extLst>
                  <a:ext uri="{0D108BD9-81ED-4DB2-BD59-A6C34878D82A}">
                    <a16:rowId xmlns:a16="http://schemas.microsoft.com/office/drawing/2014/main" val="10007"/>
                  </a:ext>
                </a:extLst>
              </a:tr>
            </a:tbl>
          </a:graphicData>
        </a:graphic>
      </p:graphicFrame>
      <p:sp>
        <p:nvSpPr>
          <p:cNvPr id="2" name="矩形 1"/>
          <p:cNvSpPr/>
          <p:nvPr/>
        </p:nvSpPr>
        <p:spPr>
          <a:xfrm>
            <a:off x="2465070" y="2658745"/>
            <a:ext cx="560705" cy="368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箭头连接符 3"/>
          <p:cNvCxnSpPr/>
          <p:nvPr/>
        </p:nvCxnSpPr>
        <p:spPr>
          <a:xfrm>
            <a:off x="1856105" y="3426460"/>
            <a:ext cx="608965" cy="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V="1">
            <a:off x="3154045" y="3423920"/>
            <a:ext cx="640715" cy="2540"/>
          </a:xfrm>
          <a:prstGeom prst="line">
            <a:avLst/>
          </a:prstGeom>
          <a:ln w="28575" cmpd="dbl">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V="1">
            <a:off x="2296795" y="3973195"/>
            <a:ext cx="1090295" cy="1270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07" name="右箭头"/>
          <p:cNvSpPr/>
          <p:nvPr/>
        </p:nvSpPr>
        <p:spPr bwMode="auto">
          <a:xfrm>
            <a:off x="2385060" y="4272915"/>
            <a:ext cx="913130" cy="380365"/>
          </a:xfrm>
          <a:custGeom>
            <a:avLst/>
            <a:gdLst>
              <a:gd name="connsiteX0" fmla="*/ 372298 w 601493"/>
              <a:gd name="connsiteY0" fmla="*/ 0 h 284174"/>
              <a:gd name="connsiteX1" fmla="*/ 449093 w 601493"/>
              <a:gd name="connsiteY1" fmla="*/ 0 h 284174"/>
              <a:gd name="connsiteX2" fmla="*/ 601493 w 601493"/>
              <a:gd name="connsiteY2" fmla="*/ 142400 h 284174"/>
              <a:gd name="connsiteX3" fmla="*/ 449093 w 601493"/>
              <a:gd name="connsiteY3" fmla="*/ 284174 h 284174"/>
              <a:gd name="connsiteX4" fmla="*/ 372298 w 601493"/>
              <a:gd name="connsiteY4" fmla="*/ 284174 h 284174"/>
              <a:gd name="connsiteX5" fmla="*/ 498504 w 601493"/>
              <a:gd name="connsiteY5" fmla="*/ 167125 h 284174"/>
              <a:gd name="connsiteX6" fmla="*/ 153053 w 601493"/>
              <a:gd name="connsiteY6" fmla="*/ 167125 h 284174"/>
              <a:gd name="connsiteX7" fmla="*/ 151896 w 601493"/>
              <a:gd name="connsiteY7" fmla="*/ 172859 h 284174"/>
              <a:gd name="connsiteX8" fmla="*/ 79054 w 601493"/>
              <a:gd name="connsiteY8" fmla="*/ 221142 h 284174"/>
              <a:gd name="connsiteX9" fmla="*/ 0 w 601493"/>
              <a:gd name="connsiteY9" fmla="*/ 142088 h 284174"/>
              <a:gd name="connsiteX10" fmla="*/ 79054 w 601493"/>
              <a:gd name="connsiteY10" fmla="*/ 63034 h 284174"/>
              <a:gd name="connsiteX11" fmla="*/ 151896 w 601493"/>
              <a:gd name="connsiteY11" fmla="*/ 111317 h 284174"/>
              <a:gd name="connsiteX12" fmla="*/ 153053 w 601493"/>
              <a:gd name="connsiteY12" fmla="*/ 117050 h 284174"/>
              <a:gd name="connsiteX13" fmla="*/ 498504 w 601493"/>
              <a:gd name="connsiteY13" fmla="*/ 117050 h 284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1493" h="284174">
                <a:moveTo>
                  <a:pt x="372298" y="0"/>
                </a:moveTo>
                <a:lnTo>
                  <a:pt x="449093" y="0"/>
                </a:lnTo>
                <a:lnTo>
                  <a:pt x="601493" y="142400"/>
                </a:lnTo>
                <a:lnTo>
                  <a:pt x="449093" y="284174"/>
                </a:lnTo>
                <a:lnTo>
                  <a:pt x="372298" y="284174"/>
                </a:lnTo>
                <a:lnTo>
                  <a:pt x="498504" y="167125"/>
                </a:lnTo>
                <a:lnTo>
                  <a:pt x="153053" y="167125"/>
                </a:lnTo>
                <a:lnTo>
                  <a:pt x="151896" y="172859"/>
                </a:lnTo>
                <a:cubicBezTo>
                  <a:pt x="139895" y="201233"/>
                  <a:pt x="111799" y="221142"/>
                  <a:pt x="79054" y="221142"/>
                </a:cubicBezTo>
                <a:cubicBezTo>
                  <a:pt x="35394" y="221142"/>
                  <a:pt x="0" y="185748"/>
                  <a:pt x="0" y="142088"/>
                </a:cubicBezTo>
                <a:cubicBezTo>
                  <a:pt x="0" y="98428"/>
                  <a:pt x="35394" y="63034"/>
                  <a:pt x="79054" y="63034"/>
                </a:cubicBezTo>
                <a:cubicBezTo>
                  <a:pt x="111799" y="63034"/>
                  <a:pt x="139895" y="82943"/>
                  <a:pt x="151896" y="111317"/>
                </a:cubicBezTo>
                <a:lnTo>
                  <a:pt x="153053" y="117050"/>
                </a:lnTo>
                <a:lnTo>
                  <a:pt x="498504" y="117050"/>
                </a:lnTo>
                <a:close/>
              </a:path>
            </a:pathLst>
          </a:custGeom>
          <a:solidFill>
            <a:schemeClr val="bg1"/>
          </a:solidFill>
          <a:ln>
            <a:noFill/>
          </a:ln>
        </p:spPr>
        <p:txBody>
          <a:bodyPr lIns="68580" tIns="34290" rIns="68580" bIns="3429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eaLnBrk="1" fontAlgn="auto" hangingPunct="1">
              <a:spcBef>
                <a:spcPts val="0"/>
              </a:spcBef>
              <a:spcAft>
                <a:spcPts val="0"/>
              </a:spcAft>
              <a:defRPr/>
            </a:pPr>
            <a:endParaRPr lang="zh-CN" altLang="en-US" dirty="0">
              <a:solidFill>
                <a:srgbClr val="FFFFFF"/>
              </a:solidFill>
              <a:latin typeface="Times New Roman" panose="02020603050405020304" pitchFamily="18" charset="0"/>
            </a:endParaRPr>
          </a:p>
        </p:txBody>
      </p:sp>
      <p:sp>
        <p:nvSpPr>
          <p:cNvPr id="9" name="椭圆 8"/>
          <p:cNvSpPr/>
          <p:nvPr/>
        </p:nvSpPr>
        <p:spPr>
          <a:xfrm>
            <a:off x="2465070" y="4425315"/>
            <a:ext cx="75565" cy="755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右箭头"/>
          <p:cNvSpPr/>
          <p:nvPr/>
        </p:nvSpPr>
        <p:spPr bwMode="auto">
          <a:xfrm>
            <a:off x="2385060" y="4808855"/>
            <a:ext cx="989330" cy="282575"/>
          </a:xfrm>
          <a:custGeom>
            <a:avLst/>
            <a:gdLst>
              <a:gd name="connsiteX0" fmla="*/ 372298 w 601493"/>
              <a:gd name="connsiteY0" fmla="*/ 0 h 284174"/>
              <a:gd name="connsiteX1" fmla="*/ 449093 w 601493"/>
              <a:gd name="connsiteY1" fmla="*/ 0 h 284174"/>
              <a:gd name="connsiteX2" fmla="*/ 601493 w 601493"/>
              <a:gd name="connsiteY2" fmla="*/ 142400 h 284174"/>
              <a:gd name="connsiteX3" fmla="*/ 449093 w 601493"/>
              <a:gd name="connsiteY3" fmla="*/ 284174 h 284174"/>
              <a:gd name="connsiteX4" fmla="*/ 372298 w 601493"/>
              <a:gd name="connsiteY4" fmla="*/ 284174 h 284174"/>
              <a:gd name="connsiteX5" fmla="*/ 498504 w 601493"/>
              <a:gd name="connsiteY5" fmla="*/ 167125 h 284174"/>
              <a:gd name="connsiteX6" fmla="*/ 153053 w 601493"/>
              <a:gd name="connsiteY6" fmla="*/ 167125 h 284174"/>
              <a:gd name="connsiteX7" fmla="*/ 151896 w 601493"/>
              <a:gd name="connsiteY7" fmla="*/ 172859 h 284174"/>
              <a:gd name="connsiteX8" fmla="*/ 79054 w 601493"/>
              <a:gd name="connsiteY8" fmla="*/ 221142 h 284174"/>
              <a:gd name="connsiteX9" fmla="*/ 0 w 601493"/>
              <a:gd name="connsiteY9" fmla="*/ 142088 h 284174"/>
              <a:gd name="connsiteX10" fmla="*/ 79054 w 601493"/>
              <a:gd name="connsiteY10" fmla="*/ 63034 h 284174"/>
              <a:gd name="connsiteX11" fmla="*/ 151896 w 601493"/>
              <a:gd name="connsiteY11" fmla="*/ 111317 h 284174"/>
              <a:gd name="connsiteX12" fmla="*/ 153053 w 601493"/>
              <a:gd name="connsiteY12" fmla="*/ 117050 h 284174"/>
              <a:gd name="connsiteX13" fmla="*/ 498504 w 601493"/>
              <a:gd name="connsiteY13" fmla="*/ 117050 h 284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1493" h="284174">
                <a:moveTo>
                  <a:pt x="372298" y="0"/>
                </a:moveTo>
                <a:lnTo>
                  <a:pt x="449093" y="0"/>
                </a:lnTo>
                <a:lnTo>
                  <a:pt x="601493" y="142400"/>
                </a:lnTo>
                <a:lnTo>
                  <a:pt x="449093" y="284174"/>
                </a:lnTo>
                <a:lnTo>
                  <a:pt x="372298" y="284174"/>
                </a:lnTo>
                <a:lnTo>
                  <a:pt x="498504" y="167125"/>
                </a:lnTo>
                <a:lnTo>
                  <a:pt x="153053" y="167125"/>
                </a:lnTo>
                <a:lnTo>
                  <a:pt x="151896" y="172859"/>
                </a:lnTo>
                <a:cubicBezTo>
                  <a:pt x="139895" y="201233"/>
                  <a:pt x="111799" y="221142"/>
                  <a:pt x="79054" y="221142"/>
                </a:cubicBezTo>
                <a:cubicBezTo>
                  <a:pt x="35394" y="221142"/>
                  <a:pt x="0" y="185748"/>
                  <a:pt x="0" y="142088"/>
                </a:cubicBezTo>
                <a:cubicBezTo>
                  <a:pt x="0" y="98428"/>
                  <a:pt x="35394" y="63034"/>
                  <a:pt x="79054" y="63034"/>
                </a:cubicBezTo>
                <a:cubicBezTo>
                  <a:pt x="111799" y="63034"/>
                  <a:pt x="139895" y="82943"/>
                  <a:pt x="151896" y="111317"/>
                </a:cubicBezTo>
                <a:lnTo>
                  <a:pt x="153053" y="117050"/>
                </a:lnTo>
                <a:lnTo>
                  <a:pt x="498504" y="117050"/>
                </a:lnTo>
                <a:close/>
              </a:path>
            </a:pathLst>
          </a:custGeom>
          <a:solidFill>
            <a:schemeClr val="bg1"/>
          </a:solidFill>
          <a:ln>
            <a:noFill/>
          </a:ln>
        </p:spPr>
        <p:txBody>
          <a:bodyPr lIns="68580" tIns="34290" rIns="68580" bIns="3429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eaLnBrk="1" fontAlgn="auto" hangingPunct="1">
              <a:spcBef>
                <a:spcPts val="0"/>
              </a:spcBef>
              <a:spcAft>
                <a:spcPts val="0"/>
              </a:spcAft>
              <a:defRPr/>
            </a:pPr>
            <a:endParaRPr lang="zh-CN" altLang="en-US" dirty="0">
              <a:solidFill>
                <a:srgbClr val="FFFFFF"/>
              </a:solidFill>
              <a:latin typeface="Times New Roman" panose="02020603050405020304" pitchFamily="18" charset="0"/>
            </a:endParaRPr>
          </a:p>
        </p:txBody>
      </p:sp>
      <p:pic>
        <p:nvPicPr>
          <p:cNvPr id="11" name="图片 10"/>
          <p:cNvPicPr>
            <a:picLocks noChangeAspect="1"/>
          </p:cNvPicPr>
          <p:nvPr/>
        </p:nvPicPr>
        <p:blipFill>
          <a:blip r:embed="rId2" cstate="print"/>
          <a:stretch>
            <a:fillRect/>
          </a:stretch>
        </p:blipFill>
        <p:spPr>
          <a:xfrm>
            <a:off x="2258060" y="5213985"/>
            <a:ext cx="1116330" cy="467995"/>
          </a:xfrm>
          <a:prstGeom prst="rect">
            <a:avLst/>
          </a:prstGeom>
        </p:spPr>
      </p:pic>
      <p:pic>
        <p:nvPicPr>
          <p:cNvPr id="12" name="图片 11"/>
          <p:cNvPicPr>
            <a:picLocks noChangeAspect="1"/>
          </p:cNvPicPr>
          <p:nvPr/>
        </p:nvPicPr>
        <p:blipFill>
          <a:blip r:embed="rId3" cstate="print"/>
          <a:stretch>
            <a:fillRect/>
          </a:stretch>
        </p:blipFill>
        <p:spPr>
          <a:xfrm>
            <a:off x="2258695" y="5681980"/>
            <a:ext cx="1115060" cy="553085"/>
          </a:xfrm>
          <a:prstGeom prst="rect">
            <a:avLst/>
          </a:prstGeom>
        </p:spPr>
      </p:pic>
    </p:spTree>
  </p:cSld>
  <p:clrMapOvr>
    <a:masterClrMapping/>
  </p:clrMapOvr>
  <p:transition>
    <p:wipe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3 </a:t>
            </a:r>
            <a:r>
              <a:rPr lang="zh-CN">
                <a:sym typeface="+mn-ea"/>
              </a:rPr>
              <a:t>软件结构设计的图形工具</a:t>
            </a:r>
            <a:endParaRPr lang="zh-CN" altLang="en-US"/>
          </a:p>
        </p:txBody>
      </p:sp>
      <p:grpSp>
        <p:nvGrpSpPr>
          <p:cNvPr id="2" name="组合 1"/>
          <p:cNvGrpSpPr/>
          <p:nvPr/>
        </p:nvGrpSpPr>
        <p:grpSpPr>
          <a:xfrm>
            <a:off x="737235" y="1419225"/>
            <a:ext cx="10575290" cy="4711065"/>
            <a:chOff x="1275" y="2210"/>
            <a:chExt cx="16654" cy="7419"/>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500" y="3150"/>
              <a:ext cx="16429" cy="6479"/>
              <a:chOff x="1500" y="3150"/>
              <a:chExt cx="16429" cy="6479"/>
            </a:xfrm>
          </p:grpSpPr>
          <p:sp>
            <p:nvSpPr>
              <p:cNvPr id="22" name="TextBox 21"/>
              <p:cNvSpPr txBox="1"/>
              <p:nvPr/>
            </p:nvSpPr>
            <p:spPr>
              <a:xfrm>
                <a:off x="3431" y="3419"/>
                <a:ext cx="13522" cy="624"/>
              </a:xfrm>
              <a:prstGeom prst="rect">
                <a:avLst/>
              </a:prstGeom>
              <a:noFill/>
            </p:spPr>
            <p:txBody>
              <a:bodyPr wrap="square">
                <a:spAutoFit/>
              </a:bodyPr>
              <a:lstStyle/>
              <a:p>
                <a:r>
                  <a:rPr sz="2000" dirty="0">
                    <a:sym typeface="+mn-ea"/>
                  </a:rPr>
                  <a:t>画出例2-3招聘考试成绩管理系统的结构图。</a:t>
                </a:r>
              </a:p>
            </p:txBody>
          </p:sp>
          <p:sp>
            <p:nvSpPr>
              <p:cNvPr id="24" name="矩形 23"/>
              <p:cNvSpPr>
                <a:spLocks noChangeAspect="1"/>
              </p:cNvSpPr>
              <p:nvPr/>
            </p:nvSpPr>
            <p:spPr>
              <a:xfrm>
                <a:off x="1500" y="4275"/>
                <a:ext cx="16429" cy="5354"/>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3-2</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33"/>
                <a:ext cx="15536" cy="4806"/>
              </a:xfrm>
              <a:prstGeom prst="rect">
                <a:avLst/>
              </a:prstGeom>
              <a:solidFill>
                <a:schemeClr val="bg1">
                  <a:lumMod val="95000"/>
                </a:schemeClr>
              </a:solidFill>
            </p:spPr>
            <p:txBody>
              <a:bodyPr wrap="square">
                <a:spAutoFit/>
              </a:bodyPr>
              <a:lstStyle/>
              <a:p>
                <a:pPr fontAlgn="auto">
                  <a:lnSpc>
                    <a:spcPct val="120000"/>
                  </a:lnSpc>
                </a:pPr>
                <a:r>
                  <a:rPr lang="en-US" dirty="0">
                    <a:latin typeface="Times New Roman" panose="02020603050405020304" charset="0"/>
                    <a:ea typeface="宋体" panose="02010600030101010101" pitchFamily="2" charset="-122"/>
                  </a:rPr>
                  <a:t>        </a:t>
                </a:r>
                <a:r>
                  <a:rPr dirty="0">
                    <a:latin typeface="Times New Roman" panose="02020603050405020304" charset="0"/>
                    <a:ea typeface="宋体" panose="02010600030101010101" pitchFamily="2" charset="-122"/>
                  </a:rPr>
                  <a:t>招聘考试成绩管理系统主要调用“输入”、“处理”</a:t>
                </a:r>
              </a:p>
              <a:p>
                <a:pPr fontAlgn="auto">
                  <a:lnSpc>
                    <a:spcPct val="120000"/>
                  </a:lnSpc>
                </a:pPr>
                <a:r>
                  <a:rPr dirty="0">
                    <a:latin typeface="Times New Roman" panose="02020603050405020304" charset="0"/>
                    <a:ea typeface="宋体" panose="02010600030101010101" pitchFamily="2" charset="-122"/>
                  </a:rPr>
                  <a:t>和“输出”3个模块。该系统的初始结构图如图所示</a:t>
                </a:r>
                <a:r>
                  <a:rPr lang="zh-CN" dirty="0">
                    <a:latin typeface="Times New Roman" panose="02020603050405020304" charset="0"/>
                    <a:ea typeface="宋体" panose="02010600030101010101" pitchFamily="2" charset="-122"/>
                  </a:rPr>
                  <a:t>。</a:t>
                </a:r>
              </a:p>
              <a:p>
                <a:pPr fontAlgn="auto">
                  <a:lnSpc>
                    <a:spcPct val="120000"/>
                  </a:lnSpc>
                </a:pPr>
                <a:r>
                  <a:rPr dirty="0">
                    <a:latin typeface="Times New Roman" panose="02020603050405020304" charset="0"/>
                    <a:ea typeface="宋体" panose="02010600030101010101" pitchFamily="2" charset="-122"/>
                  </a:rPr>
                  <a:t>       结构图只描述一个模块调用哪些模块，没有描述</a:t>
                </a:r>
              </a:p>
              <a:p>
                <a:pPr fontAlgn="auto">
                  <a:lnSpc>
                    <a:spcPct val="120000"/>
                  </a:lnSpc>
                </a:pPr>
                <a:r>
                  <a:rPr dirty="0">
                    <a:latin typeface="Times New Roman" panose="02020603050405020304" charset="0"/>
                    <a:ea typeface="宋体" panose="02010600030101010101" pitchFamily="2" charset="-122"/>
                  </a:rPr>
                  <a:t>调用次序，也没有表明模块内部的成分，通常上层模</a:t>
                </a:r>
              </a:p>
              <a:p>
                <a:pPr fontAlgn="auto">
                  <a:lnSpc>
                    <a:spcPct val="120000"/>
                  </a:lnSpc>
                </a:pPr>
                <a:r>
                  <a:rPr dirty="0">
                    <a:latin typeface="Times New Roman" panose="02020603050405020304" charset="0"/>
                    <a:ea typeface="宋体" panose="02010600030101010101" pitchFamily="2" charset="-122"/>
                  </a:rPr>
                  <a:t>块除了调用下层模块的语句之外还可以有其他语句，</a:t>
                </a:r>
              </a:p>
              <a:p>
                <a:pPr fontAlgn="auto">
                  <a:lnSpc>
                    <a:spcPct val="120000"/>
                  </a:lnSpc>
                </a:pPr>
                <a:r>
                  <a:rPr dirty="0">
                    <a:latin typeface="Times New Roman" panose="02020603050405020304" charset="0"/>
                    <a:ea typeface="宋体" panose="02010600030101010101" pitchFamily="2" charset="-122"/>
                  </a:rPr>
                  <a:t>结构图体现不出这种情况。</a:t>
                </a:r>
              </a:p>
              <a:p>
                <a:pPr fontAlgn="auto">
                  <a:lnSpc>
                    <a:spcPct val="120000"/>
                  </a:lnSpc>
                </a:pPr>
                <a:r>
                  <a:rPr dirty="0">
                    <a:latin typeface="Times New Roman" panose="02020603050405020304" charset="0"/>
                    <a:ea typeface="宋体" panose="02010600030101010101" pitchFamily="2" charset="-122"/>
                  </a:rPr>
                  <a:t>        画结构图可以作为检查设计正确性和模块独立性的方法。通过检查数据传递情况，可以分析数据传递是否齐全，是否正确，是否有不必要的数据传递；还可以分析模块分解或合并的合理性，以便选用最佳方案。</a:t>
                </a:r>
              </a:p>
            </p:txBody>
          </p:sp>
        </p:grpSp>
      </p:grpSp>
      <p:pic>
        <p:nvPicPr>
          <p:cNvPr id="4" name="图片 -2147482549"/>
          <p:cNvPicPr>
            <a:picLocks noChangeAspect="1"/>
          </p:cNvPicPr>
          <p:nvPr/>
        </p:nvPicPr>
        <p:blipFill>
          <a:blip r:embed="rId4" cstate="print"/>
          <a:stretch>
            <a:fillRect/>
          </a:stretch>
        </p:blipFill>
        <p:spPr>
          <a:xfrm>
            <a:off x="6551295" y="2894330"/>
            <a:ext cx="4477385" cy="1860550"/>
          </a:xfrm>
          <a:prstGeom prst="rect">
            <a:avLst/>
          </a:prstGeom>
          <a:noFill/>
          <a:ln w="9525">
            <a:noFill/>
          </a:ln>
        </p:spPr>
      </p:pic>
    </p:spTree>
  </p:cSld>
  <p:clrMapOvr>
    <a:masterClrMapping/>
  </p:clrMapOvr>
  <p:transition>
    <p:wipe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3 </a:t>
            </a:r>
            <a:r>
              <a:rPr lang="zh-CN">
                <a:sym typeface="+mn-ea"/>
              </a:rPr>
              <a:t>软件结构设计的图形工具</a:t>
            </a:r>
            <a:endParaRPr lang="zh-CN" altLang="en-US"/>
          </a:p>
        </p:txBody>
      </p:sp>
      <p:grpSp>
        <p:nvGrpSpPr>
          <p:cNvPr id="2" name="组合 1"/>
          <p:cNvGrpSpPr/>
          <p:nvPr/>
        </p:nvGrpSpPr>
        <p:grpSpPr>
          <a:xfrm>
            <a:off x="737235" y="1419225"/>
            <a:ext cx="10575290" cy="4978400"/>
            <a:chOff x="1275" y="2210"/>
            <a:chExt cx="16654" cy="7840"/>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500" y="3150"/>
              <a:ext cx="16429" cy="6900"/>
              <a:chOff x="1500" y="3150"/>
              <a:chExt cx="16429" cy="6900"/>
            </a:xfrm>
          </p:grpSpPr>
          <p:sp>
            <p:nvSpPr>
              <p:cNvPr id="22" name="TextBox 21"/>
              <p:cNvSpPr txBox="1"/>
              <p:nvPr/>
            </p:nvSpPr>
            <p:spPr>
              <a:xfrm>
                <a:off x="3431" y="3419"/>
                <a:ext cx="13522" cy="624"/>
              </a:xfrm>
              <a:prstGeom prst="rect">
                <a:avLst/>
              </a:prstGeom>
              <a:noFill/>
            </p:spPr>
            <p:txBody>
              <a:bodyPr wrap="square">
                <a:spAutoFit/>
              </a:bodyPr>
              <a:lstStyle/>
              <a:p>
                <a:r>
                  <a:rPr sz="2000" dirty="0">
                    <a:sym typeface="+mn-ea"/>
                  </a:rPr>
                  <a:t>画出例2-3招聘考试成绩管理系统的结构图。</a:t>
                </a:r>
              </a:p>
            </p:txBody>
          </p:sp>
          <p:sp>
            <p:nvSpPr>
              <p:cNvPr id="24" name="矩形 23"/>
              <p:cNvSpPr>
                <a:spLocks noChangeAspect="1"/>
              </p:cNvSpPr>
              <p:nvPr/>
            </p:nvSpPr>
            <p:spPr>
              <a:xfrm>
                <a:off x="1500" y="4275"/>
                <a:ext cx="16429" cy="5775"/>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3-2</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33"/>
                <a:ext cx="15536" cy="5324"/>
              </a:xfrm>
              <a:prstGeom prst="rect">
                <a:avLst/>
              </a:prstGeom>
              <a:solidFill>
                <a:schemeClr val="bg1">
                  <a:lumMod val="95000"/>
                </a:schemeClr>
              </a:solidFill>
            </p:spPr>
            <p:txBody>
              <a:bodyPr wrap="square">
                <a:spAutoFit/>
              </a:bodyPr>
              <a:lstStyle/>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p:txBody>
          </p:sp>
        </p:grpSp>
      </p:grpSp>
      <p:sp>
        <p:nvSpPr>
          <p:cNvPr id="102" name="文本框 101"/>
          <p:cNvSpPr txBox="1"/>
          <p:nvPr/>
        </p:nvSpPr>
        <p:spPr>
          <a:xfrm>
            <a:off x="3915410" y="5547360"/>
            <a:ext cx="5080000" cy="365760"/>
          </a:xfrm>
          <a:prstGeom prst="rect">
            <a:avLst/>
          </a:prstGeom>
          <a:noFill/>
          <a:ln w="9525">
            <a:noFill/>
          </a:ln>
        </p:spPr>
        <p:txBody>
          <a:bodyPr>
            <a:spAutoFit/>
          </a:bodyPr>
          <a:lstStyle/>
          <a:p>
            <a:pPr marL="0" indent="0" algn="ctr"/>
            <a:r>
              <a:rPr lang="en-US" altLang="zh-CN" b="0" u="none">
                <a:latin typeface="宋体" panose="02010600030101010101" pitchFamily="2" charset="-122"/>
                <a:ea typeface="宋体" panose="02010600030101010101" pitchFamily="2" charset="-122"/>
                <a:cs typeface="宋体" panose="02010600030101010101" pitchFamily="2" charset="-122"/>
              </a:rPr>
              <a:t> </a:t>
            </a:r>
            <a:endParaRPr lang="zh-CN" altLang="en-US"/>
          </a:p>
        </p:txBody>
      </p:sp>
      <p:pic>
        <p:nvPicPr>
          <p:cNvPr id="281601" name="Picture 1"/>
          <p:cNvPicPr>
            <a:picLocks noChangeAspect="1" noChangeArrowheads="1"/>
          </p:cNvPicPr>
          <p:nvPr/>
        </p:nvPicPr>
        <p:blipFill>
          <a:blip r:embed="rId4" cstate="print"/>
          <a:srcRect/>
          <a:stretch>
            <a:fillRect/>
          </a:stretch>
        </p:blipFill>
        <p:spPr bwMode="auto">
          <a:xfrm>
            <a:off x="3001519" y="2893102"/>
            <a:ext cx="6127491" cy="3411594"/>
          </a:xfrm>
          <a:prstGeom prst="rect">
            <a:avLst/>
          </a:prstGeom>
          <a:noFill/>
          <a:ln w="9525">
            <a:noFill/>
            <a:miter lim="800000"/>
            <a:headEnd/>
            <a:tailEnd/>
          </a:ln>
        </p:spPr>
      </p:pic>
    </p:spTree>
  </p:cSld>
  <p:clrMapOvr>
    <a:masterClrMapping/>
  </p:clrMapOvr>
  <p:transition>
    <p:wipe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latin typeface="Times New Roman" panose="02020603050405020304" pitchFamily="18" charset="0"/>
            </a:endParaRPr>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4</a:t>
              </a:r>
            </a:p>
          </p:txBody>
        </p:sp>
      </p:grpSp>
      <p:sp>
        <p:nvSpPr>
          <p:cNvPr id="40" name="文本框 39"/>
          <p:cNvSpPr txBox="1"/>
          <p:nvPr/>
        </p:nvSpPr>
        <p:spPr>
          <a:xfrm>
            <a:off x="6006555" y="2626178"/>
            <a:ext cx="5137150" cy="160591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面向数据流的设计方法</a:t>
            </a:r>
          </a:p>
        </p:txBody>
      </p:sp>
      <p:sp>
        <p:nvSpPr>
          <p:cNvPr id="48" name="文本框 47"/>
          <p:cNvSpPr txBox="1"/>
          <p:nvPr/>
        </p:nvSpPr>
        <p:spPr>
          <a:xfrm>
            <a:off x="6006465" y="453199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变换型</a:t>
            </a:r>
          </a:p>
        </p:txBody>
      </p:sp>
      <p:sp>
        <p:nvSpPr>
          <p:cNvPr id="50" name="文本框 49"/>
          <p:cNvSpPr txBox="1"/>
          <p:nvPr/>
        </p:nvSpPr>
        <p:spPr>
          <a:xfrm>
            <a:off x="6006465" y="502729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事务型</a:t>
            </a:r>
          </a:p>
        </p:txBody>
      </p:sp>
    </p:spTree>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4 </a:t>
            </a:r>
            <a:r>
              <a:rPr lang="zh-CN" altLang="en-US">
                <a:sym typeface="+mn-ea"/>
              </a:rPr>
              <a:t>面向数据流的设计方法</a:t>
            </a:r>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设计方法</a:t>
            </a:r>
          </a:p>
        </p:txBody>
      </p:sp>
      <p:sp>
        <p:nvSpPr>
          <p:cNvPr id="4" name="文本框 3"/>
          <p:cNvSpPr txBox="1"/>
          <p:nvPr/>
        </p:nvSpPr>
        <p:spPr>
          <a:xfrm>
            <a:off x="754380" y="2611120"/>
            <a:ext cx="476250" cy="258064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面向数据流的设计方法</a:t>
            </a:r>
          </a:p>
        </p:txBody>
      </p:sp>
      <p:sp>
        <p:nvSpPr>
          <p:cNvPr id="100" name="文本框 99"/>
          <p:cNvSpPr txBox="1"/>
          <p:nvPr/>
        </p:nvSpPr>
        <p:spPr>
          <a:xfrm>
            <a:off x="1499755" y="2432857"/>
            <a:ext cx="10057661" cy="3508653"/>
          </a:xfrm>
          <a:prstGeom prst="rect">
            <a:avLst/>
          </a:prstGeom>
          <a:noFill/>
          <a:ln w="9525">
            <a:noFill/>
          </a:ln>
        </p:spPr>
        <p:txBody>
          <a:bodyPr wrap="square">
            <a:spAutoFit/>
          </a:bodyPr>
          <a:lstStyle/>
          <a:p>
            <a:pPr marL="0" indent="0" algn="l" fontAlgn="auto">
              <a:lnSpc>
                <a:spcPct val="130000"/>
              </a:lnSpc>
            </a:pPr>
            <a:r>
              <a:rPr lang="en-US" sz="2000" b="0" u="none" dirty="0">
                <a:latin typeface="宋体" panose="02010600030101010101" pitchFamily="2" charset="-122"/>
                <a:ea typeface="宋体" panose="02010600030101010101" pitchFamily="2" charset="-122"/>
                <a:cs typeface="宋体" panose="02010600030101010101" pitchFamily="2" charset="-122"/>
              </a:rPr>
              <a:t>    </a:t>
            </a:r>
            <a:r>
              <a:rPr sz="2000" b="0" u="none" dirty="0">
                <a:latin typeface="宋体" panose="02010600030101010101" pitchFamily="2" charset="-122"/>
                <a:ea typeface="宋体" panose="02010600030101010101" pitchFamily="2" charset="-122"/>
                <a:cs typeface="宋体" panose="02010600030101010101" pitchFamily="2" charset="-122"/>
              </a:rPr>
              <a:t>过程设计应在数据设计、体系结构设计、接口设计完成之后进行，它是详细设计阶段应该完成的主要任务。过程设计的任务不是具体地编写程序，而是逻辑上设计出能正确实现每个模块功能的处理过程，应尽可能简明易懂。</a:t>
            </a:r>
          </a:p>
          <a:p>
            <a:pPr marL="0" indent="0" algn="l" fontAlgn="auto">
              <a:lnSpc>
                <a:spcPct val="130000"/>
              </a:lnSpc>
            </a:pPr>
            <a:r>
              <a:rPr lang="en-US" sz="2000" b="0" u="none" dirty="0">
                <a:latin typeface="宋体" panose="02010600030101010101" pitchFamily="2" charset="-122"/>
                <a:ea typeface="宋体" panose="02010600030101010101" pitchFamily="2" charset="-122"/>
                <a:cs typeface="宋体" panose="02010600030101010101" pitchFamily="2" charset="-122"/>
              </a:rPr>
              <a:t>    </a:t>
            </a:r>
            <a:r>
              <a:rPr sz="2000" b="0" u="none" dirty="0">
                <a:latin typeface="宋体" panose="02010600030101010101" pitchFamily="2" charset="-122"/>
                <a:ea typeface="宋体" panose="02010600030101010101" pitchFamily="2" charset="-122"/>
                <a:cs typeface="宋体" panose="02010600030101010101" pitchFamily="2" charset="-122"/>
              </a:rPr>
              <a:t>数据流是软件开发者分析设计的基础，在需求分析（SA）阶段用数据流图（DFD图）来描述数据从系统的输入端到输出端所经历的一系列变换或处理，在系统设计阶段要将数据流图表示的系统逻辑模型转化为软件结构设计的描述，可用结构图（SC图）描述。这就是包括SA与SD在内的面向数据流的设计方法。</a:t>
            </a:r>
          </a:p>
          <a:p>
            <a:pPr marL="0" indent="0" algn="l" fontAlgn="auto"/>
            <a:endParaRPr lang="zh-CN" altLang="en-US" sz="2000" b="0" u="none" dirty="0">
              <a:latin typeface="宋体" panose="02010600030101010101" pitchFamily="2" charset="-122"/>
              <a:ea typeface="宋体" panose="02010600030101010101" pitchFamily="2" charset="-122"/>
              <a:cs typeface="宋体" panose="02010600030101010101" pitchFamily="2" charset="-122"/>
            </a:endParaRPr>
          </a:p>
          <a:p>
            <a:pPr marL="0" indent="0" algn="l" fontAlgn="auto"/>
            <a:r>
              <a:rPr lang="en-US" altLang="zh-CN" sz="2000" b="0" u="none" dirty="0">
                <a:latin typeface="宋体" panose="02010600030101010101" pitchFamily="2" charset="-122"/>
                <a:ea typeface="宋体" panose="02010600030101010101" pitchFamily="2" charset="-122"/>
                <a:cs typeface="宋体" panose="02010600030101010101" pitchFamily="2" charset="-122"/>
              </a:rPr>
              <a:t>   </a:t>
            </a:r>
            <a:endParaRPr lang="zh-CN" altLang="en-US" sz="2000" b="0" u="none"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ransition>
    <p:wipe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8"/>
          <p:cNvSpPr>
            <a:spLocks noGrp="1"/>
          </p:cNvSpPr>
          <p:nvPr>
            <p:ph type="title"/>
          </p:nvPr>
        </p:nvSpPr>
        <p:spPr>
          <a:xfrm>
            <a:off x="720000" y="360000"/>
            <a:ext cx="8415337" cy="480131"/>
          </a:xfrm>
        </p:spPr>
        <p:txBody>
          <a:bodyPr/>
          <a:lstStyle/>
          <a:p>
            <a:r>
              <a:rPr lang="en-US" altLang="zh-CN">
                <a:sym typeface="+mn-ea"/>
              </a:rPr>
              <a:t>3.</a:t>
            </a:r>
            <a:r>
              <a:rPr lang="en-US">
                <a:sym typeface="+mn-ea"/>
              </a:rPr>
              <a:t>4 </a:t>
            </a:r>
            <a:r>
              <a:rPr lang="zh-CN" altLang="en-US">
                <a:sym typeface="+mn-ea"/>
              </a:rPr>
              <a:t>面向数据流的设计方法</a:t>
            </a:r>
            <a:endParaRPr lang="zh-CN" altLang="en-US"/>
          </a:p>
        </p:txBody>
      </p:sp>
      <p:grpSp>
        <p:nvGrpSpPr>
          <p:cNvPr id="3" name="组合 2"/>
          <p:cNvGrpSpPr/>
          <p:nvPr/>
        </p:nvGrpSpPr>
        <p:grpSpPr>
          <a:xfrm>
            <a:off x="769371" y="2683686"/>
            <a:ext cx="10476865" cy="3021965"/>
            <a:chOff x="1188" y="3607"/>
            <a:chExt cx="16499" cy="4759"/>
          </a:xfrm>
        </p:grpSpPr>
        <p:grpSp>
          <p:nvGrpSpPr>
            <p:cNvPr id="21" name="组合 20"/>
            <p:cNvGrpSpPr/>
            <p:nvPr/>
          </p:nvGrpSpPr>
          <p:grpSpPr>
            <a:xfrm>
              <a:off x="1188" y="3607"/>
              <a:ext cx="7298" cy="1455"/>
              <a:chOff x="2060" y="3526"/>
              <a:chExt cx="7298" cy="1455"/>
            </a:xfrm>
          </p:grpSpPr>
          <p:sp>
            <p:nvSpPr>
              <p:cNvPr id="4" name="MH_Other_1"/>
              <p:cNvSpPr>
                <a:spLocks noChangeArrowheads="1"/>
              </p:cNvSpPr>
              <p:nvPr>
                <p:custDataLst>
                  <p:tags r:id="rId16"/>
                </p:custDataLst>
              </p:nvPr>
            </p:nvSpPr>
            <p:spPr bwMode="auto">
              <a:xfrm>
                <a:off x="2060" y="3526"/>
                <a:ext cx="1060" cy="79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5" name="MH_Other_2"/>
              <p:cNvSpPr>
                <a:spLocks noChangeArrowheads="1"/>
              </p:cNvSpPr>
              <p:nvPr>
                <p:custDataLst>
                  <p:tags r:id="rId17"/>
                </p:custDataLst>
              </p:nvPr>
            </p:nvSpPr>
            <p:spPr bwMode="auto">
              <a:xfrm>
                <a:off x="3180" y="3691"/>
                <a:ext cx="840" cy="63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3"/>
              <p:cNvSpPr>
                <a:spLocks noChangeArrowheads="1"/>
              </p:cNvSpPr>
              <p:nvPr>
                <p:custDataLst>
                  <p:tags r:id="rId18"/>
                </p:custDataLst>
              </p:nvPr>
            </p:nvSpPr>
            <p:spPr bwMode="auto">
              <a:xfrm>
                <a:off x="2300" y="4366"/>
                <a:ext cx="820" cy="61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 name="MH_Other_4"/>
              <p:cNvSpPr>
                <a:spLocks noChangeArrowheads="1"/>
              </p:cNvSpPr>
              <p:nvPr>
                <p:custDataLst>
                  <p:tags r:id="rId19"/>
                </p:custDataLst>
              </p:nvPr>
            </p:nvSpPr>
            <p:spPr bwMode="auto">
              <a:xfrm>
                <a:off x="3180" y="4366"/>
                <a:ext cx="1060" cy="52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SubTitle_1"/>
              <p:cNvSpPr/>
              <p:nvPr>
                <p:custDataLst>
                  <p:tags r:id="rId20"/>
                </p:custDataLst>
              </p:nvPr>
            </p:nvSpPr>
            <p:spPr>
              <a:xfrm>
                <a:off x="4410" y="3795"/>
                <a:ext cx="4948" cy="571"/>
              </a:xfrm>
              <a:prstGeom prst="rect">
                <a:avLst/>
              </a:prstGeom>
            </p:spPr>
            <p:txBody>
              <a:bodyPr lIns="0" tIns="0" rIns="0" bIns="0" anchor="ctr">
                <a:noAutofit/>
              </a:bodyPr>
              <a:lstStyle/>
              <a:p>
                <a:pPr>
                  <a:lnSpc>
                    <a:spcPct val="140000"/>
                  </a:lnSpc>
                  <a:defRPr/>
                </a:pPr>
                <a:r>
                  <a:rPr lang="en-US" altLang="zh-CN" sz="1600" dirty="0">
                    <a:solidFill>
                      <a:srgbClr val="000000"/>
                    </a:solidFill>
                    <a:latin typeface="微软雅黑" panose="020B0503020204020204" charset="-122"/>
                    <a:ea typeface="微软雅黑" panose="020B0503020204020204" charset="-122"/>
                    <a:sym typeface="+mn-ea"/>
                  </a:rPr>
                  <a:t>       </a:t>
                </a:r>
                <a:r>
                  <a:rPr lang="zh-CN" altLang="en-US" sz="1600" dirty="0">
                    <a:solidFill>
                      <a:srgbClr val="000000"/>
                    </a:solidFill>
                    <a:latin typeface="微软雅黑" panose="020B0503020204020204" charset="-122"/>
                    <a:ea typeface="微软雅黑" panose="020B0503020204020204" charset="-122"/>
                    <a:sym typeface="+mn-ea"/>
                  </a:rPr>
                  <a:t>对数据流图进行复审，必要时修改或细化。</a:t>
                </a:r>
              </a:p>
            </p:txBody>
          </p:sp>
        </p:grpSp>
        <p:grpSp>
          <p:nvGrpSpPr>
            <p:cNvPr id="22" name="组合 21"/>
            <p:cNvGrpSpPr/>
            <p:nvPr/>
          </p:nvGrpSpPr>
          <p:grpSpPr>
            <a:xfrm>
              <a:off x="9776" y="3607"/>
              <a:ext cx="7755" cy="1455"/>
              <a:chOff x="7327" y="7570"/>
              <a:chExt cx="7755" cy="1455"/>
            </a:xfrm>
          </p:grpSpPr>
          <p:sp>
            <p:nvSpPr>
              <p:cNvPr id="9" name="MH_Other_5"/>
              <p:cNvSpPr>
                <a:spLocks noChangeArrowheads="1"/>
              </p:cNvSpPr>
              <p:nvPr>
                <p:custDataLst>
                  <p:tags r:id="rId11"/>
                </p:custDataLst>
              </p:nvPr>
            </p:nvSpPr>
            <p:spPr bwMode="auto">
              <a:xfrm>
                <a:off x="7327" y="7570"/>
                <a:ext cx="1060" cy="795"/>
              </a:xfrm>
              <a:prstGeom prst="rect">
                <a:avLst/>
              </a:prstGeom>
              <a:solidFill>
                <a:srgbClr val="4FB469"/>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03</a:t>
                </a:r>
                <a:endParaRPr lang="zh-CN" altLang="en-US" sz="2400" b="1" dirty="0">
                  <a:solidFill>
                    <a:srgbClr val="FFFFFF"/>
                  </a:solidFill>
                  <a:ea typeface="微软雅黑" panose="020B0503020204020204" charset="-122"/>
                </a:endParaRPr>
              </a:p>
            </p:txBody>
          </p:sp>
          <p:sp>
            <p:nvSpPr>
              <p:cNvPr id="10" name="MH_Other_6"/>
              <p:cNvSpPr>
                <a:spLocks noChangeArrowheads="1"/>
              </p:cNvSpPr>
              <p:nvPr>
                <p:custDataLst>
                  <p:tags r:id="rId12"/>
                </p:custDataLst>
              </p:nvPr>
            </p:nvSpPr>
            <p:spPr bwMode="auto">
              <a:xfrm>
                <a:off x="8447" y="7735"/>
                <a:ext cx="840" cy="63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1" name="MH_Other_7"/>
              <p:cNvSpPr>
                <a:spLocks noChangeArrowheads="1"/>
              </p:cNvSpPr>
              <p:nvPr>
                <p:custDataLst>
                  <p:tags r:id="rId13"/>
                </p:custDataLst>
              </p:nvPr>
            </p:nvSpPr>
            <p:spPr bwMode="auto">
              <a:xfrm>
                <a:off x="7567" y="8410"/>
                <a:ext cx="820" cy="61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Other_8"/>
              <p:cNvSpPr>
                <a:spLocks noChangeArrowheads="1"/>
              </p:cNvSpPr>
              <p:nvPr>
                <p:custDataLst>
                  <p:tags r:id="rId14"/>
                </p:custDataLst>
              </p:nvPr>
            </p:nvSpPr>
            <p:spPr bwMode="auto">
              <a:xfrm>
                <a:off x="8447" y="8410"/>
                <a:ext cx="1060" cy="52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SubTitle_3"/>
              <p:cNvSpPr/>
              <p:nvPr>
                <p:custDataLst>
                  <p:tags r:id="rId15"/>
                </p:custDataLst>
              </p:nvPr>
            </p:nvSpPr>
            <p:spPr>
              <a:xfrm>
                <a:off x="9768" y="7735"/>
                <a:ext cx="5314" cy="1280"/>
              </a:xfrm>
              <a:prstGeom prst="rect">
                <a:avLst/>
              </a:prstGeom>
            </p:spPr>
            <p:txBody>
              <a:bodyPr lIns="0" tIns="0" rIns="0" bIns="0" anchor="ctr">
                <a:noAutofit/>
              </a:bodyPr>
              <a:lstStyle/>
              <a:p>
                <a:pPr>
                  <a:lnSpc>
                    <a:spcPct val="130000"/>
                  </a:lnSpc>
                  <a:defRPr/>
                </a:pPr>
                <a:r>
                  <a:rPr lang="en-US" altLang="zh-CN" sz="1600" dirty="0">
                    <a:solidFill>
                      <a:srgbClr val="000000"/>
                    </a:solidFill>
                    <a:latin typeface="微软雅黑" panose="020B0503020204020204" charset="-122"/>
                    <a:ea typeface="微软雅黑" panose="020B0503020204020204" charset="-122"/>
                    <a:sym typeface="+mn-ea"/>
                  </a:rPr>
                  <a:t>       </a:t>
                </a:r>
                <a:r>
                  <a:rPr lang="zh-CN" altLang="en-US" sz="1600" dirty="0">
                    <a:solidFill>
                      <a:srgbClr val="000000"/>
                    </a:solidFill>
                    <a:latin typeface="微软雅黑" panose="020B0503020204020204" charset="-122"/>
                    <a:ea typeface="微软雅黑" panose="020B0503020204020204" charset="-122"/>
                    <a:sym typeface="+mn-ea"/>
                  </a:rPr>
                  <a:t>把数据流图映射成结构图。要先区分数据流图的类型是变换型还是事务型，这两种类型的系统在进行过程设 计时是有区别的。</a:t>
                </a:r>
              </a:p>
            </p:txBody>
          </p:sp>
        </p:grpSp>
        <p:grpSp>
          <p:nvGrpSpPr>
            <p:cNvPr id="20" name="组合 19"/>
            <p:cNvGrpSpPr/>
            <p:nvPr/>
          </p:nvGrpSpPr>
          <p:grpSpPr>
            <a:xfrm>
              <a:off x="1188" y="6911"/>
              <a:ext cx="7298" cy="1455"/>
              <a:chOff x="4720" y="5568"/>
              <a:chExt cx="7298" cy="1455"/>
            </a:xfrm>
          </p:grpSpPr>
          <p:sp>
            <p:nvSpPr>
              <p:cNvPr id="14" name="MH_Other_9"/>
              <p:cNvSpPr>
                <a:spLocks noChangeArrowheads="1"/>
              </p:cNvSpPr>
              <p:nvPr>
                <p:custDataLst>
                  <p:tags r:id="rId6"/>
                </p:custDataLst>
              </p:nvPr>
            </p:nvSpPr>
            <p:spPr bwMode="auto">
              <a:xfrm>
                <a:off x="4720" y="5568"/>
                <a:ext cx="1060" cy="79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5" name="MH_Other_10"/>
              <p:cNvSpPr>
                <a:spLocks noChangeArrowheads="1"/>
              </p:cNvSpPr>
              <p:nvPr>
                <p:custDataLst>
                  <p:tags r:id="rId7"/>
                </p:custDataLst>
              </p:nvPr>
            </p:nvSpPr>
            <p:spPr bwMode="auto">
              <a:xfrm>
                <a:off x="5840" y="5733"/>
                <a:ext cx="840" cy="63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6" name="MH_Other_11"/>
              <p:cNvSpPr>
                <a:spLocks noChangeArrowheads="1"/>
              </p:cNvSpPr>
              <p:nvPr>
                <p:custDataLst>
                  <p:tags r:id="rId8"/>
                </p:custDataLst>
              </p:nvPr>
            </p:nvSpPr>
            <p:spPr bwMode="auto">
              <a:xfrm>
                <a:off x="4960" y="6408"/>
                <a:ext cx="820" cy="61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7" name="MH_Other_12"/>
              <p:cNvSpPr>
                <a:spLocks noChangeArrowheads="1"/>
              </p:cNvSpPr>
              <p:nvPr>
                <p:custDataLst>
                  <p:tags r:id="rId9"/>
                </p:custDataLst>
              </p:nvPr>
            </p:nvSpPr>
            <p:spPr bwMode="auto">
              <a:xfrm>
                <a:off x="5840" y="6408"/>
                <a:ext cx="1060" cy="52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SubTitle_2"/>
              <p:cNvSpPr/>
              <p:nvPr>
                <p:custDataLst>
                  <p:tags r:id="rId10"/>
                </p:custDataLst>
              </p:nvPr>
            </p:nvSpPr>
            <p:spPr>
              <a:xfrm>
                <a:off x="7070" y="5733"/>
                <a:ext cx="4948" cy="1280"/>
              </a:xfrm>
              <a:prstGeom prst="rect">
                <a:avLst/>
              </a:prstGeom>
            </p:spPr>
            <p:txBody>
              <a:bodyPr lIns="0" tIns="0" rIns="0" bIns="0" anchor="ctr">
                <a:noAutofit/>
              </a:bodyPr>
              <a:lstStyle/>
              <a:p>
                <a:pPr lvl="0" algn="just">
                  <a:lnSpc>
                    <a:spcPct val="120000"/>
                  </a:lnSpc>
                  <a:spcBef>
                    <a:spcPct val="0"/>
                  </a:spcBef>
                </a:pPr>
                <a:r>
                  <a:rPr lang="zh-CN" altLang="en-US" sz="1600" dirty="0">
                    <a:solidFill>
                      <a:srgbClr val="000000"/>
                    </a:solidFill>
                    <a:latin typeface="微软雅黑" panose="020B0503020204020204" charset="-122"/>
                    <a:ea typeface="微软雅黑" panose="020B0503020204020204" charset="-122"/>
                    <a:sym typeface="+mn-ea"/>
                  </a:rPr>
                  <a:t>       根据数据流图确定软件结构属于变换型还是事务型，然后分别处理。</a:t>
                </a:r>
              </a:p>
            </p:txBody>
          </p:sp>
        </p:grpSp>
        <p:grpSp>
          <p:nvGrpSpPr>
            <p:cNvPr id="23" name="组合 22"/>
            <p:cNvGrpSpPr/>
            <p:nvPr/>
          </p:nvGrpSpPr>
          <p:grpSpPr>
            <a:xfrm>
              <a:off x="9776" y="6911"/>
              <a:ext cx="7911" cy="1455"/>
              <a:chOff x="7327" y="7570"/>
              <a:chExt cx="7911" cy="1455"/>
            </a:xfrm>
          </p:grpSpPr>
          <p:sp>
            <p:nvSpPr>
              <p:cNvPr id="24" name="MH_Other_5"/>
              <p:cNvSpPr>
                <a:spLocks noChangeArrowheads="1"/>
              </p:cNvSpPr>
              <p:nvPr>
                <p:custDataLst>
                  <p:tags r:id="rId1"/>
                </p:custDataLst>
              </p:nvPr>
            </p:nvSpPr>
            <p:spPr bwMode="auto">
              <a:xfrm>
                <a:off x="7327" y="7570"/>
                <a:ext cx="1060" cy="795"/>
              </a:xfrm>
              <a:prstGeom prst="rect">
                <a:avLst/>
              </a:prstGeom>
              <a:solidFill>
                <a:schemeClr val="accent4">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25" name="MH_Other_6"/>
              <p:cNvSpPr>
                <a:spLocks noChangeArrowheads="1"/>
              </p:cNvSpPr>
              <p:nvPr>
                <p:custDataLst>
                  <p:tags r:id="rId2"/>
                </p:custDataLst>
              </p:nvPr>
            </p:nvSpPr>
            <p:spPr bwMode="auto">
              <a:xfrm>
                <a:off x="8447" y="7735"/>
                <a:ext cx="840" cy="630"/>
              </a:xfrm>
              <a:prstGeom prst="rect">
                <a:avLst/>
              </a:prstGeom>
              <a:solidFill>
                <a:schemeClr val="accent4">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7"/>
              <p:cNvSpPr>
                <a:spLocks noChangeArrowheads="1"/>
              </p:cNvSpPr>
              <p:nvPr>
                <p:custDataLst>
                  <p:tags r:id="rId3"/>
                </p:custDataLst>
              </p:nvPr>
            </p:nvSpPr>
            <p:spPr bwMode="auto">
              <a:xfrm>
                <a:off x="7567" y="8410"/>
                <a:ext cx="820" cy="615"/>
              </a:xfrm>
              <a:prstGeom prst="rect">
                <a:avLst/>
              </a:prstGeom>
              <a:solidFill>
                <a:schemeClr val="accent4">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8"/>
              <p:cNvSpPr>
                <a:spLocks noChangeArrowheads="1"/>
              </p:cNvSpPr>
              <p:nvPr>
                <p:custDataLst>
                  <p:tags r:id="rId4"/>
                </p:custDataLst>
              </p:nvPr>
            </p:nvSpPr>
            <p:spPr bwMode="auto">
              <a:xfrm>
                <a:off x="8447" y="8410"/>
                <a:ext cx="1060" cy="525"/>
              </a:xfrm>
              <a:prstGeom prst="rect">
                <a:avLst/>
              </a:prstGeom>
              <a:solidFill>
                <a:schemeClr val="accent4">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SubTitle_3"/>
              <p:cNvSpPr/>
              <p:nvPr>
                <p:custDataLst>
                  <p:tags r:id="rId5"/>
                </p:custDataLst>
              </p:nvPr>
            </p:nvSpPr>
            <p:spPr>
              <a:xfrm>
                <a:off x="9612" y="7745"/>
                <a:ext cx="5626" cy="1280"/>
              </a:xfrm>
              <a:prstGeom prst="rect">
                <a:avLst/>
              </a:prstGeom>
            </p:spPr>
            <p:txBody>
              <a:bodyPr lIns="0" tIns="0" rIns="0" bIns="0" anchor="ctr">
                <a:noAutofit/>
              </a:bodyPr>
              <a:lstStyle/>
              <a:p>
                <a:pPr>
                  <a:lnSpc>
                    <a:spcPct val="130000"/>
                  </a:lnSpc>
                  <a:defRPr/>
                </a:pPr>
                <a:r>
                  <a:rPr lang="en-US" altLang="zh-CN" sz="1600" dirty="0">
                    <a:solidFill>
                      <a:srgbClr val="000000"/>
                    </a:solidFill>
                    <a:latin typeface="微软雅黑" panose="020B0503020204020204" charset="-122"/>
                    <a:ea typeface="微软雅黑" panose="020B0503020204020204" charset="-122"/>
                    <a:sym typeface="+mn-ea"/>
                  </a:rPr>
                  <a:t>      </a:t>
                </a:r>
                <a:r>
                  <a:rPr lang="zh-CN" altLang="en-US" sz="1600" dirty="0">
                    <a:solidFill>
                      <a:srgbClr val="000000"/>
                    </a:solidFill>
                    <a:latin typeface="微软雅黑" panose="020B0503020204020204" charset="-122"/>
                    <a:ea typeface="微软雅黑" panose="020B0503020204020204" charset="-122"/>
                    <a:sym typeface="+mn-ea"/>
                  </a:rPr>
                  <a:t>改进结构图，使设计更完善。</a:t>
                </a:r>
              </a:p>
            </p:txBody>
          </p:sp>
        </p:grpSp>
      </p:grpSp>
      <p:sp>
        <p:nvSpPr>
          <p:cNvPr id="29" name="文本框 5"/>
          <p:cNvSpPr txBox="1"/>
          <p:nvPr/>
        </p:nvSpPr>
        <p:spPr>
          <a:xfrm>
            <a:off x="662270" y="1474530"/>
            <a:ext cx="10542542" cy="812530"/>
          </a:xfrm>
          <a:prstGeom prst="rect">
            <a:avLst/>
          </a:prstGeom>
          <a:noFill/>
        </p:spPr>
        <p:txBody>
          <a:bodyPr wrap="square" rtlCol="0">
            <a:spAutoFit/>
          </a:bodyPr>
          <a:lstStyle/>
          <a:p>
            <a:pPr>
              <a:lnSpc>
                <a:spcPct val="130000"/>
              </a:lnSpc>
            </a:pPr>
            <a:r>
              <a:rPr lang="en-US" altLang="zh-CN"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b="1" dirty="0">
                <a:latin typeface="宋体" panose="02010600030101010101" pitchFamily="2" charset="-122"/>
                <a:ea typeface="宋体" panose="02010600030101010101" pitchFamily="2" charset="-122"/>
                <a:cs typeface="宋体" panose="02010600030101010101" pitchFamily="2" charset="-122"/>
                <a:sym typeface="+mn-ea"/>
              </a:rPr>
              <a:t>面向数据流的设计方法主张采用</a:t>
            </a:r>
            <a:r>
              <a:rPr lang="zh-CN" altLang="en-US" b="1" dirty="0">
                <a:solidFill>
                  <a:schemeClr val="accent1">
                    <a:lumMod val="50000"/>
                  </a:schemeClr>
                </a:solidFill>
                <a:latin typeface="宋体" panose="02010600030101010101" pitchFamily="2" charset="-122"/>
                <a:ea typeface="宋体" panose="02010600030101010101" pitchFamily="2" charset="-122"/>
                <a:cs typeface="宋体" panose="02010600030101010101" pitchFamily="2" charset="-122"/>
                <a:sym typeface="+mn-ea"/>
              </a:rPr>
              <a:t>自顶向下、逐步求精</a:t>
            </a:r>
            <a:r>
              <a:rPr lang="zh-CN" altLang="en-US" b="1" dirty="0">
                <a:latin typeface="宋体" panose="02010600030101010101" pitchFamily="2" charset="-122"/>
                <a:ea typeface="宋体" panose="02010600030101010101" pitchFamily="2" charset="-122"/>
                <a:cs typeface="宋体" panose="02010600030101010101" pitchFamily="2" charset="-122"/>
                <a:sym typeface="+mn-ea"/>
              </a:rPr>
              <a:t>的方法，通过对系统功能进行逐步分解，能将复杂问题逐步分解为容易理解的较小问题，这些较小的问题具有良好的边界（目标和接口）定义。</a:t>
            </a:r>
          </a:p>
        </p:txBody>
      </p:sp>
    </p:spTree>
  </p:cSld>
  <p:clrMapOvr>
    <a:masterClrMapping/>
  </p:clrMapOvr>
  <p:transition>
    <p:wipe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4 </a:t>
            </a:r>
            <a:r>
              <a:rPr lang="zh-CN" altLang="en-US">
                <a:sym typeface="+mn-ea"/>
              </a:rPr>
              <a:t>面向数据流的设计方法</a:t>
            </a:r>
            <a:endParaRPr lang="zh-CN" altLang="en-US"/>
          </a:p>
        </p:txBody>
      </p:sp>
      <p:grpSp>
        <p:nvGrpSpPr>
          <p:cNvPr id="7" name="组合 6"/>
          <p:cNvGrpSpPr/>
          <p:nvPr/>
        </p:nvGrpSpPr>
        <p:grpSpPr>
          <a:xfrm>
            <a:off x="1160145" y="2517050"/>
            <a:ext cx="9871193" cy="3886445"/>
            <a:chOff x="677" y="2256"/>
            <a:chExt cx="17939" cy="7585"/>
          </a:xfrm>
        </p:grpSpPr>
        <p:grpSp>
          <p:nvGrpSpPr>
            <p:cNvPr id="6" name="组合 5"/>
            <p:cNvGrpSpPr/>
            <p:nvPr/>
          </p:nvGrpSpPr>
          <p:grpSpPr>
            <a:xfrm>
              <a:off x="2054" y="2256"/>
              <a:ext cx="15060" cy="2487"/>
              <a:chOff x="2054" y="2256"/>
              <a:chExt cx="15060" cy="2487"/>
            </a:xfrm>
          </p:grpSpPr>
          <p:sp>
            <p:nvSpPr>
              <p:cNvPr id="17415" name="Oval 5"/>
              <p:cNvSpPr>
                <a:spLocks noChangeArrowheads="1"/>
              </p:cNvSpPr>
              <p:nvPr>
                <p:custDataLst>
                  <p:tags r:id="rId4"/>
                </p:custDataLst>
              </p:nvPr>
            </p:nvSpPr>
            <p:spPr bwMode="auto">
              <a:xfrm>
                <a:off x="8341" y="2256"/>
                <a:ext cx="2487" cy="2487"/>
              </a:xfrm>
              <a:prstGeom prst="ellipse">
                <a:avLst/>
              </a:prstGeom>
              <a:solidFill>
                <a:schemeClr val="accent3">
                  <a:lumMod val="60000"/>
                  <a:lumOff val="40000"/>
                </a:scheme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a:solidFill>
                      <a:schemeClr val="bg1"/>
                    </a:solidFill>
                    <a:latin typeface="+mn-lt"/>
                    <a:ea typeface="+mn-ea"/>
                  </a:rPr>
                  <a:t>02</a:t>
                </a:r>
              </a:p>
            </p:txBody>
          </p:sp>
          <p:sp>
            <p:nvSpPr>
              <p:cNvPr id="17416" name="Line 6"/>
              <p:cNvSpPr>
                <a:spLocks noChangeShapeType="1"/>
              </p:cNvSpPr>
              <p:nvPr>
                <p:custDataLst>
                  <p:tags r:id="rId5"/>
                </p:custDataLst>
              </p:nvPr>
            </p:nvSpPr>
            <p:spPr bwMode="auto">
              <a:xfrm>
                <a:off x="11233" y="3606"/>
                <a:ext cx="2990" cy="0"/>
              </a:xfrm>
              <a:prstGeom prst="line">
                <a:avLst/>
              </a:prstGeom>
              <a:noFill/>
              <a:ln w="28575" cmpd="sng">
                <a:solidFill>
                  <a:srgbClr val="D74B4B"/>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sym typeface="Arial" panose="020B0604020202020204" pitchFamily="34" charset="0"/>
                </a:endParaRPr>
              </a:p>
            </p:txBody>
          </p:sp>
          <p:sp>
            <p:nvSpPr>
              <p:cNvPr id="17417" name="Oval 7"/>
              <p:cNvSpPr>
                <a:spLocks noChangeArrowheads="1"/>
              </p:cNvSpPr>
              <p:nvPr>
                <p:custDataLst>
                  <p:tags r:id="rId6"/>
                </p:custDataLst>
              </p:nvPr>
            </p:nvSpPr>
            <p:spPr bwMode="auto">
              <a:xfrm>
                <a:off x="14627" y="2256"/>
                <a:ext cx="2487" cy="2487"/>
              </a:xfrm>
              <a:prstGeom prst="ellipse">
                <a:avLst/>
              </a:prstGeom>
              <a:solidFill>
                <a:schemeClr val="accent3">
                  <a:lumMod val="75000"/>
                </a:scheme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a:solidFill>
                      <a:schemeClr val="bg1"/>
                    </a:solidFill>
                    <a:latin typeface="+mn-lt"/>
                    <a:ea typeface="+mn-ea"/>
                  </a:rPr>
                  <a:t>03</a:t>
                </a:r>
              </a:p>
            </p:txBody>
          </p:sp>
          <p:sp>
            <p:nvSpPr>
              <p:cNvPr id="17418" name="Oval 8"/>
              <p:cNvSpPr>
                <a:spLocks noChangeArrowheads="1"/>
              </p:cNvSpPr>
              <p:nvPr>
                <p:custDataLst>
                  <p:tags r:id="rId7"/>
                </p:custDataLst>
              </p:nvPr>
            </p:nvSpPr>
            <p:spPr bwMode="auto">
              <a:xfrm>
                <a:off x="2054" y="2256"/>
                <a:ext cx="2487" cy="2487"/>
              </a:xfrm>
              <a:prstGeom prst="ellipse">
                <a:avLst/>
              </a:prstGeom>
              <a:solidFill>
                <a:schemeClr val="accent3">
                  <a:lumMod val="40000"/>
                  <a:lumOff val="60000"/>
                </a:scheme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dirty="0">
                    <a:solidFill>
                      <a:schemeClr val="bg1"/>
                    </a:solidFill>
                    <a:latin typeface="+mn-lt"/>
                    <a:ea typeface="+mn-ea"/>
                  </a:rPr>
                  <a:t>01</a:t>
                </a:r>
              </a:p>
            </p:txBody>
          </p:sp>
          <p:sp>
            <p:nvSpPr>
              <p:cNvPr id="17419" name="Line 9"/>
              <p:cNvSpPr>
                <a:spLocks noChangeShapeType="1"/>
              </p:cNvSpPr>
              <p:nvPr>
                <p:custDataLst>
                  <p:tags r:id="rId8"/>
                </p:custDataLst>
              </p:nvPr>
            </p:nvSpPr>
            <p:spPr bwMode="auto">
              <a:xfrm>
                <a:off x="4946" y="3606"/>
                <a:ext cx="2990" cy="0"/>
              </a:xfrm>
              <a:prstGeom prst="line">
                <a:avLst/>
              </a:prstGeom>
              <a:noFill/>
              <a:ln w="28575" cmpd="sng">
                <a:solidFill>
                  <a:srgbClr val="D74B4B"/>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sym typeface="Arial" panose="020B0604020202020204" pitchFamily="34" charset="0"/>
                </a:endParaRPr>
              </a:p>
            </p:txBody>
          </p:sp>
        </p:grpSp>
        <p:sp>
          <p:nvSpPr>
            <p:cNvPr id="4" name="文本框 3"/>
            <p:cNvSpPr txBox="1"/>
            <p:nvPr>
              <p:custDataLst>
                <p:tags r:id="rId1"/>
              </p:custDataLst>
            </p:nvPr>
          </p:nvSpPr>
          <p:spPr>
            <a:xfrm>
              <a:off x="677" y="5237"/>
              <a:ext cx="5241" cy="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a:lnSpc>
                  <a:spcPct val="120000"/>
                </a:lnSpc>
              </a:pPr>
              <a:r>
                <a:rPr lang="en-US" altLang="zh-CN" dirty="0"/>
                <a:t>	       </a:t>
              </a:r>
              <a:r>
                <a:rPr lang="zh-CN" altLang="en-US" dirty="0"/>
                <a:t>对变换型数据流图，要划分出数据输入、数据输出和变换中心3个部分，在数据流图上用虚线标明分界线。</a:t>
              </a:r>
            </a:p>
          </p:txBody>
        </p:sp>
        <p:sp>
          <p:nvSpPr>
            <p:cNvPr id="5" name="文本框 4"/>
            <p:cNvSpPr txBox="1"/>
            <p:nvPr>
              <p:custDataLst>
                <p:tags r:id="rId2"/>
              </p:custDataLst>
            </p:nvPr>
          </p:nvSpPr>
          <p:spPr>
            <a:xfrm>
              <a:off x="6963" y="5237"/>
              <a:ext cx="5241" cy="3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a:lnSpc>
                  <a:spcPct val="120000"/>
                </a:lnSpc>
              </a:pPr>
              <a:r>
                <a:rPr lang="en-US" altLang="zh-CN" dirty="0"/>
                <a:t>       </a:t>
              </a:r>
              <a:r>
                <a:rPr lang="zh-CN" altLang="en-US" dirty="0"/>
                <a:t>画出初始的结构图，顶层是主控模块，下层（第一层）一般包括输入、输出、变换3个模块。沿数据调用线标注数据流的名称。</a:t>
              </a:r>
            </a:p>
          </p:txBody>
        </p:sp>
        <p:sp>
          <p:nvSpPr>
            <p:cNvPr id="8" name="文本框 7"/>
            <p:cNvSpPr txBox="1"/>
            <p:nvPr>
              <p:custDataLst>
                <p:tags r:id="rId3"/>
              </p:custDataLst>
            </p:nvPr>
          </p:nvSpPr>
          <p:spPr>
            <a:xfrm>
              <a:off x="13125" y="5237"/>
              <a:ext cx="5491" cy="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normAutofit lnSpcReduction="10000"/>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a:lnSpc>
                  <a:spcPct val="120000"/>
                </a:lnSpc>
              </a:pPr>
              <a:r>
                <a:rPr lang="en-US" altLang="zh-CN" dirty="0"/>
                <a:t>       </a:t>
              </a:r>
              <a:r>
                <a:rPr lang="zh-CN" altLang="en-US" dirty="0"/>
                <a:t>根据数据流图逐步细化分解输入、输出和变换3个过程，将结构图也细化和优化。根据输入、</a:t>
              </a:r>
              <a:r>
                <a:rPr lang="zh-CN" altLang="en-US" sz="1900" dirty="0"/>
                <a:t>输出</a:t>
              </a:r>
              <a:r>
                <a:rPr lang="zh-CN" altLang="en-US" dirty="0"/>
                <a:t>和变换各需要几个模块，逐步由顶向下分解，直至画出每个底层模块为止。</a:t>
              </a:r>
            </a:p>
          </p:txBody>
        </p:sp>
      </p:grpSp>
      <p:sp>
        <p:nvSpPr>
          <p:cNvPr id="29" name="TextBox 6"/>
          <p:cNvSpPr txBox="1"/>
          <p:nvPr/>
        </p:nvSpPr>
        <p:spPr>
          <a:xfrm>
            <a:off x="809625" y="1403350"/>
            <a:ext cx="964311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3.4.1   </a:t>
            </a:r>
            <a:r>
              <a:rPr sz="2400" dirty="0">
                <a:solidFill>
                  <a:schemeClr val="tx1"/>
                </a:solidFill>
              </a:rPr>
              <a:t>变换型</a:t>
            </a:r>
          </a:p>
        </p:txBody>
      </p:sp>
      <p:grpSp>
        <p:nvGrpSpPr>
          <p:cNvPr id="33" name="组合 32"/>
          <p:cNvGrpSpPr/>
          <p:nvPr/>
        </p:nvGrpSpPr>
        <p:grpSpPr>
          <a:xfrm>
            <a:off x="6367145" y="1130210"/>
            <a:ext cx="5502275" cy="1112520"/>
            <a:chOff x="1043" y="3071"/>
            <a:chExt cx="8665" cy="1752"/>
          </a:xfrm>
        </p:grpSpPr>
        <p:sp>
          <p:nvSpPr>
            <p:cNvPr id="167" name="圆角矩形"/>
            <p:cNvSpPr/>
            <p:nvPr/>
          </p:nvSpPr>
          <p:spPr>
            <a:xfrm>
              <a:off x="1188" y="3479"/>
              <a:ext cx="8376" cy="134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4" name="学士帽"/>
            <p:cNvSpPr/>
            <p:nvPr/>
          </p:nvSpPr>
          <p:spPr bwMode="auto">
            <a:xfrm>
              <a:off x="1188" y="3071"/>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ndParaRPr>
            </a:p>
          </p:txBody>
        </p:sp>
        <p:sp>
          <p:nvSpPr>
            <p:cNvPr id="35" name="文本框 34"/>
            <p:cNvSpPr txBox="1"/>
            <p:nvPr/>
          </p:nvSpPr>
          <p:spPr>
            <a:xfrm>
              <a:off x="1043" y="3647"/>
              <a:ext cx="8665" cy="1008"/>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lang="zh-CN" altLang="en-US">
                  <a:sym typeface="+mn-ea"/>
                </a:rPr>
                <a:t>数据流进入软件系统后，经过一系列的变换，可得到所需的输出结果，这种系统属于变换型数据流。</a:t>
              </a:r>
            </a:p>
          </p:txBody>
        </p:sp>
      </p:grpSp>
    </p:spTree>
  </p:cSld>
  <p:clrMapOvr>
    <a:masterClrMapping/>
  </p:clrMapOvr>
  <p:transition>
    <p:wipe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4 </a:t>
            </a:r>
            <a:r>
              <a:rPr lang="zh-CN" altLang="en-US">
                <a:sym typeface="+mn-ea"/>
              </a:rPr>
              <a:t>面向数据流的设计方法</a:t>
            </a:r>
            <a:endParaRPr lang="zh-CN" altLang="en-US"/>
          </a:p>
        </p:txBody>
      </p:sp>
      <p:grpSp>
        <p:nvGrpSpPr>
          <p:cNvPr id="7" name="组合 6"/>
          <p:cNvGrpSpPr/>
          <p:nvPr/>
        </p:nvGrpSpPr>
        <p:grpSpPr>
          <a:xfrm>
            <a:off x="1219423" y="2154149"/>
            <a:ext cx="9841479" cy="3160393"/>
            <a:chOff x="703" y="2256"/>
            <a:chExt cx="17885" cy="6168"/>
          </a:xfrm>
        </p:grpSpPr>
        <p:grpSp>
          <p:nvGrpSpPr>
            <p:cNvPr id="6" name="组合 5"/>
            <p:cNvGrpSpPr/>
            <p:nvPr/>
          </p:nvGrpSpPr>
          <p:grpSpPr>
            <a:xfrm>
              <a:off x="2054" y="2256"/>
              <a:ext cx="15060" cy="2487"/>
              <a:chOff x="2054" y="2256"/>
              <a:chExt cx="15060" cy="2487"/>
            </a:xfrm>
          </p:grpSpPr>
          <p:sp>
            <p:nvSpPr>
              <p:cNvPr id="17415" name="Oval 5"/>
              <p:cNvSpPr>
                <a:spLocks noChangeArrowheads="1"/>
              </p:cNvSpPr>
              <p:nvPr>
                <p:custDataLst>
                  <p:tags r:id="rId4"/>
                </p:custDataLst>
              </p:nvPr>
            </p:nvSpPr>
            <p:spPr bwMode="auto">
              <a:xfrm>
                <a:off x="8341" y="2256"/>
                <a:ext cx="2487" cy="2487"/>
              </a:xfrm>
              <a:prstGeom prst="ellipse">
                <a:avLst/>
              </a:prstGeom>
              <a:solidFill>
                <a:schemeClr val="accent3">
                  <a:lumMod val="60000"/>
                  <a:lumOff val="40000"/>
                </a:scheme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a:solidFill>
                      <a:schemeClr val="bg1"/>
                    </a:solidFill>
                    <a:latin typeface="+mn-lt"/>
                    <a:ea typeface="+mn-ea"/>
                  </a:rPr>
                  <a:t>02</a:t>
                </a:r>
              </a:p>
            </p:txBody>
          </p:sp>
          <p:sp>
            <p:nvSpPr>
              <p:cNvPr id="17416" name="Line 6"/>
              <p:cNvSpPr>
                <a:spLocks noChangeShapeType="1"/>
              </p:cNvSpPr>
              <p:nvPr>
                <p:custDataLst>
                  <p:tags r:id="rId5"/>
                </p:custDataLst>
              </p:nvPr>
            </p:nvSpPr>
            <p:spPr bwMode="auto">
              <a:xfrm>
                <a:off x="11233" y="3606"/>
                <a:ext cx="2990" cy="0"/>
              </a:xfrm>
              <a:prstGeom prst="line">
                <a:avLst/>
              </a:prstGeom>
              <a:noFill/>
              <a:ln w="28575" cmpd="sng">
                <a:solidFill>
                  <a:srgbClr val="D74B4B"/>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sym typeface="Arial" panose="020B0604020202020204" pitchFamily="34" charset="0"/>
                </a:endParaRPr>
              </a:p>
            </p:txBody>
          </p:sp>
          <p:sp>
            <p:nvSpPr>
              <p:cNvPr id="17417" name="Oval 7"/>
              <p:cNvSpPr>
                <a:spLocks noChangeArrowheads="1"/>
              </p:cNvSpPr>
              <p:nvPr>
                <p:custDataLst>
                  <p:tags r:id="rId6"/>
                </p:custDataLst>
              </p:nvPr>
            </p:nvSpPr>
            <p:spPr bwMode="auto">
              <a:xfrm>
                <a:off x="14627" y="2256"/>
                <a:ext cx="2487" cy="2487"/>
              </a:xfrm>
              <a:prstGeom prst="ellipse">
                <a:avLst/>
              </a:prstGeom>
              <a:solidFill>
                <a:schemeClr val="accent3">
                  <a:lumMod val="75000"/>
                </a:scheme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a:solidFill>
                      <a:schemeClr val="bg1"/>
                    </a:solidFill>
                    <a:latin typeface="+mn-lt"/>
                    <a:ea typeface="+mn-ea"/>
                  </a:rPr>
                  <a:t>03</a:t>
                </a:r>
              </a:p>
            </p:txBody>
          </p:sp>
          <p:sp>
            <p:nvSpPr>
              <p:cNvPr id="17418" name="Oval 8"/>
              <p:cNvSpPr>
                <a:spLocks noChangeArrowheads="1"/>
              </p:cNvSpPr>
              <p:nvPr>
                <p:custDataLst>
                  <p:tags r:id="rId7"/>
                </p:custDataLst>
              </p:nvPr>
            </p:nvSpPr>
            <p:spPr bwMode="auto">
              <a:xfrm>
                <a:off x="2054" y="2256"/>
                <a:ext cx="2487" cy="2487"/>
              </a:xfrm>
              <a:prstGeom prst="ellipse">
                <a:avLst/>
              </a:prstGeom>
              <a:solidFill>
                <a:schemeClr val="accent3">
                  <a:lumMod val="40000"/>
                  <a:lumOff val="60000"/>
                </a:scheme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dirty="0">
                    <a:solidFill>
                      <a:schemeClr val="bg1"/>
                    </a:solidFill>
                    <a:latin typeface="+mn-lt"/>
                    <a:ea typeface="+mn-ea"/>
                  </a:rPr>
                  <a:t>01</a:t>
                </a:r>
              </a:p>
            </p:txBody>
          </p:sp>
          <p:sp>
            <p:nvSpPr>
              <p:cNvPr id="17419" name="Line 9"/>
              <p:cNvSpPr>
                <a:spLocks noChangeShapeType="1"/>
              </p:cNvSpPr>
              <p:nvPr>
                <p:custDataLst>
                  <p:tags r:id="rId8"/>
                </p:custDataLst>
              </p:nvPr>
            </p:nvSpPr>
            <p:spPr bwMode="auto">
              <a:xfrm>
                <a:off x="4946" y="3606"/>
                <a:ext cx="2990" cy="0"/>
              </a:xfrm>
              <a:prstGeom prst="line">
                <a:avLst/>
              </a:prstGeom>
              <a:noFill/>
              <a:ln w="28575" cmpd="sng">
                <a:solidFill>
                  <a:srgbClr val="D74B4B"/>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mn-ea"/>
                  <a:sym typeface="Arial" panose="020B0604020202020204" pitchFamily="34" charset="0"/>
                </a:endParaRPr>
              </a:p>
            </p:txBody>
          </p:sp>
        </p:grpSp>
        <p:sp>
          <p:nvSpPr>
            <p:cNvPr id="4" name="文本框 3"/>
            <p:cNvSpPr txBox="1"/>
            <p:nvPr>
              <p:custDataLst>
                <p:tags r:id="rId1"/>
              </p:custDataLst>
            </p:nvPr>
          </p:nvSpPr>
          <p:spPr>
            <a:xfrm>
              <a:off x="703" y="4799"/>
              <a:ext cx="5241" cy="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a:lnSpc>
                  <a:spcPct val="120000"/>
                </a:lnSpc>
              </a:pPr>
              <a:r>
                <a:rPr lang="en-US" altLang="zh-CN" dirty="0"/>
                <a:t>	       </a:t>
              </a:r>
              <a:r>
                <a:rPr dirty="0"/>
                <a:t>在数据流图中确定事务中心、接受数据和全部处理路径3个部分。</a:t>
              </a:r>
            </a:p>
          </p:txBody>
        </p:sp>
        <p:sp>
          <p:nvSpPr>
            <p:cNvPr id="5" name="文本框 4"/>
            <p:cNvSpPr txBox="1"/>
            <p:nvPr>
              <p:custDataLst>
                <p:tags r:id="rId2"/>
              </p:custDataLst>
            </p:nvPr>
          </p:nvSpPr>
          <p:spPr>
            <a:xfrm>
              <a:off x="6963" y="4770"/>
              <a:ext cx="5472" cy="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a:lnSpc>
                  <a:spcPct val="120000"/>
                </a:lnSpc>
              </a:pPr>
              <a:r>
                <a:rPr lang="en-US" altLang="zh-CN" dirty="0"/>
                <a:t>       </a:t>
              </a:r>
              <a:r>
                <a:rPr dirty="0"/>
                <a:t>画出初始结构图框架，把数据流图的3个部分分别转换为事务控制模块、接受模块和处理模块。</a:t>
              </a:r>
            </a:p>
          </p:txBody>
        </p:sp>
        <p:sp>
          <p:nvSpPr>
            <p:cNvPr id="8" name="文本框 7"/>
            <p:cNvSpPr txBox="1"/>
            <p:nvPr>
              <p:custDataLst>
                <p:tags r:id="rId3"/>
              </p:custDataLst>
            </p:nvPr>
          </p:nvSpPr>
          <p:spPr>
            <a:xfrm>
              <a:off x="13097" y="4974"/>
              <a:ext cx="5491" cy="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a:lnSpc>
                  <a:spcPct val="120000"/>
                </a:lnSpc>
              </a:pPr>
              <a:r>
                <a:rPr lang="en-US" altLang="zh-CN" dirty="0"/>
                <a:t>       </a:t>
              </a:r>
              <a:r>
                <a:rPr lang="zh-CN" altLang="en-US" dirty="0"/>
                <a:t>分解和细化接受分支和处理分支。</a:t>
              </a:r>
            </a:p>
          </p:txBody>
        </p:sp>
      </p:grpSp>
      <p:sp>
        <p:nvSpPr>
          <p:cNvPr id="29"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3.4.2   </a:t>
            </a:r>
            <a:r>
              <a:rPr lang="zh-CN" altLang="en-US" sz="2400" dirty="0">
                <a:solidFill>
                  <a:schemeClr val="tx1"/>
                </a:solidFill>
              </a:rPr>
              <a:t>事务</a:t>
            </a:r>
            <a:r>
              <a:rPr sz="2400" dirty="0">
                <a:solidFill>
                  <a:schemeClr val="tx1"/>
                </a:solidFill>
              </a:rPr>
              <a:t>型</a:t>
            </a:r>
          </a:p>
        </p:txBody>
      </p:sp>
      <p:grpSp>
        <p:nvGrpSpPr>
          <p:cNvPr id="33" name="组合 32"/>
          <p:cNvGrpSpPr/>
          <p:nvPr/>
        </p:nvGrpSpPr>
        <p:grpSpPr>
          <a:xfrm>
            <a:off x="6520180" y="857250"/>
            <a:ext cx="5318760" cy="1112520"/>
            <a:chOff x="1188" y="3071"/>
            <a:chExt cx="8376" cy="1752"/>
          </a:xfrm>
        </p:grpSpPr>
        <p:sp>
          <p:nvSpPr>
            <p:cNvPr id="167" name="圆角矩形"/>
            <p:cNvSpPr/>
            <p:nvPr/>
          </p:nvSpPr>
          <p:spPr>
            <a:xfrm>
              <a:off x="1188" y="3479"/>
              <a:ext cx="8376" cy="134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4" name="学士帽"/>
            <p:cNvSpPr/>
            <p:nvPr/>
          </p:nvSpPr>
          <p:spPr bwMode="auto">
            <a:xfrm>
              <a:off x="1188" y="3071"/>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ndParaRPr>
            </a:p>
          </p:txBody>
        </p:sp>
        <p:sp>
          <p:nvSpPr>
            <p:cNvPr id="35" name="文本框 34"/>
            <p:cNvSpPr txBox="1"/>
            <p:nvPr/>
          </p:nvSpPr>
          <p:spPr>
            <a:xfrm>
              <a:off x="1188" y="3647"/>
              <a:ext cx="8312" cy="1008"/>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lang="zh-CN" altLang="en-US">
                  <a:sym typeface="+mn-ea"/>
                </a:rPr>
                <a:t>数据流进入系统后，要分别进行几种不同的处理，这种系统属于事务型数据流。</a:t>
              </a:r>
            </a:p>
          </p:txBody>
        </p:sp>
      </p:grpSp>
      <p:sp>
        <p:nvSpPr>
          <p:cNvPr id="102" name="文本框 101"/>
          <p:cNvSpPr txBox="1"/>
          <p:nvPr/>
        </p:nvSpPr>
        <p:spPr>
          <a:xfrm>
            <a:off x="844541" y="4808271"/>
            <a:ext cx="10557510" cy="1388906"/>
          </a:xfrm>
          <a:prstGeom prst="rect">
            <a:avLst/>
          </a:prstGeom>
          <a:noFill/>
          <a:ln w="9525">
            <a:noFill/>
          </a:ln>
        </p:spPr>
        <p:txBody>
          <a:bodyPr wrap="square">
            <a:spAutoFit/>
          </a:bodyPr>
          <a:lstStyle/>
          <a:p>
            <a:pPr marL="0" indent="266700" algn="l">
              <a:lnSpc>
                <a:spcPct val="120000"/>
              </a:lnSpc>
            </a:pPr>
            <a:r>
              <a:rPr lang="en-US" b="0" u="none" dirty="0"/>
              <a:t>   </a:t>
            </a:r>
            <a:r>
              <a:rPr b="0" u="none" dirty="0"/>
              <a:t>事务中心通常是各条处理路径的起点，由事务中心通往受事务中心控制的所有处理路径。向事务中心提供启动信息的路径是系统接受数据的路径，有时不只有一条路径。处理路径通常是多条的，每条路径的结构可以不一样，有的可能是变换型，有的则是事务型。这一步主要是分解处理路径。在结构图画出后，要细化和优化。模块大小要适中，模块的扇入、扇出不能过大。</a:t>
            </a:r>
          </a:p>
        </p:txBody>
      </p:sp>
    </p:spTree>
  </p:cSld>
  <p:clrMapOvr>
    <a:masterClrMapping/>
  </p:clrMapOvr>
  <p:transition>
    <p:wipe di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4 </a:t>
            </a:r>
            <a:r>
              <a:rPr lang="zh-CN" altLang="en-US">
                <a:sym typeface="+mn-ea"/>
              </a:rPr>
              <a:t>面向数据流的设计方法</a:t>
            </a:r>
            <a:endParaRPr lang="zh-CN" altLang="en-US"/>
          </a:p>
        </p:txBody>
      </p:sp>
      <p:grpSp>
        <p:nvGrpSpPr>
          <p:cNvPr id="2" name="组合 1"/>
          <p:cNvGrpSpPr/>
          <p:nvPr/>
        </p:nvGrpSpPr>
        <p:grpSpPr>
          <a:xfrm>
            <a:off x="737235" y="1419225"/>
            <a:ext cx="10575290" cy="4045585"/>
            <a:chOff x="1275" y="2210"/>
            <a:chExt cx="16654" cy="6371"/>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500" y="3150"/>
              <a:ext cx="16429" cy="5431"/>
              <a:chOff x="1500" y="3150"/>
              <a:chExt cx="16429" cy="5431"/>
            </a:xfrm>
          </p:grpSpPr>
          <p:sp>
            <p:nvSpPr>
              <p:cNvPr id="22" name="TextBox 21"/>
              <p:cNvSpPr txBox="1"/>
              <p:nvPr/>
            </p:nvSpPr>
            <p:spPr>
              <a:xfrm>
                <a:off x="3431" y="3419"/>
                <a:ext cx="13522" cy="624"/>
              </a:xfrm>
              <a:prstGeom prst="rect">
                <a:avLst/>
              </a:prstGeom>
              <a:noFill/>
            </p:spPr>
            <p:txBody>
              <a:bodyPr wrap="square">
                <a:spAutoFit/>
              </a:bodyPr>
              <a:lstStyle/>
              <a:p>
                <a:r>
                  <a:rPr sz="2000" dirty="0">
                    <a:sym typeface="+mn-ea"/>
                  </a:rPr>
                  <a:t>画出图书馆管理系统的结构图。</a:t>
                </a:r>
              </a:p>
            </p:txBody>
          </p:sp>
          <p:sp>
            <p:nvSpPr>
              <p:cNvPr id="24" name="矩形 23"/>
              <p:cNvSpPr>
                <a:spLocks noChangeAspect="1"/>
              </p:cNvSpPr>
              <p:nvPr/>
            </p:nvSpPr>
            <p:spPr>
              <a:xfrm>
                <a:off x="1500" y="4725"/>
                <a:ext cx="16429" cy="385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3-3</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7" y="5027"/>
                <a:ext cx="15872" cy="3548"/>
              </a:xfrm>
              <a:prstGeom prst="rect">
                <a:avLst/>
              </a:prstGeom>
              <a:solidFill>
                <a:schemeClr val="bg1">
                  <a:lumMod val="95000"/>
                </a:schemeClr>
              </a:solidFill>
            </p:spPr>
            <p:txBody>
              <a:bodyPr wrap="square">
                <a:spAutoFit/>
              </a:bodyPr>
              <a:lstStyle/>
              <a:p>
                <a:pPr fontAlgn="auto">
                  <a:lnSpc>
                    <a:spcPct val="130000"/>
                  </a:lnSpc>
                </a:pPr>
                <a:r>
                  <a:rPr lang="en-US" dirty="0">
                    <a:latin typeface="Times New Roman" panose="02020603050405020304" charset="0"/>
                    <a:ea typeface="宋体" panose="02010600030101010101" pitchFamily="2" charset="-122"/>
                  </a:rPr>
                  <a:t>        该系统含有图书采编、读者管理、图书流通、查询等不同的功能；系统用户有图书馆管理员、图书采购人员、读者等几类，不同的用户进入系统后，能够执行的功能是各不相同的。该系统执行时，先输入一个数据（如用户名），根据此数据来选择执行的路径：图书馆管理员可以进入“读者管理”模块，对读者进行添加、修改、删除；图书采购人员购入图书后进行图书登记、图书编目，调用“图书采编”功能；读者借书和还书调用“图书流通”功能；查询则调用“查询”功能。因而，该图书馆管理系统属于事务型数据流系统</a:t>
                </a:r>
                <a:r>
                  <a:rPr lang="zh-CN" altLang="en-US" dirty="0">
                    <a:latin typeface="Times New Roman" panose="02020603050405020304" charset="0"/>
                    <a:ea typeface="宋体" panose="02010600030101010101" pitchFamily="2" charset="-122"/>
                  </a:rPr>
                  <a:t>。</a:t>
                </a:r>
              </a:p>
            </p:txBody>
          </p:sp>
        </p:grpSp>
      </p:grpSp>
      <p:sp>
        <p:nvSpPr>
          <p:cNvPr id="102" name="文本框 101"/>
          <p:cNvSpPr txBox="1"/>
          <p:nvPr/>
        </p:nvSpPr>
        <p:spPr>
          <a:xfrm>
            <a:off x="3915410" y="5547360"/>
            <a:ext cx="5080000" cy="365760"/>
          </a:xfrm>
          <a:prstGeom prst="rect">
            <a:avLst/>
          </a:prstGeom>
          <a:noFill/>
          <a:ln w="9525">
            <a:noFill/>
          </a:ln>
        </p:spPr>
        <p:txBody>
          <a:bodyPr>
            <a:spAutoFit/>
          </a:bodyPr>
          <a:lstStyle/>
          <a:p>
            <a:pPr marL="0" indent="0" algn="ctr"/>
            <a:r>
              <a:rPr lang="en-US" altLang="zh-CN" b="0" u="none">
                <a:latin typeface="宋体" panose="02010600030101010101" pitchFamily="2" charset="-122"/>
                <a:ea typeface="宋体" panose="02010600030101010101" pitchFamily="2" charset="-122"/>
                <a:cs typeface="宋体" panose="02010600030101010101" pitchFamily="2" charset="-122"/>
              </a:rPr>
              <a:t> </a:t>
            </a:r>
            <a:endParaRPr lang="zh-CN" altLang="en-US"/>
          </a:p>
        </p:txBody>
      </p:sp>
    </p:spTree>
  </p:cSld>
  <p:clrMapOvr>
    <a:masterClrMapping/>
  </p:clrMapOvr>
  <p:transition>
    <p:wipe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4 </a:t>
            </a:r>
            <a:r>
              <a:rPr lang="zh-CN" altLang="en-US">
                <a:sym typeface="+mn-ea"/>
              </a:rPr>
              <a:t>面向数据流的设计方法</a:t>
            </a:r>
            <a:endParaRPr lang="zh-CN" altLang="en-US"/>
          </a:p>
        </p:txBody>
      </p:sp>
      <p:grpSp>
        <p:nvGrpSpPr>
          <p:cNvPr id="2" name="组合 1"/>
          <p:cNvGrpSpPr/>
          <p:nvPr/>
        </p:nvGrpSpPr>
        <p:grpSpPr>
          <a:xfrm>
            <a:off x="737235" y="1419225"/>
            <a:ext cx="10575290" cy="4763135"/>
            <a:chOff x="1275" y="2210"/>
            <a:chExt cx="16654" cy="7501"/>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500" y="3150"/>
              <a:ext cx="16429" cy="6561"/>
              <a:chOff x="1500" y="3150"/>
              <a:chExt cx="16429" cy="6561"/>
            </a:xfrm>
          </p:grpSpPr>
          <p:sp>
            <p:nvSpPr>
              <p:cNvPr id="22" name="TextBox 21"/>
              <p:cNvSpPr txBox="1"/>
              <p:nvPr/>
            </p:nvSpPr>
            <p:spPr>
              <a:xfrm>
                <a:off x="3431" y="3419"/>
                <a:ext cx="13522" cy="624"/>
              </a:xfrm>
              <a:prstGeom prst="rect">
                <a:avLst/>
              </a:prstGeom>
              <a:noFill/>
            </p:spPr>
            <p:txBody>
              <a:bodyPr wrap="square">
                <a:spAutoFit/>
              </a:bodyPr>
              <a:lstStyle/>
              <a:p>
                <a:r>
                  <a:rPr sz="2000" dirty="0">
                    <a:sym typeface="+mn-ea"/>
                  </a:rPr>
                  <a:t>画出图书馆管理系统的结构图。</a:t>
                </a:r>
              </a:p>
            </p:txBody>
          </p:sp>
          <p:sp>
            <p:nvSpPr>
              <p:cNvPr id="24" name="矩形 23"/>
              <p:cNvSpPr>
                <a:spLocks noChangeAspect="1"/>
              </p:cNvSpPr>
              <p:nvPr/>
            </p:nvSpPr>
            <p:spPr>
              <a:xfrm>
                <a:off x="1500" y="4275"/>
                <a:ext cx="16429" cy="543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3-3</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95"/>
                <a:ext cx="15536" cy="4288"/>
              </a:xfrm>
              <a:prstGeom prst="rect">
                <a:avLst/>
              </a:prstGeom>
              <a:solidFill>
                <a:schemeClr val="bg1">
                  <a:lumMod val="95000"/>
                </a:schemeClr>
              </a:solidFill>
            </p:spPr>
            <p:txBody>
              <a:bodyPr wrap="square">
                <a:spAutoFit/>
              </a:bodyPr>
              <a:lstStyle/>
              <a:p>
                <a:pPr fontAlgn="auto">
                  <a:lnSpc>
                    <a:spcPct val="120000"/>
                  </a:lnSpc>
                </a:pPr>
                <a:endParaRPr lang="en-US" altLang="en-US" dirty="0">
                  <a:latin typeface="Times New Roman" panose="02020603050405020304" charset="0"/>
                  <a:ea typeface="宋体" panose="02010600030101010101" pitchFamily="2" charset="-122"/>
                </a:endParaRPr>
              </a:p>
              <a:p>
                <a:pPr fontAlgn="auto">
                  <a:lnSpc>
                    <a:spcPct val="120000"/>
                  </a:lnSpc>
                </a:pPr>
                <a:endParaRPr lang="en-US" altLang="en-US" dirty="0">
                  <a:latin typeface="Times New Roman" panose="02020603050405020304" charset="0"/>
                  <a:ea typeface="宋体" panose="02010600030101010101" pitchFamily="2" charset="-122"/>
                </a:endParaRPr>
              </a:p>
              <a:p>
                <a:pPr fontAlgn="auto">
                  <a:lnSpc>
                    <a:spcPct val="120000"/>
                  </a:lnSpc>
                </a:pPr>
                <a:endParaRPr lang="en-US" altLang="en-US" dirty="0">
                  <a:latin typeface="Times New Roman" panose="02020603050405020304" charset="0"/>
                  <a:ea typeface="宋体" panose="02010600030101010101" pitchFamily="2" charset="-122"/>
                </a:endParaRPr>
              </a:p>
              <a:p>
                <a:pPr fontAlgn="auto">
                  <a:lnSpc>
                    <a:spcPct val="120000"/>
                  </a:lnSpc>
                </a:pPr>
                <a:endParaRPr lang="en-US" altLang="en-US" dirty="0">
                  <a:latin typeface="Times New Roman" panose="02020603050405020304" charset="0"/>
                  <a:ea typeface="宋体" panose="02010600030101010101" pitchFamily="2" charset="-122"/>
                </a:endParaRPr>
              </a:p>
              <a:p>
                <a:pPr fontAlgn="auto">
                  <a:lnSpc>
                    <a:spcPct val="120000"/>
                  </a:lnSpc>
                </a:pPr>
                <a:endParaRPr lang="en-US" altLang="en-US" dirty="0">
                  <a:latin typeface="Times New Roman" panose="02020603050405020304" charset="0"/>
                  <a:ea typeface="宋体" panose="02010600030101010101" pitchFamily="2" charset="-122"/>
                </a:endParaRPr>
              </a:p>
              <a:p>
                <a:pPr fontAlgn="auto">
                  <a:lnSpc>
                    <a:spcPct val="120000"/>
                  </a:lnSpc>
                </a:pPr>
                <a:endParaRPr lang="en-US" altLang="en-US" dirty="0">
                  <a:latin typeface="Times New Roman" panose="02020603050405020304" charset="0"/>
                  <a:ea typeface="宋体" panose="02010600030101010101" pitchFamily="2" charset="-122"/>
                </a:endParaRPr>
              </a:p>
              <a:p>
                <a:pPr fontAlgn="auto">
                  <a:lnSpc>
                    <a:spcPct val="120000"/>
                  </a:lnSpc>
                </a:pPr>
                <a:endParaRPr lang="en-US" altLang="en-US" dirty="0">
                  <a:latin typeface="Times New Roman" panose="02020603050405020304" charset="0"/>
                  <a:ea typeface="宋体" panose="02010600030101010101" pitchFamily="2" charset="-122"/>
                </a:endParaRPr>
              </a:p>
              <a:p>
                <a:pPr fontAlgn="auto">
                  <a:lnSpc>
                    <a:spcPct val="120000"/>
                  </a:lnSpc>
                </a:pPr>
                <a:endParaRPr lang="en-US" altLang="en-US" dirty="0">
                  <a:latin typeface="Times New Roman" panose="02020603050405020304" charset="0"/>
                  <a:ea typeface="宋体" panose="02010600030101010101" pitchFamily="2" charset="-122"/>
                </a:endParaRPr>
              </a:p>
            </p:txBody>
          </p:sp>
        </p:grpSp>
      </p:grpSp>
      <p:pic>
        <p:nvPicPr>
          <p:cNvPr id="4" name="图片 -2147482546"/>
          <p:cNvPicPr>
            <a:picLocks noChangeAspect="1"/>
          </p:cNvPicPr>
          <p:nvPr/>
        </p:nvPicPr>
        <p:blipFill>
          <a:blip r:embed="rId4" cstate="print">
            <a:clrChange>
              <a:clrFrom>
                <a:srgbClr val="FFFFFF"/>
              </a:clrFrom>
              <a:clrTo>
                <a:srgbClr val="FFFFFF">
                  <a:alpha val="0"/>
                </a:srgbClr>
              </a:clrTo>
            </a:clrChange>
          </a:blip>
          <a:stretch>
            <a:fillRect/>
          </a:stretch>
        </p:blipFill>
        <p:spPr>
          <a:xfrm>
            <a:off x="5506236" y="3050188"/>
            <a:ext cx="6300709" cy="2859291"/>
          </a:xfrm>
          <a:prstGeom prst="rect">
            <a:avLst/>
          </a:prstGeom>
          <a:noFill/>
          <a:ln w="9525">
            <a:noFill/>
          </a:ln>
        </p:spPr>
      </p:pic>
      <p:pic>
        <p:nvPicPr>
          <p:cNvPr id="270337" name="Picture 7" descr="3-8"/>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1068329" y="3018614"/>
            <a:ext cx="4442222" cy="3013695"/>
          </a:xfrm>
          <a:prstGeom prst="rect">
            <a:avLst/>
          </a:prstGeom>
          <a:noFill/>
          <a:ln w="9525">
            <a:noFill/>
            <a:miter lim="800000"/>
            <a:headEnd/>
            <a:tailEnd/>
          </a:ln>
        </p:spPr>
      </p:pic>
    </p:spTree>
  </p:cSld>
  <p:clrMapOvr>
    <a:masterClrMapping/>
  </p:clrMapOvr>
  <p:transition>
    <p:wipe di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latin typeface="Times New Roman" panose="02020603050405020304" pitchFamily="18" charset="0"/>
            </a:endParaRPr>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5</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过程设计工具</a:t>
            </a:r>
          </a:p>
        </p:txBody>
      </p:sp>
      <p:grpSp>
        <p:nvGrpSpPr>
          <p:cNvPr id="9" name="组合 8"/>
          <p:cNvGrpSpPr/>
          <p:nvPr/>
        </p:nvGrpSpPr>
        <p:grpSpPr>
          <a:xfrm>
            <a:off x="8805545" y="4116705"/>
            <a:ext cx="3712845" cy="1447165"/>
            <a:chOff x="13560" y="6513"/>
            <a:chExt cx="5847" cy="2279"/>
          </a:xfrm>
        </p:grpSpPr>
        <p:sp>
          <p:nvSpPr>
            <p:cNvPr id="5" name="文本框 4"/>
            <p:cNvSpPr txBox="1"/>
            <p:nvPr/>
          </p:nvSpPr>
          <p:spPr>
            <a:xfrm>
              <a:off x="13560" y="6513"/>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判定表</a:t>
              </a:r>
            </a:p>
          </p:txBody>
        </p:sp>
        <p:sp>
          <p:nvSpPr>
            <p:cNvPr id="6" name="文本框 5"/>
            <p:cNvSpPr txBox="1"/>
            <p:nvPr/>
          </p:nvSpPr>
          <p:spPr>
            <a:xfrm>
              <a:off x="13560" y="7293"/>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判定树</a:t>
              </a:r>
            </a:p>
          </p:txBody>
        </p:sp>
        <p:sp>
          <p:nvSpPr>
            <p:cNvPr id="7" name="文本框 6"/>
            <p:cNvSpPr txBox="1"/>
            <p:nvPr/>
          </p:nvSpPr>
          <p:spPr>
            <a:xfrm>
              <a:off x="13560" y="8134"/>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过程设计语言（</a:t>
              </a: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PDL</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a:t>
              </a:r>
            </a:p>
          </p:txBody>
        </p:sp>
      </p:grpSp>
      <p:grpSp>
        <p:nvGrpSpPr>
          <p:cNvPr id="12" name="组合 11"/>
          <p:cNvGrpSpPr/>
          <p:nvPr/>
        </p:nvGrpSpPr>
        <p:grpSpPr>
          <a:xfrm>
            <a:off x="5790565" y="4116705"/>
            <a:ext cx="3712845" cy="1447165"/>
            <a:chOff x="9459" y="6513"/>
            <a:chExt cx="5847" cy="2279"/>
          </a:xfrm>
        </p:grpSpPr>
        <p:sp>
          <p:nvSpPr>
            <p:cNvPr id="48" name="文本框 47"/>
            <p:cNvSpPr txBox="1"/>
            <p:nvPr/>
          </p:nvSpPr>
          <p:spPr>
            <a:xfrm>
              <a:off x="9459" y="6513"/>
              <a:ext cx="388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流程图</a:t>
              </a:r>
            </a:p>
          </p:txBody>
        </p:sp>
        <p:sp>
          <p:nvSpPr>
            <p:cNvPr id="50" name="文本框 49"/>
            <p:cNvSpPr txBox="1"/>
            <p:nvPr/>
          </p:nvSpPr>
          <p:spPr>
            <a:xfrm>
              <a:off x="9459" y="7293"/>
              <a:ext cx="4101"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盒图（</a:t>
              </a: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N-S</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图）</a:t>
              </a:r>
              <a:endPar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endParaRPr>
            </a:p>
          </p:txBody>
        </p:sp>
        <p:sp>
          <p:nvSpPr>
            <p:cNvPr id="8" name="文本框 7"/>
            <p:cNvSpPr txBox="1"/>
            <p:nvPr/>
          </p:nvSpPr>
          <p:spPr>
            <a:xfrm>
              <a:off x="9459" y="8134"/>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问题分析图（</a:t>
              </a: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PAD</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图）</a:t>
              </a:r>
            </a:p>
          </p:txBody>
        </p:sp>
      </p:grpSp>
    </p:spTree>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过程设计工具</a:t>
            </a:r>
          </a:p>
        </p:txBody>
      </p:sp>
      <p:sp>
        <p:nvSpPr>
          <p:cNvPr id="4" name="文本框 3"/>
          <p:cNvSpPr txBox="1"/>
          <p:nvPr/>
        </p:nvSpPr>
        <p:spPr>
          <a:xfrm>
            <a:off x="754380" y="297180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过程设计工具</a:t>
            </a:r>
          </a:p>
        </p:txBody>
      </p:sp>
      <p:sp>
        <p:nvSpPr>
          <p:cNvPr id="100" name="文本框 99"/>
          <p:cNvSpPr txBox="1"/>
          <p:nvPr/>
        </p:nvSpPr>
        <p:spPr>
          <a:xfrm>
            <a:off x="1559215" y="2179820"/>
            <a:ext cx="9578475" cy="4090351"/>
          </a:xfrm>
          <a:prstGeom prst="rect">
            <a:avLst/>
          </a:prstGeom>
          <a:noFill/>
          <a:ln w="9525">
            <a:noFill/>
          </a:ln>
        </p:spPr>
        <p:txBody>
          <a:bodyPr wrap="square">
            <a:spAutoFit/>
          </a:bodyPr>
          <a:lstStyle/>
          <a:p>
            <a:pPr marL="0" indent="0" algn="l" fontAlgn="auto">
              <a:lnSpc>
                <a:spcPct val="130000"/>
              </a:lnSpc>
            </a:pPr>
            <a:r>
              <a:rPr lang="en-US" sz="2400" b="0" u="none" dirty="0">
                <a:latin typeface="宋体" panose="02010600030101010101" pitchFamily="2" charset="-122"/>
                <a:ea typeface="宋体" panose="02010600030101010101" pitchFamily="2" charset="-122"/>
                <a:cs typeface="宋体" panose="02010600030101010101" pitchFamily="2" charset="-122"/>
              </a:rPr>
              <a:t>    </a:t>
            </a:r>
            <a:r>
              <a:rPr sz="2400" b="0" u="none" dirty="0">
                <a:latin typeface="宋体" panose="02010600030101010101" pitchFamily="2" charset="-122"/>
                <a:ea typeface="宋体" panose="02010600030101010101" pitchFamily="2" charset="-122"/>
                <a:cs typeface="宋体" panose="02010600030101010101" pitchFamily="2" charset="-122"/>
              </a:rPr>
              <a:t>在软件详细设计阶段，要描述软件的处理过程，因而也称为过程设计，可采用图形、表格、语言类工具描述处理过程。无论采用哪类工具，都需要对设计进行清晰、无二义性的描述，应表明控制流程、系统功能、数据结构等方面的细节，以便在系统实现阶段能根据详细设计的描述直接进行编程。</a:t>
            </a:r>
          </a:p>
          <a:p>
            <a:pPr marL="0" indent="0" algn="l" fontAlgn="auto">
              <a:lnSpc>
                <a:spcPct val="130000"/>
              </a:lnSpc>
            </a:pPr>
            <a:r>
              <a:rPr sz="2400" b="0" u="none" dirty="0">
                <a:latin typeface="宋体" panose="02010600030101010101" pitchFamily="2" charset="-122"/>
                <a:ea typeface="宋体" panose="02010600030101010101" pitchFamily="2" charset="-122"/>
                <a:cs typeface="宋体" panose="02010600030101010101" pitchFamily="2" charset="-122"/>
              </a:rPr>
              <a:t>    本节介绍过程设计使用的工具，</a:t>
            </a:r>
            <a:r>
              <a:rPr sz="2400" b="0" u="none" dirty="0">
                <a:solidFill>
                  <a:srgbClr val="C00000"/>
                </a:solidFill>
                <a:latin typeface="宋体" panose="02010600030101010101" pitchFamily="2" charset="-122"/>
                <a:ea typeface="宋体" panose="02010600030101010101" pitchFamily="2" charset="-122"/>
                <a:cs typeface="宋体" panose="02010600030101010101" pitchFamily="2" charset="-122"/>
              </a:rPr>
              <a:t>包括流程图、盒图（N-S图）、问题分析图（PAD图）、判定表、判定树、过程设计语言（PDL）。</a:t>
            </a:r>
          </a:p>
          <a:p>
            <a:pPr marL="0" indent="0" algn="l" fontAlgn="auto">
              <a:lnSpc>
                <a:spcPct val="130000"/>
              </a:lnSpc>
            </a:pPr>
            <a:endParaRPr lang="zh-CN" altLang="en-US" b="0" u="none" dirty="0">
              <a:latin typeface="宋体" panose="02010600030101010101" pitchFamily="2" charset="-122"/>
              <a:ea typeface="宋体" panose="02010600030101010101" pitchFamily="2" charset="-122"/>
              <a:cs typeface="宋体" panose="02010600030101010101" pitchFamily="2" charset="-122"/>
            </a:endParaRPr>
          </a:p>
          <a:p>
            <a:pPr marL="0" indent="0" algn="l" fontAlgn="auto"/>
            <a:endParaRPr lang="zh-CN" altLang="en-US" b="0" u="none"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ransition>
    <p:pull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5 </a:t>
            </a:r>
            <a:r>
              <a:rPr lang="zh-CN" altLang="en-US">
                <a:sym typeface="+mn-ea"/>
              </a:rPr>
              <a:t>过程设计工具</a:t>
            </a:r>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流程图</a:t>
            </a:r>
          </a:p>
        </p:txBody>
      </p:sp>
      <p:sp>
        <p:nvSpPr>
          <p:cNvPr id="4" name="文本框 3"/>
          <p:cNvSpPr txBox="1"/>
          <p:nvPr/>
        </p:nvSpPr>
        <p:spPr>
          <a:xfrm>
            <a:off x="754380" y="2614930"/>
            <a:ext cx="476250" cy="1628775"/>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3.5.1  流程图</a:t>
            </a:r>
          </a:p>
        </p:txBody>
      </p:sp>
      <p:sp>
        <p:nvSpPr>
          <p:cNvPr id="100" name="文本框 99"/>
          <p:cNvSpPr txBox="1"/>
          <p:nvPr/>
        </p:nvSpPr>
        <p:spPr>
          <a:xfrm>
            <a:off x="1454784" y="2223292"/>
            <a:ext cx="10267523" cy="3908762"/>
          </a:xfrm>
          <a:prstGeom prst="rect">
            <a:avLst/>
          </a:prstGeom>
          <a:noFill/>
          <a:ln w="9525">
            <a:noFill/>
          </a:ln>
        </p:spPr>
        <p:txBody>
          <a:bodyPr wrap="square">
            <a:spAutoFit/>
          </a:bodyPr>
          <a:lstStyle/>
          <a:p>
            <a:pPr marL="0" indent="0" algn="l" fontAlgn="auto">
              <a:lnSpc>
                <a:spcPct val="130000"/>
              </a:lnSpc>
            </a:pPr>
            <a:r>
              <a:rPr lang="en-US" sz="2000" b="0" u="none" dirty="0">
                <a:solidFill>
                  <a:srgbClr val="C00000"/>
                </a:solidFill>
                <a:latin typeface="宋体" panose="02010600030101010101" pitchFamily="2" charset="-122"/>
                <a:ea typeface="宋体" panose="02010600030101010101" pitchFamily="2" charset="-122"/>
                <a:cs typeface="宋体" panose="02010600030101010101" pitchFamily="2" charset="-122"/>
              </a:rPr>
              <a:t>    </a:t>
            </a:r>
            <a:r>
              <a:rPr sz="2000" b="0" u="none" dirty="0">
                <a:solidFill>
                  <a:srgbClr val="C00000"/>
                </a:solidFill>
                <a:latin typeface="宋体" panose="02010600030101010101" pitchFamily="2" charset="-122"/>
                <a:ea typeface="宋体" panose="02010600030101010101" pitchFamily="2" charset="-122"/>
                <a:cs typeface="宋体" panose="02010600030101010101" pitchFamily="2" charset="-122"/>
              </a:rPr>
              <a:t>流程图是对某一个问题的定义、分析或解法的图形表示，图中用各种符号表示操作、数据、流向以及装置等。</a:t>
            </a:r>
          </a:p>
          <a:p>
            <a:pPr marL="0" indent="0" algn="l" fontAlgn="auto">
              <a:lnSpc>
                <a:spcPct val="130000"/>
              </a:lnSpc>
            </a:pPr>
            <a:r>
              <a:rPr sz="2000" b="0" u="none" dirty="0">
                <a:latin typeface="宋体" panose="02010600030101010101" pitchFamily="2" charset="-122"/>
                <a:ea typeface="宋体" panose="02010600030101010101" pitchFamily="2" charset="-122"/>
                <a:cs typeface="宋体" panose="02010600030101010101" pitchFamily="2" charset="-122"/>
              </a:rPr>
              <a:t>    传统的程序流程图又称程序框图，用来描述程序设计，是历史最悠久、使用最广泛的方法。然而传统的程序流程图的一些缺点使得越来越多的人不再使用它。传统的程序流程图的主要缺点如下：</a:t>
            </a:r>
          </a:p>
          <a:p>
            <a:pPr marL="285750" indent="-285750" algn="l" fontAlgn="auto">
              <a:lnSpc>
                <a:spcPct val="130000"/>
              </a:lnSpc>
              <a:buClrTx/>
              <a:buFont typeface="Wingdings" panose="05000000000000000000" charset="0"/>
              <a:buChar char="Ø"/>
            </a:pPr>
            <a:r>
              <a:rPr sz="2000" b="1" u="none" dirty="0">
                <a:latin typeface="宋体" panose="02010600030101010101" pitchFamily="2" charset="-122"/>
                <a:ea typeface="宋体" panose="02010600030101010101" pitchFamily="2" charset="-122"/>
                <a:cs typeface="宋体" panose="02010600030101010101" pitchFamily="2" charset="-122"/>
              </a:rPr>
              <a:t>不利于逐步求精的设计；</a:t>
            </a:r>
          </a:p>
          <a:p>
            <a:pPr marL="285750" indent="-285750" algn="l" fontAlgn="auto">
              <a:lnSpc>
                <a:spcPct val="130000"/>
              </a:lnSpc>
              <a:buClrTx/>
              <a:buFont typeface="Wingdings" panose="05000000000000000000" charset="0"/>
              <a:buChar char="Ø"/>
            </a:pPr>
            <a:r>
              <a:rPr sz="2000" b="1" u="none" dirty="0">
                <a:latin typeface="宋体" panose="02010600030101010101" pitchFamily="2" charset="-122"/>
                <a:ea typeface="宋体" panose="02010600030101010101" pitchFamily="2" charset="-122"/>
                <a:cs typeface="宋体" panose="02010600030101010101" pitchFamily="2" charset="-122"/>
              </a:rPr>
              <a:t>图中用箭头可随意地将控制进行转移，这是不符合结构化程序设计精神的；</a:t>
            </a:r>
          </a:p>
          <a:p>
            <a:pPr marL="285750" indent="-285750" algn="l" fontAlgn="auto">
              <a:lnSpc>
                <a:spcPct val="130000"/>
              </a:lnSpc>
              <a:buClrTx/>
              <a:buFont typeface="Wingdings" panose="05000000000000000000" charset="0"/>
              <a:buChar char="Ø"/>
            </a:pPr>
            <a:r>
              <a:rPr sz="2000" b="1" u="none" dirty="0">
                <a:latin typeface="宋体" panose="02010600030101010101" pitchFamily="2" charset="-122"/>
                <a:ea typeface="宋体" panose="02010600030101010101" pitchFamily="2" charset="-122"/>
                <a:cs typeface="宋体" panose="02010600030101010101" pitchFamily="2" charset="-122"/>
              </a:rPr>
              <a:t>不易表示系统中所含的数据结构。</a:t>
            </a:r>
          </a:p>
          <a:p>
            <a:pPr marL="0" indent="0" algn="l" fontAlgn="auto"/>
            <a:endParaRPr lang="zh-CN" altLang="en-US" sz="2000" b="0" u="none" dirty="0">
              <a:latin typeface="宋体" panose="02010600030101010101" pitchFamily="2" charset="-122"/>
              <a:ea typeface="宋体" panose="02010600030101010101" pitchFamily="2" charset="-122"/>
              <a:cs typeface="宋体" panose="02010600030101010101" pitchFamily="2" charset="-122"/>
            </a:endParaRPr>
          </a:p>
          <a:p>
            <a:pPr marL="0" indent="0" algn="l" fontAlgn="auto"/>
            <a:endParaRPr lang="zh-CN" altLang="en-US" sz="2000" b="0" u="none"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ransition>
    <p:pull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5 </a:t>
            </a:r>
            <a:r>
              <a:rPr lang="zh-CN" altLang="en-US">
                <a:sym typeface="+mn-ea"/>
              </a:rPr>
              <a:t>过程设计工具</a:t>
            </a:r>
            <a:endParaRPr lang="zh-CN" altLang="en-US"/>
          </a:p>
        </p:txBody>
      </p:sp>
      <p:grpSp>
        <p:nvGrpSpPr>
          <p:cNvPr id="7" name="组合 6"/>
          <p:cNvGrpSpPr/>
          <p:nvPr/>
        </p:nvGrpSpPr>
        <p:grpSpPr>
          <a:xfrm>
            <a:off x="4102100" y="2856230"/>
            <a:ext cx="7406640" cy="2270760"/>
            <a:chOff x="4664" y="4332"/>
            <a:chExt cx="12571" cy="3854"/>
          </a:xfrm>
        </p:grpSpPr>
        <p:sp>
          <p:nvSpPr>
            <p:cNvPr id="34" name="六边形 33"/>
            <p:cNvSpPr/>
            <p:nvPr>
              <p:custDataLst>
                <p:tags r:id="rId1"/>
              </p:custDataLst>
            </p:nvPr>
          </p:nvSpPr>
          <p:spPr>
            <a:xfrm>
              <a:off x="10801" y="5137"/>
              <a:ext cx="414" cy="357"/>
            </a:xfrm>
            <a:prstGeom prst="hexagon">
              <a:avLst/>
            </a:prstGeom>
            <a:solidFill>
              <a:srgbClr val="046FB6">
                <a:lumMod val="60000"/>
                <a:lumOff val="40000"/>
              </a:srgbClr>
            </a:solidFill>
            <a:ln>
              <a:noFill/>
            </a:ln>
          </p:spPr>
          <p:style>
            <a:lnRef idx="2">
              <a:srgbClr val="046FB6">
                <a:shade val="50000"/>
              </a:srgbClr>
            </a:lnRef>
            <a:fillRef idx="1">
              <a:srgbClr val="046FB6"/>
            </a:fillRef>
            <a:effectRef idx="0">
              <a:srgbClr val="046FB6"/>
            </a:effectRef>
            <a:fontRef idx="minor">
              <a:srgbClr val="FFFFFF"/>
            </a:fontRef>
          </p:style>
          <p:txBody>
            <a:bodyPr rtlCol="0" anchor="ctr"/>
            <a:lstStyle/>
            <a:p>
              <a:pPr algn="ctr"/>
              <a:endParaRPr lang="zh-CN" altLang="en-US" sz="1790"/>
            </a:p>
          </p:txBody>
        </p:sp>
        <p:sp>
          <p:nvSpPr>
            <p:cNvPr id="39" name="六边形 38"/>
            <p:cNvSpPr/>
            <p:nvPr>
              <p:custDataLst>
                <p:tags r:id="rId2"/>
              </p:custDataLst>
            </p:nvPr>
          </p:nvSpPr>
          <p:spPr>
            <a:xfrm>
              <a:off x="9574" y="5800"/>
              <a:ext cx="2769" cy="2387"/>
            </a:xfrm>
            <a:prstGeom prst="hexagon">
              <a:avLst/>
            </a:prstGeom>
            <a:solidFill>
              <a:srgbClr val="046FB6"/>
            </a:solidFill>
            <a:ln>
              <a:noFill/>
            </a:ln>
          </p:spPr>
          <p:style>
            <a:lnRef idx="2">
              <a:srgbClr val="046FB6">
                <a:shade val="50000"/>
              </a:srgbClr>
            </a:lnRef>
            <a:fillRef idx="1">
              <a:srgbClr val="046FB6"/>
            </a:fillRef>
            <a:effectRef idx="0">
              <a:srgbClr val="046FB6"/>
            </a:effectRef>
            <a:fontRef idx="minor">
              <a:srgbClr val="FFFFFF"/>
            </a:fontRef>
          </p:style>
          <p:txBody>
            <a:bodyPr wrap="square" rtlCol="0" anchor="ctr">
              <a:normAutofit/>
            </a:bodyPr>
            <a:lstStyle/>
            <a:p>
              <a:pPr algn="ctr">
                <a:lnSpc>
                  <a:spcPct val="120000"/>
                </a:lnSpc>
              </a:pPr>
              <a:r>
                <a:rPr lang="zh-CN" altLang="en-US" b="1" dirty="0">
                  <a:solidFill>
                    <a:srgbClr val="FFFFFF"/>
                  </a:solidFill>
                </a:rPr>
                <a:t>系统</a:t>
              </a:r>
            </a:p>
            <a:p>
              <a:pPr algn="ctr">
                <a:lnSpc>
                  <a:spcPct val="120000"/>
                </a:lnSpc>
              </a:pPr>
              <a:r>
                <a:rPr lang="zh-CN" altLang="en-US" b="1" dirty="0">
                  <a:solidFill>
                    <a:srgbClr val="FFFFFF"/>
                  </a:solidFill>
                </a:rPr>
                <a:t>流程图</a:t>
              </a:r>
            </a:p>
          </p:txBody>
        </p:sp>
        <p:sp>
          <p:nvSpPr>
            <p:cNvPr id="40" name="六边形 39"/>
            <p:cNvSpPr/>
            <p:nvPr>
              <p:custDataLst>
                <p:tags r:id="rId3"/>
              </p:custDataLst>
            </p:nvPr>
          </p:nvSpPr>
          <p:spPr>
            <a:xfrm>
              <a:off x="8928" y="7058"/>
              <a:ext cx="642" cy="553"/>
            </a:xfrm>
            <a:prstGeom prst="hexagon">
              <a:avLst/>
            </a:prstGeom>
            <a:solidFill>
              <a:srgbClr val="046FB6">
                <a:lumMod val="60000"/>
                <a:lumOff val="40000"/>
              </a:srgbClr>
            </a:solidFill>
            <a:ln>
              <a:noFill/>
            </a:ln>
          </p:spPr>
          <p:style>
            <a:lnRef idx="2">
              <a:srgbClr val="046FB6">
                <a:shade val="50000"/>
              </a:srgbClr>
            </a:lnRef>
            <a:fillRef idx="1">
              <a:srgbClr val="046FB6"/>
            </a:fillRef>
            <a:effectRef idx="0">
              <a:srgbClr val="046FB6"/>
            </a:effectRef>
            <a:fontRef idx="minor">
              <a:srgbClr val="FFFFFF"/>
            </a:fontRef>
          </p:style>
          <p:txBody>
            <a:bodyPr rtlCol="0" anchor="ctr"/>
            <a:lstStyle/>
            <a:p>
              <a:pPr algn="ctr"/>
              <a:endParaRPr lang="zh-CN" altLang="en-US" sz="1790"/>
            </a:p>
          </p:txBody>
        </p:sp>
        <p:sp>
          <p:nvSpPr>
            <p:cNvPr id="41" name="六边形 40"/>
            <p:cNvSpPr/>
            <p:nvPr>
              <p:custDataLst>
                <p:tags r:id="rId4"/>
              </p:custDataLst>
            </p:nvPr>
          </p:nvSpPr>
          <p:spPr>
            <a:xfrm>
              <a:off x="8666" y="6940"/>
              <a:ext cx="283" cy="244"/>
            </a:xfrm>
            <a:prstGeom prst="hexagon">
              <a:avLst/>
            </a:prstGeom>
            <a:solidFill>
              <a:srgbClr val="046FB6">
                <a:lumMod val="60000"/>
                <a:lumOff val="40000"/>
              </a:srgbClr>
            </a:solidFill>
            <a:ln>
              <a:noFill/>
            </a:ln>
          </p:spPr>
          <p:style>
            <a:lnRef idx="2">
              <a:srgbClr val="046FB6">
                <a:shade val="50000"/>
              </a:srgbClr>
            </a:lnRef>
            <a:fillRef idx="1">
              <a:srgbClr val="046FB6"/>
            </a:fillRef>
            <a:effectRef idx="0">
              <a:srgbClr val="046FB6"/>
            </a:effectRef>
            <a:fontRef idx="minor">
              <a:srgbClr val="FFFFFF"/>
            </a:fontRef>
          </p:style>
          <p:txBody>
            <a:bodyPr rtlCol="0" anchor="ctr"/>
            <a:lstStyle/>
            <a:p>
              <a:pPr algn="ctr"/>
              <a:endParaRPr lang="zh-CN" altLang="en-US" sz="1790"/>
            </a:p>
          </p:txBody>
        </p:sp>
        <p:sp>
          <p:nvSpPr>
            <p:cNvPr id="42" name="六边形 41"/>
            <p:cNvSpPr/>
            <p:nvPr>
              <p:custDataLst>
                <p:tags r:id="rId5"/>
              </p:custDataLst>
            </p:nvPr>
          </p:nvSpPr>
          <p:spPr>
            <a:xfrm>
              <a:off x="10462" y="5450"/>
              <a:ext cx="296" cy="255"/>
            </a:xfrm>
            <a:prstGeom prst="hexagon">
              <a:avLst/>
            </a:prstGeom>
            <a:solidFill>
              <a:srgbClr val="046FB6">
                <a:lumMod val="60000"/>
                <a:lumOff val="40000"/>
              </a:srgbClr>
            </a:solidFill>
            <a:ln>
              <a:noFill/>
            </a:ln>
          </p:spPr>
          <p:style>
            <a:lnRef idx="2">
              <a:srgbClr val="046FB6">
                <a:shade val="50000"/>
              </a:srgbClr>
            </a:lnRef>
            <a:fillRef idx="1">
              <a:srgbClr val="046FB6"/>
            </a:fillRef>
            <a:effectRef idx="0">
              <a:srgbClr val="046FB6"/>
            </a:effectRef>
            <a:fontRef idx="minor">
              <a:srgbClr val="FFFFFF"/>
            </a:fontRef>
          </p:style>
          <p:txBody>
            <a:bodyPr rtlCol="0" anchor="ctr"/>
            <a:lstStyle/>
            <a:p>
              <a:pPr algn="ctr"/>
              <a:endParaRPr lang="zh-CN" altLang="en-US" sz="1790"/>
            </a:p>
          </p:txBody>
        </p:sp>
        <p:sp>
          <p:nvSpPr>
            <p:cNvPr id="44" name="六边形 43"/>
            <p:cNvSpPr/>
            <p:nvPr>
              <p:custDataLst>
                <p:tags r:id="rId6"/>
              </p:custDataLst>
            </p:nvPr>
          </p:nvSpPr>
          <p:spPr>
            <a:xfrm>
              <a:off x="9872" y="4925"/>
              <a:ext cx="611" cy="527"/>
            </a:xfrm>
            <a:prstGeom prst="hexagon">
              <a:avLst/>
            </a:prstGeom>
            <a:solidFill>
              <a:srgbClr val="22B1DE">
                <a:lumMod val="40000"/>
                <a:lumOff val="60000"/>
              </a:srgbClr>
            </a:solidFill>
            <a:ln>
              <a:noFill/>
            </a:ln>
          </p:spPr>
          <p:style>
            <a:lnRef idx="2">
              <a:srgbClr val="046FB6">
                <a:shade val="50000"/>
              </a:srgbClr>
            </a:lnRef>
            <a:fillRef idx="1">
              <a:srgbClr val="046FB6"/>
            </a:fillRef>
            <a:effectRef idx="0">
              <a:srgbClr val="046FB6"/>
            </a:effectRef>
            <a:fontRef idx="minor">
              <a:srgbClr val="FFFFFF"/>
            </a:fontRef>
          </p:style>
          <p:txBody>
            <a:bodyPr rtlCol="0" anchor="ctr"/>
            <a:lstStyle/>
            <a:p>
              <a:pPr algn="ctr"/>
              <a:endParaRPr lang="zh-CN" altLang="en-US" sz="1790"/>
            </a:p>
          </p:txBody>
        </p:sp>
        <p:sp>
          <p:nvSpPr>
            <p:cNvPr id="45" name="六边形 44"/>
            <p:cNvSpPr/>
            <p:nvPr>
              <p:custDataLst>
                <p:tags r:id="rId7"/>
              </p:custDataLst>
            </p:nvPr>
          </p:nvSpPr>
          <p:spPr>
            <a:xfrm>
              <a:off x="7087" y="4342"/>
              <a:ext cx="2769" cy="2387"/>
            </a:xfrm>
            <a:prstGeom prst="hexagon">
              <a:avLst/>
            </a:prstGeom>
            <a:solidFill>
              <a:srgbClr val="22B1DE"/>
            </a:solidFill>
            <a:ln>
              <a:noFill/>
            </a:ln>
          </p:spPr>
          <p:style>
            <a:lnRef idx="2">
              <a:srgbClr val="046FB6">
                <a:shade val="50000"/>
              </a:srgbClr>
            </a:lnRef>
            <a:fillRef idx="1">
              <a:srgbClr val="046FB6"/>
            </a:fillRef>
            <a:effectRef idx="0">
              <a:srgbClr val="046FB6"/>
            </a:effectRef>
            <a:fontRef idx="minor">
              <a:srgbClr val="FFFFFF"/>
            </a:fontRef>
          </p:style>
          <p:txBody>
            <a:bodyPr wrap="square" rtlCol="0" anchor="ctr">
              <a:normAutofit/>
            </a:bodyPr>
            <a:lstStyle/>
            <a:p>
              <a:pPr algn="ctr">
                <a:lnSpc>
                  <a:spcPct val="120000"/>
                </a:lnSpc>
              </a:pPr>
              <a:r>
                <a:rPr lang="zh-CN" altLang="en-US" b="1" dirty="0">
                  <a:solidFill>
                    <a:srgbClr val="FFFFFF"/>
                  </a:solidFill>
                </a:rPr>
                <a:t>程序</a:t>
              </a:r>
            </a:p>
            <a:p>
              <a:pPr algn="ctr">
                <a:lnSpc>
                  <a:spcPct val="120000"/>
                </a:lnSpc>
              </a:pPr>
              <a:r>
                <a:rPr lang="zh-CN" altLang="en-US" b="1" dirty="0">
                  <a:solidFill>
                    <a:srgbClr val="FFFFFF"/>
                  </a:solidFill>
                </a:rPr>
                <a:t>流程图</a:t>
              </a:r>
            </a:p>
          </p:txBody>
        </p:sp>
        <p:sp>
          <p:nvSpPr>
            <p:cNvPr id="46" name="六边形 45"/>
            <p:cNvSpPr/>
            <p:nvPr>
              <p:custDataLst>
                <p:tags r:id="rId8"/>
              </p:custDataLst>
            </p:nvPr>
          </p:nvSpPr>
          <p:spPr>
            <a:xfrm>
              <a:off x="7161" y="4531"/>
              <a:ext cx="251" cy="216"/>
            </a:xfrm>
            <a:prstGeom prst="hexagon">
              <a:avLst/>
            </a:prstGeom>
            <a:solidFill>
              <a:srgbClr val="22B1DE">
                <a:lumMod val="40000"/>
                <a:lumOff val="60000"/>
              </a:srgbClr>
            </a:solidFill>
            <a:ln>
              <a:noFill/>
            </a:ln>
          </p:spPr>
          <p:style>
            <a:lnRef idx="2">
              <a:srgbClr val="046FB6">
                <a:shade val="50000"/>
              </a:srgbClr>
            </a:lnRef>
            <a:fillRef idx="1">
              <a:srgbClr val="046FB6"/>
            </a:fillRef>
            <a:effectRef idx="0">
              <a:srgbClr val="046FB6"/>
            </a:effectRef>
            <a:fontRef idx="minor">
              <a:srgbClr val="FFFFFF"/>
            </a:fontRef>
          </p:style>
          <p:txBody>
            <a:bodyPr rtlCol="0" anchor="ctr"/>
            <a:lstStyle/>
            <a:p>
              <a:pPr algn="ctr"/>
              <a:endParaRPr lang="zh-CN" altLang="en-US" sz="1790"/>
            </a:p>
          </p:txBody>
        </p:sp>
        <p:sp>
          <p:nvSpPr>
            <p:cNvPr id="47" name="六边形 46"/>
            <p:cNvSpPr/>
            <p:nvPr>
              <p:custDataLst>
                <p:tags r:id="rId9"/>
              </p:custDataLst>
            </p:nvPr>
          </p:nvSpPr>
          <p:spPr>
            <a:xfrm>
              <a:off x="6732" y="4784"/>
              <a:ext cx="494" cy="426"/>
            </a:xfrm>
            <a:prstGeom prst="hexagon">
              <a:avLst/>
            </a:prstGeom>
            <a:solidFill>
              <a:srgbClr val="22B1DE">
                <a:lumMod val="40000"/>
                <a:lumOff val="60000"/>
              </a:srgbClr>
            </a:solidFill>
            <a:ln>
              <a:noFill/>
            </a:ln>
          </p:spPr>
          <p:style>
            <a:lnRef idx="2">
              <a:srgbClr val="046FB6">
                <a:shade val="50000"/>
              </a:srgbClr>
            </a:lnRef>
            <a:fillRef idx="1">
              <a:srgbClr val="046FB6"/>
            </a:fillRef>
            <a:effectRef idx="0">
              <a:srgbClr val="046FB6"/>
            </a:effectRef>
            <a:fontRef idx="minor">
              <a:srgbClr val="FFFFFF"/>
            </a:fontRef>
          </p:style>
          <p:txBody>
            <a:bodyPr rtlCol="0" anchor="ctr"/>
            <a:lstStyle/>
            <a:p>
              <a:pPr algn="ctr"/>
              <a:endParaRPr lang="zh-CN" altLang="en-US" sz="1790"/>
            </a:p>
          </p:txBody>
        </p:sp>
        <p:sp>
          <p:nvSpPr>
            <p:cNvPr id="49" name="六边形 48"/>
            <p:cNvSpPr/>
            <p:nvPr>
              <p:custDataLst>
                <p:tags r:id="rId10"/>
              </p:custDataLst>
            </p:nvPr>
          </p:nvSpPr>
          <p:spPr>
            <a:xfrm>
              <a:off x="4664" y="5790"/>
              <a:ext cx="2769" cy="2387"/>
            </a:xfrm>
            <a:prstGeom prst="hexagon">
              <a:avLst/>
            </a:prstGeom>
            <a:solidFill>
              <a:srgbClr val="046FB6"/>
            </a:solidFill>
            <a:ln>
              <a:noFill/>
            </a:ln>
          </p:spPr>
          <p:style>
            <a:lnRef idx="2">
              <a:srgbClr val="046FB6">
                <a:shade val="50000"/>
              </a:srgbClr>
            </a:lnRef>
            <a:fillRef idx="1">
              <a:srgbClr val="046FB6"/>
            </a:fillRef>
            <a:effectRef idx="0">
              <a:srgbClr val="046FB6"/>
            </a:effectRef>
            <a:fontRef idx="minor">
              <a:srgbClr val="FFFFFF"/>
            </a:fontRef>
          </p:style>
          <p:txBody>
            <a:bodyPr wrap="square" rtlCol="0" anchor="ctr">
              <a:normAutofit/>
            </a:bodyPr>
            <a:lstStyle/>
            <a:p>
              <a:pPr algn="ctr">
                <a:lnSpc>
                  <a:spcPct val="120000"/>
                </a:lnSpc>
              </a:pPr>
              <a:r>
                <a:rPr lang="zh-CN" altLang="en-US" b="1" dirty="0">
                  <a:solidFill>
                    <a:srgbClr val="FFFFFF"/>
                  </a:solidFill>
                </a:rPr>
                <a:t>数据</a:t>
              </a:r>
            </a:p>
            <a:p>
              <a:pPr algn="ctr">
                <a:lnSpc>
                  <a:spcPct val="120000"/>
                </a:lnSpc>
              </a:pPr>
              <a:r>
                <a:rPr lang="zh-CN" altLang="en-US" b="1" dirty="0">
                  <a:solidFill>
                    <a:srgbClr val="FFFFFF"/>
                  </a:solidFill>
                </a:rPr>
                <a:t>流程图</a:t>
              </a:r>
            </a:p>
          </p:txBody>
        </p:sp>
        <p:sp>
          <p:nvSpPr>
            <p:cNvPr id="50" name="六边形 49"/>
            <p:cNvSpPr/>
            <p:nvPr>
              <p:custDataLst>
                <p:tags r:id="rId11"/>
              </p:custDataLst>
            </p:nvPr>
          </p:nvSpPr>
          <p:spPr>
            <a:xfrm>
              <a:off x="5571" y="5082"/>
              <a:ext cx="642" cy="553"/>
            </a:xfrm>
            <a:prstGeom prst="hexagon">
              <a:avLst/>
            </a:prstGeom>
            <a:solidFill>
              <a:srgbClr val="046FB6">
                <a:lumMod val="20000"/>
                <a:lumOff val="80000"/>
              </a:srgbClr>
            </a:solidFill>
            <a:ln>
              <a:noFill/>
            </a:ln>
          </p:spPr>
          <p:style>
            <a:lnRef idx="2">
              <a:srgbClr val="046FB6">
                <a:shade val="50000"/>
              </a:srgbClr>
            </a:lnRef>
            <a:fillRef idx="1">
              <a:srgbClr val="046FB6"/>
            </a:fillRef>
            <a:effectRef idx="0">
              <a:srgbClr val="046FB6"/>
            </a:effectRef>
            <a:fontRef idx="minor">
              <a:srgbClr val="FFFFFF"/>
            </a:fontRef>
          </p:style>
          <p:txBody>
            <a:bodyPr rtlCol="0" anchor="ctr"/>
            <a:lstStyle/>
            <a:p>
              <a:pPr algn="ctr"/>
              <a:endParaRPr lang="zh-CN" altLang="en-US" sz="1790"/>
            </a:p>
          </p:txBody>
        </p:sp>
        <p:sp>
          <p:nvSpPr>
            <p:cNvPr id="51" name="六边形 50"/>
            <p:cNvSpPr/>
            <p:nvPr>
              <p:custDataLst>
                <p:tags r:id="rId12"/>
              </p:custDataLst>
            </p:nvPr>
          </p:nvSpPr>
          <p:spPr>
            <a:xfrm>
              <a:off x="7520" y="6944"/>
              <a:ext cx="642" cy="553"/>
            </a:xfrm>
            <a:prstGeom prst="hexagon">
              <a:avLst/>
            </a:prstGeom>
            <a:solidFill>
              <a:srgbClr val="046FB6">
                <a:lumMod val="20000"/>
                <a:lumOff val="80000"/>
              </a:srgbClr>
            </a:solidFill>
            <a:ln>
              <a:noFill/>
            </a:ln>
          </p:spPr>
          <p:style>
            <a:lnRef idx="2">
              <a:srgbClr val="046FB6">
                <a:shade val="50000"/>
              </a:srgbClr>
            </a:lnRef>
            <a:fillRef idx="1">
              <a:srgbClr val="046FB6"/>
            </a:fillRef>
            <a:effectRef idx="0">
              <a:srgbClr val="046FB6"/>
            </a:effectRef>
            <a:fontRef idx="minor">
              <a:srgbClr val="FFFFFF"/>
            </a:fontRef>
          </p:style>
          <p:txBody>
            <a:bodyPr rtlCol="0" anchor="ctr"/>
            <a:lstStyle/>
            <a:p>
              <a:pPr algn="ctr"/>
              <a:endParaRPr lang="zh-CN" altLang="en-US" sz="1790"/>
            </a:p>
          </p:txBody>
        </p:sp>
        <p:sp>
          <p:nvSpPr>
            <p:cNvPr id="52" name="六边形 51"/>
            <p:cNvSpPr/>
            <p:nvPr>
              <p:custDataLst>
                <p:tags r:id="rId13"/>
              </p:custDataLst>
            </p:nvPr>
          </p:nvSpPr>
          <p:spPr>
            <a:xfrm>
              <a:off x="6307" y="5154"/>
              <a:ext cx="414" cy="357"/>
            </a:xfrm>
            <a:prstGeom prst="hexagon">
              <a:avLst/>
            </a:prstGeom>
            <a:solidFill>
              <a:srgbClr val="046FB6">
                <a:lumMod val="20000"/>
                <a:lumOff val="80000"/>
              </a:srgbClr>
            </a:solidFill>
            <a:ln>
              <a:noFill/>
            </a:ln>
          </p:spPr>
          <p:style>
            <a:lnRef idx="2">
              <a:srgbClr val="046FB6">
                <a:shade val="50000"/>
              </a:srgbClr>
            </a:lnRef>
            <a:fillRef idx="1">
              <a:srgbClr val="046FB6"/>
            </a:fillRef>
            <a:effectRef idx="0">
              <a:srgbClr val="046FB6"/>
            </a:effectRef>
            <a:fontRef idx="minor">
              <a:srgbClr val="FFFFFF"/>
            </a:fontRef>
          </p:style>
          <p:txBody>
            <a:bodyPr rtlCol="0" anchor="ctr"/>
            <a:lstStyle/>
            <a:p>
              <a:pPr algn="ctr"/>
              <a:endParaRPr lang="zh-CN" altLang="en-US" sz="1790"/>
            </a:p>
          </p:txBody>
        </p:sp>
        <p:sp>
          <p:nvSpPr>
            <p:cNvPr id="54" name="六边形 53"/>
            <p:cNvSpPr/>
            <p:nvPr>
              <p:custDataLst>
                <p:tags r:id="rId14"/>
              </p:custDataLst>
            </p:nvPr>
          </p:nvSpPr>
          <p:spPr>
            <a:xfrm>
              <a:off x="12008" y="4332"/>
              <a:ext cx="2769" cy="2387"/>
            </a:xfrm>
            <a:prstGeom prst="hexagon">
              <a:avLst/>
            </a:prstGeom>
            <a:solidFill>
              <a:srgbClr val="22B1DE"/>
            </a:solidFill>
            <a:ln>
              <a:noFill/>
            </a:ln>
          </p:spPr>
          <p:style>
            <a:lnRef idx="2">
              <a:srgbClr val="046FB6">
                <a:shade val="50000"/>
              </a:srgbClr>
            </a:lnRef>
            <a:fillRef idx="1">
              <a:srgbClr val="046FB6"/>
            </a:fillRef>
            <a:effectRef idx="0">
              <a:srgbClr val="046FB6"/>
            </a:effectRef>
            <a:fontRef idx="minor">
              <a:srgbClr val="FFFFFF"/>
            </a:fontRef>
          </p:style>
          <p:txBody>
            <a:bodyPr wrap="square" rtlCol="0" anchor="ctr">
              <a:normAutofit/>
            </a:bodyPr>
            <a:lstStyle/>
            <a:p>
              <a:pPr algn="ctr">
                <a:lnSpc>
                  <a:spcPct val="120000"/>
                </a:lnSpc>
              </a:pPr>
              <a:r>
                <a:rPr lang="zh-CN" altLang="en-US" b="1" dirty="0">
                  <a:solidFill>
                    <a:srgbClr val="FFFFFF"/>
                  </a:solidFill>
                </a:rPr>
                <a:t>程序</a:t>
              </a:r>
            </a:p>
            <a:p>
              <a:pPr algn="ctr">
                <a:lnSpc>
                  <a:spcPct val="120000"/>
                </a:lnSpc>
              </a:pPr>
              <a:r>
                <a:rPr lang="zh-CN" altLang="en-US" b="1" dirty="0">
                  <a:solidFill>
                    <a:srgbClr val="FFFFFF"/>
                  </a:solidFill>
                </a:rPr>
                <a:t>网络图</a:t>
              </a:r>
            </a:p>
          </p:txBody>
        </p:sp>
        <p:sp>
          <p:nvSpPr>
            <p:cNvPr id="55" name="六边形 54"/>
            <p:cNvSpPr/>
            <p:nvPr>
              <p:custDataLst>
                <p:tags r:id="rId15"/>
              </p:custDataLst>
            </p:nvPr>
          </p:nvSpPr>
          <p:spPr>
            <a:xfrm>
              <a:off x="12411" y="6865"/>
              <a:ext cx="611" cy="527"/>
            </a:xfrm>
            <a:prstGeom prst="hexagon">
              <a:avLst/>
            </a:prstGeom>
            <a:solidFill>
              <a:srgbClr val="22B1DE">
                <a:lumMod val="60000"/>
                <a:lumOff val="40000"/>
              </a:srgbClr>
            </a:solidFill>
            <a:ln>
              <a:noFill/>
            </a:ln>
          </p:spPr>
          <p:style>
            <a:lnRef idx="2">
              <a:srgbClr val="046FB6">
                <a:shade val="50000"/>
              </a:srgbClr>
            </a:lnRef>
            <a:fillRef idx="1">
              <a:srgbClr val="046FB6"/>
            </a:fillRef>
            <a:effectRef idx="0">
              <a:srgbClr val="046FB6"/>
            </a:effectRef>
            <a:fontRef idx="minor">
              <a:srgbClr val="FFFFFF"/>
            </a:fontRef>
          </p:style>
          <p:txBody>
            <a:bodyPr rtlCol="0" anchor="ctr"/>
            <a:lstStyle/>
            <a:p>
              <a:pPr algn="ctr"/>
              <a:endParaRPr lang="zh-CN" altLang="en-US" sz="1790"/>
            </a:p>
          </p:txBody>
        </p:sp>
        <p:sp>
          <p:nvSpPr>
            <p:cNvPr id="56" name="六边形 55"/>
            <p:cNvSpPr/>
            <p:nvPr>
              <p:custDataLst>
                <p:tags r:id="rId16"/>
              </p:custDataLst>
            </p:nvPr>
          </p:nvSpPr>
          <p:spPr>
            <a:xfrm>
              <a:off x="13161" y="6806"/>
              <a:ext cx="441" cy="380"/>
            </a:xfrm>
            <a:prstGeom prst="hexagon">
              <a:avLst/>
            </a:prstGeom>
            <a:solidFill>
              <a:srgbClr val="22B1DE">
                <a:lumMod val="60000"/>
                <a:lumOff val="40000"/>
              </a:srgbClr>
            </a:solidFill>
            <a:ln>
              <a:noFill/>
            </a:ln>
          </p:spPr>
          <p:style>
            <a:lnRef idx="2">
              <a:srgbClr val="046FB6">
                <a:shade val="50000"/>
              </a:srgbClr>
            </a:lnRef>
            <a:fillRef idx="1">
              <a:srgbClr val="046FB6"/>
            </a:fillRef>
            <a:effectRef idx="0">
              <a:srgbClr val="046FB6"/>
            </a:effectRef>
            <a:fontRef idx="minor">
              <a:srgbClr val="FFFFFF"/>
            </a:fontRef>
          </p:style>
          <p:txBody>
            <a:bodyPr rtlCol="0" anchor="ctr"/>
            <a:lstStyle/>
            <a:p>
              <a:pPr algn="ctr"/>
              <a:endParaRPr lang="zh-CN" altLang="en-US" sz="1790"/>
            </a:p>
          </p:txBody>
        </p:sp>
        <p:sp>
          <p:nvSpPr>
            <p:cNvPr id="57" name="六边形 56"/>
            <p:cNvSpPr/>
            <p:nvPr>
              <p:custDataLst>
                <p:tags r:id="rId17"/>
              </p:custDataLst>
            </p:nvPr>
          </p:nvSpPr>
          <p:spPr>
            <a:xfrm>
              <a:off x="13030" y="7266"/>
              <a:ext cx="295" cy="254"/>
            </a:xfrm>
            <a:prstGeom prst="hexagon">
              <a:avLst/>
            </a:prstGeom>
            <a:solidFill>
              <a:srgbClr val="22B1DE">
                <a:lumMod val="60000"/>
                <a:lumOff val="40000"/>
              </a:srgbClr>
            </a:solidFill>
            <a:ln>
              <a:noFill/>
            </a:ln>
          </p:spPr>
          <p:style>
            <a:lnRef idx="2">
              <a:srgbClr val="046FB6">
                <a:shade val="50000"/>
              </a:srgbClr>
            </a:lnRef>
            <a:fillRef idx="1">
              <a:srgbClr val="046FB6"/>
            </a:fillRef>
            <a:effectRef idx="0">
              <a:srgbClr val="046FB6"/>
            </a:effectRef>
            <a:fontRef idx="minor">
              <a:srgbClr val="FFFFFF"/>
            </a:fontRef>
          </p:style>
          <p:txBody>
            <a:bodyPr rtlCol="0" anchor="ctr"/>
            <a:lstStyle/>
            <a:p>
              <a:pPr algn="ctr"/>
              <a:endParaRPr lang="zh-CN" altLang="en-US" sz="1790"/>
            </a:p>
          </p:txBody>
        </p:sp>
        <p:sp>
          <p:nvSpPr>
            <p:cNvPr id="58" name="六边形 57"/>
            <p:cNvSpPr/>
            <p:nvPr>
              <p:custDataLst>
                <p:tags r:id="rId18"/>
              </p:custDataLst>
            </p:nvPr>
          </p:nvSpPr>
          <p:spPr>
            <a:xfrm>
              <a:off x="14765" y="4925"/>
              <a:ext cx="611" cy="527"/>
            </a:xfrm>
            <a:prstGeom prst="hexagon">
              <a:avLst/>
            </a:prstGeom>
            <a:solidFill>
              <a:srgbClr val="22B1DE">
                <a:lumMod val="40000"/>
                <a:lumOff val="60000"/>
              </a:srgbClr>
            </a:solidFill>
            <a:ln>
              <a:noFill/>
            </a:ln>
          </p:spPr>
          <p:style>
            <a:lnRef idx="2">
              <a:srgbClr val="046FB6">
                <a:shade val="50000"/>
              </a:srgbClr>
            </a:lnRef>
            <a:fillRef idx="1">
              <a:srgbClr val="046FB6"/>
            </a:fillRef>
            <a:effectRef idx="0">
              <a:srgbClr val="046FB6"/>
            </a:effectRef>
            <a:fontRef idx="minor">
              <a:srgbClr val="FFFFFF"/>
            </a:fontRef>
          </p:style>
          <p:txBody>
            <a:bodyPr rtlCol="0" anchor="ctr"/>
            <a:lstStyle/>
            <a:p>
              <a:pPr algn="ctr"/>
              <a:endParaRPr lang="zh-CN" altLang="en-US" sz="1790"/>
            </a:p>
          </p:txBody>
        </p:sp>
        <p:sp>
          <p:nvSpPr>
            <p:cNvPr id="60" name="六边形 59"/>
            <p:cNvSpPr/>
            <p:nvPr>
              <p:custDataLst>
                <p:tags r:id="rId19"/>
              </p:custDataLst>
            </p:nvPr>
          </p:nvSpPr>
          <p:spPr>
            <a:xfrm>
              <a:off x="14467" y="5800"/>
              <a:ext cx="2769" cy="2387"/>
            </a:xfrm>
            <a:prstGeom prst="hexagon">
              <a:avLst/>
            </a:prstGeom>
            <a:solidFill>
              <a:srgbClr val="046FB6"/>
            </a:solidFill>
            <a:ln>
              <a:noFill/>
            </a:ln>
          </p:spPr>
          <p:style>
            <a:lnRef idx="2">
              <a:srgbClr val="046FB6">
                <a:shade val="50000"/>
              </a:srgbClr>
            </a:lnRef>
            <a:fillRef idx="1">
              <a:srgbClr val="046FB6"/>
            </a:fillRef>
            <a:effectRef idx="0">
              <a:srgbClr val="046FB6"/>
            </a:effectRef>
            <a:fontRef idx="minor">
              <a:srgbClr val="FFFFFF"/>
            </a:fontRef>
          </p:style>
          <p:txBody>
            <a:bodyPr wrap="square" rtlCol="0" anchor="ctr">
              <a:normAutofit/>
            </a:bodyPr>
            <a:lstStyle/>
            <a:p>
              <a:pPr algn="ctr">
                <a:lnSpc>
                  <a:spcPct val="120000"/>
                </a:lnSpc>
              </a:pPr>
              <a:r>
                <a:rPr lang="zh-CN" altLang="en-US" dirty="0">
                  <a:solidFill>
                    <a:srgbClr val="FFFFFF"/>
                  </a:solidFill>
                </a:rPr>
                <a:t>系统</a:t>
              </a:r>
            </a:p>
            <a:p>
              <a:pPr algn="ctr">
                <a:lnSpc>
                  <a:spcPct val="120000"/>
                </a:lnSpc>
              </a:pPr>
              <a:r>
                <a:rPr lang="zh-CN" altLang="en-US" dirty="0">
                  <a:solidFill>
                    <a:srgbClr val="FFFFFF"/>
                  </a:solidFill>
                </a:rPr>
                <a:t>资源图</a:t>
              </a:r>
            </a:p>
          </p:txBody>
        </p:sp>
        <p:sp>
          <p:nvSpPr>
            <p:cNvPr id="61" name="六边形 60"/>
            <p:cNvSpPr/>
            <p:nvPr>
              <p:custDataLst>
                <p:tags r:id="rId20"/>
              </p:custDataLst>
            </p:nvPr>
          </p:nvSpPr>
          <p:spPr>
            <a:xfrm>
              <a:off x="15693" y="5137"/>
              <a:ext cx="414" cy="357"/>
            </a:xfrm>
            <a:prstGeom prst="hexagon">
              <a:avLst/>
            </a:prstGeom>
            <a:solidFill>
              <a:srgbClr val="046FB6">
                <a:lumMod val="60000"/>
                <a:lumOff val="40000"/>
              </a:srgbClr>
            </a:solidFill>
            <a:ln>
              <a:noFill/>
            </a:ln>
          </p:spPr>
          <p:style>
            <a:lnRef idx="2">
              <a:srgbClr val="046FB6">
                <a:shade val="50000"/>
              </a:srgbClr>
            </a:lnRef>
            <a:fillRef idx="1">
              <a:srgbClr val="046FB6"/>
            </a:fillRef>
            <a:effectRef idx="0">
              <a:srgbClr val="046FB6"/>
            </a:effectRef>
            <a:fontRef idx="minor">
              <a:srgbClr val="FFFFFF"/>
            </a:fontRef>
          </p:style>
          <p:txBody>
            <a:bodyPr rtlCol="0" anchor="ctr"/>
            <a:lstStyle/>
            <a:p>
              <a:pPr algn="ctr"/>
              <a:endParaRPr lang="zh-CN" altLang="en-US" sz="1790"/>
            </a:p>
          </p:txBody>
        </p:sp>
        <p:sp>
          <p:nvSpPr>
            <p:cNvPr id="62" name="六边形 61"/>
            <p:cNvSpPr/>
            <p:nvPr>
              <p:custDataLst>
                <p:tags r:id="rId21"/>
              </p:custDataLst>
            </p:nvPr>
          </p:nvSpPr>
          <p:spPr>
            <a:xfrm>
              <a:off x="15355" y="5450"/>
              <a:ext cx="296" cy="255"/>
            </a:xfrm>
            <a:prstGeom prst="hexagon">
              <a:avLst/>
            </a:prstGeom>
            <a:solidFill>
              <a:srgbClr val="046FB6">
                <a:lumMod val="60000"/>
                <a:lumOff val="40000"/>
              </a:srgbClr>
            </a:solidFill>
            <a:ln>
              <a:noFill/>
            </a:ln>
          </p:spPr>
          <p:style>
            <a:lnRef idx="2">
              <a:srgbClr val="046FB6">
                <a:shade val="50000"/>
              </a:srgbClr>
            </a:lnRef>
            <a:fillRef idx="1">
              <a:srgbClr val="046FB6"/>
            </a:fillRef>
            <a:effectRef idx="0">
              <a:srgbClr val="046FB6"/>
            </a:effectRef>
            <a:fontRef idx="minor">
              <a:srgbClr val="FFFFFF"/>
            </a:fontRef>
          </p:style>
          <p:txBody>
            <a:bodyPr rtlCol="0" anchor="ctr"/>
            <a:lstStyle/>
            <a:p>
              <a:pPr algn="ctr"/>
              <a:endParaRPr lang="zh-CN" altLang="en-US" sz="1790"/>
            </a:p>
          </p:txBody>
        </p:sp>
      </p:grpSp>
      <p:sp>
        <p:nvSpPr>
          <p:cNvPr id="5"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3.5.1 </a:t>
            </a:r>
            <a:r>
              <a:rPr lang="zh-CN" altLang="en-US" sz="2400" dirty="0">
                <a:solidFill>
                  <a:schemeClr val="tx1"/>
                </a:solidFill>
              </a:rPr>
              <a:t>流程图</a:t>
            </a:r>
          </a:p>
        </p:txBody>
      </p:sp>
      <p:grpSp>
        <p:nvGrpSpPr>
          <p:cNvPr id="6" name="组合 5"/>
          <p:cNvGrpSpPr/>
          <p:nvPr/>
        </p:nvGrpSpPr>
        <p:grpSpPr>
          <a:xfrm>
            <a:off x="441325" y="3300730"/>
            <a:ext cx="3272155" cy="1330960"/>
            <a:chOff x="845" y="4825"/>
            <a:chExt cx="5153" cy="2096"/>
          </a:xfrm>
        </p:grpSpPr>
        <p:sp>
          <p:nvSpPr>
            <p:cNvPr id="159" name=" 159"/>
            <p:cNvSpPr/>
            <p:nvPr/>
          </p:nvSpPr>
          <p:spPr>
            <a:xfrm>
              <a:off x="1110" y="5549"/>
              <a:ext cx="4889" cy="1373"/>
            </a:xfrm>
            <a:custGeom>
              <a:avLst/>
              <a:gdLst>
                <a:gd name="connsiteX0" fmla="*/ 545178 w 812503"/>
                <a:gd name="connsiteY0" fmla="*/ 0 h 310097"/>
                <a:gd name="connsiteX1" fmla="*/ 812503 w 812503"/>
                <a:gd name="connsiteY1" fmla="*/ 155049 h 310097"/>
                <a:gd name="connsiteX2" fmla="*/ 545178 w 812503"/>
                <a:gd name="connsiteY2" fmla="*/ 310097 h 310097"/>
                <a:gd name="connsiteX3" fmla="*/ 545178 w 812503"/>
                <a:gd name="connsiteY3" fmla="*/ 212220 h 310097"/>
                <a:gd name="connsiteX4" fmla="*/ 0 w 812503"/>
                <a:gd name="connsiteY4" fmla="*/ 259590 h 310097"/>
                <a:gd name="connsiteX5" fmla="*/ 160832 w 812503"/>
                <a:gd name="connsiteY5" fmla="*/ 155049 h 310097"/>
                <a:gd name="connsiteX6" fmla="*/ 0 w 812503"/>
                <a:gd name="connsiteY6" fmla="*/ 50507 h 310097"/>
                <a:gd name="connsiteX7" fmla="*/ 545178 w 812503"/>
                <a:gd name="connsiteY7" fmla="*/ 97878 h 310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2503" h="310097">
                  <a:moveTo>
                    <a:pt x="545178" y="0"/>
                  </a:moveTo>
                  <a:lnTo>
                    <a:pt x="812503" y="155049"/>
                  </a:lnTo>
                  <a:lnTo>
                    <a:pt x="545178" y="310097"/>
                  </a:lnTo>
                  <a:lnTo>
                    <a:pt x="545178" y="212220"/>
                  </a:lnTo>
                  <a:lnTo>
                    <a:pt x="0" y="259590"/>
                  </a:lnTo>
                  <a:lnTo>
                    <a:pt x="160832" y="155049"/>
                  </a:lnTo>
                  <a:lnTo>
                    <a:pt x="0" y="50507"/>
                  </a:lnTo>
                  <a:lnTo>
                    <a:pt x="545178" y="97878"/>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noFill/>
              </a:endParaRPr>
            </a:p>
          </p:txBody>
        </p:sp>
        <p:sp>
          <p:nvSpPr>
            <p:cNvPr id="35" name="矩形 34"/>
            <p:cNvSpPr/>
            <p:nvPr/>
          </p:nvSpPr>
          <p:spPr>
            <a:xfrm>
              <a:off x="845" y="4825"/>
              <a:ext cx="4748" cy="912"/>
            </a:xfrm>
            <a:prstGeom prst="rect">
              <a:avLst/>
            </a:prstGeom>
            <a:noFill/>
            <a:ln>
              <a:noFill/>
            </a:ln>
          </p:spPr>
          <p:txBody>
            <a:bodyPr wrap="square" rtlCol="0" anchor="t">
              <a:prstTxWarp prst="textStop">
                <a:avLst/>
              </a:prstTxWarp>
              <a:spAutoFit/>
            </a:bodyPr>
            <a:lstStyle/>
            <a:p>
              <a:pPr algn="ctr"/>
              <a:r>
                <a:rPr lang="zh-CN" altLang="en-US" sz="3200" b="1" dirty="0">
                  <a:solidFill>
                    <a:schemeClr val="accent1"/>
                  </a:solidFill>
                  <a:effectLst>
                    <a:outerShdw blurRad="38100" dist="25400" dir="5400000" algn="ctr" rotWithShape="0">
                      <a:srgbClr val="6E747A">
                        <a:alpha val="43000"/>
                      </a:srgbClr>
                    </a:outerShdw>
                  </a:effectLst>
                </a:rPr>
                <a:t>流程图分类</a:t>
              </a:r>
            </a:p>
          </p:txBody>
        </p:sp>
      </p:grpSp>
    </p:spTree>
  </p:cSld>
  <p:clrMapOvr>
    <a:masterClrMapping/>
  </p:clrMapOvr>
  <p:transition>
    <p:pull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5 </a:t>
            </a:r>
            <a:r>
              <a:rPr lang="zh-CN" altLang="en-US">
                <a:sym typeface="+mn-ea"/>
              </a:rPr>
              <a:t>过程设计工具</a:t>
            </a:r>
            <a:endParaRPr lang="zh-CN" altLang="en-US"/>
          </a:p>
        </p:txBody>
      </p:sp>
      <p:grpSp>
        <p:nvGrpSpPr>
          <p:cNvPr id="23" name="组合 22"/>
          <p:cNvGrpSpPr/>
          <p:nvPr/>
        </p:nvGrpSpPr>
        <p:grpSpPr>
          <a:xfrm>
            <a:off x="754380" y="3038608"/>
            <a:ext cx="4896485" cy="905510"/>
            <a:chOff x="1923" y="3755"/>
            <a:chExt cx="7711" cy="1426"/>
          </a:xfrm>
        </p:grpSpPr>
        <p:sp>
          <p:nvSpPr>
            <p:cNvPr id="6" name="MH_Other_1"/>
            <p:cNvSpPr>
              <a:spLocks noChangeArrowheads="1"/>
            </p:cNvSpPr>
            <p:nvPr>
              <p:custDataLst>
                <p:tags r:id="rId17"/>
              </p:custDataLst>
            </p:nvPr>
          </p:nvSpPr>
          <p:spPr bwMode="auto">
            <a:xfrm>
              <a:off x="1923" y="3755"/>
              <a:ext cx="1119" cy="779"/>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7" name="MH_Other_2"/>
            <p:cNvSpPr>
              <a:spLocks noChangeArrowheads="1"/>
            </p:cNvSpPr>
            <p:nvPr>
              <p:custDataLst>
                <p:tags r:id="rId18"/>
              </p:custDataLst>
            </p:nvPr>
          </p:nvSpPr>
          <p:spPr bwMode="auto">
            <a:xfrm>
              <a:off x="3105" y="3917"/>
              <a:ext cx="887" cy="617"/>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Other_3"/>
            <p:cNvSpPr>
              <a:spLocks noChangeArrowheads="1"/>
            </p:cNvSpPr>
            <p:nvPr>
              <p:custDataLst>
                <p:tags r:id="rId19"/>
              </p:custDataLst>
            </p:nvPr>
          </p:nvSpPr>
          <p:spPr bwMode="auto">
            <a:xfrm>
              <a:off x="2176" y="4578"/>
              <a:ext cx="866" cy="603"/>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 name="MH_Other_4"/>
            <p:cNvSpPr>
              <a:spLocks noChangeArrowheads="1"/>
            </p:cNvSpPr>
            <p:nvPr>
              <p:custDataLst>
                <p:tags r:id="rId20"/>
              </p:custDataLst>
            </p:nvPr>
          </p:nvSpPr>
          <p:spPr bwMode="auto">
            <a:xfrm>
              <a:off x="3105" y="4578"/>
              <a:ext cx="1119" cy="514"/>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SubTitle_1"/>
            <p:cNvSpPr/>
            <p:nvPr>
              <p:custDataLst>
                <p:tags r:id="rId21"/>
              </p:custDataLst>
            </p:nvPr>
          </p:nvSpPr>
          <p:spPr>
            <a:xfrm>
              <a:off x="4723" y="3838"/>
              <a:ext cx="4911" cy="1254"/>
            </a:xfrm>
            <a:prstGeom prst="rect">
              <a:avLst/>
            </a:prstGeom>
          </p:spPr>
          <p:txBody>
            <a:bodyPr lIns="0" tIns="0" rIns="0" bIns="0" anchor="ctr">
              <a:noAutofit/>
            </a:bodyPr>
            <a:lstStyle/>
            <a:p>
              <a:pPr>
                <a:lnSpc>
                  <a:spcPct val="140000"/>
                </a:lnSpc>
                <a:defRPr/>
              </a:pPr>
              <a:r>
                <a:rPr lang="zh-CN" altLang="en-US" sz="1600" dirty="0">
                  <a:solidFill>
                    <a:srgbClr val="000000"/>
                  </a:solidFill>
                  <a:latin typeface="微软雅黑" panose="020B0503020204020204" charset="-122"/>
                  <a:ea typeface="微软雅黑" panose="020B0503020204020204" charset="-122"/>
                  <a:sym typeface="+mn-ea"/>
                </a:rPr>
                <a:t>        </a:t>
              </a:r>
              <a:r>
                <a:rPr lang="zh-CN" altLang="en-US" dirty="0">
                  <a:solidFill>
                    <a:srgbClr val="000000"/>
                  </a:solidFill>
                  <a:latin typeface="微软雅黑" panose="020B0503020204020204" charset="-122"/>
                  <a:ea typeface="微软雅黑" panose="020B0503020204020204" charset="-122"/>
                  <a:sym typeface="+mn-ea"/>
                </a:rPr>
                <a:t>指明数据存在的数据符号，这些数据符号也可指明该数据所使用的媒体；</a:t>
              </a:r>
            </a:p>
          </p:txBody>
        </p:sp>
      </p:grpSp>
      <p:grpSp>
        <p:nvGrpSpPr>
          <p:cNvPr id="22" name="组合 21"/>
          <p:cNvGrpSpPr/>
          <p:nvPr/>
        </p:nvGrpSpPr>
        <p:grpSpPr>
          <a:xfrm>
            <a:off x="6520180" y="3036703"/>
            <a:ext cx="4822190" cy="905510"/>
            <a:chOff x="7484" y="7718"/>
            <a:chExt cx="7594" cy="1426"/>
          </a:xfrm>
        </p:grpSpPr>
        <p:sp>
          <p:nvSpPr>
            <p:cNvPr id="11" name="MH_Other_5"/>
            <p:cNvSpPr>
              <a:spLocks noChangeArrowheads="1"/>
            </p:cNvSpPr>
            <p:nvPr>
              <p:custDataLst>
                <p:tags r:id="rId12"/>
              </p:custDataLst>
            </p:nvPr>
          </p:nvSpPr>
          <p:spPr bwMode="auto">
            <a:xfrm>
              <a:off x="7484" y="7718"/>
              <a:ext cx="1119" cy="779"/>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2" name="MH_Other_6"/>
            <p:cNvSpPr>
              <a:spLocks noChangeArrowheads="1"/>
            </p:cNvSpPr>
            <p:nvPr>
              <p:custDataLst>
                <p:tags r:id="rId13"/>
              </p:custDataLst>
            </p:nvPr>
          </p:nvSpPr>
          <p:spPr bwMode="auto">
            <a:xfrm>
              <a:off x="8666" y="7880"/>
              <a:ext cx="887" cy="617"/>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7"/>
            <p:cNvSpPr>
              <a:spLocks noChangeArrowheads="1"/>
            </p:cNvSpPr>
            <p:nvPr>
              <p:custDataLst>
                <p:tags r:id="rId14"/>
              </p:custDataLst>
            </p:nvPr>
          </p:nvSpPr>
          <p:spPr bwMode="auto">
            <a:xfrm>
              <a:off x="7737" y="8541"/>
              <a:ext cx="866" cy="603"/>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8"/>
            <p:cNvSpPr>
              <a:spLocks noChangeArrowheads="1"/>
            </p:cNvSpPr>
            <p:nvPr>
              <p:custDataLst>
                <p:tags r:id="rId15"/>
              </p:custDataLst>
            </p:nvPr>
          </p:nvSpPr>
          <p:spPr bwMode="auto">
            <a:xfrm>
              <a:off x="8666" y="8541"/>
              <a:ext cx="1119" cy="514"/>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SubTitle_3"/>
            <p:cNvSpPr/>
            <p:nvPr>
              <p:custDataLst>
                <p:tags r:id="rId16"/>
              </p:custDataLst>
            </p:nvPr>
          </p:nvSpPr>
          <p:spPr>
            <a:xfrm>
              <a:off x="10226" y="7801"/>
              <a:ext cx="4852" cy="1254"/>
            </a:xfrm>
            <a:prstGeom prst="rect">
              <a:avLst/>
            </a:prstGeom>
          </p:spPr>
          <p:txBody>
            <a:bodyPr lIns="0" tIns="0" rIns="0" bIns="0" anchor="ctr">
              <a:noAutofit/>
            </a:bodyPr>
            <a:lstStyle/>
            <a:p>
              <a:pPr>
                <a:lnSpc>
                  <a:spcPct val="130000"/>
                </a:lnSpc>
                <a:defRPr/>
              </a:pPr>
              <a:r>
                <a:rPr lang="en-US" altLang="zh-CN" dirty="0">
                  <a:solidFill>
                    <a:srgbClr val="000000"/>
                  </a:solidFill>
                  <a:latin typeface="微软雅黑" panose="020B0503020204020204" charset="-122"/>
                  <a:ea typeface="微软雅黑" panose="020B0503020204020204" charset="-122"/>
                  <a:sym typeface="+mn-ea"/>
                </a:rPr>
                <a:t>       </a:t>
              </a:r>
              <a:r>
                <a:rPr lang="zh-CN" altLang="en-US" dirty="0">
                  <a:solidFill>
                    <a:srgbClr val="000000"/>
                  </a:solidFill>
                  <a:latin typeface="微软雅黑" panose="020B0503020204020204" charset="-122"/>
                  <a:ea typeface="微软雅黑" panose="020B0503020204020204" charset="-122"/>
                  <a:sym typeface="+mn-ea"/>
                </a:rPr>
                <a:t>指明几个处理和（或）数据媒体之间的数据流的流线符号；</a:t>
              </a:r>
            </a:p>
          </p:txBody>
        </p:sp>
      </p:grpSp>
      <p:grpSp>
        <p:nvGrpSpPr>
          <p:cNvPr id="21" name="组合 20"/>
          <p:cNvGrpSpPr/>
          <p:nvPr/>
        </p:nvGrpSpPr>
        <p:grpSpPr>
          <a:xfrm>
            <a:off x="754380" y="4398778"/>
            <a:ext cx="4949825" cy="905510"/>
            <a:chOff x="4731" y="5756"/>
            <a:chExt cx="7795" cy="1426"/>
          </a:xfrm>
        </p:grpSpPr>
        <p:sp>
          <p:nvSpPr>
            <p:cNvPr id="16" name="MH_Other_9"/>
            <p:cNvSpPr>
              <a:spLocks noChangeArrowheads="1"/>
            </p:cNvSpPr>
            <p:nvPr>
              <p:custDataLst>
                <p:tags r:id="rId7"/>
              </p:custDataLst>
            </p:nvPr>
          </p:nvSpPr>
          <p:spPr bwMode="auto">
            <a:xfrm>
              <a:off x="4731" y="5756"/>
              <a:ext cx="1119" cy="779"/>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7" name="MH_Other_10"/>
            <p:cNvSpPr>
              <a:spLocks noChangeArrowheads="1"/>
            </p:cNvSpPr>
            <p:nvPr>
              <p:custDataLst>
                <p:tags r:id="rId8"/>
              </p:custDataLst>
            </p:nvPr>
          </p:nvSpPr>
          <p:spPr bwMode="auto">
            <a:xfrm>
              <a:off x="5914" y="5918"/>
              <a:ext cx="887" cy="617"/>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Other_11"/>
            <p:cNvSpPr>
              <a:spLocks noChangeArrowheads="1"/>
            </p:cNvSpPr>
            <p:nvPr>
              <p:custDataLst>
                <p:tags r:id="rId9"/>
              </p:custDataLst>
            </p:nvPr>
          </p:nvSpPr>
          <p:spPr bwMode="auto">
            <a:xfrm>
              <a:off x="4985" y="6579"/>
              <a:ext cx="866" cy="603"/>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2"/>
            <p:cNvSpPr>
              <a:spLocks noChangeArrowheads="1"/>
            </p:cNvSpPr>
            <p:nvPr>
              <p:custDataLst>
                <p:tags r:id="rId10"/>
              </p:custDataLst>
            </p:nvPr>
          </p:nvSpPr>
          <p:spPr bwMode="auto">
            <a:xfrm>
              <a:off x="5914" y="6579"/>
              <a:ext cx="1119" cy="514"/>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SubTitle_2"/>
            <p:cNvSpPr/>
            <p:nvPr>
              <p:custDataLst>
                <p:tags r:id="rId11"/>
              </p:custDataLst>
            </p:nvPr>
          </p:nvSpPr>
          <p:spPr>
            <a:xfrm>
              <a:off x="7560" y="5839"/>
              <a:ext cx="4966" cy="1254"/>
            </a:xfrm>
            <a:prstGeom prst="rect">
              <a:avLst/>
            </a:prstGeom>
          </p:spPr>
          <p:txBody>
            <a:bodyPr lIns="0" tIns="0" rIns="0" bIns="0" anchor="ctr">
              <a:noAutofit/>
            </a:bodyPr>
            <a:lstStyle/>
            <a:p>
              <a:pPr lvl="0" algn="just">
                <a:lnSpc>
                  <a:spcPct val="120000"/>
                </a:lnSpc>
                <a:spcBef>
                  <a:spcPct val="0"/>
                </a:spcBef>
              </a:pPr>
              <a:r>
                <a:rPr lang="en-US" altLang="zh-CN" dirty="0">
                  <a:solidFill>
                    <a:srgbClr val="000000"/>
                  </a:solidFill>
                  <a:latin typeface="微软雅黑" panose="020B0503020204020204" charset="-122"/>
                  <a:ea typeface="微软雅黑" panose="020B0503020204020204" charset="-122"/>
                  <a:sym typeface="+mn-ea"/>
                </a:rPr>
                <a:t>       </a:t>
              </a:r>
              <a:r>
                <a:rPr lang="zh-CN" altLang="en-US" dirty="0">
                  <a:solidFill>
                    <a:srgbClr val="000000"/>
                  </a:solidFill>
                  <a:latin typeface="微软雅黑" panose="020B0503020204020204" charset="-122"/>
                  <a:ea typeface="微软雅黑" panose="020B0503020204020204" charset="-122"/>
                  <a:sym typeface="+mn-ea"/>
                </a:rPr>
                <a:t>指明对数据执行的处理的处理符号，这些符号也可指明该处理所用到的机器功能；</a:t>
              </a:r>
            </a:p>
          </p:txBody>
        </p:sp>
      </p:grpSp>
      <p:grpSp>
        <p:nvGrpSpPr>
          <p:cNvPr id="24" name="组合 23"/>
          <p:cNvGrpSpPr/>
          <p:nvPr/>
        </p:nvGrpSpPr>
        <p:grpSpPr>
          <a:xfrm>
            <a:off x="6520180" y="4398778"/>
            <a:ext cx="4646295" cy="905510"/>
            <a:chOff x="7484" y="7718"/>
            <a:chExt cx="7317" cy="1426"/>
          </a:xfrm>
        </p:grpSpPr>
        <p:sp>
          <p:nvSpPr>
            <p:cNvPr id="25" name="MH_Other_5"/>
            <p:cNvSpPr>
              <a:spLocks noChangeArrowheads="1"/>
            </p:cNvSpPr>
            <p:nvPr>
              <p:custDataLst>
                <p:tags r:id="rId2"/>
              </p:custDataLst>
            </p:nvPr>
          </p:nvSpPr>
          <p:spPr bwMode="auto">
            <a:xfrm>
              <a:off x="7484" y="7718"/>
              <a:ext cx="1119" cy="779"/>
            </a:xfrm>
            <a:prstGeom prst="rect">
              <a:avLst/>
            </a:prstGeom>
            <a:solidFill>
              <a:schemeClr val="accent6">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a:t>
              </a:r>
              <a:r>
                <a:rPr lang="en-US" sz="2400" b="1">
                  <a:solidFill>
                    <a:srgbClr val="FFFFFF"/>
                  </a:solidFill>
                  <a:ea typeface="微软雅黑" panose="020B0503020204020204" charset="-122"/>
                </a:rPr>
                <a:t>4</a:t>
              </a:r>
            </a:p>
          </p:txBody>
        </p:sp>
        <p:sp>
          <p:nvSpPr>
            <p:cNvPr id="26" name="MH_Other_6"/>
            <p:cNvSpPr>
              <a:spLocks noChangeArrowheads="1"/>
            </p:cNvSpPr>
            <p:nvPr>
              <p:custDataLst>
                <p:tags r:id="rId3"/>
              </p:custDataLst>
            </p:nvPr>
          </p:nvSpPr>
          <p:spPr bwMode="auto">
            <a:xfrm>
              <a:off x="8666" y="7880"/>
              <a:ext cx="887" cy="617"/>
            </a:xfrm>
            <a:prstGeom prst="rect">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7"/>
            <p:cNvSpPr>
              <a:spLocks noChangeArrowheads="1"/>
            </p:cNvSpPr>
            <p:nvPr>
              <p:custDataLst>
                <p:tags r:id="rId4"/>
              </p:custDataLst>
            </p:nvPr>
          </p:nvSpPr>
          <p:spPr bwMode="auto">
            <a:xfrm>
              <a:off x="7737" y="8541"/>
              <a:ext cx="866" cy="603"/>
            </a:xfrm>
            <a:prstGeom prst="rect">
              <a:avLst/>
            </a:prstGeom>
            <a:solidFill>
              <a:schemeClr val="accent6">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8"/>
            <p:cNvSpPr>
              <a:spLocks noChangeArrowheads="1"/>
            </p:cNvSpPr>
            <p:nvPr>
              <p:custDataLst>
                <p:tags r:id="rId5"/>
              </p:custDataLst>
            </p:nvPr>
          </p:nvSpPr>
          <p:spPr bwMode="auto">
            <a:xfrm>
              <a:off x="8666" y="8541"/>
              <a:ext cx="1119" cy="514"/>
            </a:xfrm>
            <a:prstGeom prst="rect">
              <a:avLst/>
            </a:prstGeom>
            <a:solidFill>
              <a:schemeClr val="accent6">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9" name="MH_SubTitle_3"/>
            <p:cNvSpPr/>
            <p:nvPr>
              <p:custDataLst>
                <p:tags r:id="rId6"/>
              </p:custDataLst>
            </p:nvPr>
          </p:nvSpPr>
          <p:spPr>
            <a:xfrm>
              <a:off x="10226" y="7718"/>
              <a:ext cx="4575" cy="1254"/>
            </a:xfrm>
            <a:prstGeom prst="rect">
              <a:avLst/>
            </a:prstGeom>
          </p:spPr>
          <p:txBody>
            <a:bodyPr lIns="0" tIns="0" rIns="0" bIns="0" anchor="ctr">
              <a:noAutofit/>
            </a:bodyPr>
            <a:lstStyle/>
            <a:p>
              <a:pPr>
                <a:lnSpc>
                  <a:spcPct val="130000"/>
                </a:lnSpc>
                <a:defRPr/>
              </a:pPr>
              <a:r>
                <a:rPr lang="en-US" altLang="zh-CN" dirty="0">
                  <a:solidFill>
                    <a:srgbClr val="000000"/>
                  </a:solidFill>
                  <a:latin typeface="微软雅黑" panose="020B0503020204020204" charset="-122"/>
                  <a:ea typeface="微软雅黑" panose="020B0503020204020204" charset="-122"/>
                  <a:sym typeface="+mn-ea"/>
                </a:rPr>
                <a:t>       </a:t>
              </a:r>
              <a:r>
                <a:rPr lang="zh-CN" altLang="en-US" dirty="0">
                  <a:solidFill>
                    <a:srgbClr val="000000"/>
                  </a:solidFill>
                  <a:latin typeface="微软雅黑" panose="020B0503020204020204" charset="-122"/>
                  <a:ea typeface="微软雅黑" panose="020B0503020204020204" charset="-122"/>
                  <a:sym typeface="+mn-ea"/>
                </a:rPr>
                <a:t>便于读、写数据流程图的特殊符号；</a:t>
              </a:r>
            </a:p>
          </p:txBody>
        </p:sp>
      </p:grpSp>
      <p:grpSp>
        <p:nvGrpSpPr>
          <p:cNvPr id="33" name="组合 32"/>
          <p:cNvGrpSpPr/>
          <p:nvPr/>
        </p:nvGrpSpPr>
        <p:grpSpPr>
          <a:xfrm>
            <a:off x="6165338" y="1635172"/>
            <a:ext cx="5318760" cy="1112520"/>
            <a:chOff x="1188" y="3071"/>
            <a:chExt cx="8376" cy="1752"/>
          </a:xfrm>
        </p:grpSpPr>
        <p:sp>
          <p:nvSpPr>
            <p:cNvPr id="167" name="圆角矩形"/>
            <p:cNvSpPr/>
            <p:nvPr/>
          </p:nvSpPr>
          <p:spPr>
            <a:xfrm>
              <a:off x="1188" y="3479"/>
              <a:ext cx="8376" cy="134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4" name="学士帽"/>
            <p:cNvSpPr/>
            <p:nvPr/>
          </p:nvSpPr>
          <p:spPr bwMode="auto">
            <a:xfrm>
              <a:off x="1188" y="3071"/>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ndParaRPr>
            </a:p>
          </p:txBody>
        </p:sp>
        <p:sp>
          <p:nvSpPr>
            <p:cNvPr id="35" name="文本框 34"/>
            <p:cNvSpPr txBox="1"/>
            <p:nvPr/>
          </p:nvSpPr>
          <p:spPr>
            <a:xfrm>
              <a:off x="1188" y="3647"/>
              <a:ext cx="8312" cy="1008"/>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lang="zh-CN" altLang="en-US">
                  <a:sym typeface="+mn-ea"/>
                </a:rPr>
                <a:t>数据流程图表示求解某一问题的数据通路，同时规定了处理的主要阶段和所用的各种数据媒体。</a:t>
              </a:r>
            </a:p>
          </p:txBody>
        </p:sp>
      </p:grpSp>
      <p:sp>
        <p:nvSpPr>
          <p:cNvPr id="38" name="MH_SubTitle_3"/>
          <p:cNvSpPr/>
          <p:nvPr>
            <p:custDataLst>
              <p:tags r:id="rId1"/>
            </p:custDataLst>
          </p:nvPr>
        </p:nvSpPr>
        <p:spPr>
          <a:xfrm>
            <a:off x="503630" y="5509165"/>
            <a:ext cx="9653905" cy="796290"/>
          </a:xfrm>
          <a:prstGeom prst="rect">
            <a:avLst/>
          </a:prstGeom>
        </p:spPr>
        <p:txBody>
          <a:bodyPr lIns="0" tIns="0" rIns="0" bIns="0" anchor="ctr">
            <a:noAutofit/>
          </a:bodyPr>
          <a:lstStyle/>
          <a:p>
            <a:pPr>
              <a:lnSpc>
                <a:spcPct val="130000"/>
              </a:lnSpc>
              <a:defRPr/>
            </a:pPr>
            <a:r>
              <a:rPr lang="en-US" altLang="zh-CN" dirty="0">
                <a:solidFill>
                  <a:srgbClr val="000000"/>
                </a:solidFill>
                <a:latin typeface="微软雅黑" panose="020B0503020204020204" charset="-122"/>
                <a:ea typeface="微软雅黑" panose="020B0503020204020204" charset="-122"/>
                <a:sym typeface="+mn-ea"/>
              </a:rPr>
              <a:t>       </a:t>
            </a:r>
            <a:r>
              <a:rPr lang="zh-CN" altLang="en-US" dirty="0">
                <a:solidFill>
                  <a:srgbClr val="000000"/>
                </a:solidFill>
                <a:latin typeface="微软雅黑" panose="020B0503020204020204" charset="-122"/>
                <a:ea typeface="微软雅黑" panose="020B0503020204020204" charset="-122"/>
                <a:sym typeface="+mn-ea"/>
              </a:rPr>
              <a:t>在处理符号的前后都应是数据符号。数据流程图以数据符号开始和结束。</a:t>
            </a:r>
          </a:p>
        </p:txBody>
      </p:sp>
      <p:sp>
        <p:nvSpPr>
          <p:cNvPr id="39"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3.5.1 </a:t>
            </a:r>
            <a:r>
              <a:rPr lang="zh-CN" altLang="en-US" sz="2400" dirty="0">
                <a:solidFill>
                  <a:schemeClr val="tx1"/>
                </a:solidFill>
              </a:rPr>
              <a:t>流程图</a:t>
            </a:r>
          </a:p>
        </p:txBody>
      </p:sp>
      <p:grpSp>
        <p:nvGrpSpPr>
          <p:cNvPr id="40" name="组合 6"/>
          <p:cNvGrpSpPr/>
          <p:nvPr/>
        </p:nvGrpSpPr>
        <p:grpSpPr>
          <a:xfrm>
            <a:off x="809625" y="2145646"/>
            <a:ext cx="7024189" cy="590550"/>
            <a:chOff x="508000" y="3196191"/>
            <a:chExt cx="7024120" cy="590550"/>
          </a:xfrm>
        </p:grpSpPr>
        <p:sp>
          <p:nvSpPr>
            <p:cNvPr id="41" name="TextBox 1"/>
            <p:cNvSpPr txBox="1">
              <a:spLocks noChangeArrowheads="1"/>
            </p:cNvSpPr>
            <p:nvPr/>
          </p:nvSpPr>
          <p:spPr bwMode="auto">
            <a:xfrm>
              <a:off x="508000" y="3196191"/>
              <a:ext cx="32091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42" name="直接连接符 4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3" name="矩形 42"/>
            <p:cNvSpPr>
              <a:spLocks noChangeArrowheads="1"/>
            </p:cNvSpPr>
            <p:nvPr/>
          </p:nvSpPr>
          <p:spPr bwMode="auto">
            <a:xfrm>
              <a:off x="960436" y="3291441"/>
              <a:ext cx="65716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数据流程图</a:t>
              </a:r>
            </a:p>
          </p:txBody>
        </p:sp>
      </p:grpSp>
    </p:spTree>
  </p:cSld>
  <p:clrMapOvr>
    <a:masterClrMapping/>
  </p:clrMapOvr>
  <p:transition>
    <p:pull di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5 </a:t>
            </a:r>
            <a:r>
              <a:rPr lang="zh-CN" altLang="en-US">
                <a:sym typeface="+mn-ea"/>
              </a:rPr>
              <a:t>过程设计工具</a:t>
            </a:r>
            <a:endParaRPr lang="zh-CN" altLang="en-US"/>
          </a:p>
        </p:txBody>
      </p:sp>
      <p:grpSp>
        <p:nvGrpSpPr>
          <p:cNvPr id="23" name="组合 22"/>
          <p:cNvGrpSpPr/>
          <p:nvPr/>
        </p:nvGrpSpPr>
        <p:grpSpPr>
          <a:xfrm>
            <a:off x="713437" y="2940742"/>
            <a:ext cx="9697720" cy="905510"/>
            <a:chOff x="1923" y="3755"/>
            <a:chExt cx="15272" cy="1426"/>
          </a:xfrm>
        </p:grpSpPr>
        <p:sp>
          <p:nvSpPr>
            <p:cNvPr id="6" name="MH_Other_1"/>
            <p:cNvSpPr>
              <a:spLocks noChangeArrowheads="1"/>
            </p:cNvSpPr>
            <p:nvPr>
              <p:custDataLst>
                <p:tags r:id="rId11"/>
              </p:custDataLst>
            </p:nvPr>
          </p:nvSpPr>
          <p:spPr bwMode="auto">
            <a:xfrm>
              <a:off x="1923" y="3755"/>
              <a:ext cx="1119" cy="779"/>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7" name="MH_Other_2"/>
            <p:cNvSpPr>
              <a:spLocks noChangeArrowheads="1"/>
            </p:cNvSpPr>
            <p:nvPr>
              <p:custDataLst>
                <p:tags r:id="rId12"/>
              </p:custDataLst>
            </p:nvPr>
          </p:nvSpPr>
          <p:spPr bwMode="auto">
            <a:xfrm>
              <a:off x="3105" y="3917"/>
              <a:ext cx="887" cy="617"/>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Other_3"/>
            <p:cNvSpPr>
              <a:spLocks noChangeArrowheads="1"/>
            </p:cNvSpPr>
            <p:nvPr>
              <p:custDataLst>
                <p:tags r:id="rId13"/>
              </p:custDataLst>
            </p:nvPr>
          </p:nvSpPr>
          <p:spPr bwMode="auto">
            <a:xfrm>
              <a:off x="2176" y="4578"/>
              <a:ext cx="866" cy="603"/>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 name="MH_Other_4"/>
            <p:cNvSpPr>
              <a:spLocks noChangeArrowheads="1"/>
            </p:cNvSpPr>
            <p:nvPr>
              <p:custDataLst>
                <p:tags r:id="rId14"/>
              </p:custDataLst>
            </p:nvPr>
          </p:nvSpPr>
          <p:spPr bwMode="auto">
            <a:xfrm>
              <a:off x="3105" y="4578"/>
              <a:ext cx="1119" cy="514"/>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SubTitle_1"/>
            <p:cNvSpPr/>
            <p:nvPr>
              <p:custDataLst>
                <p:tags r:id="rId15"/>
              </p:custDataLst>
            </p:nvPr>
          </p:nvSpPr>
          <p:spPr>
            <a:xfrm>
              <a:off x="4693" y="3840"/>
              <a:ext cx="12502" cy="1254"/>
            </a:xfrm>
            <a:prstGeom prst="rect">
              <a:avLst/>
            </a:prstGeom>
          </p:spPr>
          <p:txBody>
            <a:bodyPr lIns="0" tIns="0" rIns="0" bIns="0" anchor="ctr">
              <a:noAutofit/>
            </a:bodyPr>
            <a:lstStyle/>
            <a:p>
              <a:pPr>
                <a:lnSpc>
                  <a:spcPct val="140000"/>
                </a:lnSpc>
                <a:defRPr/>
              </a:pPr>
              <a:r>
                <a:rPr lang="zh-CN" altLang="en-US" dirty="0">
                  <a:solidFill>
                    <a:srgbClr val="000000"/>
                  </a:solidFill>
                  <a:latin typeface="微软雅黑" panose="020B0503020204020204" charset="-122"/>
                  <a:ea typeface="微软雅黑" panose="020B0503020204020204" charset="-122"/>
                  <a:sym typeface="+mn-ea"/>
                </a:rPr>
                <a:t>指明实际处理操作的处理符号，它包括根据逻辑条件确定要执行的路径的符号；</a:t>
              </a:r>
            </a:p>
          </p:txBody>
        </p:sp>
      </p:grpSp>
      <p:grpSp>
        <p:nvGrpSpPr>
          <p:cNvPr id="22" name="组合 21"/>
          <p:cNvGrpSpPr/>
          <p:nvPr/>
        </p:nvGrpSpPr>
        <p:grpSpPr>
          <a:xfrm>
            <a:off x="3628769" y="5241489"/>
            <a:ext cx="7562215" cy="905510"/>
            <a:chOff x="7484" y="7718"/>
            <a:chExt cx="11909" cy="1426"/>
          </a:xfrm>
        </p:grpSpPr>
        <p:sp>
          <p:nvSpPr>
            <p:cNvPr id="11" name="MH_Other_5"/>
            <p:cNvSpPr>
              <a:spLocks noChangeArrowheads="1"/>
            </p:cNvSpPr>
            <p:nvPr>
              <p:custDataLst>
                <p:tags r:id="rId6"/>
              </p:custDataLst>
            </p:nvPr>
          </p:nvSpPr>
          <p:spPr bwMode="auto">
            <a:xfrm>
              <a:off x="7484" y="7718"/>
              <a:ext cx="1119" cy="779"/>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2" name="MH_Other_6"/>
            <p:cNvSpPr>
              <a:spLocks noChangeArrowheads="1"/>
            </p:cNvSpPr>
            <p:nvPr>
              <p:custDataLst>
                <p:tags r:id="rId7"/>
              </p:custDataLst>
            </p:nvPr>
          </p:nvSpPr>
          <p:spPr bwMode="auto">
            <a:xfrm>
              <a:off x="8666" y="7880"/>
              <a:ext cx="887" cy="617"/>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7"/>
            <p:cNvSpPr>
              <a:spLocks noChangeArrowheads="1"/>
            </p:cNvSpPr>
            <p:nvPr>
              <p:custDataLst>
                <p:tags r:id="rId8"/>
              </p:custDataLst>
            </p:nvPr>
          </p:nvSpPr>
          <p:spPr bwMode="auto">
            <a:xfrm>
              <a:off x="7737" y="8541"/>
              <a:ext cx="866" cy="603"/>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8"/>
            <p:cNvSpPr>
              <a:spLocks noChangeArrowheads="1"/>
            </p:cNvSpPr>
            <p:nvPr>
              <p:custDataLst>
                <p:tags r:id="rId9"/>
              </p:custDataLst>
            </p:nvPr>
          </p:nvSpPr>
          <p:spPr bwMode="auto">
            <a:xfrm>
              <a:off x="8666" y="8541"/>
              <a:ext cx="1119" cy="514"/>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SubTitle_3"/>
            <p:cNvSpPr/>
            <p:nvPr>
              <p:custDataLst>
                <p:tags r:id="rId10"/>
              </p:custDataLst>
            </p:nvPr>
          </p:nvSpPr>
          <p:spPr>
            <a:xfrm>
              <a:off x="10226" y="7718"/>
              <a:ext cx="9167" cy="1254"/>
            </a:xfrm>
            <a:prstGeom prst="rect">
              <a:avLst/>
            </a:prstGeom>
          </p:spPr>
          <p:txBody>
            <a:bodyPr lIns="0" tIns="0" rIns="0" bIns="0" anchor="ctr">
              <a:noAutofit/>
            </a:bodyPr>
            <a:lstStyle/>
            <a:p>
              <a:pPr>
                <a:lnSpc>
                  <a:spcPct val="130000"/>
                </a:lnSpc>
                <a:defRPr/>
              </a:pPr>
              <a:r>
                <a:rPr lang="zh-CN" altLang="en-US" dirty="0">
                  <a:solidFill>
                    <a:srgbClr val="000000"/>
                  </a:solidFill>
                  <a:latin typeface="微软雅黑" panose="020B0503020204020204" charset="-122"/>
                  <a:ea typeface="微软雅黑" panose="020B0503020204020204" charset="-122"/>
                  <a:sym typeface="+mn-ea"/>
                </a:rPr>
                <a:t>便于读、写程序流程图的特殊符号。</a:t>
              </a:r>
            </a:p>
          </p:txBody>
        </p:sp>
      </p:grpSp>
      <p:grpSp>
        <p:nvGrpSpPr>
          <p:cNvPr id="21" name="组合 20"/>
          <p:cNvGrpSpPr/>
          <p:nvPr/>
        </p:nvGrpSpPr>
        <p:grpSpPr>
          <a:xfrm>
            <a:off x="2281347" y="4024167"/>
            <a:ext cx="8814283" cy="905510"/>
            <a:chOff x="4731" y="5756"/>
            <a:chExt cx="15933" cy="1426"/>
          </a:xfrm>
        </p:grpSpPr>
        <p:sp>
          <p:nvSpPr>
            <p:cNvPr id="16" name="MH_Other_9"/>
            <p:cNvSpPr>
              <a:spLocks noChangeArrowheads="1"/>
            </p:cNvSpPr>
            <p:nvPr>
              <p:custDataLst>
                <p:tags r:id="rId1"/>
              </p:custDataLst>
            </p:nvPr>
          </p:nvSpPr>
          <p:spPr bwMode="auto">
            <a:xfrm>
              <a:off x="4731" y="5756"/>
              <a:ext cx="1119" cy="779"/>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7" name="MH_Other_10"/>
            <p:cNvSpPr>
              <a:spLocks noChangeArrowheads="1"/>
            </p:cNvSpPr>
            <p:nvPr>
              <p:custDataLst>
                <p:tags r:id="rId2"/>
              </p:custDataLst>
            </p:nvPr>
          </p:nvSpPr>
          <p:spPr bwMode="auto">
            <a:xfrm>
              <a:off x="5914" y="5918"/>
              <a:ext cx="887" cy="617"/>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Other_11"/>
            <p:cNvSpPr>
              <a:spLocks noChangeArrowheads="1"/>
            </p:cNvSpPr>
            <p:nvPr>
              <p:custDataLst>
                <p:tags r:id="rId3"/>
              </p:custDataLst>
            </p:nvPr>
          </p:nvSpPr>
          <p:spPr bwMode="auto">
            <a:xfrm>
              <a:off x="4985" y="6579"/>
              <a:ext cx="866" cy="603"/>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2"/>
            <p:cNvSpPr>
              <a:spLocks noChangeArrowheads="1"/>
            </p:cNvSpPr>
            <p:nvPr>
              <p:custDataLst>
                <p:tags r:id="rId4"/>
              </p:custDataLst>
            </p:nvPr>
          </p:nvSpPr>
          <p:spPr bwMode="auto">
            <a:xfrm>
              <a:off x="5914" y="6579"/>
              <a:ext cx="1119" cy="514"/>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SubTitle_2"/>
            <p:cNvSpPr/>
            <p:nvPr>
              <p:custDataLst>
                <p:tags r:id="rId5"/>
              </p:custDataLst>
            </p:nvPr>
          </p:nvSpPr>
          <p:spPr>
            <a:xfrm>
              <a:off x="7445" y="5798"/>
              <a:ext cx="13219" cy="1254"/>
            </a:xfrm>
            <a:prstGeom prst="rect">
              <a:avLst/>
            </a:prstGeom>
          </p:spPr>
          <p:txBody>
            <a:bodyPr lIns="0" tIns="0" rIns="0" bIns="0" anchor="ctr">
              <a:noAutofit/>
            </a:bodyPr>
            <a:lstStyle/>
            <a:p>
              <a:pPr lvl="0" algn="just">
                <a:lnSpc>
                  <a:spcPct val="120000"/>
                </a:lnSpc>
                <a:spcBef>
                  <a:spcPct val="0"/>
                </a:spcBef>
              </a:pPr>
              <a:r>
                <a:rPr lang="zh-CN" altLang="en-US" dirty="0">
                  <a:solidFill>
                    <a:srgbClr val="000000"/>
                  </a:solidFill>
                  <a:latin typeface="微软雅黑" panose="020B0503020204020204" charset="-122"/>
                  <a:ea typeface="微软雅黑" panose="020B0503020204020204" charset="-122"/>
                  <a:sym typeface="+mn-ea"/>
                </a:rPr>
                <a:t>指明控制流的流线符号；</a:t>
              </a:r>
            </a:p>
          </p:txBody>
        </p:sp>
      </p:gr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3.5.1 </a:t>
            </a:r>
            <a:r>
              <a:rPr lang="zh-CN" altLang="en-US" sz="2400" dirty="0">
                <a:solidFill>
                  <a:schemeClr val="tx1"/>
                </a:solidFill>
              </a:rPr>
              <a:t>流程图</a:t>
            </a:r>
          </a:p>
        </p:txBody>
      </p:sp>
      <p:grpSp>
        <p:nvGrpSpPr>
          <p:cNvPr id="33" name="组合 32"/>
          <p:cNvGrpSpPr/>
          <p:nvPr/>
        </p:nvGrpSpPr>
        <p:grpSpPr>
          <a:xfrm>
            <a:off x="6138043" y="1607877"/>
            <a:ext cx="5542915" cy="1112520"/>
            <a:chOff x="1188" y="3071"/>
            <a:chExt cx="8729" cy="1752"/>
          </a:xfrm>
        </p:grpSpPr>
        <p:sp>
          <p:nvSpPr>
            <p:cNvPr id="167" name="圆角矩形"/>
            <p:cNvSpPr/>
            <p:nvPr/>
          </p:nvSpPr>
          <p:spPr>
            <a:xfrm>
              <a:off x="1188" y="3479"/>
              <a:ext cx="8376" cy="134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4" name="学士帽"/>
            <p:cNvSpPr/>
            <p:nvPr/>
          </p:nvSpPr>
          <p:spPr bwMode="auto">
            <a:xfrm>
              <a:off x="1188" y="3071"/>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ndParaRPr>
            </a:p>
          </p:txBody>
        </p:sp>
        <p:sp>
          <p:nvSpPr>
            <p:cNvPr id="35" name="文本框 34"/>
            <p:cNvSpPr txBox="1"/>
            <p:nvPr/>
          </p:nvSpPr>
          <p:spPr>
            <a:xfrm>
              <a:off x="1605" y="3815"/>
              <a:ext cx="8312" cy="576"/>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lang="zh-CN" altLang="en-US">
                  <a:sym typeface="+mn-ea"/>
                </a:rPr>
                <a:t>程序流程图表示程序中的操作顺序；</a:t>
              </a:r>
            </a:p>
          </p:txBody>
        </p:sp>
      </p:grpSp>
      <p:grpSp>
        <p:nvGrpSpPr>
          <p:cNvPr id="26" name="组合 6"/>
          <p:cNvGrpSpPr/>
          <p:nvPr/>
        </p:nvGrpSpPr>
        <p:grpSpPr>
          <a:xfrm>
            <a:off x="809625" y="2145646"/>
            <a:ext cx="7024189" cy="590550"/>
            <a:chOff x="508000" y="3196191"/>
            <a:chExt cx="7024120" cy="590550"/>
          </a:xfrm>
        </p:grpSpPr>
        <p:sp>
          <p:nvSpPr>
            <p:cNvPr id="27"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2</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8" name="直接连接符 27"/>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9" name="矩形 28"/>
            <p:cNvSpPr>
              <a:spLocks noChangeArrowheads="1"/>
            </p:cNvSpPr>
            <p:nvPr/>
          </p:nvSpPr>
          <p:spPr bwMode="auto">
            <a:xfrm>
              <a:off x="960436" y="3291441"/>
              <a:ext cx="65716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程序流程图</a:t>
              </a:r>
            </a:p>
          </p:txBody>
        </p:sp>
      </p:grpSp>
    </p:spTree>
  </p:cSld>
  <p:clrMapOvr>
    <a:masterClrMapping/>
  </p:clrMapOvr>
  <p:transition>
    <p:pull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5 </a:t>
            </a:r>
            <a:r>
              <a:rPr lang="zh-CN" altLang="en-US">
                <a:sym typeface="+mn-ea"/>
              </a:rPr>
              <a:t>过程设计工具</a:t>
            </a:r>
            <a:endParaRPr lang="zh-CN" altLang="en-US"/>
          </a:p>
        </p:txBody>
      </p:sp>
      <p:grpSp>
        <p:nvGrpSpPr>
          <p:cNvPr id="23" name="组合 22"/>
          <p:cNvGrpSpPr/>
          <p:nvPr/>
        </p:nvGrpSpPr>
        <p:grpSpPr>
          <a:xfrm>
            <a:off x="754380" y="3105310"/>
            <a:ext cx="4951730" cy="905510"/>
            <a:chOff x="1923" y="3755"/>
            <a:chExt cx="7798" cy="1426"/>
          </a:xfrm>
        </p:grpSpPr>
        <p:sp>
          <p:nvSpPr>
            <p:cNvPr id="6" name="MH_Other_1"/>
            <p:cNvSpPr>
              <a:spLocks noChangeArrowheads="1"/>
            </p:cNvSpPr>
            <p:nvPr>
              <p:custDataLst>
                <p:tags r:id="rId16"/>
              </p:custDataLst>
            </p:nvPr>
          </p:nvSpPr>
          <p:spPr bwMode="auto">
            <a:xfrm>
              <a:off x="1923" y="3755"/>
              <a:ext cx="1119" cy="779"/>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7" name="MH_Other_2"/>
            <p:cNvSpPr>
              <a:spLocks noChangeArrowheads="1"/>
            </p:cNvSpPr>
            <p:nvPr>
              <p:custDataLst>
                <p:tags r:id="rId17"/>
              </p:custDataLst>
            </p:nvPr>
          </p:nvSpPr>
          <p:spPr bwMode="auto">
            <a:xfrm>
              <a:off x="3105" y="3917"/>
              <a:ext cx="887" cy="617"/>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Other_3"/>
            <p:cNvSpPr>
              <a:spLocks noChangeArrowheads="1"/>
            </p:cNvSpPr>
            <p:nvPr>
              <p:custDataLst>
                <p:tags r:id="rId18"/>
              </p:custDataLst>
            </p:nvPr>
          </p:nvSpPr>
          <p:spPr bwMode="auto">
            <a:xfrm>
              <a:off x="2176" y="4578"/>
              <a:ext cx="866" cy="603"/>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 name="MH_Other_4"/>
            <p:cNvSpPr>
              <a:spLocks noChangeArrowheads="1"/>
            </p:cNvSpPr>
            <p:nvPr>
              <p:custDataLst>
                <p:tags r:id="rId19"/>
              </p:custDataLst>
            </p:nvPr>
          </p:nvSpPr>
          <p:spPr bwMode="auto">
            <a:xfrm>
              <a:off x="3105" y="4578"/>
              <a:ext cx="1119" cy="514"/>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SubTitle_1"/>
            <p:cNvSpPr/>
            <p:nvPr>
              <p:custDataLst>
                <p:tags r:id="rId20"/>
              </p:custDataLst>
            </p:nvPr>
          </p:nvSpPr>
          <p:spPr>
            <a:xfrm>
              <a:off x="4693" y="3927"/>
              <a:ext cx="5028" cy="1254"/>
            </a:xfrm>
            <a:prstGeom prst="rect">
              <a:avLst/>
            </a:prstGeom>
          </p:spPr>
          <p:txBody>
            <a:bodyPr lIns="0" tIns="0" rIns="0" bIns="0" anchor="ctr">
              <a:noAutofit/>
            </a:bodyPr>
            <a:lstStyle/>
            <a:p>
              <a:pPr>
                <a:lnSpc>
                  <a:spcPct val="140000"/>
                </a:lnSpc>
                <a:defRPr/>
              </a:pPr>
              <a:r>
                <a:rPr lang="zh-CN" altLang="en-US" sz="1600" dirty="0">
                  <a:solidFill>
                    <a:srgbClr val="000000"/>
                  </a:solidFill>
                  <a:latin typeface="微软雅黑" panose="020B0503020204020204" charset="-122"/>
                  <a:ea typeface="微软雅黑" panose="020B0503020204020204" charset="-122"/>
                  <a:sym typeface="+mn-ea"/>
                </a:rPr>
                <a:t>        </a:t>
              </a:r>
              <a:r>
                <a:rPr lang="zh-CN" altLang="en-US" dirty="0">
                  <a:solidFill>
                    <a:srgbClr val="000000"/>
                  </a:solidFill>
                  <a:latin typeface="微软雅黑" panose="020B0503020204020204" charset="-122"/>
                  <a:ea typeface="微软雅黑" panose="020B0503020204020204" charset="-122"/>
                  <a:sym typeface="+mn-ea"/>
                </a:rPr>
                <a:t>指明数据存在的数据符号，这些数据符号也可指明该数据所使用的媒体；</a:t>
              </a:r>
            </a:p>
          </p:txBody>
        </p:sp>
      </p:grpSp>
      <p:grpSp>
        <p:nvGrpSpPr>
          <p:cNvPr id="22" name="组合 21"/>
          <p:cNvGrpSpPr/>
          <p:nvPr/>
        </p:nvGrpSpPr>
        <p:grpSpPr>
          <a:xfrm>
            <a:off x="6247765" y="3105310"/>
            <a:ext cx="4312285" cy="905510"/>
            <a:chOff x="7484" y="7718"/>
            <a:chExt cx="6791" cy="1426"/>
          </a:xfrm>
        </p:grpSpPr>
        <p:sp>
          <p:nvSpPr>
            <p:cNvPr id="11" name="MH_Other_5"/>
            <p:cNvSpPr>
              <a:spLocks noChangeArrowheads="1"/>
            </p:cNvSpPr>
            <p:nvPr>
              <p:custDataLst>
                <p:tags r:id="rId11"/>
              </p:custDataLst>
            </p:nvPr>
          </p:nvSpPr>
          <p:spPr bwMode="auto">
            <a:xfrm>
              <a:off x="7484" y="7718"/>
              <a:ext cx="1119" cy="779"/>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2" name="MH_Other_6"/>
            <p:cNvSpPr>
              <a:spLocks noChangeArrowheads="1"/>
            </p:cNvSpPr>
            <p:nvPr>
              <p:custDataLst>
                <p:tags r:id="rId12"/>
              </p:custDataLst>
            </p:nvPr>
          </p:nvSpPr>
          <p:spPr bwMode="auto">
            <a:xfrm>
              <a:off x="8666" y="7880"/>
              <a:ext cx="887" cy="617"/>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7"/>
            <p:cNvSpPr>
              <a:spLocks noChangeArrowheads="1"/>
            </p:cNvSpPr>
            <p:nvPr>
              <p:custDataLst>
                <p:tags r:id="rId13"/>
              </p:custDataLst>
            </p:nvPr>
          </p:nvSpPr>
          <p:spPr bwMode="auto">
            <a:xfrm>
              <a:off x="7737" y="8541"/>
              <a:ext cx="866" cy="603"/>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8"/>
            <p:cNvSpPr>
              <a:spLocks noChangeArrowheads="1"/>
            </p:cNvSpPr>
            <p:nvPr>
              <p:custDataLst>
                <p:tags r:id="rId14"/>
              </p:custDataLst>
            </p:nvPr>
          </p:nvSpPr>
          <p:spPr bwMode="auto">
            <a:xfrm>
              <a:off x="8666" y="8541"/>
              <a:ext cx="1119" cy="514"/>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SubTitle_3"/>
            <p:cNvSpPr/>
            <p:nvPr>
              <p:custDataLst>
                <p:tags r:id="rId15"/>
              </p:custDataLst>
            </p:nvPr>
          </p:nvSpPr>
          <p:spPr>
            <a:xfrm>
              <a:off x="10281" y="7880"/>
              <a:ext cx="3994" cy="1254"/>
            </a:xfrm>
            <a:prstGeom prst="rect">
              <a:avLst/>
            </a:prstGeom>
          </p:spPr>
          <p:txBody>
            <a:bodyPr lIns="0" tIns="0" rIns="0" bIns="0" anchor="ctr">
              <a:noAutofit/>
            </a:bodyPr>
            <a:lstStyle/>
            <a:p>
              <a:pPr>
                <a:lnSpc>
                  <a:spcPct val="130000"/>
                </a:lnSpc>
                <a:defRPr/>
              </a:pPr>
              <a:r>
                <a:rPr lang="en-US" altLang="zh-CN" dirty="0">
                  <a:solidFill>
                    <a:srgbClr val="000000"/>
                  </a:solidFill>
                  <a:latin typeface="微软雅黑" panose="020B0503020204020204" charset="-122"/>
                  <a:ea typeface="微软雅黑" panose="020B0503020204020204" charset="-122"/>
                  <a:sym typeface="+mn-ea"/>
                </a:rPr>
                <a:t>      </a:t>
              </a:r>
              <a:r>
                <a:rPr lang="zh-CN" altLang="en-US" dirty="0">
                  <a:solidFill>
                    <a:srgbClr val="000000"/>
                  </a:solidFill>
                  <a:latin typeface="微软雅黑" panose="020B0503020204020204" charset="-122"/>
                  <a:ea typeface="微软雅黑" panose="020B0503020204020204" charset="-122"/>
                  <a:sym typeface="+mn-ea"/>
                </a:rPr>
                <a:t>指明几个处理和（或）数据媒体之间的数据流的流线符号；</a:t>
              </a:r>
            </a:p>
          </p:txBody>
        </p:sp>
      </p:grpSp>
      <p:grpSp>
        <p:nvGrpSpPr>
          <p:cNvPr id="21" name="组合 20"/>
          <p:cNvGrpSpPr/>
          <p:nvPr/>
        </p:nvGrpSpPr>
        <p:grpSpPr>
          <a:xfrm>
            <a:off x="754380" y="4573860"/>
            <a:ext cx="4781550" cy="905510"/>
            <a:chOff x="4731" y="5756"/>
            <a:chExt cx="7530" cy="1426"/>
          </a:xfrm>
        </p:grpSpPr>
        <p:sp>
          <p:nvSpPr>
            <p:cNvPr id="16" name="MH_Other_9"/>
            <p:cNvSpPr>
              <a:spLocks noChangeArrowheads="1"/>
            </p:cNvSpPr>
            <p:nvPr>
              <p:custDataLst>
                <p:tags r:id="rId6"/>
              </p:custDataLst>
            </p:nvPr>
          </p:nvSpPr>
          <p:spPr bwMode="auto">
            <a:xfrm>
              <a:off x="4731" y="5756"/>
              <a:ext cx="1119" cy="779"/>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7" name="MH_Other_10"/>
            <p:cNvSpPr>
              <a:spLocks noChangeArrowheads="1"/>
            </p:cNvSpPr>
            <p:nvPr>
              <p:custDataLst>
                <p:tags r:id="rId7"/>
              </p:custDataLst>
            </p:nvPr>
          </p:nvSpPr>
          <p:spPr bwMode="auto">
            <a:xfrm>
              <a:off x="5914" y="5918"/>
              <a:ext cx="887" cy="617"/>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Other_11"/>
            <p:cNvSpPr>
              <a:spLocks noChangeArrowheads="1"/>
            </p:cNvSpPr>
            <p:nvPr>
              <p:custDataLst>
                <p:tags r:id="rId8"/>
              </p:custDataLst>
            </p:nvPr>
          </p:nvSpPr>
          <p:spPr bwMode="auto">
            <a:xfrm>
              <a:off x="4985" y="6579"/>
              <a:ext cx="866" cy="603"/>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2"/>
            <p:cNvSpPr>
              <a:spLocks noChangeArrowheads="1"/>
            </p:cNvSpPr>
            <p:nvPr>
              <p:custDataLst>
                <p:tags r:id="rId9"/>
              </p:custDataLst>
            </p:nvPr>
          </p:nvSpPr>
          <p:spPr bwMode="auto">
            <a:xfrm>
              <a:off x="5914" y="6579"/>
              <a:ext cx="1119" cy="514"/>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SubTitle_2"/>
            <p:cNvSpPr/>
            <p:nvPr>
              <p:custDataLst>
                <p:tags r:id="rId10"/>
              </p:custDataLst>
            </p:nvPr>
          </p:nvSpPr>
          <p:spPr>
            <a:xfrm>
              <a:off x="7501" y="5928"/>
              <a:ext cx="4760" cy="1254"/>
            </a:xfrm>
            <a:prstGeom prst="rect">
              <a:avLst/>
            </a:prstGeom>
          </p:spPr>
          <p:txBody>
            <a:bodyPr lIns="0" tIns="0" rIns="0" bIns="0" anchor="ctr">
              <a:noAutofit/>
            </a:bodyPr>
            <a:lstStyle/>
            <a:p>
              <a:pPr lvl="0" algn="just">
                <a:lnSpc>
                  <a:spcPct val="120000"/>
                </a:lnSpc>
                <a:spcBef>
                  <a:spcPct val="0"/>
                </a:spcBef>
              </a:pPr>
              <a:r>
                <a:rPr lang="en-US" altLang="zh-CN" dirty="0">
                  <a:solidFill>
                    <a:srgbClr val="000000"/>
                  </a:solidFill>
                  <a:latin typeface="微软雅黑" panose="020B0503020204020204" charset="-122"/>
                  <a:ea typeface="微软雅黑" panose="020B0503020204020204" charset="-122"/>
                  <a:sym typeface="+mn-ea"/>
                </a:rPr>
                <a:t>       </a:t>
              </a:r>
              <a:r>
                <a:rPr lang="zh-CN" altLang="en-US" dirty="0">
                  <a:solidFill>
                    <a:srgbClr val="000000"/>
                  </a:solidFill>
                  <a:latin typeface="微软雅黑" panose="020B0503020204020204" charset="-122"/>
                  <a:ea typeface="微软雅黑" panose="020B0503020204020204" charset="-122"/>
                  <a:sym typeface="+mn-ea"/>
                </a:rPr>
                <a:t>指明对数据执行的处理的处理符号，这些符号也可指明该处理所用到的机器功能；</a:t>
              </a:r>
            </a:p>
          </p:txBody>
        </p:sp>
      </p:gr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3.5.1 </a:t>
            </a:r>
            <a:r>
              <a:rPr lang="zh-CN" altLang="en-US" sz="2400" dirty="0">
                <a:solidFill>
                  <a:schemeClr val="tx1"/>
                </a:solidFill>
              </a:rPr>
              <a:t>流程图</a:t>
            </a:r>
          </a:p>
        </p:txBody>
      </p:sp>
      <p:grpSp>
        <p:nvGrpSpPr>
          <p:cNvPr id="24" name="组合 23"/>
          <p:cNvGrpSpPr/>
          <p:nvPr/>
        </p:nvGrpSpPr>
        <p:grpSpPr>
          <a:xfrm>
            <a:off x="6247765" y="4573860"/>
            <a:ext cx="4505325" cy="905510"/>
            <a:chOff x="7484" y="7718"/>
            <a:chExt cx="7095" cy="1426"/>
          </a:xfrm>
        </p:grpSpPr>
        <p:sp>
          <p:nvSpPr>
            <p:cNvPr id="25" name="MH_Other_5"/>
            <p:cNvSpPr>
              <a:spLocks noChangeArrowheads="1"/>
            </p:cNvSpPr>
            <p:nvPr>
              <p:custDataLst>
                <p:tags r:id="rId1"/>
              </p:custDataLst>
            </p:nvPr>
          </p:nvSpPr>
          <p:spPr bwMode="auto">
            <a:xfrm>
              <a:off x="7484" y="7718"/>
              <a:ext cx="1119" cy="779"/>
            </a:xfrm>
            <a:prstGeom prst="rect">
              <a:avLst/>
            </a:prstGeom>
            <a:solidFill>
              <a:schemeClr val="accent6">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a:t>
              </a:r>
              <a:r>
                <a:rPr lang="en-US" sz="2400" b="1">
                  <a:solidFill>
                    <a:srgbClr val="FFFFFF"/>
                  </a:solidFill>
                  <a:ea typeface="微软雅黑" panose="020B0503020204020204" charset="-122"/>
                </a:rPr>
                <a:t>4</a:t>
              </a:r>
            </a:p>
          </p:txBody>
        </p:sp>
        <p:sp>
          <p:nvSpPr>
            <p:cNvPr id="26" name="MH_Other_6"/>
            <p:cNvSpPr>
              <a:spLocks noChangeArrowheads="1"/>
            </p:cNvSpPr>
            <p:nvPr>
              <p:custDataLst>
                <p:tags r:id="rId2"/>
              </p:custDataLst>
            </p:nvPr>
          </p:nvSpPr>
          <p:spPr bwMode="auto">
            <a:xfrm>
              <a:off x="8666" y="7880"/>
              <a:ext cx="887" cy="617"/>
            </a:xfrm>
            <a:prstGeom prst="rect">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7"/>
            <p:cNvSpPr>
              <a:spLocks noChangeArrowheads="1"/>
            </p:cNvSpPr>
            <p:nvPr>
              <p:custDataLst>
                <p:tags r:id="rId3"/>
              </p:custDataLst>
            </p:nvPr>
          </p:nvSpPr>
          <p:spPr bwMode="auto">
            <a:xfrm>
              <a:off x="7737" y="8541"/>
              <a:ext cx="866" cy="603"/>
            </a:xfrm>
            <a:prstGeom prst="rect">
              <a:avLst/>
            </a:prstGeom>
            <a:solidFill>
              <a:schemeClr val="accent6">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8"/>
            <p:cNvSpPr>
              <a:spLocks noChangeArrowheads="1"/>
            </p:cNvSpPr>
            <p:nvPr>
              <p:custDataLst>
                <p:tags r:id="rId4"/>
              </p:custDataLst>
            </p:nvPr>
          </p:nvSpPr>
          <p:spPr bwMode="auto">
            <a:xfrm>
              <a:off x="8666" y="8541"/>
              <a:ext cx="1119" cy="514"/>
            </a:xfrm>
            <a:prstGeom prst="rect">
              <a:avLst/>
            </a:prstGeom>
            <a:solidFill>
              <a:schemeClr val="accent6">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9" name="MH_SubTitle_3"/>
            <p:cNvSpPr/>
            <p:nvPr>
              <p:custDataLst>
                <p:tags r:id="rId5"/>
              </p:custDataLst>
            </p:nvPr>
          </p:nvSpPr>
          <p:spPr>
            <a:xfrm>
              <a:off x="10226" y="7718"/>
              <a:ext cx="4353" cy="1254"/>
            </a:xfrm>
            <a:prstGeom prst="rect">
              <a:avLst/>
            </a:prstGeom>
          </p:spPr>
          <p:txBody>
            <a:bodyPr lIns="0" tIns="0" rIns="0" bIns="0" anchor="ctr">
              <a:noAutofit/>
            </a:bodyPr>
            <a:lstStyle/>
            <a:p>
              <a:pPr>
                <a:lnSpc>
                  <a:spcPct val="130000"/>
                </a:lnSpc>
                <a:defRPr/>
              </a:pPr>
              <a:r>
                <a:rPr lang="en-US" altLang="zh-CN" dirty="0">
                  <a:solidFill>
                    <a:srgbClr val="000000"/>
                  </a:solidFill>
                  <a:latin typeface="微软雅黑" panose="020B0503020204020204" charset="-122"/>
                  <a:ea typeface="微软雅黑" panose="020B0503020204020204" charset="-122"/>
                  <a:sym typeface="+mn-ea"/>
                </a:rPr>
                <a:t>       </a:t>
              </a:r>
              <a:r>
                <a:rPr lang="zh-CN" altLang="en-US" dirty="0">
                  <a:solidFill>
                    <a:srgbClr val="000000"/>
                  </a:solidFill>
                  <a:latin typeface="微软雅黑" panose="020B0503020204020204" charset="-122"/>
                  <a:ea typeface="微软雅黑" panose="020B0503020204020204" charset="-122"/>
                  <a:sym typeface="+mn-ea"/>
                </a:rPr>
                <a:t>便于读、写数据流程图的特殊符号。</a:t>
              </a:r>
            </a:p>
          </p:txBody>
        </p:sp>
      </p:grpSp>
      <p:grpSp>
        <p:nvGrpSpPr>
          <p:cNvPr id="33" name="组合 32"/>
          <p:cNvGrpSpPr/>
          <p:nvPr/>
        </p:nvGrpSpPr>
        <p:grpSpPr>
          <a:xfrm>
            <a:off x="6260873" y="1566934"/>
            <a:ext cx="5318760" cy="1112520"/>
            <a:chOff x="1188" y="3071"/>
            <a:chExt cx="8376" cy="1752"/>
          </a:xfrm>
        </p:grpSpPr>
        <p:sp>
          <p:nvSpPr>
            <p:cNvPr id="167" name="圆角矩形"/>
            <p:cNvSpPr/>
            <p:nvPr/>
          </p:nvSpPr>
          <p:spPr>
            <a:xfrm>
              <a:off x="1188" y="3479"/>
              <a:ext cx="8376" cy="134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4" name="学士帽"/>
            <p:cNvSpPr/>
            <p:nvPr/>
          </p:nvSpPr>
          <p:spPr bwMode="auto">
            <a:xfrm>
              <a:off x="1188" y="3071"/>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ndParaRPr>
            </a:p>
          </p:txBody>
        </p:sp>
        <p:sp>
          <p:nvSpPr>
            <p:cNvPr id="35" name="文本框 34"/>
            <p:cNvSpPr txBox="1"/>
            <p:nvPr/>
          </p:nvSpPr>
          <p:spPr>
            <a:xfrm>
              <a:off x="1252" y="3931"/>
              <a:ext cx="8312" cy="576"/>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lang="zh-CN" altLang="en-US">
                  <a:sym typeface="+mn-ea"/>
                </a:rPr>
                <a:t>系统流程图表示系统的操作控制和数据流</a:t>
              </a:r>
            </a:p>
          </p:txBody>
        </p:sp>
      </p:grpSp>
      <p:grpSp>
        <p:nvGrpSpPr>
          <p:cNvPr id="32" name="组合 6"/>
          <p:cNvGrpSpPr/>
          <p:nvPr/>
        </p:nvGrpSpPr>
        <p:grpSpPr>
          <a:xfrm>
            <a:off x="809625" y="2145646"/>
            <a:ext cx="7024189" cy="590550"/>
            <a:chOff x="508000" y="3196191"/>
            <a:chExt cx="7024120" cy="590550"/>
          </a:xfrm>
        </p:grpSpPr>
        <p:sp>
          <p:nvSpPr>
            <p:cNvPr id="36" name="TextBox 1"/>
            <p:cNvSpPr txBox="1">
              <a:spLocks noChangeArrowheads="1"/>
            </p:cNvSpPr>
            <p:nvPr/>
          </p:nvSpPr>
          <p:spPr bwMode="auto">
            <a:xfrm>
              <a:off x="508000" y="3196191"/>
              <a:ext cx="3754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3</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37" name="直接连接符 36"/>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8" name="矩形 37"/>
            <p:cNvSpPr>
              <a:spLocks noChangeArrowheads="1"/>
            </p:cNvSpPr>
            <p:nvPr/>
          </p:nvSpPr>
          <p:spPr bwMode="auto">
            <a:xfrm>
              <a:off x="960436" y="3291441"/>
              <a:ext cx="65716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系统流程图</a:t>
              </a:r>
            </a:p>
          </p:txBody>
        </p:sp>
      </p:grpSp>
    </p:spTree>
  </p:cSld>
  <p:clrMapOvr>
    <a:masterClrMapping/>
  </p:clrMapOvr>
  <p:transition>
    <p:pull di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5 </a:t>
            </a:r>
            <a:r>
              <a:rPr lang="zh-CN" altLang="en-US">
                <a:sym typeface="+mn-ea"/>
              </a:rPr>
              <a:t>过程设计工具</a:t>
            </a:r>
            <a:endParaRPr lang="zh-CN" altLang="en-US"/>
          </a:p>
        </p:txBody>
      </p:sp>
      <p:grpSp>
        <p:nvGrpSpPr>
          <p:cNvPr id="23" name="组合 22"/>
          <p:cNvGrpSpPr/>
          <p:nvPr/>
        </p:nvGrpSpPr>
        <p:grpSpPr>
          <a:xfrm>
            <a:off x="738846" y="3313966"/>
            <a:ext cx="9697720" cy="905510"/>
            <a:chOff x="1923" y="3755"/>
            <a:chExt cx="15272" cy="1426"/>
          </a:xfrm>
        </p:grpSpPr>
        <p:sp>
          <p:nvSpPr>
            <p:cNvPr id="6" name="MH_Other_1"/>
            <p:cNvSpPr>
              <a:spLocks noChangeArrowheads="1"/>
            </p:cNvSpPr>
            <p:nvPr>
              <p:custDataLst>
                <p:tags r:id="rId16"/>
              </p:custDataLst>
            </p:nvPr>
          </p:nvSpPr>
          <p:spPr bwMode="auto">
            <a:xfrm>
              <a:off x="1923" y="3755"/>
              <a:ext cx="1119" cy="779"/>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7" name="MH_Other_2"/>
            <p:cNvSpPr>
              <a:spLocks noChangeArrowheads="1"/>
            </p:cNvSpPr>
            <p:nvPr>
              <p:custDataLst>
                <p:tags r:id="rId17"/>
              </p:custDataLst>
            </p:nvPr>
          </p:nvSpPr>
          <p:spPr bwMode="auto">
            <a:xfrm>
              <a:off x="3105" y="3917"/>
              <a:ext cx="887" cy="617"/>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Other_3"/>
            <p:cNvSpPr>
              <a:spLocks noChangeArrowheads="1"/>
            </p:cNvSpPr>
            <p:nvPr>
              <p:custDataLst>
                <p:tags r:id="rId18"/>
              </p:custDataLst>
            </p:nvPr>
          </p:nvSpPr>
          <p:spPr bwMode="auto">
            <a:xfrm>
              <a:off x="2176" y="4578"/>
              <a:ext cx="866" cy="603"/>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 name="MH_Other_4"/>
            <p:cNvSpPr>
              <a:spLocks noChangeArrowheads="1"/>
            </p:cNvSpPr>
            <p:nvPr>
              <p:custDataLst>
                <p:tags r:id="rId19"/>
              </p:custDataLst>
            </p:nvPr>
          </p:nvSpPr>
          <p:spPr bwMode="auto">
            <a:xfrm>
              <a:off x="3105" y="4578"/>
              <a:ext cx="1119" cy="514"/>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SubTitle_1"/>
            <p:cNvSpPr/>
            <p:nvPr>
              <p:custDataLst>
                <p:tags r:id="rId20"/>
              </p:custDataLst>
            </p:nvPr>
          </p:nvSpPr>
          <p:spPr>
            <a:xfrm>
              <a:off x="4693" y="3840"/>
              <a:ext cx="12502" cy="1254"/>
            </a:xfrm>
            <a:prstGeom prst="rect">
              <a:avLst/>
            </a:prstGeom>
          </p:spPr>
          <p:txBody>
            <a:bodyPr lIns="0" tIns="0" rIns="0" bIns="0" anchor="ctr">
              <a:noAutofit/>
            </a:bodyPr>
            <a:lstStyle/>
            <a:p>
              <a:pPr>
                <a:lnSpc>
                  <a:spcPct val="140000"/>
                </a:lnSpc>
                <a:defRPr/>
              </a:pPr>
              <a:r>
                <a:rPr lang="zh-CN" altLang="en-US" dirty="0">
                  <a:solidFill>
                    <a:srgbClr val="000000"/>
                  </a:solidFill>
                  <a:latin typeface="微软雅黑" panose="020B0503020204020204" charset="-122"/>
                  <a:ea typeface="微软雅黑" panose="020B0503020204020204" charset="-122"/>
                  <a:sym typeface="+mn-ea"/>
                </a:rPr>
                <a:t>指明数据存在的数据符号；</a:t>
              </a:r>
            </a:p>
          </p:txBody>
        </p:sp>
      </p:grpSp>
      <p:grpSp>
        <p:nvGrpSpPr>
          <p:cNvPr id="22" name="组合 21"/>
          <p:cNvGrpSpPr/>
          <p:nvPr/>
        </p:nvGrpSpPr>
        <p:grpSpPr>
          <a:xfrm>
            <a:off x="6302413" y="3451504"/>
            <a:ext cx="5530215" cy="905510"/>
            <a:chOff x="7484" y="7718"/>
            <a:chExt cx="8709" cy="1426"/>
          </a:xfrm>
        </p:grpSpPr>
        <p:sp>
          <p:nvSpPr>
            <p:cNvPr id="11" name="MH_Other_5"/>
            <p:cNvSpPr>
              <a:spLocks noChangeArrowheads="1"/>
            </p:cNvSpPr>
            <p:nvPr>
              <p:custDataLst>
                <p:tags r:id="rId11"/>
              </p:custDataLst>
            </p:nvPr>
          </p:nvSpPr>
          <p:spPr bwMode="auto">
            <a:xfrm>
              <a:off x="7484" y="7718"/>
              <a:ext cx="1119" cy="779"/>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2" name="MH_Other_6"/>
            <p:cNvSpPr>
              <a:spLocks noChangeArrowheads="1"/>
            </p:cNvSpPr>
            <p:nvPr>
              <p:custDataLst>
                <p:tags r:id="rId12"/>
              </p:custDataLst>
            </p:nvPr>
          </p:nvSpPr>
          <p:spPr bwMode="auto">
            <a:xfrm>
              <a:off x="8666" y="7880"/>
              <a:ext cx="887" cy="617"/>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7"/>
            <p:cNvSpPr>
              <a:spLocks noChangeArrowheads="1"/>
            </p:cNvSpPr>
            <p:nvPr>
              <p:custDataLst>
                <p:tags r:id="rId13"/>
              </p:custDataLst>
            </p:nvPr>
          </p:nvSpPr>
          <p:spPr bwMode="auto">
            <a:xfrm>
              <a:off x="7737" y="8541"/>
              <a:ext cx="866" cy="603"/>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8"/>
            <p:cNvSpPr>
              <a:spLocks noChangeArrowheads="1"/>
            </p:cNvSpPr>
            <p:nvPr>
              <p:custDataLst>
                <p:tags r:id="rId14"/>
              </p:custDataLst>
            </p:nvPr>
          </p:nvSpPr>
          <p:spPr bwMode="auto">
            <a:xfrm>
              <a:off x="8666" y="8541"/>
              <a:ext cx="1119" cy="514"/>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SubTitle_3"/>
            <p:cNvSpPr/>
            <p:nvPr>
              <p:custDataLst>
                <p:tags r:id="rId15"/>
              </p:custDataLst>
            </p:nvPr>
          </p:nvSpPr>
          <p:spPr>
            <a:xfrm>
              <a:off x="10226" y="7718"/>
              <a:ext cx="5967" cy="1254"/>
            </a:xfrm>
            <a:prstGeom prst="rect">
              <a:avLst/>
            </a:prstGeom>
          </p:spPr>
          <p:txBody>
            <a:bodyPr lIns="0" tIns="0" rIns="0" bIns="0" anchor="ctr">
              <a:noAutofit/>
            </a:bodyPr>
            <a:lstStyle/>
            <a:p>
              <a:pPr>
                <a:lnSpc>
                  <a:spcPct val="130000"/>
                </a:lnSpc>
                <a:defRPr/>
              </a:pPr>
              <a:r>
                <a:rPr lang="zh-CN" altLang="en-US" dirty="0">
                  <a:solidFill>
                    <a:srgbClr val="000000"/>
                  </a:solidFill>
                  <a:latin typeface="微软雅黑" panose="020B0503020204020204" charset="-122"/>
                  <a:ea typeface="微软雅黑" panose="020B0503020204020204" charset="-122"/>
                  <a:sym typeface="+mn-ea"/>
                </a:rPr>
                <a:t>表明各处理的激活和处理与数据间流向的流线符号；</a:t>
              </a:r>
            </a:p>
          </p:txBody>
        </p:sp>
      </p:grpSp>
      <p:grpSp>
        <p:nvGrpSpPr>
          <p:cNvPr id="21" name="组合 20"/>
          <p:cNvGrpSpPr/>
          <p:nvPr/>
        </p:nvGrpSpPr>
        <p:grpSpPr>
          <a:xfrm>
            <a:off x="738846" y="4532154"/>
            <a:ext cx="5211445" cy="905510"/>
            <a:chOff x="4731" y="5756"/>
            <a:chExt cx="8207" cy="1426"/>
          </a:xfrm>
        </p:grpSpPr>
        <p:sp>
          <p:nvSpPr>
            <p:cNvPr id="16" name="MH_Other_9"/>
            <p:cNvSpPr>
              <a:spLocks noChangeArrowheads="1"/>
            </p:cNvSpPr>
            <p:nvPr>
              <p:custDataLst>
                <p:tags r:id="rId6"/>
              </p:custDataLst>
            </p:nvPr>
          </p:nvSpPr>
          <p:spPr bwMode="auto">
            <a:xfrm>
              <a:off x="4731" y="5756"/>
              <a:ext cx="1119" cy="779"/>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7" name="MH_Other_10"/>
            <p:cNvSpPr>
              <a:spLocks noChangeArrowheads="1"/>
            </p:cNvSpPr>
            <p:nvPr>
              <p:custDataLst>
                <p:tags r:id="rId7"/>
              </p:custDataLst>
            </p:nvPr>
          </p:nvSpPr>
          <p:spPr bwMode="auto">
            <a:xfrm>
              <a:off x="5914" y="5918"/>
              <a:ext cx="887" cy="617"/>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Other_11"/>
            <p:cNvSpPr>
              <a:spLocks noChangeArrowheads="1"/>
            </p:cNvSpPr>
            <p:nvPr>
              <p:custDataLst>
                <p:tags r:id="rId8"/>
              </p:custDataLst>
            </p:nvPr>
          </p:nvSpPr>
          <p:spPr bwMode="auto">
            <a:xfrm>
              <a:off x="4985" y="6579"/>
              <a:ext cx="866" cy="603"/>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2"/>
            <p:cNvSpPr>
              <a:spLocks noChangeArrowheads="1"/>
            </p:cNvSpPr>
            <p:nvPr>
              <p:custDataLst>
                <p:tags r:id="rId9"/>
              </p:custDataLst>
            </p:nvPr>
          </p:nvSpPr>
          <p:spPr bwMode="auto">
            <a:xfrm>
              <a:off x="5914" y="6579"/>
              <a:ext cx="1119" cy="514"/>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SubTitle_2"/>
            <p:cNvSpPr/>
            <p:nvPr>
              <p:custDataLst>
                <p:tags r:id="rId10"/>
              </p:custDataLst>
            </p:nvPr>
          </p:nvSpPr>
          <p:spPr>
            <a:xfrm>
              <a:off x="7445" y="5798"/>
              <a:ext cx="5493" cy="1254"/>
            </a:xfrm>
            <a:prstGeom prst="rect">
              <a:avLst/>
            </a:prstGeom>
          </p:spPr>
          <p:txBody>
            <a:bodyPr lIns="0" tIns="0" rIns="0" bIns="0" anchor="ctr">
              <a:noAutofit/>
            </a:bodyPr>
            <a:lstStyle/>
            <a:p>
              <a:pPr lvl="0" algn="just">
                <a:lnSpc>
                  <a:spcPct val="120000"/>
                </a:lnSpc>
                <a:spcBef>
                  <a:spcPct val="0"/>
                </a:spcBef>
              </a:pPr>
              <a:r>
                <a:rPr lang="zh-CN" altLang="en-US" dirty="0">
                  <a:solidFill>
                    <a:srgbClr val="000000"/>
                  </a:solidFill>
                  <a:latin typeface="微软雅黑" panose="020B0503020204020204" charset="-122"/>
                  <a:ea typeface="微软雅黑" panose="020B0503020204020204" charset="-122"/>
                  <a:sym typeface="+mn-ea"/>
                </a:rPr>
                <a:t>指明对数据执行的操作的处理符号；</a:t>
              </a:r>
            </a:p>
          </p:txBody>
        </p:sp>
      </p:gr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3.5.1 </a:t>
            </a:r>
            <a:r>
              <a:rPr lang="zh-CN" altLang="en-US" sz="2400" dirty="0">
                <a:solidFill>
                  <a:schemeClr val="tx1"/>
                </a:solidFill>
              </a:rPr>
              <a:t>流程图</a:t>
            </a:r>
          </a:p>
        </p:txBody>
      </p:sp>
      <p:grpSp>
        <p:nvGrpSpPr>
          <p:cNvPr id="24" name="组合 23"/>
          <p:cNvGrpSpPr/>
          <p:nvPr/>
        </p:nvGrpSpPr>
        <p:grpSpPr>
          <a:xfrm>
            <a:off x="6302413" y="4652870"/>
            <a:ext cx="5434965" cy="905510"/>
            <a:chOff x="7484" y="7718"/>
            <a:chExt cx="8559" cy="1426"/>
          </a:xfrm>
        </p:grpSpPr>
        <p:sp>
          <p:nvSpPr>
            <p:cNvPr id="25" name="MH_Other_5"/>
            <p:cNvSpPr>
              <a:spLocks noChangeArrowheads="1"/>
            </p:cNvSpPr>
            <p:nvPr>
              <p:custDataLst>
                <p:tags r:id="rId1"/>
              </p:custDataLst>
            </p:nvPr>
          </p:nvSpPr>
          <p:spPr bwMode="auto">
            <a:xfrm>
              <a:off x="7484" y="7718"/>
              <a:ext cx="1119" cy="779"/>
            </a:xfrm>
            <a:prstGeom prst="rect">
              <a:avLst/>
            </a:prstGeom>
            <a:solidFill>
              <a:schemeClr val="accent6">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a:t>
              </a:r>
              <a:r>
                <a:rPr lang="en-US" sz="2400" b="1">
                  <a:solidFill>
                    <a:srgbClr val="FFFFFF"/>
                  </a:solidFill>
                  <a:ea typeface="微软雅黑" panose="020B0503020204020204" charset="-122"/>
                </a:rPr>
                <a:t>4</a:t>
              </a:r>
            </a:p>
          </p:txBody>
        </p:sp>
        <p:sp>
          <p:nvSpPr>
            <p:cNvPr id="26" name="MH_Other_6"/>
            <p:cNvSpPr>
              <a:spLocks noChangeArrowheads="1"/>
            </p:cNvSpPr>
            <p:nvPr>
              <p:custDataLst>
                <p:tags r:id="rId2"/>
              </p:custDataLst>
            </p:nvPr>
          </p:nvSpPr>
          <p:spPr bwMode="auto">
            <a:xfrm>
              <a:off x="8666" y="7880"/>
              <a:ext cx="887" cy="617"/>
            </a:xfrm>
            <a:prstGeom prst="rect">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7"/>
            <p:cNvSpPr>
              <a:spLocks noChangeArrowheads="1"/>
            </p:cNvSpPr>
            <p:nvPr>
              <p:custDataLst>
                <p:tags r:id="rId3"/>
              </p:custDataLst>
            </p:nvPr>
          </p:nvSpPr>
          <p:spPr bwMode="auto">
            <a:xfrm>
              <a:off x="7737" y="8541"/>
              <a:ext cx="866" cy="603"/>
            </a:xfrm>
            <a:prstGeom prst="rect">
              <a:avLst/>
            </a:prstGeom>
            <a:solidFill>
              <a:schemeClr val="accent6">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8"/>
            <p:cNvSpPr>
              <a:spLocks noChangeArrowheads="1"/>
            </p:cNvSpPr>
            <p:nvPr>
              <p:custDataLst>
                <p:tags r:id="rId4"/>
              </p:custDataLst>
            </p:nvPr>
          </p:nvSpPr>
          <p:spPr bwMode="auto">
            <a:xfrm>
              <a:off x="8666" y="8541"/>
              <a:ext cx="1119" cy="514"/>
            </a:xfrm>
            <a:prstGeom prst="rect">
              <a:avLst/>
            </a:prstGeom>
            <a:solidFill>
              <a:schemeClr val="accent6">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9" name="MH_SubTitle_3"/>
            <p:cNvSpPr/>
            <p:nvPr>
              <p:custDataLst>
                <p:tags r:id="rId5"/>
              </p:custDataLst>
            </p:nvPr>
          </p:nvSpPr>
          <p:spPr>
            <a:xfrm>
              <a:off x="10226" y="7718"/>
              <a:ext cx="5817" cy="1254"/>
            </a:xfrm>
            <a:prstGeom prst="rect">
              <a:avLst/>
            </a:prstGeom>
          </p:spPr>
          <p:txBody>
            <a:bodyPr lIns="0" tIns="0" rIns="0" bIns="0" anchor="ctr">
              <a:noAutofit/>
            </a:bodyPr>
            <a:lstStyle/>
            <a:p>
              <a:pPr>
                <a:lnSpc>
                  <a:spcPct val="130000"/>
                </a:lnSpc>
                <a:defRPr/>
              </a:pPr>
              <a:r>
                <a:rPr lang="zh-CN" altLang="en-US" dirty="0">
                  <a:solidFill>
                    <a:srgbClr val="000000"/>
                  </a:solidFill>
                  <a:latin typeface="微软雅黑" panose="020B0503020204020204" charset="-122"/>
                  <a:ea typeface="微软雅黑" panose="020B0503020204020204" charset="-122"/>
                  <a:sym typeface="+mn-ea"/>
                </a:rPr>
                <a:t>便于读、写程序网络图的特殊符号。</a:t>
              </a:r>
            </a:p>
          </p:txBody>
        </p:sp>
      </p:grpSp>
      <p:grpSp>
        <p:nvGrpSpPr>
          <p:cNvPr id="33" name="组合 32"/>
          <p:cNvGrpSpPr/>
          <p:nvPr/>
        </p:nvGrpSpPr>
        <p:grpSpPr>
          <a:xfrm>
            <a:off x="6270644" y="1312631"/>
            <a:ext cx="5513705" cy="1508125"/>
            <a:chOff x="881" y="2735"/>
            <a:chExt cx="8683" cy="2375"/>
          </a:xfrm>
        </p:grpSpPr>
        <p:sp>
          <p:nvSpPr>
            <p:cNvPr id="167" name="圆角矩形"/>
            <p:cNvSpPr/>
            <p:nvPr/>
          </p:nvSpPr>
          <p:spPr>
            <a:xfrm>
              <a:off x="1188" y="3071"/>
              <a:ext cx="8376" cy="2039"/>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4"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ndParaRPr>
            </a:p>
          </p:txBody>
        </p:sp>
        <p:sp>
          <p:nvSpPr>
            <p:cNvPr id="35" name="文本框 34"/>
            <p:cNvSpPr txBox="1"/>
            <p:nvPr/>
          </p:nvSpPr>
          <p:spPr>
            <a:xfrm>
              <a:off x="1252" y="3155"/>
              <a:ext cx="8312" cy="1872"/>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dirty="0">
                  <a:sym typeface="+mn-ea"/>
                </a:rPr>
                <a:t>程序网络图表示程序激活路径和程序与相关数据的相互作用。在系统流程图中，一个程序可能在多个控制流中出现；但在程序网络图中，每个程序仅出现一次。</a:t>
              </a:r>
            </a:p>
          </p:txBody>
        </p:sp>
      </p:grpSp>
      <p:grpSp>
        <p:nvGrpSpPr>
          <p:cNvPr id="32" name="组合 6"/>
          <p:cNvGrpSpPr/>
          <p:nvPr/>
        </p:nvGrpSpPr>
        <p:grpSpPr>
          <a:xfrm>
            <a:off x="809625" y="2145646"/>
            <a:ext cx="7024189" cy="590550"/>
            <a:chOff x="508000" y="3196191"/>
            <a:chExt cx="7024120" cy="590550"/>
          </a:xfrm>
        </p:grpSpPr>
        <p:sp>
          <p:nvSpPr>
            <p:cNvPr id="36" name="TextBox 1"/>
            <p:cNvSpPr txBox="1">
              <a:spLocks noChangeArrowheads="1"/>
            </p:cNvSpPr>
            <p:nvPr/>
          </p:nvSpPr>
          <p:spPr bwMode="auto">
            <a:xfrm>
              <a:off x="508000" y="3196191"/>
              <a:ext cx="3754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4</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37" name="直接连接符 36"/>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8" name="矩形 37"/>
            <p:cNvSpPr>
              <a:spLocks noChangeArrowheads="1"/>
            </p:cNvSpPr>
            <p:nvPr/>
          </p:nvSpPr>
          <p:spPr bwMode="auto">
            <a:xfrm>
              <a:off x="960436" y="3291441"/>
              <a:ext cx="65716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程序网络图</a:t>
              </a:r>
            </a:p>
          </p:txBody>
        </p:sp>
      </p:grpSp>
    </p:spTree>
  </p:cSld>
  <p:clrMapOvr>
    <a:masterClrMapping/>
  </p:clrMapOvr>
  <p:transition>
    <p:pull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5 </a:t>
            </a:r>
            <a:r>
              <a:rPr lang="zh-CN" altLang="en-US">
                <a:sym typeface="+mn-ea"/>
              </a:rPr>
              <a:t>过程设计工具</a:t>
            </a:r>
            <a:endParaRPr lang="zh-CN" altLang="en-US"/>
          </a:p>
        </p:txBody>
      </p:sp>
      <p:grpSp>
        <p:nvGrpSpPr>
          <p:cNvPr id="23" name="组合 22"/>
          <p:cNvGrpSpPr/>
          <p:nvPr/>
        </p:nvGrpSpPr>
        <p:grpSpPr>
          <a:xfrm>
            <a:off x="754380" y="3211677"/>
            <a:ext cx="4852035" cy="905510"/>
            <a:chOff x="1923" y="3755"/>
            <a:chExt cx="7641" cy="1426"/>
          </a:xfrm>
        </p:grpSpPr>
        <p:sp>
          <p:nvSpPr>
            <p:cNvPr id="6" name="MH_Other_1"/>
            <p:cNvSpPr>
              <a:spLocks noChangeArrowheads="1"/>
            </p:cNvSpPr>
            <p:nvPr>
              <p:custDataLst>
                <p:tags r:id="rId16"/>
              </p:custDataLst>
            </p:nvPr>
          </p:nvSpPr>
          <p:spPr bwMode="auto">
            <a:xfrm>
              <a:off x="1923" y="3755"/>
              <a:ext cx="1119" cy="779"/>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7" name="MH_Other_2"/>
            <p:cNvSpPr>
              <a:spLocks noChangeArrowheads="1"/>
            </p:cNvSpPr>
            <p:nvPr>
              <p:custDataLst>
                <p:tags r:id="rId17"/>
              </p:custDataLst>
            </p:nvPr>
          </p:nvSpPr>
          <p:spPr bwMode="auto">
            <a:xfrm>
              <a:off x="3105" y="3917"/>
              <a:ext cx="887" cy="617"/>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Other_3"/>
            <p:cNvSpPr>
              <a:spLocks noChangeArrowheads="1"/>
            </p:cNvSpPr>
            <p:nvPr>
              <p:custDataLst>
                <p:tags r:id="rId18"/>
              </p:custDataLst>
            </p:nvPr>
          </p:nvSpPr>
          <p:spPr bwMode="auto">
            <a:xfrm>
              <a:off x="2176" y="4578"/>
              <a:ext cx="866" cy="603"/>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 name="MH_Other_4"/>
            <p:cNvSpPr>
              <a:spLocks noChangeArrowheads="1"/>
            </p:cNvSpPr>
            <p:nvPr>
              <p:custDataLst>
                <p:tags r:id="rId19"/>
              </p:custDataLst>
            </p:nvPr>
          </p:nvSpPr>
          <p:spPr bwMode="auto">
            <a:xfrm>
              <a:off x="3105" y="4578"/>
              <a:ext cx="1119" cy="514"/>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SubTitle_1"/>
            <p:cNvSpPr/>
            <p:nvPr>
              <p:custDataLst>
                <p:tags r:id="rId20"/>
              </p:custDataLst>
            </p:nvPr>
          </p:nvSpPr>
          <p:spPr>
            <a:xfrm>
              <a:off x="4693" y="3840"/>
              <a:ext cx="4871" cy="1254"/>
            </a:xfrm>
            <a:prstGeom prst="rect">
              <a:avLst/>
            </a:prstGeom>
          </p:spPr>
          <p:txBody>
            <a:bodyPr lIns="0" tIns="0" rIns="0" bIns="0" anchor="ctr">
              <a:noAutofit/>
            </a:bodyPr>
            <a:lstStyle/>
            <a:p>
              <a:pPr>
                <a:lnSpc>
                  <a:spcPct val="140000"/>
                </a:lnSpc>
                <a:defRPr/>
              </a:pPr>
              <a:r>
                <a:rPr lang="zh-CN" altLang="en-US" sz="1600" dirty="0">
                  <a:solidFill>
                    <a:srgbClr val="000000"/>
                  </a:solidFill>
                  <a:latin typeface="微软雅黑" panose="020B0503020204020204" charset="-122"/>
                  <a:ea typeface="微软雅黑" panose="020B0503020204020204" charset="-122"/>
                  <a:sym typeface="+mn-ea"/>
                </a:rPr>
                <a:t>       </a:t>
              </a:r>
              <a:r>
                <a:rPr lang="zh-CN" altLang="en-US" dirty="0">
                  <a:solidFill>
                    <a:srgbClr val="000000"/>
                  </a:solidFill>
                  <a:latin typeface="微软雅黑" panose="020B0503020204020204" charset="-122"/>
                  <a:ea typeface="微软雅黑" panose="020B0503020204020204" charset="-122"/>
                  <a:sym typeface="+mn-ea"/>
                </a:rPr>
                <a:t>表明输入、输出或存储设备的数据符号；</a:t>
              </a:r>
            </a:p>
          </p:txBody>
        </p:sp>
      </p:grpSp>
      <p:grpSp>
        <p:nvGrpSpPr>
          <p:cNvPr id="22" name="组合 21"/>
          <p:cNvGrpSpPr/>
          <p:nvPr/>
        </p:nvGrpSpPr>
        <p:grpSpPr>
          <a:xfrm>
            <a:off x="6149340" y="3211042"/>
            <a:ext cx="5071745" cy="905510"/>
            <a:chOff x="7484" y="7718"/>
            <a:chExt cx="7987" cy="1426"/>
          </a:xfrm>
        </p:grpSpPr>
        <p:sp>
          <p:nvSpPr>
            <p:cNvPr id="11" name="MH_Other_5"/>
            <p:cNvSpPr>
              <a:spLocks noChangeArrowheads="1"/>
            </p:cNvSpPr>
            <p:nvPr>
              <p:custDataLst>
                <p:tags r:id="rId11"/>
              </p:custDataLst>
            </p:nvPr>
          </p:nvSpPr>
          <p:spPr bwMode="auto">
            <a:xfrm>
              <a:off x="7484" y="7718"/>
              <a:ext cx="1119" cy="779"/>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2" name="MH_Other_6"/>
            <p:cNvSpPr>
              <a:spLocks noChangeArrowheads="1"/>
            </p:cNvSpPr>
            <p:nvPr>
              <p:custDataLst>
                <p:tags r:id="rId12"/>
              </p:custDataLst>
            </p:nvPr>
          </p:nvSpPr>
          <p:spPr bwMode="auto">
            <a:xfrm>
              <a:off x="8666" y="7880"/>
              <a:ext cx="887" cy="617"/>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7"/>
            <p:cNvSpPr>
              <a:spLocks noChangeArrowheads="1"/>
            </p:cNvSpPr>
            <p:nvPr>
              <p:custDataLst>
                <p:tags r:id="rId13"/>
              </p:custDataLst>
            </p:nvPr>
          </p:nvSpPr>
          <p:spPr bwMode="auto">
            <a:xfrm>
              <a:off x="7737" y="8541"/>
              <a:ext cx="866" cy="603"/>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8"/>
            <p:cNvSpPr>
              <a:spLocks noChangeArrowheads="1"/>
            </p:cNvSpPr>
            <p:nvPr>
              <p:custDataLst>
                <p:tags r:id="rId14"/>
              </p:custDataLst>
            </p:nvPr>
          </p:nvSpPr>
          <p:spPr bwMode="auto">
            <a:xfrm>
              <a:off x="8666" y="8541"/>
              <a:ext cx="1119" cy="514"/>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SubTitle_3"/>
            <p:cNvSpPr/>
            <p:nvPr>
              <p:custDataLst>
                <p:tags r:id="rId15"/>
              </p:custDataLst>
            </p:nvPr>
          </p:nvSpPr>
          <p:spPr>
            <a:xfrm>
              <a:off x="10226" y="7718"/>
              <a:ext cx="5245" cy="1254"/>
            </a:xfrm>
            <a:prstGeom prst="rect">
              <a:avLst/>
            </a:prstGeom>
          </p:spPr>
          <p:txBody>
            <a:bodyPr lIns="0" tIns="0" rIns="0" bIns="0" anchor="ctr">
              <a:noAutofit/>
            </a:bodyPr>
            <a:lstStyle/>
            <a:p>
              <a:pPr>
                <a:lnSpc>
                  <a:spcPct val="130000"/>
                </a:lnSpc>
                <a:defRPr/>
              </a:pPr>
              <a:r>
                <a:rPr lang="en-US" altLang="zh-CN" dirty="0">
                  <a:solidFill>
                    <a:srgbClr val="000000"/>
                  </a:solidFill>
                  <a:latin typeface="微软雅黑" panose="020B0503020204020204" charset="-122"/>
                  <a:ea typeface="微软雅黑" panose="020B0503020204020204" charset="-122"/>
                  <a:sym typeface="+mn-ea"/>
                </a:rPr>
                <a:t>       </a:t>
              </a:r>
              <a:r>
                <a:rPr lang="zh-CN" altLang="en-US" dirty="0">
                  <a:solidFill>
                    <a:srgbClr val="000000"/>
                  </a:solidFill>
                  <a:latin typeface="微软雅黑" panose="020B0503020204020204" charset="-122"/>
                  <a:ea typeface="微软雅黑" panose="020B0503020204020204" charset="-122"/>
                  <a:sym typeface="+mn-ea"/>
                </a:rPr>
                <a:t>表示数据设备和处理器间的数据传送以及处理器之间的控制传送的流线符号；</a:t>
              </a:r>
            </a:p>
          </p:txBody>
        </p:sp>
      </p:grpSp>
      <p:grpSp>
        <p:nvGrpSpPr>
          <p:cNvPr id="21" name="组合 20"/>
          <p:cNvGrpSpPr/>
          <p:nvPr/>
        </p:nvGrpSpPr>
        <p:grpSpPr>
          <a:xfrm>
            <a:off x="809625" y="4608767"/>
            <a:ext cx="4796790" cy="905510"/>
            <a:chOff x="4731" y="5756"/>
            <a:chExt cx="7554" cy="1426"/>
          </a:xfrm>
        </p:grpSpPr>
        <p:sp>
          <p:nvSpPr>
            <p:cNvPr id="16" name="MH_Other_9"/>
            <p:cNvSpPr>
              <a:spLocks noChangeArrowheads="1"/>
            </p:cNvSpPr>
            <p:nvPr>
              <p:custDataLst>
                <p:tags r:id="rId6"/>
              </p:custDataLst>
            </p:nvPr>
          </p:nvSpPr>
          <p:spPr bwMode="auto">
            <a:xfrm>
              <a:off x="4731" y="5756"/>
              <a:ext cx="1119" cy="779"/>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7" name="MH_Other_10"/>
            <p:cNvSpPr>
              <a:spLocks noChangeArrowheads="1"/>
            </p:cNvSpPr>
            <p:nvPr>
              <p:custDataLst>
                <p:tags r:id="rId7"/>
              </p:custDataLst>
            </p:nvPr>
          </p:nvSpPr>
          <p:spPr bwMode="auto">
            <a:xfrm>
              <a:off x="5914" y="5918"/>
              <a:ext cx="887" cy="617"/>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Other_11"/>
            <p:cNvSpPr>
              <a:spLocks noChangeArrowheads="1"/>
            </p:cNvSpPr>
            <p:nvPr>
              <p:custDataLst>
                <p:tags r:id="rId8"/>
              </p:custDataLst>
            </p:nvPr>
          </p:nvSpPr>
          <p:spPr bwMode="auto">
            <a:xfrm>
              <a:off x="4985" y="6579"/>
              <a:ext cx="866" cy="603"/>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2"/>
            <p:cNvSpPr>
              <a:spLocks noChangeArrowheads="1"/>
            </p:cNvSpPr>
            <p:nvPr>
              <p:custDataLst>
                <p:tags r:id="rId9"/>
              </p:custDataLst>
            </p:nvPr>
          </p:nvSpPr>
          <p:spPr bwMode="auto">
            <a:xfrm>
              <a:off x="5914" y="6579"/>
              <a:ext cx="1119" cy="514"/>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SubTitle_2"/>
            <p:cNvSpPr/>
            <p:nvPr>
              <p:custDataLst>
                <p:tags r:id="rId10"/>
              </p:custDataLst>
            </p:nvPr>
          </p:nvSpPr>
          <p:spPr>
            <a:xfrm>
              <a:off x="7445" y="5798"/>
              <a:ext cx="4840" cy="1254"/>
            </a:xfrm>
            <a:prstGeom prst="rect">
              <a:avLst/>
            </a:prstGeom>
          </p:spPr>
          <p:txBody>
            <a:bodyPr lIns="0" tIns="0" rIns="0" bIns="0" anchor="ctr">
              <a:noAutofit/>
            </a:bodyPr>
            <a:lstStyle/>
            <a:p>
              <a:pPr lvl="0" algn="just">
                <a:lnSpc>
                  <a:spcPct val="120000"/>
                </a:lnSpc>
                <a:spcBef>
                  <a:spcPct val="0"/>
                </a:spcBef>
              </a:pPr>
              <a:r>
                <a:rPr lang="en-US" altLang="zh-CN" dirty="0">
                  <a:solidFill>
                    <a:srgbClr val="000000"/>
                  </a:solidFill>
                  <a:latin typeface="微软雅黑" panose="020B0503020204020204" charset="-122"/>
                  <a:ea typeface="微软雅黑" panose="020B0503020204020204" charset="-122"/>
                  <a:sym typeface="+mn-ea"/>
                </a:rPr>
                <a:t>       </a:t>
              </a:r>
              <a:r>
                <a:rPr lang="zh-CN" altLang="en-US" dirty="0">
                  <a:solidFill>
                    <a:srgbClr val="000000"/>
                  </a:solidFill>
                  <a:latin typeface="微软雅黑" panose="020B0503020204020204" charset="-122"/>
                  <a:ea typeface="微软雅黑" panose="020B0503020204020204" charset="-122"/>
                  <a:sym typeface="+mn-ea"/>
                </a:rPr>
                <a:t>表示处理器（如中央处理机、通道等）的处理符号；</a:t>
              </a:r>
            </a:p>
          </p:txBody>
        </p:sp>
      </p:gr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3.5.1 </a:t>
            </a:r>
            <a:r>
              <a:rPr lang="zh-CN" altLang="en-US" sz="2400" dirty="0">
                <a:solidFill>
                  <a:schemeClr val="tx1"/>
                </a:solidFill>
              </a:rPr>
              <a:t>流程图</a:t>
            </a:r>
          </a:p>
        </p:txBody>
      </p:sp>
      <p:grpSp>
        <p:nvGrpSpPr>
          <p:cNvPr id="24" name="组合 23"/>
          <p:cNvGrpSpPr/>
          <p:nvPr/>
        </p:nvGrpSpPr>
        <p:grpSpPr>
          <a:xfrm>
            <a:off x="6149340" y="4608767"/>
            <a:ext cx="5071745" cy="905510"/>
            <a:chOff x="7484" y="7718"/>
            <a:chExt cx="7987" cy="1426"/>
          </a:xfrm>
        </p:grpSpPr>
        <p:sp>
          <p:nvSpPr>
            <p:cNvPr id="25" name="MH_Other_5"/>
            <p:cNvSpPr>
              <a:spLocks noChangeArrowheads="1"/>
            </p:cNvSpPr>
            <p:nvPr>
              <p:custDataLst>
                <p:tags r:id="rId1"/>
              </p:custDataLst>
            </p:nvPr>
          </p:nvSpPr>
          <p:spPr bwMode="auto">
            <a:xfrm>
              <a:off x="7484" y="7718"/>
              <a:ext cx="1119" cy="779"/>
            </a:xfrm>
            <a:prstGeom prst="rect">
              <a:avLst/>
            </a:prstGeom>
            <a:solidFill>
              <a:schemeClr val="accent6">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a:t>
              </a:r>
              <a:r>
                <a:rPr lang="en-US" sz="2400" b="1">
                  <a:solidFill>
                    <a:srgbClr val="FFFFFF"/>
                  </a:solidFill>
                  <a:ea typeface="微软雅黑" panose="020B0503020204020204" charset="-122"/>
                </a:rPr>
                <a:t>4</a:t>
              </a:r>
            </a:p>
          </p:txBody>
        </p:sp>
        <p:sp>
          <p:nvSpPr>
            <p:cNvPr id="26" name="MH_Other_6"/>
            <p:cNvSpPr>
              <a:spLocks noChangeArrowheads="1"/>
            </p:cNvSpPr>
            <p:nvPr>
              <p:custDataLst>
                <p:tags r:id="rId2"/>
              </p:custDataLst>
            </p:nvPr>
          </p:nvSpPr>
          <p:spPr bwMode="auto">
            <a:xfrm>
              <a:off x="8666" y="7880"/>
              <a:ext cx="887" cy="617"/>
            </a:xfrm>
            <a:prstGeom prst="rect">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7"/>
            <p:cNvSpPr>
              <a:spLocks noChangeArrowheads="1"/>
            </p:cNvSpPr>
            <p:nvPr>
              <p:custDataLst>
                <p:tags r:id="rId3"/>
              </p:custDataLst>
            </p:nvPr>
          </p:nvSpPr>
          <p:spPr bwMode="auto">
            <a:xfrm>
              <a:off x="7737" y="8541"/>
              <a:ext cx="866" cy="603"/>
            </a:xfrm>
            <a:prstGeom prst="rect">
              <a:avLst/>
            </a:prstGeom>
            <a:solidFill>
              <a:schemeClr val="accent6">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8"/>
            <p:cNvSpPr>
              <a:spLocks noChangeArrowheads="1"/>
            </p:cNvSpPr>
            <p:nvPr>
              <p:custDataLst>
                <p:tags r:id="rId4"/>
              </p:custDataLst>
            </p:nvPr>
          </p:nvSpPr>
          <p:spPr bwMode="auto">
            <a:xfrm>
              <a:off x="8666" y="8541"/>
              <a:ext cx="1119" cy="514"/>
            </a:xfrm>
            <a:prstGeom prst="rect">
              <a:avLst/>
            </a:prstGeom>
            <a:solidFill>
              <a:schemeClr val="accent6">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9" name="MH_SubTitle_3"/>
            <p:cNvSpPr/>
            <p:nvPr>
              <p:custDataLst>
                <p:tags r:id="rId5"/>
              </p:custDataLst>
            </p:nvPr>
          </p:nvSpPr>
          <p:spPr>
            <a:xfrm>
              <a:off x="10226" y="7718"/>
              <a:ext cx="5245" cy="1254"/>
            </a:xfrm>
            <a:prstGeom prst="rect">
              <a:avLst/>
            </a:prstGeom>
          </p:spPr>
          <p:txBody>
            <a:bodyPr lIns="0" tIns="0" rIns="0" bIns="0" anchor="ctr">
              <a:noAutofit/>
            </a:bodyPr>
            <a:lstStyle/>
            <a:p>
              <a:pPr>
                <a:lnSpc>
                  <a:spcPct val="130000"/>
                </a:lnSpc>
                <a:defRPr/>
              </a:pPr>
              <a:r>
                <a:rPr lang="en-US" altLang="zh-CN" dirty="0">
                  <a:solidFill>
                    <a:srgbClr val="000000"/>
                  </a:solidFill>
                  <a:latin typeface="微软雅黑" panose="020B0503020204020204" charset="-122"/>
                  <a:ea typeface="微软雅黑" panose="020B0503020204020204" charset="-122"/>
                  <a:sym typeface="+mn-ea"/>
                </a:rPr>
                <a:t>      </a:t>
              </a:r>
              <a:r>
                <a:rPr lang="zh-CN" altLang="en-US" dirty="0">
                  <a:solidFill>
                    <a:srgbClr val="000000"/>
                  </a:solidFill>
                  <a:latin typeface="微软雅黑" panose="020B0503020204020204" charset="-122"/>
                  <a:ea typeface="微软雅黑" panose="020B0503020204020204" charset="-122"/>
                  <a:sym typeface="+mn-ea"/>
                </a:rPr>
                <a:t>便于读、写系统资源图的特殊符号。</a:t>
              </a:r>
            </a:p>
          </p:txBody>
        </p:sp>
      </p:grpSp>
      <p:grpSp>
        <p:nvGrpSpPr>
          <p:cNvPr id="33" name="组合 32"/>
          <p:cNvGrpSpPr/>
          <p:nvPr/>
        </p:nvGrpSpPr>
        <p:grpSpPr>
          <a:xfrm>
            <a:off x="6069804" y="1580581"/>
            <a:ext cx="5318760" cy="1112520"/>
            <a:chOff x="1188" y="3071"/>
            <a:chExt cx="8376" cy="1752"/>
          </a:xfrm>
        </p:grpSpPr>
        <p:sp>
          <p:nvSpPr>
            <p:cNvPr id="167" name="圆角矩形"/>
            <p:cNvSpPr/>
            <p:nvPr/>
          </p:nvSpPr>
          <p:spPr>
            <a:xfrm>
              <a:off x="1188" y="3479"/>
              <a:ext cx="8376" cy="134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4" name="学士帽"/>
            <p:cNvSpPr/>
            <p:nvPr/>
          </p:nvSpPr>
          <p:spPr bwMode="auto">
            <a:xfrm>
              <a:off x="1188" y="3071"/>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ndParaRPr>
            </a:p>
          </p:txBody>
        </p:sp>
        <p:sp>
          <p:nvSpPr>
            <p:cNvPr id="35" name="文本框 34"/>
            <p:cNvSpPr txBox="1"/>
            <p:nvPr/>
          </p:nvSpPr>
          <p:spPr>
            <a:xfrm>
              <a:off x="1188" y="3647"/>
              <a:ext cx="8312" cy="1008"/>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lang="zh-CN" altLang="en-US">
                  <a:sym typeface="+mn-ea"/>
                </a:rPr>
                <a:t>系统资源图表示适合于一个问题或一组问题求解的数据单元和处理单元的配置。</a:t>
              </a:r>
            </a:p>
          </p:txBody>
        </p:sp>
      </p:grpSp>
      <p:grpSp>
        <p:nvGrpSpPr>
          <p:cNvPr id="32" name="组合 6"/>
          <p:cNvGrpSpPr/>
          <p:nvPr/>
        </p:nvGrpSpPr>
        <p:grpSpPr>
          <a:xfrm>
            <a:off x="809625" y="2145646"/>
            <a:ext cx="7024189" cy="590550"/>
            <a:chOff x="508000" y="3196191"/>
            <a:chExt cx="7024120" cy="590550"/>
          </a:xfrm>
        </p:grpSpPr>
        <p:sp>
          <p:nvSpPr>
            <p:cNvPr id="36" name="TextBox 1"/>
            <p:cNvSpPr txBox="1">
              <a:spLocks noChangeArrowheads="1"/>
            </p:cNvSpPr>
            <p:nvPr/>
          </p:nvSpPr>
          <p:spPr bwMode="auto">
            <a:xfrm>
              <a:off x="508000" y="3196191"/>
              <a:ext cx="3754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5</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37" name="直接连接符 36"/>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8" name="矩形 37"/>
            <p:cNvSpPr>
              <a:spLocks noChangeArrowheads="1"/>
            </p:cNvSpPr>
            <p:nvPr/>
          </p:nvSpPr>
          <p:spPr bwMode="auto">
            <a:xfrm>
              <a:off x="960436" y="3291441"/>
              <a:ext cx="65716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系统资源图</a:t>
              </a:r>
            </a:p>
          </p:txBody>
        </p:sp>
      </p:grpSp>
    </p:spTree>
  </p:cSld>
  <p:clrMapOvr>
    <a:masterClrMapping/>
  </p:clrMapOvr>
  <p:transition>
    <p:pull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5 </a:t>
            </a:r>
            <a:r>
              <a:rPr lang="zh-CN" altLang="en-US">
                <a:sym typeface="+mn-ea"/>
              </a:rPr>
              <a:t>过程设计工具</a:t>
            </a:r>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流程图</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符号</a:t>
            </a:r>
          </a:p>
        </p:txBody>
      </p:sp>
      <p:sp>
        <p:nvSpPr>
          <p:cNvPr id="4" name="文本框 3"/>
          <p:cNvSpPr txBox="1"/>
          <p:nvPr/>
        </p:nvSpPr>
        <p:spPr>
          <a:xfrm>
            <a:off x="754380" y="2614930"/>
            <a:ext cx="476250" cy="1628775"/>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3.5.1  流程图</a:t>
            </a:r>
          </a:p>
        </p:txBody>
      </p:sp>
      <p:graphicFrame>
        <p:nvGraphicFramePr>
          <p:cNvPr id="13" name="表格 -1"/>
          <p:cNvGraphicFramePr/>
          <p:nvPr/>
        </p:nvGraphicFramePr>
        <p:xfrm>
          <a:off x="1472565" y="2178050"/>
          <a:ext cx="10117455" cy="3640455"/>
        </p:xfrm>
        <a:graphic>
          <a:graphicData uri="http://schemas.openxmlformats.org/drawingml/2006/table">
            <a:tbl>
              <a:tblPr firstRow="1" bandRow="1">
                <a:tableStyleId>{5940675A-B579-460E-94D1-54222C63F5DA}</a:tableStyleId>
              </a:tblPr>
              <a:tblGrid>
                <a:gridCol w="2632075">
                  <a:extLst>
                    <a:ext uri="{9D8B030D-6E8A-4147-A177-3AD203B41FA5}">
                      <a16:colId xmlns:a16="http://schemas.microsoft.com/office/drawing/2014/main" val="20000"/>
                    </a:ext>
                  </a:extLst>
                </a:gridCol>
                <a:gridCol w="2533650">
                  <a:extLst>
                    <a:ext uri="{9D8B030D-6E8A-4147-A177-3AD203B41FA5}">
                      <a16:colId xmlns:a16="http://schemas.microsoft.com/office/drawing/2014/main" val="20001"/>
                    </a:ext>
                  </a:extLst>
                </a:gridCol>
                <a:gridCol w="2538095">
                  <a:extLst>
                    <a:ext uri="{9D8B030D-6E8A-4147-A177-3AD203B41FA5}">
                      <a16:colId xmlns:a16="http://schemas.microsoft.com/office/drawing/2014/main" val="20002"/>
                    </a:ext>
                  </a:extLst>
                </a:gridCol>
                <a:gridCol w="2413635">
                  <a:extLst>
                    <a:ext uri="{9D8B030D-6E8A-4147-A177-3AD203B41FA5}">
                      <a16:colId xmlns:a16="http://schemas.microsoft.com/office/drawing/2014/main" val="20003"/>
                    </a:ext>
                  </a:extLst>
                </a:gridCol>
              </a:tblGrid>
              <a:tr h="404495">
                <a:tc>
                  <a:txBody>
                    <a:bodyPr/>
                    <a:lstStyle/>
                    <a:p>
                      <a:pPr marL="0" indent="0" algn="ctr">
                        <a:buNone/>
                      </a:pPr>
                      <a:r>
                        <a:rPr lang="zh-CN" altLang="en-US" sz="2000" b="0" u="none">
                          <a:highlight>
                            <a:srgbClr val="FADCE9"/>
                          </a:highlight>
                          <a:latin typeface="宋体" panose="02010600030101010101" pitchFamily="2" charset="-122"/>
                          <a:ea typeface="宋体" panose="02010600030101010101" pitchFamily="2" charset="-122"/>
                          <a:cs typeface="宋体" panose="02010600030101010101" pitchFamily="2" charset="-122"/>
                        </a:rPr>
                        <a:t>符号</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2000" b="0" u="none">
                          <a:highlight>
                            <a:srgbClr val="FADCE9"/>
                          </a:highlight>
                          <a:latin typeface="宋体" panose="02010600030101010101" pitchFamily="2" charset="-122"/>
                          <a:ea typeface="宋体" panose="02010600030101010101" pitchFamily="2" charset="-122"/>
                          <a:cs typeface="宋体" panose="02010600030101010101" pitchFamily="2" charset="-122"/>
                        </a:rPr>
                        <a:t>名称</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2000" b="0" u="none">
                          <a:highlight>
                            <a:srgbClr val="FADCE9"/>
                          </a:highlight>
                          <a:latin typeface="宋体" panose="02010600030101010101" pitchFamily="2" charset="-122"/>
                          <a:ea typeface="宋体" panose="02010600030101010101" pitchFamily="2" charset="-122"/>
                          <a:cs typeface="宋体" panose="02010600030101010101" pitchFamily="2" charset="-122"/>
                        </a:rPr>
                        <a:t>符号</a:t>
                      </a: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2000" b="0" u="none">
                          <a:highlight>
                            <a:srgbClr val="FADCE9"/>
                          </a:highlight>
                          <a:latin typeface="宋体" panose="02010600030101010101" pitchFamily="2" charset="-122"/>
                          <a:ea typeface="宋体" panose="02010600030101010101" pitchFamily="2" charset="-122"/>
                          <a:cs typeface="宋体" panose="02010600030101010101" pitchFamily="2" charset="-122"/>
                        </a:rPr>
                        <a:t>名称</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extLst>
                  <a:ext uri="{0D108BD9-81ED-4DB2-BD59-A6C34878D82A}">
                    <a16:rowId xmlns:a16="http://schemas.microsoft.com/office/drawing/2014/main" val="10000"/>
                  </a:ext>
                </a:extLst>
              </a:tr>
              <a:tr h="404495">
                <a:tc>
                  <a:txBody>
                    <a:bodyPr/>
                    <a:lstStyle/>
                    <a:p>
                      <a:pPr marL="0" indent="0" algn="ctr">
                        <a:buNone/>
                      </a:pPr>
                      <a:r>
                        <a:rPr lang="en-US" altLang="zh-CN" sz="20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0" u="none">
                          <a:latin typeface="宋体" panose="02010600030101010101" pitchFamily="2" charset="-122"/>
                          <a:ea typeface="宋体" panose="02010600030101010101" pitchFamily="2" charset="-122"/>
                          <a:cs typeface="宋体" panose="02010600030101010101" pitchFamily="2" charset="-122"/>
                        </a:rPr>
                        <a:t>处理</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20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0" u="none">
                          <a:latin typeface="宋体" panose="02010600030101010101" pitchFamily="2" charset="-122"/>
                          <a:ea typeface="宋体" panose="02010600030101010101" pitchFamily="2" charset="-122"/>
                          <a:cs typeface="宋体" panose="02010600030101010101" pitchFamily="2" charset="-122"/>
                        </a:rPr>
                        <a:t>显示</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4495">
                <a:tc>
                  <a:txBody>
                    <a:bodyPr/>
                    <a:lstStyle/>
                    <a:p>
                      <a:pPr marL="0" indent="0" algn="ctr">
                        <a:buNone/>
                      </a:pPr>
                      <a:r>
                        <a:rPr lang="en-US" altLang="zh-CN" sz="20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0" u="none">
                          <a:latin typeface="宋体" panose="02010600030101010101" pitchFamily="2" charset="-122"/>
                          <a:ea typeface="宋体" panose="02010600030101010101" pitchFamily="2" charset="-122"/>
                          <a:cs typeface="宋体" panose="02010600030101010101" pitchFamily="2" charset="-122"/>
                        </a:rPr>
                        <a:t>判断</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20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0" u="none">
                          <a:latin typeface="宋体" panose="02010600030101010101" pitchFamily="2" charset="-122"/>
                          <a:ea typeface="宋体" panose="02010600030101010101" pitchFamily="2" charset="-122"/>
                          <a:cs typeface="宋体" panose="02010600030101010101" pitchFamily="2" charset="-122"/>
                        </a:rPr>
                        <a:t>循环开始</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4495">
                <a:tc>
                  <a:txBody>
                    <a:bodyPr/>
                    <a:lstStyle/>
                    <a:p>
                      <a:pPr marL="0" indent="0" algn="ctr">
                        <a:buNone/>
                      </a:pPr>
                      <a:r>
                        <a:rPr lang="en-US" altLang="zh-CN" sz="20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0" u="none">
                          <a:latin typeface="宋体" panose="02010600030101010101" pitchFamily="2" charset="-122"/>
                          <a:ea typeface="宋体" panose="02010600030101010101" pitchFamily="2" charset="-122"/>
                          <a:cs typeface="宋体" panose="02010600030101010101" pitchFamily="2" charset="-122"/>
                        </a:rPr>
                        <a:t>准备</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20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0" u="none">
                          <a:latin typeface="宋体" panose="02010600030101010101" pitchFamily="2" charset="-122"/>
                          <a:ea typeface="宋体" panose="02010600030101010101" pitchFamily="2" charset="-122"/>
                          <a:cs typeface="宋体" panose="02010600030101010101" pitchFamily="2" charset="-122"/>
                        </a:rPr>
                        <a:t>循环结束</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4495">
                <a:tc>
                  <a:txBody>
                    <a:bodyPr/>
                    <a:lstStyle/>
                    <a:p>
                      <a:pPr marL="0" indent="0" algn="ctr">
                        <a:buNone/>
                      </a:pPr>
                      <a:r>
                        <a:rPr lang="en-US" altLang="zh-CN" sz="20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0" u="none">
                          <a:latin typeface="宋体" panose="02010600030101010101" pitchFamily="2" charset="-122"/>
                          <a:ea typeface="宋体" panose="02010600030101010101" pitchFamily="2" charset="-122"/>
                          <a:cs typeface="宋体" panose="02010600030101010101" pitchFamily="2" charset="-122"/>
                        </a:rPr>
                        <a:t>人工操作</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20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0" u="none">
                          <a:latin typeface="宋体" panose="02010600030101010101" pitchFamily="2" charset="-122"/>
                          <a:ea typeface="宋体" panose="02010600030101010101" pitchFamily="2" charset="-122"/>
                          <a:cs typeface="宋体" panose="02010600030101010101" pitchFamily="2" charset="-122"/>
                        </a:rPr>
                        <a:t>连接符</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4495">
                <a:tc>
                  <a:txBody>
                    <a:bodyPr/>
                    <a:lstStyle/>
                    <a:p>
                      <a:pPr marL="0" indent="0" algn="ctr">
                        <a:buNone/>
                      </a:pP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a:latin typeface="宋体" panose="02010600030101010101" pitchFamily="2" charset="-122"/>
                          <a:ea typeface="宋体" panose="02010600030101010101" pitchFamily="2" charset="-122"/>
                          <a:cs typeface="宋体" panose="02010600030101010101" pitchFamily="2" charset="-122"/>
                          <a:sym typeface="+mn-ea"/>
                        </a:rPr>
                        <a:t>人工输入</a:t>
                      </a:r>
                      <a:endParaRPr lang="zh-CN" altLang="en-US"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a:latin typeface="宋体" panose="02010600030101010101" pitchFamily="2" charset="-122"/>
                          <a:ea typeface="宋体" panose="02010600030101010101" pitchFamily="2" charset="-122"/>
                          <a:cs typeface="宋体" panose="02010600030101010101" pitchFamily="2" charset="-122"/>
                          <a:sym typeface="+mn-ea"/>
                        </a:rPr>
                        <a:t>端点符</a:t>
                      </a:r>
                      <a:endParaRPr lang="zh-CN" altLang="en-US"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4495">
                <a:tc>
                  <a:txBody>
                    <a:bodyPr/>
                    <a:lstStyle/>
                    <a:p>
                      <a:pPr marL="0" indent="0" algn="ctr">
                        <a:buNone/>
                      </a:pP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a:latin typeface="宋体" panose="02010600030101010101" pitchFamily="2" charset="-122"/>
                          <a:ea typeface="宋体" panose="02010600030101010101" pitchFamily="2" charset="-122"/>
                          <a:cs typeface="宋体" panose="02010600030101010101" pitchFamily="2" charset="-122"/>
                          <a:sym typeface="+mn-ea"/>
                        </a:rPr>
                        <a:t>数据</a:t>
                      </a:r>
                      <a:endParaRPr lang="zh-CN" altLang="en-US"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2000" b="0" u="none">
                          <a:latin typeface="宋体" panose="02010600030101010101" pitchFamily="2" charset="-122"/>
                          <a:ea typeface="宋体" panose="02010600030101010101" pitchFamily="2" charset="-122"/>
                          <a:cs typeface="宋体" panose="02010600030101010101" pitchFamily="2" charset="-122"/>
                        </a:rPr>
                        <a:t>...</a:t>
                      </a: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a:latin typeface="宋体" panose="02010600030101010101" pitchFamily="2" charset="-122"/>
                          <a:ea typeface="宋体" panose="02010600030101010101" pitchFamily="2" charset="-122"/>
                          <a:cs typeface="宋体" panose="02010600030101010101" pitchFamily="2" charset="-122"/>
                          <a:sym typeface="+mn-ea"/>
                        </a:rPr>
                        <a:t>省略符</a:t>
                      </a:r>
                      <a:endParaRPr lang="zh-CN" altLang="en-US"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4495">
                <a:tc>
                  <a:txBody>
                    <a:bodyPr/>
                    <a:lstStyle/>
                    <a:p>
                      <a:pPr marL="0" indent="0" algn="ctr">
                        <a:buNone/>
                      </a:pP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a:latin typeface="宋体" panose="02010600030101010101" pitchFamily="2" charset="-122"/>
                          <a:ea typeface="宋体" panose="02010600030101010101" pitchFamily="2" charset="-122"/>
                          <a:cs typeface="宋体" panose="02010600030101010101" pitchFamily="2" charset="-122"/>
                          <a:sym typeface="+mn-ea"/>
                        </a:rPr>
                        <a:t>存储数据</a:t>
                      </a:r>
                      <a:endParaRPr lang="zh-CN" altLang="en-US"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a:latin typeface="宋体" panose="02010600030101010101" pitchFamily="2" charset="-122"/>
                          <a:ea typeface="宋体" panose="02010600030101010101" pitchFamily="2" charset="-122"/>
                          <a:cs typeface="宋体" panose="02010600030101010101" pitchFamily="2" charset="-122"/>
                          <a:sym typeface="+mn-ea"/>
                        </a:rPr>
                        <a:t>流线</a:t>
                      </a:r>
                      <a:endParaRPr lang="zh-CN" altLang="en-US"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4495">
                <a:tc>
                  <a:txBody>
                    <a:bodyPr/>
                    <a:lstStyle/>
                    <a:p>
                      <a:pPr marL="0" indent="0" algn="ctr">
                        <a:buNone/>
                      </a:pP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a:latin typeface="宋体" panose="02010600030101010101" pitchFamily="2" charset="-122"/>
                          <a:ea typeface="宋体" panose="02010600030101010101" pitchFamily="2" charset="-122"/>
                          <a:cs typeface="宋体" panose="02010600030101010101" pitchFamily="2" charset="-122"/>
                          <a:sym typeface="+mn-ea"/>
                        </a:rPr>
                        <a:t>文件</a:t>
                      </a:r>
                      <a:endParaRPr lang="zh-CN" altLang="en-US"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a:latin typeface="宋体" panose="02010600030101010101" pitchFamily="2" charset="-122"/>
                          <a:ea typeface="宋体" panose="02010600030101010101" pitchFamily="2" charset="-122"/>
                          <a:cs typeface="宋体" panose="02010600030101010101" pitchFamily="2" charset="-122"/>
                          <a:sym typeface="+mn-ea"/>
                        </a:rPr>
                        <a:t>内存储器</a:t>
                      </a:r>
                      <a:endParaRPr lang="zh-CN" altLang="en-US"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pic>
        <p:nvPicPr>
          <p:cNvPr id="5" name="图片 4"/>
          <p:cNvPicPr/>
          <p:nvPr/>
        </p:nvPicPr>
        <p:blipFill>
          <a:blip r:embed="rId2" cstate="print"/>
          <a:stretch>
            <a:fillRect/>
          </a:stretch>
        </p:blipFill>
        <p:spPr>
          <a:xfrm>
            <a:off x="2459990" y="2614930"/>
            <a:ext cx="523875" cy="257175"/>
          </a:xfrm>
          <a:prstGeom prst="rect">
            <a:avLst/>
          </a:prstGeom>
          <a:noFill/>
          <a:ln w="9525">
            <a:noFill/>
          </a:ln>
        </p:spPr>
      </p:pic>
      <p:pic>
        <p:nvPicPr>
          <p:cNvPr id="6" name="图片 5"/>
          <p:cNvPicPr/>
          <p:nvPr/>
        </p:nvPicPr>
        <p:blipFill>
          <a:blip r:embed="rId3" cstate="print"/>
          <a:stretch>
            <a:fillRect/>
          </a:stretch>
        </p:blipFill>
        <p:spPr>
          <a:xfrm>
            <a:off x="7600315" y="2653030"/>
            <a:ext cx="476250" cy="219075"/>
          </a:xfrm>
          <a:prstGeom prst="rect">
            <a:avLst/>
          </a:prstGeom>
          <a:noFill/>
          <a:ln w="9525">
            <a:noFill/>
          </a:ln>
        </p:spPr>
      </p:pic>
      <p:pic>
        <p:nvPicPr>
          <p:cNvPr id="7" name="图片 6"/>
          <p:cNvPicPr/>
          <p:nvPr/>
        </p:nvPicPr>
        <p:blipFill>
          <a:blip r:embed="rId4" cstate="print"/>
          <a:stretch>
            <a:fillRect/>
          </a:stretch>
        </p:blipFill>
        <p:spPr>
          <a:xfrm>
            <a:off x="2407920" y="3025775"/>
            <a:ext cx="628650" cy="266700"/>
          </a:xfrm>
          <a:prstGeom prst="rect">
            <a:avLst/>
          </a:prstGeom>
          <a:noFill/>
          <a:ln w="9525">
            <a:noFill/>
          </a:ln>
        </p:spPr>
      </p:pic>
      <p:pic>
        <p:nvPicPr>
          <p:cNvPr id="8" name="图片 7"/>
          <p:cNvPicPr/>
          <p:nvPr/>
        </p:nvPicPr>
        <p:blipFill>
          <a:blip r:embed="rId5" cstate="print"/>
          <a:stretch>
            <a:fillRect/>
          </a:stretch>
        </p:blipFill>
        <p:spPr>
          <a:xfrm>
            <a:off x="7638415" y="3044825"/>
            <a:ext cx="400050" cy="247650"/>
          </a:xfrm>
          <a:prstGeom prst="rect">
            <a:avLst/>
          </a:prstGeom>
          <a:noFill/>
          <a:ln w="9525">
            <a:noFill/>
          </a:ln>
        </p:spPr>
      </p:pic>
      <p:pic>
        <p:nvPicPr>
          <p:cNvPr id="9" name="图片 8"/>
          <p:cNvPicPr/>
          <p:nvPr/>
        </p:nvPicPr>
        <p:blipFill>
          <a:blip r:embed="rId6" cstate="print"/>
          <a:stretch>
            <a:fillRect/>
          </a:stretch>
        </p:blipFill>
        <p:spPr>
          <a:xfrm>
            <a:off x="2419985" y="3482340"/>
            <a:ext cx="576580" cy="257810"/>
          </a:xfrm>
          <a:prstGeom prst="rect">
            <a:avLst/>
          </a:prstGeom>
          <a:noFill/>
          <a:ln w="9525">
            <a:noFill/>
          </a:ln>
        </p:spPr>
      </p:pic>
      <p:pic>
        <p:nvPicPr>
          <p:cNvPr id="10" name="图片 9"/>
          <p:cNvPicPr/>
          <p:nvPr/>
        </p:nvPicPr>
        <p:blipFill>
          <a:blip r:embed="rId7" cstate="print"/>
          <a:stretch>
            <a:fillRect/>
          </a:stretch>
        </p:blipFill>
        <p:spPr>
          <a:xfrm>
            <a:off x="7638415" y="3482975"/>
            <a:ext cx="400050" cy="257175"/>
          </a:xfrm>
          <a:prstGeom prst="rect">
            <a:avLst/>
          </a:prstGeom>
          <a:noFill/>
          <a:ln w="9525">
            <a:noFill/>
          </a:ln>
        </p:spPr>
      </p:pic>
      <p:pic>
        <p:nvPicPr>
          <p:cNvPr id="11" name="图片 10"/>
          <p:cNvPicPr/>
          <p:nvPr/>
        </p:nvPicPr>
        <p:blipFill>
          <a:blip r:embed="rId8" cstate="print"/>
          <a:stretch>
            <a:fillRect/>
          </a:stretch>
        </p:blipFill>
        <p:spPr>
          <a:xfrm>
            <a:off x="2479675" y="3874770"/>
            <a:ext cx="485775" cy="247650"/>
          </a:xfrm>
          <a:prstGeom prst="rect">
            <a:avLst/>
          </a:prstGeom>
          <a:noFill/>
          <a:ln w="9525">
            <a:noFill/>
          </a:ln>
        </p:spPr>
      </p:pic>
      <p:pic>
        <p:nvPicPr>
          <p:cNvPr id="12" name="图片 11"/>
          <p:cNvPicPr/>
          <p:nvPr/>
        </p:nvPicPr>
        <p:blipFill>
          <a:blip r:embed="rId9" cstate="print"/>
          <a:stretch>
            <a:fillRect/>
          </a:stretch>
        </p:blipFill>
        <p:spPr>
          <a:xfrm>
            <a:off x="7686040" y="3845560"/>
            <a:ext cx="304800" cy="304800"/>
          </a:xfrm>
          <a:prstGeom prst="rect">
            <a:avLst/>
          </a:prstGeom>
          <a:noFill/>
          <a:ln w="9525">
            <a:noFill/>
          </a:ln>
        </p:spPr>
      </p:pic>
      <p:pic>
        <p:nvPicPr>
          <p:cNvPr id="14" name="图片 13"/>
          <p:cNvPicPr/>
          <p:nvPr/>
        </p:nvPicPr>
        <p:blipFill>
          <a:blip r:embed="rId10" cstate="print"/>
          <a:stretch>
            <a:fillRect/>
          </a:stretch>
        </p:blipFill>
        <p:spPr>
          <a:xfrm>
            <a:off x="2451100" y="4322445"/>
            <a:ext cx="514350" cy="219075"/>
          </a:xfrm>
          <a:prstGeom prst="rect">
            <a:avLst/>
          </a:prstGeom>
          <a:noFill/>
          <a:ln w="9525">
            <a:noFill/>
          </a:ln>
        </p:spPr>
      </p:pic>
      <p:pic>
        <p:nvPicPr>
          <p:cNvPr id="15" name="图片 14"/>
          <p:cNvPicPr/>
          <p:nvPr/>
        </p:nvPicPr>
        <p:blipFill>
          <a:blip r:embed="rId11" cstate="print"/>
          <a:stretch>
            <a:fillRect/>
          </a:stretch>
        </p:blipFill>
        <p:spPr>
          <a:xfrm>
            <a:off x="7581265" y="4322445"/>
            <a:ext cx="495300" cy="219075"/>
          </a:xfrm>
          <a:prstGeom prst="rect">
            <a:avLst/>
          </a:prstGeom>
          <a:noFill/>
          <a:ln w="9525">
            <a:noFill/>
          </a:ln>
        </p:spPr>
      </p:pic>
      <p:pic>
        <p:nvPicPr>
          <p:cNvPr id="16" name="图片 15"/>
          <p:cNvPicPr/>
          <p:nvPr/>
        </p:nvPicPr>
        <p:blipFill>
          <a:blip r:embed="rId12" cstate="print"/>
          <a:stretch>
            <a:fillRect/>
          </a:stretch>
        </p:blipFill>
        <p:spPr>
          <a:xfrm>
            <a:off x="2460625" y="4716145"/>
            <a:ext cx="495300" cy="228600"/>
          </a:xfrm>
          <a:prstGeom prst="rect">
            <a:avLst/>
          </a:prstGeom>
          <a:noFill/>
          <a:ln w="9525">
            <a:noFill/>
          </a:ln>
        </p:spPr>
      </p:pic>
      <p:pic>
        <p:nvPicPr>
          <p:cNvPr id="17" name="图片 16"/>
          <p:cNvPicPr/>
          <p:nvPr/>
        </p:nvPicPr>
        <p:blipFill>
          <a:blip r:embed="rId13" cstate="print"/>
          <a:stretch>
            <a:fillRect/>
          </a:stretch>
        </p:blipFill>
        <p:spPr>
          <a:xfrm>
            <a:off x="2417445" y="5119370"/>
            <a:ext cx="485775" cy="228600"/>
          </a:xfrm>
          <a:prstGeom prst="rect">
            <a:avLst/>
          </a:prstGeom>
          <a:noFill/>
          <a:ln w="9525">
            <a:noFill/>
          </a:ln>
        </p:spPr>
      </p:pic>
      <p:pic>
        <p:nvPicPr>
          <p:cNvPr id="18" name="图片 17"/>
          <p:cNvPicPr/>
          <p:nvPr/>
        </p:nvPicPr>
        <p:blipFill>
          <a:blip r:embed="rId14" cstate="print"/>
          <a:stretch>
            <a:fillRect/>
          </a:stretch>
        </p:blipFill>
        <p:spPr>
          <a:xfrm>
            <a:off x="2451100" y="5536565"/>
            <a:ext cx="452120" cy="281940"/>
          </a:xfrm>
          <a:prstGeom prst="rect">
            <a:avLst/>
          </a:prstGeom>
          <a:noFill/>
          <a:ln w="9525">
            <a:noFill/>
          </a:ln>
        </p:spPr>
      </p:pic>
      <p:pic>
        <p:nvPicPr>
          <p:cNvPr id="19" name="图片 18"/>
          <p:cNvPicPr/>
          <p:nvPr/>
        </p:nvPicPr>
        <p:blipFill>
          <a:blip r:embed="rId15" cstate="print"/>
          <a:stretch>
            <a:fillRect/>
          </a:stretch>
        </p:blipFill>
        <p:spPr>
          <a:xfrm>
            <a:off x="7638415" y="5536565"/>
            <a:ext cx="476250" cy="209550"/>
          </a:xfrm>
          <a:prstGeom prst="rect">
            <a:avLst/>
          </a:prstGeom>
          <a:noFill/>
          <a:ln w="9525">
            <a:noFill/>
          </a:ln>
        </p:spPr>
      </p:pic>
      <p:cxnSp>
        <p:nvCxnSpPr>
          <p:cNvPr id="20" name="直接连接符 19"/>
          <p:cNvCxnSpPr/>
          <p:nvPr/>
        </p:nvCxnSpPr>
        <p:spPr>
          <a:xfrm>
            <a:off x="7402830" y="5217160"/>
            <a:ext cx="10071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pull di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endParaRPr lang="zh-CN" altLang="zh-CN" dirty="0">
              <a:sym typeface="+mn-ea"/>
            </a:endParaRP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3.5.1 </a:t>
            </a:r>
            <a:r>
              <a:rPr lang="zh-CN" altLang="en-US" sz="2400" dirty="0">
                <a:solidFill>
                  <a:schemeClr val="tx1"/>
                </a:solidFill>
              </a:rPr>
              <a:t>流程图</a:t>
            </a:r>
          </a:p>
        </p:txBody>
      </p:sp>
      <p:grpSp>
        <p:nvGrpSpPr>
          <p:cNvPr id="14" name="组合 13"/>
          <p:cNvGrpSpPr/>
          <p:nvPr/>
        </p:nvGrpSpPr>
        <p:grpSpPr>
          <a:xfrm>
            <a:off x="2187384" y="2078990"/>
            <a:ext cx="9807575" cy="937260"/>
            <a:chOff x="1188" y="3092"/>
            <a:chExt cx="15445" cy="1476"/>
          </a:xfrm>
        </p:grpSpPr>
        <p:grpSp>
          <p:nvGrpSpPr>
            <p:cNvPr id="5" name="组合 4"/>
            <p:cNvGrpSpPr/>
            <p:nvPr/>
          </p:nvGrpSpPr>
          <p:grpSpPr>
            <a:xfrm>
              <a:off x="1188" y="3092"/>
              <a:ext cx="4947" cy="930"/>
              <a:chOff x="508000" y="3196191"/>
              <a:chExt cx="3141314" cy="590550"/>
            </a:xfrm>
          </p:grpSpPr>
          <p:sp>
            <p:nvSpPr>
              <p:cNvPr id="21" name="TextBox 1"/>
              <p:cNvSpPr txBox="1">
                <a:spLocks noChangeArrowheads="1"/>
              </p:cNvSpPr>
              <p:nvPr/>
            </p:nvSpPr>
            <p:spPr bwMode="auto">
              <a:xfrm>
                <a:off x="508000" y="3196191"/>
                <a:ext cx="31813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约定一</a:t>
                </a:r>
              </a:p>
            </p:txBody>
          </p:sp>
        </p:grpSp>
        <p:sp>
          <p:nvSpPr>
            <p:cNvPr id="24" name="矩形 8"/>
            <p:cNvSpPr>
              <a:spLocks noChangeArrowheads="1"/>
            </p:cNvSpPr>
            <p:nvPr/>
          </p:nvSpPr>
          <p:spPr bwMode="auto">
            <a:xfrm>
              <a:off x="1893" y="3848"/>
              <a:ext cx="1474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符号的用途是用图形来标识它所表示的功能，而不考虑符号内的内容。</a:t>
              </a:r>
            </a:p>
          </p:txBody>
        </p:sp>
      </p:grpSp>
      <p:grpSp>
        <p:nvGrpSpPr>
          <p:cNvPr id="6" name="组合 5"/>
          <p:cNvGrpSpPr/>
          <p:nvPr/>
        </p:nvGrpSpPr>
        <p:grpSpPr>
          <a:xfrm>
            <a:off x="2187384" y="3016250"/>
            <a:ext cx="9807575" cy="932180"/>
            <a:chOff x="1195" y="5840"/>
            <a:chExt cx="15445" cy="1468"/>
          </a:xfrm>
        </p:grpSpPr>
        <p:grpSp>
          <p:nvGrpSpPr>
            <p:cNvPr id="29" name="组合 28"/>
            <p:cNvGrpSpPr/>
            <p:nvPr/>
          </p:nvGrpSpPr>
          <p:grpSpPr>
            <a:xfrm>
              <a:off x="1195" y="5840"/>
              <a:ext cx="2073" cy="930"/>
              <a:chOff x="512763" y="4940853"/>
              <a:chExt cx="1316259" cy="590550"/>
            </a:xfrm>
          </p:grpSpPr>
          <p:sp>
            <p:nvSpPr>
              <p:cNvPr id="25" name="TextBox 10"/>
              <p:cNvSpPr txBox="1">
                <a:spLocks noChangeArrowheads="1"/>
              </p:cNvSpPr>
              <p:nvPr/>
            </p:nvSpPr>
            <p:spPr bwMode="auto">
              <a:xfrm>
                <a:off x="512763" y="4940853"/>
                <a:ext cx="3612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2</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6" name="直接连接符 25"/>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12"/>
              <p:cNvSpPr>
                <a:spLocks noChangeArrowheads="1"/>
              </p:cNvSpPr>
              <p:nvPr/>
            </p:nvSpPr>
            <p:spPr bwMode="auto">
              <a:xfrm>
                <a:off x="960438" y="5036103"/>
                <a:ext cx="868584"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约定二</a:t>
                </a:r>
              </a:p>
            </p:txBody>
          </p:sp>
        </p:grpSp>
        <p:sp>
          <p:nvSpPr>
            <p:cNvPr id="28" name="矩形 9"/>
            <p:cNvSpPr>
              <a:spLocks noChangeArrowheads="1"/>
            </p:cNvSpPr>
            <p:nvPr/>
          </p:nvSpPr>
          <p:spPr bwMode="auto">
            <a:xfrm>
              <a:off x="1900" y="6665"/>
              <a:ext cx="14740" cy="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lang="en-US" altLang="zh-CN"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应对图中各符号均匀地分配空间，连线应保持合理长度，尽量少用长线。</a:t>
              </a:r>
            </a:p>
          </p:txBody>
        </p:sp>
      </p:grpSp>
      <p:grpSp>
        <p:nvGrpSpPr>
          <p:cNvPr id="8" name="组合 7"/>
          <p:cNvGrpSpPr/>
          <p:nvPr/>
        </p:nvGrpSpPr>
        <p:grpSpPr>
          <a:xfrm>
            <a:off x="2187384" y="3948430"/>
            <a:ext cx="9807575" cy="937260"/>
            <a:chOff x="1188" y="3092"/>
            <a:chExt cx="15445" cy="1476"/>
          </a:xfrm>
        </p:grpSpPr>
        <p:grpSp>
          <p:nvGrpSpPr>
            <p:cNvPr id="9" name="组合 8"/>
            <p:cNvGrpSpPr/>
            <p:nvPr/>
          </p:nvGrpSpPr>
          <p:grpSpPr>
            <a:xfrm>
              <a:off x="1188" y="3092"/>
              <a:ext cx="4947" cy="930"/>
              <a:chOff x="508000" y="3196191"/>
              <a:chExt cx="3141314" cy="590550"/>
            </a:xfrm>
          </p:grpSpPr>
          <p:sp>
            <p:nvSpPr>
              <p:cNvPr id="10"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3</a:t>
                </a:r>
              </a:p>
            </p:txBody>
          </p:sp>
          <p:cxnSp>
            <p:nvCxnSpPr>
              <p:cNvPr id="11" name="直接连接符 10"/>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2"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约定三</a:t>
                </a:r>
              </a:p>
            </p:txBody>
          </p:sp>
        </p:grpSp>
        <p:sp>
          <p:nvSpPr>
            <p:cNvPr id="13" name="矩形 8"/>
            <p:cNvSpPr>
              <a:spLocks noChangeArrowheads="1"/>
            </p:cNvSpPr>
            <p:nvPr/>
          </p:nvSpPr>
          <p:spPr bwMode="auto">
            <a:xfrm>
              <a:off x="1893" y="3848"/>
              <a:ext cx="1474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在符号内列出说明性文字时，不要改变符号的角度和形状，尽可能统一各种符号的大小。</a:t>
              </a:r>
            </a:p>
          </p:txBody>
        </p:sp>
      </p:grpSp>
      <p:grpSp>
        <p:nvGrpSpPr>
          <p:cNvPr id="15" name="组合 14"/>
          <p:cNvGrpSpPr/>
          <p:nvPr/>
        </p:nvGrpSpPr>
        <p:grpSpPr>
          <a:xfrm>
            <a:off x="2187384" y="4885690"/>
            <a:ext cx="8751570" cy="1564005"/>
            <a:chOff x="1195" y="5840"/>
            <a:chExt cx="13782" cy="2463"/>
          </a:xfrm>
        </p:grpSpPr>
        <p:grpSp>
          <p:nvGrpSpPr>
            <p:cNvPr id="16" name="组合 15"/>
            <p:cNvGrpSpPr/>
            <p:nvPr/>
          </p:nvGrpSpPr>
          <p:grpSpPr>
            <a:xfrm>
              <a:off x="1195" y="5840"/>
              <a:ext cx="2073" cy="930"/>
              <a:chOff x="512763" y="4940853"/>
              <a:chExt cx="1316292" cy="590550"/>
            </a:xfrm>
          </p:grpSpPr>
          <p:sp>
            <p:nvSpPr>
              <p:cNvPr id="18" name="TextBox 10"/>
              <p:cNvSpPr txBox="1">
                <a:spLocks noChangeArrowheads="1"/>
              </p:cNvSpPr>
              <p:nvPr/>
            </p:nvSpPr>
            <p:spPr bwMode="auto">
              <a:xfrm>
                <a:off x="512763" y="4940853"/>
                <a:ext cx="360654"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4</a:t>
                </a:r>
              </a:p>
            </p:txBody>
          </p:sp>
          <p:cxnSp>
            <p:nvCxnSpPr>
              <p:cNvPr id="19" name="直接连接符 18"/>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0" name="矩形 12"/>
              <p:cNvSpPr>
                <a:spLocks noChangeArrowheads="1"/>
              </p:cNvSpPr>
              <p:nvPr/>
            </p:nvSpPr>
            <p:spPr bwMode="auto">
              <a:xfrm>
                <a:off x="960438" y="5036103"/>
                <a:ext cx="86861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约定四</a:t>
                </a:r>
              </a:p>
            </p:txBody>
          </p:sp>
        </p:grpSp>
        <p:sp>
          <p:nvSpPr>
            <p:cNvPr id="30" name="矩形 9"/>
            <p:cNvSpPr>
              <a:spLocks noChangeArrowheads="1"/>
            </p:cNvSpPr>
            <p:nvPr/>
          </p:nvSpPr>
          <p:spPr bwMode="auto">
            <a:xfrm>
              <a:off x="1908" y="6662"/>
              <a:ext cx="13069" cy="1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altLang="zh-CN"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应把理解某符号功能所需的最少量的说明性文字置于符号内。它们应按从左到右和自上而下的方式来书写，与流向无关。若说明性文字太多，可使用一个注解符（）。如果使用注解符会干扰或破坏图形流程，应将正文写在另外一页上，并注明引用符号。</a:t>
              </a:r>
            </a:p>
          </p:txBody>
        </p:sp>
      </p:grpSp>
      <p:sp>
        <p:nvSpPr>
          <p:cNvPr id="31" name="文本框 34"/>
          <p:cNvSpPr txBox="1"/>
          <p:nvPr/>
        </p:nvSpPr>
        <p:spPr>
          <a:xfrm>
            <a:off x="1033479" y="2766679"/>
            <a:ext cx="440481" cy="3108543"/>
          </a:xfrm>
          <a:prstGeom prst="rect">
            <a:avLst/>
          </a:prstGeom>
          <a:noFill/>
        </p:spPr>
        <p:txBody>
          <a:bodyPr wrap="square" rtlCol="0">
            <a:spAutoFit/>
          </a:bodyPr>
          <a:lstStyle/>
          <a:p>
            <a:pPr>
              <a:defRPr/>
            </a:pPr>
            <a:r>
              <a:rPr lang="zh-CN" altLang="en-US" sz="2800" b="1" dirty="0"/>
              <a:t>流程图使用约定</a:t>
            </a:r>
            <a:endParaRPr sz="2800" b="1" dirty="0">
              <a:sym typeface="+mn-ea"/>
            </a:endParaRPr>
          </a:p>
        </p:txBody>
      </p:sp>
    </p:spTree>
  </p:cSld>
  <p:clrMapOvr>
    <a:masterClrMapping/>
  </p:clrMapOvr>
  <p:transition>
    <p:pull dir="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endParaRPr lang="zh-CN" altLang="zh-CN" dirty="0">
              <a:sym typeface="+mn-ea"/>
            </a:endParaRP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3.5.1 </a:t>
            </a:r>
            <a:r>
              <a:rPr lang="zh-CN" altLang="en-US" sz="2400" dirty="0">
                <a:solidFill>
                  <a:schemeClr val="tx1"/>
                </a:solidFill>
              </a:rPr>
              <a:t>流程图</a:t>
            </a:r>
          </a:p>
        </p:txBody>
      </p:sp>
      <p:grpSp>
        <p:nvGrpSpPr>
          <p:cNvPr id="14" name="组合 13"/>
          <p:cNvGrpSpPr/>
          <p:nvPr/>
        </p:nvGrpSpPr>
        <p:grpSpPr>
          <a:xfrm>
            <a:off x="869315" y="2344420"/>
            <a:ext cx="10019665" cy="1303020"/>
            <a:chOff x="1188" y="3092"/>
            <a:chExt cx="15779" cy="2052"/>
          </a:xfrm>
        </p:grpSpPr>
        <p:grpSp>
          <p:nvGrpSpPr>
            <p:cNvPr id="5" name="组合 4"/>
            <p:cNvGrpSpPr/>
            <p:nvPr/>
          </p:nvGrpSpPr>
          <p:grpSpPr>
            <a:xfrm>
              <a:off x="1188" y="3092"/>
              <a:ext cx="4947" cy="930"/>
              <a:chOff x="508000" y="3196191"/>
              <a:chExt cx="3141314" cy="590550"/>
            </a:xfrm>
          </p:grpSpPr>
          <p:sp>
            <p:nvSpPr>
              <p:cNvPr id="21" name="TextBox 1"/>
              <p:cNvSpPr txBox="1">
                <a:spLocks noChangeArrowheads="1"/>
              </p:cNvSpPr>
              <p:nvPr/>
            </p:nvSpPr>
            <p:spPr bwMode="auto">
              <a:xfrm>
                <a:off x="508000" y="3196191"/>
                <a:ext cx="3740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5</a:t>
                </a: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约定五</a:t>
                </a:r>
              </a:p>
            </p:txBody>
          </p:sp>
        </p:grpSp>
        <p:sp>
          <p:nvSpPr>
            <p:cNvPr id="24" name="矩形 8"/>
            <p:cNvSpPr>
              <a:spLocks noChangeArrowheads="1"/>
            </p:cNvSpPr>
            <p:nvPr/>
          </p:nvSpPr>
          <p:spPr bwMode="auto">
            <a:xfrm>
              <a:off x="1893" y="3848"/>
              <a:ext cx="15074"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符号标识符是赋予某个符号的标识符，其作用是便于其他文件引用该符号。符号标识符要写在符号的左上角。</a:t>
              </a:r>
            </a:p>
          </p:txBody>
        </p:sp>
      </p:grpSp>
      <p:grpSp>
        <p:nvGrpSpPr>
          <p:cNvPr id="6" name="组合 5"/>
          <p:cNvGrpSpPr/>
          <p:nvPr/>
        </p:nvGrpSpPr>
        <p:grpSpPr>
          <a:xfrm>
            <a:off x="869315" y="3811270"/>
            <a:ext cx="10019665" cy="1882775"/>
            <a:chOff x="1195" y="5840"/>
            <a:chExt cx="15779" cy="2965"/>
          </a:xfrm>
        </p:grpSpPr>
        <p:grpSp>
          <p:nvGrpSpPr>
            <p:cNvPr id="29" name="组合 28"/>
            <p:cNvGrpSpPr/>
            <p:nvPr/>
          </p:nvGrpSpPr>
          <p:grpSpPr>
            <a:xfrm>
              <a:off x="1195" y="5840"/>
              <a:ext cx="2073" cy="930"/>
              <a:chOff x="512763" y="4940853"/>
              <a:chExt cx="1316292" cy="590550"/>
            </a:xfrm>
          </p:grpSpPr>
          <p:sp>
            <p:nvSpPr>
              <p:cNvPr id="25" name="TextBox 10"/>
              <p:cNvSpPr txBox="1">
                <a:spLocks noChangeArrowheads="1"/>
              </p:cNvSpPr>
              <p:nvPr/>
            </p:nvSpPr>
            <p:spPr bwMode="auto">
              <a:xfrm>
                <a:off x="512763" y="4940853"/>
                <a:ext cx="375258"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6</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6" name="直接连接符 25"/>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12"/>
              <p:cNvSpPr>
                <a:spLocks noChangeArrowheads="1"/>
              </p:cNvSpPr>
              <p:nvPr/>
            </p:nvSpPr>
            <p:spPr bwMode="auto">
              <a:xfrm>
                <a:off x="960438" y="5036103"/>
                <a:ext cx="86861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约定六</a:t>
                </a:r>
              </a:p>
            </p:txBody>
          </p:sp>
        </p:grpSp>
        <p:sp>
          <p:nvSpPr>
            <p:cNvPr id="28" name="矩形 9"/>
            <p:cNvSpPr>
              <a:spLocks noChangeArrowheads="1"/>
            </p:cNvSpPr>
            <p:nvPr/>
          </p:nvSpPr>
          <p:spPr bwMode="auto">
            <a:xfrm>
              <a:off x="1900" y="6665"/>
              <a:ext cx="15074" cy="2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altLang="zh-CN"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符号描述符用于交叉引用、表示一个符号的特定用途，或进一步理解某个图形符号的功能。符号描述符要写在符号的右上角。在系统流程图中，一个描述数据媒体的符号在很多情况下既可表示输出媒体，又可表示输入媒体。表示输出媒体的符号的流程图说明性文字要写在符号的右上角；表示输入媒体的符号的流程图说明性文字要写在符号的右下角。</a:t>
              </a:r>
            </a:p>
          </p:txBody>
        </p:sp>
      </p:grpSp>
    </p:spTree>
  </p:cSld>
  <p:clrMapOvr>
    <a:masterClrMapping/>
  </p:clrMapOvr>
  <p:transition>
    <p:pull dir="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endParaRPr lang="zh-CN" altLang="zh-CN" dirty="0">
              <a:sym typeface="+mn-ea"/>
            </a:endParaRP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3.5.1 </a:t>
            </a:r>
            <a:r>
              <a:rPr lang="zh-CN" altLang="en-US" sz="2400" dirty="0">
                <a:solidFill>
                  <a:schemeClr val="tx1"/>
                </a:solidFill>
              </a:rPr>
              <a:t>流程图</a:t>
            </a:r>
          </a:p>
        </p:txBody>
      </p:sp>
      <p:grpSp>
        <p:nvGrpSpPr>
          <p:cNvPr id="14" name="组合 13"/>
          <p:cNvGrpSpPr/>
          <p:nvPr/>
        </p:nvGrpSpPr>
        <p:grpSpPr>
          <a:xfrm>
            <a:off x="809625" y="2078990"/>
            <a:ext cx="10885170" cy="937260"/>
            <a:chOff x="1188" y="3092"/>
            <a:chExt cx="17142" cy="1476"/>
          </a:xfrm>
        </p:grpSpPr>
        <p:grpSp>
          <p:nvGrpSpPr>
            <p:cNvPr id="5" name="组合 4"/>
            <p:cNvGrpSpPr/>
            <p:nvPr/>
          </p:nvGrpSpPr>
          <p:grpSpPr>
            <a:xfrm>
              <a:off x="1188" y="3092"/>
              <a:ext cx="4947" cy="930"/>
              <a:chOff x="508000" y="3196191"/>
              <a:chExt cx="3141314" cy="590550"/>
            </a:xfrm>
          </p:grpSpPr>
          <p:sp>
            <p:nvSpPr>
              <p:cNvPr id="21" name="TextBox 1"/>
              <p:cNvSpPr txBox="1">
                <a:spLocks noChangeArrowheads="1"/>
              </p:cNvSpPr>
              <p:nvPr/>
            </p:nvSpPr>
            <p:spPr bwMode="auto">
              <a:xfrm>
                <a:off x="508000" y="3196191"/>
                <a:ext cx="32194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7</a:t>
                </a: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约定七</a:t>
                </a:r>
              </a:p>
            </p:txBody>
          </p:sp>
        </p:grpSp>
        <p:sp>
          <p:nvSpPr>
            <p:cNvPr id="24" name="矩形 8"/>
            <p:cNvSpPr>
              <a:spLocks noChangeArrowheads="1"/>
            </p:cNvSpPr>
            <p:nvPr/>
          </p:nvSpPr>
          <p:spPr bwMode="auto">
            <a:xfrm>
              <a:off x="1893" y="3848"/>
              <a:ext cx="16437"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分支符号</a:t>
              </a:r>
              <a:r>
                <a:rPr lang="zh-CN" sz="1600" dirty="0">
                  <a:latin typeface="微软雅黑" panose="020B0503020204020204" charset="-122"/>
                  <a:ea typeface="微软雅黑" panose="020B0503020204020204" charset="-122"/>
                </a:rPr>
                <a:t>以及</a:t>
              </a:r>
              <a:r>
                <a:rPr sz="1600" dirty="0">
                  <a:latin typeface="微软雅黑" panose="020B0503020204020204" charset="-122"/>
                  <a:ea typeface="微软雅黑" panose="020B0503020204020204" charset="-122"/>
                </a:rPr>
                <a:t>多分支符号表示如图所示。每个出口应加标识符，以反映其逻辑通路。</a:t>
              </a:r>
            </a:p>
          </p:txBody>
        </p:sp>
      </p:grpSp>
      <p:pic>
        <p:nvPicPr>
          <p:cNvPr id="2" name="Picture 23" descr="3-10"/>
          <p:cNvPicPr>
            <a:picLocks noChangeAspect="1"/>
          </p:cNvPicPr>
          <p:nvPr/>
        </p:nvPicPr>
        <p:blipFill>
          <a:blip r:embed="rId3" cstate="print"/>
          <a:srcRect r="72935"/>
          <a:stretch>
            <a:fillRect/>
          </a:stretch>
        </p:blipFill>
        <p:spPr>
          <a:xfrm>
            <a:off x="1626235" y="3032760"/>
            <a:ext cx="2101215" cy="1631950"/>
          </a:xfrm>
          <a:prstGeom prst="rect">
            <a:avLst/>
          </a:prstGeom>
          <a:noFill/>
          <a:ln w="9525">
            <a:noFill/>
          </a:ln>
        </p:spPr>
      </p:pic>
      <p:pic>
        <p:nvPicPr>
          <p:cNvPr id="6" name="Picture 23" descr="3-10"/>
          <p:cNvPicPr>
            <a:picLocks noChangeAspect="1"/>
          </p:cNvPicPr>
          <p:nvPr/>
        </p:nvPicPr>
        <p:blipFill>
          <a:blip r:embed="rId3" cstate="print"/>
          <a:srcRect l="27226" r="37589"/>
          <a:stretch>
            <a:fillRect/>
          </a:stretch>
        </p:blipFill>
        <p:spPr>
          <a:xfrm>
            <a:off x="5104130" y="3086735"/>
            <a:ext cx="2407920" cy="1440180"/>
          </a:xfrm>
          <a:prstGeom prst="rect">
            <a:avLst/>
          </a:prstGeom>
          <a:noFill/>
          <a:ln w="9525">
            <a:noFill/>
          </a:ln>
        </p:spPr>
      </p:pic>
      <p:pic>
        <p:nvPicPr>
          <p:cNvPr id="7" name="Picture 23" descr="3-10"/>
          <p:cNvPicPr>
            <a:picLocks noChangeAspect="1"/>
          </p:cNvPicPr>
          <p:nvPr/>
        </p:nvPicPr>
        <p:blipFill>
          <a:blip r:embed="rId3" cstate="print"/>
          <a:srcRect l="63162"/>
          <a:stretch>
            <a:fillRect/>
          </a:stretch>
        </p:blipFill>
        <p:spPr>
          <a:xfrm>
            <a:off x="8158480" y="2978785"/>
            <a:ext cx="2706370" cy="1548130"/>
          </a:xfrm>
          <a:prstGeom prst="rect">
            <a:avLst/>
          </a:prstGeom>
          <a:noFill/>
          <a:ln w="9525">
            <a:noFill/>
          </a:ln>
        </p:spPr>
      </p:pic>
      <p:pic>
        <p:nvPicPr>
          <p:cNvPr id="8" name="Picture 24" descr="3-11"/>
          <p:cNvPicPr>
            <a:picLocks noChangeAspect="1"/>
          </p:cNvPicPr>
          <p:nvPr/>
        </p:nvPicPr>
        <p:blipFill>
          <a:blip r:embed="rId4" cstate="print"/>
          <a:srcRect l="851" t="37296" r="56902" b="9753"/>
          <a:stretch>
            <a:fillRect/>
          </a:stretch>
        </p:blipFill>
        <p:spPr>
          <a:xfrm>
            <a:off x="754380" y="4872355"/>
            <a:ext cx="3190240" cy="1403985"/>
          </a:xfrm>
          <a:prstGeom prst="rect">
            <a:avLst/>
          </a:prstGeom>
          <a:noFill/>
          <a:ln w="9525">
            <a:noFill/>
          </a:ln>
        </p:spPr>
      </p:pic>
      <p:pic>
        <p:nvPicPr>
          <p:cNvPr id="9" name="Picture 24" descr="3-11"/>
          <p:cNvPicPr>
            <a:picLocks noChangeAspect="1"/>
          </p:cNvPicPr>
          <p:nvPr/>
        </p:nvPicPr>
        <p:blipFill>
          <a:blip r:embed="rId4" cstate="print"/>
          <a:srcRect l="47499" t="25784" r="21989" b="9753"/>
          <a:stretch>
            <a:fillRect/>
          </a:stretch>
        </p:blipFill>
        <p:spPr>
          <a:xfrm>
            <a:off x="4979670" y="4739005"/>
            <a:ext cx="2656205" cy="1537335"/>
          </a:xfrm>
          <a:prstGeom prst="rect">
            <a:avLst/>
          </a:prstGeom>
          <a:noFill/>
          <a:ln w="9525">
            <a:noFill/>
          </a:ln>
        </p:spPr>
      </p:pic>
      <p:pic>
        <p:nvPicPr>
          <p:cNvPr id="10" name="Picture 24" descr="3-11"/>
          <p:cNvPicPr>
            <a:picLocks noChangeAspect="1"/>
          </p:cNvPicPr>
          <p:nvPr/>
        </p:nvPicPr>
        <p:blipFill>
          <a:blip r:embed="rId4" cstate="print"/>
          <a:srcRect l="82294" b="9753"/>
          <a:stretch>
            <a:fillRect/>
          </a:stretch>
        </p:blipFill>
        <p:spPr>
          <a:xfrm>
            <a:off x="9169400" y="4427220"/>
            <a:ext cx="895350" cy="1849120"/>
          </a:xfrm>
          <a:prstGeom prst="rect">
            <a:avLst/>
          </a:prstGeom>
          <a:noFill/>
          <a:ln w="9525">
            <a:noFill/>
          </a:ln>
        </p:spPr>
      </p:pic>
    </p:spTree>
  </p:cSld>
  <p:clrMapOvr>
    <a:masterClrMapping/>
  </p:clrMapOvr>
  <p:transition>
    <p:pull dir="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endParaRPr lang="zh-CN" altLang="zh-CN" dirty="0">
              <a:sym typeface="+mn-ea"/>
            </a:endParaRP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3.5.1 </a:t>
            </a:r>
            <a:r>
              <a:rPr lang="zh-CN" altLang="en-US" sz="2400" dirty="0">
                <a:solidFill>
                  <a:schemeClr val="tx1"/>
                </a:solidFill>
              </a:rPr>
              <a:t>流程图</a:t>
            </a:r>
          </a:p>
        </p:txBody>
      </p:sp>
      <p:grpSp>
        <p:nvGrpSpPr>
          <p:cNvPr id="14" name="组合 13"/>
          <p:cNvGrpSpPr/>
          <p:nvPr/>
        </p:nvGrpSpPr>
        <p:grpSpPr>
          <a:xfrm>
            <a:off x="869315" y="2344420"/>
            <a:ext cx="10019665" cy="3451860"/>
            <a:chOff x="1188" y="3092"/>
            <a:chExt cx="15779" cy="5436"/>
          </a:xfrm>
        </p:grpSpPr>
        <p:grpSp>
          <p:nvGrpSpPr>
            <p:cNvPr id="5" name="组合 4"/>
            <p:cNvGrpSpPr/>
            <p:nvPr/>
          </p:nvGrpSpPr>
          <p:grpSpPr>
            <a:xfrm>
              <a:off x="1188" y="3092"/>
              <a:ext cx="4947" cy="930"/>
              <a:chOff x="508000" y="3196191"/>
              <a:chExt cx="3141314" cy="590550"/>
            </a:xfrm>
          </p:grpSpPr>
          <p:sp>
            <p:nvSpPr>
              <p:cNvPr id="21" name="TextBox 1"/>
              <p:cNvSpPr txBox="1">
                <a:spLocks noChangeArrowheads="1"/>
              </p:cNvSpPr>
              <p:nvPr/>
            </p:nvSpPr>
            <p:spPr bwMode="auto">
              <a:xfrm>
                <a:off x="508000" y="3196191"/>
                <a:ext cx="37464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8</a:t>
                </a: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流线</a:t>
                </a:r>
              </a:p>
            </p:txBody>
          </p:sp>
        </p:grpSp>
        <p:sp>
          <p:nvSpPr>
            <p:cNvPr id="24" name="矩形 8"/>
            <p:cNvSpPr>
              <a:spLocks noChangeArrowheads="1"/>
            </p:cNvSpPr>
            <p:nvPr/>
          </p:nvSpPr>
          <p:spPr bwMode="auto">
            <a:xfrm>
              <a:off x="1893" y="3848"/>
              <a:ext cx="15074" cy="4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lnSpc>
                  <a:spcPct val="150000"/>
                </a:lnSpc>
                <a:buClrTx/>
                <a:buFont typeface="Wingdings" panose="05000000000000000000" charset="0"/>
                <a:buChar char="Ø"/>
              </a:pPr>
              <a:r>
                <a:rPr dirty="0">
                  <a:latin typeface="微软雅黑" panose="020B0503020204020204" charset="-122"/>
                  <a:ea typeface="微软雅黑" panose="020B0503020204020204" charset="-122"/>
                </a:rPr>
                <a:t>流线可以指示数据流或控制流。标准流向一般从左到右、自上而下。当流程不遵循标准流向时，要使用箭头来指示方向。为了图的清晰，可随时在流线上使用箭头指示流向（例如在交结点处）。</a:t>
              </a:r>
            </a:p>
            <a:p>
              <a:pPr marL="285750" indent="-285750">
                <a:lnSpc>
                  <a:spcPct val="150000"/>
                </a:lnSpc>
                <a:buClrTx/>
                <a:buFont typeface="Wingdings" panose="05000000000000000000" charset="0"/>
                <a:buChar char="Ø"/>
              </a:pPr>
              <a:r>
                <a:rPr dirty="0">
                  <a:latin typeface="微软雅黑" panose="020B0503020204020204" charset="-122"/>
                  <a:ea typeface="微软雅黑" panose="020B0503020204020204" charset="-122"/>
                </a:rPr>
                <a:t>流线的交叉：应当尽量避免流线的交叉。即使出现流线的交叉，也不表示它们有逻辑上的关系，流线交叉不对流向产生任何影响。</a:t>
              </a:r>
            </a:p>
            <a:p>
              <a:pPr marL="285750" indent="-285750">
                <a:lnSpc>
                  <a:spcPct val="150000"/>
                </a:lnSpc>
                <a:buClrTx/>
                <a:buFont typeface="Wingdings" panose="05000000000000000000" charset="0"/>
                <a:buChar char="Ø"/>
              </a:pPr>
              <a:r>
                <a:rPr dirty="0">
                  <a:latin typeface="微软雅黑" panose="020B0503020204020204" charset="-122"/>
                  <a:ea typeface="微软雅黑" panose="020B0503020204020204" charset="-122"/>
                </a:rPr>
                <a:t>两根或更多的进入流线可以汇集为一根输出线。当两根或更多流线汇集为一根流线时，各连接点应相互错开以提高表述清晰度，并在必要时使用箭头表示流向。</a:t>
              </a:r>
            </a:p>
          </p:txBody>
        </p:sp>
      </p:grpSp>
    </p:spTree>
  </p:cSld>
  <p:clrMapOvr>
    <a:masterClrMapping/>
  </p:clrMapOvr>
  <p:transition>
    <p:pull dir="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endParaRPr lang="zh-CN" altLang="zh-CN" dirty="0">
              <a:sym typeface="+mn-ea"/>
            </a:endParaRP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3.5.1 </a:t>
            </a:r>
            <a:r>
              <a:rPr lang="zh-CN" altLang="en-US" sz="2400" dirty="0">
                <a:solidFill>
                  <a:schemeClr val="tx1"/>
                </a:solidFill>
              </a:rPr>
              <a:t>流程图</a:t>
            </a:r>
          </a:p>
        </p:txBody>
      </p:sp>
      <p:grpSp>
        <p:nvGrpSpPr>
          <p:cNvPr id="14" name="组合 13"/>
          <p:cNvGrpSpPr/>
          <p:nvPr/>
        </p:nvGrpSpPr>
        <p:grpSpPr>
          <a:xfrm>
            <a:off x="809625" y="2185035"/>
            <a:ext cx="10019665" cy="1805940"/>
            <a:chOff x="1188" y="3092"/>
            <a:chExt cx="15779" cy="2844"/>
          </a:xfrm>
        </p:grpSpPr>
        <p:grpSp>
          <p:nvGrpSpPr>
            <p:cNvPr id="5" name="组合 4"/>
            <p:cNvGrpSpPr/>
            <p:nvPr/>
          </p:nvGrpSpPr>
          <p:grpSpPr>
            <a:xfrm>
              <a:off x="1188" y="3092"/>
              <a:ext cx="4947" cy="930"/>
              <a:chOff x="508000" y="3196191"/>
              <a:chExt cx="3141314" cy="590550"/>
            </a:xfrm>
          </p:grpSpPr>
          <p:sp>
            <p:nvSpPr>
              <p:cNvPr id="21" name="TextBox 1"/>
              <p:cNvSpPr txBox="1">
                <a:spLocks noChangeArrowheads="1"/>
              </p:cNvSpPr>
              <p:nvPr/>
            </p:nvSpPr>
            <p:spPr bwMode="auto">
              <a:xfrm>
                <a:off x="508000" y="3196191"/>
                <a:ext cx="37464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9</a:t>
                </a: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连接符号</a:t>
                </a:r>
              </a:p>
            </p:txBody>
          </p:sp>
        </p:grpSp>
        <p:sp>
          <p:nvSpPr>
            <p:cNvPr id="24" name="矩形 8"/>
            <p:cNvSpPr>
              <a:spLocks noChangeArrowheads="1"/>
            </p:cNvSpPr>
            <p:nvPr/>
          </p:nvSpPr>
          <p:spPr bwMode="auto">
            <a:xfrm>
              <a:off x="1893" y="3848"/>
              <a:ext cx="15074" cy="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0">
                <a:lnSpc>
                  <a:spcPct val="150000"/>
                </a:lnSpc>
                <a:buClrTx/>
                <a:buNone/>
              </a:pPr>
              <a:r>
                <a:rPr lang="en-US" dirty="0">
                  <a:latin typeface="微软雅黑" panose="020B0503020204020204" charset="-122"/>
                  <a:ea typeface="微软雅黑" panose="020B0503020204020204" charset="-122"/>
                </a:rPr>
                <a:t>       </a:t>
              </a:r>
              <a:r>
                <a:rPr dirty="0">
                  <a:latin typeface="微软雅黑" panose="020B0503020204020204" charset="-122"/>
                  <a:ea typeface="微软雅黑" panose="020B0503020204020204" charset="-122"/>
                </a:rPr>
                <a:t>在出口连接符号和与它相对应的入口连接符号中，应记入相同的文字、数字或名称等识别符号，以表示衔接。例如，</a:t>
              </a:r>
              <a:r>
                <a:rPr lang="zh-CN" dirty="0">
                  <a:latin typeface="微软雅黑" panose="020B0503020204020204" charset="-122"/>
                  <a:ea typeface="微软雅黑" panose="020B0503020204020204" charset="-122"/>
                </a:rPr>
                <a:t>下图</a:t>
              </a:r>
              <a:r>
                <a:rPr dirty="0">
                  <a:latin typeface="微软雅黑" panose="020B0503020204020204" charset="-122"/>
                  <a:ea typeface="微软雅黑" panose="020B0503020204020204" charset="-122"/>
                </a:rPr>
                <a:t>是流程图的一部分，图（a）中有一个分支A，而分支A的详细流程在图（b）中画出。</a:t>
              </a:r>
            </a:p>
          </p:txBody>
        </p:sp>
      </p:grpSp>
      <p:pic>
        <p:nvPicPr>
          <p:cNvPr id="2" name="Picture 25" descr="3-12"/>
          <p:cNvPicPr>
            <a:picLocks noChangeAspect="1"/>
          </p:cNvPicPr>
          <p:nvPr/>
        </p:nvPicPr>
        <p:blipFill>
          <a:blip r:embed="rId2" cstate="print"/>
          <a:srcRect l="2144" b="15761"/>
          <a:stretch>
            <a:fillRect/>
          </a:stretch>
        </p:blipFill>
        <p:spPr>
          <a:xfrm>
            <a:off x="3463290" y="3990975"/>
            <a:ext cx="4650105" cy="1899920"/>
          </a:xfrm>
          <a:prstGeom prst="rect">
            <a:avLst/>
          </a:prstGeom>
          <a:noFill/>
          <a:ln w="9525">
            <a:noFill/>
          </a:ln>
        </p:spPr>
      </p:pic>
      <p:sp>
        <p:nvSpPr>
          <p:cNvPr id="6" name="文本框 5"/>
          <p:cNvSpPr txBox="1"/>
          <p:nvPr/>
        </p:nvSpPr>
        <p:spPr>
          <a:xfrm>
            <a:off x="3250565" y="5813425"/>
            <a:ext cx="6202045" cy="365760"/>
          </a:xfrm>
          <a:prstGeom prst="rect">
            <a:avLst/>
          </a:prstGeom>
          <a:noFill/>
        </p:spPr>
        <p:txBody>
          <a:bodyPr wrap="square" rtlCol="0">
            <a:spAutoFit/>
          </a:bodyPr>
          <a:lstStyle/>
          <a:p>
            <a:r>
              <a:rPr lang="en-US" altLang="zh-CN"/>
              <a:t>         (a)                                                   (b)</a:t>
            </a:r>
            <a:endParaRPr lang="zh-CN" altLang="en-US"/>
          </a:p>
        </p:txBody>
      </p:sp>
    </p:spTree>
  </p:cSld>
  <p:clrMapOvr>
    <a:masterClrMapping/>
  </p:clrMapOvr>
  <p:transition>
    <p:pull dir="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endParaRPr lang="zh-CN" altLang="zh-CN" dirty="0">
              <a:sym typeface="+mn-ea"/>
            </a:endParaRP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3.5.1 </a:t>
            </a:r>
            <a:r>
              <a:rPr lang="zh-CN" altLang="en-US" sz="2400" dirty="0">
                <a:solidFill>
                  <a:schemeClr val="tx1"/>
                </a:solidFill>
              </a:rPr>
              <a:t>流程图</a:t>
            </a:r>
          </a:p>
        </p:txBody>
      </p:sp>
      <p:grpSp>
        <p:nvGrpSpPr>
          <p:cNvPr id="14" name="组合 13"/>
          <p:cNvGrpSpPr/>
          <p:nvPr/>
        </p:nvGrpSpPr>
        <p:grpSpPr>
          <a:xfrm>
            <a:off x="613448" y="2038113"/>
            <a:ext cx="10746105" cy="2628900"/>
            <a:chOff x="1101" y="3092"/>
            <a:chExt cx="16923" cy="4140"/>
          </a:xfrm>
        </p:grpSpPr>
        <p:grpSp>
          <p:nvGrpSpPr>
            <p:cNvPr id="5" name="组合 4"/>
            <p:cNvGrpSpPr/>
            <p:nvPr/>
          </p:nvGrpSpPr>
          <p:grpSpPr>
            <a:xfrm>
              <a:off x="1101" y="3092"/>
              <a:ext cx="5034" cy="930"/>
              <a:chOff x="452756" y="3196191"/>
              <a:chExt cx="3196558" cy="590550"/>
            </a:xfrm>
          </p:grpSpPr>
          <p:sp>
            <p:nvSpPr>
              <p:cNvPr id="21" name="TextBox 1"/>
              <p:cNvSpPr txBox="1">
                <a:spLocks noChangeArrowheads="1"/>
              </p:cNvSpPr>
              <p:nvPr/>
            </p:nvSpPr>
            <p:spPr bwMode="auto">
              <a:xfrm>
                <a:off x="452756" y="3196191"/>
                <a:ext cx="590544"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10</a:t>
                </a: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详细表示线</a:t>
                </a:r>
              </a:p>
            </p:txBody>
          </p:sp>
        </p:grpSp>
        <p:sp>
          <p:nvSpPr>
            <p:cNvPr id="24" name="矩形 8"/>
            <p:cNvSpPr>
              <a:spLocks noChangeArrowheads="1"/>
            </p:cNvSpPr>
            <p:nvPr/>
          </p:nvSpPr>
          <p:spPr bwMode="auto">
            <a:xfrm>
              <a:off x="1893" y="3848"/>
              <a:ext cx="16131" cy="3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0">
                <a:lnSpc>
                  <a:spcPct val="150000"/>
                </a:lnSpc>
                <a:buClrTx/>
                <a:buNone/>
              </a:pPr>
              <a:r>
                <a:rPr lang="en-US" dirty="0">
                  <a:latin typeface="微软雅黑" panose="020B0503020204020204" charset="-122"/>
                  <a:ea typeface="微软雅黑" panose="020B0503020204020204" charset="-122"/>
                </a:rPr>
                <a:t>       </a:t>
              </a:r>
              <a:r>
                <a:rPr dirty="0">
                  <a:latin typeface="微软雅黑" panose="020B0503020204020204" charset="-122"/>
                  <a:ea typeface="微软雅黑" panose="020B0503020204020204" charset="-122"/>
                </a:rPr>
                <a:t>在处理符、数据符或其他符号中画一横线，表示该符号在同一文件集的其他地方有更详细的表示。横线加在图形符号内靠近顶端处，并在横线上方写上详细表示的标识符。详细表示处始末均应有端点符号，始端写上与加横线符号相同的标识符。例如，图（a）所示流程图的处理符号B4中加有横线，表示该处理另有详细描述的流程图；B4的详细流程图为图（b），其开始和结束都有端点符号，始端标有“B4”。</a:t>
              </a:r>
            </a:p>
          </p:txBody>
        </p:sp>
      </p:grpSp>
      <p:sp>
        <p:nvSpPr>
          <p:cNvPr id="6" name="文本框 5"/>
          <p:cNvSpPr txBox="1"/>
          <p:nvPr/>
        </p:nvSpPr>
        <p:spPr>
          <a:xfrm>
            <a:off x="4203206" y="6132743"/>
            <a:ext cx="4545017" cy="365760"/>
          </a:xfrm>
          <a:prstGeom prst="rect">
            <a:avLst/>
          </a:prstGeom>
          <a:noFill/>
        </p:spPr>
        <p:txBody>
          <a:bodyPr wrap="square" rtlCol="0">
            <a:spAutoFit/>
          </a:bodyPr>
          <a:lstStyle/>
          <a:p>
            <a:r>
              <a:rPr lang="en-US" altLang="zh-CN" dirty="0"/>
              <a:t>         (a)                             (b)</a:t>
            </a:r>
            <a:endParaRPr lang="zh-CN" altLang="en-US" dirty="0"/>
          </a:p>
        </p:txBody>
      </p:sp>
      <p:pic>
        <p:nvPicPr>
          <p:cNvPr id="2" name="图片 -2147482523"/>
          <p:cNvPicPr>
            <a:picLocks noChangeAspect="1"/>
          </p:cNvPicPr>
          <p:nvPr/>
        </p:nvPicPr>
        <p:blipFill>
          <a:blip r:embed="rId2" cstate="print"/>
          <a:stretch>
            <a:fillRect/>
          </a:stretch>
        </p:blipFill>
        <p:spPr>
          <a:xfrm>
            <a:off x="4266926" y="4298865"/>
            <a:ext cx="3348525" cy="1827773"/>
          </a:xfrm>
          <a:prstGeom prst="rect">
            <a:avLst/>
          </a:prstGeom>
          <a:noFill/>
          <a:ln w="9525">
            <a:noFill/>
          </a:ln>
        </p:spPr>
      </p:pic>
    </p:spTree>
  </p:cSld>
  <p:clrMapOvr>
    <a:masterClrMapping/>
  </p:clrMapOvr>
  <p:transition>
    <p:pull dir="d"/>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endParaRPr lang="zh-CN" altLang="zh-CN" dirty="0">
              <a:sym typeface="+mn-ea"/>
            </a:endParaRP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3.5.1 </a:t>
            </a:r>
            <a:r>
              <a:rPr lang="zh-CN" altLang="en-US" sz="2400" dirty="0">
                <a:solidFill>
                  <a:schemeClr val="tx1"/>
                </a:solidFill>
              </a:rPr>
              <a:t>流程图</a:t>
            </a:r>
          </a:p>
        </p:txBody>
      </p:sp>
      <p:grpSp>
        <p:nvGrpSpPr>
          <p:cNvPr id="14" name="组合 13"/>
          <p:cNvGrpSpPr/>
          <p:nvPr/>
        </p:nvGrpSpPr>
        <p:grpSpPr>
          <a:xfrm>
            <a:off x="722630" y="2115185"/>
            <a:ext cx="10746105" cy="1394460"/>
            <a:chOff x="1101" y="3092"/>
            <a:chExt cx="16923" cy="2196"/>
          </a:xfrm>
        </p:grpSpPr>
        <p:grpSp>
          <p:nvGrpSpPr>
            <p:cNvPr id="5" name="组合 4"/>
            <p:cNvGrpSpPr/>
            <p:nvPr/>
          </p:nvGrpSpPr>
          <p:grpSpPr>
            <a:xfrm>
              <a:off x="1101" y="3092"/>
              <a:ext cx="5701" cy="930"/>
              <a:chOff x="452756" y="3196191"/>
              <a:chExt cx="3620099" cy="590550"/>
            </a:xfrm>
          </p:grpSpPr>
          <p:sp>
            <p:nvSpPr>
              <p:cNvPr id="21" name="TextBox 1"/>
              <p:cNvSpPr txBox="1">
                <a:spLocks noChangeArrowheads="1"/>
              </p:cNvSpPr>
              <p:nvPr/>
            </p:nvSpPr>
            <p:spPr bwMode="auto">
              <a:xfrm>
                <a:off x="452756" y="3196191"/>
                <a:ext cx="590544"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11</a:t>
                </a: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751" y="3291441"/>
                <a:ext cx="3112104"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同类介质重复使用的表示</a:t>
                </a:r>
              </a:p>
            </p:txBody>
          </p:sp>
        </p:grpSp>
        <p:sp>
          <p:nvSpPr>
            <p:cNvPr id="24" name="矩形 8"/>
            <p:cNvSpPr>
              <a:spLocks noChangeArrowheads="1"/>
            </p:cNvSpPr>
            <p:nvPr/>
          </p:nvSpPr>
          <p:spPr bwMode="auto">
            <a:xfrm>
              <a:off x="1893" y="3848"/>
              <a:ext cx="16131" cy="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0">
                <a:lnSpc>
                  <a:spcPct val="150000"/>
                </a:lnSpc>
                <a:buClrTx/>
                <a:buNone/>
              </a:pPr>
              <a:r>
                <a:rPr lang="en-US" dirty="0">
                  <a:latin typeface="微软雅黑" panose="020B0503020204020204" charset="-122"/>
                  <a:ea typeface="微软雅黑" panose="020B0503020204020204" charset="-122"/>
                </a:rPr>
                <a:t>       </a:t>
              </a:r>
              <a:r>
                <a:rPr dirty="0">
                  <a:latin typeface="微软雅黑" panose="020B0503020204020204" charset="-122"/>
                  <a:ea typeface="微软雅黑" panose="020B0503020204020204" charset="-122"/>
                </a:rPr>
                <a:t>同一符号按同一方向的多次重复依次写上序号，顺序一律从前往后，方向可向右上、右下、左上、左下，但使用介质的优先顺序不因此而改变，如图所示。</a:t>
              </a:r>
            </a:p>
          </p:txBody>
        </p:sp>
      </p:grpSp>
      <p:pic>
        <p:nvPicPr>
          <p:cNvPr id="100" name="图片 99"/>
          <p:cNvPicPr/>
          <p:nvPr/>
        </p:nvPicPr>
        <p:blipFill>
          <a:blip r:embed="rId2" cstate="print"/>
          <a:stretch>
            <a:fillRect/>
          </a:stretch>
        </p:blipFill>
        <p:spPr>
          <a:xfrm>
            <a:off x="3546022" y="4175883"/>
            <a:ext cx="4590476" cy="1009524"/>
          </a:xfrm>
          <a:prstGeom prst="rect">
            <a:avLst/>
          </a:prstGeom>
          <a:noFill/>
          <a:ln w="9525">
            <a:noFill/>
          </a:ln>
        </p:spPr>
      </p:pic>
    </p:spTree>
  </p:cSld>
  <p:clrMapOvr>
    <a:masterClrMapping/>
  </p:clrMapOvr>
  <p:transition>
    <p:pull dir="d"/>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endParaRPr lang="zh-CN" altLang="zh-CN" dirty="0">
              <a:sym typeface="+mn-ea"/>
            </a:endParaRP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3.5.1 </a:t>
            </a:r>
            <a:r>
              <a:rPr lang="zh-CN" altLang="en-US" sz="2400" dirty="0">
                <a:solidFill>
                  <a:schemeClr val="tx1"/>
                </a:solidFill>
              </a:rPr>
              <a:t>流程图</a:t>
            </a:r>
          </a:p>
        </p:txBody>
      </p:sp>
      <p:pic>
        <p:nvPicPr>
          <p:cNvPr id="2" name="图片 -2147482521"/>
          <p:cNvPicPr>
            <a:picLocks noChangeAspect="1"/>
          </p:cNvPicPr>
          <p:nvPr/>
        </p:nvPicPr>
        <p:blipFill>
          <a:blip r:embed="rId2" cstate="print"/>
          <a:stretch>
            <a:fillRect/>
          </a:stretch>
        </p:blipFill>
        <p:spPr>
          <a:xfrm>
            <a:off x="995045" y="2902477"/>
            <a:ext cx="10607675" cy="2291080"/>
          </a:xfrm>
          <a:prstGeom prst="rect">
            <a:avLst/>
          </a:prstGeom>
          <a:noFill/>
          <a:ln w="9525">
            <a:noFill/>
          </a:ln>
        </p:spPr>
      </p:pic>
      <p:sp>
        <p:nvSpPr>
          <p:cNvPr id="6" name="文本框 5"/>
          <p:cNvSpPr txBox="1"/>
          <p:nvPr/>
        </p:nvSpPr>
        <p:spPr>
          <a:xfrm>
            <a:off x="995045" y="5579637"/>
            <a:ext cx="2367915" cy="365760"/>
          </a:xfrm>
          <a:prstGeom prst="rect">
            <a:avLst/>
          </a:prstGeom>
          <a:noFill/>
        </p:spPr>
        <p:txBody>
          <a:bodyPr wrap="square" rtlCol="0">
            <a:spAutoFit/>
          </a:bodyPr>
          <a:lstStyle/>
          <a:p>
            <a:r>
              <a:rPr lang="zh-CN" altLang="en-US"/>
              <a:t>顺序结构</a:t>
            </a:r>
          </a:p>
        </p:txBody>
      </p:sp>
      <p:sp>
        <p:nvSpPr>
          <p:cNvPr id="7" name="文本框 6"/>
          <p:cNvSpPr txBox="1"/>
          <p:nvPr/>
        </p:nvSpPr>
        <p:spPr>
          <a:xfrm>
            <a:off x="4134485" y="5579637"/>
            <a:ext cx="2721610" cy="365760"/>
          </a:xfrm>
          <a:prstGeom prst="rect">
            <a:avLst/>
          </a:prstGeom>
          <a:noFill/>
        </p:spPr>
        <p:txBody>
          <a:bodyPr wrap="square" rtlCol="0">
            <a:spAutoFit/>
          </a:bodyPr>
          <a:lstStyle/>
          <a:p>
            <a:r>
              <a:rPr lang="zh-CN" altLang="en-US"/>
              <a:t>条件选择结构</a:t>
            </a:r>
          </a:p>
        </p:txBody>
      </p:sp>
      <p:sp>
        <p:nvSpPr>
          <p:cNvPr id="8" name="文本框 7"/>
          <p:cNvSpPr txBox="1"/>
          <p:nvPr/>
        </p:nvSpPr>
        <p:spPr>
          <a:xfrm>
            <a:off x="8952230" y="5579637"/>
            <a:ext cx="2526665" cy="365760"/>
          </a:xfrm>
          <a:prstGeom prst="rect">
            <a:avLst/>
          </a:prstGeom>
          <a:noFill/>
        </p:spPr>
        <p:txBody>
          <a:bodyPr wrap="square" rtlCol="0">
            <a:spAutoFit/>
          </a:bodyPr>
          <a:lstStyle/>
          <a:p>
            <a:r>
              <a:rPr lang="zh-CN" altLang="en-US"/>
              <a:t>循环结构</a:t>
            </a:r>
          </a:p>
        </p:txBody>
      </p:sp>
      <p:sp>
        <p:nvSpPr>
          <p:cNvPr id="2050" name="左大括号"/>
          <p:cNvSpPr/>
          <p:nvPr/>
        </p:nvSpPr>
        <p:spPr bwMode="auto">
          <a:xfrm rot="16200000" flipH="1">
            <a:off x="4885055" y="3238392"/>
            <a:ext cx="152400" cy="4275455"/>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sp>
        <p:nvSpPr>
          <p:cNvPr id="9" name="左大括号"/>
          <p:cNvSpPr/>
          <p:nvPr/>
        </p:nvSpPr>
        <p:spPr bwMode="auto">
          <a:xfrm rot="16200000" flipH="1">
            <a:off x="9505950" y="3479692"/>
            <a:ext cx="152400" cy="3792855"/>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sp>
        <p:nvSpPr>
          <p:cNvPr id="10" name="左大括号"/>
          <p:cNvSpPr/>
          <p:nvPr/>
        </p:nvSpPr>
        <p:spPr bwMode="auto">
          <a:xfrm rot="16200000" flipH="1">
            <a:off x="1351280" y="4757947"/>
            <a:ext cx="153035" cy="1236345"/>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grpSp>
        <p:nvGrpSpPr>
          <p:cNvPr id="33" name="组合 32"/>
          <p:cNvGrpSpPr/>
          <p:nvPr/>
        </p:nvGrpSpPr>
        <p:grpSpPr>
          <a:xfrm>
            <a:off x="6038632" y="1298982"/>
            <a:ext cx="5513705" cy="1508125"/>
            <a:chOff x="881" y="2735"/>
            <a:chExt cx="8683" cy="2375"/>
          </a:xfrm>
        </p:grpSpPr>
        <p:sp>
          <p:nvSpPr>
            <p:cNvPr id="167" name="圆角矩形"/>
            <p:cNvSpPr/>
            <p:nvPr/>
          </p:nvSpPr>
          <p:spPr>
            <a:xfrm>
              <a:off x="1188" y="3071"/>
              <a:ext cx="8376" cy="2039"/>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4"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ndParaRPr>
            </a:p>
          </p:txBody>
        </p:sp>
        <p:sp>
          <p:nvSpPr>
            <p:cNvPr id="35" name="文本框 34"/>
            <p:cNvSpPr txBox="1"/>
            <p:nvPr/>
          </p:nvSpPr>
          <p:spPr>
            <a:xfrm>
              <a:off x="1252" y="3155"/>
              <a:ext cx="8312" cy="1872"/>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a:sym typeface="+mn-ea"/>
                </a:rPr>
                <a:t>为了克服流程图随意转移控制和不利于结构化的缺陷，在画流程图时，一般只用以</a:t>
              </a:r>
              <a:r>
                <a:rPr lang="zh-CN">
                  <a:sym typeface="+mn-ea"/>
                </a:rPr>
                <a:t>下</a:t>
              </a:r>
              <a:r>
                <a:rPr>
                  <a:sym typeface="+mn-ea"/>
                </a:rPr>
                <a:t>3种基本控制结构进行组合或完整地嵌套，不要有基本结构相互交叉的情况，以此保证流程图是结构化的。</a:t>
              </a:r>
            </a:p>
          </p:txBody>
        </p:sp>
      </p:grpSp>
      <p:sp>
        <p:nvSpPr>
          <p:cNvPr id="15" name="矩形 14"/>
          <p:cNvSpPr/>
          <p:nvPr/>
        </p:nvSpPr>
        <p:spPr>
          <a:xfrm>
            <a:off x="896708" y="2220750"/>
            <a:ext cx="3433953" cy="461665"/>
          </a:xfrm>
          <a:prstGeom prst="rect">
            <a:avLst/>
          </a:prstGeom>
        </p:spPr>
        <p:txBody>
          <a:bodyPr wrap="none">
            <a:spAutoFit/>
          </a:bodyPr>
          <a:lstStyle/>
          <a:p>
            <a:r>
              <a:rPr lang="zh-CN" altLang="en-US" sz="2400" dirty="0"/>
              <a:t>流程图的</a:t>
            </a:r>
            <a:r>
              <a:rPr lang="en-US" sz="2400" dirty="0"/>
              <a:t>3</a:t>
            </a:r>
            <a:r>
              <a:rPr lang="zh-CN" altLang="en-US" sz="2400" dirty="0"/>
              <a:t>种基本结构：</a:t>
            </a:r>
          </a:p>
        </p:txBody>
      </p:sp>
    </p:spTree>
  </p:cSld>
  <p:clrMapOvr>
    <a:masterClrMapping/>
  </p:clrMapOvr>
  <p:transition>
    <p:pull dir="d"/>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endParaRPr lang="zh-CN" altLang="zh-CN" dirty="0">
              <a:sym typeface="+mn-ea"/>
            </a:endParaRPr>
          </a:p>
        </p:txBody>
      </p:sp>
      <p:sp>
        <p:nvSpPr>
          <p:cNvPr id="4" name="TextBox 6"/>
          <p:cNvSpPr txBox="1"/>
          <p:nvPr/>
        </p:nvSpPr>
        <p:spPr>
          <a:xfrm>
            <a:off x="809625" y="1403350"/>
            <a:ext cx="964311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3.5.2 </a:t>
            </a:r>
            <a:r>
              <a:rPr lang="zh-CN" altLang="en-US" sz="2400" dirty="0">
                <a:solidFill>
                  <a:schemeClr val="tx1"/>
                </a:solidFill>
              </a:rPr>
              <a:t>盒图</a:t>
            </a:r>
            <a:r>
              <a:rPr lang="zh-CN" altLang="en-US" sz="2400" dirty="0"/>
              <a:t>（</a:t>
            </a:r>
            <a:r>
              <a:rPr lang="en-US" sz="2400" dirty="0"/>
              <a:t>N-S</a:t>
            </a:r>
            <a:r>
              <a:rPr lang="zh-CN" altLang="en-US" sz="2400" dirty="0"/>
              <a:t>图）</a:t>
            </a:r>
            <a:endParaRPr lang="zh-CN" altLang="en-US" sz="2400" dirty="0">
              <a:solidFill>
                <a:schemeClr val="tx1"/>
              </a:solidFill>
            </a:endParaRPr>
          </a:p>
        </p:txBody>
      </p:sp>
      <p:grpSp>
        <p:nvGrpSpPr>
          <p:cNvPr id="5" name="组合 4"/>
          <p:cNvGrpSpPr/>
          <p:nvPr/>
        </p:nvGrpSpPr>
        <p:grpSpPr>
          <a:xfrm>
            <a:off x="809625" y="5378450"/>
            <a:ext cx="10565765" cy="645795"/>
            <a:chOff x="1275" y="7830"/>
            <a:chExt cx="16639" cy="1017"/>
          </a:xfrm>
        </p:grpSpPr>
        <p:sp>
          <p:nvSpPr>
            <p:cNvPr id="6" name="文本框 5"/>
            <p:cNvSpPr txBox="1"/>
            <p:nvPr/>
          </p:nvSpPr>
          <p:spPr>
            <a:xfrm>
              <a:off x="1567" y="8271"/>
              <a:ext cx="3729" cy="576"/>
            </a:xfrm>
            <a:prstGeom prst="rect">
              <a:avLst/>
            </a:prstGeom>
            <a:noFill/>
          </p:spPr>
          <p:txBody>
            <a:bodyPr wrap="square" rtlCol="0">
              <a:spAutoFit/>
            </a:bodyPr>
            <a:lstStyle/>
            <a:p>
              <a:r>
                <a:rPr lang="zh-CN" altLang="en-US"/>
                <a:t>顺序结构</a:t>
              </a:r>
            </a:p>
          </p:txBody>
        </p:sp>
        <p:sp>
          <p:nvSpPr>
            <p:cNvPr id="7" name="文本框 6"/>
            <p:cNvSpPr txBox="1"/>
            <p:nvPr/>
          </p:nvSpPr>
          <p:spPr>
            <a:xfrm>
              <a:off x="9961" y="8271"/>
              <a:ext cx="4286" cy="576"/>
            </a:xfrm>
            <a:prstGeom prst="rect">
              <a:avLst/>
            </a:prstGeom>
            <a:noFill/>
          </p:spPr>
          <p:txBody>
            <a:bodyPr wrap="square" rtlCol="0">
              <a:spAutoFit/>
            </a:bodyPr>
            <a:lstStyle/>
            <a:p>
              <a:r>
                <a:rPr lang="zh-CN" altLang="en-US"/>
                <a:t>条件选择结构</a:t>
              </a:r>
            </a:p>
          </p:txBody>
        </p:sp>
        <p:sp>
          <p:nvSpPr>
            <p:cNvPr id="2050" name="左大括号"/>
            <p:cNvSpPr/>
            <p:nvPr/>
          </p:nvSpPr>
          <p:spPr bwMode="auto">
            <a:xfrm rot="16200000" flipH="1">
              <a:off x="11060" y="1218"/>
              <a:ext cx="241" cy="13467"/>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sp>
          <p:nvSpPr>
            <p:cNvPr id="10" name="左大括号"/>
            <p:cNvSpPr/>
            <p:nvPr/>
          </p:nvSpPr>
          <p:spPr bwMode="auto">
            <a:xfrm rot="16200000" flipH="1">
              <a:off x="2128" y="6977"/>
              <a:ext cx="241" cy="1947"/>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grpSp>
      <p:pic>
        <p:nvPicPr>
          <p:cNvPr id="2" name="图片 -2147482520"/>
          <p:cNvPicPr>
            <a:picLocks noChangeAspect="1"/>
          </p:cNvPicPr>
          <p:nvPr/>
        </p:nvPicPr>
        <p:blipFill>
          <a:blip r:embed="rId2" cstate="print"/>
          <a:stretch>
            <a:fillRect/>
          </a:stretch>
        </p:blipFill>
        <p:spPr>
          <a:xfrm>
            <a:off x="809625" y="2366645"/>
            <a:ext cx="10829925" cy="2797810"/>
          </a:xfrm>
          <a:prstGeom prst="rect">
            <a:avLst/>
          </a:prstGeom>
          <a:noFill/>
          <a:ln w="9525">
            <a:noFill/>
          </a:ln>
        </p:spPr>
      </p:pic>
      <p:sp>
        <p:nvSpPr>
          <p:cNvPr id="14" name="矩形 13"/>
          <p:cNvSpPr/>
          <p:nvPr/>
        </p:nvSpPr>
        <p:spPr>
          <a:xfrm>
            <a:off x="896708" y="2220750"/>
            <a:ext cx="2031325" cy="461665"/>
          </a:xfrm>
          <a:prstGeom prst="rect">
            <a:avLst/>
          </a:prstGeom>
        </p:spPr>
        <p:txBody>
          <a:bodyPr wrap="none">
            <a:spAutoFit/>
          </a:bodyPr>
          <a:lstStyle/>
          <a:p>
            <a:r>
              <a:rPr lang="zh-CN" altLang="en-US" sz="2400" dirty="0"/>
              <a:t>盒图的符号：</a:t>
            </a:r>
          </a:p>
        </p:txBody>
      </p:sp>
    </p:spTree>
  </p:cSld>
  <p:clrMapOvr>
    <a:masterClrMapping/>
  </p:clrMapOvr>
  <p:transition>
    <p:pull dir="d"/>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endParaRPr lang="zh-CN" altLang="zh-CN" dirty="0">
              <a:sym typeface="+mn-ea"/>
            </a:endParaRP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3.5.2 </a:t>
            </a:r>
            <a:r>
              <a:rPr lang="zh-CN" altLang="en-US" sz="2400" dirty="0">
                <a:solidFill>
                  <a:schemeClr val="tx1"/>
                </a:solidFill>
              </a:rPr>
              <a:t>盒图</a:t>
            </a:r>
            <a:r>
              <a:rPr lang="zh-CN" altLang="en-US" sz="2400" dirty="0"/>
              <a:t>（</a:t>
            </a:r>
            <a:r>
              <a:rPr lang="en-US" sz="2400" dirty="0"/>
              <a:t>N-S</a:t>
            </a:r>
            <a:r>
              <a:rPr lang="zh-CN" altLang="en-US" sz="2400" dirty="0"/>
              <a:t>图）</a:t>
            </a:r>
            <a:endParaRPr lang="zh-CN" altLang="en-US" sz="2400" dirty="0">
              <a:solidFill>
                <a:schemeClr val="tx1"/>
              </a:solidFill>
            </a:endParaRPr>
          </a:p>
        </p:txBody>
      </p:sp>
      <p:grpSp>
        <p:nvGrpSpPr>
          <p:cNvPr id="5" name="组合 4"/>
          <p:cNvGrpSpPr/>
          <p:nvPr/>
        </p:nvGrpSpPr>
        <p:grpSpPr>
          <a:xfrm>
            <a:off x="754380" y="5379085"/>
            <a:ext cx="11402060" cy="645160"/>
            <a:chOff x="1188" y="7831"/>
            <a:chExt cx="17956" cy="1016"/>
          </a:xfrm>
        </p:grpSpPr>
        <p:sp>
          <p:nvSpPr>
            <p:cNvPr id="6" name="文本框 5"/>
            <p:cNvSpPr txBox="1"/>
            <p:nvPr/>
          </p:nvSpPr>
          <p:spPr>
            <a:xfrm>
              <a:off x="5074" y="8271"/>
              <a:ext cx="3729" cy="576"/>
            </a:xfrm>
            <a:prstGeom prst="rect">
              <a:avLst/>
            </a:prstGeom>
            <a:noFill/>
          </p:spPr>
          <p:txBody>
            <a:bodyPr wrap="square" rtlCol="0">
              <a:spAutoFit/>
            </a:bodyPr>
            <a:lstStyle/>
            <a:p>
              <a:r>
                <a:rPr lang="zh-CN" altLang="en-US"/>
                <a:t>循环结构</a:t>
              </a:r>
            </a:p>
          </p:txBody>
        </p:sp>
        <p:sp>
          <p:nvSpPr>
            <p:cNvPr id="7" name="文本框 6"/>
            <p:cNvSpPr txBox="1"/>
            <p:nvPr/>
          </p:nvSpPr>
          <p:spPr>
            <a:xfrm>
              <a:off x="14858" y="8271"/>
              <a:ext cx="4286" cy="576"/>
            </a:xfrm>
            <a:prstGeom prst="rect">
              <a:avLst/>
            </a:prstGeom>
            <a:noFill/>
          </p:spPr>
          <p:txBody>
            <a:bodyPr wrap="square" rtlCol="0">
              <a:spAutoFit/>
            </a:bodyPr>
            <a:lstStyle/>
            <a:p>
              <a:r>
                <a:rPr lang="zh-CN" altLang="en-US"/>
                <a:t>调用子程序</a:t>
              </a:r>
              <a:r>
                <a:rPr lang="en-US" altLang="zh-CN"/>
                <a:t>A</a:t>
              </a:r>
              <a:endParaRPr lang="zh-CN" altLang="en-US"/>
            </a:p>
          </p:txBody>
        </p:sp>
        <p:sp>
          <p:nvSpPr>
            <p:cNvPr id="2050" name="左大括号"/>
            <p:cNvSpPr/>
            <p:nvPr/>
          </p:nvSpPr>
          <p:spPr bwMode="auto">
            <a:xfrm rot="16200000" flipH="1">
              <a:off x="15792" y="5895"/>
              <a:ext cx="214" cy="4085"/>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sp>
          <p:nvSpPr>
            <p:cNvPr id="10" name="左大括号"/>
            <p:cNvSpPr/>
            <p:nvPr/>
          </p:nvSpPr>
          <p:spPr bwMode="auto">
            <a:xfrm rot="16200000" flipH="1">
              <a:off x="5938" y="3081"/>
              <a:ext cx="242" cy="9742"/>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grpSp>
      <p:grpSp>
        <p:nvGrpSpPr>
          <p:cNvPr id="33" name="组合 32"/>
          <p:cNvGrpSpPr/>
          <p:nvPr/>
        </p:nvGrpSpPr>
        <p:grpSpPr>
          <a:xfrm>
            <a:off x="6219190" y="855980"/>
            <a:ext cx="5513705" cy="1325880"/>
            <a:chOff x="881" y="2735"/>
            <a:chExt cx="8683" cy="2088"/>
          </a:xfrm>
        </p:grpSpPr>
        <p:sp>
          <p:nvSpPr>
            <p:cNvPr id="167" name="圆角矩形"/>
            <p:cNvSpPr/>
            <p:nvPr/>
          </p:nvSpPr>
          <p:spPr>
            <a:xfrm>
              <a:off x="1188" y="3071"/>
              <a:ext cx="8376" cy="1752"/>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4"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ndParaRPr>
            </a:p>
          </p:txBody>
        </p:sp>
        <p:sp>
          <p:nvSpPr>
            <p:cNvPr id="35" name="文本框 34"/>
            <p:cNvSpPr txBox="1"/>
            <p:nvPr/>
          </p:nvSpPr>
          <p:spPr>
            <a:xfrm>
              <a:off x="1252" y="3227"/>
              <a:ext cx="8312" cy="1440"/>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a:sym typeface="+mn-ea"/>
                </a:rPr>
                <a:t>盒图是由Nassi和Shneiderman提出的，因此又称N-S图。盒图没有箭头，不允许随意转移，只允许程序员用结构化设计方法来思考问题、解决问题。</a:t>
              </a:r>
            </a:p>
          </p:txBody>
        </p:sp>
      </p:grpSp>
      <p:pic>
        <p:nvPicPr>
          <p:cNvPr id="2" name="图片 -2147482519"/>
          <p:cNvPicPr>
            <a:picLocks noChangeAspect="1"/>
          </p:cNvPicPr>
          <p:nvPr/>
        </p:nvPicPr>
        <p:blipFill>
          <a:blip r:embed="rId3" cstate="print"/>
          <a:stretch>
            <a:fillRect/>
          </a:stretch>
        </p:blipFill>
        <p:spPr>
          <a:xfrm>
            <a:off x="809625" y="2762885"/>
            <a:ext cx="10696575" cy="2232025"/>
          </a:xfrm>
          <a:prstGeom prst="rect">
            <a:avLst/>
          </a:prstGeom>
          <a:noFill/>
          <a:ln w="9525">
            <a:noFill/>
          </a:ln>
        </p:spPr>
      </p:pic>
    </p:spTree>
  </p:cSld>
  <p:clrMapOvr>
    <a:masterClrMapping/>
  </p:clrMapOvr>
  <p:transition>
    <p:pull dir="d"/>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endParaRPr lang="zh-CN" altLang="zh-CN" dirty="0">
              <a:sym typeface="+mn-ea"/>
            </a:endParaRP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3.5.2 </a:t>
            </a:r>
            <a:r>
              <a:rPr lang="zh-CN" altLang="en-US" sz="2400" dirty="0">
                <a:solidFill>
                  <a:schemeClr val="tx1"/>
                </a:solidFill>
              </a:rPr>
              <a:t>盒图</a:t>
            </a:r>
          </a:p>
        </p:txBody>
      </p:sp>
      <p:sp>
        <p:nvSpPr>
          <p:cNvPr id="9" name="文本框 8"/>
          <p:cNvSpPr txBox="1"/>
          <p:nvPr>
            <p:custDataLst>
              <p:tags r:id="rId1"/>
            </p:custDataLst>
          </p:nvPr>
        </p:nvSpPr>
        <p:spPr>
          <a:xfrm>
            <a:off x="8078470" y="3543300"/>
            <a:ext cx="2095500" cy="1013460"/>
          </a:xfrm>
          <a:prstGeom prst="rect">
            <a:avLst/>
          </a:prstGeom>
          <a:noFill/>
        </p:spPr>
        <p:txBody>
          <a:bodyPr wrap="none" rtlCol="0">
            <a:normAutofit/>
          </a:bodyPr>
          <a:lstStyle/>
          <a:p>
            <a:pPr algn="ctr" eaLnBrk="1" hangingPunct="1">
              <a:lnSpc>
                <a:spcPct val="120000"/>
              </a:lnSpc>
              <a:spcBef>
                <a:spcPts val="0"/>
              </a:spcBef>
              <a:spcAft>
                <a:spcPts val="0"/>
              </a:spcAft>
              <a:defRPr/>
            </a:pPr>
            <a:r>
              <a:rPr lang="zh-CN" altLang="en-US" dirty="0"/>
              <a:t>（2）不允许任意转移控制，因而</a:t>
            </a:r>
          </a:p>
          <a:p>
            <a:pPr algn="ctr" eaLnBrk="1" hangingPunct="1">
              <a:lnSpc>
                <a:spcPct val="120000"/>
              </a:lnSpc>
              <a:spcBef>
                <a:spcPts val="0"/>
              </a:spcBef>
              <a:spcAft>
                <a:spcPts val="0"/>
              </a:spcAft>
              <a:defRPr/>
            </a:pPr>
            <a:r>
              <a:rPr lang="zh-CN" altLang="en-US" dirty="0"/>
              <a:t>          只能表示结构化设计结构。</a:t>
            </a:r>
          </a:p>
        </p:txBody>
      </p:sp>
      <p:sp>
        <p:nvSpPr>
          <p:cNvPr id="11" name="文本框 10"/>
          <p:cNvSpPr txBox="1"/>
          <p:nvPr>
            <p:custDataLst>
              <p:tags r:id="rId2"/>
            </p:custDataLst>
          </p:nvPr>
        </p:nvSpPr>
        <p:spPr>
          <a:xfrm>
            <a:off x="4660900" y="5518150"/>
            <a:ext cx="2095500" cy="394335"/>
          </a:xfrm>
          <a:prstGeom prst="rect">
            <a:avLst/>
          </a:prstGeom>
          <a:noFill/>
        </p:spPr>
        <p:txBody>
          <a:bodyPr wrap="none" rtlCol="0">
            <a:normAutofit/>
          </a:bodyPr>
          <a:lstStyle/>
          <a:p>
            <a:pPr algn="ctr" eaLnBrk="1" hangingPunct="1">
              <a:lnSpc>
                <a:spcPct val="120000"/>
              </a:lnSpc>
              <a:spcBef>
                <a:spcPts val="0"/>
              </a:spcBef>
              <a:spcAft>
                <a:spcPts val="0"/>
              </a:spcAft>
              <a:defRPr/>
            </a:pPr>
            <a:r>
              <a:rPr lang="zh-CN" altLang="en-US" dirty="0"/>
              <a:t>（3）易于确定数据的作用域是全局量还是局部量。</a:t>
            </a:r>
          </a:p>
        </p:txBody>
      </p:sp>
      <p:grpSp>
        <p:nvGrpSpPr>
          <p:cNvPr id="12" name="Group 4"/>
          <p:cNvGrpSpPr>
            <a:grpSpLocks noChangeAspect="1"/>
          </p:cNvGrpSpPr>
          <p:nvPr>
            <p:custDataLst>
              <p:tags r:id="rId3"/>
            </p:custDataLst>
          </p:nvPr>
        </p:nvGrpSpPr>
        <p:grpSpPr bwMode="auto">
          <a:xfrm rot="2700000">
            <a:off x="4183380" y="2520315"/>
            <a:ext cx="2932430" cy="2932430"/>
            <a:chOff x="5031" y="2034"/>
            <a:chExt cx="2018" cy="2018"/>
          </a:xfrm>
        </p:grpSpPr>
        <p:sp>
          <p:nvSpPr>
            <p:cNvPr id="48" name="Freeform 5"/>
            <p:cNvSpPr/>
            <p:nvPr>
              <p:custDataLst>
                <p:tags r:id="rId22"/>
              </p:custDataLst>
            </p:nvPr>
          </p:nvSpPr>
          <p:spPr bwMode="auto">
            <a:xfrm>
              <a:off x="6040" y="2034"/>
              <a:ext cx="1009" cy="1009"/>
            </a:xfrm>
            <a:custGeom>
              <a:avLst/>
              <a:gdLst>
                <a:gd name="T0" fmla="*/ 0 w 8410"/>
                <a:gd name="T1" fmla="*/ 8409 h 8409"/>
                <a:gd name="T2" fmla="*/ 8410 w 8410"/>
                <a:gd name="T3" fmla="*/ 8409 h 8409"/>
                <a:gd name="T4" fmla="*/ 0 w 8410"/>
                <a:gd name="T5" fmla="*/ 0 h 8409"/>
                <a:gd name="T6" fmla="*/ 0 w 8410"/>
                <a:gd name="T7" fmla="*/ 0 h 8409"/>
                <a:gd name="T8" fmla="*/ 0 w 8410"/>
                <a:gd name="T9" fmla="*/ 8409 h 8409"/>
              </a:gdLst>
              <a:ahLst/>
              <a:cxnLst>
                <a:cxn ang="0">
                  <a:pos x="T0" y="T1"/>
                </a:cxn>
                <a:cxn ang="0">
                  <a:pos x="T2" y="T3"/>
                </a:cxn>
                <a:cxn ang="0">
                  <a:pos x="T4" y="T5"/>
                </a:cxn>
                <a:cxn ang="0">
                  <a:pos x="T6" y="T7"/>
                </a:cxn>
                <a:cxn ang="0">
                  <a:pos x="T8" y="T9"/>
                </a:cxn>
              </a:cxnLst>
              <a:rect l="0" t="0" r="r" b="b"/>
              <a:pathLst>
                <a:path w="8410" h="8409">
                  <a:moveTo>
                    <a:pt x="0" y="8409"/>
                  </a:moveTo>
                  <a:lnTo>
                    <a:pt x="8410" y="8409"/>
                  </a:lnTo>
                  <a:cubicBezTo>
                    <a:pt x="8410" y="3765"/>
                    <a:pt x="4645" y="0"/>
                    <a:pt x="0" y="0"/>
                  </a:cubicBezTo>
                  <a:cubicBezTo>
                    <a:pt x="0" y="0"/>
                    <a:pt x="0" y="0"/>
                    <a:pt x="0" y="0"/>
                  </a:cubicBezTo>
                  <a:lnTo>
                    <a:pt x="0" y="8409"/>
                  </a:lnTo>
                  <a:close/>
                </a:path>
              </a:pathLst>
            </a:custGeom>
            <a:solidFill>
              <a:srgbClr val="A4C47E"/>
            </a:solidFill>
            <a:ln w="0">
              <a:noFill/>
              <a:prstDash val="solid"/>
              <a:round/>
            </a:ln>
          </p:spPr>
          <p:txBody>
            <a:bodyPr vert="horz" wrap="square" lIns="91440" tIns="45720" rIns="91440" bIns="45720" numCol="1" anchor="t" anchorCtr="0" compatLnSpc="1">
              <a:normAutofit/>
            </a:bodyPr>
            <a:lstStyle/>
            <a:p>
              <a:endParaRPr lang="zh-CN" altLang="en-US">
                <a:sym typeface="Arial" panose="020B0604020202020204" pitchFamily="34" charset="0"/>
              </a:endParaRPr>
            </a:p>
          </p:txBody>
        </p:sp>
        <p:sp>
          <p:nvSpPr>
            <p:cNvPr id="50" name="Freeform 7"/>
            <p:cNvSpPr/>
            <p:nvPr>
              <p:custDataLst>
                <p:tags r:id="rId23"/>
              </p:custDataLst>
            </p:nvPr>
          </p:nvSpPr>
          <p:spPr bwMode="auto">
            <a:xfrm>
              <a:off x="6040" y="3043"/>
              <a:ext cx="1009" cy="1009"/>
            </a:xfrm>
            <a:custGeom>
              <a:avLst/>
              <a:gdLst>
                <a:gd name="T0" fmla="*/ 0 w 8410"/>
                <a:gd name="T1" fmla="*/ 0 h 8410"/>
                <a:gd name="T2" fmla="*/ 0 w 8410"/>
                <a:gd name="T3" fmla="*/ 8410 h 8410"/>
                <a:gd name="T4" fmla="*/ 8410 w 8410"/>
                <a:gd name="T5" fmla="*/ 0 h 8410"/>
                <a:gd name="T6" fmla="*/ 0 w 8410"/>
                <a:gd name="T7" fmla="*/ 0 h 8410"/>
              </a:gdLst>
              <a:ahLst/>
              <a:cxnLst>
                <a:cxn ang="0">
                  <a:pos x="T0" y="T1"/>
                </a:cxn>
                <a:cxn ang="0">
                  <a:pos x="T2" y="T3"/>
                </a:cxn>
                <a:cxn ang="0">
                  <a:pos x="T4" y="T5"/>
                </a:cxn>
                <a:cxn ang="0">
                  <a:pos x="T6" y="T7"/>
                </a:cxn>
              </a:cxnLst>
              <a:rect l="0" t="0" r="r" b="b"/>
              <a:pathLst>
                <a:path w="8410" h="8410">
                  <a:moveTo>
                    <a:pt x="0" y="0"/>
                  </a:moveTo>
                  <a:lnTo>
                    <a:pt x="0" y="8410"/>
                  </a:lnTo>
                  <a:cubicBezTo>
                    <a:pt x="4645" y="8410"/>
                    <a:pt x="8410" y="4645"/>
                    <a:pt x="8410" y="0"/>
                  </a:cubicBezTo>
                  <a:lnTo>
                    <a:pt x="0" y="0"/>
                  </a:lnTo>
                  <a:close/>
                </a:path>
              </a:pathLst>
            </a:custGeom>
            <a:solidFill>
              <a:srgbClr val="0FA1AB"/>
            </a:solidFill>
            <a:ln w="0">
              <a:noFill/>
              <a:prstDash val="solid"/>
              <a:round/>
            </a:ln>
          </p:spPr>
          <p:txBody>
            <a:bodyPr vert="horz" wrap="square" lIns="91440" tIns="45720" rIns="91440" bIns="45720" numCol="1" anchor="t" anchorCtr="0" compatLnSpc="1">
              <a:normAutofit/>
            </a:bodyPr>
            <a:lstStyle/>
            <a:p>
              <a:endParaRPr lang="zh-CN" altLang="en-US">
                <a:sym typeface="Arial" panose="020B0604020202020204" pitchFamily="34" charset="0"/>
              </a:endParaRPr>
            </a:p>
          </p:txBody>
        </p:sp>
        <p:sp>
          <p:nvSpPr>
            <p:cNvPr id="13" name="Freeform 9"/>
            <p:cNvSpPr/>
            <p:nvPr>
              <p:custDataLst>
                <p:tags r:id="rId24"/>
              </p:custDataLst>
            </p:nvPr>
          </p:nvSpPr>
          <p:spPr bwMode="auto">
            <a:xfrm>
              <a:off x="5031" y="3043"/>
              <a:ext cx="1009" cy="1009"/>
            </a:xfrm>
            <a:custGeom>
              <a:avLst/>
              <a:gdLst>
                <a:gd name="T0" fmla="*/ 8409 w 8409"/>
                <a:gd name="T1" fmla="*/ 0 h 8410"/>
                <a:gd name="T2" fmla="*/ 0 w 8409"/>
                <a:gd name="T3" fmla="*/ 0 h 8410"/>
                <a:gd name="T4" fmla="*/ 8409 w 8409"/>
                <a:gd name="T5" fmla="*/ 8410 h 8410"/>
                <a:gd name="T6" fmla="*/ 8409 w 8409"/>
                <a:gd name="T7" fmla="*/ 0 h 8410"/>
              </a:gdLst>
              <a:ahLst/>
              <a:cxnLst>
                <a:cxn ang="0">
                  <a:pos x="T0" y="T1"/>
                </a:cxn>
                <a:cxn ang="0">
                  <a:pos x="T2" y="T3"/>
                </a:cxn>
                <a:cxn ang="0">
                  <a:pos x="T4" y="T5"/>
                </a:cxn>
                <a:cxn ang="0">
                  <a:pos x="T6" y="T7"/>
                </a:cxn>
              </a:cxnLst>
              <a:rect l="0" t="0" r="r" b="b"/>
              <a:pathLst>
                <a:path w="8409" h="8410">
                  <a:moveTo>
                    <a:pt x="8409" y="0"/>
                  </a:moveTo>
                  <a:lnTo>
                    <a:pt x="0" y="0"/>
                  </a:lnTo>
                  <a:cubicBezTo>
                    <a:pt x="0" y="4645"/>
                    <a:pt x="3765" y="8410"/>
                    <a:pt x="8409" y="8410"/>
                  </a:cubicBezTo>
                  <a:lnTo>
                    <a:pt x="8409" y="0"/>
                  </a:lnTo>
                  <a:close/>
                </a:path>
              </a:pathLst>
            </a:custGeom>
            <a:solidFill>
              <a:srgbClr val="A4C47E"/>
            </a:solidFill>
            <a:ln w="0">
              <a:noFill/>
              <a:prstDash val="solid"/>
              <a:round/>
            </a:ln>
          </p:spPr>
          <p:txBody>
            <a:bodyPr vert="horz" wrap="square" lIns="91440" tIns="45720" rIns="91440" bIns="45720" numCol="1" anchor="t" anchorCtr="0" compatLnSpc="1">
              <a:normAutofit/>
            </a:bodyPr>
            <a:lstStyle/>
            <a:p>
              <a:endParaRPr lang="zh-CN" altLang="en-US">
                <a:sym typeface="Arial" panose="020B0604020202020204" pitchFamily="34" charset="0"/>
              </a:endParaRPr>
            </a:p>
          </p:txBody>
        </p:sp>
        <p:sp>
          <p:nvSpPr>
            <p:cNvPr id="54" name="Freeform 11"/>
            <p:cNvSpPr/>
            <p:nvPr>
              <p:custDataLst>
                <p:tags r:id="rId25"/>
              </p:custDataLst>
            </p:nvPr>
          </p:nvSpPr>
          <p:spPr bwMode="auto">
            <a:xfrm>
              <a:off x="5031" y="2034"/>
              <a:ext cx="1009" cy="1009"/>
            </a:xfrm>
            <a:custGeom>
              <a:avLst/>
              <a:gdLst>
                <a:gd name="T0" fmla="*/ 16819 w 16819"/>
                <a:gd name="T1" fmla="*/ 16819 h 16819"/>
                <a:gd name="T2" fmla="*/ 16819 w 16819"/>
                <a:gd name="T3" fmla="*/ 0 h 16819"/>
                <a:gd name="T4" fmla="*/ 0 w 16819"/>
                <a:gd name="T5" fmla="*/ 16819 h 16819"/>
                <a:gd name="T6" fmla="*/ 16819 w 16819"/>
                <a:gd name="T7" fmla="*/ 16819 h 16819"/>
              </a:gdLst>
              <a:ahLst/>
              <a:cxnLst>
                <a:cxn ang="0">
                  <a:pos x="T0" y="T1"/>
                </a:cxn>
                <a:cxn ang="0">
                  <a:pos x="T2" y="T3"/>
                </a:cxn>
                <a:cxn ang="0">
                  <a:pos x="T4" y="T5"/>
                </a:cxn>
                <a:cxn ang="0">
                  <a:pos x="T6" y="T7"/>
                </a:cxn>
              </a:cxnLst>
              <a:rect l="0" t="0" r="r" b="b"/>
              <a:pathLst>
                <a:path w="16819" h="16819">
                  <a:moveTo>
                    <a:pt x="16819" y="16819"/>
                  </a:moveTo>
                  <a:lnTo>
                    <a:pt x="16819" y="0"/>
                  </a:lnTo>
                  <a:cubicBezTo>
                    <a:pt x="7531" y="0"/>
                    <a:pt x="0" y="7531"/>
                    <a:pt x="0" y="16819"/>
                  </a:cubicBezTo>
                  <a:lnTo>
                    <a:pt x="16819" y="16819"/>
                  </a:lnTo>
                  <a:close/>
                </a:path>
              </a:pathLst>
            </a:custGeom>
            <a:solidFill>
              <a:srgbClr val="0FA1AB"/>
            </a:solidFill>
            <a:ln w="0">
              <a:noFill/>
              <a:prstDash val="solid"/>
              <a:round/>
            </a:ln>
          </p:spPr>
          <p:txBody>
            <a:bodyPr vert="horz" wrap="square" lIns="91440" tIns="45720" rIns="91440" bIns="45720" numCol="1" anchor="t" anchorCtr="0" compatLnSpc="1">
              <a:normAutofit/>
            </a:bodyPr>
            <a:lstStyle/>
            <a:p>
              <a:endParaRPr lang="zh-CN" altLang="en-US">
                <a:sym typeface="Arial" panose="020B0604020202020204" pitchFamily="34" charset="0"/>
              </a:endParaRPr>
            </a:p>
          </p:txBody>
        </p:sp>
      </p:grpSp>
      <p:grpSp>
        <p:nvGrpSpPr>
          <p:cNvPr id="14" name="组合 13"/>
          <p:cNvGrpSpPr/>
          <p:nvPr>
            <p:custDataLst>
              <p:tags r:id="rId4"/>
            </p:custDataLst>
          </p:nvPr>
        </p:nvGrpSpPr>
        <p:grpSpPr>
          <a:xfrm rot="4605315">
            <a:off x="6071235" y="2674620"/>
            <a:ext cx="847725" cy="588010"/>
            <a:chOff x="5398282" y="1917516"/>
            <a:chExt cx="926239" cy="642223"/>
          </a:xfrm>
        </p:grpSpPr>
        <p:sp>
          <p:nvSpPr>
            <p:cNvPr id="15" name="任意多边形 14"/>
            <p:cNvSpPr/>
            <p:nvPr>
              <p:custDataLst>
                <p:tags r:id="rId20"/>
              </p:custDataLst>
            </p:nvPr>
          </p:nvSpPr>
          <p:spPr>
            <a:xfrm rot="14400000">
              <a:off x="5501494" y="1814304"/>
              <a:ext cx="642223" cy="848647"/>
            </a:xfrm>
            <a:custGeom>
              <a:avLst/>
              <a:gdLst>
                <a:gd name="connsiteX0" fmla="*/ 17934 w 484632"/>
                <a:gd name="connsiteY0" fmla="*/ 0 h 637448"/>
                <a:gd name="connsiteX1" fmla="*/ 273387 w 484632"/>
                <a:gd name="connsiteY1" fmla="*/ 0 h 637448"/>
                <a:gd name="connsiteX2" fmla="*/ 280433 w 484632"/>
                <a:gd name="connsiteY2" fmla="*/ 17210 h 637448"/>
                <a:gd name="connsiteX3" fmla="*/ 318373 w 484632"/>
                <a:gd name="connsiteY3" fmla="*/ 120650 h 637448"/>
                <a:gd name="connsiteX4" fmla="*/ 363474 w 484632"/>
                <a:gd name="connsiteY4" fmla="*/ 395132 h 637448"/>
                <a:gd name="connsiteX5" fmla="*/ 484632 w 484632"/>
                <a:gd name="connsiteY5" fmla="*/ 395132 h 637448"/>
                <a:gd name="connsiteX6" fmla="*/ 242316 w 484632"/>
                <a:gd name="connsiteY6" fmla="*/ 637448 h 637448"/>
                <a:gd name="connsiteX7" fmla="*/ 0 w 484632"/>
                <a:gd name="connsiteY7" fmla="*/ 395132 h 637448"/>
                <a:gd name="connsiteX8" fmla="*/ 121158 w 484632"/>
                <a:gd name="connsiteY8" fmla="*/ 395132 h 637448"/>
                <a:gd name="connsiteX9" fmla="*/ 89773 w 484632"/>
                <a:gd name="connsiteY9" fmla="*/ 171450 h 637448"/>
                <a:gd name="connsiteX10" fmla="*/ 48941 w 484632"/>
                <a:gd name="connsiteY10" fmla="*/ 69243 h 637448"/>
                <a:gd name="connsiteX0-1" fmla="*/ 17934 w 484632"/>
                <a:gd name="connsiteY0-2" fmla="*/ 0 h 637448"/>
                <a:gd name="connsiteX1-3" fmla="*/ 273387 w 484632"/>
                <a:gd name="connsiteY1-4" fmla="*/ 0 h 637448"/>
                <a:gd name="connsiteX2-5" fmla="*/ 280433 w 484632"/>
                <a:gd name="connsiteY2-6" fmla="*/ 17210 h 637448"/>
                <a:gd name="connsiteX3-7" fmla="*/ 337423 w 484632"/>
                <a:gd name="connsiteY3-8" fmla="*/ 120650 h 637448"/>
                <a:gd name="connsiteX4-9" fmla="*/ 363474 w 484632"/>
                <a:gd name="connsiteY4-10" fmla="*/ 395132 h 637448"/>
                <a:gd name="connsiteX5-11" fmla="*/ 484632 w 484632"/>
                <a:gd name="connsiteY5-12" fmla="*/ 395132 h 637448"/>
                <a:gd name="connsiteX6-13" fmla="*/ 242316 w 484632"/>
                <a:gd name="connsiteY6-14" fmla="*/ 637448 h 637448"/>
                <a:gd name="connsiteX7-15" fmla="*/ 0 w 484632"/>
                <a:gd name="connsiteY7-16" fmla="*/ 395132 h 637448"/>
                <a:gd name="connsiteX8-17" fmla="*/ 121158 w 484632"/>
                <a:gd name="connsiteY8-18" fmla="*/ 395132 h 637448"/>
                <a:gd name="connsiteX9-19" fmla="*/ 89773 w 484632"/>
                <a:gd name="connsiteY9-20" fmla="*/ 171450 h 637448"/>
                <a:gd name="connsiteX10-21" fmla="*/ 48941 w 484632"/>
                <a:gd name="connsiteY10-22" fmla="*/ 69243 h 637448"/>
                <a:gd name="connsiteX11" fmla="*/ 17934 w 484632"/>
                <a:gd name="connsiteY11" fmla="*/ 0 h 637448"/>
                <a:gd name="connsiteX0-23" fmla="*/ 17934 w 484632"/>
                <a:gd name="connsiteY0-24" fmla="*/ 0 h 637448"/>
                <a:gd name="connsiteX1-25" fmla="*/ 273387 w 484632"/>
                <a:gd name="connsiteY1-26" fmla="*/ 0 h 637448"/>
                <a:gd name="connsiteX2-27" fmla="*/ 280433 w 484632"/>
                <a:gd name="connsiteY2-28" fmla="*/ 17210 h 637448"/>
                <a:gd name="connsiteX3-29" fmla="*/ 337423 w 484632"/>
                <a:gd name="connsiteY3-30" fmla="*/ 120650 h 637448"/>
                <a:gd name="connsiteX4-31" fmla="*/ 363474 w 484632"/>
                <a:gd name="connsiteY4-32" fmla="*/ 395132 h 637448"/>
                <a:gd name="connsiteX5-33" fmla="*/ 484632 w 484632"/>
                <a:gd name="connsiteY5-34" fmla="*/ 395132 h 637448"/>
                <a:gd name="connsiteX6-35" fmla="*/ 242316 w 484632"/>
                <a:gd name="connsiteY6-36" fmla="*/ 637448 h 637448"/>
                <a:gd name="connsiteX7-37" fmla="*/ 0 w 484632"/>
                <a:gd name="connsiteY7-38" fmla="*/ 395132 h 637448"/>
                <a:gd name="connsiteX8-39" fmla="*/ 121158 w 484632"/>
                <a:gd name="connsiteY8-40" fmla="*/ 395132 h 637448"/>
                <a:gd name="connsiteX9-41" fmla="*/ 89773 w 484632"/>
                <a:gd name="connsiteY9-42" fmla="*/ 171450 h 637448"/>
                <a:gd name="connsiteX10-43" fmla="*/ 48941 w 484632"/>
                <a:gd name="connsiteY10-44" fmla="*/ 69243 h 637448"/>
                <a:gd name="connsiteX11-45" fmla="*/ 17934 w 484632"/>
                <a:gd name="connsiteY11-46" fmla="*/ 0 h 637448"/>
                <a:gd name="connsiteX0-47" fmla="*/ 17934 w 484632"/>
                <a:gd name="connsiteY0-48" fmla="*/ 0 h 637448"/>
                <a:gd name="connsiteX1-49" fmla="*/ 273387 w 484632"/>
                <a:gd name="connsiteY1-50" fmla="*/ 0 h 637448"/>
                <a:gd name="connsiteX2-51" fmla="*/ 280433 w 484632"/>
                <a:gd name="connsiteY2-52" fmla="*/ 17210 h 637448"/>
                <a:gd name="connsiteX3-53" fmla="*/ 337423 w 484632"/>
                <a:gd name="connsiteY3-54" fmla="*/ 120650 h 637448"/>
                <a:gd name="connsiteX4-55" fmla="*/ 363474 w 484632"/>
                <a:gd name="connsiteY4-56" fmla="*/ 395132 h 637448"/>
                <a:gd name="connsiteX5-57" fmla="*/ 484632 w 484632"/>
                <a:gd name="connsiteY5-58" fmla="*/ 395132 h 637448"/>
                <a:gd name="connsiteX6-59" fmla="*/ 242316 w 484632"/>
                <a:gd name="connsiteY6-60" fmla="*/ 637448 h 637448"/>
                <a:gd name="connsiteX7-61" fmla="*/ 0 w 484632"/>
                <a:gd name="connsiteY7-62" fmla="*/ 395132 h 637448"/>
                <a:gd name="connsiteX8-63" fmla="*/ 121158 w 484632"/>
                <a:gd name="connsiteY8-64" fmla="*/ 395132 h 637448"/>
                <a:gd name="connsiteX9-65" fmla="*/ 89773 w 484632"/>
                <a:gd name="connsiteY9-66" fmla="*/ 171450 h 637448"/>
                <a:gd name="connsiteX10-67" fmla="*/ 48941 w 484632"/>
                <a:gd name="connsiteY10-68" fmla="*/ 69243 h 637448"/>
                <a:gd name="connsiteX11-69" fmla="*/ 17934 w 484632"/>
                <a:gd name="connsiteY11-70" fmla="*/ 0 h 637448"/>
                <a:gd name="connsiteX0-71" fmla="*/ 17934 w 484632"/>
                <a:gd name="connsiteY0-72" fmla="*/ 0 h 637448"/>
                <a:gd name="connsiteX1-73" fmla="*/ 273387 w 484632"/>
                <a:gd name="connsiteY1-74" fmla="*/ 0 h 637448"/>
                <a:gd name="connsiteX2-75" fmla="*/ 305833 w 484632"/>
                <a:gd name="connsiteY2-76" fmla="*/ 10860 h 637448"/>
                <a:gd name="connsiteX3-77" fmla="*/ 337423 w 484632"/>
                <a:gd name="connsiteY3-78" fmla="*/ 120650 h 637448"/>
                <a:gd name="connsiteX4-79" fmla="*/ 363474 w 484632"/>
                <a:gd name="connsiteY4-80" fmla="*/ 395132 h 637448"/>
                <a:gd name="connsiteX5-81" fmla="*/ 484632 w 484632"/>
                <a:gd name="connsiteY5-82" fmla="*/ 395132 h 637448"/>
                <a:gd name="connsiteX6-83" fmla="*/ 242316 w 484632"/>
                <a:gd name="connsiteY6-84" fmla="*/ 637448 h 637448"/>
                <a:gd name="connsiteX7-85" fmla="*/ 0 w 484632"/>
                <a:gd name="connsiteY7-86" fmla="*/ 395132 h 637448"/>
                <a:gd name="connsiteX8-87" fmla="*/ 121158 w 484632"/>
                <a:gd name="connsiteY8-88" fmla="*/ 395132 h 637448"/>
                <a:gd name="connsiteX9-89" fmla="*/ 89773 w 484632"/>
                <a:gd name="connsiteY9-90" fmla="*/ 171450 h 637448"/>
                <a:gd name="connsiteX10-91" fmla="*/ 48941 w 484632"/>
                <a:gd name="connsiteY10-92" fmla="*/ 69243 h 637448"/>
                <a:gd name="connsiteX11-93" fmla="*/ 17934 w 484632"/>
                <a:gd name="connsiteY11-94" fmla="*/ 0 h 637448"/>
                <a:gd name="connsiteX0-95" fmla="*/ 17934 w 484632"/>
                <a:gd name="connsiteY0-96" fmla="*/ 0 h 637448"/>
                <a:gd name="connsiteX1-97" fmla="*/ 273387 w 484632"/>
                <a:gd name="connsiteY1-98" fmla="*/ 0 h 637448"/>
                <a:gd name="connsiteX2-99" fmla="*/ 305833 w 484632"/>
                <a:gd name="connsiteY2-100" fmla="*/ 10860 h 637448"/>
                <a:gd name="connsiteX3-101" fmla="*/ 337423 w 484632"/>
                <a:gd name="connsiteY3-102" fmla="*/ 120650 h 637448"/>
                <a:gd name="connsiteX4-103" fmla="*/ 363474 w 484632"/>
                <a:gd name="connsiteY4-104" fmla="*/ 395132 h 637448"/>
                <a:gd name="connsiteX5-105" fmla="*/ 484632 w 484632"/>
                <a:gd name="connsiteY5-106" fmla="*/ 395132 h 637448"/>
                <a:gd name="connsiteX6-107" fmla="*/ 242316 w 484632"/>
                <a:gd name="connsiteY6-108" fmla="*/ 637448 h 637448"/>
                <a:gd name="connsiteX7-109" fmla="*/ 0 w 484632"/>
                <a:gd name="connsiteY7-110" fmla="*/ 395132 h 637448"/>
                <a:gd name="connsiteX8-111" fmla="*/ 121158 w 484632"/>
                <a:gd name="connsiteY8-112" fmla="*/ 395132 h 637448"/>
                <a:gd name="connsiteX9-113" fmla="*/ 121523 w 484632"/>
                <a:gd name="connsiteY9-114" fmla="*/ 165100 h 637448"/>
                <a:gd name="connsiteX10-115" fmla="*/ 48941 w 484632"/>
                <a:gd name="connsiteY10-116" fmla="*/ 69243 h 637448"/>
                <a:gd name="connsiteX11-117" fmla="*/ 17934 w 484632"/>
                <a:gd name="connsiteY11-118" fmla="*/ 0 h 637448"/>
                <a:gd name="connsiteX0-119" fmla="*/ 17934 w 484632"/>
                <a:gd name="connsiteY0-120" fmla="*/ 0 h 637448"/>
                <a:gd name="connsiteX1-121" fmla="*/ 273387 w 484632"/>
                <a:gd name="connsiteY1-122" fmla="*/ 0 h 637448"/>
                <a:gd name="connsiteX2-123" fmla="*/ 305833 w 484632"/>
                <a:gd name="connsiteY2-124" fmla="*/ 10860 h 637448"/>
                <a:gd name="connsiteX3-125" fmla="*/ 337423 w 484632"/>
                <a:gd name="connsiteY3-126" fmla="*/ 120650 h 637448"/>
                <a:gd name="connsiteX4-127" fmla="*/ 363474 w 484632"/>
                <a:gd name="connsiteY4-128" fmla="*/ 395132 h 637448"/>
                <a:gd name="connsiteX5-129" fmla="*/ 484632 w 484632"/>
                <a:gd name="connsiteY5-130" fmla="*/ 395132 h 637448"/>
                <a:gd name="connsiteX6-131" fmla="*/ 242316 w 484632"/>
                <a:gd name="connsiteY6-132" fmla="*/ 637448 h 637448"/>
                <a:gd name="connsiteX7-133" fmla="*/ 0 w 484632"/>
                <a:gd name="connsiteY7-134" fmla="*/ 395132 h 637448"/>
                <a:gd name="connsiteX8-135" fmla="*/ 121158 w 484632"/>
                <a:gd name="connsiteY8-136" fmla="*/ 395132 h 637448"/>
                <a:gd name="connsiteX9-137" fmla="*/ 121523 w 484632"/>
                <a:gd name="connsiteY9-138" fmla="*/ 165100 h 637448"/>
                <a:gd name="connsiteX10-139" fmla="*/ 106091 w 484632"/>
                <a:gd name="connsiteY10-140" fmla="*/ 62893 h 637448"/>
                <a:gd name="connsiteX11-141" fmla="*/ 17934 w 484632"/>
                <a:gd name="connsiteY11-142" fmla="*/ 0 h 637448"/>
                <a:gd name="connsiteX0-143" fmla="*/ 87784 w 484632"/>
                <a:gd name="connsiteY0-144" fmla="*/ 0 h 637448"/>
                <a:gd name="connsiteX1-145" fmla="*/ 273387 w 484632"/>
                <a:gd name="connsiteY1-146" fmla="*/ 0 h 637448"/>
                <a:gd name="connsiteX2-147" fmla="*/ 305833 w 484632"/>
                <a:gd name="connsiteY2-148" fmla="*/ 10860 h 637448"/>
                <a:gd name="connsiteX3-149" fmla="*/ 337423 w 484632"/>
                <a:gd name="connsiteY3-150" fmla="*/ 120650 h 637448"/>
                <a:gd name="connsiteX4-151" fmla="*/ 363474 w 484632"/>
                <a:gd name="connsiteY4-152" fmla="*/ 395132 h 637448"/>
                <a:gd name="connsiteX5-153" fmla="*/ 484632 w 484632"/>
                <a:gd name="connsiteY5-154" fmla="*/ 395132 h 637448"/>
                <a:gd name="connsiteX6-155" fmla="*/ 242316 w 484632"/>
                <a:gd name="connsiteY6-156" fmla="*/ 637448 h 637448"/>
                <a:gd name="connsiteX7-157" fmla="*/ 0 w 484632"/>
                <a:gd name="connsiteY7-158" fmla="*/ 395132 h 637448"/>
                <a:gd name="connsiteX8-159" fmla="*/ 121158 w 484632"/>
                <a:gd name="connsiteY8-160" fmla="*/ 395132 h 637448"/>
                <a:gd name="connsiteX9-161" fmla="*/ 121523 w 484632"/>
                <a:gd name="connsiteY9-162" fmla="*/ 165100 h 637448"/>
                <a:gd name="connsiteX10-163" fmla="*/ 106091 w 484632"/>
                <a:gd name="connsiteY10-164" fmla="*/ 62893 h 637448"/>
                <a:gd name="connsiteX11-165" fmla="*/ 87784 w 484632"/>
                <a:gd name="connsiteY11-166" fmla="*/ 0 h 637448"/>
                <a:gd name="connsiteX0-167" fmla="*/ 87784 w 484632"/>
                <a:gd name="connsiteY0-168" fmla="*/ 6350 h 637448"/>
                <a:gd name="connsiteX1-169" fmla="*/ 273387 w 484632"/>
                <a:gd name="connsiteY1-170" fmla="*/ 0 h 637448"/>
                <a:gd name="connsiteX2-171" fmla="*/ 305833 w 484632"/>
                <a:gd name="connsiteY2-172" fmla="*/ 10860 h 637448"/>
                <a:gd name="connsiteX3-173" fmla="*/ 337423 w 484632"/>
                <a:gd name="connsiteY3-174" fmla="*/ 120650 h 637448"/>
                <a:gd name="connsiteX4-175" fmla="*/ 363474 w 484632"/>
                <a:gd name="connsiteY4-176" fmla="*/ 395132 h 637448"/>
                <a:gd name="connsiteX5-177" fmla="*/ 484632 w 484632"/>
                <a:gd name="connsiteY5-178" fmla="*/ 395132 h 637448"/>
                <a:gd name="connsiteX6-179" fmla="*/ 242316 w 484632"/>
                <a:gd name="connsiteY6-180" fmla="*/ 637448 h 637448"/>
                <a:gd name="connsiteX7-181" fmla="*/ 0 w 484632"/>
                <a:gd name="connsiteY7-182" fmla="*/ 395132 h 637448"/>
                <a:gd name="connsiteX8-183" fmla="*/ 121158 w 484632"/>
                <a:gd name="connsiteY8-184" fmla="*/ 395132 h 637448"/>
                <a:gd name="connsiteX9-185" fmla="*/ 121523 w 484632"/>
                <a:gd name="connsiteY9-186" fmla="*/ 165100 h 637448"/>
                <a:gd name="connsiteX10-187" fmla="*/ 106091 w 484632"/>
                <a:gd name="connsiteY10-188" fmla="*/ 62893 h 637448"/>
                <a:gd name="connsiteX11-189" fmla="*/ 87784 w 484632"/>
                <a:gd name="connsiteY11-190" fmla="*/ 6350 h 637448"/>
                <a:gd name="connsiteX0-191" fmla="*/ 87784 w 484632"/>
                <a:gd name="connsiteY0-192" fmla="*/ 6350 h 637448"/>
                <a:gd name="connsiteX1-193" fmla="*/ 273387 w 484632"/>
                <a:gd name="connsiteY1-194" fmla="*/ 0 h 637448"/>
                <a:gd name="connsiteX2-195" fmla="*/ 337583 w 484632"/>
                <a:gd name="connsiteY2-196" fmla="*/ 10860 h 637448"/>
                <a:gd name="connsiteX3-197" fmla="*/ 337423 w 484632"/>
                <a:gd name="connsiteY3-198" fmla="*/ 120650 h 637448"/>
                <a:gd name="connsiteX4-199" fmla="*/ 363474 w 484632"/>
                <a:gd name="connsiteY4-200" fmla="*/ 395132 h 637448"/>
                <a:gd name="connsiteX5-201" fmla="*/ 484632 w 484632"/>
                <a:gd name="connsiteY5-202" fmla="*/ 395132 h 637448"/>
                <a:gd name="connsiteX6-203" fmla="*/ 242316 w 484632"/>
                <a:gd name="connsiteY6-204" fmla="*/ 637448 h 637448"/>
                <a:gd name="connsiteX7-205" fmla="*/ 0 w 484632"/>
                <a:gd name="connsiteY7-206" fmla="*/ 395132 h 637448"/>
                <a:gd name="connsiteX8-207" fmla="*/ 121158 w 484632"/>
                <a:gd name="connsiteY8-208" fmla="*/ 395132 h 637448"/>
                <a:gd name="connsiteX9-209" fmla="*/ 121523 w 484632"/>
                <a:gd name="connsiteY9-210" fmla="*/ 165100 h 637448"/>
                <a:gd name="connsiteX10-211" fmla="*/ 106091 w 484632"/>
                <a:gd name="connsiteY10-212" fmla="*/ 62893 h 637448"/>
                <a:gd name="connsiteX11-213" fmla="*/ 87784 w 484632"/>
                <a:gd name="connsiteY11-214" fmla="*/ 6350 h 637448"/>
                <a:gd name="connsiteX0-215" fmla="*/ 87784 w 484632"/>
                <a:gd name="connsiteY0-216" fmla="*/ 6350 h 637448"/>
                <a:gd name="connsiteX1-217" fmla="*/ 273387 w 484632"/>
                <a:gd name="connsiteY1-218" fmla="*/ 0 h 637448"/>
                <a:gd name="connsiteX2-219" fmla="*/ 305833 w 484632"/>
                <a:gd name="connsiteY2-220" fmla="*/ 23560 h 637448"/>
                <a:gd name="connsiteX3-221" fmla="*/ 337423 w 484632"/>
                <a:gd name="connsiteY3-222" fmla="*/ 120650 h 637448"/>
                <a:gd name="connsiteX4-223" fmla="*/ 363474 w 484632"/>
                <a:gd name="connsiteY4-224" fmla="*/ 395132 h 637448"/>
                <a:gd name="connsiteX5-225" fmla="*/ 484632 w 484632"/>
                <a:gd name="connsiteY5-226" fmla="*/ 395132 h 637448"/>
                <a:gd name="connsiteX6-227" fmla="*/ 242316 w 484632"/>
                <a:gd name="connsiteY6-228" fmla="*/ 637448 h 637448"/>
                <a:gd name="connsiteX7-229" fmla="*/ 0 w 484632"/>
                <a:gd name="connsiteY7-230" fmla="*/ 395132 h 637448"/>
                <a:gd name="connsiteX8-231" fmla="*/ 121158 w 484632"/>
                <a:gd name="connsiteY8-232" fmla="*/ 395132 h 637448"/>
                <a:gd name="connsiteX9-233" fmla="*/ 121523 w 484632"/>
                <a:gd name="connsiteY9-234" fmla="*/ 165100 h 637448"/>
                <a:gd name="connsiteX10-235" fmla="*/ 106091 w 484632"/>
                <a:gd name="connsiteY10-236" fmla="*/ 62893 h 637448"/>
                <a:gd name="connsiteX11-237" fmla="*/ 87784 w 484632"/>
                <a:gd name="connsiteY11-238" fmla="*/ 6350 h 637448"/>
                <a:gd name="connsiteX0-239" fmla="*/ 87784 w 484632"/>
                <a:gd name="connsiteY0-240" fmla="*/ 6350 h 637448"/>
                <a:gd name="connsiteX1-241" fmla="*/ 273387 w 484632"/>
                <a:gd name="connsiteY1-242" fmla="*/ 0 h 637448"/>
                <a:gd name="connsiteX2-243" fmla="*/ 305833 w 484632"/>
                <a:gd name="connsiteY2-244" fmla="*/ 23560 h 637448"/>
                <a:gd name="connsiteX3-245" fmla="*/ 337423 w 484632"/>
                <a:gd name="connsiteY3-246" fmla="*/ 120650 h 637448"/>
                <a:gd name="connsiteX4-247" fmla="*/ 350123 w 484632"/>
                <a:gd name="connsiteY4-248" fmla="*/ 292100 h 637448"/>
                <a:gd name="connsiteX5-249" fmla="*/ 363474 w 484632"/>
                <a:gd name="connsiteY5-250" fmla="*/ 395132 h 637448"/>
                <a:gd name="connsiteX6-251" fmla="*/ 484632 w 484632"/>
                <a:gd name="connsiteY6-252" fmla="*/ 395132 h 637448"/>
                <a:gd name="connsiteX7-253" fmla="*/ 242316 w 484632"/>
                <a:gd name="connsiteY7-254" fmla="*/ 637448 h 637448"/>
                <a:gd name="connsiteX8-255" fmla="*/ 0 w 484632"/>
                <a:gd name="connsiteY8-256" fmla="*/ 395132 h 637448"/>
                <a:gd name="connsiteX9-257" fmla="*/ 121158 w 484632"/>
                <a:gd name="connsiteY9-258" fmla="*/ 395132 h 637448"/>
                <a:gd name="connsiteX10-259" fmla="*/ 121523 w 484632"/>
                <a:gd name="connsiteY10-260" fmla="*/ 165100 h 637448"/>
                <a:gd name="connsiteX11-261" fmla="*/ 106091 w 484632"/>
                <a:gd name="connsiteY11-262" fmla="*/ 62893 h 637448"/>
                <a:gd name="connsiteX12" fmla="*/ 87784 w 484632"/>
                <a:gd name="connsiteY12" fmla="*/ 6350 h 637448"/>
                <a:gd name="connsiteX0-263" fmla="*/ 87784 w 484632"/>
                <a:gd name="connsiteY0-264" fmla="*/ 6350 h 637448"/>
                <a:gd name="connsiteX1-265" fmla="*/ 273387 w 484632"/>
                <a:gd name="connsiteY1-266" fmla="*/ 0 h 637448"/>
                <a:gd name="connsiteX2-267" fmla="*/ 305833 w 484632"/>
                <a:gd name="connsiteY2-268" fmla="*/ 23560 h 637448"/>
                <a:gd name="connsiteX3-269" fmla="*/ 337423 w 484632"/>
                <a:gd name="connsiteY3-270" fmla="*/ 120650 h 637448"/>
                <a:gd name="connsiteX4-271" fmla="*/ 350123 w 484632"/>
                <a:gd name="connsiteY4-272" fmla="*/ 292100 h 637448"/>
                <a:gd name="connsiteX5-273" fmla="*/ 363474 w 484632"/>
                <a:gd name="connsiteY5-274" fmla="*/ 395132 h 637448"/>
                <a:gd name="connsiteX6-275" fmla="*/ 484632 w 484632"/>
                <a:gd name="connsiteY6-276" fmla="*/ 395132 h 637448"/>
                <a:gd name="connsiteX7-277" fmla="*/ 242316 w 484632"/>
                <a:gd name="connsiteY7-278" fmla="*/ 637448 h 637448"/>
                <a:gd name="connsiteX8-279" fmla="*/ 0 w 484632"/>
                <a:gd name="connsiteY8-280" fmla="*/ 395132 h 637448"/>
                <a:gd name="connsiteX9-281" fmla="*/ 121158 w 484632"/>
                <a:gd name="connsiteY9-282" fmla="*/ 395132 h 637448"/>
                <a:gd name="connsiteX10-283" fmla="*/ 128666 w 484632"/>
                <a:gd name="connsiteY10-284" fmla="*/ 165100 h 637448"/>
                <a:gd name="connsiteX11-285" fmla="*/ 106091 w 484632"/>
                <a:gd name="connsiteY11-286" fmla="*/ 62893 h 637448"/>
                <a:gd name="connsiteX12-287" fmla="*/ 87784 w 484632"/>
                <a:gd name="connsiteY12-288" fmla="*/ 6350 h 637448"/>
                <a:gd name="connsiteX0-289" fmla="*/ 87784 w 484632"/>
                <a:gd name="connsiteY0-290" fmla="*/ 6350 h 637448"/>
                <a:gd name="connsiteX1-291" fmla="*/ 273387 w 484632"/>
                <a:gd name="connsiteY1-292" fmla="*/ 0 h 637448"/>
                <a:gd name="connsiteX2-293" fmla="*/ 305833 w 484632"/>
                <a:gd name="connsiteY2-294" fmla="*/ 23560 h 637448"/>
                <a:gd name="connsiteX3-295" fmla="*/ 337423 w 484632"/>
                <a:gd name="connsiteY3-296" fmla="*/ 120650 h 637448"/>
                <a:gd name="connsiteX4-297" fmla="*/ 350123 w 484632"/>
                <a:gd name="connsiteY4-298" fmla="*/ 292100 h 637448"/>
                <a:gd name="connsiteX5-299" fmla="*/ 363474 w 484632"/>
                <a:gd name="connsiteY5-300" fmla="*/ 395132 h 637448"/>
                <a:gd name="connsiteX6-301" fmla="*/ 484632 w 484632"/>
                <a:gd name="connsiteY6-302" fmla="*/ 395132 h 637448"/>
                <a:gd name="connsiteX7-303" fmla="*/ 242316 w 484632"/>
                <a:gd name="connsiteY7-304" fmla="*/ 637448 h 637448"/>
                <a:gd name="connsiteX8-305" fmla="*/ 0 w 484632"/>
                <a:gd name="connsiteY8-306" fmla="*/ 395132 h 637448"/>
                <a:gd name="connsiteX9-307" fmla="*/ 121158 w 484632"/>
                <a:gd name="connsiteY9-308" fmla="*/ 395132 h 637448"/>
                <a:gd name="connsiteX10-309" fmla="*/ 128666 w 484632"/>
                <a:gd name="connsiteY10-310" fmla="*/ 165100 h 637448"/>
                <a:gd name="connsiteX11-311" fmla="*/ 106091 w 484632"/>
                <a:gd name="connsiteY11-312" fmla="*/ 62893 h 637448"/>
                <a:gd name="connsiteX12-313" fmla="*/ 87784 w 484632"/>
                <a:gd name="connsiteY12-314" fmla="*/ 6350 h 637448"/>
                <a:gd name="connsiteX0-315" fmla="*/ 87784 w 484632"/>
                <a:gd name="connsiteY0-316" fmla="*/ 6350 h 637448"/>
                <a:gd name="connsiteX1-317" fmla="*/ 273387 w 484632"/>
                <a:gd name="connsiteY1-318" fmla="*/ 0 h 637448"/>
                <a:gd name="connsiteX2-319" fmla="*/ 305833 w 484632"/>
                <a:gd name="connsiteY2-320" fmla="*/ 23560 h 637448"/>
                <a:gd name="connsiteX3-321" fmla="*/ 337423 w 484632"/>
                <a:gd name="connsiteY3-322" fmla="*/ 120650 h 637448"/>
                <a:gd name="connsiteX4-323" fmla="*/ 350123 w 484632"/>
                <a:gd name="connsiteY4-324" fmla="*/ 292100 h 637448"/>
                <a:gd name="connsiteX5-325" fmla="*/ 363474 w 484632"/>
                <a:gd name="connsiteY5-326" fmla="*/ 395132 h 637448"/>
                <a:gd name="connsiteX6-327" fmla="*/ 484632 w 484632"/>
                <a:gd name="connsiteY6-328" fmla="*/ 395132 h 637448"/>
                <a:gd name="connsiteX7-329" fmla="*/ 242316 w 484632"/>
                <a:gd name="connsiteY7-330" fmla="*/ 637448 h 637448"/>
                <a:gd name="connsiteX8-331" fmla="*/ 0 w 484632"/>
                <a:gd name="connsiteY8-332" fmla="*/ 395132 h 637448"/>
                <a:gd name="connsiteX9-333" fmla="*/ 121158 w 484632"/>
                <a:gd name="connsiteY9-334" fmla="*/ 395132 h 637448"/>
                <a:gd name="connsiteX10-335" fmla="*/ 128666 w 484632"/>
                <a:gd name="connsiteY10-336" fmla="*/ 165100 h 637448"/>
                <a:gd name="connsiteX11-337" fmla="*/ 106091 w 484632"/>
                <a:gd name="connsiteY11-338" fmla="*/ 62893 h 637448"/>
                <a:gd name="connsiteX12-339" fmla="*/ 87784 w 484632"/>
                <a:gd name="connsiteY12-340" fmla="*/ 6350 h 637448"/>
                <a:gd name="connsiteX0-341" fmla="*/ 87784 w 484632"/>
                <a:gd name="connsiteY0-342" fmla="*/ 6350 h 637448"/>
                <a:gd name="connsiteX1-343" fmla="*/ 273387 w 484632"/>
                <a:gd name="connsiteY1-344" fmla="*/ 0 h 637448"/>
                <a:gd name="connsiteX2-345" fmla="*/ 305833 w 484632"/>
                <a:gd name="connsiteY2-346" fmla="*/ 23560 h 637448"/>
                <a:gd name="connsiteX3-347" fmla="*/ 337423 w 484632"/>
                <a:gd name="connsiteY3-348" fmla="*/ 120650 h 637448"/>
                <a:gd name="connsiteX4-349" fmla="*/ 350123 w 484632"/>
                <a:gd name="connsiteY4-350" fmla="*/ 292100 h 637448"/>
                <a:gd name="connsiteX5-351" fmla="*/ 363474 w 484632"/>
                <a:gd name="connsiteY5-352" fmla="*/ 395132 h 637448"/>
                <a:gd name="connsiteX6-353" fmla="*/ 484632 w 484632"/>
                <a:gd name="connsiteY6-354" fmla="*/ 395132 h 637448"/>
                <a:gd name="connsiteX7-355" fmla="*/ 242316 w 484632"/>
                <a:gd name="connsiteY7-356" fmla="*/ 637448 h 637448"/>
                <a:gd name="connsiteX8-357" fmla="*/ 0 w 484632"/>
                <a:gd name="connsiteY8-358" fmla="*/ 395132 h 637448"/>
                <a:gd name="connsiteX9-359" fmla="*/ 121158 w 484632"/>
                <a:gd name="connsiteY9-360" fmla="*/ 395132 h 637448"/>
                <a:gd name="connsiteX10-361" fmla="*/ 128666 w 484632"/>
                <a:gd name="connsiteY10-362" fmla="*/ 165100 h 637448"/>
                <a:gd name="connsiteX11-363" fmla="*/ 106091 w 484632"/>
                <a:gd name="connsiteY11-364" fmla="*/ 62893 h 637448"/>
                <a:gd name="connsiteX12-365" fmla="*/ 87784 w 484632"/>
                <a:gd name="connsiteY12-366" fmla="*/ 6350 h 637448"/>
                <a:gd name="connsiteX0-367" fmla="*/ 87784 w 484632"/>
                <a:gd name="connsiteY0-368" fmla="*/ 6350 h 637448"/>
                <a:gd name="connsiteX1-369" fmla="*/ 273387 w 484632"/>
                <a:gd name="connsiteY1-370" fmla="*/ 0 h 637448"/>
                <a:gd name="connsiteX2-371" fmla="*/ 305833 w 484632"/>
                <a:gd name="connsiteY2-372" fmla="*/ 23560 h 637448"/>
                <a:gd name="connsiteX3-373" fmla="*/ 337423 w 484632"/>
                <a:gd name="connsiteY3-374" fmla="*/ 120650 h 637448"/>
                <a:gd name="connsiteX4-375" fmla="*/ 350123 w 484632"/>
                <a:gd name="connsiteY4-376" fmla="*/ 292100 h 637448"/>
                <a:gd name="connsiteX5-377" fmla="*/ 363474 w 484632"/>
                <a:gd name="connsiteY5-378" fmla="*/ 395132 h 637448"/>
                <a:gd name="connsiteX6-379" fmla="*/ 484632 w 484632"/>
                <a:gd name="connsiteY6-380" fmla="*/ 395132 h 637448"/>
                <a:gd name="connsiteX7-381" fmla="*/ 242316 w 484632"/>
                <a:gd name="connsiteY7-382" fmla="*/ 637448 h 637448"/>
                <a:gd name="connsiteX8-383" fmla="*/ 0 w 484632"/>
                <a:gd name="connsiteY8-384" fmla="*/ 395132 h 637448"/>
                <a:gd name="connsiteX9-385" fmla="*/ 121158 w 484632"/>
                <a:gd name="connsiteY9-386" fmla="*/ 395132 h 637448"/>
                <a:gd name="connsiteX10-387" fmla="*/ 128666 w 484632"/>
                <a:gd name="connsiteY10-388" fmla="*/ 165100 h 637448"/>
                <a:gd name="connsiteX11-389" fmla="*/ 106091 w 484632"/>
                <a:gd name="connsiteY11-390" fmla="*/ 62893 h 637448"/>
                <a:gd name="connsiteX12-391" fmla="*/ 87784 w 484632"/>
                <a:gd name="connsiteY12-392" fmla="*/ 6350 h 637448"/>
                <a:gd name="connsiteX0-393" fmla="*/ 87784 w 484632"/>
                <a:gd name="connsiteY0-394" fmla="*/ 6350 h 637448"/>
                <a:gd name="connsiteX1-395" fmla="*/ 273387 w 484632"/>
                <a:gd name="connsiteY1-396" fmla="*/ 0 h 637448"/>
                <a:gd name="connsiteX2-397" fmla="*/ 305833 w 484632"/>
                <a:gd name="connsiteY2-398" fmla="*/ 23560 h 637448"/>
                <a:gd name="connsiteX3-399" fmla="*/ 337423 w 484632"/>
                <a:gd name="connsiteY3-400" fmla="*/ 120650 h 637448"/>
                <a:gd name="connsiteX4-401" fmla="*/ 350123 w 484632"/>
                <a:gd name="connsiteY4-402" fmla="*/ 292100 h 637448"/>
                <a:gd name="connsiteX5-403" fmla="*/ 363474 w 484632"/>
                <a:gd name="connsiteY5-404" fmla="*/ 395132 h 637448"/>
                <a:gd name="connsiteX6-405" fmla="*/ 484632 w 484632"/>
                <a:gd name="connsiteY6-406" fmla="*/ 395132 h 637448"/>
                <a:gd name="connsiteX7-407" fmla="*/ 242316 w 484632"/>
                <a:gd name="connsiteY7-408" fmla="*/ 637448 h 637448"/>
                <a:gd name="connsiteX8-409" fmla="*/ 0 w 484632"/>
                <a:gd name="connsiteY8-410" fmla="*/ 395132 h 637448"/>
                <a:gd name="connsiteX9-411" fmla="*/ 121158 w 484632"/>
                <a:gd name="connsiteY9-412" fmla="*/ 395132 h 637448"/>
                <a:gd name="connsiteX10-413" fmla="*/ 128666 w 484632"/>
                <a:gd name="connsiteY10-414" fmla="*/ 165100 h 637448"/>
                <a:gd name="connsiteX11-415" fmla="*/ 106091 w 484632"/>
                <a:gd name="connsiteY11-416" fmla="*/ 62893 h 637448"/>
                <a:gd name="connsiteX12-417" fmla="*/ 87784 w 484632"/>
                <a:gd name="connsiteY12-418" fmla="*/ 6350 h 637448"/>
                <a:gd name="connsiteX0-419" fmla="*/ 87784 w 484632"/>
                <a:gd name="connsiteY0-420" fmla="*/ 6350 h 637448"/>
                <a:gd name="connsiteX1-421" fmla="*/ 273387 w 484632"/>
                <a:gd name="connsiteY1-422" fmla="*/ 0 h 637448"/>
                <a:gd name="connsiteX2-423" fmla="*/ 282325 w 484632"/>
                <a:gd name="connsiteY2-424" fmla="*/ 38663 h 637448"/>
                <a:gd name="connsiteX3-425" fmla="*/ 337423 w 484632"/>
                <a:gd name="connsiteY3-426" fmla="*/ 120650 h 637448"/>
                <a:gd name="connsiteX4-427" fmla="*/ 350123 w 484632"/>
                <a:gd name="connsiteY4-428" fmla="*/ 292100 h 637448"/>
                <a:gd name="connsiteX5-429" fmla="*/ 363474 w 484632"/>
                <a:gd name="connsiteY5-430" fmla="*/ 395132 h 637448"/>
                <a:gd name="connsiteX6-431" fmla="*/ 484632 w 484632"/>
                <a:gd name="connsiteY6-432" fmla="*/ 395132 h 637448"/>
                <a:gd name="connsiteX7-433" fmla="*/ 242316 w 484632"/>
                <a:gd name="connsiteY7-434" fmla="*/ 637448 h 637448"/>
                <a:gd name="connsiteX8-435" fmla="*/ 0 w 484632"/>
                <a:gd name="connsiteY8-436" fmla="*/ 395132 h 637448"/>
                <a:gd name="connsiteX9-437" fmla="*/ 121158 w 484632"/>
                <a:gd name="connsiteY9-438" fmla="*/ 395132 h 637448"/>
                <a:gd name="connsiteX10-439" fmla="*/ 128666 w 484632"/>
                <a:gd name="connsiteY10-440" fmla="*/ 165100 h 637448"/>
                <a:gd name="connsiteX11-441" fmla="*/ 106091 w 484632"/>
                <a:gd name="connsiteY11-442" fmla="*/ 62893 h 637448"/>
                <a:gd name="connsiteX12-443" fmla="*/ 87784 w 484632"/>
                <a:gd name="connsiteY12-444" fmla="*/ 6350 h 637448"/>
                <a:gd name="connsiteX0-445" fmla="*/ 87784 w 484632"/>
                <a:gd name="connsiteY0-446" fmla="*/ 6350 h 637448"/>
                <a:gd name="connsiteX1-447" fmla="*/ 273387 w 484632"/>
                <a:gd name="connsiteY1-448" fmla="*/ 0 h 637448"/>
                <a:gd name="connsiteX2-449" fmla="*/ 282325 w 484632"/>
                <a:gd name="connsiteY2-450" fmla="*/ 38663 h 637448"/>
                <a:gd name="connsiteX3-451" fmla="*/ 313915 w 484632"/>
                <a:gd name="connsiteY3-452" fmla="*/ 135753 h 637448"/>
                <a:gd name="connsiteX4-453" fmla="*/ 350123 w 484632"/>
                <a:gd name="connsiteY4-454" fmla="*/ 292100 h 637448"/>
                <a:gd name="connsiteX5-455" fmla="*/ 363474 w 484632"/>
                <a:gd name="connsiteY5-456" fmla="*/ 395132 h 637448"/>
                <a:gd name="connsiteX6-457" fmla="*/ 484632 w 484632"/>
                <a:gd name="connsiteY6-458" fmla="*/ 395132 h 637448"/>
                <a:gd name="connsiteX7-459" fmla="*/ 242316 w 484632"/>
                <a:gd name="connsiteY7-460" fmla="*/ 637448 h 637448"/>
                <a:gd name="connsiteX8-461" fmla="*/ 0 w 484632"/>
                <a:gd name="connsiteY8-462" fmla="*/ 395132 h 637448"/>
                <a:gd name="connsiteX9-463" fmla="*/ 121158 w 484632"/>
                <a:gd name="connsiteY9-464" fmla="*/ 395132 h 637448"/>
                <a:gd name="connsiteX10-465" fmla="*/ 128666 w 484632"/>
                <a:gd name="connsiteY10-466" fmla="*/ 165100 h 637448"/>
                <a:gd name="connsiteX11-467" fmla="*/ 106091 w 484632"/>
                <a:gd name="connsiteY11-468" fmla="*/ 62893 h 637448"/>
                <a:gd name="connsiteX12-469" fmla="*/ 87784 w 484632"/>
                <a:gd name="connsiteY12-470" fmla="*/ 6350 h 637448"/>
                <a:gd name="connsiteX0-471" fmla="*/ 87784 w 484632"/>
                <a:gd name="connsiteY0-472" fmla="*/ 6350 h 637448"/>
                <a:gd name="connsiteX1-473" fmla="*/ 273387 w 484632"/>
                <a:gd name="connsiteY1-474" fmla="*/ 0 h 637448"/>
                <a:gd name="connsiteX2-475" fmla="*/ 282325 w 484632"/>
                <a:gd name="connsiteY2-476" fmla="*/ 38663 h 637448"/>
                <a:gd name="connsiteX3-477" fmla="*/ 309125 w 484632"/>
                <a:gd name="connsiteY3-478" fmla="*/ 135900 h 637448"/>
                <a:gd name="connsiteX4-479" fmla="*/ 350123 w 484632"/>
                <a:gd name="connsiteY4-480" fmla="*/ 292100 h 637448"/>
                <a:gd name="connsiteX5-481" fmla="*/ 363474 w 484632"/>
                <a:gd name="connsiteY5-482" fmla="*/ 395132 h 637448"/>
                <a:gd name="connsiteX6-483" fmla="*/ 484632 w 484632"/>
                <a:gd name="connsiteY6-484" fmla="*/ 395132 h 637448"/>
                <a:gd name="connsiteX7-485" fmla="*/ 242316 w 484632"/>
                <a:gd name="connsiteY7-486" fmla="*/ 637448 h 637448"/>
                <a:gd name="connsiteX8-487" fmla="*/ 0 w 484632"/>
                <a:gd name="connsiteY8-488" fmla="*/ 395132 h 637448"/>
                <a:gd name="connsiteX9-489" fmla="*/ 121158 w 484632"/>
                <a:gd name="connsiteY9-490" fmla="*/ 395132 h 637448"/>
                <a:gd name="connsiteX10-491" fmla="*/ 128666 w 484632"/>
                <a:gd name="connsiteY10-492" fmla="*/ 165100 h 637448"/>
                <a:gd name="connsiteX11-493" fmla="*/ 106091 w 484632"/>
                <a:gd name="connsiteY11-494" fmla="*/ 62893 h 637448"/>
                <a:gd name="connsiteX12-495" fmla="*/ 87784 w 484632"/>
                <a:gd name="connsiteY12-496" fmla="*/ 6350 h 637448"/>
                <a:gd name="connsiteX0-497" fmla="*/ 87784 w 484632"/>
                <a:gd name="connsiteY0-498" fmla="*/ 6350 h 637448"/>
                <a:gd name="connsiteX1-499" fmla="*/ 273387 w 484632"/>
                <a:gd name="connsiteY1-500" fmla="*/ 0 h 637448"/>
                <a:gd name="connsiteX2-501" fmla="*/ 282325 w 484632"/>
                <a:gd name="connsiteY2-502" fmla="*/ 38663 h 637448"/>
                <a:gd name="connsiteX3-503" fmla="*/ 309125 w 484632"/>
                <a:gd name="connsiteY3-504" fmla="*/ 135900 h 637448"/>
                <a:gd name="connsiteX4-505" fmla="*/ 335901 w 484632"/>
                <a:gd name="connsiteY4-506" fmla="*/ 297330 h 637448"/>
                <a:gd name="connsiteX5-507" fmla="*/ 363474 w 484632"/>
                <a:gd name="connsiteY5-508" fmla="*/ 395132 h 637448"/>
                <a:gd name="connsiteX6-509" fmla="*/ 484632 w 484632"/>
                <a:gd name="connsiteY6-510" fmla="*/ 395132 h 637448"/>
                <a:gd name="connsiteX7-511" fmla="*/ 242316 w 484632"/>
                <a:gd name="connsiteY7-512" fmla="*/ 637448 h 637448"/>
                <a:gd name="connsiteX8-513" fmla="*/ 0 w 484632"/>
                <a:gd name="connsiteY8-514" fmla="*/ 395132 h 637448"/>
                <a:gd name="connsiteX9-515" fmla="*/ 121158 w 484632"/>
                <a:gd name="connsiteY9-516" fmla="*/ 395132 h 637448"/>
                <a:gd name="connsiteX10-517" fmla="*/ 128666 w 484632"/>
                <a:gd name="connsiteY10-518" fmla="*/ 165100 h 637448"/>
                <a:gd name="connsiteX11-519" fmla="*/ 106091 w 484632"/>
                <a:gd name="connsiteY11-520" fmla="*/ 62893 h 637448"/>
                <a:gd name="connsiteX12-521" fmla="*/ 87784 w 484632"/>
                <a:gd name="connsiteY12-522" fmla="*/ 6350 h 637448"/>
                <a:gd name="connsiteX0-523" fmla="*/ 87784 w 484632"/>
                <a:gd name="connsiteY0-524" fmla="*/ 9085 h 640183"/>
                <a:gd name="connsiteX1-525" fmla="*/ 206186 w 484632"/>
                <a:gd name="connsiteY1-526" fmla="*/ 0 h 640183"/>
                <a:gd name="connsiteX2-527" fmla="*/ 282325 w 484632"/>
                <a:gd name="connsiteY2-528" fmla="*/ 41398 h 640183"/>
                <a:gd name="connsiteX3-529" fmla="*/ 309125 w 484632"/>
                <a:gd name="connsiteY3-530" fmla="*/ 138635 h 640183"/>
                <a:gd name="connsiteX4-531" fmla="*/ 335901 w 484632"/>
                <a:gd name="connsiteY4-532" fmla="*/ 300065 h 640183"/>
                <a:gd name="connsiteX5-533" fmla="*/ 363474 w 484632"/>
                <a:gd name="connsiteY5-534" fmla="*/ 397867 h 640183"/>
                <a:gd name="connsiteX6-535" fmla="*/ 484632 w 484632"/>
                <a:gd name="connsiteY6-536" fmla="*/ 397867 h 640183"/>
                <a:gd name="connsiteX7-537" fmla="*/ 242316 w 484632"/>
                <a:gd name="connsiteY7-538" fmla="*/ 640183 h 640183"/>
                <a:gd name="connsiteX8-539" fmla="*/ 0 w 484632"/>
                <a:gd name="connsiteY8-540" fmla="*/ 397867 h 640183"/>
                <a:gd name="connsiteX9-541" fmla="*/ 121158 w 484632"/>
                <a:gd name="connsiteY9-542" fmla="*/ 397867 h 640183"/>
                <a:gd name="connsiteX10-543" fmla="*/ 128666 w 484632"/>
                <a:gd name="connsiteY10-544" fmla="*/ 167835 h 640183"/>
                <a:gd name="connsiteX11-545" fmla="*/ 106091 w 484632"/>
                <a:gd name="connsiteY11-546" fmla="*/ 65628 h 640183"/>
                <a:gd name="connsiteX12-547" fmla="*/ 87784 w 484632"/>
                <a:gd name="connsiteY12-548" fmla="*/ 9085 h 640183"/>
                <a:gd name="connsiteX0-549" fmla="*/ 87784 w 484632"/>
                <a:gd name="connsiteY0-550" fmla="*/ 9085 h 640183"/>
                <a:gd name="connsiteX1-551" fmla="*/ 206186 w 484632"/>
                <a:gd name="connsiteY1-552" fmla="*/ 0 h 640183"/>
                <a:gd name="connsiteX2-553" fmla="*/ 263167 w 484632"/>
                <a:gd name="connsiteY2-554" fmla="*/ 41985 h 640183"/>
                <a:gd name="connsiteX3-555" fmla="*/ 309125 w 484632"/>
                <a:gd name="connsiteY3-556" fmla="*/ 138635 h 640183"/>
                <a:gd name="connsiteX4-557" fmla="*/ 335901 w 484632"/>
                <a:gd name="connsiteY4-558" fmla="*/ 300065 h 640183"/>
                <a:gd name="connsiteX5-559" fmla="*/ 363474 w 484632"/>
                <a:gd name="connsiteY5-560" fmla="*/ 397867 h 640183"/>
                <a:gd name="connsiteX6-561" fmla="*/ 484632 w 484632"/>
                <a:gd name="connsiteY6-562" fmla="*/ 397867 h 640183"/>
                <a:gd name="connsiteX7-563" fmla="*/ 242316 w 484632"/>
                <a:gd name="connsiteY7-564" fmla="*/ 640183 h 640183"/>
                <a:gd name="connsiteX8-565" fmla="*/ 0 w 484632"/>
                <a:gd name="connsiteY8-566" fmla="*/ 397867 h 640183"/>
                <a:gd name="connsiteX9-567" fmla="*/ 121158 w 484632"/>
                <a:gd name="connsiteY9-568" fmla="*/ 397867 h 640183"/>
                <a:gd name="connsiteX10-569" fmla="*/ 128666 w 484632"/>
                <a:gd name="connsiteY10-570" fmla="*/ 167835 h 640183"/>
                <a:gd name="connsiteX11-571" fmla="*/ 106091 w 484632"/>
                <a:gd name="connsiteY11-572" fmla="*/ 65628 h 640183"/>
                <a:gd name="connsiteX12-573" fmla="*/ 87784 w 484632"/>
                <a:gd name="connsiteY12-574" fmla="*/ 9085 h 640183"/>
                <a:gd name="connsiteX0-575" fmla="*/ 87784 w 484632"/>
                <a:gd name="connsiteY0-576" fmla="*/ 9085 h 640183"/>
                <a:gd name="connsiteX1-577" fmla="*/ 206186 w 484632"/>
                <a:gd name="connsiteY1-578" fmla="*/ 0 h 640183"/>
                <a:gd name="connsiteX2-579" fmla="*/ 263167 w 484632"/>
                <a:gd name="connsiteY2-580" fmla="*/ 41985 h 640183"/>
                <a:gd name="connsiteX3-581" fmla="*/ 294756 w 484632"/>
                <a:gd name="connsiteY3-582" fmla="*/ 139075 h 640183"/>
                <a:gd name="connsiteX4-583" fmla="*/ 335901 w 484632"/>
                <a:gd name="connsiteY4-584" fmla="*/ 300065 h 640183"/>
                <a:gd name="connsiteX5-585" fmla="*/ 363474 w 484632"/>
                <a:gd name="connsiteY5-586" fmla="*/ 397867 h 640183"/>
                <a:gd name="connsiteX6-587" fmla="*/ 484632 w 484632"/>
                <a:gd name="connsiteY6-588" fmla="*/ 397867 h 640183"/>
                <a:gd name="connsiteX7-589" fmla="*/ 242316 w 484632"/>
                <a:gd name="connsiteY7-590" fmla="*/ 640183 h 640183"/>
                <a:gd name="connsiteX8-591" fmla="*/ 0 w 484632"/>
                <a:gd name="connsiteY8-592" fmla="*/ 397867 h 640183"/>
                <a:gd name="connsiteX9-593" fmla="*/ 121158 w 484632"/>
                <a:gd name="connsiteY9-594" fmla="*/ 397867 h 640183"/>
                <a:gd name="connsiteX10-595" fmla="*/ 128666 w 484632"/>
                <a:gd name="connsiteY10-596" fmla="*/ 167835 h 640183"/>
                <a:gd name="connsiteX11-597" fmla="*/ 106091 w 484632"/>
                <a:gd name="connsiteY11-598" fmla="*/ 65628 h 640183"/>
                <a:gd name="connsiteX12-599" fmla="*/ 87784 w 484632"/>
                <a:gd name="connsiteY12-600" fmla="*/ 9085 h 640183"/>
                <a:gd name="connsiteX0-601" fmla="*/ 87784 w 484632"/>
                <a:gd name="connsiteY0-602" fmla="*/ 9085 h 640183"/>
                <a:gd name="connsiteX1-603" fmla="*/ 206186 w 484632"/>
                <a:gd name="connsiteY1-604" fmla="*/ 0 h 640183"/>
                <a:gd name="connsiteX2-605" fmla="*/ 256203 w 484632"/>
                <a:gd name="connsiteY2-606" fmla="*/ 49390 h 640183"/>
                <a:gd name="connsiteX3-607" fmla="*/ 294756 w 484632"/>
                <a:gd name="connsiteY3-608" fmla="*/ 139075 h 640183"/>
                <a:gd name="connsiteX4-609" fmla="*/ 335901 w 484632"/>
                <a:gd name="connsiteY4-610" fmla="*/ 300065 h 640183"/>
                <a:gd name="connsiteX5-611" fmla="*/ 363474 w 484632"/>
                <a:gd name="connsiteY5-612" fmla="*/ 397867 h 640183"/>
                <a:gd name="connsiteX6-613" fmla="*/ 484632 w 484632"/>
                <a:gd name="connsiteY6-614" fmla="*/ 397867 h 640183"/>
                <a:gd name="connsiteX7-615" fmla="*/ 242316 w 484632"/>
                <a:gd name="connsiteY7-616" fmla="*/ 640183 h 640183"/>
                <a:gd name="connsiteX8-617" fmla="*/ 0 w 484632"/>
                <a:gd name="connsiteY8-618" fmla="*/ 397867 h 640183"/>
                <a:gd name="connsiteX9-619" fmla="*/ 121158 w 484632"/>
                <a:gd name="connsiteY9-620" fmla="*/ 397867 h 640183"/>
                <a:gd name="connsiteX10-621" fmla="*/ 128666 w 484632"/>
                <a:gd name="connsiteY10-622" fmla="*/ 167835 h 640183"/>
                <a:gd name="connsiteX11-623" fmla="*/ 106091 w 484632"/>
                <a:gd name="connsiteY11-624" fmla="*/ 65628 h 640183"/>
                <a:gd name="connsiteX12-625" fmla="*/ 87784 w 484632"/>
                <a:gd name="connsiteY12-626" fmla="*/ 9085 h 640183"/>
                <a:gd name="connsiteX0-627" fmla="*/ 87784 w 484632"/>
                <a:gd name="connsiteY0-628" fmla="*/ 9085 h 640183"/>
                <a:gd name="connsiteX1-629" fmla="*/ 206186 w 484632"/>
                <a:gd name="connsiteY1-630" fmla="*/ 0 h 640183"/>
                <a:gd name="connsiteX2-631" fmla="*/ 256203 w 484632"/>
                <a:gd name="connsiteY2-632" fmla="*/ 49390 h 640183"/>
                <a:gd name="connsiteX3-633" fmla="*/ 294756 w 484632"/>
                <a:gd name="connsiteY3-634" fmla="*/ 139075 h 640183"/>
                <a:gd name="connsiteX4-635" fmla="*/ 335901 w 484632"/>
                <a:gd name="connsiteY4-636" fmla="*/ 300065 h 640183"/>
                <a:gd name="connsiteX5-637" fmla="*/ 363474 w 484632"/>
                <a:gd name="connsiteY5-638" fmla="*/ 397867 h 640183"/>
                <a:gd name="connsiteX6-639" fmla="*/ 484632 w 484632"/>
                <a:gd name="connsiteY6-640" fmla="*/ 397867 h 640183"/>
                <a:gd name="connsiteX7-641" fmla="*/ 242316 w 484632"/>
                <a:gd name="connsiteY7-642" fmla="*/ 640183 h 640183"/>
                <a:gd name="connsiteX8-643" fmla="*/ 0 w 484632"/>
                <a:gd name="connsiteY8-644" fmla="*/ 397867 h 640183"/>
                <a:gd name="connsiteX9-645" fmla="*/ 121158 w 484632"/>
                <a:gd name="connsiteY9-646" fmla="*/ 397867 h 640183"/>
                <a:gd name="connsiteX10-647" fmla="*/ 128666 w 484632"/>
                <a:gd name="connsiteY10-648" fmla="*/ 167835 h 640183"/>
                <a:gd name="connsiteX11-649" fmla="*/ 106091 w 484632"/>
                <a:gd name="connsiteY11-650" fmla="*/ 65628 h 640183"/>
                <a:gd name="connsiteX12-651" fmla="*/ 87784 w 484632"/>
                <a:gd name="connsiteY12-652" fmla="*/ 9085 h 640183"/>
                <a:gd name="connsiteX0-653" fmla="*/ 87784 w 484632"/>
                <a:gd name="connsiteY0-654" fmla="*/ 9085 h 640183"/>
                <a:gd name="connsiteX1-655" fmla="*/ 206186 w 484632"/>
                <a:gd name="connsiteY1-656" fmla="*/ 0 h 640183"/>
                <a:gd name="connsiteX2-657" fmla="*/ 256203 w 484632"/>
                <a:gd name="connsiteY2-658" fmla="*/ 49390 h 640183"/>
                <a:gd name="connsiteX3-659" fmla="*/ 294756 w 484632"/>
                <a:gd name="connsiteY3-660" fmla="*/ 139075 h 640183"/>
                <a:gd name="connsiteX4-661" fmla="*/ 335901 w 484632"/>
                <a:gd name="connsiteY4-662" fmla="*/ 300065 h 640183"/>
                <a:gd name="connsiteX5-663" fmla="*/ 363474 w 484632"/>
                <a:gd name="connsiteY5-664" fmla="*/ 397867 h 640183"/>
                <a:gd name="connsiteX6-665" fmla="*/ 484632 w 484632"/>
                <a:gd name="connsiteY6-666" fmla="*/ 397867 h 640183"/>
                <a:gd name="connsiteX7-667" fmla="*/ 242316 w 484632"/>
                <a:gd name="connsiteY7-668" fmla="*/ 640183 h 640183"/>
                <a:gd name="connsiteX8-669" fmla="*/ 0 w 484632"/>
                <a:gd name="connsiteY8-670" fmla="*/ 397867 h 640183"/>
                <a:gd name="connsiteX9-671" fmla="*/ 121158 w 484632"/>
                <a:gd name="connsiteY9-672" fmla="*/ 397867 h 640183"/>
                <a:gd name="connsiteX10-673" fmla="*/ 128666 w 484632"/>
                <a:gd name="connsiteY10-674" fmla="*/ 167835 h 640183"/>
                <a:gd name="connsiteX11-675" fmla="*/ 106091 w 484632"/>
                <a:gd name="connsiteY11-676" fmla="*/ 65628 h 640183"/>
                <a:gd name="connsiteX12-677" fmla="*/ 87784 w 484632"/>
                <a:gd name="connsiteY12-678" fmla="*/ 9085 h 640183"/>
                <a:gd name="connsiteX0-679" fmla="*/ 87784 w 484632"/>
                <a:gd name="connsiteY0-680" fmla="*/ 9305 h 640403"/>
                <a:gd name="connsiteX1-681" fmla="*/ 213370 w 484632"/>
                <a:gd name="connsiteY1-682" fmla="*/ 0 h 640403"/>
                <a:gd name="connsiteX2-683" fmla="*/ 256203 w 484632"/>
                <a:gd name="connsiteY2-684" fmla="*/ 49610 h 640403"/>
                <a:gd name="connsiteX3-685" fmla="*/ 294756 w 484632"/>
                <a:gd name="connsiteY3-686" fmla="*/ 139295 h 640403"/>
                <a:gd name="connsiteX4-687" fmla="*/ 335901 w 484632"/>
                <a:gd name="connsiteY4-688" fmla="*/ 300285 h 640403"/>
                <a:gd name="connsiteX5-689" fmla="*/ 363474 w 484632"/>
                <a:gd name="connsiteY5-690" fmla="*/ 398087 h 640403"/>
                <a:gd name="connsiteX6-691" fmla="*/ 484632 w 484632"/>
                <a:gd name="connsiteY6-692" fmla="*/ 398087 h 640403"/>
                <a:gd name="connsiteX7-693" fmla="*/ 242316 w 484632"/>
                <a:gd name="connsiteY7-694" fmla="*/ 640403 h 640403"/>
                <a:gd name="connsiteX8-695" fmla="*/ 0 w 484632"/>
                <a:gd name="connsiteY8-696" fmla="*/ 398087 h 640403"/>
                <a:gd name="connsiteX9-697" fmla="*/ 121158 w 484632"/>
                <a:gd name="connsiteY9-698" fmla="*/ 398087 h 640403"/>
                <a:gd name="connsiteX10-699" fmla="*/ 128666 w 484632"/>
                <a:gd name="connsiteY10-700" fmla="*/ 168055 h 640403"/>
                <a:gd name="connsiteX11-701" fmla="*/ 106091 w 484632"/>
                <a:gd name="connsiteY11-702" fmla="*/ 65848 h 640403"/>
                <a:gd name="connsiteX12-703" fmla="*/ 87784 w 484632"/>
                <a:gd name="connsiteY12-704" fmla="*/ 9305 h 640403"/>
                <a:gd name="connsiteX0-705" fmla="*/ 87784 w 484632"/>
                <a:gd name="connsiteY0-706" fmla="*/ 9305 h 640403"/>
                <a:gd name="connsiteX1-707" fmla="*/ 213370 w 484632"/>
                <a:gd name="connsiteY1-708" fmla="*/ 0 h 640403"/>
                <a:gd name="connsiteX2-709" fmla="*/ 245535 w 484632"/>
                <a:gd name="connsiteY2-710" fmla="*/ 53531 h 640403"/>
                <a:gd name="connsiteX3-711" fmla="*/ 294756 w 484632"/>
                <a:gd name="connsiteY3-712" fmla="*/ 139295 h 640403"/>
                <a:gd name="connsiteX4-713" fmla="*/ 335901 w 484632"/>
                <a:gd name="connsiteY4-714" fmla="*/ 300285 h 640403"/>
                <a:gd name="connsiteX5-715" fmla="*/ 363474 w 484632"/>
                <a:gd name="connsiteY5-716" fmla="*/ 398087 h 640403"/>
                <a:gd name="connsiteX6-717" fmla="*/ 484632 w 484632"/>
                <a:gd name="connsiteY6-718" fmla="*/ 398087 h 640403"/>
                <a:gd name="connsiteX7-719" fmla="*/ 242316 w 484632"/>
                <a:gd name="connsiteY7-720" fmla="*/ 640403 h 640403"/>
                <a:gd name="connsiteX8-721" fmla="*/ 0 w 484632"/>
                <a:gd name="connsiteY8-722" fmla="*/ 398087 h 640403"/>
                <a:gd name="connsiteX9-723" fmla="*/ 121158 w 484632"/>
                <a:gd name="connsiteY9-724" fmla="*/ 398087 h 640403"/>
                <a:gd name="connsiteX10-725" fmla="*/ 128666 w 484632"/>
                <a:gd name="connsiteY10-726" fmla="*/ 168055 h 640403"/>
                <a:gd name="connsiteX11-727" fmla="*/ 106091 w 484632"/>
                <a:gd name="connsiteY11-728" fmla="*/ 65848 h 640403"/>
                <a:gd name="connsiteX12-729" fmla="*/ 87784 w 484632"/>
                <a:gd name="connsiteY12-730" fmla="*/ 9305 h 640403"/>
                <a:gd name="connsiteX0-731" fmla="*/ 87784 w 484632"/>
                <a:gd name="connsiteY0-732" fmla="*/ 9305 h 640403"/>
                <a:gd name="connsiteX1-733" fmla="*/ 213370 w 484632"/>
                <a:gd name="connsiteY1-734" fmla="*/ 0 h 640403"/>
                <a:gd name="connsiteX2-735" fmla="*/ 245535 w 484632"/>
                <a:gd name="connsiteY2-736" fmla="*/ 53531 h 640403"/>
                <a:gd name="connsiteX3-737" fmla="*/ 282459 w 484632"/>
                <a:gd name="connsiteY3-738" fmla="*/ 148661 h 640403"/>
                <a:gd name="connsiteX4-739" fmla="*/ 335901 w 484632"/>
                <a:gd name="connsiteY4-740" fmla="*/ 300285 h 640403"/>
                <a:gd name="connsiteX5-741" fmla="*/ 363474 w 484632"/>
                <a:gd name="connsiteY5-742" fmla="*/ 398087 h 640403"/>
                <a:gd name="connsiteX6-743" fmla="*/ 484632 w 484632"/>
                <a:gd name="connsiteY6-744" fmla="*/ 398087 h 640403"/>
                <a:gd name="connsiteX7-745" fmla="*/ 242316 w 484632"/>
                <a:gd name="connsiteY7-746" fmla="*/ 640403 h 640403"/>
                <a:gd name="connsiteX8-747" fmla="*/ 0 w 484632"/>
                <a:gd name="connsiteY8-748" fmla="*/ 398087 h 640403"/>
                <a:gd name="connsiteX9-749" fmla="*/ 121158 w 484632"/>
                <a:gd name="connsiteY9-750" fmla="*/ 398087 h 640403"/>
                <a:gd name="connsiteX10-751" fmla="*/ 128666 w 484632"/>
                <a:gd name="connsiteY10-752" fmla="*/ 168055 h 640403"/>
                <a:gd name="connsiteX11-753" fmla="*/ 106091 w 484632"/>
                <a:gd name="connsiteY11-754" fmla="*/ 65848 h 640403"/>
                <a:gd name="connsiteX12-755" fmla="*/ 87784 w 484632"/>
                <a:gd name="connsiteY12-756" fmla="*/ 9305 h 640403"/>
                <a:gd name="connsiteX0-757" fmla="*/ 87784 w 484632"/>
                <a:gd name="connsiteY0-758" fmla="*/ 9305 h 640403"/>
                <a:gd name="connsiteX1-759" fmla="*/ 213370 w 484632"/>
                <a:gd name="connsiteY1-760" fmla="*/ 0 h 640403"/>
                <a:gd name="connsiteX2-761" fmla="*/ 245535 w 484632"/>
                <a:gd name="connsiteY2-762" fmla="*/ 53531 h 640403"/>
                <a:gd name="connsiteX3-763" fmla="*/ 282459 w 484632"/>
                <a:gd name="connsiteY3-764" fmla="*/ 148661 h 640403"/>
                <a:gd name="connsiteX4-765" fmla="*/ 314348 w 484632"/>
                <a:gd name="connsiteY4-766" fmla="*/ 300947 h 640403"/>
                <a:gd name="connsiteX5-767" fmla="*/ 363474 w 484632"/>
                <a:gd name="connsiteY5-768" fmla="*/ 398087 h 640403"/>
                <a:gd name="connsiteX6-769" fmla="*/ 484632 w 484632"/>
                <a:gd name="connsiteY6-770" fmla="*/ 398087 h 640403"/>
                <a:gd name="connsiteX7-771" fmla="*/ 242316 w 484632"/>
                <a:gd name="connsiteY7-772" fmla="*/ 640403 h 640403"/>
                <a:gd name="connsiteX8-773" fmla="*/ 0 w 484632"/>
                <a:gd name="connsiteY8-774" fmla="*/ 398087 h 640403"/>
                <a:gd name="connsiteX9-775" fmla="*/ 121158 w 484632"/>
                <a:gd name="connsiteY9-776" fmla="*/ 398087 h 640403"/>
                <a:gd name="connsiteX10-777" fmla="*/ 128666 w 484632"/>
                <a:gd name="connsiteY10-778" fmla="*/ 168055 h 640403"/>
                <a:gd name="connsiteX11-779" fmla="*/ 106091 w 484632"/>
                <a:gd name="connsiteY11-780" fmla="*/ 65848 h 640403"/>
                <a:gd name="connsiteX12-781" fmla="*/ 87784 w 484632"/>
                <a:gd name="connsiteY12-782" fmla="*/ 9305 h 640403"/>
              </a:gdLst>
              <a:ahLst/>
              <a:cxnLst>
                <a:cxn ang="0">
                  <a:pos x="connsiteX0-757" y="connsiteY0-758"/>
                </a:cxn>
                <a:cxn ang="0">
                  <a:pos x="connsiteX1-759" y="connsiteY1-760"/>
                </a:cxn>
                <a:cxn ang="0">
                  <a:pos x="connsiteX2-761" y="connsiteY2-762"/>
                </a:cxn>
                <a:cxn ang="0">
                  <a:pos x="connsiteX3-763" y="connsiteY3-764"/>
                </a:cxn>
                <a:cxn ang="0">
                  <a:pos x="connsiteX4-765" y="connsiteY4-766"/>
                </a:cxn>
                <a:cxn ang="0">
                  <a:pos x="connsiteX5-767" y="connsiteY5-768"/>
                </a:cxn>
                <a:cxn ang="0">
                  <a:pos x="connsiteX6-769" y="connsiteY6-770"/>
                </a:cxn>
                <a:cxn ang="0">
                  <a:pos x="connsiteX7-771" y="connsiteY7-772"/>
                </a:cxn>
                <a:cxn ang="0">
                  <a:pos x="connsiteX8-773" y="connsiteY8-774"/>
                </a:cxn>
                <a:cxn ang="0">
                  <a:pos x="connsiteX9-775" y="connsiteY9-776"/>
                </a:cxn>
                <a:cxn ang="0">
                  <a:pos x="connsiteX10-777" y="connsiteY10-778"/>
                </a:cxn>
                <a:cxn ang="0">
                  <a:pos x="connsiteX11-779" y="connsiteY11-780"/>
                </a:cxn>
                <a:cxn ang="0">
                  <a:pos x="connsiteX12-781" y="connsiteY12-782"/>
                </a:cxn>
              </a:cxnLst>
              <a:rect l="l" t="t" r="r" b="b"/>
              <a:pathLst>
                <a:path w="484632" h="640403">
                  <a:moveTo>
                    <a:pt x="87784" y="9305"/>
                  </a:moveTo>
                  <a:lnTo>
                    <a:pt x="213370" y="0"/>
                  </a:lnTo>
                  <a:lnTo>
                    <a:pt x="245535" y="53531"/>
                  </a:lnTo>
                  <a:cubicBezTo>
                    <a:pt x="265768" y="90319"/>
                    <a:pt x="272405" y="119843"/>
                    <a:pt x="282459" y="148661"/>
                  </a:cubicBezTo>
                  <a:cubicBezTo>
                    <a:pt x="294170" y="195369"/>
                    <a:pt x="310006" y="255200"/>
                    <a:pt x="314348" y="300947"/>
                  </a:cubicBezTo>
                  <a:cubicBezTo>
                    <a:pt x="318690" y="346694"/>
                    <a:pt x="339997" y="383032"/>
                    <a:pt x="363474" y="398087"/>
                  </a:cubicBezTo>
                  <a:lnTo>
                    <a:pt x="484632" y="398087"/>
                  </a:lnTo>
                  <a:lnTo>
                    <a:pt x="242316" y="640403"/>
                  </a:lnTo>
                  <a:lnTo>
                    <a:pt x="0" y="398087"/>
                  </a:lnTo>
                  <a:lnTo>
                    <a:pt x="121158" y="398087"/>
                  </a:lnTo>
                  <a:cubicBezTo>
                    <a:pt x="130828" y="360807"/>
                    <a:pt x="141570" y="245022"/>
                    <a:pt x="128666" y="168055"/>
                  </a:cubicBezTo>
                  <a:cubicBezTo>
                    <a:pt x="118643" y="122427"/>
                    <a:pt x="112573" y="104091"/>
                    <a:pt x="106091" y="65848"/>
                  </a:cubicBezTo>
                  <a:lnTo>
                    <a:pt x="87784" y="9305"/>
                  </a:lnTo>
                  <a:close/>
                </a:path>
              </a:pathLst>
            </a:custGeom>
            <a:solidFill>
              <a:srgbClr val="0FA1AB"/>
            </a:soli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sp>
          <p:nvSpPr>
            <p:cNvPr id="16" name="任意多边形 15"/>
            <p:cNvSpPr/>
            <p:nvPr>
              <p:custDataLst>
                <p:tags r:id="rId21"/>
              </p:custDataLst>
            </p:nvPr>
          </p:nvSpPr>
          <p:spPr>
            <a:xfrm rot="14400000">
              <a:off x="5736754" y="1950130"/>
              <a:ext cx="330804" cy="844731"/>
            </a:xfrm>
            <a:custGeom>
              <a:avLst/>
              <a:gdLst>
                <a:gd name="connsiteX0" fmla="*/ 17934 w 249630"/>
                <a:gd name="connsiteY0" fmla="*/ 0 h 637448"/>
                <a:gd name="connsiteX1" fmla="*/ 125448 w 249630"/>
                <a:gd name="connsiteY1" fmla="*/ 0 h 637448"/>
                <a:gd name="connsiteX2" fmla="*/ 153677 w 249630"/>
                <a:gd name="connsiteY2" fmla="*/ 56382 h 637448"/>
                <a:gd name="connsiteX3" fmla="*/ 244011 w 249630"/>
                <a:gd name="connsiteY3" fmla="*/ 628536 h 637448"/>
                <a:gd name="connsiteX4" fmla="*/ 242721 w 249630"/>
                <a:gd name="connsiteY4" fmla="*/ 637044 h 637448"/>
                <a:gd name="connsiteX5" fmla="*/ 242316 w 249630"/>
                <a:gd name="connsiteY5" fmla="*/ 637448 h 637448"/>
                <a:gd name="connsiteX6" fmla="*/ 0 w 249630"/>
                <a:gd name="connsiteY6" fmla="*/ 395132 h 637448"/>
                <a:gd name="connsiteX7" fmla="*/ 121158 w 249630"/>
                <a:gd name="connsiteY7" fmla="*/ 395132 h 637448"/>
                <a:gd name="connsiteX8" fmla="*/ 89773 w 249630"/>
                <a:gd name="connsiteY8" fmla="*/ 171450 h 637448"/>
                <a:gd name="connsiteX9" fmla="*/ 48941 w 249630"/>
                <a:gd name="connsiteY9" fmla="*/ 69243 h 63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9630" h="637448">
                  <a:moveTo>
                    <a:pt x="17934" y="0"/>
                  </a:moveTo>
                  <a:lnTo>
                    <a:pt x="125448" y="0"/>
                  </a:lnTo>
                  <a:lnTo>
                    <a:pt x="153677" y="56382"/>
                  </a:lnTo>
                  <a:cubicBezTo>
                    <a:pt x="232580" y="236753"/>
                    <a:pt x="263370" y="433895"/>
                    <a:pt x="244011" y="628536"/>
                  </a:cubicBezTo>
                  <a:lnTo>
                    <a:pt x="242721" y="637044"/>
                  </a:lnTo>
                  <a:lnTo>
                    <a:pt x="242316" y="637448"/>
                  </a:lnTo>
                  <a:lnTo>
                    <a:pt x="0" y="395132"/>
                  </a:lnTo>
                  <a:lnTo>
                    <a:pt x="121158" y="395132"/>
                  </a:lnTo>
                  <a:cubicBezTo>
                    <a:pt x="130828" y="357852"/>
                    <a:pt x="109821" y="243655"/>
                    <a:pt x="89773" y="171450"/>
                  </a:cubicBezTo>
                  <a:cubicBezTo>
                    <a:pt x="79750" y="135348"/>
                    <a:pt x="64948" y="102723"/>
                    <a:pt x="48941" y="69243"/>
                  </a:cubicBezTo>
                  <a:close/>
                </a:path>
              </a:pathLst>
            </a:custGeom>
            <a:gradFill>
              <a:gsLst>
                <a:gs pos="61000">
                  <a:srgbClr val="0FA1AB">
                    <a:lumMod val="75000"/>
                  </a:srgbClr>
                </a:gs>
                <a:gs pos="29000">
                  <a:srgbClr val="0FA1AB">
                    <a:lumMod val="75000"/>
                    <a:alpha val="22000"/>
                  </a:srgbClr>
                </a:gs>
                <a:gs pos="0">
                  <a:srgbClr val="0FA1AB">
                    <a:lumMod val="75000"/>
                    <a:alpha val="0"/>
                  </a:srgbClr>
                </a:gs>
                <a:gs pos="100000">
                  <a:srgbClr val="0FA1AB">
                    <a:lumMod val="75000"/>
                  </a:srgbClr>
                </a:gs>
              </a:gsLst>
              <a:lin ang="5400000" scaled="1"/>
            </a:gra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grpSp>
      <p:grpSp>
        <p:nvGrpSpPr>
          <p:cNvPr id="17" name="组合 16"/>
          <p:cNvGrpSpPr/>
          <p:nvPr>
            <p:custDataLst>
              <p:tags r:id="rId5"/>
            </p:custDataLst>
          </p:nvPr>
        </p:nvGrpSpPr>
        <p:grpSpPr>
          <a:xfrm rot="6300000">
            <a:off x="4240530" y="2902585"/>
            <a:ext cx="844550" cy="588010"/>
            <a:chOff x="5280115" y="4549118"/>
            <a:chExt cx="922452" cy="642222"/>
          </a:xfrm>
        </p:grpSpPr>
        <p:sp>
          <p:nvSpPr>
            <p:cNvPr id="18" name="任意多边形 17"/>
            <p:cNvSpPr/>
            <p:nvPr>
              <p:custDataLst>
                <p:tags r:id="rId18"/>
              </p:custDataLst>
            </p:nvPr>
          </p:nvSpPr>
          <p:spPr>
            <a:xfrm rot="7200000">
              <a:off x="5380379" y="4448854"/>
              <a:ext cx="642222" cy="842750"/>
            </a:xfrm>
            <a:custGeom>
              <a:avLst/>
              <a:gdLst>
                <a:gd name="connsiteX0" fmla="*/ 17934 w 484632"/>
                <a:gd name="connsiteY0" fmla="*/ 0 h 637448"/>
                <a:gd name="connsiteX1" fmla="*/ 273387 w 484632"/>
                <a:gd name="connsiteY1" fmla="*/ 0 h 637448"/>
                <a:gd name="connsiteX2" fmla="*/ 280433 w 484632"/>
                <a:gd name="connsiteY2" fmla="*/ 17210 h 637448"/>
                <a:gd name="connsiteX3" fmla="*/ 318373 w 484632"/>
                <a:gd name="connsiteY3" fmla="*/ 120650 h 637448"/>
                <a:gd name="connsiteX4" fmla="*/ 363474 w 484632"/>
                <a:gd name="connsiteY4" fmla="*/ 395132 h 637448"/>
                <a:gd name="connsiteX5" fmla="*/ 484632 w 484632"/>
                <a:gd name="connsiteY5" fmla="*/ 395132 h 637448"/>
                <a:gd name="connsiteX6" fmla="*/ 242316 w 484632"/>
                <a:gd name="connsiteY6" fmla="*/ 637448 h 637448"/>
                <a:gd name="connsiteX7" fmla="*/ 0 w 484632"/>
                <a:gd name="connsiteY7" fmla="*/ 395132 h 637448"/>
                <a:gd name="connsiteX8" fmla="*/ 121158 w 484632"/>
                <a:gd name="connsiteY8" fmla="*/ 395132 h 637448"/>
                <a:gd name="connsiteX9" fmla="*/ 89773 w 484632"/>
                <a:gd name="connsiteY9" fmla="*/ 171450 h 637448"/>
                <a:gd name="connsiteX10" fmla="*/ 48941 w 484632"/>
                <a:gd name="connsiteY10" fmla="*/ 69243 h 637448"/>
                <a:gd name="connsiteX0-1" fmla="*/ 17934 w 484632"/>
                <a:gd name="connsiteY0-2" fmla="*/ 0 h 637448"/>
                <a:gd name="connsiteX1-3" fmla="*/ 273387 w 484632"/>
                <a:gd name="connsiteY1-4" fmla="*/ 0 h 637448"/>
                <a:gd name="connsiteX2-5" fmla="*/ 280433 w 484632"/>
                <a:gd name="connsiteY2-6" fmla="*/ 17210 h 637448"/>
                <a:gd name="connsiteX3-7" fmla="*/ 337423 w 484632"/>
                <a:gd name="connsiteY3-8" fmla="*/ 120650 h 637448"/>
                <a:gd name="connsiteX4-9" fmla="*/ 363474 w 484632"/>
                <a:gd name="connsiteY4-10" fmla="*/ 395132 h 637448"/>
                <a:gd name="connsiteX5-11" fmla="*/ 484632 w 484632"/>
                <a:gd name="connsiteY5-12" fmla="*/ 395132 h 637448"/>
                <a:gd name="connsiteX6-13" fmla="*/ 242316 w 484632"/>
                <a:gd name="connsiteY6-14" fmla="*/ 637448 h 637448"/>
                <a:gd name="connsiteX7-15" fmla="*/ 0 w 484632"/>
                <a:gd name="connsiteY7-16" fmla="*/ 395132 h 637448"/>
                <a:gd name="connsiteX8-17" fmla="*/ 121158 w 484632"/>
                <a:gd name="connsiteY8-18" fmla="*/ 395132 h 637448"/>
                <a:gd name="connsiteX9-19" fmla="*/ 89773 w 484632"/>
                <a:gd name="connsiteY9-20" fmla="*/ 171450 h 637448"/>
                <a:gd name="connsiteX10-21" fmla="*/ 48941 w 484632"/>
                <a:gd name="connsiteY10-22" fmla="*/ 69243 h 637448"/>
                <a:gd name="connsiteX11" fmla="*/ 17934 w 484632"/>
                <a:gd name="connsiteY11" fmla="*/ 0 h 637448"/>
                <a:gd name="connsiteX0-23" fmla="*/ 17934 w 484632"/>
                <a:gd name="connsiteY0-24" fmla="*/ 0 h 637448"/>
                <a:gd name="connsiteX1-25" fmla="*/ 273387 w 484632"/>
                <a:gd name="connsiteY1-26" fmla="*/ 0 h 637448"/>
                <a:gd name="connsiteX2-27" fmla="*/ 280433 w 484632"/>
                <a:gd name="connsiteY2-28" fmla="*/ 17210 h 637448"/>
                <a:gd name="connsiteX3-29" fmla="*/ 337423 w 484632"/>
                <a:gd name="connsiteY3-30" fmla="*/ 120650 h 637448"/>
                <a:gd name="connsiteX4-31" fmla="*/ 363474 w 484632"/>
                <a:gd name="connsiteY4-32" fmla="*/ 395132 h 637448"/>
                <a:gd name="connsiteX5-33" fmla="*/ 484632 w 484632"/>
                <a:gd name="connsiteY5-34" fmla="*/ 395132 h 637448"/>
                <a:gd name="connsiteX6-35" fmla="*/ 242316 w 484632"/>
                <a:gd name="connsiteY6-36" fmla="*/ 637448 h 637448"/>
                <a:gd name="connsiteX7-37" fmla="*/ 0 w 484632"/>
                <a:gd name="connsiteY7-38" fmla="*/ 395132 h 637448"/>
                <a:gd name="connsiteX8-39" fmla="*/ 121158 w 484632"/>
                <a:gd name="connsiteY8-40" fmla="*/ 395132 h 637448"/>
                <a:gd name="connsiteX9-41" fmla="*/ 89773 w 484632"/>
                <a:gd name="connsiteY9-42" fmla="*/ 171450 h 637448"/>
                <a:gd name="connsiteX10-43" fmla="*/ 48941 w 484632"/>
                <a:gd name="connsiteY10-44" fmla="*/ 69243 h 637448"/>
                <a:gd name="connsiteX11-45" fmla="*/ 17934 w 484632"/>
                <a:gd name="connsiteY11-46" fmla="*/ 0 h 637448"/>
                <a:gd name="connsiteX0-47" fmla="*/ 17934 w 484632"/>
                <a:gd name="connsiteY0-48" fmla="*/ 0 h 637448"/>
                <a:gd name="connsiteX1-49" fmla="*/ 273387 w 484632"/>
                <a:gd name="connsiteY1-50" fmla="*/ 0 h 637448"/>
                <a:gd name="connsiteX2-51" fmla="*/ 280433 w 484632"/>
                <a:gd name="connsiteY2-52" fmla="*/ 17210 h 637448"/>
                <a:gd name="connsiteX3-53" fmla="*/ 337423 w 484632"/>
                <a:gd name="connsiteY3-54" fmla="*/ 120650 h 637448"/>
                <a:gd name="connsiteX4-55" fmla="*/ 363474 w 484632"/>
                <a:gd name="connsiteY4-56" fmla="*/ 395132 h 637448"/>
                <a:gd name="connsiteX5-57" fmla="*/ 484632 w 484632"/>
                <a:gd name="connsiteY5-58" fmla="*/ 395132 h 637448"/>
                <a:gd name="connsiteX6-59" fmla="*/ 242316 w 484632"/>
                <a:gd name="connsiteY6-60" fmla="*/ 637448 h 637448"/>
                <a:gd name="connsiteX7-61" fmla="*/ 0 w 484632"/>
                <a:gd name="connsiteY7-62" fmla="*/ 395132 h 637448"/>
                <a:gd name="connsiteX8-63" fmla="*/ 121158 w 484632"/>
                <a:gd name="connsiteY8-64" fmla="*/ 395132 h 637448"/>
                <a:gd name="connsiteX9-65" fmla="*/ 89773 w 484632"/>
                <a:gd name="connsiteY9-66" fmla="*/ 171450 h 637448"/>
                <a:gd name="connsiteX10-67" fmla="*/ 48941 w 484632"/>
                <a:gd name="connsiteY10-68" fmla="*/ 69243 h 637448"/>
                <a:gd name="connsiteX11-69" fmla="*/ 17934 w 484632"/>
                <a:gd name="connsiteY11-70" fmla="*/ 0 h 637448"/>
                <a:gd name="connsiteX0-71" fmla="*/ 17934 w 484632"/>
                <a:gd name="connsiteY0-72" fmla="*/ 0 h 637448"/>
                <a:gd name="connsiteX1-73" fmla="*/ 273387 w 484632"/>
                <a:gd name="connsiteY1-74" fmla="*/ 0 h 637448"/>
                <a:gd name="connsiteX2-75" fmla="*/ 305833 w 484632"/>
                <a:gd name="connsiteY2-76" fmla="*/ 10860 h 637448"/>
                <a:gd name="connsiteX3-77" fmla="*/ 337423 w 484632"/>
                <a:gd name="connsiteY3-78" fmla="*/ 120650 h 637448"/>
                <a:gd name="connsiteX4-79" fmla="*/ 363474 w 484632"/>
                <a:gd name="connsiteY4-80" fmla="*/ 395132 h 637448"/>
                <a:gd name="connsiteX5-81" fmla="*/ 484632 w 484632"/>
                <a:gd name="connsiteY5-82" fmla="*/ 395132 h 637448"/>
                <a:gd name="connsiteX6-83" fmla="*/ 242316 w 484632"/>
                <a:gd name="connsiteY6-84" fmla="*/ 637448 h 637448"/>
                <a:gd name="connsiteX7-85" fmla="*/ 0 w 484632"/>
                <a:gd name="connsiteY7-86" fmla="*/ 395132 h 637448"/>
                <a:gd name="connsiteX8-87" fmla="*/ 121158 w 484632"/>
                <a:gd name="connsiteY8-88" fmla="*/ 395132 h 637448"/>
                <a:gd name="connsiteX9-89" fmla="*/ 89773 w 484632"/>
                <a:gd name="connsiteY9-90" fmla="*/ 171450 h 637448"/>
                <a:gd name="connsiteX10-91" fmla="*/ 48941 w 484632"/>
                <a:gd name="connsiteY10-92" fmla="*/ 69243 h 637448"/>
                <a:gd name="connsiteX11-93" fmla="*/ 17934 w 484632"/>
                <a:gd name="connsiteY11-94" fmla="*/ 0 h 637448"/>
                <a:gd name="connsiteX0-95" fmla="*/ 17934 w 484632"/>
                <a:gd name="connsiteY0-96" fmla="*/ 0 h 637448"/>
                <a:gd name="connsiteX1-97" fmla="*/ 273387 w 484632"/>
                <a:gd name="connsiteY1-98" fmla="*/ 0 h 637448"/>
                <a:gd name="connsiteX2-99" fmla="*/ 305833 w 484632"/>
                <a:gd name="connsiteY2-100" fmla="*/ 10860 h 637448"/>
                <a:gd name="connsiteX3-101" fmla="*/ 337423 w 484632"/>
                <a:gd name="connsiteY3-102" fmla="*/ 120650 h 637448"/>
                <a:gd name="connsiteX4-103" fmla="*/ 363474 w 484632"/>
                <a:gd name="connsiteY4-104" fmla="*/ 395132 h 637448"/>
                <a:gd name="connsiteX5-105" fmla="*/ 484632 w 484632"/>
                <a:gd name="connsiteY5-106" fmla="*/ 395132 h 637448"/>
                <a:gd name="connsiteX6-107" fmla="*/ 242316 w 484632"/>
                <a:gd name="connsiteY6-108" fmla="*/ 637448 h 637448"/>
                <a:gd name="connsiteX7-109" fmla="*/ 0 w 484632"/>
                <a:gd name="connsiteY7-110" fmla="*/ 395132 h 637448"/>
                <a:gd name="connsiteX8-111" fmla="*/ 121158 w 484632"/>
                <a:gd name="connsiteY8-112" fmla="*/ 395132 h 637448"/>
                <a:gd name="connsiteX9-113" fmla="*/ 121523 w 484632"/>
                <a:gd name="connsiteY9-114" fmla="*/ 165100 h 637448"/>
                <a:gd name="connsiteX10-115" fmla="*/ 48941 w 484632"/>
                <a:gd name="connsiteY10-116" fmla="*/ 69243 h 637448"/>
                <a:gd name="connsiteX11-117" fmla="*/ 17934 w 484632"/>
                <a:gd name="connsiteY11-118" fmla="*/ 0 h 637448"/>
                <a:gd name="connsiteX0-119" fmla="*/ 17934 w 484632"/>
                <a:gd name="connsiteY0-120" fmla="*/ 0 h 637448"/>
                <a:gd name="connsiteX1-121" fmla="*/ 273387 w 484632"/>
                <a:gd name="connsiteY1-122" fmla="*/ 0 h 637448"/>
                <a:gd name="connsiteX2-123" fmla="*/ 305833 w 484632"/>
                <a:gd name="connsiteY2-124" fmla="*/ 10860 h 637448"/>
                <a:gd name="connsiteX3-125" fmla="*/ 337423 w 484632"/>
                <a:gd name="connsiteY3-126" fmla="*/ 120650 h 637448"/>
                <a:gd name="connsiteX4-127" fmla="*/ 363474 w 484632"/>
                <a:gd name="connsiteY4-128" fmla="*/ 395132 h 637448"/>
                <a:gd name="connsiteX5-129" fmla="*/ 484632 w 484632"/>
                <a:gd name="connsiteY5-130" fmla="*/ 395132 h 637448"/>
                <a:gd name="connsiteX6-131" fmla="*/ 242316 w 484632"/>
                <a:gd name="connsiteY6-132" fmla="*/ 637448 h 637448"/>
                <a:gd name="connsiteX7-133" fmla="*/ 0 w 484632"/>
                <a:gd name="connsiteY7-134" fmla="*/ 395132 h 637448"/>
                <a:gd name="connsiteX8-135" fmla="*/ 121158 w 484632"/>
                <a:gd name="connsiteY8-136" fmla="*/ 395132 h 637448"/>
                <a:gd name="connsiteX9-137" fmla="*/ 121523 w 484632"/>
                <a:gd name="connsiteY9-138" fmla="*/ 165100 h 637448"/>
                <a:gd name="connsiteX10-139" fmla="*/ 106091 w 484632"/>
                <a:gd name="connsiteY10-140" fmla="*/ 62893 h 637448"/>
                <a:gd name="connsiteX11-141" fmla="*/ 17934 w 484632"/>
                <a:gd name="connsiteY11-142" fmla="*/ 0 h 637448"/>
                <a:gd name="connsiteX0-143" fmla="*/ 87784 w 484632"/>
                <a:gd name="connsiteY0-144" fmla="*/ 0 h 637448"/>
                <a:gd name="connsiteX1-145" fmla="*/ 273387 w 484632"/>
                <a:gd name="connsiteY1-146" fmla="*/ 0 h 637448"/>
                <a:gd name="connsiteX2-147" fmla="*/ 305833 w 484632"/>
                <a:gd name="connsiteY2-148" fmla="*/ 10860 h 637448"/>
                <a:gd name="connsiteX3-149" fmla="*/ 337423 w 484632"/>
                <a:gd name="connsiteY3-150" fmla="*/ 120650 h 637448"/>
                <a:gd name="connsiteX4-151" fmla="*/ 363474 w 484632"/>
                <a:gd name="connsiteY4-152" fmla="*/ 395132 h 637448"/>
                <a:gd name="connsiteX5-153" fmla="*/ 484632 w 484632"/>
                <a:gd name="connsiteY5-154" fmla="*/ 395132 h 637448"/>
                <a:gd name="connsiteX6-155" fmla="*/ 242316 w 484632"/>
                <a:gd name="connsiteY6-156" fmla="*/ 637448 h 637448"/>
                <a:gd name="connsiteX7-157" fmla="*/ 0 w 484632"/>
                <a:gd name="connsiteY7-158" fmla="*/ 395132 h 637448"/>
                <a:gd name="connsiteX8-159" fmla="*/ 121158 w 484632"/>
                <a:gd name="connsiteY8-160" fmla="*/ 395132 h 637448"/>
                <a:gd name="connsiteX9-161" fmla="*/ 121523 w 484632"/>
                <a:gd name="connsiteY9-162" fmla="*/ 165100 h 637448"/>
                <a:gd name="connsiteX10-163" fmla="*/ 106091 w 484632"/>
                <a:gd name="connsiteY10-164" fmla="*/ 62893 h 637448"/>
                <a:gd name="connsiteX11-165" fmla="*/ 87784 w 484632"/>
                <a:gd name="connsiteY11-166" fmla="*/ 0 h 637448"/>
                <a:gd name="connsiteX0-167" fmla="*/ 87784 w 484632"/>
                <a:gd name="connsiteY0-168" fmla="*/ 6350 h 637448"/>
                <a:gd name="connsiteX1-169" fmla="*/ 273387 w 484632"/>
                <a:gd name="connsiteY1-170" fmla="*/ 0 h 637448"/>
                <a:gd name="connsiteX2-171" fmla="*/ 305833 w 484632"/>
                <a:gd name="connsiteY2-172" fmla="*/ 10860 h 637448"/>
                <a:gd name="connsiteX3-173" fmla="*/ 337423 w 484632"/>
                <a:gd name="connsiteY3-174" fmla="*/ 120650 h 637448"/>
                <a:gd name="connsiteX4-175" fmla="*/ 363474 w 484632"/>
                <a:gd name="connsiteY4-176" fmla="*/ 395132 h 637448"/>
                <a:gd name="connsiteX5-177" fmla="*/ 484632 w 484632"/>
                <a:gd name="connsiteY5-178" fmla="*/ 395132 h 637448"/>
                <a:gd name="connsiteX6-179" fmla="*/ 242316 w 484632"/>
                <a:gd name="connsiteY6-180" fmla="*/ 637448 h 637448"/>
                <a:gd name="connsiteX7-181" fmla="*/ 0 w 484632"/>
                <a:gd name="connsiteY7-182" fmla="*/ 395132 h 637448"/>
                <a:gd name="connsiteX8-183" fmla="*/ 121158 w 484632"/>
                <a:gd name="connsiteY8-184" fmla="*/ 395132 h 637448"/>
                <a:gd name="connsiteX9-185" fmla="*/ 121523 w 484632"/>
                <a:gd name="connsiteY9-186" fmla="*/ 165100 h 637448"/>
                <a:gd name="connsiteX10-187" fmla="*/ 106091 w 484632"/>
                <a:gd name="connsiteY10-188" fmla="*/ 62893 h 637448"/>
                <a:gd name="connsiteX11-189" fmla="*/ 87784 w 484632"/>
                <a:gd name="connsiteY11-190" fmla="*/ 6350 h 637448"/>
                <a:gd name="connsiteX0-191" fmla="*/ 87784 w 484632"/>
                <a:gd name="connsiteY0-192" fmla="*/ 6350 h 637448"/>
                <a:gd name="connsiteX1-193" fmla="*/ 273387 w 484632"/>
                <a:gd name="connsiteY1-194" fmla="*/ 0 h 637448"/>
                <a:gd name="connsiteX2-195" fmla="*/ 337583 w 484632"/>
                <a:gd name="connsiteY2-196" fmla="*/ 10860 h 637448"/>
                <a:gd name="connsiteX3-197" fmla="*/ 337423 w 484632"/>
                <a:gd name="connsiteY3-198" fmla="*/ 120650 h 637448"/>
                <a:gd name="connsiteX4-199" fmla="*/ 363474 w 484632"/>
                <a:gd name="connsiteY4-200" fmla="*/ 395132 h 637448"/>
                <a:gd name="connsiteX5-201" fmla="*/ 484632 w 484632"/>
                <a:gd name="connsiteY5-202" fmla="*/ 395132 h 637448"/>
                <a:gd name="connsiteX6-203" fmla="*/ 242316 w 484632"/>
                <a:gd name="connsiteY6-204" fmla="*/ 637448 h 637448"/>
                <a:gd name="connsiteX7-205" fmla="*/ 0 w 484632"/>
                <a:gd name="connsiteY7-206" fmla="*/ 395132 h 637448"/>
                <a:gd name="connsiteX8-207" fmla="*/ 121158 w 484632"/>
                <a:gd name="connsiteY8-208" fmla="*/ 395132 h 637448"/>
                <a:gd name="connsiteX9-209" fmla="*/ 121523 w 484632"/>
                <a:gd name="connsiteY9-210" fmla="*/ 165100 h 637448"/>
                <a:gd name="connsiteX10-211" fmla="*/ 106091 w 484632"/>
                <a:gd name="connsiteY10-212" fmla="*/ 62893 h 637448"/>
                <a:gd name="connsiteX11-213" fmla="*/ 87784 w 484632"/>
                <a:gd name="connsiteY11-214" fmla="*/ 6350 h 637448"/>
                <a:gd name="connsiteX0-215" fmla="*/ 87784 w 484632"/>
                <a:gd name="connsiteY0-216" fmla="*/ 6350 h 637448"/>
                <a:gd name="connsiteX1-217" fmla="*/ 273387 w 484632"/>
                <a:gd name="connsiteY1-218" fmla="*/ 0 h 637448"/>
                <a:gd name="connsiteX2-219" fmla="*/ 305833 w 484632"/>
                <a:gd name="connsiteY2-220" fmla="*/ 23560 h 637448"/>
                <a:gd name="connsiteX3-221" fmla="*/ 337423 w 484632"/>
                <a:gd name="connsiteY3-222" fmla="*/ 120650 h 637448"/>
                <a:gd name="connsiteX4-223" fmla="*/ 363474 w 484632"/>
                <a:gd name="connsiteY4-224" fmla="*/ 395132 h 637448"/>
                <a:gd name="connsiteX5-225" fmla="*/ 484632 w 484632"/>
                <a:gd name="connsiteY5-226" fmla="*/ 395132 h 637448"/>
                <a:gd name="connsiteX6-227" fmla="*/ 242316 w 484632"/>
                <a:gd name="connsiteY6-228" fmla="*/ 637448 h 637448"/>
                <a:gd name="connsiteX7-229" fmla="*/ 0 w 484632"/>
                <a:gd name="connsiteY7-230" fmla="*/ 395132 h 637448"/>
                <a:gd name="connsiteX8-231" fmla="*/ 121158 w 484632"/>
                <a:gd name="connsiteY8-232" fmla="*/ 395132 h 637448"/>
                <a:gd name="connsiteX9-233" fmla="*/ 121523 w 484632"/>
                <a:gd name="connsiteY9-234" fmla="*/ 165100 h 637448"/>
                <a:gd name="connsiteX10-235" fmla="*/ 106091 w 484632"/>
                <a:gd name="connsiteY10-236" fmla="*/ 62893 h 637448"/>
                <a:gd name="connsiteX11-237" fmla="*/ 87784 w 484632"/>
                <a:gd name="connsiteY11-238" fmla="*/ 6350 h 637448"/>
                <a:gd name="connsiteX0-239" fmla="*/ 87784 w 484632"/>
                <a:gd name="connsiteY0-240" fmla="*/ 6350 h 637448"/>
                <a:gd name="connsiteX1-241" fmla="*/ 273387 w 484632"/>
                <a:gd name="connsiteY1-242" fmla="*/ 0 h 637448"/>
                <a:gd name="connsiteX2-243" fmla="*/ 305833 w 484632"/>
                <a:gd name="connsiteY2-244" fmla="*/ 23560 h 637448"/>
                <a:gd name="connsiteX3-245" fmla="*/ 337423 w 484632"/>
                <a:gd name="connsiteY3-246" fmla="*/ 120650 h 637448"/>
                <a:gd name="connsiteX4-247" fmla="*/ 350123 w 484632"/>
                <a:gd name="connsiteY4-248" fmla="*/ 292100 h 637448"/>
                <a:gd name="connsiteX5-249" fmla="*/ 363474 w 484632"/>
                <a:gd name="connsiteY5-250" fmla="*/ 395132 h 637448"/>
                <a:gd name="connsiteX6-251" fmla="*/ 484632 w 484632"/>
                <a:gd name="connsiteY6-252" fmla="*/ 395132 h 637448"/>
                <a:gd name="connsiteX7-253" fmla="*/ 242316 w 484632"/>
                <a:gd name="connsiteY7-254" fmla="*/ 637448 h 637448"/>
                <a:gd name="connsiteX8-255" fmla="*/ 0 w 484632"/>
                <a:gd name="connsiteY8-256" fmla="*/ 395132 h 637448"/>
                <a:gd name="connsiteX9-257" fmla="*/ 121158 w 484632"/>
                <a:gd name="connsiteY9-258" fmla="*/ 395132 h 637448"/>
                <a:gd name="connsiteX10-259" fmla="*/ 121523 w 484632"/>
                <a:gd name="connsiteY10-260" fmla="*/ 165100 h 637448"/>
                <a:gd name="connsiteX11-261" fmla="*/ 106091 w 484632"/>
                <a:gd name="connsiteY11-262" fmla="*/ 62893 h 637448"/>
                <a:gd name="connsiteX12" fmla="*/ 87784 w 484632"/>
                <a:gd name="connsiteY12" fmla="*/ 6350 h 637448"/>
                <a:gd name="connsiteX0-263" fmla="*/ 87784 w 484632"/>
                <a:gd name="connsiteY0-264" fmla="*/ 6350 h 637448"/>
                <a:gd name="connsiteX1-265" fmla="*/ 273387 w 484632"/>
                <a:gd name="connsiteY1-266" fmla="*/ 0 h 637448"/>
                <a:gd name="connsiteX2-267" fmla="*/ 305833 w 484632"/>
                <a:gd name="connsiteY2-268" fmla="*/ 23560 h 637448"/>
                <a:gd name="connsiteX3-269" fmla="*/ 337423 w 484632"/>
                <a:gd name="connsiteY3-270" fmla="*/ 120650 h 637448"/>
                <a:gd name="connsiteX4-271" fmla="*/ 350123 w 484632"/>
                <a:gd name="connsiteY4-272" fmla="*/ 292100 h 637448"/>
                <a:gd name="connsiteX5-273" fmla="*/ 363474 w 484632"/>
                <a:gd name="connsiteY5-274" fmla="*/ 395132 h 637448"/>
                <a:gd name="connsiteX6-275" fmla="*/ 484632 w 484632"/>
                <a:gd name="connsiteY6-276" fmla="*/ 395132 h 637448"/>
                <a:gd name="connsiteX7-277" fmla="*/ 242316 w 484632"/>
                <a:gd name="connsiteY7-278" fmla="*/ 637448 h 637448"/>
                <a:gd name="connsiteX8-279" fmla="*/ 0 w 484632"/>
                <a:gd name="connsiteY8-280" fmla="*/ 395132 h 637448"/>
                <a:gd name="connsiteX9-281" fmla="*/ 121158 w 484632"/>
                <a:gd name="connsiteY9-282" fmla="*/ 395132 h 637448"/>
                <a:gd name="connsiteX10-283" fmla="*/ 128666 w 484632"/>
                <a:gd name="connsiteY10-284" fmla="*/ 165100 h 637448"/>
                <a:gd name="connsiteX11-285" fmla="*/ 106091 w 484632"/>
                <a:gd name="connsiteY11-286" fmla="*/ 62893 h 637448"/>
                <a:gd name="connsiteX12-287" fmla="*/ 87784 w 484632"/>
                <a:gd name="connsiteY12-288" fmla="*/ 6350 h 637448"/>
                <a:gd name="connsiteX0-289" fmla="*/ 87784 w 484632"/>
                <a:gd name="connsiteY0-290" fmla="*/ 6350 h 637448"/>
                <a:gd name="connsiteX1-291" fmla="*/ 273387 w 484632"/>
                <a:gd name="connsiteY1-292" fmla="*/ 0 h 637448"/>
                <a:gd name="connsiteX2-293" fmla="*/ 305833 w 484632"/>
                <a:gd name="connsiteY2-294" fmla="*/ 23560 h 637448"/>
                <a:gd name="connsiteX3-295" fmla="*/ 337423 w 484632"/>
                <a:gd name="connsiteY3-296" fmla="*/ 120650 h 637448"/>
                <a:gd name="connsiteX4-297" fmla="*/ 350123 w 484632"/>
                <a:gd name="connsiteY4-298" fmla="*/ 292100 h 637448"/>
                <a:gd name="connsiteX5-299" fmla="*/ 363474 w 484632"/>
                <a:gd name="connsiteY5-300" fmla="*/ 395132 h 637448"/>
                <a:gd name="connsiteX6-301" fmla="*/ 484632 w 484632"/>
                <a:gd name="connsiteY6-302" fmla="*/ 395132 h 637448"/>
                <a:gd name="connsiteX7-303" fmla="*/ 242316 w 484632"/>
                <a:gd name="connsiteY7-304" fmla="*/ 637448 h 637448"/>
                <a:gd name="connsiteX8-305" fmla="*/ 0 w 484632"/>
                <a:gd name="connsiteY8-306" fmla="*/ 395132 h 637448"/>
                <a:gd name="connsiteX9-307" fmla="*/ 121158 w 484632"/>
                <a:gd name="connsiteY9-308" fmla="*/ 395132 h 637448"/>
                <a:gd name="connsiteX10-309" fmla="*/ 128666 w 484632"/>
                <a:gd name="connsiteY10-310" fmla="*/ 165100 h 637448"/>
                <a:gd name="connsiteX11-311" fmla="*/ 106091 w 484632"/>
                <a:gd name="connsiteY11-312" fmla="*/ 62893 h 637448"/>
                <a:gd name="connsiteX12-313" fmla="*/ 87784 w 484632"/>
                <a:gd name="connsiteY12-314" fmla="*/ 6350 h 637448"/>
                <a:gd name="connsiteX0-315" fmla="*/ 87784 w 484632"/>
                <a:gd name="connsiteY0-316" fmla="*/ 6350 h 637448"/>
                <a:gd name="connsiteX1-317" fmla="*/ 273387 w 484632"/>
                <a:gd name="connsiteY1-318" fmla="*/ 0 h 637448"/>
                <a:gd name="connsiteX2-319" fmla="*/ 305833 w 484632"/>
                <a:gd name="connsiteY2-320" fmla="*/ 23560 h 637448"/>
                <a:gd name="connsiteX3-321" fmla="*/ 337423 w 484632"/>
                <a:gd name="connsiteY3-322" fmla="*/ 120650 h 637448"/>
                <a:gd name="connsiteX4-323" fmla="*/ 350123 w 484632"/>
                <a:gd name="connsiteY4-324" fmla="*/ 292100 h 637448"/>
                <a:gd name="connsiteX5-325" fmla="*/ 363474 w 484632"/>
                <a:gd name="connsiteY5-326" fmla="*/ 395132 h 637448"/>
                <a:gd name="connsiteX6-327" fmla="*/ 484632 w 484632"/>
                <a:gd name="connsiteY6-328" fmla="*/ 395132 h 637448"/>
                <a:gd name="connsiteX7-329" fmla="*/ 242316 w 484632"/>
                <a:gd name="connsiteY7-330" fmla="*/ 637448 h 637448"/>
                <a:gd name="connsiteX8-331" fmla="*/ 0 w 484632"/>
                <a:gd name="connsiteY8-332" fmla="*/ 395132 h 637448"/>
                <a:gd name="connsiteX9-333" fmla="*/ 121158 w 484632"/>
                <a:gd name="connsiteY9-334" fmla="*/ 395132 h 637448"/>
                <a:gd name="connsiteX10-335" fmla="*/ 128666 w 484632"/>
                <a:gd name="connsiteY10-336" fmla="*/ 165100 h 637448"/>
                <a:gd name="connsiteX11-337" fmla="*/ 106091 w 484632"/>
                <a:gd name="connsiteY11-338" fmla="*/ 62893 h 637448"/>
                <a:gd name="connsiteX12-339" fmla="*/ 87784 w 484632"/>
                <a:gd name="connsiteY12-340" fmla="*/ 6350 h 637448"/>
                <a:gd name="connsiteX0-341" fmla="*/ 87784 w 484632"/>
                <a:gd name="connsiteY0-342" fmla="*/ 6350 h 637448"/>
                <a:gd name="connsiteX1-343" fmla="*/ 273387 w 484632"/>
                <a:gd name="connsiteY1-344" fmla="*/ 0 h 637448"/>
                <a:gd name="connsiteX2-345" fmla="*/ 305833 w 484632"/>
                <a:gd name="connsiteY2-346" fmla="*/ 23560 h 637448"/>
                <a:gd name="connsiteX3-347" fmla="*/ 337423 w 484632"/>
                <a:gd name="connsiteY3-348" fmla="*/ 120650 h 637448"/>
                <a:gd name="connsiteX4-349" fmla="*/ 350123 w 484632"/>
                <a:gd name="connsiteY4-350" fmla="*/ 292100 h 637448"/>
                <a:gd name="connsiteX5-351" fmla="*/ 363474 w 484632"/>
                <a:gd name="connsiteY5-352" fmla="*/ 395132 h 637448"/>
                <a:gd name="connsiteX6-353" fmla="*/ 484632 w 484632"/>
                <a:gd name="connsiteY6-354" fmla="*/ 395132 h 637448"/>
                <a:gd name="connsiteX7-355" fmla="*/ 242316 w 484632"/>
                <a:gd name="connsiteY7-356" fmla="*/ 637448 h 637448"/>
                <a:gd name="connsiteX8-357" fmla="*/ 0 w 484632"/>
                <a:gd name="connsiteY8-358" fmla="*/ 395132 h 637448"/>
                <a:gd name="connsiteX9-359" fmla="*/ 121158 w 484632"/>
                <a:gd name="connsiteY9-360" fmla="*/ 395132 h 637448"/>
                <a:gd name="connsiteX10-361" fmla="*/ 128666 w 484632"/>
                <a:gd name="connsiteY10-362" fmla="*/ 165100 h 637448"/>
                <a:gd name="connsiteX11-363" fmla="*/ 106091 w 484632"/>
                <a:gd name="connsiteY11-364" fmla="*/ 62893 h 637448"/>
                <a:gd name="connsiteX12-365" fmla="*/ 87784 w 484632"/>
                <a:gd name="connsiteY12-366" fmla="*/ 6350 h 637448"/>
                <a:gd name="connsiteX0-367" fmla="*/ 87784 w 484632"/>
                <a:gd name="connsiteY0-368" fmla="*/ 6350 h 637448"/>
                <a:gd name="connsiteX1-369" fmla="*/ 273387 w 484632"/>
                <a:gd name="connsiteY1-370" fmla="*/ 0 h 637448"/>
                <a:gd name="connsiteX2-371" fmla="*/ 305833 w 484632"/>
                <a:gd name="connsiteY2-372" fmla="*/ 23560 h 637448"/>
                <a:gd name="connsiteX3-373" fmla="*/ 337423 w 484632"/>
                <a:gd name="connsiteY3-374" fmla="*/ 120650 h 637448"/>
                <a:gd name="connsiteX4-375" fmla="*/ 350123 w 484632"/>
                <a:gd name="connsiteY4-376" fmla="*/ 292100 h 637448"/>
                <a:gd name="connsiteX5-377" fmla="*/ 363474 w 484632"/>
                <a:gd name="connsiteY5-378" fmla="*/ 395132 h 637448"/>
                <a:gd name="connsiteX6-379" fmla="*/ 484632 w 484632"/>
                <a:gd name="connsiteY6-380" fmla="*/ 395132 h 637448"/>
                <a:gd name="connsiteX7-381" fmla="*/ 242316 w 484632"/>
                <a:gd name="connsiteY7-382" fmla="*/ 637448 h 637448"/>
                <a:gd name="connsiteX8-383" fmla="*/ 0 w 484632"/>
                <a:gd name="connsiteY8-384" fmla="*/ 395132 h 637448"/>
                <a:gd name="connsiteX9-385" fmla="*/ 121158 w 484632"/>
                <a:gd name="connsiteY9-386" fmla="*/ 395132 h 637448"/>
                <a:gd name="connsiteX10-387" fmla="*/ 128666 w 484632"/>
                <a:gd name="connsiteY10-388" fmla="*/ 165100 h 637448"/>
                <a:gd name="connsiteX11-389" fmla="*/ 106091 w 484632"/>
                <a:gd name="connsiteY11-390" fmla="*/ 62893 h 637448"/>
                <a:gd name="connsiteX12-391" fmla="*/ 87784 w 484632"/>
                <a:gd name="connsiteY12-392" fmla="*/ 6350 h 637448"/>
                <a:gd name="connsiteX0-393" fmla="*/ 87784 w 484632"/>
                <a:gd name="connsiteY0-394" fmla="*/ 6350 h 637448"/>
                <a:gd name="connsiteX1-395" fmla="*/ 273387 w 484632"/>
                <a:gd name="connsiteY1-396" fmla="*/ 0 h 637448"/>
                <a:gd name="connsiteX2-397" fmla="*/ 305833 w 484632"/>
                <a:gd name="connsiteY2-398" fmla="*/ 23560 h 637448"/>
                <a:gd name="connsiteX3-399" fmla="*/ 337423 w 484632"/>
                <a:gd name="connsiteY3-400" fmla="*/ 120650 h 637448"/>
                <a:gd name="connsiteX4-401" fmla="*/ 350123 w 484632"/>
                <a:gd name="connsiteY4-402" fmla="*/ 292100 h 637448"/>
                <a:gd name="connsiteX5-403" fmla="*/ 363474 w 484632"/>
                <a:gd name="connsiteY5-404" fmla="*/ 395132 h 637448"/>
                <a:gd name="connsiteX6-405" fmla="*/ 484632 w 484632"/>
                <a:gd name="connsiteY6-406" fmla="*/ 395132 h 637448"/>
                <a:gd name="connsiteX7-407" fmla="*/ 242316 w 484632"/>
                <a:gd name="connsiteY7-408" fmla="*/ 637448 h 637448"/>
                <a:gd name="connsiteX8-409" fmla="*/ 0 w 484632"/>
                <a:gd name="connsiteY8-410" fmla="*/ 395132 h 637448"/>
                <a:gd name="connsiteX9-411" fmla="*/ 121158 w 484632"/>
                <a:gd name="connsiteY9-412" fmla="*/ 395132 h 637448"/>
                <a:gd name="connsiteX10-413" fmla="*/ 128666 w 484632"/>
                <a:gd name="connsiteY10-414" fmla="*/ 165100 h 637448"/>
                <a:gd name="connsiteX11-415" fmla="*/ 106091 w 484632"/>
                <a:gd name="connsiteY11-416" fmla="*/ 62893 h 637448"/>
                <a:gd name="connsiteX12-417" fmla="*/ 87784 w 484632"/>
                <a:gd name="connsiteY12-418" fmla="*/ 6350 h 637448"/>
                <a:gd name="connsiteX0-419" fmla="*/ 87784 w 484632"/>
                <a:gd name="connsiteY0-420" fmla="*/ 6350 h 637448"/>
                <a:gd name="connsiteX1-421" fmla="*/ 273387 w 484632"/>
                <a:gd name="connsiteY1-422" fmla="*/ 0 h 637448"/>
                <a:gd name="connsiteX2-423" fmla="*/ 305833 w 484632"/>
                <a:gd name="connsiteY2-424" fmla="*/ 23560 h 637448"/>
                <a:gd name="connsiteX3-425" fmla="*/ 324845 w 484632"/>
                <a:gd name="connsiteY3-426" fmla="*/ 120533 h 637448"/>
                <a:gd name="connsiteX4-427" fmla="*/ 350123 w 484632"/>
                <a:gd name="connsiteY4-428" fmla="*/ 292100 h 637448"/>
                <a:gd name="connsiteX5-429" fmla="*/ 363474 w 484632"/>
                <a:gd name="connsiteY5-430" fmla="*/ 395132 h 637448"/>
                <a:gd name="connsiteX6-431" fmla="*/ 484632 w 484632"/>
                <a:gd name="connsiteY6-432" fmla="*/ 395132 h 637448"/>
                <a:gd name="connsiteX7-433" fmla="*/ 242316 w 484632"/>
                <a:gd name="connsiteY7-434" fmla="*/ 637448 h 637448"/>
                <a:gd name="connsiteX8-435" fmla="*/ 0 w 484632"/>
                <a:gd name="connsiteY8-436" fmla="*/ 395132 h 637448"/>
                <a:gd name="connsiteX9-437" fmla="*/ 121158 w 484632"/>
                <a:gd name="connsiteY9-438" fmla="*/ 395132 h 637448"/>
                <a:gd name="connsiteX10-439" fmla="*/ 128666 w 484632"/>
                <a:gd name="connsiteY10-440" fmla="*/ 165100 h 637448"/>
                <a:gd name="connsiteX11-441" fmla="*/ 106091 w 484632"/>
                <a:gd name="connsiteY11-442" fmla="*/ 62893 h 637448"/>
                <a:gd name="connsiteX12-443" fmla="*/ 87784 w 484632"/>
                <a:gd name="connsiteY12-444" fmla="*/ 6350 h 637448"/>
                <a:gd name="connsiteX0-445" fmla="*/ 87784 w 484632"/>
                <a:gd name="connsiteY0-446" fmla="*/ 6350 h 637448"/>
                <a:gd name="connsiteX1-447" fmla="*/ 273387 w 484632"/>
                <a:gd name="connsiteY1-448" fmla="*/ 0 h 637448"/>
                <a:gd name="connsiteX2-449" fmla="*/ 293172 w 484632"/>
                <a:gd name="connsiteY2-450" fmla="*/ 32427 h 637448"/>
                <a:gd name="connsiteX3-451" fmla="*/ 324845 w 484632"/>
                <a:gd name="connsiteY3-452" fmla="*/ 120533 h 637448"/>
                <a:gd name="connsiteX4-453" fmla="*/ 350123 w 484632"/>
                <a:gd name="connsiteY4-454" fmla="*/ 292100 h 637448"/>
                <a:gd name="connsiteX5-455" fmla="*/ 363474 w 484632"/>
                <a:gd name="connsiteY5-456" fmla="*/ 395132 h 637448"/>
                <a:gd name="connsiteX6-457" fmla="*/ 484632 w 484632"/>
                <a:gd name="connsiteY6-458" fmla="*/ 395132 h 637448"/>
                <a:gd name="connsiteX7-459" fmla="*/ 242316 w 484632"/>
                <a:gd name="connsiteY7-460" fmla="*/ 637448 h 637448"/>
                <a:gd name="connsiteX8-461" fmla="*/ 0 w 484632"/>
                <a:gd name="connsiteY8-462" fmla="*/ 395132 h 637448"/>
                <a:gd name="connsiteX9-463" fmla="*/ 121158 w 484632"/>
                <a:gd name="connsiteY9-464" fmla="*/ 395132 h 637448"/>
                <a:gd name="connsiteX10-465" fmla="*/ 128666 w 484632"/>
                <a:gd name="connsiteY10-466" fmla="*/ 165100 h 637448"/>
                <a:gd name="connsiteX11-467" fmla="*/ 106091 w 484632"/>
                <a:gd name="connsiteY11-468" fmla="*/ 62893 h 637448"/>
                <a:gd name="connsiteX12-469" fmla="*/ 87784 w 484632"/>
                <a:gd name="connsiteY12-470" fmla="*/ 6350 h 637448"/>
                <a:gd name="connsiteX0-471" fmla="*/ 87784 w 484632"/>
                <a:gd name="connsiteY0-472" fmla="*/ 4855 h 635953"/>
                <a:gd name="connsiteX1-473" fmla="*/ 241027 w 484632"/>
                <a:gd name="connsiteY1-474" fmla="*/ 0 h 635953"/>
                <a:gd name="connsiteX2-475" fmla="*/ 293172 w 484632"/>
                <a:gd name="connsiteY2-476" fmla="*/ 30932 h 635953"/>
                <a:gd name="connsiteX3-477" fmla="*/ 324845 w 484632"/>
                <a:gd name="connsiteY3-478" fmla="*/ 119038 h 635953"/>
                <a:gd name="connsiteX4-479" fmla="*/ 350123 w 484632"/>
                <a:gd name="connsiteY4-480" fmla="*/ 290605 h 635953"/>
                <a:gd name="connsiteX5-481" fmla="*/ 363474 w 484632"/>
                <a:gd name="connsiteY5-482" fmla="*/ 393637 h 635953"/>
                <a:gd name="connsiteX6-483" fmla="*/ 484632 w 484632"/>
                <a:gd name="connsiteY6-484" fmla="*/ 393637 h 635953"/>
                <a:gd name="connsiteX7-485" fmla="*/ 242316 w 484632"/>
                <a:gd name="connsiteY7-486" fmla="*/ 635953 h 635953"/>
                <a:gd name="connsiteX8-487" fmla="*/ 0 w 484632"/>
                <a:gd name="connsiteY8-488" fmla="*/ 393637 h 635953"/>
                <a:gd name="connsiteX9-489" fmla="*/ 121158 w 484632"/>
                <a:gd name="connsiteY9-490" fmla="*/ 393637 h 635953"/>
                <a:gd name="connsiteX10-491" fmla="*/ 128666 w 484632"/>
                <a:gd name="connsiteY10-492" fmla="*/ 163605 h 635953"/>
                <a:gd name="connsiteX11-493" fmla="*/ 106091 w 484632"/>
                <a:gd name="connsiteY11-494" fmla="*/ 61398 h 635953"/>
                <a:gd name="connsiteX12-495" fmla="*/ 87784 w 484632"/>
                <a:gd name="connsiteY12-496" fmla="*/ 4855 h 635953"/>
                <a:gd name="connsiteX0-497" fmla="*/ 87784 w 484632"/>
                <a:gd name="connsiteY0-498" fmla="*/ 4855 h 635953"/>
                <a:gd name="connsiteX1-499" fmla="*/ 241027 w 484632"/>
                <a:gd name="connsiteY1-500" fmla="*/ 0 h 635953"/>
                <a:gd name="connsiteX2-501" fmla="*/ 293172 w 484632"/>
                <a:gd name="connsiteY2-502" fmla="*/ 30932 h 635953"/>
                <a:gd name="connsiteX3-503" fmla="*/ 324845 w 484632"/>
                <a:gd name="connsiteY3-504" fmla="*/ 119038 h 635953"/>
                <a:gd name="connsiteX4-505" fmla="*/ 350123 w 484632"/>
                <a:gd name="connsiteY4-506" fmla="*/ 290605 h 635953"/>
                <a:gd name="connsiteX5-507" fmla="*/ 363474 w 484632"/>
                <a:gd name="connsiteY5-508" fmla="*/ 393637 h 635953"/>
                <a:gd name="connsiteX6-509" fmla="*/ 484632 w 484632"/>
                <a:gd name="connsiteY6-510" fmla="*/ 393637 h 635953"/>
                <a:gd name="connsiteX7-511" fmla="*/ 242316 w 484632"/>
                <a:gd name="connsiteY7-512" fmla="*/ 635953 h 635953"/>
                <a:gd name="connsiteX8-513" fmla="*/ 0 w 484632"/>
                <a:gd name="connsiteY8-514" fmla="*/ 393637 h 635953"/>
                <a:gd name="connsiteX9-515" fmla="*/ 121158 w 484632"/>
                <a:gd name="connsiteY9-516" fmla="*/ 393637 h 635953"/>
                <a:gd name="connsiteX10-517" fmla="*/ 128666 w 484632"/>
                <a:gd name="connsiteY10-518" fmla="*/ 163605 h 635953"/>
                <a:gd name="connsiteX11-519" fmla="*/ 106091 w 484632"/>
                <a:gd name="connsiteY11-520" fmla="*/ 61398 h 635953"/>
                <a:gd name="connsiteX12-521" fmla="*/ 87784 w 484632"/>
                <a:gd name="connsiteY12-522" fmla="*/ 4855 h 635953"/>
                <a:gd name="connsiteX0-523" fmla="*/ 87784 w 484632"/>
                <a:gd name="connsiteY0-524" fmla="*/ 4855 h 635953"/>
                <a:gd name="connsiteX1-525" fmla="*/ 241027 w 484632"/>
                <a:gd name="connsiteY1-526" fmla="*/ 0 h 635953"/>
                <a:gd name="connsiteX2-527" fmla="*/ 282324 w 484632"/>
                <a:gd name="connsiteY2-528" fmla="*/ 38019 h 635953"/>
                <a:gd name="connsiteX3-529" fmla="*/ 324845 w 484632"/>
                <a:gd name="connsiteY3-530" fmla="*/ 119038 h 635953"/>
                <a:gd name="connsiteX4-531" fmla="*/ 350123 w 484632"/>
                <a:gd name="connsiteY4-532" fmla="*/ 290605 h 635953"/>
                <a:gd name="connsiteX5-533" fmla="*/ 363474 w 484632"/>
                <a:gd name="connsiteY5-534" fmla="*/ 393637 h 635953"/>
                <a:gd name="connsiteX6-535" fmla="*/ 484632 w 484632"/>
                <a:gd name="connsiteY6-536" fmla="*/ 393637 h 635953"/>
                <a:gd name="connsiteX7-537" fmla="*/ 242316 w 484632"/>
                <a:gd name="connsiteY7-538" fmla="*/ 635953 h 635953"/>
                <a:gd name="connsiteX8-539" fmla="*/ 0 w 484632"/>
                <a:gd name="connsiteY8-540" fmla="*/ 393637 h 635953"/>
                <a:gd name="connsiteX9-541" fmla="*/ 121158 w 484632"/>
                <a:gd name="connsiteY9-542" fmla="*/ 393637 h 635953"/>
                <a:gd name="connsiteX10-543" fmla="*/ 128666 w 484632"/>
                <a:gd name="connsiteY10-544" fmla="*/ 163605 h 635953"/>
                <a:gd name="connsiteX11-545" fmla="*/ 106091 w 484632"/>
                <a:gd name="connsiteY11-546" fmla="*/ 61398 h 635953"/>
                <a:gd name="connsiteX12-547" fmla="*/ 87784 w 484632"/>
                <a:gd name="connsiteY12-548" fmla="*/ 4855 h 635953"/>
                <a:gd name="connsiteX0-549" fmla="*/ 87784 w 484632"/>
                <a:gd name="connsiteY0-550" fmla="*/ 4855 h 635953"/>
                <a:gd name="connsiteX1-551" fmla="*/ 241027 w 484632"/>
                <a:gd name="connsiteY1-552" fmla="*/ 0 h 635953"/>
                <a:gd name="connsiteX2-553" fmla="*/ 282324 w 484632"/>
                <a:gd name="connsiteY2-554" fmla="*/ 38019 h 635953"/>
                <a:gd name="connsiteX3-555" fmla="*/ 324845 w 484632"/>
                <a:gd name="connsiteY3-556" fmla="*/ 119038 h 635953"/>
                <a:gd name="connsiteX4-557" fmla="*/ 350123 w 484632"/>
                <a:gd name="connsiteY4-558" fmla="*/ 290605 h 635953"/>
                <a:gd name="connsiteX5-559" fmla="*/ 363474 w 484632"/>
                <a:gd name="connsiteY5-560" fmla="*/ 393637 h 635953"/>
                <a:gd name="connsiteX6-561" fmla="*/ 484632 w 484632"/>
                <a:gd name="connsiteY6-562" fmla="*/ 393637 h 635953"/>
                <a:gd name="connsiteX7-563" fmla="*/ 242316 w 484632"/>
                <a:gd name="connsiteY7-564" fmla="*/ 635953 h 635953"/>
                <a:gd name="connsiteX8-565" fmla="*/ 0 w 484632"/>
                <a:gd name="connsiteY8-566" fmla="*/ 393637 h 635953"/>
                <a:gd name="connsiteX9-567" fmla="*/ 121158 w 484632"/>
                <a:gd name="connsiteY9-568" fmla="*/ 393637 h 635953"/>
                <a:gd name="connsiteX10-569" fmla="*/ 128666 w 484632"/>
                <a:gd name="connsiteY10-570" fmla="*/ 163605 h 635953"/>
                <a:gd name="connsiteX11-571" fmla="*/ 106091 w 484632"/>
                <a:gd name="connsiteY11-572" fmla="*/ 61398 h 635953"/>
                <a:gd name="connsiteX12-573" fmla="*/ 87784 w 484632"/>
                <a:gd name="connsiteY12-574" fmla="*/ 4855 h 635953"/>
                <a:gd name="connsiteX0-575" fmla="*/ 87784 w 484632"/>
                <a:gd name="connsiteY0-576" fmla="*/ 4855 h 635953"/>
                <a:gd name="connsiteX1-577" fmla="*/ 241027 w 484632"/>
                <a:gd name="connsiteY1-578" fmla="*/ 0 h 635953"/>
                <a:gd name="connsiteX2-579" fmla="*/ 282324 w 484632"/>
                <a:gd name="connsiteY2-580" fmla="*/ 38019 h 635953"/>
                <a:gd name="connsiteX3-581" fmla="*/ 315827 w 484632"/>
                <a:gd name="connsiteY3-582" fmla="*/ 122548 h 635953"/>
                <a:gd name="connsiteX4-583" fmla="*/ 350123 w 484632"/>
                <a:gd name="connsiteY4-584" fmla="*/ 290605 h 635953"/>
                <a:gd name="connsiteX5-585" fmla="*/ 363474 w 484632"/>
                <a:gd name="connsiteY5-586" fmla="*/ 393637 h 635953"/>
                <a:gd name="connsiteX6-587" fmla="*/ 484632 w 484632"/>
                <a:gd name="connsiteY6-588" fmla="*/ 393637 h 635953"/>
                <a:gd name="connsiteX7-589" fmla="*/ 242316 w 484632"/>
                <a:gd name="connsiteY7-590" fmla="*/ 635953 h 635953"/>
                <a:gd name="connsiteX8-591" fmla="*/ 0 w 484632"/>
                <a:gd name="connsiteY8-592" fmla="*/ 393637 h 635953"/>
                <a:gd name="connsiteX9-593" fmla="*/ 121158 w 484632"/>
                <a:gd name="connsiteY9-594" fmla="*/ 393637 h 635953"/>
                <a:gd name="connsiteX10-595" fmla="*/ 128666 w 484632"/>
                <a:gd name="connsiteY10-596" fmla="*/ 163605 h 635953"/>
                <a:gd name="connsiteX11-597" fmla="*/ 106091 w 484632"/>
                <a:gd name="connsiteY11-598" fmla="*/ 61398 h 635953"/>
                <a:gd name="connsiteX12-599" fmla="*/ 87784 w 484632"/>
                <a:gd name="connsiteY12-600" fmla="*/ 4855 h 635953"/>
                <a:gd name="connsiteX0-601" fmla="*/ 87784 w 484632"/>
                <a:gd name="connsiteY0-602" fmla="*/ 4855 h 635953"/>
                <a:gd name="connsiteX1-603" fmla="*/ 241027 w 484632"/>
                <a:gd name="connsiteY1-604" fmla="*/ 0 h 635953"/>
                <a:gd name="connsiteX2-605" fmla="*/ 282324 w 484632"/>
                <a:gd name="connsiteY2-606" fmla="*/ 38019 h 635953"/>
                <a:gd name="connsiteX3-607" fmla="*/ 315827 w 484632"/>
                <a:gd name="connsiteY3-608" fmla="*/ 122548 h 635953"/>
                <a:gd name="connsiteX4-609" fmla="*/ 350123 w 484632"/>
                <a:gd name="connsiteY4-610" fmla="*/ 290605 h 635953"/>
                <a:gd name="connsiteX5-611" fmla="*/ 363474 w 484632"/>
                <a:gd name="connsiteY5-612" fmla="*/ 393637 h 635953"/>
                <a:gd name="connsiteX6-613" fmla="*/ 484632 w 484632"/>
                <a:gd name="connsiteY6-614" fmla="*/ 393637 h 635953"/>
                <a:gd name="connsiteX7-615" fmla="*/ 242316 w 484632"/>
                <a:gd name="connsiteY7-616" fmla="*/ 635953 h 635953"/>
                <a:gd name="connsiteX8-617" fmla="*/ 0 w 484632"/>
                <a:gd name="connsiteY8-618" fmla="*/ 393637 h 635953"/>
                <a:gd name="connsiteX9-619" fmla="*/ 121158 w 484632"/>
                <a:gd name="connsiteY9-620" fmla="*/ 393637 h 635953"/>
                <a:gd name="connsiteX10-621" fmla="*/ 128666 w 484632"/>
                <a:gd name="connsiteY10-622" fmla="*/ 163605 h 635953"/>
                <a:gd name="connsiteX11-623" fmla="*/ 106091 w 484632"/>
                <a:gd name="connsiteY11-624" fmla="*/ 61398 h 635953"/>
                <a:gd name="connsiteX12-625" fmla="*/ 87784 w 484632"/>
                <a:gd name="connsiteY12-626" fmla="*/ 4855 h 635953"/>
                <a:gd name="connsiteX0-627" fmla="*/ 87784 w 484632"/>
                <a:gd name="connsiteY0-628" fmla="*/ 4855 h 635953"/>
                <a:gd name="connsiteX1-629" fmla="*/ 241027 w 484632"/>
                <a:gd name="connsiteY1-630" fmla="*/ 0 h 635953"/>
                <a:gd name="connsiteX2-631" fmla="*/ 282324 w 484632"/>
                <a:gd name="connsiteY2-632" fmla="*/ 38019 h 635953"/>
                <a:gd name="connsiteX3-633" fmla="*/ 315827 w 484632"/>
                <a:gd name="connsiteY3-634" fmla="*/ 122548 h 635953"/>
                <a:gd name="connsiteX4-635" fmla="*/ 350123 w 484632"/>
                <a:gd name="connsiteY4-636" fmla="*/ 290605 h 635953"/>
                <a:gd name="connsiteX5-637" fmla="*/ 363474 w 484632"/>
                <a:gd name="connsiteY5-638" fmla="*/ 393637 h 635953"/>
                <a:gd name="connsiteX6-639" fmla="*/ 484632 w 484632"/>
                <a:gd name="connsiteY6-640" fmla="*/ 393637 h 635953"/>
                <a:gd name="connsiteX7-641" fmla="*/ 242316 w 484632"/>
                <a:gd name="connsiteY7-642" fmla="*/ 635953 h 635953"/>
                <a:gd name="connsiteX8-643" fmla="*/ 0 w 484632"/>
                <a:gd name="connsiteY8-644" fmla="*/ 393637 h 635953"/>
                <a:gd name="connsiteX9-645" fmla="*/ 121158 w 484632"/>
                <a:gd name="connsiteY9-646" fmla="*/ 393637 h 635953"/>
                <a:gd name="connsiteX10-647" fmla="*/ 128666 w 484632"/>
                <a:gd name="connsiteY10-648" fmla="*/ 163605 h 635953"/>
                <a:gd name="connsiteX11-649" fmla="*/ 106091 w 484632"/>
                <a:gd name="connsiteY11-650" fmla="*/ 61398 h 635953"/>
                <a:gd name="connsiteX12-651" fmla="*/ 87784 w 484632"/>
                <a:gd name="connsiteY12-652" fmla="*/ 4855 h 635953"/>
                <a:gd name="connsiteX0-653" fmla="*/ 87784 w 484632"/>
                <a:gd name="connsiteY0-654" fmla="*/ 4855 h 635953"/>
                <a:gd name="connsiteX1-655" fmla="*/ 241027 w 484632"/>
                <a:gd name="connsiteY1-656" fmla="*/ 0 h 635953"/>
                <a:gd name="connsiteX2-657" fmla="*/ 282324 w 484632"/>
                <a:gd name="connsiteY2-658" fmla="*/ 38019 h 635953"/>
                <a:gd name="connsiteX3-659" fmla="*/ 315827 w 484632"/>
                <a:gd name="connsiteY3-660" fmla="*/ 122548 h 635953"/>
                <a:gd name="connsiteX4-661" fmla="*/ 339342 w 484632"/>
                <a:gd name="connsiteY4-662" fmla="*/ 290505 h 635953"/>
                <a:gd name="connsiteX5-663" fmla="*/ 363474 w 484632"/>
                <a:gd name="connsiteY5-664" fmla="*/ 393637 h 635953"/>
                <a:gd name="connsiteX6-665" fmla="*/ 484632 w 484632"/>
                <a:gd name="connsiteY6-666" fmla="*/ 393637 h 635953"/>
                <a:gd name="connsiteX7-667" fmla="*/ 242316 w 484632"/>
                <a:gd name="connsiteY7-668" fmla="*/ 635953 h 635953"/>
                <a:gd name="connsiteX8-669" fmla="*/ 0 w 484632"/>
                <a:gd name="connsiteY8-670" fmla="*/ 393637 h 635953"/>
                <a:gd name="connsiteX9-671" fmla="*/ 121158 w 484632"/>
                <a:gd name="connsiteY9-672" fmla="*/ 393637 h 635953"/>
                <a:gd name="connsiteX10-673" fmla="*/ 128666 w 484632"/>
                <a:gd name="connsiteY10-674" fmla="*/ 163605 h 635953"/>
                <a:gd name="connsiteX11-675" fmla="*/ 106091 w 484632"/>
                <a:gd name="connsiteY11-676" fmla="*/ 61398 h 635953"/>
                <a:gd name="connsiteX12-677" fmla="*/ 87784 w 484632"/>
                <a:gd name="connsiteY12-678" fmla="*/ 4855 h 635953"/>
              </a:gdLst>
              <a:ahLst/>
              <a:cxnLst>
                <a:cxn ang="0">
                  <a:pos x="connsiteX0-653" y="connsiteY0-654"/>
                </a:cxn>
                <a:cxn ang="0">
                  <a:pos x="connsiteX1-655" y="connsiteY1-656"/>
                </a:cxn>
                <a:cxn ang="0">
                  <a:pos x="connsiteX2-657" y="connsiteY2-658"/>
                </a:cxn>
                <a:cxn ang="0">
                  <a:pos x="connsiteX3-659" y="connsiteY3-660"/>
                </a:cxn>
                <a:cxn ang="0">
                  <a:pos x="connsiteX4-661" y="connsiteY4-662"/>
                </a:cxn>
                <a:cxn ang="0">
                  <a:pos x="connsiteX5-663" y="connsiteY5-664"/>
                </a:cxn>
                <a:cxn ang="0">
                  <a:pos x="connsiteX6-665" y="connsiteY6-666"/>
                </a:cxn>
                <a:cxn ang="0">
                  <a:pos x="connsiteX7-667" y="connsiteY7-668"/>
                </a:cxn>
                <a:cxn ang="0">
                  <a:pos x="connsiteX8-669" y="connsiteY8-670"/>
                </a:cxn>
                <a:cxn ang="0">
                  <a:pos x="connsiteX9-671" y="connsiteY9-672"/>
                </a:cxn>
                <a:cxn ang="0">
                  <a:pos x="connsiteX10-673" y="connsiteY10-674"/>
                </a:cxn>
                <a:cxn ang="0">
                  <a:pos x="connsiteX11-675" y="connsiteY11-676"/>
                </a:cxn>
                <a:cxn ang="0">
                  <a:pos x="connsiteX12-677" y="connsiteY12-678"/>
                </a:cxn>
              </a:cxnLst>
              <a:rect l="l" t="t" r="r" b="b"/>
              <a:pathLst>
                <a:path w="484632" h="635953">
                  <a:moveTo>
                    <a:pt x="87784" y="4855"/>
                  </a:moveTo>
                  <a:lnTo>
                    <a:pt x="241027" y="0"/>
                  </a:lnTo>
                  <a:cubicBezTo>
                    <a:pt x="254793" y="12673"/>
                    <a:pt x="261471" y="14498"/>
                    <a:pt x="282324" y="38019"/>
                  </a:cubicBezTo>
                  <a:cubicBezTo>
                    <a:pt x="297224" y="76769"/>
                    <a:pt x="307620" y="88356"/>
                    <a:pt x="315827" y="122548"/>
                  </a:cubicBezTo>
                  <a:cubicBezTo>
                    <a:pt x="327557" y="167674"/>
                    <a:pt x="335000" y="244758"/>
                    <a:pt x="339342" y="290505"/>
                  </a:cubicBezTo>
                  <a:cubicBezTo>
                    <a:pt x="343684" y="336252"/>
                    <a:pt x="339997" y="378582"/>
                    <a:pt x="363474" y="393637"/>
                  </a:cubicBezTo>
                  <a:lnTo>
                    <a:pt x="484632" y="393637"/>
                  </a:lnTo>
                  <a:lnTo>
                    <a:pt x="242316" y="635953"/>
                  </a:lnTo>
                  <a:lnTo>
                    <a:pt x="0" y="393637"/>
                  </a:lnTo>
                  <a:lnTo>
                    <a:pt x="121158" y="393637"/>
                  </a:lnTo>
                  <a:cubicBezTo>
                    <a:pt x="130828" y="356357"/>
                    <a:pt x="141570" y="240572"/>
                    <a:pt x="128666" y="163605"/>
                  </a:cubicBezTo>
                  <a:cubicBezTo>
                    <a:pt x="118643" y="117977"/>
                    <a:pt x="112573" y="99641"/>
                    <a:pt x="106091" y="61398"/>
                  </a:cubicBezTo>
                  <a:lnTo>
                    <a:pt x="87784" y="4855"/>
                  </a:lnTo>
                  <a:close/>
                </a:path>
              </a:pathLst>
            </a:custGeom>
            <a:solidFill>
              <a:srgbClr val="A4C47E"/>
            </a:soli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sp>
          <p:nvSpPr>
            <p:cNvPr id="64" name="任意多边形 63"/>
            <p:cNvSpPr/>
            <p:nvPr>
              <p:custDataLst>
                <p:tags r:id="rId19"/>
              </p:custDataLst>
            </p:nvPr>
          </p:nvSpPr>
          <p:spPr>
            <a:xfrm rot="7200000">
              <a:off x="5614800" y="4313510"/>
              <a:ext cx="330803" cy="844731"/>
            </a:xfrm>
            <a:custGeom>
              <a:avLst/>
              <a:gdLst>
                <a:gd name="connsiteX0" fmla="*/ 17934 w 249630"/>
                <a:gd name="connsiteY0" fmla="*/ 0 h 637448"/>
                <a:gd name="connsiteX1" fmla="*/ 125448 w 249630"/>
                <a:gd name="connsiteY1" fmla="*/ 0 h 637448"/>
                <a:gd name="connsiteX2" fmla="*/ 153677 w 249630"/>
                <a:gd name="connsiteY2" fmla="*/ 56382 h 637448"/>
                <a:gd name="connsiteX3" fmla="*/ 244011 w 249630"/>
                <a:gd name="connsiteY3" fmla="*/ 628536 h 637448"/>
                <a:gd name="connsiteX4" fmla="*/ 242721 w 249630"/>
                <a:gd name="connsiteY4" fmla="*/ 637044 h 637448"/>
                <a:gd name="connsiteX5" fmla="*/ 242316 w 249630"/>
                <a:gd name="connsiteY5" fmla="*/ 637448 h 637448"/>
                <a:gd name="connsiteX6" fmla="*/ 0 w 249630"/>
                <a:gd name="connsiteY6" fmla="*/ 395132 h 637448"/>
                <a:gd name="connsiteX7" fmla="*/ 121158 w 249630"/>
                <a:gd name="connsiteY7" fmla="*/ 395132 h 637448"/>
                <a:gd name="connsiteX8" fmla="*/ 89773 w 249630"/>
                <a:gd name="connsiteY8" fmla="*/ 171450 h 637448"/>
                <a:gd name="connsiteX9" fmla="*/ 48941 w 249630"/>
                <a:gd name="connsiteY9" fmla="*/ 69243 h 63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9630" h="637448">
                  <a:moveTo>
                    <a:pt x="17934" y="0"/>
                  </a:moveTo>
                  <a:lnTo>
                    <a:pt x="125448" y="0"/>
                  </a:lnTo>
                  <a:lnTo>
                    <a:pt x="153677" y="56382"/>
                  </a:lnTo>
                  <a:cubicBezTo>
                    <a:pt x="232580" y="236753"/>
                    <a:pt x="263370" y="433895"/>
                    <a:pt x="244011" y="628536"/>
                  </a:cubicBezTo>
                  <a:lnTo>
                    <a:pt x="242721" y="637044"/>
                  </a:lnTo>
                  <a:lnTo>
                    <a:pt x="242316" y="637448"/>
                  </a:lnTo>
                  <a:lnTo>
                    <a:pt x="0" y="395132"/>
                  </a:lnTo>
                  <a:lnTo>
                    <a:pt x="121158" y="395132"/>
                  </a:lnTo>
                  <a:cubicBezTo>
                    <a:pt x="130828" y="357852"/>
                    <a:pt x="109821" y="243655"/>
                    <a:pt x="89773" y="171450"/>
                  </a:cubicBezTo>
                  <a:cubicBezTo>
                    <a:pt x="79750" y="135348"/>
                    <a:pt x="64948" y="102723"/>
                    <a:pt x="48941" y="69243"/>
                  </a:cubicBezTo>
                  <a:close/>
                </a:path>
              </a:pathLst>
            </a:custGeom>
            <a:gradFill>
              <a:gsLst>
                <a:gs pos="53000">
                  <a:srgbClr val="A4C47E">
                    <a:lumMod val="75000"/>
                  </a:srgbClr>
                </a:gs>
                <a:gs pos="0">
                  <a:srgbClr val="A4C47E">
                    <a:lumMod val="75000"/>
                    <a:alpha val="0"/>
                  </a:srgbClr>
                </a:gs>
                <a:gs pos="100000">
                  <a:srgbClr val="A4C47E">
                    <a:lumMod val="75000"/>
                  </a:srgbClr>
                </a:gs>
              </a:gsLst>
              <a:lin ang="5400000" scaled="1"/>
            </a:gra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grpSp>
      <p:grpSp>
        <p:nvGrpSpPr>
          <p:cNvPr id="65" name="组合 64"/>
          <p:cNvGrpSpPr/>
          <p:nvPr>
            <p:custDataLst>
              <p:tags r:id="rId6"/>
            </p:custDataLst>
          </p:nvPr>
        </p:nvGrpSpPr>
        <p:grpSpPr>
          <a:xfrm rot="900000">
            <a:off x="4566285" y="4752975"/>
            <a:ext cx="844550" cy="588010"/>
            <a:chOff x="5280115" y="4549118"/>
            <a:chExt cx="922452" cy="642222"/>
          </a:xfrm>
        </p:grpSpPr>
        <p:sp>
          <p:nvSpPr>
            <p:cNvPr id="66" name="任意多边形 65"/>
            <p:cNvSpPr/>
            <p:nvPr>
              <p:custDataLst>
                <p:tags r:id="rId16"/>
              </p:custDataLst>
            </p:nvPr>
          </p:nvSpPr>
          <p:spPr>
            <a:xfrm rot="7200000">
              <a:off x="5380379" y="4448854"/>
              <a:ext cx="642222" cy="842750"/>
            </a:xfrm>
            <a:custGeom>
              <a:avLst/>
              <a:gdLst>
                <a:gd name="connsiteX0" fmla="*/ 17934 w 484632"/>
                <a:gd name="connsiteY0" fmla="*/ 0 h 637448"/>
                <a:gd name="connsiteX1" fmla="*/ 273387 w 484632"/>
                <a:gd name="connsiteY1" fmla="*/ 0 h 637448"/>
                <a:gd name="connsiteX2" fmla="*/ 280433 w 484632"/>
                <a:gd name="connsiteY2" fmla="*/ 17210 h 637448"/>
                <a:gd name="connsiteX3" fmla="*/ 318373 w 484632"/>
                <a:gd name="connsiteY3" fmla="*/ 120650 h 637448"/>
                <a:gd name="connsiteX4" fmla="*/ 363474 w 484632"/>
                <a:gd name="connsiteY4" fmla="*/ 395132 h 637448"/>
                <a:gd name="connsiteX5" fmla="*/ 484632 w 484632"/>
                <a:gd name="connsiteY5" fmla="*/ 395132 h 637448"/>
                <a:gd name="connsiteX6" fmla="*/ 242316 w 484632"/>
                <a:gd name="connsiteY6" fmla="*/ 637448 h 637448"/>
                <a:gd name="connsiteX7" fmla="*/ 0 w 484632"/>
                <a:gd name="connsiteY7" fmla="*/ 395132 h 637448"/>
                <a:gd name="connsiteX8" fmla="*/ 121158 w 484632"/>
                <a:gd name="connsiteY8" fmla="*/ 395132 h 637448"/>
                <a:gd name="connsiteX9" fmla="*/ 89773 w 484632"/>
                <a:gd name="connsiteY9" fmla="*/ 171450 h 637448"/>
                <a:gd name="connsiteX10" fmla="*/ 48941 w 484632"/>
                <a:gd name="connsiteY10" fmla="*/ 69243 h 637448"/>
                <a:gd name="connsiteX0-1" fmla="*/ 17934 w 484632"/>
                <a:gd name="connsiteY0-2" fmla="*/ 0 h 637448"/>
                <a:gd name="connsiteX1-3" fmla="*/ 273387 w 484632"/>
                <a:gd name="connsiteY1-4" fmla="*/ 0 h 637448"/>
                <a:gd name="connsiteX2-5" fmla="*/ 280433 w 484632"/>
                <a:gd name="connsiteY2-6" fmla="*/ 17210 h 637448"/>
                <a:gd name="connsiteX3-7" fmla="*/ 337423 w 484632"/>
                <a:gd name="connsiteY3-8" fmla="*/ 120650 h 637448"/>
                <a:gd name="connsiteX4-9" fmla="*/ 363474 w 484632"/>
                <a:gd name="connsiteY4-10" fmla="*/ 395132 h 637448"/>
                <a:gd name="connsiteX5-11" fmla="*/ 484632 w 484632"/>
                <a:gd name="connsiteY5-12" fmla="*/ 395132 h 637448"/>
                <a:gd name="connsiteX6-13" fmla="*/ 242316 w 484632"/>
                <a:gd name="connsiteY6-14" fmla="*/ 637448 h 637448"/>
                <a:gd name="connsiteX7-15" fmla="*/ 0 w 484632"/>
                <a:gd name="connsiteY7-16" fmla="*/ 395132 h 637448"/>
                <a:gd name="connsiteX8-17" fmla="*/ 121158 w 484632"/>
                <a:gd name="connsiteY8-18" fmla="*/ 395132 h 637448"/>
                <a:gd name="connsiteX9-19" fmla="*/ 89773 w 484632"/>
                <a:gd name="connsiteY9-20" fmla="*/ 171450 h 637448"/>
                <a:gd name="connsiteX10-21" fmla="*/ 48941 w 484632"/>
                <a:gd name="connsiteY10-22" fmla="*/ 69243 h 637448"/>
                <a:gd name="connsiteX11" fmla="*/ 17934 w 484632"/>
                <a:gd name="connsiteY11" fmla="*/ 0 h 637448"/>
                <a:gd name="connsiteX0-23" fmla="*/ 17934 w 484632"/>
                <a:gd name="connsiteY0-24" fmla="*/ 0 h 637448"/>
                <a:gd name="connsiteX1-25" fmla="*/ 273387 w 484632"/>
                <a:gd name="connsiteY1-26" fmla="*/ 0 h 637448"/>
                <a:gd name="connsiteX2-27" fmla="*/ 280433 w 484632"/>
                <a:gd name="connsiteY2-28" fmla="*/ 17210 h 637448"/>
                <a:gd name="connsiteX3-29" fmla="*/ 337423 w 484632"/>
                <a:gd name="connsiteY3-30" fmla="*/ 120650 h 637448"/>
                <a:gd name="connsiteX4-31" fmla="*/ 363474 w 484632"/>
                <a:gd name="connsiteY4-32" fmla="*/ 395132 h 637448"/>
                <a:gd name="connsiteX5-33" fmla="*/ 484632 w 484632"/>
                <a:gd name="connsiteY5-34" fmla="*/ 395132 h 637448"/>
                <a:gd name="connsiteX6-35" fmla="*/ 242316 w 484632"/>
                <a:gd name="connsiteY6-36" fmla="*/ 637448 h 637448"/>
                <a:gd name="connsiteX7-37" fmla="*/ 0 w 484632"/>
                <a:gd name="connsiteY7-38" fmla="*/ 395132 h 637448"/>
                <a:gd name="connsiteX8-39" fmla="*/ 121158 w 484632"/>
                <a:gd name="connsiteY8-40" fmla="*/ 395132 h 637448"/>
                <a:gd name="connsiteX9-41" fmla="*/ 89773 w 484632"/>
                <a:gd name="connsiteY9-42" fmla="*/ 171450 h 637448"/>
                <a:gd name="connsiteX10-43" fmla="*/ 48941 w 484632"/>
                <a:gd name="connsiteY10-44" fmla="*/ 69243 h 637448"/>
                <a:gd name="connsiteX11-45" fmla="*/ 17934 w 484632"/>
                <a:gd name="connsiteY11-46" fmla="*/ 0 h 637448"/>
                <a:gd name="connsiteX0-47" fmla="*/ 17934 w 484632"/>
                <a:gd name="connsiteY0-48" fmla="*/ 0 h 637448"/>
                <a:gd name="connsiteX1-49" fmla="*/ 273387 w 484632"/>
                <a:gd name="connsiteY1-50" fmla="*/ 0 h 637448"/>
                <a:gd name="connsiteX2-51" fmla="*/ 280433 w 484632"/>
                <a:gd name="connsiteY2-52" fmla="*/ 17210 h 637448"/>
                <a:gd name="connsiteX3-53" fmla="*/ 337423 w 484632"/>
                <a:gd name="connsiteY3-54" fmla="*/ 120650 h 637448"/>
                <a:gd name="connsiteX4-55" fmla="*/ 363474 w 484632"/>
                <a:gd name="connsiteY4-56" fmla="*/ 395132 h 637448"/>
                <a:gd name="connsiteX5-57" fmla="*/ 484632 w 484632"/>
                <a:gd name="connsiteY5-58" fmla="*/ 395132 h 637448"/>
                <a:gd name="connsiteX6-59" fmla="*/ 242316 w 484632"/>
                <a:gd name="connsiteY6-60" fmla="*/ 637448 h 637448"/>
                <a:gd name="connsiteX7-61" fmla="*/ 0 w 484632"/>
                <a:gd name="connsiteY7-62" fmla="*/ 395132 h 637448"/>
                <a:gd name="connsiteX8-63" fmla="*/ 121158 w 484632"/>
                <a:gd name="connsiteY8-64" fmla="*/ 395132 h 637448"/>
                <a:gd name="connsiteX9-65" fmla="*/ 89773 w 484632"/>
                <a:gd name="connsiteY9-66" fmla="*/ 171450 h 637448"/>
                <a:gd name="connsiteX10-67" fmla="*/ 48941 w 484632"/>
                <a:gd name="connsiteY10-68" fmla="*/ 69243 h 637448"/>
                <a:gd name="connsiteX11-69" fmla="*/ 17934 w 484632"/>
                <a:gd name="connsiteY11-70" fmla="*/ 0 h 637448"/>
                <a:gd name="connsiteX0-71" fmla="*/ 17934 w 484632"/>
                <a:gd name="connsiteY0-72" fmla="*/ 0 h 637448"/>
                <a:gd name="connsiteX1-73" fmla="*/ 273387 w 484632"/>
                <a:gd name="connsiteY1-74" fmla="*/ 0 h 637448"/>
                <a:gd name="connsiteX2-75" fmla="*/ 305833 w 484632"/>
                <a:gd name="connsiteY2-76" fmla="*/ 10860 h 637448"/>
                <a:gd name="connsiteX3-77" fmla="*/ 337423 w 484632"/>
                <a:gd name="connsiteY3-78" fmla="*/ 120650 h 637448"/>
                <a:gd name="connsiteX4-79" fmla="*/ 363474 w 484632"/>
                <a:gd name="connsiteY4-80" fmla="*/ 395132 h 637448"/>
                <a:gd name="connsiteX5-81" fmla="*/ 484632 w 484632"/>
                <a:gd name="connsiteY5-82" fmla="*/ 395132 h 637448"/>
                <a:gd name="connsiteX6-83" fmla="*/ 242316 w 484632"/>
                <a:gd name="connsiteY6-84" fmla="*/ 637448 h 637448"/>
                <a:gd name="connsiteX7-85" fmla="*/ 0 w 484632"/>
                <a:gd name="connsiteY7-86" fmla="*/ 395132 h 637448"/>
                <a:gd name="connsiteX8-87" fmla="*/ 121158 w 484632"/>
                <a:gd name="connsiteY8-88" fmla="*/ 395132 h 637448"/>
                <a:gd name="connsiteX9-89" fmla="*/ 89773 w 484632"/>
                <a:gd name="connsiteY9-90" fmla="*/ 171450 h 637448"/>
                <a:gd name="connsiteX10-91" fmla="*/ 48941 w 484632"/>
                <a:gd name="connsiteY10-92" fmla="*/ 69243 h 637448"/>
                <a:gd name="connsiteX11-93" fmla="*/ 17934 w 484632"/>
                <a:gd name="connsiteY11-94" fmla="*/ 0 h 637448"/>
                <a:gd name="connsiteX0-95" fmla="*/ 17934 w 484632"/>
                <a:gd name="connsiteY0-96" fmla="*/ 0 h 637448"/>
                <a:gd name="connsiteX1-97" fmla="*/ 273387 w 484632"/>
                <a:gd name="connsiteY1-98" fmla="*/ 0 h 637448"/>
                <a:gd name="connsiteX2-99" fmla="*/ 305833 w 484632"/>
                <a:gd name="connsiteY2-100" fmla="*/ 10860 h 637448"/>
                <a:gd name="connsiteX3-101" fmla="*/ 337423 w 484632"/>
                <a:gd name="connsiteY3-102" fmla="*/ 120650 h 637448"/>
                <a:gd name="connsiteX4-103" fmla="*/ 363474 w 484632"/>
                <a:gd name="connsiteY4-104" fmla="*/ 395132 h 637448"/>
                <a:gd name="connsiteX5-105" fmla="*/ 484632 w 484632"/>
                <a:gd name="connsiteY5-106" fmla="*/ 395132 h 637448"/>
                <a:gd name="connsiteX6-107" fmla="*/ 242316 w 484632"/>
                <a:gd name="connsiteY6-108" fmla="*/ 637448 h 637448"/>
                <a:gd name="connsiteX7-109" fmla="*/ 0 w 484632"/>
                <a:gd name="connsiteY7-110" fmla="*/ 395132 h 637448"/>
                <a:gd name="connsiteX8-111" fmla="*/ 121158 w 484632"/>
                <a:gd name="connsiteY8-112" fmla="*/ 395132 h 637448"/>
                <a:gd name="connsiteX9-113" fmla="*/ 121523 w 484632"/>
                <a:gd name="connsiteY9-114" fmla="*/ 165100 h 637448"/>
                <a:gd name="connsiteX10-115" fmla="*/ 48941 w 484632"/>
                <a:gd name="connsiteY10-116" fmla="*/ 69243 h 637448"/>
                <a:gd name="connsiteX11-117" fmla="*/ 17934 w 484632"/>
                <a:gd name="connsiteY11-118" fmla="*/ 0 h 637448"/>
                <a:gd name="connsiteX0-119" fmla="*/ 17934 w 484632"/>
                <a:gd name="connsiteY0-120" fmla="*/ 0 h 637448"/>
                <a:gd name="connsiteX1-121" fmla="*/ 273387 w 484632"/>
                <a:gd name="connsiteY1-122" fmla="*/ 0 h 637448"/>
                <a:gd name="connsiteX2-123" fmla="*/ 305833 w 484632"/>
                <a:gd name="connsiteY2-124" fmla="*/ 10860 h 637448"/>
                <a:gd name="connsiteX3-125" fmla="*/ 337423 w 484632"/>
                <a:gd name="connsiteY3-126" fmla="*/ 120650 h 637448"/>
                <a:gd name="connsiteX4-127" fmla="*/ 363474 w 484632"/>
                <a:gd name="connsiteY4-128" fmla="*/ 395132 h 637448"/>
                <a:gd name="connsiteX5-129" fmla="*/ 484632 w 484632"/>
                <a:gd name="connsiteY5-130" fmla="*/ 395132 h 637448"/>
                <a:gd name="connsiteX6-131" fmla="*/ 242316 w 484632"/>
                <a:gd name="connsiteY6-132" fmla="*/ 637448 h 637448"/>
                <a:gd name="connsiteX7-133" fmla="*/ 0 w 484632"/>
                <a:gd name="connsiteY7-134" fmla="*/ 395132 h 637448"/>
                <a:gd name="connsiteX8-135" fmla="*/ 121158 w 484632"/>
                <a:gd name="connsiteY8-136" fmla="*/ 395132 h 637448"/>
                <a:gd name="connsiteX9-137" fmla="*/ 121523 w 484632"/>
                <a:gd name="connsiteY9-138" fmla="*/ 165100 h 637448"/>
                <a:gd name="connsiteX10-139" fmla="*/ 106091 w 484632"/>
                <a:gd name="connsiteY10-140" fmla="*/ 62893 h 637448"/>
                <a:gd name="connsiteX11-141" fmla="*/ 17934 w 484632"/>
                <a:gd name="connsiteY11-142" fmla="*/ 0 h 637448"/>
                <a:gd name="connsiteX0-143" fmla="*/ 87784 w 484632"/>
                <a:gd name="connsiteY0-144" fmla="*/ 0 h 637448"/>
                <a:gd name="connsiteX1-145" fmla="*/ 273387 w 484632"/>
                <a:gd name="connsiteY1-146" fmla="*/ 0 h 637448"/>
                <a:gd name="connsiteX2-147" fmla="*/ 305833 w 484632"/>
                <a:gd name="connsiteY2-148" fmla="*/ 10860 h 637448"/>
                <a:gd name="connsiteX3-149" fmla="*/ 337423 w 484632"/>
                <a:gd name="connsiteY3-150" fmla="*/ 120650 h 637448"/>
                <a:gd name="connsiteX4-151" fmla="*/ 363474 w 484632"/>
                <a:gd name="connsiteY4-152" fmla="*/ 395132 h 637448"/>
                <a:gd name="connsiteX5-153" fmla="*/ 484632 w 484632"/>
                <a:gd name="connsiteY5-154" fmla="*/ 395132 h 637448"/>
                <a:gd name="connsiteX6-155" fmla="*/ 242316 w 484632"/>
                <a:gd name="connsiteY6-156" fmla="*/ 637448 h 637448"/>
                <a:gd name="connsiteX7-157" fmla="*/ 0 w 484632"/>
                <a:gd name="connsiteY7-158" fmla="*/ 395132 h 637448"/>
                <a:gd name="connsiteX8-159" fmla="*/ 121158 w 484632"/>
                <a:gd name="connsiteY8-160" fmla="*/ 395132 h 637448"/>
                <a:gd name="connsiteX9-161" fmla="*/ 121523 w 484632"/>
                <a:gd name="connsiteY9-162" fmla="*/ 165100 h 637448"/>
                <a:gd name="connsiteX10-163" fmla="*/ 106091 w 484632"/>
                <a:gd name="connsiteY10-164" fmla="*/ 62893 h 637448"/>
                <a:gd name="connsiteX11-165" fmla="*/ 87784 w 484632"/>
                <a:gd name="connsiteY11-166" fmla="*/ 0 h 637448"/>
                <a:gd name="connsiteX0-167" fmla="*/ 87784 w 484632"/>
                <a:gd name="connsiteY0-168" fmla="*/ 6350 h 637448"/>
                <a:gd name="connsiteX1-169" fmla="*/ 273387 w 484632"/>
                <a:gd name="connsiteY1-170" fmla="*/ 0 h 637448"/>
                <a:gd name="connsiteX2-171" fmla="*/ 305833 w 484632"/>
                <a:gd name="connsiteY2-172" fmla="*/ 10860 h 637448"/>
                <a:gd name="connsiteX3-173" fmla="*/ 337423 w 484632"/>
                <a:gd name="connsiteY3-174" fmla="*/ 120650 h 637448"/>
                <a:gd name="connsiteX4-175" fmla="*/ 363474 w 484632"/>
                <a:gd name="connsiteY4-176" fmla="*/ 395132 h 637448"/>
                <a:gd name="connsiteX5-177" fmla="*/ 484632 w 484632"/>
                <a:gd name="connsiteY5-178" fmla="*/ 395132 h 637448"/>
                <a:gd name="connsiteX6-179" fmla="*/ 242316 w 484632"/>
                <a:gd name="connsiteY6-180" fmla="*/ 637448 h 637448"/>
                <a:gd name="connsiteX7-181" fmla="*/ 0 w 484632"/>
                <a:gd name="connsiteY7-182" fmla="*/ 395132 h 637448"/>
                <a:gd name="connsiteX8-183" fmla="*/ 121158 w 484632"/>
                <a:gd name="connsiteY8-184" fmla="*/ 395132 h 637448"/>
                <a:gd name="connsiteX9-185" fmla="*/ 121523 w 484632"/>
                <a:gd name="connsiteY9-186" fmla="*/ 165100 h 637448"/>
                <a:gd name="connsiteX10-187" fmla="*/ 106091 w 484632"/>
                <a:gd name="connsiteY10-188" fmla="*/ 62893 h 637448"/>
                <a:gd name="connsiteX11-189" fmla="*/ 87784 w 484632"/>
                <a:gd name="connsiteY11-190" fmla="*/ 6350 h 637448"/>
                <a:gd name="connsiteX0-191" fmla="*/ 87784 w 484632"/>
                <a:gd name="connsiteY0-192" fmla="*/ 6350 h 637448"/>
                <a:gd name="connsiteX1-193" fmla="*/ 273387 w 484632"/>
                <a:gd name="connsiteY1-194" fmla="*/ 0 h 637448"/>
                <a:gd name="connsiteX2-195" fmla="*/ 337583 w 484632"/>
                <a:gd name="connsiteY2-196" fmla="*/ 10860 h 637448"/>
                <a:gd name="connsiteX3-197" fmla="*/ 337423 w 484632"/>
                <a:gd name="connsiteY3-198" fmla="*/ 120650 h 637448"/>
                <a:gd name="connsiteX4-199" fmla="*/ 363474 w 484632"/>
                <a:gd name="connsiteY4-200" fmla="*/ 395132 h 637448"/>
                <a:gd name="connsiteX5-201" fmla="*/ 484632 w 484632"/>
                <a:gd name="connsiteY5-202" fmla="*/ 395132 h 637448"/>
                <a:gd name="connsiteX6-203" fmla="*/ 242316 w 484632"/>
                <a:gd name="connsiteY6-204" fmla="*/ 637448 h 637448"/>
                <a:gd name="connsiteX7-205" fmla="*/ 0 w 484632"/>
                <a:gd name="connsiteY7-206" fmla="*/ 395132 h 637448"/>
                <a:gd name="connsiteX8-207" fmla="*/ 121158 w 484632"/>
                <a:gd name="connsiteY8-208" fmla="*/ 395132 h 637448"/>
                <a:gd name="connsiteX9-209" fmla="*/ 121523 w 484632"/>
                <a:gd name="connsiteY9-210" fmla="*/ 165100 h 637448"/>
                <a:gd name="connsiteX10-211" fmla="*/ 106091 w 484632"/>
                <a:gd name="connsiteY10-212" fmla="*/ 62893 h 637448"/>
                <a:gd name="connsiteX11-213" fmla="*/ 87784 w 484632"/>
                <a:gd name="connsiteY11-214" fmla="*/ 6350 h 637448"/>
                <a:gd name="connsiteX0-215" fmla="*/ 87784 w 484632"/>
                <a:gd name="connsiteY0-216" fmla="*/ 6350 h 637448"/>
                <a:gd name="connsiteX1-217" fmla="*/ 273387 w 484632"/>
                <a:gd name="connsiteY1-218" fmla="*/ 0 h 637448"/>
                <a:gd name="connsiteX2-219" fmla="*/ 305833 w 484632"/>
                <a:gd name="connsiteY2-220" fmla="*/ 23560 h 637448"/>
                <a:gd name="connsiteX3-221" fmla="*/ 337423 w 484632"/>
                <a:gd name="connsiteY3-222" fmla="*/ 120650 h 637448"/>
                <a:gd name="connsiteX4-223" fmla="*/ 363474 w 484632"/>
                <a:gd name="connsiteY4-224" fmla="*/ 395132 h 637448"/>
                <a:gd name="connsiteX5-225" fmla="*/ 484632 w 484632"/>
                <a:gd name="connsiteY5-226" fmla="*/ 395132 h 637448"/>
                <a:gd name="connsiteX6-227" fmla="*/ 242316 w 484632"/>
                <a:gd name="connsiteY6-228" fmla="*/ 637448 h 637448"/>
                <a:gd name="connsiteX7-229" fmla="*/ 0 w 484632"/>
                <a:gd name="connsiteY7-230" fmla="*/ 395132 h 637448"/>
                <a:gd name="connsiteX8-231" fmla="*/ 121158 w 484632"/>
                <a:gd name="connsiteY8-232" fmla="*/ 395132 h 637448"/>
                <a:gd name="connsiteX9-233" fmla="*/ 121523 w 484632"/>
                <a:gd name="connsiteY9-234" fmla="*/ 165100 h 637448"/>
                <a:gd name="connsiteX10-235" fmla="*/ 106091 w 484632"/>
                <a:gd name="connsiteY10-236" fmla="*/ 62893 h 637448"/>
                <a:gd name="connsiteX11-237" fmla="*/ 87784 w 484632"/>
                <a:gd name="connsiteY11-238" fmla="*/ 6350 h 637448"/>
                <a:gd name="connsiteX0-239" fmla="*/ 87784 w 484632"/>
                <a:gd name="connsiteY0-240" fmla="*/ 6350 h 637448"/>
                <a:gd name="connsiteX1-241" fmla="*/ 273387 w 484632"/>
                <a:gd name="connsiteY1-242" fmla="*/ 0 h 637448"/>
                <a:gd name="connsiteX2-243" fmla="*/ 305833 w 484632"/>
                <a:gd name="connsiteY2-244" fmla="*/ 23560 h 637448"/>
                <a:gd name="connsiteX3-245" fmla="*/ 337423 w 484632"/>
                <a:gd name="connsiteY3-246" fmla="*/ 120650 h 637448"/>
                <a:gd name="connsiteX4-247" fmla="*/ 350123 w 484632"/>
                <a:gd name="connsiteY4-248" fmla="*/ 292100 h 637448"/>
                <a:gd name="connsiteX5-249" fmla="*/ 363474 w 484632"/>
                <a:gd name="connsiteY5-250" fmla="*/ 395132 h 637448"/>
                <a:gd name="connsiteX6-251" fmla="*/ 484632 w 484632"/>
                <a:gd name="connsiteY6-252" fmla="*/ 395132 h 637448"/>
                <a:gd name="connsiteX7-253" fmla="*/ 242316 w 484632"/>
                <a:gd name="connsiteY7-254" fmla="*/ 637448 h 637448"/>
                <a:gd name="connsiteX8-255" fmla="*/ 0 w 484632"/>
                <a:gd name="connsiteY8-256" fmla="*/ 395132 h 637448"/>
                <a:gd name="connsiteX9-257" fmla="*/ 121158 w 484632"/>
                <a:gd name="connsiteY9-258" fmla="*/ 395132 h 637448"/>
                <a:gd name="connsiteX10-259" fmla="*/ 121523 w 484632"/>
                <a:gd name="connsiteY10-260" fmla="*/ 165100 h 637448"/>
                <a:gd name="connsiteX11-261" fmla="*/ 106091 w 484632"/>
                <a:gd name="connsiteY11-262" fmla="*/ 62893 h 637448"/>
                <a:gd name="connsiteX12" fmla="*/ 87784 w 484632"/>
                <a:gd name="connsiteY12" fmla="*/ 6350 h 637448"/>
                <a:gd name="connsiteX0-263" fmla="*/ 87784 w 484632"/>
                <a:gd name="connsiteY0-264" fmla="*/ 6350 h 637448"/>
                <a:gd name="connsiteX1-265" fmla="*/ 273387 w 484632"/>
                <a:gd name="connsiteY1-266" fmla="*/ 0 h 637448"/>
                <a:gd name="connsiteX2-267" fmla="*/ 305833 w 484632"/>
                <a:gd name="connsiteY2-268" fmla="*/ 23560 h 637448"/>
                <a:gd name="connsiteX3-269" fmla="*/ 337423 w 484632"/>
                <a:gd name="connsiteY3-270" fmla="*/ 120650 h 637448"/>
                <a:gd name="connsiteX4-271" fmla="*/ 350123 w 484632"/>
                <a:gd name="connsiteY4-272" fmla="*/ 292100 h 637448"/>
                <a:gd name="connsiteX5-273" fmla="*/ 363474 w 484632"/>
                <a:gd name="connsiteY5-274" fmla="*/ 395132 h 637448"/>
                <a:gd name="connsiteX6-275" fmla="*/ 484632 w 484632"/>
                <a:gd name="connsiteY6-276" fmla="*/ 395132 h 637448"/>
                <a:gd name="connsiteX7-277" fmla="*/ 242316 w 484632"/>
                <a:gd name="connsiteY7-278" fmla="*/ 637448 h 637448"/>
                <a:gd name="connsiteX8-279" fmla="*/ 0 w 484632"/>
                <a:gd name="connsiteY8-280" fmla="*/ 395132 h 637448"/>
                <a:gd name="connsiteX9-281" fmla="*/ 121158 w 484632"/>
                <a:gd name="connsiteY9-282" fmla="*/ 395132 h 637448"/>
                <a:gd name="connsiteX10-283" fmla="*/ 128666 w 484632"/>
                <a:gd name="connsiteY10-284" fmla="*/ 165100 h 637448"/>
                <a:gd name="connsiteX11-285" fmla="*/ 106091 w 484632"/>
                <a:gd name="connsiteY11-286" fmla="*/ 62893 h 637448"/>
                <a:gd name="connsiteX12-287" fmla="*/ 87784 w 484632"/>
                <a:gd name="connsiteY12-288" fmla="*/ 6350 h 637448"/>
                <a:gd name="connsiteX0-289" fmla="*/ 87784 w 484632"/>
                <a:gd name="connsiteY0-290" fmla="*/ 6350 h 637448"/>
                <a:gd name="connsiteX1-291" fmla="*/ 273387 w 484632"/>
                <a:gd name="connsiteY1-292" fmla="*/ 0 h 637448"/>
                <a:gd name="connsiteX2-293" fmla="*/ 305833 w 484632"/>
                <a:gd name="connsiteY2-294" fmla="*/ 23560 h 637448"/>
                <a:gd name="connsiteX3-295" fmla="*/ 337423 w 484632"/>
                <a:gd name="connsiteY3-296" fmla="*/ 120650 h 637448"/>
                <a:gd name="connsiteX4-297" fmla="*/ 350123 w 484632"/>
                <a:gd name="connsiteY4-298" fmla="*/ 292100 h 637448"/>
                <a:gd name="connsiteX5-299" fmla="*/ 363474 w 484632"/>
                <a:gd name="connsiteY5-300" fmla="*/ 395132 h 637448"/>
                <a:gd name="connsiteX6-301" fmla="*/ 484632 w 484632"/>
                <a:gd name="connsiteY6-302" fmla="*/ 395132 h 637448"/>
                <a:gd name="connsiteX7-303" fmla="*/ 242316 w 484632"/>
                <a:gd name="connsiteY7-304" fmla="*/ 637448 h 637448"/>
                <a:gd name="connsiteX8-305" fmla="*/ 0 w 484632"/>
                <a:gd name="connsiteY8-306" fmla="*/ 395132 h 637448"/>
                <a:gd name="connsiteX9-307" fmla="*/ 121158 w 484632"/>
                <a:gd name="connsiteY9-308" fmla="*/ 395132 h 637448"/>
                <a:gd name="connsiteX10-309" fmla="*/ 128666 w 484632"/>
                <a:gd name="connsiteY10-310" fmla="*/ 165100 h 637448"/>
                <a:gd name="connsiteX11-311" fmla="*/ 106091 w 484632"/>
                <a:gd name="connsiteY11-312" fmla="*/ 62893 h 637448"/>
                <a:gd name="connsiteX12-313" fmla="*/ 87784 w 484632"/>
                <a:gd name="connsiteY12-314" fmla="*/ 6350 h 637448"/>
                <a:gd name="connsiteX0-315" fmla="*/ 87784 w 484632"/>
                <a:gd name="connsiteY0-316" fmla="*/ 6350 h 637448"/>
                <a:gd name="connsiteX1-317" fmla="*/ 273387 w 484632"/>
                <a:gd name="connsiteY1-318" fmla="*/ 0 h 637448"/>
                <a:gd name="connsiteX2-319" fmla="*/ 305833 w 484632"/>
                <a:gd name="connsiteY2-320" fmla="*/ 23560 h 637448"/>
                <a:gd name="connsiteX3-321" fmla="*/ 337423 w 484632"/>
                <a:gd name="connsiteY3-322" fmla="*/ 120650 h 637448"/>
                <a:gd name="connsiteX4-323" fmla="*/ 350123 w 484632"/>
                <a:gd name="connsiteY4-324" fmla="*/ 292100 h 637448"/>
                <a:gd name="connsiteX5-325" fmla="*/ 363474 w 484632"/>
                <a:gd name="connsiteY5-326" fmla="*/ 395132 h 637448"/>
                <a:gd name="connsiteX6-327" fmla="*/ 484632 w 484632"/>
                <a:gd name="connsiteY6-328" fmla="*/ 395132 h 637448"/>
                <a:gd name="connsiteX7-329" fmla="*/ 242316 w 484632"/>
                <a:gd name="connsiteY7-330" fmla="*/ 637448 h 637448"/>
                <a:gd name="connsiteX8-331" fmla="*/ 0 w 484632"/>
                <a:gd name="connsiteY8-332" fmla="*/ 395132 h 637448"/>
                <a:gd name="connsiteX9-333" fmla="*/ 121158 w 484632"/>
                <a:gd name="connsiteY9-334" fmla="*/ 395132 h 637448"/>
                <a:gd name="connsiteX10-335" fmla="*/ 128666 w 484632"/>
                <a:gd name="connsiteY10-336" fmla="*/ 165100 h 637448"/>
                <a:gd name="connsiteX11-337" fmla="*/ 106091 w 484632"/>
                <a:gd name="connsiteY11-338" fmla="*/ 62893 h 637448"/>
                <a:gd name="connsiteX12-339" fmla="*/ 87784 w 484632"/>
                <a:gd name="connsiteY12-340" fmla="*/ 6350 h 637448"/>
                <a:gd name="connsiteX0-341" fmla="*/ 87784 w 484632"/>
                <a:gd name="connsiteY0-342" fmla="*/ 6350 h 637448"/>
                <a:gd name="connsiteX1-343" fmla="*/ 273387 w 484632"/>
                <a:gd name="connsiteY1-344" fmla="*/ 0 h 637448"/>
                <a:gd name="connsiteX2-345" fmla="*/ 305833 w 484632"/>
                <a:gd name="connsiteY2-346" fmla="*/ 23560 h 637448"/>
                <a:gd name="connsiteX3-347" fmla="*/ 337423 w 484632"/>
                <a:gd name="connsiteY3-348" fmla="*/ 120650 h 637448"/>
                <a:gd name="connsiteX4-349" fmla="*/ 350123 w 484632"/>
                <a:gd name="connsiteY4-350" fmla="*/ 292100 h 637448"/>
                <a:gd name="connsiteX5-351" fmla="*/ 363474 w 484632"/>
                <a:gd name="connsiteY5-352" fmla="*/ 395132 h 637448"/>
                <a:gd name="connsiteX6-353" fmla="*/ 484632 w 484632"/>
                <a:gd name="connsiteY6-354" fmla="*/ 395132 h 637448"/>
                <a:gd name="connsiteX7-355" fmla="*/ 242316 w 484632"/>
                <a:gd name="connsiteY7-356" fmla="*/ 637448 h 637448"/>
                <a:gd name="connsiteX8-357" fmla="*/ 0 w 484632"/>
                <a:gd name="connsiteY8-358" fmla="*/ 395132 h 637448"/>
                <a:gd name="connsiteX9-359" fmla="*/ 121158 w 484632"/>
                <a:gd name="connsiteY9-360" fmla="*/ 395132 h 637448"/>
                <a:gd name="connsiteX10-361" fmla="*/ 128666 w 484632"/>
                <a:gd name="connsiteY10-362" fmla="*/ 165100 h 637448"/>
                <a:gd name="connsiteX11-363" fmla="*/ 106091 w 484632"/>
                <a:gd name="connsiteY11-364" fmla="*/ 62893 h 637448"/>
                <a:gd name="connsiteX12-365" fmla="*/ 87784 w 484632"/>
                <a:gd name="connsiteY12-366" fmla="*/ 6350 h 637448"/>
                <a:gd name="connsiteX0-367" fmla="*/ 87784 w 484632"/>
                <a:gd name="connsiteY0-368" fmla="*/ 6350 h 637448"/>
                <a:gd name="connsiteX1-369" fmla="*/ 273387 w 484632"/>
                <a:gd name="connsiteY1-370" fmla="*/ 0 h 637448"/>
                <a:gd name="connsiteX2-371" fmla="*/ 305833 w 484632"/>
                <a:gd name="connsiteY2-372" fmla="*/ 23560 h 637448"/>
                <a:gd name="connsiteX3-373" fmla="*/ 337423 w 484632"/>
                <a:gd name="connsiteY3-374" fmla="*/ 120650 h 637448"/>
                <a:gd name="connsiteX4-375" fmla="*/ 350123 w 484632"/>
                <a:gd name="connsiteY4-376" fmla="*/ 292100 h 637448"/>
                <a:gd name="connsiteX5-377" fmla="*/ 363474 w 484632"/>
                <a:gd name="connsiteY5-378" fmla="*/ 395132 h 637448"/>
                <a:gd name="connsiteX6-379" fmla="*/ 484632 w 484632"/>
                <a:gd name="connsiteY6-380" fmla="*/ 395132 h 637448"/>
                <a:gd name="connsiteX7-381" fmla="*/ 242316 w 484632"/>
                <a:gd name="connsiteY7-382" fmla="*/ 637448 h 637448"/>
                <a:gd name="connsiteX8-383" fmla="*/ 0 w 484632"/>
                <a:gd name="connsiteY8-384" fmla="*/ 395132 h 637448"/>
                <a:gd name="connsiteX9-385" fmla="*/ 121158 w 484632"/>
                <a:gd name="connsiteY9-386" fmla="*/ 395132 h 637448"/>
                <a:gd name="connsiteX10-387" fmla="*/ 128666 w 484632"/>
                <a:gd name="connsiteY10-388" fmla="*/ 165100 h 637448"/>
                <a:gd name="connsiteX11-389" fmla="*/ 106091 w 484632"/>
                <a:gd name="connsiteY11-390" fmla="*/ 62893 h 637448"/>
                <a:gd name="connsiteX12-391" fmla="*/ 87784 w 484632"/>
                <a:gd name="connsiteY12-392" fmla="*/ 6350 h 637448"/>
                <a:gd name="connsiteX0-393" fmla="*/ 87784 w 484632"/>
                <a:gd name="connsiteY0-394" fmla="*/ 6350 h 637448"/>
                <a:gd name="connsiteX1-395" fmla="*/ 273387 w 484632"/>
                <a:gd name="connsiteY1-396" fmla="*/ 0 h 637448"/>
                <a:gd name="connsiteX2-397" fmla="*/ 305833 w 484632"/>
                <a:gd name="connsiteY2-398" fmla="*/ 23560 h 637448"/>
                <a:gd name="connsiteX3-399" fmla="*/ 337423 w 484632"/>
                <a:gd name="connsiteY3-400" fmla="*/ 120650 h 637448"/>
                <a:gd name="connsiteX4-401" fmla="*/ 350123 w 484632"/>
                <a:gd name="connsiteY4-402" fmla="*/ 292100 h 637448"/>
                <a:gd name="connsiteX5-403" fmla="*/ 363474 w 484632"/>
                <a:gd name="connsiteY5-404" fmla="*/ 395132 h 637448"/>
                <a:gd name="connsiteX6-405" fmla="*/ 484632 w 484632"/>
                <a:gd name="connsiteY6-406" fmla="*/ 395132 h 637448"/>
                <a:gd name="connsiteX7-407" fmla="*/ 242316 w 484632"/>
                <a:gd name="connsiteY7-408" fmla="*/ 637448 h 637448"/>
                <a:gd name="connsiteX8-409" fmla="*/ 0 w 484632"/>
                <a:gd name="connsiteY8-410" fmla="*/ 395132 h 637448"/>
                <a:gd name="connsiteX9-411" fmla="*/ 121158 w 484632"/>
                <a:gd name="connsiteY9-412" fmla="*/ 395132 h 637448"/>
                <a:gd name="connsiteX10-413" fmla="*/ 128666 w 484632"/>
                <a:gd name="connsiteY10-414" fmla="*/ 165100 h 637448"/>
                <a:gd name="connsiteX11-415" fmla="*/ 106091 w 484632"/>
                <a:gd name="connsiteY11-416" fmla="*/ 62893 h 637448"/>
                <a:gd name="connsiteX12-417" fmla="*/ 87784 w 484632"/>
                <a:gd name="connsiteY12-418" fmla="*/ 6350 h 637448"/>
                <a:gd name="connsiteX0-419" fmla="*/ 87784 w 484632"/>
                <a:gd name="connsiteY0-420" fmla="*/ 6350 h 637448"/>
                <a:gd name="connsiteX1-421" fmla="*/ 273387 w 484632"/>
                <a:gd name="connsiteY1-422" fmla="*/ 0 h 637448"/>
                <a:gd name="connsiteX2-423" fmla="*/ 305833 w 484632"/>
                <a:gd name="connsiteY2-424" fmla="*/ 23560 h 637448"/>
                <a:gd name="connsiteX3-425" fmla="*/ 324845 w 484632"/>
                <a:gd name="connsiteY3-426" fmla="*/ 120533 h 637448"/>
                <a:gd name="connsiteX4-427" fmla="*/ 350123 w 484632"/>
                <a:gd name="connsiteY4-428" fmla="*/ 292100 h 637448"/>
                <a:gd name="connsiteX5-429" fmla="*/ 363474 w 484632"/>
                <a:gd name="connsiteY5-430" fmla="*/ 395132 h 637448"/>
                <a:gd name="connsiteX6-431" fmla="*/ 484632 w 484632"/>
                <a:gd name="connsiteY6-432" fmla="*/ 395132 h 637448"/>
                <a:gd name="connsiteX7-433" fmla="*/ 242316 w 484632"/>
                <a:gd name="connsiteY7-434" fmla="*/ 637448 h 637448"/>
                <a:gd name="connsiteX8-435" fmla="*/ 0 w 484632"/>
                <a:gd name="connsiteY8-436" fmla="*/ 395132 h 637448"/>
                <a:gd name="connsiteX9-437" fmla="*/ 121158 w 484632"/>
                <a:gd name="connsiteY9-438" fmla="*/ 395132 h 637448"/>
                <a:gd name="connsiteX10-439" fmla="*/ 128666 w 484632"/>
                <a:gd name="connsiteY10-440" fmla="*/ 165100 h 637448"/>
                <a:gd name="connsiteX11-441" fmla="*/ 106091 w 484632"/>
                <a:gd name="connsiteY11-442" fmla="*/ 62893 h 637448"/>
                <a:gd name="connsiteX12-443" fmla="*/ 87784 w 484632"/>
                <a:gd name="connsiteY12-444" fmla="*/ 6350 h 637448"/>
                <a:gd name="connsiteX0-445" fmla="*/ 87784 w 484632"/>
                <a:gd name="connsiteY0-446" fmla="*/ 6350 h 637448"/>
                <a:gd name="connsiteX1-447" fmla="*/ 273387 w 484632"/>
                <a:gd name="connsiteY1-448" fmla="*/ 0 h 637448"/>
                <a:gd name="connsiteX2-449" fmla="*/ 293172 w 484632"/>
                <a:gd name="connsiteY2-450" fmla="*/ 32427 h 637448"/>
                <a:gd name="connsiteX3-451" fmla="*/ 324845 w 484632"/>
                <a:gd name="connsiteY3-452" fmla="*/ 120533 h 637448"/>
                <a:gd name="connsiteX4-453" fmla="*/ 350123 w 484632"/>
                <a:gd name="connsiteY4-454" fmla="*/ 292100 h 637448"/>
                <a:gd name="connsiteX5-455" fmla="*/ 363474 w 484632"/>
                <a:gd name="connsiteY5-456" fmla="*/ 395132 h 637448"/>
                <a:gd name="connsiteX6-457" fmla="*/ 484632 w 484632"/>
                <a:gd name="connsiteY6-458" fmla="*/ 395132 h 637448"/>
                <a:gd name="connsiteX7-459" fmla="*/ 242316 w 484632"/>
                <a:gd name="connsiteY7-460" fmla="*/ 637448 h 637448"/>
                <a:gd name="connsiteX8-461" fmla="*/ 0 w 484632"/>
                <a:gd name="connsiteY8-462" fmla="*/ 395132 h 637448"/>
                <a:gd name="connsiteX9-463" fmla="*/ 121158 w 484632"/>
                <a:gd name="connsiteY9-464" fmla="*/ 395132 h 637448"/>
                <a:gd name="connsiteX10-465" fmla="*/ 128666 w 484632"/>
                <a:gd name="connsiteY10-466" fmla="*/ 165100 h 637448"/>
                <a:gd name="connsiteX11-467" fmla="*/ 106091 w 484632"/>
                <a:gd name="connsiteY11-468" fmla="*/ 62893 h 637448"/>
                <a:gd name="connsiteX12-469" fmla="*/ 87784 w 484632"/>
                <a:gd name="connsiteY12-470" fmla="*/ 6350 h 637448"/>
                <a:gd name="connsiteX0-471" fmla="*/ 87784 w 484632"/>
                <a:gd name="connsiteY0-472" fmla="*/ 4855 h 635953"/>
                <a:gd name="connsiteX1-473" fmla="*/ 241027 w 484632"/>
                <a:gd name="connsiteY1-474" fmla="*/ 0 h 635953"/>
                <a:gd name="connsiteX2-475" fmla="*/ 293172 w 484632"/>
                <a:gd name="connsiteY2-476" fmla="*/ 30932 h 635953"/>
                <a:gd name="connsiteX3-477" fmla="*/ 324845 w 484632"/>
                <a:gd name="connsiteY3-478" fmla="*/ 119038 h 635953"/>
                <a:gd name="connsiteX4-479" fmla="*/ 350123 w 484632"/>
                <a:gd name="connsiteY4-480" fmla="*/ 290605 h 635953"/>
                <a:gd name="connsiteX5-481" fmla="*/ 363474 w 484632"/>
                <a:gd name="connsiteY5-482" fmla="*/ 393637 h 635953"/>
                <a:gd name="connsiteX6-483" fmla="*/ 484632 w 484632"/>
                <a:gd name="connsiteY6-484" fmla="*/ 393637 h 635953"/>
                <a:gd name="connsiteX7-485" fmla="*/ 242316 w 484632"/>
                <a:gd name="connsiteY7-486" fmla="*/ 635953 h 635953"/>
                <a:gd name="connsiteX8-487" fmla="*/ 0 w 484632"/>
                <a:gd name="connsiteY8-488" fmla="*/ 393637 h 635953"/>
                <a:gd name="connsiteX9-489" fmla="*/ 121158 w 484632"/>
                <a:gd name="connsiteY9-490" fmla="*/ 393637 h 635953"/>
                <a:gd name="connsiteX10-491" fmla="*/ 128666 w 484632"/>
                <a:gd name="connsiteY10-492" fmla="*/ 163605 h 635953"/>
                <a:gd name="connsiteX11-493" fmla="*/ 106091 w 484632"/>
                <a:gd name="connsiteY11-494" fmla="*/ 61398 h 635953"/>
                <a:gd name="connsiteX12-495" fmla="*/ 87784 w 484632"/>
                <a:gd name="connsiteY12-496" fmla="*/ 4855 h 635953"/>
                <a:gd name="connsiteX0-497" fmla="*/ 87784 w 484632"/>
                <a:gd name="connsiteY0-498" fmla="*/ 4855 h 635953"/>
                <a:gd name="connsiteX1-499" fmla="*/ 241027 w 484632"/>
                <a:gd name="connsiteY1-500" fmla="*/ 0 h 635953"/>
                <a:gd name="connsiteX2-501" fmla="*/ 293172 w 484632"/>
                <a:gd name="connsiteY2-502" fmla="*/ 30932 h 635953"/>
                <a:gd name="connsiteX3-503" fmla="*/ 324845 w 484632"/>
                <a:gd name="connsiteY3-504" fmla="*/ 119038 h 635953"/>
                <a:gd name="connsiteX4-505" fmla="*/ 350123 w 484632"/>
                <a:gd name="connsiteY4-506" fmla="*/ 290605 h 635953"/>
                <a:gd name="connsiteX5-507" fmla="*/ 363474 w 484632"/>
                <a:gd name="connsiteY5-508" fmla="*/ 393637 h 635953"/>
                <a:gd name="connsiteX6-509" fmla="*/ 484632 w 484632"/>
                <a:gd name="connsiteY6-510" fmla="*/ 393637 h 635953"/>
                <a:gd name="connsiteX7-511" fmla="*/ 242316 w 484632"/>
                <a:gd name="connsiteY7-512" fmla="*/ 635953 h 635953"/>
                <a:gd name="connsiteX8-513" fmla="*/ 0 w 484632"/>
                <a:gd name="connsiteY8-514" fmla="*/ 393637 h 635953"/>
                <a:gd name="connsiteX9-515" fmla="*/ 121158 w 484632"/>
                <a:gd name="connsiteY9-516" fmla="*/ 393637 h 635953"/>
                <a:gd name="connsiteX10-517" fmla="*/ 128666 w 484632"/>
                <a:gd name="connsiteY10-518" fmla="*/ 163605 h 635953"/>
                <a:gd name="connsiteX11-519" fmla="*/ 106091 w 484632"/>
                <a:gd name="connsiteY11-520" fmla="*/ 61398 h 635953"/>
                <a:gd name="connsiteX12-521" fmla="*/ 87784 w 484632"/>
                <a:gd name="connsiteY12-522" fmla="*/ 4855 h 635953"/>
                <a:gd name="connsiteX0-523" fmla="*/ 87784 w 484632"/>
                <a:gd name="connsiteY0-524" fmla="*/ 4855 h 635953"/>
                <a:gd name="connsiteX1-525" fmla="*/ 241027 w 484632"/>
                <a:gd name="connsiteY1-526" fmla="*/ 0 h 635953"/>
                <a:gd name="connsiteX2-527" fmla="*/ 282324 w 484632"/>
                <a:gd name="connsiteY2-528" fmla="*/ 38019 h 635953"/>
                <a:gd name="connsiteX3-529" fmla="*/ 324845 w 484632"/>
                <a:gd name="connsiteY3-530" fmla="*/ 119038 h 635953"/>
                <a:gd name="connsiteX4-531" fmla="*/ 350123 w 484632"/>
                <a:gd name="connsiteY4-532" fmla="*/ 290605 h 635953"/>
                <a:gd name="connsiteX5-533" fmla="*/ 363474 w 484632"/>
                <a:gd name="connsiteY5-534" fmla="*/ 393637 h 635953"/>
                <a:gd name="connsiteX6-535" fmla="*/ 484632 w 484632"/>
                <a:gd name="connsiteY6-536" fmla="*/ 393637 h 635953"/>
                <a:gd name="connsiteX7-537" fmla="*/ 242316 w 484632"/>
                <a:gd name="connsiteY7-538" fmla="*/ 635953 h 635953"/>
                <a:gd name="connsiteX8-539" fmla="*/ 0 w 484632"/>
                <a:gd name="connsiteY8-540" fmla="*/ 393637 h 635953"/>
                <a:gd name="connsiteX9-541" fmla="*/ 121158 w 484632"/>
                <a:gd name="connsiteY9-542" fmla="*/ 393637 h 635953"/>
                <a:gd name="connsiteX10-543" fmla="*/ 128666 w 484632"/>
                <a:gd name="connsiteY10-544" fmla="*/ 163605 h 635953"/>
                <a:gd name="connsiteX11-545" fmla="*/ 106091 w 484632"/>
                <a:gd name="connsiteY11-546" fmla="*/ 61398 h 635953"/>
                <a:gd name="connsiteX12-547" fmla="*/ 87784 w 484632"/>
                <a:gd name="connsiteY12-548" fmla="*/ 4855 h 635953"/>
                <a:gd name="connsiteX0-549" fmla="*/ 87784 w 484632"/>
                <a:gd name="connsiteY0-550" fmla="*/ 4855 h 635953"/>
                <a:gd name="connsiteX1-551" fmla="*/ 241027 w 484632"/>
                <a:gd name="connsiteY1-552" fmla="*/ 0 h 635953"/>
                <a:gd name="connsiteX2-553" fmla="*/ 282324 w 484632"/>
                <a:gd name="connsiteY2-554" fmla="*/ 38019 h 635953"/>
                <a:gd name="connsiteX3-555" fmla="*/ 324845 w 484632"/>
                <a:gd name="connsiteY3-556" fmla="*/ 119038 h 635953"/>
                <a:gd name="connsiteX4-557" fmla="*/ 350123 w 484632"/>
                <a:gd name="connsiteY4-558" fmla="*/ 290605 h 635953"/>
                <a:gd name="connsiteX5-559" fmla="*/ 363474 w 484632"/>
                <a:gd name="connsiteY5-560" fmla="*/ 393637 h 635953"/>
                <a:gd name="connsiteX6-561" fmla="*/ 484632 w 484632"/>
                <a:gd name="connsiteY6-562" fmla="*/ 393637 h 635953"/>
                <a:gd name="connsiteX7-563" fmla="*/ 242316 w 484632"/>
                <a:gd name="connsiteY7-564" fmla="*/ 635953 h 635953"/>
                <a:gd name="connsiteX8-565" fmla="*/ 0 w 484632"/>
                <a:gd name="connsiteY8-566" fmla="*/ 393637 h 635953"/>
                <a:gd name="connsiteX9-567" fmla="*/ 121158 w 484632"/>
                <a:gd name="connsiteY9-568" fmla="*/ 393637 h 635953"/>
                <a:gd name="connsiteX10-569" fmla="*/ 128666 w 484632"/>
                <a:gd name="connsiteY10-570" fmla="*/ 163605 h 635953"/>
                <a:gd name="connsiteX11-571" fmla="*/ 106091 w 484632"/>
                <a:gd name="connsiteY11-572" fmla="*/ 61398 h 635953"/>
                <a:gd name="connsiteX12-573" fmla="*/ 87784 w 484632"/>
                <a:gd name="connsiteY12-574" fmla="*/ 4855 h 635953"/>
                <a:gd name="connsiteX0-575" fmla="*/ 87784 w 484632"/>
                <a:gd name="connsiteY0-576" fmla="*/ 4855 h 635953"/>
                <a:gd name="connsiteX1-577" fmla="*/ 241027 w 484632"/>
                <a:gd name="connsiteY1-578" fmla="*/ 0 h 635953"/>
                <a:gd name="connsiteX2-579" fmla="*/ 282324 w 484632"/>
                <a:gd name="connsiteY2-580" fmla="*/ 38019 h 635953"/>
                <a:gd name="connsiteX3-581" fmla="*/ 315827 w 484632"/>
                <a:gd name="connsiteY3-582" fmla="*/ 122548 h 635953"/>
                <a:gd name="connsiteX4-583" fmla="*/ 350123 w 484632"/>
                <a:gd name="connsiteY4-584" fmla="*/ 290605 h 635953"/>
                <a:gd name="connsiteX5-585" fmla="*/ 363474 w 484632"/>
                <a:gd name="connsiteY5-586" fmla="*/ 393637 h 635953"/>
                <a:gd name="connsiteX6-587" fmla="*/ 484632 w 484632"/>
                <a:gd name="connsiteY6-588" fmla="*/ 393637 h 635953"/>
                <a:gd name="connsiteX7-589" fmla="*/ 242316 w 484632"/>
                <a:gd name="connsiteY7-590" fmla="*/ 635953 h 635953"/>
                <a:gd name="connsiteX8-591" fmla="*/ 0 w 484632"/>
                <a:gd name="connsiteY8-592" fmla="*/ 393637 h 635953"/>
                <a:gd name="connsiteX9-593" fmla="*/ 121158 w 484632"/>
                <a:gd name="connsiteY9-594" fmla="*/ 393637 h 635953"/>
                <a:gd name="connsiteX10-595" fmla="*/ 128666 w 484632"/>
                <a:gd name="connsiteY10-596" fmla="*/ 163605 h 635953"/>
                <a:gd name="connsiteX11-597" fmla="*/ 106091 w 484632"/>
                <a:gd name="connsiteY11-598" fmla="*/ 61398 h 635953"/>
                <a:gd name="connsiteX12-599" fmla="*/ 87784 w 484632"/>
                <a:gd name="connsiteY12-600" fmla="*/ 4855 h 635953"/>
                <a:gd name="connsiteX0-601" fmla="*/ 87784 w 484632"/>
                <a:gd name="connsiteY0-602" fmla="*/ 4855 h 635953"/>
                <a:gd name="connsiteX1-603" fmla="*/ 241027 w 484632"/>
                <a:gd name="connsiteY1-604" fmla="*/ 0 h 635953"/>
                <a:gd name="connsiteX2-605" fmla="*/ 282324 w 484632"/>
                <a:gd name="connsiteY2-606" fmla="*/ 38019 h 635953"/>
                <a:gd name="connsiteX3-607" fmla="*/ 315827 w 484632"/>
                <a:gd name="connsiteY3-608" fmla="*/ 122548 h 635953"/>
                <a:gd name="connsiteX4-609" fmla="*/ 350123 w 484632"/>
                <a:gd name="connsiteY4-610" fmla="*/ 290605 h 635953"/>
                <a:gd name="connsiteX5-611" fmla="*/ 363474 w 484632"/>
                <a:gd name="connsiteY5-612" fmla="*/ 393637 h 635953"/>
                <a:gd name="connsiteX6-613" fmla="*/ 484632 w 484632"/>
                <a:gd name="connsiteY6-614" fmla="*/ 393637 h 635953"/>
                <a:gd name="connsiteX7-615" fmla="*/ 242316 w 484632"/>
                <a:gd name="connsiteY7-616" fmla="*/ 635953 h 635953"/>
                <a:gd name="connsiteX8-617" fmla="*/ 0 w 484632"/>
                <a:gd name="connsiteY8-618" fmla="*/ 393637 h 635953"/>
                <a:gd name="connsiteX9-619" fmla="*/ 121158 w 484632"/>
                <a:gd name="connsiteY9-620" fmla="*/ 393637 h 635953"/>
                <a:gd name="connsiteX10-621" fmla="*/ 128666 w 484632"/>
                <a:gd name="connsiteY10-622" fmla="*/ 163605 h 635953"/>
                <a:gd name="connsiteX11-623" fmla="*/ 106091 w 484632"/>
                <a:gd name="connsiteY11-624" fmla="*/ 61398 h 635953"/>
                <a:gd name="connsiteX12-625" fmla="*/ 87784 w 484632"/>
                <a:gd name="connsiteY12-626" fmla="*/ 4855 h 635953"/>
                <a:gd name="connsiteX0-627" fmla="*/ 87784 w 484632"/>
                <a:gd name="connsiteY0-628" fmla="*/ 4855 h 635953"/>
                <a:gd name="connsiteX1-629" fmla="*/ 241027 w 484632"/>
                <a:gd name="connsiteY1-630" fmla="*/ 0 h 635953"/>
                <a:gd name="connsiteX2-631" fmla="*/ 282324 w 484632"/>
                <a:gd name="connsiteY2-632" fmla="*/ 38019 h 635953"/>
                <a:gd name="connsiteX3-633" fmla="*/ 315827 w 484632"/>
                <a:gd name="connsiteY3-634" fmla="*/ 122548 h 635953"/>
                <a:gd name="connsiteX4-635" fmla="*/ 350123 w 484632"/>
                <a:gd name="connsiteY4-636" fmla="*/ 290605 h 635953"/>
                <a:gd name="connsiteX5-637" fmla="*/ 363474 w 484632"/>
                <a:gd name="connsiteY5-638" fmla="*/ 393637 h 635953"/>
                <a:gd name="connsiteX6-639" fmla="*/ 484632 w 484632"/>
                <a:gd name="connsiteY6-640" fmla="*/ 393637 h 635953"/>
                <a:gd name="connsiteX7-641" fmla="*/ 242316 w 484632"/>
                <a:gd name="connsiteY7-642" fmla="*/ 635953 h 635953"/>
                <a:gd name="connsiteX8-643" fmla="*/ 0 w 484632"/>
                <a:gd name="connsiteY8-644" fmla="*/ 393637 h 635953"/>
                <a:gd name="connsiteX9-645" fmla="*/ 121158 w 484632"/>
                <a:gd name="connsiteY9-646" fmla="*/ 393637 h 635953"/>
                <a:gd name="connsiteX10-647" fmla="*/ 128666 w 484632"/>
                <a:gd name="connsiteY10-648" fmla="*/ 163605 h 635953"/>
                <a:gd name="connsiteX11-649" fmla="*/ 106091 w 484632"/>
                <a:gd name="connsiteY11-650" fmla="*/ 61398 h 635953"/>
                <a:gd name="connsiteX12-651" fmla="*/ 87784 w 484632"/>
                <a:gd name="connsiteY12-652" fmla="*/ 4855 h 635953"/>
                <a:gd name="connsiteX0-653" fmla="*/ 87784 w 484632"/>
                <a:gd name="connsiteY0-654" fmla="*/ 4855 h 635953"/>
                <a:gd name="connsiteX1-655" fmla="*/ 241027 w 484632"/>
                <a:gd name="connsiteY1-656" fmla="*/ 0 h 635953"/>
                <a:gd name="connsiteX2-657" fmla="*/ 282324 w 484632"/>
                <a:gd name="connsiteY2-658" fmla="*/ 38019 h 635953"/>
                <a:gd name="connsiteX3-659" fmla="*/ 315827 w 484632"/>
                <a:gd name="connsiteY3-660" fmla="*/ 122548 h 635953"/>
                <a:gd name="connsiteX4-661" fmla="*/ 339342 w 484632"/>
                <a:gd name="connsiteY4-662" fmla="*/ 290505 h 635953"/>
                <a:gd name="connsiteX5-663" fmla="*/ 363474 w 484632"/>
                <a:gd name="connsiteY5-664" fmla="*/ 393637 h 635953"/>
                <a:gd name="connsiteX6-665" fmla="*/ 484632 w 484632"/>
                <a:gd name="connsiteY6-666" fmla="*/ 393637 h 635953"/>
                <a:gd name="connsiteX7-667" fmla="*/ 242316 w 484632"/>
                <a:gd name="connsiteY7-668" fmla="*/ 635953 h 635953"/>
                <a:gd name="connsiteX8-669" fmla="*/ 0 w 484632"/>
                <a:gd name="connsiteY8-670" fmla="*/ 393637 h 635953"/>
                <a:gd name="connsiteX9-671" fmla="*/ 121158 w 484632"/>
                <a:gd name="connsiteY9-672" fmla="*/ 393637 h 635953"/>
                <a:gd name="connsiteX10-673" fmla="*/ 128666 w 484632"/>
                <a:gd name="connsiteY10-674" fmla="*/ 163605 h 635953"/>
                <a:gd name="connsiteX11-675" fmla="*/ 106091 w 484632"/>
                <a:gd name="connsiteY11-676" fmla="*/ 61398 h 635953"/>
                <a:gd name="connsiteX12-677" fmla="*/ 87784 w 484632"/>
                <a:gd name="connsiteY12-678" fmla="*/ 4855 h 635953"/>
              </a:gdLst>
              <a:ahLst/>
              <a:cxnLst>
                <a:cxn ang="0">
                  <a:pos x="connsiteX0-653" y="connsiteY0-654"/>
                </a:cxn>
                <a:cxn ang="0">
                  <a:pos x="connsiteX1-655" y="connsiteY1-656"/>
                </a:cxn>
                <a:cxn ang="0">
                  <a:pos x="connsiteX2-657" y="connsiteY2-658"/>
                </a:cxn>
                <a:cxn ang="0">
                  <a:pos x="connsiteX3-659" y="connsiteY3-660"/>
                </a:cxn>
                <a:cxn ang="0">
                  <a:pos x="connsiteX4-661" y="connsiteY4-662"/>
                </a:cxn>
                <a:cxn ang="0">
                  <a:pos x="connsiteX5-663" y="connsiteY5-664"/>
                </a:cxn>
                <a:cxn ang="0">
                  <a:pos x="connsiteX6-665" y="connsiteY6-666"/>
                </a:cxn>
                <a:cxn ang="0">
                  <a:pos x="connsiteX7-667" y="connsiteY7-668"/>
                </a:cxn>
                <a:cxn ang="0">
                  <a:pos x="connsiteX8-669" y="connsiteY8-670"/>
                </a:cxn>
                <a:cxn ang="0">
                  <a:pos x="connsiteX9-671" y="connsiteY9-672"/>
                </a:cxn>
                <a:cxn ang="0">
                  <a:pos x="connsiteX10-673" y="connsiteY10-674"/>
                </a:cxn>
                <a:cxn ang="0">
                  <a:pos x="connsiteX11-675" y="connsiteY11-676"/>
                </a:cxn>
                <a:cxn ang="0">
                  <a:pos x="connsiteX12-677" y="connsiteY12-678"/>
                </a:cxn>
              </a:cxnLst>
              <a:rect l="l" t="t" r="r" b="b"/>
              <a:pathLst>
                <a:path w="484632" h="635953">
                  <a:moveTo>
                    <a:pt x="87784" y="4855"/>
                  </a:moveTo>
                  <a:lnTo>
                    <a:pt x="241027" y="0"/>
                  </a:lnTo>
                  <a:cubicBezTo>
                    <a:pt x="254793" y="12673"/>
                    <a:pt x="261471" y="14498"/>
                    <a:pt x="282324" y="38019"/>
                  </a:cubicBezTo>
                  <a:cubicBezTo>
                    <a:pt x="297224" y="76769"/>
                    <a:pt x="307620" y="88356"/>
                    <a:pt x="315827" y="122548"/>
                  </a:cubicBezTo>
                  <a:cubicBezTo>
                    <a:pt x="327557" y="167674"/>
                    <a:pt x="335000" y="244758"/>
                    <a:pt x="339342" y="290505"/>
                  </a:cubicBezTo>
                  <a:cubicBezTo>
                    <a:pt x="343684" y="336252"/>
                    <a:pt x="339997" y="378582"/>
                    <a:pt x="363474" y="393637"/>
                  </a:cubicBezTo>
                  <a:lnTo>
                    <a:pt x="484632" y="393637"/>
                  </a:lnTo>
                  <a:lnTo>
                    <a:pt x="242316" y="635953"/>
                  </a:lnTo>
                  <a:lnTo>
                    <a:pt x="0" y="393637"/>
                  </a:lnTo>
                  <a:lnTo>
                    <a:pt x="121158" y="393637"/>
                  </a:lnTo>
                  <a:cubicBezTo>
                    <a:pt x="130828" y="356357"/>
                    <a:pt x="141570" y="240572"/>
                    <a:pt x="128666" y="163605"/>
                  </a:cubicBezTo>
                  <a:cubicBezTo>
                    <a:pt x="118643" y="117977"/>
                    <a:pt x="112573" y="99641"/>
                    <a:pt x="106091" y="61398"/>
                  </a:cubicBezTo>
                  <a:lnTo>
                    <a:pt x="87784" y="4855"/>
                  </a:lnTo>
                  <a:close/>
                </a:path>
              </a:pathLst>
            </a:custGeom>
            <a:solidFill>
              <a:srgbClr val="0FA1AB"/>
            </a:soli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sp>
          <p:nvSpPr>
            <p:cNvPr id="67" name="任意多边形 66"/>
            <p:cNvSpPr/>
            <p:nvPr>
              <p:custDataLst>
                <p:tags r:id="rId17"/>
              </p:custDataLst>
            </p:nvPr>
          </p:nvSpPr>
          <p:spPr>
            <a:xfrm rot="7200000">
              <a:off x="5614800" y="4313510"/>
              <a:ext cx="330803" cy="844731"/>
            </a:xfrm>
            <a:custGeom>
              <a:avLst/>
              <a:gdLst>
                <a:gd name="connsiteX0" fmla="*/ 17934 w 249630"/>
                <a:gd name="connsiteY0" fmla="*/ 0 h 637448"/>
                <a:gd name="connsiteX1" fmla="*/ 125448 w 249630"/>
                <a:gd name="connsiteY1" fmla="*/ 0 h 637448"/>
                <a:gd name="connsiteX2" fmla="*/ 153677 w 249630"/>
                <a:gd name="connsiteY2" fmla="*/ 56382 h 637448"/>
                <a:gd name="connsiteX3" fmla="*/ 244011 w 249630"/>
                <a:gd name="connsiteY3" fmla="*/ 628536 h 637448"/>
                <a:gd name="connsiteX4" fmla="*/ 242721 w 249630"/>
                <a:gd name="connsiteY4" fmla="*/ 637044 h 637448"/>
                <a:gd name="connsiteX5" fmla="*/ 242316 w 249630"/>
                <a:gd name="connsiteY5" fmla="*/ 637448 h 637448"/>
                <a:gd name="connsiteX6" fmla="*/ 0 w 249630"/>
                <a:gd name="connsiteY6" fmla="*/ 395132 h 637448"/>
                <a:gd name="connsiteX7" fmla="*/ 121158 w 249630"/>
                <a:gd name="connsiteY7" fmla="*/ 395132 h 637448"/>
                <a:gd name="connsiteX8" fmla="*/ 89773 w 249630"/>
                <a:gd name="connsiteY8" fmla="*/ 171450 h 637448"/>
                <a:gd name="connsiteX9" fmla="*/ 48941 w 249630"/>
                <a:gd name="connsiteY9" fmla="*/ 69243 h 63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9630" h="637448">
                  <a:moveTo>
                    <a:pt x="17934" y="0"/>
                  </a:moveTo>
                  <a:lnTo>
                    <a:pt x="125448" y="0"/>
                  </a:lnTo>
                  <a:lnTo>
                    <a:pt x="153677" y="56382"/>
                  </a:lnTo>
                  <a:cubicBezTo>
                    <a:pt x="232580" y="236753"/>
                    <a:pt x="263370" y="433895"/>
                    <a:pt x="244011" y="628536"/>
                  </a:cubicBezTo>
                  <a:lnTo>
                    <a:pt x="242721" y="637044"/>
                  </a:lnTo>
                  <a:lnTo>
                    <a:pt x="242316" y="637448"/>
                  </a:lnTo>
                  <a:lnTo>
                    <a:pt x="0" y="395132"/>
                  </a:lnTo>
                  <a:lnTo>
                    <a:pt x="121158" y="395132"/>
                  </a:lnTo>
                  <a:cubicBezTo>
                    <a:pt x="130828" y="357852"/>
                    <a:pt x="109821" y="243655"/>
                    <a:pt x="89773" y="171450"/>
                  </a:cubicBezTo>
                  <a:cubicBezTo>
                    <a:pt x="79750" y="135348"/>
                    <a:pt x="64948" y="102723"/>
                    <a:pt x="48941" y="69243"/>
                  </a:cubicBezTo>
                  <a:close/>
                </a:path>
              </a:pathLst>
            </a:custGeom>
            <a:gradFill>
              <a:gsLst>
                <a:gs pos="61000">
                  <a:srgbClr val="0FA1AB">
                    <a:lumMod val="75000"/>
                  </a:srgbClr>
                </a:gs>
                <a:gs pos="29000">
                  <a:srgbClr val="0FA1AB">
                    <a:lumMod val="75000"/>
                    <a:alpha val="22000"/>
                  </a:srgbClr>
                </a:gs>
                <a:gs pos="0">
                  <a:srgbClr val="0FA1AB">
                    <a:lumMod val="75000"/>
                    <a:alpha val="0"/>
                  </a:srgbClr>
                </a:gs>
                <a:gs pos="100000">
                  <a:srgbClr val="0FA1AB">
                    <a:lumMod val="75000"/>
                  </a:srgbClr>
                </a:gs>
              </a:gsLst>
              <a:lin ang="5400000" scaled="1"/>
            </a:gra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grpSp>
      <p:grpSp>
        <p:nvGrpSpPr>
          <p:cNvPr id="68" name="组合 67"/>
          <p:cNvGrpSpPr/>
          <p:nvPr>
            <p:custDataLst>
              <p:tags r:id="rId7"/>
            </p:custDataLst>
          </p:nvPr>
        </p:nvGrpSpPr>
        <p:grpSpPr>
          <a:xfrm rot="17100000">
            <a:off x="6273165" y="4415155"/>
            <a:ext cx="844550" cy="588010"/>
            <a:chOff x="5280115" y="4549118"/>
            <a:chExt cx="922452" cy="642222"/>
          </a:xfrm>
        </p:grpSpPr>
        <p:sp>
          <p:nvSpPr>
            <p:cNvPr id="69" name="任意多边形 68"/>
            <p:cNvSpPr/>
            <p:nvPr>
              <p:custDataLst>
                <p:tags r:id="rId14"/>
              </p:custDataLst>
            </p:nvPr>
          </p:nvSpPr>
          <p:spPr>
            <a:xfrm rot="7200000">
              <a:off x="5380379" y="4448854"/>
              <a:ext cx="642222" cy="842750"/>
            </a:xfrm>
            <a:custGeom>
              <a:avLst/>
              <a:gdLst>
                <a:gd name="connsiteX0" fmla="*/ 17934 w 484632"/>
                <a:gd name="connsiteY0" fmla="*/ 0 h 637448"/>
                <a:gd name="connsiteX1" fmla="*/ 273387 w 484632"/>
                <a:gd name="connsiteY1" fmla="*/ 0 h 637448"/>
                <a:gd name="connsiteX2" fmla="*/ 280433 w 484632"/>
                <a:gd name="connsiteY2" fmla="*/ 17210 h 637448"/>
                <a:gd name="connsiteX3" fmla="*/ 318373 w 484632"/>
                <a:gd name="connsiteY3" fmla="*/ 120650 h 637448"/>
                <a:gd name="connsiteX4" fmla="*/ 363474 w 484632"/>
                <a:gd name="connsiteY4" fmla="*/ 395132 h 637448"/>
                <a:gd name="connsiteX5" fmla="*/ 484632 w 484632"/>
                <a:gd name="connsiteY5" fmla="*/ 395132 h 637448"/>
                <a:gd name="connsiteX6" fmla="*/ 242316 w 484632"/>
                <a:gd name="connsiteY6" fmla="*/ 637448 h 637448"/>
                <a:gd name="connsiteX7" fmla="*/ 0 w 484632"/>
                <a:gd name="connsiteY7" fmla="*/ 395132 h 637448"/>
                <a:gd name="connsiteX8" fmla="*/ 121158 w 484632"/>
                <a:gd name="connsiteY8" fmla="*/ 395132 h 637448"/>
                <a:gd name="connsiteX9" fmla="*/ 89773 w 484632"/>
                <a:gd name="connsiteY9" fmla="*/ 171450 h 637448"/>
                <a:gd name="connsiteX10" fmla="*/ 48941 w 484632"/>
                <a:gd name="connsiteY10" fmla="*/ 69243 h 637448"/>
                <a:gd name="connsiteX0-1" fmla="*/ 17934 w 484632"/>
                <a:gd name="connsiteY0-2" fmla="*/ 0 h 637448"/>
                <a:gd name="connsiteX1-3" fmla="*/ 273387 w 484632"/>
                <a:gd name="connsiteY1-4" fmla="*/ 0 h 637448"/>
                <a:gd name="connsiteX2-5" fmla="*/ 280433 w 484632"/>
                <a:gd name="connsiteY2-6" fmla="*/ 17210 h 637448"/>
                <a:gd name="connsiteX3-7" fmla="*/ 337423 w 484632"/>
                <a:gd name="connsiteY3-8" fmla="*/ 120650 h 637448"/>
                <a:gd name="connsiteX4-9" fmla="*/ 363474 w 484632"/>
                <a:gd name="connsiteY4-10" fmla="*/ 395132 h 637448"/>
                <a:gd name="connsiteX5-11" fmla="*/ 484632 w 484632"/>
                <a:gd name="connsiteY5-12" fmla="*/ 395132 h 637448"/>
                <a:gd name="connsiteX6-13" fmla="*/ 242316 w 484632"/>
                <a:gd name="connsiteY6-14" fmla="*/ 637448 h 637448"/>
                <a:gd name="connsiteX7-15" fmla="*/ 0 w 484632"/>
                <a:gd name="connsiteY7-16" fmla="*/ 395132 h 637448"/>
                <a:gd name="connsiteX8-17" fmla="*/ 121158 w 484632"/>
                <a:gd name="connsiteY8-18" fmla="*/ 395132 h 637448"/>
                <a:gd name="connsiteX9-19" fmla="*/ 89773 w 484632"/>
                <a:gd name="connsiteY9-20" fmla="*/ 171450 h 637448"/>
                <a:gd name="connsiteX10-21" fmla="*/ 48941 w 484632"/>
                <a:gd name="connsiteY10-22" fmla="*/ 69243 h 637448"/>
                <a:gd name="connsiteX11" fmla="*/ 17934 w 484632"/>
                <a:gd name="connsiteY11" fmla="*/ 0 h 637448"/>
                <a:gd name="connsiteX0-23" fmla="*/ 17934 w 484632"/>
                <a:gd name="connsiteY0-24" fmla="*/ 0 h 637448"/>
                <a:gd name="connsiteX1-25" fmla="*/ 273387 w 484632"/>
                <a:gd name="connsiteY1-26" fmla="*/ 0 h 637448"/>
                <a:gd name="connsiteX2-27" fmla="*/ 280433 w 484632"/>
                <a:gd name="connsiteY2-28" fmla="*/ 17210 h 637448"/>
                <a:gd name="connsiteX3-29" fmla="*/ 337423 w 484632"/>
                <a:gd name="connsiteY3-30" fmla="*/ 120650 h 637448"/>
                <a:gd name="connsiteX4-31" fmla="*/ 363474 w 484632"/>
                <a:gd name="connsiteY4-32" fmla="*/ 395132 h 637448"/>
                <a:gd name="connsiteX5-33" fmla="*/ 484632 w 484632"/>
                <a:gd name="connsiteY5-34" fmla="*/ 395132 h 637448"/>
                <a:gd name="connsiteX6-35" fmla="*/ 242316 w 484632"/>
                <a:gd name="connsiteY6-36" fmla="*/ 637448 h 637448"/>
                <a:gd name="connsiteX7-37" fmla="*/ 0 w 484632"/>
                <a:gd name="connsiteY7-38" fmla="*/ 395132 h 637448"/>
                <a:gd name="connsiteX8-39" fmla="*/ 121158 w 484632"/>
                <a:gd name="connsiteY8-40" fmla="*/ 395132 h 637448"/>
                <a:gd name="connsiteX9-41" fmla="*/ 89773 w 484632"/>
                <a:gd name="connsiteY9-42" fmla="*/ 171450 h 637448"/>
                <a:gd name="connsiteX10-43" fmla="*/ 48941 w 484632"/>
                <a:gd name="connsiteY10-44" fmla="*/ 69243 h 637448"/>
                <a:gd name="connsiteX11-45" fmla="*/ 17934 w 484632"/>
                <a:gd name="connsiteY11-46" fmla="*/ 0 h 637448"/>
                <a:gd name="connsiteX0-47" fmla="*/ 17934 w 484632"/>
                <a:gd name="connsiteY0-48" fmla="*/ 0 h 637448"/>
                <a:gd name="connsiteX1-49" fmla="*/ 273387 w 484632"/>
                <a:gd name="connsiteY1-50" fmla="*/ 0 h 637448"/>
                <a:gd name="connsiteX2-51" fmla="*/ 280433 w 484632"/>
                <a:gd name="connsiteY2-52" fmla="*/ 17210 h 637448"/>
                <a:gd name="connsiteX3-53" fmla="*/ 337423 w 484632"/>
                <a:gd name="connsiteY3-54" fmla="*/ 120650 h 637448"/>
                <a:gd name="connsiteX4-55" fmla="*/ 363474 w 484632"/>
                <a:gd name="connsiteY4-56" fmla="*/ 395132 h 637448"/>
                <a:gd name="connsiteX5-57" fmla="*/ 484632 w 484632"/>
                <a:gd name="connsiteY5-58" fmla="*/ 395132 h 637448"/>
                <a:gd name="connsiteX6-59" fmla="*/ 242316 w 484632"/>
                <a:gd name="connsiteY6-60" fmla="*/ 637448 h 637448"/>
                <a:gd name="connsiteX7-61" fmla="*/ 0 w 484632"/>
                <a:gd name="connsiteY7-62" fmla="*/ 395132 h 637448"/>
                <a:gd name="connsiteX8-63" fmla="*/ 121158 w 484632"/>
                <a:gd name="connsiteY8-64" fmla="*/ 395132 h 637448"/>
                <a:gd name="connsiteX9-65" fmla="*/ 89773 w 484632"/>
                <a:gd name="connsiteY9-66" fmla="*/ 171450 h 637448"/>
                <a:gd name="connsiteX10-67" fmla="*/ 48941 w 484632"/>
                <a:gd name="connsiteY10-68" fmla="*/ 69243 h 637448"/>
                <a:gd name="connsiteX11-69" fmla="*/ 17934 w 484632"/>
                <a:gd name="connsiteY11-70" fmla="*/ 0 h 637448"/>
                <a:gd name="connsiteX0-71" fmla="*/ 17934 w 484632"/>
                <a:gd name="connsiteY0-72" fmla="*/ 0 h 637448"/>
                <a:gd name="connsiteX1-73" fmla="*/ 273387 w 484632"/>
                <a:gd name="connsiteY1-74" fmla="*/ 0 h 637448"/>
                <a:gd name="connsiteX2-75" fmla="*/ 305833 w 484632"/>
                <a:gd name="connsiteY2-76" fmla="*/ 10860 h 637448"/>
                <a:gd name="connsiteX3-77" fmla="*/ 337423 w 484632"/>
                <a:gd name="connsiteY3-78" fmla="*/ 120650 h 637448"/>
                <a:gd name="connsiteX4-79" fmla="*/ 363474 w 484632"/>
                <a:gd name="connsiteY4-80" fmla="*/ 395132 h 637448"/>
                <a:gd name="connsiteX5-81" fmla="*/ 484632 w 484632"/>
                <a:gd name="connsiteY5-82" fmla="*/ 395132 h 637448"/>
                <a:gd name="connsiteX6-83" fmla="*/ 242316 w 484632"/>
                <a:gd name="connsiteY6-84" fmla="*/ 637448 h 637448"/>
                <a:gd name="connsiteX7-85" fmla="*/ 0 w 484632"/>
                <a:gd name="connsiteY7-86" fmla="*/ 395132 h 637448"/>
                <a:gd name="connsiteX8-87" fmla="*/ 121158 w 484632"/>
                <a:gd name="connsiteY8-88" fmla="*/ 395132 h 637448"/>
                <a:gd name="connsiteX9-89" fmla="*/ 89773 w 484632"/>
                <a:gd name="connsiteY9-90" fmla="*/ 171450 h 637448"/>
                <a:gd name="connsiteX10-91" fmla="*/ 48941 w 484632"/>
                <a:gd name="connsiteY10-92" fmla="*/ 69243 h 637448"/>
                <a:gd name="connsiteX11-93" fmla="*/ 17934 w 484632"/>
                <a:gd name="connsiteY11-94" fmla="*/ 0 h 637448"/>
                <a:gd name="connsiteX0-95" fmla="*/ 17934 w 484632"/>
                <a:gd name="connsiteY0-96" fmla="*/ 0 h 637448"/>
                <a:gd name="connsiteX1-97" fmla="*/ 273387 w 484632"/>
                <a:gd name="connsiteY1-98" fmla="*/ 0 h 637448"/>
                <a:gd name="connsiteX2-99" fmla="*/ 305833 w 484632"/>
                <a:gd name="connsiteY2-100" fmla="*/ 10860 h 637448"/>
                <a:gd name="connsiteX3-101" fmla="*/ 337423 w 484632"/>
                <a:gd name="connsiteY3-102" fmla="*/ 120650 h 637448"/>
                <a:gd name="connsiteX4-103" fmla="*/ 363474 w 484632"/>
                <a:gd name="connsiteY4-104" fmla="*/ 395132 h 637448"/>
                <a:gd name="connsiteX5-105" fmla="*/ 484632 w 484632"/>
                <a:gd name="connsiteY5-106" fmla="*/ 395132 h 637448"/>
                <a:gd name="connsiteX6-107" fmla="*/ 242316 w 484632"/>
                <a:gd name="connsiteY6-108" fmla="*/ 637448 h 637448"/>
                <a:gd name="connsiteX7-109" fmla="*/ 0 w 484632"/>
                <a:gd name="connsiteY7-110" fmla="*/ 395132 h 637448"/>
                <a:gd name="connsiteX8-111" fmla="*/ 121158 w 484632"/>
                <a:gd name="connsiteY8-112" fmla="*/ 395132 h 637448"/>
                <a:gd name="connsiteX9-113" fmla="*/ 121523 w 484632"/>
                <a:gd name="connsiteY9-114" fmla="*/ 165100 h 637448"/>
                <a:gd name="connsiteX10-115" fmla="*/ 48941 w 484632"/>
                <a:gd name="connsiteY10-116" fmla="*/ 69243 h 637448"/>
                <a:gd name="connsiteX11-117" fmla="*/ 17934 w 484632"/>
                <a:gd name="connsiteY11-118" fmla="*/ 0 h 637448"/>
                <a:gd name="connsiteX0-119" fmla="*/ 17934 w 484632"/>
                <a:gd name="connsiteY0-120" fmla="*/ 0 h 637448"/>
                <a:gd name="connsiteX1-121" fmla="*/ 273387 w 484632"/>
                <a:gd name="connsiteY1-122" fmla="*/ 0 h 637448"/>
                <a:gd name="connsiteX2-123" fmla="*/ 305833 w 484632"/>
                <a:gd name="connsiteY2-124" fmla="*/ 10860 h 637448"/>
                <a:gd name="connsiteX3-125" fmla="*/ 337423 w 484632"/>
                <a:gd name="connsiteY3-126" fmla="*/ 120650 h 637448"/>
                <a:gd name="connsiteX4-127" fmla="*/ 363474 w 484632"/>
                <a:gd name="connsiteY4-128" fmla="*/ 395132 h 637448"/>
                <a:gd name="connsiteX5-129" fmla="*/ 484632 w 484632"/>
                <a:gd name="connsiteY5-130" fmla="*/ 395132 h 637448"/>
                <a:gd name="connsiteX6-131" fmla="*/ 242316 w 484632"/>
                <a:gd name="connsiteY6-132" fmla="*/ 637448 h 637448"/>
                <a:gd name="connsiteX7-133" fmla="*/ 0 w 484632"/>
                <a:gd name="connsiteY7-134" fmla="*/ 395132 h 637448"/>
                <a:gd name="connsiteX8-135" fmla="*/ 121158 w 484632"/>
                <a:gd name="connsiteY8-136" fmla="*/ 395132 h 637448"/>
                <a:gd name="connsiteX9-137" fmla="*/ 121523 w 484632"/>
                <a:gd name="connsiteY9-138" fmla="*/ 165100 h 637448"/>
                <a:gd name="connsiteX10-139" fmla="*/ 106091 w 484632"/>
                <a:gd name="connsiteY10-140" fmla="*/ 62893 h 637448"/>
                <a:gd name="connsiteX11-141" fmla="*/ 17934 w 484632"/>
                <a:gd name="connsiteY11-142" fmla="*/ 0 h 637448"/>
                <a:gd name="connsiteX0-143" fmla="*/ 87784 w 484632"/>
                <a:gd name="connsiteY0-144" fmla="*/ 0 h 637448"/>
                <a:gd name="connsiteX1-145" fmla="*/ 273387 w 484632"/>
                <a:gd name="connsiteY1-146" fmla="*/ 0 h 637448"/>
                <a:gd name="connsiteX2-147" fmla="*/ 305833 w 484632"/>
                <a:gd name="connsiteY2-148" fmla="*/ 10860 h 637448"/>
                <a:gd name="connsiteX3-149" fmla="*/ 337423 w 484632"/>
                <a:gd name="connsiteY3-150" fmla="*/ 120650 h 637448"/>
                <a:gd name="connsiteX4-151" fmla="*/ 363474 w 484632"/>
                <a:gd name="connsiteY4-152" fmla="*/ 395132 h 637448"/>
                <a:gd name="connsiteX5-153" fmla="*/ 484632 w 484632"/>
                <a:gd name="connsiteY5-154" fmla="*/ 395132 h 637448"/>
                <a:gd name="connsiteX6-155" fmla="*/ 242316 w 484632"/>
                <a:gd name="connsiteY6-156" fmla="*/ 637448 h 637448"/>
                <a:gd name="connsiteX7-157" fmla="*/ 0 w 484632"/>
                <a:gd name="connsiteY7-158" fmla="*/ 395132 h 637448"/>
                <a:gd name="connsiteX8-159" fmla="*/ 121158 w 484632"/>
                <a:gd name="connsiteY8-160" fmla="*/ 395132 h 637448"/>
                <a:gd name="connsiteX9-161" fmla="*/ 121523 w 484632"/>
                <a:gd name="connsiteY9-162" fmla="*/ 165100 h 637448"/>
                <a:gd name="connsiteX10-163" fmla="*/ 106091 w 484632"/>
                <a:gd name="connsiteY10-164" fmla="*/ 62893 h 637448"/>
                <a:gd name="connsiteX11-165" fmla="*/ 87784 w 484632"/>
                <a:gd name="connsiteY11-166" fmla="*/ 0 h 637448"/>
                <a:gd name="connsiteX0-167" fmla="*/ 87784 w 484632"/>
                <a:gd name="connsiteY0-168" fmla="*/ 6350 h 637448"/>
                <a:gd name="connsiteX1-169" fmla="*/ 273387 w 484632"/>
                <a:gd name="connsiteY1-170" fmla="*/ 0 h 637448"/>
                <a:gd name="connsiteX2-171" fmla="*/ 305833 w 484632"/>
                <a:gd name="connsiteY2-172" fmla="*/ 10860 h 637448"/>
                <a:gd name="connsiteX3-173" fmla="*/ 337423 w 484632"/>
                <a:gd name="connsiteY3-174" fmla="*/ 120650 h 637448"/>
                <a:gd name="connsiteX4-175" fmla="*/ 363474 w 484632"/>
                <a:gd name="connsiteY4-176" fmla="*/ 395132 h 637448"/>
                <a:gd name="connsiteX5-177" fmla="*/ 484632 w 484632"/>
                <a:gd name="connsiteY5-178" fmla="*/ 395132 h 637448"/>
                <a:gd name="connsiteX6-179" fmla="*/ 242316 w 484632"/>
                <a:gd name="connsiteY6-180" fmla="*/ 637448 h 637448"/>
                <a:gd name="connsiteX7-181" fmla="*/ 0 w 484632"/>
                <a:gd name="connsiteY7-182" fmla="*/ 395132 h 637448"/>
                <a:gd name="connsiteX8-183" fmla="*/ 121158 w 484632"/>
                <a:gd name="connsiteY8-184" fmla="*/ 395132 h 637448"/>
                <a:gd name="connsiteX9-185" fmla="*/ 121523 w 484632"/>
                <a:gd name="connsiteY9-186" fmla="*/ 165100 h 637448"/>
                <a:gd name="connsiteX10-187" fmla="*/ 106091 w 484632"/>
                <a:gd name="connsiteY10-188" fmla="*/ 62893 h 637448"/>
                <a:gd name="connsiteX11-189" fmla="*/ 87784 w 484632"/>
                <a:gd name="connsiteY11-190" fmla="*/ 6350 h 637448"/>
                <a:gd name="connsiteX0-191" fmla="*/ 87784 w 484632"/>
                <a:gd name="connsiteY0-192" fmla="*/ 6350 h 637448"/>
                <a:gd name="connsiteX1-193" fmla="*/ 273387 w 484632"/>
                <a:gd name="connsiteY1-194" fmla="*/ 0 h 637448"/>
                <a:gd name="connsiteX2-195" fmla="*/ 337583 w 484632"/>
                <a:gd name="connsiteY2-196" fmla="*/ 10860 h 637448"/>
                <a:gd name="connsiteX3-197" fmla="*/ 337423 w 484632"/>
                <a:gd name="connsiteY3-198" fmla="*/ 120650 h 637448"/>
                <a:gd name="connsiteX4-199" fmla="*/ 363474 w 484632"/>
                <a:gd name="connsiteY4-200" fmla="*/ 395132 h 637448"/>
                <a:gd name="connsiteX5-201" fmla="*/ 484632 w 484632"/>
                <a:gd name="connsiteY5-202" fmla="*/ 395132 h 637448"/>
                <a:gd name="connsiteX6-203" fmla="*/ 242316 w 484632"/>
                <a:gd name="connsiteY6-204" fmla="*/ 637448 h 637448"/>
                <a:gd name="connsiteX7-205" fmla="*/ 0 w 484632"/>
                <a:gd name="connsiteY7-206" fmla="*/ 395132 h 637448"/>
                <a:gd name="connsiteX8-207" fmla="*/ 121158 w 484632"/>
                <a:gd name="connsiteY8-208" fmla="*/ 395132 h 637448"/>
                <a:gd name="connsiteX9-209" fmla="*/ 121523 w 484632"/>
                <a:gd name="connsiteY9-210" fmla="*/ 165100 h 637448"/>
                <a:gd name="connsiteX10-211" fmla="*/ 106091 w 484632"/>
                <a:gd name="connsiteY10-212" fmla="*/ 62893 h 637448"/>
                <a:gd name="connsiteX11-213" fmla="*/ 87784 w 484632"/>
                <a:gd name="connsiteY11-214" fmla="*/ 6350 h 637448"/>
                <a:gd name="connsiteX0-215" fmla="*/ 87784 w 484632"/>
                <a:gd name="connsiteY0-216" fmla="*/ 6350 h 637448"/>
                <a:gd name="connsiteX1-217" fmla="*/ 273387 w 484632"/>
                <a:gd name="connsiteY1-218" fmla="*/ 0 h 637448"/>
                <a:gd name="connsiteX2-219" fmla="*/ 305833 w 484632"/>
                <a:gd name="connsiteY2-220" fmla="*/ 23560 h 637448"/>
                <a:gd name="connsiteX3-221" fmla="*/ 337423 w 484632"/>
                <a:gd name="connsiteY3-222" fmla="*/ 120650 h 637448"/>
                <a:gd name="connsiteX4-223" fmla="*/ 363474 w 484632"/>
                <a:gd name="connsiteY4-224" fmla="*/ 395132 h 637448"/>
                <a:gd name="connsiteX5-225" fmla="*/ 484632 w 484632"/>
                <a:gd name="connsiteY5-226" fmla="*/ 395132 h 637448"/>
                <a:gd name="connsiteX6-227" fmla="*/ 242316 w 484632"/>
                <a:gd name="connsiteY6-228" fmla="*/ 637448 h 637448"/>
                <a:gd name="connsiteX7-229" fmla="*/ 0 w 484632"/>
                <a:gd name="connsiteY7-230" fmla="*/ 395132 h 637448"/>
                <a:gd name="connsiteX8-231" fmla="*/ 121158 w 484632"/>
                <a:gd name="connsiteY8-232" fmla="*/ 395132 h 637448"/>
                <a:gd name="connsiteX9-233" fmla="*/ 121523 w 484632"/>
                <a:gd name="connsiteY9-234" fmla="*/ 165100 h 637448"/>
                <a:gd name="connsiteX10-235" fmla="*/ 106091 w 484632"/>
                <a:gd name="connsiteY10-236" fmla="*/ 62893 h 637448"/>
                <a:gd name="connsiteX11-237" fmla="*/ 87784 w 484632"/>
                <a:gd name="connsiteY11-238" fmla="*/ 6350 h 637448"/>
                <a:gd name="connsiteX0-239" fmla="*/ 87784 w 484632"/>
                <a:gd name="connsiteY0-240" fmla="*/ 6350 h 637448"/>
                <a:gd name="connsiteX1-241" fmla="*/ 273387 w 484632"/>
                <a:gd name="connsiteY1-242" fmla="*/ 0 h 637448"/>
                <a:gd name="connsiteX2-243" fmla="*/ 305833 w 484632"/>
                <a:gd name="connsiteY2-244" fmla="*/ 23560 h 637448"/>
                <a:gd name="connsiteX3-245" fmla="*/ 337423 w 484632"/>
                <a:gd name="connsiteY3-246" fmla="*/ 120650 h 637448"/>
                <a:gd name="connsiteX4-247" fmla="*/ 350123 w 484632"/>
                <a:gd name="connsiteY4-248" fmla="*/ 292100 h 637448"/>
                <a:gd name="connsiteX5-249" fmla="*/ 363474 w 484632"/>
                <a:gd name="connsiteY5-250" fmla="*/ 395132 h 637448"/>
                <a:gd name="connsiteX6-251" fmla="*/ 484632 w 484632"/>
                <a:gd name="connsiteY6-252" fmla="*/ 395132 h 637448"/>
                <a:gd name="connsiteX7-253" fmla="*/ 242316 w 484632"/>
                <a:gd name="connsiteY7-254" fmla="*/ 637448 h 637448"/>
                <a:gd name="connsiteX8-255" fmla="*/ 0 w 484632"/>
                <a:gd name="connsiteY8-256" fmla="*/ 395132 h 637448"/>
                <a:gd name="connsiteX9-257" fmla="*/ 121158 w 484632"/>
                <a:gd name="connsiteY9-258" fmla="*/ 395132 h 637448"/>
                <a:gd name="connsiteX10-259" fmla="*/ 121523 w 484632"/>
                <a:gd name="connsiteY10-260" fmla="*/ 165100 h 637448"/>
                <a:gd name="connsiteX11-261" fmla="*/ 106091 w 484632"/>
                <a:gd name="connsiteY11-262" fmla="*/ 62893 h 637448"/>
                <a:gd name="connsiteX12" fmla="*/ 87784 w 484632"/>
                <a:gd name="connsiteY12" fmla="*/ 6350 h 637448"/>
                <a:gd name="connsiteX0-263" fmla="*/ 87784 w 484632"/>
                <a:gd name="connsiteY0-264" fmla="*/ 6350 h 637448"/>
                <a:gd name="connsiteX1-265" fmla="*/ 273387 w 484632"/>
                <a:gd name="connsiteY1-266" fmla="*/ 0 h 637448"/>
                <a:gd name="connsiteX2-267" fmla="*/ 305833 w 484632"/>
                <a:gd name="connsiteY2-268" fmla="*/ 23560 h 637448"/>
                <a:gd name="connsiteX3-269" fmla="*/ 337423 w 484632"/>
                <a:gd name="connsiteY3-270" fmla="*/ 120650 h 637448"/>
                <a:gd name="connsiteX4-271" fmla="*/ 350123 w 484632"/>
                <a:gd name="connsiteY4-272" fmla="*/ 292100 h 637448"/>
                <a:gd name="connsiteX5-273" fmla="*/ 363474 w 484632"/>
                <a:gd name="connsiteY5-274" fmla="*/ 395132 h 637448"/>
                <a:gd name="connsiteX6-275" fmla="*/ 484632 w 484632"/>
                <a:gd name="connsiteY6-276" fmla="*/ 395132 h 637448"/>
                <a:gd name="connsiteX7-277" fmla="*/ 242316 w 484632"/>
                <a:gd name="connsiteY7-278" fmla="*/ 637448 h 637448"/>
                <a:gd name="connsiteX8-279" fmla="*/ 0 w 484632"/>
                <a:gd name="connsiteY8-280" fmla="*/ 395132 h 637448"/>
                <a:gd name="connsiteX9-281" fmla="*/ 121158 w 484632"/>
                <a:gd name="connsiteY9-282" fmla="*/ 395132 h 637448"/>
                <a:gd name="connsiteX10-283" fmla="*/ 128666 w 484632"/>
                <a:gd name="connsiteY10-284" fmla="*/ 165100 h 637448"/>
                <a:gd name="connsiteX11-285" fmla="*/ 106091 w 484632"/>
                <a:gd name="connsiteY11-286" fmla="*/ 62893 h 637448"/>
                <a:gd name="connsiteX12-287" fmla="*/ 87784 w 484632"/>
                <a:gd name="connsiteY12-288" fmla="*/ 6350 h 637448"/>
                <a:gd name="connsiteX0-289" fmla="*/ 87784 w 484632"/>
                <a:gd name="connsiteY0-290" fmla="*/ 6350 h 637448"/>
                <a:gd name="connsiteX1-291" fmla="*/ 273387 w 484632"/>
                <a:gd name="connsiteY1-292" fmla="*/ 0 h 637448"/>
                <a:gd name="connsiteX2-293" fmla="*/ 305833 w 484632"/>
                <a:gd name="connsiteY2-294" fmla="*/ 23560 h 637448"/>
                <a:gd name="connsiteX3-295" fmla="*/ 337423 w 484632"/>
                <a:gd name="connsiteY3-296" fmla="*/ 120650 h 637448"/>
                <a:gd name="connsiteX4-297" fmla="*/ 350123 w 484632"/>
                <a:gd name="connsiteY4-298" fmla="*/ 292100 h 637448"/>
                <a:gd name="connsiteX5-299" fmla="*/ 363474 w 484632"/>
                <a:gd name="connsiteY5-300" fmla="*/ 395132 h 637448"/>
                <a:gd name="connsiteX6-301" fmla="*/ 484632 w 484632"/>
                <a:gd name="connsiteY6-302" fmla="*/ 395132 h 637448"/>
                <a:gd name="connsiteX7-303" fmla="*/ 242316 w 484632"/>
                <a:gd name="connsiteY7-304" fmla="*/ 637448 h 637448"/>
                <a:gd name="connsiteX8-305" fmla="*/ 0 w 484632"/>
                <a:gd name="connsiteY8-306" fmla="*/ 395132 h 637448"/>
                <a:gd name="connsiteX9-307" fmla="*/ 121158 w 484632"/>
                <a:gd name="connsiteY9-308" fmla="*/ 395132 h 637448"/>
                <a:gd name="connsiteX10-309" fmla="*/ 128666 w 484632"/>
                <a:gd name="connsiteY10-310" fmla="*/ 165100 h 637448"/>
                <a:gd name="connsiteX11-311" fmla="*/ 106091 w 484632"/>
                <a:gd name="connsiteY11-312" fmla="*/ 62893 h 637448"/>
                <a:gd name="connsiteX12-313" fmla="*/ 87784 w 484632"/>
                <a:gd name="connsiteY12-314" fmla="*/ 6350 h 637448"/>
                <a:gd name="connsiteX0-315" fmla="*/ 87784 w 484632"/>
                <a:gd name="connsiteY0-316" fmla="*/ 6350 h 637448"/>
                <a:gd name="connsiteX1-317" fmla="*/ 273387 w 484632"/>
                <a:gd name="connsiteY1-318" fmla="*/ 0 h 637448"/>
                <a:gd name="connsiteX2-319" fmla="*/ 305833 w 484632"/>
                <a:gd name="connsiteY2-320" fmla="*/ 23560 h 637448"/>
                <a:gd name="connsiteX3-321" fmla="*/ 337423 w 484632"/>
                <a:gd name="connsiteY3-322" fmla="*/ 120650 h 637448"/>
                <a:gd name="connsiteX4-323" fmla="*/ 350123 w 484632"/>
                <a:gd name="connsiteY4-324" fmla="*/ 292100 h 637448"/>
                <a:gd name="connsiteX5-325" fmla="*/ 363474 w 484632"/>
                <a:gd name="connsiteY5-326" fmla="*/ 395132 h 637448"/>
                <a:gd name="connsiteX6-327" fmla="*/ 484632 w 484632"/>
                <a:gd name="connsiteY6-328" fmla="*/ 395132 h 637448"/>
                <a:gd name="connsiteX7-329" fmla="*/ 242316 w 484632"/>
                <a:gd name="connsiteY7-330" fmla="*/ 637448 h 637448"/>
                <a:gd name="connsiteX8-331" fmla="*/ 0 w 484632"/>
                <a:gd name="connsiteY8-332" fmla="*/ 395132 h 637448"/>
                <a:gd name="connsiteX9-333" fmla="*/ 121158 w 484632"/>
                <a:gd name="connsiteY9-334" fmla="*/ 395132 h 637448"/>
                <a:gd name="connsiteX10-335" fmla="*/ 128666 w 484632"/>
                <a:gd name="connsiteY10-336" fmla="*/ 165100 h 637448"/>
                <a:gd name="connsiteX11-337" fmla="*/ 106091 w 484632"/>
                <a:gd name="connsiteY11-338" fmla="*/ 62893 h 637448"/>
                <a:gd name="connsiteX12-339" fmla="*/ 87784 w 484632"/>
                <a:gd name="connsiteY12-340" fmla="*/ 6350 h 637448"/>
                <a:gd name="connsiteX0-341" fmla="*/ 87784 w 484632"/>
                <a:gd name="connsiteY0-342" fmla="*/ 6350 h 637448"/>
                <a:gd name="connsiteX1-343" fmla="*/ 273387 w 484632"/>
                <a:gd name="connsiteY1-344" fmla="*/ 0 h 637448"/>
                <a:gd name="connsiteX2-345" fmla="*/ 305833 w 484632"/>
                <a:gd name="connsiteY2-346" fmla="*/ 23560 h 637448"/>
                <a:gd name="connsiteX3-347" fmla="*/ 337423 w 484632"/>
                <a:gd name="connsiteY3-348" fmla="*/ 120650 h 637448"/>
                <a:gd name="connsiteX4-349" fmla="*/ 350123 w 484632"/>
                <a:gd name="connsiteY4-350" fmla="*/ 292100 h 637448"/>
                <a:gd name="connsiteX5-351" fmla="*/ 363474 w 484632"/>
                <a:gd name="connsiteY5-352" fmla="*/ 395132 h 637448"/>
                <a:gd name="connsiteX6-353" fmla="*/ 484632 w 484632"/>
                <a:gd name="connsiteY6-354" fmla="*/ 395132 h 637448"/>
                <a:gd name="connsiteX7-355" fmla="*/ 242316 w 484632"/>
                <a:gd name="connsiteY7-356" fmla="*/ 637448 h 637448"/>
                <a:gd name="connsiteX8-357" fmla="*/ 0 w 484632"/>
                <a:gd name="connsiteY8-358" fmla="*/ 395132 h 637448"/>
                <a:gd name="connsiteX9-359" fmla="*/ 121158 w 484632"/>
                <a:gd name="connsiteY9-360" fmla="*/ 395132 h 637448"/>
                <a:gd name="connsiteX10-361" fmla="*/ 128666 w 484632"/>
                <a:gd name="connsiteY10-362" fmla="*/ 165100 h 637448"/>
                <a:gd name="connsiteX11-363" fmla="*/ 106091 w 484632"/>
                <a:gd name="connsiteY11-364" fmla="*/ 62893 h 637448"/>
                <a:gd name="connsiteX12-365" fmla="*/ 87784 w 484632"/>
                <a:gd name="connsiteY12-366" fmla="*/ 6350 h 637448"/>
                <a:gd name="connsiteX0-367" fmla="*/ 87784 w 484632"/>
                <a:gd name="connsiteY0-368" fmla="*/ 6350 h 637448"/>
                <a:gd name="connsiteX1-369" fmla="*/ 273387 w 484632"/>
                <a:gd name="connsiteY1-370" fmla="*/ 0 h 637448"/>
                <a:gd name="connsiteX2-371" fmla="*/ 305833 w 484632"/>
                <a:gd name="connsiteY2-372" fmla="*/ 23560 h 637448"/>
                <a:gd name="connsiteX3-373" fmla="*/ 337423 w 484632"/>
                <a:gd name="connsiteY3-374" fmla="*/ 120650 h 637448"/>
                <a:gd name="connsiteX4-375" fmla="*/ 350123 w 484632"/>
                <a:gd name="connsiteY4-376" fmla="*/ 292100 h 637448"/>
                <a:gd name="connsiteX5-377" fmla="*/ 363474 w 484632"/>
                <a:gd name="connsiteY5-378" fmla="*/ 395132 h 637448"/>
                <a:gd name="connsiteX6-379" fmla="*/ 484632 w 484632"/>
                <a:gd name="connsiteY6-380" fmla="*/ 395132 h 637448"/>
                <a:gd name="connsiteX7-381" fmla="*/ 242316 w 484632"/>
                <a:gd name="connsiteY7-382" fmla="*/ 637448 h 637448"/>
                <a:gd name="connsiteX8-383" fmla="*/ 0 w 484632"/>
                <a:gd name="connsiteY8-384" fmla="*/ 395132 h 637448"/>
                <a:gd name="connsiteX9-385" fmla="*/ 121158 w 484632"/>
                <a:gd name="connsiteY9-386" fmla="*/ 395132 h 637448"/>
                <a:gd name="connsiteX10-387" fmla="*/ 128666 w 484632"/>
                <a:gd name="connsiteY10-388" fmla="*/ 165100 h 637448"/>
                <a:gd name="connsiteX11-389" fmla="*/ 106091 w 484632"/>
                <a:gd name="connsiteY11-390" fmla="*/ 62893 h 637448"/>
                <a:gd name="connsiteX12-391" fmla="*/ 87784 w 484632"/>
                <a:gd name="connsiteY12-392" fmla="*/ 6350 h 637448"/>
                <a:gd name="connsiteX0-393" fmla="*/ 87784 w 484632"/>
                <a:gd name="connsiteY0-394" fmla="*/ 6350 h 637448"/>
                <a:gd name="connsiteX1-395" fmla="*/ 273387 w 484632"/>
                <a:gd name="connsiteY1-396" fmla="*/ 0 h 637448"/>
                <a:gd name="connsiteX2-397" fmla="*/ 305833 w 484632"/>
                <a:gd name="connsiteY2-398" fmla="*/ 23560 h 637448"/>
                <a:gd name="connsiteX3-399" fmla="*/ 337423 w 484632"/>
                <a:gd name="connsiteY3-400" fmla="*/ 120650 h 637448"/>
                <a:gd name="connsiteX4-401" fmla="*/ 350123 w 484632"/>
                <a:gd name="connsiteY4-402" fmla="*/ 292100 h 637448"/>
                <a:gd name="connsiteX5-403" fmla="*/ 363474 w 484632"/>
                <a:gd name="connsiteY5-404" fmla="*/ 395132 h 637448"/>
                <a:gd name="connsiteX6-405" fmla="*/ 484632 w 484632"/>
                <a:gd name="connsiteY6-406" fmla="*/ 395132 h 637448"/>
                <a:gd name="connsiteX7-407" fmla="*/ 242316 w 484632"/>
                <a:gd name="connsiteY7-408" fmla="*/ 637448 h 637448"/>
                <a:gd name="connsiteX8-409" fmla="*/ 0 w 484632"/>
                <a:gd name="connsiteY8-410" fmla="*/ 395132 h 637448"/>
                <a:gd name="connsiteX9-411" fmla="*/ 121158 w 484632"/>
                <a:gd name="connsiteY9-412" fmla="*/ 395132 h 637448"/>
                <a:gd name="connsiteX10-413" fmla="*/ 128666 w 484632"/>
                <a:gd name="connsiteY10-414" fmla="*/ 165100 h 637448"/>
                <a:gd name="connsiteX11-415" fmla="*/ 106091 w 484632"/>
                <a:gd name="connsiteY11-416" fmla="*/ 62893 h 637448"/>
                <a:gd name="connsiteX12-417" fmla="*/ 87784 w 484632"/>
                <a:gd name="connsiteY12-418" fmla="*/ 6350 h 637448"/>
                <a:gd name="connsiteX0-419" fmla="*/ 87784 w 484632"/>
                <a:gd name="connsiteY0-420" fmla="*/ 6350 h 637448"/>
                <a:gd name="connsiteX1-421" fmla="*/ 273387 w 484632"/>
                <a:gd name="connsiteY1-422" fmla="*/ 0 h 637448"/>
                <a:gd name="connsiteX2-423" fmla="*/ 305833 w 484632"/>
                <a:gd name="connsiteY2-424" fmla="*/ 23560 h 637448"/>
                <a:gd name="connsiteX3-425" fmla="*/ 324845 w 484632"/>
                <a:gd name="connsiteY3-426" fmla="*/ 120533 h 637448"/>
                <a:gd name="connsiteX4-427" fmla="*/ 350123 w 484632"/>
                <a:gd name="connsiteY4-428" fmla="*/ 292100 h 637448"/>
                <a:gd name="connsiteX5-429" fmla="*/ 363474 w 484632"/>
                <a:gd name="connsiteY5-430" fmla="*/ 395132 h 637448"/>
                <a:gd name="connsiteX6-431" fmla="*/ 484632 w 484632"/>
                <a:gd name="connsiteY6-432" fmla="*/ 395132 h 637448"/>
                <a:gd name="connsiteX7-433" fmla="*/ 242316 w 484632"/>
                <a:gd name="connsiteY7-434" fmla="*/ 637448 h 637448"/>
                <a:gd name="connsiteX8-435" fmla="*/ 0 w 484632"/>
                <a:gd name="connsiteY8-436" fmla="*/ 395132 h 637448"/>
                <a:gd name="connsiteX9-437" fmla="*/ 121158 w 484632"/>
                <a:gd name="connsiteY9-438" fmla="*/ 395132 h 637448"/>
                <a:gd name="connsiteX10-439" fmla="*/ 128666 w 484632"/>
                <a:gd name="connsiteY10-440" fmla="*/ 165100 h 637448"/>
                <a:gd name="connsiteX11-441" fmla="*/ 106091 w 484632"/>
                <a:gd name="connsiteY11-442" fmla="*/ 62893 h 637448"/>
                <a:gd name="connsiteX12-443" fmla="*/ 87784 w 484632"/>
                <a:gd name="connsiteY12-444" fmla="*/ 6350 h 637448"/>
                <a:gd name="connsiteX0-445" fmla="*/ 87784 w 484632"/>
                <a:gd name="connsiteY0-446" fmla="*/ 6350 h 637448"/>
                <a:gd name="connsiteX1-447" fmla="*/ 273387 w 484632"/>
                <a:gd name="connsiteY1-448" fmla="*/ 0 h 637448"/>
                <a:gd name="connsiteX2-449" fmla="*/ 293172 w 484632"/>
                <a:gd name="connsiteY2-450" fmla="*/ 32427 h 637448"/>
                <a:gd name="connsiteX3-451" fmla="*/ 324845 w 484632"/>
                <a:gd name="connsiteY3-452" fmla="*/ 120533 h 637448"/>
                <a:gd name="connsiteX4-453" fmla="*/ 350123 w 484632"/>
                <a:gd name="connsiteY4-454" fmla="*/ 292100 h 637448"/>
                <a:gd name="connsiteX5-455" fmla="*/ 363474 w 484632"/>
                <a:gd name="connsiteY5-456" fmla="*/ 395132 h 637448"/>
                <a:gd name="connsiteX6-457" fmla="*/ 484632 w 484632"/>
                <a:gd name="connsiteY6-458" fmla="*/ 395132 h 637448"/>
                <a:gd name="connsiteX7-459" fmla="*/ 242316 w 484632"/>
                <a:gd name="connsiteY7-460" fmla="*/ 637448 h 637448"/>
                <a:gd name="connsiteX8-461" fmla="*/ 0 w 484632"/>
                <a:gd name="connsiteY8-462" fmla="*/ 395132 h 637448"/>
                <a:gd name="connsiteX9-463" fmla="*/ 121158 w 484632"/>
                <a:gd name="connsiteY9-464" fmla="*/ 395132 h 637448"/>
                <a:gd name="connsiteX10-465" fmla="*/ 128666 w 484632"/>
                <a:gd name="connsiteY10-466" fmla="*/ 165100 h 637448"/>
                <a:gd name="connsiteX11-467" fmla="*/ 106091 w 484632"/>
                <a:gd name="connsiteY11-468" fmla="*/ 62893 h 637448"/>
                <a:gd name="connsiteX12-469" fmla="*/ 87784 w 484632"/>
                <a:gd name="connsiteY12-470" fmla="*/ 6350 h 637448"/>
                <a:gd name="connsiteX0-471" fmla="*/ 87784 w 484632"/>
                <a:gd name="connsiteY0-472" fmla="*/ 4855 h 635953"/>
                <a:gd name="connsiteX1-473" fmla="*/ 241027 w 484632"/>
                <a:gd name="connsiteY1-474" fmla="*/ 0 h 635953"/>
                <a:gd name="connsiteX2-475" fmla="*/ 293172 w 484632"/>
                <a:gd name="connsiteY2-476" fmla="*/ 30932 h 635953"/>
                <a:gd name="connsiteX3-477" fmla="*/ 324845 w 484632"/>
                <a:gd name="connsiteY3-478" fmla="*/ 119038 h 635953"/>
                <a:gd name="connsiteX4-479" fmla="*/ 350123 w 484632"/>
                <a:gd name="connsiteY4-480" fmla="*/ 290605 h 635953"/>
                <a:gd name="connsiteX5-481" fmla="*/ 363474 w 484632"/>
                <a:gd name="connsiteY5-482" fmla="*/ 393637 h 635953"/>
                <a:gd name="connsiteX6-483" fmla="*/ 484632 w 484632"/>
                <a:gd name="connsiteY6-484" fmla="*/ 393637 h 635953"/>
                <a:gd name="connsiteX7-485" fmla="*/ 242316 w 484632"/>
                <a:gd name="connsiteY7-486" fmla="*/ 635953 h 635953"/>
                <a:gd name="connsiteX8-487" fmla="*/ 0 w 484632"/>
                <a:gd name="connsiteY8-488" fmla="*/ 393637 h 635953"/>
                <a:gd name="connsiteX9-489" fmla="*/ 121158 w 484632"/>
                <a:gd name="connsiteY9-490" fmla="*/ 393637 h 635953"/>
                <a:gd name="connsiteX10-491" fmla="*/ 128666 w 484632"/>
                <a:gd name="connsiteY10-492" fmla="*/ 163605 h 635953"/>
                <a:gd name="connsiteX11-493" fmla="*/ 106091 w 484632"/>
                <a:gd name="connsiteY11-494" fmla="*/ 61398 h 635953"/>
                <a:gd name="connsiteX12-495" fmla="*/ 87784 w 484632"/>
                <a:gd name="connsiteY12-496" fmla="*/ 4855 h 635953"/>
                <a:gd name="connsiteX0-497" fmla="*/ 87784 w 484632"/>
                <a:gd name="connsiteY0-498" fmla="*/ 4855 h 635953"/>
                <a:gd name="connsiteX1-499" fmla="*/ 241027 w 484632"/>
                <a:gd name="connsiteY1-500" fmla="*/ 0 h 635953"/>
                <a:gd name="connsiteX2-501" fmla="*/ 293172 w 484632"/>
                <a:gd name="connsiteY2-502" fmla="*/ 30932 h 635953"/>
                <a:gd name="connsiteX3-503" fmla="*/ 324845 w 484632"/>
                <a:gd name="connsiteY3-504" fmla="*/ 119038 h 635953"/>
                <a:gd name="connsiteX4-505" fmla="*/ 350123 w 484632"/>
                <a:gd name="connsiteY4-506" fmla="*/ 290605 h 635953"/>
                <a:gd name="connsiteX5-507" fmla="*/ 363474 w 484632"/>
                <a:gd name="connsiteY5-508" fmla="*/ 393637 h 635953"/>
                <a:gd name="connsiteX6-509" fmla="*/ 484632 w 484632"/>
                <a:gd name="connsiteY6-510" fmla="*/ 393637 h 635953"/>
                <a:gd name="connsiteX7-511" fmla="*/ 242316 w 484632"/>
                <a:gd name="connsiteY7-512" fmla="*/ 635953 h 635953"/>
                <a:gd name="connsiteX8-513" fmla="*/ 0 w 484632"/>
                <a:gd name="connsiteY8-514" fmla="*/ 393637 h 635953"/>
                <a:gd name="connsiteX9-515" fmla="*/ 121158 w 484632"/>
                <a:gd name="connsiteY9-516" fmla="*/ 393637 h 635953"/>
                <a:gd name="connsiteX10-517" fmla="*/ 128666 w 484632"/>
                <a:gd name="connsiteY10-518" fmla="*/ 163605 h 635953"/>
                <a:gd name="connsiteX11-519" fmla="*/ 106091 w 484632"/>
                <a:gd name="connsiteY11-520" fmla="*/ 61398 h 635953"/>
                <a:gd name="connsiteX12-521" fmla="*/ 87784 w 484632"/>
                <a:gd name="connsiteY12-522" fmla="*/ 4855 h 635953"/>
                <a:gd name="connsiteX0-523" fmla="*/ 87784 w 484632"/>
                <a:gd name="connsiteY0-524" fmla="*/ 4855 h 635953"/>
                <a:gd name="connsiteX1-525" fmla="*/ 241027 w 484632"/>
                <a:gd name="connsiteY1-526" fmla="*/ 0 h 635953"/>
                <a:gd name="connsiteX2-527" fmla="*/ 282324 w 484632"/>
                <a:gd name="connsiteY2-528" fmla="*/ 38019 h 635953"/>
                <a:gd name="connsiteX3-529" fmla="*/ 324845 w 484632"/>
                <a:gd name="connsiteY3-530" fmla="*/ 119038 h 635953"/>
                <a:gd name="connsiteX4-531" fmla="*/ 350123 w 484632"/>
                <a:gd name="connsiteY4-532" fmla="*/ 290605 h 635953"/>
                <a:gd name="connsiteX5-533" fmla="*/ 363474 w 484632"/>
                <a:gd name="connsiteY5-534" fmla="*/ 393637 h 635953"/>
                <a:gd name="connsiteX6-535" fmla="*/ 484632 w 484632"/>
                <a:gd name="connsiteY6-536" fmla="*/ 393637 h 635953"/>
                <a:gd name="connsiteX7-537" fmla="*/ 242316 w 484632"/>
                <a:gd name="connsiteY7-538" fmla="*/ 635953 h 635953"/>
                <a:gd name="connsiteX8-539" fmla="*/ 0 w 484632"/>
                <a:gd name="connsiteY8-540" fmla="*/ 393637 h 635953"/>
                <a:gd name="connsiteX9-541" fmla="*/ 121158 w 484632"/>
                <a:gd name="connsiteY9-542" fmla="*/ 393637 h 635953"/>
                <a:gd name="connsiteX10-543" fmla="*/ 128666 w 484632"/>
                <a:gd name="connsiteY10-544" fmla="*/ 163605 h 635953"/>
                <a:gd name="connsiteX11-545" fmla="*/ 106091 w 484632"/>
                <a:gd name="connsiteY11-546" fmla="*/ 61398 h 635953"/>
                <a:gd name="connsiteX12-547" fmla="*/ 87784 w 484632"/>
                <a:gd name="connsiteY12-548" fmla="*/ 4855 h 635953"/>
                <a:gd name="connsiteX0-549" fmla="*/ 87784 w 484632"/>
                <a:gd name="connsiteY0-550" fmla="*/ 4855 h 635953"/>
                <a:gd name="connsiteX1-551" fmla="*/ 241027 w 484632"/>
                <a:gd name="connsiteY1-552" fmla="*/ 0 h 635953"/>
                <a:gd name="connsiteX2-553" fmla="*/ 282324 w 484632"/>
                <a:gd name="connsiteY2-554" fmla="*/ 38019 h 635953"/>
                <a:gd name="connsiteX3-555" fmla="*/ 324845 w 484632"/>
                <a:gd name="connsiteY3-556" fmla="*/ 119038 h 635953"/>
                <a:gd name="connsiteX4-557" fmla="*/ 350123 w 484632"/>
                <a:gd name="connsiteY4-558" fmla="*/ 290605 h 635953"/>
                <a:gd name="connsiteX5-559" fmla="*/ 363474 w 484632"/>
                <a:gd name="connsiteY5-560" fmla="*/ 393637 h 635953"/>
                <a:gd name="connsiteX6-561" fmla="*/ 484632 w 484632"/>
                <a:gd name="connsiteY6-562" fmla="*/ 393637 h 635953"/>
                <a:gd name="connsiteX7-563" fmla="*/ 242316 w 484632"/>
                <a:gd name="connsiteY7-564" fmla="*/ 635953 h 635953"/>
                <a:gd name="connsiteX8-565" fmla="*/ 0 w 484632"/>
                <a:gd name="connsiteY8-566" fmla="*/ 393637 h 635953"/>
                <a:gd name="connsiteX9-567" fmla="*/ 121158 w 484632"/>
                <a:gd name="connsiteY9-568" fmla="*/ 393637 h 635953"/>
                <a:gd name="connsiteX10-569" fmla="*/ 128666 w 484632"/>
                <a:gd name="connsiteY10-570" fmla="*/ 163605 h 635953"/>
                <a:gd name="connsiteX11-571" fmla="*/ 106091 w 484632"/>
                <a:gd name="connsiteY11-572" fmla="*/ 61398 h 635953"/>
                <a:gd name="connsiteX12-573" fmla="*/ 87784 w 484632"/>
                <a:gd name="connsiteY12-574" fmla="*/ 4855 h 635953"/>
                <a:gd name="connsiteX0-575" fmla="*/ 87784 w 484632"/>
                <a:gd name="connsiteY0-576" fmla="*/ 4855 h 635953"/>
                <a:gd name="connsiteX1-577" fmla="*/ 241027 w 484632"/>
                <a:gd name="connsiteY1-578" fmla="*/ 0 h 635953"/>
                <a:gd name="connsiteX2-579" fmla="*/ 282324 w 484632"/>
                <a:gd name="connsiteY2-580" fmla="*/ 38019 h 635953"/>
                <a:gd name="connsiteX3-581" fmla="*/ 315827 w 484632"/>
                <a:gd name="connsiteY3-582" fmla="*/ 122548 h 635953"/>
                <a:gd name="connsiteX4-583" fmla="*/ 350123 w 484632"/>
                <a:gd name="connsiteY4-584" fmla="*/ 290605 h 635953"/>
                <a:gd name="connsiteX5-585" fmla="*/ 363474 w 484632"/>
                <a:gd name="connsiteY5-586" fmla="*/ 393637 h 635953"/>
                <a:gd name="connsiteX6-587" fmla="*/ 484632 w 484632"/>
                <a:gd name="connsiteY6-588" fmla="*/ 393637 h 635953"/>
                <a:gd name="connsiteX7-589" fmla="*/ 242316 w 484632"/>
                <a:gd name="connsiteY7-590" fmla="*/ 635953 h 635953"/>
                <a:gd name="connsiteX8-591" fmla="*/ 0 w 484632"/>
                <a:gd name="connsiteY8-592" fmla="*/ 393637 h 635953"/>
                <a:gd name="connsiteX9-593" fmla="*/ 121158 w 484632"/>
                <a:gd name="connsiteY9-594" fmla="*/ 393637 h 635953"/>
                <a:gd name="connsiteX10-595" fmla="*/ 128666 w 484632"/>
                <a:gd name="connsiteY10-596" fmla="*/ 163605 h 635953"/>
                <a:gd name="connsiteX11-597" fmla="*/ 106091 w 484632"/>
                <a:gd name="connsiteY11-598" fmla="*/ 61398 h 635953"/>
                <a:gd name="connsiteX12-599" fmla="*/ 87784 w 484632"/>
                <a:gd name="connsiteY12-600" fmla="*/ 4855 h 635953"/>
                <a:gd name="connsiteX0-601" fmla="*/ 87784 w 484632"/>
                <a:gd name="connsiteY0-602" fmla="*/ 4855 h 635953"/>
                <a:gd name="connsiteX1-603" fmla="*/ 241027 w 484632"/>
                <a:gd name="connsiteY1-604" fmla="*/ 0 h 635953"/>
                <a:gd name="connsiteX2-605" fmla="*/ 282324 w 484632"/>
                <a:gd name="connsiteY2-606" fmla="*/ 38019 h 635953"/>
                <a:gd name="connsiteX3-607" fmla="*/ 315827 w 484632"/>
                <a:gd name="connsiteY3-608" fmla="*/ 122548 h 635953"/>
                <a:gd name="connsiteX4-609" fmla="*/ 350123 w 484632"/>
                <a:gd name="connsiteY4-610" fmla="*/ 290605 h 635953"/>
                <a:gd name="connsiteX5-611" fmla="*/ 363474 w 484632"/>
                <a:gd name="connsiteY5-612" fmla="*/ 393637 h 635953"/>
                <a:gd name="connsiteX6-613" fmla="*/ 484632 w 484632"/>
                <a:gd name="connsiteY6-614" fmla="*/ 393637 h 635953"/>
                <a:gd name="connsiteX7-615" fmla="*/ 242316 w 484632"/>
                <a:gd name="connsiteY7-616" fmla="*/ 635953 h 635953"/>
                <a:gd name="connsiteX8-617" fmla="*/ 0 w 484632"/>
                <a:gd name="connsiteY8-618" fmla="*/ 393637 h 635953"/>
                <a:gd name="connsiteX9-619" fmla="*/ 121158 w 484632"/>
                <a:gd name="connsiteY9-620" fmla="*/ 393637 h 635953"/>
                <a:gd name="connsiteX10-621" fmla="*/ 128666 w 484632"/>
                <a:gd name="connsiteY10-622" fmla="*/ 163605 h 635953"/>
                <a:gd name="connsiteX11-623" fmla="*/ 106091 w 484632"/>
                <a:gd name="connsiteY11-624" fmla="*/ 61398 h 635953"/>
                <a:gd name="connsiteX12-625" fmla="*/ 87784 w 484632"/>
                <a:gd name="connsiteY12-626" fmla="*/ 4855 h 635953"/>
                <a:gd name="connsiteX0-627" fmla="*/ 87784 w 484632"/>
                <a:gd name="connsiteY0-628" fmla="*/ 4855 h 635953"/>
                <a:gd name="connsiteX1-629" fmla="*/ 241027 w 484632"/>
                <a:gd name="connsiteY1-630" fmla="*/ 0 h 635953"/>
                <a:gd name="connsiteX2-631" fmla="*/ 282324 w 484632"/>
                <a:gd name="connsiteY2-632" fmla="*/ 38019 h 635953"/>
                <a:gd name="connsiteX3-633" fmla="*/ 315827 w 484632"/>
                <a:gd name="connsiteY3-634" fmla="*/ 122548 h 635953"/>
                <a:gd name="connsiteX4-635" fmla="*/ 350123 w 484632"/>
                <a:gd name="connsiteY4-636" fmla="*/ 290605 h 635953"/>
                <a:gd name="connsiteX5-637" fmla="*/ 363474 w 484632"/>
                <a:gd name="connsiteY5-638" fmla="*/ 393637 h 635953"/>
                <a:gd name="connsiteX6-639" fmla="*/ 484632 w 484632"/>
                <a:gd name="connsiteY6-640" fmla="*/ 393637 h 635953"/>
                <a:gd name="connsiteX7-641" fmla="*/ 242316 w 484632"/>
                <a:gd name="connsiteY7-642" fmla="*/ 635953 h 635953"/>
                <a:gd name="connsiteX8-643" fmla="*/ 0 w 484632"/>
                <a:gd name="connsiteY8-644" fmla="*/ 393637 h 635953"/>
                <a:gd name="connsiteX9-645" fmla="*/ 121158 w 484632"/>
                <a:gd name="connsiteY9-646" fmla="*/ 393637 h 635953"/>
                <a:gd name="connsiteX10-647" fmla="*/ 128666 w 484632"/>
                <a:gd name="connsiteY10-648" fmla="*/ 163605 h 635953"/>
                <a:gd name="connsiteX11-649" fmla="*/ 106091 w 484632"/>
                <a:gd name="connsiteY11-650" fmla="*/ 61398 h 635953"/>
                <a:gd name="connsiteX12-651" fmla="*/ 87784 w 484632"/>
                <a:gd name="connsiteY12-652" fmla="*/ 4855 h 635953"/>
                <a:gd name="connsiteX0-653" fmla="*/ 87784 w 484632"/>
                <a:gd name="connsiteY0-654" fmla="*/ 4855 h 635953"/>
                <a:gd name="connsiteX1-655" fmla="*/ 241027 w 484632"/>
                <a:gd name="connsiteY1-656" fmla="*/ 0 h 635953"/>
                <a:gd name="connsiteX2-657" fmla="*/ 282324 w 484632"/>
                <a:gd name="connsiteY2-658" fmla="*/ 38019 h 635953"/>
                <a:gd name="connsiteX3-659" fmla="*/ 315827 w 484632"/>
                <a:gd name="connsiteY3-660" fmla="*/ 122548 h 635953"/>
                <a:gd name="connsiteX4-661" fmla="*/ 339342 w 484632"/>
                <a:gd name="connsiteY4-662" fmla="*/ 290505 h 635953"/>
                <a:gd name="connsiteX5-663" fmla="*/ 363474 w 484632"/>
                <a:gd name="connsiteY5-664" fmla="*/ 393637 h 635953"/>
                <a:gd name="connsiteX6-665" fmla="*/ 484632 w 484632"/>
                <a:gd name="connsiteY6-666" fmla="*/ 393637 h 635953"/>
                <a:gd name="connsiteX7-667" fmla="*/ 242316 w 484632"/>
                <a:gd name="connsiteY7-668" fmla="*/ 635953 h 635953"/>
                <a:gd name="connsiteX8-669" fmla="*/ 0 w 484632"/>
                <a:gd name="connsiteY8-670" fmla="*/ 393637 h 635953"/>
                <a:gd name="connsiteX9-671" fmla="*/ 121158 w 484632"/>
                <a:gd name="connsiteY9-672" fmla="*/ 393637 h 635953"/>
                <a:gd name="connsiteX10-673" fmla="*/ 128666 w 484632"/>
                <a:gd name="connsiteY10-674" fmla="*/ 163605 h 635953"/>
                <a:gd name="connsiteX11-675" fmla="*/ 106091 w 484632"/>
                <a:gd name="connsiteY11-676" fmla="*/ 61398 h 635953"/>
                <a:gd name="connsiteX12-677" fmla="*/ 87784 w 484632"/>
                <a:gd name="connsiteY12-678" fmla="*/ 4855 h 635953"/>
              </a:gdLst>
              <a:ahLst/>
              <a:cxnLst>
                <a:cxn ang="0">
                  <a:pos x="connsiteX0-653" y="connsiteY0-654"/>
                </a:cxn>
                <a:cxn ang="0">
                  <a:pos x="connsiteX1-655" y="connsiteY1-656"/>
                </a:cxn>
                <a:cxn ang="0">
                  <a:pos x="connsiteX2-657" y="connsiteY2-658"/>
                </a:cxn>
                <a:cxn ang="0">
                  <a:pos x="connsiteX3-659" y="connsiteY3-660"/>
                </a:cxn>
                <a:cxn ang="0">
                  <a:pos x="connsiteX4-661" y="connsiteY4-662"/>
                </a:cxn>
                <a:cxn ang="0">
                  <a:pos x="connsiteX5-663" y="connsiteY5-664"/>
                </a:cxn>
                <a:cxn ang="0">
                  <a:pos x="connsiteX6-665" y="connsiteY6-666"/>
                </a:cxn>
                <a:cxn ang="0">
                  <a:pos x="connsiteX7-667" y="connsiteY7-668"/>
                </a:cxn>
                <a:cxn ang="0">
                  <a:pos x="connsiteX8-669" y="connsiteY8-670"/>
                </a:cxn>
                <a:cxn ang="0">
                  <a:pos x="connsiteX9-671" y="connsiteY9-672"/>
                </a:cxn>
                <a:cxn ang="0">
                  <a:pos x="connsiteX10-673" y="connsiteY10-674"/>
                </a:cxn>
                <a:cxn ang="0">
                  <a:pos x="connsiteX11-675" y="connsiteY11-676"/>
                </a:cxn>
                <a:cxn ang="0">
                  <a:pos x="connsiteX12-677" y="connsiteY12-678"/>
                </a:cxn>
              </a:cxnLst>
              <a:rect l="l" t="t" r="r" b="b"/>
              <a:pathLst>
                <a:path w="484632" h="635953">
                  <a:moveTo>
                    <a:pt x="87784" y="4855"/>
                  </a:moveTo>
                  <a:lnTo>
                    <a:pt x="241027" y="0"/>
                  </a:lnTo>
                  <a:cubicBezTo>
                    <a:pt x="254793" y="12673"/>
                    <a:pt x="261471" y="14498"/>
                    <a:pt x="282324" y="38019"/>
                  </a:cubicBezTo>
                  <a:cubicBezTo>
                    <a:pt x="297224" y="76769"/>
                    <a:pt x="307620" y="88356"/>
                    <a:pt x="315827" y="122548"/>
                  </a:cubicBezTo>
                  <a:cubicBezTo>
                    <a:pt x="327557" y="167674"/>
                    <a:pt x="335000" y="244758"/>
                    <a:pt x="339342" y="290505"/>
                  </a:cubicBezTo>
                  <a:cubicBezTo>
                    <a:pt x="343684" y="336252"/>
                    <a:pt x="339997" y="378582"/>
                    <a:pt x="363474" y="393637"/>
                  </a:cubicBezTo>
                  <a:lnTo>
                    <a:pt x="484632" y="393637"/>
                  </a:lnTo>
                  <a:lnTo>
                    <a:pt x="242316" y="635953"/>
                  </a:lnTo>
                  <a:lnTo>
                    <a:pt x="0" y="393637"/>
                  </a:lnTo>
                  <a:lnTo>
                    <a:pt x="121158" y="393637"/>
                  </a:lnTo>
                  <a:cubicBezTo>
                    <a:pt x="130828" y="356357"/>
                    <a:pt x="141570" y="240572"/>
                    <a:pt x="128666" y="163605"/>
                  </a:cubicBezTo>
                  <a:cubicBezTo>
                    <a:pt x="118643" y="117977"/>
                    <a:pt x="112573" y="99641"/>
                    <a:pt x="106091" y="61398"/>
                  </a:cubicBezTo>
                  <a:lnTo>
                    <a:pt x="87784" y="4855"/>
                  </a:lnTo>
                  <a:close/>
                </a:path>
              </a:pathLst>
            </a:custGeom>
            <a:solidFill>
              <a:srgbClr val="A4C47E"/>
            </a:soli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sp>
          <p:nvSpPr>
            <p:cNvPr id="70" name="任意多边形 69"/>
            <p:cNvSpPr/>
            <p:nvPr>
              <p:custDataLst>
                <p:tags r:id="rId15"/>
              </p:custDataLst>
            </p:nvPr>
          </p:nvSpPr>
          <p:spPr>
            <a:xfrm rot="7200000">
              <a:off x="5614800" y="4313510"/>
              <a:ext cx="330803" cy="844731"/>
            </a:xfrm>
            <a:custGeom>
              <a:avLst/>
              <a:gdLst>
                <a:gd name="connsiteX0" fmla="*/ 17934 w 249630"/>
                <a:gd name="connsiteY0" fmla="*/ 0 h 637448"/>
                <a:gd name="connsiteX1" fmla="*/ 125448 w 249630"/>
                <a:gd name="connsiteY1" fmla="*/ 0 h 637448"/>
                <a:gd name="connsiteX2" fmla="*/ 153677 w 249630"/>
                <a:gd name="connsiteY2" fmla="*/ 56382 h 637448"/>
                <a:gd name="connsiteX3" fmla="*/ 244011 w 249630"/>
                <a:gd name="connsiteY3" fmla="*/ 628536 h 637448"/>
                <a:gd name="connsiteX4" fmla="*/ 242721 w 249630"/>
                <a:gd name="connsiteY4" fmla="*/ 637044 h 637448"/>
                <a:gd name="connsiteX5" fmla="*/ 242316 w 249630"/>
                <a:gd name="connsiteY5" fmla="*/ 637448 h 637448"/>
                <a:gd name="connsiteX6" fmla="*/ 0 w 249630"/>
                <a:gd name="connsiteY6" fmla="*/ 395132 h 637448"/>
                <a:gd name="connsiteX7" fmla="*/ 121158 w 249630"/>
                <a:gd name="connsiteY7" fmla="*/ 395132 h 637448"/>
                <a:gd name="connsiteX8" fmla="*/ 89773 w 249630"/>
                <a:gd name="connsiteY8" fmla="*/ 171450 h 637448"/>
                <a:gd name="connsiteX9" fmla="*/ 48941 w 249630"/>
                <a:gd name="connsiteY9" fmla="*/ 69243 h 63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9630" h="637448">
                  <a:moveTo>
                    <a:pt x="17934" y="0"/>
                  </a:moveTo>
                  <a:lnTo>
                    <a:pt x="125448" y="0"/>
                  </a:lnTo>
                  <a:lnTo>
                    <a:pt x="153677" y="56382"/>
                  </a:lnTo>
                  <a:cubicBezTo>
                    <a:pt x="232580" y="236753"/>
                    <a:pt x="263370" y="433895"/>
                    <a:pt x="244011" y="628536"/>
                  </a:cubicBezTo>
                  <a:lnTo>
                    <a:pt x="242721" y="637044"/>
                  </a:lnTo>
                  <a:lnTo>
                    <a:pt x="242316" y="637448"/>
                  </a:lnTo>
                  <a:lnTo>
                    <a:pt x="0" y="395132"/>
                  </a:lnTo>
                  <a:lnTo>
                    <a:pt x="121158" y="395132"/>
                  </a:lnTo>
                  <a:cubicBezTo>
                    <a:pt x="130828" y="357852"/>
                    <a:pt x="109821" y="243655"/>
                    <a:pt x="89773" y="171450"/>
                  </a:cubicBezTo>
                  <a:cubicBezTo>
                    <a:pt x="79750" y="135348"/>
                    <a:pt x="64948" y="102723"/>
                    <a:pt x="48941" y="69243"/>
                  </a:cubicBezTo>
                  <a:close/>
                </a:path>
              </a:pathLst>
            </a:custGeom>
            <a:gradFill>
              <a:gsLst>
                <a:gs pos="53000">
                  <a:srgbClr val="A4C47E">
                    <a:lumMod val="75000"/>
                  </a:srgbClr>
                </a:gs>
                <a:gs pos="0">
                  <a:srgbClr val="A4C47E">
                    <a:lumMod val="75000"/>
                    <a:alpha val="0"/>
                  </a:srgbClr>
                </a:gs>
                <a:gs pos="100000">
                  <a:srgbClr val="A4C47E">
                    <a:lumMod val="75000"/>
                  </a:srgbClr>
                </a:gs>
              </a:gsLst>
              <a:lin ang="5400000" scaled="1"/>
            </a:gra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grpSp>
      <p:sp>
        <p:nvSpPr>
          <p:cNvPr id="71" name="文本框 70"/>
          <p:cNvSpPr txBox="1"/>
          <p:nvPr>
            <p:custDataLst>
              <p:tags r:id="rId8"/>
            </p:custDataLst>
          </p:nvPr>
        </p:nvSpPr>
        <p:spPr>
          <a:xfrm>
            <a:off x="6437630" y="3638550"/>
            <a:ext cx="458470" cy="584835"/>
          </a:xfrm>
          <a:prstGeom prst="rect">
            <a:avLst/>
          </a:prstGeom>
          <a:noFill/>
        </p:spPr>
        <p:txBody>
          <a:bodyPr wrap="none" rtlCol="0">
            <a:normAutofit/>
          </a:bodyPr>
          <a:lstStyle/>
          <a:p>
            <a:r>
              <a:rPr lang="en-US" altLang="zh-CN" sz="3200">
                <a:solidFill>
                  <a:srgbClr val="FFFFFF"/>
                </a:solidFill>
                <a:sym typeface="Arial" panose="020B0604020202020204" pitchFamily="34" charset="0"/>
              </a:rPr>
              <a:t>B</a:t>
            </a:r>
            <a:endParaRPr lang="zh-CN" altLang="en-US" sz="3200">
              <a:solidFill>
                <a:srgbClr val="FFFFFF"/>
              </a:solidFill>
              <a:sym typeface="Arial" panose="020B0604020202020204" pitchFamily="34" charset="0"/>
            </a:endParaRPr>
          </a:p>
        </p:txBody>
      </p:sp>
      <p:sp>
        <p:nvSpPr>
          <p:cNvPr id="20" name="文本框 19"/>
          <p:cNvSpPr txBox="1"/>
          <p:nvPr>
            <p:custDataLst>
              <p:tags r:id="rId9"/>
            </p:custDataLst>
          </p:nvPr>
        </p:nvSpPr>
        <p:spPr>
          <a:xfrm>
            <a:off x="4566285" y="3638550"/>
            <a:ext cx="481330" cy="584835"/>
          </a:xfrm>
          <a:prstGeom prst="rect">
            <a:avLst/>
          </a:prstGeom>
          <a:noFill/>
        </p:spPr>
        <p:txBody>
          <a:bodyPr wrap="none" rtlCol="0">
            <a:normAutofit/>
          </a:bodyPr>
          <a:lstStyle>
            <a:defPPr>
              <a:defRPr lang="zh-CN"/>
            </a:defPPr>
            <a:lvl1pPr>
              <a:defRPr sz="3200">
                <a:solidFill>
                  <a:srgbClr val="FFFFFF"/>
                </a:solidFill>
              </a:defRPr>
            </a:lvl1pPr>
          </a:lstStyle>
          <a:p>
            <a:r>
              <a:rPr lang="en-US" altLang="zh-CN">
                <a:sym typeface="Arial" panose="020B0604020202020204" pitchFamily="34" charset="0"/>
              </a:rPr>
              <a:t>D</a:t>
            </a:r>
            <a:endParaRPr lang="zh-CN" altLang="en-US">
              <a:sym typeface="Arial" panose="020B0604020202020204" pitchFamily="34" charset="0"/>
            </a:endParaRPr>
          </a:p>
        </p:txBody>
      </p:sp>
      <p:sp>
        <p:nvSpPr>
          <p:cNvPr id="21" name="文本框 20"/>
          <p:cNvSpPr txBox="1"/>
          <p:nvPr>
            <p:custDataLst>
              <p:tags r:id="rId10"/>
            </p:custDataLst>
          </p:nvPr>
        </p:nvSpPr>
        <p:spPr>
          <a:xfrm>
            <a:off x="5452745" y="2837815"/>
            <a:ext cx="458470" cy="584835"/>
          </a:xfrm>
          <a:prstGeom prst="rect">
            <a:avLst/>
          </a:prstGeom>
          <a:noFill/>
        </p:spPr>
        <p:txBody>
          <a:bodyPr wrap="none" rtlCol="0">
            <a:normAutofit/>
          </a:bodyPr>
          <a:lstStyle/>
          <a:p>
            <a:r>
              <a:rPr lang="en-US" altLang="zh-CN" sz="3200">
                <a:solidFill>
                  <a:srgbClr val="FFFFFF"/>
                </a:solidFill>
                <a:sym typeface="Arial" panose="020B0604020202020204" pitchFamily="34" charset="0"/>
              </a:rPr>
              <a:t>A</a:t>
            </a:r>
            <a:endParaRPr lang="zh-CN" altLang="en-US" sz="3200">
              <a:solidFill>
                <a:srgbClr val="FFFFFF"/>
              </a:solidFill>
              <a:sym typeface="Arial" panose="020B0604020202020204" pitchFamily="34" charset="0"/>
            </a:endParaRPr>
          </a:p>
        </p:txBody>
      </p:sp>
      <p:sp>
        <p:nvSpPr>
          <p:cNvPr id="22" name="文本框 21"/>
          <p:cNvSpPr txBox="1"/>
          <p:nvPr>
            <p:custDataLst>
              <p:tags r:id="rId11"/>
            </p:custDataLst>
          </p:nvPr>
        </p:nvSpPr>
        <p:spPr>
          <a:xfrm>
            <a:off x="5467985" y="4611370"/>
            <a:ext cx="481330" cy="584835"/>
          </a:xfrm>
          <a:prstGeom prst="rect">
            <a:avLst/>
          </a:prstGeom>
          <a:noFill/>
        </p:spPr>
        <p:txBody>
          <a:bodyPr wrap="none" rtlCol="0">
            <a:normAutofit/>
          </a:bodyPr>
          <a:lstStyle/>
          <a:p>
            <a:r>
              <a:rPr lang="en-US" altLang="zh-CN" sz="3200">
                <a:solidFill>
                  <a:srgbClr val="FFFFFF"/>
                </a:solidFill>
                <a:sym typeface="Arial" panose="020B0604020202020204" pitchFamily="34" charset="0"/>
              </a:rPr>
              <a:t>C</a:t>
            </a:r>
            <a:endParaRPr lang="zh-CN" altLang="en-US" sz="3200">
              <a:solidFill>
                <a:srgbClr val="FFFFFF"/>
              </a:solidFill>
              <a:sym typeface="Arial" panose="020B0604020202020204" pitchFamily="34" charset="0"/>
            </a:endParaRPr>
          </a:p>
        </p:txBody>
      </p:sp>
      <p:sp>
        <p:nvSpPr>
          <p:cNvPr id="23" name="文本框 22"/>
          <p:cNvSpPr txBox="1"/>
          <p:nvPr>
            <p:custDataLst>
              <p:tags r:id="rId12"/>
            </p:custDataLst>
          </p:nvPr>
        </p:nvSpPr>
        <p:spPr>
          <a:xfrm>
            <a:off x="4521200" y="2089785"/>
            <a:ext cx="2095500" cy="394335"/>
          </a:xfrm>
          <a:prstGeom prst="rect">
            <a:avLst/>
          </a:prstGeom>
          <a:noFill/>
        </p:spPr>
        <p:txBody>
          <a:bodyPr wrap="none" rtlCol="0">
            <a:normAutofit/>
          </a:bodyPr>
          <a:lstStyle/>
          <a:p>
            <a:pPr algn="ctr" eaLnBrk="1" hangingPunct="1">
              <a:lnSpc>
                <a:spcPct val="120000"/>
              </a:lnSpc>
              <a:spcBef>
                <a:spcPts val="0"/>
              </a:spcBef>
              <a:spcAft>
                <a:spcPts val="0"/>
              </a:spcAft>
              <a:defRPr/>
            </a:pPr>
            <a:r>
              <a:rPr dirty="0"/>
              <a:t>（1）清晰地描述功能域。</a:t>
            </a:r>
          </a:p>
        </p:txBody>
      </p:sp>
      <p:sp>
        <p:nvSpPr>
          <p:cNvPr id="24" name="文本框 23"/>
          <p:cNvSpPr txBox="1"/>
          <p:nvPr>
            <p:custDataLst>
              <p:tags r:id="rId13"/>
            </p:custDataLst>
          </p:nvPr>
        </p:nvSpPr>
        <p:spPr>
          <a:xfrm>
            <a:off x="1548130" y="3642995"/>
            <a:ext cx="2095500" cy="968375"/>
          </a:xfrm>
          <a:prstGeom prst="rect">
            <a:avLst/>
          </a:prstGeom>
          <a:noFill/>
        </p:spPr>
        <p:txBody>
          <a:bodyPr wrap="none" rtlCol="0">
            <a:normAutofit/>
          </a:bodyPr>
          <a:lstStyle/>
          <a:p>
            <a:pPr algn="ctr">
              <a:lnSpc>
                <a:spcPct val="120000"/>
              </a:lnSpc>
            </a:pPr>
            <a:r>
              <a:rPr lang="da-DK" altLang="zh-CN" dirty="0">
                <a:sym typeface="Arial" panose="020B0604020202020204" pitchFamily="34" charset="0"/>
              </a:rPr>
              <a:t>（4）易于描述系统的层次</a:t>
            </a:r>
          </a:p>
          <a:p>
            <a:pPr algn="ctr">
              <a:lnSpc>
                <a:spcPct val="120000"/>
              </a:lnSpc>
            </a:pPr>
            <a:r>
              <a:rPr lang="da-DK" altLang="zh-CN" dirty="0">
                <a:sym typeface="Arial" panose="020B0604020202020204" pitchFamily="34" charset="0"/>
              </a:rPr>
              <a:t>       结构和嵌套关系。</a:t>
            </a:r>
          </a:p>
        </p:txBody>
      </p:sp>
      <p:sp>
        <p:nvSpPr>
          <p:cNvPr id="29" name="矩形 28"/>
          <p:cNvSpPr/>
          <p:nvPr/>
        </p:nvSpPr>
        <p:spPr>
          <a:xfrm>
            <a:off x="896708" y="2220750"/>
            <a:ext cx="2031325" cy="461665"/>
          </a:xfrm>
          <a:prstGeom prst="rect">
            <a:avLst/>
          </a:prstGeom>
        </p:spPr>
        <p:txBody>
          <a:bodyPr wrap="none">
            <a:spAutoFit/>
          </a:bodyPr>
          <a:lstStyle/>
          <a:p>
            <a:r>
              <a:rPr lang="zh-CN" altLang="en-US" sz="2400" dirty="0"/>
              <a:t>盒图的特点：</a:t>
            </a:r>
          </a:p>
        </p:txBody>
      </p:sp>
    </p:spTree>
  </p:cSld>
  <p:clrMapOvr>
    <a:masterClrMapping/>
  </p:clrMapOvr>
  <p:transition>
    <p:pull dir="d"/>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endParaRPr lang="zh-CN" altLang="en-US" dirty="0"/>
          </a:p>
        </p:txBody>
      </p:sp>
      <p:sp>
        <p:nvSpPr>
          <p:cNvPr id="19" name="TextBox 6"/>
          <p:cNvSpPr txBox="1"/>
          <p:nvPr/>
        </p:nvSpPr>
        <p:spPr>
          <a:xfrm>
            <a:off x="737235" y="1419225"/>
            <a:ext cx="8696325"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sp>
        <p:nvSpPr>
          <p:cNvPr id="24" name="矩形 23"/>
          <p:cNvSpPr>
            <a:spLocks noChangeAspect="1"/>
          </p:cNvSpPr>
          <p:nvPr/>
        </p:nvSpPr>
        <p:spPr>
          <a:xfrm>
            <a:off x="5067300" y="260985"/>
            <a:ext cx="6174105" cy="612775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34" name="TextBox 33"/>
          <p:cNvSpPr txBox="1"/>
          <p:nvPr/>
        </p:nvSpPr>
        <p:spPr>
          <a:xfrm>
            <a:off x="5226685" y="307340"/>
            <a:ext cx="5855335" cy="5943600"/>
          </a:xfrm>
          <a:prstGeom prst="rect">
            <a:avLst/>
          </a:prstGeom>
          <a:solidFill>
            <a:schemeClr val="bg1">
              <a:lumMod val="95000"/>
            </a:schemeClr>
          </a:solidFill>
        </p:spPr>
        <p:txBody>
          <a:bodyPr wrap="square">
            <a:spAutoFit/>
          </a:bodyPr>
          <a:lstStyle/>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p:txBody>
      </p:sp>
      <p:pic>
        <p:nvPicPr>
          <p:cNvPr id="2" name="图片 -2147482518"/>
          <p:cNvPicPr>
            <a:picLocks noChangeAspect="1"/>
          </p:cNvPicPr>
          <p:nvPr/>
        </p:nvPicPr>
        <p:blipFill>
          <a:blip r:embed="rId3" cstate="print"/>
          <a:stretch>
            <a:fillRect/>
          </a:stretch>
        </p:blipFill>
        <p:spPr>
          <a:xfrm>
            <a:off x="5404485" y="393700"/>
            <a:ext cx="5500370" cy="5857240"/>
          </a:xfrm>
          <a:prstGeom prst="rect">
            <a:avLst/>
          </a:prstGeom>
          <a:noFill/>
          <a:ln w="9525">
            <a:noFill/>
          </a:ln>
        </p:spPr>
      </p:pic>
      <p:grpSp>
        <p:nvGrpSpPr>
          <p:cNvPr id="7" name="组合 6"/>
          <p:cNvGrpSpPr/>
          <p:nvPr/>
        </p:nvGrpSpPr>
        <p:grpSpPr>
          <a:xfrm>
            <a:off x="737235" y="1985645"/>
            <a:ext cx="3600450" cy="1671955"/>
            <a:chOff x="1029" y="4023"/>
            <a:chExt cx="5670" cy="2633"/>
          </a:xfrm>
        </p:grpSpPr>
        <p:grpSp>
          <p:nvGrpSpPr>
            <p:cNvPr id="25" name="组合 5"/>
            <p:cNvGrpSpPr/>
            <p:nvPr/>
          </p:nvGrpSpPr>
          <p:grpSpPr>
            <a:xfrm>
              <a:off x="1029" y="4023"/>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3-3</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4" name="矩形 3"/>
            <p:cNvSpPr>
              <a:spLocks noChangeAspect="1"/>
            </p:cNvSpPr>
            <p:nvPr/>
          </p:nvSpPr>
          <p:spPr>
            <a:xfrm>
              <a:off x="1628" y="4916"/>
              <a:ext cx="5071" cy="174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6" name="TextBox 33"/>
            <p:cNvSpPr txBox="1"/>
            <p:nvPr/>
          </p:nvSpPr>
          <p:spPr>
            <a:xfrm>
              <a:off x="1863" y="5148"/>
              <a:ext cx="4602" cy="1296"/>
            </a:xfrm>
            <a:prstGeom prst="rect">
              <a:avLst/>
            </a:prstGeom>
            <a:solidFill>
              <a:schemeClr val="bg1">
                <a:lumMod val="95000"/>
              </a:schemeClr>
            </a:solidFill>
          </p:spPr>
          <p:txBody>
            <a:bodyPr wrap="square">
              <a:spAutoFit/>
            </a:bodyPr>
            <a:lstStyle/>
            <a:p>
              <a:pPr fontAlgn="auto">
                <a:lnSpc>
                  <a:spcPct val="120000"/>
                </a:lnSpc>
              </a:pPr>
              <a:r>
                <a:rPr sz="2000" dirty="0">
                  <a:sym typeface="+mn-ea"/>
                </a:rPr>
                <a:t>将</a:t>
              </a:r>
              <a:r>
                <a:rPr lang="zh-CN" sz="2000" dirty="0">
                  <a:sym typeface="+mn-ea"/>
                </a:rPr>
                <a:t>右图</a:t>
              </a:r>
              <a:r>
                <a:rPr sz="2000" dirty="0">
                  <a:sym typeface="+mn-ea"/>
                </a:rPr>
                <a:t>含有Goto语句的</a:t>
              </a:r>
            </a:p>
            <a:p>
              <a:pPr fontAlgn="auto">
                <a:lnSpc>
                  <a:spcPct val="120000"/>
                </a:lnSpc>
              </a:pPr>
              <a:r>
                <a:rPr sz="2000" dirty="0">
                  <a:sym typeface="+mn-ea"/>
                </a:rPr>
                <a:t>程序流程图改为N-S图。</a:t>
              </a:r>
              <a:endParaRPr sz="2000" dirty="0">
                <a:latin typeface="Times New Roman" panose="02020603050405020304" charset="0"/>
                <a:ea typeface="宋体" panose="02010600030101010101" pitchFamily="2" charset="-122"/>
              </a:endParaRPr>
            </a:p>
          </p:txBody>
        </p:sp>
      </p:grpSp>
    </p:spTree>
  </p:cSld>
  <p:clrMapOvr>
    <a:masterClrMapping/>
  </p:clrMapOvr>
  <p:transition>
    <p:pull dir="d"/>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endParaRPr lang="zh-CN" altLang="en-US" dirty="0"/>
          </a:p>
        </p:txBody>
      </p:sp>
      <p:sp>
        <p:nvSpPr>
          <p:cNvPr id="19" name="TextBox 6"/>
          <p:cNvSpPr txBox="1"/>
          <p:nvPr/>
        </p:nvSpPr>
        <p:spPr>
          <a:xfrm>
            <a:off x="737235" y="1419225"/>
            <a:ext cx="8696325"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sp>
        <p:nvSpPr>
          <p:cNvPr id="24" name="矩形 23"/>
          <p:cNvSpPr>
            <a:spLocks noChangeAspect="1"/>
          </p:cNvSpPr>
          <p:nvPr/>
        </p:nvSpPr>
        <p:spPr>
          <a:xfrm>
            <a:off x="5067300" y="260985"/>
            <a:ext cx="6174105" cy="612775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34" name="TextBox 33"/>
          <p:cNvSpPr txBox="1"/>
          <p:nvPr/>
        </p:nvSpPr>
        <p:spPr>
          <a:xfrm>
            <a:off x="5226685" y="307340"/>
            <a:ext cx="5855335" cy="5943600"/>
          </a:xfrm>
          <a:prstGeom prst="rect">
            <a:avLst/>
          </a:prstGeom>
          <a:solidFill>
            <a:schemeClr val="bg1">
              <a:lumMod val="95000"/>
            </a:schemeClr>
          </a:solidFill>
        </p:spPr>
        <p:txBody>
          <a:bodyPr wrap="square">
            <a:spAutoFit/>
          </a:bodyPr>
          <a:lstStyle/>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p:txBody>
      </p:sp>
      <p:grpSp>
        <p:nvGrpSpPr>
          <p:cNvPr id="7" name="组合 6"/>
          <p:cNvGrpSpPr/>
          <p:nvPr/>
        </p:nvGrpSpPr>
        <p:grpSpPr>
          <a:xfrm>
            <a:off x="789943" y="2109469"/>
            <a:ext cx="3909057" cy="3854164"/>
            <a:chOff x="946" y="4023"/>
            <a:chExt cx="6156" cy="7946"/>
          </a:xfrm>
        </p:grpSpPr>
        <p:grpSp>
          <p:nvGrpSpPr>
            <p:cNvPr id="25" name="组合 5"/>
            <p:cNvGrpSpPr/>
            <p:nvPr/>
          </p:nvGrpSpPr>
          <p:grpSpPr>
            <a:xfrm>
              <a:off x="946" y="4023"/>
              <a:ext cx="2014" cy="1405"/>
              <a:chOff x="2692359" y="1357298"/>
              <a:chExt cx="1117629" cy="892007"/>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805170" y="1244487"/>
                <a:ext cx="892007" cy="1117629"/>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598434"/>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3-4</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4" name="矩形 3"/>
            <p:cNvSpPr>
              <a:spLocks noChangeAspect="1"/>
            </p:cNvSpPr>
            <p:nvPr/>
          </p:nvSpPr>
          <p:spPr>
            <a:xfrm>
              <a:off x="1029" y="5189"/>
              <a:ext cx="6073" cy="678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6" name="TextBox 33"/>
            <p:cNvSpPr txBox="1"/>
            <p:nvPr/>
          </p:nvSpPr>
          <p:spPr>
            <a:xfrm>
              <a:off x="1231" y="5428"/>
              <a:ext cx="5618" cy="6221"/>
            </a:xfrm>
            <a:prstGeom prst="rect">
              <a:avLst/>
            </a:prstGeom>
            <a:solidFill>
              <a:schemeClr val="bg1">
                <a:lumMod val="95000"/>
              </a:schemeClr>
            </a:solidFill>
          </p:spPr>
          <p:txBody>
            <a:bodyPr wrap="square">
              <a:spAutoFit/>
            </a:bodyPr>
            <a:lstStyle/>
            <a:p>
              <a:pPr fontAlgn="auto">
                <a:lnSpc>
                  <a:spcPct val="120000"/>
                </a:lnSpc>
              </a:pPr>
              <a:r>
                <a:rPr sz="2000" dirty="0">
                  <a:sym typeface="+mn-ea"/>
                </a:rPr>
                <a:t>Maxint/I小于S时，能跳出循环，可以设置一个标记值A=1。在上述条件不符合时，标记值不变，循环正常进行，直至算出N!；满足该条件时，标记值变为A=2，循环立即结束。该问题的N-S图，如图3-17（b）所示。</a:t>
              </a:r>
            </a:p>
          </p:txBody>
        </p:sp>
      </p:grpSp>
      <p:pic>
        <p:nvPicPr>
          <p:cNvPr id="2" name="图片 -2147482517"/>
          <p:cNvPicPr>
            <a:picLocks noChangeAspect="1"/>
          </p:cNvPicPr>
          <p:nvPr/>
        </p:nvPicPr>
        <p:blipFill>
          <a:blip r:embed="rId4" cstate="print"/>
          <a:stretch>
            <a:fillRect/>
          </a:stretch>
        </p:blipFill>
        <p:spPr>
          <a:xfrm>
            <a:off x="5617845" y="384175"/>
            <a:ext cx="5073015" cy="5789295"/>
          </a:xfrm>
          <a:prstGeom prst="rect">
            <a:avLst/>
          </a:prstGeom>
          <a:noFill/>
          <a:ln w="9525">
            <a:noFill/>
          </a:ln>
        </p:spPr>
      </p:pic>
    </p:spTree>
  </p:cSld>
  <p:clrMapOvr>
    <a:masterClrMapping/>
  </p:clrMapOvr>
  <p:transition>
    <p:pull dir="d"/>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endParaRPr lang="zh-CN" altLang="en-US" dirty="0"/>
          </a:p>
        </p:txBody>
      </p:sp>
      <p:sp>
        <p:nvSpPr>
          <p:cNvPr id="19" name="TextBox 6"/>
          <p:cNvSpPr txBox="1"/>
          <p:nvPr/>
        </p:nvSpPr>
        <p:spPr>
          <a:xfrm>
            <a:off x="737235" y="1419225"/>
            <a:ext cx="8696325"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sp>
        <p:nvSpPr>
          <p:cNvPr id="24" name="矩形 23"/>
          <p:cNvSpPr>
            <a:spLocks noChangeAspect="1"/>
          </p:cNvSpPr>
          <p:nvPr/>
        </p:nvSpPr>
        <p:spPr>
          <a:xfrm>
            <a:off x="6586855" y="260985"/>
            <a:ext cx="2582545" cy="612775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34" name="TextBox 33"/>
          <p:cNvSpPr txBox="1"/>
          <p:nvPr/>
        </p:nvSpPr>
        <p:spPr>
          <a:xfrm>
            <a:off x="6711315" y="307340"/>
            <a:ext cx="2320925" cy="5943600"/>
          </a:xfrm>
          <a:prstGeom prst="rect">
            <a:avLst/>
          </a:prstGeom>
          <a:solidFill>
            <a:schemeClr val="bg1">
              <a:lumMod val="95000"/>
            </a:schemeClr>
          </a:solidFill>
        </p:spPr>
        <p:txBody>
          <a:bodyPr wrap="square">
            <a:spAutoFit/>
          </a:bodyPr>
          <a:lstStyle/>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p:txBody>
      </p:sp>
      <p:grpSp>
        <p:nvGrpSpPr>
          <p:cNvPr id="7" name="组合 6"/>
          <p:cNvGrpSpPr/>
          <p:nvPr/>
        </p:nvGrpSpPr>
        <p:grpSpPr>
          <a:xfrm>
            <a:off x="789943" y="2109469"/>
            <a:ext cx="3909057" cy="2416007"/>
            <a:chOff x="946" y="4023"/>
            <a:chExt cx="6156" cy="4981"/>
          </a:xfrm>
        </p:grpSpPr>
        <p:grpSp>
          <p:nvGrpSpPr>
            <p:cNvPr id="25" name="组合 5"/>
            <p:cNvGrpSpPr/>
            <p:nvPr/>
          </p:nvGrpSpPr>
          <p:grpSpPr>
            <a:xfrm>
              <a:off x="946" y="4023"/>
              <a:ext cx="2014" cy="1405"/>
              <a:chOff x="2692359" y="1357298"/>
              <a:chExt cx="1117629" cy="892007"/>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805170" y="1244487"/>
                <a:ext cx="892007" cy="1117629"/>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598434"/>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3-5</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4" name="矩形 3"/>
            <p:cNvSpPr>
              <a:spLocks noChangeAspect="1"/>
            </p:cNvSpPr>
            <p:nvPr/>
          </p:nvSpPr>
          <p:spPr>
            <a:xfrm>
              <a:off x="1029" y="5189"/>
              <a:ext cx="6073" cy="3815"/>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6" name="TextBox 33"/>
            <p:cNvSpPr txBox="1"/>
            <p:nvPr/>
          </p:nvSpPr>
          <p:spPr>
            <a:xfrm>
              <a:off x="1231" y="5428"/>
              <a:ext cx="5618" cy="3205"/>
            </a:xfrm>
            <a:prstGeom prst="rect">
              <a:avLst/>
            </a:prstGeom>
            <a:solidFill>
              <a:schemeClr val="bg1">
                <a:lumMod val="95000"/>
              </a:schemeClr>
            </a:solidFill>
          </p:spPr>
          <p:txBody>
            <a:bodyPr wrap="square">
              <a:spAutoFit/>
            </a:bodyPr>
            <a:lstStyle/>
            <a:p>
              <a:pPr fontAlgn="auto">
                <a:lnSpc>
                  <a:spcPct val="120000"/>
                </a:lnSpc>
              </a:pPr>
              <a:r>
                <a:rPr sz="2000" dirty="0">
                  <a:sym typeface="+mn-ea"/>
                </a:rPr>
                <a:t>画出例2-3招聘考试成绩管理系统的N-S图。</a:t>
              </a:r>
            </a:p>
            <a:p>
              <a:pPr fontAlgn="auto">
                <a:lnSpc>
                  <a:spcPct val="120000"/>
                </a:lnSpc>
              </a:pPr>
              <a:r>
                <a:rPr sz="2000" dirty="0">
                  <a:sym typeface="+mn-ea"/>
                </a:rPr>
                <a:t>如图所示。其中，SUM1是考生人数，SUM2是录用人数。</a:t>
              </a:r>
            </a:p>
          </p:txBody>
        </p:sp>
      </p:grpSp>
      <p:graphicFrame>
        <p:nvGraphicFramePr>
          <p:cNvPr id="2" name="对象 -2147482267"/>
          <p:cNvGraphicFramePr>
            <a:graphicFrameLocks/>
          </p:cNvGraphicFramePr>
          <p:nvPr/>
        </p:nvGraphicFramePr>
        <p:xfrm>
          <a:off x="6814820" y="330835"/>
          <a:ext cx="2113915" cy="6057900"/>
        </p:xfrm>
        <a:graphic>
          <a:graphicData uri="http://schemas.openxmlformats.org/presentationml/2006/ole">
            <mc:AlternateContent xmlns:mc="http://schemas.openxmlformats.org/markup-compatibility/2006">
              <mc:Choice xmlns:v="urn:schemas-microsoft-com:vml" Requires="v">
                <p:oleObj r:id="rId4" imgW="1420774" imgH="3832732" progId="Word.Picture.8">
                  <p:embed/>
                </p:oleObj>
              </mc:Choice>
              <mc:Fallback>
                <p:oleObj r:id="rId4" imgW="1420774" imgH="3832732" progId="Word.Picture.8">
                  <p:embed/>
                  <p:pic>
                    <p:nvPicPr>
                      <p:cNvPr id="0" name="Picture 4"/>
                      <p:cNvPicPr>
                        <a:picLocks noChangeArrowheads="1"/>
                      </p:cNvPicPr>
                      <p:nvPr/>
                    </p:nvPicPr>
                    <p:blipFill>
                      <a:blip r:embed="rId5">
                        <a:extLst>
                          <a:ext uri="{28A0092B-C50C-407E-A947-70E740481C1C}">
                            <a14:useLocalDpi xmlns:a14="http://schemas.microsoft.com/office/drawing/2010/main" val="0"/>
                          </a:ext>
                        </a:extLst>
                      </a:blip>
                      <a:srcRect l="7138" b="1395"/>
                      <a:stretch>
                        <a:fillRect/>
                      </a:stretch>
                    </p:blipFill>
                    <p:spPr bwMode="auto">
                      <a:xfrm>
                        <a:off x="6814820" y="330835"/>
                        <a:ext cx="2113915" cy="605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pull dir="d"/>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3.5.3 </a:t>
            </a:r>
            <a:r>
              <a:rPr lang="zh-CN" altLang="en-US" sz="2400" dirty="0">
                <a:solidFill>
                  <a:schemeClr val="tx1"/>
                </a:solidFill>
              </a:rPr>
              <a:t>问题分析图（</a:t>
            </a:r>
            <a:r>
              <a:rPr lang="en-US" altLang="zh-CN" sz="2400" dirty="0">
                <a:solidFill>
                  <a:schemeClr val="tx1"/>
                </a:solidFill>
              </a:rPr>
              <a:t>PAD</a:t>
            </a:r>
            <a:r>
              <a:rPr lang="zh-CN" altLang="en-US" sz="2400" dirty="0">
                <a:solidFill>
                  <a:schemeClr val="tx1"/>
                </a:solidFill>
              </a:rPr>
              <a:t>图）</a:t>
            </a:r>
          </a:p>
        </p:txBody>
      </p:sp>
      <p:grpSp>
        <p:nvGrpSpPr>
          <p:cNvPr id="5" name="组合 4"/>
          <p:cNvGrpSpPr/>
          <p:nvPr/>
        </p:nvGrpSpPr>
        <p:grpSpPr>
          <a:xfrm>
            <a:off x="1148715" y="5239385"/>
            <a:ext cx="10077450" cy="662940"/>
            <a:chOff x="1809" y="7803"/>
            <a:chExt cx="15870" cy="1044"/>
          </a:xfrm>
        </p:grpSpPr>
        <p:sp>
          <p:nvSpPr>
            <p:cNvPr id="6" name="文本框 5"/>
            <p:cNvSpPr txBox="1"/>
            <p:nvPr/>
          </p:nvSpPr>
          <p:spPr>
            <a:xfrm>
              <a:off x="2296" y="8271"/>
              <a:ext cx="3729" cy="576"/>
            </a:xfrm>
            <a:prstGeom prst="rect">
              <a:avLst/>
            </a:prstGeom>
            <a:noFill/>
          </p:spPr>
          <p:txBody>
            <a:bodyPr wrap="square" rtlCol="0">
              <a:spAutoFit/>
            </a:bodyPr>
            <a:lstStyle/>
            <a:p>
              <a:r>
                <a:rPr lang="zh-CN" altLang="en-US"/>
                <a:t>顺序结构</a:t>
              </a:r>
            </a:p>
          </p:txBody>
        </p:sp>
        <p:sp>
          <p:nvSpPr>
            <p:cNvPr id="7" name="文本框 6"/>
            <p:cNvSpPr txBox="1"/>
            <p:nvPr/>
          </p:nvSpPr>
          <p:spPr>
            <a:xfrm>
              <a:off x="13393" y="8271"/>
              <a:ext cx="4286" cy="576"/>
            </a:xfrm>
            <a:prstGeom prst="rect">
              <a:avLst/>
            </a:prstGeom>
            <a:noFill/>
          </p:spPr>
          <p:txBody>
            <a:bodyPr wrap="square" rtlCol="0">
              <a:spAutoFit/>
            </a:bodyPr>
            <a:lstStyle/>
            <a:p>
              <a:r>
                <a:rPr lang="zh-CN" altLang="en-US">
                  <a:sym typeface="+mn-ea"/>
                </a:rPr>
                <a:t>Case型多分支结构</a:t>
              </a:r>
              <a:endParaRPr lang="zh-CN" altLang="en-US"/>
            </a:p>
          </p:txBody>
        </p:sp>
        <p:sp>
          <p:nvSpPr>
            <p:cNvPr id="2050" name="左大括号"/>
            <p:cNvSpPr/>
            <p:nvPr/>
          </p:nvSpPr>
          <p:spPr bwMode="auto">
            <a:xfrm rot="16200000" flipH="1">
              <a:off x="14847" y="5867"/>
              <a:ext cx="214" cy="4085"/>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sp>
          <p:nvSpPr>
            <p:cNvPr id="10" name="左大括号"/>
            <p:cNvSpPr/>
            <p:nvPr/>
          </p:nvSpPr>
          <p:spPr bwMode="auto">
            <a:xfrm rot="16200000" flipH="1">
              <a:off x="3093" y="6546"/>
              <a:ext cx="186" cy="2755"/>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grpSp>
      <p:grpSp>
        <p:nvGrpSpPr>
          <p:cNvPr id="33" name="组合 32"/>
          <p:cNvGrpSpPr/>
          <p:nvPr/>
        </p:nvGrpSpPr>
        <p:grpSpPr>
          <a:xfrm>
            <a:off x="5711190" y="1198880"/>
            <a:ext cx="5513705" cy="1113790"/>
            <a:chOff x="881" y="2735"/>
            <a:chExt cx="8683" cy="1754"/>
          </a:xfrm>
        </p:grpSpPr>
        <p:sp>
          <p:nvSpPr>
            <p:cNvPr id="167" name="圆角矩形"/>
            <p:cNvSpPr/>
            <p:nvPr/>
          </p:nvSpPr>
          <p:spPr>
            <a:xfrm>
              <a:off x="1188" y="3071"/>
              <a:ext cx="8376" cy="1418"/>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4"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ndParaRPr>
            </a:p>
          </p:txBody>
        </p:sp>
        <p:sp>
          <p:nvSpPr>
            <p:cNvPr id="35" name="文本框 34"/>
            <p:cNvSpPr txBox="1"/>
            <p:nvPr/>
          </p:nvSpPr>
          <p:spPr>
            <a:xfrm>
              <a:off x="1252" y="3276"/>
              <a:ext cx="8312" cy="1008"/>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a:sym typeface="+mn-ea"/>
                </a:rPr>
                <a:t>PAD图是日本日立公司于1973年发明的，是问题分析图（Problem Analysis Diagram）的缩写。</a:t>
              </a:r>
            </a:p>
          </p:txBody>
        </p:sp>
      </p:grpSp>
      <p:pic>
        <p:nvPicPr>
          <p:cNvPr id="2" name="图片 -2147482516"/>
          <p:cNvPicPr>
            <a:picLocks noChangeAspect="1"/>
          </p:cNvPicPr>
          <p:nvPr/>
        </p:nvPicPr>
        <p:blipFill>
          <a:blip r:embed="rId3" cstate="print"/>
          <a:stretch>
            <a:fillRect/>
          </a:stretch>
        </p:blipFill>
        <p:spPr>
          <a:xfrm>
            <a:off x="1618615" y="2863850"/>
            <a:ext cx="808990" cy="2044065"/>
          </a:xfrm>
          <a:prstGeom prst="rect">
            <a:avLst/>
          </a:prstGeom>
          <a:noFill/>
          <a:ln w="9525">
            <a:noFill/>
          </a:ln>
        </p:spPr>
      </p:pic>
      <p:pic>
        <p:nvPicPr>
          <p:cNvPr id="8" name="图片 -2147482515"/>
          <p:cNvPicPr>
            <a:picLocks noChangeAspect="1"/>
          </p:cNvPicPr>
          <p:nvPr/>
        </p:nvPicPr>
        <p:blipFill>
          <a:blip r:embed="rId4" cstate="print"/>
          <a:stretch>
            <a:fillRect/>
          </a:stretch>
        </p:blipFill>
        <p:spPr>
          <a:xfrm>
            <a:off x="4813300" y="2970530"/>
            <a:ext cx="1600835" cy="1937385"/>
          </a:xfrm>
          <a:prstGeom prst="rect">
            <a:avLst/>
          </a:prstGeom>
          <a:noFill/>
          <a:ln w="9525">
            <a:noFill/>
          </a:ln>
        </p:spPr>
      </p:pic>
      <p:pic>
        <p:nvPicPr>
          <p:cNvPr id="9" name="图片 -2147482514"/>
          <p:cNvPicPr>
            <a:picLocks noChangeAspect="1"/>
          </p:cNvPicPr>
          <p:nvPr/>
        </p:nvPicPr>
        <p:blipFill>
          <a:blip r:embed="rId5" cstate="print"/>
          <a:stretch>
            <a:fillRect/>
          </a:stretch>
        </p:blipFill>
        <p:spPr>
          <a:xfrm>
            <a:off x="8348345" y="2599055"/>
            <a:ext cx="2444750" cy="2308860"/>
          </a:xfrm>
          <a:prstGeom prst="rect">
            <a:avLst/>
          </a:prstGeom>
          <a:noFill/>
          <a:ln w="9525">
            <a:noFill/>
          </a:ln>
        </p:spPr>
      </p:pic>
      <p:sp>
        <p:nvSpPr>
          <p:cNvPr id="11" name="文本框 10"/>
          <p:cNvSpPr txBox="1"/>
          <p:nvPr/>
        </p:nvSpPr>
        <p:spPr>
          <a:xfrm>
            <a:off x="4029710" y="5536565"/>
            <a:ext cx="3734435" cy="365760"/>
          </a:xfrm>
          <a:prstGeom prst="rect">
            <a:avLst/>
          </a:prstGeom>
          <a:noFill/>
        </p:spPr>
        <p:txBody>
          <a:bodyPr wrap="none" rtlCol="0" anchor="t">
            <a:spAutoFit/>
          </a:bodyPr>
          <a:lstStyle/>
          <a:p>
            <a:r>
              <a:rPr lang="zh-CN" altLang="en-US">
                <a:sym typeface="+mn-ea"/>
              </a:rPr>
              <a:t>选择结构If C Then P1 Else P2        </a:t>
            </a:r>
            <a:endParaRPr lang="zh-CN" altLang="en-US"/>
          </a:p>
        </p:txBody>
      </p:sp>
      <p:sp>
        <p:nvSpPr>
          <p:cNvPr id="12" name="左大括号"/>
          <p:cNvSpPr/>
          <p:nvPr/>
        </p:nvSpPr>
        <p:spPr bwMode="auto">
          <a:xfrm rot="16200000" flipH="1">
            <a:off x="5563235" y="4027805"/>
            <a:ext cx="135890" cy="2593975"/>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sp>
        <p:nvSpPr>
          <p:cNvPr id="18" name="矩形 17"/>
          <p:cNvSpPr/>
          <p:nvPr/>
        </p:nvSpPr>
        <p:spPr>
          <a:xfrm>
            <a:off x="896708" y="2220750"/>
            <a:ext cx="2949462" cy="461665"/>
          </a:xfrm>
          <a:prstGeom prst="rect">
            <a:avLst/>
          </a:prstGeom>
        </p:spPr>
        <p:txBody>
          <a:bodyPr wrap="none">
            <a:spAutoFit/>
          </a:bodyPr>
          <a:lstStyle/>
          <a:p>
            <a:r>
              <a:rPr lang="en-US" sz="2400" dirty="0"/>
              <a:t>PAD</a:t>
            </a:r>
            <a:r>
              <a:rPr lang="zh-CN" altLang="en-US" sz="2400" dirty="0"/>
              <a:t>图的基本符号：</a:t>
            </a:r>
          </a:p>
        </p:txBody>
      </p:sp>
    </p:spTree>
  </p:cSld>
  <p:clrMapOvr>
    <a:masterClrMapping/>
  </p:clrMapOvr>
  <p:transition>
    <p:pull dir="d"/>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3.5.3 </a:t>
            </a:r>
            <a:r>
              <a:rPr lang="zh-CN" altLang="en-US" sz="2400" dirty="0">
                <a:solidFill>
                  <a:schemeClr val="tx1"/>
                </a:solidFill>
              </a:rPr>
              <a:t>问题分析图（</a:t>
            </a:r>
            <a:r>
              <a:rPr lang="en-US" altLang="zh-CN" sz="2400" dirty="0">
                <a:solidFill>
                  <a:schemeClr val="tx1"/>
                </a:solidFill>
              </a:rPr>
              <a:t>PAD</a:t>
            </a:r>
            <a:r>
              <a:rPr lang="zh-CN" altLang="en-US" sz="2400" dirty="0">
                <a:solidFill>
                  <a:schemeClr val="tx1"/>
                </a:solidFill>
              </a:rPr>
              <a:t>图）</a:t>
            </a:r>
          </a:p>
        </p:txBody>
      </p:sp>
      <p:grpSp>
        <p:nvGrpSpPr>
          <p:cNvPr id="5" name="组合 4"/>
          <p:cNvGrpSpPr/>
          <p:nvPr/>
        </p:nvGrpSpPr>
        <p:grpSpPr>
          <a:xfrm>
            <a:off x="936625" y="4463415"/>
            <a:ext cx="8890635" cy="654685"/>
            <a:chOff x="1809" y="7821"/>
            <a:chExt cx="14001" cy="1031"/>
          </a:xfrm>
        </p:grpSpPr>
        <p:sp>
          <p:nvSpPr>
            <p:cNvPr id="6" name="文本框 5"/>
            <p:cNvSpPr txBox="1"/>
            <p:nvPr/>
          </p:nvSpPr>
          <p:spPr>
            <a:xfrm>
              <a:off x="1809" y="8271"/>
              <a:ext cx="3729" cy="576"/>
            </a:xfrm>
            <a:prstGeom prst="rect">
              <a:avLst/>
            </a:prstGeom>
            <a:noFill/>
          </p:spPr>
          <p:txBody>
            <a:bodyPr wrap="square" rtlCol="0">
              <a:spAutoFit/>
            </a:bodyPr>
            <a:lstStyle/>
            <a:p>
              <a:r>
                <a:rPr lang="zh-CN" altLang="en-US"/>
                <a:t>先检测While型循环</a:t>
              </a:r>
            </a:p>
          </p:txBody>
        </p:sp>
        <p:sp>
          <p:nvSpPr>
            <p:cNvPr id="7" name="文本框 6"/>
            <p:cNvSpPr txBox="1"/>
            <p:nvPr/>
          </p:nvSpPr>
          <p:spPr>
            <a:xfrm>
              <a:off x="11524" y="8276"/>
              <a:ext cx="4286" cy="576"/>
            </a:xfrm>
            <a:prstGeom prst="rect">
              <a:avLst/>
            </a:prstGeom>
            <a:noFill/>
          </p:spPr>
          <p:txBody>
            <a:bodyPr wrap="square" rtlCol="0">
              <a:spAutoFit/>
            </a:bodyPr>
            <a:lstStyle/>
            <a:p>
              <a:r>
                <a:rPr lang="zh-CN" altLang="en-US">
                  <a:sym typeface="+mn-ea"/>
                </a:rPr>
                <a:t>语句标号</a:t>
              </a:r>
            </a:p>
          </p:txBody>
        </p:sp>
        <p:sp>
          <p:nvSpPr>
            <p:cNvPr id="2050" name="左大括号"/>
            <p:cNvSpPr/>
            <p:nvPr/>
          </p:nvSpPr>
          <p:spPr bwMode="auto">
            <a:xfrm rot="16200000" flipH="1">
              <a:off x="12036" y="7310"/>
              <a:ext cx="196" cy="1217"/>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sp>
          <p:nvSpPr>
            <p:cNvPr id="10" name="左大括号"/>
            <p:cNvSpPr/>
            <p:nvPr/>
          </p:nvSpPr>
          <p:spPr bwMode="auto">
            <a:xfrm rot="16200000" flipH="1">
              <a:off x="3093" y="6546"/>
              <a:ext cx="186" cy="2755"/>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grpSp>
      <p:sp>
        <p:nvSpPr>
          <p:cNvPr id="11" name="文本框 10"/>
          <p:cNvSpPr txBox="1"/>
          <p:nvPr/>
        </p:nvSpPr>
        <p:spPr>
          <a:xfrm>
            <a:off x="3935095" y="4752340"/>
            <a:ext cx="2519680" cy="365760"/>
          </a:xfrm>
          <a:prstGeom prst="rect">
            <a:avLst/>
          </a:prstGeom>
          <a:noFill/>
        </p:spPr>
        <p:txBody>
          <a:bodyPr wrap="none" rtlCol="0" anchor="t">
            <a:spAutoFit/>
          </a:bodyPr>
          <a:lstStyle/>
          <a:p>
            <a:pPr algn="l"/>
            <a:r>
              <a:rPr lang="zh-CN" altLang="en-US">
                <a:sym typeface="+mn-ea"/>
              </a:rPr>
              <a:t>后检测Until型循环        </a:t>
            </a:r>
            <a:endParaRPr lang="zh-CN" altLang="en-US"/>
          </a:p>
        </p:txBody>
      </p:sp>
      <p:sp>
        <p:nvSpPr>
          <p:cNvPr id="12" name="左大括号"/>
          <p:cNvSpPr/>
          <p:nvPr/>
        </p:nvSpPr>
        <p:spPr bwMode="auto">
          <a:xfrm rot="16200000" flipH="1">
            <a:off x="4853940" y="3240405"/>
            <a:ext cx="135890" cy="2593975"/>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sp>
        <p:nvSpPr>
          <p:cNvPr id="13" name="文本框 12"/>
          <p:cNvSpPr txBox="1"/>
          <p:nvPr/>
        </p:nvSpPr>
        <p:spPr>
          <a:xfrm>
            <a:off x="9498330" y="4752340"/>
            <a:ext cx="1556385" cy="365760"/>
          </a:xfrm>
          <a:prstGeom prst="rect">
            <a:avLst/>
          </a:prstGeom>
          <a:noFill/>
        </p:spPr>
        <p:txBody>
          <a:bodyPr wrap="square" rtlCol="0">
            <a:spAutoFit/>
          </a:bodyPr>
          <a:lstStyle/>
          <a:p>
            <a:r>
              <a:rPr lang="zh-CN" altLang="en-US">
                <a:sym typeface="+mn-ea"/>
              </a:rPr>
              <a:t>定义</a:t>
            </a:r>
          </a:p>
        </p:txBody>
      </p:sp>
      <p:pic>
        <p:nvPicPr>
          <p:cNvPr id="2" name="图片 -2147482513"/>
          <p:cNvPicPr>
            <a:picLocks noChangeAspect="1"/>
          </p:cNvPicPr>
          <p:nvPr/>
        </p:nvPicPr>
        <p:blipFill>
          <a:blip r:embed="rId3" cstate="print"/>
          <a:stretch>
            <a:fillRect/>
          </a:stretch>
        </p:blipFill>
        <p:spPr>
          <a:xfrm>
            <a:off x="936625" y="3288665"/>
            <a:ext cx="2124075" cy="793115"/>
          </a:xfrm>
          <a:prstGeom prst="rect">
            <a:avLst/>
          </a:prstGeom>
          <a:noFill/>
          <a:ln w="9525">
            <a:noFill/>
          </a:ln>
        </p:spPr>
      </p:pic>
      <p:pic>
        <p:nvPicPr>
          <p:cNvPr id="8" name="图片 -2147482512"/>
          <p:cNvPicPr>
            <a:picLocks noChangeAspect="1"/>
          </p:cNvPicPr>
          <p:nvPr/>
        </p:nvPicPr>
        <p:blipFill>
          <a:blip r:embed="rId4" cstate="print"/>
          <a:stretch>
            <a:fillRect/>
          </a:stretch>
        </p:blipFill>
        <p:spPr>
          <a:xfrm>
            <a:off x="3857625" y="3288665"/>
            <a:ext cx="2336165" cy="843280"/>
          </a:xfrm>
          <a:prstGeom prst="rect">
            <a:avLst/>
          </a:prstGeom>
          <a:noFill/>
          <a:ln w="9525">
            <a:noFill/>
          </a:ln>
        </p:spPr>
      </p:pic>
      <p:pic>
        <p:nvPicPr>
          <p:cNvPr id="9" name="图片 -2147482511"/>
          <p:cNvPicPr>
            <a:picLocks noChangeAspect="1"/>
          </p:cNvPicPr>
          <p:nvPr/>
        </p:nvPicPr>
        <p:blipFill>
          <a:blip r:embed="rId5" cstate="print"/>
          <a:stretch>
            <a:fillRect/>
          </a:stretch>
        </p:blipFill>
        <p:spPr>
          <a:xfrm>
            <a:off x="7052945" y="3305175"/>
            <a:ext cx="881380" cy="810260"/>
          </a:xfrm>
          <a:prstGeom prst="rect">
            <a:avLst/>
          </a:prstGeom>
          <a:noFill/>
          <a:ln w="9525">
            <a:noFill/>
          </a:ln>
        </p:spPr>
      </p:pic>
      <p:sp>
        <p:nvSpPr>
          <p:cNvPr id="14" name="左大括号"/>
          <p:cNvSpPr/>
          <p:nvPr/>
        </p:nvSpPr>
        <p:spPr bwMode="auto">
          <a:xfrm rot="16200000" flipH="1">
            <a:off x="9692640" y="3648075"/>
            <a:ext cx="118110" cy="1778635"/>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pic>
        <p:nvPicPr>
          <p:cNvPr id="15" name="图片 -2147482510"/>
          <p:cNvPicPr>
            <a:picLocks noChangeAspect="1"/>
          </p:cNvPicPr>
          <p:nvPr/>
        </p:nvPicPr>
        <p:blipFill>
          <a:blip r:embed="rId6" cstate="print"/>
          <a:stretch>
            <a:fillRect/>
          </a:stretch>
        </p:blipFill>
        <p:spPr>
          <a:xfrm>
            <a:off x="8862695" y="3184525"/>
            <a:ext cx="1778635" cy="1052195"/>
          </a:xfrm>
          <a:prstGeom prst="rect">
            <a:avLst/>
          </a:prstGeom>
          <a:noFill/>
          <a:ln w="9525">
            <a:noFill/>
          </a:ln>
        </p:spPr>
      </p:pic>
      <p:sp>
        <p:nvSpPr>
          <p:cNvPr id="21" name="矩形 20"/>
          <p:cNvSpPr/>
          <p:nvPr/>
        </p:nvSpPr>
        <p:spPr>
          <a:xfrm>
            <a:off x="896708" y="2220750"/>
            <a:ext cx="2949462" cy="461665"/>
          </a:xfrm>
          <a:prstGeom prst="rect">
            <a:avLst/>
          </a:prstGeom>
        </p:spPr>
        <p:txBody>
          <a:bodyPr wrap="none">
            <a:spAutoFit/>
          </a:bodyPr>
          <a:lstStyle/>
          <a:p>
            <a:r>
              <a:rPr lang="en-US" sz="2400" dirty="0"/>
              <a:t>PAD</a:t>
            </a:r>
            <a:r>
              <a:rPr lang="zh-CN" altLang="en-US" sz="2400" dirty="0"/>
              <a:t>图的基本符号：</a:t>
            </a:r>
          </a:p>
        </p:txBody>
      </p:sp>
    </p:spTree>
  </p:cSld>
  <p:clrMapOvr>
    <a:masterClrMapping/>
  </p:clrMapOvr>
  <p:transition>
    <p:pull dir="d"/>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3.5.3 </a:t>
            </a:r>
            <a:r>
              <a:rPr lang="zh-CN" altLang="en-US" sz="2400" dirty="0">
                <a:solidFill>
                  <a:schemeClr val="tx1"/>
                </a:solidFill>
              </a:rPr>
              <a:t>问题分析图（</a:t>
            </a:r>
            <a:r>
              <a:rPr lang="en-US" altLang="zh-CN" sz="2400" dirty="0">
                <a:solidFill>
                  <a:schemeClr val="tx1"/>
                </a:solidFill>
              </a:rPr>
              <a:t>PAD</a:t>
            </a:r>
            <a:r>
              <a:rPr lang="zh-CN" altLang="en-US" sz="2400" dirty="0">
                <a:solidFill>
                  <a:schemeClr val="tx1"/>
                </a:solidFill>
              </a:rPr>
              <a:t>图）</a:t>
            </a:r>
          </a:p>
        </p:txBody>
      </p:sp>
      <p:grpSp>
        <p:nvGrpSpPr>
          <p:cNvPr id="33" name="组合 32"/>
          <p:cNvGrpSpPr/>
          <p:nvPr/>
        </p:nvGrpSpPr>
        <p:grpSpPr>
          <a:xfrm>
            <a:off x="6219190" y="855980"/>
            <a:ext cx="5513705" cy="1258570"/>
            <a:chOff x="881" y="2735"/>
            <a:chExt cx="8683" cy="1982"/>
          </a:xfrm>
        </p:grpSpPr>
        <p:sp>
          <p:nvSpPr>
            <p:cNvPr id="167" name="圆角矩形"/>
            <p:cNvSpPr/>
            <p:nvPr/>
          </p:nvSpPr>
          <p:spPr>
            <a:xfrm>
              <a:off x="1188" y="3071"/>
              <a:ext cx="8376" cy="1646"/>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4"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ndParaRPr>
            </a:p>
          </p:txBody>
        </p:sp>
        <p:sp>
          <p:nvSpPr>
            <p:cNvPr id="35" name="文本框 34"/>
            <p:cNvSpPr txBox="1"/>
            <p:nvPr/>
          </p:nvSpPr>
          <p:spPr>
            <a:xfrm>
              <a:off x="1252" y="3174"/>
              <a:ext cx="8312" cy="1440"/>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a:sym typeface="+mn-ea"/>
                </a:rPr>
                <a:t>PAD图为常用高级程序设计语言的各种控制语句都提供了对应的图形符号，显然将PAD图转换为对应的高级语言程序是很容易的。</a:t>
              </a:r>
            </a:p>
          </p:txBody>
        </p:sp>
      </p:grpSp>
      <p:grpSp>
        <p:nvGrpSpPr>
          <p:cNvPr id="13" name="组合 12"/>
          <p:cNvGrpSpPr/>
          <p:nvPr/>
        </p:nvGrpSpPr>
        <p:grpSpPr>
          <a:xfrm>
            <a:off x="1152525" y="2672715"/>
            <a:ext cx="9886663" cy="3477260"/>
            <a:chOff x="3018" y="3513"/>
            <a:chExt cx="15570" cy="5476"/>
          </a:xfrm>
        </p:grpSpPr>
        <p:sp>
          <p:nvSpPr>
            <p:cNvPr id="61" name="MH_Other_4"/>
            <p:cNvSpPr/>
            <p:nvPr>
              <p:custDataLst>
                <p:tags r:id="rId1"/>
              </p:custDataLst>
            </p:nvPr>
          </p:nvSpPr>
          <p:spPr bwMode="gray">
            <a:xfrm rot="5160000" flipH="1">
              <a:off x="15115" y="4196"/>
              <a:ext cx="1518" cy="1616"/>
            </a:xfrm>
            <a:custGeom>
              <a:avLst/>
              <a:gdLst>
                <a:gd name="connsiteX0" fmla="*/ 349 w 1518"/>
                <a:gd name="connsiteY0" fmla="*/ 68 h 1616"/>
                <a:gd name="connsiteX1" fmla="*/ 0 w 1518"/>
                <a:gd name="connsiteY1" fmla="*/ 783 h 1616"/>
                <a:gd name="connsiteX2" fmla="*/ 872 w 1518"/>
                <a:gd name="connsiteY2" fmla="*/ 1616 h 1616"/>
                <a:gd name="connsiteX3" fmla="*/ 1518 w 1518"/>
                <a:gd name="connsiteY3" fmla="*/ 0 h 1616"/>
                <a:gd name="connsiteX4" fmla="*/ 349 w 1518"/>
                <a:gd name="connsiteY4" fmla="*/ 68 h 1616"/>
              </a:gdLst>
              <a:ahLst/>
              <a:cxnLst>
                <a:cxn ang="0">
                  <a:pos x="connsiteX0" y="connsiteY0"/>
                </a:cxn>
                <a:cxn ang="0">
                  <a:pos x="connsiteX1" y="connsiteY1"/>
                </a:cxn>
                <a:cxn ang="0">
                  <a:pos x="connsiteX2" y="connsiteY2"/>
                </a:cxn>
                <a:cxn ang="0">
                  <a:pos x="connsiteX3" y="connsiteY3"/>
                </a:cxn>
                <a:cxn ang="0">
                  <a:pos x="connsiteX4" y="connsiteY4"/>
                </a:cxn>
              </a:cxnLst>
              <a:rect l="0" t="0" r="r" b="b"/>
              <a:pathLst>
                <a:path w="1518" h="1616">
                  <a:moveTo>
                    <a:pt x="349" y="68"/>
                  </a:moveTo>
                  <a:cubicBezTo>
                    <a:pt x="357" y="344"/>
                    <a:pt x="244" y="545"/>
                    <a:pt x="0" y="783"/>
                  </a:cubicBezTo>
                  <a:lnTo>
                    <a:pt x="872" y="1616"/>
                  </a:lnTo>
                  <a:cubicBezTo>
                    <a:pt x="1177" y="1298"/>
                    <a:pt x="1512" y="769"/>
                    <a:pt x="1518" y="0"/>
                  </a:cubicBezTo>
                  <a:lnTo>
                    <a:pt x="349" y="68"/>
                  </a:lnTo>
                  <a:close/>
                </a:path>
              </a:pathLst>
            </a:custGeom>
            <a:solidFill>
              <a:schemeClr val="accent6">
                <a:lumMod val="50000"/>
              </a:schemeClr>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108000" anchor="ctr">
              <a:normAutofit/>
            </a:bodyPr>
            <a:lstStyle/>
            <a:p>
              <a:pPr algn="ctr" eaLnBrk="1" hangingPunct="1">
                <a:lnSpc>
                  <a:spcPct val="120000"/>
                </a:lnSpc>
                <a:spcBef>
                  <a:spcPts val="450"/>
                </a:spcBef>
                <a:spcAft>
                  <a:spcPts val="450"/>
                </a:spcAft>
                <a:defRPr/>
              </a:pP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59" name="MH_Other_4"/>
            <p:cNvSpPr/>
            <p:nvPr>
              <p:custDataLst>
                <p:tags r:id="rId2"/>
              </p:custDataLst>
            </p:nvPr>
          </p:nvSpPr>
          <p:spPr bwMode="gray">
            <a:xfrm rot="3240000" flipH="1">
              <a:off x="14315" y="5006"/>
              <a:ext cx="1518" cy="1616"/>
            </a:xfrm>
            <a:custGeom>
              <a:avLst/>
              <a:gdLst>
                <a:gd name="connsiteX0" fmla="*/ 349 w 1518"/>
                <a:gd name="connsiteY0" fmla="*/ 68 h 1616"/>
                <a:gd name="connsiteX1" fmla="*/ 0 w 1518"/>
                <a:gd name="connsiteY1" fmla="*/ 783 h 1616"/>
                <a:gd name="connsiteX2" fmla="*/ 872 w 1518"/>
                <a:gd name="connsiteY2" fmla="*/ 1616 h 1616"/>
                <a:gd name="connsiteX3" fmla="*/ 1518 w 1518"/>
                <a:gd name="connsiteY3" fmla="*/ 0 h 1616"/>
                <a:gd name="connsiteX4" fmla="*/ 349 w 1518"/>
                <a:gd name="connsiteY4" fmla="*/ 68 h 1616"/>
              </a:gdLst>
              <a:ahLst/>
              <a:cxnLst>
                <a:cxn ang="0">
                  <a:pos x="connsiteX0" y="connsiteY0"/>
                </a:cxn>
                <a:cxn ang="0">
                  <a:pos x="connsiteX1" y="connsiteY1"/>
                </a:cxn>
                <a:cxn ang="0">
                  <a:pos x="connsiteX2" y="connsiteY2"/>
                </a:cxn>
                <a:cxn ang="0">
                  <a:pos x="connsiteX3" y="connsiteY3"/>
                </a:cxn>
                <a:cxn ang="0">
                  <a:pos x="connsiteX4" y="connsiteY4"/>
                </a:cxn>
              </a:cxnLst>
              <a:rect l="0" t="0" r="r" b="b"/>
              <a:pathLst>
                <a:path w="1518" h="1616">
                  <a:moveTo>
                    <a:pt x="349" y="68"/>
                  </a:moveTo>
                  <a:cubicBezTo>
                    <a:pt x="357" y="344"/>
                    <a:pt x="244" y="545"/>
                    <a:pt x="0" y="783"/>
                  </a:cubicBezTo>
                  <a:lnTo>
                    <a:pt x="872" y="1616"/>
                  </a:lnTo>
                  <a:cubicBezTo>
                    <a:pt x="1177" y="1298"/>
                    <a:pt x="1512" y="769"/>
                    <a:pt x="1518" y="0"/>
                  </a:cubicBezTo>
                  <a:lnTo>
                    <a:pt x="349" y="68"/>
                  </a:lnTo>
                  <a:close/>
                </a:path>
              </a:pathLst>
            </a:custGeom>
            <a:solidFill>
              <a:schemeClr val="accent6">
                <a:lumMod val="50000"/>
              </a:schemeClr>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108000" anchor="ctr">
              <a:normAutofit/>
            </a:bodyPr>
            <a:lstStyle/>
            <a:p>
              <a:pPr algn="ctr" eaLnBrk="1" hangingPunct="1">
                <a:lnSpc>
                  <a:spcPct val="120000"/>
                </a:lnSpc>
                <a:spcBef>
                  <a:spcPts val="450"/>
                </a:spcBef>
                <a:spcAft>
                  <a:spcPts val="450"/>
                </a:spcAft>
                <a:defRPr/>
              </a:pP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58" name="MH_Other_4"/>
            <p:cNvSpPr/>
            <p:nvPr>
              <p:custDataLst>
                <p:tags r:id="rId3"/>
              </p:custDataLst>
            </p:nvPr>
          </p:nvSpPr>
          <p:spPr bwMode="gray">
            <a:xfrm rot="780000" flipH="1">
              <a:off x="14194" y="6137"/>
              <a:ext cx="1518" cy="1616"/>
            </a:xfrm>
            <a:custGeom>
              <a:avLst/>
              <a:gdLst>
                <a:gd name="connsiteX0" fmla="*/ 349 w 1518"/>
                <a:gd name="connsiteY0" fmla="*/ 68 h 1616"/>
                <a:gd name="connsiteX1" fmla="*/ 0 w 1518"/>
                <a:gd name="connsiteY1" fmla="*/ 783 h 1616"/>
                <a:gd name="connsiteX2" fmla="*/ 872 w 1518"/>
                <a:gd name="connsiteY2" fmla="*/ 1616 h 1616"/>
                <a:gd name="connsiteX3" fmla="*/ 1518 w 1518"/>
                <a:gd name="connsiteY3" fmla="*/ 0 h 1616"/>
                <a:gd name="connsiteX4" fmla="*/ 349 w 1518"/>
                <a:gd name="connsiteY4" fmla="*/ 68 h 1616"/>
              </a:gdLst>
              <a:ahLst/>
              <a:cxnLst>
                <a:cxn ang="0">
                  <a:pos x="connsiteX0" y="connsiteY0"/>
                </a:cxn>
                <a:cxn ang="0">
                  <a:pos x="connsiteX1" y="connsiteY1"/>
                </a:cxn>
                <a:cxn ang="0">
                  <a:pos x="connsiteX2" y="connsiteY2"/>
                </a:cxn>
                <a:cxn ang="0">
                  <a:pos x="connsiteX3" y="connsiteY3"/>
                </a:cxn>
                <a:cxn ang="0">
                  <a:pos x="connsiteX4" y="connsiteY4"/>
                </a:cxn>
              </a:cxnLst>
              <a:rect l="0" t="0" r="r" b="b"/>
              <a:pathLst>
                <a:path w="1518" h="1616">
                  <a:moveTo>
                    <a:pt x="349" y="68"/>
                  </a:moveTo>
                  <a:cubicBezTo>
                    <a:pt x="357" y="344"/>
                    <a:pt x="244" y="545"/>
                    <a:pt x="0" y="783"/>
                  </a:cubicBezTo>
                  <a:lnTo>
                    <a:pt x="872" y="1616"/>
                  </a:lnTo>
                  <a:cubicBezTo>
                    <a:pt x="1177" y="1298"/>
                    <a:pt x="1512" y="769"/>
                    <a:pt x="1518" y="0"/>
                  </a:cubicBezTo>
                  <a:lnTo>
                    <a:pt x="349" y="68"/>
                  </a:lnTo>
                  <a:close/>
                </a:path>
              </a:pathLst>
            </a:custGeom>
            <a:solidFill>
              <a:schemeClr val="accent6">
                <a:lumMod val="50000"/>
              </a:schemeClr>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108000" anchor="ctr">
              <a:normAutofit/>
            </a:bodyPr>
            <a:lstStyle/>
            <a:p>
              <a:pPr algn="ctr" eaLnBrk="1" hangingPunct="1">
                <a:lnSpc>
                  <a:spcPct val="120000"/>
                </a:lnSpc>
                <a:spcBef>
                  <a:spcPts val="450"/>
                </a:spcBef>
                <a:spcAft>
                  <a:spcPts val="450"/>
                </a:spcAft>
                <a:defRPr/>
              </a:pP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45" name="MH_Other_4"/>
            <p:cNvSpPr/>
            <p:nvPr>
              <p:custDataLst>
                <p:tags r:id="rId4"/>
              </p:custDataLst>
            </p:nvPr>
          </p:nvSpPr>
          <p:spPr bwMode="gray">
            <a:xfrm rot="20520000" flipH="1">
              <a:off x="14650" y="6965"/>
              <a:ext cx="1518" cy="1603"/>
            </a:xfrm>
            <a:custGeom>
              <a:avLst/>
              <a:gdLst>
                <a:gd name="connsiteX0" fmla="*/ 349 w 1518"/>
                <a:gd name="connsiteY0" fmla="*/ 68 h 1616"/>
                <a:gd name="connsiteX1" fmla="*/ 0 w 1518"/>
                <a:gd name="connsiteY1" fmla="*/ 783 h 1616"/>
                <a:gd name="connsiteX2" fmla="*/ 872 w 1518"/>
                <a:gd name="connsiteY2" fmla="*/ 1616 h 1616"/>
                <a:gd name="connsiteX3" fmla="*/ 1518 w 1518"/>
                <a:gd name="connsiteY3" fmla="*/ 0 h 1616"/>
                <a:gd name="connsiteX4" fmla="*/ 349 w 1518"/>
                <a:gd name="connsiteY4" fmla="*/ 68 h 1616"/>
              </a:gdLst>
              <a:ahLst/>
              <a:cxnLst>
                <a:cxn ang="0">
                  <a:pos x="connsiteX0" y="connsiteY0"/>
                </a:cxn>
                <a:cxn ang="0">
                  <a:pos x="connsiteX1" y="connsiteY1"/>
                </a:cxn>
                <a:cxn ang="0">
                  <a:pos x="connsiteX2" y="connsiteY2"/>
                </a:cxn>
                <a:cxn ang="0">
                  <a:pos x="connsiteX3" y="connsiteY3"/>
                </a:cxn>
                <a:cxn ang="0">
                  <a:pos x="connsiteX4" y="connsiteY4"/>
                </a:cxn>
              </a:cxnLst>
              <a:rect l="0" t="0" r="r" b="b"/>
              <a:pathLst>
                <a:path w="1518" h="1616">
                  <a:moveTo>
                    <a:pt x="349" y="68"/>
                  </a:moveTo>
                  <a:cubicBezTo>
                    <a:pt x="357" y="344"/>
                    <a:pt x="244" y="545"/>
                    <a:pt x="0" y="783"/>
                  </a:cubicBezTo>
                  <a:lnTo>
                    <a:pt x="872" y="1616"/>
                  </a:lnTo>
                  <a:cubicBezTo>
                    <a:pt x="1177" y="1298"/>
                    <a:pt x="1512" y="769"/>
                    <a:pt x="1518" y="0"/>
                  </a:cubicBezTo>
                  <a:lnTo>
                    <a:pt x="349" y="68"/>
                  </a:lnTo>
                  <a:close/>
                </a:path>
              </a:pathLst>
            </a:custGeom>
            <a:solidFill>
              <a:schemeClr val="accent6">
                <a:lumMod val="50000"/>
              </a:schemeClr>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108000" anchor="ctr">
              <a:normAutofit/>
            </a:bodyPr>
            <a:lstStyle/>
            <a:p>
              <a:pPr algn="ctr" eaLnBrk="1" hangingPunct="1">
                <a:lnSpc>
                  <a:spcPct val="120000"/>
                </a:lnSpc>
                <a:spcBef>
                  <a:spcPts val="450"/>
                </a:spcBef>
                <a:spcAft>
                  <a:spcPts val="450"/>
                </a:spcAft>
                <a:defRPr/>
              </a:pP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57" name="MH_Other_4"/>
            <p:cNvSpPr/>
            <p:nvPr>
              <p:custDataLst>
                <p:tags r:id="rId5"/>
              </p:custDataLst>
            </p:nvPr>
          </p:nvSpPr>
          <p:spPr bwMode="gray">
            <a:xfrm rot="18660000" flipH="1">
              <a:off x="15449" y="7449"/>
              <a:ext cx="1476" cy="1570"/>
            </a:xfrm>
            <a:custGeom>
              <a:avLst/>
              <a:gdLst>
                <a:gd name="connsiteX0" fmla="*/ 349 w 1518"/>
                <a:gd name="connsiteY0" fmla="*/ 68 h 1616"/>
                <a:gd name="connsiteX1" fmla="*/ 0 w 1518"/>
                <a:gd name="connsiteY1" fmla="*/ 783 h 1616"/>
                <a:gd name="connsiteX2" fmla="*/ 872 w 1518"/>
                <a:gd name="connsiteY2" fmla="*/ 1616 h 1616"/>
                <a:gd name="connsiteX3" fmla="*/ 1518 w 1518"/>
                <a:gd name="connsiteY3" fmla="*/ 0 h 1616"/>
                <a:gd name="connsiteX4" fmla="*/ 349 w 1518"/>
                <a:gd name="connsiteY4" fmla="*/ 68 h 1616"/>
              </a:gdLst>
              <a:ahLst/>
              <a:cxnLst>
                <a:cxn ang="0">
                  <a:pos x="connsiteX0" y="connsiteY0"/>
                </a:cxn>
                <a:cxn ang="0">
                  <a:pos x="connsiteX1" y="connsiteY1"/>
                </a:cxn>
                <a:cxn ang="0">
                  <a:pos x="connsiteX2" y="connsiteY2"/>
                </a:cxn>
                <a:cxn ang="0">
                  <a:pos x="connsiteX3" y="connsiteY3"/>
                </a:cxn>
                <a:cxn ang="0">
                  <a:pos x="connsiteX4" y="connsiteY4"/>
                </a:cxn>
              </a:cxnLst>
              <a:rect l="0" t="0" r="r" b="b"/>
              <a:pathLst>
                <a:path w="1518" h="1616">
                  <a:moveTo>
                    <a:pt x="349" y="68"/>
                  </a:moveTo>
                  <a:cubicBezTo>
                    <a:pt x="357" y="344"/>
                    <a:pt x="244" y="545"/>
                    <a:pt x="0" y="783"/>
                  </a:cubicBezTo>
                  <a:lnTo>
                    <a:pt x="872" y="1616"/>
                  </a:lnTo>
                  <a:cubicBezTo>
                    <a:pt x="1177" y="1298"/>
                    <a:pt x="1512" y="769"/>
                    <a:pt x="1518" y="0"/>
                  </a:cubicBezTo>
                  <a:lnTo>
                    <a:pt x="349" y="68"/>
                  </a:lnTo>
                  <a:close/>
                </a:path>
              </a:pathLst>
            </a:custGeom>
            <a:solidFill>
              <a:schemeClr val="accent6">
                <a:lumMod val="50000"/>
              </a:schemeClr>
            </a:solidFill>
            <a:ln w="31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108000" tIns="0" rIns="0" bIns="108000" anchor="ctr">
              <a:normAutofit/>
            </a:bodyPr>
            <a:lstStyle/>
            <a:p>
              <a:pPr algn="ctr" eaLnBrk="1" hangingPunct="1">
                <a:lnSpc>
                  <a:spcPct val="120000"/>
                </a:lnSpc>
                <a:spcBef>
                  <a:spcPts val="450"/>
                </a:spcBef>
                <a:spcAft>
                  <a:spcPts val="450"/>
                </a:spcAft>
                <a:defRPr/>
              </a:pPr>
              <a:endParaRPr lang="zh-CN" altLang="en-US" sz="3200" dirty="0">
                <a:solidFill>
                  <a:srgbClr val="FFFFFF"/>
                </a:solidFill>
                <a:latin typeface="微软雅黑" panose="020B0503020204020204" charset="-122"/>
                <a:ea typeface="微软雅黑" panose="020B0503020204020204" charset="-122"/>
                <a:cs typeface="Arial" panose="020B0604020202020204" pitchFamily="34" charset="0"/>
              </a:endParaRPr>
            </a:p>
          </p:txBody>
        </p:sp>
        <p:sp>
          <p:nvSpPr>
            <p:cNvPr id="65" name="MH_Title_1"/>
            <p:cNvSpPr>
              <a:spLocks noChangeArrowheads="1"/>
            </p:cNvSpPr>
            <p:nvPr>
              <p:custDataLst>
                <p:tags r:id="rId6"/>
              </p:custDataLst>
            </p:nvPr>
          </p:nvSpPr>
          <p:spPr bwMode="gray">
            <a:xfrm flipH="1">
              <a:off x="15377" y="5309"/>
              <a:ext cx="2474" cy="2392"/>
            </a:xfrm>
            <a:prstGeom prst="ellipse">
              <a:avLst/>
            </a:prstGeom>
            <a:solidFill>
              <a:schemeClr val="accent6">
                <a:lumMod val="50000"/>
              </a:schemeClr>
            </a:solidFill>
            <a:ln w="190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20000"/>
                </a:lnSpc>
                <a:defRPr/>
              </a:pPr>
              <a:r>
                <a:rPr lang="zh-CN" altLang="en-US" sz="2000" b="1" dirty="0">
                  <a:solidFill>
                    <a:srgbClr val="FFFFFF"/>
                  </a:solidFill>
                  <a:latin typeface="微软雅黑" panose="020B0503020204020204" charset="-122"/>
                  <a:ea typeface="微软雅黑" panose="020B0503020204020204" charset="-122"/>
                </a:rPr>
                <a:t>问题分析图的特点</a:t>
              </a:r>
            </a:p>
          </p:txBody>
        </p:sp>
        <p:grpSp>
          <p:nvGrpSpPr>
            <p:cNvPr id="30" name="组合 29"/>
            <p:cNvGrpSpPr/>
            <p:nvPr/>
          </p:nvGrpSpPr>
          <p:grpSpPr>
            <a:xfrm>
              <a:off x="3087" y="5817"/>
              <a:ext cx="11069" cy="963"/>
              <a:chOff x="5887" y="4776"/>
              <a:chExt cx="8269" cy="963"/>
            </a:xfrm>
          </p:grpSpPr>
          <p:sp>
            <p:nvSpPr>
              <p:cNvPr id="67" name="MH_Other_5"/>
              <p:cNvSpPr>
                <a:spLocks noChangeShapeType="1"/>
              </p:cNvSpPr>
              <p:nvPr>
                <p:custDataLst>
                  <p:tags r:id="rId15"/>
                </p:custDataLst>
              </p:nvPr>
            </p:nvSpPr>
            <p:spPr bwMode="black">
              <a:xfrm flipH="1" flipV="1">
                <a:off x="5887" y="5548"/>
                <a:ext cx="8269" cy="7"/>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algn="ctr" eaLnBrk="1" fontAlgn="auto" hangingPunct="1">
                  <a:spcBef>
                    <a:spcPts val="0"/>
                  </a:spcBef>
                  <a:spcAft>
                    <a:spcPts val="0"/>
                  </a:spcAft>
                  <a:defRPr/>
                </a:pPr>
                <a:endParaRPr lang="zh-CN" altLang="en-US" sz="1350" b="1">
                  <a:solidFill>
                    <a:schemeClr val="accent6">
                      <a:lumMod val="50000"/>
                    </a:schemeClr>
                  </a:solidFill>
                  <a:latin typeface="微软雅黑" panose="020B0503020204020204" charset="-122"/>
                  <a:ea typeface="微软雅黑" panose="020B0503020204020204" charset="-122"/>
                </a:endParaRPr>
              </a:p>
            </p:txBody>
          </p:sp>
          <p:sp>
            <p:nvSpPr>
              <p:cNvPr id="68" name="MH_SubTitle_1"/>
              <p:cNvSpPr txBox="1">
                <a:spLocks noChangeArrowheads="1"/>
              </p:cNvSpPr>
              <p:nvPr>
                <p:custDataLst>
                  <p:tags r:id="rId16"/>
                </p:custDataLst>
              </p:nvPr>
            </p:nvSpPr>
            <p:spPr bwMode="auto">
              <a:xfrm flipH="1">
                <a:off x="5888" y="4776"/>
                <a:ext cx="3037" cy="963"/>
              </a:xfrm>
              <a:prstGeom prst="rect">
                <a:avLst/>
              </a:prstGeom>
              <a:noFill/>
              <a:ln w="9525">
                <a:noFill/>
                <a:miter lim="800000"/>
              </a:ln>
            </p:spPr>
            <p:txBody>
              <a:bodyPr lIns="216000" tIns="34290" rIns="68580" bIns="34290" anchor="ctr"/>
              <a:lstStyle/>
              <a:p>
                <a:pPr algn="l"/>
                <a:r>
                  <a:rPr lang="zh-CN" altLang="zh-CN" sz="2000" b="1" dirty="0">
                    <a:solidFill>
                      <a:schemeClr val="accent6">
                        <a:lumMod val="50000"/>
                      </a:schemeClr>
                    </a:solidFill>
                    <a:latin typeface="微软雅黑" panose="020B0503020204020204" charset="-122"/>
                    <a:ea typeface="微软雅黑" panose="020B0503020204020204" charset="-122"/>
                    <a:cs typeface="宋体" panose="02010600030101010101" pitchFamily="2" charset="-122"/>
                    <a:sym typeface="+mn-ea"/>
                  </a:rPr>
                  <a:t>结构清晰、层次分明。</a:t>
                </a:r>
              </a:p>
            </p:txBody>
          </p:sp>
        </p:grpSp>
        <p:grpSp>
          <p:nvGrpSpPr>
            <p:cNvPr id="69" name="组合 68"/>
            <p:cNvGrpSpPr/>
            <p:nvPr/>
          </p:nvGrpSpPr>
          <p:grpSpPr>
            <a:xfrm flipH="1">
              <a:off x="3086" y="6780"/>
              <a:ext cx="12062" cy="1133"/>
              <a:chOff x="2399663" y="2004067"/>
              <a:chExt cx="5947149" cy="719455"/>
            </a:xfrm>
          </p:grpSpPr>
          <p:sp>
            <p:nvSpPr>
              <p:cNvPr id="70" name="MH_Other_5"/>
              <p:cNvSpPr>
                <a:spLocks noChangeShapeType="1"/>
              </p:cNvSpPr>
              <p:nvPr>
                <p:custDataLst>
                  <p:tags r:id="rId13"/>
                </p:custDataLst>
              </p:nvPr>
            </p:nvSpPr>
            <p:spPr bwMode="black">
              <a:xfrm flipV="1">
                <a:off x="2399663" y="2694312"/>
                <a:ext cx="5947149" cy="29210"/>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algn="ctr" eaLnBrk="1" fontAlgn="auto" hangingPunct="1">
                  <a:spcBef>
                    <a:spcPts val="0"/>
                  </a:spcBef>
                  <a:spcAft>
                    <a:spcPts val="0"/>
                  </a:spcAft>
                  <a:defRPr/>
                </a:pPr>
                <a:endParaRPr lang="zh-CN" altLang="en-US" sz="1350" b="1">
                  <a:solidFill>
                    <a:schemeClr val="accent6">
                      <a:lumMod val="50000"/>
                    </a:schemeClr>
                  </a:solidFill>
                  <a:latin typeface="微软雅黑" panose="020B0503020204020204" charset="-122"/>
                  <a:ea typeface="微软雅黑" panose="020B0503020204020204" charset="-122"/>
                </a:endParaRPr>
              </a:p>
            </p:txBody>
          </p:sp>
          <p:sp>
            <p:nvSpPr>
              <p:cNvPr id="71" name="MH_SubTitle_1"/>
              <p:cNvSpPr txBox="1">
                <a:spLocks noChangeArrowheads="1"/>
              </p:cNvSpPr>
              <p:nvPr>
                <p:custDataLst>
                  <p:tags r:id="rId14"/>
                </p:custDataLst>
              </p:nvPr>
            </p:nvSpPr>
            <p:spPr bwMode="auto">
              <a:xfrm>
                <a:off x="3305393" y="2004067"/>
                <a:ext cx="5040433" cy="611505"/>
              </a:xfrm>
              <a:prstGeom prst="rect">
                <a:avLst/>
              </a:prstGeom>
              <a:noFill/>
              <a:ln w="9525">
                <a:noFill/>
                <a:miter lim="800000"/>
              </a:ln>
            </p:spPr>
            <p:txBody>
              <a:bodyPr lIns="216000" tIns="34290" rIns="68580" bIns="34290" anchor="ctr"/>
              <a:lstStyle/>
              <a:p>
                <a:pPr algn="l"/>
                <a:r>
                  <a:rPr lang="zh-CN" altLang="zh-CN" sz="2000" b="1" dirty="0">
                    <a:solidFill>
                      <a:schemeClr val="accent6">
                        <a:lumMod val="50000"/>
                      </a:schemeClr>
                    </a:solidFill>
                    <a:latin typeface="微软雅黑" panose="020B0503020204020204" charset="-122"/>
                    <a:ea typeface="微软雅黑" panose="020B0503020204020204" charset="-122"/>
                    <a:cs typeface="宋体" panose="02010600030101010101" pitchFamily="2" charset="-122"/>
                  </a:rPr>
                  <a:t>既可表示程序逻辑，也可用于描绘数据结构。</a:t>
                </a:r>
              </a:p>
            </p:txBody>
          </p:sp>
        </p:grpSp>
        <p:grpSp>
          <p:nvGrpSpPr>
            <p:cNvPr id="31" name="组合 30"/>
            <p:cNvGrpSpPr/>
            <p:nvPr/>
          </p:nvGrpSpPr>
          <p:grpSpPr>
            <a:xfrm>
              <a:off x="3087" y="3513"/>
              <a:ext cx="15501" cy="963"/>
              <a:chOff x="5601" y="4774"/>
              <a:chExt cx="10326" cy="963"/>
            </a:xfrm>
          </p:grpSpPr>
          <p:sp>
            <p:nvSpPr>
              <p:cNvPr id="32" name="MH_Other_5"/>
              <p:cNvSpPr>
                <a:spLocks noChangeShapeType="1"/>
              </p:cNvSpPr>
              <p:nvPr>
                <p:custDataLst>
                  <p:tags r:id="rId11"/>
                </p:custDataLst>
              </p:nvPr>
            </p:nvSpPr>
            <p:spPr bwMode="black">
              <a:xfrm flipH="1">
                <a:off x="5601" y="5736"/>
                <a:ext cx="8555" cy="1"/>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algn="ctr" eaLnBrk="1" fontAlgn="auto" hangingPunct="1">
                  <a:spcBef>
                    <a:spcPts val="0"/>
                  </a:spcBef>
                  <a:spcAft>
                    <a:spcPts val="0"/>
                  </a:spcAft>
                  <a:defRPr/>
                </a:pPr>
                <a:endParaRPr lang="zh-CN" altLang="en-US" sz="1350" b="1">
                  <a:solidFill>
                    <a:schemeClr val="accent6">
                      <a:lumMod val="50000"/>
                    </a:schemeClr>
                  </a:solidFill>
                  <a:latin typeface="微软雅黑" panose="020B0503020204020204" charset="-122"/>
                  <a:ea typeface="微软雅黑" panose="020B0503020204020204" charset="-122"/>
                </a:endParaRPr>
              </a:p>
            </p:txBody>
          </p:sp>
          <p:sp>
            <p:nvSpPr>
              <p:cNvPr id="38" name="MH_SubTitle_1"/>
              <p:cNvSpPr txBox="1">
                <a:spLocks noChangeArrowheads="1"/>
              </p:cNvSpPr>
              <p:nvPr>
                <p:custDataLst>
                  <p:tags r:id="rId12"/>
                </p:custDataLst>
              </p:nvPr>
            </p:nvSpPr>
            <p:spPr bwMode="auto">
              <a:xfrm flipH="1">
                <a:off x="5602" y="4774"/>
                <a:ext cx="10325" cy="963"/>
              </a:xfrm>
              <a:prstGeom prst="rect">
                <a:avLst/>
              </a:prstGeom>
              <a:noFill/>
              <a:ln w="9525">
                <a:noFill/>
                <a:miter lim="800000"/>
              </a:ln>
            </p:spPr>
            <p:txBody>
              <a:bodyPr lIns="216000" tIns="34290" rIns="68580" bIns="34290" anchor="ctr"/>
              <a:lstStyle/>
              <a:p>
                <a:pPr algn="l"/>
                <a:r>
                  <a:rPr lang="zh-CN" altLang="zh-CN" sz="2000" b="1" dirty="0">
                    <a:solidFill>
                      <a:schemeClr val="accent6">
                        <a:lumMod val="50000"/>
                      </a:schemeClr>
                    </a:solidFill>
                    <a:latin typeface="微软雅黑" panose="020B0503020204020204" charset="-122"/>
                    <a:ea typeface="微软雅黑" panose="020B0503020204020204" charset="-122"/>
                    <a:cs typeface="宋体" panose="02010600030101010101" pitchFamily="2" charset="-122"/>
                    <a:sym typeface="+mn-ea"/>
                  </a:rPr>
                  <a:t>用PAD图所表示的程序的执行顺序为自上而下、自左向右。</a:t>
                </a:r>
              </a:p>
            </p:txBody>
          </p:sp>
        </p:grpSp>
        <p:sp>
          <p:nvSpPr>
            <p:cNvPr id="39" name="文本框 38"/>
            <p:cNvSpPr txBox="1"/>
            <p:nvPr/>
          </p:nvSpPr>
          <p:spPr>
            <a:xfrm>
              <a:off x="15875" y="4331"/>
              <a:ext cx="805" cy="912"/>
            </a:xfrm>
            <a:prstGeom prst="rect">
              <a:avLst/>
            </a:prstGeom>
            <a:noFill/>
          </p:spPr>
          <p:txBody>
            <a:bodyPr wrap="square" rtlCol="0">
              <a:spAutoFit/>
            </a:bodyPr>
            <a:lstStyle/>
            <a:p>
              <a:r>
                <a:rPr lang="en-US" altLang="zh-CN" sz="3200" b="1">
                  <a:solidFill>
                    <a:schemeClr val="bg1"/>
                  </a:solidFill>
                </a:rPr>
                <a:t>1</a:t>
              </a:r>
            </a:p>
          </p:txBody>
        </p:sp>
        <p:sp>
          <p:nvSpPr>
            <p:cNvPr id="40" name="文本框 39"/>
            <p:cNvSpPr txBox="1"/>
            <p:nvPr/>
          </p:nvSpPr>
          <p:spPr>
            <a:xfrm>
              <a:off x="14917" y="5166"/>
              <a:ext cx="791" cy="912"/>
            </a:xfrm>
            <a:prstGeom prst="rect">
              <a:avLst/>
            </a:prstGeom>
            <a:noFill/>
          </p:spPr>
          <p:txBody>
            <a:bodyPr wrap="square" rtlCol="0">
              <a:spAutoFit/>
            </a:bodyPr>
            <a:lstStyle/>
            <a:p>
              <a:pPr algn="l"/>
              <a:r>
                <a:rPr lang="en-US" altLang="zh-CN" sz="3200" b="1">
                  <a:solidFill>
                    <a:schemeClr val="bg1"/>
                  </a:solidFill>
                </a:rPr>
                <a:t>2</a:t>
              </a:r>
            </a:p>
          </p:txBody>
        </p:sp>
        <p:sp>
          <p:nvSpPr>
            <p:cNvPr id="41" name="文本框 40"/>
            <p:cNvSpPr txBox="1"/>
            <p:nvPr/>
          </p:nvSpPr>
          <p:spPr>
            <a:xfrm>
              <a:off x="14618" y="6136"/>
              <a:ext cx="912" cy="912"/>
            </a:xfrm>
            <a:prstGeom prst="rect">
              <a:avLst/>
            </a:prstGeom>
            <a:noFill/>
          </p:spPr>
          <p:txBody>
            <a:bodyPr wrap="square" rtlCol="0">
              <a:spAutoFit/>
            </a:bodyPr>
            <a:lstStyle/>
            <a:p>
              <a:pPr algn="l"/>
              <a:r>
                <a:rPr lang="en-US" altLang="zh-CN" sz="3200" b="1">
                  <a:solidFill>
                    <a:schemeClr val="bg1"/>
                  </a:solidFill>
                </a:rPr>
                <a:t>3</a:t>
              </a:r>
            </a:p>
          </p:txBody>
        </p:sp>
        <p:sp>
          <p:nvSpPr>
            <p:cNvPr id="62" name="文本框 61"/>
            <p:cNvSpPr txBox="1"/>
            <p:nvPr/>
          </p:nvSpPr>
          <p:spPr>
            <a:xfrm>
              <a:off x="14917" y="7001"/>
              <a:ext cx="912" cy="912"/>
            </a:xfrm>
            <a:prstGeom prst="rect">
              <a:avLst/>
            </a:prstGeom>
            <a:noFill/>
          </p:spPr>
          <p:txBody>
            <a:bodyPr wrap="square" rtlCol="0">
              <a:spAutoFit/>
            </a:bodyPr>
            <a:lstStyle/>
            <a:p>
              <a:pPr algn="l"/>
              <a:r>
                <a:rPr lang="en-US" altLang="zh-CN" sz="3200" b="1">
                  <a:solidFill>
                    <a:schemeClr val="bg1"/>
                  </a:solidFill>
                </a:rPr>
                <a:t>4</a:t>
              </a:r>
            </a:p>
          </p:txBody>
        </p:sp>
        <p:sp>
          <p:nvSpPr>
            <p:cNvPr id="72" name="文本框 71"/>
            <p:cNvSpPr txBox="1"/>
            <p:nvPr/>
          </p:nvSpPr>
          <p:spPr>
            <a:xfrm>
              <a:off x="15821" y="7701"/>
              <a:ext cx="912" cy="912"/>
            </a:xfrm>
            <a:prstGeom prst="rect">
              <a:avLst/>
            </a:prstGeom>
            <a:noFill/>
          </p:spPr>
          <p:txBody>
            <a:bodyPr wrap="square" rtlCol="0">
              <a:spAutoFit/>
            </a:bodyPr>
            <a:lstStyle/>
            <a:p>
              <a:pPr algn="l"/>
              <a:r>
                <a:rPr lang="en-US" altLang="zh-CN" sz="3200" b="1">
                  <a:solidFill>
                    <a:schemeClr val="bg1"/>
                  </a:solidFill>
                </a:rPr>
                <a:t>5</a:t>
              </a:r>
            </a:p>
          </p:txBody>
        </p:sp>
        <p:grpSp>
          <p:nvGrpSpPr>
            <p:cNvPr id="73" name="组合 72"/>
            <p:cNvGrpSpPr/>
            <p:nvPr/>
          </p:nvGrpSpPr>
          <p:grpSpPr>
            <a:xfrm>
              <a:off x="3088" y="4695"/>
              <a:ext cx="11580" cy="963"/>
              <a:chOff x="4929" y="4876"/>
              <a:chExt cx="9227" cy="963"/>
            </a:xfrm>
          </p:grpSpPr>
          <p:sp>
            <p:nvSpPr>
              <p:cNvPr id="74" name="MH_Other_5"/>
              <p:cNvSpPr>
                <a:spLocks noChangeShapeType="1"/>
              </p:cNvSpPr>
              <p:nvPr>
                <p:custDataLst>
                  <p:tags r:id="rId9"/>
                </p:custDataLst>
              </p:nvPr>
            </p:nvSpPr>
            <p:spPr bwMode="black">
              <a:xfrm flipH="1">
                <a:off x="4929" y="5737"/>
                <a:ext cx="9227" cy="1"/>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algn="ctr" eaLnBrk="1" fontAlgn="auto" hangingPunct="1">
                  <a:spcBef>
                    <a:spcPts val="0"/>
                  </a:spcBef>
                  <a:spcAft>
                    <a:spcPts val="0"/>
                  </a:spcAft>
                  <a:defRPr/>
                </a:pPr>
                <a:endParaRPr lang="zh-CN" altLang="en-US" sz="1350" b="1">
                  <a:solidFill>
                    <a:schemeClr val="accent6">
                      <a:lumMod val="50000"/>
                    </a:schemeClr>
                  </a:solidFill>
                  <a:latin typeface="微软雅黑" panose="020B0503020204020204" charset="-122"/>
                  <a:ea typeface="微软雅黑" panose="020B0503020204020204" charset="-122"/>
                </a:endParaRPr>
              </a:p>
            </p:txBody>
          </p:sp>
          <p:sp>
            <p:nvSpPr>
              <p:cNvPr id="75" name="MH_SubTitle_1"/>
              <p:cNvSpPr txBox="1">
                <a:spLocks noChangeArrowheads="1"/>
              </p:cNvSpPr>
              <p:nvPr>
                <p:custDataLst>
                  <p:tags r:id="rId10"/>
                </p:custDataLst>
              </p:nvPr>
            </p:nvSpPr>
            <p:spPr bwMode="auto">
              <a:xfrm flipH="1">
                <a:off x="4929" y="4876"/>
                <a:ext cx="7617" cy="963"/>
              </a:xfrm>
              <a:prstGeom prst="rect">
                <a:avLst/>
              </a:prstGeom>
              <a:noFill/>
              <a:ln w="9525">
                <a:noFill/>
                <a:miter lim="800000"/>
              </a:ln>
            </p:spPr>
            <p:txBody>
              <a:bodyPr lIns="216000" tIns="34290" rIns="68580" bIns="34290" anchor="ctr"/>
              <a:lstStyle/>
              <a:p>
                <a:pPr algn="l"/>
                <a:r>
                  <a:rPr lang="zh-CN" altLang="zh-CN" sz="2000" b="1" dirty="0">
                    <a:solidFill>
                      <a:schemeClr val="accent6">
                        <a:lumMod val="50000"/>
                      </a:schemeClr>
                    </a:solidFill>
                    <a:latin typeface="微软雅黑" panose="020B0503020204020204" charset="-122"/>
                    <a:ea typeface="微软雅黑" panose="020B0503020204020204" charset="-122"/>
                    <a:cs typeface="宋体" panose="02010600030101010101" pitchFamily="2" charset="-122"/>
                    <a:sym typeface="+mn-ea"/>
                  </a:rPr>
                  <a:t>用PAD符号设计的过程必然是结构化的程序结构。</a:t>
                </a:r>
              </a:p>
            </p:txBody>
          </p:sp>
        </p:grpSp>
        <p:sp>
          <p:nvSpPr>
            <p:cNvPr id="77" name="MH_Other_5"/>
            <p:cNvSpPr>
              <a:spLocks noChangeShapeType="1"/>
            </p:cNvSpPr>
            <p:nvPr>
              <p:custDataLst>
                <p:tags r:id="rId7"/>
              </p:custDataLst>
            </p:nvPr>
          </p:nvSpPr>
          <p:spPr bwMode="black">
            <a:xfrm flipH="1" flipV="1">
              <a:off x="3086" y="8876"/>
              <a:ext cx="13083" cy="113"/>
            </a:xfrm>
            <a:prstGeom prst="line">
              <a:avLst/>
            </a:prstGeom>
            <a:noFill/>
            <a:ln w="9525">
              <a:solidFill>
                <a:srgbClr val="BCBCBC"/>
              </a:solidFill>
              <a:prstDash val="dash"/>
              <a:roun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pPr algn="ctr" eaLnBrk="1" fontAlgn="auto" hangingPunct="1">
                <a:spcBef>
                  <a:spcPts val="0"/>
                </a:spcBef>
                <a:spcAft>
                  <a:spcPts val="0"/>
                </a:spcAft>
                <a:defRPr/>
              </a:pPr>
              <a:endParaRPr lang="zh-CN" altLang="en-US" sz="1350" b="1">
                <a:solidFill>
                  <a:schemeClr val="accent6">
                    <a:lumMod val="50000"/>
                  </a:schemeClr>
                </a:solidFill>
                <a:latin typeface="微软雅黑" panose="020B0503020204020204" charset="-122"/>
                <a:ea typeface="微软雅黑" panose="020B0503020204020204" charset="-122"/>
              </a:endParaRPr>
            </a:p>
          </p:txBody>
        </p:sp>
        <p:sp>
          <p:nvSpPr>
            <p:cNvPr id="78" name="MH_SubTitle_1"/>
            <p:cNvSpPr txBox="1">
              <a:spLocks noChangeArrowheads="1"/>
            </p:cNvSpPr>
            <p:nvPr>
              <p:custDataLst>
                <p:tags r:id="rId8"/>
              </p:custDataLst>
            </p:nvPr>
          </p:nvSpPr>
          <p:spPr bwMode="auto">
            <a:xfrm flipH="1">
              <a:off x="3018" y="7913"/>
              <a:ext cx="12359" cy="963"/>
            </a:xfrm>
            <a:prstGeom prst="rect">
              <a:avLst/>
            </a:prstGeom>
            <a:noFill/>
            <a:ln w="9525">
              <a:noFill/>
              <a:miter lim="800000"/>
            </a:ln>
          </p:spPr>
          <p:txBody>
            <a:bodyPr lIns="216000" tIns="34290" rIns="68580" bIns="34290" anchor="ctr"/>
            <a:lstStyle/>
            <a:p>
              <a:pPr algn="l"/>
              <a:r>
                <a:rPr lang="zh-CN" altLang="zh-CN" sz="2000" b="1" dirty="0">
                  <a:solidFill>
                    <a:schemeClr val="accent6">
                      <a:lumMod val="50000"/>
                    </a:schemeClr>
                  </a:solidFill>
                  <a:latin typeface="微软雅黑" panose="020B0503020204020204" charset="-122"/>
                  <a:ea typeface="微软雅黑" panose="020B0503020204020204" charset="-122"/>
                  <a:cs typeface="宋体" panose="02010600030101010101" pitchFamily="2" charset="-122"/>
                </a:rPr>
                <a:t>用def逐步详细描述，可支持自顶向下、逐步求精的设计方法。</a:t>
              </a:r>
            </a:p>
          </p:txBody>
        </p:sp>
      </p:grpSp>
      <p:sp>
        <p:nvSpPr>
          <p:cNvPr id="36" name="矩形 35"/>
          <p:cNvSpPr/>
          <p:nvPr/>
        </p:nvSpPr>
        <p:spPr>
          <a:xfrm>
            <a:off x="896708" y="2220750"/>
            <a:ext cx="2333909" cy="461665"/>
          </a:xfrm>
          <a:prstGeom prst="rect">
            <a:avLst/>
          </a:prstGeom>
        </p:spPr>
        <p:txBody>
          <a:bodyPr wrap="none">
            <a:spAutoFit/>
          </a:bodyPr>
          <a:lstStyle/>
          <a:p>
            <a:r>
              <a:rPr lang="en-US" sz="2400" dirty="0"/>
              <a:t>PAD</a:t>
            </a:r>
            <a:r>
              <a:rPr lang="zh-CN" altLang="en-US" sz="2400" dirty="0"/>
              <a:t>图的特点：</a:t>
            </a:r>
          </a:p>
        </p:txBody>
      </p:sp>
    </p:spTree>
  </p:cSld>
  <p:clrMapOvr>
    <a:masterClrMapping/>
  </p:clrMapOvr>
  <p:transition>
    <p:pull dir="d"/>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endParaRPr lang="zh-CN" altLang="en-US" dirty="0"/>
          </a:p>
        </p:txBody>
      </p:sp>
      <p:grpSp>
        <p:nvGrpSpPr>
          <p:cNvPr id="2" name="组合 1"/>
          <p:cNvGrpSpPr/>
          <p:nvPr/>
        </p:nvGrpSpPr>
        <p:grpSpPr>
          <a:xfrm>
            <a:off x="737235" y="1419225"/>
            <a:ext cx="8696325" cy="4146550"/>
            <a:chOff x="1275" y="2210"/>
            <a:chExt cx="13695" cy="6530"/>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500" y="3150"/>
              <a:ext cx="7939" cy="5590"/>
              <a:chOff x="1500" y="3150"/>
              <a:chExt cx="7939" cy="5590"/>
            </a:xfrm>
          </p:grpSpPr>
          <p:sp>
            <p:nvSpPr>
              <p:cNvPr id="22" name="TextBox 21"/>
              <p:cNvSpPr txBox="1"/>
              <p:nvPr/>
            </p:nvSpPr>
            <p:spPr>
              <a:xfrm>
                <a:off x="3431" y="3171"/>
                <a:ext cx="5066" cy="1104"/>
              </a:xfrm>
              <a:prstGeom prst="rect">
                <a:avLst/>
              </a:prstGeom>
              <a:noFill/>
            </p:spPr>
            <p:txBody>
              <a:bodyPr wrap="square">
                <a:spAutoFit/>
              </a:bodyPr>
              <a:lstStyle/>
              <a:p>
                <a:r>
                  <a:rPr sz="2000" dirty="0">
                    <a:sym typeface="+mn-ea"/>
                  </a:rPr>
                  <a:t>画出例2-2学生成绩管理系统的PAD图。</a:t>
                </a:r>
              </a:p>
            </p:txBody>
          </p:sp>
          <p:sp>
            <p:nvSpPr>
              <p:cNvPr id="24" name="矩形 23"/>
              <p:cNvSpPr>
                <a:spLocks noChangeAspect="1"/>
              </p:cNvSpPr>
              <p:nvPr/>
            </p:nvSpPr>
            <p:spPr>
              <a:xfrm>
                <a:off x="1500" y="5299"/>
                <a:ext cx="7939" cy="3441"/>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3-6</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4" name="TextBox 33"/>
              <p:cNvSpPr txBox="1"/>
              <p:nvPr/>
            </p:nvSpPr>
            <p:spPr>
              <a:xfrm>
                <a:off x="1632" y="5533"/>
                <a:ext cx="7586" cy="3024"/>
              </a:xfrm>
              <a:prstGeom prst="rect">
                <a:avLst/>
              </a:prstGeom>
              <a:solidFill>
                <a:schemeClr val="bg1">
                  <a:lumMod val="95000"/>
                </a:schemeClr>
              </a:solidFill>
            </p:spPr>
            <p:txBody>
              <a:bodyPr wrap="square">
                <a:spAutoFit/>
              </a:bodyPr>
              <a:lstStyle/>
              <a:p>
                <a:pPr fontAlgn="auto">
                  <a:lnSpc>
                    <a:spcPct val="120000"/>
                  </a:lnSpc>
                </a:pPr>
                <a:r>
                  <a:rPr lang="en-US" altLang="zh-CN" sz="2000" dirty="0">
                    <a:latin typeface="Times New Roman" panose="02020603050405020304" charset="0"/>
                    <a:ea typeface="宋体" panose="02010600030101010101" pitchFamily="2" charset="-122"/>
                  </a:rPr>
                  <a:t>        </a:t>
                </a:r>
                <a:r>
                  <a:rPr lang="zh-CN" altLang="en-US" sz="2000" dirty="0">
                    <a:latin typeface="Times New Roman" panose="02020603050405020304" charset="0"/>
                    <a:ea typeface="宋体" panose="02010600030101010101" pitchFamily="2" charset="-122"/>
                  </a:rPr>
                  <a:t>在例2-2学生成绩管理系统中，输入数据部分的PAD图如图所示，其中S1是班级学生人数，S2是课程数。每门课程都要输入全班每位学生的平时成绩、考试成绩，并计算出每位学生的成绩总评分。</a:t>
                </a:r>
              </a:p>
            </p:txBody>
          </p:sp>
        </p:grpSp>
      </p:grpSp>
      <p:pic>
        <p:nvPicPr>
          <p:cNvPr id="4" name="图片 -2147482509"/>
          <p:cNvPicPr>
            <a:picLocks noChangeAspect="1"/>
          </p:cNvPicPr>
          <p:nvPr/>
        </p:nvPicPr>
        <p:blipFill>
          <a:blip r:embed="rId4" cstate="print"/>
          <a:stretch>
            <a:fillRect/>
          </a:stretch>
        </p:blipFill>
        <p:spPr>
          <a:xfrm>
            <a:off x="6217285" y="2042011"/>
            <a:ext cx="5276215" cy="3518049"/>
          </a:xfrm>
          <a:prstGeom prst="rect">
            <a:avLst/>
          </a:prstGeom>
          <a:noFill/>
          <a:ln w="9525">
            <a:noFill/>
          </a:ln>
        </p:spPr>
      </p:pic>
    </p:spTree>
  </p:cSld>
  <p:clrMapOvr>
    <a:masterClrMapping/>
  </p:clrMapOvr>
  <p:transition>
    <p:pull dir="d"/>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判定表</a:t>
            </a:r>
          </a:p>
        </p:txBody>
      </p:sp>
      <p:sp>
        <p:nvSpPr>
          <p:cNvPr id="4" name="文本框 3"/>
          <p:cNvSpPr txBox="1"/>
          <p:nvPr/>
        </p:nvSpPr>
        <p:spPr>
          <a:xfrm>
            <a:off x="768973" y="2658745"/>
            <a:ext cx="461665" cy="1733488"/>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3.5.4   </a:t>
            </a:r>
            <a:r>
              <a:rPr lang="zh-CN" altLang="en-US" spc="160" dirty="0">
                <a:solidFill>
                  <a:schemeClr val="bg1"/>
                </a:solidFill>
                <a:latin typeface="微软雅黑" panose="020B0503020204020204" charset="-122"/>
                <a:ea typeface="微软雅黑" panose="020B0503020204020204" charset="-122"/>
              </a:rPr>
              <a:t>判定表</a:t>
            </a:r>
          </a:p>
        </p:txBody>
      </p:sp>
      <p:sp>
        <p:nvSpPr>
          <p:cNvPr id="101" name="文本框 100"/>
          <p:cNvSpPr txBox="1"/>
          <p:nvPr/>
        </p:nvSpPr>
        <p:spPr>
          <a:xfrm>
            <a:off x="1457325" y="2105025"/>
            <a:ext cx="9903460" cy="3749040"/>
          </a:xfrm>
          <a:prstGeom prst="rect">
            <a:avLst/>
          </a:prstGeom>
          <a:noFill/>
          <a:ln w="9525">
            <a:noFill/>
          </a:ln>
        </p:spPr>
        <p:txBody>
          <a:bodyPr wrap="square">
            <a:spAutoFit/>
          </a:bodyPr>
          <a:lstStyle/>
          <a:p>
            <a:pPr marL="0" indent="0" algn="l" fontAlgn="auto">
              <a:lnSpc>
                <a:spcPct val="120000"/>
              </a:lnSpc>
            </a:pPr>
            <a:r>
              <a:rPr lang="en-US" altLang="zh-CN" sz="2000" b="0" u="none">
                <a:latin typeface="宋体" panose="02010600030101010101" pitchFamily="2" charset="-122"/>
                <a:ea typeface="宋体" panose="02010600030101010101" pitchFamily="2" charset="-122"/>
                <a:cs typeface="宋体" panose="02010600030101010101" pitchFamily="2" charset="-122"/>
              </a:rPr>
              <a:t>    </a:t>
            </a:r>
            <a:r>
              <a:rPr lang="zh-CN" altLang="en-US" sz="2000" b="0" u="none">
                <a:latin typeface="宋体" panose="02010600030101010101" pitchFamily="2" charset="-122"/>
                <a:ea typeface="宋体" panose="02010600030101010101" pitchFamily="2" charset="-122"/>
                <a:cs typeface="宋体" panose="02010600030101010101" pitchFamily="2" charset="-122"/>
              </a:rPr>
              <a:t>有一类问题，其中含有复杂的条件选择，用前面介绍的程序流程图、盒图、</a:t>
            </a:r>
            <a:r>
              <a:rPr lang="en-US" altLang="zh-CN" sz="2000" b="0" u="none">
                <a:latin typeface="宋体" panose="02010600030101010101" pitchFamily="2" charset="-122"/>
                <a:ea typeface="宋体" panose="02010600030101010101" pitchFamily="2" charset="-122"/>
                <a:cs typeface="宋体" panose="02010600030101010101" pitchFamily="2" charset="-122"/>
              </a:rPr>
              <a:t>PAD</a:t>
            </a:r>
            <a:r>
              <a:rPr lang="zh-CN" altLang="en-US" sz="2000" b="0" u="none">
                <a:latin typeface="宋体" panose="02010600030101010101" pitchFamily="2" charset="-122"/>
                <a:ea typeface="宋体" panose="02010600030101010101" pitchFamily="2" charset="-122"/>
                <a:cs typeface="宋体" panose="02010600030101010101" pitchFamily="2" charset="-122"/>
              </a:rPr>
              <a:t>图、结构图等都不易表达清楚。此时，可用判定表或判定树清晰地表示复杂的条件组合与应做的工作之间的对应关系。</a:t>
            </a:r>
          </a:p>
          <a:p>
            <a:r>
              <a:rPr lang="zh-CN" altLang="en-US" sz="2000" b="0" u="none">
                <a:latin typeface="宋体" panose="02010600030101010101" pitchFamily="2" charset="-122"/>
                <a:ea typeface="宋体" panose="02010600030101010101" pitchFamily="2" charset="-122"/>
                <a:cs typeface="宋体" panose="02010600030101010101" pitchFamily="2" charset="-122"/>
              </a:rPr>
              <a:t>（</a:t>
            </a:r>
            <a:r>
              <a:rPr lang="en-US" altLang="zh-CN" sz="2000" b="0" u="none">
                <a:latin typeface="宋体" panose="02010600030101010101" pitchFamily="2" charset="-122"/>
                <a:ea typeface="宋体" panose="02010600030101010101" pitchFamily="2" charset="-122"/>
                <a:cs typeface="宋体" panose="02010600030101010101" pitchFamily="2" charset="-122"/>
              </a:rPr>
              <a:t>1</a:t>
            </a:r>
            <a:r>
              <a:rPr lang="zh-CN" altLang="en-US" sz="2000" b="0" u="none">
                <a:latin typeface="宋体" panose="02010600030101010101" pitchFamily="2" charset="-122"/>
                <a:ea typeface="宋体" panose="02010600030101010101" pitchFamily="2" charset="-122"/>
                <a:cs typeface="宋体" panose="02010600030101010101" pitchFamily="2" charset="-122"/>
              </a:rPr>
              <a:t>）判定表的组成：左上部列出所有条件；左下部列出所有可能做的工作；右上部每一列表示出各种条件的一种可能组合，所有列表示条件组合的全部可能情况；右下部的每一列是和每一种条件组合所对应的应做的工作。</a:t>
            </a:r>
          </a:p>
          <a:p>
            <a:r>
              <a:rPr lang="zh-CN" altLang="en-US" sz="2000" b="0" u="none">
                <a:latin typeface="宋体" panose="02010600030101010101" pitchFamily="2" charset="-122"/>
                <a:ea typeface="宋体" panose="02010600030101010101" pitchFamily="2" charset="-122"/>
                <a:cs typeface="宋体" panose="02010600030101010101" pitchFamily="2" charset="-122"/>
              </a:rPr>
              <a:t>（</a:t>
            </a:r>
            <a:r>
              <a:rPr lang="en-US" altLang="zh-CN" sz="2000" b="0" u="none">
                <a:latin typeface="宋体" panose="02010600030101010101" pitchFamily="2" charset="-122"/>
                <a:ea typeface="宋体" panose="02010600030101010101" pitchFamily="2" charset="-122"/>
                <a:cs typeface="宋体" panose="02010600030101010101" pitchFamily="2" charset="-122"/>
              </a:rPr>
              <a:t>2</a:t>
            </a:r>
            <a:r>
              <a:rPr lang="zh-CN" altLang="en-US" sz="2000" b="0" u="none">
                <a:latin typeface="宋体" panose="02010600030101010101" pitchFamily="2" charset="-122"/>
                <a:ea typeface="宋体" panose="02010600030101010101" pitchFamily="2" charset="-122"/>
                <a:cs typeface="宋体" panose="02010600030101010101" pitchFamily="2" charset="-122"/>
              </a:rPr>
              <a:t>）判定表中的符号：右上部用“</a:t>
            </a:r>
            <a:r>
              <a:rPr lang="en-US" altLang="zh-CN" sz="2000" b="0" u="none">
                <a:latin typeface="Times New Roman" panose="02020603050405020304" charset="0"/>
                <a:ea typeface="Times New Roman" panose="02020603050405020304" charset="0"/>
                <a:cs typeface="Times New Roman" panose="02020603050405020304" charset="0"/>
              </a:rPr>
              <a:t>T</a:t>
            </a:r>
            <a:r>
              <a:rPr lang="en-US" altLang="zh-CN" sz="2000" b="0" u="none">
                <a:latin typeface="宋体" panose="02010600030101010101" pitchFamily="2" charset="-122"/>
                <a:ea typeface="宋体" panose="02010600030101010101" pitchFamily="2" charset="-122"/>
                <a:cs typeface="宋体" panose="02010600030101010101" pitchFamily="2" charset="-122"/>
              </a:rPr>
              <a:t>”</a:t>
            </a:r>
            <a:r>
              <a:rPr lang="zh-CN" altLang="en-US" sz="2000" b="0" u="none">
                <a:latin typeface="宋体" panose="02010600030101010101" pitchFamily="2" charset="-122"/>
                <a:ea typeface="宋体" panose="02010600030101010101" pitchFamily="2" charset="-122"/>
                <a:cs typeface="宋体" panose="02010600030101010101" pitchFamily="2" charset="-122"/>
              </a:rPr>
              <a:t>表示左侧对应的条件成立，用“</a:t>
            </a:r>
            <a:r>
              <a:rPr lang="en-US" altLang="zh-CN" sz="2000" b="0" u="none">
                <a:latin typeface="Times New Roman" panose="02020603050405020304" charset="0"/>
                <a:ea typeface="Times New Roman" panose="02020603050405020304" charset="0"/>
                <a:cs typeface="Times New Roman" panose="02020603050405020304" charset="0"/>
              </a:rPr>
              <a:t>F</a:t>
            </a:r>
            <a:r>
              <a:rPr lang="en-US" altLang="zh-CN" sz="2000" b="0" u="none">
                <a:latin typeface="宋体" panose="02010600030101010101" pitchFamily="2" charset="-122"/>
                <a:ea typeface="宋体" panose="02010600030101010101" pitchFamily="2" charset="-122"/>
                <a:cs typeface="宋体" panose="02010600030101010101" pitchFamily="2" charset="-122"/>
              </a:rPr>
              <a:t>”</a:t>
            </a:r>
            <a:r>
              <a:rPr lang="zh-CN" altLang="en-US" sz="2000" b="0" u="none">
                <a:latin typeface="宋体" panose="02010600030101010101" pitchFamily="2" charset="-122"/>
                <a:ea typeface="宋体" panose="02010600030101010101" pitchFamily="2" charset="-122"/>
                <a:cs typeface="宋体" panose="02010600030101010101" pitchFamily="2" charset="-122"/>
              </a:rPr>
              <a:t>表示左侧对应的条件不成立，空白表示条件成立与否不影响。右下部画“</a:t>
            </a:r>
            <a:r>
              <a:rPr lang="en-US" altLang="zh-CN" sz="2000" b="0" u="none">
                <a:latin typeface="宋体" panose="02010600030101010101" pitchFamily="2" charset="-122"/>
                <a:ea typeface="宋体" panose="02010600030101010101" pitchFamily="2" charset="-122"/>
                <a:cs typeface="宋体" panose="02010600030101010101" pitchFamily="2" charset="-122"/>
              </a:rPr>
              <a:t>×”</a:t>
            </a:r>
            <a:r>
              <a:rPr lang="zh-CN" altLang="en-US" sz="2000" b="0" u="none">
                <a:latin typeface="宋体" panose="02010600030101010101" pitchFamily="2" charset="-122"/>
                <a:ea typeface="宋体" panose="02010600030101010101" pitchFamily="2" charset="-122"/>
                <a:cs typeface="宋体" panose="02010600030101010101" pitchFamily="2" charset="-122"/>
              </a:rPr>
              <a:t>表示在该列上边规定的条件下做该行左边列出的那项工作，空白表示不做该项工作。</a:t>
            </a:r>
          </a:p>
          <a:p>
            <a:r>
              <a:rPr lang="zh-CN" altLang="en-US" sz="2000" b="0" u="none">
                <a:latin typeface="宋体" panose="02010600030101010101" pitchFamily="2" charset="-122"/>
                <a:ea typeface="宋体" panose="02010600030101010101" pitchFamily="2" charset="-122"/>
                <a:cs typeface="宋体" panose="02010600030101010101" pitchFamily="2" charset="-122"/>
              </a:rPr>
              <a:t>    判定表不适合于做通用的设计工具，不能表示顺序结构和循环结构。</a:t>
            </a:r>
            <a:endParaRPr lang="zh-CN" altLang="en-US" sz="2000"/>
          </a:p>
        </p:txBody>
      </p:sp>
    </p:spTree>
  </p:cSld>
  <p:clrMapOvr>
    <a:masterClrMapping/>
  </p:clrMapOvr>
  <p:transition>
    <p:pull dir="d"/>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endParaRPr lang="zh-CN" altLang="en-US" dirty="0"/>
          </a:p>
        </p:txBody>
      </p:sp>
      <p:grpSp>
        <p:nvGrpSpPr>
          <p:cNvPr id="2" name="组合 1"/>
          <p:cNvGrpSpPr/>
          <p:nvPr/>
        </p:nvGrpSpPr>
        <p:grpSpPr>
          <a:xfrm>
            <a:off x="737235" y="1419225"/>
            <a:ext cx="10575290" cy="3498215"/>
            <a:chOff x="1275" y="2210"/>
            <a:chExt cx="16654" cy="5509"/>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500" y="3150"/>
              <a:ext cx="16429" cy="4569"/>
              <a:chOff x="1500" y="3150"/>
              <a:chExt cx="16429" cy="4569"/>
            </a:xfrm>
          </p:grpSpPr>
          <p:sp>
            <p:nvSpPr>
              <p:cNvPr id="22" name="TextBox 21"/>
              <p:cNvSpPr txBox="1"/>
              <p:nvPr/>
            </p:nvSpPr>
            <p:spPr>
              <a:xfrm>
                <a:off x="3431" y="3419"/>
                <a:ext cx="13522" cy="624"/>
              </a:xfrm>
              <a:prstGeom prst="rect">
                <a:avLst/>
              </a:prstGeom>
              <a:noFill/>
            </p:spPr>
            <p:txBody>
              <a:bodyPr wrap="square">
                <a:spAutoFit/>
              </a:bodyPr>
              <a:lstStyle/>
              <a:p>
                <a:r>
                  <a:rPr sz="2000" dirty="0">
                    <a:sym typeface="+mn-ea"/>
                  </a:rPr>
                  <a:t>用判定表表示某校各种不同职称教师的课时津贴费。</a:t>
                </a:r>
              </a:p>
            </p:txBody>
          </p:sp>
          <p:sp>
            <p:nvSpPr>
              <p:cNvPr id="24" name="矩形 23"/>
              <p:cNvSpPr>
                <a:spLocks noChangeAspect="1"/>
              </p:cNvSpPr>
              <p:nvPr/>
            </p:nvSpPr>
            <p:spPr>
              <a:xfrm>
                <a:off x="1500" y="4725"/>
                <a:ext cx="16429" cy="2994"/>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3-7</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7" y="5027"/>
                <a:ext cx="15536" cy="2448"/>
              </a:xfrm>
              <a:prstGeom prst="rect">
                <a:avLst/>
              </a:prstGeom>
              <a:solidFill>
                <a:schemeClr val="bg1">
                  <a:lumMod val="95000"/>
                </a:schemeClr>
              </a:solidFill>
            </p:spPr>
            <p:txBody>
              <a:bodyPr wrap="square">
                <a:spAutoFit/>
              </a:bodyPr>
              <a:lstStyle/>
              <a:p>
                <a:pPr fontAlgn="auto">
                  <a:lnSpc>
                    <a:spcPct val="120000"/>
                  </a:lnSpc>
                </a:pPr>
                <a:r>
                  <a:rPr lang="en-US" dirty="0">
                    <a:latin typeface="Times New Roman" panose="02020603050405020304" charset="0"/>
                    <a:ea typeface="宋体" panose="02010600030101010101" pitchFamily="2" charset="-122"/>
                  </a:rPr>
                  <a:t>        </a:t>
                </a:r>
                <a:r>
                  <a:rPr sz="2000" dirty="0">
                    <a:latin typeface="Times New Roman" panose="02020603050405020304" charset="0"/>
                    <a:ea typeface="宋体" panose="02010600030101010101" pitchFamily="2" charset="-122"/>
                  </a:rPr>
                  <a:t>某校对各种不同职称教师，根据其是本校专职教师还是外聘兼职教师，决定其讲课的课时津贴费。本校专职教师每课时津贴费：教授200元，副教授150元，讲师100元，助教80元。外聘兼职教师每课时津贴费：教授250元，副教授200元，讲师150元，助教100元。</a:t>
                </a:r>
              </a:p>
            </p:txBody>
          </p:sp>
        </p:grpSp>
      </p:grpSp>
    </p:spTree>
  </p:cSld>
  <p:clrMapOvr>
    <a:masterClrMapping/>
  </p:clrMapOvr>
  <p:transition>
    <p:pull dir="d"/>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endParaRPr lang="zh-CN" altLang="en-US" dirty="0"/>
          </a:p>
        </p:txBody>
      </p:sp>
      <p:grpSp>
        <p:nvGrpSpPr>
          <p:cNvPr id="2" name="组合 1"/>
          <p:cNvGrpSpPr/>
          <p:nvPr/>
        </p:nvGrpSpPr>
        <p:grpSpPr>
          <a:xfrm>
            <a:off x="737235" y="1419225"/>
            <a:ext cx="10575925" cy="4984750"/>
            <a:chOff x="1275" y="2210"/>
            <a:chExt cx="16655" cy="7850"/>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500" y="3150"/>
              <a:ext cx="16430" cy="6910"/>
              <a:chOff x="1500" y="3150"/>
              <a:chExt cx="16430" cy="6910"/>
            </a:xfrm>
          </p:grpSpPr>
          <p:sp>
            <p:nvSpPr>
              <p:cNvPr id="22" name="TextBox 21"/>
              <p:cNvSpPr txBox="1"/>
              <p:nvPr/>
            </p:nvSpPr>
            <p:spPr>
              <a:xfrm>
                <a:off x="3431" y="3419"/>
                <a:ext cx="13522" cy="624"/>
              </a:xfrm>
              <a:prstGeom prst="rect">
                <a:avLst/>
              </a:prstGeom>
              <a:noFill/>
            </p:spPr>
            <p:txBody>
              <a:bodyPr wrap="square">
                <a:spAutoFit/>
              </a:bodyPr>
              <a:lstStyle/>
              <a:p>
                <a:r>
                  <a:rPr sz="2000" dirty="0">
                    <a:sym typeface="+mn-ea"/>
                  </a:rPr>
                  <a:t>用判定表表示某校各种不同职称教师的课时津贴费。</a:t>
                </a:r>
              </a:p>
            </p:txBody>
          </p:sp>
          <p:sp>
            <p:nvSpPr>
              <p:cNvPr id="24" name="矩形 23"/>
              <p:cNvSpPr>
                <a:spLocks noChangeAspect="1"/>
              </p:cNvSpPr>
              <p:nvPr/>
            </p:nvSpPr>
            <p:spPr>
              <a:xfrm>
                <a:off x="1501" y="4275"/>
                <a:ext cx="16429" cy="5785"/>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3-7</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4" name="TextBox 33"/>
              <p:cNvSpPr txBox="1"/>
              <p:nvPr/>
            </p:nvSpPr>
            <p:spPr>
              <a:xfrm>
                <a:off x="1947" y="4509"/>
                <a:ext cx="15536" cy="5328"/>
              </a:xfrm>
              <a:prstGeom prst="rect">
                <a:avLst/>
              </a:prstGeom>
              <a:solidFill>
                <a:schemeClr val="bg1">
                  <a:lumMod val="95000"/>
                </a:schemeClr>
              </a:solidFill>
            </p:spPr>
            <p:txBody>
              <a:bodyPr wrap="square">
                <a:spAutoFit/>
              </a:bodyPr>
              <a:lstStyle/>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p:txBody>
          </p:sp>
        </p:grpSp>
      </p:grpSp>
      <p:graphicFrame>
        <p:nvGraphicFramePr>
          <p:cNvPr id="4" name="表格 -1"/>
          <p:cNvGraphicFramePr/>
          <p:nvPr/>
        </p:nvGraphicFramePr>
        <p:xfrm>
          <a:off x="1507490" y="3101340"/>
          <a:ext cx="9177020" cy="2943867"/>
        </p:xfrm>
        <a:graphic>
          <a:graphicData uri="http://schemas.openxmlformats.org/drawingml/2006/table">
            <a:tbl>
              <a:tblPr firstRow="1" bandRow="1">
                <a:tableStyleId>{5940675A-B579-460E-94D1-54222C63F5DA}</a:tableStyleId>
              </a:tblPr>
              <a:tblGrid>
                <a:gridCol w="1918335">
                  <a:extLst>
                    <a:ext uri="{9D8B030D-6E8A-4147-A177-3AD203B41FA5}">
                      <a16:colId xmlns:a16="http://schemas.microsoft.com/office/drawing/2014/main" val="20000"/>
                    </a:ext>
                  </a:extLst>
                </a:gridCol>
                <a:gridCol w="7258685">
                  <a:extLst>
                    <a:ext uri="{9D8B030D-6E8A-4147-A177-3AD203B41FA5}">
                      <a16:colId xmlns:a16="http://schemas.microsoft.com/office/drawing/2014/main" val="20001"/>
                    </a:ext>
                  </a:extLst>
                </a:gridCol>
              </a:tblGrid>
              <a:tr h="274320">
                <a:tc>
                  <a:txBody>
                    <a:bodyPr/>
                    <a:lstStyle/>
                    <a:p>
                      <a:pPr marL="0" indent="0" algn="ctr">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教授</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 T	F	F	F	T	F	F	F</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320">
                <a:tc>
                  <a:txBody>
                    <a:bodyPr/>
                    <a:lstStyle/>
                    <a:p>
                      <a:pPr marL="0" indent="0" algn="ctr">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副教授</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 F	T	F	F	F	T	F	F</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4805">
                <a:tc>
                  <a:txBody>
                    <a:bodyPr/>
                    <a:lstStyle/>
                    <a:p>
                      <a:pPr marL="0" indent="0" algn="ctr">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讲师</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 F	F	T	F	F	F	T	F</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190">
                <a:tc>
                  <a:txBody>
                    <a:bodyPr/>
                    <a:lstStyle/>
                    <a:p>
                      <a:pPr marL="0" indent="0" algn="ctr">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助教</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 F	F	F	T	F	F	F	T</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20">
                <a:tc>
                  <a:txBody>
                    <a:bodyPr/>
                    <a:lstStyle/>
                    <a:p>
                      <a:pPr marL="0" indent="0" algn="ctr">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专职</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 T	T	T	T	F	F	F	F</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20">
                <a:tc>
                  <a:txBody>
                    <a:bodyPr/>
                    <a:lstStyle/>
                    <a:p>
                      <a:pPr marL="0" indent="0" algn="ctr">
                        <a:buNone/>
                      </a:pPr>
                      <a:r>
                        <a:rPr lang="en-US" altLang="zh-CN" sz="1800" b="0" u="none" dirty="0">
                          <a:latin typeface="宋体" panose="02010600030101010101" pitchFamily="2" charset="-122"/>
                          <a:ea typeface="宋体" panose="02010600030101010101" pitchFamily="2" charset="-122"/>
                          <a:cs typeface="宋体" panose="02010600030101010101" pitchFamily="2" charset="-122"/>
                        </a:rPr>
                        <a:t>250</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20">
                <a:tc>
                  <a:txBody>
                    <a:bodyPr/>
                    <a:lstStyle/>
                    <a:p>
                      <a:pPr marL="0" indent="0" algn="ctr">
                        <a:buNone/>
                      </a:pPr>
                      <a:r>
                        <a:rPr lang="en-US" altLang="zh-CN" sz="1800" b="0" u="none" dirty="0">
                          <a:latin typeface="宋体" panose="02010600030101010101" pitchFamily="2" charset="-122"/>
                          <a:ea typeface="宋体" panose="02010600030101010101" pitchFamily="2" charset="-122"/>
                          <a:cs typeface="宋体" panose="02010600030101010101" pitchFamily="2" charset="-122"/>
                        </a:rPr>
                        <a:t>200</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20">
                <a:tc>
                  <a:txBody>
                    <a:bodyPr/>
                    <a:lstStyle/>
                    <a:p>
                      <a:pPr marL="0" indent="0" algn="ctr">
                        <a:buNone/>
                      </a:pPr>
                      <a:r>
                        <a:rPr lang="en-US" altLang="zh-CN" sz="1800" b="0" u="none" dirty="0">
                          <a:latin typeface="宋体" panose="02010600030101010101" pitchFamily="2" charset="-122"/>
                          <a:ea typeface="宋体" panose="02010600030101010101" pitchFamily="2" charset="-122"/>
                          <a:cs typeface="宋体" panose="02010600030101010101" pitchFamily="2" charset="-122"/>
                        </a:rPr>
                        <a:t>150</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	×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1625">
                <a:tc>
                  <a:txBody>
                    <a:bodyPr/>
                    <a:lstStyle/>
                    <a:p>
                      <a:pPr marL="0" indent="0" algn="ctr">
                        <a:buNone/>
                      </a:pPr>
                      <a:r>
                        <a:rPr lang="en-US" altLang="zh-CN" sz="1800" b="0" u="none" dirty="0">
                          <a:latin typeface="宋体" panose="02010600030101010101" pitchFamily="2" charset="-122"/>
                          <a:ea typeface="宋体" panose="02010600030101010101" pitchFamily="2" charset="-122"/>
                          <a:cs typeface="宋体" panose="02010600030101010101" pitchFamily="2" charset="-122"/>
                        </a:rPr>
                        <a:t>100</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		×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20">
                <a:tc>
                  <a:txBody>
                    <a:bodyPr/>
                    <a:lstStyle/>
                    <a:p>
                      <a:pPr marL="0" indent="0" algn="ctr">
                        <a:buNone/>
                      </a:pPr>
                      <a:r>
                        <a:rPr lang="en-US" altLang="zh-CN" sz="1800" b="0" u="none" dirty="0">
                          <a:latin typeface="宋体" panose="02010600030101010101" pitchFamily="2" charset="-122"/>
                          <a:ea typeface="宋体" panose="02010600030101010101" pitchFamily="2" charset="-122"/>
                          <a:cs typeface="宋体" panose="02010600030101010101" pitchFamily="2" charset="-122"/>
                        </a:rPr>
                        <a:t>80</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800" b="0" u="none" dirty="0">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transition>
    <p:pull dir="d"/>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dirty="0">
                <a:ln>
                  <a:noFill/>
                </a:ln>
                <a:solidFill>
                  <a:schemeClr val="tx1"/>
                </a:solidFill>
                <a:effectLst/>
                <a:uLnTx/>
                <a:uFillTx/>
                <a:latin typeface="微软雅黑" panose="020B0503020204020204" charset="-122"/>
                <a:ea typeface="微软雅黑" panose="020B0503020204020204" charset="-122"/>
              </a:rPr>
              <a:t>判定树</a:t>
            </a:r>
          </a:p>
        </p:txBody>
      </p:sp>
      <p:sp>
        <p:nvSpPr>
          <p:cNvPr id="4" name="文本框 3"/>
          <p:cNvSpPr txBox="1"/>
          <p:nvPr/>
        </p:nvSpPr>
        <p:spPr>
          <a:xfrm>
            <a:off x="768976" y="2658745"/>
            <a:ext cx="461665" cy="1733488"/>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3.5.5   </a:t>
            </a:r>
            <a:r>
              <a:rPr lang="zh-CN" altLang="en-US" spc="160" dirty="0">
                <a:solidFill>
                  <a:schemeClr val="bg1"/>
                </a:solidFill>
                <a:latin typeface="微软雅黑" panose="020B0503020204020204" charset="-122"/>
                <a:ea typeface="微软雅黑" panose="020B0503020204020204" charset="-122"/>
              </a:rPr>
              <a:t>判定树</a:t>
            </a:r>
          </a:p>
        </p:txBody>
      </p:sp>
      <p:sp>
        <p:nvSpPr>
          <p:cNvPr id="101" name="文本框 100"/>
          <p:cNvSpPr txBox="1"/>
          <p:nvPr/>
        </p:nvSpPr>
        <p:spPr>
          <a:xfrm>
            <a:off x="1762125" y="3286125"/>
            <a:ext cx="9020175" cy="1815882"/>
          </a:xfrm>
          <a:prstGeom prst="rect">
            <a:avLst/>
          </a:prstGeom>
          <a:noFill/>
          <a:ln w="9525">
            <a:noFill/>
          </a:ln>
        </p:spPr>
        <p:txBody>
          <a:bodyPr wrap="square">
            <a:spAutoFit/>
          </a:bodyPr>
          <a:lstStyle/>
          <a:p>
            <a:r>
              <a:rPr lang="zh-CN" altLang="en-US" sz="2800" dirty="0"/>
              <a:t>       判定表可以清晰地表示复杂的条件组合所对应的处理，判定树和判定表一样，也能表明复杂的条件组合与对应处理之间的关系。由于判定树是一种图形表示方式，因而更易被用户理解。</a:t>
            </a:r>
          </a:p>
        </p:txBody>
      </p:sp>
    </p:spTree>
  </p:cSld>
  <p:clrMapOvr>
    <a:masterClrMapping/>
  </p:clrMapOvr>
  <p:transition>
    <p:pull dir="d"/>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endParaRPr lang="zh-CN" altLang="en-US" dirty="0"/>
          </a:p>
        </p:txBody>
      </p:sp>
      <p:sp>
        <p:nvSpPr>
          <p:cNvPr id="19" name="TextBox 6"/>
          <p:cNvSpPr txBox="1"/>
          <p:nvPr/>
        </p:nvSpPr>
        <p:spPr>
          <a:xfrm>
            <a:off x="737235" y="1419225"/>
            <a:ext cx="8696325" cy="57277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880110" y="2016125"/>
            <a:ext cx="10433050" cy="4387850"/>
            <a:chOff x="1500" y="3150"/>
            <a:chExt cx="16430" cy="6910"/>
          </a:xfrm>
        </p:grpSpPr>
        <p:sp>
          <p:nvSpPr>
            <p:cNvPr id="22" name="TextBox 21"/>
            <p:cNvSpPr txBox="1"/>
            <p:nvPr/>
          </p:nvSpPr>
          <p:spPr>
            <a:xfrm>
              <a:off x="3431" y="3419"/>
              <a:ext cx="13522" cy="624"/>
            </a:xfrm>
            <a:prstGeom prst="rect">
              <a:avLst/>
            </a:prstGeom>
            <a:noFill/>
          </p:spPr>
          <p:txBody>
            <a:bodyPr wrap="square">
              <a:spAutoFit/>
            </a:bodyPr>
            <a:lstStyle/>
            <a:p>
              <a:r>
                <a:rPr sz="2000" dirty="0">
                  <a:sym typeface="+mn-ea"/>
                </a:rPr>
                <a:t>用判定树表示某校各种不同职称教师的课时津贴费。</a:t>
              </a:r>
            </a:p>
          </p:txBody>
        </p:sp>
        <p:sp>
          <p:nvSpPr>
            <p:cNvPr id="24" name="矩形 23"/>
            <p:cNvSpPr>
              <a:spLocks noChangeAspect="1"/>
            </p:cNvSpPr>
            <p:nvPr/>
          </p:nvSpPr>
          <p:spPr>
            <a:xfrm>
              <a:off x="1501" y="4275"/>
              <a:ext cx="16429" cy="5785"/>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3-8</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4" name="TextBox 33"/>
            <p:cNvSpPr txBox="1"/>
            <p:nvPr/>
          </p:nvSpPr>
          <p:spPr>
            <a:xfrm>
              <a:off x="1946" y="4504"/>
              <a:ext cx="15536" cy="5328"/>
            </a:xfrm>
            <a:prstGeom prst="rect">
              <a:avLst/>
            </a:prstGeom>
            <a:solidFill>
              <a:schemeClr val="bg1">
                <a:lumMod val="95000"/>
              </a:schemeClr>
            </a:solidFill>
          </p:spPr>
          <p:txBody>
            <a:bodyPr wrap="square">
              <a:spAutoFit/>
            </a:bodyPr>
            <a:lstStyle/>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a:p>
              <a:pPr fontAlgn="auto">
                <a:lnSpc>
                  <a:spcPct val="120000"/>
                </a:lnSpc>
              </a:pPr>
              <a:endParaRPr sz="2000" dirty="0">
                <a:latin typeface="Times New Roman" panose="02020603050405020304" charset="0"/>
                <a:ea typeface="宋体" panose="02010600030101010101" pitchFamily="2" charset="-122"/>
              </a:endParaRPr>
            </a:p>
          </p:txBody>
        </p:sp>
      </p:grpSp>
      <p:grpSp>
        <p:nvGrpSpPr>
          <p:cNvPr id="1073752632" name="组合 1073752631"/>
          <p:cNvGrpSpPr/>
          <p:nvPr/>
        </p:nvGrpSpPr>
        <p:grpSpPr>
          <a:xfrm>
            <a:off x="6506912" y="3013075"/>
            <a:ext cx="4068378" cy="3373120"/>
            <a:chOff x="2957" y="8083"/>
            <a:chExt cx="3287" cy="2586"/>
          </a:xfrm>
        </p:grpSpPr>
        <p:sp>
          <p:nvSpPr>
            <p:cNvPr id="1073752633" name="任意多边形 1073752632"/>
            <p:cNvSpPr/>
            <p:nvPr/>
          </p:nvSpPr>
          <p:spPr>
            <a:xfrm rot="16200000">
              <a:off x="3419" y="9221"/>
              <a:ext cx="1436" cy="308"/>
            </a:xfrm>
            <a:custGeom>
              <a:avLst/>
              <a:gdLst/>
              <a:ahLst/>
              <a:cxnLst/>
              <a:rect l="0" t="0" r="0" b="0"/>
              <a:pathLst>
                <a:path w="6927" h="297">
                  <a:moveTo>
                    <a:pt x="0" y="297"/>
                  </a:moveTo>
                  <a:lnTo>
                    <a:pt x="0" y="0"/>
                  </a:lnTo>
                  <a:lnTo>
                    <a:pt x="6927" y="0"/>
                  </a:lnTo>
                  <a:lnTo>
                    <a:pt x="6927" y="297"/>
                  </a:lnTo>
                </a:path>
              </a:pathLst>
            </a:custGeom>
            <a:noFill/>
            <a:ln w="9525" cap="flat" cmpd="sng">
              <a:solidFill>
                <a:srgbClr val="000000">
                  <a:alpha val="100000"/>
                </a:srgbClr>
              </a:solidFill>
              <a:prstDash val="solid"/>
              <a:headEnd type="none" w="med" len="med"/>
              <a:tailEnd type="none" w="med" len="med"/>
            </a:ln>
          </p:spPr>
          <p:txBody>
            <a:bodyPr/>
            <a:lstStyle/>
            <a:p>
              <a:endParaRPr lang="zh-CN" altLang="en-US"/>
            </a:p>
          </p:txBody>
        </p:sp>
        <p:sp>
          <p:nvSpPr>
            <p:cNvPr id="1073752634" name="文本框 1073752633"/>
            <p:cNvSpPr txBox="1"/>
            <p:nvPr/>
          </p:nvSpPr>
          <p:spPr>
            <a:xfrm>
              <a:off x="2957" y="9248"/>
              <a:ext cx="750" cy="255"/>
            </a:xfrm>
            <a:prstGeom prst="rect">
              <a:avLst/>
            </a:prstGeom>
            <a:noFill/>
            <a:ln w="9525">
              <a:noFill/>
            </a:ln>
          </p:spPr>
          <p:txBody>
            <a:bodyPr wrap="square" lIns="0" tIns="0" rIns="0" bIns="0"/>
            <a:lstStyle/>
            <a:p>
              <a:r>
                <a:rPr lang="zh-CN" altLang="en-US"/>
                <a:t>课时津贴</a:t>
              </a:r>
            </a:p>
            <a:p>
              <a:endParaRPr lang="zh-CN" altLang="en-US"/>
            </a:p>
          </p:txBody>
        </p:sp>
        <p:cxnSp>
          <p:nvCxnSpPr>
            <p:cNvPr id="1073752635" name="直接箭头连接符 1073752634"/>
            <p:cNvCxnSpPr/>
            <p:nvPr/>
          </p:nvCxnSpPr>
          <p:spPr>
            <a:xfrm flipV="1">
              <a:off x="3697" y="9377"/>
              <a:ext cx="283" cy="0"/>
            </a:xfrm>
            <a:prstGeom prst="straightConnector1">
              <a:avLst/>
            </a:prstGeom>
            <a:ln w="9525" cap="flat" cmpd="sng">
              <a:solidFill>
                <a:srgbClr val="000000"/>
              </a:solidFill>
              <a:prstDash val="solid"/>
              <a:headEnd type="none" w="med" len="med"/>
              <a:tailEnd type="none" w="med" len="med"/>
            </a:ln>
          </p:spPr>
        </p:cxnSp>
        <p:grpSp>
          <p:nvGrpSpPr>
            <p:cNvPr id="1073752636" name="组合 1073752635"/>
            <p:cNvGrpSpPr/>
            <p:nvPr/>
          </p:nvGrpSpPr>
          <p:grpSpPr>
            <a:xfrm>
              <a:off x="4249" y="8083"/>
              <a:ext cx="1995" cy="1149"/>
              <a:chOff x="4249" y="8083"/>
              <a:chExt cx="1995" cy="1149"/>
            </a:xfrm>
          </p:grpSpPr>
          <p:sp>
            <p:nvSpPr>
              <p:cNvPr id="1073752637" name="文本框 1073752636"/>
              <p:cNvSpPr txBox="1"/>
              <p:nvPr/>
            </p:nvSpPr>
            <p:spPr>
              <a:xfrm>
                <a:off x="4249" y="8527"/>
                <a:ext cx="567" cy="255"/>
              </a:xfrm>
              <a:prstGeom prst="rect">
                <a:avLst/>
              </a:prstGeom>
              <a:noFill/>
              <a:ln w="9525">
                <a:noFill/>
              </a:ln>
            </p:spPr>
            <p:txBody>
              <a:bodyPr wrap="square" lIns="0" tIns="0" rIns="0" bIns="0"/>
              <a:lstStyle/>
              <a:p>
                <a:pPr algn="ctr"/>
                <a:r>
                  <a:rPr lang="zh-CN" altLang="en-US" dirty="0"/>
                  <a:t>兼职</a:t>
                </a:r>
              </a:p>
              <a:p>
                <a:endParaRPr lang="zh-CN" altLang="en-US" dirty="0"/>
              </a:p>
            </p:txBody>
          </p:sp>
          <p:sp>
            <p:nvSpPr>
              <p:cNvPr id="1073752638" name="文本框 1073752637"/>
              <p:cNvSpPr txBox="1"/>
              <p:nvPr/>
            </p:nvSpPr>
            <p:spPr>
              <a:xfrm>
                <a:off x="5108" y="8083"/>
                <a:ext cx="1136" cy="255"/>
              </a:xfrm>
              <a:prstGeom prst="rect">
                <a:avLst/>
              </a:prstGeom>
              <a:noFill/>
              <a:ln w="9525">
                <a:noFill/>
              </a:ln>
            </p:spPr>
            <p:txBody>
              <a:bodyPr wrap="square" lIns="0" tIns="0" rIns="0" bIns="0"/>
              <a:lstStyle/>
              <a:p>
                <a:r>
                  <a:rPr lang="zh-CN" altLang="en-US"/>
                  <a:t>教授     250</a:t>
                </a:r>
              </a:p>
              <a:p>
                <a:endParaRPr lang="zh-CN" altLang="en-US"/>
              </a:p>
            </p:txBody>
          </p:sp>
          <p:sp>
            <p:nvSpPr>
              <p:cNvPr id="1073752639" name="任意多边形 1073752638"/>
              <p:cNvSpPr/>
              <p:nvPr/>
            </p:nvSpPr>
            <p:spPr>
              <a:xfrm rot="16200000">
                <a:off x="4588" y="8603"/>
                <a:ext cx="897" cy="113"/>
              </a:xfrm>
              <a:custGeom>
                <a:avLst/>
                <a:gdLst/>
                <a:ahLst/>
                <a:cxnLst/>
                <a:rect l="0" t="0" r="0" b="0"/>
                <a:pathLst>
                  <a:path w="6927" h="297">
                    <a:moveTo>
                      <a:pt x="0" y="297"/>
                    </a:moveTo>
                    <a:lnTo>
                      <a:pt x="0" y="0"/>
                    </a:lnTo>
                    <a:lnTo>
                      <a:pt x="6927" y="0"/>
                    </a:lnTo>
                    <a:lnTo>
                      <a:pt x="6927" y="297"/>
                    </a:lnTo>
                  </a:path>
                </a:pathLst>
              </a:custGeom>
              <a:noFill/>
              <a:ln w="9525" cap="flat" cmpd="sng">
                <a:solidFill>
                  <a:srgbClr val="000000">
                    <a:alpha val="100000"/>
                  </a:srgbClr>
                </a:solidFill>
                <a:prstDash val="solid"/>
                <a:headEnd type="none" w="med" len="med"/>
                <a:tailEnd type="none" w="med" len="med"/>
              </a:ln>
            </p:spPr>
            <p:txBody>
              <a:bodyPr/>
              <a:lstStyle/>
              <a:p>
                <a:endParaRPr lang="zh-CN" altLang="en-US"/>
              </a:p>
            </p:txBody>
          </p:sp>
          <p:cxnSp>
            <p:nvCxnSpPr>
              <p:cNvPr id="1073752640" name="直接箭头连接符 1073752639"/>
              <p:cNvCxnSpPr/>
              <p:nvPr/>
            </p:nvCxnSpPr>
            <p:spPr>
              <a:xfrm>
                <a:off x="4765" y="8658"/>
                <a:ext cx="214" cy="0"/>
              </a:xfrm>
              <a:prstGeom prst="straightConnector1">
                <a:avLst/>
              </a:prstGeom>
              <a:ln w="9525" cap="flat" cmpd="sng">
                <a:solidFill>
                  <a:srgbClr val="000000"/>
                </a:solidFill>
                <a:prstDash val="solid"/>
                <a:headEnd type="none" w="med" len="med"/>
                <a:tailEnd type="none" w="med" len="med"/>
              </a:ln>
            </p:spPr>
          </p:cxnSp>
          <p:sp>
            <p:nvSpPr>
              <p:cNvPr id="1073752641" name="文本框 1073752640"/>
              <p:cNvSpPr txBox="1"/>
              <p:nvPr/>
            </p:nvSpPr>
            <p:spPr>
              <a:xfrm>
                <a:off x="5108" y="8381"/>
                <a:ext cx="1136" cy="255"/>
              </a:xfrm>
              <a:prstGeom prst="rect">
                <a:avLst/>
              </a:prstGeom>
              <a:noFill/>
              <a:ln w="9525">
                <a:noFill/>
              </a:ln>
            </p:spPr>
            <p:txBody>
              <a:bodyPr wrap="square" lIns="0" tIns="0" rIns="0" bIns="0"/>
              <a:lstStyle/>
              <a:p>
                <a:r>
                  <a:rPr lang="zh-CN" altLang="en-US" dirty="0"/>
                  <a:t>副教授   200</a:t>
                </a:r>
              </a:p>
              <a:p>
                <a:endParaRPr lang="zh-CN" altLang="en-US" dirty="0"/>
              </a:p>
            </p:txBody>
          </p:sp>
          <p:sp>
            <p:nvSpPr>
              <p:cNvPr id="1073752642" name="文本框 1073752641"/>
              <p:cNvSpPr txBox="1"/>
              <p:nvPr/>
            </p:nvSpPr>
            <p:spPr>
              <a:xfrm>
                <a:off x="5108" y="8679"/>
                <a:ext cx="1136" cy="255"/>
              </a:xfrm>
              <a:prstGeom prst="rect">
                <a:avLst/>
              </a:prstGeom>
              <a:noFill/>
              <a:ln w="9525">
                <a:noFill/>
              </a:ln>
            </p:spPr>
            <p:txBody>
              <a:bodyPr wrap="square" lIns="0" tIns="0" rIns="0" bIns="0"/>
              <a:lstStyle/>
              <a:p>
                <a:r>
                  <a:rPr lang="zh-CN" altLang="en-US" dirty="0"/>
                  <a:t>讲师     150</a:t>
                </a:r>
              </a:p>
              <a:p>
                <a:endParaRPr lang="zh-CN" altLang="en-US" dirty="0"/>
              </a:p>
            </p:txBody>
          </p:sp>
          <p:sp>
            <p:nvSpPr>
              <p:cNvPr id="1073752643" name="文本框 1073752642"/>
              <p:cNvSpPr txBox="1"/>
              <p:nvPr/>
            </p:nvSpPr>
            <p:spPr>
              <a:xfrm>
                <a:off x="5108" y="8977"/>
                <a:ext cx="1136" cy="255"/>
              </a:xfrm>
              <a:prstGeom prst="rect">
                <a:avLst/>
              </a:prstGeom>
              <a:noFill/>
              <a:ln w="9525">
                <a:noFill/>
              </a:ln>
            </p:spPr>
            <p:txBody>
              <a:bodyPr wrap="square" lIns="0" tIns="0" rIns="0" bIns="0"/>
              <a:lstStyle/>
              <a:p>
                <a:r>
                  <a:rPr lang="zh-CN" altLang="en-US"/>
                  <a:t>助教     100</a:t>
                </a:r>
              </a:p>
              <a:p>
                <a:endParaRPr lang="zh-CN" altLang="en-US"/>
              </a:p>
            </p:txBody>
          </p:sp>
        </p:grpSp>
        <p:grpSp>
          <p:nvGrpSpPr>
            <p:cNvPr id="1073752644" name="组合 1073752643"/>
            <p:cNvGrpSpPr/>
            <p:nvPr/>
          </p:nvGrpSpPr>
          <p:grpSpPr>
            <a:xfrm>
              <a:off x="4249" y="9520"/>
              <a:ext cx="1995" cy="1149"/>
              <a:chOff x="4249" y="8083"/>
              <a:chExt cx="1995" cy="1149"/>
            </a:xfrm>
          </p:grpSpPr>
          <p:sp>
            <p:nvSpPr>
              <p:cNvPr id="1073752645" name="文本框 1073752644"/>
              <p:cNvSpPr txBox="1"/>
              <p:nvPr/>
            </p:nvSpPr>
            <p:spPr>
              <a:xfrm>
                <a:off x="4249" y="8527"/>
                <a:ext cx="567" cy="255"/>
              </a:xfrm>
              <a:prstGeom prst="rect">
                <a:avLst/>
              </a:prstGeom>
              <a:noFill/>
              <a:ln w="9525">
                <a:noFill/>
              </a:ln>
            </p:spPr>
            <p:txBody>
              <a:bodyPr wrap="square" lIns="0" tIns="0" rIns="0" bIns="0"/>
              <a:lstStyle/>
              <a:p>
                <a:pPr algn="ctr"/>
                <a:r>
                  <a:rPr lang="zh-CN" altLang="en-US"/>
                  <a:t>专职</a:t>
                </a:r>
              </a:p>
              <a:p>
                <a:endParaRPr lang="zh-CN" altLang="en-US"/>
              </a:p>
            </p:txBody>
          </p:sp>
          <p:sp>
            <p:nvSpPr>
              <p:cNvPr id="1073752646" name="文本框 1073752645"/>
              <p:cNvSpPr txBox="1"/>
              <p:nvPr/>
            </p:nvSpPr>
            <p:spPr>
              <a:xfrm>
                <a:off x="5108" y="8083"/>
                <a:ext cx="1136" cy="255"/>
              </a:xfrm>
              <a:prstGeom prst="rect">
                <a:avLst/>
              </a:prstGeom>
              <a:noFill/>
              <a:ln w="9525">
                <a:noFill/>
              </a:ln>
            </p:spPr>
            <p:txBody>
              <a:bodyPr wrap="square" lIns="0" tIns="0" rIns="0" bIns="0"/>
              <a:lstStyle/>
              <a:p>
                <a:r>
                  <a:rPr lang="zh-CN" altLang="en-US"/>
                  <a:t>教授     200</a:t>
                </a:r>
              </a:p>
              <a:p>
                <a:endParaRPr lang="zh-CN" altLang="en-US"/>
              </a:p>
            </p:txBody>
          </p:sp>
          <p:sp>
            <p:nvSpPr>
              <p:cNvPr id="1073752647" name="任意多边形 1073752646"/>
              <p:cNvSpPr/>
              <p:nvPr/>
            </p:nvSpPr>
            <p:spPr>
              <a:xfrm rot="16200000">
                <a:off x="4588" y="8603"/>
                <a:ext cx="897" cy="113"/>
              </a:xfrm>
              <a:custGeom>
                <a:avLst/>
                <a:gdLst/>
                <a:ahLst/>
                <a:cxnLst/>
                <a:rect l="0" t="0" r="0" b="0"/>
                <a:pathLst>
                  <a:path w="6927" h="297">
                    <a:moveTo>
                      <a:pt x="0" y="297"/>
                    </a:moveTo>
                    <a:lnTo>
                      <a:pt x="0" y="0"/>
                    </a:lnTo>
                    <a:lnTo>
                      <a:pt x="6927" y="0"/>
                    </a:lnTo>
                    <a:lnTo>
                      <a:pt x="6927" y="297"/>
                    </a:lnTo>
                  </a:path>
                </a:pathLst>
              </a:custGeom>
              <a:noFill/>
              <a:ln w="9525" cap="flat" cmpd="sng">
                <a:solidFill>
                  <a:srgbClr val="000000">
                    <a:alpha val="100000"/>
                  </a:srgbClr>
                </a:solidFill>
                <a:prstDash val="solid"/>
                <a:headEnd type="none" w="med" len="med"/>
                <a:tailEnd type="none" w="med" len="med"/>
              </a:ln>
            </p:spPr>
            <p:txBody>
              <a:bodyPr/>
              <a:lstStyle/>
              <a:p>
                <a:endParaRPr lang="zh-CN" altLang="en-US"/>
              </a:p>
            </p:txBody>
          </p:sp>
          <p:cxnSp>
            <p:nvCxnSpPr>
              <p:cNvPr id="1073752648" name="直接箭头连接符 1073752647"/>
              <p:cNvCxnSpPr/>
              <p:nvPr/>
            </p:nvCxnSpPr>
            <p:spPr>
              <a:xfrm>
                <a:off x="4765" y="8658"/>
                <a:ext cx="214" cy="0"/>
              </a:xfrm>
              <a:prstGeom prst="straightConnector1">
                <a:avLst/>
              </a:prstGeom>
              <a:ln w="9525" cap="flat" cmpd="sng">
                <a:solidFill>
                  <a:srgbClr val="000000"/>
                </a:solidFill>
                <a:prstDash val="solid"/>
                <a:headEnd type="none" w="med" len="med"/>
                <a:tailEnd type="none" w="med" len="med"/>
              </a:ln>
            </p:spPr>
          </p:cxnSp>
          <p:sp>
            <p:nvSpPr>
              <p:cNvPr id="1073752649" name="文本框 1073752648"/>
              <p:cNvSpPr txBox="1"/>
              <p:nvPr/>
            </p:nvSpPr>
            <p:spPr>
              <a:xfrm>
                <a:off x="5108" y="8381"/>
                <a:ext cx="1136" cy="255"/>
              </a:xfrm>
              <a:prstGeom prst="rect">
                <a:avLst/>
              </a:prstGeom>
              <a:noFill/>
              <a:ln w="9525">
                <a:noFill/>
              </a:ln>
            </p:spPr>
            <p:txBody>
              <a:bodyPr wrap="square" lIns="0" tIns="0" rIns="0" bIns="0"/>
              <a:lstStyle/>
              <a:p>
                <a:r>
                  <a:rPr lang="zh-CN" altLang="en-US"/>
                  <a:t>副教授   150</a:t>
                </a:r>
              </a:p>
              <a:p>
                <a:endParaRPr lang="zh-CN" altLang="en-US"/>
              </a:p>
            </p:txBody>
          </p:sp>
          <p:sp>
            <p:nvSpPr>
              <p:cNvPr id="1073752650" name="文本框 1073752649"/>
              <p:cNvSpPr txBox="1"/>
              <p:nvPr/>
            </p:nvSpPr>
            <p:spPr>
              <a:xfrm>
                <a:off x="5108" y="8679"/>
                <a:ext cx="1136" cy="255"/>
              </a:xfrm>
              <a:prstGeom prst="rect">
                <a:avLst/>
              </a:prstGeom>
              <a:noFill/>
              <a:ln w="9525">
                <a:noFill/>
              </a:ln>
            </p:spPr>
            <p:txBody>
              <a:bodyPr wrap="square" lIns="0" tIns="0" rIns="0" bIns="0"/>
              <a:lstStyle/>
              <a:p>
                <a:r>
                  <a:rPr lang="zh-CN" altLang="en-US"/>
                  <a:t>讲师     100</a:t>
                </a:r>
              </a:p>
              <a:p>
                <a:endParaRPr lang="zh-CN" altLang="en-US"/>
              </a:p>
            </p:txBody>
          </p:sp>
          <p:sp>
            <p:nvSpPr>
              <p:cNvPr id="1073752651" name="文本框 1073752650"/>
              <p:cNvSpPr txBox="1"/>
              <p:nvPr/>
            </p:nvSpPr>
            <p:spPr>
              <a:xfrm>
                <a:off x="5108" y="8977"/>
                <a:ext cx="1136" cy="255"/>
              </a:xfrm>
              <a:prstGeom prst="rect">
                <a:avLst/>
              </a:prstGeom>
              <a:noFill/>
              <a:ln w="9525">
                <a:noFill/>
              </a:ln>
            </p:spPr>
            <p:txBody>
              <a:bodyPr wrap="square" lIns="0" tIns="0" rIns="0" bIns="0"/>
              <a:lstStyle/>
              <a:p>
                <a:r>
                  <a:rPr lang="zh-CN" altLang="en-US"/>
                  <a:t>助教     80</a:t>
                </a:r>
              </a:p>
              <a:p>
                <a:endParaRPr lang="zh-CN" altLang="en-US"/>
              </a:p>
            </p:txBody>
          </p:sp>
        </p:grpSp>
      </p:grpSp>
      <p:grpSp>
        <p:nvGrpSpPr>
          <p:cNvPr id="1073752652" name="组合 1073752651"/>
          <p:cNvGrpSpPr/>
          <p:nvPr/>
        </p:nvGrpSpPr>
        <p:grpSpPr>
          <a:xfrm>
            <a:off x="1494155" y="3079598"/>
            <a:ext cx="3690874" cy="3306597"/>
            <a:chOff x="1749" y="2789"/>
            <a:chExt cx="2982" cy="2535"/>
          </a:xfrm>
        </p:grpSpPr>
        <p:sp>
          <p:nvSpPr>
            <p:cNvPr id="1073752653" name="任意多边形 1073752652"/>
            <p:cNvSpPr/>
            <p:nvPr/>
          </p:nvSpPr>
          <p:spPr>
            <a:xfrm rot="16200000">
              <a:off x="1951" y="3904"/>
              <a:ext cx="1938" cy="308"/>
            </a:xfrm>
            <a:custGeom>
              <a:avLst/>
              <a:gdLst/>
              <a:ahLst/>
              <a:cxnLst/>
              <a:rect l="0" t="0" r="0" b="0"/>
              <a:pathLst>
                <a:path w="6927" h="297">
                  <a:moveTo>
                    <a:pt x="0" y="297"/>
                  </a:moveTo>
                  <a:lnTo>
                    <a:pt x="0" y="0"/>
                  </a:lnTo>
                  <a:lnTo>
                    <a:pt x="6927" y="0"/>
                  </a:lnTo>
                  <a:lnTo>
                    <a:pt x="6927" y="297"/>
                  </a:lnTo>
                </a:path>
              </a:pathLst>
            </a:custGeom>
            <a:noFill/>
            <a:ln w="9525" cap="flat" cmpd="sng">
              <a:solidFill>
                <a:srgbClr val="000000">
                  <a:alpha val="100000"/>
                </a:srgbClr>
              </a:solidFill>
              <a:prstDash val="solid"/>
              <a:headEnd type="none" w="med" len="med"/>
              <a:tailEnd type="none" w="med" len="med"/>
            </a:ln>
          </p:spPr>
          <p:txBody>
            <a:bodyPr/>
            <a:lstStyle/>
            <a:p>
              <a:endParaRPr lang="zh-CN" altLang="en-US"/>
            </a:p>
          </p:txBody>
        </p:sp>
        <p:sp>
          <p:nvSpPr>
            <p:cNvPr id="1073752654" name="文本框 1073752653"/>
            <p:cNvSpPr txBox="1"/>
            <p:nvPr/>
          </p:nvSpPr>
          <p:spPr>
            <a:xfrm>
              <a:off x="3020" y="2959"/>
              <a:ext cx="567" cy="255"/>
            </a:xfrm>
            <a:prstGeom prst="rect">
              <a:avLst/>
            </a:prstGeom>
            <a:noFill/>
            <a:ln w="9525">
              <a:noFill/>
            </a:ln>
          </p:spPr>
          <p:txBody>
            <a:bodyPr wrap="square" lIns="0" tIns="0" rIns="0" bIns="0"/>
            <a:lstStyle/>
            <a:p>
              <a:pPr algn="ctr"/>
              <a:r>
                <a:rPr lang="zh-CN" altLang="en-US"/>
                <a:t>教授</a:t>
              </a:r>
            </a:p>
            <a:p>
              <a:endParaRPr lang="zh-CN" altLang="en-US"/>
            </a:p>
          </p:txBody>
        </p:sp>
        <p:sp>
          <p:nvSpPr>
            <p:cNvPr id="1073752655" name="文本框 1073752654"/>
            <p:cNvSpPr txBox="1"/>
            <p:nvPr/>
          </p:nvSpPr>
          <p:spPr>
            <a:xfrm>
              <a:off x="3020" y="3607"/>
              <a:ext cx="567" cy="255"/>
            </a:xfrm>
            <a:prstGeom prst="rect">
              <a:avLst/>
            </a:prstGeom>
            <a:noFill/>
            <a:ln w="9525">
              <a:noFill/>
            </a:ln>
          </p:spPr>
          <p:txBody>
            <a:bodyPr wrap="square" lIns="0" tIns="0" rIns="0" bIns="0"/>
            <a:lstStyle/>
            <a:p>
              <a:pPr algn="ctr"/>
              <a:r>
                <a:rPr lang="zh-CN" altLang="en-US"/>
                <a:t>副教授</a:t>
              </a:r>
            </a:p>
            <a:p>
              <a:endParaRPr lang="zh-CN" altLang="en-US"/>
            </a:p>
          </p:txBody>
        </p:sp>
        <p:sp>
          <p:nvSpPr>
            <p:cNvPr id="1073752656" name="文本框 1073752655"/>
            <p:cNvSpPr txBox="1"/>
            <p:nvPr/>
          </p:nvSpPr>
          <p:spPr>
            <a:xfrm>
              <a:off x="3020" y="4244"/>
              <a:ext cx="567" cy="255"/>
            </a:xfrm>
            <a:prstGeom prst="rect">
              <a:avLst/>
            </a:prstGeom>
            <a:noFill/>
            <a:ln w="9525">
              <a:noFill/>
            </a:ln>
          </p:spPr>
          <p:txBody>
            <a:bodyPr wrap="square" lIns="0" tIns="0" rIns="0" bIns="0"/>
            <a:lstStyle/>
            <a:p>
              <a:pPr algn="ctr"/>
              <a:r>
                <a:rPr lang="zh-CN" altLang="en-US"/>
                <a:t>讲师</a:t>
              </a:r>
            </a:p>
            <a:p>
              <a:endParaRPr lang="zh-CN" altLang="en-US"/>
            </a:p>
          </p:txBody>
        </p:sp>
        <p:sp>
          <p:nvSpPr>
            <p:cNvPr id="1073752657" name="文本框 1073752656"/>
            <p:cNvSpPr txBox="1"/>
            <p:nvPr/>
          </p:nvSpPr>
          <p:spPr>
            <a:xfrm>
              <a:off x="3020" y="4896"/>
              <a:ext cx="567" cy="255"/>
            </a:xfrm>
            <a:prstGeom prst="rect">
              <a:avLst/>
            </a:prstGeom>
            <a:noFill/>
            <a:ln w="9525">
              <a:noFill/>
            </a:ln>
          </p:spPr>
          <p:txBody>
            <a:bodyPr wrap="square" lIns="0" tIns="0" rIns="0" bIns="0"/>
            <a:lstStyle/>
            <a:p>
              <a:pPr algn="ctr"/>
              <a:r>
                <a:rPr lang="zh-CN" altLang="en-US"/>
                <a:t>助教</a:t>
              </a:r>
            </a:p>
            <a:p>
              <a:endParaRPr lang="zh-CN" altLang="en-US"/>
            </a:p>
          </p:txBody>
        </p:sp>
        <p:sp>
          <p:nvSpPr>
            <p:cNvPr id="1073752658" name="文本框 1073752657"/>
            <p:cNvSpPr txBox="1"/>
            <p:nvPr/>
          </p:nvSpPr>
          <p:spPr>
            <a:xfrm>
              <a:off x="1749" y="3932"/>
              <a:ext cx="750" cy="255"/>
            </a:xfrm>
            <a:prstGeom prst="rect">
              <a:avLst/>
            </a:prstGeom>
            <a:noFill/>
            <a:ln w="9525">
              <a:noFill/>
            </a:ln>
          </p:spPr>
          <p:txBody>
            <a:bodyPr wrap="square" lIns="0" tIns="0" rIns="0" bIns="0"/>
            <a:lstStyle/>
            <a:p>
              <a:r>
                <a:rPr lang="zh-CN" altLang="en-US"/>
                <a:t>课时津贴</a:t>
              </a:r>
            </a:p>
            <a:p>
              <a:endParaRPr lang="zh-CN" altLang="en-US"/>
            </a:p>
          </p:txBody>
        </p:sp>
        <p:cxnSp>
          <p:nvCxnSpPr>
            <p:cNvPr id="1073752659" name="直接箭头连接符 1073752658"/>
            <p:cNvCxnSpPr/>
            <p:nvPr/>
          </p:nvCxnSpPr>
          <p:spPr>
            <a:xfrm flipV="1">
              <a:off x="2480" y="4060"/>
              <a:ext cx="283" cy="0"/>
            </a:xfrm>
            <a:prstGeom prst="straightConnector1">
              <a:avLst/>
            </a:prstGeom>
            <a:ln w="9525" cap="flat" cmpd="sng">
              <a:solidFill>
                <a:srgbClr val="000000"/>
              </a:solidFill>
              <a:prstDash val="solid"/>
              <a:headEnd type="none" w="med" len="med"/>
              <a:tailEnd type="none" w="med" len="med"/>
            </a:ln>
          </p:spPr>
        </p:cxnSp>
        <p:cxnSp>
          <p:nvCxnSpPr>
            <p:cNvPr id="1073752660" name="直接箭头连接符 1073752659"/>
            <p:cNvCxnSpPr/>
            <p:nvPr/>
          </p:nvCxnSpPr>
          <p:spPr>
            <a:xfrm>
              <a:off x="2766" y="3732"/>
              <a:ext cx="244" cy="0"/>
            </a:xfrm>
            <a:prstGeom prst="straightConnector1">
              <a:avLst/>
            </a:prstGeom>
            <a:ln w="9525" cap="flat" cmpd="sng">
              <a:solidFill>
                <a:srgbClr val="000000"/>
              </a:solidFill>
              <a:prstDash val="solid"/>
              <a:headEnd type="none" w="med" len="med"/>
              <a:tailEnd type="none" w="med" len="med"/>
            </a:ln>
          </p:spPr>
        </p:cxnSp>
        <p:cxnSp>
          <p:nvCxnSpPr>
            <p:cNvPr id="1073752661" name="直接箭头连接符 1073752660"/>
            <p:cNvCxnSpPr/>
            <p:nvPr/>
          </p:nvCxnSpPr>
          <p:spPr>
            <a:xfrm>
              <a:off x="2766" y="4382"/>
              <a:ext cx="308" cy="0"/>
            </a:xfrm>
            <a:prstGeom prst="straightConnector1">
              <a:avLst/>
            </a:prstGeom>
            <a:ln w="9525" cap="flat" cmpd="sng">
              <a:solidFill>
                <a:srgbClr val="000000"/>
              </a:solidFill>
              <a:prstDash val="solid"/>
              <a:headEnd type="none" w="med" len="med"/>
              <a:tailEnd type="none" w="med" len="med"/>
            </a:ln>
          </p:spPr>
        </p:cxnSp>
        <p:grpSp>
          <p:nvGrpSpPr>
            <p:cNvPr id="1073752662" name="组合 1073752661"/>
            <p:cNvGrpSpPr/>
            <p:nvPr/>
          </p:nvGrpSpPr>
          <p:grpSpPr>
            <a:xfrm>
              <a:off x="3548" y="2789"/>
              <a:ext cx="1183" cy="597"/>
              <a:chOff x="3348" y="9394"/>
              <a:chExt cx="1183" cy="597"/>
            </a:xfrm>
          </p:grpSpPr>
          <p:sp>
            <p:nvSpPr>
              <p:cNvPr id="1073752663" name="任意多边形 1073752662"/>
              <p:cNvSpPr/>
              <p:nvPr/>
            </p:nvSpPr>
            <p:spPr>
              <a:xfrm rot="16200000">
                <a:off x="3449" y="9636"/>
                <a:ext cx="340" cy="113"/>
              </a:xfrm>
              <a:custGeom>
                <a:avLst/>
                <a:gdLst/>
                <a:ahLst/>
                <a:cxnLst/>
                <a:rect l="0" t="0" r="0" b="0"/>
                <a:pathLst>
                  <a:path w="6927" h="297">
                    <a:moveTo>
                      <a:pt x="0" y="297"/>
                    </a:moveTo>
                    <a:lnTo>
                      <a:pt x="0" y="0"/>
                    </a:lnTo>
                    <a:lnTo>
                      <a:pt x="6927" y="0"/>
                    </a:lnTo>
                    <a:lnTo>
                      <a:pt x="6927" y="297"/>
                    </a:lnTo>
                  </a:path>
                </a:pathLst>
              </a:custGeom>
              <a:noFill/>
              <a:ln w="9525" cap="flat" cmpd="sng">
                <a:solidFill>
                  <a:srgbClr val="000000">
                    <a:alpha val="100000"/>
                  </a:srgbClr>
                </a:solidFill>
                <a:prstDash val="solid"/>
                <a:headEnd type="none" w="med" len="med"/>
                <a:tailEnd type="none" w="med" len="med"/>
              </a:ln>
            </p:spPr>
            <p:txBody>
              <a:bodyPr/>
              <a:lstStyle/>
              <a:p>
                <a:endParaRPr lang="zh-CN" altLang="en-US"/>
              </a:p>
            </p:txBody>
          </p:sp>
          <p:cxnSp>
            <p:nvCxnSpPr>
              <p:cNvPr id="1073752664" name="直接箭头连接符 1073752663"/>
              <p:cNvCxnSpPr/>
              <p:nvPr/>
            </p:nvCxnSpPr>
            <p:spPr>
              <a:xfrm>
                <a:off x="3348" y="9695"/>
                <a:ext cx="214" cy="0"/>
              </a:xfrm>
              <a:prstGeom prst="straightConnector1">
                <a:avLst/>
              </a:prstGeom>
              <a:ln w="9525" cap="flat" cmpd="sng">
                <a:solidFill>
                  <a:srgbClr val="000000"/>
                </a:solidFill>
                <a:prstDash val="solid"/>
                <a:headEnd type="none" w="med" len="med"/>
                <a:tailEnd type="none" w="med" len="med"/>
              </a:ln>
            </p:spPr>
          </p:cxnSp>
          <p:sp>
            <p:nvSpPr>
              <p:cNvPr id="1073752665" name="文本框 1073752664"/>
              <p:cNvSpPr txBox="1"/>
              <p:nvPr/>
            </p:nvSpPr>
            <p:spPr>
              <a:xfrm>
                <a:off x="3691" y="9394"/>
                <a:ext cx="840" cy="255"/>
              </a:xfrm>
              <a:prstGeom prst="rect">
                <a:avLst/>
              </a:prstGeom>
              <a:noFill/>
              <a:ln w="9525">
                <a:noFill/>
              </a:ln>
            </p:spPr>
            <p:txBody>
              <a:bodyPr wrap="square" lIns="0" tIns="0" rIns="0" bIns="0"/>
              <a:lstStyle/>
              <a:p>
                <a:r>
                  <a:rPr lang="zh-CN" altLang="en-US"/>
                  <a:t>兼职  250</a:t>
                </a:r>
              </a:p>
              <a:p>
                <a:endParaRPr lang="zh-CN" altLang="en-US"/>
              </a:p>
            </p:txBody>
          </p:sp>
          <p:sp>
            <p:nvSpPr>
              <p:cNvPr id="1073752666" name="文本框 1073752665"/>
              <p:cNvSpPr txBox="1"/>
              <p:nvPr/>
            </p:nvSpPr>
            <p:spPr>
              <a:xfrm>
                <a:off x="3691" y="9736"/>
                <a:ext cx="840" cy="255"/>
              </a:xfrm>
              <a:prstGeom prst="rect">
                <a:avLst/>
              </a:prstGeom>
              <a:noFill/>
              <a:ln w="9525">
                <a:noFill/>
              </a:ln>
            </p:spPr>
            <p:txBody>
              <a:bodyPr wrap="square" lIns="0" tIns="0" rIns="0" bIns="0"/>
              <a:lstStyle/>
              <a:p>
                <a:r>
                  <a:rPr lang="zh-CN" altLang="en-US"/>
                  <a:t>专职  200</a:t>
                </a:r>
              </a:p>
              <a:p>
                <a:endParaRPr lang="zh-CN" altLang="en-US"/>
              </a:p>
            </p:txBody>
          </p:sp>
        </p:grpSp>
        <p:grpSp>
          <p:nvGrpSpPr>
            <p:cNvPr id="1073752667" name="组合 1073752666"/>
            <p:cNvGrpSpPr/>
            <p:nvPr/>
          </p:nvGrpSpPr>
          <p:grpSpPr>
            <a:xfrm>
              <a:off x="3548" y="4082"/>
              <a:ext cx="1183" cy="597"/>
              <a:chOff x="3348" y="9394"/>
              <a:chExt cx="1183" cy="597"/>
            </a:xfrm>
          </p:grpSpPr>
          <p:sp>
            <p:nvSpPr>
              <p:cNvPr id="1073752668" name="任意多边形 1073752667"/>
              <p:cNvSpPr/>
              <p:nvPr/>
            </p:nvSpPr>
            <p:spPr>
              <a:xfrm rot="16200000">
                <a:off x="3449" y="9636"/>
                <a:ext cx="340" cy="113"/>
              </a:xfrm>
              <a:custGeom>
                <a:avLst/>
                <a:gdLst/>
                <a:ahLst/>
                <a:cxnLst/>
                <a:rect l="0" t="0" r="0" b="0"/>
                <a:pathLst>
                  <a:path w="6927" h="297">
                    <a:moveTo>
                      <a:pt x="0" y="297"/>
                    </a:moveTo>
                    <a:lnTo>
                      <a:pt x="0" y="0"/>
                    </a:lnTo>
                    <a:lnTo>
                      <a:pt x="6927" y="0"/>
                    </a:lnTo>
                    <a:lnTo>
                      <a:pt x="6927" y="297"/>
                    </a:lnTo>
                  </a:path>
                </a:pathLst>
              </a:custGeom>
              <a:noFill/>
              <a:ln w="9525" cap="flat" cmpd="sng">
                <a:solidFill>
                  <a:srgbClr val="000000">
                    <a:alpha val="100000"/>
                  </a:srgbClr>
                </a:solidFill>
                <a:prstDash val="solid"/>
                <a:headEnd type="none" w="med" len="med"/>
                <a:tailEnd type="none" w="med" len="med"/>
              </a:ln>
            </p:spPr>
            <p:txBody>
              <a:bodyPr/>
              <a:lstStyle/>
              <a:p>
                <a:endParaRPr lang="zh-CN" altLang="en-US"/>
              </a:p>
            </p:txBody>
          </p:sp>
          <p:cxnSp>
            <p:nvCxnSpPr>
              <p:cNvPr id="1073752669" name="直接箭头连接符 1073752668"/>
              <p:cNvCxnSpPr/>
              <p:nvPr/>
            </p:nvCxnSpPr>
            <p:spPr>
              <a:xfrm>
                <a:off x="3348" y="9695"/>
                <a:ext cx="214" cy="0"/>
              </a:xfrm>
              <a:prstGeom prst="straightConnector1">
                <a:avLst/>
              </a:prstGeom>
              <a:ln w="9525" cap="flat" cmpd="sng">
                <a:solidFill>
                  <a:srgbClr val="000000"/>
                </a:solidFill>
                <a:prstDash val="solid"/>
                <a:headEnd type="none" w="med" len="med"/>
                <a:tailEnd type="none" w="med" len="med"/>
              </a:ln>
            </p:spPr>
          </p:cxnSp>
          <p:sp>
            <p:nvSpPr>
              <p:cNvPr id="1073752670" name="文本框 1073752669"/>
              <p:cNvSpPr txBox="1"/>
              <p:nvPr/>
            </p:nvSpPr>
            <p:spPr>
              <a:xfrm>
                <a:off x="3691" y="9394"/>
                <a:ext cx="840" cy="255"/>
              </a:xfrm>
              <a:prstGeom prst="rect">
                <a:avLst/>
              </a:prstGeom>
              <a:noFill/>
              <a:ln w="9525">
                <a:noFill/>
              </a:ln>
            </p:spPr>
            <p:txBody>
              <a:bodyPr wrap="square" lIns="0" tIns="0" rIns="0" bIns="0"/>
              <a:lstStyle/>
              <a:p>
                <a:r>
                  <a:rPr lang="zh-CN" altLang="en-US"/>
                  <a:t>兼职  150</a:t>
                </a:r>
              </a:p>
              <a:p>
                <a:endParaRPr lang="zh-CN" altLang="en-US"/>
              </a:p>
            </p:txBody>
          </p:sp>
          <p:sp>
            <p:nvSpPr>
              <p:cNvPr id="1073752671" name="文本框 1073752670"/>
              <p:cNvSpPr txBox="1"/>
              <p:nvPr/>
            </p:nvSpPr>
            <p:spPr>
              <a:xfrm>
                <a:off x="3691" y="9736"/>
                <a:ext cx="840" cy="255"/>
              </a:xfrm>
              <a:prstGeom prst="rect">
                <a:avLst/>
              </a:prstGeom>
              <a:noFill/>
              <a:ln w="9525">
                <a:noFill/>
              </a:ln>
            </p:spPr>
            <p:txBody>
              <a:bodyPr wrap="square" lIns="0" tIns="0" rIns="0" bIns="0"/>
              <a:lstStyle/>
              <a:p>
                <a:r>
                  <a:rPr lang="zh-CN" altLang="en-US"/>
                  <a:t>专职  100</a:t>
                </a:r>
              </a:p>
              <a:p>
                <a:endParaRPr lang="zh-CN" altLang="en-US"/>
              </a:p>
            </p:txBody>
          </p:sp>
        </p:grpSp>
        <p:grpSp>
          <p:nvGrpSpPr>
            <p:cNvPr id="1073752672" name="组合 1073752671"/>
            <p:cNvGrpSpPr/>
            <p:nvPr/>
          </p:nvGrpSpPr>
          <p:grpSpPr>
            <a:xfrm>
              <a:off x="3548" y="4727"/>
              <a:ext cx="1183" cy="597"/>
              <a:chOff x="3348" y="9394"/>
              <a:chExt cx="1183" cy="597"/>
            </a:xfrm>
          </p:grpSpPr>
          <p:sp>
            <p:nvSpPr>
              <p:cNvPr id="1073752673" name="任意多边形 1073752672"/>
              <p:cNvSpPr/>
              <p:nvPr/>
            </p:nvSpPr>
            <p:spPr>
              <a:xfrm rot="16200000">
                <a:off x="3449" y="9636"/>
                <a:ext cx="340" cy="113"/>
              </a:xfrm>
              <a:custGeom>
                <a:avLst/>
                <a:gdLst/>
                <a:ahLst/>
                <a:cxnLst/>
                <a:rect l="0" t="0" r="0" b="0"/>
                <a:pathLst>
                  <a:path w="6927" h="297">
                    <a:moveTo>
                      <a:pt x="0" y="297"/>
                    </a:moveTo>
                    <a:lnTo>
                      <a:pt x="0" y="0"/>
                    </a:lnTo>
                    <a:lnTo>
                      <a:pt x="6927" y="0"/>
                    </a:lnTo>
                    <a:lnTo>
                      <a:pt x="6927" y="297"/>
                    </a:lnTo>
                  </a:path>
                </a:pathLst>
              </a:custGeom>
              <a:noFill/>
              <a:ln w="9525" cap="flat" cmpd="sng">
                <a:solidFill>
                  <a:srgbClr val="000000">
                    <a:alpha val="100000"/>
                  </a:srgbClr>
                </a:solidFill>
                <a:prstDash val="solid"/>
                <a:headEnd type="none" w="med" len="med"/>
                <a:tailEnd type="none" w="med" len="med"/>
              </a:ln>
            </p:spPr>
            <p:txBody>
              <a:bodyPr/>
              <a:lstStyle/>
              <a:p>
                <a:endParaRPr lang="zh-CN" altLang="en-US"/>
              </a:p>
            </p:txBody>
          </p:sp>
          <p:cxnSp>
            <p:nvCxnSpPr>
              <p:cNvPr id="1073752674" name="直接箭头连接符 1073752673"/>
              <p:cNvCxnSpPr/>
              <p:nvPr/>
            </p:nvCxnSpPr>
            <p:spPr>
              <a:xfrm>
                <a:off x="3348" y="9695"/>
                <a:ext cx="214" cy="0"/>
              </a:xfrm>
              <a:prstGeom prst="straightConnector1">
                <a:avLst/>
              </a:prstGeom>
              <a:ln w="9525" cap="flat" cmpd="sng">
                <a:solidFill>
                  <a:srgbClr val="000000"/>
                </a:solidFill>
                <a:prstDash val="solid"/>
                <a:headEnd type="none" w="med" len="med"/>
                <a:tailEnd type="none" w="med" len="med"/>
              </a:ln>
            </p:spPr>
          </p:cxnSp>
          <p:sp>
            <p:nvSpPr>
              <p:cNvPr id="1073752675" name="文本框 1073752674"/>
              <p:cNvSpPr txBox="1"/>
              <p:nvPr/>
            </p:nvSpPr>
            <p:spPr>
              <a:xfrm>
                <a:off x="3691" y="9394"/>
                <a:ext cx="840" cy="255"/>
              </a:xfrm>
              <a:prstGeom prst="rect">
                <a:avLst/>
              </a:prstGeom>
              <a:noFill/>
              <a:ln w="9525">
                <a:noFill/>
              </a:ln>
            </p:spPr>
            <p:txBody>
              <a:bodyPr wrap="square" lIns="0" tIns="0" rIns="0" bIns="0"/>
              <a:lstStyle/>
              <a:p>
                <a:r>
                  <a:rPr lang="zh-CN" altLang="en-US"/>
                  <a:t>兼职  100</a:t>
                </a:r>
              </a:p>
              <a:p>
                <a:endParaRPr lang="zh-CN" altLang="en-US"/>
              </a:p>
            </p:txBody>
          </p:sp>
          <p:sp>
            <p:nvSpPr>
              <p:cNvPr id="1073752676" name="文本框 1073752675"/>
              <p:cNvSpPr txBox="1"/>
              <p:nvPr/>
            </p:nvSpPr>
            <p:spPr>
              <a:xfrm>
                <a:off x="3691" y="9736"/>
                <a:ext cx="840" cy="255"/>
              </a:xfrm>
              <a:prstGeom prst="rect">
                <a:avLst/>
              </a:prstGeom>
              <a:noFill/>
              <a:ln w="9525">
                <a:noFill/>
              </a:ln>
            </p:spPr>
            <p:txBody>
              <a:bodyPr wrap="square" lIns="0" tIns="0" rIns="0" bIns="0"/>
              <a:lstStyle/>
              <a:p>
                <a:r>
                  <a:rPr lang="zh-CN" altLang="en-US"/>
                  <a:t>专职  80</a:t>
                </a:r>
              </a:p>
              <a:p>
                <a:endParaRPr lang="zh-CN" altLang="en-US"/>
              </a:p>
            </p:txBody>
          </p:sp>
        </p:grpSp>
        <p:sp>
          <p:nvSpPr>
            <p:cNvPr id="1073752677" name="任意多边形 1073752676"/>
            <p:cNvSpPr/>
            <p:nvPr/>
          </p:nvSpPr>
          <p:spPr>
            <a:xfrm rot="16200000">
              <a:off x="3649" y="3668"/>
              <a:ext cx="340" cy="113"/>
            </a:xfrm>
            <a:custGeom>
              <a:avLst/>
              <a:gdLst/>
              <a:ahLst/>
              <a:cxnLst/>
              <a:rect l="0" t="0" r="0" b="0"/>
              <a:pathLst>
                <a:path w="6927" h="297">
                  <a:moveTo>
                    <a:pt x="0" y="297"/>
                  </a:moveTo>
                  <a:lnTo>
                    <a:pt x="0" y="0"/>
                  </a:lnTo>
                  <a:lnTo>
                    <a:pt x="6927" y="0"/>
                  </a:lnTo>
                  <a:lnTo>
                    <a:pt x="6927" y="297"/>
                  </a:lnTo>
                </a:path>
              </a:pathLst>
            </a:custGeom>
            <a:noFill/>
            <a:ln w="9525" cap="flat" cmpd="sng">
              <a:solidFill>
                <a:srgbClr val="000000">
                  <a:alpha val="100000"/>
                </a:srgbClr>
              </a:solidFill>
              <a:prstDash val="solid"/>
              <a:headEnd type="none" w="med" len="med"/>
              <a:tailEnd type="none" w="med" len="med"/>
            </a:ln>
          </p:spPr>
          <p:txBody>
            <a:bodyPr/>
            <a:lstStyle/>
            <a:p>
              <a:endParaRPr lang="zh-CN" altLang="en-US"/>
            </a:p>
          </p:txBody>
        </p:sp>
        <p:cxnSp>
          <p:nvCxnSpPr>
            <p:cNvPr id="1073752678" name="直接箭头连接符 1073752677"/>
            <p:cNvCxnSpPr/>
            <p:nvPr/>
          </p:nvCxnSpPr>
          <p:spPr>
            <a:xfrm>
              <a:off x="3588" y="3727"/>
              <a:ext cx="170" cy="0"/>
            </a:xfrm>
            <a:prstGeom prst="straightConnector1">
              <a:avLst/>
            </a:prstGeom>
            <a:ln w="9525" cap="flat" cmpd="sng">
              <a:solidFill>
                <a:srgbClr val="000000"/>
              </a:solidFill>
              <a:prstDash val="solid"/>
              <a:headEnd type="none" w="med" len="med"/>
              <a:tailEnd type="none" w="med" len="med"/>
            </a:ln>
          </p:spPr>
        </p:cxnSp>
        <p:sp>
          <p:nvSpPr>
            <p:cNvPr id="1073752679" name="文本框 1073752678"/>
            <p:cNvSpPr txBox="1"/>
            <p:nvPr/>
          </p:nvSpPr>
          <p:spPr>
            <a:xfrm>
              <a:off x="3891" y="3426"/>
              <a:ext cx="840" cy="255"/>
            </a:xfrm>
            <a:prstGeom prst="rect">
              <a:avLst/>
            </a:prstGeom>
            <a:noFill/>
            <a:ln w="9525">
              <a:noFill/>
            </a:ln>
          </p:spPr>
          <p:txBody>
            <a:bodyPr wrap="square" lIns="0" tIns="0" rIns="0" bIns="0"/>
            <a:lstStyle/>
            <a:p>
              <a:r>
                <a:rPr lang="zh-CN" altLang="en-US"/>
                <a:t>兼职  200</a:t>
              </a:r>
            </a:p>
            <a:p>
              <a:endParaRPr lang="zh-CN" altLang="en-US"/>
            </a:p>
          </p:txBody>
        </p:sp>
        <p:sp>
          <p:nvSpPr>
            <p:cNvPr id="1073752680" name="文本框 1073752679"/>
            <p:cNvSpPr txBox="1"/>
            <p:nvPr/>
          </p:nvSpPr>
          <p:spPr>
            <a:xfrm>
              <a:off x="3891" y="3768"/>
              <a:ext cx="840" cy="255"/>
            </a:xfrm>
            <a:prstGeom prst="rect">
              <a:avLst/>
            </a:prstGeom>
            <a:noFill/>
            <a:ln w="9525">
              <a:noFill/>
            </a:ln>
          </p:spPr>
          <p:txBody>
            <a:bodyPr wrap="square" lIns="0" tIns="0" rIns="0" bIns="0"/>
            <a:lstStyle/>
            <a:p>
              <a:r>
                <a:rPr lang="zh-CN" altLang="en-US"/>
                <a:t>专职  150</a:t>
              </a:r>
            </a:p>
            <a:p>
              <a:endParaRPr lang="zh-CN" altLang="en-US"/>
            </a:p>
          </p:txBody>
        </p:sp>
      </p:grpSp>
    </p:spTree>
  </p:cSld>
  <p:clrMapOvr>
    <a:masterClrMapping/>
  </p:clrMapOvr>
  <p:transition>
    <p:pull dir="d"/>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3.5.6 </a:t>
            </a:r>
            <a:r>
              <a:rPr lang="zh-CN" altLang="en-US" sz="2400" dirty="0">
                <a:solidFill>
                  <a:schemeClr val="tx1"/>
                </a:solidFill>
              </a:rPr>
              <a:t>过程设计语言（</a:t>
            </a:r>
            <a:r>
              <a:rPr lang="en-US" altLang="zh-CN" sz="2400" dirty="0">
                <a:solidFill>
                  <a:schemeClr val="tx1"/>
                </a:solidFill>
              </a:rPr>
              <a:t>PDL</a:t>
            </a:r>
            <a:r>
              <a:rPr lang="zh-CN" altLang="en-US" sz="2400" dirty="0">
                <a:solidFill>
                  <a:schemeClr val="tx1"/>
                </a:solidFill>
              </a:rPr>
              <a:t>）</a:t>
            </a:r>
          </a:p>
        </p:txBody>
      </p:sp>
      <p:sp>
        <p:nvSpPr>
          <p:cNvPr id="42" name="文本框 41"/>
          <p:cNvSpPr txBox="1"/>
          <p:nvPr>
            <p:custDataLst>
              <p:tags r:id="rId1"/>
            </p:custDataLst>
          </p:nvPr>
        </p:nvSpPr>
        <p:spPr>
          <a:xfrm>
            <a:off x="4070414" y="2689374"/>
            <a:ext cx="6887396" cy="1199943"/>
          </a:xfrm>
          <a:prstGeom prst="rect">
            <a:avLst/>
          </a:prstGeom>
          <a:noFill/>
        </p:spPr>
        <p:txBody>
          <a:bodyPr wrap="square" lIns="0" rIns="0">
            <a:normAutofit fontScale="97500"/>
          </a:bodyPr>
          <a:lstStyle/>
          <a:p>
            <a:pPr>
              <a:lnSpc>
                <a:spcPct val="130000"/>
              </a:lnSpc>
              <a:spcBef>
                <a:spcPts val="600"/>
              </a:spcBef>
              <a:defRPr/>
            </a:pPr>
            <a:r>
              <a:rPr lang="en-US" altLang="zh-CN" dirty="0"/>
              <a:t>        </a:t>
            </a:r>
            <a:r>
              <a:rPr lang="zh-CN" altLang="en-US" dirty="0"/>
              <a:t>关键字应有固定语法，提供结构化的控制结构和数据说明，并在控制结构的头尾都加关键字，体现模块化的特点。如：If…EndIf，While…EndWhile，Case…EndCase等。</a:t>
            </a:r>
          </a:p>
        </p:txBody>
      </p:sp>
      <p:sp>
        <p:nvSpPr>
          <p:cNvPr id="45" name="文本框 44"/>
          <p:cNvSpPr txBox="1"/>
          <p:nvPr>
            <p:custDataLst>
              <p:tags r:id="rId2"/>
            </p:custDataLst>
          </p:nvPr>
        </p:nvSpPr>
        <p:spPr>
          <a:xfrm>
            <a:off x="4527819" y="4030443"/>
            <a:ext cx="3463606" cy="487596"/>
          </a:xfrm>
          <a:prstGeom prst="rect">
            <a:avLst/>
          </a:prstGeom>
          <a:noFill/>
        </p:spPr>
        <p:txBody>
          <a:bodyPr wrap="square" lIns="0" rIns="0">
            <a:normAutofit/>
          </a:bodyPr>
          <a:lstStyle/>
          <a:p>
            <a:pPr>
              <a:lnSpc>
                <a:spcPct val="130000"/>
              </a:lnSpc>
              <a:spcBef>
                <a:spcPts val="600"/>
              </a:spcBef>
              <a:defRPr/>
            </a:pPr>
            <a:r>
              <a:rPr lang="zh-CN" altLang="en-US" dirty="0"/>
              <a:t>用自然语言叙述系统处理功能。</a:t>
            </a:r>
          </a:p>
        </p:txBody>
      </p:sp>
      <p:sp>
        <p:nvSpPr>
          <p:cNvPr id="52" name="文本框 51"/>
          <p:cNvSpPr txBox="1"/>
          <p:nvPr>
            <p:custDataLst>
              <p:tags r:id="rId3"/>
            </p:custDataLst>
          </p:nvPr>
        </p:nvSpPr>
        <p:spPr>
          <a:xfrm>
            <a:off x="4348434" y="4907899"/>
            <a:ext cx="3463606" cy="487596"/>
          </a:xfrm>
          <a:prstGeom prst="rect">
            <a:avLst/>
          </a:prstGeom>
          <a:noFill/>
        </p:spPr>
        <p:txBody>
          <a:bodyPr wrap="square" lIns="0" rIns="0">
            <a:normAutofit/>
          </a:bodyPr>
          <a:lstStyle/>
          <a:p>
            <a:pPr>
              <a:lnSpc>
                <a:spcPct val="130000"/>
              </a:lnSpc>
              <a:spcBef>
                <a:spcPts val="600"/>
              </a:spcBef>
              <a:defRPr/>
            </a:pPr>
            <a:r>
              <a:rPr lang="zh-CN" altLang="en-US" dirty="0"/>
              <a:t>具有说明各种数据结构的手段。</a:t>
            </a:r>
          </a:p>
        </p:txBody>
      </p:sp>
      <p:grpSp>
        <p:nvGrpSpPr>
          <p:cNvPr id="23" name="组合 22"/>
          <p:cNvGrpSpPr/>
          <p:nvPr/>
        </p:nvGrpSpPr>
        <p:grpSpPr>
          <a:xfrm>
            <a:off x="1289154" y="3057993"/>
            <a:ext cx="3053290" cy="3013244"/>
            <a:chOff x="859155" y="2407920"/>
            <a:chExt cx="3483289" cy="3663318"/>
          </a:xfrm>
        </p:grpSpPr>
        <p:sp>
          <p:nvSpPr>
            <p:cNvPr id="27" name="Oval 15"/>
            <p:cNvSpPr>
              <a:spLocks noChangeArrowheads="1"/>
            </p:cNvSpPr>
            <p:nvPr>
              <p:custDataLst>
                <p:tags r:id="rId5"/>
              </p:custDataLst>
            </p:nvPr>
          </p:nvSpPr>
          <p:spPr bwMode="auto">
            <a:xfrm>
              <a:off x="1031859" y="2643465"/>
              <a:ext cx="3153119" cy="3182071"/>
            </a:xfrm>
            <a:prstGeom prst="ellipse">
              <a:avLst/>
            </a:prstGeom>
            <a:noFill/>
            <a:ln w="19050">
              <a:solidFill>
                <a:schemeClr val="accent1">
                  <a:alpha val="50000"/>
                </a:schemeClr>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28" name="Line 16"/>
            <p:cNvSpPr>
              <a:spLocks noChangeShapeType="1"/>
            </p:cNvSpPr>
            <p:nvPr>
              <p:custDataLst>
                <p:tags r:id="rId6"/>
              </p:custDataLst>
            </p:nvPr>
          </p:nvSpPr>
          <p:spPr bwMode="gray">
            <a:xfrm>
              <a:off x="859155" y="4241484"/>
              <a:ext cx="3483289" cy="0"/>
            </a:xfrm>
            <a:prstGeom prst="line">
              <a:avLst/>
            </a:prstGeom>
            <a:noFill/>
            <a:ln w="28575">
              <a:solidFill>
                <a:schemeClr val="accent1">
                  <a:alpha val="5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29" name="Line 17"/>
            <p:cNvSpPr>
              <a:spLocks noChangeShapeType="1"/>
            </p:cNvSpPr>
            <p:nvPr>
              <p:custDataLst>
                <p:tags r:id="rId7"/>
              </p:custDataLst>
            </p:nvPr>
          </p:nvSpPr>
          <p:spPr bwMode="gray">
            <a:xfrm>
              <a:off x="2600799" y="2407920"/>
              <a:ext cx="0" cy="3663318"/>
            </a:xfrm>
            <a:prstGeom prst="line">
              <a:avLst/>
            </a:prstGeom>
            <a:noFill/>
            <a:ln w="28575">
              <a:solidFill>
                <a:schemeClr val="accent1">
                  <a:alpha val="5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1" name="Oval 10"/>
            <p:cNvSpPr>
              <a:spLocks noChangeArrowheads="1"/>
            </p:cNvSpPr>
            <p:nvPr>
              <p:custDataLst>
                <p:tags r:id="rId8"/>
              </p:custDataLst>
            </p:nvPr>
          </p:nvSpPr>
          <p:spPr bwMode="gray">
            <a:xfrm>
              <a:off x="1204563" y="2823774"/>
              <a:ext cx="2789298" cy="2810660"/>
            </a:xfrm>
            <a:prstGeom prst="ellipse">
              <a:avLst/>
            </a:prstGeom>
            <a:noFill/>
            <a:ln w="9525">
              <a:solidFill>
                <a:schemeClr val="accent1">
                  <a:alpha val="50000"/>
                </a:schemeClr>
              </a:solidFill>
              <a:round/>
            </a:ln>
            <a:effectLst/>
            <a:extLst>
              <a:ext uri="{909E8E84-426E-40DD-AFC4-6F175D3DCCD1}">
                <a14:hiddenFill xmlns:a14="http://schemas.microsoft.com/office/drawing/2010/main">
                  <a:solidFill>
                    <a:schemeClr val="accent1">
                      <a:alpha val="64999"/>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2" name="Oval 13"/>
            <p:cNvSpPr>
              <a:spLocks noChangeArrowheads="1"/>
            </p:cNvSpPr>
            <p:nvPr>
              <p:custDataLst>
                <p:tags r:id="rId9"/>
              </p:custDataLst>
            </p:nvPr>
          </p:nvSpPr>
          <p:spPr bwMode="gray">
            <a:xfrm>
              <a:off x="1523304" y="3160900"/>
              <a:ext cx="2137213" cy="2181483"/>
            </a:xfrm>
            <a:prstGeom prst="ellipse">
              <a:avLst/>
            </a:prstGeom>
            <a:solidFill>
              <a:schemeClr val="accent1">
                <a:lumMod val="60000"/>
                <a:lumOff val="40000"/>
              </a:scheme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36" name="KSO_GT1"/>
            <p:cNvSpPr>
              <a:spLocks noChangeArrowheads="1"/>
            </p:cNvSpPr>
            <p:nvPr>
              <p:custDataLst>
                <p:tags r:id="rId10"/>
              </p:custDataLst>
            </p:nvPr>
          </p:nvSpPr>
          <p:spPr bwMode="gray">
            <a:xfrm>
              <a:off x="1908078" y="3553263"/>
              <a:ext cx="1368299" cy="1397394"/>
            </a:xfrm>
            <a:prstGeom prst="ellipse">
              <a:avLst/>
            </a:prstGeom>
            <a:solidFill>
              <a:schemeClr val="accent1"/>
            </a:solidFill>
            <a:ln>
              <a:noFill/>
            </a:ln>
            <a:effectLst/>
          </p:spPr>
          <p:txBody>
            <a:bodyPr wrap="square" lIns="0" tIns="0" rIns="0" bIns="0" anchor="ctr">
              <a:normAutofit/>
            </a:bodyPr>
            <a:lstStyle/>
            <a:p>
              <a:pPr algn="ctr">
                <a:defRPr/>
              </a:pPr>
              <a:r>
                <a:rPr lang="en-US" altLang="zh-CN" sz="2800" kern="0" dirty="0">
                  <a:solidFill>
                    <a:schemeClr val="bg1"/>
                  </a:solidFill>
                  <a:latin typeface="+mj-lt"/>
                  <a:ea typeface="+mj-ea"/>
                  <a:cs typeface="+mj-cs"/>
                </a:rPr>
                <a:t>PDL</a:t>
              </a:r>
            </a:p>
          </p:txBody>
        </p:sp>
        <p:sp>
          <p:nvSpPr>
            <p:cNvPr id="41" name="Oval 19"/>
            <p:cNvSpPr>
              <a:spLocks noChangeArrowheads="1"/>
            </p:cNvSpPr>
            <p:nvPr>
              <p:custDataLst>
                <p:tags r:id="rId11"/>
              </p:custDataLst>
            </p:nvPr>
          </p:nvSpPr>
          <p:spPr bwMode="gray">
            <a:xfrm>
              <a:off x="3021766" y="2589499"/>
              <a:ext cx="251437" cy="251417"/>
            </a:xfrm>
            <a:prstGeom prst="ellipse">
              <a:avLst/>
            </a:prstGeom>
            <a:solidFill>
              <a:schemeClr val="accent1"/>
            </a:solidFill>
            <a:ln w="12700">
              <a:solidFill>
                <a:schemeClr val="bg1"/>
              </a:solidFill>
              <a:round/>
            </a:ln>
            <a:effectLst/>
          </p:spPr>
          <p:txBody>
            <a:bodyPr wrap="square" anchor="ctr">
              <a:normAutofit fontScale="32500" lnSpcReduction="20000"/>
            </a:bodyPr>
            <a:lstStyle/>
            <a:p>
              <a:pPr>
                <a:defRPr/>
              </a:pPr>
              <a:endParaRPr lang="zh-CN" altLang="en-US" sz="1350" kern="0" dirty="0">
                <a:solidFill>
                  <a:sysClr val="windowText" lastClr="000000"/>
                </a:solidFill>
              </a:endParaRPr>
            </a:p>
          </p:txBody>
        </p:sp>
        <p:sp>
          <p:nvSpPr>
            <p:cNvPr id="44" name="Oval 19"/>
            <p:cNvSpPr>
              <a:spLocks noChangeArrowheads="1"/>
            </p:cNvSpPr>
            <p:nvPr>
              <p:custDataLst>
                <p:tags r:id="rId12"/>
              </p:custDataLst>
            </p:nvPr>
          </p:nvSpPr>
          <p:spPr bwMode="gray">
            <a:xfrm>
              <a:off x="3786235" y="3613577"/>
              <a:ext cx="251437" cy="251417"/>
            </a:xfrm>
            <a:prstGeom prst="ellipse">
              <a:avLst/>
            </a:prstGeom>
            <a:solidFill>
              <a:schemeClr val="accent1"/>
            </a:solidFill>
            <a:ln w="12700">
              <a:solidFill>
                <a:schemeClr val="bg1"/>
              </a:solidFill>
              <a:round/>
            </a:ln>
            <a:effectLst/>
          </p:spPr>
          <p:txBody>
            <a:bodyPr wrap="square" anchor="ctr">
              <a:normAutofit fontScale="32500" lnSpcReduction="20000"/>
            </a:bodyPr>
            <a:lstStyle/>
            <a:p>
              <a:pPr>
                <a:defRPr/>
              </a:pPr>
              <a:endParaRPr lang="zh-CN" altLang="en-US" sz="1350" kern="0" dirty="0">
                <a:solidFill>
                  <a:sysClr val="windowText" lastClr="000000"/>
                </a:solidFill>
              </a:endParaRPr>
            </a:p>
          </p:txBody>
        </p:sp>
        <p:sp>
          <p:nvSpPr>
            <p:cNvPr id="50" name="Oval 19"/>
            <p:cNvSpPr>
              <a:spLocks noChangeArrowheads="1"/>
            </p:cNvSpPr>
            <p:nvPr>
              <p:custDataLst>
                <p:tags r:id="rId13"/>
              </p:custDataLst>
            </p:nvPr>
          </p:nvSpPr>
          <p:spPr bwMode="gray">
            <a:xfrm>
              <a:off x="3786235" y="4640195"/>
              <a:ext cx="251437" cy="251417"/>
            </a:xfrm>
            <a:prstGeom prst="ellipse">
              <a:avLst/>
            </a:prstGeom>
            <a:solidFill>
              <a:schemeClr val="accent1"/>
            </a:solidFill>
            <a:ln w="12700">
              <a:solidFill>
                <a:schemeClr val="bg1"/>
              </a:solidFill>
              <a:round/>
            </a:ln>
            <a:effectLst/>
          </p:spPr>
          <p:txBody>
            <a:bodyPr wrap="square" anchor="ctr">
              <a:normAutofit fontScale="32500" lnSpcReduction="20000"/>
            </a:bodyPr>
            <a:lstStyle/>
            <a:p>
              <a:pPr>
                <a:defRPr/>
              </a:pPr>
              <a:endParaRPr lang="zh-CN" altLang="en-US" sz="1350" kern="0" dirty="0">
                <a:solidFill>
                  <a:sysClr val="windowText" lastClr="000000"/>
                </a:solidFill>
              </a:endParaRPr>
            </a:p>
          </p:txBody>
        </p:sp>
        <p:sp>
          <p:nvSpPr>
            <p:cNvPr id="54" name="Oval 19"/>
            <p:cNvSpPr>
              <a:spLocks noChangeArrowheads="1"/>
            </p:cNvSpPr>
            <p:nvPr>
              <p:custDataLst>
                <p:tags r:id="rId14"/>
              </p:custDataLst>
            </p:nvPr>
          </p:nvSpPr>
          <p:spPr bwMode="gray">
            <a:xfrm>
              <a:off x="3023671" y="5639512"/>
              <a:ext cx="251437" cy="251417"/>
            </a:xfrm>
            <a:prstGeom prst="ellipse">
              <a:avLst/>
            </a:prstGeom>
            <a:solidFill>
              <a:schemeClr val="accent1"/>
            </a:solidFill>
            <a:ln w="12700">
              <a:solidFill>
                <a:schemeClr val="bg1"/>
              </a:solidFill>
              <a:round/>
            </a:ln>
            <a:effectLst/>
          </p:spPr>
          <p:txBody>
            <a:bodyPr wrap="square" anchor="ctr">
              <a:normAutofit fontScale="32500" lnSpcReduction="20000"/>
            </a:bodyPr>
            <a:lstStyle/>
            <a:p>
              <a:pPr>
                <a:defRPr/>
              </a:pPr>
              <a:endParaRPr lang="zh-CN" altLang="en-US" sz="1350" kern="0" dirty="0">
                <a:solidFill>
                  <a:sysClr val="windowText" lastClr="000000"/>
                </a:solidFill>
              </a:endParaRPr>
            </a:p>
          </p:txBody>
        </p:sp>
      </p:grpSp>
      <p:sp>
        <p:nvSpPr>
          <p:cNvPr id="55" name="文本框 54"/>
          <p:cNvSpPr txBox="1"/>
          <p:nvPr>
            <p:custDataLst>
              <p:tags r:id="rId4"/>
            </p:custDataLst>
          </p:nvPr>
        </p:nvSpPr>
        <p:spPr>
          <a:xfrm>
            <a:off x="3485908" y="5600784"/>
            <a:ext cx="4265537" cy="487596"/>
          </a:xfrm>
          <a:prstGeom prst="rect">
            <a:avLst/>
          </a:prstGeom>
          <a:noFill/>
        </p:spPr>
        <p:txBody>
          <a:bodyPr wrap="square" lIns="0" rIns="0">
            <a:normAutofit/>
          </a:bodyPr>
          <a:lstStyle/>
          <a:p>
            <a:pPr>
              <a:lnSpc>
                <a:spcPct val="130000"/>
              </a:lnSpc>
              <a:spcBef>
                <a:spcPts val="600"/>
              </a:spcBef>
              <a:defRPr/>
            </a:pPr>
            <a:r>
              <a:rPr lang="zh-CN" altLang="en-US" dirty="0"/>
              <a:t>描述模块定义和调用以及模块接口模式。</a:t>
            </a:r>
          </a:p>
        </p:txBody>
      </p:sp>
      <p:grpSp>
        <p:nvGrpSpPr>
          <p:cNvPr id="33" name="组合 32"/>
          <p:cNvGrpSpPr/>
          <p:nvPr/>
        </p:nvGrpSpPr>
        <p:grpSpPr>
          <a:xfrm>
            <a:off x="5528852" y="1235147"/>
            <a:ext cx="5513705" cy="1193800"/>
            <a:chOff x="881" y="2735"/>
            <a:chExt cx="8683" cy="1880"/>
          </a:xfrm>
        </p:grpSpPr>
        <p:sp>
          <p:nvSpPr>
            <p:cNvPr id="167" name="圆角矩形"/>
            <p:cNvSpPr/>
            <p:nvPr/>
          </p:nvSpPr>
          <p:spPr>
            <a:xfrm>
              <a:off x="1188" y="3071"/>
              <a:ext cx="8376" cy="154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7"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ndParaRPr>
            </a:p>
          </p:txBody>
        </p:sp>
        <p:sp>
          <p:nvSpPr>
            <p:cNvPr id="35" name="文本框 34"/>
            <p:cNvSpPr txBox="1"/>
            <p:nvPr/>
          </p:nvSpPr>
          <p:spPr>
            <a:xfrm>
              <a:off x="1252" y="3174"/>
              <a:ext cx="8312" cy="1440"/>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dirty="0">
                  <a:sym typeface="+mn-ea"/>
                </a:rPr>
                <a:t>过程设计语言（Process Design Language，PDL）也称伪码，是一种混杂语言，混合使用叙述性说明和某种结构化程序设计语言的语法形式。</a:t>
              </a:r>
            </a:p>
          </p:txBody>
        </p:sp>
      </p:grpSp>
    </p:spTree>
  </p:cSld>
  <p:clrMapOvr>
    <a:masterClrMapping/>
  </p:clrMapOvr>
  <p:transition>
    <p:pull dir="d"/>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5 </a:t>
            </a:r>
            <a:r>
              <a:rPr lang="zh-CN" altLang="en-US" dirty="0">
                <a:sym typeface="+mn-ea"/>
              </a:rPr>
              <a:t>过程设计工具</a:t>
            </a: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3.5.6 </a:t>
            </a:r>
            <a:r>
              <a:rPr lang="zh-CN" altLang="en-US" sz="2400" dirty="0">
                <a:solidFill>
                  <a:schemeClr val="tx1"/>
                </a:solidFill>
              </a:rPr>
              <a:t>过程设计语言（</a:t>
            </a:r>
            <a:r>
              <a:rPr lang="en-US" altLang="zh-CN" sz="2400" dirty="0">
                <a:solidFill>
                  <a:schemeClr val="tx1"/>
                </a:solidFill>
              </a:rPr>
              <a:t>PDL</a:t>
            </a:r>
            <a:r>
              <a:rPr lang="zh-CN" altLang="en-US" sz="2400" dirty="0">
                <a:solidFill>
                  <a:schemeClr val="tx1"/>
                </a:solidFill>
              </a:rPr>
              <a:t>）</a:t>
            </a:r>
            <a:endParaRPr lang="en-US" altLang="zh-CN" sz="2400" dirty="0">
              <a:solidFill>
                <a:schemeClr val="tx1"/>
              </a:solidFill>
            </a:endParaRPr>
          </a:p>
        </p:txBody>
      </p:sp>
      <p:grpSp>
        <p:nvGrpSpPr>
          <p:cNvPr id="2" name="组合 1"/>
          <p:cNvGrpSpPr/>
          <p:nvPr/>
        </p:nvGrpSpPr>
        <p:grpSpPr>
          <a:xfrm>
            <a:off x="1158875" y="2263775"/>
            <a:ext cx="9873615" cy="3646805"/>
            <a:chOff x="1620" y="2925"/>
            <a:chExt cx="15549" cy="5743"/>
          </a:xfrm>
        </p:grpSpPr>
        <p:sp>
          <p:nvSpPr>
            <p:cNvPr id="5" name="MH_Other_1"/>
            <p:cNvSpPr/>
            <p:nvPr>
              <p:custDataLst>
                <p:tags r:id="rId1"/>
              </p:custDataLst>
            </p:nvPr>
          </p:nvSpPr>
          <p:spPr>
            <a:xfrm>
              <a:off x="3621" y="4345"/>
              <a:ext cx="10704" cy="1405"/>
            </a:xfrm>
            <a:custGeom>
              <a:avLst/>
              <a:gdLst>
                <a:gd name="connsiteX0" fmla="*/ 0 w 6192688"/>
                <a:gd name="connsiteY0" fmla="*/ 0 h 1261899"/>
                <a:gd name="connsiteX1" fmla="*/ 1656183 w 6192688"/>
                <a:gd name="connsiteY1" fmla="*/ 0 h 1261899"/>
                <a:gd name="connsiteX2" fmla="*/ 4179979 w 6192688"/>
                <a:gd name="connsiteY2" fmla="*/ 0 h 1261899"/>
                <a:gd name="connsiteX3" fmla="*/ 6192688 w 6192688"/>
                <a:gd name="connsiteY3" fmla="*/ 0 h 1261899"/>
                <a:gd name="connsiteX4" fmla="*/ 6192688 w 6192688"/>
                <a:gd name="connsiteY4" fmla="*/ 72008 h 1261899"/>
                <a:gd name="connsiteX5" fmla="*/ 4176343 w 6192688"/>
                <a:gd name="connsiteY5" fmla="*/ 72008 h 1261899"/>
                <a:gd name="connsiteX6" fmla="*/ 2918081 w 6192688"/>
                <a:gd name="connsiteY6" fmla="*/ 1261899 h 1261899"/>
                <a:gd name="connsiteX7" fmla="*/ 1659819 w 6192688"/>
                <a:gd name="connsiteY7" fmla="*/ 72008 h 1261899"/>
                <a:gd name="connsiteX8" fmla="*/ 0 w 6192688"/>
                <a:gd name="connsiteY8" fmla="*/ 72008 h 1261899"/>
                <a:gd name="connsiteX9" fmla="*/ 91440 w 6192688"/>
                <a:gd name="connsiteY9" fmla="*/ 91440 h 1261899"/>
                <a:gd name="connsiteX0-1" fmla="*/ 1656183 w 6192688"/>
                <a:gd name="connsiteY0-2" fmla="*/ 0 h 1261899"/>
                <a:gd name="connsiteX1-3" fmla="*/ 4179979 w 6192688"/>
                <a:gd name="connsiteY1-4" fmla="*/ 0 h 1261899"/>
                <a:gd name="connsiteX2-5" fmla="*/ 6192688 w 6192688"/>
                <a:gd name="connsiteY2-6" fmla="*/ 0 h 1261899"/>
                <a:gd name="connsiteX3-7" fmla="*/ 6192688 w 6192688"/>
                <a:gd name="connsiteY3-8" fmla="*/ 72008 h 1261899"/>
                <a:gd name="connsiteX4-9" fmla="*/ 4176343 w 6192688"/>
                <a:gd name="connsiteY4-10" fmla="*/ 72008 h 1261899"/>
                <a:gd name="connsiteX5-11" fmla="*/ 2918081 w 6192688"/>
                <a:gd name="connsiteY5-12" fmla="*/ 1261899 h 1261899"/>
                <a:gd name="connsiteX6-13" fmla="*/ 1659819 w 6192688"/>
                <a:gd name="connsiteY6-14" fmla="*/ 72008 h 1261899"/>
                <a:gd name="connsiteX7-15" fmla="*/ 0 w 6192688"/>
                <a:gd name="connsiteY7-16" fmla="*/ 72008 h 1261899"/>
                <a:gd name="connsiteX8-17" fmla="*/ 91440 w 6192688"/>
                <a:gd name="connsiteY8-18" fmla="*/ 91440 h 1261899"/>
                <a:gd name="connsiteX0-19" fmla="*/ 4179979 w 6192688"/>
                <a:gd name="connsiteY0-20" fmla="*/ 0 h 1261899"/>
                <a:gd name="connsiteX1-21" fmla="*/ 6192688 w 6192688"/>
                <a:gd name="connsiteY1-22" fmla="*/ 0 h 1261899"/>
                <a:gd name="connsiteX2-23" fmla="*/ 6192688 w 6192688"/>
                <a:gd name="connsiteY2-24" fmla="*/ 72008 h 1261899"/>
                <a:gd name="connsiteX3-25" fmla="*/ 4176343 w 6192688"/>
                <a:gd name="connsiteY3-26" fmla="*/ 72008 h 1261899"/>
                <a:gd name="connsiteX4-27" fmla="*/ 2918081 w 6192688"/>
                <a:gd name="connsiteY4-28" fmla="*/ 1261899 h 1261899"/>
                <a:gd name="connsiteX5-29" fmla="*/ 1659819 w 6192688"/>
                <a:gd name="connsiteY5-30" fmla="*/ 72008 h 1261899"/>
                <a:gd name="connsiteX6-31" fmla="*/ 0 w 6192688"/>
                <a:gd name="connsiteY6-32" fmla="*/ 72008 h 1261899"/>
                <a:gd name="connsiteX7-33" fmla="*/ 91440 w 6192688"/>
                <a:gd name="connsiteY7-34" fmla="*/ 91440 h 1261899"/>
                <a:gd name="connsiteX0-35" fmla="*/ 6192688 w 6192688"/>
                <a:gd name="connsiteY0-36" fmla="*/ 0 h 1261899"/>
                <a:gd name="connsiteX1-37" fmla="*/ 6192688 w 6192688"/>
                <a:gd name="connsiteY1-38" fmla="*/ 72008 h 1261899"/>
                <a:gd name="connsiteX2-39" fmla="*/ 4176343 w 6192688"/>
                <a:gd name="connsiteY2-40" fmla="*/ 72008 h 1261899"/>
                <a:gd name="connsiteX3-41" fmla="*/ 2918081 w 6192688"/>
                <a:gd name="connsiteY3-42" fmla="*/ 1261899 h 1261899"/>
                <a:gd name="connsiteX4-43" fmla="*/ 1659819 w 6192688"/>
                <a:gd name="connsiteY4-44" fmla="*/ 72008 h 1261899"/>
                <a:gd name="connsiteX5-45" fmla="*/ 0 w 6192688"/>
                <a:gd name="connsiteY5-46" fmla="*/ 72008 h 1261899"/>
                <a:gd name="connsiteX6-47" fmla="*/ 91440 w 6192688"/>
                <a:gd name="connsiteY6-48" fmla="*/ 91440 h 1261899"/>
                <a:gd name="connsiteX0-49" fmla="*/ 6192688 w 6192688"/>
                <a:gd name="connsiteY0-50" fmla="*/ 7233 h 1197124"/>
                <a:gd name="connsiteX1-51" fmla="*/ 4176343 w 6192688"/>
                <a:gd name="connsiteY1-52" fmla="*/ 7233 h 1197124"/>
                <a:gd name="connsiteX2-53" fmla="*/ 2918081 w 6192688"/>
                <a:gd name="connsiteY2-54" fmla="*/ 1197124 h 1197124"/>
                <a:gd name="connsiteX3-55" fmla="*/ 1659819 w 6192688"/>
                <a:gd name="connsiteY3-56" fmla="*/ 7233 h 1197124"/>
                <a:gd name="connsiteX4-57" fmla="*/ 0 w 6192688"/>
                <a:gd name="connsiteY4-58" fmla="*/ 7233 h 1197124"/>
                <a:gd name="connsiteX5-59" fmla="*/ 91440 w 6192688"/>
                <a:gd name="connsiteY5-60" fmla="*/ 26665 h 1197124"/>
                <a:gd name="connsiteX0-61" fmla="*/ 6101248 w 6101248"/>
                <a:gd name="connsiteY0-62" fmla="*/ 0 h 1189891"/>
                <a:gd name="connsiteX1-63" fmla="*/ 4084903 w 6101248"/>
                <a:gd name="connsiteY1-64" fmla="*/ 0 h 1189891"/>
                <a:gd name="connsiteX2-65" fmla="*/ 2826641 w 6101248"/>
                <a:gd name="connsiteY2-66" fmla="*/ 1189891 h 1189891"/>
                <a:gd name="connsiteX3-67" fmla="*/ 1568379 w 6101248"/>
                <a:gd name="connsiteY3-68" fmla="*/ 0 h 1189891"/>
                <a:gd name="connsiteX4-69" fmla="*/ 0 w 6101248"/>
                <a:gd name="connsiteY4-70" fmla="*/ 19432 h 1189891"/>
                <a:gd name="connsiteX0-71" fmla="*/ 6144791 w 6144791"/>
                <a:gd name="connsiteY0-72" fmla="*/ 0 h 1189891"/>
                <a:gd name="connsiteX1-73" fmla="*/ 4128446 w 6144791"/>
                <a:gd name="connsiteY1-74" fmla="*/ 0 h 1189891"/>
                <a:gd name="connsiteX2-75" fmla="*/ 2870184 w 6144791"/>
                <a:gd name="connsiteY2-76" fmla="*/ 1189891 h 1189891"/>
                <a:gd name="connsiteX3-77" fmla="*/ 1611922 w 6144791"/>
                <a:gd name="connsiteY3-78" fmla="*/ 0 h 1189891"/>
                <a:gd name="connsiteX4-79" fmla="*/ 0 w 6144791"/>
                <a:gd name="connsiteY4-80" fmla="*/ 4918 h 1189891"/>
                <a:gd name="connsiteX0-81" fmla="*/ 9163763 w 9163763"/>
                <a:gd name="connsiteY0-82" fmla="*/ 14515 h 1189891"/>
                <a:gd name="connsiteX1-83" fmla="*/ 4128446 w 9163763"/>
                <a:gd name="connsiteY1-84" fmla="*/ 0 h 1189891"/>
                <a:gd name="connsiteX2-85" fmla="*/ 2870184 w 9163763"/>
                <a:gd name="connsiteY2-86" fmla="*/ 1189891 h 1189891"/>
                <a:gd name="connsiteX3-87" fmla="*/ 1611922 w 9163763"/>
                <a:gd name="connsiteY3-88" fmla="*/ 0 h 1189891"/>
                <a:gd name="connsiteX4-89" fmla="*/ 0 w 9163763"/>
                <a:gd name="connsiteY4-90" fmla="*/ 4918 h 1189891"/>
                <a:gd name="connsiteX0-91" fmla="*/ 5938570 w 5938570"/>
                <a:gd name="connsiteY0-92" fmla="*/ 14516 h 1189891"/>
                <a:gd name="connsiteX1-93" fmla="*/ 4128446 w 5938570"/>
                <a:gd name="connsiteY1-94" fmla="*/ 0 h 1189891"/>
                <a:gd name="connsiteX2-95" fmla="*/ 2870184 w 5938570"/>
                <a:gd name="connsiteY2-96" fmla="*/ 1189891 h 1189891"/>
                <a:gd name="connsiteX3-97" fmla="*/ 1611922 w 5938570"/>
                <a:gd name="connsiteY3-98" fmla="*/ 0 h 1189891"/>
                <a:gd name="connsiteX4-99" fmla="*/ 0 w 5938570"/>
                <a:gd name="connsiteY4-100" fmla="*/ 4918 h 118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938570" h="1189891">
                  <a:moveTo>
                    <a:pt x="5938570" y="14516"/>
                  </a:moveTo>
                  <a:lnTo>
                    <a:pt x="4128446" y="0"/>
                  </a:lnTo>
                  <a:cubicBezTo>
                    <a:pt x="4092690" y="663472"/>
                    <a:pt x="3542913" y="1189891"/>
                    <a:pt x="2870184" y="1189891"/>
                  </a:cubicBezTo>
                  <a:cubicBezTo>
                    <a:pt x="2197455" y="1189891"/>
                    <a:pt x="1647677" y="663471"/>
                    <a:pt x="1611922" y="0"/>
                  </a:cubicBezTo>
                  <a:lnTo>
                    <a:pt x="0" y="4918"/>
                  </a:lnTo>
                </a:path>
              </a:pathLst>
            </a:custGeom>
            <a:noFill/>
            <a:ln w="76200" cmpd="thinThick">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FFFFFF"/>
                </a:solidFill>
              </a:endParaRPr>
            </a:p>
          </p:txBody>
        </p:sp>
        <p:sp>
          <p:nvSpPr>
            <p:cNvPr id="9" name="MH_Title_1"/>
            <p:cNvSpPr/>
            <p:nvPr>
              <p:custDataLst>
                <p:tags r:id="rId2"/>
              </p:custDataLst>
            </p:nvPr>
          </p:nvSpPr>
          <p:spPr>
            <a:xfrm>
              <a:off x="6953" y="2925"/>
              <a:ext cx="3772" cy="2465"/>
            </a:xfrm>
            <a:prstGeom prst="ellipse">
              <a:avLst/>
            </a:prstGeom>
            <a:solidFill>
              <a:schemeClr val="accent6">
                <a:lumMod val="40000"/>
                <a:lumOff val="60000"/>
              </a:schemeClr>
            </a:solidFill>
            <a:ln w="127000" cmpd="thinThick">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3200" b="1" dirty="0">
                  <a:solidFill>
                    <a:schemeClr val="tx1"/>
                  </a:solidFill>
                  <a:latin typeface="微软雅黑" panose="020B0503020204020204" charset="-122"/>
                  <a:ea typeface="微软雅黑" panose="020B0503020204020204" charset="-122"/>
                </a:rPr>
                <a:t>过程设计语言</a:t>
              </a:r>
            </a:p>
          </p:txBody>
        </p:sp>
        <p:sp>
          <p:nvSpPr>
            <p:cNvPr id="10" name="MH_SubTitle_1"/>
            <p:cNvSpPr/>
            <p:nvPr>
              <p:custDataLst>
                <p:tags r:id="rId3"/>
              </p:custDataLst>
            </p:nvPr>
          </p:nvSpPr>
          <p:spPr>
            <a:xfrm>
              <a:off x="2175" y="3732"/>
              <a:ext cx="4060" cy="1118"/>
            </a:xfrm>
            <a:prstGeom prst="roundRect">
              <a:avLst>
                <a:gd name="adj" fmla="val 3013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2800" b="1" dirty="0">
                  <a:solidFill>
                    <a:schemeClr val="tx2">
                      <a:lumMod val="75000"/>
                    </a:schemeClr>
                  </a:solidFill>
                  <a:latin typeface="微软雅黑" panose="020B0503020204020204" charset="-122"/>
                  <a:ea typeface="微软雅黑" panose="020B0503020204020204" charset="-122"/>
                </a:rPr>
                <a:t>优点</a:t>
              </a:r>
            </a:p>
          </p:txBody>
        </p:sp>
        <p:sp>
          <p:nvSpPr>
            <p:cNvPr id="11" name="MH_Text_1"/>
            <p:cNvSpPr txBox="1">
              <a:spLocks noChangeArrowheads="1"/>
            </p:cNvSpPr>
            <p:nvPr>
              <p:custDataLst>
                <p:tags r:id="rId4"/>
              </p:custDataLst>
            </p:nvPr>
          </p:nvSpPr>
          <p:spPr bwMode="auto">
            <a:xfrm>
              <a:off x="1620" y="5782"/>
              <a:ext cx="5336" cy="2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rmAutofit lnSpcReduction="10000"/>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30000"/>
                </a:lnSpc>
                <a:defRPr/>
              </a:pPr>
              <a:r>
                <a:rPr lang="en-US" altLang="zh-CN" sz="2000" dirty="0"/>
                <a:t>        </a:t>
              </a:r>
              <a:r>
                <a:rPr lang="zh-CN" altLang="en-US" sz="2000" dirty="0"/>
                <a:t>PDL作为软件设计工具，它与具体使用哪种编程语言无关，但能方便地转换为程序员所选择的任意一种编程语言（转换的难易程度有所区别）。</a:t>
              </a:r>
            </a:p>
          </p:txBody>
        </p:sp>
        <p:sp>
          <p:nvSpPr>
            <p:cNvPr id="12" name="MH_SubTitle_1"/>
            <p:cNvSpPr/>
            <p:nvPr>
              <p:custDataLst>
                <p:tags r:id="rId5"/>
              </p:custDataLst>
            </p:nvPr>
          </p:nvSpPr>
          <p:spPr>
            <a:xfrm>
              <a:off x="11400" y="3732"/>
              <a:ext cx="4163" cy="1118"/>
            </a:xfrm>
            <a:prstGeom prst="roundRect">
              <a:avLst>
                <a:gd name="adj" fmla="val 36824"/>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2800" b="1" dirty="0">
                  <a:solidFill>
                    <a:schemeClr val="tx2">
                      <a:lumMod val="75000"/>
                    </a:schemeClr>
                  </a:solidFill>
                  <a:latin typeface="微软雅黑" panose="020B0503020204020204" charset="-122"/>
                  <a:ea typeface="微软雅黑" panose="020B0503020204020204" charset="-122"/>
                </a:rPr>
                <a:t>缺点</a:t>
              </a:r>
            </a:p>
          </p:txBody>
        </p:sp>
        <p:sp>
          <p:nvSpPr>
            <p:cNvPr id="13" name="MH_Text_1"/>
            <p:cNvSpPr txBox="1">
              <a:spLocks noChangeArrowheads="1"/>
            </p:cNvSpPr>
            <p:nvPr>
              <p:custDataLst>
                <p:tags r:id="rId6"/>
              </p:custDataLst>
            </p:nvPr>
          </p:nvSpPr>
          <p:spPr bwMode="auto">
            <a:xfrm>
              <a:off x="10526" y="5463"/>
              <a:ext cx="6643" cy="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20000"/>
                </a:lnSpc>
              </a:pPr>
              <a:r>
                <a:rPr lang="en-US" sz="2000" dirty="0"/>
                <a:t>       </a:t>
              </a:r>
              <a:r>
                <a:rPr sz="2000" dirty="0"/>
                <a:t>PDL的缺点是，描述算法不如图形工具那样形象直观，在描述复杂条件组合及对应处理之间的关系时不如判定表那样清晰。</a:t>
              </a:r>
            </a:p>
          </p:txBody>
        </p:sp>
      </p:grpSp>
    </p:spTree>
  </p:cSld>
  <p:clrMapOvr>
    <a:masterClrMapping/>
  </p:clrMapOvr>
  <p:transition>
    <p:pull dir="d"/>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latin typeface="Times New Roman" panose="02020603050405020304" pitchFamily="18" charset="0"/>
            </a:endParaRPr>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6</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用户界面设计</a:t>
            </a:r>
          </a:p>
        </p:txBody>
      </p:sp>
      <p:grpSp>
        <p:nvGrpSpPr>
          <p:cNvPr id="11" name="组合 10"/>
          <p:cNvGrpSpPr/>
          <p:nvPr/>
        </p:nvGrpSpPr>
        <p:grpSpPr>
          <a:xfrm>
            <a:off x="6006465" y="4135755"/>
            <a:ext cx="4200525" cy="1027430"/>
            <a:chOff x="9459" y="7137"/>
            <a:chExt cx="6615" cy="161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用户界面设计问题</a:t>
              </a:r>
            </a:p>
          </p:txBody>
        </p:sp>
        <p:sp>
          <p:nvSpPr>
            <p:cNvPr id="50" name="文本框 49"/>
            <p:cNvSpPr txBox="1"/>
            <p:nvPr/>
          </p:nvSpPr>
          <p:spPr>
            <a:xfrm>
              <a:off x="9459" y="8097"/>
              <a:ext cx="6615"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用户界面设计过程和设计标准</a:t>
              </a:r>
            </a:p>
          </p:txBody>
        </p:sp>
      </p:grpSp>
      <p:sp>
        <p:nvSpPr>
          <p:cNvPr id="3" name="文本框 2"/>
          <p:cNvSpPr txBox="1"/>
          <p:nvPr/>
        </p:nvSpPr>
        <p:spPr>
          <a:xfrm>
            <a:off x="6006465" y="5358765"/>
            <a:ext cx="420052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用户界面设计指南</a:t>
            </a:r>
          </a:p>
        </p:txBody>
      </p:sp>
    </p:spTree>
  </p:cSld>
  <p:clrMapOvr>
    <a:masterClrMapping/>
  </p:clrMapOvr>
  <p:transition spd="slow">
    <p:wip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6 </a:t>
            </a:r>
            <a:r>
              <a:rPr lang="zh-CN" altLang="en-US" dirty="0">
                <a:sym typeface="+mn-ea"/>
              </a:rPr>
              <a:t>用户界面设计</a:t>
            </a: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3.6.1 </a:t>
            </a:r>
            <a:r>
              <a:rPr lang="zh-CN" altLang="en-US" sz="2400" dirty="0">
                <a:solidFill>
                  <a:schemeClr val="tx1"/>
                </a:solidFill>
              </a:rPr>
              <a:t>用户界面设计问题</a:t>
            </a:r>
          </a:p>
        </p:txBody>
      </p:sp>
      <p:grpSp>
        <p:nvGrpSpPr>
          <p:cNvPr id="11" name="组合 10"/>
          <p:cNvGrpSpPr/>
          <p:nvPr/>
        </p:nvGrpSpPr>
        <p:grpSpPr>
          <a:xfrm>
            <a:off x="1625844" y="4093602"/>
            <a:ext cx="8139305" cy="2218409"/>
            <a:chOff x="329" y="4009"/>
            <a:chExt cx="17066" cy="5044"/>
          </a:xfrm>
        </p:grpSpPr>
        <p:sp>
          <p:nvSpPr>
            <p:cNvPr id="42" name="Freeform 5"/>
            <p:cNvSpPr/>
            <p:nvPr>
              <p:custDataLst>
                <p:tags r:id="rId1"/>
              </p:custDataLst>
            </p:nvPr>
          </p:nvSpPr>
          <p:spPr bwMode="auto">
            <a:xfrm>
              <a:off x="9377" y="4091"/>
              <a:ext cx="454" cy="454"/>
            </a:xfrm>
            <a:custGeom>
              <a:avLst/>
              <a:gdLst>
                <a:gd name="T0" fmla="*/ 2147483646 w 48"/>
                <a:gd name="T1" fmla="*/ 2147483646 h 48"/>
                <a:gd name="T2" fmla="*/ 2147483646 w 48"/>
                <a:gd name="T3" fmla="*/ 2147483646 h 48"/>
                <a:gd name="T4" fmla="*/ 0 w 48"/>
                <a:gd name="T5" fmla="*/ 2147483646 h 48"/>
                <a:gd name="T6" fmla="*/ 2147483646 w 48"/>
                <a:gd name="T7" fmla="*/ 0 h 48"/>
                <a:gd name="T8" fmla="*/ 2147483646 w 48"/>
                <a:gd name="T9" fmla="*/ 2147483646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48">
                  <a:moveTo>
                    <a:pt x="48" y="24"/>
                  </a:moveTo>
                  <a:cubicBezTo>
                    <a:pt x="48" y="37"/>
                    <a:pt x="37" y="48"/>
                    <a:pt x="24" y="48"/>
                  </a:cubicBezTo>
                  <a:cubicBezTo>
                    <a:pt x="11" y="48"/>
                    <a:pt x="0" y="38"/>
                    <a:pt x="0" y="24"/>
                  </a:cubicBezTo>
                  <a:cubicBezTo>
                    <a:pt x="0" y="11"/>
                    <a:pt x="10" y="0"/>
                    <a:pt x="24" y="0"/>
                  </a:cubicBezTo>
                  <a:cubicBezTo>
                    <a:pt x="37" y="0"/>
                    <a:pt x="48" y="11"/>
                    <a:pt x="48" y="24"/>
                  </a:cubicBezTo>
                  <a:close/>
                </a:path>
              </a:pathLst>
            </a:custGeom>
            <a:solidFill>
              <a:schemeClr val="accent1"/>
            </a:solidFill>
            <a:ln>
              <a:noFill/>
            </a:ln>
          </p:spPr>
          <p:txBody>
            <a:bodyPr>
              <a:normAutofit fontScale="42500" lnSpcReduction="20000"/>
            </a:bodyPr>
            <a:lstStyle/>
            <a:p>
              <a:endParaRPr lang="zh-CN" altLang="en-US"/>
            </a:p>
          </p:txBody>
        </p:sp>
        <p:sp>
          <p:nvSpPr>
            <p:cNvPr id="43" name="Freeform 6"/>
            <p:cNvSpPr/>
            <p:nvPr>
              <p:custDataLst>
                <p:tags r:id="rId2"/>
              </p:custDataLst>
            </p:nvPr>
          </p:nvSpPr>
          <p:spPr bwMode="auto">
            <a:xfrm>
              <a:off x="9311" y="4564"/>
              <a:ext cx="578" cy="1345"/>
            </a:xfrm>
            <a:custGeom>
              <a:avLst/>
              <a:gdLst>
                <a:gd name="T0" fmla="*/ 2147483646 w 61"/>
                <a:gd name="T1" fmla="*/ 2147483646 h 142"/>
                <a:gd name="T2" fmla="*/ 2147483646 w 61"/>
                <a:gd name="T3" fmla="*/ 2147483646 h 142"/>
                <a:gd name="T4" fmla="*/ 2147483646 w 61"/>
                <a:gd name="T5" fmla="*/ 2147483646 h 142"/>
                <a:gd name="T6" fmla="*/ 2147483646 w 61"/>
                <a:gd name="T7" fmla="*/ 2147483646 h 142"/>
                <a:gd name="T8" fmla="*/ 2147483646 w 61"/>
                <a:gd name="T9" fmla="*/ 2147483646 h 142"/>
                <a:gd name="T10" fmla="*/ 0 w 61"/>
                <a:gd name="T11" fmla="*/ 2147483646 h 142"/>
                <a:gd name="T12" fmla="*/ 2147483646 w 61"/>
                <a:gd name="T13" fmla="*/ 0 h 142"/>
                <a:gd name="T14" fmla="*/ 2147483646 w 61"/>
                <a:gd name="T15" fmla="*/ 0 h 142"/>
                <a:gd name="T16" fmla="*/ 2147483646 w 61"/>
                <a:gd name="T17" fmla="*/ 2147483646 h 142"/>
                <a:gd name="T18" fmla="*/ 2147483646 w 61"/>
                <a:gd name="T19" fmla="*/ 2147483646 h 142"/>
                <a:gd name="T20" fmla="*/ 2147483646 w 61"/>
                <a:gd name="T21" fmla="*/ 2147483646 h 1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142">
                  <a:moveTo>
                    <a:pt x="54" y="129"/>
                  </a:moveTo>
                  <a:cubicBezTo>
                    <a:pt x="54" y="141"/>
                    <a:pt x="43" y="51"/>
                    <a:pt x="31" y="52"/>
                  </a:cubicBezTo>
                  <a:cubicBezTo>
                    <a:pt x="31" y="52"/>
                    <a:pt x="31" y="52"/>
                    <a:pt x="31" y="52"/>
                  </a:cubicBezTo>
                  <a:cubicBezTo>
                    <a:pt x="19" y="52"/>
                    <a:pt x="9" y="142"/>
                    <a:pt x="9" y="129"/>
                  </a:cubicBezTo>
                  <a:cubicBezTo>
                    <a:pt x="15" y="24"/>
                    <a:pt x="15" y="24"/>
                    <a:pt x="15" y="24"/>
                  </a:cubicBezTo>
                  <a:cubicBezTo>
                    <a:pt x="0" y="44"/>
                    <a:pt x="0" y="44"/>
                    <a:pt x="0" y="44"/>
                  </a:cubicBezTo>
                  <a:cubicBezTo>
                    <a:pt x="0" y="41"/>
                    <a:pt x="21" y="0"/>
                    <a:pt x="31" y="0"/>
                  </a:cubicBezTo>
                  <a:cubicBezTo>
                    <a:pt x="31" y="0"/>
                    <a:pt x="31" y="0"/>
                    <a:pt x="31" y="0"/>
                  </a:cubicBezTo>
                  <a:cubicBezTo>
                    <a:pt x="41" y="0"/>
                    <a:pt x="61" y="43"/>
                    <a:pt x="61" y="45"/>
                  </a:cubicBezTo>
                  <a:cubicBezTo>
                    <a:pt x="47" y="24"/>
                    <a:pt x="47" y="24"/>
                    <a:pt x="47" y="24"/>
                  </a:cubicBezTo>
                  <a:lnTo>
                    <a:pt x="54" y="129"/>
                  </a:lnTo>
                  <a:close/>
                </a:path>
              </a:pathLst>
            </a:custGeom>
            <a:solidFill>
              <a:schemeClr val="accent1"/>
            </a:solidFill>
            <a:ln>
              <a:noFill/>
            </a:ln>
          </p:spPr>
          <p:txBody>
            <a:bodyPr>
              <a:normAutofit/>
            </a:bodyPr>
            <a:lstStyle/>
            <a:p>
              <a:endParaRPr lang="zh-CN" altLang="en-US"/>
            </a:p>
          </p:txBody>
        </p:sp>
        <p:sp>
          <p:nvSpPr>
            <p:cNvPr id="44" name="Freeform 5"/>
            <p:cNvSpPr/>
            <p:nvPr>
              <p:custDataLst>
                <p:tags r:id="rId3"/>
              </p:custDataLst>
            </p:nvPr>
          </p:nvSpPr>
          <p:spPr bwMode="auto">
            <a:xfrm rot="10800000">
              <a:off x="9368" y="8067"/>
              <a:ext cx="454" cy="454"/>
            </a:xfrm>
            <a:custGeom>
              <a:avLst/>
              <a:gdLst>
                <a:gd name="T0" fmla="*/ 2147483646 w 48"/>
                <a:gd name="T1" fmla="*/ 2147483646 h 48"/>
                <a:gd name="T2" fmla="*/ 2147483646 w 48"/>
                <a:gd name="T3" fmla="*/ 2147483646 h 48"/>
                <a:gd name="T4" fmla="*/ 0 w 48"/>
                <a:gd name="T5" fmla="*/ 2147483646 h 48"/>
                <a:gd name="T6" fmla="*/ 2147483646 w 48"/>
                <a:gd name="T7" fmla="*/ 0 h 48"/>
                <a:gd name="T8" fmla="*/ 2147483646 w 48"/>
                <a:gd name="T9" fmla="*/ 2147483646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48">
                  <a:moveTo>
                    <a:pt x="48" y="24"/>
                  </a:moveTo>
                  <a:cubicBezTo>
                    <a:pt x="48" y="37"/>
                    <a:pt x="37" y="48"/>
                    <a:pt x="24" y="48"/>
                  </a:cubicBezTo>
                  <a:cubicBezTo>
                    <a:pt x="11" y="48"/>
                    <a:pt x="0" y="38"/>
                    <a:pt x="0" y="24"/>
                  </a:cubicBezTo>
                  <a:cubicBezTo>
                    <a:pt x="0" y="11"/>
                    <a:pt x="10" y="0"/>
                    <a:pt x="24" y="0"/>
                  </a:cubicBezTo>
                  <a:cubicBezTo>
                    <a:pt x="37" y="0"/>
                    <a:pt x="48" y="11"/>
                    <a:pt x="48" y="24"/>
                  </a:cubicBezTo>
                  <a:close/>
                </a:path>
              </a:pathLst>
            </a:custGeom>
            <a:solidFill>
              <a:schemeClr val="accent2"/>
            </a:solidFill>
            <a:ln>
              <a:noFill/>
            </a:ln>
          </p:spPr>
          <p:txBody>
            <a:bodyPr>
              <a:normAutofit fontScale="42500" lnSpcReduction="20000"/>
            </a:bodyPr>
            <a:lstStyle/>
            <a:p>
              <a:endParaRPr lang="zh-CN" altLang="en-US"/>
            </a:p>
          </p:txBody>
        </p:sp>
        <p:sp>
          <p:nvSpPr>
            <p:cNvPr id="45" name="Freeform 6"/>
            <p:cNvSpPr/>
            <p:nvPr>
              <p:custDataLst>
                <p:tags r:id="rId4"/>
              </p:custDataLst>
            </p:nvPr>
          </p:nvSpPr>
          <p:spPr bwMode="auto">
            <a:xfrm rot="10800000">
              <a:off x="9311" y="6703"/>
              <a:ext cx="578" cy="1345"/>
            </a:xfrm>
            <a:custGeom>
              <a:avLst/>
              <a:gdLst>
                <a:gd name="T0" fmla="*/ 2147483646 w 61"/>
                <a:gd name="T1" fmla="*/ 2147483646 h 142"/>
                <a:gd name="T2" fmla="*/ 2147483646 w 61"/>
                <a:gd name="T3" fmla="*/ 2147483646 h 142"/>
                <a:gd name="T4" fmla="*/ 2147483646 w 61"/>
                <a:gd name="T5" fmla="*/ 2147483646 h 142"/>
                <a:gd name="T6" fmla="*/ 2147483646 w 61"/>
                <a:gd name="T7" fmla="*/ 2147483646 h 142"/>
                <a:gd name="T8" fmla="*/ 2147483646 w 61"/>
                <a:gd name="T9" fmla="*/ 2147483646 h 142"/>
                <a:gd name="T10" fmla="*/ 0 w 61"/>
                <a:gd name="T11" fmla="*/ 2147483646 h 142"/>
                <a:gd name="T12" fmla="*/ 2147483646 w 61"/>
                <a:gd name="T13" fmla="*/ 0 h 142"/>
                <a:gd name="T14" fmla="*/ 2147483646 w 61"/>
                <a:gd name="T15" fmla="*/ 0 h 142"/>
                <a:gd name="T16" fmla="*/ 2147483646 w 61"/>
                <a:gd name="T17" fmla="*/ 2147483646 h 142"/>
                <a:gd name="T18" fmla="*/ 2147483646 w 61"/>
                <a:gd name="T19" fmla="*/ 2147483646 h 142"/>
                <a:gd name="T20" fmla="*/ 2147483646 w 61"/>
                <a:gd name="T21" fmla="*/ 2147483646 h 1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142">
                  <a:moveTo>
                    <a:pt x="54" y="129"/>
                  </a:moveTo>
                  <a:cubicBezTo>
                    <a:pt x="54" y="141"/>
                    <a:pt x="43" y="51"/>
                    <a:pt x="31" y="52"/>
                  </a:cubicBezTo>
                  <a:cubicBezTo>
                    <a:pt x="31" y="52"/>
                    <a:pt x="31" y="52"/>
                    <a:pt x="31" y="52"/>
                  </a:cubicBezTo>
                  <a:cubicBezTo>
                    <a:pt x="19" y="52"/>
                    <a:pt x="9" y="142"/>
                    <a:pt x="9" y="129"/>
                  </a:cubicBezTo>
                  <a:cubicBezTo>
                    <a:pt x="15" y="24"/>
                    <a:pt x="15" y="24"/>
                    <a:pt x="15" y="24"/>
                  </a:cubicBezTo>
                  <a:cubicBezTo>
                    <a:pt x="0" y="44"/>
                    <a:pt x="0" y="44"/>
                    <a:pt x="0" y="44"/>
                  </a:cubicBezTo>
                  <a:cubicBezTo>
                    <a:pt x="0" y="41"/>
                    <a:pt x="21" y="0"/>
                    <a:pt x="31" y="0"/>
                  </a:cubicBezTo>
                  <a:cubicBezTo>
                    <a:pt x="31" y="0"/>
                    <a:pt x="31" y="0"/>
                    <a:pt x="31" y="0"/>
                  </a:cubicBezTo>
                  <a:cubicBezTo>
                    <a:pt x="41" y="0"/>
                    <a:pt x="61" y="43"/>
                    <a:pt x="61" y="45"/>
                  </a:cubicBezTo>
                  <a:cubicBezTo>
                    <a:pt x="47" y="24"/>
                    <a:pt x="47" y="24"/>
                    <a:pt x="47" y="24"/>
                  </a:cubicBezTo>
                  <a:lnTo>
                    <a:pt x="54" y="129"/>
                  </a:lnTo>
                  <a:close/>
                </a:path>
              </a:pathLst>
            </a:custGeom>
            <a:solidFill>
              <a:schemeClr val="accent2"/>
            </a:solidFill>
            <a:ln>
              <a:noFill/>
            </a:ln>
          </p:spPr>
          <p:txBody>
            <a:bodyPr>
              <a:normAutofit/>
            </a:bodyPr>
            <a:lstStyle/>
            <a:p>
              <a:endParaRPr lang="zh-CN" altLang="en-US"/>
            </a:p>
          </p:txBody>
        </p:sp>
        <p:sp>
          <p:nvSpPr>
            <p:cNvPr id="59" name="Freeform 5"/>
            <p:cNvSpPr/>
            <p:nvPr>
              <p:custDataLst>
                <p:tags r:id="rId5"/>
              </p:custDataLst>
            </p:nvPr>
          </p:nvSpPr>
          <p:spPr bwMode="auto">
            <a:xfrm rot="5400000">
              <a:off x="11361" y="6083"/>
              <a:ext cx="454" cy="454"/>
            </a:xfrm>
            <a:custGeom>
              <a:avLst/>
              <a:gdLst>
                <a:gd name="T0" fmla="*/ 2147483646 w 48"/>
                <a:gd name="T1" fmla="*/ 2147483646 h 48"/>
                <a:gd name="T2" fmla="*/ 2147483646 w 48"/>
                <a:gd name="T3" fmla="*/ 2147483646 h 48"/>
                <a:gd name="T4" fmla="*/ 0 w 48"/>
                <a:gd name="T5" fmla="*/ 2147483646 h 48"/>
                <a:gd name="T6" fmla="*/ 2147483646 w 48"/>
                <a:gd name="T7" fmla="*/ 0 h 48"/>
                <a:gd name="T8" fmla="*/ 2147483646 w 48"/>
                <a:gd name="T9" fmla="*/ 2147483646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48">
                  <a:moveTo>
                    <a:pt x="48" y="24"/>
                  </a:moveTo>
                  <a:cubicBezTo>
                    <a:pt x="48" y="37"/>
                    <a:pt x="37" y="48"/>
                    <a:pt x="24" y="48"/>
                  </a:cubicBezTo>
                  <a:cubicBezTo>
                    <a:pt x="11" y="48"/>
                    <a:pt x="0" y="38"/>
                    <a:pt x="0" y="24"/>
                  </a:cubicBezTo>
                  <a:cubicBezTo>
                    <a:pt x="0" y="11"/>
                    <a:pt x="10" y="0"/>
                    <a:pt x="24" y="0"/>
                  </a:cubicBezTo>
                  <a:cubicBezTo>
                    <a:pt x="37" y="0"/>
                    <a:pt x="48" y="11"/>
                    <a:pt x="48" y="24"/>
                  </a:cubicBezTo>
                  <a:close/>
                </a:path>
              </a:pathLst>
            </a:custGeom>
            <a:solidFill>
              <a:schemeClr val="accent3"/>
            </a:solidFill>
            <a:ln>
              <a:noFill/>
            </a:ln>
          </p:spPr>
          <p:txBody>
            <a:bodyPr>
              <a:normAutofit fontScale="57500" lnSpcReduction="20000"/>
            </a:bodyPr>
            <a:lstStyle/>
            <a:p>
              <a:endParaRPr lang="zh-CN" altLang="en-US"/>
            </a:p>
          </p:txBody>
        </p:sp>
        <p:sp>
          <p:nvSpPr>
            <p:cNvPr id="60" name="Freeform 6"/>
            <p:cNvSpPr/>
            <p:nvPr>
              <p:custDataLst>
                <p:tags r:id="rId6"/>
              </p:custDataLst>
            </p:nvPr>
          </p:nvSpPr>
          <p:spPr bwMode="auto">
            <a:xfrm rot="5400000">
              <a:off x="10380" y="5634"/>
              <a:ext cx="578" cy="1345"/>
            </a:xfrm>
            <a:custGeom>
              <a:avLst/>
              <a:gdLst>
                <a:gd name="T0" fmla="*/ 2147483646 w 61"/>
                <a:gd name="T1" fmla="*/ 2147483646 h 142"/>
                <a:gd name="T2" fmla="*/ 2147483646 w 61"/>
                <a:gd name="T3" fmla="*/ 2147483646 h 142"/>
                <a:gd name="T4" fmla="*/ 2147483646 w 61"/>
                <a:gd name="T5" fmla="*/ 2147483646 h 142"/>
                <a:gd name="T6" fmla="*/ 2147483646 w 61"/>
                <a:gd name="T7" fmla="*/ 2147483646 h 142"/>
                <a:gd name="T8" fmla="*/ 2147483646 w 61"/>
                <a:gd name="T9" fmla="*/ 2147483646 h 142"/>
                <a:gd name="T10" fmla="*/ 0 w 61"/>
                <a:gd name="T11" fmla="*/ 2147483646 h 142"/>
                <a:gd name="T12" fmla="*/ 2147483646 w 61"/>
                <a:gd name="T13" fmla="*/ 0 h 142"/>
                <a:gd name="T14" fmla="*/ 2147483646 w 61"/>
                <a:gd name="T15" fmla="*/ 0 h 142"/>
                <a:gd name="T16" fmla="*/ 2147483646 w 61"/>
                <a:gd name="T17" fmla="*/ 2147483646 h 142"/>
                <a:gd name="T18" fmla="*/ 2147483646 w 61"/>
                <a:gd name="T19" fmla="*/ 2147483646 h 142"/>
                <a:gd name="T20" fmla="*/ 2147483646 w 61"/>
                <a:gd name="T21" fmla="*/ 2147483646 h 1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142">
                  <a:moveTo>
                    <a:pt x="54" y="129"/>
                  </a:moveTo>
                  <a:cubicBezTo>
                    <a:pt x="54" y="141"/>
                    <a:pt x="43" y="51"/>
                    <a:pt x="31" y="52"/>
                  </a:cubicBezTo>
                  <a:cubicBezTo>
                    <a:pt x="31" y="52"/>
                    <a:pt x="31" y="52"/>
                    <a:pt x="31" y="52"/>
                  </a:cubicBezTo>
                  <a:cubicBezTo>
                    <a:pt x="19" y="52"/>
                    <a:pt x="9" y="142"/>
                    <a:pt x="9" y="129"/>
                  </a:cubicBezTo>
                  <a:cubicBezTo>
                    <a:pt x="15" y="24"/>
                    <a:pt x="15" y="24"/>
                    <a:pt x="15" y="24"/>
                  </a:cubicBezTo>
                  <a:cubicBezTo>
                    <a:pt x="0" y="44"/>
                    <a:pt x="0" y="44"/>
                    <a:pt x="0" y="44"/>
                  </a:cubicBezTo>
                  <a:cubicBezTo>
                    <a:pt x="0" y="41"/>
                    <a:pt x="21" y="0"/>
                    <a:pt x="31" y="0"/>
                  </a:cubicBezTo>
                  <a:cubicBezTo>
                    <a:pt x="31" y="0"/>
                    <a:pt x="31" y="0"/>
                    <a:pt x="31" y="0"/>
                  </a:cubicBezTo>
                  <a:cubicBezTo>
                    <a:pt x="41" y="0"/>
                    <a:pt x="61" y="43"/>
                    <a:pt x="61" y="45"/>
                  </a:cubicBezTo>
                  <a:cubicBezTo>
                    <a:pt x="47" y="24"/>
                    <a:pt x="47" y="24"/>
                    <a:pt x="47" y="24"/>
                  </a:cubicBezTo>
                  <a:lnTo>
                    <a:pt x="54" y="129"/>
                  </a:lnTo>
                  <a:close/>
                </a:path>
              </a:pathLst>
            </a:custGeom>
            <a:solidFill>
              <a:schemeClr val="accent3"/>
            </a:solidFill>
            <a:ln>
              <a:noFill/>
            </a:ln>
          </p:spPr>
          <p:txBody>
            <a:bodyPr>
              <a:normAutofit/>
            </a:bodyPr>
            <a:lstStyle/>
            <a:p>
              <a:endParaRPr lang="zh-CN" altLang="en-US"/>
            </a:p>
          </p:txBody>
        </p:sp>
        <p:sp>
          <p:nvSpPr>
            <p:cNvPr id="61" name="Freeform 5"/>
            <p:cNvSpPr/>
            <p:nvPr>
              <p:custDataLst>
                <p:tags r:id="rId7"/>
              </p:custDataLst>
            </p:nvPr>
          </p:nvSpPr>
          <p:spPr bwMode="auto">
            <a:xfrm rot="16200000">
              <a:off x="7385" y="6075"/>
              <a:ext cx="454" cy="454"/>
            </a:xfrm>
            <a:custGeom>
              <a:avLst/>
              <a:gdLst>
                <a:gd name="T0" fmla="*/ 2147483646 w 48"/>
                <a:gd name="T1" fmla="*/ 2147483646 h 48"/>
                <a:gd name="T2" fmla="*/ 2147483646 w 48"/>
                <a:gd name="T3" fmla="*/ 2147483646 h 48"/>
                <a:gd name="T4" fmla="*/ 0 w 48"/>
                <a:gd name="T5" fmla="*/ 2147483646 h 48"/>
                <a:gd name="T6" fmla="*/ 2147483646 w 48"/>
                <a:gd name="T7" fmla="*/ 0 h 48"/>
                <a:gd name="T8" fmla="*/ 2147483646 w 48"/>
                <a:gd name="T9" fmla="*/ 2147483646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48">
                  <a:moveTo>
                    <a:pt x="48" y="24"/>
                  </a:moveTo>
                  <a:cubicBezTo>
                    <a:pt x="48" y="37"/>
                    <a:pt x="37" y="48"/>
                    <a:pt x="24" y="48"/>
                  </a:cubicBezTo>
                  <a:cubicBezTo>
                    <a:pt x="11" y="48"/>
                    <a:pt x="0" y="38"/>
                    <a:pt x="0" y="24"/>
                  </a:cubicBezTo>
                  <a:cubicBezTo>
                    <a:pt x="0" y="11"/>
                    <a:pt x="10" y="0"/>
                    <a:pt x="24" y="0"/>
                  </a:cubicBezTo>
                  <a:cubicBezTo>
                    <a:pt x="37" y="0"/>
                    <a:pt x="48" y="11"/>
                    <a:pt x="48" y="24"/>
                  </a:cubicBezTo>
                  <a:close/>
                </a:path>
              </a:pathLst>
            </a:custGeom>
            <a:solidFill>
              <a:schemeClr val="accent5"/>
            </a:solidFill>
            <a:ln>
              <a:noFill/>
            </a:ln>
          </p:spPr>
          <p:txBody>
            <a:bodyPr>
              <a:normAutofit fontScale="57500" lnSpcReduction="20000"/>
            </a:bodyPr>
            <a:lstStyle/>
            <a:p>
              <a:endParaRPr lang="zh-CN" altLang="en-US"/>
            </a:p>
          </p:txBody>
        </p:sp>
        <p:sp>
          <p:nvSpPr>
            <p:cNvPr id="62" name="Freeform 6"/>
            <p:cNvSpPr/>
            <p:nvPr>
              <p:custDataLst>
                <p:tags r:id="rId8"/>
              </p:custDataLst>
            </p:nvPr>
          </p:nvSpPr>
          <p:spPr bwMode="auto">
            <a:xfrm rot="16200000">
              <a:off x="8241" y="5634"/>
              <a:ext cx="578" cy="1345"/>
            </a:xfrm>
            <a:custGeom>
              <a:avLst/>
              <a:gdLst>
                <a:gd name="T0" fmla="*/ 2147483646 w 61"/>
                <a:gd name="T1" fmla="*/ 2147483646 h 142"/>
                <a:gd name="T2" fmla="*/ 2147483646 w 61"/>
                <a:gd name="T3" fmla="*/ 2147483646 h 142"/>
                <a:gd name="T4" fmla="*/ 2147483646 w 61"/>
                <a:gd name="T5" fmla="*/ 2147483646 h 142"/>
                <a:gd name="T6" fmla="*/ 2147483646 w 61"/>
                <a:gd name="T7" fmla="*/ 2147483646 h 142"/>
                <a:gd name="T8" fmla="*/ 2147483646 w 61"/>
                <a:gd name="T9" fmla="*/ 2147483646 h 142"/>
                <a:gd name="T10" fmla="*/ 0 w 61"/>
                <a:gd name="T11" fmla="*/ 2147483646 h 142"/>
                <a:gd name="T12" fmla="*/ 2147483646 w 61"/>
                <a:gd name="T13" fmla="*/ 0 h 142"/>
                <a:gd name="T14" fmla="*/ 2147483646 w 61"/>
                <a:gd name="T15" fmla="*/ 0 h 142"/>
                <a:gd name="T16" fmla="*/ 2147483646 w 61"/>
                <a:gd name="T17" fmla="*/ 2147483646 h 142"/>
                <a:gd name="T18" fmla="*/ 2147483646 w 61"/>
                <a:gd name="T19" fmla="*/ 2147483646 h 142"/>
                <a:gd name="T20" fmla="*/ 2147483646 w 61"/>
                <a:gd name="T21" fmla="*/ 2147483646 h 1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142">
                  <a:moveTo>
                    <a:pt x="54" y="129"/>
                  </a:moveTo>
                  <a:cubicBezTo>
                    <a:pt x="54" y="141"/>
                    <a:pt x="43" y="51"/>
                    <a:pt x="31" y="52"/>
                  </a:cubicBezTo>
                  <a:cubicBezTo>
                    <a:pt x="31" y="52"/>
                    <a:pt x="31" y="52"/>
                    <a:pt x="31" y="52"/>
                  </a:cubicBezTo>
                  <a:cubicBezTo>
                    <a:pt x="19" y="52"/>
                    <a:pt x="9" y="142"/>
                    <a:pt x="9" y="129"/>
                  </a:cubicBezTo>
                  <a:cubicBezTo>
                    <a:pt x="15" y="24"/>
                    <a:pt x="15" y="24"/>
                    <a:pt x="15" y="24"/>
                  </a:cubicBezTo>
                  <a:cubicBezTo>
                    <a:pt x="0" y="44"/>
                    <a:pt x="0" y="44"/>
                    <a:pt x="0" y="44"/>
                  </a:cubicBezTo>
                  <a:cubicBezTo>
                    <a:pt x="0" y="41"/>
                    <a:pt x="21" y="0"/>
                    <a:pt x="31" y="0"/>
                  </a:cubicBezTo>
                  <a:cubicBezTo>
                    <a:pt x="31" y="0"/>
                    <a:pt x="31" y="0"/>
                    <a:pt x="31" y="0"/>
                  </a:cubicBezTo>
                  <a:cubicBezTo>
                    <a:pt x="41" y="0"/>
                    <a:pt x="61" y="43"/>
                    <a:pt x="61" y="45"/>
                  </a:cubicBezTo>
                  <a:cubicBezTo>
                    <a:pt x="47" y="24"/>
                    <a:pt x="47" y="24"/>
                    <a:pt x="47" y="24"/>
                  </a:cubicBezTo>
                  <a:lnTo>
                    <a:pt x="54" y="129"/>
                  </a:lnTo>
                  <a:close/>
                </a:path>
              </a:pathLst>
            </a:custGeom>
            <a:solidFill>
              <a:schemeClr val="accent5"/>
            </a:solidFill>
            <a:ln>
              <a:noFill/>
            </a:ln>
          </p:spPr>
          <p:txBody>
            <a:bodyPr>
              <a:normAutofit/>
            </a:bodyPr>
            <a:lstStyle/>
            <a:p>
              <a:endParaRPr lang="zh-CN" altLang="en-US"/>
            </a:p>
          </p:txBody>
        </p:sp>
        <p:sp>
          <p:nvSpPr>
            <p:cNvPr id="65" name="Freeform 13"/>
            <p:cNvSpPr/>
            <p:nvPr>
              <p:custDataLst>
                <p:tags r:id="rId9"/>
              </p:custDataLst>
            </p:nvPr>
          </p:nvSpPr>
          <p:spPr bwMode="auto">
            <a:xfrm rot="13352992">
              <a:off x="10435" y="4379"/>
              <a:ext cx="1346" cy="451"/>
            </a:xfrm>
            <a:custGeom>
              <a:avLst/>
              <a:gdLst>
                <a:gd name="T0" fmla="*/ 2147483646 w 134"/>
                <a:gd name="T1" fmla="*/ 2147483646 h 45"/>
                <a:gd name="T2" fmla="*/ 0 w 134"/>
                <a:gd name="T3" fmla="*/ 858130801 h 45"/>
                <a:gd name="T4" fmla="*/ 717286263 w 134"/>
                <a:gd name="T5" fmla="*/ 0 h 45"/>
                <a:gd name="T6" fmla="*/ 2147483646 w 134"/>
                <a:gd name="T7" fmla="*/ 572091187 h 45"/>
                <a:gd name="T8" fmla="*/ 2147483646 w 134"/>
                <a:gd name="T9" fmla="*/ 1430221989 h 45"/>
                <a:gd name="T10" fmla="*/ 2147483646 w 134"/>
                <a:gd name="T11" fmla="*/ 2147483646 h 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45">
                  <a:moveTo>
                    <a:pt x="69" y="32"/>
                  </a:moveTo>
                  <a:cubicBezTo>
                    <a:pt x="37" y="32"/>
                    <a:pt x="12" y="16"/>
                    <a:pt x="0" y="6"/>
                  </a:cubicBezTo>
                  <a:cubicBezTo>
                    <a:pt x="5" y="0"/>
                    <a:pt x="5" y="0"/>
                    <a:pt x="5" y="0"/>
                  </a:cubicBezTo>
                  <a:cubicBezTo>
                    <a:pt x="23" y="15"/>
                    <a:pt x="70" y="45"/>
                    <a:pt x="129" y="4"/>
                  </a:cubicBezTo>
                  <a:cubicBezTo>
                    <a:pt x="134" y="10"/>
                    <a:pt x="134" y="10"/>
                    <a:pt x="134" y="10"/>
                  </a:cubicBezTo>
                  <a:cubicBezTo>
                    <a:pt x="110" y="26"/>
                    <a:pt x="88" y="32"/>
                    <a:pt x="69" y="32"/>
                  </a:cubicBezTo>
                  <a:close/>
                </a:path>
              </a:pathLst>
            </a:custGeom>
            <a:solidFill>
              <a:schemeClr val="accent1"/>
            </a:solidFill>
            <a:ln>
              <a:noFill/>
            </a:ln>
          </p:spPr>
          <p:txBody>
            <a:bodyPr>
              <a:normAutofit fontScale="42500" lnSpcReduction="20000"/>
            </a:bodyPr>
            <a:lstStyle/>
            <a:p>
              <a:endParaRPr lang="zh-CN" altLang="en-US"/>
            </a:p>
          </p:txBody>
        </p:sp>
        <p:sp>
          <p:nvSpPr>
            <p:cNvPr id="66" name="Freeform 14"/>
            <p:cNvSpPr/>
            <p:nvPr>
              <p:custDataLst>
                <p:tags r:id="rId10"/>
              </p:custDataLst>
            </p:nvPr>
          </p:nvSpPr>
          <p:spPr bwMode="auto">
            <a:xfrm rot="13352992">
              <a:off x="11306" y="4964"/>
              <a:ext cx="270" cy="262"/>
            </a:xfrm>
            <a:custGeom>
              <a:avLst/>
              <a:gdLst>
                <a:gd name="T0" fmla="*/ 171370359 w 203"/>
                <a:gd name="T1" fmla="*/ 496469194 h 197"/>
                <a:gd name="T2" fmla="*/ 151209140 w 203"/>
                <a:gd name="T3" fmla="*/ 153728492 h 197"/>
                <a:gd name="T4" fmla="*/ 511590131 w 203"/>
                <a:gd name="T5" fmla="*/ 133567274 h 197"/>
                <a:gd name="T6" fmla="*/ 342740718 w 203"/>
                <a:gd name="T7" fmla="*/ 0 h 197"/>
                <a:gd name="T8" fmla="*/ 0 w 203"/>
                <a:gd name="T9" fmla="*/ 20161218 h 197"/>
                <a:gd name="T10" fmla="*/ 17640273 w 203"/>
                <a:gd name="T11" fmla="*/ 362901920 h 197"/>
                <a:gd name="T12" fmla="*/ 171370359 w 203"/>
                <a:gd name="T13" fmla="*/ 496469194 h 1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3" h="197">
                  <a:moveTo>
                    <a:pt x="68" y="197"/>
                  </a:moveTo>
                  <a:lnTo>
                    <a:pt x="60" y="61"/>
                  </a:lnTo>
                  <a:lnTo>
                    <a:pt x="203" y="53"/>
                  </a:lnTo>
                  <a:lnTo>
                    <a:pt x="136" y="0"/>
                  </a:lnTo>
                  <a:lnTo>
                    <a:pt x="0" y="8"/>
                  </a:lnTo>
                  <a:lnTo>
                    <a:pt x="7" y="144"/>
                  </a:lnTo>
                  <a:lnTo>
                    <a:pt x="68" y="197"/>
                  </a:lnTo>
                  <a:close/>
                </a:path>
              </a:pathLst>
            </a:custGeom>
            <a:solidFill>
              <a:schemeClr val="accent1"/>
            </a:solidFill>
            <a:ln>
              <a:noFill/>
            </a:ln>
          </p:spPr>
          <p:txBody>
            <a:bodyPr>
              <a:normAutofit fontScale="25000" lnSpcReduction="20000"/>
            </a:bodyPr>
            <a:lstStyle/>
            <a:p>
              <a:endParaRPr lang="zh-CN" altLang="en-US"/>
            </a:p>
          </p:txBody>
        </p:sp>
        <p:sp>
          <p:nvSpPr>
            <p:cNvPr id="67" name="Freeform 13"/>
            <p:cNvSpPr/>
            <p:nvPr>
              <p:custDataLst>
                <p:tags r:id="rId11"/>
              </p:custDataLst>
            </p:nvPr>
          </p:nvSpPr>
          <p:spPr bwMode="auto">
            <a:xfrm rot="2552992">
              <a:off x="7354" y="7613"/>
              <a:ext cx="1346" cy="451"/>
            </a:xfrm>
            <a:custGeom>
              <a:avLst/>
              <a:gdLst>
                <a:gd name="T0" fmla="*/ 2147483646 w 134"/>
                <a:gd name="T1" fmla="*/ 2147483646 h 45"/>
                <a:gd name="T2" fmla="*/ 0 w 134"/>
                <a:gd name="T3" fmla="*/ 858130801 h 45"/>
                <a:gd name="T4" fmla="*/ 717286263 w 134"/>
                <a:gd name="T5" fmla="*/ 0 h 45"/>
                <a:gd name="T6" fmla="*/ 2147483646 w 134"/>
                <a:gd name="T7" fmla="*/ 572091187 h 45"/>
                <a:gd name="T8" fmla="*/ 2147483646 w 134"/>
                <a:gd name="T9" fmla="*/ 1430221989 h 45"/>
                <a:gd name="T10" fmla="*/ 2147483646 w 134"/>
                <a:gd name="T11" fmla="*/ 2147483646 h 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45">
                  <a:moveTo>
                    <a:pt x="69" y="32"/>
                  </a:moveTo>
                  <a:cubicBezTo>
                    <a:pt x="37" y="32"/>
                    <a:pt x="12" y="16"/>
                    <a:pt x="0" y="6"/>
                  </a:cubicBezTo>
                  <a:cubicBezTo>
                    <a:pt x="5" y="0"/>
                    <a:pt x="5" y="0"/>
                    <a:pt x="5" y="0"/>
                  </a:cubicBezTo>
                  <a:cubicBezTo>
                    <a:pt x="23" y="15"/>
                    <a:pt x="70" y="45"/>
                    <a:pt x="129" y="4"/>
                  </a:cubicBezTo>
                  <a:cubicBezTo>
                    <a:pt x="134" y="10"/>
                    <a:pt x="134" y="10"/>
                    <a:pt x="134" y="10"/>
                  </a:cubicBezTo>
                  <a:cubicBezTo>
                    <a:pt x="110" y="26"/>
                    <a:pt x="88" y="32"/>
                    <a:pt x="69" y="32"/>
                  </a:cubicBezTo>
                  <a:close/>
                </a:path>
              </a:pathLst>
            </a:custGeom>
            <a:solidFill>
              <a:schemeClr val="accent2"/>
            </a:solidFill>
            <a:ln>
              <a:noFill/>
            </a:ln>
          </p:spPr>
          <p:txBody>
            <a:bodyPr>
              <a:normAutofit fontScale="42500" lnSpcReduction="20000"/>
            </a:bodyPr>
            <a:lstStyle/>
            <a:p>
              <a:endParaRPr lang="zh-CN" altLang="en-US"/>
            </a:p>
          </p:txBody>
        </p:sp>
        <p:sp>
          <p:nvSpPr>
            <p:cNvPr id="70" name="Freeform 14"/>
            <p:cNvSpPr/>
            <p:nvPr>
              <p:custDataLst>
                <p:tags r:id="rId12"/>
              </p:custDataLst>
            </p:nvPr>
          </p:nvSpPr>
          <p:spPr bwMode="auto">
            <a:xfrm rot="2552992">
              <a:off x="7558" y="7217"/>
              <a:ext cx="270" cy="262"/>
            </a:xfrm>
            <a:custGeom>
              <a:avLst/>
              <a:gdLst>
                <a:gd name="T0" fmla="*/ 171370359 w 203"/>
                <a:gd name="T1" fmla="*/ 496469194 h 197"/>
                <a:gd name="T2" fmla="*/ 151209140 w 203"/>
                <a:gd name="T3" fmla="*/ 153728492 h 197"/>
                <a:gd name="T4" fmla="*/ 511590131 w 203"/>
                <a:gd name="T5" fmla="*/ 133567274 h 197"/>
                <a:gd name="T6" fmla="*/ 342740718 w 203"/>
                <a:gd name="T7" fmla="*/ 0 h 197"/>
                <a:gd name="T8" fmla="*/ 0 w 203"/>
                <a:gd name="T9" fmla="*/ 20161218 h 197"/>
                <a:gd name="T10" fmla="*/ 17640273 w 203"/>
                <a:gd name="T11" fmla="*/ 362901920 h 197"/>
                <a:gd name="T12" fmla="*/ 171370359 w 203"/>
                <a:gd name="T13" fmla="*/ 496469194 h 1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3" h="197">
                  <a:moveTo>
                    <a:pt x="68" y="197"/>
                  </a:moveTo>
                  <a:lnTo>
                    <a:pt x="60" y="61"/>
                  </a:lnTo>
                  <a:lnTo>
                    <a:pt x="203" y="53"/>
                  </a:lnTo>
                  <a:lnTo>
                    <a:pt x="136" y="0"/>
                  </a:lnTo>
                  <a:lnTo>
                    <a:pt x="0" y="8"/>
                  </a:lnTo>
                  <a:lnTo>
                    <a:pt x="7" y="144"/>
                  </a:lnTo>
                  <a:lnTo>
                    <a:pt x="68" y="197"/>
                  </a:lnTo>
                  <a:close/>
                </a:path>
              </a:pathLst>
            </a:custGeom>
            <a:solidFill>
              <a:schemeClr val="accent2"/>
            </a:solidFill>
            <a:ln>
              <a:noFill/>
            </a:ln>
          </p:spPr>
          <p:txBody>
            <a:bodyPr>
              <a:normAutofit fontScale="25000" lnSpcReduction="20000"/>
            </a:bodyPr>
            <a:lstStyle/>
            <a:p>
              <a:endParaRPr lang="zh-CN" altLang="en-US"/>
            </a:p>
          </p:txBody>
        </p:sp>
        <p:sp>
          <p:nvSpPr>
            <p:cNvPr id="72" name="Freeform 13"/>
            <p:cNvSpPr/>
            <p:nvPr>
              <p:custDataLst>
                <p:tags r:id="rId13"/>
              </p:custDataLst>
            </p:nvPr>
          </p:nvSpPr>
          <p:spPr bwMode="auto">
            <a:xfrm rot="18752992">
              <a:off x="10511" y="7536"/>
              <a:ext cx="1346" cy="451"/>
            </a:xfrm>
            <a:custGeom>
              <a:avLst/>
              <a:gdLst>
                <a:gd name="T0" fmla="*/ 2147483646 w 134"/>
                <a:gd name="T1" fmla="*/ 2147483646 h 45"/>
                <a:gd name="T2" fmla="*/ 0 w 134"/>
                <a:gd name="T3" fmla="*/ 858130801 h 45"/>
                <a:gd name="T4" fmla="*/ 717286263 w 134"/>
                <a:gd name="T5" fmla="*/ 0 h 45"/>
                <a:gd name="T6" fmla="*/ 2147483646 w 134"/>
                <a:gd name="T7" fmla="*/ 572091187 h 45"/>
                <a:gd name="T8" fmla="*/ 2147483646 w 134"/>
                <a:gd name="T9" fmla="*/ 1430221989 h 45"/>
                <a:gd name="T10" fmla="*/ 2147483646 w 134"/>
                <a:gd name="T11" fmla="*/ 2147483646 h 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45">
                  <a:moveTo>
                    <a:pt x="69" y="32"/>
                  </a:moveTo>
                  <a:cubicBezTo>
                    <a:pt x="37" y="32"/>
                    <a:pt x="12" y="16"/>
                    <a:pt x="0" y="6"/>
                  </a:cubicBezTo>
                  <a:cubicBezTo>
                    <a:pt x="5" y="0"/>
                    <a:pt x="5" y="0"/>
                    <a:pt x="5" y="0"/>
                  </a:cubicBezTo>
                  <a:cubicBezTo>
                    <a:pt x="23" y="15"/>
                    <a:pt x="70" y="45"/>
                    <a:pt x="129" y="4"/>
                  </a:cubicBezTo>
                  <a:cubicBezTo>
                    <a:pt x="134" y="10"/>
                    <a:pt x="134" y="10"/>
                    <a:pt x="134" y="10"/>
                  </a:cubicBezTo>
                  <a:cubicBezTo>
                    <a:pt x="110" y="26"/>
                    <a:pt x="88" y="32"/>
                    <a:pt x="69" y="32"/>
                  </a:cubicBezTo>
                  <a:close/>
                </a:path>
              </a:pathLst>
            </a:custGeom>
            <a:solidFill>
              <a:schemeClr val="accent3"/>
            </a:solidFill>
            <a:ln>
              <a:noFill/>
            </a:ln>
          </p:spPr>
          <p:txBody>
            <a:bodyPr>
              <a:normAutofit fontScale="57500" lnSpcReduction="20000"/>
            </a:bodyPr>
            <a:lstStyle/>
            <a:p>
              <a:endParaRPr lang="zh-CN" altLang="en-US"/>
            </a:p>
          </p:txBody>
        </p:sp>
        <p:sp>
          <p:nvSpPr>
            <p:cNvPr id="75" name="Freeform 14"/>
            <p:cNvSpPr/>
            <p:nvPr>
              <p:custDataLst>
                <p:tags r:id="rId14"/>
              </p:custDataLst>
            </p:nvPr>
          </p:nvSpPr>
          <p:spPr bwMode="auto">
            <a:xfrm rot="18752992">
              <a:off x="10558" y="7965"/>
              <a:ext cx="270" cy="262"/>
            </a:xfrm>
            <a:custGeom>
              <a:avLst/>
              <a:gdLst>
                <a:gd name="T0" fmla="*/ 171370359 w 203"/>
                <a:gd name="T1" fmla="*/ 496469194 h 197"/>
                <a:gd name="T2" fmla="*/ 151209140 w 203"/>
                <a:gd name="T3" fmla="*/ 153728492 h 197"/>
                <a:gd name="T4" fmla="*/ 511590131 w 203"/>
                <a:gd name="T5" fmla="*/ 133567274 h 197"/>
                <a:gd name="T6" fmla="*/ 342740718 w 203"/>
                <a:gd name="T7" fmla="*/ 0 h 197"/>
                <a:gd name="T8" fmla="*/ 0 w 203"/>
                <a:gd name="T9" fmla="*/ 20161218 h 197"/>
                <a:gd name="T10" fmla="*/ 17640273 w 203"/>
                <a:gd name="T11" fmla="*/ 362901920 h 197"/>
                <a:gd name="T12" fmla="*/ 171370359 w 203"/>
                <a:gd name="T13" fmla="*/ 496469194 h 1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3" h="197">
                  <a:moveTo>
                    <a:pt x="68" y="197"/>
                  </a:moveTo>
                  <a:lnTo>
                    <a:pt x="60" y="61"/>
                  </a:lnTo>
                  <a:lnTo>
                    <a:pt x="203" y="53"/>
                  </a:lnTo>
                  <a:lnTo>
                    <a:pt x="136" y="0"/>
                  </a:lnTo>
                  <a:lnTo>
                    <a:pt x="0" y="8"/>
                  </a:lnTo>
                  <a:lnTo>
                    <a:pt x="7" y="144"/>
                  </a:lnTo>
                  <a:lnTo>
                    <a:pt x="68" y="197"/>
                  </a:lnTo>
                  <a:close/>
                </a:path>
              </a:pathLst>
            </a:custGeom>
            <a:solidFill>
              <a:schemeClr val="accent3"/>
            </a:solidFill>
            <a:ln>
              <a:noFill/>
            </a:ln>
          </p:spPr>
          <p:txBody>
            <a:bodyPr>
              <a:normAutofit fontScale="25000" lnSpcReduction="20000"/>
            </a:bodyPr>
            <a:lstStyle/>
            <a:p>
              <a:endParaRPr lang="zh-CN" altLang="en-US"/>
            </a:p>
          </p:txBody>
        </p:sp>
        <p:sp>
          <p:nvSpPr>
            <p:cNvPr id="76" name="Freeform 13"/>
            <p:cNvSpPr/>
            <p:nvPr>
              <p:custDataLst>
                <p:tags r:id="rId15"/>
              </p:custDataLst>
            </p:nvPr>
          </p:nvSpPr>
          <p:spPr bwMode="auto">
            <a:xfrm rot="7952992">
              <a:off x="7278" y="4456"/>
              <a:ext cx="1346" cy="451"/>
            </a:xfrm>
            <a:custGeom>
              <a:avLst/>
              <a:gdLst>
                <a:gd name="T0" fmla="*/ 2147483646 w 134"/>
                <a:gd name="T1" fmla="*/ 2147483646 h 45"/>
                <a:gd name="T2" fmla="*/ 0 w 134"/>
                <a:gd name="T3" fmla="*/ 858130801 h 45"/>
                <a:gd name="T4" fmla="*/ 717286263 w 134"/>
                <a:gd name="T5" fmla="*/ 0 h 45"/>
                <a:gd name="T6" fmla="*/ 2147483646 w 134"/>
                <a:gd name="T7" fmla="*/ 572091187 h 45"/>
                <a:gd name="T8" fmla="*/ 2147483646 w 134"/>
                <a:gd name="T9" fmla="*/ 1430221989 h 45"/>
                <a:gd name="T10" fmla="*/ 2147483646 w 134"/>
                <a:gd name="T11" fmla="*/ 2147483646 h 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45">
                  <a:moveTo>
                    <a:pt x="69" y="32"/>
                  </a:moveTo>
                  <a:cubicBezTo>
                    <a:pt x="37" y="32"/>
                    <a:pt x="12" y="16"/>
                    <a:pt x="0" y="6"/>
                  </a:cubicBezTo>
                  <a:cubicBezTo>
                    <a:pt x="5" y="0"/>
                    <a:pt x="5" y="0"/>
                    <a:pt x="5" y="0"/>
                  </a:cubicBezTo>
                  <a:cubicBezTo>
                    <a:pt x="23" y="15"/>
                    <a:pt x="70" y="45"/>
                    <a:pt x="129" y="4"/>
                  </a:cubicBezTo>
                  <a:cubicBezTo>
                    <a:pt x="134" y="10"/>
                    <a:pt x="134" y="10"/>
                    <a:pt x="134" y="10"/>
                  </a:cubicBezTo>
                  <a:cubicBezTo>
                    <a:pt x="110" y="26"/>
                    <a:pt x="88" y="32"/>
                    <a:pt x="69" y="32"/>
                  </a:cubicBezTo>
                  <a:close/>
                </a:path>
              </a:pathLst>
            </a:custGeom>
            <a:solidFill>
              <a:schemeClr val="accent5"/>
            </a:solidFill>
            <a:ln>
              <a:noFill/>
            </a:ln>
          </p:spPr>
          <p:txBody>
            <a:bodyPr>
              <a:normAutofit fontScale="57500" lnSpcReduction="20000"/>
            </a:bodyPr>
            <a:lstStyle/>
            <a:p>
              <a:endParaRPr lang="zh-CN" altLang="en-US"/>
            </a:p>
          </p:txBody>
        </p:sp>
        <p:sp>
          <p:nvSpPr>
            <p:cNvPr id="77" name="Freeform 14"/>
            <p:cNvSpPr/>
            <p:nvPr>
              <p:custDataLst>
                <p:tags r:id="rId16"/>
              </p:custDataLst>
            </p:nvPr>
          </p:nvSpPr>
          <p:spPr bwMode="auto">
            <a:xfrm rot="7952992">
              <a:off x="8306" y="4217"/>
              <a:ext cx="270" cy="262"/>
            </a:xfrm>
            <a:custGeom>
              <a:avLst/>
              <a:gdLst>
                <a:gd name="T0" fmla="*/ 171370359 w 203"/>
                <a:gd name="T1" fmla="*/ 496469194 h 197"/>
                <a:gd name="T2" fmla="*/ 151209140 w 203"/>
                <a:gd name="T3" fmla="*/ 153728492 h 197"/>
                <a:gd name="T4" fmla="*/ 511590131 w 203"/>
                <a:gd name="T5" fmla="*/ 133567274 h 197"/>
                <a:gd name="T6" fmla="*/ 342740718 w 203"/>
                <a:gd name="T7" fmla="*/ 0 h 197"/>
                <a:gd name="T8" fmla="*/ 0 w 203"/>
                <a:gd name="T9" fmla="*/ 20161218 h 197"/>
                <a:gd name="T10" fmla="*/ 17640273 w 203"/>
                <a:gd name="T11" fmla="*/ 362901920 h 197"/>
                <a:gd name="T12" fmla="*/ 171370359 w 203"/>
                <a:gd name="T13" fmla="*/ 496469194 h 1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3" h="197">
                  <a:moveTo>
                    <a:pt x="68" y="197"/>
                  </a:moveTo>
                  <a:lnTo>
                    <a:pt x="60" y="61"/>
                  </a:lnTo>
                  <a:lnTo>
                    <a:pt x="203" y="53"/>
                  </a:lnTo>
                  <a:lnTo>
                    <a:pt x="136" y="0"/>
                  </a:lnTo>
                  <a:lnTo>
                    <a:pt x="0" y="8"/>
                  </a:lnTo>
                  <a:lnTo>
                    <a:pt x="7" y="144"/>
                  </a:lnTo>
                  <a:lnTo>
                    <a:pt x="68" y="197"/>
                  </a:lnTo>
                  <a:close/>
                </a:path>
              </a:pathLst>
            </a:custGeom>
            <a:solidFill>
              <a:schemeClr val="accent5"/>
            </a:solidFill>
            <a:ln>
              <a:noFill/>
            </a:ln>
          </p:spPr>
          <p:txBody>
            <a:bodyPr>
              <a:normAutofit fontScale="25000" lnSpcReduction="20000"/>
            </a:bodyPr>
            <a:lstStyle/>
            <a:p>
              <a:endParaRPr lang="zh-CN" altLang="en-US"/>
            </a:p>
          </p:txBody>
        </p:sp>
        <p:sp>
          <p:nvSpPr>
            <p:cNvPr id="47" name="文本框 17"/>
            <p:cNvSpPr txBox="1">
              <a:spLocks noChangeArrowheads="1"/>
            </p:cNvSpPr>
            <p:nvPr>
              <p:custDataLst>
                <p:tags r:id="rId17"/>
              </p:custDataLst>
            </p:nvPr>
          </p:nvSpPr>
          <p:spPr bwMode="auto">
            <a:xfrm>
              <a:off x="329" y="4977"/>
              <a:ext cx="7661" cy="2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dirty="0">
                  <a:latin typeface="+mj-lt"/>
                  <a:ea typeface="+mj-ea"/>
                  <a:cs typeface="+mj-cs"/>
                </a:rPr>
                <a:t>（</a:t>
              </a:r>
              <a:r>
                <a:rPr lang="en-US" altLang="zh-CN" sz="1800" b="1" dirty="0">
                  <a:latin typeface="+mj-lt"/>
                  <a:ea typeface="+mj-ea"/>
                  <a:cs typeface="+mj-cs"/>
                </a:rPr>
                <a:t>1</a:t>
              </a:r>
              <a:r>
                <a:rPr lang="zh-CN" altLang="en-US" sz="1800" b="1" dirty="0">
                  <a:latin typeface="+mj-lt"/>
                  <a:ea typeface="+mj-ea"/>
                  <a:cs typeface="+mj-cs"/>
                </a:rPr>
                <a:t>）系统响应时间</a:t>
              </a:r>
            </a:p>
          </p:txBody>
        </p:sp>
        <p:sp>
          <p:nvSpPr>
            <p:cNvPr id="51" name="文本框 23"/>
            <p:cNvSpPr txBox="1">
              <a:spLocks noChangeArrowheads="1"/>
            </p:cNvSpPr>
            <p:nvPr>
              <p:custDataLst>
                <p:tags r:id="rId18"/>
              </p:custDataLst>
            </p:nvPr>
          </p:nvSpPr>
          <p:spPr bwMode="auto">
            <a:xfrm>
              <a:off x="984" y="7876"/>
              <a:ext cx="6688" cy="1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dirty="0">
                  <a:latin typeface="+mj-lt"/>
                  <a:ea typeface="+mj-ea"/>
                  <a:cs typeface="+mj-cs"/>
                </a:rPr>
                <a:t>（</a:t>
              </a:r>
              <a:r>
                <a:rPr lang="en-US" altLang="zh-CN" sz="1800" b="1" dirty="0">
                  <a:latin typeface="+mj-lt"/>
                  <a:ea typeface="+mj-ea"/>
                  <a:cs typeface="+mj-cs"/>
                </a:rPr>
                <a:t>3</a:t>
              </a:r>
              <a:r>
                <a:rPr lang="zh-CN" altLang="en-US" sz="1800" b="1" dirty="0">
                  <a:latin typeface="+mj-lt"/>
                  <a:ea typeface="+mj-ea"/>
                  <a:cs typeface="+mj-cs"/>
                </a:rPr>
                <a:t>）出错信息处理</a:t>
              </a:r>
            </a:p>
          </p:txBody>
        </p:sp>
        <p:sp>
          <p:nvSpPr>
            <p:cNvPr id="86" name="文本框 17"/>
            <p:cNvSpPr txBox="1">
              <a:spLocks noChangeArrowheads="1"/>
            </p:cNvSpPr>
            <p:nvPr>
              <p:custDataLst>
                <p:tags r:id="rId19"/>
              </p:custDataLst>
            </p:nvPr>
          </p:nvSpPr>
          <p:spPr bwMode="auto">
            <a:xfrm>
              <a:off x="11224" y="4738"/>
              <a:ext cx="6171" cy="2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dirty="0">
                  <a:latin typeface="+mj-lt"/>
                  <a:ea typeface="+mj-ea"/>
                  <a:cs typeface="+mj-cs"/>
                </a:rPr>
                <a:t>（</a:t>
              </a:r>
              <a:r>
                <a:rPr lang="en-US" altLang="zh-CN" sz="1800" b="1" dirty="0">
                  <a:latin typeface="+mj-lt"/>
                  <a:ea typeface="+mj-ea"/>
                  <a:cs typeface="+mj-cs"/>
                </a:rPr>
                <a:t>2</a:t>
              </a:r>
              <a:r>
                <a:rPr lang="zh-CN" altLang="en-US" sz="1800" b="1" dirty="0">
                  <a:latin typeface="+mj-lt"/>
                  <a:ea typeface="+mj-ea"/>
                  <a:cs typeface="+mj-cs"/>
                </a:rPr>
                <a:t>）用户帮助设施</a:t>
              </a:r>
            </a:p>
          </p:txBody>
        </p:sp>
        <p:sp>
          <p:nvSpPr>
            <p:cNvPr id="84" name="文本框 23"/>
            <p:cNvSpPr txBox="1">
              <a:spLocks noChangeArrowheads="1"/>
            </p:cNvSpPr>
            <p:nvPr>
              <p:custDataLst>
                <p:tags r:id="rId20"/>
              </p:custDataLst>
            </p:nvPr>
          </p:nvSpPr>
          <p:spPr bwMode="auto">
            <a:xfrm>
              <a:off x="10859" y="7876"/>
              <a:ext cx="6357" cy="1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dirty="0">
                  <a:latin typeface="+mj-lt"/>
                  <a:ea typeface="+mj-ea"/>
                  <a:cs typeface="+mj-cs"/>
                </a:rPr>
                <a:t>（</a:t>
              </a:r>
              <a:r>
                <a:rPr lang="en-US" altLang="zh-CN" sz="1800" b="1" dirty="0">
                  <a:latin typeface="+mj-lt"/>
                  <a:ea typeface="+mj-ea"/>
                  <a:cs typeface="+mj-cs"/>
                </a:rPr>
                <a:t>4</a:t>
              </a:r>
              <a:r>
                <a:rPr lang="zh-CN" altLang="en-US" sz="1800" b="1" dirty="0">
                  <a:latin typeface="+mj-lt"/>
                  <a:ea typeface="+mj-ea"/>
                  <a:cs typeface="+mj-cs"/>
                </a:rPr>
                <a:t>）命令交互</a:t>
              </a:r>
            </a:p>
          </p:txBody>
        </p:sp>
      </p:grpSp>
      <p:grpSp>
        <p:nvGrpSpPr>
          <p:cNvPr id="17" name="组合 16"/>
          <p:cNvGrpSpPr/>
          <p:nvPr/>
        </p:nvGrpSpPr>
        <p:grpSpPr>
          <a:xfrm>
            <a:off x="573999" y="2118827"/>
            <a:ext cx="10687987" cy="1740967"/>
            <a:chOff x="7868" y="-1400"/>
            <a:chExt cx="9990" cy="1761"/>
          </a:xfrm>
        </p:grpSpPr>
        <p:sp>
          <p:nvSpPr>
            <p:cNvPr id="100" name="文本框 99"/>
            <p:cNvSpPr txBox="1"/>
            <p:nvPr/>
          </p:nvSpPr>
          <p:spPr>
            <a:xfrm>
              <a:off x="8115" y="-1267"/>
              <a:ext cx="9497" cy="1539"/>
            </a:xfrm>
            <a:prstGeom prst="rect">
              <a:avLst/>
            </a:prstGeom>
            <a:solidFill>
              <a:schemeClr val="accent3">
                <a:lumMod val="20000"/>
                <a:lumOff val="80000"/>
              </a:schemeClr>
            </a:solidFill>
            <a:ln w="9525">
              <a:noFill/>
            </a:ln>
          </p:spPr>
          <p:txBody>
            <a:bodyPr wrap="square">
              <a:spAutoFit/>
            </a:bodyPr>
            <a:lstStyle/>
            <a:p>
              <a:pPr marL="0" indent="0" algn="l" fontAlgn="auto">
                <a:lnSpc>
                  <a:spcPct val="130000"/>
                </a:lnSpc>
              </a:pPr>
              <a:r>
                <a:rPr lang="en-US" altLang="zh-CN" sz="2000" b="0" u="none" dirty="0">
                  <a:latin typeface="宋体" panose="02010600030101010101" pitchFamily="2" charset="-122"/>
                  <a:ea typeface="宋体" panose="02010600030101010101" pitchFamily="2" charset="-122"/>
                  <a:cs typeface="宋体" panose="02010600030101010101" pitchFamily="2" charset="-122"/>
                </a:rPr>
                <a:t>    </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对于交互式软件系统来说，用户界面设计是接口设计的一个组成部分。现在用户界面设计在系统软件设计中所占的比例越来越大，个别情况甚至占到了总量的一半。</a:t>
              </a:r>
            </a:p>
            <a:p>
              <a:pPr>
                <a:lnSpc>
                  <a:spcPct val="130000"/>
                </a:lnSpc>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    用户界面设计的质量直接影响用户对软件产品的评价，从而影响软件产品的竞争力和寿命，因此应对用户界面设计给予足够的重视。</a:t>
              </a:r>
              <a:endParaRPr lang="zh-CN" altLang="en-US" dirty="0">
                <a:solidFill>
                  <a:srgbClr val="00B0F0"/>
                </a:solidFill>
                <a:latin typeface="宋体" panose="02010600030101010101" pitchFamily="2" charset="-122"/>
                <a:ea typeface="宋体" panose="02010600030101010101" pitchFamily="2" charset="-122"/>
                <a:cs typeface="宋体" panose="02010600030101010101" pitchFamily="2" charset="-122"/>
              </a:endParaRPr>
            </a:p>
          </p:txBody>
        </p:sp>
        <p:sp>
          <p:nvSpPr>
            <p:cNvPr id="25" name="矩形 24"/>
            <p:cNvSpPr>
              <a:spLocks noChangeAspect="1"/>
            </p:cNvSpPr>
            <p:nvPr/>
          </p:nvSpPr>
          <p:spPr>
            <a:xfrm>
              <a:off x="7868" y="-1400"/>
              <a:ext cx="9990" cy="1761"/>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spTree>
  </p:cSld>
  <p:clrMapOvr>
    <a:masterClrMapping/>
  </p:clrMapOvr>
  <p:transition>
    <p:fade thruBlk="1"/>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6 </a:t>
            </a:r>
            <a:r>
              <a:rPr lang="zh-CN" altLang="en-US" dirty="0">
                <a:sym typeface="+mn-ea"/>
              </a:rPr>
              <a:t>用户界面设计</a:t>
            </a: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3.6.1 </a:t>
            </a:r>
            <a:r>
              <a:rPr lang="zh-CN" altLang="en-US" sz="2400" dirty="0">
                <a:solidFill>
                  <a:schemeClr val="tx1"/>
                </a:solidFill>
              </a:rPr>
              <a:t>用户界面设计问题</a:t>
            </a:r>
          </a:p>
        </p:txBody>
      </p:sp>
      <p:grpSp>
        <p:nvGrpSpPr>
          <p:cNvPr id="5" name="组合 4"/>
          <p:cNvGrpSpPr/>
          <p:nvPr/>
        </p:nvGrpSpPr>
        <p:grpSpPr>
          <a:xfrm>
            <a:off x="5838190" y="3155315"/>
            <a:ext cx="2558415" cy="2500630"/>
            <a:chOff x="662610" y="3586908"/>
            <a:chExt cx="2558316" cy="2500986"/>
          </a:xfrm>
        </p:grpSpPr>
        <p:sp>
          <p:nvSpPr>
            <p:cNvPr id="6" name="圆角矩形 5"/>
            <p:cNvSpPr/>
            <p:nvPr/>
          </p:nvSpPr>
          <p:spPr>
            <a:xfrm>
              <a:off x="662610" y="3586908"/>
              <a:ext cx="2376942" cy="2500986"/>
            </a:xfrm>
            <a:prstGeom prst="roundRect">
              <a:avLst>
                <a:gd name="adj" fmla="val 1589"/>
              </a:avLst>
            </a:prstGeom>
            <a:solidFill>
              <a:srgbClr val="E67819"/>
            </a:solidFill>
            <a:ln>
              <a:noFill/>
            </a:ln>
            <a:effectLst>
              <a:reflection blurRad="6350" stA="46000" endPos="1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5400000">
              <a:off x="3000309" y="3928463"/>
              <a:ext cx="259860" cy="181374"/>
            </a:xfrm>
            <a:prstGeom prst="triangle">
              <a:avLst>
                <a:gd name="adj" fmla="val 47166"/>
              </a:avLst>
            </a:prstGeom>
            <a:solidFill>
              <a:srgbClr val="E678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8549005" y="3170555"/>
            <a:ext cx="2558415" cy="2486025"/>
            <a:chOff x="662610" y="3601899"/>
            <a:chExt cx="2558316" cy="2485995"/>
          </a:xfrm>
        </p:grpSpPr>
        <p:sp>
          <p:nvSpPr>
            <p:cNvPr id="10" name="圆角矩形 9"/>
            <p:cNvSpPr/>
            <p:nvPr/>
          </p:nvSpPr>
          <p:spPr>
            <a:xfrm>
              <a:off x="662610" y="3601899"/>
              <a:ext cx="2481578" cy="2485995"/>
            </a:xfrm>
            <a:prstGeom prst="roundRect">
              <a:avLst>
                <a:gd name="adj" fmla="val 1589"/>
              </a:avLst>
            </a:prstGeom>
            <a:solidFill>
              <a:srgbClr val="E67819"/>
            </a:solidFill>
            <a:ln>
              <a:noFill/>
            </a:ln>
            <a:effectLst>
              <a:reflection blurRad="6350" stA="46000" endPos="1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5400000">
              <a:off x="3000309" y="3928463"/>
              <a:ext cx="259860" cy="181374"/>
            </a:xfrm>
            <a:prstGeom prst="triangle">
              <a:avLst>
                <a:gd name="adj" fmla="val 47166"/>
              </a:avLst>
            </a:prstGeom>
            <a:solidFill>
              <a:srgbClr val="E678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TextBox 8"/>
          <p:cNvSpPr txBox="1"/>
          <p:nvPr/>
        </p:nvSpPr>
        <p:spPr>
          <a:xfrm>
            <a:off x="5838190" y="3113405"/>
            <a:ext cx="2376805" cy="593090"/>
          </a:xfrm>
          <a:prstGeom prst="rect">
            <a:avLst/>
          </a:prstGeom>
          <a:noFill/>
        </p:spPr>
        <p:txBody>
          <a:bodyPr wrap="square" tIns="0" bIns="0" rtlCol="0" anchor="ctr">
            <a:spAutoFit/>
          </a:bodyPr>
          <a:lstStyle/>
          <a:p>
            <a:pPr algn="ctr">
              <a:lnSpc>
                <a:spcPct val="139000"/>
              </a:lnSpc>
            </a:pPr>
            <a:r>
              <a:rPr lang="zh-CN" altLang="en-US" sz="2800" b="1" dirty="0">
                <a:solidFill>
                  <a:schemeClr val="bg1"/>
                </a:solidFill>
                <a:latin typeface="Impact" panose="020B0806030902050204" pitchFamily="34" charset="0"/>
                <a:ea typeface="微软雅黑" panose="020B0503020204020204" charset="-122"/>
              </a:rPr>
              <a:t>长度</a:t>
            </a:r>
          </a:p>
        </p:txBody>
      </p:sp>
      <p:sp>
        <p:nvSpPr>
          <p:cNvPr id="13" name="TextBox 8"/>
          <p:cNvSpPr txBox="1"/>
          <p:nvPr/>
        </p:nvSpPr>
        <p:spPr>
          <a:xfrm>
            <a:off x="8549005" y="3079115"/>
            <a:ext cx="2376805" cy="593090"/>
          </a:xfrm>
          <a:prstGeom prst="rect">
            <a:avLst/>
          </a:prstGeom>
          <a:noFill/>
        </p:spPr>
        <p:txBody>
          <a:bodyPr wrap="square" tIns="0" bIns="0" rtlCol="0" anchor="ctr">
            <a:spAutoFit/>
          </a:bodyPr>
          <a:lstStyle/>
          <a:p>
            <a:pPr algn="ctr">
              <a:lnSpc>
                <a:spcPct val="139000"/>
              </a:lnSpc>
            </a:pPr>
            <a:r>
              <a:rPr lang="zh-CN" altLang="en-US" sz="2800" b="1" dirty="0">
                <a:solidFill>
                  <a:schemeClr val="bg1"/>
                </a:solidFill>
                <a:latin typeface="微软雅黑" panose="020B0503020204020204" charset="-122"/>
                <a:ea typeface="微软雅黑" panose="020B0503020204020204" charset="-122"/>
              </a:rPr>
              <a:t>易变性</a:t>
            </a:r>
          </a:p>
        </p:txBody>
      </p:sp>
      <p:sp>
        <p:nvSpPr>
          <p:cNvPr id="14" name="TextBox 8"/>
          <p:cNvSpPr txBox="1"/>
          <p:nvPr/>
        </p:nvSpPr>
        <p:spPr>
          <a:xfrm>
            <a:off x="5982335" y="3806825"/>
            <a:ext cx="2122805" cy="1783715"/>
          </a:xfrm>
          <a:prstGeom prst="rect">
            <a:avLst/>
          </a:prstGeom>
          <a:noFill/>
        </p:spPr>
        <p:txBody>
          <a:bodyPr wrap="square" rtlCol="0" anchor="ctr">
            <a:spAutoFit/>
          </a:bodyPr>
          <a:lstStyle/>
          <a:p>
            <a:pPr>
              <a:lnSpc>
                <a:spcPct val="139000"/>
              </a:lnSpc>
            </a:pPr>
            <a:r>
              <a:rPr lang="zh-CN" altLang="en-US" sz="1600" dirty="0">
                <a:solidFill>
                  <a:schemeClr val="bg1"/>
                </a:solidFill>
                <a:latin typeface="Impact" panose="020B0806030902050204" pitchFamily="34" charset="0"/>
                <a:ea typeface="微软雅黑" panose="020B0503020204020204" charset="-122"/>
              </a:rPr>
              <a:t>响应时间过长，用户会不满意；响应时间过短，会迫使用户加快操作节奏，从而可能会犯错误。</a:t>
            </a:r>
          </a:p>
        </p:txBody>
      </p:sp>
      <p:sp>
        <p:nvSpPr>
          <p:cNvPr id="15" name="TextBox 8"/>
          <p:cNvSpPr txBox="1"/>
          <p:nvPr/>
        </p:nvSpPr>
        <p:spPr>
          <a:xfrm>
            <a:off x="8549005" y="3578225"/>
            <a:ext cx="2432050" cy="2122170"/>
          </a:xfrm>
          <a:prstGeom prst="rect">
            <a:avLst/>
          </a:prstGeom>
          <a:noFill/>
        </p:spPr>
        <p:txBody>
          <a:bodyPr wrap="square" rtlCol="0" anchor="ctr">
            <a:spAutoFit/>
          </a:bodyPr>
          <a:lstStyle/>
          <a:p>
            <a:pPr>
              <a:lnSpc>
                <a:spcPct val="139000"/>
              </a:lnSpc>
            </a:pPr>
            <a:r>
              <a:rPr lang="zh-CN" altLang="en-US" sz="1600" dirty="0">
                <a:solidFill>
                  <a:schemeClr val="bg1"/>
                </a:solidFill>
                <a:latin typeface="Impact" panose="020B0806030902050204" pitchFamily="34" charset="0"/>
                <a:ea typeface="微软雅黑" panose="020B0503020204020204" charset="-122"/>
              </a:rPr>
              <a:t>即响应时间相对于平均响应时间的偏差。响应时间易变性低，有助于用户建立稳定的工作节奏；响应时间的变化暗示系统工作出现了异常。</a:t>
            </a:r>
          </a:p>
        </p:txBody>
      </p:sp>
      <p:sp>
        <p:nvSpPr>
          <p:cNvPr id="16" name="TextBox 6"/>
          <p:cNvSpPr txBox="1"/>
          <p:nvPr/>
        </p:nvSpPr>
        <p:spPr>
          <a:xfrm>
            <a:off x="1206500" y="3096895"/>
            <a:ext cx="4317365" cy="1676400"/>
          </a:xfrm>
          <a:prstGeom prst="rect">
            <a:avLst/>
          </a:prstGeom>
          <a:noFill/>
        </p:spPr>
        <p:txBody>
          <a:bodyPr wrap="square" rtlCol="0">
            <a:spAutoFit/>
          </a:bodyPr>
          <a:lstStyle/>
          <a:p>
            <a:pPr>
              <a:lnSpc>
                <a:spcPct val="130000"/>
              </a:lnSpc>
            </a:pPr>
            <a:r>
              <a:rPr lang="en-US" sz="1600" dirty="0">
                <a:solidFill>
                  <a:srgbClr val="5F5E5C"/>
                </a:solidFill>
                <a:latin typeface="微软雅黑" panose="020B0503020204020204" charset="-122"/>
                <a:ea typeface="微软雅黑" panose="020B0503020204020204" charset="-122"/>
              </a:rPr>
              <a:t>     </a:t>
            </a:r>
            <a:r>
              <a:rPr lang="en-US" sz="2000" dirty="0">
                <a:solidFill>
                  <a:srgbClr val="5F5E5C"/>
                </a:solidFill>
                <a:latin typeface="微软雅黑" panose="020B0503020204020204" charset="-122"/>
                <a:ea typeface="微软雅黑" panose="020B0503020204020204" charset="-122"/>
              </a:rPr>
              <a:t>  </a:t>
            </a:r>
            <a:r>
              <a:rPr sz="2000" dirty="0">
                <a:solidFill>
                  <a:srgbClr val="5F5E5C"/>
                </a:solidFill>
                <a:latin typeface="微软雅黑" panose="020B0503020204020204" charset="-122"/>
                <a:ea typeface="微软雅黑" panose="020B0503020204020204" charset="-122"/>
              </a:rPr>
              <a:t>从用户完成某个控制动作（按回车键或单击鼠标）到软件给出预期的响应（输出或做动作）之间的时间，称为系统响应时间。</a:t>
            </a:r>
          </a:p>
        </p:txBody>
      </p:sp>
      <p:sp>
        <p:nvSpPr>
          <p:cNvPr id="18" name="TextBox 17"/>
          <p:cNvSpPr txBox="1"/>
          <p:nvPr/>
        </p:nvSpPr>
        <p:spPr>
          <a:xfrm>
            <a:off x="1206500" y="4799965"/>
            <a:ext cx="4194175" cy="883920"/>
          </a:xfrm>
          <a:prstGeom prst="rect">
            <a:avLst/>
          </a:prstGeom>
          <a:noFill/>
        </p:spPr>
        <p:txBody>
          <a:bodyPr wrap="square" rtlCol="0">
            <a:spAutoFit/>
          </a:bodyPr>
          <a:lstStyle/>
          <a:p>
            <a:pPr>
              <a:lnSpc>
                <a:spcPct val="130000"/>
              </a:lnSpc>
            </a:pPr>
            <a:r>
              <a:rPr lang="en-US" sz="1600" dirty="0">
                <a:solidFill>
                  <a:srgbClr val="5F5E5C"/>
                </a:solidFill>
                <a:latin typeface="微软雅黑" panose="020B0503020204020204" charset="-122"/>
                <a:ea typeface="微软雅黑" panose="020B0503020204020204" charset="-122"/>
                <a:sym typeface="+mn-ea"/>
              </a:rPr>
              <a:t>       </a:t>
            </a:r>
            <a:r>
              <a:rPr sz="2000" dirty="0">
                <a:solidFill>
                  <a:srgbClr val="5F5E5C"/>
                </a:solidFill>
                <a:latin typeface="微软雅黑" panose="020B0503020204020204" charset="-122"/>
                <a:ea typeface="微软雅黑" panose="020B0503020204020204" charset="-122"/>
                <a:sym typeface="+mn-ea"/>
              </a:rPr>
              <a:t>响应时间有两个属性：</a:t>
            </a:r>
            <a:r>
              <a:rPr sz="2000" dirty="0">
                <a:solidFill>
                  <a:schemeClr val="accent2">
                    <a:lumMod val="75000"/>
                  </a:schemeClr>
                </a:solidFill>
                <a:latin typeface="微软雅黑" panose="020B0503020204020204" charset="-122"/>
                <a:ea typeface="微软雅黑" panose="020B0503020204020204" charset="-122"/>
                <a:sym typeface="+mn-ea"/>
              </a:rPr>
              <a:t>长度</a:t>
            </a:r>
            <a:r>
              <a:rPr sz="2000" dirty="0">
                <a:solidFill>
                  <a:srgbClr val="5F5E5C"/>
                </a:solidFill>
                <a:latin typeface="微软雅黑" panose="020B0503020204020204" charset="-122"/>
                <a:ea typeface="微软雅黑" panose="020B0503020204020204" charset="-122"/>
                <a:sym typeface="+mn-ea"/>
              </a:rPr>
              <a:t>和</a:t>
            </a:r>
            <a:r>
              <a:rPr sz="2000" dirty="0">
                <a:solidFill>
                  <a:schemeClr val="accent2">
                    <a:lumMod val="75000"/>
                  </a:schemeClr>
                </a:solidFill>
                <a:latin typeface="微软雅黑" panose="020B0503020204020204" charset="-122"/>
                <a:ea typeface="微软雅黑" panose="020B0503020204020204" charset="-122"/>
                <a:sym typeface="+mn-ea"/>
              </a:rPr>
              <a:t>易变性</a:t>
            </a:r>
            <a:r>
              <a:rPr sz="2000" dirty="0">
                <a:solidFill>
                  <a:srgbClr val="5F5E5C"/>
                </a:solidFill>
                <a:latin typeface="微软雅黑" panose="020B0503020204020204" charset="-122"/>
                <a:ea typeface="微软雅黑" panose="020B0503020204020204" charset="-122"/>
                <a:sym typeface="+mn-ea"/>
              </a:rPr>
              <a:t>。</a:t>
            </a:r>
            <a:endParaRPr lang="zh-CN" altLang="en-US" sz="2000" dirty="0">
              <a:solidFill>
                <a:srgbClr val="5F5E5C"/>
              </a:solidFill>
              <a:latin typeface="微软雅黑" panose="020B0503020204020204" charset="-122"/>
              <a:ea typeface="微软雅黑" panose="020B0503020204020204" charset="-122"/>
            </a:endParaRPr>
          </a:p>
        </p:txBody>
      </p:sp>
      <p:grpSp>
        <p:nvGrpSpPr>
          <p:cNvPr id="17" name="组合 6"/>
          <p:cNvGrpSpPr/>
          <p:nvPr/>
        </p:nvGrpSpPr>
        <p:grpSpPr>
          <a:xfrm>
            <a:off x="809625" y="2145646"/>
            <a:ext cx="7024189" cy="590550"/>
            <a:chOff x="508000" y="3196191"/>
            <a:chExt cx="7024120" cy="590550"/>
          </a:xfrm>
        </p:grpSpPr>
        <p:sp>
          <p:nvSpPr>
            <p:cNvPr id="19" name="TextBox 1"/>
            <p:cNvSpPr txBox="1">
              <a:spLocks noChangeArrowheads="1"/>
            </p:cNvSpPr>
            <p:nvPr/>
          </p:nvSpPr>
          <p:spPr bwMode="auto">
            <a:xfrm>
              <a:off x="508000" y="3196191"/>
              <a:ext cx="32091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0" name="直接连接符 1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1" name="矩形 20"/>
            <p:cNvSpPr>
              <a:spLocks noChangeArrowheads="1"/>
            </p:cNvSpPr>
            <p:nvPr/>
          </p:nvSpPr>
          <p:spPr bwMode="auto">
            <a:xfrm>
              <a:off x="960436" y="3291441"/>
              <a:ext cx="65716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系统响应时间</a:t>
              </a:r>
            </a:p>
          </p:txBody>
        </p:sp>
      </p:grpSp>
    </p:spTree>
  </p:cSld>
  <p:clrMapOvr>
    <a:masterClrMapping/>
  </p:clrMapOvr>
  <p:transition>
    <p:fade thruBlk="1"/>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6 </a:t>
            </a:r>
            <a:r>
              <a:rPr lang="zh-CN" altLang="en-US" dirty="0">
                <a:sym typeface="+mn-ea"/>
              </a:rPr>
              <a:t>用户界面设计</a:t>
            </a: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3.6.1 </a:t>
            </a:r>
            <a:r>
              <a:rPr lang="zh-CN" altLang="en-US" sz="2400" dirty="0">
                <a:solidFill>
                  <a:schemeClr val="tx1"/>
                </a:solidFill>
              </a:rPr>
              <a:t>用户界面设计问题</a:t>
            </a:r>
          </a:p>
        </p:txBody>
      </p:sp>
      <p:grpSp>
        <p:nvGrpSpPr>
          <p:cNvPr id="2" name="组合 1"/>
          <p:cNvGrpSpPr/>
          <p:nvPr/>
        </p:nvGrpSpPr>
        <p:grpSpPr>
          <a:xfrm>
            <a:off x="1053465" y="2299335"/>
            <a:ext cx="10465435" cy="3860165"/>
            <a:chOff x="688" y="2925"/>
            <a:chExt cx="16481" cy="6079"/>
          </a:xfrm>
        </p:grpSpPr>
        <p:sp>
          <p:nvSpPr>
            <p:cNvPr id="5" name="MH_Other_1"/>
            <p:cNvSpPr/>
            <p:nvPr>
              <p:custDataLst>
                <p:tags r:id="rId1"/>
              </p:custDataLst>
            </p:nvPr>
          </p:nvSpPr>
          <p:spPr>
            <a:xfrm>
              <a:off x="3621" y="4345"/>
              <a:ext cx="10704" cy="1405"/>
            </a:xfrm>
            <a:custGeom>
              <a:avLst/>
              <a:gdLst>
                <a:gd name="connsiteX0" fmla="*/ 0 w 6192688"/>
                <a:gd name="connsiteY0" fmla="*/ 0 h 1261899"/>
                <a:gd name="connsiteX1" fmla="*/ 1656183 w 6192688"/>
                <a:gd name="connsiteY1" fmla="*/ 0 h 1261899"/>
                <a:gd name="connsiteX2" fmla="*/ 4179979 w 6192688"/>
                <a:gd name="connsiteY2" fmla="*/ 0 h 1261899"/>
                <a:gd name="connsiteX3" fmla="*/ 6192688 w 6192688"/>
                <a:gd name="connsiteY3" fmla="*/ 0 h 1261899"/>
                <a:gd name="connsiteX4" fmla="*/ 6192688 w 6192688"/>
                <a:gd name="connsiteY4" fmla="*/ 72008 h 1261899"/>
                <a:gd name="connsiteX5" fmla="*/ 4176343 w 6192688"/>
                <a:gd name="connsiteY5" fmla="*/ 72008 h 1261899"/>
                <a:gd name="connsiteX6" fmla="*/ 2918081 w 6192688"/>
                <a:gd name="connsiteY6" fmla="*/ 1261899 h 1261899"/>
                <a:gd name="connsiteX7" fmla="*/ 1659819 w 6192688"/>
                <a:gd name="connsiteY7" fmla="*/ 72008 h 1261899"/>
                <a:gd name="connsiteX8" fmla="*/ 0 w 6192688"/>
                <a:gd name="connsiteY8" fmla="*/ 72008 h 1261899"/>
                <a:gd name="connsiteX9" fmla="*/ 91440 w 6192688"/>
                <a:gd name="connsiteY9" fmla="*/ 91440 h 1261899"/>
                <a:gd name="connsiteX0-1" fmla="*/ 1656183 w 6192688"/>
                <a:gd name="connsiteY0-2" fmla="*/ 0 h 1261899"/>
                <a:gd name="connsiteX1-3" fmla="*/ 4179979 w 6192688"/>
                <a:gd name="connsiteY1-4" fmla="*/ 0 h 1261899"/>
                <a:gd name="connsiteX2-5" fmla="*/ 6192688 w 6192688"/>
                <a:gd name="connsiteY2-6" fmla="*/ 0 h 1261899"/>
                <a:gd name="connsiteX3-7" fmla="*/ 6192688 w 6192688"/>
                <a:gd name="connsiteY3-8" fmla="*/ 72008 h 1261899"/>
                <a:gd name="connsiteX4-9" fmla="*/ 4176343 w 6192688"/>
                <a:gd name="connsiteY4-10" fmla="*/ 72008 h 1261899"/>
                <a:gd name="connsiteX5-11" fmla="*/ 2918081 w 6192688"/>
                <a:gd name="connsiteY5-12" fmla="*/ 1261899 h 1261899"/>
                <a:gd name="connsiteX6-13" fmla="*/ 1659819 w 6192688"/>
                <a:gd name="connsiteY6-14" fmla="*/ 72008 h 1261899"/>
                <a:gd name="connsiteX7-15" fmla="*/ 0 w 6192688"/>
                <a:gd name="connsiteY7-16" fmla="*/ 72008 h 1261899"/>
                <a:gd name="connsiteX8-17" fmla="*/ 91440 w 6192688"/>
                <a:gd name="connsiteY8-18" fmla="*/ 91440 h 1261899"/>
                <a:gd name="connsiteX0-19" fmla="*/ 4179979 w 6192688"/>
                <a:gd name="connsiteY0-20" fmla="*/ 0 h 1261899"/>
                <a:gd name="connsiteX1-21" fmla="*/ 6192688 w 6192688"/>
                <a:gd name="connsiteY1-22" fmla="*/ 0 h 1261899"/>
                <a:gd name="connsiteX2-23" fmla="*/ 6192688 w 6192688"/>
                <a:gd name="connsiteY2-24" fmla="*/ 72008 h 1261899"/>
                <a:gd name="connsiteX3-25" fmla="*/ 4176343 w 6192688"/>
                <a:gd name="connsiteY3-26" fmla="*/ 72008 h 1261899"/>
                <a:gd name="connsiteX4-27" fmla="*/ 2918081 w 6192688"/>
                <a:gd name="connsiteY4-28" fmla="*/ 1261899 h 1261899"/>
                <a:gd name="connsiteX5-29" fmla="*/ 1659819 w 6192688"/>
                <a:gd name="connsiteY5-30" fmla="*/ 72008 h 1261899"/>
                <a:gd name="connsiteX6-31" fmla="*/ 0 w 6192688"/>
                <a:gd name="connsiteY6-32" fmla="*/ 72008 h 1261899"/>
                <a:gd name="connsiteX7-33" fmla="*/ 91440 w 6192688"/>
                <a:gd name="connsiteY7-34" fmla="*/ 91440 h 1261899"/>
                <a:gd name="connsiteX0-35" fmla="*/ 6192688 w 6192688"/>
                <a:gd name="connsiteY0-36" fmla="*/ 0 h 1261899"/>
                <a:gd name="connsiteX1-37" fmla="*/ 6192688 w 6192688"/>
                <a:gd name="connsiteY1-38" fmla="*/ 72008 h 1261899"/>
                <a:gd name="connsiteX2-39" fmla="*/ 4176343 w 6192688"/>
                <a:gd name="connsiteY2-40" fmla="*/ 72008 h 1261899"/>
                <a:gd name="connsiteX3-41" fmla="*/ 2918081 w 6192688"/>
                <a:gd name="connsiteY3-42" fmla="*/ 1261899 h 1261899"/>
                <a:gd name="connsiteX4-43" fmla="*/ 1659819 w 6192688"/>
                <a:gd name="connsiteY4-44" fmla="*/ 72008 h 1261899"/>
                <a:gd name="connsiteX5-45" fmla="*/ 0 w 6192688"/>
                <a:gd name="connsiteY5-46" fmla="*/ 72008 h 1261899"/>
                <a:gd name="connsiteX6-47" fmla="*/ 91440 w 6192688"/>
                <a:gd name="connsiteY6-48" fmla="*/ 91440 h 1261899"/>
                <a:gd name="connsiteX0-49" fmla="*/ 6192688 w 6192688"/>
                <a:gd name="connsiteY0-50" fmla="*/ 7233 h 1197124"/>
                <a:gd name="connsiteX1-51" fmla="*/ 4176343 w 6192688"/>
                <a:gd name="connsiteY1-52" fmla="*/ 7233 h 1197124"/>
                <a:gd name="connsiteX2-53" fmla="*/ 2918081 w 6192688"/>
                <a:gd name="connsiteY2-54" fmla="*/ 1197124 h 1197124"/>
                <a:gd name="connsiteX3-55" fmla="*/ 1659819 w 6192688"/>
                <a:gd name="connsiteY3-56" fmla="*/ 7233 h 1197124"/>
                <a:gd name="connsiteX4-57" fmla="*/ 0 w 6192688"/>
                <a:gd name="connsiteY4-58" fmla="*/ 7233 h 1197124"/>
                <a:gd name="connsiteX5-59" fmla="*/ 91440 w 6192688"/>
                <a:gd name="connsiteY5-60" fmla="*/ 26665 h 1197124"/>
                <a:gd name="connsiteX0-61" fmla="*/ 6101248 w 6101248"/>
                <a:gd name="connsiteY0-62" fmla="*/ 0 h 1189891"/>
                <a:gd name="connsiteX1-63" fmla="*/ 4084903 w 6101248"/>
                <a:gd name="connsiteY1-64" fmla="*/ 0 h 1189891"/>
                <a:gd name="connsiteX2-65" fmla="*/ 2826641 w 6101248"/>
                <a:gd name="connsiteY2-66" fmla="*/ 1189891 h 1189891"/>
                <a:gd name="connsiteX3-67" fmla="*/ 1568379 w 6101248"/>
                <a:gd name="connsiteY3-68" fmla="*/ 0 h 1189891"/>
                <a:gd name="connsiteX4-69" fmla="*/ 0 w 6101248"/>
                <a:gd name="connsiteY4-70" fmla="*/ 19432 h 1189891"/>
                <a:gd name="connsiteX0-71" fmla="*/ 6144791 w 6144791"/>
                <a:gd name="connsiteY0-72" fmla="*/ 0 h 1189891"/>
                <a:gd name="connsiteX1-73" fmla="*/ 4128446 w 6144791"/>
                <a:gd name="connsiteY1-74" fmla="*/ 0 h 1189891"/>
                <a:gd name="connsiteX2-75" fmla="*/ 2870184 w 6144791"/>
                <a:gd name="connsiteY2-76" fmla="*/ 1189891 h 1189891"/>
                <a:gd name="connsiteX3-77" fmla="*/ 1611922 w 6144791"/>
                <a:gd name="connsiteY3-78" fmla="*/ 0 h 1189891"/>
                <a:gd name="connsiteX4-79" fmla="*/ 0 w 6144791"/>
                <a:gd name="connsiteY4-80" fmla="*/ 4918 h 1189891"/>
                <a:gd name="connsiteX0-81" fmla="*/ 9163763 w 9163763"/>
                <a:gd name="connsiteY0-82" fmla="*/ 14515 h 1189891"/>
                <a:gd name="connsiteX1-83" fmla="*/ 4128446 w 9163763"/>
                <a:gd name="connsiteY1-84" fmla="*/ 0 h 1189891"/>
                <a:gd name="connsiteX2-85" fmla="*/ 2870184 w 9163763"/>
                <a:gd name="connsiteY2-86" fmla="*/ 1189891 h 1189891"/>
                <a:gd name="connsiteX3-87" fmla="*/ 1611922 w 9163763"/>
                <a:gd name="connsiteY3-88" fmla="*/ 0 h 1189891"/>
                <a:gd name="connsiteX4-89" fmla="*/ 0 w 9163763"/>
                <a:gd name="connsiteY4-90" fmla="*/ 4918 h 1189891"/>
                <a:gd name="connsiteX0-91" fmla="*/ 5938570 w 5938570"/>
                <a:gd name="connsiteY0-92" fmla="*/ 14516 h 1189891"/>
                <a:gd name="connsiteX1-93" fmla="*/ 4128446 w 5938570"/>
                <a:gd name="connsiteY1-94" fmla="*/ 0 h 1189891"/>
                <a:gd name="connsiteX2-95" fmla="*/ 2870184 w 5938570"/>
                <a:gd name="connsiteY2-96" fmla="*/ 1189891 h 1189891"/>
                <a:gd name="connsiteX3-97" fmla="*/ 1611922 w 5938570"/>
                <a:gd name="connsiteY3-98" fmla="*/ 0 h 1189891"/>
                <a:gd name="connsiteX4-99" fmla="*/ 0 w 5938570"/>
                <a:gd name="connsiteY4-100" fmla="*/ 4918 h 118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938570" h="1189891">
                  <a:moveTo>
                    <a:pt x="5938570" y="14516"/>
                  </a:moveTo>
                  <a:lnTo>
                    <a:pt x="4128446" y="0"/>
                  </a:lnTo>
                  <a:cubicBezTo>
                    <a:pt x="4092690" y="663472"/>
                    <a:pt x="3542913" y="1189891"/>
                    <a:pt x="2870184" y="1189891"/>
                  </a:cubicBezTo>
                  <a:cubicBezTo>
                    <a:pt x="2197455" y="1189891"/>
                    <a:pt x="1647677" y="663471"/>
                    <a:pt x="1611922" y="0"/>
                  </a:cubicBezTo>
                  <a:lnTo>
                    <a:pt x="0" y="4918"/>
                  </a:lnTo>
                </a:path>
              </a:pathLst>
            </a:custGeom>
            <a:noFill/>
            <a:ln w="76200" cmpd="thinThick">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FFFFFF"/>
                </a:solidFill>
              </a:endParaRPr>
            </a:p>
          </p:txBody>
        </p:sp>
        <p:sp>
          <p:nvSpPr>
            <p:cNvPr id="9" name="MH_Title_1"/>
            <p:cNvSpPr/>
            <p:nvPr>
              <p:custDataLst>
                <p:tags r:id="rId2"/>
              </p:custDataLst>
            </p:nvPr>
          </p:nvSpPr>
          <p:spPr>
            <a:xfrm>
              <a:off x="6953" y="2925"/>
              <a:ext cx="3772" cy="2465"/>
            </a:xfrm>
            <a:prstGeom prst="ellipse">
              <a:avLst/>
            </a:prstGeom>
            <a:solidFill>
              <a:schemeClr val="accent5">
                <a:lumMod val="60000"/>
                <a:lumOff val="40000"/>
              </a:schemeClr>
            </a:solidFill>
            <a:ln w="127000" cmpd="thinThick">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3200" b="1" dirty="0">
                  <a:solidFill>
                    <a:schemeClr val="tx1"/>
                  </a:solidFill>
                  <a:latin typeface="微软雅黑" panose="020B0503020204020204" charset="-122"/>
                  <a:ea typeface="微软雅黑" panose="020B0503020204020204" charset="-122"/>
                </a:rPr>
                <a:t>用户帮助设施</a:t>
              </a:r>
            </a:p>
          </p:txBody>
        </p:sp>
        <p:sp>
          <p:nvSpPr>
            <p:cNvPr id="10" name="MH_SubTitle_1"/>
            <p:cNvSpPr/>
            <p:nvPr>
              <p:custDataLst>
                <p:tags r:id="rId3"/>
              </p:custDataLst>
            </p:nvPr>
          </p:nvSpPr>
          <p:spPr>
            <a:xfrm>
              <a:off x="2175" y="3732"/>
              <a:ext cx="4060" cy="1118"/>
            </a:xfrm>
            <a:prstGeom prst="roundRect">
              <a:avLst>
                <a:gd name="adj" fmla="val 3013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fontScale="97500"/>
            </a:bodyPr>
            <a:lstStyle/>
            <a:p>
              <a:pPr algn="ctr">
                <a:defRPr/>
              </a:pPr>
              <a:r>
                <a:rPr lang="zh-CN" altLang="en-US" sz="2800" b="1" dirty="0">
                  <a:solidFill>
                    <a:schemeClr val="tx2">
                      <a:lumMod val="75000"/>
                    </a:schemeClr>
                  </a:solidFill>
                  <a:latin typeface="微软雅黑" panose="020B0503020204020204" charset="-122"/>
                  <a:ea typeface="微软雅黑" panose="020B0503020204020204" charset="-122"/>
                </a:rPr>
                <a:t>集成的帮助设施</a:t>
              </a:r>
            </a:p>
          </p:txBody>
        </p:sp>
        <p:sp>
          <p:nvSpPr>
            <p:cNvPr id="11" name="MH_Text_1"/>
            <p:cNvSpPr txBox="1">
              <a:spLocks noChangeArrowheads="1"/>
            </p:cNvSpPr>
            <p:nvPr>
              <p:custDataLst>
                <p:tags r:id="rId4"/>
              </p:custDataLst>
            </p:nvPr>
          </p:nvSpPr>
          <p:spPr bwMode="auto">
            <a:xfrm>
              <a:off x="688" y="5750"/>
              <a:ext cx="7034" cy="3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rm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30000"/>
                </a:lnSpc>
                <a:defRPr/>
              </a:pPr>
              <a:r>
                <a:rPr lang="en-US" altLang="zh-CN" sz="2000" dirty="0"/>
                <a:t>        </a:t>
              </a:r>
              <a:r>
                <a:rPr lang="zh-CN" altLang="en-US" sz="2000" dirty="0"/>
                <a:t>集成的帮助设施设计在软件里，对用户工作内容敏感，用户可从与操作有关的主题中选择一个，请求帮助。它可以缩短用户获得帮助的时间，增加界面的友好性。</a:t>
              </a:r>
            </a:p>
          </p:txBody>
        </p:sp>
        <p:sp>
          <p:nvSpPr>
            <p:cNvPr id="12" name="MH_SubTitle_1"/>
            <p:cNvSpPr/>
            <p:nvPr>
              <p:custDataLst>
                <p:tags r:id="rId5"/>
              </p:custDataLst>
            </p:nvPr>
          </p:nvSpPr>
          <p:spPr>
            <a:xfrm>
              <a:off x="11400" y="3732"/>
              <a:ext cx="4163" cy="1118"/>
            </a:xfrm>
            <a:prstGeom prst="roundRect">
              <a:avLst>
                <a:gd name="adj" fmla="val 36824"/>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2800" b="1" dirty="0">
                  <a:solidFill>
                    <a:schemeClr val="tx2">
                      <a:lumMod val="75000"/>
                    </a:schemeClr>
                  </a:solidFill>
                  <a:latin typeface="微软雅黑" panose="020B0503020204020204" charset="-122"/>
                  <a:ea typeface="微软雅黑" panose="020B0503020204020204" charset="-122"/>
                </a:rPr>
                <a:t>附加的帮助设施</a:t>
              </a:r>
            </a:p>
          </p:txBody>
        </p:sp>
        <p:sp>
          <p:nvSpPr>
            <p:cNvPr id="13" name="MH_Text_1"/>
            <p:cNvSpPr txBox="1">
              <a:spLocks noChangeArrowheads="1"/>
            </p:cNvSpPr>
            <p:nvPr>
              <p:custDataLst>
                <p:tags r:id="rId6"/>
              </p:custDataLst>
            </p:nvPr>
          </p:nvSpPr>
          <p:spPr bwMode="auto">
            <a:xfrm>
              <a:off x="10526" y="5463"/>
              <a:ext cx="6643" cy="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20000"/>
                </a:lnSpc>
              </a:pPr>
              <a:r>
                <a:rPr lang="en-US" sz="2000" dirty="0"/>
                <a:t>        </a:t>
              </a:r>
              <a:r>
                <a:rPr sz="2000" dirty="0"/>
                <a:t>附加的帮助设施实际是一种查询能力有限的联机用户手册。</a:t>
              </a:r>
            </a:p>
            <a:p>
              <a:pPr>
                <a:lnSpc>
                  <a:spcPct val="120000"/>
                </a:lnSpc>
              </a:pPr>
              <a:r>
                <a:rPr sz="2000" dirty="0"/>
                <a:t>         </a:t>
              </a:r>
              <a:r>
                <a:rPr sz="2000" dirty="0">
                  <a:solidFill>
                    <a:schemeClr val="accent2">
                      <a:lumMod val="75000"/>
                    </a:schemeClr>
                  </a:solidFill>
                </a:rPr>
                <a:t>集成的帮助设施优于附加的帮助设施。</a:t>
              </a:r>
            </a:p>
          </p:txBody>
        </p:sp>
      </p:grpSp>
      <p:grpSp>
        <p:nvGrpSpPr>
          <p:cNvPr id="14" name="组合 6"/>
          <p:cNvGrpSpPr/>
          <p:nvPr/>
        </p:nvGrpSpPr>
        <p:grpSpPr>
          <a:xfrm>
            <a:off x="809625" y="2145646"/>
            <a:ext cx="7024189" cy="590550"/>
            <a:chOff x="508000" y="3196191"/>
            <a:chExt cx="7024120" cy="590550"/>
          </a:xfrm>
        </p:grpSpPr>
        <p:sp>
          <p:nvSpPr>
            <p:cNvPr id="15"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2</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16" name="直接连接符 1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7" name="矩形 16"/>
            <p:cNvSpPr>
              <a:spLocks noChangeArrowheads="1"/>
            </p:cNvSpPr>
            <p:nvPr/>
          </p:nvSpPr>
          <p:spPr bwMode="auto">
            <a:xfrm>
              <a:off x="960436" y="3291441"/>
              <a:ext cx="65716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用户帮助设施</a:t>
              </a:r>
            </a:p>
          </p:txBody>
        </p:sp>
      </p:grpSp>
    </p:spTree>
  </p:cSld>
  <p:clrMapOvr>
    <a:masterClrMapping/>
  </p:clrMapOvr>
  <p:transition>
    <p:fade thruBlk="1"/>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6 </a:t>
            </a:r>
            <a:r>
              <a:rPr lang="zh-CN" altLang="en-US" dirty="0">
                <a:sym typeface="+mn-ea"/>
              </a:rPr>
              <a:t>用户界面设计</a:t>
            </a: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sym typeface="+mn-ea"/>
              </a:rPr>
              <a:t>3.6.1 </a:t>
            </a:r>
            <a:r>
              <a:rPr lang="zh-CN" altLang="en-US" sz="2400" dirty="0">
                <a:solidFill>
                  <a:schemeClr val="tx1"/>
                </a:solidFill>
                <a:sym typeface="+mn-ea"/>
              </a:rPr>
              <a:t>用户界面设计问题</a:t>
            </a:r>
            <a:endParaRPr lang="zh-CN" altLang="en-US" sz="2400" dirty="0">
              <a:solidFill>
                <a:schemeClr val="tx1"/>
              </a:solidFill>
            </a:endParaRPr>
          </a:p>
        </p:txBody>
      </p:sp>
      <p:grpSp>
        <p:nvGrpSpPr>
          <p:cNvPr id="79" name="组合 78"/>
          <p:cNvGrpSpPr/>
          <p:nvPr/>
        </p:nvGrpSpPr>
        <p:grpSpPr>
          <a:xfrm>
            <a:off x="1359535" y="2363521"/>
            <a:ext cx="10341611" cy="4149725"/>
            <a:chOff x="1330" y="2932"/>
            <a:chExt cx="16286" cy="6535"/>
          </a:xfrm>
        </p:grpSpPr>
        <p:sp>
          <p:nvSpPr>
            <p:cNvPr id="77" name="任意多边形 76"/>
            <p:cNvSpPr/>
            <p:nvPr/>
          </p:nvSpPr>
          <p:spPr>
            <a:xfrm rot="10800000">
              <a:off x="14158" y="2932"/>
              <a:ext cx="3458" cy="6535"/>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9485" name="文本框 47"/>
            <p:cNvSpPr txBox="1"/>
            <p:nvPr/>
          </p:nvSpPr>
          <p:spPr>
            <a:xfrm>
              <a:off x="14669" y="8142"/>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4</a:t>
              </a:r>
              <a:endParaRPr lang="zh-CN" altLang="en-US" sz="2400" b="1" dirty="0">
                <a:solidFill>
                  <a:schemeClr val="bg1"/>
                </a:solidFill>
                <a:latin typeface="微软雅黑" panose="020B0503020204020204" charset="-122"/>
                <a:ea typeface="微软雅黑" panose="020B0503020204020204" charset="-122"/>
              </a:endParaRPr>
            </a:p>
          </p:txBody>
        </p:sp>
        <p:sp>
          <p:nvSpPr>
            <p:cNvPr id="78" name="圆角矩形 77"/>
            <p:cNvSpPr/>
            <p:nvPr/>
          </p:nvSpPr>
          <p:spPr>
            <a:xfrm rot="10800000">
              <a:off x="1330" y="8138"/>
              <a:ext cx="13504"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0" name="椭圆 79"/>
            <p:cNvSpPr/>
            <p:nvPr/>
          </p:nvSpPr>
          <p:spPr>
            <a:xfrm rot="10800000">
              <a:off x="13908" y="8069"/>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1" name="圆角矩形 80"/>
            <p:cNvSpPr/>
            <p:nvPr/>
          </p:nvSpPr>
          <p:spPr>
            <a:xfrm rot="10800000">
              <a:off x="1331" y="6972"/>
              <a:ext cx="14475"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2" name="椭圆 81"/>
            <p:cNvSpPr/>
            <p:nvPr/>
          </p:nvSpPr>
          <p:spPr>
            <a:xfrm rot="10800000">
              <a:off x="14900" y="6904"/>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3" name="圆角矩形 82"/>
            <p:cNvSpPr/>
            <p:nvPr/>
          </p:nvSpPr>
          <p:spPr>
            <a:xfrm rot="10800000">
              <a:off x="1333" y="5814"/>
              <a:ext cx="14708"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4" name="圆角矩形 83"/>
            <p:cNvSpPr/>
            <p:nvPr/>
          </p:nvSpPr>
          <p:spPr>
            <a:xfrm rot="10800000">
              <a:off x="1332" y="4539"/>
              <a:ext cx="14496"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5" name="椭圆 84"/>
            <p:cNvSpPr/>
            <p:nvPr/>
          </p:nvSpPr>
          <p:spPr>
            <a:xfrm rot="10800000">
              <a:off x="14900" y="4469"/>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6" name="圆角矩形 85"/>
            <p:cNvSpPr/>
            <p:nvPr/>
          </p:nvSpPr>
          <p:spPr>
            <a:xfrm rot="10800000">
              <a:off x="1332" y="3441"/>
              <a:ext cx="13536"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7" name="椭圆 86"/>
            <p:cNvSpPr/>
            <p:nvPr/>
          </p:nvSpPr>
          <p:spPr>
            <a:xfrm rot="10800000">
              <a:off x="13940" y="3371"/>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8" name="文本框 44"/>
            <p:cNvSpPr txBox="1"/>
            <p:nvPr/>
          </p:nvSpPr>
          <p:spPr>
            <a:xfrm>
              <a:off x="14130" y="3489"/>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1</a:t>
              </a:r>
              <a:endParaRPr lang="zh-CN" altLang="en-US" sz="2400" b="1" dirty="0">
                <a:solidFill>
                  <a:schemeClr val="bg1"/>
                </a:solidFill>
                <a:latin typeface="微软雅黑" panose="020B0503020204020204" charset="-122"/>
                <a:ea typeface="微软雅黑" panose="020B0503020204020204" charset="-122"/>
              </a:endParaRPr>
            </a:p>
          </p:txBody>
        </p:sp>
        <p:sp>
          <p:nvSpPr>
            <p:cNvPr id="89" name="文本框 45"/>
            <p:cNvSpPr txBox="1"/>
            <p:nvPr/>
          </p:nvSpPr>
          <p:spPr>
            <a:xfrm>
              <a:off x="15090" y="4631"/>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2</a:t>
              </a:r>
              <a:endParaRPr lang="zh-CN" altLang="en-US" sz="2400" b="1" dirty="0">
                <a:solidFill>
                  <a:schemeClr val="bg1"/>
                </a:solidFill>
                <a:latin typeface="微软雅黑" panose="020B0503020204020204" charset="-122"/>
                <a:ea typeface="微软雅黑" panose="020B0503020204020204" charset="-122"/>
              </a:endParaRPr>
            </a:p>
          </p:txBody>
        </p:sp>
        <p:sp>
          <p:nvSpPr>
            <p:cNvPr id="90" name="文本框 46"/>
            <p:cNvSpPr txBox="1"/>
            <p:nvPr/>
          </p:nvSpPr>
          <p:spPr>
            <a:xfrm>
              <a:off x="15318" y="5889"/>
              <a:ext cx="487"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sp>
          <p:nvSpPr>
            <p:cNvPr id="91" name="文本框 47"/>
            <p:cNvSpPr txBox="1"/>
            <p:nvPr/>
          </p:nvSpPr>
          <p:spPr>
            <a:xfrm>
              <a:off x="15090" y="7059"/>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4</a:t>
              </a:r>
              <a:endParaRPr lang="zh-CN" altLang="en-US" sz="2400" b="1" dirty="0">
                <a:solidFill>
                  <a:schemeClr val="bg1"/>
                </a:solidFill>
                <a:latin typeface="微软雅黑" panose="020B0503020204020204" charset="-122"/>
                <a:ea typeface="微软雅黑" panose="020B0503020204020204" charset="-122"/>
              </a:endParaRPr>
            </a:p>
          </p:txBody>
        </p:sp>
        <p:sp>
          <p:nvSpPr>
            <p:cNvPr id="92" name="文本框 48"/>
            <p:cNvSpPr txBox="1"/>
            <p:nvPr/>
          </p:nvSpPr>
          <p:spPr>
            <a:xfrm>
              <a:off x="14108" y="8224"/>
              <a:ext cx="487"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5</a:t>
              </a:r>
              <a:endParaRPr lang="zh-CN" altLang="en-US" sz="2400" b="1" dirty="0">
                <a:solidFill>
                  <a:schemeClr val="bg1"/>
                </a:solidFill>
                <a:latin typeface="微软雅黑" panose="020B0503020204020204" charset="-122"/>
                <a:ea typeface="微软雅黑" panose="020B0503020204020204" charset="-122"/>
              </a:endParaRPr>
            </a:p>
          </p:txBody>
        </p:sp>
        <p:sp>
          <p:nvSpPr>
            <p:cNvPr id="93" name="文本框 59"/>
            <p:cNvSpPr txBox="1"/>
            <p:nvPr/>
          </p:nvSpPr>
          <p:spPr>
            <a:xfrm>
              <a:off x="1676" y="3548"/>
              <a:ext cx="10559"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提供部分功能的帮助信息还是提供全部功能的帮助信息。</a:t>
              </a:r>
            </a:p>
          </p:txBody>
        </p:sp>
        <p:sp>
          <p:nvSpPr>
            <p:cNvPr id="94" name="文本框 60"/>
            <p:cNvSpPr txBox="1"/>
            <p:nvPr/>
          </p:nvSpPr>
          <p:spPr>
            <a:xfrm>
              <a:off x="1676" y="4708"/>
              <a:ext cx="8450"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请求方式：帮助菜单、特殊功能键、HELP命令。</a:t>
              </a:r>
            </a:p>
          </p:txBody>
        </p:sp>
        <p:sp>
          <p:nvSpPr>
            <p:cNvPr id="95" name="文本框 61"/>
            <p:cNvSpPr txBox="1"/>
            <p:nvPr/>
          </p:nvSpPr>
          <p:spPr>
            <a:xfrm>
              <a:off x="1676" y="5923"/>
              <a:ext cx="14680"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显示帮助信息方式：独立窗口、指出参考某文件、在屏幕固定位置显示提示。</a:t>
              </a:r>
            </a:p>
          </p:txBody>
        </p:sp>
        <p:sp>
          <p:nvSpPr>
            <p:cNvPr id="96" name="文本框 62"/>
            <p:cNvSpPr txBox="1"/>
            <p:nvPr/>
          </p:nvSpPr>
          <p:spPr>
            <a:xfrm>
              <a:off x="1676" y="7136"/>
              <a:ext cx="11119"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返回正常交互方式：屏幕上的返回按钮、功能键。</a:t>
              </a:r>
            </a:p>
          </p:txBody>
        </p:sp>
        <p:sp>
          <p:nvSpPr>
            <p:cNvPr id="97" name="文本框 63"/>
            <p:cNvSpPr txBox="1"/>
            <p:nvPr/>
          </p:nvSpPr>
          <p:spPr>
            <a:xfrm>
              <a:off x="1676" y="8247"/>
              <a:ext cx="12756"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帮助信息的组织方式：平面结构（通过关键字访问）、层次结构、超文本结构。</a:t>
              </a:r>
            </a:p>
          </p:txBody>
        </p:sp>
        <p:sp>
          <p:nvSpPr>
            <p:cNvPr id="98" name="椭圆 97"/>
            <p:cNvSpPr/>
            <p:nvPr/>
          </p:nvSpPr>
          <p:spPr>
            <a:xfrm rot="10800000">
              <a:off x="15081" y="5715"/>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9" name="文本框 46"/>
            <p:cNvSpPr txBox="1"/>
            <p:nvPr/>
          </p:nvSpPr>
          <p:spPr>
            <a:xfrm>
              <a:off x="15318" y="5814"/>
              <a:ext cx="837"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grpSp>
      <p:sp>
        <p:nvSpPr>
          <p:cNvPr id="28" name="MH_Text_1"/>
          <p:cNvSpPr txBox="1">
            <a:spLocks noChangeArrowheads="1"/>
          </p:cNvSpPr>
          <p:nvPr>
            <p:custDataLst>
              <p:tags r:id="rId1"/>
            </p:custDataLst>
          </p:nvPr>
        </p:nvSpPr>
        <p:spPr bwMode="auto">
          <a:xfrm>
            <a:off x="634364" y="2086610"/>
            <a:ext cx="9855835" cy="554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rm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r>
              <a:rPr lang="zh-CN" altLang="en-US" sz="2000" b="1" dirty="0"/>
              <a:t>集成的帮助设施优于附加的帮助设施。具体设计时必须解决以下问题：</a:t>
            </a:r>
          </a:p>
        </p:txBody>
      </p:sp>
    </p:spTree>
  </p:cSld>
  <p:clrMapOvr>
    <a:masterClrMapping/>
  </p:clrMapOvr>
  <p:transition>
    <p:fade thruBlk="1"/>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6 </a:t>
            </a:r>
            <a:r>
              <a:rPr lang="zh-CN" altLang="en-US" dirty="0">
                <a:sym typeface="+mn-ea"/>
              </a:rPr>
              <a:t>用户界面设计</a:t>
            </a: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sym typeface="+mn-ea"/>
              </a:rPr>
              <a:t>3.6.1 </a:t>
            </a:r>
            <a:r>
              <a:rPr lang="zh-CN" altLang="en-US" sz="2400" dirty="0">
                <a:solidFill>
                  <a:schemeClr val="tx1"/>
                </a:solidFill>
                <a:sym typeface="+mn-ea"/>
              </a:rPr>
              <a:t>用户界面设计问题</a:t>
            </a:r>
          </a:p>
        </p:txBody>
      </p:sp>
      <p:grpSp>
        <p:nvGrpSpPr>
          <p:cNvPr id="17" name="组合 16"/>
          <p:cNvGrpSpPr/>
          <p:nvPr/>
        </p:nvGrpSpPr>
        <p:grpSpPr>
          <a:xfrm>
            <a:off x="1316211" y="1969909"/>
            <a:ext cx="10424086" cy="4341494"/>
            <a:chOff x="-133216" y="1375915"/>
            <a:chExt cx="10715436" cy="4462838"/>
          </a:xfrm>
        </p:grpSpPr>
        <p:grpSp>
          <p:nvGrpSpPr>
            <p:cNvPr id="18" name="组合 17"/>
            <p:cNvGrpSpPr/>
            <p:nvPr/>
          </p:nvGrpSpPr>
          <p:grpSpPr>
            <a:xfrm>
              <a:off x="1417638" y="1375915"/>
              <a:ext cx="9164582" cy="4462838"/>
              <a:chOff x="1417638" y="1375915"/>
              <a:chExt cx="9164582" cy="4462838"/>
            </a:xfrm>
          </p:grpSpPr>
          <p:sp>
            <p:nvSpPr>
              <p:cNvPr id="37" name="Freeform 2"/>
              <p:cNvSpPr/>
              <p:nvPr/>
            </p:nvSpPr>
            <p:spPr bwMode="auto">
              <a:xfrm flipH="1">
                <a:off x="5707063" y="3692525"/>
                <a:ext cx="876300" cy="236537"/>
              </a:xfrm>
              <a:custGeom>
                <a:avLst/>
                <a:gdLst>
                  <a:gd name="T0" fmla="*/ 329430154 w 2331"/>
                  <a:gd name="T1" fmla="*/ 81322314 h 688"/>
                  <a:gd name="T2" fmla="*/ 14697855 w 2331"/>
                  <a:gd name="T3" fmla="*/ 16311770 h 688"/>
                  <a:gd name="T4" fmla="*/ 294805214 w 2331"/>
                  <a:gd name="T5" fmla="*/ 0 h 688"/>
                  <a:gd name="T6" fmla="*/ 329430154 w 2331"/>
                  <a:gd name="T7" fmla="*/ 81322314 h 688"/>
                  <a:gd name="T8" fmla="*/ 0 60000 65536"/>
                  <a:gd name="T9" fmla="*/ 0 60000 65536"/>
                  <a:gd name="T10" fmla="*/ 0 60000 65536"/>
                  <a:gd name="T11" fmla="*/ 0 60000 65536"/>
                  <a:gd name="T12" fmla="*/ 0 w 2331"/>
                  <a:gd name="T13" fmla="*/ 0 h 688"/>
                  <a:gd name="T14" fmla="*/ 2331 w 2331"/>
                  <a:gd name="T15" fmla="*/ 688 h 688"/>
                </a:gdLst>
                <a:ahLst/>
                <a:cxnLst>
                  <a:cxn ang="T8">
                    <a:pos x="T0" y="T1"/>
                  </a:cxn>
                  <a:cxn ang="T9">
                    <a:pos x="T2" y="T3"/>
                  </a:cxn>
                  <a:cxn ang="T10">
                    <a:pos x="T4" y="T5"/>
                  </a:cxn>
                  <a:cxn ang="T11">
                    <a:pos x="T6" y="T7"/>
                  </a:cxn>
                </a:cxnLst>
                <a:rect l="T12" t="T13" r="T14" b="T15"/>
                <a:pathLst>
                  <a:path w="2331" h="688">
                    <a:moveTo>
                      <a:pt x="2331" y="688"/>
                    </a:moveTo>
                    <a:cubicBezTo>
                      <a:pt x="2331" y="688"/>
                      <a:pt x="208" y="159"/>
                      <a:pt x="104" y="138"/>
                    </a:cubicBezTo>
                    <a:cubicBezTo>
                      <a:pt x="0" y="118"/>
                      <a:pt x="2086" y="0"/>
                      <a:pt x="2086" y="0"/>
                    </a:cubicBezTo>
                    <a:lnTo>
                      <a:pt x="2331" y="688"/>
                    </a:lnTo>
                    <a:close/>
                  </a:path>
                </a:pathLst>
              </a:custGeom>
              <a:gradFill rotWithShape="1">
                <a:gsLst>
                  <a:gs pos="0">
                    <a:srgbClr val="FFFFFF">
                      <a:alpha val="50000"/>
                    </a:srgbClr>
                  </a:gs>
                  <a:gs pos="100000">
                    <a:srgbClr val="666666">
                      <a:alpha val="34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38" name="Freeform 4"/>
              <p:cNvSpPr/>
              <p:nvPr/>
            </p:nvSpPr>
            <p:spPr bwMode="auto">
              <a:xfrm flipH="1">
                <a:off x="6996113" y="3609975"/>
                <a:ext cx="863600" cy="388937"/>
              </a:xfrm>
              <a:custGeom>
                <a:avLst/>
                <a:gdLst>
                  <a:gd name="T0" fmla="*/ 319950648 w 2331"/>
                  <a:gd name="T1" fmla="*/ 219872078 h 688"/>
                  <a:gd name="T2" fmla="*/ 14274778 w 2331"/>
                  <a:gd name="T3" fmla="*/ 44102516 h 688"/>
                  <a:gd name="T4" fmla="*/ 286322116 w 2331"/>
                  <a:gd name="T5" fmla="*/ 0 h 688"/>
                  <a:gd name="T6" fmla="*/ 319950648 w 2331"/>
                  <a:gd name="T7" fmla="*/ 219872078 h 688"/>
                  <a:gd name="T8" fmla="*/ 0 60000 65536"/>
                  <a:gd name="T9" fmla="*/ 0 60000 65536"/>
                  <a:gd name="T10" fmla="*/ 0 60000 65536"/>
                  <a:gd name="T11" fmla="*/ 0 60000 65536"/>
                  <a:gd name="T12" fmla="*/ 0 w 2331"/>
                  <a:gd name="T13" fmla="*/ 0 h 688"/>
                  <a:gd name="T14" fmla="*/ 2331 w 2331"/>
                  <a:gd name="T15" fmla="*/ 688 h 688"/>
                </a:gdLst>
                <a:ahLst/>
                <a:cxnLst>
                  <a:cxn ang="T8">
                    <a:pos x="T0" y="T1"/>
                  </a:cxn>
                  <a:cxn ang="T9">
                    <a:pos x="T2" y="T3"/>
                  </a:cxn>
                  <a:cxn ang="T10">
                    <a:pos x="T4" y="T5"/>
                  </a:cxn>
                  <a:cxn ang="T11">
                    <a:pos x="T6" y="T7"/>
                  </a:cxn>
                </a:cxnLst>
                <a:rect l="T12" t="T13" r="T14" b="T15"/>
                <a:pathLst>
                  <a:path w="2331" h="688">
                    <a:moveTo>
                      <a:pt x="2331" y="688"/>
                    </a:moveTo>
                    <a:cubicBezTo>
                      <a:pt x="2331" y="688"/>
                      <a:pt x="208" y="159"/>
                      <a:pt x="104" y="138"/>
                    </a:cubicBezTo>
                    <a:cubicBezTo>
                      <a:pt x="0" y="118"/>
                      <a:pt x="2086" y="0"/>
                      <a:pt x="2086" y="0"/>
                    </a:cubicBezTo>
                    <a:lnTo>
                      <a:pt x="2331" y="688"/>
                    </a:lnTo>
                    <a:close/>
                  </a:path>
                </a:pathLst>
              </a:custGeom>
              <a:gradFill rotWithShape="1">
                <a:gsLst>
                  <a:gs pos="0">
                    <a:srgbClr val="FFFFFF">
                      <a:alpha val="50000"/>
                    </a:srgbClr>
                  </a:gs>
                  <a:gs pos="100000">
                    <a:srgbClr val="666666">
                      <a:alpha val="34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39" name="Freeform 5"/>
              <p:cNvSpPr/>
              <p:nvPr/>
            </p:nvSpPr>
            <p:spPr bwMode="auto">
              <a:xfrm flipH="1">
                <a:off x="8412163" y="3746500"/>
                <a:ext cx="838200" cy="363537"/>
              </a:xfrm>
              <a:custGeom>
                <a:avLst/>
                <a:gdLst>
                  <a:gd name="T0" fmla="*/ 301406795 w 2331"/>
                  <a:gd name="T1" fmla="*/ 192091788 h 688"/>
                  <a:gd name="T2" fmla="*/ 13447518 w 2331"/>
                  <a:gd name="T3" fmla="*/ 38530166 h 688"/>
                  <a:gd name="T4" fmla="*/ 269727438 w 2331"/>
                  <a:gd name="T5" fmla="*/ 0 h 688"/>
                  <a:gd name="T6" fmla="*/ 301406795 w 2331"/>
                  <a:gd name="T7" fmla="*/ 192091788 h 688"/>
                  <a:gd name="T8" fmla="*/ 0 60000 65536"/>
                  <a:gd name="T9" fmla="*/ 0 60000 65536"/>
                  <a:gd name="T10" fmla="*/ 0 60000 65536"/>
                  <a:gd name="T11" fmla="*/ 0 60000 65536"/>
                  <a:gd name="T12" fmla="*/ 0 w 2331"/>
                  <a:gd name="T13" fmla="*/ 0 h 688"/>
                  <a:gd name="T14" fmla="*/ 2331 w 2331"/>
                  <a:gd name="T15" fmla="*/ 688 h 688"/>
                </a:gdLst>
                <a:ahLst/>
                <a:cxnLst>
                  <a:cxn ang="T8">
                    <a:pos x="T0" y="T1"/>
                  </a:cxn>
                  <a:cxn ang="T9">
                    <a:pos x="T2" y="T3"/>
                  </a:cxn>
                  <a:cxn ang="T10">
                    <a:pos x="T4" y="T5"/>
                  </a:cxn>
                  <a:cxn ang="T11">
                    <a:pos x="T6" y="T7"/>
                  </a:cxn>
                </a:cxnLst>
                <a:rect l="T12" t="T13" r="T14" b="T15"/>
                <a:pathLst>
                  <a:path w="2331" h="688">
                    <a:moveTo>
                      <a:pt x="2331" y="688"/>
                    </a:moveTo>
                    <a:cubicBezTo>
                      <a:pt x="2331" y="688"/>
                      <a:pt x="208" y="159"/>
                      <a:pt x="104" y="138"/>
                    </a:cubicBezTo>
                    <a:cubicBezTo>
                      <a:pt x="0" y="118"/>
                      <a:pt x="2086" y="0"/>
                      <a:pt x="2086" y="0"/>
                    </a:cubicBezTo>
                    <a:lnTo>
                      <a:pt x="2331" y="688"/>
                    </a:lnTo>
                    <a:close/>
                  </a:path>
                </a:pathLst>
              </a:custGeom>
              <a:gradFill rotWithShape="1">
                <a:gsLst>
                  <a:gs pos="0">
                    <a:srgbClr val="FFFFFF">
                      <a:alpha val="50000"/>
                    </a:srgbClr>
                  </a:gs>
                  <a:gs pos="100000">
                    <a:srgbClr val="666666">
                      <a:alpha val="34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40" name="Freeform 7"/>
              <p:cNvSpPr/>
              <p:nvPr/>
            </p:nvSpPr>
            <p:spPr bwMode="auto">
              <a:xfrm>
                <a:off x="2713038" y="3692525"/>
                <a:ext cx="885825" cy="236537"/>
              </a:xfrm>
              <a:custGeom>
                <a:avLst/>
                <a:gdLst>
                  <a:gd name="T0" fmla="*/ 336630601 w 2331"/>
                  <a:gd name="T1" fmla="*/ 81322314 h 688"/>
                  <a:gd name="T2" fmla="*/ 15019123 w 2331"/>
                  <a:gd name="T3" fmla="*/ 16311770 h 688"/>
                  <a:gd name="T4" fmla="*/ 301248903 w 2331"/>
                  <a:gd name="T5" fmla="*/ 0 h 688"/>
                  <a:gd name="T6" fmla="*/ 336630601 w 2331"/>
                  <a:gd name="T7" fmla="*/ 81322314 h 688"/>
                  <a:gd name="T8" fmla="*/ 0 60000 65536"/>
                  <a:gd name="T9" fmla="*/ 0 60000 65536"/>
                  <a:gd name="T10" fmla="*/ 0 60000 65536"/>
                  <a:gd name="T11" fmla="*/ 0 60000 65536"/>
                  <a:gd name="T12" fmla="*/ 0 w 2331"/>
                  <a:gd name="T13" fmla="*/ 0 h 688"/>
                  <a:gd name="T14" fmla="*/ 2331 w 2331"/>
                  <a:gd name="T15" fmla="*/ 688 h 688"/>
                </a:gdLst>
                <a:ahLst/>
                <a:cxnLst>
                  <a:cxn ang="T8">
                    <a:pos x="T0" y="T1"/>
                  </a:cxn>
                  <a:cxn ang="T9">
                    <a:pos x="T2" y="T3"/>
                  </a:cxn>
                  <a:cxn ang="T10">
                    <a:pos x="T4" y="T5"/>
                  </a:cxn>
                  <a:cxn ang="T11">
                    <a:pos x="T6" y="T7"/>
                  </a:cxn>
                </a:cxnLst>
                <a:rect l="T12" t="T13" r="T14" b="T15"/>
                <a:pathLst>
                  <a:path w="2331" h="688">
                    <a:moveTo>
                      <a:pt x="2331" y="688"/>
                    </a:moveTo>
                    <a:cubicBezTo>
                      <a:pt x="2331" y="688"/>
                      <a:pt x="208" y="159"/>
                      <a:pt x="104" y="138"/>
                    </a:cubicBezTo>
                    <a:cubicBezTo>
                      <a:pt x="0" y="118"/>
                      <a:pt x="2086" y="0"/>
                      <a:pt x="2086" y="0"/>
                    </a:cubicBezTo>
                    <a:lnTo>
                      <a:pt x="2331" y="688"/>
                    </a:lnTo>
                    <a:close/>
                  </a:path>
                </a:pathLst>
              </a:custGeom>
              <a:gradFill rotWithShape="1">
                <a:gsLst>
                  <a:gs pos="0">
                    <a:srgbClr val="FFFFFF">
                      <a:alpha val="50000"/>
                    </a:srgbClr>
                  </a:gs>
                  <a:gs pos="100000">
                    <a:srgbClr val="666666">
                      <a:alpha val="34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41" name="Freeform 10"/>
              <p:cNvSpPr/>
              <p:nvPr/>
            </p:nvSpPr>
            <p:spPr bwMode="auto">
              <a:xfrm>
                <a:off x="2270126" y="2817812"/>
                <a:ext cx="1082675" cy="1189038"/>
              </a:xfrm>
              <a:custGeom>
                <a:avLst/>
                <a:gdLst>
                  <a:gd name="T0" fmla="*/ 0 w 973"/>
                  <a:gd name="T1" fmla="*/ 0 h 1069"/>
                  <a:gd name="T2" fmla="*/ 0 w 973"/>
                  <a:gd name="T3" fmla="*/ 1322555066 h 1069"/>
                  <a:gd name="T4" fmla="*/ 1204712390 w 973"/>
                  <a:gd name="T5" fmla="*/ 1300285908 h 1069"/>
                  <a:gd name="T6" fmla="*/ 1204712390 w 973"/>
                  <a:gd name="T7" fmla="*/ 44538316 h 1069"/>
                  <a:gd name="T8" fmla="*/ 0 w 973"/>
                  <a:gd name="T9" fmla="*/ 0 h 1069"/>
                  <a:gd name="T10" fmla="*/ 0 60000 65536"/>
                  <a:gd name="T11" fmla="*/ 0 60000 65536"/>
                  <a:gd name="T12" fmla="*/ 0 60000 65536"/>
                  <a:gd name="T13" fmla="*/ 0 60000 65536"/>
                  <a:gd name="T14" fmla="*/ 0 60000 65536"/>
                  <a:gd name="T15" fmla="*/ 0 w 973"/>
                  <a:gd name="T16" fmla="*/ 0 h 1069"/>
                  <a:gd name="T17" fmla="*/ 973 w 973"/>
                  <a:gd name="T18" fmla="*/ 1069 h 1069"/>
                </a:gdLst>
                <a:ahLst/>
                <a:cxnLst>
                  <a:cxn ang="T10">
                    <a:pos x="T0" y="T1"/>
                  </a:cxn>
                  <a:cxn ang="T11">
                    <a:pos x="T2" y="T3"/>
                  </a:cxn>
                  <a:cxn ang="T12">
                    <a:pos x="T4" y="T5"/>
                  </a:cxn>
                  <a:cxn ang="T13">
                    <a:pos x="T6" y="T7"/>
                  </a:cxn>
                  <a:cxn ang="T14">
                    <a:pos x="T8" y="T9"/>
                  </a:cxn>
                </a:cxnLst>
                <a:rect l="T15" t="T16" r="T17" b="T18"/>
                <a:pathLst>
                  <a:path w="973" h="1069">
                    <a:moveTo>
                      <a:pt x="0" y="0"/>
                    </a:moveTo>
                    <a:lnTo>
                      <a:pt x="0" y="1069"/>
                    </a:lnTo>
                    <a:lnTo>
                      <a:pt x="973" y="1051"/>
                    </a:lnTo>
                    <a:lnTo>
                      <a:pt x="973" y="36"/>
                    </a:lnTo>
                    <a:lnTo>
                      <a:pt x="0" y="0"/>
                    </a:lnTo>
                    <a:close/>
                  </a:path>
                </a:pathLst>
              </a:custGeom>
              <a:gradFill rotWithShape="1">
                <a:gsLst>
                  <a:gs pos="0">
                    <a:srgbClr val="F8F8F8"/>
                  </a:gs>
                  <a:gs pos="100000">
                    <a:srgbClr val="C0C0C0"/>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42" name="Freeform 11"/>
              <p:cNvSpPr/>
              <p:nvPr/>
            </p:nvSpPr>
            <p:spPr bwMode="auto">
              <a:xfrm>
                <a:off x="2060576" y="2803525"/>
                <a:ext cx="219075" cy="1189037"/>
              </a:xfrm>
              <a:custGeom>
                <a:avLst/>
                <a:gdLst>
                  <a:gd name="T0" fmla="*/ 0 w 197"/>
                  <a:gd name="T1" fmla="*/ 152174490 h 1069"/>
                  <a:gd name="T2" fmla="*/ 0 w 197"/>
                  <a:gd name="T3" fmla="*/ 1171616329 h 1069"/>
                  <a:gd name="T4" fmla="*/ 243623633 w 197"/>
                  <a:gd name="T5" fmla="*/ 1322552841 h 1069"/>
                  <a:gd name="T6" fmla="*/ 243623633 w 197"/>
                  <a:gd name="T7" fmla="*/ 0 h 1069"/>
                  <a:gd name="T8" fmla="*/ 0 w 197"/>
                  <a:gd name="T9" fmla="*/ 152174490 h 1069"/>
                  <a:gd name="T10" fmla="*/ 0 60000 65536"/>
                  <a:gd name="T11" fmla="*/ 0 60000 65536"/>
                  <a:gd name="T12" fmla="*/ 0 60000 65536"/>
                  <a:gd name="T13" fmla="*/ 0 60000 65536"/>
                  <a:gd name="T14" fmla="*/ 0 60000 65536"/>
                  <a:gd name="T15" fmla="*/ 0 w 197"/>
                  <a:gd name="T16" fmla="*/ 0 h 1069"/>
                  <a:gd name="T17" fmla="*/ 197 w 197"/>
                  <a:gd name="T18" fmla="*/ 1069 h 1069"/>
                </a:gdLst>
                <a:ahLst/>
                <a:cxnLst>
                  <a:cxn ang="T10">
                    <a:pos x="T0" y="T1"/>
                  </a:cxn>
                  <a:cxn ang="T11">
                    <a:pos x="T2" y="T3"/>
                  </a:cxn>
                  <a:cxn ang="T12">
                    <a:pos x="T4" y="T5"/>
                  </a:cxn>
                  <a:cxn ang="T13">
                    <a:pos x="T6" y="T7"/>
                  </a:cxn>
                  <a:cxn ang="T14">
                    <a:pos x="T8" y="T9"/>
                  </a:cxn>
                </a:cxnLst>
                <a:rect l="T15" t="T16" r="T17" b="T18"/>
                <a:pathLst>
                  <a:path w="197" h="1069">
                    <a:moveTo>
                      <a:pt x="0" y="123"/>
                    </a:moveTo>
                    <a:lnTo>
                      <a:pt x="0" y="947"/>
                    </a:lnTo>
                    <a:lnTo>
                      <a:pt x="197" y="1069"/>
                    </a:lnTo>
                    <a:lnTo>
                      <a:pt x="197" y="0"/>
                    </a:lnTo>
                    <a:lnTo>
                      <a:pt x="0" y="123"/>
                    </a:lnTo>
                    <a:close/>
                  </a:path>
                </a:pathLst>
              </a:custGeom>
              <a:gradFill rotWithShape="1">
                <a:gsLst>
                  <a:gs pos="0">
                    <a:srgbClr val="969696"/>
                  </a:gs>
                  <a:gs pos="100000">
                    <a:srgbClr val="5F5F5F"/>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43" name="Freeform 12"/>
              <p:cNvSpPr/>
              <p:nvPr/>
            </p:nvSpPr>
            <p:spPr bwMode="auto">
              <a:xfrm>
                <a:off x="3565526" y="2857500"/>
                <a:ext cx="1016000" cy="1081087"/>
              </a:xfrm>
              <a:custGeom>
                <a:avLst/>
                <a:gdLst>
                  <a:gd name="T0" fmla="*/ 1130619934 w 913"/>
                  <a:gd name="T1" fmla="*/ 1185098247 h 972"/>
                  <a:gd name="T2" fmla="*/ 0 w 913"/>
                  <a:gd name="T3" fmla="*/ 1202416771 h 972"/>
                  <a:gd name="T4" fmla="*/ 0 w 913"/>
                  <a:gd name="T5" fmla="*/ 0 h 972"/>
                  <a:gd name="T6" fmla="*/ 1130619934 w 913"/>
                  <a:gd name="T7" fmla="*/ 7421907 h 972"/>
                  <a:gd name="T8" fmla="*/ 1130619934 w 913"/>
                  <a:gd name="T9" fmla="*/ 1185098247 h 972"/>
                  <a:gd name="T10" fmla="*/ 0 60000 65536"/>
                  <a:gd name="T11" fmla="*/ 0 60000 65536"/>
                  <a:gd name="T12" fmla="*/ 0 60000 65536"/>
                  <a:gd name="T13" fmla="*/ 0 60000 65536"/>
                  <a:gd name="T14" fmla="*/ 0 60000 65536"/>
                  <a:gd name="T15" fmla="*/ 0 w 913"/>
                  <a:gd name="T16" fmla="*/ 0 h 972"/>
                  <a:gd name="T17" fmla="*/ 913 w 913"/>
                  <a:gd name="T18" fmla="*/ 972 h 972"/>
                </a:gdLst>
                <a:ahLst/>
                <a:cxnLst>
                  <a:cxn ang="T10">
                    <a:pos x="T0" y="T1"/>
                  </a:cxn>
                  <a:cxn ang="T11">
                    <a:pos x="T2" y="T3"/>
                  </a:cxn>
                  <a:cxn ang="T12">
                    <a:pos x="T4" y="T5"/>
                  </a:cxn>
                  <a:cxn ang="T13">
                    <a:pos x="T6" y="T7"/>
                  </a:cxn>
                  <a:cxn ang="T14">
                    <a:pos x="T8" y="T9"/>
                  </a:cxn>
                </a:cxnLst>
                <a:rect l="T15" t="T16" r="T17" b="T18"/>
                <a:pathLst>
                  <a:path w="913" h="972">
                    <a:moveTo>
                      <a:pt x="913" y="958"/>
                    </a:moveTo>
                    <a:lnTo>
                      <a:pt x="0" y="972"/>
                    </a:lnTo>
                    <a:lnTo>
                      <a:pt x="0" y="0"/>
                    </a:lnTo>
                    <a:lnTo>
                      <a:pt x="913" y="6"/>
                    </a:lnTo>
                    <a:lnTo>
                      <a:pt x="913" y="958"/>
                    </a:lnTo>
                    <a:close/>
                  </a:path>
                </a:pathLst>
              </a:custGeom>
              <a:gradFill rotWithShape="1">
                <a:gsLst>
                  <a:gs pos="0">
                    <a:srgbClr val="F8F8F8"/>
                  </a:gs>
                  <a:gs pos="100000">
                    <a:srgbClr val="C0C0C0"/>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44" name="Freeform 13"/>
              <p:cNvSpPr/>
              <p:nvPr/>
            </p:nvSpPr>
            <p:spPr bwMode="auto">
              <a:xfrm>
                <a:off x="3489326" y="2857500"/>
                <a:ext cx="76200" cy="1081087"/>
              </a:xfrm>
              <a:custGeom>
                <a:avLst/>
                <a:gdLst>
                  <a:gd name="T0" fmla="*/ 0 w 69"/>
                  <a:gd name="T1" fmla="*/ 107623768 h 972"/>
                  <a:gd name="T2" fmla="*/ 0 w 69"/>
                  <a:gd name="T3" fmla="*/ 1120771346 h 972"/>
                  <a:gd name="T4" fmla="*/ 84151304 w 69"/>
                  <a:gd name="T5" fmla="*/ 1202416771 h 972"/>
                  <a:gd name="T6" fmla="*/ 84151304 w 69"/>
                  <a:gd name="T7" fmla="*/ 0 h 972"/>
                  <a:gd name="T8" fmla="*/ 0 w 69"/>
                  <a:gd name="T9" fmla="*/ 107623768 h 972"/>
                  <a:gd name="T10" fmla="*/ 0 60000 65536"/>
                  <a:gd name="T11" fmla="*/ 0 60000 65536"/>
                  <a:gd name="T12" fmla="*/ 0 60000 65536"/>
                  <a:gd name="T13" fmla="*/ 0 60000 65536"/>
                  <a:gd name="T14" fmla="*/ 0 60000 65536"/>
                  <a:gd name="T15" fmla="*/ 0 w 69"/>
                  <a:gd name="T16" fmla="*/ 0 h 972"/>
                  <a:gd name="T17" fmla="*/ 69 w 69"/>
                  <a:gd name="T18" fmla="*/ 972 h 972"/>
                </a:gdLst>
                <a:ahLst/>
                <a:cxnLst>
                  <a:cxn ang="T10">
                    <a:pos x="T0" y="T1"/>
                  </a:cxn>
                  <a:cxn ang="T11">
                    <a:pos x="T2" y="T3"/>
                  </a:cxn>
                  <a:cxn ang="T12">
                    <a:pos x="T4" y="T5"/>
                  </a:cxn>
                  <a:cxn ang="T13">
                    <a:pos x="T6" y="T7"/>
                  </a:cxn>
                  <a:cxn ang="T14">
                    <a:pos x="T8" y="T9"/>
                  </a:cxn>
                </a:cxnLst>
                <a:rect l="T15" t="T16" r="T17" b="T18"/>
                <a:pathLst>
                  <a:path w="69" h="972">
                    <a:moveTo>
                      <a:pt x="0" y="87"/>
                    </a:moveTo>
                    <a:lnTo>
                      <a:pt x="0" y="906"/>
                    </a:lnTo>
                    <a:lnTo>
                      <a:pt x="69" y="972"/>
                    </a:lnTo>
                    <a:lnTo>
                      <a:pt x="69" y="0"/>
                    </a:lnTo>
                    <a:lnTo>
                      <a:pt x="0" y="87"/>
                    </a:lnTo>
                    <a:close/>
                  </a:path>
                </a:pathLst>
              </a:custGeom>
              <a:gradFill rotWithShape="1">
                <a:gsLst>
                  <a:gs pos="0">
                    <a:srgbClr val="969696"/>
                  </a:gs>
                  <a:gs pos="100000">
                    <a:srgbClr val="5F5F5F"/>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45" name="Freeform 14"/>
              <p:cNvSpPr/>
              <p:nvPr/>
            </p:nvSpPr>
            <p:spPr bwMode="auto">
              <a:xfrm flipH="1">
                <a:off x="7288213" y="2720975"/>
                <a:ext cx="1119188" cy="1392237"/>
              </a:xfrm>
              <a:custGeom>
                <a:avLst/>
                <a:gdLst>
                  <a:gd name="T0" fmla="*/ 0 w 1006"/>
                  <a:gd name="T1" fmla="*/ 0 h 1251"/>
                  <a:gd name="T2" fmla="*/ 0 w 1006"/>
                  <a:gd name="T3" fmla="*/ 1549419556 h 1251"/>
                  <a:gd name="T4" fmla="*/ 1245111113 w 1006"/>
                  <a:gd name="T5" fmla="*/ 1429280965 h 1251"/>
                  <a:gd name="T6" fmla="*/ 1245111113 w 1006"/>
                  <a:gd name="T7" fmla="*/ 100322306 h 1251"/>
                  <a:gd name="T8" fmla="*/ 0 w 1006"/>
                  <a:gd name="T9" fmla="*/ 0 h 1251"/>
                  <a:gd name="T10" fmla="*/ 0 60000 65536"/>
                  <a:gd name="T11" fmla="*/ 0 60000 65536"/>
                  <a:gd name="T12" fmla="*/ 0 60000 65536"/>
                  <a:gd name="T13" fmla="*/ 0 60000 65536"/>
                  <a:gd name="T14" fmla="*/ 0 60000 65536"/>
                  <a:gd name="T15" fmla="*/ 0 w 1006"/>
                  <a:gd name="T16" fmla="*/ 0 h 1251"/>
                  <a:gd name="T17" fmla="*/ 1006 w 1006"/>
                  <a:gd name="T18" fmla="*/ 1251 h 1251"/>
                </a:gdLst>
                <a:ahLst/>
                <a:cxnLst>
                  <a:cxn ang="T10">
                    <a:pos x="T0" y="T1"/>
                  </a:cxn>
                  <a:cxn ang="T11">
                    <a:pos x="T2" y="T3"/>
                  </a:cxn>
                  <a:cxn ang="T12">
                    <a:pos x="T4" y="T5"/>
                  </a:cxn>
                  <a:cxn ang="T13">
                    <a:pos x="T6" y="T7"/>
                  </a:cxn>
                  <a:cxn ang="T14">
                    <a:pos x="T8" y="T9"/>
                  </a:cxn>
                </a:cxnLst>
                <a:rect l="T15" t="T16" r="T17" b="T18"/>
                <a:pathLst>
                  <a:path w="1006" h="1251">
                    <a:moveTo>
                      <a:pt x="0" y="0"/>
                    </a:moveTo>
                    <a:lnTo>
                      <a:pt x="0" y="1251"/>
                    </a:lnTo>
                    <a:lnTo>
                      <a:pt x="1006" y="1154"/>
                    </a:lnTo>
                    <a:lnTo>
                      <a:pt x="1006" y="81"/>
                    </a:lnTo>
                    <a:lnTo>
                      <a:pt x="0" y="0"/>
                    </a:lnTo>
                    <a:close/>
                  </a:path>
                </a:pathLst>
              </a:custGeom>
              <a:gradFill rotWithShape="1">
                <a:gsLst>
                  <a:gs pos="0">
                    <a:srgbClr val="C0C0C0"/>
                  </a:gs>
                  <a:gs pos="100000">
                    <a:srgbClr val="F8F8F8"/>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46" name="Freeform 15"/>
              <p:cNvSpPr/>
              <p:nvPr/>
            </p:nvSpPr>
            <p:spPr bwMode="auto">
              <a:xfrm flipH="1">
                <a:off x="8407401" y="2720975"/>
                <a:ext cx="377825" cy="1392237"/>
              </a:xfrm>
              <a:custGeom>
                <a:avLst/>
                <a:gdLst>
                  <a:gd name="T0" fmla="*/ 0 w 339"/>
                  <a:gd name="T1" fmla="*/ 136240017 h 1251"/>
                  <a:gd name="T2" fmla="*/ 0 w 339"/>
                  <a:gd name="T3" fmla="*/ 1337628145 h 1251"/>
                  <a:gd name="T4" fmla="*/ 421096551 w 339"/>
                  <a:gd name="T5" fmla="*/ 1549419556 h 1251"/>
                  <a:gd name="T6" fmla="*/ 421096551 w 339"/>
                  <a:gd name="T7" fmla="*/ 0 h 1251"/>
                  <a:gd name="T8" fmla="*/ 0 w 339"/>
                  <a:gd name="T9" fmla="*/ 136240017 h 1251"/>
                  <a:gd name="T10" fmla="*/ 0 60000 65536"/>
                  <a:gd name="T11" fmla="*/ 0 60000 65536"/>
                  <a:gd name="T12" fmla="*/ 0 60000 65536"/>
                  <a:gd name="T13" fmla="*/ 0 60000 65536"/>
                  <a:gd name="T14" fmla="*/ 0 60000 65536"/>
                  <a:gd name="T15" fmla="*/ 0 w 339"/>
                  <a:gd name="T16" fmla="*/ 0 h 1251"/>
                  <a:gd name="T17" fmla="*/ 339 w 339"/>
                  <a:gd name="T18" fmla="*/ 1251 h 1251"/>
                </a:gdLst>
                <a:ahLst/>
                <a:cxnLst>
                  <a:cxn ang="T10">
                    <a:pos x="T0" y="T1"/>
                  </a:cxn>
                  <a:cxn ang="T11">
                    <a:pos x="T2" y="T3"/>
                  </a:cxn>
                  <a:cxn ang="T12">
                    <a:pos x="T4" y="T5"/>
                  </a:cxn>
                  <a:cxn ang="T13">
                    <a:pos x="T6" y="T7"/>
                  </a:cxn>
                  <a:cxn ang="T14">
                    <a:pos x="T8" y="T9"/>
                  </a:cxn>
                </a:cxnLst>
                <a:rect l="T15" t="T16" r="T17" b="T18"/>
                <a:pathLst>
                  <a:path w="339" h="1251">
                    <a:moveTo>
                      <a:pt x="0" y="110"/>
                    </a:moveTo>
                    <a:lnTo>
                      <a:pt x="0" y="1080"/>
                    </a:lnTo>
                    <a:lnTo>
                      <a:pt x="339" y="1251"/>
                    </a:lnTo>
                    <a:lnTo>
                      <a:pt x="339" y="0"/>
                    </a:lnTo>
                    <a:lnTo>
                      <a:pt x="0" y="110"/>
                    </a:lnTo>
                    <a:close/>
                  </a:path>
                </a:pathLst>
              </a:custGeom>
              <a:gradFill rotWithShape="1">
                <a:gsLst>
                  <a:gs pos="0">
                    <a:srgbClr val="969696"/>
                  </a:gs>
                  <a:gs pos="100000">
                    <a:srgbClr val="5F5F5F"/>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47" name="Freeform 16"/>
              <p:cNvSpPr/>
              <p:nvPr/>
            </p:nvSpPr>
            <p:spPr bwMode="auto">
              <a:xfrm flipH="1">
                <a:off x="5926138" y="2803525"/>
                <a:ext cx="1082675" cy="1189037"/>
              </a:xfrm>
              <a:custGeom>
                <a:avLst/>
                <a:gdLst>
                  <a:gd name="T0" fmla="*/ 0 w 973"/>
                  <a:gd name="T1" fmla="*/ 0 h 1069"/>
                  <a:gd name="T2" fmla="*/ 0 w 973"/>
                  <a:gd name="T3" fmla="*/ 1322552841 h 1069"/>
                  <a:gd name="T4" fmla="*/ 1204712390 w 973"/>
                  <a:gd name="T5" fmla="*/ 1300283702 h 1069"/>
                  <a:gd name="T6" fmla="*/ 1204712390 w 973"/>
                  <a:gd name="T7" fmla="*/ 44538278 h 1069"/>
                  <a:gd name="T8" fmla="*/ 0 w 973"/>
                  <a:gd name="T9" fmla="*/ 0 h 1069"/>
                  <a:gd name="T10" fmla="*/ 0 60000 65536"/>
                  <a:gd name="T11" fmla="*/ 0 60000 65536"/>
                  <a:gd name="T12" fmla="*/ 0 60000 65536"/>
                  <a:gd name="T13" fmla="*/ 0 60000 65536"/>
                  <a:gd name="T14" fmla="*/ 0 60000 65536"/>
                  <a:gd name="T15" fmla="*/ 0 w 973"/>
                  <a:gd name="T16" fmla="*/ 0 h 1069"/>
                  <a:gd name="T17" fmla="*/ 973 w 973"/>
                  <a:gd name="T18" fmla="*/ 1069 h 1069"/>
                </a:gdLst>
                <a:ahLst/>
                <a:cxnLst>
                  <a:cxn ang="T10">
                    <a:pos x="T0" y="T1"/>
                  </a:cxn>
                  <a:cxn ang="T11">
                    <a:pos x="T2" y="T3"/>
                  </a:cxn>
                  <a:cxn ang="T12">
                    <a:pos x="T4" y="T5"/>
                  </a:cxn>
                  <a:cxn ang="T13">
                    <a:pos x="T6" y="T7"/>
                  </a:cxn>
                  <a:cxn ang="T14">
                    <a:pos x="T8" y="T9"/>
                  </a:cxn>
                </a:cxnLst>
                <a:rect l="T15" t="T16" r="T17" b="T18"/>
                <a:pathLst>
                  <a:path w="973" h="1069">
                    <a:moveTo>
                      <a:pt x="0" y="0"/>
                    </a:moveTo>
                    <a:lnTo>
                      <a:pt x="0" y="1069"/>
                    </a:lnTo>
                    <a:lnTo>
                      <a:pt x="973" y="1051"/>
                    </a:lnTo>
                    <a:lnTo>
                      <a:pt x="973" y="36"/>
                    </a:lnTo>
                    <a:lnTo>
                      <a:pt x="0" y="0"/>
                    </a:lnTo>
                    <a:close/>
                  </a:path>
                </a:pathLst>
              </a:custGeom>
              <a:gradFill rotWithShape="1">
                <a:gsLst>
                  <a:gs pos="0">
                    <a:srgbClr val="C0C0C0"/>
                  </a:gs>
                  <a:gs pos="100000">
                    <a:srgbClr val="F8F8F8"/>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53" name="Freeform 17"/>
              <p:cNvSpPr/>
              <p:nvPr/>
            </p:nvSpPr>
            <p:spPr bwMode="auto">
              <a:xfrm flipH="1">
                <a:off x="7008813" y="2803525"/>
                <a:ext cx="219075" cy="1189037"/>
              </a:xfrm>
              <a:custGeom>
                <a:avLst/>
                <a:gdLst>
                  <a:gd name="T0" fmla="*/ 0 w 197"/>
                  <a:gd name="T1" fmla="*/ 152174490 h 1069"/>
                  <a:gd name="T2" fmla="*/ 0 w 197"/>
                  <a:gd name="T3" fmla="*/ 1171616329 h 1069"/>
                  <a:gd name="T4" fmla="*/ 243623633 w 197"/>
                  <a:gd name="T5" fmla="*/ 1322552841 h 1069"/>
                  <a:gd name="T6" fmla="*/ 243623633 w 197"/>
                  <a:gd name="T7" fmla="*/ 0 h 1069"/>
                  <a:gd name="T8" fmla="*/ 0 w 197"/>
                  <a:gd name="T9" fmla="*/ 152174490 h 1069"/>
                  <a:gd name="T10" fmla="*/ 0 60000 65536"/>
                  <a:gd name="T11" fmla="*/ 0 60000 65536"/>
                  <a:gd name="T12" fmla="*/ 0 60000 65536"/>
                  <a:gd name="T13" fmla="*/ 0 60000 65536"/>
                  <a:gd name="T14" fmla="*/ 0 60000 65536"/>
                  <a:gd name="T15" fmla="*/ 0 w 197"/>
                  <a:gd name="T16" fmla="*/ 0 h 1069"/>
                  <a:gd name="T17" fmla="*/ 197 w 197"/>
                  <a:gd name="T18" fmla="*/ 1069 h 1069"/>
                </a:gdLst>
                <a:ahLst/>
                <a:cxnLst>
                  <a:cxn ang="T10">
                    <a:pos x="T0" y="T1"/>
                  </a:cxn>
                  <a:cxn ang="T11">
                    <a:pos x="T2" y="T3"/>
                  </a:cxn>
                  <a:cxn ang="T12">
                    <a:pos x="T4" y="T5"/>
                  </a:cxn>
                  <a:cxn ang="T13">
                    <a:pos x="T6" y="T7"/>
                  </a:cxn>
                  <a:cxn ang="T14">
                    <a:pos x="T8" y="T9"/>
                  </a:cxn>
                </a:cxnLst>
                <a:rect l="T15" t="T16" r="T17" b="T18"/>
                <a:pathLst>
                  <a:path w="197" h="1069">
                    <a:moveTo>
                      <a:pt x="0" y="123"/>
                    </a:moveTo>
                    <a:lnTo>
                      <a:pt x="0" y="947"/>
                    </a:lnTo>
                    <a:lnTo>
                      <a:pt x="197" y="1069"/>
                    </a:lnTo>
                    <a:lnTo>
                      <a:pt x="197" y="0"/>
                    </a:lnTo>
                    <a:lnTo>
                      <a:pt x="0" y="123"/>
                    </a:lnTo>
                    <a:close/>
                  </a:path>
                </a:pathLst>
              </a:custGeom>
              <a:gradFill rotWithShape="1">
                <a:gsLst>
                  <a:gs pos="0">
                    <a:srgbClr val="969696"/>
                  </a:gs>
                  <a:gs pos="100000">
                    <a:srgbClr val="5F5F5F"/>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54" name="Freeform 18"/>
              <p:cNvSpPr/>
              <p:nvPr/>
            </p:nvSpPr>
            <p:spPr bwMode="auto">
              <a:xfrm flipH="1">
                <a:off x="4706938" y="2857500"/>
                <a:ext cx="1016000" cy="1081087"/>
              </a:xfrm>
              <a:custGeom>
                <a:avLst/>
                <a:gdLst>
                  <a:gd name="T0" fmla="*/ 1130619934 w 913"/>
                  <a:gd name="T1" fmla="*/ 1185098247 h 972"/>
                  <a:gd name="T2" fmla="*/ 0 w 913"/>
                  <a:gd name="T3" fmla="*/ 1202416771 h 972"/>
                  <a:gd name="T4" fmla="*/ 0 w 913"/>
                  <a:gd name="T5" fmla="*/ 0 h 972"/>
                  <a:gd name="T6" fmla="*/ 1130619934 w 913"/>
                  <a:gd name="T7" fmla="*/ 7421907 h 972"/>
                  <a:gd name="T8" fmla="*/ 1130619934 w 913"/>
                  <a:gd name="T9" fmla="*/ 1185098247 h 972"/>
                  <a:gd name="T10" fmla="*/ 0 60000 65536"/>
                  <a:gd name="T11" fmla="*/ 0 60000 65536"/>
                  <a:gd name="T12" fmla="*/ 0 60000 65536"/>
                  <a:gd name="T13" fmla="*/ 0 60000 65536"/>
                  <a:gd name="T14" fmla="*/ 0 60000 65536"/>
                  <a:gd name="T15" fmla="*/ 0 w 913"/>
                  <a:gd name="T16" fmla="*/ 0 h 972"/>
                  <a:gd name="T17" fmla="*/ 913 w 913"/>
                  <a:gd name="T18" fmla="*/ 972 h 972"/>
                </a:gdLst>
                <a:ahLst/>
                <a:cxnLst>
                  <a:cxn ang="T10">
                    <a:pos x="T0" y="T1"/>
                  </a:cxn>
                  <a:cxn ang="T11">
                    <a:pos x="T2" y="T3"/>
                  </a:cxn>
                  <a:cxn ang="T12">
                    <a:pos x="T4" y="T5"/>
                  </a:cxn>
                  <a:cxn ang="T13">
                    <a:pos x="T6" y="T7"/>
                  </a:cxn>
                  <a:cxn ang="T14">
                    <a:pos x="T8" y="T9"/>
                  </a:cxn>
                </a:cxnLst>
                <a:rect l="T15" t="T16" r="T17" b="T18"/>
                <a:pathLst>
                  <a:path w="913" h="972">
                    <a:moveTo>
                      <a:pt x="913" y="958"/>
                    </a:moveTo>
                    <a:lnTo>
                      <a:pt x="0" y="972"/>
                    </a:lnTo>
                    <a:lnTo>
                      <a:pt x="0" y="0"/>
                    </a:lnTo>
                    <a:lnTo>
                      <a:pt x="913" y="6"/>
                    </a:lnTo>
                    <a:lnTo>
                      <a:pt x="913" y="958"/>
                    </a:lnTo>
                    <a:close/>
                  </a:path>
                </a:pathLst>
              </a:custGeom>
              <a:gradFill rotWithShape="1">
                <a:gsLst>
                  <a:gs pos="0">
                    <a:srgbClr val="C0C0C0"/>
                  </a:gs>
                  <a:gs pos="100000">
                    <a:srgbClr val="F8F8F8"/>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55" name="Freeform 19"/>
              <p:cNvSpPr/>
              <p:nvPr/>
            </p:nvSpPr>
            <p:spPr bwMode="auto">
              <a:xfrm flipH="1">
                <a:off x="5722938" y="2857500"/>
                <a:ext cx="76200" cy="1081087"/>
              </a:xfrm>
              <a:custGeom>
                <a:avLst/>
                <a:gdLst>
                  <a:gd name="T0" fmla="*/ 0 w 69"/>
                  <a:gd name="T1" fmla="*/ 107623768 h 972"/>
                  <a:gd name="T2" fmla="*/ 0 w 69"/>
                  <a:gd name="T3" fmla="*/ 1120771346 h 972"/>
                  <a:gd name="T4" fmla="*/ 84151304 w 69"/>
                  <a:gd name="T5" fmla="*/ 1202416771 h 972"/>
                  <a:gd name="T6" fmla="*/ 84151304 w 69"/>
                  <a:gd name="T7" fmla="*/ 0 h 972"/>
                  <a:gd name="T8" fmla="*/ 0 w 69"/>
                  <a:gd name="T9" fmla="*/ 107623768 h 972"/>
                  <a:gd name="T10" fmla="*/ 0 60000 65536"/>
                  <a:gd name="T11" fmla="*/ 0 60000 65536"/>
                  <a:gd name="T12" fmla="*/ 0 60000 65536"/>
                  <a:gd name="T13" fmla="*/ 0 60000 65536"/>
                  <a:gd name="T14" fmla="*/ 0 60000 65536"/>
                  <a:gd name="T15" fmla="*/ 0 w 69"/>
                  <a:gd name="T16" fmla="*/ 0 h 972"/>
                  <a:gd name="T17" fmla="*/ 69 w 69"/>
                  <a:gd name="T18" fmla="*/ 972 h 972"/>
                </a:gdLst>
                <a:ahLst/>
                <a:cxnLst>
                  <a:cxn ang="T10">
                    <a:pos x="T0" y="T1"/>
                  </a:cxn>
                  <a:cxn ang="T11">
                    <a:pos x="T2" y="T3"/>
                  </a:cxn>
                  <a:cxn ang="T12">
                    <a:pos x="T4" y="T5"/>
                  </a:cxn>
                  <a:cxn ang="T13">
                    <a:pos x="T6" y="T7"/>
                  </a:cxn>
                  <a:cxn ang="T14">
                    <a:pos x="T8" y="T9"/>
                  </a:cxn>
                </a:cxnLst>
                <a:rect l="T15" t="T16" r="T17" b="T18"/>
                <a:pathLst>
                  <a:path w="69" h="972">
                    <a:moveTo>
                      <a:pt x="0" y="87"/>
                    </a:moveTo>
                    <a:lnTo>
                      <a:pt x="0" y="906"/>
                    </a:lnTo>
                    <a:lnTo>
                      <a:pt x="69" y="972"/>
                    </a:lnTo>
                    <a:lnTo>
                      <a:pt x="69" y="0"/>
                    </a:lnTo>
                    <a:lnTo>
                      <a:pt x="0" y="87"/>
                    </a:lnTo>
                    <a:close/>
                  </a:path>
                </a:pathLst>
              </a:custGeom>
              <a:gradFill rotWithShape="1">
                <a:gsLst>
                  <a:gs pos="0">
                    <a:srgbClr val="969696"/>
                  </a:gs>
                  <a:gs pos="100000">
                    <a:srgbClr val="5F5F5F"/>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56" name="Rectangle 22"/>
              <p:cNvSpPr>
                <a:spLocks noChangeArrowheads="1"/>
              </p:cNvSpPr>
              <p:nvPr/>
            </p:nvSpPr>
            <p:spPr bwMode="auto">
              <a:xfrm>
                <a:off x="3526596" y="1375915"/>
                <a:ext cx="1905000" cy="99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lnSpc>
                    <a:spcPct val="120000"/>
                  </a:lnSpc>
                  <a:defRPr/>
                </a:pPr>
                <a:r>
                  <a:rPr lang="zh-CN" altLang="en-US" sz="1600" kern="0" dirty="0">
                    <a:solidFill>
                      <a:schemeClr val="tx1">
                        <a:lumMod val="65000"/>
                        <a:lumOff val="35000"/>
                      </a:schemeClr>
                    </a:solidFill>
                    <a:latin typeface="微软雅黑" panose="020B0503020204020204" charset="-122"/>
                    <a:ea typeface="微软雅黑" panose="020B0503020204020204" charset="-122"/>
                  </a:rPr>
                  <a:t>       信息应提供有助于从错误中恢复的建设性意见。</a:t>
                </a:r>
              </a:p>
            </p:txBody>
          </p:sp>
          <p:sp>
            <p:nvSpPr>
              <p:cNvPr id="57" name="Line 23"/>
              <p:cNvSpPr>
                <a:spLocks noChangeShapeType="1"/>
              </p:cNvSpPr>
              <p:nvPr/>
            </p:nvSpPr>
            <p:spPr bwMode="auto">
              <a:xfrm flipV="1">
                <a:off x="3548063" y="1627187"/>
                <a:ext cx="0" cy="1193800"/>
              </a:xfrm>
              <a:prstGeom prst="line">
                <a:avLst/>
              </a:prstGeom>
              <a:gradFill>
                <a:gsLst>
                  <a:gs pos="0">
                    <a:srgbClr val="2676FF">
                      <a:lumMod val="40000"/>
                      <a:lumOff val="60000"/>
                    </a:srgbClr>
                  </a:gs>
                  <a:gs pos="50000">
                    <a:srgbClr val="2676FF"/>
                  </a:gs>
                  <a:gs pos="100000">
                    <a:srgbClr val="2676FF">
                      <a:lumMod val="75000"/>
                    </a:srgbClr>
                  </a:gs>
                </a:gsLst>
                <a:lin ang="5400000" scaled="0"/>
              </a:gradFill>
              <a:ln w="9525" cap="rnd">
                <a:solidFill>
                  <a:sysClr val="window" lastClr="FFFFFF">
                    <a:lumMod val="65000"/>
                  </a:sysClr>
                </a:solidFill>
                <a:prstDash val="solid"/>
                <a:round/>
                <a:headEnd type="none" w="med" len="med"/>
                <a:tailEnd type="triangle" w="med" len="med"/>
              </a:ln>
            </p:spPr>
            <p:txBody>
              <a:bodyPr anchor="ctr"/>
              <a:lstStyle/>
              <a:p>
                <a:pPr algn="ctr" fontAlgn="base">
                  <a:spcBef>
                    <a:spcPct val="0"/>
                  </a:spcBef>
                  <a:spcAft>
                    <a:spcPct val="0"/>
                  </a:spcAft>
                  <a:defRPr/>
                </a:pPr>
                <a:endParaRPr lang="zh-CN" altLang="en-US" sz="2000" kern="0">
                  <a:solidFill>
                    <a:schemeClr val="tx1">
                      <a:lumMod val="65000"/>
                      <a:lumOff val="35000"/>
                    </a:schemeClr>
                  </a:solidFill>
                  <a:latin typeface="微软雅黑" panose="020B0503020204020204" charset="-122"/>
                  <a:ea typeface="微软雅黑" panose="020B0503020204020204" charset="-122"/>
                </a:endParaRPr>
              </a:p>
            </p:txBody>
          </p:sp>
          <p:sp>
            <p:nvSpPr>
              <p:cNvPr id="58" name="Rectangle 24"/>
              <p:cNvSpPr>
                <a:spLocks noChangeArrowheads="1"/>
              </p:cNvSpPr>
              <p:nvPr/>
            </p:nvSpPr>
            <p:spPr bwMode="auto">
              <a:xfrm>
                <a:off x="6014942" y="1375915"/>
                <a:ext cx="4129937" cy="99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20000"/>
                  </a:lnSpc>
                  <a:defRPr/>
                </a:pPr>
                <a:r>
                  <a:rPr lang="zh-CN" altLang="en-US" sz="1600" kern="0" dirty="0">
                    <a:solidFill>
                      <a:schemeClr val="tx1">
                        <a:lumMod val="65000"/>
                        <a:lumOff val="35000"/>
                      </a:schemeClr>
                    </a:solidFill>
                    <a:latin typeface="微软雅黑" panose="020B0503020204020204" charset="-122"/>
                    <a:ea typeface="微软雅黑" panose="020B0503020204020204" charset="-122"/>
                  </a:rPr>
                  <a:t>      信息应伴随听觉上或视觉上的提示，在显示信息时同时发出警告声或用闪烁方式显示，或用明显的颜色表示出错信息。</a:t>
                </a:r>
              </a:p>
            </p:txBody>
          </p:sp>
          <p:sp>
            <p:nvSpPr>
              <p:cNvPr id="59" name="Line 25"/>
              <p:cNvSpPr>
                <a:spLocks noChangeShapeType="1"/>
              </p:cNvSpPr>
              <p:nvPr/>
            </p:nvSpPr>
            <p:spPr bwMode="auto">
              <a:xfrm flipV="1">
                <a:off x="5942013" y="1625600"/>
                <a:ext cx="0" cy="1193800"/>
              </a:xfrm>
              <a:prstGeom prst="line">
                <a:avLst/>
              </a:prstGeom>
              <a:gradFill>
                <a:gsLst>
                  <a:gs pos="0">
                    <a:srgbClr val="2676FF">
                      <a:lumMod val="40000"/>
                      <a:lumOff val="60000"/>
                    </a:srgbClr>
                  </a:gs>
                  <a:gs pos="50000">
                    <a:srgbClr val="2676FF"/>
                  </a:gs>
                  <a:gs pos="100000">
                    <a:srgbClr val="2676FF">
                      <a:lumMod val="75000"/>
                    </a:srgbClr>
                  </a:gs>
                </a:gsLst>
                <a:lin ang="5400000" scaled="0"/>
              </a:gradFill>
              <a:ln w="9525" cap="rnd">
                <a:solidFill>
                  <a:sysClr val="window" lastClr="FFFFFF">
                    <a:lumMod val="65000"/>
                  </a:sysClr>
                </a:solidFill>
                <a:prstDash val="solid"/>
                <a:round/>
                <a:headEnd type="none" w="med" len="med"/>
                <a:tailEnd type="triangle" w="med" len="med"/>
              </a:ln>
            </p:spPr>
            <p:txBody>
              <a:bodyPr anchor="ctr"/>
              <a:lstStyle/>
              <a:p>
                <a:pPr algn="ctr" fontAlgn="base">
                  <a:spcBef>
                    <a:spcPct val="0"/>
                  </a:spcBef>
                  <a:spcAft>
                    <a:spcPct val="0"/>
                  </a:spcAft>
                  <a:defRPr/>
                </a:pPr>
                <a:endParaRPr lang="zh-CN" altLang="en-US" sz="2000" kern="0">
                  <a:solidFill>
                    <a:schemeClr val="tx1">
                      <a:lumMod val="65000"/>
                      <a:lumOff val="35000"/>
                    </a:schemeClr>
                  </a:solidFill>
                  <a:latin typeface="微软雅黑" panose="020B0503020204020204" charset="-122"/>
                  <a:ea typeface="微软雅黑" panose="020B0503020204020204" charset="-122"/>
                </a:endParaRPr>
              </a:p>
            </p:txBody>
          </p:sp>
          <p:sp>
            <p:nvSpPr>
              <p:cNvPr id="60" name="Rectangle 26"/>
              <p:cNvSpPr>
                <a:spLocks noChangeArrowheads="1"/>
              </p:cNvSpPr>
              <p:nvPr/>
            </p:nvSpPr>
            <p:spPr bwMode="auto">
              <a:xfrm>
                <a:off x="2290361" y="4553228"/>
                <a:ext cx="1905000" cy="99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lnSpc>
                    <a:spcPct val="120000"/>
                  </a:lnSpc>
                  <a:defRPr/>
                </a:pPr>
                <a:r>
                  <a:rPr lang="en-US" altLang="zh-CN" sz="1600" kern="0" dirty="0">
                    <a:solidFill>
                      <a:schemeClr val="tx1">
                        <a:lumMod val="65000"/>
                        <a:lumOff val="35000"/>
                      </a:schemeClr>
                    </a:solidFill>
                    <a:latin typeface="微软雅黑" panose="020B0503020204020204" charset="-122"/>
                    <a:ea typeface="微软雅黑" panose="020B0503020204020204" charset="-122"/>
                  </a:rPr>
                  <a:t>       </a:t>
                </a:r>
                <a:r>
                  <a:rPr lang="zh-CN" altLang="en-US" sz="1600" kern="0" dirty="0">
                    <a:solidFill>
                      <a:schemeClr val="tx1">
                        <a:lumMod val="65000"/>
                        <a:lumOff val="35000"/>
                      </a:schemeClr>
                    </a:solidFill>
                    <a:latin typeface="微软雅黑" panose="020B0503020204020204" charset="-122"/>
                    <a:ea typeface="微软雅黑" panose="020B0503020204020204" charset="-122"/>
                  </a:rPr>
                  <a:t>信息应以用户可理解的术语描述问题。</a:t>
                </a:r>
              </a:p>
            </p:txBody>
          </p:sp>
          <p:sp>
            <p:nvSpPr>
              <p:cNvPr id="61" name="Line 27"/>
              <p:cNvSpPr>
                <a:spLocks noChangeShapeType="1"/>
              </p:cNvSpPr>
              <p:nvPr/>
            </p:nvSpPr>
            <p:spPr bwMode="auto">
              <a:xfrm flipV="1">
                <a:off x="2290763" y="4000500"/>
                <a:ext cx="0" cy="1238250"/>
              </a:xfrm>
              <a:prstGeom prst="line">
                <a:avLst/>
              </a:prstGeom>
              <a:gradFill>
                <a:gsLst>
                  <a:gs pos="0">
                    <a:srgbClr val="2676FF">
                      <a:lumMod val="40000"/>
                      <a:lumOff val="60000"/>
                    </a:srgbClr>
                  </a:gs>
                  <a:gs pos="50000">
                    <a:srgbClr val="2676FF"/>
                  </a:gs>
                  <a:gs pos="100000">
                    <a:srgbClr val="2676FF">
                      <a:lumMod val="75000"/>
                    </a:srgbClr>
                  </a:gs>
                </a:gsLst>
                <a:lin ang="5400000" scaled="0"/>
              </a:gradFill>
              <a:ln w="9525" cap="rnd">
                <a:solidFill>
                  <a:sysClr val="window" lastClr="FFFFFF">
                    <a:lumMod val="65000"/>
                  </a:sysClr>
                </a:solidFill>
                <a:prstDash val="solid"/>
                <a:round/>
                <a:headEnd type="none" w="med" len="med"/>
                <a:tailEnd type="triangle" w="med" len="med"/>
              </a:ln>
            </p:spPr>
            <p:txBody>
              <a:bodyPr anchor="ctr"/>
              <a:lstStyle/>
              <a:p>
                <a:pPr algn="ctr" fontAlgn="base">
                  <a:spcBef>
                    <a:spcPct val="0"/>
                  </a:spcBef>
                  <a:spcAft>
                    <a:spcPct val="0"/>
                  </a:spcAft>
                  <a:defRPr/>
                </a:pPr>
                <a:endParaRPr lang="zh-CN" altLang="en-US" sz="2000" kern="0">
                  <a:solidFill>
                    <a:schemeClr val="tx1">
                      <a:lumMod val="65000"/>
                      <a:lumOff val="35000"/>
                    </a:schemeClr>
                  </a:solidFill>
                  <a:latin typeface="微软雅黑" panose="020B0503020204020204" charset="-122"/>
                  <a:ea typeface="微软雅黑" panose="020B0503020204020204" charset="-122"/>
                </a:endParaRPr>
              </a:p>
            </p:txBody>
          </p:sp>
          <p:sp>
            <p:nvSpPr>
              <p:cNvPr id="62" name="Rectangle 28"/>
              <p:cNvSpPr>
                <a:spLocks noChangeArrowheads="1"/>
              </p:cNvSpPr>
              <p:nvPr/>
            </p:nvSpPr>
            <p:spPr bwMode="auto">
              <a:xfrm>
                <a:off x="4785817" y="4543701"/>
                <a:ext cx="3724580" cy="1295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20000"/>
                  </a:lnSpc>
                  <a:defRPr/>
                </a:pPr>
                <a:r>
                  <a:rPr lang="zh-CN" altLang="en-US" sz="1600" kern="0" dirty="0">
                    <a:solidFill>
                      <a:schemeClr val="tx1">
                        <a:lumMod val="65000"/>
                        <a:lumOff val="35000"/>
                      </a:schemeClr>
                    </a:solidFill>
                    <a:latin typeface="微软雅黑" panose="020B0503020204020204" charset="-122"/>
                    <a:ea typeface="微软雅黑" panose="020B0503020204020204" charset="-122"/>
                  </a:rPr>
                  <a:t>       信息应指出错误可能导致的负面后果（例如，破坏数据文件），以便用户检查是否出现了这些问题，并在问题出现时予以改正。</a:t>
                </a:r>
              </a:p>
            </p:txBody>
          </p:sp>
          <p:sp>
            <p:nvSpPr>
              <p:cNvPr id="63" name="Line 29"/>
              <p:cNvSpPr>
                <a:spLocks noChangeShapeType="1"/>
              </p:cNvSpPr>
              <p:nvPr/>
            </p:nvSpPr>
            <p:spPr bwMode="auto">
              <a:xfrm flipV="1">
                <a:off x="4727576" y="3930650"/>
                <a:ext cx="0" cy="1338262"/>
              </a:xfrm>
              <a:prstGeom prst="line">
                <a:avLst/>
              </a:prstGeom>
              <a:gradFill>
                <a:gsLst>
                  <a:gs pos="0">
                    <a:srgbClr val="2676FF">
                      <a:lumMod val="40000"/>
                      <a:lumOff val="60000"/>
                    </a:srgbClr>
                  </a:gs>
                  <a:gs pos="50000">
                    <a:srgbClr val="2676FF"/>
                  </a:gs>
                  <a:gs pos="100000">
                    <a:srgbClr val="2676FF">
                      <a:lumMod val="75000"/>
                    </a:srgbClr>
                  </a:gs>
                </a:gsLst>
                <a:lin ang="5400000" scaled="0"/>
              </a:gradFill>
              <a:ln w="9525" cap="rnd">
                <a:solidFill>
                  <a:sysClr val="window" lastClr="FFFFFF">
                    <a:lumMod val="65000"/>
                  </a:sysClr>
                </a:solidFill>
                <a:prstDash val="solid"/>
                <a:round/>
                <a:headEnd type="none" w="med" len="med"/>
                <a:tailEnd type="triangle" w="med" len="med"/>
              </a:ln>
            </p:spPr>
            <p:txBody>
              <a:bodyPr anchor="ctr"/>
              <a:lstStyle/>
              <a:p>
                <a:pPr algn="ctr" fontAlgn="base">
                  <a:spcBef>
                    <a:spcPct val="0"/>
                  </a:spcBef>
                  <a:spcAft>
                    <a:spcPct val="0"/>
                  </a:spcAft>
                  <a:defRPr/>
                </a:pPr>
                <a:endParaRPr lang="zh-CN" altLang="en-US" sz="2000" kern="0">
                  <a:solidFill>
                    <a:schemeClr val="tx1">
                      <a:lumMod val="65000"/>
                      <a:lumOff val="35000"/>
                    </a:schemeClr>
                  </a:solidFill>
                  <a:latin typeface="微软雅黑" panose="020B0503020204020204" charset="-122"/>
                  <a:ea typeface="微软雅黑" panose="020B0503020204020204" charset="-122"/>
                </a:endParaRPr>
              </a:p>
            </p:txBody>
          </p:sp>
          <p:sp>
            <p:nvSpPr>
              <p:cNvPr id="64" name="Rectangle 30"/>
              <p:cNvSpPr>
                <a:spLocks noChangeArrowheads="1"/>
              </p:cNvSpPr>
              <p:nvPr/>
            </p:nvSpPr>
            <p:spPr bwMode="auto">
              <a:xfrm>
                <a:off x="8785205" y="4553492"/>
                <a:ext cx="1797015" cy="694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20000"/>
                  </a:lnSpc>
                  <a:defRPr/>
                </a:pPr>
                <a:r>
                  <a:rPr lang="zh-CN" altLang="en-US" sz="1600" kern="0" dirty="0">
                    <a:solidFill>
                      <a:schemeClr val="tx1">
                        <a:lumMod val="65000"/>
                        <a:lumOff val="35000"/>
                      </a:schemeClr>
                    </a:solidFill>
                    <a:latin typeface="微软雅黑" panose="020B0503020204020204" charset="-122"/>
                    <a:ea typeface="微软雅黑" panose="020B0503020204020204" charset="-122"/>
                  </a:rPr>
                  <a:t>       信息不能指责用户。</a:t>
                </a:r>
              </a:p>
            </p:txBody>
          </p:sp>
          <p:sp>
            <p:nvSpPr>
              <p:cNvPr id="65" name="Line 31"/>
              <p:cNvSpPr>
                <a:spLocks noChangeShapeType="1"/>
              </p:cNvSpPr>
              <p:nvPr/>
            </p:nvSpPr>
            <p:spPr bwMode="auto">
              <a:xfrm flipV="1">
                <a:off x="8769951" y="4056135"/>
                <a:ext cx="0" cy="1227137"/>
              </a:xfrm>
              <a:prstGeom prst="line">
                <a:avLst/>
              </a:prstGeom>
              <a:gradFill>
                <a:gsLst>
                  <a:gs pos="0">
                    <a:srgbClr val="2676FF">
                      <a:lumMod val="40000"/>
                      <a:lumOff val="60000"/>
                    </a:srgbClr>
                  </a:gs>
                  <a:gs pos="50000">
                    <a:srgbClr val="2676FF"/>
                  </a:gs>
                  <a:gs pos="100000">
                    <a:srgbClr val="2676FF">
                      <a:lumMod val="75000"/>
                    </a:srgbClr>
                  </a:gs>
                </a:gsLst>
                <a:lin ang="5400000" scaled="0"/>
              </a:gradFill>
              <a:ln w="9525" cap="rnd">
                <a:solidFill>
                  <a:sysClr val="window" lastClr="FFFFFF">
                    <a:lumMod val="65000"/>
                  </a:sysClr>
                </a:solidFill>
                <a:prstDash val="solid"/>
                <a:round/>
                <a:headEnd type="none" w="med" len="med"/>
                <a:tailEnd type="triangle" w="med" len="med"/>
              </a:ln>
            </p:spPr>
            <p:txBody>
              <a:bodyPr anchor="ctr"/>
              <a:lstStyle/>
              <a:p>
                <a:pPr algn="ctr" fontAlgn="base">
                  <a:spcBef>
                    <a:spcPct val="0"/>
                  </a:spcBef>
                  <a:spcAft>
                    <a:spcPct val="0"/>
                  </a:spcAft>
                  <a:defRPr/>
                </a:pPr>
                <a:endParaRPr lang="zh-CN" altLang="en-US" sz="2000" kern="0">
                  <a:solidFill>
                    <a:schemeClr val="tx1">
                      <a:lumMod val="65000"/>
                      <a:lumOff val="35000"/>
                    </a:schemeClr>
                  </a:solidFill>
                  <a:latin typeface="微软雅黑" panose="020B0503020204020204" charset="-122"/>
                  <a:ea typeface="微软雅黑" panose="020B0503020204020204" charset="-122"/>
                </a:endParaRPr>
              </a:p>
            </p:txBody>
          </p:sp>
          <p:sp>
            <p:nvSpPr>
              <p:cNvPr id="66" name="WordArt 34"/>
              <p:cNvSpPr>
                <a:spLocks noChangeArrowheads="1" noChangeShapeType="1" noTextEdit="1"/>
              </p:cNvSpPr>
              <p:nvPr/>
            </p:nvSpPr>
            <p:spPr bwMode="auto">
              <a:xfrm>
                <a:off x="2362201" y="3616325"/>
                <a:ext cx="174625" cy="280987"/>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defRPr/>
                </a:pPr>
                <a:r>
                  <a:rPr lang="en-US" altLang="zh-CN" sz="3600" kern="10" dirty="0">
                    <a:solidFill>
                      <a:schemeClr val="tx1">
                        <a:lumMod val="65000"/>
                        <a:lumOff val="35000"/>
                      </a:schemeClr>
                    </a:solidFill>
                    <a:latin typeface="微软雅黑" panose="020B0503020204020204" charset="-122"/>
                    <a:ea typeface="微软雅黑" panose="020B0503020204020204" charset="-122"/>
                    <a:cs typeface="Arial" panose="020B0604020202020204"/>
                  </a:rPr>
                  <a:t>2</a:t>
                </a:r>
                <a:endParaRPr lang="zh-CN" altLang="en-US" sz="3600" kern="10" dirty="0">
                  <a:solidFill>
                    <a:schemeClr val="tx1">
                      <a:lumMod val="65000"/>
                      <a:lumOff val="35000"/>
                    </a:schemeClr>
                  </a:solidFill>
                  <a:latin typeface="微软雅黑" panose="020B0503020204020204" charset="-122"/>
                  <a:ea typeface="微软雅黑" panose="020B0503020204020204" charset="-122"/>
                  <a:cs typeface="Arial" panose="020B0604020202020204"/>
                </a:endParaRPr>
              </a:p>
            </p:txBody>
          </p:sp>
          <p:sp>
            <p:nvSpPr>
              <p:cNvPr id="67" name="WordArt 35"/>
              <p:cNvSpPr>
                <a:spLocks noChangeArrowheads="1" noChangeShapeType="1" noTextEdit="1"/>
              </p:cNvSpPr>
              <p:nvPr/>
            </p:nvSpPr>
            <p:spPr bwMode="auto">
              <a:xfrm>
                <a:off x="3649663" y="3609975"/>
                <a:ext cx="174625" cy="280987"/>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defRPr/>
                </a:pPr>
                <a:r>
                  <a:rPr lang="en-US" altLang="zh-CN" sz="3600" kern="10" dirty="0">
                    <a:solidFill>
                      <a:schemeClr val="tx1">
                        <a:lumMod val="65000"/>
                        <a:lumOff val="35000"/>
                      </a:schemeClr>
                    </a:solidFill>
                    <a:latin typeface="微软雅黑" panose="020B0503020204020204" charset="-122"/>
                    <a:ea typeface="微软雅黑" panose="020B0503020204020204" charset="-122"/>
                    <a:cs typeface="Arial" panose="020B0604020202020204"/>
                  </a:rPr>
                  <a:t>3</a:t>
                </a:r>
                <a:endParaRPr lang="zh-CN" altLang="en-US" sz="3600" kern="10" dirty="0">
                  <a:solidFill>
                    <a:schemeClr val="tx1">
                      <a:lumMod val="65000"/>
                      <a:lumOff val="35000"/>
                    </a:schemeClr>
                  </a:solidFill>
                  <a:latin typeface="微软雅黑" panose="020B0503020204020204" charset="-122"/>
                  <a:ea typeface="微软雅黑" panose="020B0503020204020204" charset="-122"/>
                  <a:cs typeface="Arial" panose="020B0604020202020204"/>
                </a:endParaRPr>
              </a:p>
            </p:txBody>
          </p:sp>
          <p:sp>
            <p:nvSpPr>
              <p:cNvPr id="68" name="WordArt 36"/>
              <p:cNvSpPr>
                <a:spLocks noChangeArrowheads="1" noChangeShapeType="1" noTextEdit="1"/>
              </p:cNvSpPr>
              <p:nvPr/>
            </p:nvSpPr>
            <p:spPr bwMode="auto">
              <a:xfrm>
                <a:off x="4786313" y="3609975"/>
                <a:ext cx="174625" cy="280987"/>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defRPr/>
                </a:pPr>
                <a:r>
                  <a:rPr lang="en-US" altLang="zh-CN" sz="3600" kern="10">
                    <a:solidFill>
                      <a:schemeClr val="tx1">
                        <a:lumMod val="65000"/>
                        <a:lumOff val="35000"/>
                      </a:schemeClr>
                    </a:solidFill>
                    <a:latin typeface="微软雅黑" panose="020B0503020204020204" charset="-122"/>
                    <a:ea typeface="微软雅黑" panose="020B0503020204020204" charset="-122"/>
                    <a:cs typeface="Arial" panose="020B0604020202020204"/>
                  </a:rPr>
                  <a:t>4</a:t>
                </a:r>
                <a:endParaRPr lang="zh-CN" altLang="en-US" sz="3600" kern="10">
                  <a:solidFill>
                    <a:schemeClr val="tx1">
                      <a:lumMod val="65000"/>
                      <a:lumOff val="35000"/>
                    </a:schemeClr>
                  </a:solidFill>
                  <a:latin typeface="微软雅黑" panose="020B0503020204020204" charset="-122"/>
                  <a:ea typeface="微软雅黑" panose="020B0503020204020204" charset="-122"/>
                  <a:cs typeface="Arial" panose="020B0604020202020204"/>
                </a:endParaRPr>
              </a:p>
            </p:txBody>
          </p:sp>
          <p:sp>
            <p:nvSpPr>
              <p:cNvPr id="69" name="WordArt 37"/>
              <p:cNvSpPr>
                <a:spLocks noChangeArrowheads="1" noChangeShapeType="1" noTextEdit="1"/>
              </p:cNvSpPr>
              <p:nvPr/>
            </p:nvSpPr>
            <p:spPr bwMode="auto">
              <a:xfrm>
                <a:off x="6015038" y="3616325"/>
                <a:ext cx="174625" cy="280987"/>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defRPr/>
                </a:pPr>
                <a:r>
                  <a:rPr lang="en-US" altLang="zh-CN" sz="3600" kern="10">
                    <a:solidFill>
                      <a:schemeClr val="tx1">
                        <a:lumMod val="65000"/>
                        <a:lumOff val="35000"/>
                      </a:schemeClr>
                    </a:solidFill>
                    <a:latin typeface="微软雅黑" panose="020B0503020204020204" charset="-122"/>
                    <a:ea typeface="微软雅黑" panose="020B0503020204020204" charset="-122"/>
                    <a:cs typeface="Arial" panose="020B0604020202020204"/>
                  </a:rPr>
                  <a:t>5</a:t>
                </a:r>
                <a:endParaRPr lang="zh-CN" altLang="en-US" sz="3600" kern="10">
                  <a:solidFill>
                    <a:schemeClr val="tx1">
                      <a:lumMod val="65000"/>
                      <a:lumOff val="35000"/>
                    </a:schemeClr>
                  </a:solidFill>
                  <a:latin typeface="微软雅黑" panose="020B0503020204020204" charset="-122"/>
                  <a:ea typeface="微软雅黑" panose="020B0503020204020204" charset="-122"/>
                  <a:cs typeface="Arial" panose="020B0604020202020204"/>
                </a:endParaRPr>
              </a:p>
            </p:txBody>
          </p:sp>
          <p:sp>
            <p:nvSpPr>
              <p:cNvPr id="70" name="WordArt 38"/>
              <p:cNvSpPr>
                <a:spLocks noChangeArrowheads="1" noChangeShapeType="1" noTextEdit="1"/>
              </p:cNvSpPr>
              <p:nvPr/>
            </p:nvSpPr>
            <p:spPr bwMode="auto">
              <a:xfrm>
                <a:off x="7383463" y="3681412"/>
                <a:ext cx="182563" cy="280988"/>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defRPr/>
                </a:pPr>
                <a:r>
                  <a:rPr lang="en-US" altLang="zh-CN" sz="3600" kern="10">
                    <a:solidFill>
                      <a:schemeClr val="tx1">
                        <a:lumMod val="65000"/>
                        <a:lumOff val="35000"/>
                      </a:schemeClr>
                    </a:solidFill>
                    <a:latin typeface="微软雅黑" panose="020B0503020204020204" charset="-122"/>
                    <a:ea typeface="微软雅黑" panose="020B0503020204020204" charset="-122"/>
                    <a:cs typeface="Arial" panose="020B0604020202020204"/>
                  </a:rPr>
                  <a:t>6</a:t>
                </a:r>
                <a:endParaRPr lang="zh-CN" altLang="en-US" sz="3600" kern="10">
                  <a:solidFill>
                    <a:schemeClr val="tx1">
                      <a:lumMod val="65000"/>
                      <a:lumOff val="35000"/>
                    </a:schemeClr>
                  </a:solidFill>
                  <a:latin typeface="微软雅黑" panose="020B0503020204020204" charset="-122"/>
                  <a:ea typeface="微软雅黑" panose="020B0503020204020204" charset="-122"/>
                  <a:cs typeface="Arial" panose="020B0604020202020204"/>
                </a:endParaRPr>
              </a:p>
            </p:txBody>
          </p:sp>
          <p:sp>
            <p:nvSpPr>
              <p:cNvPr id="71" name="Freeform 6"/>
              <p:cNvSpPr/>
              <p:nvPr/>
            </p:nvSpPr>
            <p:spPr bwMode="auto">
              <a:xfrm>
                <a:off x="1417638" y="3613150"/>
                <a:ext cx="838200" cy="363537"/>
              </a:xfrm>
              <a:custGeom>
                <a:avLst/>
                <a:gdLst>
                  <a:gd name="T0" fmla="*/ 301406795 w 2331"/>
                  <a:gd name="T1" fmla="*/ 192091788 h 688"/>
                  <a:gd name="T2" fmla="*/ 13447518 w 2331"/>
                  <a:gd name="T3" fmla="*/ 38530166 h 688"/>
                  <a:gd name="T4" fmla="*/ 269727438 w 2331"/>
                  <a:gd name="T5" fmla="*/ 0 h 688"/>
                  <a:gd name="T6" fmla="*/ 301406795 w 2331"/>
                  <a:gd name="T7" fmla="*/ 192091788 h 688"/>
                  <a:gd name="T8" fmla="*/ 0 60000 65536"/>
                  <a:gd name="T9" fmla="*/ 0 60000 65536"/>
                  <a:gd name="T10" fmla="*/ 0 60000 65536"/>
                  <a:gd name="T11" fmla="*/ 0 60000 65536"/>
                  <a:gd name="T12" fmla="*/ 0 w 2331"/>
                  <a:gd name="T13" fmla="*/ 0 h 688"/>
                  <a:gd name="T14" fmla="*/ 2331 w 2331"/>
                  <a:gd name="T15" fmla="*/ 688 h 688"/>
                </a:gdLst>
                <a:ahLst/>
                <a:cxnLst>
                  <a:cxn ang="T8">
                    <a:pos x="T0" y="T1"/>
                  </a:cxn>
                  <a:cxn ang="T9">
                    <a:pos x="T2" y="T3"/>
                  </a:cxn>
                  <a:cxn ang="T10">
                    <a:pos x="T4" y="T5"/>
                  </a:cxn>
                  <a:cxn ang="T11">
                    <a:pos x="T6" y="T7"/>
                  </a:cxn>
                </a:cxnLst>
                <a:rect l="T12" t="T13" r="T14" b="T15"/>
                <a:pathLst>
                  <a:path w="2331" h="688">
                    <a:moveTo>
                      <a:pt x="2331" y="688"/>
                    </a:moveTo>
                    <a:cubicBezTo>
                      <a:pt x="2331" y="688"/>
                      <a:pt x="208" y="159"/>
                      <a:pt x="104" y="138"/>
                    </a:cubicBezTo>
                    <a:cubicBezTo>
                      <a:pt x="0" y="118"/>
                      <a:pt x="2086" y="0"/>
                      <a:pt x="2086" y="0"/>
                    </a:cubicBezTo>
                    <a:lnTo>
                      <a:pt x="2331" y="688"/>
                    </a:lnTo>
                    <a:close/>
                  </a:path>
                </a:pathLst>
              </a:custGeom>
              <a:gradFill rotWithShape="1">
                <a:gsLst>
                  <a:gs pos="0">
                    <a:srgbClr val="FFFFFF">
                      <a:alpha val="50000"/>
                    </a:srgbClr>
                  </a:gs>
                  <a:gs pos="100000">
                    <a:srgbClr val="666666">
                      <a:alpha val="34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72" name="Freeform 32"/>
              <p:cNvSpPr/>
              <p:nvPr/>
            </p:nvSpPr>
            <p:spPr bwMode="auto">
              <a:xfrm>
                <a:off x="2198688" y="4054475"/>
                <a:ext cx="23813" cy="1587"/>
              </a:xfrm>
              <a:custGeom>
                <a:avLst/>
                <a:gdLst>
                  <a:gd name="T0" fmla="*/ 47254914 w 12"/>
                  <a:gd name="T1" fmla="*/ 0 h 1587"/>
                  <a:gd name="T2" fmla="*/ 0 w 12"/>
                  <a:gd name="T3" fmla="*/ 0 h 1587"/>
                  <a:gd name="T4" fmla="*/ 47254914 w 12"/>
                  <a:gd name="T5" fmla="*/ 0 h 1587"/>
                  <a:gd name="T6" fmla="*/ 47254914 w 12"/>
                  <a:gd name="T7" fmla="*/ 0 h 1587"/>
                  <a:gd name="T8" fmla="*/ 0 60000 65536"/>
                  <a:gd name="T9" fmla="*/ 0 60000 65536"/>
                  <a:gd name="T10" fmla="*/ 0 60000 65536"/>
                  <a:gd name="T11" fmla="*/ 0 60000 65536"/>
                  <a:gd name="T12" fmla="*/ 0 w 12"/>
                  <a:gd name="T13" fmla="*/ 0 h 1587"/>
                  <a:gd name="T14" fmla="*/ 12 w 12"/>
                  <a:gd name="T15" fmla="*/ 1587 h 1587"/>
                </a:gdLst>
                <a:ahLst/>
                <a:cxnLst>
                  <a:cxn ang="T8">
                    <a:pos x="T0" y="T1"/>
                  </a:cxn>
                  <a:cxn ang="T9">
                    <a:pos x="T2" y="T3"/>
                  </a:cxn>
                  <a:cxn ang="T10">
                    <a:pos x="T4" y="T5"/>
                  </a:cxn>
                  <a:cxn ang="T11">
                    <a:pos x="T6" y="T7"/>
                  </a:cxn>
                </a:cxnLst>
                <a:rect l="T12" t="T13" r="T14" b="T15"/>
                <a:pathLst>
                  <a:path w="12" h="1587">
                    <a:moveTo>
                      <a:pt x="12" y="0"/>
                    </a:moveTo>
                    <a:lnTo>
                      <a:pt x="0" y="0"/>
                    </a:lnTo>
                    <a:lnTo>
                      <a:pt x="12" y="0"/>
                    </a:lnTo>
                    <a:close/>
                  </a:path>
                </a:pathLst>
              </a:custGeom>
              <a:solidFill>
                <a:srgbClr val="0875F8"/>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73" name="Freeform 39"/>
              <p:cNvSpPr/>
              <p:nvPr/>
            </p:nvSpPr>
            <p:spPr bwMode="auto">
              <a:xfrm>
                <a:off x="1855788" y="4543425"/>
                <a:ext cx="23813" cy="1587"/>
              </a:xfrm>
              <a:custGeom>
                <a:avLst/>
                <a:gdLst>
                  <a:gd name="T0" fmla="*/ 47254914 w 12"/>
                  <a:gd name="T1" fmla="*/ 0 h 1587"/>
                  <a:gd name="T2" fmla="*/ 0 w 12"/>
                  <a:gd name="T3" fmla="*/ 0 h 1587"/>
                  <a:gd name="T4" fmla="*/ 47254914 w 12"/>
                  <a:gd name="T5" fmla="*/ 0 h 1587"/>
                  <a:gd name="T6" fmla="*/ 47254914 w 12"/>
                  <a:gd name="T7" fmla="*/ 0 h 1587"/>
                  <a:gd name="T8" fmla="*/ 0 60000 65536"/>
                  <a:gd name="T9" fmla="*/ 0 60000 65536"/>
                  <a:gd name="T10" fmla="*/ 0 60000 65536"/>
                  <a:gd name="T11" fmla="*/ 0 60000 65536"/>
                  <a:gd name="T12" fmla="*/ 0 w 12"/>
                  <a:gd name="T13" fmla="*/ 0 h 1587"/>
                  <a:gd name="T14" fmla="*/ 12 w 12"/>
                  <a:gd name="T15" fmla="*/ 1587 h 1587"/>
                </a:gdLst>
                <a:ahLst/>
                <a:cxnLst>
                  <a:cxn ang="T8">
                    <a:pos x="T0" y="T1"/>
                  </a:cxn>
                  <a:cxn ang="T9">
                    <a:pos x="T2" y="T3"/>
                  </a:cxn>
                  <a:cxn ang="T10">
                    <a:pos x="T4" y="T5"/>
                  </a:cxn>
                  <a:cxn ang="T11">
                    <a:pos x="T6" y="T7"/>
                  </a:cxn>
                </a:cxnLst>
                <a:rect l="T12" t="T13" r="T14" b="T15"/>
                <a:pathLst>
                  <a:path w="12" h="1587">
                    <a:moveTo>
                      <a:pt x="12" y="0"/>
                    </a:moveTo>
                    <a:lnTo>
                      <a:pt x="0" y="0"/>
                    </a:lnTo>
                    <a:lnTo>
                      <a:pt x="12" y="0"/>
                    </a:lnTo>
                    <a:close/>
                  </a:path>
                </a:pathLst>
              </a:custGeom>
              <a:solidFill>
                <a:srgbClr val="020202"/>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grpSp>
        <p:sp>
          <p:nvSpPr>
            <p:cNvPr id="19" name="Rectangle 20"/>
            <p:cNvSpPr>
              <a:spLocks noChangeArrowheads="1"/>
            </p:cNvSpPr>
            <p:nvPr/>
          </p:nvSpPr>
          <p:spPr bwMode="auto">
            <a:xfrm>
              <a:off x="464701" y="1375915"/>
              <a:ext cx="3062041" cy="1595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20000"/>
                </a:lnSpc>
                <a:defRPr/>
              </a:pPr>
              <a:r>
                <a:rPr lang="en-US" altLang="zh-CN" sz="1600" kern="0" dirty="0">
                  <a:solidFill>
                    <a:schemeClr val="tx1">
                      <a:lumMod val="65000"/>
                      <a:lumOff val="35000"/>
                    </a:schemeClr>
                  </a:solidFill>
                  <a:latin typeface="微软雅黑" panose="020B0503020204020204" charset="-122"/>
                  <a:ea typeface="微软雅黑" panose="020B0503020204020204" charset="-122"/>
                </a:rPr>
                <a:t> </a:t>
              </a:r>
              <a:r>
                <a:rPr lang="zh-CN" altLang="en-US" sz="1600" kern="0" dirty="0">
                  <a:solidFill>
                    <a:srgbClr val="00B0F0"/>
                  </a:solidFill>
                  <a:latin typeface="微软雅黑" panose="020B0503020204020204" charset="-122"/>
                  <a:ea typeface="微软雅黑" panose="020B0503020204020204" charset="-122"/>
                </a:rPr>
                <a:t>定义：</a:t>
              </a:r>
              <a:r>
                <a:rPr lang="zh-CN" altLang="en-US" sz="1600" kern="0" dirty="0">
                  <a:solidFill>
                    <a:schemeClr val="accent5">
                      <a:lumMod val="75000"/>
                    </a:schemeClr>
                  </a:solidFill>
                  <a:latin typeface="微软雅黑" panose="020B0503020204020204" charset="-122"/>
                  <a:ea typeface="微软雅黑" panose="020B0503020204020204" charset="-122"/>
                </a:rPr>
                <a:t>出错信息和警告信息是出现问题时给出的坏消息。</a:t>
              </a:r>
              <a:r>
                <a:rPr lang="zh-CN" altLang="en-US" sz="1600" kern="0" dirty="0">
                  <a:solidFill>
                    <a:schemeClr val="tx1">
                      <a:lumMod val="65000"/>
                      <a:lumOff val="35000"/>
                    </a:schemeClr>
                  </a:solidFill>
                  <a:latin typeface="微软雅黑" panose="020B0503020204020204" charset="-122"/>
                  <a:ea typeface="微软雅黑" panose="020B0503020204020204" charset="-122"/>
                  <a:sym typeface="+mn-ea"/>
                </a:rPr>
                <a:t>有效的出错信息能提高交互系统的质量，减少用户的挫折感。</a:t>
              </a:r>
              <a:endParaRPr lang="zh-CN" altLang="en-US" sz="1600" kern="0" dirty="0">
                <a:solidFill>
                  <a:schemeClr val="tx1">
                    <a:lumMod val="65000"/>
                    <a:lumOff val="35000"/>
                  </a:schemeClr>
                </a:solidFill>
                <a:latin typeface="微软雅黑" panose="020B0503020204020204" charset="-122"/>
                <a:ea typeface="微软雅黑" panose="020B0503020204020204" charset="-122"/>
              </a:endParaRPr>
            </a:p>
            <a:p>
              <a:pPr lvl="0">
                <a:lnSpc>
                  <a:spcPct val="120000"/>
                </a:lnSpc>
                <a:defRPr/>
              </a:pPr>
              <a:endParaRPr lang="zh-CN" altLang="en-US" sz="1600" kern="0" dirty="0">
                <a:solidFill>
                  <a:schemeClr val="tx1">
                    <a:lumMod val="65000"/>
                    <a:lumOff val="35000"/>
                  </a:schemeClr>
                </a:solidFill>
                <a:latin typeface="微软雅黑" panose="020B0503020204020204" charset="-122"/>
                <a:ea typeface="微软雅黑" panose="020B0503020204020204" charset="-122"/>
              </a:endParaRPr>
            </a:p>
          </p:txBody>
        </p:sp>
        <p:grpSp>
          <p:nvGrpSpPr>
            <p:cNvPr id="20" name="组合 19"/>
            <p:cNvGrpSpPr/>
            <p:nvPr/>
          </p:nvGrpSpPr>
          <p:grpSpPr>
            <a:xfrm>
              <a:off x="-133216" y="1680709"/>
              <a:ext cx="2066517" cy="2873190"/>
              <a:chOff x="433042" y="1154266"/>
              <a:chExt cx="2643234" cy="3675030"/>
            </a:xfrm>
          </p:grpSpPr>
          <p:sp>
            <p:nvSpPr>
              <p:cNvPr id="31" name="Freeform 3"/>
              <p:cNvSpPr/>
              <p:nvPr/>
            </p:nvSpPr>
            <p:spPr bwMode="auto">
              <a:xfrm>
                <a:off x="433042" y="3837337"/>
                <a:ext cx="1234970" cy="456143"/>
              </a:xfrm>
              <a:custGeom>
                <a:avLst/>
                <a:gdLst/>
                <a:ahLst/>
                <a:cxnLst>
                  <a:cxn ang="0">
                    <a:pos x="2331" y="688"/>
                  </a:cxn>
                  <a:cxn ang="0">
                    <a:pos x="104" y="138"/>
                  </a:cxn>
                  <a:cxn ang="0">
                    <a:pos x="2086" y="0"/>
                  </a:cxn>
                  <a:cxn ang="0">
                    <a:pos x="2331" y="688"/>
                  </a:cxn>
                </a:cxnLst>
                <a:rect l="0" t="0" r="r" b="b"/>
                <a:pathLst>
                  <a:path w="2331" h="688">
                    <a:moveTo>
                      <a:pt x="2331" y="688"/>
                    </a:moveTo>
                    <a:cubicBezTo>
                      <a:pt x="2331" y="688"/>
                      <a:pt x="208" y="159"/>
                      <a:pt x="104" y="138"/>
                    </a:cubicBezTo>
                    <a:cubicBezTo>
                      <a:pt x="0" y="118"/>
                      <a:pt x="2086" y="0"/>
                      <a:pt x="2086" y="0"/>
                    </a:cubicBezTo>
                    <a:lnTo>
                      <a:pt x="2331" y="688"/>
                    </a:lnTo>
                    <a:close/>
                  </a:path>
                </a:pathLst>
              </a:custGeom>
              <a:gradFill>
                <a:gsLst>
                  <a:gs pos="0">
                    <a:sysClr val="windowText" lastClr="000000">
                      <a:alpha val="0"/>
                    </a:sysClr>
                  </a:gs>
                  <a:gs pos="100000">
                    <a:sysClr val="windowText" lastClr="000000">
                      <a:alpha val="46000"/>
                    </a:sysClr>
                  </a:gs>
                </a:gsLst>
                <a:lin ang="5400000" scaled="0"/>
              </a:gradFill>
              <a:ln w="9525" cap="rnd">
                <a:noFill/>
                <a:prstDash val="solid"/>
                <a:round/>
              </a:ln>
            </p:spPr>
            <p:txBody>
              <a:bodyPr anchor="ctr"/>
              <a:lstStyle/>
              <a:p>
                <a:pPr algn="ctr" fontAlgn="base">
                  <a:spcBef>
                    <a:spcPct val="0"/>
                  </a:spcBef>
                  <a:spcAft>
                    <a:spcPct val="0"/>
                  </a:spcAft>
                  <a:defRPr/>
                </a:pPr>
                <a:endParaRPr lang="zh-CN" altLang="en-US" sz="2000" kern="0">
                  <a:solidFill>
                    <a:schemeClr val="tx1">
                      <a:lumMod val="65000"/>
                      <a:lumOff val="35000"/>
                    </a:schemeClr>
                  </a:solidFill>
                  <a:latin typeface="微软雅黑" panose="020B0503020204020204" charset="-122"/>
                  <a:ea typeface="微软雅黑" panose="020B0503020204020204" charset="-122"/>
                </a:endParaRPr>
              </a:p>
            </p:txBody>
          </p:sp>
          <p:sp>
            <p:nvSpPr>
              <p:cNvPr id="32" name="Freeform 8"/>
              <p:cNvSpPr/>
              <p:nvPr/>
            </p:nvSpPr>
            <p:spPr bwMode="auto">
              <a:xfrm>
                <a:off x="1671995" y="2540619"/>
                <a:ext cx="1404281" cy="1746884"/>
              </a:xfrm>
              <a:custGeom>
                <a:avLst/>
                <a:gdLst>
                  <a:gd name="T0" fmla="*/ 0 w 1006"/>
                  <a:gd name="T1" fmla="*/ 0 h 1251"/>
                  <a:gd name="T2" fmla="*/ 0 w 1006"/>
                  <a:gd name="T3" fmla="*/ 1549419556 h 1251"/>
                  <a:gd name="T4" fmla="*/ 1245111113 w 1006"/>
                  <a:gd name="T5" fmla="*/ 1429280965 h 1251"/>
                  <a:gd name="T6" fmla="*/ 1245111113 w 1006"/>
                  <a:gd name="T7" fmla="*/ 100322306 h 1251"/>
                  <a:gd name="T8" fmla="*/ 0 w 1006"/>
                  <a:gd name="T9" fmla="*/ 0 h 1251"/>
                  <a:gd name="T10" fmla="*/ 0 60000 65536"/>
                  <a:gd name="T11" fmla="*/ 0 60000 65536"/>
                  <a:gd name="T12" fmla="*/ 0 60000 65536"/>
                  <a:gd name="T13" fmla="*/ 0 60000 65536"/>
                  <a:gd name="T14" fmla="*/ 0 60000 65536"/>
                  <a:gd name="T15" fmla="*/ 0 w 1006"/>
                  <a:gd name="T16" fmla="*/ 0 h 1251"/>
                  <a:gd name="T17" fmla="*/ 1006 w 1006"/>
                  <a:gd name="T18" fmla="*/ 1251 h 1251"/>
                </a:gdLst>
                <a:ahLst/>
                <a:cxnLst>
                  <a:cxn ang="T10">
                    <a:pos x="T0" y="T1"/>
                  </a:cxn>
                  <a:cxn ang="T11">
                    <a:pos x="T2" y="T3"/>
                  </a:cxn>
                  <a:cxn ang="T12">
                    <a:pos x="T4" y="T5"/>
                  </a:cxn>
                  <a:cxn ang="T13">
                    <a:pos x="T6" y="T7"/>
                  </a:cxn>
                  <a:cxn ang="T14">
                    <a:pos x="T8" y="T9"/>
                  </a:cxn>
                </a:cxnLst>
                <a:rect l="T15" t="T16" r="T17" b="T18"/>
                <a:pathLst>
                  <a:path w="1006" h="1251">
                    <a:moveTo>
                      <a:pt x="0" y="0"/>
                    </a:moveTo>
                    <a:lnTo>
                      <a:pt x="0" y="1251"/>
                    </a:lnTo>
                    <a:lnTo>
                      <a:pt x="1006" y="1154"/>
                    </a:lnTo>
                    <a:lnTo>
                      <a:pt x="1006" y="81"/>
                    </a:lnTo>
                    <a:lnTo>
                      <a:pt x="0" y="0"/>
                    </a:lnTo>
                    <a:close/>
                  </a:path>
                </a:pathLst>
              </a:custGeom>
              <a:gradFill>
                <a:gsLst>
                  <a:gs pos="33000">
                    <a:srgbClr val="2676FF">
                      <a:lumMod val="60000"/>
                      <a:lumOff val="40000"/>
                    </a:srgbClr>
                  </a:gs>
                  <a:gs pos="100000">
                    <a:srgbClr val="2676FF"/>
                  </a:gs>
                </a:gsLst>
                <a:lin ang="5400000" scaled="0"/>
              </a:gradFill>
              <a:ln w="3175" cap="flat" cmpd="sng" algn="ctr">
                <a:noFill/>
                <a:prstDash val="solid"/>
              </a:ln>
              <a:effectLst/>
            </p:spPr>
            <p:txBody>
              <a:bodyPr anchor="ctr"/>
              <a:lstStyle/>
              <a:p>
                <a:pPr>
                  <a:lnSpc>
                    <a:spcPct val="120000"/>
                  </a:lnSpc>
                  <a:defRPr/>
                </a:pPr>
                <a:endParaRPr lang="zh-CN" altLang="en-US" sz="1200" kern="0">
                  <a:solidFill>
                    <a:schemeClr val="tx1">
                      <a:lumMod val="65000"/>
                      <a:lumOff val="35000"/>
                    </a:schemeClr>
                  </a:solidFill>
                  <a:latin typeface="微软雅黑" panose="020B0503020204020204" charset="-122"/>
                  <a:ea typeface="微软雅黑" panose="020B0503020204020204" charset="-122"/>
                </a:endParaRPr>
              </a:p>
            </p:txBody>
          </p:sp>
          <p:sp>
            <p:nvSpPr>
              <p:cNvPr id="33" name="Freeform 9"/>
              <p:cNvSpPr/>
              <p:nvPr/>
            </p:nvSpPr>
            <p:spPr bwMode="auto">
              <a:xfrm>
                <a:off x="1197926" y="2540619"/>
                <a:ext cx="474069" cy="1746884"/>
              </a:xfrm>
              <a:custGeom>
                <a:avLst/>
                <a:gdLst>
                  <a:gd name="T0" fmla="*/ 0 w 339"/>
                  <a:gd name="T1" fmla="*/ 136240017 h 1251"/>
                  <a:gd name="T2" fmla="*/ 0 w 339"/>
                  <a:gd name="T3" fmla="*/ 1337628145 h 1251"/>
                  <a:gd name="T4" fmla="*/ 421096551 w 339"/>
                  <a:gd name="T5" fmla="*/ 1549419556 h 1251"/>
                  <a:gd name="T6" fmla="*/ 421096551 w 339"/>
                  <a:gd name="T7" fmla="*/ 0 h 1251"/>
                  <a:gd name="T8" fmla="*/ 0 w 339"/>
                  <a:gd name="T9" fmla="*/ 136240017 h 1251"/>
                  <a:gd name="T10" fmla="*/ 0 60000 65536"/>
                  <a:gd name="T11" fmla="*/ 0 60000 65536"/>
                  <a:gd name="T12" fmla="*/ 0 60000 65536"/>
                  <a:gd name="T13" fmla="*/ 0 60000 65536"/>
                  <a:gd name="T14" fmla="*/ 0 60000 65536"/>
                  <a:gd name="T15" fmla="*/ 0 w 339"/>
                  <a:gd name="T16" fmla="*/ 0 h 1251"/>
                  <a:gd name="T17" fmla="*/ 339 w 339"/>
                  <a:gd name="T18" fmla="*/ 1251 h 1251"/>
                </a:gdLst>
                <a:ahLst/>
                <a:cxnLst>
                  <a:cxn ang="T10">
                    <a:pos x="T0" y="T1"/>
                  </a:cxn>
                  <a:cxn ang="T11">
                    <a:pos x="T2" y="T3"/>
                  </a:cxn>
                  <a:cxn ang="T12">
                    <a:pos x="T4" y="T5"/>
                  </a:cxn>
                  <a:cxn ang="T13">
                    <a:pos x="T6" y="T7"/>
                  </a:cxn>
                  <a:cxn ang="T14">
                    <a:pos x="T8" y="T9"/>
                  </a:cxn>
                </a:cxnLst>
                <a:rect l="T15" t="T16" r="T17" b="T18"/>
                <a:pathLst>
                  <a:path w="339" h="1251">
                    <a:moveTo>
                      <a:pt x="0" y="110"/>
                    </a:moveTo>
                    <a:lnTo>
                      <a:pt x="0" y="1080"/>
                    </a:lnTo>
                    <a:lnTo>
                      <a:pt x="339" y="1251"/>
                    </a:lnTo>
                    <a:lnTo>
                      <a:pt x="339" y="0"/>
                    </a:lnTo>
                    <a:lnTo>
                      <a:pt x="0" y="110"/>
                    </a:lnTo>
                    <a:close/>
                  </a:path>
                </a:pathLst>
              </a:custGeom>
              <a:gradFill>
                <a:gsLst>
                  <a:gs pos="33000">
                    <a:srgbClr val="2676FF"/>
                  </a:gs>
                  <a:gs pos="100000">
                    <a:srgbClr val="2676FF">
                      <a:lumMod val="75000"/>
                    </a:srgbClr>
                  </a:gs>
                </a:gsLst>
                <a:lin ang="5400000" scaled="0"/>
              </a:gradFill>
              <a:ln w="3175" cap="flat" cmpd="sng" algn="ctr">
                <a:noFill/>
                <a:prstDash val="solid"/>
              </a:ln>
              <a:effectLst/>
            </p:spPr>
            <p:txBody>
              <a:bodyPr anchor="ctr"/>
              <a:lstStyle/>
              <a:p>
                <a:pPr>
                  <a:lnSpc>
                    <a:spcPct val="120000"/>
                  </a:lnSpc>
                  <a:defRPr/>
                </a:pPr>
                <a:endParaRPr lang="zh-CN" altLang="en-US" sz="1200" kern="0">
                  <a:solidFill>
                    <a:schemeClr val="tx1">
                      <a:lumMod val="65000"/>
                      <a:lumOff val="35000"/>
                    </a:schemeClr>
                  </a:solidFill>
                  <a:latin typeface="微软雅黑" panose="020B0503020204020204" charset="-122"/>
                  <a:ea typeface="微软雅黑" panose="020B0503020204020204" charset="-122"/>
                </a:endParaRPr>
              </a:p>
            </p:txBody>
          </p:sp>
          <p:sp>
            <p:nvSpPr>
              <p:cNvPr id="34" name="Line 21"/>
              <p:cNvSpPr>
                <a:spLocks noChangeShapeType="1"/>
              </p:cNvSpPr>
              <p:nvPr/>
            </p:nvSpPr>
            <p:spPr bwMode="auto">
              <a:xfrm flipV="1">
                <a:off x="1227805" y="1154266"/>
                <a:ext cx="0" cy="1497899"/>
              </a:xfrm>
              <a:prstGeom prst="line">
                <a:avLst/>
              </a:prstGeom>
              <a:gradFill>
                <a:gsLst>
                  <a:gs pos="0">
                    <a:srgbClr val="2676FF">
                      <a:lumMod val="40000"/>
                      <a:lumOff val="60000"/>
                    </a:srgbClr>
                  </a:gs>
                  <a:gs pos="50000">
                    <a:srgbClr val="2676FF"/>
                  </a:gs>
                  <a:gs pos="100000">
                    <a:srgbClr val="2676FF">
                      <a:lumMod val="75000"/>
                    </a:srgbClr>
                  </a:gs>
                </a:gsLst>
                <a:lin ang="5400000" scaled="0"/>
              </a:gradFill>
              <a:ln w="9525" cap="rnd">
                <a:solidFill>
                  <a:sysClr val="window" lastClr="FFFFFF">
                    <a:lumMod val="65000"/>
                  </a:sysClr>
                </a:solidFill>
                <a:prstDash val="solid"/>
                <a:round/>
                <a:headEnd type="none" w="med" len="med"/>
                <a:tailEnd type="triangle" w="med" len="med"/>
              </a:ln>
            </p:spPr>
            <p:txBody>
              <a:bodyPr anchor="ctr"/>
              <a:lstStyle/>
              <a:p>
                <a:pPr algn="ctr" fontAlgn="base">
                  <a:spcBef>
                    <a:spcPct val="0"/>
                  </a:spcBef>
                  <a:spcAft>
                    <a:spcPct val="0"/>
                  </a:spcAft>
                  <a:defRPr/>
                </a:pPr>
                <a:endParaRPr lang="zh-CN" altLang="en-US" sz="2000" kern="0">
                  <a:solidFill>
                    <a:schemeClr val="tx1">
                      <a:lumMod val="65000"/>
                      <a:lumOff val="35000"/>
                    </a:schemeClr>
                  </a:solidFill>
                  <a:latin typeface="微软雅黑" panose="020B0503020204020204" charset="-122"/>
                  <a:ea typeface="微软雅黑" panose="020B0503020204020204" charset="-122"/>
                </a:endParaRPr>
              </a:p>
            </p:txBody>
          </p:sp>
          <p:sp>
            <p:nvSpPr>
              <p:cNvPr id="35" name="WordArt 33"/>
              <p:cNvSpPr>
                <a:spLocks noChangeArrowheads="1" noChangeShapeType="1" noTextEdit="1"/>
              </p:cNvSpPr>
              <p:nvPr/>
            </p:nvSpPr>
            <p:spPr bwMode="auto">
              <a:xfrm>
                <a:off x="1839314" y="3767621"/>
                <a:ext cx="173295" cy="352563"/>
              </a:xfrm>
              <a:prstGeom prst="rect">
                <a:avLst/>
              </a:prstGeom>
              <a:noFill/>
              <a:ln w="9525" cap="rnd">
                <a:noFill/>
                <a:prstDash val="solid"/>
                <a:round/>
              </a:ln>
            </p:spPr>
            <p:txBody>
              <a:bodyPr anchor="ctr"/>
              <a:lstStyle/>
              <a:p>
                <a:pPr algn="ctr" fontAlgn="base">
                  <a:spcBef>
                    <a:spcPct val="0"/>
                  </a:spcBef>
                  <a:spcAft>
                    <a:spcPct val="0"/>
                  </a:spcAft>
                  <a:defRPr/>
                </a:pPr>
                <a:r>
                  <a:rPr lang="en-US" altLang="zh-CN" sz="3600" kern="0">
                    <a:solidFill>
                      <a:schemeClr val="tx1">
                        <a:lumMod val="65000"/>
                        <a:lumOff val="35000"/>
                      </a:schemeClr>
                    </a:solidFill>
                    <a:latin typeface="微软雅黑" panose="020B0503020204020204" charset="-122"/>
                    <a:ea typeface="微软雅黑" panose="020B0503020204020204" charset="-122"/>
                  </a:rPr>
                  <a:t>1</a:t>
                </a:r>
                <a:endParaRPr lang="zh-CN" altLang="en-US" sz="3600" kern="0">
                  <a:solidFill>
                    <a:schemeClr val="tx1">
                      <a:lumMod val="65000"/>
                      <a:lumOff val="35000"/>
                    </a:schemeClr>
                  </a:solidFill>
                  <a:latin typeface="微软雅黑" panose="020B0503020204020204" charset="-122"/>
                  <a:ea typeface="微软雅黑" panose="020B0503020204020204" charset="-122"/>
                </a:endParaRPr>
              </a:p>
            </p:txBody>
          </p:sp>
          <p:sp>
            <p:nvSpPr>
              <p:cNvPr id="36" name="Freeform 39"/>
              <p:cNvSpPr/>
              <p:nvPr/>
            </p:nvSpPr>
            <p:spPr bwMode="auto">
              <a:xfrm>
                <a:off x="2895014" y="4827305"/>
                <a:ext cx="29879" cy="1991"/>
              </a:xfrm>
              <a:custGeom>
                <a:avLst/>
                <a:gdLst>
                  <a:gd name="T0" fmla="*/ 47254914 w 12"/>
                  <a:gd name="T1" fmla="*/ 0 h 1587"/>
                  <a:gd name="T2" fmla="*/ 0 w 12"/>
                  <a:gd name="T3" fmla="*/ 0 h 1587"/>
                  <a:gd name="T4" fmla="*/ 47254914 w 12"/>
                  <a:gd name="T5" fmla="*/ 0 h 1587"/>
                  <a:gd name="T6" fmla="*/ 47254914 w 12"/>
                  <a:gd name="T7" fmla="*/ 0 h 1587"/>
                  <a:gd name="T8" fmla="*/ 0 60000 65536"/>
                  <a:gd name="T9" fmla="*/ 0 60000 65536"/>
                  <a:gd name="T10" fmla="*/ 0 60000 65536"/>
                  <a:gd name="T11" fmla="*/ 0 60000 65536"/>
                  <a:gd name="T12" fmla="*/ 0 w 12"/>
                  <a:gd name="T13" fmla="*/ 0 h 1587"/>
                  <a:gd name="T14" fmla="*/ 12 w 12"/>
                  <a:gd name="T15" fmla="*/ 1587 h 1587"/>
                </a:gdLst>
                <a:ahLst/>
                <a:cxnLst>
                  <a:cxn ang="T8">
                    <a:pos x="T0" y="T1"/>
                  </a:cxn>
                  <a:cxn ang="T9">
                    <a:pos x="T2" y="T3"/>
                  </a:cxn>
                  <a:cxn ang="T10">
                    <a:pos x="T4" y="T5"/>
                  </a:cxn>
                  <a:cxn ang="T11">
                    <a:pos x="T6" y="T7"/>
                  </a:cxn>
                </a:cxnLst>
                <a:rect l="T12" t="T13" r="T14" b="T15"/>
                <a:pathLst>
                  <a:path w="12" h="1587">
                    <a:moveTo>
                      <a:pt x="12" y="0"/>
                    </a:moveTo>
                    <a:lnTo>
                      <a:pt x="0" y="0"/>
                    </a:lnTo>
                    <a:lnTo>
                      <a:pt x="12" y="0"/>
                    </a:lnTo>
                    <a:close/>
                  </a:path>
                </a:pathLst>
              </a:custGeom>
              <a:gradFill>
                <a:gsLst>
                  <a:gs pos="0">
                    <a:srgbClr val="2676FF">
                      <a:lumMod val="40000"/>
                      <a:lumOff val="60000"/>
                    </a:srgbClr>
                  </a:gs>
                  <a:gs pos="50000">
                    <a:srgbClr val="2676FF"/>
                  </a:gs>
                  <a:gs pos="100000">
                    <a:srgbClr val="2676FF">
                      <a:lumMod val="75000"/>
                    </a:srgbClr>
                  </a:gs>
                </a:gsLst>
                <a:lin ang="5400000" scaled="0"/>
              </a:gradFill>
              <a:ln w="9525" cap="rnd">
                <a:solidFill>
                  <a:srgbClr val="2676FF">
                    <a:lumMod val="40000"/>
                    <a:lumOff val="60000"/>
                  </a:srgbClr>
                </a:solidFill>
                <a:prstDash val="solid"/>
                <a:round/>
              </a:ln>
            </p:spPr>
            <p:txBody>
              <a:bodyPr anchor="ctr"/>
              <a:lstStyle/>
              <a:p>
                <a:pPr algn="ctr" fontAlgn="base">
                  <a:spcBef>
                    <a:spcPct val="0"/>
                  </a:spcBef>
                  <a:spcAft>
                    <a:spcPct val="0"/>
                  </a:spcAft>
                  <a:defRPr/>
                </a:pPr>
                <a:endParaRPr lang="zh-CN" altLang="en-US" sz="2000" kern="0">
                  <a:solidFill>
                    <a:schemeClr val="tx1">
                      <a:lumMod val="65000"/>
                      <a:lumOff val="35000"/>
                    </a:schemeClr>
                  </a:solidFill>
                  <a:latin typeface="微软雅黑" panose="020B0503020204020204" charset="-122"/>
                  <a:ea typeface="微软雅黑" panose="020B0503020204020204" charset="-122"/>
                </a:endParaRPr>
              </a:p>
            </p:txBody>
          </p:sp>
        </p:grpSp>
      </p:grpSp>
      <p:grpSp>
        <p:nvGrpSpPr>
          <p:cNvPr id="48" name="组合 6"/>
          <p:cNvGrpSpPr/>
          <p:nvPr/>
        </p:nvGrpSpPr>
        <p:grpSpPr>
          <a:xfrm>
            <a:off x="809625" y="2145646"/>
            <a:ext cx="1082675" cy="1849576"/>
            <a:chOff x="508000" y="3196191"/>
            <a:chExt cx="1082664" cy="1849576"/>
          </a:xfrm>
        </p:grpSpPr>
        <p:sp>
          <p:nvSpPr>
            <p:cNvPr id="49" name="TextBox 1"/>
            <p:cNvSpPr txBox="1">
              <a:spLocks noChangeArrowheads="1"/>
            </p:cNvSpPr>
            <p:nvPr/>
          </p:nvSpPr>
          <p:spPr bwMode="auto">
            <a:xfrm>
              <a:off x="508000" y="3196191"/>
              <a:ext cx="3754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3</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50" name="直接连接符 4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51" name="矩形 50"/>
            <p:cNvSpPr>
              <a:spLocks noChangeArrowheads="1"/>
            </p:cNvSpPr>
            <p:nvPr/>
          </p:nvSpPr>
          <p:spPr bwMode="auto">
            <a:xfrm>
              <a:off x="960435" y="3291441"/>
              <a:ext cx="630229"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出错信息处理</a:t>
              </a:r>
            </a:p>
          </p:txBody>
        </p:sp>
      </p:grpSp>
    </p:spTree>
  </p:cSld>
  <p:clrMapOvr>
    <a:masterClrMapping/>
  </p:clrMapOvr>
  <p:transition>
    <p:fade thruBlk="1"/>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6 </a:t>
            </a:r>
            <a:r>
              <a:rPr lang="zh-CN" altLang="en-US" dirty="0">
                <a:sym typeface="+mn-ea"/>
              </a:rPr>
              <a:t>用户界面设计</a:t>
            </a: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sym typeface="+mn-ea"/>
              </a:rPr>
              <a:t>3.6.1 </a:t>
            </a:r>
            <a:r>
              <a:rPr lang="zh-CN" altLang="en-US" sz="2400" dirty="0">
                <a:solidFill>
                  <a:schemeClr val="tx1"/>
                </a:solidFill>
                <a:sym typeface="+mn-ea"/>
              </a:rPr>
              <a:t>用户界面设计问题</a:t>
            </a:r>
          </a:p>
        </p:txBody>
      </p:sp>
      <p:grpSp>
        <p:nvGrpSpPr>
          <p:cNvPr id="17" name="组合 16"/>
          <p:cNvGrpSpPr/>
          <p:nvPr/>
        </p:nvGrpSpPr>
        <p:grpSpPr>
          <a:xfrm>
            <a:off x="1316211" y="2212805"/>
            <a:ext cx="9927516" cy="4003233"/>
            <a:chOff x="-133216" y="1625600"/>
            <a:chExt cx="10204987" cy="4115123"/>
          </a:xfrm>
        </p:grpSpPr>
        <p:grpSp>
          <p:nvGrpSpPr>
            <p:cNvPr id="18" name="组合 17"/>
            <p:cNvGrpSpPr/>
            <p:nvPr/>
          </p:nvGrpSpPr>
          <p:grpSpPr>
            <a:xfrm>
              <a:off x="1417638" y="1625600"/>
              <a:ext cx="8654133" cy="4115123"/>
              <a:chOff x="1417638" y="1625600"/>
              <a:chExt cx="8654133" cy="4115123"/>
            </a:xfrm>
          </p:grpSpPr>
          <p:sp>
            <p:nvSpPr>
              <p:cNvPr id="37" name="Freeform 2"/>
              <p:cNvSpPr/>
              <p:nvPr/>
            </p:nvSpPr>
            <p:spPr bwMode="auto">
              <a:xfrm flipH="1">
                <a:off x="5707063" y="3692525"/>
                <a:ext cx="876300" cy="236537"/>
              </a:xfrm>
              <a:custGeom>
                <a:avLst/>
                <a:gdLst>
                  <a:gd name="T0" fmla="*/ 329430154 w 2331"/>
                  <a:gd name="T1" fmla="*/ 81322314 h 688"/>
                  <a:gd name="T2" fmla="*/ 14697855 w 2331"/>
                  <a:gd name="T3" fmla="*/ 16311770 h 688"/>
                  <a:gd name="T4" fmla="*/ 294805214 w 2331"/>
                  <a:gd name="T5" fmla="*/ 0 h 688"/>
                  <a:gd name="T6" fmla="*/ 329430154 w 2331"/>
                  <a:gd name="T7" fmla="*/ 81322314 h 688"/>
                  <a:gd name="T8" fmla="*/ 0 60000 65536"/>
                  <a:gd name="T9" fmla="*/ 0 60000 65536"/>
                  <a:gd name="T10" fmla="*/ 0 60000 65536"/>
                  <a:gd name="T11" fmla="*/ 0 60000 65536"/>
                  <a:gd name="T12" fmla="*/ 0 w 2331"/>
                  <a:gd name="T13" fmla="*/ 0 h 688"/>
                  <a:gd name="T14" fmla="*/ 2331 w 2331"/>
                  <a:gd name="T15" fmla="*/ 688 h 688"/>
                </a:gdLst>
                <a:ahLst/>
                <a:cxnLst>
                  <a:cxn ang="T8">
                    <a:pos x="T0" y="T1"/>
                  </a:cxn>
                  <a:cxn ang="T9">
                    <a:pos x="T2" y="T3"/>
                  </a:cxn>
                  <a:cxn ang="T10">
                    <a:pos x="T4" y="T5"/>
                  </a:cxn>
                  <a:cxn ang="T11">
                    <a:pos x="T6" y="T7"/>
                  </a:cxn>
                </a:cxnLst>
                <a:rect l="T12" t="T13" r="T14" b="T15"/>
                <a:pathLst>
                  <a:path w="2331" h="688">
                    <a:moveTo>
                      <a:pt x="2331" y="688"/>
                    </a:moveTo>
                    <a:cubicBezTo>
                      <a:pt x="2331" y="688"/>
                      <a:pt x="208" y="159"/>
                      <a:pt x="104" y="138"/>
                    </a:cubicBezTo>
                    <a:cubicBezTo>
                      <a:pt x="0" y="118"/>
                      <a:pt x="2086" y="0"/>
                      <a:pt x="2086" y="0"/>
                    </a:cubicBezTo>
                    <a:lnTo>
                      <a:pt x="2331" y="688"/>
                    </a:lnTo>
                    <a:close/>
                  </a:path>
                </a:pathLst>
              </a:custGeom>
              <a:gradFill rotWithShape="1">
                <a:gsLst>
                  <a:gs pos="0">
                    <a:srgbClr val="FFFFFF">
                      <a:alpha val="50000"/>
                    </a:srgbClr>
                  </a:gs>
                  <a:gs pos="100000">
                    <a:srgbClr val="666666">
                      <a:alpha val="34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38" name="Freeform 4"/>
              <p:cNvSpPr/>
              <p:nvPr/>
            </p:nvSpPr>
            <p:spPr bwMode="auto">
              <a:xfrm flipH="1">
                <a:off x="6996113" y="3609975"/>
                <a:ext cx="863600" cy="388937"/>
              </a:xfrm>
              <a:custGeom>
                <a:avLst/>
                <a:gdLst>
                  <a:gd name="T0" fmla="*/ 319950648 w 2331"/>
                  <a:gd name="T1" fmla="*/ 219872078 h 688"/>
                  <a:gd name="T2" fmla="*/ 14274778 w 2331"/>
                  <a:gd name="T3" fmla="*/ 44102516 h 688"/>
                  <a:gd name="T4" fmla="*/ 286322116 w 2331"/>
                  <a:gd name="T5" fmla="*/ 0 h 688"/>
                  <a:gd name="T6" fmla="*/ 319950648 w 2331"/>
                  <a:gd name="T7" fmla="*/ 219872078 h 688"/>
                  <a:gd name="T8" fmla="*/ 0 60000 65536"/>
                  <a:gd name="T9" fmla="*/ 0 60000 65536"/>
                  <a:gd name="T10" fmla="*/ 0 60000 65536"/>
                  <a:gd name="T11" fmla="*/ 0 60000 65536"/>
                  <a:gd name="T12" fmla="*/ 0 w 2331"/>
                  <a:gd name="T13" fmla="*/ 0 h 688"/>
                  <a:gd name="T14" fmla="*/ 2331 w 2331"/>
                  <a:gd name="T15" fmla="*/ 688 h 688"/>
                </a:gdLst>
                <a:ahLst/>
                <a:cxnLst>
                  <a:cxn ang="T8">
                    <a:pos x="T0" y="T1"/>
                  </a:cxn>
                  <a:cxn ang="T9">
                    <a:pos x="T2" y="T3"/>
                  </a:cxn>
                  <a:cxn ang="T10">
                    <a:pos x="T4" y="T5"/>
                  </a:cxn>
                  <a:cxn ang="T11">
                    <a:pos x="T6" y="T7"/>
                  </a:cxn>
                </a:cxnLst>
                <a:rect l="T12" t="T13" r="T14" b="T15"/>
                <a:pathLst>
                  <a:path w="2331" h="688">
                    <a:moveTo>
                      <a:pt x="2331" y="688"/>
                    </a:moveTo>
                    <a:cubicBezTo>
                      <a:pt x="2331" y="688"/>
                      <a:pt x="208" y="159"/>
                      <a:pt x="104" y="138"/>
                    </a:cubicBezTo>
                    <a:cubicBezTo>
                      <a:pt x="0" y="118"/>
                      <a:pt x="2086" y="0"/>
                      <a:pt x="2086" y="0"/>
                    </a:cubicBezTo>
                    <a:lnTo>
                      <a:pt x="2331" y="688"/>
                    </a:lnTo>
                    <a:close/>
                  </a:path>
                </a:pathLst>
              </a:custGeom>
              <a:gradFill rotWithShape="1">
                <a:gsLst>
                  <a:gs pos="0">
                    <a:srgbClr val="FFFFFF">
                      <a:alpha val="50000"/>
                    </a:srgbClr>
                  </a:gs>
                  <a:gs pos="100000">
                    <a:srgbClr val="666666">
                      <a:alpha val="34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39" name="Freeform 5"/>
              <p:cNvSpPr/>
              <p:nvPr/>
            </p:nvSpPr>
            <p:spPr bwMode="auto">
              <a:xfrm flipH="1">
                <a:off x="8412163" y="3746500"/>
                <a:ext cx="838200" cy="363537"/>
              </a:xfrm>
              <a:custGeom>
                <a:avLst/>
                <a:gdLst>
                  <a:gd name="T0" fmla="*/ 301406795 w 2331"/>
                  <a:gd name="T1" fmla="*/ 192091788 h 688"/>
                  <a:gd name="T2" fmla="*/ 13447518 w 2331"/>
                  <a:gd name="T3" fmla="*/ 38530166 h 688"/>
                  <a:gd name="T4" fmla="*/ 269727438 w 2331"/>
                  <a:gd name="T5" fmla="*/ 0 h 688"/>
                  <a:gd name="T6" fmla="*/ 301406795 w 2331"/>
                  <a:gd name="T7" fmla="*/ 192091788 h 688"/>
                  <a:gd name="T8" fmla="*/ 0 60000 65536"/>
                  <a:gd name="T9" fmla="*/ 0 60000 65536"/>
                  <a:gd name="T10" fmla="*/ 0 60000 65536"/>
                  <a:gd name="T11" fmla="*/ 0 60000 65536"/>
                  <a:gd name="T12" fmla="*/ 0 w 2331"/>
                  <a:gd name="T13" fmla="*/ 0 h 688"/>
                  <a:gd name="T14" fmla="*/ 2331 w 2331"/>
                  <a:gd name="T15" fmla="*/ 688 h 688"/>
                </a:gdLst>
                <a:ahLst/>
                <a:cxnLst>
                  <a:cxn ang="T8">
                    <a:pos x="T0" y="T1"/>
                  </a:cxn>
                  <a:cxn ang="T9">
                    <a:pos x="T2" y="T3"/>
                  </a:cxn>
                  <a:cxn ang="T10">
                    <a:pos x="T4" y="T5"/>
                  </a:cxn>
                  <a:cxn ang="T11">
                    <a:pos x="T6" y="T7"/>
                  </a:cxn>
                </a:cxnLst>
                <a:rect l="T12" t="T13" r="T14" b="T15"/>
                <a:pathLst>
                  <a:path w="2331" h="688">
                    <a:moveTo>
                      <a:pt x="2331" y="688"/>
                    </a:moveTo>
                    <a:cubicBezTo>
                      <a:pt x="2331" y="688"/>
                      <a:pt x="208" y="159"/>
                      <a:pt x="104" y="138"/>
                    </a:cubicBezTo>
                    <a:cubicBezTo>
                      <a:pt x="0" y="118"/>
                      <a:pt x="2086" y="0"/>
                      <a:pt x="2086" y="0"/>
                    </a:cubicBezTo>
                    <a:lnTo>
                      <a:pt x="2331" y="688"/>
                    </a:lnTo>
                    <a:close/>
                  </a:path>
                </a:pathLst>
              </a:custGeom>
              <a:gradFill rotWithShape="1">
                <a:gsLst>
                  <a:gs pos="0">
                    <a:srgbClr val="FFFFFF">
                      <a:alpha val="50000"/>
                    </a:srgbClr>
                  </a:gs>
                  <a:gs pos="100000">
                    <a:srgbClr val="666666">
                      <a:alpha val="34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40" name="Freeform 7"/>
              <p:cNvSpPr/>
              <p:nvPr/>
            </p:nvSpPr>
            <p:spPr bwMode="auto">
              <a:xfrm>
                <a:off x="2713038" y="3692525"/>
                <a:ext cx="885825" cy="236537"/>
              </a:xfrm>
              <a:custGeom>
                <a:avLst/>
                <a:gdLst>
                  <a:gd name="T0" fmla="*/ 336630601 w 2331"/>
                  <a:gd name="T1" fmla="*/ 81322314 h 688"/>
                  <a:gd name="T2" fmla="*/ 15019123 w 2331"/>
                  <a:gd name="T3" fmla="*/ 16311770 h 688"/>
                  <a:gd name="T4" fmla="*/ 301248903 w 2331"/>
                  <a:gd name="T5" fmla="*/ 0 h 688"/>
                  <a:gd name="T6" fmla="*/ 336630601 w 2331"/>
                  <a:gd name="T7" fmla="*/ 81322314 h 688"/>
                  <a:gd name="T8" fmla="*/ 0 60000 65536"/>
                  <a:gd name="T9" fmla="*/ 0 60000 65536"/>
                  <a:gd name="T10" fmla="*/ 0 60000 65536"/>
                  <a:gd name="T11" fmla="*/ 0 60000 65536"/>
                  <a:gd name="T12" fmla="*/ 0 w 2331"/>
                  <a:gd name="T13" fmla="*/ 0 h 688"/>
                  <a:gd name="T14" fmla="*/ 2331 w 2331"/>
                  <a:gd name="T15" fmla="*/ 688 h 688"/>
                </a:gdLst>
                <a:ahLst/>
                <a:cxnLst>
                  <a:cxn ang="T8">
                    <a:pos x="T0" y="T1"/>
                  </a:cxn>
                  <a:cxn ang="T9">
                    <a:pos x="T2" y="T3"/>
                  </a:cxn>
                  <a:cxn ang="T10">
                    <a:pos x="T4" y="T5"/>
                  </a:cxn>
                  <a:cxn ang="T11">
                    <a:pos x="T6" y="T7"/>
                  </a:cxn>
                </a:cxnLst>
                <a:rect l="T12" t="T13" r="T14" b="T15"/>
                <a:pathLst>
                  <a:path w="2331" h="688">
                    <a:moveTo>
                      <a:pt x="2331" y="688"/>
                    </a:moveTo>
                    <a:cubicBezTo>
                      <a:pt x="2331" y="688"/>
                      <a:pt x="208" y="159"/>
                      <a:pt x="104" y="138"/>
                    </a:cubicBezTo>
                    <a:cubicBezTo>
                      <a:pt x="0" y="118"/>
                      <a:pt x="2086" y="0"/>
                      <a:pt x="2086" y="0"/>
                    </a:cubicBezTo>
                    <a:lnTo>
                      <a:pt x="2331" y="688"/>
                    </a:lnTo>
                    <a:close/>
                  </a:path>
                </a:pathLst>
              </a:custGeom>
              <a:gradFill rotWithShape="1">
                <a:gsLst>
                  <a:gs pos="0">
                    <a:srgbClr val="FFFFFF">
                      <a:alpha val="50000"/>
                    </a:srgbClr>
                  </a:gs>
                  <a:gs pos="100000">
                    <a:srgbClr val="666666">
                      <a:alpha val="34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41" name="Freeform 10"/>
              <p:cNvSpPr/>
              <p:nvPr/>
            </p:nvSpPr>
            <p:spPr bwMode="auto">
              <a:xfrm>
                <a:off x="2270126" y="2817812"/>
                <a:ext cx="1082675" cy="1189038"/>
              </a:xfrm>
              <a:custGeom>
                <a:avLst/>
                <a:gdLst>
                  <a:gd name="T0" fmla="*/ 0 w 973"/>
                  <a:gd name="T1" fmla="*/ 0 h 1069"/>
                  <a:gd name="T2" fmla="*/ 0 w 973"/>
                  <a:gd name="T3" fmla="*/ 1322555066 h 1069"/>
                  <a:gd name="T4" fmla="*/ 1204712390 w 973"/>
                  <a:gd name="T5" fmla="*/ 1300285908 h 1069"/>
                  <a:gd name="T6" fmla="*/ 1204712390 w 973"/>
                  <a:gd name="T7" fmla="*/ 44538316 h 1069"/>
                  <a:gd name="T8" fmla="*/ 0 w 973"/>
                  <a:gd name="T9" fmla="*/ 0 h 1069"/>
                  <a:gd name="T10" fmla="*/ 0 60000 65536"/>
                  <a:gd name="T11" fmla="*/ 0 60000 65536"/>
                  <a:gd name="T12" fmla="*/ 0 60000 65536"/>
                  <a:gd name="T13" fmla="*/ 0 60000 65536"/>
                  <a:gd name="T14" fmla="*/ 0 60000 65536"/>
                  <a:gd name="T15" fmla="*/ 0 w 973"/>
                  <a:gd name="T16" fmla="*/ 0 h 1069"/>
                  <a:gd name="T17" fmla="*/ 973 w 973"/>
                  <a:gd name="T18" fmla="*/ 1069 h 1069"/>
                </a:gdLst>
                <a:ahLst/>
                <a:cxnLst>
                  <a:cxn ang="T10">
                    <a:pos x="T0" y="T1"/>
                  </a:cxn>
                  <a:cxn ang="T11">
                    <a:pos x="T2" y="T3"/>
                  </a:cxn>
                  <a:cxn ang="T12">
                    <a:pos x="T4" y="T5"/>
                  </a:cxn>
                  <a:cxn ang="T13">
                    <a:pos x="T6" y="T7"/>
                  </a:cxn>
                  <a:cxn ang="T14">
                    <a:pos x="T8" y="T9"/>
                  </a:cxn>
                </a:cxnLst>
                <a:rect l="T15" t="T16" r="T17" b="T18"/>
                <a:pathLst>
                  <a:path w="973" h="1069">
                    <a:moveTo>
                      <a:pt x="0" y="0"/>
                    </a:moveTo>
                    <a:lnTo>
                      <a:pt x="0" y="1069"/>
                    </a:lnTo>
                    <a:lnTo>
                      <a:pt x="973" y="1051"/>
                    </a:lnTo>
                    <a:lnTo>
                      <a:pt x="973" y="36"/>
                    </a:lnTo>
                    <a:lnTo>
                      <a:pt x="0" y="0"/>
                    </a:lnTo>
                    <a:close/>
                  </a:path>
                </a:pathLst>
              </a:custGeom>
              <a:gradFill rotWithShape="1">
                <a:gsLst>
                  <a:gs pos="0">
                    <a:srgbClr val="F8F8F8"/>
                  </a:gs>
                  <a:gs pos="100000">
                    <a:srgbClr val="C0C0C0"/>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42" name="Freeform 11"/>
              <p:cNvSpPr/>
              <p:nvPr/>
            </p:nvSpPr>
            <p:spPr bwMode="auto">
              <a:xfrm>
                <a:off x="2060576" y="2803525"/>
                <a:ext cx="219075" cy="1189037"/>
              </a:xfrm>
              <a:custGeom>
                <a:avLst/>
                <a:gdLst>
                  <a:gd name="T0" fmla="*/ 0 w 197"/>
                  <a:gd name="T1" fmla="*/ 152174490 h 1069"/>
                  <a:gd name="T2" fmla="*/ 0 w 197"/>
                  <a:gd name="T3" fmla="*/ 1171616329 h 1069"/>
                  <a:gd name="T4" fmla="*/ 243623633 w 197"/>
                  <a:gd name="T5" fmla="*/ 1322552841 h 1069"/>
                  <a:gd name="T6" fmla="*/ 243623633 w 197"/>
                  <a:gd name="T7" fmla="*/ 0 h 1069"/>
                  <a:gd name="T8" fmla="*/ 0 w 197"/>
                  <a:gd name="T9" fmla="*/ 152174490 h 1069"/>
                  <a:gd name="T10" fmla="*/ 0 60000 65536"/>
                  <a:gd name="T11" fmla="*/ 0 60000 65536"/>
                  <a:gd name="T12" fmla="*/ 0 60000 65536"/>
                  <a:gd name="T13" fmla="*/ 0 60000 65536"/>
                  <a:gd name="T14" fmla="*/ 0 60000 65536"/>
                  <a:gd name="T15" fmla="*/ 0 w 197"/>
                  <a:gd name="T16" fmla="*/ 0 h 1069"/>
                  <a:gd name="T17" fmla="*/ 197 w 197"/>
                  <a:gd name="T18" fmla="*/ 1069 h 1069"/>
                </a:gdLst>
                <a:ahLst/>
                <a:cxnLst>
                  <a:cxn ang="T10">
                    <a:pos x="T0" y="T1"/>
                  </a:cxn>
                  <a:cxn ang="T11">
                    <a:pos x="T2" y="T3"/>
                  </a:cxn>
                  <a:cxn ang="T12">
                    <a:pos x="T4" y="T5"/>
                  </a:cxn>
                  <a:cxn ang="T13">
                    <a:pos x="T6" y="T7"/>
                  </a:cxn>
                  <a:cxn ang="T14">
                    <a:pos x="T8" y="T9"/>
                  </a:cxn>
                </a:cxnLst>
                <a:rect l="T15" t="T16" r="T17" b="T18"/>
                <a:pathLst>
                  <a:path w="197" h="1069">
                    <a:moveTo>
                      <a:pt x="0" y="123"/>
                    </a:moveTo>
                    <a:lnTo>
                      <a:pt x="0" y="947"/>
                    </a:lnTo>
                    <a:lnTo>
                      <a:pt x="197" y="1069"/>
                    </a:lnTo>
                    <a:lnTo>
                      <a:pt x="197" y="0"/>
                    </a:lnTo>
                    <a:lnTo>
                      <a:pt x="0" y="123"/>
                    </a:lnTo>
                    <a:close/>
                  </a:path>
                </a:pathLst>
              </a:custGeom>
              <a:gradFill rotWithShape="1">
                <a:gsLst>
                  <a:gs pos="0">
                    <a:srgbClr val="969696"/>
                  </a:gs>
                  <a:gs pos="100000">
                    <a:srgbClr val="5F5F5F"/>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43" name="Freeform 12"/>
              <p:cNvSpPr/>
              <p:nvPr/>
            </p:nvSpPr>
            <p:spPr bwMode="auto">
              <a:xfrm>
                <a:off x="3565526" y="2857500"/>
                <a:ext cx="1016000" cy="1081087"/>
              </a:xfrm>
              <a:custGeom>
                <a:avLst/>
                <a:gdLst>
                  <a:gd name="T0" fmla="*/ 1130619934 w 913"/>
                  <a:gd name="T1" fmla="*/ 1185098247 h 972"/>
                  <a:gd name="T2" fmla="*/ 0 w 913"/>
                  <a:gd name="T3" fmla="*/ 1202416771 h 972"/>
                  <a:gd name="T4" fmla="*/ 0 w 913"/>
                  <a:gd name="T5" fmla="*/ 0 h 972"/>
                  <a:gd name="T6" fmla="*/ 1130619934 w 913"/>
                  <a:gd name="T7" fmla="*/ 7421907 h 972"/>
                  <a:gd name="T8" fmla="*/ 1130619934 w 913"/>
                  <a:gd name="T9" fmla="*/ 1185098247 h 972"/>
                  <a:gd name="T10" fmla="*/ 0 60000 65536"/>
                  <a:gd name="T11" fmla="*/ 0 60000 65536"/>
                  <a:gd name="T12" fmla="*/ 0 60000 65536"/>
                  <a:gd name="T13" fmla="*/ 0 60000 65536"/>
                  <a:gd name="T14" fmla="*/ 0 60000 65536"/>
                  <a:gd name="T15" fmla="*/ 0 w 913"/>
                  <a:gd name="T16" fmla="*/ 0 h 972"/>
                  <a:gd name="T17" fmla="*/ 913 w 913"/>
                  <a:gd name="T18" fmla="*/ 972 h 972"/>
                </a:gdLst>
                <a:ahLst/>
                <a:cxnLst>
                  <a:cxn ang="T10">
                    <a:pos x="T0" y="T1"/>
                  </a:cxn>
                  <a:cxn ang="T11">
                    <a:pos x="T2" y="T3"/>
                  </a:cxn>
                  <a:cxn ang="T12">
                    <a:pos x="T4" y="T5"/>
                  </a:cxn>
                  <a:cxn ang="T13">
                    <a:pos x="T6" y="T7"/>
                  </a:cxn>
                  <a:cxn ang="T14">
                    <a:pos x="T8" y="T9"/>
                  </a:cxn>
                </a:cxnLst>
                <a:rect l="T15" t="T16" r="T17" b="T18"/>
                <a:pathLst>
                  <a:path w="913" h="972">
                    <a:moveTo>
                      <a:pt x="913" y="958"/>
                    </a:moveTo>
                    <a:lnTo>
                      <a:pt x="0" y="972"/>
                    </a:lnTo>
                    <a:lnTo>
                      <a:pt x="0" y="0"/>
                    </a:lnTo>
                    <a:lnTo>
                      <a:pt x="913" y="6"/>
                    </a:lnTo>
                    <a:lnTo>
                      <a:pt x="913" y="958"/>
                    </a:lnTo>
                    <a:close/>
                  </a:path>
                </a:pathLst>
              </a:custGeom>
              <a:gradFill rotWithShape="1">
                <a:gsLst>
                  <a:gs pos="0">
                    <a:srgbClr val="F8F8F8"/>
                  </a:gs>
                  <a:gs pos="100000">
                    <a:srgbClr val="C0C0C0"/>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44" name="Freeform 13"/>
              <p:cNvSpPr/>
              <p:nvPr/>
            </p:nvSpPr>
            <p:spPr bwMode="auto">
              <a:xfrm>
                <a:off x="3489326" y="2857500"/>
                <a:ext cx="76200" cy="1081087"/>
              </a:xfrm>
              <a:custGeom>
                <a:avLst/>
                <a:gdLst>
                  <a:gd name="T0" fmla="*/ 0 w 69"/>
                  <a:gd name="T1" fmla="*/ 107623768 h 972"/>
                  <a:gd name="T2" fmla="*/ 0 w 69"/>
                  <a:gd name="T3" fmla="*/ 1120771346 h 972"/>
                  <a:gd name="T4" fmla="*/ 84151304 w 69"/>
                  <a:gd name="T5" fmla="*/ 1202416771 h 972"/>
                  <a:gd name="T6" fmla="*/ 84151304 w 69"/>
                  <a:gd name="T7" fmla="*/ 0 h 972"/>
                  <a:gd name="T8" fmla="*/ 0 w 69"/>
                  <a:gd name="T9" fmla="*/ 107623768 h 972"/>
                  <a:gd name="T10" fmla="*/ 0 60000 65536"/>
                  <a:gd name="T11" fmla="*/ 0 60000 65536"/>
                  <a:gd name="T12" fmla="*/ 0 60000 65536"/>
                  <a:gd name="T13" fmla="*/ 0 60000 65536"/>
                  <a:gd name="T14" fmla="*/ 0 60000 65536"/>
                  <a:gd name="T15" fmla="*/ 0 w 69"/>
                  <a:gd name="T16" fmla="*/ 0 h 972"/>
                  <a:gd name="T17" fmla="*/ 69 w 69"/>
                  <a:gd name="T18" fmla="*/ 972 h 972"/>
                </a:gdLst>
                <a:ahLst/>
                <a:cxnLst>
                  <a:cxn ang="T10">
                    <a:pos x="T0" y="T1"/>
                  </a:cxn>
                  <a:cxn ang="T11">
                    <a:pos x="T2" y="T3"/>
                  </a:cxn>
                  <a:cxn ang="T12">
                    <a:pos x="T4" y="T5"/>
                  </a:cxn>
                  <a:cxn ang="T13">
                    <a:pos x="T6" y="T7"/>
                  </a:cxn>
                  <a:cxn ang="T14">
                    <a:pos x="T8" y="T9"/>
                  </a:cxn>
                </a:cxnLst>
                <a:rect l="T15" t="T16" r="T17" b="T18"/>
                <a:pathLst>
                  <a:path w="69" h="972">
                    <a:moveTo>
                      <a:pt x="0" y="87"/>
                    </a:moveTo>
                    <a:lnTo>
                      <a:pt x="0" y="906"/>
                    </a:lnTo>
                    <a:lnTo>
                      <a:pt x="69" y="972"/>
                    </a:lnTo>
                    <a:lnTo>
                      <a:pt x="69" y="0"/>
                    </a:lnTo>
                    <a:lnTo>
                      <a:pt x="0" y="87"/>
                    </a:lnTo>
                    <a:close/>
                  </a:path>
                </a:pathLst>
              </a:custGeom>
              <a:gradFill rotWithShape="1">
                <a:gsLst>
                  <a:gs pos="0">
                    <a:srgbClr val="969696"/>
                  </a:gs>
                  <a:gs pos="100000">
                    <a:srgbClr val="5F5F5F"/>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45" name="Freeform 14"/>
              <p:cNvSpPr/>
              <p:nvPr/>
            </p:nvSpPr>
            <p:spPr bwMode="auto">
              <a:xfrm flipH="1">
                <a:off x="7288213" y="2720975"/>
                <a:ext cx="1119188" cy="1392237"/>
              </a:xfrm>
              <a:custGeom>
                <a:avLst/>
                <a:gdLst>
                  <a:gd name="T0" fmla="*/ 0 w 1006"/>
                  <a:gd name="T1" fmla="*/ 0 h 1251"/>
                  <a:gd name="T2" fmla="*/ 0 w 1006"/>
                  <a:gd name="T3" fmla="*/ 1549419556 h 1251"/>
                  <a:gd name="T4" fmla="*/ 1245111113 w 1006"/>
                  <a:gd name="T5" fmla="*/ 1429280965 h 1251"/>
                  <a:gd name="T6" fmla="*/ 1245111113 w 1006"/>
                  <a:gd name="T7" fmla="*/ 100322306 h 1251"/>
                  <a:gd name="T8" fmla="*/ 0 w 1006"/>
                  <a:gd name="T9" fmla="*/ 0 h 1251"/>
                  <a:gd name="T10" fmla="*/ 0 60000 65536"/>
                  <a:gd name="T11" fmla="*/ 0 60000 65536"/>
                  <a:gd name="T12" fmla="*/ 0 60000 65536"/>
                  <a:gd name="T13" fmla="*/ 0 60000 65536"/>
                  <a:gd name="T14" fmla="*/ 0 60000 65536"/>
                  <a:gd name="T15" fmla="*/ 0 w 1006"/>
                  <a:gd name="T16" fmla="*/ 0 h 1251"/>
                  <a:gd name="T17" fmla="*/ 1006 w 1006"/>
                  <a:gd name="T18" fmla="*/ 1251 h 1251"/>
                </a:gdLst>
                <a:ahLst/>
                <a:cxnLst>
                  <a:cxn ang="T10">
                    <a:pos x="T0" y="T1"/>
                  </a:cxn>
                  <a:cxn ang="T11">
                    <a:pos x="T2" y="T3"/>
                  </a:cxn>
                  <a:cxn ang="T12">
                    <a:pos x="T4" y="T5"/>
                  </a:cxn>
                  <a:cxn ang="T13">
                    <a:pos x="T6" y="T7"/>
                  </a:cxn>
                  <a:cxn ang="T14">
                    <a:pos x="T8" y="T9"/>
                  </a:cxn>
                </a:cxnLst>
                <a:rect l="T15" t="T16" r="T17" b="T18"/>
                <a:pathLst>
                  <a:path w="1006" h="1251">
                    <a:moveTo>
                      <a:pt x="0" y="0"/>
                    </a:moveTo>
                    <a:lnTo>
                      <a:pt x="0" y="1251"/>
                    </a:lnTo>
                    <a:lnTo>
                      <a:pt x="1006" y="1154"/>
                    </a:lnTo>
                    <a:lnTo>
                      <a:pt x="1006" y="81"/>
                    </a:lnTo>
                    <a:lnTo>
                      <a:pt x="0" y="0"/>
                    </a:lnTo>
                    <a:close/>
                  </a:path>
                </a:pathLst>
              </a:custGeom>
              <a:gradFill rotWithShape="1">
                <a:gsLst>
                  <a:gs pos="0">
                    <a:srgbClr val="C0C0C0"/>
                  </a:gs>
                  <a:gs pos="100000">
                    <a:srgbClr val="F8F8F8"/>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46" name="Freeform 15"/>
              <p:cNvSpPr/>
              <p:nvPr/>
            </p:nvSpPr>
            <p:spPr bwMode="auto">
              <a:xfrm flipH="1">
                <a:off x="8407401" y="2720975"/>
                <a:ext cx="377825" cy="1392237"/>
              </a:xfrm>
              <a:custGeom>
                <a:avLst/>
                <a:gdLst>
                  <a:gd name="T0" fmla="*/ 0 w 339"/>
                  <a:gd name="T1" fmla="*/ 136240017 h 1251"/>
                  <a:gd name="T2" fmla="*/ 0 w 339"/>
                  <a:gd name="T3" fmla="*/ 1337628145 h 1251"/>
                  <a:gd name="T4" fmla="*/ 421096551 w 339"/>
                  <a:gd name="T5" fmla="*/ 1549419556 h 1251"/>
                  <a:gd name="T6" fmla="*/ 421096551 w 339"/>
                  <a:gd name="T7" fmla="*/ 0 h 1251"/>
                  <a:gd name="T8" fmla="*/ 0 w 339"/>
                  <a:gd name="T9" fmla="*/ 136240017 h 1251"/>
                  <a:gd name="T10" fmla="*/ 0 60000 65536"/>
                  <a:gd name="T11" fmla="*/ 0 60000 65536"/>
                  <a:gd name="T12" fmla="*/ 0 60000 65536"/>
                  <a:gd name="T13" fmla="*/ 0 60000 65536"/>
                  <a:gd name="T14" fmla="*/ 0 60000 65536"/>
                  <a:gd name="T15" fmla="*/ 0 w 339"/>
                  <a:gd name="T16" fmla="*/ 0 h 1251"/>
                  <a:gd name="T17" fmla="*/ 339 w 339"/>
                  <a:gd name="T18" fmla="*/ 1251 h 1251"/>
                </a:gdLst>
                <a:ahLst/>
                <a:cxnLst>
                  <a:cxn ang="T10">
                    <a:pos x="T0" y="T1"/>
                  </a:cxn>
                  <a:cxn ang="T11">
                    <a:pos x="T2" y="T3"/>
                  </a:cxn>
                  <a:cxn ang="T12">
                    <a:pos x="T4" y="T5"/>
                  </a:cxn>
                  <a:cxn ang="T13">
                    <a:pos x="T6" y="T7"/>
                  </a:cxn>
                  <a:cxn ang="T14">
                    <a:pos x="T8" y="T9"/>
                  </a:cxn>
                </a:cxnLst>
                <a:rect l="T15" t="T16" r="T17" b="T18"/>
                <a:pathLst>
                  <a:path w="339" h="1251">
                    <a:moveTo>
                      <a:pt x="0" y="110"/>
                    </a:moveTo>
                    <a:lnTo>
                      <a:pt x="0" y="1080"/>
                    </a:lnTo>
                    <a:lnTo>
                      <a:pt x="339" y="1251"/>
                    </a:lnTo>
                    <a:lnTo>
                      <a:pt x="339" y="0"/>
                    </a:lnTo>
                    <a:lnTo>
                      <a:pt x="0" y="110"/>
                    </a:lnTo>
                    <a:close/>
                  </a:path>
                </a:pathLst>
              </a:custGeom>
              <a:gradFill rotWithShape="1">
                <a:gsLst>
                  <a:gs pos="0">
                    <a:srgbClr val="969696"/>
                  </a:gs>
                  <a:gs pos="100000">
                    <a:srgbClr val="5F5F5F"/>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47" name="Freeform 16"/>
              <p:cNvSpPr/>
              <p:nvPr/>
            </p:nvSpPr>
            <p:spPr bwMode="auto">
              <a:xfrm flipH="1">
                <a:off x="5926138" y="2803525"/>
                <a:ext cx="1082675" cy="1189037"/>
              </a:xfrm>
              <a:custGeom>
                <a:avLst/>
                <a:gdLst>
                  <a:gd name="T0" fmla="*/ 0 w 973"/>
                  <a:gd name="T1" fmla="*/ 0 h 1069"/>
                  <a:gd name="T2" fmla="*/ 0 w 973"/>
                  <a:gd name="T3" fmla="*/ 1322552841 h 1069"/>
                  <a:gd name="T4" fmla="*/ 1204712390 w 973"/>
                  <a:gd name="T5" fmla="*/ 1300283702 h 1069"/>
                  <a:gd name="T6" fmla="*/ 1204712390 w 973"/>
                  <a:gd name="T7" fmla="*/ 44538278 h 1069"/>
                  <a:gd name="T8" fmla="*/ 0 w 973"/>
                  <a:gd name="T9" fmla="*/ 0 h 1069"/>
                  <a:gd name="T10" fmla="*/ 0 60000 65536"/>
                  <a:gd name="T11" fmla="*/ 0 60000 65536"/>
                  <a:gd name="T12" fmla="*/ 0 60000 65536"/>
                  <a:gd name="T13" fmla="*/ 0 60000 65536"/>
                  <a:gd name="T14" fmla="*/ 0 60000 65536"/>
                  <a:gd name="T15" fmla="*/ 0 w 973"/>
                  <a:gd name="T16" fmla="*/ 0 h 1069"/>
                  <a:gd name="T17" fmla="*/ 973 w 973"/>
                  <a:gd name="T18" fmla="*/ 1069 h 1069"/>
                </a:gdLst>
                <a:ahLst/>
                <a:cxnLst>
                  <a:cxn ang="T10">
                    <a:pos x="T0" y="T1"/>
                  </a:cxn>
                  <a:cxn ang="T11">
                    <a:pos x="T2" y="T3"/>
                  </a:cxn>
                  <a:cxn ang="T12">
                    <a:pos x="T4" y="T5"/>
                  </a:cxn>
                  <a:cxn ang="T13">
                    <a:pos x="T6" y="T7"/>
                  </a:cxn>
                  <a:cxn ang="T14">
                    <a:pos x="T8" y="T9"/>
                  </a:cxn>
                </a:cxnLst>
                <a:rect l="T15" t="T16" r="T17" b="T18"/>
                <a:pathLst>
                  <a:path w="973" h="1069">
                    <a:moveTo>
                      <a:pt x="0" y="0"/>
                    </a:moveTo>
                    <a:lnTo>
                      <a:pt x="0" y="1069"/>
                    </a:lnTo>
                    <a:lnTo>
                      <a:pt x="973" y="1051"/>
                    </a:lnTo>
                    <a:lnTo>
                      <a:pt x="973" y="36"/>
                    </a:lnTo>
                    <a:lnTo>
                      <a:pt x="0" y="0"/>
                    </a:lnTo>
                    <a:close/>
                  </a:path>
                </a:pathLst>
              </a:custGeom>
              <a:gradFill rotWithShape="1">
                <a:gsLst>
                  <a:gs pos="0">
                    <a:srgbClr val="C0C0C0"/>
                  </a:gs>
                  <a:gs pos="100000">
                    <a:srgbClr val="F8F8F8"/>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53" name="Freeform 17"/>
              <p:cNvSpPr/>
              <p:nvPr/>
            </p:nvSpPr>
            <p:spPr bwMode="auto">
              <a:xfrm flipH="1">
                <a:off x="7008813" y="2803525"/>
                <a:ext cx="219075" cy="1189037"/>
              </a:xfrm>
              <a:custGeom>
                <a:avLst/>
                <a:gdLst>
                  <a:gd name="T0" fmla="*/ 0 w 197"/>
                  <a:gd name="T1" fmla="*/ 152174490 h 1069"/>
                  <a:gd name="T2" fmla="*/ 0 w 197"/>
                  <a:gd name="T3" fmla="*/ 1171616329 h 1069"/>
                  <a:gd name="T4" fmla="*/ 243623633 w 197"/>
                  <a:gd name="T5" fmla="*/ 1322552841 h 1069"/>
                  <a:gd name="T6" fmla="*/ 243623633 w 197"/>
                  <a:gd name="T7" fmla="*/ 0 h 1069"/>
                  <a:gd name="T8" fmla="*/ 0 w 197"/>
                  <a:gd name="T9" fmla="*/ 152174490 h 1069"/>
                  <a:gd name="T10" fmla="*/ 0 60000 65536"/>
                  <a:gd name="T11" fmla="*/ 0 60000 65536"/>
                  <a:gd name="T12" fmla="*/ 0 60000 65536"/>
                  <a:gd name="T13" fmla="*/ 0 60000 65536"/>
                  <a:gd name="T14" fmla="*/ 0 60000 65536"/>
                  <a:gd name="T15" fmla="*/ 0 w 197"/>
                  <a:gd name="T16" fmla="*/ 0 h 1069"/>
                  <a:gd name="T17" fmla="*/ 197 w 197"/>
                  <a:gd name="T18" fmla="*/ 1069 h 1069"/>
                </a:gdLst>
                <a:ahLst/>
                <a:cxnLst>
                  <a:cxn ang="T10">
                    <a:pos x="T0" y="T1"/>
                  </a:cxn>
                  <a:cxn ang="T11">
                    <a:pos x="T2" y="T3"/>
                  </a:cxn>
                  <a:cxn ang="T12">
                    <a:pos x="T4" y="T5"/>
                  </a:cxn>
                  <a:cxn ang="T13">
                    <a:pos x="T6" y="T7"/>
                  </a:cxn>
                  <a:cxn ang="T14">
                    <a:pos x="T8" y="T9"/>
                  </a:cxn>
                </a:cxnLst>
                <a:rect l="T15" t="T16" r="T17" b="T18"/>
                <a:pathLst>
                  <a:path w="197" h="1069">
                    <a:moveTo>
                      <a:pt x="0" y="123"/>
                    </a:moveTo>
                    <a:lnTo>
                      <a:pt x="0" y="947"/>
                    </a:lnTo>
                    <a:lnTo>
                      <a:pt x="197" y="1069"/>
                    </a:lnTo>
                    <a:lnTo>
                      <a:pt x="197" y="0"/>
                    </a:lnTo>
                    <a:lnTo>
                      <a:pt x="0" y="123"/>
                    </a:lnTo>
                    <a:close/>
                  </a:path>
                </a:pathLst>
              </a:custGeom>
              <a:gradFill rotWithShape="1">
                <a:gsLst>
                  <a:gs pos="0">
                    <a:srgbClr val="969696"/>
                  </a:gs>
                  <a:gs pos="100000">
                    <a:srgbClr val="5F5F5F"/>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54" name="Freeform 18"/>
              <p:cNvSpPr/>
              <p:nvPr/>
            </p:nvSpPr>
            <p:spPr bwMode="auto">
              <a:xfrm flipH="1">
                <a:off x="4706938" y="2857500"/>
                <a:ext cx="1016000" cy="1081087"/>
              </a:xfrm>
              <a:custGeom>
                <a:avLst/>
                <a:gdLst>
                  <a:gd name="T0" fmla="*/ 1130619934 w 913"/>
                  <a:gd name="T1" fmla="*/ 1185098247 h 972"/>
                  <a:gd name="T2" fmla="*/ 0 w 913"/>
                  <a:gd name="T3" fmla="*/ 1202416771 h 972"/>
                  <a:gd name="T4" fmla="*/ 0 w 913"/>
                  <a:gd name="T5" fmla="*/ 0 h 972"/>
                  <a:gd name="T6" fmla="*/ 1130619934 w 913"/>
                  <a:gd name="T7" fmla="*/ 7421907 h 972"/>
                  <a:gd name="T8" fmla="*/ 1130619934 w 913"/>
                  <a:gd name="T9" fmla="*/ 1185098247 h 972"/>
                  <a:gd name="T10" fmla="*/ 0 60000 65536"/>
                  <a:gd name="T11" fmla="*/ 0 60000 65536"/>
                  <a:gd name="T12" fmla="*/ 0 60000 65536"/>
                  <a:gd name="T13" fmla="*/ 0 60000 65536"/>
                  <a:gd name="T14" fmla="*/ 0 60000 65536"/>
                  <a:gd name="T15" fmla="*/ 0 w 913"/>
                  <a:gd name="T16" fmla="*/ 0 h 972"/>
                  <a:gd name="T17" fmla="*/ 913 w 913"/>
                  <a:gd name="T18" fmla="*/ 972 h 972"/>
                </a:gdLst>
                <a:ahLst/>
                <a:cxnLst>
                  <a:cxn ang="T10">
                    <a:pos x="T0" y="T1"/>
                  </a:cxn>
                  <a:cxn ang="T11">
                    <a:pos x="T2" y="T3"/>
                  </a:cxn>
                  <a:cxn ang="T12">
                    <a:pos x="T4" y="T5"/>
                  </a:cxn>
                  <a:cxn ang="T13">
                    <a:pos x="T6" y="T7"/>
                  </a:cxn>
                  <a:cxn ang="T14">
                    <a:pos x="T8" y="T9"/>
                  </a:cxn>
                </a:cxnLst>
                <a:rect l="T15" t="T16" r="T17" b="T18"/>
                <a:pathLst>
                  <a:path w="913" h="972">
                    <a:moveTo>
                      <a:pt x="913" y="958"/>
                    </a:moveTo>
                    <a:lnTo>
                      <a:pt x="0" y="972"/>
                    </a:lnTo>
                    <a:lnTo>
                      <a:pt x="0" y="0"/>
                    </a:lnTo>
                    <a:lnTo>
                      <a:pt x="913" y="6"/>
                    </a:lnTo>
                    <a:lnTo>
                      <a:pt x="913" y="958"/>
                    </a:lnTo>
                    <a:close/>
                  </a:path>
                </a:pathLst>
              </a:custGeom>
              <a:gradFill rotWithShape="1">
                <a:gsLst>
                  <a:gs pos="0">
                    <a:srgbClr val="C0C0C0"/>
                  </a:gs>
                  <a:gs pos="100000">
                    <a:srgbClr val="F8F8F8"/>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55" name="Freeform 19"/>
              <p:cNvSpPr/>
              <p:nvPr/>
            </p:nvSpPr>
            <p:spPr bwMode="auto">
              <a:xfrm flipH="1">
                <a:off x="5722938" y="2857500"/>
                <a:ext cx="76200" cy="1081087"/>
              </a:xfrm>
              <a:custGeom>
                <a:avLst/>
                <a:gdLst>
                  <a:gd name="T0" fmla="*/ 0 w 69"/>
                  <a:gd name="T1" fmla="*/ 107623768 h 972"/>
                  <a:gd name="T2" fmla="*/ 0 w 69"/>
                  <a:gd name="T3" fmla="*/ 1120771346 h 972"/>
                  <a:gd name="T4" fmla="*/ 84151304 w 69"/>
                  <a:gd name="T5" fmla="*/ 1202416771 h 972"/>
                  <a:gd name="T6" fmla="*/ 84151304 w 69"/>
                  <a:gd name="T7" fmla="*/ 0 h 972"/>
                  <a:gd name="T8" fmla="*/ 0 w 69"/>
                  <a:gd name="T9" fmla="*/ 107623768 h 972"/>
                  <a:gd name="T10" fmla="*/ 0 60000 65536"/>
                  <a:gd name="T11" fmla="*/ 0 60000 65536"/>
                  <a:gd name="T12" fmla="*/ 0 60000 65536"/>
                  <a:gd name="T13" fmla="*/ 0 60000 65536"/>
                  <a:gd name="T14" fmla="*/ 0 60000 65536"/>
                  <a:gd name="T15" fmla="*/ 0 w 69"/>
                  <a:gd name="T16" fmla="*/ 0 h 972"/>
                  <a:gd name="T17" fmla="*/ 69 w 69"/>
                  <a:gd name="T18" fmla="*/ 972 h 972"/>
                </a:gdLst>
                <a:ahLst/>
                <a:cxnLst>
                  <a:cxn ang="T10">
                    <a:pos x="T0" y="T1"/>
                  </a:cxn>
                  <a:cxn ang="T11">
                    <a:pos x="T2" y="T3"/>
                  </a:cxn>
                  <a:cxn ang="T12">
                    <a:pos x="T4" y="T5"/>
                  </a:cxn>
                  <a:cxn ang="T13">
                    <a:pos x="T6" y="T7"/>
                  </a:cxn>
                  <a:cxn ang="T14">
                    <a:pos x="T8" y="T9"/>
                  </a:cxn>
                </a:cxnLst>
                <a:rect l="T15" t="T16" r="T17" b="T18"/>
                <a:pathLst>
                  <a:path w="69" h="972">
                    <a:moveTo>
                      <a:pt x="0" y="87"/>
                    </a:moveTo>
                    <a:lnTo>
                      <a:pt x="0" y="906"/>
                    </a:lnTo>
                    <a:lnTo>
                      <a:pt x="69" y="972"/>
                    </a:lnTo>
                    <a:lnTo>
                      <a:pt x="69" y="0"/>
                    </a:lnTo>
                    <a:lnTo>
                      <a:pt x="0" y="87"/>
                    </a:lnTo>
                    <a:close/>
                  </a:path>
                </a:pathLst>
              </a:custGeom>
              <a:gradFill rotWithShape="1">
                <a:gsLst>
                  <a:gs pos="0">
                    <a:srgbClr val="969696"/>
                  </a:gs>
                  <a:gs pos="100000">
                    <a:srgbClr val="5F5F5F"/>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56" name="Rectangle 22"/>
              <p:cNvSpPr>
                <a:spLocks noChangeArrowheads="1"/>
              </p:cNvSpPr>
              <p:nvPr/>
            </p:nvSpPr>
            <p:spPr bwMode="auto">
              <a:xfrm>
                <a:off x="3547484" y="1680748"/>
                <a:ext cx="1905000" cy="1006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lnSpc>
                    <a:spcPct val="120000"/>
                  </a:lnSpc>
                  <a:defRPr/>
                </a:pPr>
                <a:r>
                  <a:rPr lang="zh-CN" altLang="en-US" sz="1600" kern="0" dirty="0">
                    <a:solidFill>
                      <a:schemeClr val="tx1">
                        <a:lumMod val="65000"/>
                        <a:lumOff val="35000"/>
                      </a:schemeClr>
                    </a:solidFill>
                    <a:latin typeface="微软雅黑" panose="020B0503020204020204" charset="-122"/>
                    <a:ea typeface="微软雅黑" panose="020B0503020204020204" charset="-122"/>
                  </a:rPr>
                  <a:t>       学习和记忆命令的难度，忘记了命令怎么办。</a:t>
                </a:r>
              </a:p>
            </p:txBody>
          </p:sp>
          <p:sp>
            <p:nvSpPr>
              <p:cNvPr id="57" name="Line 23"/>
              <p:cNvSpPr>
                <a:spLocks noChangeShapeType="1"/>
              </p:cNvSpPr>
              <p:nvPr/>
            </p:nvSpPr>
            <p:spPr bwMode="auto">
              <a:xfrm flipV="1">
                <a:off x="3548063" y="1627187"/>
                <a:ext cx="0" cy="1193800"/>
              </a:xfrm>
              <a:prstGeom prst="line">
                <a:avLst/>
              </a:prstGeom>
              <a:gradFill>
                <a:gsLst>
                  <a:gs pos="0">
                    <a:srgbClr val="2676FF">
                      <a:lumMod val="40000"/>
                      <a:lumOff val="60000"/>
                    </a:srgbClr>
                  </a:gs>
                  <a:gs pos="50000">
                    <a:srgbClr val="2676FF"/>
                  </a:gs>
                  <a:gs pos="100000">
                    <a:srgbClr val="2676FF">
                      <a:lumMod val="75000"/>
                    </a:srgbClr>
                  </a:gs>
                </a:gsLst>
                <a:lin ang="5400000" scaled="0"/>
              </a:gradFill>
              <a:ln w="9525" cap="rnd">
                <a:solidFill>
                  <a:sysClr val="window" lastClr="FFFFFF">
                    <a:lumMod val="65000"/>
                  </a:sysClr>
                </a:solidFill>
                <a:prstDash val="solid"/>
                <a:round/>
                <a:headEnd type="none" w="med" len="med"/>
                <a:tailEnd type="triangle" w="med" len="med"/>
              </a:ln>
            </p:spPr>
            <p:txBody>
              <a:bodyPr anchor="ctr"/>
              <a:lstStyle/>
              <a:p>
                <a:pPr algn="ctr" fontAlgn="base">
                  <a:spcBef>
                    <a:spcPct val="0"/>
                  </a:spcBef>
                  <a:spcAft>
                    <a:spcPct val="0"/>
                  </a:spcAft>
                  <a:defRPr/>
                </a:pPr>
                <a:endParaRPr lang="zh-CN" altLang="en-US" sz="2000" kern="0">
                  <a:solidFill>
                    <a:schemeClr val="tx1">
                      <a:lumMod val="65000"/>
                      <a:lumOff val="35000"/>
                    </a:schemeClr>
                  </a:solidFill>
                  <a:latin typeface="微软雅黑" panose="020B0503020204020204" charset="-122"/>
                  <a:ea typeface="微软雅黑" panose="020B0503020204020204" charset="-122"/>
                </a:endParaRPr>
              </a:p>
            </p:txBody>
          </p:sp>
          <p:sp>
            <p:nvSpPr>
              <p:cNvPr id="58" name="Rectangle 24"/>
              <p:cNvSpPr>
                <a:spLocks noChangeArrowheads="1"/>
              </p:cNvSpPr>
              <p:nvPr/>
            </p:nvSpPr>
            <p:spPr bwMode="auto">
              <a:xfrm>
                <a:off x="5941834" y="1627223"/>
                <a:ext cx="4129937" cy="1006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20000"/>
                  </a:lnSpc>
                  <a:defRPr/>
                </a:pPr>
                <a:r>
                  <a:rPr lang="zh-CN" altLang="en-US" sz="1600" kern="0" dirty="0">
                    <a:solidFill>
                      <a:schemeClr val="accent5">
                        <a:lumMod val="50000"/>
                      </a:schemeClr>
                    </a:solidFill>
                    <a:latin typeface="微软雅黑" panose="020B0503020204020204" charset="-122"/>
                    <a:ea typeface="微软雅黑" panose="020B0503020204020204" charset="-122"/>
                  </a:rPr>
                  <a:t>       命令宏：代表一个常用的命令序列。只需输入命令宏的名字就可以顺序执行它所代表的全部命令。</a:t>
                </a:r>
              </a:p>
            </p:txBody>
          </p:sp>
          <p:sp>
            <p:nvSpPr>
              <p:cNvPr id="59" name="Line 25"/>
              <p:cNvSpPr>
                <a:spLocks noChangeShapeType="1"/>
              </p:cNvSpPr>
              <p:nvPr/>
            </p:nvSpPr>
            <p:spPr bwMode="auto">
              <a:xfrm flipV="1">
                <a:off x="5942013" y="1625600"/>
                <a:ext cx="0" cy="1193800"/>
              </a:xfrm>
              <a:prstGeom prst="line">
                <a:avLst/>
              </a:prstGeom>
              <a:gradFill>
                <a:gsLst>
                  <a:gs pos="0">
                    <a:srgbClr val="2676FF">
                      <a:lumMod val="40000"/>
                      <a:lumOff val="60000"/>
                    </a:srgbClr>
                  </a:gs>
                  <a:gs pos="50000">
                    <a:srgbClr val="2676FF"/>
                  </a:gs>
                  <a:gs pos="100000">
                    <a:srgbClr val="2676FF">
                      <a:lumMod val="75000"/>
                    </a:srgbClr>
                  </a:gs>
                </a:gsLst>
                <a:lin ang="5400000" scaled="0"/>
              </a:gradFill>
              <a:ln w="9525" cap="rnd">
                <a:solidFill>
                  <a:sysClr val="window" lastClr="FFFFFF">
                    <a:lumMod val="65000"/>
                  </a:sysClr>
                </a:solidFill>
                <a:prstDash val="solid"/>
                <a:round/>
                <a:headEnd type="none" w="med" len="med"/>
                <a:tailEnd type="triangle" w="med" len="med"/>
              </a:ln>
            </p:spPr>
            <p:txBody>
              <a:bodyPr anchor="ctr"/>
              <a:lstStyle/>
              <a:p>
                <a:pPr algn="ctr" fontAlgn="base">
                  <a:spcBef>
                    <a:spcPct val="0"/>
                  </a:spcBef>
                  <a:spcAft>
                    <a:spcPct val="0"/>
                  </a:spcAft>
                  <a:defRPr/>
                </a:pPr>
                <a:endParaRPr lang="zh-CN" altLang="en-US" sz="2000" kern="0">
                  <a:solidFill>
                    <a:schemeClr val="tx1">
                      <a:lumMod val="65000"/>
                      <a:lumOff val="35000"/>
                    </a:schemeClr>
                  </a:solidFill>
                  <a:latin typeface="微软雅黑" panose="020B0503020204020204" charset="-122"/>
                  <a:ea typeface="微软雅黑" panose="020B0503020204020204" charset="-122"/>
                </a:endParaRPr>
              </a:p>
            </p:txBody>
          </p:sp>
          <p:sp>
            <p:nvSpPr>
              <p:cNvPr id="60" name="Rectangle 26"/>
              <p:cNvSpPr>
                <a:spLocks noChangeArrowheads="1"/>
              </p:cNvSpPr>
              <p:nvPr/>
            </p:nvSpPr>
            <p:spPr bwMode="auto">
              <a:xfrm>
                <a:off x="2270127" y="4734639"/>
                <a:ext cx="2325741" cy="1006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20000"/>
                  </a:lnSpc>
                  <a:defRPr/>
                </a:pPr>
                <a:r>
                  <a:rPr lang="zh-CN" altLang="en-US" sz="1600" kern="0" dirty="0">
                    <a:solidFill>
                      <a:schemeClr val="accent5">
                        <a:lumMod val="50000"/>
                      </a:schemeClr>
                    </a:solidFill>
                    <a:latin typeface="微软雅黑" panose="020B0503020204020204" charset="-122"/>
                    <a:ea typeface="微软雅黑" panose="020B0503020204020204" charset="-122"/>
                  </a:rPr>
                  <a:t>       命令形式：控制序列（例如，Ctrl＋P）、功能键、键入命令。</a:t>
                </a:r>
              </a:p>
            </p:txBody>
          </p:sp>
          <p:sp>
            <p:nvSpPr>
              <p:cNvPr id="61" name="Line 27"/>
              <p:cNvSpPr>
                <a:spLocks noChangeShapeType="1"/>
              </p:cNvSpPr>
              <p:nvPr/>
            </p:nvSpPr>
            <p:spPr bwMode="auto">
              <a:xfrm flipV="1">
                <a:off x="2290763" y="4000500"/>
                <a:ext cx="0" cy="1238250"/>
              </a:xfrm>
              <a:prstGeom prst="line">
                <a:avLst/>
              </a:prstGeom>
              <a:gradFill>
                <a:gsLst>
                  <a:gs pos="0">
                    <a:srgbClr val="2676FF">
                      <a:lumMod val="40000"/>
                      <a:lumOff val="60000"/>
                    </a:srgbClr>
                  </a:gs>
                  <a:gs pos="50000">
                    <a:srgbClr val="2676FF"/>
                  </a:gs>
                  <a:gs pos="100000">
                    <a:srgbClr val="2676FF">
                      <a:lumMod val="75000"/>
                    </a:srgbClr>
                  </a:gs>
                </a:gsLst>
                <a:lin ang="5400000" scaled="0"/>
              </a:gradFill>
              <a:ln w="9525" cap="rnd">
                <a:solidFill>
                  <a:sysClr val="window" lastClr="FFFFFF">
                    <a:lumMod val="65000"/>
                  </a:sysClr>
                </a:solidFill>
                <a:prstDash val="solid"/>
                <a:round/>
                <a:headEnd type="none" w="med" len="med"/>
                <a:tailEnd type="triangle" w="med" len="med"/>
              </a:ln>
            </p:spPr>
            <p:txBody>
              <a:bodyPr anchor="ctr"/>
              <a:lstStyle/>
              <a:p>
                <a:pPr algn="ctr" fontAlgn="base">
                  <a:spcBef>
                    <a:spcPct val="0"/>
                  </a:spcBef>
                  <a:spcAft>
                    <a:spcPct val="0"/>
                  </a:spcAft>
                  <a:defRPr/>
                </a:pPr>
                <a:endParaRPr lang="zh-CN" altLang="en-US" sz="2000" kern="0">
                  <a:solidFill>
                    <a:schemeClr val="tx1">
                      <a:lumMod val="65000"/>
                      <a:lumOff val="35000"/>
                    </a:schemeClr>
                  </a:solidFill>
                  <a:latin typeface="微软雅黑" panose="020B0503020204020204" charset="-122"/>
                  <a:ea typeface="微软雅黑" panose="020B0503020204020204" charset="-122"/>
                </a:endParaRPr>
              </a:p>
            </p:txBody>
          </p:sp>
          <p:sp>
            <p:nvSpPr>
              <p:cNvPr id="62" name="Rectangle 28"/>
              <p:cNvSpPr>
                <a:spLocks noChangeArrowheads="1"/>
              </p:cNvSpPr>
              <p:nvPr/>
            </p:nvSpPr>
            <p:spPr bwMode="auto">
              <a:xfrm>
                <a:off x="4727071" y="4734639"/>
                <a:ext cx="2054198" cy="702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20000"/>
                  </a:lnSpc>
                  <a:defRPr/>
                </a:pPr>
                <a:r>
                  <a:rPr lang="zh-CN" altLang="en-US" sz="1600" kern="0" dirty="0">
                    <a:solidFill>
                      <a:schemeClr val="tx1">
                        <a:lumMod val="65000"/>
                        <a:lumOff val="35000"/>
                      </a:schemeClr>
                    </a:solidFill>
                    <a:latin typeface="微软雅黑" panose="020B0503020204020204" charset="-122"/>
                    <a:ea typeface="微软雅黑" panose="020B0503020204020204" charset="-122"/>
                  </a:rPr>
                  <a:t>       用户是否可以定制或缩写命令。</a:t>
                </a:r>
              </a:p>
            </p:txBody>
          </p:sp>
          <p:sp>
            <p:nvSpPr>
              <p:cNvPr id="63" name="Line 29"/>
              <p:cNvSpPr>
                <a:spLocks noChangeShapeType="1"/>
              </p:cNvSpPr>
              <p:nvPr/>
            </p:nvSpPr>
            <p:spPr bwMode="auto">
              <a:xfrm flipV="1">
                <a:off x="4727576" y="3930650"/>
                <a:ext cx="0" cy="1338262"/>
              </a:xfrm>
              <a:prstGeom prst="line">
                <a:avLst/>
              </a:prstGeom>
              <a:gradFill>
                <a:gsLst>
                  <a:gs pos="0">
                    <a:srgbClr val="2676FF">
                      <a:lumMod val="40000"/>
                      <a:lumOff val="60000"/>
                    </a:srgbClr>
                  </a:gs>
                  <a:gs pos="50000">
                    <a:srgbClr val="2676FF"/>
                  </a:gs>
                  <a:gs pos="100000">
                    <a:srgbClr val="2676FF">
                      <a:lumMod val="75000"/>
                    </a:srgbClr>
                  </a:gs>
                </a:gsLst>
                <a:lin ang="5400000" scaled="0"/>
              </a:gradFill>
              <a:ln w="9525" cap="rnd">
                <a:solidFill>
                  <a:sysClr val="window" lastClr="FFFFFF">
                    <a:lumMod val="65000"/>
                  </a:sysClr>
                </a:solidFill>
                <a:prstDash val="solid"/>
                <a:round/>
                <a:headEnd type="none" w="med" len="med"/>
                <a:tailEnd type="triangle" w="med" len="med"/>
              </a:ln>
            </p:spPr>
            <p:txBody>
              <a:bodyPr anchor="ctr"/>
              <a:lstStyle/>
              <a:p>
                <a:pPr algn="ctr" fontAlgn="base">
                  <a:spcBef>
                    <a:spcPct val="0"/>
                  </a:spcBef>
                  <a:spcAft>
                    <a:spcPct val="0"/>
                  </a:spcAft>
                  <a:defRPr/>
                </a:pPr>
                <a:endParaRPr lang="zh-CN" altLang="en-US" sz="2000" kern="0">
                  <a:solidFill>
                    <a:schemeClr val="tx1">
                      <a:lumMod val="65000"/>
                      <a:lumOff val="35000"/>
                    </a:schemeClr>
                  </a:solidFill>
                  <a:latin typeface="微软雅黑" panose="020B0503020204020204" charset="-122"/>
                  <a:ea typeface="微软雅黑" panose="020B0503020204020204" charset="-122"/>
                </a:endParaRPr>
              </a:p>
            </p:txBody>
          </p:sp>
          <p:sp>
            <p:nvSpPr>
              <p:cNvPr id="64" name="Rectangle 30"/>
              <p:cNvSpPr>
                <a:spLocks noChangeArrowheads="1"/>
              </p:cNvSpPr>
              <p:nvPr/>
            </p:nvSpPr>
            <p:spPr bwMode="auto">
              <a:xfrm>
                <a:off x="7287801" y="4734639"/>
                <a:ext cx="2177568" cy="1006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20000"/>
                  </a:lnSpc>
                  <a:defRPr/>
                </a:pPr>
                <a:r>
                  <a:rPr lang="zh-CN" altLang="en-US" sz="1600" kern="0" dirty="0">
                    <a:solidFill>
                      <a:schemeClr val="tx1">
                        <a:lumMod val="65000"/>
                        <a:lumOff val="35000"/>
                      </a:schemeClr>
                    </a:solidFill>
                    <a:latin typeface="微软雅黑" panose="020B0503020204020204" charset="-122"/>
                    <a:ea typeface="微软雅黑" panose="020B0503020204020204" charset="-122"/>
                  </a:rPr>
                  <a:t>       所有应用软件都应有一致的命令使用方法。</a:t>
                </a:r>
              </a:p>
            </p:txBody>
          </p:sp>
          <p:sp>
            <p:nvSpPr>
              <p:cNvPr id="65" name="Line 31"/>
              <p:cNvSpPr>
                <a:spLocks noChangeShapeType="1"/>
              </p:cNvSpPr>
              <p:nvPr/>
            </p:nvSpPr>
            <p:spPr bwMode="auto">
              <a:xfrm flipV="1">
                <a:off x="7288213" y="4000651"/>
                <a:ext cx="0" cy="1227137"/>
              </a:xfrm>
              <a:prstGeom prst="line">
                <a:avLst/>
              </a:prstGeom>
              <a:gradFill>
                <a:gsLst>
                  <a:gs pos="0">
                    <a:srgbClr val="2676FF">
                      <a:lumMod val="40000"/>
                      <a:lumOff val="60000"/>
                    </a:srgbClr>
                  </a:gs>
                  <a:gs pos="50000">
                    <a:srgbClr val="2676FF"/>
                  </a:gs>
                  <a:gs pos="100000">
                    <a:srgbClr val="2676FF">
                      <a:lumMod val="75000"/>
                    </a:srgbClr>
                  </a:gs>
                </a:gsLst>
                <a:lin ang="5400000" scaled="0"/>
              </a:gradFill>
              <a:ln w="9525" cap="rnd">
                <a:solidFill>
                  <a:sysClr val="window" lastClr="FFFFFF">
                    <a:lumMod val="65000"/>
                  </a:sysClr>
                </a:solidFill>
                <a:prstDash val="solid"/>
                <a:round/>
                <a:headEnd type="none" w="med" len="med"/>
                <a:tailEnd type="triangle" w="med" len="med"/>
              </a:ln>
            </p:spPr>
            <p:txBody>
              <a:bodyPr anchor="ctr"/>
              <a:lstStyle/>
              <a:p>
                <a:pPr algn="ctr" fontAlgn="base">
                  <a:spcBef>
                    <a:spcPct val="0"/>
                  </a:spcBef>
                  <a:spcAft>
                    <a:spcPct val="0"/>
                  </a:spcAft>
                  <a:defRPr/>
                </a:pPr>
                <a:endParaRPr lang="zh-CN" altLang="en-US" sz="2000" kern="0">
                  <a:solidFill>
                    <a:schemeClr val="tx1">
                      <a:lumMod val="65000"/>
                      <a:lumOff val="35000"/>
                    </a:schemeClr>
                  </a:solidFill>
                  <a:latin typeface="微软雅黑" panose="020B0503020204020204" charset="-122"/>
                  <a:ea typeface="微软雅黑" panose="020B0503020204020204" charset="-122"/>
                </a:endParaRPr>
              </a:p>
            </p:txBody>
          </p:sp>
          <p:sp>
            <p:nvSpPr>
              <p:cNvPr id="66" name="WordArt 34"/>
              <p:cNvSpPr>
                <a:spLocks noChangeArrowheads="1" noChangeShapeType="1" noTextEdit="1"/>
              </p:cNvSpPr>
              <p:nvPr/>
            </p:nvSpPr>
            <p:spPr bwMode="auto">
              <a:xfrm>
                <a:off x="2362201" y="3616325"/>
                <a:ext cx="174625" cy="280987"/>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defRPr/>
                </a:pPr>
                <a:r>
                  <a:rPr lang="en-US" altLang="zh-CN" sz="3600" kern="10" dirty="0">
                    <a:solidFill>
                      <a:schemeClr val="tx1">
                        <a:lumMod val="65000"/>
                        <a:lumOff val="35000"/>
                      </a:schemeClr>
                    </a:solidFill>
                    <a:latin typeface="微软雅黑" panose="020B0503020204020204" charset="-122"/>
                    <a:ea typeface="微软雅黑" panose="020B0503020204020204" charset="-122"/>
                    <a:cs typeface="Arial" panose="020B0604020202020204"/>
                  </a:rPr>
                  <a:t>2</a:t>
                </a:r>
                <a:endParaRPr lang="zh-CN" altLang="en-US" sz="3600" kern="10" dirty="0">
                  <a:solidFill>
                    <a:schemeClr val="tx1">
                      <a:lumMod val="65000"/>
                      <a:lumOff val="35000"/>
                    </a:schemeClr>
                  </a:solidFill>
                  <a:latin typeface="微软雅黑" panose="020B0503020204020204" charset="-122"/>
                  <a:ea typeface="微软雅黑" panose="020B0503020204020204" charset="-122"/>
                  <a:cs typeface="Arial" panose="020B0604020202020204"/>
                </a:endParaRPr>
              </a:p>
            </p:txBody>
          </p:sp>
          <p:sp>
            <p:nvSpPr>
              <p:cNvPr id="67" name="WordArt 35"/>
              <p:cNvSpPr>
                <a:spLocks noChangeArrowheads="1" noChangeShapeType="1" noTextEdit="1"/>
              </p:cNvSpPr>
              <p:nvPr/>
            </p:nvSpPr>
            <p:spPr bwMode="auto">
              <a:xfrm>
                <a:off x="3649663" y="3609975"/>
                <a:ext cx="174625" cy="280987"/>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defRPr/>
                </a:pPr>
                <a:r>
                  <a:rPr lang="en-US" altLang="zh-CN" sz="3600" kern="10" dirty="0">
                    <a:solidFill>
                      <a:schemeClr val="tx1">
                        <a:lumMod val="65000"/>
                        <a:lumOff val="35000"/>
                      </a:schemeClr>
                    </a:solidFill>
                    <a:latin typeface="微软雅黑" panose="020B0503020204020204" charset="-122"/>
                    <a:ea typeface="微软雅黑" panose="020B0503020204020204" charset="-122"/>
                    <a:cs typeface="Arial" panose="020B0604020202020204"/>
                  </a:rPr>
                  <a:t>3</a:t>
                </a:r>
                <a:endParaRPr lang="zh-CN" altLang="en-US" sz="3600" kern="10" dirty="0">
                  <a:solidFill>
                    <a:schemeClr val="tx1">
                      <a:lumMod val="65000"/>
                      <a:lumOff val="35000"/>
                    </a:schemeClr>
                  </a:solidFill>
                  <a:latin typeface="微软雅黑" panose="020B0503020204020204" charset="-122"/>
                  <a:ea typeface="微软雅黑" panose="020B0503020204020204" charset="-122"/>
                  <a:cs typeface="Arial" panose="020B0604020202020204"/>
                </a:endParaRPr>
              </a:p>
            </p:txBody>
          </p:sp>
          <p:sp>
            <p:nvSpPr>
              <p:cNvPr id="68" name="WordArt 36"/>
              <p:cNvSpPr>
                <a:spLocks noChangeArrowheads="1" noChangeShapeType="1" noTextEdit="1"/>
              </p:cNvSpPr>
              <p:nvPr/>
            </p:nvSpPr>
            <p:spPr bwMode="auto">
              <a:xfrm>
                <a:off x="4786313" y="3609975"/>
                <a:ext cx="174625" cy="280987"/>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defRPr/>
                </a:pPr>
                <a:r>
                  <a:rPr lang="en-US" altLang="zh-CN" sz="3600" kern="10">
                    <a:solidFill>
                      <a:schemeClr val="tx1">
                        <a:lumMod val="65000"/>
                        <a:lumOff val="35000"/>
                      </a:schemeClr>
                    </a:solidFill>
                    <a:latin typeface="微软雅黑" panose="020B0503020204020204" charset="-122"/>
                    <a:ea typeface="微软雅黑" panose="020B0503020204020204" charset="-122"/>
                    <a:cs typeface="Arial" panose="020B0604020202020204"/>
                  </a:rPr>
                  <a:t>4</a:t>
                </a:r>
                <a:endParaRPr lang="zh-CN" altLang="en-US" sz="3600" kern="10">
                  <a:solidFill>
                    <a:schemeClr val="tx1">
                      <a:lumMod val="65000"/>
                      <a:lumOff val="35000"/>
                    </a:schemeClr>
                  </a:solidFill>
                  <a:latin typeface="微软雅黑" panose="020B0503020204020204" charset="-122"/>
                  <a:ea typeface="微软雅黑" panose="020B0503020204020204" charset="-122"/>
                  <a:cs typeface="Arial" panose="020B0604020202020204"/>
                </a:endParaRPr>
              </a:p>
            </p:txBody>
          </p:sp>
          <p:sp>
            <p:nvSpPr>
              <p:cNvPr id="69" name="WordArt 37"/>
              <p:cNvSpPr>
                <a:spLocks noChangeArrowheads="1" noChangeShapeType="1" noTextEdit="1"/>
              </p:cNvSpPr>
              <p:nvPr/>
            </p:nvSpPr>
            <p:spPr bwMode="auto">
              <a:xfrm>
                <a:off x="6015038" y="3616325"/>
                <a:ext cx="174625" cy="280987"/>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defRPr/>
                </a:pPr>
                <a:r>
                  <a:rPr lang="en-US" altLang="zh-CN" sz="3600" kern="10">
                    <a:solidFill>
                      <a:schemeClr val="tx1">
                        <a:lumMod val="65000"/>
                        <a:lumOff val="35000"/>
                      </a:schemeClr>
                    </a:solidFill>
                    <a:latin typeface="微软雅黑" panose="020B0503020204020204" charset="-122"/>
                    <a:ea typeface="微软雅黑" panose="020B0503020204020204" charset="-122"/>
                    <a:cs typeface="Arial" panose="020B0604020202020204"/>
                  </a:rPr>
                  <a:t>5</a:t>
                </a:r>
                <a:endParaRPr lang="zh-CN" altLang="en-US" sz="3600" kern="10">
                  <a:solidFill>
                    <a:schemeClr val="tx1">
                      <a:lumMod val="65000"/>
                      <a:lumOff val="35000"/>
                    </a:schemeClr>
                  </a:solidFill>
                  <a:latin typeface="微软雅黑" panose="020B0503020204020204" charset="-122"/>
                  <a:ea typeface="微软雅黑" panose="020B0503020204020204" charset="-122"/>
                  <a:cs typeface="Arial" panose="020B0604020202020204"/>
                </a:endParaRPr>
              </a:p>
            </p:txBody>
          </p:sp>
          <p:sp>
            <p:nvSpPr>
              <p:cNvPr id="70" name="WordArt 38"/>
              <p:cNvSpPr>
                <a:spLocks noChangeArrowheads="1" noChangeShapeType="1" noTextEdit="1"/>
              </p:cNvSpPr>
              <p:nvPr/>
            </p:nvSpPr>
            <p:spPr bwMode="auto">
              <a:xfrm>
                <a:off x="7383463" y="3681412"/>
                <a:ext cx="182563" cy="280988"/>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defRPr/>
                </a:pPr>
                <a:r>
                  <a:rPr lang="en-US" altLang="zh-CN" sz="3600" kern="10">
                    <a:solidFill>
                      <a:schemeClr val="tx1">
                        <a:lumMod val="65000"/>
                        <a:lumOff val="35000"/>
                      </a:schemeClr>
                    </a:solidFill>
                    <a:latin typeface="微软雅黑" panose="020B0503020204020204" charset="-122"/>
                    <a:ea typeface="微软雅黑" panose="020B0503020204020204" charset="-122"/>
                    <a:cs typeface="Arial" panose="020B0604020202020204"/>
                  </a:rPr>
                  <a:t>6</a:t>
                </a:r>
                <a:endParaRPr lang="zh-CN" altLang="en-US" sz="3600" kern="10">
                  <a:solidFill>
                    <a:schemeClr val="tx1">
                      <a:lumMod val="65000"/>
                      <a:lumOff val="35000"/>
                    </a:schemeClr>
                  </a:solidFill>
                  <a:latin typeface="微软雅黑" panose="020B0503020204020204" charset="-122"/>
                  <a:ea typeface="微软雅黑" panose="020B0503020204020204" charset="-122"/>
                  <a:cs typeface="Arial" panose="020B0604020202020204"/>
                </a:endParaRPr>
              </a:p>
            </p:txBody>
          </p:sp>
          <p:sp>
            <p:nvSpPr>
              <p:cNvPr id="71" name="Freeform 6"/>
              <p:cNvSpPr/>
              <p:nvPr/>
            </p:nvSpPr>
            <p:spPr bwMode="auto">
              <a:xfrm>
                <a:off x="1417638" y="3613150"/>
                <a:ext cx="838200" cy="363537"/>
              </a:xfrm>
              <a:custGeom>
                <a:avLst/>
                <a:gdLst>
                  <a:gd name="T0" fmla="*/ 301406795 w 2331"/>
                  <a:gd name="T1" fmla="*/ 192091788 h 688"/>
                  <a:gd name="T2" fmla="*/ 13447518 w 2331"/>
                  <a:gd name="T3" fmla="*/ 38530166 h 688"/>
                  <a:gd name="T4" fmla="*/ 269727438 w 2331"/>
                  <a:gd name="T5" fmla="*/ 0 h 688"/>
                  <a:gd name="T6" fmla="*/ 301406795 w 2331"/>
                  <a:gd name="T7" fmla="*/ 192091788 h 688"/>
                  <a:gd name="T8" fmla="*/ 0 60000 65536"/>
                  <a:gd name="T9" fmla="*/ 0 60000 65536"/>
                  <a:gd name="T10" fmla="*/ 0 60000 65536"/>
                  <a:gd name="T11" fmla="*/ 0 60000 65536"/>
                  <a:gd name="T12" fmla="*/ 0 w 2331"/>
                  <a:gd name="T13" fmla="*/ 0 h 688"/>
                  <a:gd name="T14" fmla="*/ 2331 w 2331"/>
                  <a:gd name="T15" fmla="*/ 688 h 688"/>
                </a:gdLst>
                <a:ahLst/>
                <a:cxnLst>
                  <a:cxn ang="T8">
                    <a:pos x="T0" y="T1"/>
                  </a:cxn>
                  <a:cxn ang="T9">
                    <a:pos x="T2" y="T3"/>
                  </a:cxn>
                  <a:cxn ang="T10">
                    <a:pos x="T4" y="T5"/>
                  </a:cxn>
                  <a:cxn ang="T11">
                    <a:pos x="T6" y="T7"/>
                  </a:cxn>
                </a:cxnLst>
                <a:rect l="T12" t="T13" r="T14" b="T15"/>
                <a:pathLst>
                  <a:path w="2331" h="688">
                    <a:moveTo>
                      <a:pt x="2331" y="688"/>
                    </a:moveTo>
                    <a:cubicBezTo>
                      <a:pt x="2331" y="688"/>
                      <a:pt x="208" y="159"/>
                      <a:pt x="104" y="138"/>
                    </a:cubicBezTo>
                    <a:cubicBezTo>
                      <a:pt x="0" y="118"/>
                      <a:pt x="2086" y="0"/>
                      <a:pt x="2086" y="0"/>
                    </a:cubicBezTo>
                    <a:lnTo>
                      <a:pt x="2331" y="688"/>
                    </a:lnTo>
                    <a:close/>
                  </a:path>
                </a:pathLst>
              </a:custGeom>
              <a:gradFill rotWithShape="1">
                <a:gsLst>
                  <a:gs pos="0">
                    <a:srgbClr val="FFFFFF">
                      <a:alpha val="50000"/>
                    </a:srgbClr>
                  </a:gs>
                  <a:gs pos="100000">
                    <a:srgbClr val="666666">
                      <a:alpha val="34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72" name="Freeform 32"/>
              <p:cNvSpPr/>
              <p:nvPr/>
            </p:nvSpPr>
            <p:spPr bwMode="auto">
              <a:xfrm>
                <a:off x="2198688" y="4054475"/>
                <a:ext cx="23813" cy="1587"/>
              </a:xfrm>
              <a:custGeom>
                <a:avLst/>
                <a:gdLst>
                  <a:gd name="T0" fmla="*/ 47254914 w 12"/>
                  <a:gd name="T1" fmla="*/ 0 h 1587"/>
                  <a:gd name="T2" fmla="*/ 0 w 12"/>
                  <a:gd name="T3" fmla="*/ 0 h 1587"/>
                  <a:gd name="T4" fmla="*/ 47254914 w 12"/>
                  <a:gd name="T5" fmla="*/ 0 h 1587"/>
                  <a:gd name="T6" fmla="*/ 47254914 w 12"/>
                  <a:gd name="T7" fmla="*/ 0 h 1587"/>
                  <a:gd name="T8" fmla="*/ 0 60000 65536"/>
                  <a:gd name="T9" fmla="*/ 0 60000 65536"/>
                  <a:gd name="T10" fmla="*/ 0 60000 65536"/>
                  <a:gd name="T11" fmla="*/ 0 60000 65536"/>
                  <a:gd name="T12" fmla="*/ 0 w 12"/>
                  <a:gd name="T13" fmla="*/ 0 h 1587"/>
                  <a:gd name="T14" fmla="*/ 12 w 12"/>
                  <a:gd name="T15" fmla="*/ 1587 h 1587"/>
                </a:gdLst>
                <a:ahLst/>
                <a:cxnLst>
                  <a:cxn ang="T8">
                    <a:pos x="T0" y="T1"/>
                  </a:cxn>
                  <a:cxn ang="T9">
                    <a:pos x="T2" y="T3"/>
                  </a:cxn>
                  <a:cxn ang="T10">
                    <a:pos x="T4" y="T5"/>
                  </a:cxn>
                  <a:cxn ang="T11">
                    <a:pos x="T6" y="T7"/>
                  </a:cxn>
                </a:cxnLst>
                <a:rect l="T12" t="T13" r="T14" b="T15"/>
                <a:pathLst>
                  <a:path w="12" h="1587">
                    <a:moveTo>
                      <a:pt x="12" y="0"/>
                    </a:moveTo>
                    <a:lnTo>
                      <a:pt x="0" y="0"/>
                    </a:lnTo>
                    <a:lnTo>
                      <a:pt x="12" y="0"/>
                    </a:lnTo>
                    <a:close/>
                  </a:path>
                </a:pathLst>
              </a:custGeom>
              <a:solidFill>
                <a:srgbClr val="0875F8"/>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sp>
            <p:nvSpPr>
              <p:cNvPr id="73" name="Freeform 39"/>
              <p:cNvSpPr/>
              <p:nvPr/>
            </p:nvSpPr>
            <p:spPr bwMode="auto">
              <a:xfrm>
                <a:off x="1855788" y="4543425"/>
                <a:ext cx="23813" cy="1587"/>
              </a:xfrm>
              <a:custGeom>
                <a:avLst/>
                <a:gdLst>
                  <a:gd name="T0" fmla="*/ 47254914 w 12"/>
                  <a:gd name="T1" fmla="*/ 0 h 1587"/>
                  <a:gd name="T2" fmla="*/ 0 w 12"/>
                  <a:gd name="T3" fmla="*/ 0 h 1587"/>
                  <a:gd name="T4" fmla="*/ 47254914 w 12"/>
                  <a:gd name="T5" fmla="*/ 0 h 1587"/>
                  <a:gd name="T6" fmla="*/ 47254914 w 12"/>
                  <a:gd name="T7" fmla="*/ 0 h 1587"/>
                  <a:gd name="T8" fmla="*/ 0 60000 65536"/>
                  <a:gd name="T9" fmla="*/ 0 60000 65536"/>
                  <a:gd name="T10" fmla="*/ 0 60000 65536"/>
                  <a:gd name="T11" fmla="*/ 0 60000 65536"/>
                  <a:gd name="T12" fmla="*/ 0 w 12"/>
                  <a:gd name="T13" fmla="*/ 0 h 1587"/>
                  <a:gd name="T14" fmla="*/ 12 w 12"/>
                  <a:gd name="T15" fmla="*/ 1587 h 1587"/>
                </a:gdLst>
                <a:ahLst/>
                <a:cxnLst>
                  <a:cxn ang="T8">
                    <a:pos x="T0" y="T1"/>
                  </a:cxn>
                  <a:cxn ang="T9">
                    <a:pos x="T2" y="T3"/>
                  </a:cxn>
                  <a:cxn ang="T10">
                    <a:pos x="T4" y="T5"/>
                  </a:cxn>
                  <a:cxn ang="T11">
                    <a:pos x="T6" y="T7"/>
                  </a:cxn>
                </a:cxnLst>
                <a:rect l="T12" t="T13" r="T14" b="T15"/>
                <a:pathLst>
                  <a:path w="12" h="1587">
                    <a:moveTo>
                      <a:pt x="12" y="0"/>
                    </a:moveTo>
                    <a:lnTo>
                      <a:pt x="0" y="0"/>
                    </a:lnTo>
                    <a:lnTo>
                      <a:pt x="12" y="0"/>
                    </a:lnTo>
                    <a:close/>
                  </a:path>
                </a:pathLst>
              </a:custGeom>
              <a:solidFill>
                <a:srgbClr val="020202"/>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kern="0">
                  <a:solidFill>
                    <a:schemeClr val="tx1">
                      <a:lumMod val="65000"/>
                      <a:lumOff val="35000"/>
                    </a:schemeClr>
                  </a:solidFill>
                  <a:latin typeface="微软雅黑" panose="020B0503020204020204" charset="-122"/>
                  <a:ea typeface="微软雅黑" panose="020B0503020204020204" charset="-122"/>
                </a:endParaRPr>
              </a:p>
            </p:txBody>
          </p:sp>
        </p:grpSp>
        <p:sp>
          <p:nvSpPr>
            <p:cNvPr id="19" name="Rectangle 20"/>
            <p:cNvSpPr>
              <a:spLocks noChangeArrowheads="1"/>
            </p:cNvSpPr>
            <p:nvPr/>
          </p:nvSpPr>
          <p:spPr bwMode="auto">
            <a:xfrm>
              <a:off x="426842" y="1626905"/>
              <a:ext cx="2173651" cy="702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20000"/>
                </a:lnSpc>
                <a:defRPr/>
              </a:pPr>
              <a:r>
                <a:rPr lang="zh-CN" altLang="en-US" sz="1600" kern="0" dirty="0">
                  <a:solidFill>
                    <a:schemeClr val="tx1">
                      <a:lumMod val="65000"/>
                      <a:lumOff val="35000"/>
                    </a:schemeClr>
                  </a:solidFill>
                  <a:latin typeface="微软雅黑" panose="020B0503020204020204" charset="-122"/>
                  <a:ea typeface="微软雅黑" panose="020B0503020204020204" charset="-122"/>
                </a:rPr>
                <a:t>       每个菜单项都应有对应的命令。</a:t>
              </a:r>
              <a:endParaRPr lang="zh-CN" altLang="en-US" sz="1600" kern="0" dirty="0">
                <a:latin typeface="微软雅黑" panose="020B0503020204020204" charset="-122"/>
                <a:ea typeface="微软雅黑" panose="020B0503020204020204" charset="-122"/>
              </a:endParaRPr>
            </a:p>
          </p:txBody>
        </p:sp>
        <p:grpSp>
          <p:nvGrpSpPr>
            <p:cNvPr id="20" name="组合 19"/>
            <p:cNvGrpSpPr/>
            <p:nvPr/>
          </p:nvGrpSpPr>
          <p:grpSpPr>
            <a:xfrm>
              <a:off x="-133216" y="1680709"/>
              <a:ext cx="2066517" cy="2873190"/>
              <a:chOff x="433042" y="1154266"/>
              <a:chExt cx="2643234" cy="3675030"/>
            </a:xfrm>
          </p:grpSpPr>
          <p:sp>
            <p:nvSpPr>
              <p:cNvPr id="31" name="Freeform 3"/>
              <p:cNvSpPr/>
              <p:nvPr/>
            </p:nvSpPr>
            <p:spPr bwMode="auto">
              <a:xfrm>
                <a:off x="433042" y="3837337"/>
                <a:ext cx="1234970" cy="456143"/>
              </a:xfrm>
              <a:custGeom>
                <a:avLst/>
                <a:gdLst/>
                <a:ahLst/>
                <a:cxnLst>
                  <a:cxn ang="0">
                    <a:pos x="2331" y="688"/>
                  </a:cxn>
                  <a:cxn ang="0">
                    <a:pos x="104" y="138"/>
                  </a:cxn>
                  <a:cxn ang="0">
                    <a:pos x="2086" y="0"/>
                  </a:cxn>
                  <a:cxn ang="0">
                    <a:pos x="2331" y="688"/>
                  </a:cxn>
                </a:cxnLst>
                <a:rect l="0" t="0" r="r" b="b"/>
                <a:pathLst>
                  <a:path w="2331" h="688">
                    <a:moveTo>
                      <a:pt x="2331" y="688"/>
                    </a:moveTo>
                    <a:cubicBezTo>
                      <a:pt x="2331" y="688"/>
                      <a:pt x="208" y="159"/>
                      <a:pt x="104" y="138"/>
                    </a:cubicBezTo>
                    <a:cubicBezTo>
                      <a:pt x="0" y="118"/>
                      <a:pt x="2086" y="0"/>
                      <a:pt x="2086" y="0"/>
                    </a:cubicBezTo>
                    <a:lnTo>
                      <a:pt x="2331" y="688"/>
                    </a:lnTo>
                    <a:close/>
                  </a:path>
                </a:pathLst>
              </a:custGeom>
              <a:gradFill>
                <a:gsLst>
                  <a:gs pos="0">
                    <a:sysClr val="windowText" lastClr="000000">
                      <a:alpha val="0"/>
                    </a:sysClr>
                  </a:gs>
                  <a:gs pos="100000">
                    <a:sysClr val="windowText" lastClr="000000">
                      <a:alpha val="46000"/>
                    </a:sysClr>
                  </a:gs>
                </a:gsLst>
                <a:lin ang="5400000" scaled="0"/>
              </a:gradFill>
              <a:ln w="9525" cap="rnd">
                <a:noFill/>
                <a:prstDash val="solid"/>
                <a:round/>
              </a:ln>
            </p:spPr>
            <p:txBody>
              <a:bodyPr anchor="ctr"/>
              <a:lstStyle/>
              <a:p>
                <a:pPr algn="ctr" fontAlgn="base">
                  <a:spcBef>
                    <a:spcPct val="0"/>
                  </a:spcBef>
                  <a:spcAft>
                    <a:spcPct val="0"/>
                  </a:spcAft>
                  <a:defRPr/>
                </a:pPr>
                <a:endParaRPr lang="zh-CN" altLang="en-US" sz="2000" kern="0">
                  <a:solidFill>
                    <a:schemeClr val="tx1">
                      <a:lumMod val="65000"/>
                      <a:lumOff val="35000"/>
                    </a:schemeClr>
                  </a:solidFill>
                  <a:latin typeface="微软雅黑" panose="020B0503020204020204" charset="-122"/>
                  <a:ea typeface="微软雅黑" panose="020B0503020204020204" charset="-122"/>
                </a:endParaRPr>
              </a:p>
            </p:txBody>
          </p:sp>
          <p:sp>
            <p:nvSpPr>
              <p:cNvPr id="32" name="Freeform 8"/>
              <p:cNvSpPr/>
              <p:nvPr/>
            </p:nvSpPr>
            <p:spPr bwMode="auto">
              <a:xfrm>
                <a:off x="1671995" y="2540619"/>
                <a:ext cx="1404281" cy="1746884"/>
              </a:xfrm>
              <a:custGeom>
                <a:avLst/>
                <a:gdLst>
                  <a:gd name="T0" fmla="*/ 0 w 1006"/>
                  <a:gd name="T1" fmla="*/ 0 h 1251"/>
                  <a:gd name="T2" fmla="*/ 0 w 1006"/>
                  <a:gd name="T3" fmla="*/ 1549419556 h 1251"/>
                  <a:gd name="T4" fmla="*/ 1245111113 w 1006"/>
                  <a:gd name="T5" fmla="*/ 1429280965 h 1251"/>
                  <a:gd name="T6" fmla="*/ 1245111113 w 1006"/>
                  <a:gd name="T7" fmla="*/ 100322306 h 1251"/>
                  <a:gd name="T8" fmla="*/ 0 w 1006"/>
                  <a:gd name="T9" fmla="*/ 0 h 1251"/>
                  <a:gd name="T10" fmla="*/ 0 60000 65536"/>
                  <a:gd name="T11" fmla="*/ 0 60000 65536"/>
                  <a:gd name="T12" fmla="*/ 0 60000 65536"/>
                  <a:gd name="T13" fmla="*/ 0 60000 65536"/>
                  <a:gd name="T14" fmla="*/ 0 60000 65536"/>
                  <a:gd name="T15" fmla="*/ 0 w 1006"/>
                  <a:gd name="T16" fmla="*/ 0 h 1251"/>
                  <a:gd name="T17" fmla="*/ 1006 w 1006"/>
                  <a:gd name="T18" fmla="*/ 1251 h 1251"/>
                </a:gdLst>
                <a:ahLst/>
                <a:cxnLst>
                  <a:cxn ang="T10">
                    <a:pos x="T0" y="T1"/>
                  </a:cxn>
                  <a:cxn ang="T11">
                    <a:pos x="T2" y="T3"/>
                  </a:cxn>
                  <a:cxn ang="T12">
                    <a:pos x="T4" y="T5"/>
                  </a:cxn>
                  <a:cxn ang="T13">
                    <a:pos x="T6" y="T7"/>
                  </a:cxn>
                  <a:cxn ang="T14">
                    <a:pos x="T8" y="T9"/>
                  </a:cxn>
                </a:cxnLst>
                <a:rect l="T15" t="T16" r="T17" b="T18"/>
                <a:pathLst>
                  <a:path w="1006" h="1251">
                    <a:moveTo>
                      <a:pt x="0" y="0"/>
                    </a:moveTo>
                    <a:lnTo>
                      <a:pt x="0" y="1251"/>
                    </a:lnTo>
                    <a:lnTo>
                      <a:pt x="1006" y="1154"/>
                    </a:lnTo>
                    <a:lnTo>
                      <a:pt x="1006" y="81"/>
                    </a:lnTo>
                    <a:lnTo>
                      <a:pt x="0" y="0"/>
                    </a:lnTo>
                    <a:close/>
                  </a:path>
                </a:pathLst>
              </a:custGeom>
              <a:gradFill>
                <a:gsLst>
                  <a:gs pos="33000">
                    <a:srgbClr val="2676FF">
                      <a:lumMod val="60000"/>
                      <a:lumOff val="40000"/>
                    </a:srgbClr>
                  </a:gs>
                  <a:gs pos="100000">
                    <a:srgbClr val="2676FF"/>
                  </a:gs>
                </a:gsLst>
                <a:lin ang="5400000" scaled="0"/>
              </a:gradFill>
              <a:ln w="3175" cap="flat" cmpd="sng" algn="ctr">
                <a:noFill/>
                <a:prstDash val="solid"/>
              </a:ln>
              <a:effectLst/>
            </p:spPr>
            <p:txBody>
              <a:bodyPr anchor="ctr"/>
              <a:lstStyle/>
              <a:p>
                <a:pPr>
                  <a:lnSpc>
                    <a:spcPct val="120000"/>
                  </a:lnSpc>
                  <a:defRPr/>
                </a:pPr>
                <a:endParaRPr lang="zh-CN" altLang="en-US" sz="1200" kern="0">
                  <a:solidFill>
                    <a:schemeClr val="tx1">
                      <a:lumMod val="65000"/>
                      <a:lumOff val="35000"/>
                    </a:schemeClr>
                  </a:solidFill>
                  <a:latin typeface="微软雅黑" panose="020B0503020204020204" charset="-122"/>
                  <a:ea typeface="微软雅黑" panose="020B0503020204020204" charset="-122"/>
                </a:endParaRPr>
              </a:p>
            </p:txBody>
          </p:sp>
          <p:sp>
            <p:nvSpPr>
              <p:cNvPr id="33" name="Freeform 9"/>
              <p:cNvSpPr/>
              <p:nvPr/>
            </p:nvSpPr>
            <p:spPr bwMode="auto">
              <a:xfrm>
                <a:off x="1197926" y="2540619"/>
                <a:ext cx="474069" cy="1746884"/>
              </a:xfrm>
              <a:custGeom>
                <a:avLst/>
                <a:gdLst>
                  <a:gd name="T0" fmla="*/ 0 w 339"/>
                  <a:gd name="T1" fmla="*/ 136240017 h 1251"/>
                  <a:gd name="T2" fmla="*/ 0 w 339"/>
                  <a:gd name="T3" fmla="*/ 1337628145 h 1251"/>
                  <a:gd name="T4" fmla="*/ 421096551 w 339"/>
                  <a:gd name="T5" fmla="*/ 1549419556 h 1251"/>
                  <a:gd name="T6" fmla="*/ 421096551 w 339"/>
                  <a:gd name="T7" fmla="*/ 0 h 1251"/>
                  <a:gd name="T8" fmla="*/ 0 w 339"/>
                  <a:gd name="T9" fmla="*/ 136240017 h 1251"/>
                  <a:gd name="T10" fmla="*/ 0 60000 65536"/>
                  <a:gd name="T11" fmla="*/ 0 60000 65536"/>
                  <a:gd name="T12" fmla="*/ 0 60000 65536"/>
                  <a:gd name="T13" fmla="*/ 0 60000 65536"/>
                  <a:gd name="T14" fmla="*/ 0 60000 65536"/>
                  <a:gd name="T15" fmla="*/ 0 w 339"/>
                  <a:gd name="T16" fmla="*/ 0 h 1251"/>
                  <a:gd name="T17" fmla="*/ 339 w 339"/>
                  <a:gd name="T18" fmla="*/ 1251 h 1251"/>
                </a:gdLst>
                <a:ahLst/>
                <a:cxnLst>
                  <a:cxn ang="T10">
                    <a:pos x="T0" y="T1"/>
                  </a:cxn>
                  <a:cxn ang="T11">
                    <a:pos x="T2" y="T3"/>
                  </a:cxn>
                  <a:cxn ang="T12">
                    <a:pos x="T4" y="T5"/>
                  </a:cxn>
                  <a:cxn ang="T13">
                    <a:pos x="T6" y="T7"/>
                  </a:cxn>
                  <a:cxn ang="T14">
                    <a:pos x="T8" y="T9"/>
                  </a:cxn>
                </a:cxnLst>
                <a:rect l="T15" t="T16" r="T17" b="T18"/>
                <a:pathLst>
                  <a:path w="339" h="1251">
                    <a:moveTo>
                      <a:pt x="0" y="110"/>
                    </a:moveTo>
                    <a:lnTo>
                      <a:pt x="0" y="1080"/>
                    </a:lnTo>
                    <a:lnTo>
                      <a:pt x="339" y="1251"/>
                    </a:lnTo>
                    <a:lnTo>
                      <a:pt x="339" y="0"/>
                    </a:lnTo>
                    <a:lnTo>
                      <a:pt x="0" y="110"/>
                    </a:lnTo>
                    <a:close/>
                  </a:path>
                </a:pathLst>
              </a:custGeom>
              <a:gradFill>
                <a:gsLst>
                  <a:gs pos="33000">
                    <a:srgbClr val="2676FF"/>
                  </a:gs>
                  <a:gs pos="100000">
                    <a:srgbClr val="2676FF">
                      <a:lumMod val="75000"/>
                    </a:srgbClr>
                  </a:gs>
                </a:gsLst>
                <a:lin ang="5400000" scaled="0"/>
              </a:gradFill>
              <a:ln w="3175" cap="flat" cmpd="sng" algn="ctr">
                <a:noFill/>
                <a:prstDash val="solid"/>
              </a:ln>
              <a:effectLst/>
            </p:spPr>
            <p:txBody>
              <a:bodyPr anchor="ctr"/>
              <a:lstStyle/>
              <a:p>
                <a:pPr>
                  <a:lnSpc>
                    <a:spcPct val="120000"/>
                  </a:lnSpc>
                  <a:defRPr/>
                </a:pPr>
                <a:endParaRPr lang="zh-CN" altLang="en-US" sz="1200" kern="0">
                  <a:solidFill>
                    <a:schemeClr val="tx1">
                      <a:lumMod val="65000"/>
                      <a:lumOff val="35000"/>
                    </a:schemeClr>
                  </a:solidFill>
                  <a:latin typeface="微软雅黑" panose="020B0503020204020204" charset="-122"/>
                  <a:ea typeface="微软雅黑" panose="020B0503020204020204" charset="-122"/>
                </a:endParaRPr>
              </a:p>
            </p:txBody>
          </p:sp>
          <p:sp>
            <p:nvSpPr>
              <p:cNvPr id="34" name="Line 21"/>
              <p:cNvSpPr>
                <a:spLocks noChangeShapeType="1"/>
              </p:cNvSpPr>
              <p:nvPr/>
            </p:nvSpPr>
            <p:spPr bwMode="auto">
              <a:xfrm flipV="1">
                <a:off x="1227805" y="1154266"/>
                <a:ext cx="0" cy="1497899"/>
              </a:xfrm>
              <a:prstGeom prst="line">
                <a:avLst/>
              </a:prstGeom>
              <a:gradFill>
                <a:gsLst>
                  <a:gs pos="0">
                    <a:srgbClr val="2676FF">
                      <a:lumMod val="40000"/>
                      <a:lumOff val="60000"/>
                    </a:srgbClr>
                  </a:gs>
                  <a:gs pos="50000">
                    <a:srgbClr val="2676FF"/>
                  </a:gs>
                  <a:gs pos="100000">
                    <a:srgbClr val="2676FF">
                      <a:lumMod val="75000"/>
                    </a:srgbClr>
                  </a:gs>
                </a:gsLst>
                <a:lin ang="5400000" scaled="0"/>
              </a:gradFill>
              <a:ln w="9525" cap="rnd">
                <a:solidFill>
                  <a:sysClr val="window" lastClr="FFFFFF">
                    <a:lumMod val="65000"/>
                  </a:sysClr>
                </a:solidFill>
                <a:prstDash val="solid"/>
                <a:round/>
                <a:headEnd type="none" w="med" len="med"/>
                <a:tailEnd type="triangle" w="med" len="med"/>
              </a:ln>
            </p:spPr>
            <p:txBody>
              <a:bodyPr anchor="ctr"/>
              <a:lstStyle/>
              <a:p>
                <a:pPr algn="ctr" fontAlgn="base">
                  <a:spcBef>
                    <a:spcPct val="0"/>
                  </a:spcBef>
                  <a:spcAft>
                    <a:spcPct val="0"/>
                  </a:spcAft>
                  <a:defRPr/>
                </a:pPr>
                <a:endParaRPr lang="zh-CN" altLang="en-US" sz="2000" kern="0">
                  <a:solidFill>
                    <a:schemeClr val="tx1">
                      <a:lumMod val="65000"/>
                      <a:lumOff val="35000"/>
                    </a:schemeClr>
                  </a:solidFill>
                  <a:latin typeface="微软雅黑" panose="020B0503020204020204" charset="-122"/>
                  <a:ea typeface="微软雅黑" panose="020B0503020204020204" charset="-122"/>
                </a:endParaRPr>
              </a:p>
            </p:txBody>
          </p:sp>
          <p:sp>
            <p:nvSpPr>
              <p:cNvPr id="35" name="WordArt 33"/>
              <p:cNvSpPr>
                <a:spLocks noChangeArrowheads="1" noChangeShapeType="1" noTextEdit="1"/>
              </p:cNvSpPr>
              <p:nvPr/>
            </p:nvSpPr>
            <p:spPr bwMode="auto">
              <a:xfrm>
                <a:off x="1839314" y="3767621"/>
                <a:ext cx="173295" cy="352563"/>
              </a:xfrm>
              <a:prstGeom prst="rect">
                <a:avLst/>
              </a:prstGeom>
              <a:noFill/>
              <a:ln w="9525" cap="rnd">
                <a:noFill/>
                <a:prstDash val="solid"/>
                <a:round/>
              </a:ln>
            </p:spPr>
            <p:txBody>
              <a:bodyPr anchor="ctr"/>
              <a:lstStyle/>
              <a:p>
                <a:pPr algn="ctr" fontAlgn="base">
                  <a:spcBef>
                    <a:spcPct val="0"/>
                  </a:spcBef>
                  <a:spcAft>
                    <a:spcPct val="0"/>
                  </a:spcAft>
                  <a:defRPr/>
                </a:pPr>
                <a:r>
                  <a:rPr lang="en-US" altLang="zh-CN" sz="3600" kern="0">
                    <a:solidFill>
                      <a:schemeClr val="tx1">
                        <a:lumMod val="65000"/>
                        <a:lumOff val="35000"/>
                      </a:schemeClr>
                    </a:solidFill>
                    <a:latin typeface="微软雅黑" panose="020B0503020204020204" charset="-122"/>
                    <a:ea typeface="微软雅黑" panose="020B0503020204020204" charset="-122"/>
                  </a:rPr>
                  <a:t>1</a:t>
                </a:r>
                <a:endParaRPr lang="zh-CN" altLang="en-US" sz="3600" kern="0">
                  <a:solidFill>
                    <a:schemeClr val="tx1">
                      <a:lumMod val="65000"/>
                      <a:lumOff val="35000"/>
                    </a:schemeClr>
                  </a:solidFill>
                  <a:latin typeface="微软雅黑" panose="020B0503020204020204" charset="-122"/>
                  <a:ea typeface="微软雅黑" panose="020B0503020204020204" charset="-122"/>
                </a:endParaRPr>
              </a:p>
            </p:txBody>
          </p:sp>
          <p:sp>
            <p:nvSpPr>
              <p:cNvPr id="36" name="Freeform 39"/>
              <p:cNvSpPr/>
              <p:nvPr/>
            </p:nvSpPr>
            <p:spPr bwMode="auto">
              <a:xfrm>
                <a:off x="2895014" y="4827305"/>
                <a:ext cx="29879" cy="1991"/>
              </a:xfrm>
              <a:custGeom>
                <a:avLst/>
                <a:gdLst>
                  <a:gd name="T0" fmla="*/ 47254914 w 12"/>
                  <a:gd name="T1" fmla="*/ 0 h 1587"/>
                  <a:gd name="T2" fmla="*/ 0 w 12"/>
                  <a:gd name="T3" fmla="*/ 0 h 1587"/>
                  <a:gd name="T4" fmla="*/ 47254914 w 12"/>
                  <a:gd name="T5" fmla="*/ 0 h 1587"/>
                  <a:gd name="T6" fmla="*/ 47254914 w 12"/>
                  <a:gd name="T7" fmla="*/ 0 h 1587"/>
                  <a:gd name="T8" fmla="*/ 0 60000 65536"/>
                  <a:gd name="T9" fmla="*/ 0 60000 65536"/>
                  <a:gd name="T10" fmla="*/ 0 60000 65536"/>
                  <a:gd name="T11" fmla="*/ 0 60000 65536"/>
                  <a:gd name="T12" fmla="*/ 0 w 12"/>
                  <a:gd name="T13" fmla="*/ 0 h 1587"/>
                  <a:gd name="T14" fmla="*/ 12 w 12"/>
                  <a:gd name="T15" fmla="*/ 1587 h 1587"/>
                </a:gdLst>
                <a:ahLst/>
                <a:cxnLst>
                  <a:cxn ang="T8">
                    <a:pos x="T0" y="T1"/>
                  </a:cxn>
                  <a:cxn ang="T9">
                    <a:pos x="T2" y="T3"/>
                  </a:cxn>
                  <a:cxn ang="T10">
                    <a:pos x="T4" y="T5"/>
                  </a:cxn>
                  <a:cxn ang="T11">
                    <a:pos x="T6" y="T7"/>
                  </a:cxn>
                </a:cxnLst>
                <a:rect l="T12" t="T13" r="T14" b="T15"/>
                <a:pathLst>
                  <a:path w="12" h="1587">
                    <a:moveTo>
                      <a:pt x="12" y="0"/>
                    </a:moveTo>
                    <a:lnTo>
                      <a:pt x="0" y="0"/>
                    </a:lnTo>
                    <a:lnTo>
                      <a:pt x="12" y="0"/>
                    </a:lnTo>
                    <a:close/>
                  </a:path>
                </a:pathLst>
              </a:custGeom>
              <a:gradFill>
                <a:gsLst>
                  <a:gs pos="0">
                    <a:srgbClr val="2676FF">
                      <a:lumMod val="40000"/>
                      <a:lumOff val="60000"/>
                    </a:srgbClr>
                  </a:gs>
                  <a:gs pos="50000">
                    <a:srgbClr val="2676FF"/>
                  </a:gs>
                  <a:gs pos="100000">
                    <a:srgbClr val="2676FF">
                      <a:lumMod val="75000"/>
                    </a:srgbClr>
                  </a:gs>
                </a:gsLst>
                <a:lin ang="5400000" scaled="0"/>
              </a:gradFill>
              <a:ln w="9525" cap="rnd">
                <a:solidFill>
                  <a:srgbClr val="2676FF">
                    <a:lumMod val="40000"/>
                    <a:lumOff val="60000"/>
                  </a:srgbClr>
                </a:solidFill>
                <a:prstDash val="solid"/>
                <a:round/>
              </a:ln>
            </p:spPr>
            <p:txBody>
              <a:bodyPr anchor="ctr"/>
              <a:lstStyle/>
              <a:p>
                <a:pPr algn="ctr" fontAlgn="base">
                  <a:spcBef>
                    <a:spcPct val="0"/>
                  </a:spcBef>
                  <a:spcAft>
                    <a:spcPct val="0"/>
                  </a:spcAft>
                  <a:defRPr/>
                </a:pPr>
                <a:endParaRPr lang="zh-CN" altLang="en-US" sz="2000" kern="0">
                  <a:solidFill>
                    <a:schemeClr val="tx1">
                      <a:lumMod val="65000"/>
                      <a:lumOff val="35000"/>
                    </a:schemeClr>
                  </a:solidFill>
                  <a:latin typeface="微软雅黑" panose="020B0503020204020204" charset="-122"/>
                  <a:ea typeface="微软雅黑" panose="020B0503020204020204" charset="-122"/>
                </a:endParaRPr>
              </a:p>
            </p:txBody>
          </p:sp>
        </p:grpSp>
      </p:grpSp>
      <p:grpSp>
        <p:nvGrpSpPr>
          <p:cNvPr id="2" name="组合 1"/>
          <p:cNvGrpSpPr/>
          <p:nvPr/>
        </p:nvGrpSpPr>
        <p:grpSpPr>
          <a:xfrm>
            <a:off x="6323330" y="515620"/>
            <a:ext cx="5513705" cy="1499870"/>
            <a:chOff x="881" y="2735"/>
            <a:chExt cx="8683" cy="2362"/>
          </a:xfrm>
        </p:grpSpPr>
        <p:sp>
          <p:nvSpPr>
            <p:cNvPr id="167" name="圆角矩形"/>
            <p:cNvSpPr/>
            <p:nvPr/>
          </p:nvSpPr>
          <p:spPr>
            <a:xfrm>
              <a:off x="1188" y="3071"/>
              <a:ext cx="8376" cy="2026"/>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5"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ndParaRPr>
            </a:p>
          </p:txBody>
        </p:sp>
        <p:sp>
          <p:nvSpPr>
            <p:cNvPr id="6" name="文本框 5"/>
            <p:cNvSpPr txBox="1"/>
            <p:nvPr/>
          </p:nvSpPr>
          <p:spPr>
            <a:xfrm>
              <a:off x="1252" y="3174"/>
              <a:ext cx="8312" cy="1872"/>
            </a:xfrm>
            <a:prstGeom prst="rect">
              <a:avLst/>
            </a:prstGeom>
            <a:noFill/>
          </p:spPr>
          <p:txBody>
            <a:bodyPr wrap="square" rtlCol="0">
              <a:spAutoFit/>
            </a:bodyPr>
            <a:lstStyle/>
            <a:p>
              <a:pPr marL="0" indent="127000" algn="l"/>
              <a:r>
                <a:rPr lang="en-US" altLang="zh-CN" dirty="0">
                  <a:solidFill>
                    <a:schemeClr val="bg2">
                      <a:lumMod val="50000"/>
                    </a:schemeClr>
                  </a:solidFill>
                  <a:sym typeface="+mn-ea"/>
                </a:rPr>
                <a:t>     </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面向窗口、单击和拾取方式的界面已减少了用户对命令行的依赖，但是还是有些用户偏爱命令方式进行交互。提供命令交互方式时，应考虑下列设计问题。</a:t>
              </a:r>
              <a:endParaRPr dirty="0">
                <a:sym typeface="+mn-ea"/>
              </a:endParaRPr>
            </a:p>
          </p:txBody>
        </p:sp>
      </p:grpSp>
      <p:grpSp>
        <p:nvGrpSpPr>
          <p:cNvPr id="50" name="组合 6"/>
          <p:cNvGrpSpPr/>
          <p:nvPr/>
        </p:nvGrpSpPr>
        <p:grpSpPr>
          <a:xfrm>
            <a:off x="809625" y="2145646"/>
            <a:ext cx="1082675" cy="1295579"/>
            <a:chOff x="508000" y="3196191"/>
            <a:chExt cx="1082664" cy="1295579"/>
          </a:xfrm>
        </p:grpSpPr>
        <p:sp>
          <p:nvSpPr>
            <p:cNvPr id="51" name="TextBox 1"/>
            <p:cNvSpPr txBox="1">
              <a:spLocks noChangeArrowheads="1"/>
            </p:cNvSpPr>
            <p:nvPr/>
          </p:nvSpPr>
          <p:spPr bwMode="auto">
            <a:xfrm>
              <a:off x="508000" y="3196191"/>
              <a:ext cx="3754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4</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52" name="直接连接符 5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4" name="矩形 73"/>
            <p:cNvSpPr>
              <a:spLocks noChangeArrowheads="1"/>
            </p:cNvSpPr>
            <p:nvPr/>
          </p:nvSpPr>
          <p:spPr bwMode="auto">
            <a:xfrm>
              <a:off x="960435" y="3291441"/>
              <a:ext cx="63022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命令交互</a:t>
              </a:r>
            </a:p>
          </p:txBody>
        </p:sp>
      </p:grpSp>
    </p:spTree>
  </p:cSld>
  <p:clrMapOvr>
    <a:masterClrMapping/>
  </p:clrMapOvr>
  <p:transition>
    <p:fade thruBlk="1"/>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6 </a:t>
            </a:r>
            <a:r>
              <a:rPr lang="zh-CN" altLang="en-US" dirty="0">
                <a:sym typeface="+mn-ea"/>
              </a:rPr>
              <a:t>用户界面设计</a:t>
            </a: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sym typeface="+mn-ea"/>
              </a:rPr>
              <a:t>3.6.2 </a:t>
            </a:r>
            <a:r>
              <a:rPr lang="zh-CN" altLang="en-US" sz="2400" dirty="0">
                <a:solidFill>
                  <a:schemeClr val="tx1"/>
                </a:solidFill>
                <a:sym typeface="+mn-ea"/>
              </a:rPr>
              <a:t>用户界面设计过程和设计标准</a:t>
            </a:r>
            <a:endParaRPr lang="zh-CN" altLang="en-US" sz="2400" dirty="0">
              <a:solidFill>
                <a:schemeClr val="tx1"/>
              </a:solidFill>
            </a:endParaRPr>
          </a:p>
        </p:txBody>
      </p:sp>
      <p:grpSp>
        <p:nvGrpSpPr>
          <p:cNvPr id="6" name="组合 5"/>
          <p:cNvGrpSpPr/>
          <p:nvPr/>
        </p:nvGrpSpPr>
        <p:grpSpPr>
          <a:xfrm>
            <a:off x="1017905" y="2315217"/>
            <a:ext cx="10695589" cy="3702043"/>
            <a:chOff x="3984" y="3006"/>
            <a:chExt cx="16845" cy="5831"/>
          </a:xfrm>
        </p:grpSpPr>
        <p:sp>
          <p:nvSpPr>
            <p:cNvPr id="27" name="Oval 15"/>
            <p:cNvSpPr>
              <a:spLocks noChangeArrowheads="1"/>
            </p:cNvSpPr>
            <p:nvPr>
              <p:custDataLst>
                <p:tags r:id="rId1"/>
              </p:custDataLst>
            </p:nvPr>
          </p:nvSpPr>
          <p:spPr bwMode="auto">
            <a:xfrm>
              <a:off x="4256" y="3411"/>
              <a:ext cx="4966" cy="5012"/>
            </a:xfrm>
            <a:prstGeom prst="ellipse">
              <a:avLst/>
            </a:prstGeom>
            <a:noFill/>
            <a:ln w="19050">
              <a:solidFill>
                <a:schemeClr val="accent1">
                  <a:alpha val="50000"/>
                </a:schemeClr>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28" name="Line 16"/>
            <p:cNvSpPr>
              <a:spLocks noChangeShapeType="1"/>
            </p:cNvSpPr>
            <p:nvPr>
              <p:custDataLst>
                <p:tags r:id="rId2"/>
              </p:custDataLst>
            </p:nvPr>
          </p:nvSpPr>
          <p:spPr bwMode="gray">
            <a:xfrm>
              <a:off x="3984" y="5928"/>
              <a:ext cx="5486" cy="0"/>
            </a:xfrm>
            <a:prstGeom prst="line">
              <a:avLst/>
            </a:prstGeom>
            <a:noFill/>
            <a:ln w="28575">
              <a:solidFill>
                <a:schemeClr val="accent1">
                  <a:alpha val="5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29" name="Line 17"/>
            <p:cNvSpPr>
              <a:spLocks noChangeShapeType="1"/>
            </p:cNvSpPr>
            <p:nvPr>
              <p:custDataLst>
                <p:tags r:id="rId3"/>
              </p:custDataLst>
            </p:nvPr>
          </p:nvSpPr>
          <p:spPr bwMode="gray">
            <a:xfrm>
              <a:off x="6727" y="3040"/>
              <a:ext cx="0" cy="5770"/>
            </a:xfrm>
            <a:prstGeom prst="line">
              <a:avLst/>
            </a:prstGeom>
            <a:noFill/>
            <a:ln w="28575">
              <a:solidFill>
                <a:schemeClr val="accent1">
                  <a:alpha val="5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1" name="Oval 10"/>
            <p:cNvSpPr>
              <a:spLocks noChangeArrowheads="1"/>
            </p:cNvSpPr>
            <p:nvPr>
              <p:custDataLst>
                <p:tags r:id="rId4"/>
              </p:custDataLst>
            </p:nvPr>
          </p:nvSpPr>
          <p:spPr bwMode="gray">
            <a:xfrm>
              <a:off x="4528" y="3695"/>
              <a:ext cx="4393" cy="4427"/>
            </a:xfrm>
            <a:prstGeom prst="ellipse">
              <a:avLst/>
            </a:prstGeom>
            <a:noFill/>
            <a:ln w="9525">
              <a:solidFill>
                <a:schemeClr val="accent1">
                  <a:alpha val="50000"/>
                </a:schemeClr>
              </a:solidFill>
              <a:round/>
            </a:ln>
            <a:effectLst/>
            <a:extLst>
              <a:ext uri="{909E8E84-426E-40DD-AFC4-6F175D3DCCD1}">
                <a14:hiddenFill xmlns:a14="http://schemas.microsoft.com/office/drawing/2010/main">
                  <a:solidFill>
                    <a:schemeClr val="accent1">
                      <a:alpha val="64999"/>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2" name="Oval 13"/>
            <p:cNvSpPr>
              <a:spLocks noChangeArrowheads="1"/>
            </p:cNvSpPr>
            <p:nvPr>
              <p:custDataLst>
                <p:tags r:id="rId5"/>
              </p:custDataLst>
            </p:nvPr>
          </p:nvSpPr>
          <p:spPr bwMode="gray">
            <a:xfrm>
              <a:off x="5030" y="4226"/>
              <a:ext cx="3366" cy="3436"/>
            </a:xfrm>
            <a:prstGeom prst="ellipse">
              <a:avLst/>
            </a:prstGeom>
            <a:solidFill>
              <a:schemeClr val="accent1">
                <a:lumMod val="60000"/>
                <a:lumOff val="40000"/>
              </a:scheme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36" name="KSO_GT1"/>
            <p:cNvSpPr>
              <a:spLocks noChangeArrowheads="1"/>
            </p:cNvSpPr>
            <p:nvPr>
              <p:custDataLst>
                <p:tags r:id="rId6"/>
              </p:custDataLst>
            </p:nvPr>
          </p:nvSpPr>
          <p:spPr bwMode="gray">
            <a:xfrm>
              <a:off x="5636" y="4844"/>
              <a:ext cx="2155" cy="2201"/>
            </a:xfrm>
            <a:prstGeom prst="ellipse">
              <a:avLst/>
            </a:prstGeom>
            <a:solidFill>
              <a:schemeClr val="accent1"/>
            </a:solidFill>
            <a:ln>
              <a:noFill/>
            </a:ln>
            <a:effectLst/>
          </p:spPr>
          <p:txBody>
            <a:bodyPr wrap="square" lIns="0" tIns="0" rIns="0" bIns="0" anchor="ctr">
              <a:normAutofit/>
            </a:bodyPr>
            <a:lstStyle/>
            <a:p>
              <a:pPr algn="ctr">
                <a:defRPr/>
              </a:pPr>
              <a:r>
                <a:rPr lang="zh-CN" altLang="en-US" sz="2000" kern="0" dirty="0">
                  <a:solidFill>
                    <a:schemeClr val="bg1"/>
                  </a:solidFill>
                  <a:latin typeface="+mj-lt"/>
                  <a:ea typeface="+mj-ea"/>
                  <a:cs typeface="+mj-cs"/>
                </a:rPr>
                <a:t>用户界面设计过程</a:t>
              </a:r>
            </a:p>
          </p:txBody>
        </p:sp>
        <p:sp>
          <p:nvSpPr>
            <p:cNvPr id="41" name="Oval 19"/>
            <p:cNvSpPr>
              <a:spLocks noChangeArrowheads="1"/>
            </p:cNvSpPr>
            <p:nvPr>
              <p:custDataLst>
                <p:tags r:id="rId7"/>
              </p:custDataLst>
            </p:nvPr>
          </p:nvSpPr>
          <p:spPr bwMode="gray">
            <a:xfrm>
              <a:off x="7390" y="3326"/>
              <a:ext cx="396" cy="396"/>
            </a:xfrm>
            <a:prstGeom prst="ellipse">
              <a:avLst/>
            </a:prstGeom>
            <a:solidFill>
              <a:schemeClr val="accent1"/>
            </a:solidFill>
            <a:ln w="12700">
              <a:solidFill>
                <a:schemeClr val="bg1"/>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2" name="文本框 41"/>
            <p:cNvSpPr txBox="1"/>
            <p:nvPr>
              <p:custDataLst>
                <p:tags r:id="rId8"/>
              </p:custDataLst>
            </p:nvPr>
          </p:nvSpPr>
          <p:spPr>
            <a:xfrm>
              <a:off x="8121" y="3006"/>
              <a:ext cx="12446" cy="976"/>
            </a:xfrm>
            <a:prstGeom prst="rect">
              <a:avLst/>
            </a:prstGeom>
            <a:noFill/>
          </p:spPr>
          <p:txBody>
            <a:bodyPr wrap="square" lIns="0" rIns="0">
              <a:normAutofit/>
            </a:bodyPr>
            <a:lstStyle/>
            <a:p>
              <a:pPr>
                <a:lnSpc>
                  <a:spcPct val="130000"/>
                </a:lnSpc>
                <a:spcBef>
                  <a:spcPts val="600"/>
                </a:spcBef>
                <a:defRPr/>
              </a:pPr>
              <a:r>
                <a:rPr lang="en-US" altLang="zh-CN" sz="2000" dirty="0"/>
                <a:t>  </a:t>
              </a:r>
              <a:r>
                <a:rPr lang="zh-CN" altLang="en-US" sz="2000" dirty="0"/>
                <a:t>（1）先创建设计模型，实现模型——用户界面原型。</a:t>
              </a:r>
            </a:p>
          </p:txBody>
        </p:sp>
        <p:sp>
          <p:nvSpPr>
            <p:cNvPr id="44" name="Oval 19"/>
            <p:cNvSpPr>
              <a:spLocks noChangeArrowheads="1"/>
            </p:cNvSpPr>
            <p:nvPr>
              <p:custDataLst>
                <p:tags r:id="rId9"/>
              </p:custDataLst>
            </p:nvPr>
          </p:nvSpPr>
          <p:spPr bwMode="gray">
            <a:xfrm>
              <a:off x="8594" y="4939"/>
              <a:ext cx="396" cy="396"/>
            </a:xfrm>
            <a:prstGeom prst="ellipse">
              <a:avLst/>
            </a:prstGeom>
            <a:solidFill>
              <a:schemeClr val="accent1"/>
            </a:solidFill>
            <a:ln w="12700">
              <a:solidFill>
                <a:schemeClr val="bg1"/>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5" name="文本框 44"/>
            <p:cNvSpPr txBox="1"/>
            <p:nvPr>
              <p:custDataLst>
                <p:tags r:id="rId10"/>
              </p:custDataLst>
            </p:nvPr>
          </p:nvSpPr>
          <p:spPr>
            <a:xfrm>
              <a:off x="9337" y="4722"/>
              <a:ext cx="11410" cy="768"/>
            </a:xfrm>
            <a:prstGeom prst="rect">
              <a:avLst/>
            </a:prstGeom>
            <a:noFill/>
          </p:spPr>
          <p:txBody>
            <a:bodyPr wrap="square" lIns="0" rIns="0">
              <a:normAutofit/>
            </a:bodyPr>
            <a:lstStyle/>
            <a:p>
              <a:pPr>
                <a:lnSpc>
                  <a:spcPct val="130000"/>
                </a:lnSpc>
                <a:spcBef>
                  <a:spcPts val="600"/>
                </a:spcBef>
                <a:defRPr/>
              </a:pPr>
              <a:r>
                <a:rPr lang="zh-CN" altLang="en-US" dirty="0"/>
                <a:t>（2）用户试用并评估该原型，向设计者提出对界面的评价。</a:t>
              </a:r>
            </a:p>
          </p:txBody>
        </p:sp>
        <p:sp>
          <p:nvSpPr>
            <p:cNvPr id="50" name="Oval 19"/>
            <p:cNvSpPr>
              <a:spLocks noChangeArrowheads="1"/>
            </p:cNvSpPr>
            <p:nvPr>
              <p:custDataLst>
                <p:tags r:id="rId11"/>
              </p:custDataLst>
            </p:nvPr>
          </p:nvSpPr>
          <p:spPr bwMode="gray">
            <a:xfrm>
              <a:off x="8594" y="6556"/>
              <a:ext cx="396" cy="396"/>
            </a:xfrm>
            <a:prstGeom prst="ellipse">
              <a:avLst/>
            </a:prstGeom>
            <a:solidFill>
              <a:schemeClr val="accent1"/>
            </a:solidFill>
            <a:ln w="12700">
              <a:solidFill>
                <a:schemeClr val="bg1"/>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2" name="文本框 51"/>
            <p:cNvSpPr txBox="1"/>
            <p:nvPr>
              <p:custDataLst>
                <p:tags r:id="rId12"/>
              </p:custDataLst>
            </p:nvPr>
          </p:nvSpPr>
          <p:spPr>
            <a:xfrm>
              <a:off x="9385" y="6411"/>
              <a:ext cx="11444" cy="768"/>
            </a:xfrm>
            <a:prstGeom prst="rect">
              <a:avLst/>
            </a:prstGeom>
            <a:noFill/>
          </p:spPr>
          <p:txBody>
            <a:bodyPr wrap="square" lIns="0" rIns="0">
              <a:normAutofit/>
            </a:bodyPr>
            <a:lstStyle/>
            <a:p>
              <a:pPr>
                <a:lnSpc>
                  <a:spcPct val="130000"/>
                </a:lnSpc>
                <a:spcBef>
                  <a:spcPts val="600"/>
                </a:spcBef>
                <a:defRPr/>
              </a:pPr>
              <a:r>
                <a:rPr lang="zh-CN" altLang="en-US" dirty="0"/>
                <a:t>（3）设计者根据用户的意见修改设计并实现下一级原型。</a:t>
              </a:r>
            </a:p>
          </p:txBody>
        </p:sp>
        <p:sp>
          <p:nvSpPr>
            <p:cNvPr id="54" name="Oval 19"/>
            <p:cNvSpPr>
              <a:spLocks noChangeArrowheads="1"/>
            </p:cNvSpPr>
            <p:nvPr>
              <p:custDataLst>
                <p:tags r:id="rId13"/>
              </p:custDataLst>
            </p:nvPr>
          </p:nvSpPr>
          <p:spPr bwMode="gray">
            <a:xfrm>
              <a:off x="7393" y="8130"/>
              <a:ext cx="396" cy="396"/>
            </a:xfrm>
            <a:prstGeom prst="ellipse">
              <a:avLst/>
            </a:prstGeom>
            <a:solidFill>
              <a:schemeClr val="accent1"/>
            </a:solidFill>
            <a:ln w="12700">
              <a:solidFill>
                <a:schemeClr val="bg1"/>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5" name="文本框 54"/>
            <p:cNvSpPr txBox="1"/>
            <p:nvPr>
              <p:custDataLst>
                <p:tags r:id="rId14"/>
              </p:custDataLst>
            </p:nvPr>
          </p:nvSpPr>
          <p:spPr>
            <a:xfrm>
              <a:off x="8121" y="8069"/>
              <a:ext cx="9138" cy="768"/>
            </a:xfrm>
            <a:prstGeom prst="rect">
              <a:avLst/>
            </a:prstGeom>
            <a:noFill/>
          </p:spPr>
          <p:txBody>
            <a:bodyPr wrap="square" lIns="0" rIns="0">
              <a:normAutofit/>
            </a:bodyPr>
            <a:lstStyle/>
            <a:p>
              <a:pPr>
                <a:lnSpc>
                  <a:spcPct val="130000"/>
                </a:lnSpc>
                <a:spcBef>
                  <a:spcPts val="600"/>
                </a:spcBef>
                <a:defRPr/>
              </a:pPr>
              <a:r>
                <a:rPr lang="zh-CN" altLang="en-US" dirty="0"/>
                <a:t>（4）不断进行下去，直到用户感到满意为止。</a:t>
              </a:r>
            </a:p>
          </p:txBody>
        </p:sp>
      </p:grpSp>
    </p:spTree>
  </p:cSld>
  <p:clrMapOvr>
    <a:masterClrMapping/>
  </p:clrMapOvr>
  <p:transition>
    <p:fade thruBlk="1"/>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6 </a:t>
            </a:r>
            <a:r>
              <a:rPr lang="zh-CN" altLang="en-US" dirty="0">
                <a:sym typeface="+mn-ea"/>
              </a:rPr>
              <a:t>用户界面设计</a:t>
            </a:r>
          </a:p>
        </p:txBody>
      </p:sp>
      <p:sp>
        <p:nvSpPr>
          <p:cNvPr id="4"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sym typeface="+mn-ea"/>
              </a:rPr>
              <a:t>3.6.2 </a:t>
            </a:r>
            <a:r>
              <a:rPr lang="zh-CN" altLang="en-US" sz="2400" dirty="0">
                <a:solidFill>
                  <a:schemeClr val="tx1"/>
                </a:solidFill>
                <a:sym typeface="+mn-ea"/>
              </a:rPr>
              <a:t>用户界面设计过程和设计标准</a:t>
            </a:r>
            <a:endParaRPr lang="zh-CN" altLang="en-US" sz="2400" dirty="0">
              <a:solidFill>
                <a:schemeClr val="tx1"/>
              </a:solidFill>
            </a:endParaRPr>
          </a:p>
        </p:txBody>
      </p:sp>
      <p:grpSp>
        <p:nvGrpSpPr>
          <p:cNvPr id="2" name="组合 1"/>
          <p:cNvGrpSpPr/>
          <p:nvPr/>
        </p:nvGrpSpPr>
        <p:grpSpPr>
          <a:xfrm>
            <a:off x="792480" y="2976245"/>
            <a:ext cx="10674985" cy="3021965"/>
            <a:chOff x="1188" y="3607"/>
            <a:chExt cx="16811" cy="4759"/>
          </a:xfrm>
        </p:grpSpPr>
        <p:grpSp>
          <p:nvGrpSpPr>
            <p:cNvPr id="21" name="组合 20"/>
            <p:cNvGrpSpPr/>
            <p:nvPr/>
          </p:nvGrpSpPr>
          <p:grpSpPr>
            <a:xfrm>
              <a:off x="1188" y="3607"/>
              <a:ext cx="7813" cy="1455"/>
              <a:chOff x="2060" y="3526"/>
              <a:chExt cx="7813" cy="1455"/>
            </a:xfrm>
          </p:grpSpPr>
          <p:sp>
            <p:nvSpPr>
              <p:cNvPr id="5" name="MH_Other_1"/>
              <p:cNvSpPr>
                <a:spLocks noChangeArrowheads="1"/>
              </p:cNvSpPr>
              <p:nvPr>
                <p:custDataLst>
                  <p:tags r:id="rId17"/>
                </p:custDataLst>
              </p:nvPr>
            </p:nvSpPr>
            <p:spPr bwMode="auto">
              <a:xfrm>
                <a:off x="2060" y="3526"/>
                <a:ext cx="1060" cy="79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6" name="MH_Other_2"/>
              <p:cNvSpPr>
                <a:spLocks noChangeArrowheads="1"/>
              </p:cNvSpPr>
              <p:nvPr>
                <p:custDataLst>
                  <p:tags r:id="rId18"/>
                </p:custDataLst>
              </p:nvPr>
            </p:nvSpPr>
            <p:spPr bwMode="auto">
              <a:xfrm>
                <a:off x="3180" y="3691"/>
                <a:ext cx="840" cy="63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 name="MH_Other_3"/>
              <p:cNvSpPr>
                <a:spLocks noChangeArrowheads="1"/>
              </p:cNvSpPr>
              <p:nvPr>
                <p:custDataLst>
                  <p:tags r:id="rId19"/>
                </p:custDataLst>
              </p:nvPr>
            </p:nvSpPr>
            <p:spPr bwMode="auto">
              <a:xfrm>
                <a:off x="2300" y="4366"/>
                <a:ext cx="820" cy="61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Other_4"/>
              <p:cNvSpPr>
                <a:spLocks noChangeArrowheads="1"/>
              </p:cNvSpPr>
              <p:nvPr>
                <p:custDataLst>
                  <p:tags r:id="rId20"/>
                </p:custDataLst>
              </p:nvPr>
            </p:nvSpPr>
            <p:spPr bwMode="auto">
              <a:xfrm>
                <a:off x="3180" y="4366"/>
                <a:ext cx="1060" cy="52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 name="MH_SubTitle_1"/>
              <p:cNvSpPr/>
              <p:nvPr>
                <p:custDataLst>
                  <p:tags r:id="rId21"/>
                </p:custDataLst>
              </p:nvPr>
            </p:nvSpPr>
            <p:spPr>
              <a:xfrm>
                <a:off x="4535" y="3968"/>
                <a:ext cx="5338" cy="571"/>
              </a:xfrm>
              <a:prstGeom prst="rect">
                <a:avLst/>
              </a:prstGeom>
            </p:spPr>
            <p:txBody>
              <a:bodyPr lIns="0" tIns="0" rIns="0" bIns="0" anchor="ctr">
                <a:noAutofit/>
              </a:bodyPr>
              <a:lstStyle/>
              <a:p>
                <a:pPr>
                  <a:lnSpc>
                    <a:spcPct val="140000"/>
                  </a:lnSpc>
                  <a:defRPr/>
                </a:pPr>
                <a:r>
                  <a:rPr lang="zh-CN" altLang="en-US" sz="1600" dirty="0">
                    <a:solidFill>
                      <a:srgbClr val="000000"/>
                    </a:solidFill>
                    <a:latin typeface="微软雅黑" panose="020B0503020204020204" charset="-122"/>
                    <a:ea typeface="微软雅黑" panose="020B0503020204020204" charset="-122"/>
                    <a:sym typeface="+mn-ea"/>
                  </a:rPr>
                  <a:t>       系统及其界面的规格说明的长度和复杂程度，预示了用户学习使用该系统所需的工作量。</a:t>
                </a:r>
              </a:p>
            </p:txBody>
          </p:sp>
        </p:grpSp>
        <p:grpSp>
          <p:nvGrpSpPr>
            <p:cNvPr id="22" name="组合 21"/>
            <p:cNvGrpSpPr/>
            <p:nvPr/>
          </p:nvGrpSpPr>
          <p:grpSpPr>
            <a:xfrm>
              <a:off x="9776" y="3607"/>
              <a:ext cx="8223" cy="1455"/>
              <a:chOff x="7327" y="7570"/>
              <a:chExt cx="8223" cy="1455"/>
            </a:xfrm>
          </p:grpSpPr>
          <p:sp>
            <p:nvSpPr>
              <p:cNvPr id="10" name="MH_Other_5"/>
              <p:cNvSpPr>
                <a:spLocks noChangeArrowheads="1"/>
              </p:cNvSpPr>
              <p:nvPr>
                <p:custDataLst>
                  <p:tags r:id="rId12"/>
                </p:custDataLst>
              </p:nvPr>
            </p:nvSpPr>
            <p:spPr bwMode="auto">
              <a:xfrm>
                <a:off x="7327" y="7570"/>
                <a:ext cx="1060" cy="79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1" name="MH_Other_6"/>
              <p:cNvSpPr>
                <a:spLocks noChangeArrowheads="1"/>
              </p:cNvSpPr>
              <p:nvPr>
                <p:custDataLst>
                  <p:tags r:id="rId13"/>
                </p:custDataLst>
              </p:nvPr>
            </p:nvSpPr>
            <p:spPr bwMode="auto">
              <a:xfrm>
                <a:off x="8447" y="7735"/>
                <a:ext cx="840" cy="63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Other_7"/>
              <p:cNvSpPr>
                <a:spLocks noChangeArrowheads="1"/>
              </p:cNvSpPr>
              <p:nvPr>
                <p:custDataLst>
                  <p:tags r:id="rId14"/>
                </p:custDataLst>
              </p:nvPr>
            </p:nvSpPr>
            <p:spPr bwMode="auto">
              <a:xfrm>
                <a:off x="7567" y="8410"/>
                <a:ext cx="820" cy="61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8"/>
              <p:cNvSpPr>
                <a:spLocks noChangeArrowheads="1"/>
              </p:cNvSpPr>
              <p:nvPr>
                <p:custDataLst>
                  <p:tags r:id="rId15"/>
                </p:custDataLst>
              </p:nvPr>
            </p:nvSpPr>
            <p:spPr bwMode="auto">
              <a:xfrm>
                <a:off x="8447" y="8410"/>
                <a:ext cx="1060" cy="52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SubTitle_3"/>
              <p:cNvSpPr/>
              <p:nvPr>
                <p:custDataLst>
                  <p:tags r:id="rId16"/>
                </p:custDataLst>
              </p:nvPr>
            </p:nvSpPr>
            <p:spPr>
              <a:xfrm>
                <a:off x="9924" y="7570"/>
                <a:ext cx="5626" cy="1280"/>
              </a:xfrm>
              <a:prstGeom prst="rect">
                <a:avLst/>
              </a:prstGeom>
            </p:spPr>
            <p:txBody>
              <a:bodyPr lIns="0" tIns="0" rIns="0" bIns="0" anchor="ctr">
                <a:noAutofit/>
              </a:bodyPr>
              <a:lstStyle/>
              <a:p>
                <a:pPr>
                  <a:lnSpc>
                    <a:spcPct val="130000"/>
                  </a:lnSpc>
                  <a:defRPr/>
                </a:pPr>
                <a:r>
                  <a:rPr lang="en-US" altLang="zh-CN" sz="1600" dirty="0">
                    <a:solidFill>
                      <a:srgbClr val="000000"/>
                    </a:solidFill>
                    <a:latin typeface="微软雅黑" panose="020B0503020204020204" charset="-122"/>
                    <a:ea typeface="微软雅黑" panose="020B0503020204020204" charset="-122"/>
                    <a:sym typeface="+mn-ea"/>
                  </a:rPr>
                  <a:t>     </a:t>
                </a:r>
                <a:r>
                  <a:rPr lang="zh-CN" altLang="en-US" sz="1600" dirty="0">
                    <a:solidFill>
                      <a:srgbClr val="000000"/>
                    </a:solidFill>
                    <a:latin typeface="微软雅黑" panose="020B0503020204020204" charset="-122"/>
                    <a:ea typeface="微软雅黑" panose="020B0503020204020204" charset="-122"/>
                    <a:sym typeface="+mn-ea"/>
                  </a:rPr>
                  <a:t>  动作、命令和系统状态的数量，预示了用户学习使用系统时需要记忆的内容的多少。</a:t>
                </a:r>
              </a:p>
            </p:txBody>
          </p:sp>
        </p:grpSp>
        <p:grpSp>
          <p:nvGrpSpPr>
            <p:cNvPr id="20" name="组合 19"/>
            <p:cNvGrpSpPr/>
            <p:nvPr/>
          </p:nvGrpSpPr>
          <p:grpSpPr>
            <a:xfrm>
              <a:off x="1188" y="6911"/>
              <a:ext cx="7738" cy="1455"/>
              <a:chOff x="4720" y="5568"/>
              <a:chExt cx="7738" cy="1455"/>
            </a:xfrm>
          </p:grpSpPr>
          <p:sp>
            <p:nvSpPr>
              <p:cNvPr id="15" name="MH_Other_9"/>
              <p:cNvSpPr>
                <a:spLocks noChangeArrowheads="1"/>
              </p:cNvSpPr>
              <p:nvPr>
                <p:custDataLst>
                  <p:tags r:id="rId7"/>
                </p:custDataLst>
              </p:nvPr>
            </p:nvSpPr>
            <p:spPr bwMode="auto">
              <a:xfrm>
                <a:off x="4720" y="5568"/>
                <a:ext cx="1060" cy="79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6" name="MH_Other_10"/>
              <p:cNvSpPr>
                <a:spLocks noChangeArrowheads="1"/>
              </p:cNvSpPr>
              <p:nvPr>
                <p:custDataLst>
                  <p:tags r:id="rId8"/>
                </p:custDataLst>
              </p:nvPr>
            </p:nvSpPr>
            <p:spPr bwMode="auto">
              <a:xfrm>
                <a:off x="5840" y="5733"/>
                <a:ext cx="840" cy="63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7" name="MH_Other_11"/>
              <p:cNvSpPr>
                <a:spLocks noChangeArrowheads="1"/>
              </p:cNvSpPr>
              <p:nvPr>
                <p:custDataLst>
                  <p:tags r:id="rId9"/>
                </p:custDataLst>
              </p:nvPr>
            </p:nvSpPr>
            <p:spPr bwMode="auto">
              <a:xfrm>
                <a:off x="4960" y="6408"/>
                <a:ext cx="820" cy="61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Other_12"/>
              <p:cNvSpPr>
                <a:spLocks noChangeArrowheads="1"/>
              </p:cNvSpPr>
              <p:nvPr>
                <p:custDataLst>
                  <p:tags r:id="rId10"/>
                </p:custDataLst>
              </p:nvPr>
            </p:nvSpPr>
            <p:spPr bwMode="auto">
              <a:xfrm>
                <a:off x="5840" y="6408"/>
                <a:ext cx="1060" cy="52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SubTitle_2"/>
              <p:cNvSpPr/>
              <p:nvPr>
                <p:custDataLst>
                  <p:tags r:id="rId11"/>
                </p:custDataLst>
              </p:nvPr>
            </p:nvSpPr>
            <p:spPr>
              <a:xfrm>
                <a:off x="7270" y="5733"/>
                <a:ext cx="5188" cy="1280"/>
              </a:xfrm>
              <a:prstGeom prst="rect">
                <a:avLst/>
              </a:prstGeom>
            </p:spPr>
            <p:txBody>
              <a:bodyPr lIns="0" tIns="0" rIns="0" bIns="0" anchor="ctr">
                <a:noAutofit/>
              </a:bodyPr>
              <a:lstStyle/>
              <a:p>
                <a:pPr lvl="0" algn="just">
                  <a:lnSpc>
                    <a:spcPct val="120000"/>
                  </a:lnSpc>
                  <a:spcBef>
                    <a:spcPct val="0"/>
                  </a:spcBef>
                </a:pPr>
                <a:r>
                  <a:rPr lang="zh-CN" altLang="en-US" sz="1600" dirty="0">
                    <a:solidFill>
                      <a:srgbClr val="000000"/>
                    </a:solidFill>
                    <a:latin typeface="微软雅黑" panose="020B0503020204020204" charset="-122"/>
                    <a:ea typeface="微软雅黑" panose="020B0503020204020204" charset="-122"/>
                    <a:sym typeface="+mn-ea"/>
                  </a:rPr>
                  <a:t>       命令或动作的数量、命令的平均参数个数或动作中单个操作的个数，预示了系统的交互时间和总体效率。</a:t>
                </a:r>
              </a:p>
            </p:txBody>
          </p:sp>
        </p:grpSp>
        <p:grpSp>
          <p:nvGrpSpPr>
            <p:cNvPr id="23" name="组合 22"/>
            <p:cNvGrpSpPr/>
            <p:nvPr/>
          </p:nvGrpSpPr>
          <p:grpSpPr>
            <a:xfrm>
              <a:off x="9776" y="6911"/>
              <a:ext cx="8223" cy="1455"/>
              <a:chOff x="7327" y="7570"/>
              <a:chExt cx="8223" cy="1455"/>
            </a:xfrm>
          </p:grpSpPr>
          <p:sp>
            <p:nvSpPr>
              <p:cNvPr id="24" name="MH_Other_5"/>
              <p:cNvSpPr>
                <a:spLocks noChangeArrowheads="1"/>
              </p:cNvSpPr>
              <p:nvPr>
                <p:custDataLst>
                  <p:tags r:id="rId2"/>
                </p:custDataLst>
              </p:nvPr>
            </p:nvSpPr>
            <p:spPr bwMode="auto">
              <a:xfrm>
                <a:off x="7327" y="7570"/>
                <a:ext cx="1060" cy="795"/>
              </a:xfrm>
              <a:prstGeom prst="rect">
                <a:avLst/>
              </a:prstGeom>
              <a:solidFill>
                <a:schemeClr val="accent4">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a:t>
                </a:r>
                <a:r>
                  <a:rPr lang="en-US" sz="2400" b="1">
                    <a:solidFill>
                      <a:srgbClr val="FFFFFF"/>
                    </a:solidFill>
                    <a:ea typeface="微软雅黑" panose="020B0503020204020204" charset="-122"/>
                  </a:rPr>
                  <a:t>4</a:t>
                </a:r>
              </a:p>
            </p:txBody>
          </p:sp>
          <p:sp>
            <p:nvSpPr>
              <p:cNvPr id="25" name="MH_Other_6"/>
              <p:cNvSpPr>
                <a:spLocks noChangeArrowheads="1"/>
              </p:cNvSpPr>
              <p:nvPr>
                <p:custDataLst>
                  <p:tags r:id="rId3"/>
                </p:custDataLst>
              </p:nvPr>
            </p:nvSpPr>
            <p:spPr bwMode="auto">
              <a:xfrm>
                <a:off x="8447" y="7735"/>
                <a:ext cx="840" cy="630"/>
              </a:xfrm>
              <a:prstGeom prst="rect">
                <a:avLst/>
              </a:prstGeom>
              <a:solidFill>
                <a:schemeClr val="accent4">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7"/>
              <p:cNvSpPr>
                <a:spLocks noChangeArrowheads="1"/>
              </p:cNvSpPr>
              <p:nvPr>
                <p:custDataLst>
                  <p:tags r:id="rId4"/>
                </p:custDataLst>
              </p:nvPr>
            </p:nvSpPr>
            <p:spPr bwMode="auto">
              <a:xfrm>
                <a:off x="7567" y="8410"/>
                <a:ext cx="820" cy="615"/>
              </a:xfrm>
              <a:prstGeom prst="rect">
                <a:avLst/>
              </a:prstGeom>
              <a:solidFill>
                <a:schemeClr val="accent4">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8"/>
              <p:cNvSpPr>
                <a:spLocks noChangeArrowheads="1"/>
              </p:cNvSpPr>
              <p:nvPr>
                <p:custDataLst>
                  <p:tags r:id="rId5"/>
                </p:custDataLst>
              </p:nvPr>
            </p:nvSpPr>
            <p:spPr bwMode="auto">
              <a:xfrm>
                <a:off x="8447" y="8410"/>
                <a:ext cx="1060" cy="525"/>
              </a:xfrm>
              <a:prstGeom prst="rect">
                <a:avLst/>
              </a:prstGeom>
              <a:solidFill>
                <a:schemeClr val="accent4">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SubTitle_3"/>
              <p:cNvSpPr/>
              <p:nvPr>
                <p:custDataLst>
                  <p:tags r:id="rId6"/>
                </p:custDataLst>
              </p:nvPr>
            </p:nvSpPr>
            <p:spPr>
              <a:xfrm>
                <a:off x="9924" y="7570"/>
                <a:ext cx="5626" cy="1280"/>
              </a:xfrm>
              <a:prstGeom prst="rect">
                <a:avLst/>
              </a:prstGeom>
            </p:spPr>
            <p:txBody>
              <a:bodyPr lIns="0" tIns="0" rIns="0" bIns="0" anchor="ctr">
                <a:noAutofit/>
              </a:bodyPr>
              <a:lstStyle/>
              <a:p>
                <a:pPr>
                  <a:lnSpc>
                    <a:spcPct val="130000"/>
                  </a:lnSpc>
                  <a:defRPr/>
                </a:pPr>
                <a:r>
                  <a:rPr lang="en-US" altLang="zh-CN" sz="1600" dirty="0">
                    <a:solidFill>
                      <a:srgbClr val="000000"/>
                    </a:solidFill>
                    <a:latin typeface="微软雅黑" panose="020B0503020204020204" charset="-122"/>
                    <a:ea typeface="微软雅黑" panose="020B0503020204020204" charset="-122"/>
                    <a:sym typeface="+mn-ea"/>
                  </a:rPr>
                  <a:t>       </a:t>
                </a:r>
                <a:r>
                  <a:rPr lang="zh-CN" altLang="en-US" sz="1600" dirty="0">
                    <a:solidFill>
                      <a:srgbClr val="000000"/>
                    </a:solidFill>
                    <a:latin typeface="微软雅黑" panose="020B0503020204020204" charset="-122"/>
                    <a:ea typeface="微软雅黑" panose="020B0503020204020204" charset="-122"/>
                    <a:sym typeface="+mn-ea"/>
                  </a:rPr>
                  <a:t>界面风格、帮助设施和出错处理协议，预示了界面的复杂程度和用户对该界面的接受程度。</a:t>
                </a:r>
              </a:p>
            </p:txBody>
          </p:sp>
        </p:grpSp>
      </p:grpSp>
      <p:sp>
        <p:nvSpPr>
          <p:cNvPr id="29" name="文本框 41"/>
          <p:cNvSpPr txBox="1"/>
          <p:nvPr>
            <p:custDataLst>
              <p:tags r:id="rId1"/>
            </p:custDataLst>
          </p:nvPr>
        </p:nvSpPr>
        <p:spPr>
          <a:xfrm>
            <a:off x="469658" y="2124743"/>
            <a:ext cx="7902481" cy="619653"/>
          </a:xfrm>
          <a:prstGeom prst="rect">
            <a:avLst/>
          </a:prstGeom>
          <a:noFill/>
        </p:spPr>
        <p:txBody>
          <a:bodyPr wrap="square" lIns="0" rIns="0">
            <a:normAutofit/>
          </a:bodyPr>
          <a:lstStyle/>
          <a:p>
            <a:r>
              <a:rPr lang="zh-CN" altLang="en-US" sz="2000" dirty="0"/>
              <a:t>评估用户界面设计的标准如下：</a:t>
            </a:r>
          </a:p>
        </p:txBody>
      </p:sp>
    </p:spTree>
  </p:cSld>
  <p:clrMapOvr>
    <a:masterClrMapping/>
  </p:clrMapOvr>
  <p:transition>
    <p:fade thruBlk="1"/>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6 </a:t>
            </a:r>
            <a:r>
              <a:rPr lang="zh-CN" altLang="en-US" dirty="0">
                <a:sym typeface="+mn-ea"/>
              </a:rPr>
              <a:t>用户界面设计</a:t>
            </a:r>
          </a:p>
        </p:txBody>
      </p:sp>
      <p:sp>
        <p:nvSpPr>
          <p:cNvPr id="31" name="TextBox 6"/>
          <p:cNvSpPr txBox="1"/>
          <p:nvPr/>
        </p:nvSpPr>
        <p:spPr>
          <a:xfrm>
            <a:off x="1409700" y="1981835"/>
            <a:ext cx="9875520" cy="3958590"/>
          </a:xfrm>
          <a:prstGeom prst="rect">
            <a:avLst/>
          </a:prstGeom>
          <a:noFill/>
        </p:spPr>
        <p:txBody>
          <a:bodyPr wrap="square" rtlCol="0">
            <a:spAutoFit/>
          </a:bodyPr>
          <a:lstStyle/>
          <a:p>
            <a:pPr marL="342900" indent="-342900">
              <a:lnSpc>
                <a:spcPct val="130000"/>
              </a:lnSpc>
              <a:spcAft>
                <a:spcPts val="300"/>
              </a:spcAft>
              <a:buFont typeface="+mj-ea"/>
              <a:buAutoNum type="circleNumDbPlain"/>
            </a:pPr>
            <a:r>
              <a:rPr lang="zh-CN" altLang="en-US" dirty="0">
                <a:latin typeface="微软雅黑" panose="020B0503020204020204" charset="-122"/>
                <a:ea typeface="微软雅黑" panose="020B0503020204020204" charset="-122"/>
              </a:rPr>
              <a:t>保持一致性：菜单选择、命令输入、数据显示、其他功能要使用一致的格式。</a:t>
            </a:r>
          </a:p>
          <a:p>
            <a:pPr marL="342900" indent="-342900">
              <a:lnSpc>
                <a:spcPct val="130000"/>
              </a:lnSpc>
              <a:spcAft>
                <a:spcPts val="300"/>
              </a:spcAft>
              <a:buFont typeface="+mj-ea"/>
              <a:buAutoNum type="circleNumDbPlain"/>
            </a:pPr>
            <a:r>
              <a:rPr lang="zh-CN" altLang="en-US" dirty="0">
                <a:latin typeface="微软雅黑" panose="020B0503020204020204" charset="-122"/>
                <a:ea typeface="微软雅黑" panose="020B0503020204020204" charset="-122"/>
              </a:rPr>
              <a:t>提供有意义的反馈：提供视觉、听觉的反馈，建立双向通信。</a:t>
            </a:r>
          </a:p>
          <a:p>
            <a:pPr marL="342900" indent="-342900">
              <a:lnSpc>
                <a:spcPct val="130000"/>
              </a:lnSpc>
              <a:spcAft>
                <a:spcPts val="300"/>
              </a:spcAft>
              <a:buFont typeface="+mj-ea"/>
              <a:buAutoNum type="circleNumDbPlain"/>
            </a:pPr>
            <a:r>
              <a:rPr lang="zh-CN" altLang="en-US" dirty="0">
                <a:latin typeface="微软雅黑" panose="020B0503020204020204" charset="-122"/>
                <a:ea typeface="微软雅黑" panose="020B0503020204020204" charset="-122"/>
              </a:rPr>
              <a:t>要求确认：在执行有破坏性动作之前要求用户确认“是否确实要……”。</a:t>
            </a:r>
          </a:p>
          <a:p>
            <a:pPr marL="342900" indent="-342900">
              <a:lnSpc>
                <a:spcPct val="130000"/>
              </a:lnSpc>
              <a:spcAft>
                <a:spcPts val="300"/>
              </a:spcAft>
              <a:buFont typeface="+mj-ea"/>
              <a:buAutoNum type="circleNumDbPlain"/>
            </a:pPr>
            <a:r>
              <a:rPr lang="zh-CN" altLang="en-US" dirty="0">
                <a:latin typeface="微软雅黑" panose="020B0503020204020204" charset="-122"/>
                <a:ea typeface="微软雅黑" panose="020B0503020204020204" charset="-122"/>
              </a:rPr>
              <a:t>允许取消操作：能方便地取消已完成的操作。</a:t>
            </a:r>
          </a:p>
          <a:p>
            <a:pPr marL="342900" indent="-342900">
              <a:lnSpc>
                <a:spcPct val="130000"/>
              </a:lnSpc>
              <a:spcAft>
                <a:spcPts val="300"/>
              </a:spcAft>
              <a:buFont typeface="+mj-ea"/>
              <a:buAutoNum type="circleNumDbPlain"/>
            </a:pPr>
            <a:r>
              <a:rPr lang="zh-CN" altLang="en-US" dirty="0">
                <a:latin typeface="微软雅黑" panose="020B0503020204020204" charset="-122"/>
                <a:ea typeface="微软雅黑" panose="020B0503020204020204" charset="-122"/>
              </a:rPr>
              <a:t>尽量减少记忆量。</a:t>
            </a:r>
          </a:p>
          <a:p>
            <a:pPr marL="342900" indent="-342900">
              <a:lnSpc>
                <a:spcPct val="130000"/>
              </a:lnSpc>
              <a:spcAft>
                <a:spcPts val="300"/>
              </a:spcAft>
              <a:buFont typeface="+mj-ea"/>
              <a:buAutoNum type="circleNumDbPlain"/>
            </a:pPr>
            <a:r>
              <a:rPr lang="zh-CN" altLang="en-US" dirty="0">
                <a:latin typeface="微软雅黑" panose="020B0503020204020204" charset="-122"/>
                <a:ea typeface="微软雅黑" panose="020B0503020204020204" charset="-122"/>
              </a:rPr>
              <a:t>提高效率：对话、移动、思考等要提高效率。允许用户犯错误：系统应保护自己不受致命错误的破坏。</a:t>
            </a:r>
          </a:p>
          <a:p>
            <a:pPr marL="342900" indent="-342900">
              <a:lnSpc>
                <a:spcPct val="130000"/>
              </a:lnSpc>
              <a:spcAft>
                <a:spcPts val="300"/>
              </a:spcAft>
              <a:buFont typeface="+mj-ea"/>
              <a:buAutoNum type="circleNumDbPlain"/>
            </a:pPr>
            <a:r>
              <a:rPr lang="zh-CN" altLang="en-US" dirty="0">
                <a:latin typeface="微软雅黑" panose="020B0503020204020204" charset="-122"/>
                <a:ea typeface="微软雅黑" panose="020B0503020204020204" charset="-122"/>
              </a:rPr>
              <a:t>按功能对动作分类：如下拉菜单。应尽力提高命令和动作的内聚性。</a:t>
            </a:r>
          </a:p>
          <a:p>
            <a:pPr marL="342900" indent="-342900">
              <a:lnSpc>
                <a:spcPct val="130000"/>
              </a:lnSpc>
              <a:spcAft>
                <a:spcPts val="300"/>
              </a:spcAft>
              <a:buFont typeface="+mj-ea"/>
              <a:buAutoNum type="circleNumDbPlain"/>
            </a:pPr>
            <a:r>
              <a:rPr lang="zh-CN" altLang="en-US" dirty="0">
                <a:latin typeface="微软雅黑" panose="020B0503020204020204" charset="-122"/>
                <a:ea typeface="微软雅黑" panose="020B0503020204020204" charset="-122"/>
              </a:rPr>
              <a:t>提供帮助设施。</a:t>
            </a:r>
          </a:p>
          <a:p>
            <a:pPr marL="342900" indent="-342900">
              <a:lnSpc>
                <a:spcPct val="130000"/>
              </a:lnSpc>
              <a:spcAft>
                <a:spcPts val="300"/>
              </a:spcAft>
              <a:buFont typeface="+mj-ea"/>
              <a:buAutoNum type="circleNumDbPlain"/>
            </a:pPr>
            <a:r>
              <a:rPr lang="zh-CN" altLang="en-US" dirty="0">
                <a:latin typeface="微软雅黑" panose="020B0503020204020204" charset="-122"/>
                <a:ea typeface="微软雅黑" panose="020B0503020204020204" charset="-122"/>
              </a:rPr>
              <a:t>命令名要简单：用简单动词或动词短语作为命令名。</a:t>
            </a: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一般交互</a:t>
            </a:r>
          </a:p>
        </p:txBody>
      </p:sp>
      <p:sp>
        <p:nvSpPr>
          <p:cNvPr id="33" name="文本框 32"/>
          <p:cNvSpPr txBox="1"/>
          <p:nvPr/>
        </p:nvSpPr>
        <p:spPr>
          <a:xfrm>
            <a:off x="768975" y="2113614"/>
            <a:ext cx="461665" cy="3487086"/>
          </a:xfrm>
          <a:prstGeom prst="rect">
            <a:avLst/>
          </a:prstGeom>
          <a:noFill/>
        </p:spPr>
        <p:txBody>
          <a:bodyPr vert="eaVert" wrap="square" rtlCol="0">
            <a:spAutoFit/>
          </a:bodyPr>
          <a:lstStyle/>
          <a:p>
            <a:r>
              <a:rPr lang="en-US" altLang="zh-CN" spc="160" dirty="0">
                <a:solidFill>
                  <a:schemeClr val="bg1"/>
                </a:solidFill>
                <a:latin typeface="微软雅黑" panose="020B0503020204020204" charset="-122"/>
                <a:ea typeface="微软雅黑" panose="020B0503020204020204" charset="-122"/>
              </a:rPr>
              <a:t>3.6.3   </a:t>
            </a:r>
            <a:r>
              <a:rPr lang="zh-CN" altLang="en-US" spc="160" dirty="0">
                <a:solidFill>
                  <a:schemeClr val="bg1"/>
                </a:solidFill>
                <a:latin typeface="微软雅黑" panose="020B0503020204020204" charset="-122"/>
                <a:ea typeface="微软雅黑" panose="020B0503020204020204" charset="-122"/>
              </a:rPr>
              <a:t>用户界面设计指南</a:t>
            </a:r>
          </a:p>
        </p:txBody>
      </p:sp>
    </p:spTree>
  </p:cSld>
  <p:clrMapOvr>
    <a:masterClrMapping/>
  </p:clrMapOvr>
  <p:transition>
    <p:fade thruBlk="1"/>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6 </a:t>
            </a:r>
            <a:r>
              <a:rPr lang="zh-CN" altLang="en-US" dirty="0">
                <a:sym typeface="+mn-ea"/>
              </a:rPr>
              <a:t>用户界面设计</a:t>
            </a: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信息显示</a:t>
            </a:r>
          </a:p>
        </p:txBody>
      </p:sp>
      <p:sp>
        <p:nvSpPr>
          <p:cNvPr id="33" name="文本框 32"/>
          <p:cNvSpPr txBox="1"/>
          <p:nvPr/>
        </p:nvSpPr>
        <p:spPr>
          <a:xfrm>
            <a:off x="768975" y="2233534"/>
            <a:ext cx="461665" cy="3240166"/>
          </a:xfrm>
          <a:prstGeom prst="rect">
            <a:avLst/>
          </a:prstGeom>
          <a:noFill/>
        </p:spPr>
        <p:txBody>
          <a:bodyPr vert="eaVert" wrap="square" rtlCol="0">
            <a:spAutoFit/>
          </a:bodyPr>
          <a:lstStyle/>
          <a:p>
            <a:r>
              <a:rPr lang="en-US" altLang="zh-CN" spc="160" dirty="0">
                <a:solidFill>
                  <a:schemeClr val="bg1"/>
                </a:solidFill>
                <a:latin typeface="微软雅黑" panose="020B0503020204020204" charset="-122"/>
                <a:ea typeface="微软雅黑" panose="020B0503020204020204" charset="-122"/>
              </a:rPr>
              <a:t>3.6.3   </a:t>
            </a:r>
            <a:r>
              <a:rPr lang="zh-CN" altLang="en-US" spc="160" dirty="0">
                <a:solidFill>
                  <a:schemeClr val="bg1"/>
                </a:solidFill>
                <a:latin typeface="微软雅黑" panose="020B0503020204020204" charset="-122"/>
                <a:ea typeface="微软雅黑" panose="020B0503020204020204" charset="-122"/>
              </a:rPr>
              <a:t>用户界面设计指南</a:t>
            </a:r>
          </a:p>
        </p:txBody>
      </p:sp>
      <p:sp>
        <p:nvSpPr>
          <p:cNvPr id="2" name="TextBox 6"/>
          <p:cNvSpPr txBox="1"/>
          <p:nvPr/>
        </p:nvSpPr>
        <p:spPr>
          <a:xfrm>
            <a:off x="1406525" y="1945005"/>
            <a:ext cx="10493375" cy="3996690"/>
          </a:xfrm>
          <a:prstGeom prst="rect">
            <a:avLst/>
          </a:prstGeom>
          <a:noFill/>
        </p:spPr>
        <p:txBody>
          <a:bodyPr wrap="square" rtlCol="0">
            <a:spAutoFit/>
          </a:bodyPr>
          <a:lstStyle/>
          <a:p>
            <a:pPr marL="342900" indent="-342900">
              <a:lnSpc>
                <a:spcPct val="130000"/>
              </a:lnSpc>
              <a:spcAft>
                <a:spcPts val="300"/>
              </a:spcAft>
              <a:buFont typeface="+mj-ea"/>
              <a:buAutoNum type="circleNumDbPlain"/>
            </a:pPr>
            <a:r>
              <a:rPr lang="zh-CN" altLang="en-US" dirty="0">
                <a:latin typeface="微软雅黑" panose="020B0503020204020204" charset="-122"/>
                <a:ea typeface="微软雅黑" panose="020B0503020204020204" charset="-122"/>
              </a:rPr>
              <a:t>用户界面显示的信息应完整、清晰、易于理解。</a:t>
            </a:r>
          </a:p>
          <a:p>
            <a:pPr marL="342900" indent="-342900">
              <a:lnSpc>
                <a:spcPct val="130000"/>
              </a:lnSpc>
              <a:spcAft>
                <a:spcPts val="300"/>
              </a:spcAft>
              <a:buFont typeface="+mj-ea"/>
              <a:buAutoNum type="circleNumDbPlain"/>
            </a:pPr>
            <a:r>
              <a:rPr lang="zh-CN" altLang="en-US" dirty="0">
                <a:latin typeface="微软雅黑" panose="020B0503020204020204" charset="-122"/>
                <a:ea typeface="微软雅黑" panose="020B0503020204020204" charset="-122"/>
              </a:rPr>
              <a:t>可用不同方式显示信息：例如：文字、图片、声音</a:t>
            </a:r>
            <a:r>
              <a:rPr lang="zh-CN" altLang="en-US" dirty="0">
                <a:latin typeface="微软雅黑" panose="020B0503020204020204" charset="-122"/>
                <a:ea typeface="微软雅黑" panose="020B0503020204020204" charset="-122"/>
                <a:sym typeface="+mn-ea"/>
              </a:rPr>
              <a:t>、</a:t>
            </a:r>
            <a:r>
              <a:rPr lang="zh-CN" altLang="en-US" dirty="0">
                <a:latin typeface="微软雅黑" panose="020B0503020204020204" charset="-122"/>
                <a:ea typeface="微软雅黑" panose="020B0503020204020204" charset="-122"/>
              </a:rPr>
              <a:t>位置、移动</a:t>
            </a:r>
            <a:r>
              <a:rPr lang="zh-CN" altLang="en-US" dirty="0">
                <a:latin typeface="微软雅黑" panose="020B0503020204020204" charset="-122"/>
                <a:ea typeface="微软雅黑" panose="020B0503020204020204" charset="-122"/>
                <a:sym typeface="+mn-ea"/>
              </a:rPr>
              <a:t>、</a:t>
            </a:r>
            <a:r>
              <a:rPr lang="zh-CN" altLang="en-US" dirty="0">
                <a:latin typeface="微软雅黑" panose="020B0503020204020204" charset="-122"/>
                <a:ea typeface="微软雅黑" panose="020B0503020204020204" charset="-122"/>
              </a:rPr>
              <a:t>大小</a:t>
            </a:r>
            <a:r>
              <a:rPr lang="zh-CN" altLang="en-US" dirty="0">
                <a:latin typeface="微软雅黑" panose="020B0503020204020204" charset="-122"/>
                <a:ea typeface="微软雅黑" panose="020B0503020204020204" charset="-122"/>
                <a:sym typeface="+mn-ea"/>
              </a:rPr>
              <a:t>、</a:t>
            </a:r>
            <a:r>
              <a:rPr lang="zh-CN" altLang="en-US" dirty="0">
                <a:latin typeface="微软雅黑" panose="020B0503020204020204" charset="-122"/>
                <a:ea typeface="微软雅黑" panose="020B0503020204020204" charset="-122"/>
              </a:rPr>
              <a:t>颜色</a:t>
            </a:r>
            <a:r>
              <a:rPr lang="zh-CN" altLang="en-US" dirty="0">
                <a:latin typeface="微软雅黑" panose="020B0503020204020204" charset="-122"/>
                <a:ea typeface="微软雅黑" panose="020B0503020204020204" charset="-122"/>
                <a:sym typeface="+mn-ea"/>
              </a:rPr>
              <a:t>、</a:t>
            </a:r>
            <a:r>
              <a:rPr lang="zh-CN" altLang="en-US" dirty="0">
                <a:latin typeface="微软雅黑" panose="020B0503020204020204" charset="-122"/>
                <a:ea typeface="微软雅黑" panose="020B0503020204020204" charset="-122"/>
              </a:rPr>
              <a:t>分辨率和省略。</a:t>
            </a:r>
          </a:p>
          <a:p>
            <a:pPr marL="342900" indent="-342900">
              <a:lnSpc>
                <a:spcPct val="130000"/>
              </a:lnSpc>
              <a:spcAft>
                <a:spcPts val="300"/>
              </a:spcAft>
              <a:buFont typeface="+mj-ea"/>
              <a:buAutoNum type="circleNumDbPlain"/>
            </a:pPr>
            <a:r>
              <a:rPr lang="zh-CN" altLang="en-US" dirty="0">
                <a:latin typeface="微软雅黑" panose="020B0503020204020204" charset="-122"/>
                <a:ea typeface="微软雅黑" panose="020B0503020204020204" charset="-122"/>
              </a:rPr>
              <a:t>只显示与当前工作内容有关的信息。</a:t>
            </a:r>
          </a:p>
          <a:p>
            <a:pPr marL="342900" indent="-342900">
              <a:lnSpc>
                <a:spcPct val="130000"/>
              </a:lnSpc>
              <a:spcAft>
                <a:spcPts val="300"/>
              </a:spcAft>
              <a:buFont typeface="+mj-ea"/>
              <a:buAutoNum type="circleNumDbPlain"/>
            </a:pPr>
            <a:r>
              <a:rPr lang="zh-CN" altLang="en-US" dirty="0">
                <a:latin typeface="微软雅黑" panose="020B0503020204020204" charset="-122"/>
                <a:ea typeface="微软雅黑" panose="020B0503020204020204" charset="-122"/>
              </a:rPr>
              <a:t>使用一致的标记、标准的缩写、可预知的颜色，显示的含义应非常明确。</a:t>
            </a:r>
          </a:p>
          <a:p>
            <a:pPr marL="342900" indent="-342900">
              <a:lnSpc>
                <a:spcPct val="130000"/>
              </a:lnSpc>
              <a:spcAft>
                <a:spcPts val="300"/>
              </a:spcAft>
              <a:buFont typeface="+mj-ea"/>
              <a:buAutoNum type="circleNumDbPlain"/>
            </a:pPr>
            <a:r>
              <a:rPr lang="zh-CN" altLang="en-US" dirty="0">
                <a:latin typeface="微软雅黑" panose="020B0503020204020204" charset="-122"/>
                <a:ea typeface="微软雅黑" panose="020B0503020204020204" charset="-122"/>
              </a:rPr>
              <a:t>允许用户保持可视化语境。若对图形进行放缩，原始图形应一直显示。</a:t>
            </a:r>
          </a:p>
          <a:p>
            <a:pPr marL="342900" indent="-342900">
              <a:lnSpc>
                <a:spcPct val="130000"/>
              </a:lnSpc>
              <a:spcAft>
                <a:spcPts val="300"/>
              </a:spcAft>
              <a:buFont typeface="+mj-ea"/>
              <a:buAutoNum type="circleNumDbPlain"/>
            </a:pPr>
            <a:r>
              <a:rPr lang="zh-CN" altLang="en-US" dirty="0">
                <a:latin typeface="微软雅黑" panose="020B0503020204020204" charset="-122"/>
                <a:ea typeface="微软雅黑" panose="020B0503020204020204" charset="-122"/>
              </a:rPr>
              <a:t>产生有意义的出错信息。</a:t>
            </a:r>
          </a:p>
          <a:p>
            <a:pPr marL="342900" indent="-342900">
              <a:lnSpc>
                <a:spcPct val="130000"/>
              </a:lnSpc>
              <a:spcAft>
                <a:spcPts val="300"/>
              </a:spcAft>
              <a:buFont typeface="+mj-ea"/>
              <a:buAutoNum type="circleNumDbPlain"/>
            </a:pPr>
            <a:r>
              <a:rPr lang="zh-CN" altLang="en-US" dirty="0">
                <a:latin typeface="微软雅黑" panose="020B0503020204020204" charset="-122"/>
                <a:ea typeface="微软雅黑" panose="020B0503020204020204" charset="-122"/>
              </a:rPr>
              <a:t>使用大小写、缩进和文本分组帮助理解。</a:t>
            </a:r>
          </a:p>
          <a:p>
            <a:pPr marL="342900" indent="-342900">
              <a:lnSpc>
                <a:spcPct val="130000"/>
              </a:lnSpc>
              <a:spcAft>
                <a:spcPts val="300"/>
              </a:spcAft>
              <a:buFont typeface="+mj-ea"/>
              <a:buAutoNum type="circleNumDbPlain"/>
            </a:pPr>
            <a:r>
              <a:rPr lang="zh-CN" altLang="en-US" dirty="0">
                <a:latin typeface="微软雅黑" panose="020B0503020204020204" charset="-122"/>
                <a:ea typeface="微软雅黑" panose="020B0503020204020204" charset="-122"/>
              </a:rPr>
              <a:t>使用窗口分隔不同类型的信息。</a:t>
            </a:r>
          </a:p>
          <a:p>
            <a:pPr marL="342900" indent="-342900">
              <a:lnSpc>
                <a:spcPct val="130000"/>
              </a:lnSpc>
              <a:spcAft>
                <a:spcPts val="300"/>
              </a:spcAft>
              <a:buFont typeface="+mj-ea"/>
              <a:buAutoNum type="circleNumDbPlain"/>
            </a:pPr>
            <a:r>
              <a:rPr lang="zh-CN" altLang="en-US" dirty="0">
                <a:latin typeface="微软雅黑" panose="020B0503020204020204" charset="-122"/>
                <a:ea typeface="微软雅黑" panose="020B0503020204020204" charset="-122"/>
              </a:rPr>
              <a:t>使用模拟显示方式表示信息。例如，用颜色变化表示警告信息等。</a:t>
            </a:r>
          </a:p>
          <a:p>
            <a:pPr marL="342900" indent="-342900">
              <a:lnSpc>
                <a:spcPct val="130000"/>
              </a:lnSpc>
              <a:spcAft>
                <a:spcPts val="300"/>
              </a:spcAft>
              <a:buFont typeface="+mj-ea"/>
              <a:buAutoNum type="circleNumDbPlain"/>
            </a:pPr>
            <a:r>
              <a:rPr lang="zh-CN" altLang="en-US" dirty="0">
                <a:latin typeface="微软雅黑" panose="020B0503020204020204" charset="-122"/>
                <a:ea typeface="微软雅黑" panose="020B0503020204020204" charset="-122"/>
              </a:rPr>
              <a:t>高效率地使用显示屏。使用多窗口时，应使每个窗口都有空间显示信息。屏幕大小应选择得当。</a:t>
            </a:r>
          </a:p>
        </p:txBody>
      </p:sp>
    </p:spTree>
  </p:cSld>
  <p:clrMapOvr>
    <a:masterClrMapping/>
  </p:clrMapOvr>
  <p:transition>
    <p:fade thruBlk="1"/>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6 </a:t>
            </a:r>
            <a:r>
              <a:rPr lang="zh-CN" altLang="en-US" dirty="0">
                <a:sym typeface="+mn-ea"/>
              </a:rPr>
              <a:t>用户界面设计</a:t>
            </a: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数据输入</a:t>
            </a:r>
          </a:p>
        </p:txBody>
      </p:sp>
      <p:sp>
        <p:nvSpPr>
          <p:cNvPr id="33" name="文本框 32"/>
          <p:cNvSpPr txBox="1"/>
          <p:nvPr/>
        </p:nvSpPr>
        <p:spPr>
          <a:xfrm>
            <a:off x="768974" y="2038662"/>
            <a:ext cx="461665" cy="3016573"/>
          </a:xfrm>
          <a:prstGeom prst="rect">
            <a:avLst/>
          </a:prstGeom>
          <a:noFill/>
        </p:spPr>
        <p:txBody>
          <a:bodyPr vert="eaVert" wrap="square" rtlCol="0">
            <a:spAutoFit/>
          </a:bodyPr>
          <a:lstStyle/>
          <a:p>
            <a:r>
              <a:rPr lang="en-US" altLang="zh-CN" spc="160" dirty="0">
                <a:solidFill>
                  <a:schemeClr val="bg1"/>
                </a:solidFill>
                <a:latin typeface="微软雅黑" panose="020B0503020204020204" charset="-122"/>
                <a:ea typeface="微软雅黑" panose="020B0503020204020204" charset="-122"/>
              </a:rPr>
              <a:t>3.6.3   </a:t>
            </a:r>
            <a:r>
              <a:rPr lang="zh-CN" altLang="en-US" spc="160" dirty="0">
                <a:solidFill>
                  <a:schemeClr val="bg1"/>
                </a:solidFill>
                <a:latin typeface="微软雅黑" panose="020B0503020204020204" charset="-122"/>
                <a:ea typeface="微软雅黑" panose="020B0503020204020204" charset="-122"/>
              </a:rPr>
              <a:t>用户界面设计指南</a:t>
            </a:r>
          </a:p>
        </p:txBody>
      </p:sp>
      <p:sp>
        <p:nvSpPr>
          <p:cNvPr id="31" name="TextBox 6"/>
          <p:cNvSpPr txBox="1"/>
          <p:nvPr/>
        </p:nvSpPr>
        <p:spPr>
          <a:xfrm>
            <a:off x="1061085" y="1927860"/>
            <a:ext cx="10528935" cy="3976370"/>
          </a:xfrm>
          <a:prstGeom prst="rect">
            <a:avLst/>
          </a:prstGeom>
          <a:noFill/>
        </p:spPr>
        <p:txBody>
          <a:bodyPr wrap="square" rtlCol="0">
            <a:spAutoFit/>
          </a:bodyPr>
          <a:lstStyle/>
          <a:p>
            <a:pPr marL="342900" indent="342265" fontAlgn="auto">
              <a:lnSpc>
                <a:spcPct val="120000"/>
              </a:lnSpc>
              <a:spcAft>
                <a:spcPts val="300"/>
              </a:spcAft>
              <a:buFont typeface="+mj-ea"/>
              <a:buAutoNum type="circleNumDbPlain"/>
            </a:pPr>
            <a:r>
              <a:rPr lang="zh-CN" altLang="en-US" dirty="0">
                <a:latin typeface="微软雅黑" panose="020B0503020204020204" charset="-122"/>
                <a:ea typeface="微软雅黑" panose="020B0503020204020204" charset="-122"/>
              </a:rPr>
              <a:t>尽量减少用户的输入动作。用鼠标从预定的一组输入中选择一个；然后在给定的值域中指定输入值；利用宏命令把一次击键转变为复杂的输入数据集。</a:t>
            </a:r>
          </a:p>
          <a:p>
            <a:pPr marL="342900" indent="342265" fontAlgn="auto">
              <a:lnSpc>
                <a:spcPct val="120000"/>
              </a:lnSpc>
              <a:spcAft>
                <a:spcPts val="300"/>
              </a:spcAft>
              <a:buFont typeface="+mj-ea"/>
              <a:buAutoNum type="circleNumDbPlain"/>
            </a:pPr>
            <a:r>
              <a:rPr lang="zh-CN" altLang="en-US" dirty="0">
                <a:latin typeface="微软雅黑" panose="020B0503020204020204" charset="-122"/>
                <a:ea typeface="微软雅黑" panose="020B0503020204020204" charset="-122"/>
              </a:rPr>
              <a:t>保持信息显示和数据输入的一致性，如文字大小、颜色、位置与输入一致。</a:t>
            </a:r>
          </a:p>
          <a:p>
            <a:pPr marL="342900" indent="342265" fontAlgn="auto">
              <a:lnSpc>
                <a:spcPct val="120000"/>
              </a:lnSpc>
              <a:spcAft>
                <a:spcPts val="300"/>
              </a:spcAft>
              <a:buFont typeface="+mj-ea"/>
              <a:buAutoNum type="circleNumDbPlain"/>
            </a:pPr>
            <a:r>
              <a:rPr lang="zh-CN" altLang="en-US" dirty="0">
                <a:latin typeface="微软雅黑" panose="020B0503020204020204" charset="-122"/>
                <a:ea typeface="微软雅黑" panose="020B0503020204020204" charset="-122"/>
              </a:rPr>
              <a:t>允许用户自己定义输入，如定义专用命令、警告信息和动作确认等。</a:t>
            </a:r>
          </a:p>
          <a:p>
            <a:pPr marL="342900" indent="342265" fontAlgn="auto">
              <a:lnSpc>
                <a:spcPct val="120000"/>
              </a:lnSpc>
              <a:spcAft>
                <a:spcPts val="300"/>
              </a:spcAft>
              <a:buFont typeface="+mj-ea"/>
              <a:buAutoNum type="circleNumDbPlain"/>
            </a:pPr>
            <a:r>
              <a:rPr lang="zh-CN" altLang="en-US" dirty="0">
                <a:latin typeface="微软雅黑" panose="020B0503020204020204" charset="-122"/>
                <a:ea typeface="微软雅黑" panose="020B0503020204020204" charset="-122"/>
              </a:rPr>
              <a:t>允许用户选择输入方式（键盘、鼠标）等。</a:t>
            </a:r>
          </a:p>
          <a:p>
            <a:pPr marL="342900" indent="342265" fontAlgn="auto">
              <a:lnSpc>
                <a:spcPct val="120000"/>
              </a:lnSpc>
              <a:spcAft>
                <a:spcPts val="300"/>
              </a:spcAft>
              <a:buFont typeface="+mj-ea"/>
              <a:buAutoNum type="circleNumDbPlain"/>
            </a:pPr>
            <a:r>
              <a:rPr lang="zh-CN" altLang="en-US" dirty="0">
                <a:latin typeface="微软雅黑" panose="020B0503020204020204" charset="-122"/>
                <a:ea typeface="微软雅黑" panose="020B0503020204020204" charset="-122"/>
              </a:rPr>
              <a:t>使当前不适用的命令不起作用。</a:t>
            </a:r>
          </a:p>
          <a:p>
            <a:pPr marL="342900" indent="342265" fontAlgn="auto">
              <a:lnSpc>
                <a:spcPct val="120000"/>
              </a:lnSpc>
              <a:spcAft>
                <a:spcPts val="300"/>
              </a:spcAft>
              <a:buFont typeface="+mj-ea"/>
              <a:buAutoNum type="circleNumDbPlain"/>
            </a:pPr>
            <a:r>
              <a:rPr lang="zh-CN" altLang="en-US" dirty="0">
                <a:latin typeface="微软雅黑" panose="020B0503020204020204" charset="-122"/>
                <a:ea typeface="微软雅黑" panose="020B0503020204020204" charset="-122"/>
              </a:rPr>
              <a:t>让用户控制交互流程。跳过不必要的动作，改变工作的顺序，从错误状态中恢复正常。</a:t>
            </a:r>
          </a:p>
          <a:p>
            <a:pPr marL="342900" indent="342265" fontAlgn="auto">
              <a:lnSpc>
                <a:spcPct val="120000"/>
              </a:lnSpc>
              <a:spcAft>
                <a:spcPts val="300"/>
              </a:spcAft>
              <a:buFont typeface="+mj-ea"/>
              <a:buAutoNum type="circleNumDbPlain"/>
            </a:pPr>
            <a:r>
              <a:rPr lang="zh-CN" altLang="en-US" dirty="0">
                <a:latin typeface="微软雅黑" panose="020B0503020204020204" charset="-122"/>
                <a:ea typeface="微软雅黑" panose="020B0503020204020204" charset="-122"/>
              </a:rPr>
              <a:t>对所有的输入动作提供帮助。</a:t>
            </a:r>
          </a:p>
          <a:p>
            <a:pPr marL="342900" indent="342265" fontAlgn="auto">
              <a:lnSpc>
                <a:spcPct val="120000"/>
              </a:lnSpc>
              <a:spcAft>
                <a:spcPts val="300"/>
              </a:spcAft>
              <a:buFont typeface="+mj-ea"/>
              <a:buAutoNum type="circleNumDbPlain"/>
            </a:pPr>
            <a:r>
              <a:rPr lang="zh-CN" altLang="en-US" dirty="0">
                <a:latin typeface="微软雅黑" panose="020B0503020204020204" charset="-122"/>
                <a:ea typeface="微软雅黑" panose="020B0503020204020204" charset="-122"/>
              </a:rPr>
              <a:t>消除冗余的输入。绝对不要要求用户提供程序可以自动获得或计算出来的信息。例如，当前日期、时间等可以自动获得；又如姓名、性别、部门、职称等信息预先存放在数据库里，只要输入职工号，就可以程序调用显示其对应的姓名、性别、部门、职称等信息；整数后面不要求用户输入“00”。</a:t>
            </a:r>
          </a:p>
        </p:txBody>
      </p:sp>
    </p:spTree>
  </p:cSld>
  <p:clrMapOvr>
    <a:masterClrMapping/>
  </p:clrMapOvr>
  <p:transition>
    <p:fade thruBlk="1"/>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latin typeface="Times New Roman" panose="02020603050405020304" pitchFamily="18" charset="0"/>
            </a:endParaRPr>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7</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数据代码设计</a:t>
            </a:r>
          </a:p>
        </p:txBody>
      </p:sp>
      <p:sp>
        <p:nvSpPr>
          <p:cNvPr id="48" name="文本框 47"/>
          <p:cNvSpPr txBox="1"/>
          <p:nvPr/>
        </p:nvSpPr>
        <p:spPr>
          <a:xfrm>
            <a:off x="6006465" y="411416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代码的功能和性质</a:t>
            </a:r>
          </a:p>
        </p:txBody>
      </p:sp>
      <p:sp>
        <p:nvSpPr>
          <p:cNvPr id="50" name="文本框 49"/>
          <p:cNvSpPr txBox="1"/>
          <p:nvPr/>
        </p:nvSpPr>
        <p:spPr>
          <a:xfrm>
            <a:off x="6006465" y="4719320"/>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代码的设计原则</a:t>
            </a:r>
          </a:p>
        </p:txBody>
      </p:sp>
      <p:sp>
        <p:nvSpPr>
          <p:cNvPr id="6" name="文本框 5"/>
          <p:cNvSpPr txBox="1"/>
          <p:nvPr/>
        </p:nvSpPr>
        <p:spPr>
          <a:xfrm>
            <a:off x="6006465" y="5340350"/>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代码的种类</a:t>
            </a:r>
          </a:p>
        </p:txBody>
      </p:sp>
      <p:sp>
        <p:nvSpPr>
          <p:cNvPr id="7" name="文本框 6"/>
          <p:cNvSpPr txBox="1"/>
          <p:nvPr/>
        </p:nvSpPr>
        <p:spPr>
          <a:xfrm>
            <a:off x="6006465" y="5946140"/>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代码的设计方法</a:t>
            </a:r>
          </a:p>
        </p:txBody>
      </p:sp>
    </p:spTree>
  </p:cSld>
  <p:clrMapOvr>
    <a:masterClrMapping/>
  </p:clrMapOvr>
  <p:transition spd="slow">
    <p:wip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dirty="0">
                <a:sym typeface="+mn-ea"/>
              </a:rPr>
              <a:t>3.7 </a:t>
            </a:r>
            <a:r>
              <a:rPr lang="zh-CN" altLang="en-US" dirty="0">
                <a:sym typeface="+mn-ea"/>
              </a:rPr>
              <a:t>数据代码设计</a:t>
            </a:r>
            <a:endParaRPr lang="en-US" dirty="0">
              <a:sym typeface="+mn-ea"/>
            </a:endParaRP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代码的定义和功能</a:t>
            </a:r>
          </a:p>
        </p:txBody>
      </p:sp>
      <p:sp>
        <p:nvSpPr>
          <p:cNvPr id="33" name="文本框 32"/>
          <p:cNvSpPr txBox="1"/>
          <p:nvPr/>
        </p:nvSpPr>
        <p:spPr>
          <a:xfrm>
            <a:off x="768974" y="2278506"/>
            <a:ext cx="461665" cy="3070100"/>
          </a:xfrm>
          <a:prstGeom prst="rect">
            <a:avLst/>
          </a:prstGeom>
          <a:noFill/>
        </p:spPr>
        <p:txBody>
          <a:bodyPr vert="eaVert" wrap="square" rtlCol="0">
            <a:spAutoFit/>
          </a:bodyPr>
          <a:lstStyle/>
          <a:p>
            <a:r>
              <a:rPr lang="en-US" spc="160" dirty="0">
                <a:solidFill>
                  <a:schemeClr val="bg1"/>
                </a:solidFill>
                <a:latin typeface="微软雅黑" panose="020B0503020204020204" charset="-122"/>
                <a:ea typeface="微软雅黑" panose="020B0503020204020204" charset="-122"/>
              </a:rPr>
              <a:t> </a:t>
            </a:r>
            <a:r>
              <a:rPr lang="en-US" altLang="zh-CN" spc="160" dirty="0">
                <a:solidFill>
                  <a:schemeClr val="bg1"/>
                </a:solidFill>
                <a:latin typeface="微软雅黑" panose="020B0503020204020204" charset="-122"/>
                <a:ea typeface="微软雅黑" panose="020B0503020204020204" charset="-122"/>
              </a:rPr>
              <a:t>3.7.1   </a:t>
            </a:r>
            <a:r>
              <a:rPr lang="zh-CN" altLang="en-US" spc="160" dirty="0">
                <a:solidFill>
                  <a:schemeClr val="bg1"/>
                </a:solidFill>
                <a:latin typeface="微软雅黑" panose="020B0503020204020204" charset="-122"/>
                <a:ea typeface="微软雅黑" panose="020B0503020204020204" charset="-122"/>
              </a:rPr>
              <a:t>代码的功能和性质</a:t>
            </a:r>
          </a:p>
        </p:txBody>
      </p:sp>
      <p:sp>
        <p:nvSpPr>
          <p:cNvPr id="31" name="TextBox 6"/>
          <p:cNvSpPr txBox="1"/>
          <p:nvPr/>
        </p:nvSpPr>
        <p:spPr>
          <a:xfrm>
            <a:off x="1524000" y="2276475"/>
            <a:ext cx="6102985" cy="2305050"/>
          </a:xfrm>
          <a:prstGeom prst="rect">
            <a:avLst/>
          </a:prstGeom>
          <a:noFill/>
        </p:spPr>
        <p:txBody>
          <a:bodyPr wrap="square" rtlCol="0">
            <a:spAutoFit/>
          </a:bodyPr>
          <a:lstStyle/>
          <a:p>
            <a:pPr indent="0" fontAlgn="auto">
              <a:lnSpc>
                <a:spcPct val="130000"/>
              </a:lnSpc>
              <a:spcAft>
                <a:spcPts val="300"/>
              </a:spcAft>
              <a:buNone/>
            </a:pPr>
            <a:r>
              <a:rPr lang="en-US" altLang="zh-CN" dirty="0">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rPr>
              <a:t>代码是为了对数据进行识别、分类、排序等操作所使用的数字、文字或符号。</a:t>
            </a:r>
          </a:p>
          <a:p>
            <a:pPr indent="0" fontAlgn="auto">
              <a:lnSpc>
                <a:spcPct val="130000"/>
              </a:lnSpc>
              <a:spcAft>
                <a:spcPts val="300"/>
              </a:spcAft>
              <a:buNone/>
            </a:pPr>
            <a:r>
              <a:rPr lang="zh-CN" altLang="en-US" dirty="0">
                <a:latin typeface="微软雅黑" panose="020B0503020204020204" charset="-122"/>
                <a:ea typeface="微软雅黑" panose="020B0503020204020204" charset="-122"/>
              </a:rPr>
              <a:t>       代码具有识别、分类和排序3项基本功能。尤其在信息处理系统中，代码应用涉及的面广、量大，必须从系统的整体出发，综合考虑各方面的因素，精心设计信息代码。</a:t>
            </a:r>
          </a:p>
          <a:p>
            <a:pPr indent="0" fontAlgn="auto">
              <a:lnSpc>
                <a:spcPct val="130000"/>
              </a:lnSpc>
              <a:spcAft>
                <a:spcPts val="300"/>
              </a:spcAft>
              <a:buNone/>
            </a:pPr>
            <a:r>
              <a:rPr lang="zh-CN" altLang="en-US" dirty="0">
                <a:latin typeface="微软雅黑" panose="020B0503020204020204" charset="-122"/>
                <a:ea typeface="微软雅黑" panose="020B0503020204020204" charset="-122"/>
              </a:rPr>
              <a:t>       </a:t>
            </a:r>
          </a:p>
        </p:txBody>
      </p:sp>
      <p:sp>
        <p:nvSpPr>
          <p:cNvPr id="5" name="文本框 4"/>
          <p:cNvSpPr txBox="1"/>
          <p:nvPr/>
        </p:nvSpPr>
        <p:spPr>
          <a:xfrm>
            <a:off x="1524000" y="4328160"/>
            <a:ext cx="10066020" cy="1434465"/>
          </a:xfrm>
          <a:prstGeom prst="rect">
            <a:avLst/>
          </a:prstGeom>
          <a:noFill/>
        </p:spPr>
        <p:txBody>
          <a:bodyPr wrap="square" rtlCol="0">
            <a:spAutoFit/>
          </a:bodyPr>
          <a:lstStyle/>
          <a:p>
            <a:pPr fontAlgn="auto">
              <a:lnSpc>
                <a:spcPct val="130000"/>
              </a:lnSpc>
            </a:pPr>
            <a:r>
              <a:rPr lang="en-US" altLang="zh-CN"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在一个系统中，如果使用的代码复杂、量大，人们无法准确地记忆，可以用代码词典记录代码与数据之间的对应关系，必要时，可以设计代码联机查询功能，以方便用户的使用和查找。有时，代码需要随时进行增加、删除、修改、查询等，可以设计相应的代码管理功能。</a:t>
            </a:r>
            <a:endParaRPr lang="zh-CN" altLang="en-US" dirty="0">
              <a:latin typeface="微软雅黑" panose="020B0503020204020204" charset="-122"/>
              <a:ea typeface="微软雅黑" panose="020B0503020204020204" charset="-122"/>
            </a:endParaRPr>
          </a:p>
          <a:p>
            <a:endParaRPr lang="zh-CN" altLang="en-US"/>
          </a:p>
        </p:txBody>
      </p:sp>
      <p:pic>
        <p:nvPicPr>
          <p:cNvPr id="6" name="图片 5" descr="15Q58PICAS4_1024"/>
          <p:cNvPicPr>
            <a:picLocks noChangeAspect="1"/>
          </p:cNvPicPr>
          <p:nvPr/>
        </p:nvPicPr>
        <p:blipFill>
          <a:blip r:embed="rId3" cstate="print"/>
          <a:stretch>
            <a:fillRect/>
          </a:stretch>
        </p:blipFill>
        <p:spPr>
          <a:xfrm>
            <a:off x="7684135" y="1983105"/>
            <a:ext cx="3905885" cy="2220595"/>
          </a:xfrm>
          <a:prstGeom prst="rect">
            <a:avLst/>
          </a:prstGeom>
        </p:spPr>
      </p:pic>
    </p:spTree>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dirty="0">
                <a:sym typeface="+mn-ea"/>
              </a:rPr>
              <a:t>3.7 </a:t>
            </a:r>
            <a:r>
              <a:rPr lang="zh-CN" altLang="en-US" dirty="0">
                <a:sym typeface="+mn-ea"/>
              </a:rPr>
              <a:t>数据代码设计</a:t>
            </a:r>
            <a:endParaRPr lang="en-US" dirty="0">
              <a:sym typeface="+mn-ea"/>
            </a:endParaRP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代码的</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性质</a:t>
            </a:r>
          </a:p>
        </p:txBody>
      </p:sp>
      <p:sp>
        <p:nvSpPr>
          <p:cNvPr id="33" name="文本框 32"/>
          <p:cNvSpPr txBox="1"/>
          <p:nvPr/>
        </p:nvSpPr>
        <p:spPr>
          <a:xfrm>
            <a:off x="768973" y="2353456"/>
            <a:ext cx="461665" cy="3013023"/>
          </a:xfrm>
          <a:prstGeom prst="rect">
            <a:avLst/>
          </a:prstGeom>
          <a:noFill/>
        </p:spPr>
        <p:txBody>
          <a:bodyPr vert="eaVert" wrap="square" rtlCol="0">
            <a:spAutoFit/>
          </a:bodyPr>
          <a:lstStyle/>
          <a:p>
            <a:r>
              <a:rPr lang="en-US" spc="160" dirty="0">
                <a:solidFill>
                  <a:schemeClr val="bg1"/>
                </a:solidFill>
                <a:latin typeface="微软雅黑" panose="020B0503020204020204" charset="-122"/>
                <a:ea typeface="微软雅黑" panose="020B0503020204020204" charset="-122"/>
              </a:rPr>
              <a:t> </a:t>
            </a:r>
            <a:r>
              <a:rPr lang="en-US" altLang="zh-CN" spc="160" dirty="0">
                <a:solidFill>
                  <a:schemeClr val="bg1"/>
                </a:solidFill>
                <a:latin typeface="微软雅黑" panose="020B0503020204020204" charset="-122"/>
                <a:ea typeface="微软雅黑" panose="020B0503020204020204" charset="-122"/>
              </a:rPr>
              <a:t>3.7.1 </a:t>
            </a:r>
            <a:r>
              <a:rPr lang="zh-CN" altLang="en-US" spc="160" dirty="0">
                <a:solidFill>
                  <a:schemeClr val="bg1"/>
                </a:solidFill>
                <a:latin typeface="微软雅黑" panose="020B0503020204020204" charset="-122"/>
                <a:ea typeface="微软雅黑" panose="020B0503020204020204" charset="-122"/>
              </a:rPr>
              <a:t>代码的功能和性质</a:t>
            </a:r>
          </a:p>
        </p:txBody>
      </p:sp>
      <p:sp>
        <p:nvSpPr>
          <p:cNvPr id="31" name="TextBox 6"/>
          <p:cNvSpPr txBox="1"/>
          <p:nvPr/>
        </p:nvSpPr>
        <p:spPr>
          <a:xfrm>
            <a:off x="1533525" y="2167890"/>
            <a:ext cx="5058410" cy="3533140"/>
          </a:xfrm>
          <a:prstGeom prst="rect">
            <a:avLst/>
          </a:prstGeom>
          <a:noFill/>
        </p:spPr>
        <p:txBody>
          <a:bodyPr wrap="square" rtlCol="0">
            <a:spAutoFit/>
          </a:bodyPr>
          <a:lstStyle/>
          <a:p>
            <a:pPr indent="0" fontAlgn="auto">
              <a:lnSpc>
                <a:spcPct val="120000"/>
              </a:lnSpc>
              <a:spcAft>
                <a:spcPts val="300"/>
              </a:spcAft>
              <a:buNone/>
            </a:pPr>
            <a:r>
              <a:rPr lang="zh-CN" altLang="en-US" dirty="0">
                <a:latin typeface="微软雅黑" panose="020B0503020204020204" charset="-122"/>
                <a:ea typeface="微软雅黑" panose="020B0503020204020204" charset="-122"/>
              </a:rPr>
              <a:t>代码具有简洁性、保密性、可扩充性和持久性。</a:t>
            </a:r>
          </a:p>
          <a:p>
            <a:pPr marL="285750" indent="-285750" fontAlgn="auto">
              <a:lnSpc>
                <a:spcPct val="120000"/>
              </a:lnSpc>
              <a:spcAft>
                <a:spcPts val="300"/>
              </a:spcAft>
              <a:buClrTx/>
              <a:buFont typeface="Wingdings" panose="05000000000000000000" charset="0"/>
              <a:buChar char="Ø"/>
            </a:pPr>
            <a:r>
              <a:rPr lang="zh-CN" altLang="en-US" dirty="0">
                <a:solidFill>
                  <a:srgbClr val="C00000"/>
                </a:solidFill>
                <a:latin typeface="微软雅黑" panose="020B0503020204020204" charset="-122"/>
                <a:ea typeface="微软雅黑" panose="020B0503020204020204" charset="-122"/>
              </a:rPr>
              <a:t>简洁性</a:t>
            </a:r>
            <a:r>
              <a:rPr lang="zh-CN" altLang="en-US" dirty="0">
                <a:latin typeface="微软雅黑" panose="020B0503020204020204" charset="-122"/>
                <a:ea typeface="微软雅黑" panose="020B0503020204020204" charset="-122"/>
              </a:rPr>
              <a:t>：代码可以减少存储空间，要求消除二义性。</a:t>
            </a:r>
          </a:p>
          <a:p>
            <a:pPr marL="285750" indent="-285750" fontAlgn="auto">
              <a:lnSpc>
                <a:spcPct val="120000"/>
              </a:lnSpc>
              <a:spcAft>
                <a:spcPts val="300"/>
              </a:spcAft>
              <a:buClrTx/>
              <a:buFont typeface="Wingdings" panose="05000000000000000000" charset="0"/>
              <a:buChar char="Ø"/>
            </a:pPr>
            <a:r>
              <a:rPr lang="zh-CN" altLang="en-US" dirty="0">
                <a:solidFill>
                  <a:srgbClr val="C00000"/>
                </a:solidFill>
                <a:latin typeface="微软雅黑" panose="020B0503020204020204" charset="-122"/>
                <a:ea typeface="微软雅黑" panose="020B0503020204020204" charset="-122"/>
              </a:rPr>
              <a:t>保密性</a:t>
            </a:r>
            <a:r>
              <a:rPr lang="zh-CN" altLang="en-US" dirty="0">
                <a:latin typeface="微软雅黑" panose="020B0503020204020204" charset="-122"/>
                <a:ea typeface="微软雅黑" panose="020B0503020204020204" charset="-122"/>
              </a:rPr>
              <a:t>：不了解编码规则的人不知道代码的含义。</a:t>
            </a:r>
          </a:p>
          <a:p>
            <a:pPr marL="285750" indent="-285750" fontAlgn="auto">
              <a:lnSpc>
                <a:spcPct val="120000"/>
              </a:lnSpc>
              <a:spcAft>
                <a:spcPts val="300"/>
              </a:spcAft>
              <a:buClrTx/>
              <a:buFont typeface="Wingdings" panose="05000000000000000000" charset="0"/>
              <a:buChar char="Ø"/>
            </a:pPr>
            <a:r>
              <a:rPr lang="zh-CN" altLang="en-US" dirty="0">
                <a:solidFill>
                  <a:srgbClr val="C00000"/>
                </a:solidFill>
                <a:latin typeface="微软雅黑" panose="020B0503020204020204" charset="-122"/>
                <a:ea typeface="微软雅黑" panose="020B0503020204020204" charset="-122"/>
              </a:rPr>
              <a:t>可扩充性</a:t>
            </a:r>
            <a:r>
              <a:rPr lang="zh-CN" altLang="en-US" dirty="0">
                <a:latin typeface="微软雅黑" panose="020B0503020204020204" charset="-122"/>
                <a:ea typeface="微软雅黑" panose="020B0503020204020204" charset="-122"/>
              </a:rPr>
              <a:t>：设计代码时要留有余地，方便软件生存期内增加代码。</a:t>
            </a:r>
          </a:p>
          <a:p>
            <a:pPr marL="285750" indent="-285750" fontAlgn="auto">
              <a:lnSpc>
                <a:spcPct val="120000"/>
              </a:lnSpc>
              <a:spcAft>
                <a:spcPts val="300"/>
              </a:spcAft>
              <a:buClrTx/>
              <a:buFont typeface="Wingdings" panose="05000000000000000000" charset="0"/>
              <a:buChar char="Ø"/>
            </a:pPr>
            <a:r>
              <a:rPr lang="zh-CN" altLang="en-US" dirty="0">
                <a:solidFill>
                  <a:srgbClr val="C00000"/>
                </a:solidFill>
                <a:latin typeface="微软雅黑" panose="020B0503020204020204" charset="-122"/>
                <a:ea typeface="微软雅黑" panose="020B0503020204020204" charset="-122"/>
              </a:rPr>
              <a:t>持久性</a:t>
            </a:r>
            <a:r>
              <a:rPr lang="zh-CN" altLang="en-US" dirty="0">
                <a:latin typeface="微软雅黑" panose="020B0503020204020204" charset="-122"/>
                <a:ea typeface="微软雅黑" panose="020B0503020204020204" charset="-122"/>
              </a:rPr>
              <a:t>：代码应可以在软件生存期内长久使用。设计代码时，要考虑到代码的变换会影响数据库和程序。</a:t>
            </a:r>
          </a:p>
        </p:txBody>
      </p:sp>
      <p:pic>
        <p:nvPicPr>
          <p:cNvPr id="4" name="图片 3" descr="wKioL1bD1cSjOHDUAAD3bqlL5IM770"/>
          <p:cNvPicPr>
            <a:picLocks noChangeAspect="1"/>
          </p:cNvPicPr>
          <p:nvPr/>
        </p:nvPicPr>
        <p:blipFill>
          <a:blip r:embed="rId3" cstate="print"/>
          <a:stretch>
            <a:fillRect/>
          </a:stretch>
        </p:blipFill>
        <p:spPr>
          <a:xfrm>
            <a:off x="6763385" y="2466975"/>
            <a:ext cx="4704715" cy="2702560"/>
          </a:xfrm>
          <a:prstGeom prst="rect">
            <a:avLst/>
          </a:prstGeom>
        </p:spPr>
      </p:pic>
    </p:spTree>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7 </a:t>
            </a:r>
            <a:r>
              <a:rPr lang="zh-CN" altLang="en-US">
                <a:sym typeface="+mn-ea"/>
              </a:rPr>
              <a:t>数据代码设计</a:t>
            </a: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3.7.2 </a:t>
            </a:r>
            <a:r>
              <a:rPr lang="zh-CN" altLang="en-US" sz="2400" dirty="0">
                <a:solidFill>
                  <a:schemeClr val="tx1"/>
                </a:solidFill>
              </a:rPr>
              <a:t>代码的设计原则</a:t>
            </a:r>
            <a:endParaRPr lang="zh-CN" altLang="en-US" sz="2400" dirty="0">
              <a:solidFill>
                <a:schemeClr val="tx1"/>
              </a:solidFill>
              <a:sym typeface="+mn-ea"/>
            </a:endParaRPr>
          </a:p>
        </p:txBody>
      </p:sp>
      <p:grpSp>
        <p:nvGrpSpPr>
          <p:cNvPr id="29" name="组合 28"/>
          <p:cNvGrpSpPr/>
          <p:nvPr/>
        </p:nvGrpSpPr>
        <p:grpSpPr>
          <a:xfrm>
            <a:off x="754380" y="4744720"/>
            <a:ext cx="10764520" cy="1363345"/>
            <a:chOff x="1216" y="8240"/>
            <a:chExt cx="16952" cy="2147"/>
          </a:xfrm>
        </p:grpSpPr>
        <p:sp>
          <p:nvSpPr>
            <p:cNvPr id="43" name="Oval 22"/>
            <p:cNvSpPr/>
            <p:nvPr>
              <p:custDataLst>
                <p:tags r:id="rId19"/>
              </p:custDataLst>
            </p:nvPr>
          </p:nvSpPr>
          <p:spPr>
            <a:xfrm>
              <a:off x="1216" y="8411"/>
              <a:ext cx="1222" cy="1220"/>
            </a:xfrm>
            <a:prstGeom prst="ellipse">
              <a:avLst/>
            </a:prstGeom>
            <a:solidFill>
              <a:schemeClr val="accent6"/>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56" name="文本框 22"/>
            <p:cNvSpPr txBox="1">
              <a:spLocks noChangeArrowheads="1"/>
            </p:cNvSpPr>
            <p:nvPr>
              <p:custDataLst>
                <p:tags r:id="rId20"/>
              </p:custDataLst>
            </p:nvPr>
          </p:nvSpPr>
          <p:spPr bwMode="auto">
            <a:xfrm>
              <a:off x="2633" y="8240"/>
              <a:ext cx="3745"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a:latin typeface="+mj-lt"/>
                  <a:ea typeface="+mj-ea"/>
                  <a:cs typeface="+mj-cs"/>
                </a:rPr>
                <a:t>可扩充性</a:t>
              </a:r>
            </a:p>
          </p:txBody>
        </p:sp>
        <p:sp>
          <p:nvSpPr>
            <p:cNvPr id="47" name="Oval 25"/>
            <p:cNvSpPr/>
            <p:nvPr>
              <p:custDataLst>
                <p:tags r:id="rId21"/>
              </p:custDataLst>
            </p:nvPr>
          </p:nvSpPr>
          <p:spPr>
            <a:xfrm>
              <a:off x="10160" y="8398"/>
              <a:ext cx="1223" cy="1222"/>
            </a:xfrm>
            <a:prstGeom prst="ellipse">
              <a:avLst/>
            </a:prstGeom>
            <a:solidFill>
              <a:schemeClr val="accent4"/>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62" name="文本框 28"/>
            <p:cNvSpPr txBox="1">
              <a:spLocks noChangeArrowheads="1"/>
            </p:cNvSpPr>
            <p:nvPr>
              <p:custDataLst>
                <p:tags r:id="rId22"/>
              </p:custDataLst>
            </p:nvPr>
          </p:nvSpPr>
          <p:spPr bwMode="auto">
            <a:xfrm>
              <a:off x="11540" y="8240"/>
              <a:ext cx="374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a:latin typeface="+mj-lt"/>
                  <a:ea typeface="+mj-ea"/>
                  <a:cs typeface="+mj-cs"/>
                </a:rPr>
                <a:t>适应性</a:t>
              </a:r>
            </a:p>
          </p:txBody>
        </p:sp>
        <p:sp>
          <p:nvSpPr>
            <p:cNvPr id="16" name="文本框 15"/>
            <p:cNvSpPr txBox="1"/>
            <p:nvPr>
              <p:custDataLst>
                <p:tags r:id="rId23"/>
              </p:custDataLst>
            </p:nvPr>
          </p:nvSpPr>
          <p:spPr>
            <a:xfrm>
              <a:off x="11540" y="8866"/>
              <a:ext cx="6628" cy="1521"/>
            </a:xfrm>
            <a:prstGeom prst="rect">
              <a:avLst/>
            </a:prstGeom>
          </p:spPr>
          <p:txBody>
            <a:bodyPr lIns="90000" tIns="46800" rIns="90000" bIns="46800">
              <a:normAutofit/>
            </a:bodyPr>
            <a:lstStyle>
              <a:defPPr>
                <a:defRPr lang="zh-CN"/>
              </a:defPPr>
              <a:lvl1pPr>
                <a:spcBef>
                  <a:spcPts val="0"/>
                </a:spcBef>
                <a:spcAft>
                  <a:spcPts val="0"/>
                </a:spcAft>
                <a:defRPr sz="1800"/>
              </a:lvl1pPr>
            </a:lstStyle>
            <a:p>
              <a:r>
                <a:rPr lang="zh-CN" altLang="en-US" dirty="0"/>
                <a:t>代码要尽可能反映信息的特点，唯一地标识某些特征，如物体的形状、大小、颜色，材料的型号、规格、透明度等。</a:t>
              </a:r>
            </a:p>
          </p:txBody>
        </p:sp>
        <p:sp>
          <p:nvSpPr>
            <p:cNvPr id="19" name="文本框 18"/>
            <p:cNvSpPr txBox="1"/>
            <p:nvPr>
              <p:custDataLst>
                <p:tags r:id="rId24"/>
              </p:custDataLst>
            </p:nvPr>
          </p:nvSpPr>
          <p:spPr>
            <a:xfrm>
              <a:off x="2633" y="8866"/>
              <a:ext cx="6628" cy="1018"/>
            </a:xfrm>
            <a:prstGeom prst="rect">
              <a:avLst/>
            </a:prstGeom>
          </p:spPr>
          <p:txBody>
            <a:bodyPr lIns="90000" tIns="46800" rIns="90000" bIns="46800">
              <a:normAutofit/>
            </a:bodyPr>
            <a:lstStyle>
              <a:defPPr>
                <a:defRPr lang="zh-CN"/>
              </a:defPPr>
              <a:lvl1pPr>
                <a:spcBef>
                  <a:spcPts val="0"/>
                </a:spcBef>
                <a:spcAft>
                  <a:spcPts val="0"/>
                </a:spcAft>
                <a:defRPr sz="1800"/>
              </a:lvl1pPr>
            </a:lstStyle>
            <a:p>
              <a:r>
                <a:rPr lang="zh-CN" altLang="en-US" dirty="0"/>
                <a:t>设计代码时要留有余地，方便代码的更新、扩充。</a:t>
              </a:r>
            </a:p>
          </p:txBody>
        </p:sp>
      </p:grpSp>
      <p:grpSp>
        <p:nvGrpSpPr>
          <p:cNvPr id="27" name="组合 26"/>
          <p:cNvGrpSpPr/>
          <p:nvPr/>
        </p:nvGrpSpPr>
        <p:grpSpPr>
          <a:xfrm>
            <a:off x="772160" y="3467735"/>
            <a:ext cx="10764520" cy="1045210"/>
            <a:chOff x="1216" y="5519"/>
            <a:chExt cx="16952" cy="1646"/>
          </a:xfrm>
        </p:grpSpPr>
        <p:sp>
          <p:nvSpPr>
            <p:cNvPr id="41" name="Oval 21"/>
            <p:cNvSpPr/>
            <p:nvPr>
              <p:custDataLst>
                <p:tags r:id="rId13"/>
              </p:custDataLst>
            </p:nvPr>
          </p:nvSpPr>
          <p:spPr>
            <a:xfrm>
              <a:off x="1216" y="5688"/>
              <a:ext cx="1222" cy="1222"/>
            </a:xfrm>
            <a:prstGeom prst="ellipse">
              <a:avLst/>
            </a:prstGeom>
            <a:solidFill>
              <a:schemeClr val="accent1"/>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5" name="文本框 20"/>
            <p:cNvSpPr txBox="1">
              <a:spLocks noChangeArrowheads="1"/>
            </p:cNvSpPr>
            <p:nvPr>
              <p:custDataLst>
                <p:tags r:id="rId14"/>
              </p:custDataLst>
            </p:nvPr>
          </p:nvSpPr>
          <p:spPr bwMode="auto">
            <a:xfrm>
              <a:off x="2633" y="5519"/>
              <a:ext cx="374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a:latin typeface="+mj-lt"/>
                  <a:ea typeface="+mj-ea"/>
                  <a:cs typeface="+mj-cs"/>
                </a:rPr>
                <a:t>唯一性</a:t>
              </a:r>
            </a:p>
          </p:txBody>
        </p:sp>
        <p:sp>
          <p:nvSpPr>
            <p:cNvPr id="45" name="Oval 24"/>
            <p:cNvSpPr/>
            <p:nvPr>
              <p:custDataLst>
                <p:tags r:id="rId15"/>
              </p:custDataLst>
            </p:nvPr>
          </p:nvSpPr>
          <p:spPr>
            <a:xfrm>
              <a:off x="10150" y="5690"/>
              <a:ext cx="1223" cy="1222"/>
            </a:xfrm>
            <a:prstGeom prst="ellipse">
              <a:avLst/>
            </a:prstGeom>
            <a:solidFill>
              <a:schemeClr val="accent2"/>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60" name="文本框 26"/>
            <p:cNvSpPr txBox="1">
              <a:spLocks noChangeArrowheads="1"/>
            </p:cNvSpPr>
            <p:nvPr>
              <p:custDataLst>
                <p:tags r:id="rId16"/>
              </p:custDataLst>
            </p:nvPr>
          </p:nvSpPr>
          <p:spPr bwMode="auto">
            <a:xfrm>
              <a:off x="11540" y="5519"/>
              <a:ext cx="3745"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规范化</a:t>
              </a:r>
            </a:p>
          </p:txBody>
        </p:sp>
        <p:sp>
          <p:nvSpPr>
            <p:cNvPr id="17" name="文本框 16"/>
            <p:cNvSpPr txBox="1"/>
            <p:nvPr>
              <p:custDataLst>
                <p:tags r:id="rId17"/>
              </p:custDataLst>
            </p:nvPr>
          </p:nvSpPr>
          <p:spPr>
            <a:xfrm>
              <a:off x="11540" y="6147"/>
              <a:ext cx="6628" cy="1018"/>
            </a:xfrm>
            <a:prstGeom prst="rect">
              <a:avLst/>
            </a:prstGeom>
          </p:spPr>
          <p:txBody>
            <a:bodyPr lIns="90000" tIns="46800" rIns="90000" bIns="46800">
              <a:normAutofit/>
            </a:bodyPr>
            <a:lstStyle>
              <a:defPPr>
                <a:defRPr lang="zh-CN"/>
              </a:defPPr>
              <a:lvl1pPr>
                <a:spcBef>
                  <a:spcPts val="0"/>
                </a:spcBef>
                <a:spcAft>
                  <a:spcPts val="0"/>
                </a:spcAft>
                <a:defRPr sz="1800"/>
              </a:lvl1pPr>
            </a:lstStyle>
            <a:p>
              <a:r>
                <a:rPr lang="zh-CN" altLang="en-US" dirty="0"/>
                <a:t>代码的结构、类型、缩写格式要统一。</a:t>
              </a:r>
            </a:p>
          </p:txBody>
        </p:sp>
        <p:sp>
          <p:nvSpPr>
            <p:cNvPr id="25" name="文本框 24"/>
            <p:cNvSpPr txBox="1"/>
            <p:nvPr>
              <p:custDataLst>
                <p:tags r:id="rId18"/>
              </p:custDataLst>
            </p:nvPr>
          </p:nvSpPr>
          <p:spPr>
            <a:xfrm>
              <a:off x="2633" y="6145"/>
              <a:ext cx="6628" cy="1018"/>
            </a:xfrm>
            <a:prstGeom prst="rect">
              <a:avLst/>
            </a:prstGeom>
          </p:spPr>
          <p:txBody>
            <a:bodyPr lIns="90000" tIns="46800" rIns="90000" bIns="46800">
              <a:normAutofit/>
            </a:bodyPr>
            <a:lstStyle>
              <a:defPPr>
                <a:defRPr lang="zh-CN"/>
              </a:defPPr>
              <a:lvl1pPr>
                <a:spcBef>
                  <a:spcPts val="0"/>
                </a:spcBef>
                <a:spcAft>
                  <a:spcPts val="0"/>
                </a:spcAft>
                <a:defRPr sz="1800"/>
              </a:lvl1pPr>
            </a:lstStyle>
            <a:p>
              <a:r>
                <a:rPr lang="zh-CN" altLang="en-US"/>
                <a:t>一个代码只代表一个信息，每个信息只有一个代码。</a:t>
              </a:r>
            </a:p>
          </p:txBody>
        </p:sp>
      </p:grpSp>
      <p:grpSp>
        <p:nvGrpSpPr>
          <p:cNvPr id="34" name="组合 33"/>
          <p:cNvGrpSpPr/>
          <p:nvPr/>
        </p:nvGrpSpPr>
        <p:grpSpPr>
          <a:xfrm>
            <a:off x="772160" y="1969770"/>
            <a:ext cx="10764520" cy="1318895"/>
            <a:chOff x="1216" y="2798"/>
            <a:chExt cx="16952" cy="2077"/>
          </a:xfrm>
        </p:grpSpPr>
        <p:sp>
          <p:nvSpPr>
            <p:cNvPr id="39" name="Oval 5"/>
            <p:cNvSpPr/>
            <p:nvPr>
              <p:custDataLst>
                <p:tags r:id="rId6"/>
              </p:custDataLst>
            </p:nvPr>
          </p:nvSpPr>
          <p:spPr>
            <a:xfrm>
              <a:off x="1216" y="2980"/>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40" name="Freeform 7"/>
            <p:cNvSpPr>
              <a:spLocks noEditPoints="1"/>
            </p:cNvSpPr>
            <p:nvPr>
              <p:custDataLst>
                <p:tags r:id="rId7"/>
              </p:custDataLst>
            </p:nvPr>
          </p:nvSpPr>
          <p:spPr bwMode="auto">
            <a:xfrm>
              <a:off x="1508" y="3270"/>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4" name="文本框 18"/>
            <p:cNvSpPr txBox="1">
              <a:spLocks noChangeArrowheads="1"/>
            </p:cNvSpPr>
            <p:nvPr>
              <p:custDataLst>
                <p:tags r:id="rId8"/>
              </p:custDataLst>
            </p:nvPr>
          </p:nvSpPr>
          <p:spPr bwMode="auto">
            <a:xfrm>
              <a:off x="2633" y="2799"/>
              <a:ext cx="374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标准化</a:t>
              </a:r>
            </a:p>
          </p:txBody>
        </p:sp>
        <p:sp>
          <p:nvSpPr>
            <p:cNvPr id="49" name="Oval 26"/>
            <p:cNvSpPr/>
            <p:nvPr>
              <p:custDataLst>
                <p:tags r:id="rId9"/>
              </p:custDataLst>
            </p:nvPr>
          </p:nvSpPr>
          <p:spPr>
            <a:xfrm>
              <a:off x="10150" y="2979"/>
              <a:ext cx="1223" cy="1223"/>
            </a:xfrm>
            <a:prstGeom prst="ellipse">
              <a:avLst/>
            </a:prstGeom>
            <a:solidFill>
              <a:schemeClr val="accent5"/>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58" name="文本框 24"/>
            <p:cNvSpPr txBox="1">
              <a:spLocks noChangeArrowheads="1"/>
            </p:cNvSpPr>
            <p:nvPr>
              <p:custDataLst>
                <p:tags r:id="rId10"/>
              </p:custDataLst>
            </p:nvPr>
          </p:nvSpPr>
          <p:spPr bwMode="auto">
            <a:xfrm>
              <a:off x="11540" y="2798"/>
              <a:ext cx="3745"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a:latin typeface="+mj-lt"/>
                  <a:ea typeface="+mj-ea"/>
                  <a:cs typeface="+mj-cs"/>
                </a:rPr>
                <a:t>简单性</a:t>
              </a:r>
            </a:p>
          </p:txBody>
        </p:sp>
        <p:sp>
          <p:nvSpPr>
            <p:cNvPr id="18" name="文本框 17"/>
            <p:cNvSpPr txBox="1"/>
            <p:nvPr>
              <p:custDataLst>
                <p:tags r:id="rId11"/>
              </p:custDataLst>
            </p:nvPr>
          </p:nvSpPr>
          <p:spPr>
            <a:xfrm>
              <a:off x="11540" y="3426"/>
              <a:ext cx="6628" cy="1018"/>
            </a:xfrm>
            <a:prstGeom prst="rect">
              <a:avLst/>
            </a:prstGeom>
          </p:spPr>
          <p:txBody>
            <a:bodyPr lIns="90000" tIns="46800" rIns="90000" bIns="46800">
              <a:normAutofit/>
            </a:bodyPr>
            <a:lstStyle>
              <a:defPPr>
                <a:defRPr lang="zh-CN"/>
              </a:defPPr>
              <a:lvl1pPr>
                <a:spcBef>
                  <a:spcPts val="0"/>
                </a:spcBef>
                <a:spcAft>
                  <a:spcPts val="0"/>
                </a:spcAft>
                <a:defRPr sz="1800"/>
              </a:lvl1pPr>
            </a:lstStyle>
            <a:p>
              <a:r>
                <a:rPr lang="zh-CN" altLang="en-US"/>
                <a:t>代码结构简单、尽量短，便于记忆和使用。</a:t>
              </a:r>
            </a:p>
          </p:txBody>
        </p:sp>
        <p:sp>
          <p:nvSpPr>
            <p:cNvPr id="26" name="文本框 25"/>
            <p:cNvSpPr txBox="1"/>
            <p:nvPr>
              <p:custDataLst>
                <p:tags r:id="rId12"/>
              </p:custDataLst>
            </p:nvPr>
          </p:nvSpPr>
          <p:spPr>
            <a:xfrm>
              <a:off x="2633" y="3425"/>
              <a:ext cx="6628" cy="1450"/>
            </a:xfrm>
            <a:prstGeom prst="rect">
              <a:avLst/>
            </a:prstGeom>
          </p:spPr>
          <p:txBody>
            <a:bodyPr lIns="90000" tIns="46800" rIns="90000" bIns="46800">
              <a:normAutofit/>
            </a:bodyPr>
            <a:lstStyle>
              <a:defPPr>
                <a:defRPr lang="zh-CN"/>
              </a:defPPr>
              <a:lvl1pPr>
                <a:spcBef>
                  <a:spcPts val="0"/>
                </a:spcBef>
                <a:spcAft>
                  <a:spcPts val="0"/>
                </a:spcAft>
                <a:defRPr sz="1800"/>
              </a:lvl1pPr>
            </a:lstStyle>
            <a:p>
              <a:r>
                <a:rPr lang="zh-CN" altLang="en-US"/>
                <a:t>尽可能采用国际标准、国家标准、部颁标准、行业标准或遵循惯例，以便信息的交换和维护。</a:t>
              </a:r>
            </a:p>
          </p:txBody>
        </p:sp>
      </p:grpSp>
      <p:sp>
        <p:nvSpPr>
          <p:cNvPr id="37" name="Freeform 7"/>
          <p:cNvSpPr>
            <a:spLocks noEditPoints="1"/>
          </p:cNvSpPr>
          <p:nvPr>
            <p:custDataLst>
              <p:tags r:id="rId1"/>
            </p:custDataLst>
          </p:nvPr>
        </p:nvSpPr>
        <p:spPr bwMode="auto">
          <a:xfrm>
            <a:off x="6631305" y="2269490"/>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38" name="Freeform 7"/>
          <p:cNvSpPr>
            <a:spLocks noEditPoints="1"/>
          </p:cNvSpPr>
          <p:nvPr>
            <p:custDataLst>
              <p:tags r:id="rId2"/>
            </p:custDataLst>
          </p:nvPr>
        </p:nvSpPr>
        <p:spPr bwMode="auto">
          <a:xfrm>
            <a:off x="6631305" y="3787140"/>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51" name="Freeform 7"/>
          <p:cNvSpPr>
            <a:spLocks noEditPoints="1"/>
          </p:cNvSpPr>
          <p:nvPr>
            <p:custDataLst>
              <p:tags r:id="rId3"/>
            </p:custDataLst>
          </p:nvPr>
        </p:nvSpPr>
        <p:spPr bwMode="auto">
          <a:xfrm>
            <a:off x="957580" y="3787140"/>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55" name="Freeform 7"/>
          <p:cNvSpPr>
            <a:spLocks noEditPoints="1"/>
          </p:cNvSpPr>
          <p:nvPr>
            <p:custDataLst>
              <p:tags r:id="rId4"/>
            </p:custDataLst>
          </p:nvPr>
        </p:nvSpPr>
        <p:spPr bwMode="auto">
          <a:xfrm>
            <a:off x="957580" y="5029835"/>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57" name="Freeform 7"/>
          <p:cNvSpPr>
            <a:spLocks noEditPoints="1"/>
          </p:cNvSpPr>
          <p:nvPr>
            <p:custDataLst>
              <p:tags r:id="rId5"/>
            </p:custDataLst>
          </p:nvPr>
        </p:nvSpPr>
        <p:spPr bwMode="auto">
          <a:xfrm>
            <a:off x="6631305" y="5029835"/>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Tree>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7 </a:t>
            </a:r>
            <a:r>
              <a:rPr lang="zh-CN" altLang="en-US" dirty="0">
                <a:sym typeface="+mn-ea"/>
              </a:rPr>
              <a:t>数据代码设计</a:t>
            </a:r>
            <a:endParaRPr lang="zh-CN" altLang="en-US" dirty="0"/>
          </a:p>
        </p:txBody>
      </p:sp>
      <p:sp>
        <p:nvSpPr>
          <p:cNvPr id="5" name="矩形 4"/>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lang="zh-CN" altLang="en-US" dirty="0"/>
              <a:t>实用规则</a:t>
            </a:r>
            <a:endParaRPr kumimoji="0" lang="zh-CN" altLang="en-US" sz="1800" b="1" i="0" u="none" strike="noStrike" kern="0" cap="none" spc="0" normalizeH="0" baseline="0" dirty="0">
              <a:ln>
                <a:noFill/>
              </a:ln>
              <a:solidFill>
                <a:schemeClr val="tx1"/>
              </a:solidFill>
              <a:effectLst/>
              <a:uLnTx/>
              <a:uFillTx/>
              <a:latin typeface="微软雅黑" panose="020B0503020204020204" charset="-122"/>
              <a:ea typeface="微软雅黑" panose="020B0503020204020204" charset="-122"/>
            </a:endParaRPr>
          </a:p>
        </p:txBody>
      </p:sp>
      <p:sp>
        <p:nvSpPr>
          <p:cNvPr id="6" name="文本框 32"/>
          <p:cNvSpPr txBox="1"/>
          <p:nvPr/>
        </p:nvSpPr>
        <p:spPr>
          <a:xfrm>
            <a:off x="768980" y="2519045"/>
            <a:ext cx="461665" cy="2851150"/>
          </a:xfrm>
          <a:prstGeom prst="rect">
            <a:avLst/>
          </a:prstGeom>
          <a:noFill/>
        </p:spPr>
        <p:txBody>
          <a:bodyPr vert="eaVert" wrap="square" rtlCol="0">
            <a:spAutoFit/>
          </a:bodyPr>
          <a:lstStyle/>
          <a:p>
            <a:r>
              <a:rPr lang="en-US" spc="160" dirty="0">
                <a:solidFill>
                  <a:schemeClr val="bg1"/>
                </a:solidFill>
                <a:latin typeface="微软雅黑" panose="020B0503020204020204" charset="-122"/>
                <a:ea typeface="微软雅黑" panose="020B0503020204020204" charset="-122"/>
              </a:rPr>
              <a:t> </a:t>
            </a:r>
            <a:r>
              <a:rPr lang="en-US" altLang="zh-CN" spc="160" dirty="0">
                <a:solidFill>
                  <a:schemeClr val="bg1"/>
                </a:solidFill>
                <a:latin typeface="微软雅黑" panose="020B0503020204020204" charset="-122"/>
                <a:ea typeface="微软雅黑" panose="020B0503020204020204" charset="-122"/>
              </a:rPr>
              <a:t>3.7.2 </a:t>
            </a:r>
            <a:r>
              <a:rPr lang="zh-CN" altLang="en-US" spc="160" dirty="0">
                <a:solidFill>
                  <a:schemeClr val="bg1"/>
                </a:solidFill>
                <a:latin typeface="微软雅黑" panose="020B0503020204020204" charset="-122"/>
                <a:ea typeface="微软雅黑" panose="020B0503020204020204" charset="-122"/>
              </a:rPr>
              <a:t>代码的设计原则</a:t>
            </a:r>
          </a:p>
        </p:txBody>
      </p:sp>
      <p:sp>
        <p:nvSpPr>
          <p:cNvPr id="363522" name="Rectangle 2"/>
          <p:cNvSpPr>
            <a:spLocks noChangeArrowheads="1"/>
          </p:cNvSpPr>
          <p:nvPr/>
        </p:nvSpPr>
        <p:spPr bwMode="auto">
          <a:xfrm>
            <a:off x="1663908" y="2278505"/>
            <a:ext cx="6400800" cy="35702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30000"/>
              </a:lnSpc>
              <a:spcBef>
                <a:spcPct val="0"/>
              </a:spcBef>
              <a:spcAft>
                <a:spcPct val="0"/>
              </a:spcAft>
              <a:buClrTx/>
              <a:buSzTx/>
              <a:buFont typeface="Wingdings" pitchFamily="2" charset="2"/>
              <a:buChar char="Ø"/>
              <a:tabLst>
                <a:tab pos="539750" algn="l"/>
              </a:tabLst>
            </a:pPr>
            <a:r>
              <a:rPr kumimoji="0" 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只有两个特征值的，可用逻辑值代码，如电路的闭合、断开。</a:t>
            </a:r>
            <a:endParaRPr kumimoji="0" 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30000"/>
              </a:lnSpc>
              <a:spcBef>
                <a:spcPct val="0"/>
              </a:spcBef>
              <a:spcAft>
                <a:spcPct val="0"/>
              </a:spcAft>
              <a:buClrTx/>
              <a:buSzTx/>
              <a:buFont typeface="Wingdings" pitchFamily="2" charset="2"/>
              <a:buChar char="Ø"/>
              <a:tabLst>
                <a:tab pos="539750" algn="l"/>
              </a:tabLst>
            </a:pPr>
            <a:r>
              <a:rPr kumimoji="0" 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特征值的个数不超过</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10</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时，可用数字代码。</a:t>
            </a:r>
            <a:endParaRPr kumimoji="0" lang="zh-CN" altLang="en-US"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30000"/>
              </a:lnSpc>
              <a:spcBef>
                <a:spcPct val="0"/>
              </a:spcBef>
              <a:spcAft>
                <a:spcPct val="0"/>
              </a:spcAft>
              <a:buClrTx/>
              <a:buSzTx/>
              <a:buFont typeface="Wingdings" pitchFamily="2" charset="2"/>
              <a:buChar char="Ø"/>
              <a:tabLst>
                <a:tab pos="539750" algn="l"/>
              </a:tabLst>
            </a:pP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特征值的个数不超过</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20</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时，可用字母代码。</a:t>
            </a:r>
            <a:endParaRPr kumimoji="0" lang="zh-CN" altLang="en-US"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eaLnBrk="0" fontAlgn="base" hangingPunct="0">
              <a:lnSpc>
                <a:spcPct val="130000"/>
              </a:lnSpc>
              <a:spcBef>
                <a:spcPct val="0"/>
              </a:spcBef>
              <a:spcAft>
                <a:spcPct val="0"/>
              </a:spcAft>
              <a:buFont typeface="Wingdings" pitchFamily="2" charset="2"/>
              <a:buChar char="Ø"/>
              <a:tabLst>
                <a:tab pos="539750" algn="l"/>
              </a:tabLst>
            </a:pP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数字、字母混用时，要注意区分相似的符号。如</a:t>
            </a:r>
            <a:r>
              <a:rPr lang="zh-CN" altLang="en-US" sz="2000" dirty="0">
                <a:latin typeface="Times New Roman" pitchFamily="18" charset="0"/>
                <a:ea typeface="宋体" pitchFamily="2" charset="-122"/>
                <a:cs typeface="Times New Roman" pitchFamily="18" charset="0"/>
              </a:rPr>
              <a:t>：</a:t>
            </a: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lvl="0" fontAlgn="base">
              <a:lnSpc>
                <a:spcPct val="130000"/>
              </a:lnSpc>
              <a:spcBef>
                <a:spcPct val="0"/>
              </a:spcBef>
              <a:spcAft>
                <a:spcPct val="0"/>
              </a:spcAft>
              <a:buFont typeface="Wingdings" pitchFamily="2" charset="2"/>
              <a:buChar char="Ø"/>
              <a:tabLst>
                <a:tab pos="539750" algn="l"/>
              </a:tabLst>
            </a:pPr>
            <a:r>
              <a:rPr lang="zh-CN" altLang="en-US" sz="2000" dirty="0">
                <a:latin typeface="Times New Roman" pitchFamily="18" charset="0"/>
                <a:ea typeface="宋体" pitchFamily="2" charset="-122"/>
                <a:cs typeface="Times New Roman" pitchFamily="18" charset="0"/>
              </a:rPr>
              <a:t>若代码会出现颠倒使用的情况，要注意区分数字</a:t>
            </a:r>
            <a:r>
              <a:rPr lang="en-US" altLang="zh-CN" sz="2000" dirty="0">
                <a:latin typeface="Times New Roman" pitchFamily="18" charset="0"/>
                <a:ea typeface="宋体" pitchFamily="2" charset="-122"/>
                <a:cs typeface="Times New Roman" pitchFamily="18" charset="0"/>
              </a:rPr>
              <a:t>6</a:t>
            </a:r>
            <a:r>
              <a:rPr lang="zh-CN" altLang="en-US" sz="2000" dirty="0">
                <a:latin typeface="Times New Roman" pitchFamily="18" charset="0"/>
                <a:ea typeface="宋体" pitchFamily="2" charset="-122"/>
                <a:cs typeface="Times New Roman" pitchFamily="18" charset="0"/>
              </a:rPr>
              <a:t>和</a:t>
            </a:r>
            <a:r>
              <a:rPr lang="en-US" altLang="zh-CN" sz="2000" dirty="0">
                <a:latin typeface="Times New Roman" pitchFamily="18" charset="0"/>
                <a:ea typeface="宋体" pitchFamily="2" charset="-122"/>
                <a:cs typeface="Times New Roman" pitchFamily="18" charset="0"/>
              </a:rPr>
              <a:t>9</a:t>
            </a:r>
            <a:r>
              <a:rPr lang="zh-CN" altLang="en-US" sz="2000" dirty="0">
                <a:latin typeface="Times New Roman" pitchFamily="18" charset="0"/>
                <a:ea typeface="宋体" pitchFamily="2" charset="-122"/>
                <a:cs typeface="Times New Roman" pitchFamily="18" charset="0"/>
              </a:rPr>
              <a:t>、字母</a:t>
            </a:r>
            <a:r>
              <a:rPr lang="en-US" altLang="zh-CN" sz="2000" dirty="0">
                <a:latin typeface="Times New Roman" pitchFamily="18" charset="0"/>
                <a:ea typeface="宋体" pitchFamily="2" charset="-122"/>
                <a:cs typeface="Times New Roman" pitchFamily="18" charset="0"/>
              </a:rPr>
              <a:t>M</a:t>
            </a:r>
            <a:r>
              <a:rPr lang="zh-CN" altLang="en-US" sz="2000" dirty="0">
                <a:latin typeface="Times New Roman" pitchFamily="18" charset="0"/>
                <a:ea typeface="宋体" pitchFamily="2" charset="-122"/>
                <a:cs typeface="Times New Roman" pitchFamily="18" charset="0"/>
              </a:rPr>
              <a:t>和</a:t>
            </a:r>
            <a:r>
              <a:rPr lang="en-US" altLang="zh-CN" sz="2000" dirty="0">
                <a:latin typeface="Times New Roman" pitchFamily="18" charset="0"/>
                <a:ea typeface="宋体" pitchFamily="2" charset="-122"/>
                <a:cs typeface="Times New Roman" pitchFamily="18" charset="0"/>
              </a:rPr>
              <a:t>W</a:t>
            </a:r>
            <a:r>
              <a:rPr lang="zh-CN" altLang="en-US" sz="2000" dirty="0">
                <a:latin typeface="Times New Roman" pitchFamily="18" charset="0"/>
                <a:ea typeface="宋体" pitchFamily="2" charset="-122"/>
                <a:cs typeface="Times New Roman" pitchFamily="18" charset="0"/>
              </a:rPr>
              <a:t>。</a:t>
            </a:r>
            <a:endParaRPr lang="zh-CN" altLang="en-US" sz="2000" dirty="0">
              <a:latin typeface="Arial" pitchFamily="34" charset="0"/>
              <a:ea typeface="宋体" pitchFamily="2" charset="-122"/>
              <a:cs typeface="宋体" pitchFamily="2" charset="-122"/>
            </a:endParaRPr>
          </a:p>
          <a:p>
            <a:pPr lvl="0" eaLnBrk="0" fontAlgn="base" hangingPunct="0">
              <a:lnSpc>
                <a:spcPct val="130000"/>
              </a:lnSpc>
              <a:spcBef>
                <a:spcPct val="0"/>
              </a:spcBef>
              <a:spcAft>
                <a:spcPct val="0"/>
              </a:spcAft>
              <a:buFont typeface="Wingdings" pitchFamily="2" charset="2"/>
              <a:buChar char="Ø"/>
              <a:tabLst>
                <a:tab pos="539750" algn="l"/>
              </a:tabLst>
            </a:pPr>
            <a:r>
              <a:rPr lang="zh-CN" altLang="en-US" sz="2000" dirty="0">
                <a:latin typeface="Times New Roman" pitchFamily="18" charset="0"/>
                <a:ea typeface="宋体" pitchFamily="2" charset="-122"/>
                <a:cs typeface="Times New Roman" pitchFamily="18" charset="0"/>
              </a:rPr>
              <a:t>代码可能会正反使用时，要注意区分字母</a:t>
            </a:r>
            <a:r>
              <a:rPr lang="en-US" altLang="zh-CN" sz="2000" dirty="0">
                <a:latin typeface="Times New Roman" pitchFamily="18" charset="0"/>
                <a:ea typeface="宋体" pitchFamily="2" charset="-122"/>
                <a:cs typeface="Times New Roman" pitchFamily="18" charset="0"/>
              </a:rPr>
              <a:t>p</a:t>
            </a:r>
            <a:r>
              <a:rPr lang="zh-CN" altLang="en-US" sz="2000" dirty="0">
                <a:latin typeface="Times New Roman" pitchFamily="18" charset="0"/>
                <a:ea typeface="宋体" pitchFamily="2" charset="-122"/>
                <a:cs typeface="Times New Roman" pitchFamily="18" charset="0"/>
              </a:rPr>
              <a:t>和</a:t>
            </a:r>
            <a:r>
              <a:rPr lang="en-US" altLang="zh-CN" sz="2000" dirty="0">
                <a:latin typeface="Times New Roman" pitchFamily="18" charset="0"/>
                <a:ea typeface="宋体" pitchFamily="2" charset="-122"/>
                <a:cs typeface="Times New Roman" pitchFamily="18" charset="0"/>
              </a:rPr>
              <a:t>q</a:t>
            </a:r>
            <a:r>
              <a:rPr lang="zh-CN" altLang="en-US" sz="2000" dirty="0">
                <a:latin typeface="Times New Roman" pitchFamily="18" charset="0"/>
                <a:ea typeface="宋体" pitchFamily="2" charset="-122"/>
                <a:cs typeface="Times New Roman" pitchFamily="18" charset="0"/>
              </a:rPr>
              <a:t>。</a:t>
            </a:r>
            <a:endParaRPr lang="zh-CN" altLang="en-US" sz="2000" dirty="0">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tab pos="539750" algn="l"/>
              </a:tabLst>
            </a:pPr>
            <a:endParaRPr kumimoji="0" lang="zh-CN" altLang="en-US" sz="18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graphicFrame>
        <p:nvGraphicFramePr>
          <p:cNvPr id="363521" name="Object 1"/>
          <p:cNvGraphicFramePr>
            <a:graphicFrameLocks noChangeAspect="1"/>
          </p:cNvGraphicFramePr>
          <p:nvPr/>
        </p:nvGraphicFramePr>
        <p:xfrm>
          <a:off x="8382000" y="2300991"/>
          <a:ext cx="3359515" cy="3455233"/>
        </p:xfrm>
        <a:graphic>
          <a:graphicData uri="http://schemas.openxmlformats.org/presentationml/2006/ole">
            <mc:AlternateContent xmlns:mc="http://schemas.openxmlformats.org/markup-compatibility/2006">
              <mc:Choice xmlns:v="urn:schemas-microsoft-com:vml" Requires="v">
                <p:oleObj name="Picture" r:id="rId2" imgW="1689100" imgH="1422400" progId="Word.Picture.8">
                  <p:embed/>
                </p:oleObj>
              </mc:Choice>
              <mc:Fallback>
                <p:oleObj name="Picture" r:id="rId2" imgW="1689100" imgH="1422400" progId="Word.Picture.8">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l="11305"/>
                      <a:stretch>
                        <a:fillRect/>
                      </a:stretch>
                    </p:blipFill>
                    <p:spPr bwMode="auto">
                      <a:xfrm>
                        <a:off x="8382000" y="2300991"/>
                        <a:ext cx="3359515" cy="34552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7 </a:t>
            </a:r>
            <a:r>
              <a:rPr lang="zh-CN" altLang="en-US" dirty="0">
                <a:sym typeface="+mn-ea"/>
              </a:rPr>
              <a:t>数据代码设计</a:t>
            </a: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dirty="0">
                <a:ln>
                  <a:noFill/>
                </a:ln>
                <a:solidFill>
                  <a:schemeClr val="tx1"/>
                </a:solidFill>
                <a:effectLst/>
                <a:uLnTx/>
                <a:uFillTx/>
                <a:latin typeface="微软雅黑" panose="020B0503020204020204" charset="-122"/>
                <a:ea typeface="微软雅黑" panose="020B0503020204020204" charset="-122"/>
              </a:rPr>
              <a:t>代码的</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dirty="0">
                <a:ln>
                  <a:noFill/>
                </a:ln>
                <a:solidFill>
                  <a:schemeClr val="tx1"/>
                </a:solidFill>
                <a:effectLst/>
                <a:uLnTx/>
                <a:uFillTx/>
                <a:latin typeface="微软雅黑" panose="020B0503020204020204" charset="-122"/>
                <a:ea typeface="微软雅黑" panose="020B0503020204020204" charset="-122"/>
              </a:rPr>
              <a:t>种类</a:t>
            </a:r>
          </a:p>
        </p:txBody>
      </p:sp>
      <p:sp>
        <p:nvSpPr>
          <p:cNvPr id="33" name="文本框 32"/>
          <p:cNvSpPr txBox="1"/>
          <p:nvPr/>
        </p:nvSpPr>
        <p:spPr>
          <a:xfrm>
            <a:off x="768977" y="2519045"/>
            <a:ext cx="461665" cy="2851150"/>
          </a:xfrm>
          <a:prstGeom prst="rect">
            <a:avLst/>
          </a:prstGeom>
          <a:noFill/>
        </p:spPr>
        <p:txBody>
          <a:bodyPr vert="eaVert" wrap="square" rtlCol="0">
            <a:spAutoFit/>
          </a:bodyPr>
          <a:lstStyle/>
          <a:p>
            <a:r>
              <a:rPr lang="en-US" altLang="zh-CN" spc="160" dirty="0">
                <a:solidFill>
                  <a:schemeClr val="bg1"/>
                </a:solidFill>
                <a:latin typeface="微软雅黑" panose="020B0503020204020204" charset="-122"/>
                <a:ea typeface="微软雅黑" panose="020B0503020204020204" charset="-122"/>
              </a:rPr>
              <a:t>3.7.3 </a:t>
            </a:r>
            <a:r>
              <a:rPr lang="zh-CN" altLang="en-US" spc="160" dirty="0">
                <a:solidFill>
                  <a:schemeClr val="bg1"/>
                </a:solidFill>
                <a:latin typeface="微软雅黑" panose="020B0503020204020204" charset="-122"/>
                <a:ea typeface="微软雅黑" panose="020B0503020204020204" charset="-122"/>
              </a:rPr>
              <a:t>代码的种类</a:t>
            </a:r>
          </a:p>
        </p:txBody>
      </p:sp>
      <p:sp>
        <p:nvSpPr>
          <p:cNvPr id="31" name="TextBox 6"/>
          <p:cNvSpPr txBox="1"/>
          <p:nvPr/>
        </p:nvSpPr>
        <p:spPr>
          <a:xfrm>
            <a:off x="1503045" y="1956435"/>
            <a:ext cx="9948545" cy="3976370"/>
          </a:xfrm>
          <a:prstGeom prst="rect">
            <a:avLst/>
          </a:prstGeom>
          <a:noFill/>
        </p:spPr>
        <p:txBody>
          <a:bodyPr wrap="square" rtlCol="0">
            <a:spAutoFit/>
          </a:bodyPr>
          <a:lstStyle/>
          <a:p>
            <a:pPr marL="342900" indent="-342900" fontAlgn="auto">
              <a:lnSpc>
                <a:spcPct val="120000"/>
              </a:lnSpc>
              <a:spcAft>
                <a:spcPts val="300"/>
              </a:spcAft>
              <a:buClrTx/>
              <a:buFont typeface="+mj-ea"/>
              <a:buAutoNum type="circleNumDbPlain"/>
            </a:pPr>
            <a:r>
              <a:rPr lang="zh-CN" altLang="en-US" dirty="0">
                <a:solidFill>
                  <a:srgbClr val="C00000"/>
                </a:solidFill>
                <a:latin typeface="微软雅黑" panose="020B0503020204020204" charset="-122"/>
                <a:ea typeface="微软雅黑" panose="020B0503020204020204" charset="-122"/>
              </a:rPr>
              <a:t>顺序码</a:t>
            </a:r>
          </a:p>
          <a:p>
            <a:pPr marL="342900" indent="-342900" fontAlgn="auto">
              <a:lnSpc>
                <a:spcPct val="120000"/>
              </a:lnSpc>
              <a:spcAft>
                <a:spcPts val="300"/>
              </a:spcAft>
              <a:buClrTx/>
              <a:buNone/>
            </a:pPr>
            <a:r>
              <a:rPr lang="zh-CN" altLang="en-US" dirty="0">
                <a:latin typeface="微软雅黑" panose="020B0503020204020204" charset="-122"/>
                <a:ea typeface="微软雅黑" panose="020B0503020204020204" charset="-122"/>
              </a:rPr>
              <a:t>       按数字的大小或字母的前后次序排成有序的组合作为代码使用，称为顺序码。</a:t>
            </a:r>
          </a:p>
          <a:p>
            <a:pPr indent="0" fontAlgn="auto">
              <a:lnSpc>
                <a:spcPct val="120000"/>
              </a:lnSpc>
              <a:spcAft>
                <a:spcPts val="300"/>
              </a:spcAft>
              <a:buClrTx/>
              <a:buNone/>
            </a:pPr>
            <a:r>
              <a:rPr lang="zh-CN" altLang="en-US" dirty="0">
                <a:latin typeface="微软雅黑" panose="020B0503020204020204" charset="-122"/>
                <a:ea typeface="微软雅黑" panose="020B0503020204020204" charset="-122"/>
              </a:rPr>
              <a:t>       这是一种最简单的代码体系。例如，在财务凭证、售票发票、银行支票等票据类数据中用顺序码表示单据号。</a:t>
            </a:r>
          </a:p>
          <a:p>
            <a:pPr marL="342900" indent="-342900" fontAlgn="auto">
              <a:lnSpc>
                <a:spcPct val="120000"/>
              </a:lnSpc>
              <a:spcAft>
                <a:spcPts val="300"/>
              </a:spcAft>
              <a:buClrTx/>
              <a:buFont typeface="+mj-ea"/>
              <a:buAutoNum type="circleNumDbPlain" startAt="2"/>
            </a:pPr>
            <a:r>
              <a:rPr lang="zh-CN" altLang="en-US" dirty="0">
                <a:solidFill>
                  <a:srgbClr val="C00000"/>
                </a:solidFill>
                <a:latin typeface="微软雅黑" panose="020B0503020204020204" charset="-122"/>
                <a:ea typeface="微软雅黑" panose="020B0503020204020204" charset="-122"/>
              </a:rPr>
              <a:t>助记码</a:t>
            </a:r>
          </a:p>
          <a:p>
            <a:pPr indent="0" fontAlgn="auto">
              <a:lnSpc>
                <a:spcPct val="120000"/>
              </a:lnSpc>
              <a:spcAft>
                <a:spcPts val="300"/>
              </a:spcAft>
              <a:buClrTx/>
              <a:buNone/>
            </a:pPr>
            <a:r>
              <a:rPr lang="zh-CN" altLang="en-US" dirty="0">
                <a:latin typeface="微软雅黑" panose="020B0503020204020204" charset="-122"/>
                <a:ea typeface="微软雅黑" panose="020B0503020204020204" charset="-122"/>
              </a:rPr>
              <a:t>       助记码是将数据的名称适当压缩组成代码，有利于记忆。</a:t>
            </a:r>
          </a:p>
          <a:p>
            <a:pPr indent="0" fontAlgn="auto">
              <a:lnSpc>
                <a:spcPct val="120000"/>
              </a:lnSpc>
              <a:spcAft>
                <a:spcPts val="300"/>
              </a:spcAft>
              <a:buClrTx/>
              <a:buNone/>
            </a:pPr>
            <a:r>
              <a:rPr lang="zh-CN" altLang="en-US" dirty="0">
                <a:latin typeface="微软雅黑" panose="020B0503020204020204" charset="-122"/>
                <a:ea typeface="微软雅黑" panose="020B0503020204020204" charset="-122"/>
              </a:rPr>
              <a:t>       助记码多用汉语拼音、英文字母、数字等混合组成。例如，32英寸电视机的代码是32TV，50英寸电视机的代码为50TV。</a:t>
            </a:r>
          </a:p>
          <a:p>
            <a:pPr marL="342900" indent="-342900" fontAlgn="auto">
              <a:lnSpc>
                <a:spcPct val="120000"/>
              </a:lnSpc>
              <a:spcAft>
                <a:spcPts val="300"/>
              </a:spcAft>
              <a:buClrTx/>
              <a:buFont typeface="+mj-ea"/>
              <a:buAutoNum type="circleNumDbPlain" startAt="3"/>
            </a:pPr>
            <a:r>
              <a:rPr lang="zh-CN" altLang="en-US" dirty="0">
                <a:solidFill>
                  <a:srgbClr val="C00000"/>
                </a:solidFill>
                <a:latin typeface="微软雅黑" panose="020B0503020204020204" charset="-122"/>
                <a:ea typeface="微软雅黑" panose="020B0503020204020204" charset="-122"/>
              </a:rPr>
              <a:t>组合码</a:t>
            </a:r>
          </a:p>
          <a:p>
            <a:pPr indent="0" fontAlgn="auto">
              <a:lnSpc>
                <a:spcPct val="120000"/>
              </a:lnSpc>
              <a:spcAft>
                <a:spcPts val="300"/>
              </a:spcAft>
              <a:buClrTx/>
              <a:buNone/>
            </a:pPr>
            <a:r>
              <a:rPr lang="zh-CN" altLang="en-US" dirty="0">
                <a:latin typeface="微软雅黑" panose="020B0503020204020204" charset="-122"/>
                <a:ea typeface="微软雅黑" panose="020B0503020204020204" charset="-122"/>
              </a:rPr>
              <a:t>       在很多应用中，如果仅选用一种代码形式进行编码，往往不能满足要求，而选用几种形态的代码合成编码，会产生很好的效果。这样的代码使用起来十分方便，只是代码的位数较多。</a:t>
            </a:r>
          </a:p>
        </p:txBody>
      </p:sp>
    </p:spTree>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7 </a:t>
            </a:r>
            <a:r>
              <a:rPr lang="zh-CN" altLang="en-US" dirty="0">
                <a:sym typeface="+mn-ea"/>
              </a:rPr>
              <a:t>数据代码设计</a:t>
            </a: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代码的</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种类</a:t>
            </a:r>
          </a:p>
        </p:txBody>
      </p:sp>
      <p:sp>
        <p:nvSpPr>
          <p:cNvPr id="33" name="文本框 32"/>
          <p:cNvSpPr txBox="1"/>
          <p:nvPr/>
        </p:nvSpPr>
        <p:spPr>
          <a:xfrm>
            <a:off x="768980" y="2428407"/>
            <a:ext cx="461665" cy="2818150"/>
          </a:xfrm>
          <a:prstGeom prst="rect">
            <a:avLst/>
          </a:prstGeom>
          <a:noFill/>
        </p:spPr>
        <p:txBody>
          <a:bodyPr vert="eaVert" wrap="square" rtlCol="0">
            <a:spAutoFit/>
          </a:bodyPr>
          <a:lstStyle/>
          <a:p>
            <a:r>
              <a:rPr lang="en-US" spc="160" dirty="0">
                <a:solidFill>
                  <a:schemeClr val="bg1"/>
                </a:solidFill>
                <a:latin typeface="微软雅黑" panose="020B0503020204020204" charset="-122"/>
                <a:ea typeface="微软雅黑" panose="020B0503020204020204" charset="-122"/>
              </a:rPr>
              <a:t> </a:t>
            </a:r>
            <a:r>
              <a:rPr lang="en-US" altLang="zh-CN" spc="160" dirty="0">
                <a:solidFill>
                  <a:schemeClr val="bg1"/>
                </a:solidFill>
                <a:latin typeface="微软雅黑" panose="020B0503020204020204" charset="-122"/>
                <a:ea typeface="微软雅黑" panose="020B0503020204020204" charset="-122"/>
              </a:rPr>
              <a:t>3.7.3 </a:t>
            </a:r>
            <a:r>
              <a:rPr lang="zh-CN" altLang="en-US" spc="160" dirty="0">
                <a:solidFill>
                  <a:schemeClr val="bg1"/>
                </a:solidFill>
                <a:latin typeface="微软雅黑" panose="020B0503020204020204" charset="-122"/>
                <a:ea typeface="微软雅黑" panose="020B0503020204020204" charset="-122"/>
              </a:rPr>
              <a:t>代码的种类</a:t>
            </a:r>
          </a:p>
        </p:txBody>
      </p:sp>
      <p:sp>
        <p:nvSpPr>
          <p:cNvPr id="100" name="文本框 99"/>
          <p:cNvSpPr txBox="1"/>
          <p:nvPr/>
        </p:nvSpPr>
        <p:spPr>
          <a:xfrm>
            <a:off x="1302478" y="1875976"/>
            <a:ext cx="10554741" cy="4218078"/>
          </a:xfrm>
          <a:prstGeom prst="rect">
            <a:avLst/>
          </a:prstGeom>
          <a:noFill/>
          <a:ln w="9525">
            <a:noFill/>
          </a:ln>
        </p:spPr>
        <p:txBody>
          <a:bodyPr wrap="square">
            <a:spAutoFit/>
          </a:bodyPr>
          <a:lstStyle/>
          <a:p>
            <a:pPr marL="342900" indent="-342900" algn="l" fontAlgn="auto">
              <a:buClrTx/>
              <a:buFont typeface="+mj-ea"/>
              <a:buAutoNum type="circleNumDbPlain" startAt="4"/>
            </a:pPr>
            <a:r>
              <a:rPr lang="zh-CN" altLang="en-US" dirty="0">
                <a:solidFill>
                  <a:srgbClr val="C00000"/>
                </a:solidFill>
                <a:latin typeface="微软雅黑" panose="020B0503020204020204" charset="-122"/>
                <a:ea typeface="微软雅黑" panose="020B0503020204020204" charset="-122"/>
                <a:sym typeface="+mn-ea"/>
              </a:rPr>
              <a:t>信息块码</a:t>
            </a:r>
          </a:p>
          <a:p>
            <a:pPr marL="0" indent="0">
              <a:lnSpc>
                <a:spcPct val="120000"/>
              </a:lnSpc>
              <a:spcAft>
                <a:spcPts val="300"/>
              </a:spcAft>
            </a:pPr>
            <a:r>
              <a:rPr lang="zh-CN" altLang="en-US" b="0" u="none" dirty="0">
                <a:latin typeface="宋体" panose="02010600030101010101" pitchFamily="2" charset="-122"/>
                <a:ea typeface="宋体" panose="02010600030101010101" pitchFamily="2" charset="-122"/>
                <a:cs typeface="宋体" panose="02010600030101010101" pitchFamily="2" charset="-122"/>
              </a:rPr>
              <a:t>     </a:t>
            </a:r>
            <a:r>
              <a:rPr lang="zh-CN" altLang="en-US" dirty="0">
                <a:latin typeface="微软雅黑" panose="020B0503020204020204" charset="-122"/>
                <a:ea typeface="微软雅黑" panose="020B0503020204020204" charset="-122"/>
              </a:rPr>
              <a:t>将代码按某些规则分成几个信息块，在信息块之间留出一些备用码，每块内的码是按顺序编排的，这样编成的代码称为信息块码。</a:t>
            </a:r>
          </a:p>
          <a:p>
            <a:pPr>
              <a:lnSpc>
                <a:spcPct val="120000"/>
              </a:lnSpc>
              <a:spcAft>
                <a:spcPts val="300"/>
              </a:spcAft>
            </a:pPr>
            <a:r>
              <a:rPr lang="zh-CN" altLang="en-US" dirty="0">
                <a:latin typeface="微软雅黑" panose="020B0503020204020204" charset="-122"/>
                <a:ea typeface="微软雅黑" panose="020B0503020204020204" charset="-122"/>
              </a:rPr>
              <a:t>        例如，中华人民共和国行政区划代码（</a:t>
            </a:r>
            <a:r>
              <a:rPr lang="en-US" altLang="zh-CN" dirty="0">
                <a:latin typeface="微软雅黑" panose="020B0503020204020204" charset="-122"/>
                <a:ea typeface="微软雅黑" panose="020B0503020204020204" charset="-122"/>
              </a:rPr>
              <a:t>GB/T 2260—2007</a:t>
            </a:r>
            <a:r>
              <a:rPr lang="zh-CN" altLang="en-US" dirty="0">
                <a:latin typeface="微软雅黑" panose="020B0503020204020204" charset="-122"/>
                <a:ea typeface="微软雅黑" panose="020B0503020204020204" charset="-122"/>
              </a:rPr>
              <a:t>）就是典型的信息块码，其代码结构由</a:t>
            </a:r>
            <a:r>
              <a:rPr lang="en-US" altLang="zh-CN" dirty="0">
                <a:latin typeface="微软雅黑" panose="020B0503020204020204" charset="-122"/>
                <a:ea typeface="微软雅黑" panose="020B0503020204020204" charset="-122"/>
              </a:rPr>
              <a:t>6</a:t>
            </a:r>
            <a:r>
              <a:rPr lang="zh-CN" altLang="en-US" dirty="0">
                <a:latin typeface="微软雅黑" panose="020B0503020204020204" charset="-122"/>
                <a:ea typeface="微软雅黑" panose="020B0503020204020204" charset="-122"/>
              </a:rPr>
              <a:t>位数字组成，从左到右的含义如下：</a:t>
            </a:r>
          </a:p>
          <a:p>
            <a:pPr>
              <a:lnSpc>
                <a:spcPct val="120000"/>
              </a:lnSpc>
              <a:spcAft>
                <a:spcPts val="300"/>
              </a:spcAft>
            </a:pPr>
            <a:r>
              <a:rPr lang="en-US" altLang="zh-CN" dirty="0">
                <a:latin typeface="微软雅黑" panose="020B0503020204020204" charset="-122"/>
                <a:ea typeface="微软雅黑" panose="020B0503020204020204" charset="-122"/>
              </a:rPr>
              <a:t>      Ø </a:t>
            </a:r>
            <a:r>
              <a:rPr lang="zh-CN" altLang="en-US" dirty="0">
                <a:latin typeface="微软雅黑" panose="020B0503020204020204" charset="-122"/>
                <a:ea typeface="微软雅黑" panose="020B0503020204020204" charset="-122"/>
              </a:rPr>
              <a:t>前两位：表示省、直辖市、自治区等。例如，</a:t>
            </a:r>
            <a:r>
              <a:rPr lang="en-US" altLang="zh-CN" dirty="0">
                <a:latin typeface="微软雅黑" panose="020B0503020204020204" charset="-122"/>
                <a:ea typeface="微软雅黑" panose="020B0503020204020204" charset="-122"/>
              </a:rPr>
              <a:t>11</a:t>
            </a:r>
            <a:r>
              <a:rPr lang="zh-CN" altLang="en-US" dirty="0">
                <a:latin typeface="微软雅黑" panose="020B0503020204020204" charset="-122"/>
                <a:ea typeface="微软雅黑" panose="020B0503020204020204" charset="-122"/>
              </a:rPr>
              <a:t>代表北京市，</a:t>
            </a:r>
            <a:r>
              <a:rPr lang="en-US" altLang="zh-CN" dirty="0">
                <a:latin typeface="微软雅黑" panose="020B0503020204020204" charset="-122"/>
                <a:ea typeface="微软雅黑" panose="020B0503020204020204" charset="-122"/>
              </a:rPr>
              <a:t>31</a:t>
            </a:r>
            <a:r>
              <a:rPr lang="zh-CN" altLang="en-US" dirty="0">
                <a:latin typeface="微软雅黑" panose="020B0503020204020204" charset="-122"/>
                <a:ea typeface="微软雅黑" panose="020B0503020204020204" charset="-122"/>
              </a:rPr>
              <a:t>代表上海市，</a:t>
            </a:r>
            <a:r>
              <a:rPr lang="en-US" altLang="zh-CN" dirty="0">
                <a:latin typeface="微软雅黑" panose="020B0503020204020204" charset="-122"/>
                <a:ea typeface="微软雅黑" panose="020B0503020204020204" charset="-122"/>
              </a:rPr>
              <a:t>37</a:t>
            </a:r>
            <a:r>
              <a:rPr lang="zh-CN" altLang="en-US" dirty="0">
                <a:latin typeface="微软雅黑" panose="020B0503020204020204" charset="-122"/>
                <a:ea typeface="微软雅黑" panose="020B0503020204020204" charset="-122"/>
              </a:rPr>
              <a:t>代表山东省等。</a:t>
            </a:r>
          </a:p>
          <a:p>
            <a:pPr>
              <a:lnSpc>
                <a:spcPct val="120000"/>
              </a:lnSpc>
              <a:spcAft>
                <a:spcPts val="300"/>
              </a:spcAft>
            </a:pPr>
            <a:r>
              <a:rPr lang="en-US" altLang="zh-CN" dirty="0">
                <a:latin typeface="微软雅黑" panose="020B0503020204020204" charset="-122"/>
                <a:ea typeface="微软雅黑" panose="020B0503020204020204" charset="-122"/>
              </a:rPr>
              <a:t>      Ø </a:t>
            </a:r>
            <a:r>
              <a:rPr lang="zh-CN" altLang="en-US" dirty="0">
                <a:latin typeface="微软雅黑" panose="020B0503020204020204" charset="-122"/>
                <a:ea typeface="微软雅黑" panose="020B0503020204020204" charset="-122"/>
              </a:rPr>
              <a:t>中间两位：</a:t>
            </a:r>
            <a:r>
              <a:rPr lang="en-US" altLang="zh-CN" dirty="0">
                <a:latin typeface="微软雅黑" panose="020B0503020204020204" charset="-122"/>
                <a:ea typeface="微软雅黑" panose="020B0503020204020204" charset="-122"/>
              </a:rPr>
              <a:t>01</a:t>
            </a: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20</a:t>
            </a: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51</a:t>
            </a: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70</a:t>
            </a:r>
            <a:r>
              <a:rPr lang="zh-CN" altLang="en-US" dirty="0">
                <a:latin typeface="微软雅黑" panose="020B0503020204020204" charset="-122"/>
                <a:ea typeface="微软雅黑" panose="020B0503020204020204" charset="-122"/>
              </a:rPr>
              <a:t>表示市（</a:t>
            </a:r>
            <a:r>
              <a:rPr lang="en-US" altLang="zh-CN" dirty="0">
                <a:latin typeface="微软雅黑" panose="020B0503020204020204" charset="-122"/>
                <a:ea typeface="微软雅黑" panose="020B0503020204020204" charset="-122"/>
              </a:rPr>
              <a:t>01</a:t>
            </a: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02</a:t>
            </a:r>
            <a:r>
              <a:rPr lang="zh-CN" altLang="en-US" dirty="0">
                <a:latin typeface="微软雅黑" panose="020B0503020204020204" charset="-122"/>
                <a:ea typeface="微软雅黑" panose="020B0503020204020204" charset="-122"/>
              </a:rPr>
              <a:t>还用于表示直辖市的区、县汇总码），</a:t>
            </a:r>
            <a:r>
              <a:rPr lang="en-US" altLang="zh-CN" dirty="0">
                <a:latin typeface="微软雅黑" panose="020B0503020204020204" charset="-122"/>
                <a:ea typeface="微软雅黑" panose="020B0503020204020204" charset="-122"/>
              </a:rPr>
              <a:t>21</a:t>
            </a: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50</a:t>
            </a:r>
            <a:r>
              <a:rPr lang="zh-CN" altLang="en-US" dirty="0">
                <a:latin typeface="微软雅黑" panose="020B0503020204020204" charset="-122"/>
                <a:ea typeface="微软雅黑" panose="020B0503020204020204" charset="-122"/>
              </a:rPr>
              <a:t>表示地区、自治州、盟。</a:t>
            </a:r>
          </a:p>
          <a:p>
            <a:pPr>
              <a:lnSpc>
                <a:spcPct val="120000"/>
              </a:lnSpc>
              <a:spcAft>
                <a:spcPts val="300"/>
              </a:spcAft>
            </a:pPr>
            <a:r>
              <a:rPr lang="en-US" altLang="zh-CN" dirty="0">
                <a:latin typeface="微软雅黑" panose="020B0503020204020204" charset="-122"/>
                <a:ea typeface="微软雅黑" panose="020B0503020204020204" charset="-122"/>
              </a:rPr>
              <a:t>       Ø </a:t>
            </a:r>
            <a:r>
              <a:rPr lang="zh-CN" altLang="en-US" dirty="0">
                <a:latin typeface="微软雅黑" panose="020B0503020204020204" charset="-122"/>
                <a:ea typeface="微软雅黑" panose="020B0503020204020204" charset="-122"/>
              </a:rPr>
              <a:t>后两位：</a:t>
            </a:r>
            <a:r>
              <a:rPr lang="en-US" altLang="zh-CN" dirty="0">
                <a:latin typeface="微软雅黑" panose="020B0503020204020204" charset="-122"/>
                <a:ea typeface="微软雅黑" panose="020B0503020204020204" charset="-122"/>
              </a:rPr>
              <a:t>01</a:t>
            </a: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20</a:t>
            </a:r>
            <a:r>
              <a:rPr lang="zh-CN" altLang="en-US" dirty="0">
                <a:latin typeface="微软雅黑" panose="020B0503020204020204" charset="-122"/>
                <a:ea typeface="微软雅黑" panose="020B0503020204020204" charset="-122"/>
              </a:rPr>
              <a:t>表示市辖区、地区（自治州、盟）的县级市等，</a:t>
            </a:r>
            <a:r>
              <a:rPr lang="en-US" altLang="zh-CN" dirty="0">
                <a:latin typeface="微软雅黑" panose="020B0503020204020204" charset="-122"/>
                <a:ea typeface="微软雅黑" panose="020B0503020204020204" charset="-122"/>
              </a:rPr>
              <a:t>21</a:t>
            </a: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80</a:t>
            </a:r>
            <a:r>
              <a:rPr lang="zh-CN" altLang="en-US" dirty="0">
                <a:latin typeface="微软雅黑" panose="020B0503020204020204" charset="-122"/>
                <a:ea typeface="微软雅黑" panose="020B0503020204020204" charset="-122"/>
              </a:rPr>
              <a:t>表示县、自治县、旗等，</a:t>
            </a:r>
            <a:r>
              <a:rPr lang="en-US" altLang="zh-CN" dirty="0">
                <a:latin typeface="微软雅黑" panose="020B0503020204020204" charset="-122"/>
                <a:ea typeface="微软雅黑" panose="020B0503020204020204" charset="-122"/>
              </a:rPr>
              <a:t>81</a:t>
            </a: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99</a:t>
            </a:r>
            <a:r>
              <a:rPr lang="zh-CN" altLang="en-US" dirty="0">
                <a:latin typeface="微软雅黑" panose="020B0503020204020204" charset="-122"/>
                <a:ea typeface="微软雅黑" panose="020B0503020204020204" charset="-122"/>
              </a:rPr>
              <a:t>表示省（自治区）的县级市。如</a:t>
            </a:r>
            <a:r>
              <a:rPr lang="en-US" altLang="zh-CN" dirty="0">
                <a:latin typeface="微软雅黑" panose="020B0503020204020204" charset="-122"/>
                <a:ea typeface="微软雅黑" panose="020B0503020204020204" charset="-122"/>
              </a:rPr>
              <a:t>320106</a:t>
            </a:r>
            <a:r>
              <a:rPr lang="zh-CN" altLang="en-US" dirty="0">
                <a:latin typeface="微软雅黑" panose="020B0503020204020204" charset="-122"/>
                <a:ea typeface="微软雅黑" panose="020B0503020204020204" charset="-122"/>
              </a:rPr>
              <a:t>表示江苏省南京市鼓楼区。</a:t>
            </a:r>
          </a:p>
          <a:p>
            <a:pPr>
              <a:lnSpc>
                <a:spcPct val="120000"/>
              </a:lnSpc>
              <a:spcAft>
                <a:spcPts val="300"/>
              </a:spcAft>
            </a:pPr>
            <a:r>
              <a:rPr lang="zh-CN" altLang="en-US" dirty="0">
                <a:latin typeface="微软雅黑" panose="020B0503020204020204" charset="-122"/>
                <a:ea typeface="微软雅黑" panose="020B0503020204020204" charset="-122"/>
              </a:rPr>
              <a:t>       学生的学号也可以用信息块码来编码。将学号分为几个信息块：学生的入学年份、系的代码、专业代码、班级代码等，每个信息块内部按顺序排列，信息块之间留出备用码。</a:t>
            </a:r>
          </a:p>
        </p:txBody>
      </p:sp>
    </p:spTree>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7 </a:t>
            </a:r>
            <a:r>
              <a:rPr lang="zh-CN" altLang="en-US" dirty="0">
                <a:sym typeface="+mn-ea"/>
              </a:rPr>
              <a:t>数据代码设计</a:t>
            </a: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代码的</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种类</a:t>
            </a:r>
          </a:p>
        </p:txBody>
      </p:sp>
      <p:sp>
        <p:nvSpPr>
          <p:cNvPr id="33" name="文本框 32"/>
          <p:cNvSpPr txBox="1"/>
          <p:nvPr/>
        </p:nvSpPr>
        <p:spPr>
          <a:xfrm>
            <a:off x="768972" y="2533338"/>
            <a:ext cx="461665" cy="2212017"/>
          </a:xfrm>
          <a:prstGeom prst="rect">
            <a:avLst/>
          </a:prstGeom>
          <a:noFill/>
        </p:spPr>
        <p:txBody>
          <a:bodyPr vert="eaVert" wrap="square" rtlCol="0">
            <a:spAutoFit/>
          </a:bodyPr>
          <a:lstStyle/>
          <a:p>
            <a:r>
              <a:rPr lang="en-US" altLang="zh-CN" spc="160" dirty="0">
                <a:solidFill>
                  <a:schemeClr val="bg1"/>
                </a:solidFill>
                <a:latin typeface="微软雅黑" panose="020B0503020204020204" charset="-122"/>
                <a:ea typeface="微软雅黑" panose="020B0503020204020204" charset="-122"/>
              </a:rPr>
              <a:t>3.7.3 </a:t>
            </a:r>
            <a:r>
              <a:rPr lang="zh-CN" altLang="en-US" spc="160" dirty="0">
                <a:solidFill>
                  <a:schemeClr val="bg1"/>
                </a:solidFill>
                <a:latin typeface="微软雅黑" panose="020B0503020204020204" charset="-122"/>
                <a:ea typeface="微软雅黑" panose="020B0503020204020204" charset="-122"/>
              </a:rPr>
              <a:t>代码的种类</a:t>
            </a:r>
          </a:p>
        </p:txBody>
      </p:sp>
      <p:sp>
        <p:nvSpPr>
          <p:cNvPr id="2" name="文本框 1"/>
          <p:cNvSpPr txBox="1"/>
          <p:nvPr/>
        </p:nvSpPr>
        <p:spPr>
          <a:xfrm>
            <a:off x="1437640" y="1922239"/>
            <a:ext cx="9999980" cy="1405000"/>
          </a:xfrm>
          <a:prstGeom prst="rect">
            <a:avLst/>
          </a:prstGeom>
          <a:noFill/>
          <a:ln w="9525">
            <a:noFill/>
          </a:ln>
        </p:spPr>
        <p:txBody>
          <a:bodyPr wrap="square">
            <a:spAutoFit/>
          </a:bodyPr>
          <a:lstStyle/>
          <a:p>
            <a:pPr marL="342900" indent="-342900" algn="l" fontAlgn="auto">
              <a:buClrTx/>
              <a:buFont typeface="+mj-ea"/>
              <a:buAutoNum type="circleNumDbPlain" startAt="5"/>
            </a:pPr>
            <a:r>
              <a:rPr lang="zh-CN" altLang="en-US" dirty="0">
                <a:solidFill>
                  <a:srgbClr val="C00000"/>
                </a:solidFill>
                <a:latin typeface="微软雅黑" panose="020B0503020204020204" charset="-122"/>
                <a:ea typeface="微软雅黑" panose="020B0503020204020204" charset="-122"/>
              </a:rPr>
              <a:t>归组分类码</a:t>
            </a:r>
          </a:p>
          <a:p>
            <a:pPr indent="0" fontAlgn="auto">
              <a:lnSpc>
                <a:spcPct val="120000"/>
              </a:lnSpc>
              <a:spcAft>
                <a:spcPts val="300"/>
              </a:spcAft>
            </a:pPr>
            <a:r>
              <a:rPr lang="zh-CN" altLang="en-US" b="0" u="none" dirty="0">
                <a:latin typeface="宋体" panose="02010600030101010101" pitchFamily="2" charset="-122"/>
                <a:ea typeface="宋体" panose="02010600030101010101" pitchFamily="2" charset="-122"/>
                <a:cs typeface="宋体" panose="02010600030101010101" pitchFamily="2" charset="-122"/>
              </a:rPr>
              <a:t>     </a:t>
            </a:r>
            <a:r>
              <a:rPr lang="zh-CN" altLang="en-US" dirty="0">
                <a:latin typeface="微软雅黑" panose="020B0503020204020204" charset="-122"/>
                <a:ea typeface="微软雅黑" panose="020B0503020204020204" charset="-122"/>
              </a:rPr>
              <a:t>将信息按一定的标准分为大类、中类、小类，每类分配顺序代码，就构成归组分类码。</a:t>
            </a:r>
          </a:p>
          <a:p>
            <a:pPr>
              <a:lnSpc>
                <a:spcPct val="120000"/>
              </a:lnSpc>
              <a:spcAft>
                <a:spcPts val="300"/>
              </a:spcAft>
            </a:pPr>
            <a:r>
              <a:rPr lang="zh-CN" altLang="en-US" dirty="0">
                <a:latin typeface="微软雅黑" panose="020B0503020204020204" charset="-122"/>
                <a:ea typeface="微软雅黑" panose="020B0503020204020204" charset="-122"/>
              </a:rPr>
              <a:t>       与信息块码不同的是，归组分类码不是按整个代码分组，而是按代码的代号分组，各组内的位数没有限制。表</a:t>
            </a:r>
            <a:r>
              <a:rPr lang="en-US" altLang="zh-CN" dirty="0">
                <a:latin typeface="微软雅黑" panose="020B0503020204020204" charset="-122"/>
                <a:ea typeface="微软雅黑" panose="020B0503020204020204" charset="-122"/>
              </a:rPr>
              <a:t>3-3</a:t>
            </a:r>
            <a:r>
              <a:rPr lang="zh-CN" altLang="en-US" dirty="0">
                <a:latin typeface="微软雅黑" panose="020B0503020204020204" charset="-122"/>
                <a:ea typeface="微软雅黑" panose="020B0503020204020204" charset="-122"/>
              </a:rPr>
              <a:t>是归组分类码的例子。</a:t>
            </a:r>
          </a:p>
        </p:txBody>
      </p:sp>
      <p:sp>
        <p:nvSpPr>
          <p:cNvPr id="4" name="文本框 3"/>
          <p:cNvSpPr txBox="1"/>
          <p:nvPr/>
        </p:nvSpPr>
        <p:spPr>
          <a:xfrm>
            <a:off x="3522980" y="3124200"/>
            <a:ext cx="5080000" cy="365760"/>
          </a:xfrm>
          <a:prstGeom prst="rect">
            <a:avLst/>
          </a:prstGeom>
          <a:noFill/>
          <a:ln w="9525">
            <a:noFill/>
          </a:ln>
        </p:spPr>
        <p:txBody>
          <a:bodyPr>
            <a:spAutoFit/>
          </a:bodyPr>
          <a:lstStyle/>
          <a:p>
            <a:pPr marL="0" indent="0" algn="ctr"/>
            <a:r>
              <a:rPr lang="zh-CN" altLang="en-US" b="0" u="none">
                <a:solidFill>
                  <a:srgbClr val="7F00E4"/>
                </a:solidFill>
                <a:latin typeface="黑体" panose="02010609060101010101" pitchFamily="49" charset="-122"/>
                <a:ea typeface="黑体" panose="02010609060101010101" pitchFamily="49" charset="-122"/>
                <a:cs typeface="黑体" panose="02010609060101010101" pitchFamily="49" charset="-122"/>
              </a:rPr>
              <a:t>表</a:t>
            </a:r>
            <a:r>
              <a:rPr lang="en-US" altLang="zh-CN" b="0" u="none">
                <a:solidFill>
                  <a:srgbClr val="7F00E4"/>
                </a:solidFill>
                <a:latin typeface="黑体" panose="02010609060101010101" pitchFamily="49" charset="-122"/>
                <a:ea typeface="黑体" panose="02010609060101010101" pitchFamily="49" charset="-122"/>
                <a:cs typeface="黑体" panose="02010609060101010101" pitchFamily="49" charset="-122"/>
              </a:rPr>
              <a:t>3-3 </a:t>
            </a:r>
            <a:r>
              <a:rPr lang="en-US" altLang="zh-CN" b="0" u="none">
                <a:solidFill>
                  <a:srgbClr val="7F00E4"/>
                </a:solidFill>
                <a:latin typeface="Times New Roman" panose="02020603050405020304" charset="0"/>
                <a:ea typeface="Times New Roman" panose="02020603050405020304" charset="0"/>
                <a:cs typeface="Times New Roman" panose="02020603050405020304" charset="0"/>
              </a:rPr>
              <a:t> </a:t>
            </a:r>
            <a:r>
              <a:rPr lang="zh-CN" altLang="en-US" b="0" u="none">
                <a:solidFill>
                  <a:srgbClr val="7F00E4"/>
                </a:solidFill>
                <a:latin typeface="黑体" panose="02010609060101010101" pitchFamily="49" charset="-122"/>
                <a:ea typeface="黑体" panose="02010609060101010101" pitchFamily="49" charset="-122"/>
                <a:cs typeface="黑体" panose="02010609060101010101" pitchFamily="49" charset="-122"/>
              </a:rPr>
              <a:t>归组分类码示例</a:t>
            </a:r>
            <a:endParaRPr lang="zh-CN" altLang="en-US"/>
          </a:p>
        </p:txBody>
      </p:sp>
      <p:graphicFrame>
        <p:nvGraphicFramePr>
          <p:cNvPr id="5" name="表格 4"/>
          <p:cNvGraphicFramePr/>
          <p:nvPr/>
        </p:nvGraphicFramePr>
        <p:xfrm>
          <a:off x="3522980" y="3489960"/>
          <a:ext cx="5146675" cy="2468889"/>
        </p:xfrm>
        <a:graphic>
          <a:graphicData uri="http://schemas.openxmlformats.org/drawingml/2006/table">
            <a:tbl>
              <a:tblPr firstRow="1" bandRow="1">
                <a:tableStyleId>{5940675A-B579-460E-94D1-54222C63F5DA}</a:tableStyleId>
              </a:tblPr>
              <a:tblGrid>
                <a:gridCol w="2398713">
                  <a:extLst>
                    <a:ext uri="{9D8B030D-6E8A-4147-A177-3AD203B41FA5}">
                      <a16:colId xmlns:a16="http://schemas.microsoft.com/office/drawing/2014/main" val="20000"/>
                    </a:ext>
                  </a:extLst>
                </a:gridCol>
                <a:gridCol w="2747962">
                  <a:extLst>
                    <a:ext uri="{9D8B030D-6E8A-4147-A177-3AD203B41FA5}">
                      <a16:colId xmlns:a16="http://schemas.microsoft.com/office/drawing/2014/main" val="20001"/>
                    </a:ext>
                  </a:extLst>
                </a:gridCol>
              </a:tblGrid>
              <a:tr h="0">
                <a:tc>
                  <a:txBody>
                    <a:bodyPr/>
                    <a:lstStyle/>
                    <a:p>
                      <a:pPr marL="0" indent="0" algn="ctr">
                        <a:buNone/>
                      </a:pPr>
                      <a:r>
                        <a:rPr lang="zh-CN" altLang="en-US" sz="1800" b="0" u="none" dirty="0">
                          <a:highlight>
                            <a:srgbClr val="FADCE9"/>
                          </a:highlight>
                          <a:latin typeface="宋体" panose="02010600030101010101" pitchFamily="2" charset="-122"/>
                          <a:ea typeface="宋体" panose="02010600030101010101" pitchFamily="2" charset="-122"/>
                          <a:cs typeface="宋体" panose="02010600030101010101" pitchFamily="2" charset="-122"/>
                        </a:rPr>
                        <a:t>信  息</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l">
                        <a:buNone/>
                      </a:pPr>
                      <a:r>
                        <a:rPr lang="zh-CN" altLang="en-US" sz="1800" b="0" u="none">
                          <a:highlight>
                            <a:srgbClr val="FADCE9"/>
                          </a:highlight>
                          <a:latin typeface="宋体" panose="02010600030101010101" pitchFamily="2" charset="-122"/>
                          <a:ea typeface="宋体" panose="02010600030101010101" pitchFamily="2" charset="-122"/>
                          <a:cs typeface="宋体" panose="02010600030101010101" pitchFamily="2" charset="-122"/>
                        </a:rPr>
                        <a:t>代  码</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extLst>
                  <a:ext uri="{0D108BD9-81ED-4DB2-BD59-A6C34878D82A}">
                    <a16:rowId xmlns:a16="http://schemas.microsoft.com/office/drawing/2014/main" val="10000"/>
                  </a:ext>
                </a:extLst>
              </a:tr>
              <a:tr h="0">
                <a:tc>
                  <a:txBody>
                    <a:bodyPr/>
                    <a:lstStyle/>
                    <a:p>
                      <a:pPr marL="0" indent="0" algn="l">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哲学</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800" b="0" u="none">
                          <a:latin typeface="Times New Roman" panose="02020603050405020304" charset="0"/>
                          <a:ea typeface="Times New Roman" panose="02020603050405020304" charset="0"/>
                          <a:cs typeface="Times New Roman" panose="02020603050405020304" charset="0"/>
                        </a:rPr>
                        <a:t>100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indent="0" algn="l">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宗教</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800" b="0" u="none">
                          <a:latin typeface="Times New Roman" panose="02020603050405020304" charset="0"/>
                          <a:ea typeface="Times New Roman" panose="02020603050405020304" charset="0"/>
                          <a:cs typeface="Times New Roman" panose="02020603050405020304" charset="0"/>
                        </a:rPr>
                        <a:t>200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indent="0" algn="l">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社会科学</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800" b="0" u="none" dirty="0">
                          <a:latin typeface="Times New Roman" panose="02020603050405020304" charset="0"/>
                          <a:ea typeface="Times New Roman" panose="02020603050405020304" charset="0"/>
                          <a:cs typeface="Times New Roman" panose="02020603050405020304" charset="0"/>
                        </a:rPr>
                        <a:t>300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0">
                <a:tc>
                  <a:txBody>
                    <a:bodyPr/>
                    <a:lstStyle/>
                    <a:p>
                      <a:pPr marL="0" indent="0" algn="l">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  法律</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800" b="0" u="none" dirty="0">
                          <a:latin typeface="Times New Roman" panose="02020603050405020304" charset="0"/>
                          <a:ea typeface="Times New Roman" panose="02020603050405020304" charset="0"/>
                          <a:cs typeface="Times New Roman" panose="02020603050405020304" charset="0"/>
                        </a:rPr>
                        <a:t>320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0">
                <a:tc>
                  <a:txBody>
                    <a:bodyPr/>
                    <a:lstStyle/>
                    <a:p>
                      <a:pPr marL="0" indent="0" algn="l">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    商法</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800" b="0" u="none" dirty="0">
                          <a:latin typeface="Times New Roman" panose="02020603050405020304" charset="0"/>
                          <a:ea typeface="Times New Roman" panose="02020603050405020304" charset="0"/>
                          <a:cs typeface="Times New Roman" panose="02020603050405020304" charset="0"/>
                        </a:rPr>
                        <a:t>325</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0">
                <a:tc>
                  <a:txBody>
                    <a:bodyPr/>
                    <a:lstStyle/>
                    <a:p>
                      <a:pPr marL="0" indent="0" algn="l">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      公司法</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800" b="0" u="none" dirty="0">
                          <a:latin typeface="Times New Roman" panose="02020603050405020304" charset="0"/>
                          <a:ea typeface="Times New Roman" panose="02020603050405020304" charset="0"/>
                          <a:cs typeface="Times New Roman" panose="02020603050405020304" charset="0"/>
                        </a:rPr>
                        <a:t>3252</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0">
                <a:tc>
                  <a:txBody>
                    <a:bodyPr/>
                    <a:lstStyle/>
                    <a:p>
                      <a:pPr marL="0" indent="0" algn="l">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        股份公司法</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800" b="0" u="none" dirty="0">
                          <a:latin typeface="Times New Roman" panose="02020603050405020304" charset="0"/>
                          <a:ea typeface="Times New Roman" panose="02020603050405020304" charset="0"/>
                          <a:cs typeface="Times New Roman" panose="02020603050405020304" charset="0"/>
                        </a:rPr>
                        <a:t>32524</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28600">
                <a:tc>
                  <a:txBody>
                    <a:bodyPr/>
                    <a:lstStyle/>
                    <a:p>
                      <a:pPr marL="0" indent="0" algn="l">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        合股公司法</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800" b="0" u="none" dirty="0">
                          <a:latin typeface="Times New Roman" panose="02020603050405020304" charset="0"/>
                          <a:ea typeface="Times New Roman" panose="02020603050405020304" charset="0"/>
                          <a:cs typeface="Times New Roman" panose="02020603050405020304" charset="0"/>
                        </a:rPr>
                        <a:t>32525</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7 </a:t>
            </a:r>
            <a:r>
              <a:rPr lang="zh-CN" altLang="en-US" dirty="0">
                <a:sym typeface="+mn-ea"/>
              </a:rPr>
              <a:t>数据代码设计</a:t>
            </a: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代码的</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种类</a:t>
            </a:r>
          </a:p>
        </p:txBody>
      </p:sp>
      <p:sp>
        <p:nvSpPr>
          <p:cNvPr id="33" name="文本框 32"/>
          <p:cNvSpPr txBox="1"/>
          <p:nvPr/>
        </p:nvSpPr>
        <p:spPr>
          <a:xfrm>
            <a:off x="768972" y="2518348"/>
            <a:ext cx="461665" cy="2150807"/>
          </a:xfrm>
          <a:prstGeom prst="rect">
            <a:avLst/>
          </a:prstGeom>
          <a:noFill/>
        </p:spPr>
        <p:txBody>
          <a:bodyPr vert="eaVert" wrap="square" rtlCol="0">
            <a:spAutoFit/>
          </a:bodyPr>
          <a:lstStyle/>
          <a:p>
            <a:r>
              <a:rPr lang="en-US" spc="160" dirty="0">
                <a:solidFill>
                  <a:schemeClr val="bg1"/>
                </a:solidFill>
                <a:latin typeface="微软雅黑" panose="020B0503020204020204" charset="-122"/>
                <a:ea typeface="微软雅黑" panose="020B0503020204020204" charset="-122"/>
              </a:rPr>
              <a:t> </a:t>
            </a:r>
            <a:r>
              <a:rPr lang="en-US" altLang="zh-CN" spc="160" dirty="0">
                <a:solidFill>
                  <a:schemeClr val="bg1"/>
                </a:solidFill>
                <a:latin typeface="微软雅黑" panose="020B0503020204020204" charset="-122"/>
                <a:ea typeface="微软雅黑" panose="020B0503020204020204" charset="-122"/>
              </a:rPr>
              <a:t>3.7.3 </a:t>
            </a:r>
            <a:r>
              <a:rPr lang="zh-CN" altLang="en-US" spc="160" dirty="0">
                <a:solidFill>
                  <a:schemeClr val="bg1"/>
                </a:solidFill>
                <a:latin typeface="微软雅黑" panose="020B0503020204020204" charset="-122"/>
                <a:ea typeface="微软雅黑" panose="020B0503020204020204" charset="-122"/>
              </a:rPr>
              <a:t>代码的种类</a:t>
            </a:r>
          </a:p>
        </p:txBody>
      </p:sp>
      <p:sp>
        <p:nvSpPr>
          <p:cNvPr id="100" name="文本框 99"/>
          <p:cNvSpPr txBox="1"/>
          <p:nvPr/>
        </p:nvSpPr>
        <p:spPr>
          <a:xfrm>
            <a:off x="1437391" y="1881214"/>
            <a:ext cx="9956165" cy="1089529"/>
          </a:xfrm>
          <a:prstGeom prst="rect">
            <a:avLst/>
          </a:prstGeom>
          <a:noFill/>
          <a:ln w="9525">
            <a:noFill/>
          </a:ln>
        </p:spPr>
        <p:txBody>
          <a:bodyPr wrap="square">
            <a:spAutoFit/>
          </a:bodyPr>
          <a:lstStyle/>
          <a:p>
            <a:pPr marL="342900" indent="-342900" algn="l" fontAlgn="auto">
              <a:lnSpc>
                <a:spcPct val="120000"/>
              </a:lnSpc>
              <a:buClrTx/>
              <a:buFont typeface="+mj-ea"/>
              <a:buAutoNum type="circleNumDbPlain" startAt="6"/>
            </a:pPr>
            <a:r>
              <a:rPr lang="zh-CN" altLang="en-US" dirty="0">
                <a:solidFill>
                  <a:srgbClr val="C00000"/>
                </a:solidFill>
                <a:latin typeface="微软雅黑" panose="020B0503020204020204" charset="-122"/>
                <a:ea typeface="微软雅黑" panose="020B0503020204020204" charset="-122"/>
                <a:sym typeface="+mn-ea"/>
              </a:rPr>
              <a:t>数字式字符码</a:t>
            </a:r>
          </a:p>
          <a:p>
            <a:pPr marL="0" indent="0" algn="l" fontAlgn="auto">
              <a:lnSpc>
                <a:spcPct val="120000"/>
              </a:lnSpc>
            </a:pPr>
            <a:r>
              <a:rPr lang="zh-CN" altLang="en-US" dirty="0">
                <a:latin typeface="微软雅黑" panose="020B0503020204020204" charset="-122"/>
                <a:ea typeface="微软雅黑" panose="020B0503020204020204" charset="-122"/>
              </a:rPr>
              <a:t>      按规定的方式，将字符用数字表示，所形成的代码称为数字式字符码。</a:t>
            </a:r>
          </a:p>
          <a:p>
            <a:pPr marL="0" indent="0" algn="l" fontAlgn="auto">
              <a:lnSpc>
                <a:spcPct val="120000"/>
              </a:lnSpc>
            </a:pPr>
            <a:r>
              <a:rPr lang="zh-CN" altLang="en-US" dirty="0">
                <a:latin typeface="微软雅黑" panose="020B0503020204020204" charset="-122"/>
                <a:ea typeface="微软雅黑" panose="020B0503020204020204" charset="-122"/>
              </a:rPr>
              <a:t>      计算机中通用的ASCII码就是数字式字符码，表3-4列出了部分ASCII码。</a:t>
            </a:r>
          </a:p>
        </p:txBody>
      </p:sp>
      <p:graphicFrame>
        <p:nvGraphicFramePr>
          <p:cNvPr id="4" name="表格 -1"/>
          <p:cNvGraphicFramePr/>
          <p:nvPr/>
        </p:nvGraphicFramePr>
        <p:xfrm>
          <a:off x="2633980" y="3177540"/>
          <a:ext cx="7094220" cy="2682251"/>
        </p:xfrm>
        <a:graphic>
          <a:graphicData uri="http://schemas.openxmlformats.org/drawingml/2006/table">
            <a:tbl>
              <a:tblPr firstRow="1" bandRow="1">
                <a:tableStyleId>{5940675A-B579-460E-94D1-54222C63F5DA}</a:tableStyleId>
              </a:tblPr>
              <a:tblGrid>
                <a:gridCol w="1772461">
                  <a:extLst>
                    <a:ext uri="{9D8B030D-6E8A-4147-A177-3AD203B41FA5}">
                      <a16:colId xmlns:a16="http://schemas.microsoft.com/office/drawing/2014/main" val="20000"/>
                    </a:ext>
                  </a:extLst>
                </a:gridCol>
                <a:gridCol w="1775087">
                  <a:extLst>
                    <a:ext uri="{9D8B030D-6E8A-4147-A177-3AD203B41FA5}">
                      <a16:colId xmlns:a16="http://schemas.microsoft.com/office/drawing/2014/main" val="20001"/>
                    </a:ext>
                  </a:extLst>
                </a:gridCol>
                <a:gridCol w="1772461">
                  <a:extLst>
                    <a:ext uri="{9D8B030D-6E8A-4147-A177-3AD203B41FA5}">
                      <a16:colId xmlns:a16="http://schemas.microsoft.com/office/drawing/2014/main" val="20002"/>
                    </a:ext>
                  </a:extLst>
                </a:gridCol>
                <a:gridCol w="1774211">
                  <a:extLst>
                    <a:ext uri="{9D8B030D-6E8A-4147-A177-3AD203B41FA5}">
                      <a16:colId xmlns:a16="http://schemas.microsoft.com/office/drawing/2014/main" val="20003"/>
                    </a:ext>
                  </a:extLst>
                </a:gridCol>
              </a:tblGrid>
              <a:tr h="243840">
                <a:tc>
                  <a:txBody>
                    <a:bodyPr/>
                    <a:lstStyle/>
                    <a:p>
                      <a:pPr marL="0" indent="0" algn="ctr">
                        <a:buNone/>
                      </a:pPr>
                      <a:r>
                        <a:rPr lang="en-US" altLang="zh-CN" sz="1600" b="0" u="none" dirty="0">
                          <a:highlight>
                            <a:srgbClr val="FADCE9"/>
                          </a:highlight>
                          <a:latin typeface="Times New Roman" panose="02020603050405020304" charset="0"/>
                          <a:ea typeface="Times New Roman" panose="02020603050405020304" charset="0"/>
                          <a:cs typeface="Times New Roman" panose="02020603050405020304" charset="0"/>
                        </a:rPr>
                        <a:t>ASCII</a:t>
                      </a:r>
                      <a:r>
                        <a:rPr lang="zh-CN" altLang="en-US" sz="1600" b="0" u="none" dirty="0">
                          <a:highlight>
                            <a:srgbClr val="FADCE9"/>
                          </a:highlight>
                          <a:latin typeface="宋体" panose="02010600030101010101" pitchFamily="2" charset="-122"/>
                          <a:ea typeface="宋体" panose="02010600030101010101" pitchFamily="2" charset="-122"/>
                          <a:cs typeface="宋体" panose="02010600030101010101" pitchFamily="2" charset="-122"/>
                        </a:rPr>
                        <a:t>码</a:t>
                      </a:r>
                      <a:endParaRPr lang="zh-CN" altLang="en-US" sz="1600" b="0" u="none" dirty="0">
                        <a:highlight>
                          <a:srgbClr val="FADCE9"/>
                        </a:highlight>
                        <a:latin typeface="Times New Roman" panose="02020603050405020304" charset="0"/>
                        <a:ea typeface="Times New Roman" panose="02020603050405020304" charset="0"/>
                        <a:cs typeface="Times New Roman" panose="02020603050405020304"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字  符</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en-US" altLang="zh-CN" sz="1600" b="0" u="none">
                          <a:highlight>
                            <a:srgbClr val="FADCE9"/>
                          </a:highlight>
                          <a:latin typeface="Times New Roman" panose="02020603050405020304" charset="0"/>
                          <a:ea typeface="Times New Roman" panose="02020603050405020304" charset="0"/>
                          <a:cs typeface="Times New Roman" panose="02020603050405020304" charset="0"/>
                        </a:rPr>
                        <a:t>ASCII</a:t>
                      </a: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码</a:t>
                      </a:r>
                      <a:endParaRPr lang="zh-CN" altLang="en-US" sz="1600" b="0" u="none">
                        <a:highlight>
                          <a:srgbClr val="FADCE9"/>
                        </a:highlight>
                        <a:latin typeface="Times New Roman" panose="02020603050405020304" charset="0"/>
                        <a:ea typeface="Times New Roman" panose="02020603050405020304" charset="0"/>
                        <a:cs typeface="Times New Roman" panose="02020603050405020304" charset="0"/>
                      </a:endParaRP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字  符</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extLst>
                  <a:ext uri="{0D108BD9-81ED-4DB2-BD59-A6C34878D82A}">
                    <a16:rowId xmlns:a16="http://schemas.microsoft.com/office/drawing/2014/main" val="10000"/>
                  </a:ext>
                </a:extLst>
              </a:tr>
              <a:tr h="243840">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048</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065</a:t>
                      </a: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A</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3840">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049</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1</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066</a:t>
                      </a: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B</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3840">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050</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2</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067</a:t>
                      </a: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C</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3840">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051</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3</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068</a:t>
                      </a: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D</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43840">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052</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4</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069</a:t>
                      </a: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E</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43840">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053</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5</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070</a:t>
                      </a: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F</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43840">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054</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6</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071</a:t>
                      </a: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G</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43840">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055</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7</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072</a:t>
                      </a: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H</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43840">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056</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8</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073</a:t>
                      </a: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Times New Roman" panose="02020603050405020304" charset="0"/>
                          <a:ea typeface="Times New Roman" panose="02020603050405020304" charset="0"/>
                          <a:cs typeface="Times New Roman" panose="02020603050405020304" charset="0"/>
                        </a:rPr>
                        <a:t>I</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43840">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057</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9</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charset="0"/>
                          <a:ea typeface="Times New Roman" panose="02020603050405020304" charset="0"/>
                          <a:cs typeface="Times New Roman" panose="02020603050405020304" charset="0"/>
                        </a:rPr>
                        <a:t>074</a:t>
                      </a: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Times New Roman" panose="02020603050405020304" charset="0"/>
                          <a:ea typeface="Times New Roman" panose="02020603050405020304" charset="0"/>
                          <a:cs typeface="Times New Roman" panose="02020603050405020304" charset="0"/>
                        </a:rPr>
                        <a:t>J</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 name="文本框 1"/>
          <p:cNvSpPr txBox="1"/>
          <p:nvPr/>
        </p:nvSpPr>
        <p:spPr>
          <a:xfrm>
            <a:off x="3522980" y="2839085"/>
            <a:ext cx="5080000" cy="335280"/>
          </a:xfrm>
          <a:prstGeom prst="rect">
            <a:avLst/>
          </a:prstGeom>
          <a:noFill/>
          <a:ln w="9525">
            <a:noFill/>
          </a:ln>
        </p:spPr>
        <p:txBody>
          <a:bodyPr>
            <a:spAutoFit/>
          </a:bodyPr>
          <a:lstStyle/>
          <a:p>
            <a:pPr marL="0" indent="0" algn="ctr"/>
            <a:r>
              <a:rPr lang="zh-CN" altLang="en-US" sz="1600" b="0" u="none">
                <a:solidFill>
                  <a:srgbClr val="7F00E4"/>
                </a:solidFill>
                <a:latin typeface="黑体" panose="02010609060101010101" pitchFamily="49" charset="-122"/>
                <a:ea typeface="黑体" panose="02010609060101010101" pitchFamily="49" charset="-122"/>
                <a:cs typeface="黑体" panose="02010609060101010101" pitchFamily="49" charset="-122"/>
              </a:rPr>
              <a:t>表</a:t>
            </a:r>
            <a:r>
              <a:rPr lang="en-US" altLang="zh-CN" sz="1600" b="0" u="none">
                <a:solidFill>
                  <a:srgbClr val="7F00E4"/>
                </a:solidFill>
                <a:latin typeface="黑体" panose="02010609060101010101" pitchFamily="49" charset="-122"/>
                <a:ea typeface="黑体" panose="02010609060101010101" pitchFamily="49" charset="-122"/>
                <a:cs typeface="黑体" panose="02010609060101010101" pitchFamily="49" charset="-122"/>
              </a:rPr>
              <a:t>3-4</a:t>
            </a:r>
            <a:r>
              <a:rPr lang="en-US" altLang="zh-CN" sz="1600" b="0" u="none">
                <a:solidFill>
                  <a:srgbClr val="7F00E4"/>
                </a:solidFill>
                <a:latin typeface="Times New Roman" panose="02020603050405020304" charset="0"/>
                <a:ea typeface="Times New Roman" panose="02020603050405020304" charset="0"/>
                <a:cs typeface="Times New Roman" panose="02020603050405020304" charset="0"/>
              </a:rPr>
              <a:t>  </a:t>
            </a:r>
            <a:r>
              <a:rPr lang="zh-CN" altLang="en-US" sz="1600" b="0" u="none">
                <a:solidFill>
                  <a:srgbClr val="7F00E4"/>
                </a:solidFill>
                <a:latin typeface="黑体" panose="02010609060101010101" pitchFamily="49" charset="-122"/>
                <a:ea typeface="黑体" panose="02010609060101010101" pitchFamily="49" charset="-122"/>
                <a:cs typeface="黑体" panose="02010609060101010101" pitchFamily="49" charset="-122"/>
              </a:rPr>
              <a:t>部分</a:t>
            </a:r>
            <a:r>
              <a:rPr lang="en-US" altLang="zh-CN" sz="1600" b="0" u="none">
                <a:solidFill>
                  <a:srgbClr val="7F00E4"/>
                </a:solidFill>
                <a:latin typeface="Times New Roman" panose="02020603050405020304" charset="0"/>
                <a:ea typeface="Times New Roman" panose="02020603050405020304" charset="0"/>
                <a:cs typeface="Times New Roman" panose="02020603050405020304" charset="0"/>
              </a:rPr>
              <a:t>ASCII</a:t>
            </a:r>
            <a:r>
              <a:rPr lang="zh-CN" altLang="en-US" sz="1600" b="0" u="none">
                <a:solidFill>
                  <a:srgbClr val="7F00E4"/>
                </a:solidFill>
                <a:latin typeface="黑体" panose="02010609060101010101" pitchFamily="49" charset="-122"/>
                <a:ea typeface="黑体" panose="02010609060101010101" pitchFamily="49" charset="-122"/>
                <a:cs typeface="黑体" panose="02010609060101010101" pitchFamily="49" charset="-122"/>
              </a:rPr>
              <a:t>码</a:t>
            </a:r>
            <a:endParaRPr lang="zh-CN" altLang="en-US" sz="1600"/>
          </a:p>
        </p:txBody>
      </p:sp>
    </p:spTree>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7 </a:t>
            </a:r>
            <a:r>
              <a:rPr lang="zh-CN" altLang="en-US" dirty="0">
                <a:sym typeface="+mn-ea"/>
              </a:rPr>
              <a:t>数据代码设计</a:t>
            </a: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代码的</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种类</a:t>
            </a:r>
          </a:p>
        </p:txBody>
      </p:sp>
      <p:sp>
        <p:nvSpPr>
          <p:cNvPr id="33" name="文本框 32"/>
          <p:cNvSpPr txBox="1"/>
          <p:nvPr/>
        </p:nvSpPr>
        <p:spPr>
          <a:xfrm>
            <a:off x="768973" y="2818151"/>
            <a:ext cx="461665" cy="2186284"/>
          </a:xfrm>
          <a:prstGeom prst="rect">
            <a:avLst/>
          </a:prstGeom>
          <a:noFill/>
        </p:spPr>
        <p:txBody>
          <a:bodyPr vert="eaVert" wrap="square" rtlCol="0">
            <a:spAutoFit/>
          </a:bodyPr>
          <a:lstStyle/>
          <a:p>
            <a:r>
              <a:rPr lang="en-US" spc="160" dirty="0">
                <a:solidFill>
                  <a:schemeClr val="bg1"/>
                </a:solidFill>
                <a:latin typeface="微软雅黑" panose="020B0503020204020204" charset="-122"/>
                <a:ea typeface="微软雅黑" panose="020B0503020204020204" charset="-122"/>
              </a:rPr>
              <a:t> </a:t>
            </a:r>
            <a:r>
              <a:rPr lang="en-US" altLang="zh-CN" spc="160" dirty="0">
                <a:solidFill>
                  <a:schemeClr val="bg1"/>
                </a:solidFill>
                <a:latin typeface="微软雅黑" panose="020B0503020204020204" charset="-122"/>
                <a:ea typeface="微软雅黑" panose="020B0503020204020204" charset="-122"/>
              </a:rPr>
              <a:t>3.7.3 </a:t>
            </a:r>
            <a:r>
              <a:rPr lang="zh-CN" altLang="en-US" spc="160" dirty="0">
                <a:solidFill>
                  <a:schemeClr val="bg1"/>
                </a:solidFill>
                <a:latin typeface="微软雅黑" panose="020B0503020204020204" charset="-122"/>
                <a:ea typeface="微软雅黑" panose="020B0503020204020204" charset="-122"/>
              </a:rPr>
              <a:t>代码的种类</a:t>
            </a:r>
          </a:p>
        </p:txBody>
      </p:sp>
      <p:sp>
        <p:nvSpPr>
          <p:cNvPr id="100" name="文本框 99"/>
          <p:cNvSpPr txBox="1"/>
          <p:nvPr/>
        </p:nvSpPr>
        <p:spPr>
          <a:xfrm>
            <a:off x="1467371" y="2285948"/>
            <a:ext cx="10168255" cy="3416320"/>
          </a:xfrm>
          <a:prstGeom prst="rect">
            <a:avLst/>
          </a:prstGeom>
          <a:noFill/>
          <a:ln w="9525">
            <a:noFill/>
          </a:ln>
        </p:spPr>
        <p:txBody>
          <a:bodyPr wrap="square">
            <a:spAutoFit/>
          </a:bodyPr>
          <a:lstStyle/>
          <a:p>
            <a:pPr marL="342900" indent="-342900" algn="l" fontAlgn="auto">
              <a:lnSpc>
                <a:spcPct val="120000"/>
              </a:lnSpc>
              <a:buClrTx/>
              <a:buFont typeface="+mj-ea"/>
              <a:buAutoNum type="circleNumDbPlain" startAt="7"/>
            </a:pPr>
            <a:r>
              <a:rPr lang="zh-CN" altLang="en-US" dirty="0">
                <a:solidFill>
                  <a:srgbClr val="C00000"/>
                </a:solidFill>
                <a:latin typeface="微软雅黑" panose="020B0503020204020204" charset="-122"/>
                <a:ea typeface="微软雅黑" panose="020B0503020204020204" charset="-122"/>
                <a:sym typeface="+mn-ea"/>
              </a:rPr>
              <a:t>条形码</a:t>
            </a:r>
            <a:endParaRPr lang="en-US" altLang="zh-CN" dirty="0">
              <a:solidFill>
                <a:srgbClr val="C00000"/>
              </a:solidFill>
              <a:latin typeface="微软雅黑" panose="020B0503020204020204" charset="-122"/>
              <a:ea typeface="微软雅黑" panose="020B0503020204020204" charset="-122"/>
              <a:sym typeface="+mn-ea"/>
            </a:endParaRPr>
          </a:p>
          <a:p>
            <a:pPr marL="342900" indent="-342900" algn="l" fontAlgn="auto">
              <a:lnSpc>
                <a:spcPct val="120000"/>
              </a:lnSpc>
              <a:buClrTx/>
              <a:buFont typeface="+mj-ea"/>
              <a:buAutoNum type="circleNumDbPlain" startAt="7"/>
            </a:pPr>
            <a:endParaRPr lang="zh-CN" altLang="en-US" dirty="0">
              <a:solidFill>
                <a:srgbClr val="C00000"/>
              </a:solidFill>
              <a:latin typeface="微软雅黑" panose="020B0503020204020204" charset="-122"/>
              <a:ea typeface="微软雅黑" panose="020B0503020204020204" charset="-122"/>
              <a:sym typeface="+mn-ea"/>
            </a:endParaRPr>
          </a:p>
          <a:p>
            <a:pPr marL="0" indent="0" algn="l" fontAlgn="auto">
              <a:lnSpc>
                <a:spcPct val="120000"/>
              </a:lnSpc>
            </a:pPr>
            <a:r>
              <a:rPr lang="zh-CN" altLang="en-US" dirty="0">
                <a:latin typeface="微软雅黑" panose="020B0503020204020204" charset="-122"/>
                <a:ea typeface="微软雅黑" panose="020B0503020204020204" charset="-122"/>
              </a:rPr>
              <a:t>        商品条形码是指由一组规则排列的条、空及其对应字符组成的标识，用以表示一定的商品信息（包括产地、产品型号、价格等）。其中条为深色、空为白色，用于条形码识读设备的扫描识读。其对应字符由一组阿拉伯数字组成，供人们直接识读或通过键盘向计算机输入数据使用。这一组条空和相应的字符所表示的信息是相同的。</a:t>
            </a:r>
          </a:p>
          <a:p>
            <a:pPr marL="0" indent="0" algn="l" fontAlgn="auto">
              <a:lnSpc>
                <a:spcPct val="120000"/>
              </a:lnSpc>
            </a:pPr>
            <a:r>
              <a:rPr lang="zh-CN" altLang="en-US" dirty="0">
                <a:latin typeface="微软雅黑" panose="020B0503020204020204" charset="-122"/>
                <a:ea typeface="微软雅黑" panose="020B0503020204020204" charset="-122"/>
              </a:rPr>
              <a:t>       通用商品条形码的编码遵循唯一性原则，一般由前缀部分、制造厂商代码、商品代码和校验码组成。商品条形码中的前缀码是用来标识国家或地区的代码，赋码权在国际物品编码协会。制造厂商代码的赋权在各个国家或地区的物品编码组织。商品代码是用来标识商品的代码，赋码权由产品生产企业自己行使。商品条形码最后用1位校验码来校验商品条形码的正确性。</a:t>
            </a:r>
          </a:p>
        </p:txBody>
      </p:sp>
    </p:spTree>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7 </a:t>
            </a:r>
            <a:r>
              <a:rPr lang="zh-CN" altLang="en-US" dirty="0">
                <a:sym typeface="+mn-ea"/>
              </a:rPr>
              <a:t>数据代码设计</a:t>
            </a: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代码的</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种类</a:t>
            </a:r>
          </a:p>
        </p:txBody>
      </p:sp>
      <p:sp>
        <p:nvSpPr>
          <p:cNvPr id="33" name="文本框 32"/>
          <p:cNvSpPr txBox="1"/>
          <p:nvPr/>
        </p:nvSpPr>
        <p:spPr>
          <a:xfrm>
            <a:off x="768972" y="2593298"/>
            <a:ext cx="461665" cy="2414312"/>
          </a:xfrm>
          <a:prstGeom prst="rect">
            <a:avLst/>
          </a:prstGeom>
          <a:noFill/>
        </p:spPr>
        <p:txBody>
          <a:bodyPr vert="eaVert" wrap="square" rtlCol="0">
            <a:spAutoFit/>
          </a:bodyPr>
          <a:lstStyle/>
          <a:p>
            <a:r>
              <a:rPr lang="en-US" spc="160" dirty="0">
                <a:solidFill>
                  <a:schemeClr val="bg1"/>
                </a:solidFill>
                <a:latin typeface="微软雅黑" panose="020B0503020204020204" charset="-122"/>
                <a:ea typeface="微软雅黑" panose="020B0503020204020204" charset="-122"/>
              </a:rPr>
              <a:t> </a:t>
            </a:r>
            <a:r>
              <a:rPr lang="en-US" altLang="zh-CN" spc="160" dirty="0">
                <a:solidFill>
                  <a:schemeClr val="bg1"/>
                </a:solidFill>
                <a:latin typeface="微软雅黑" panose="020B0503020204020204" charset="-122"/>
                <a:ea typeface="微软雅黑" panose="020B0503020204020204" charset="-122"/>
              </a:rPr>
              <a:t>3.7.3 </a:t>
            </a:r>
            <a:r>
              <a:rPr lang="zh-CN" altLang="en-US" spc="160" dirty="0">
                <a:solidFill>
                  <a:schemeClr val="bg1"/>
                </a:solidFill>
                <a:latin typeface="微软雅黑" panose="020B0503020204020204" charset="-122"/>
                <a:ea typeface="微软雅黑" panose="020B0503020204020204" charset="-122"/>
              </a:rPr>
              <a:t>代码的种类</a:t>
            </a:r>
          </a:p>
        </p:txBody>
      </p:sp>
      <p:sp>
        <p:nvSpPr>
          <p:cNvPr id="100" name="文本框 99"/>
          <p:cNvSpPr txBox="1"/>
          <p:nvPr/>
        </p:nvSpPr>
        <p:spPr>
          <a:xfrm>
            <a:off x="1422400" y="2189480"/>
            <a:ext cx="7123430" cy="3243965"/>
          </a:xfrm>
          <a:prstGeom prst="rect">
            <a:avLst/>
          </a:prstGeom>
          <a:noFill/>
          <a:ln w="9525">
            <a:noFill/>
          </a:ln>
        </p:spPr>
        <p:txBody>
          <a:bodyPr wrap="square">
            <a:spAutoFit/>
          </a:bodyPr>
          <a:lstStyle/>
          <a:p>
            <a:pPr marL="342900" indent="-342900" algn="l" fontAlgn="auto">
              <a:buClrTx/>
              <a:buFont typeface="+mj-ea"/>
              <a:buAutoNum type="circleNumDbPlain" startAt="8"/>
            </a:pPr>
            <a:r>
              <a:rPr lang="zh-CN" altLang="en-US" sz="1600" dirty="0">
                <a:solidFill>
                  <a:srgbClr val="C00000"/>
                </a:solidFill>
                <a:latin typeface="微软雅黑" panose="020B0503020204020204" charset="-122"/>
                <a:ea typeface="微软雅黑" panose="020B0503020204020204" charset="-122"/>
                <a:sym typeface="+mn-ea"/>
              </a:rPr>
              <a:t>二维码</a:t>
            </a:r>
            <a:endParaRPr lang="en-US" altLang="zh-CN" sz="1600" dirty="0">
              <a:solidFill>
                <a:srgbClr val="C00000"/>
              </a:solidFill>
              <a:latin typeface="微软雅黑" panose="020B0503020204020204" charset="-122"/>
              <a:ea typeface="微软雅黑" panose="020B0503020204020204" charset="-122"/>
              <a:sym typeface="+mn-ea"/>
            </a:endParaRPr>
          </a:p>
          <a:p>
            <a:pPr marL="342900" indent="-342900" algn="l" fontAlgn="auto">
              <a:buClrTx/>
              <a:buFont typeface="+mj-ea"/>
              <a:buAutoNum type="circleNumDbPlain" startAt="8"/>
            </a:pPr>
            <a:endParaRPr lang="zh-CN" altLang="en-US" sz="1600" dirty="0">
              <a:solidFill>
                <a:srgbClr val="C00000"/>
              </a:solidFill>
              <a:latin typeface="微软雅黑" panose="020B0503020204020204" charset="-122"/>
              <a:ea typeface="微软雅黑" panose="020B0503020204020204" charset="-122"/>
              <a:sym typeface="+mn-ea"/>
            </a:endParaRPr>
          </a:p>
          <a:p>
            <a:pPr marL="0" indent="0" algn="l" fontAlgn="auto">
              <a:lnSpc>
                <a:spcPct val="120000"/>
              </a:lnSpc>
            </a:pPr>
            <a:r>
              <a:rPr lang="zh-CN" altLang="en-US" sz="1600" dirty="0">
                <a:latin typeface="微软雅黑" panose="020B0503020204020204" charset="-122"/>
                <a:ea typeface="微软雅黑" panose="020B0503020204020204" charset="-122"/>
              </a:rPr>
              <a:t>       二维条码/二维码（Dimensional Barcode）是用某种特定的几何图形按一定规律在平面（二维方向上）分布的黑白相间的图形中记录数据符号信息的，具有一定的校验功能，同时还具有对不同行的信息自动识别功能及处理图形旋转变化等特点。</a:t>
            </a:r>
          </a:p>
          <a:p>
            <a:pPr marL="0" indent="0" algn="l" fontAlgn="auto">
              <a:lnSpc>
                <a:spcPct val="120000"/>
              </a:lnSpc>
            </a:pPr>
            <a:r>
              <a:rPr lang="zh-CN" altLang="en-US" sz="1600" dirty="0">
                <a:latin typeface="微软雅黑" panose="020B0503020204020204" charset="-122"/>
                <a:ea typeface="微软雅黑" panose="020B0503020204020204" charset="-122"/>
              </a:rPr>
              <a:t>       手机二维码可以印刷在报纸、杂志、图书及个人名片等多种载体上，用户通过手机摄像头扫描二维码，即可实现快速手机上网，下载图文、音乐、视频，获取公共服务或企事业单位信息，还可以方便地用手机识别和存储名片、进行手机阅读等多种功能。手机二维码是移动互联时代网络浏览、应用下载、网上购物、网上支付等服务的重要入口。</a:t>
            </a:r>
          </a:p>
        </p:txBody>
      </p:sp>
      <p:pic>
        <p:nvPicPr>
          <p:cNvPr id="8" name="图片 7" descr="微信公众号二维码.jpg"/>
          <p:cNvPicPr>
            <a:picLocks noChangeAspect="1"/>
          </p:cNvPicPr>
          <p:nvPr/>
        </p:nvPicPr>
        <p:blipFill>
          <a:blip r:embed="rId3" cstate="print"/>
          <a:stretch>
            <a:fillRect/>
          </a:stretch>
        </p:blipFill>
        <p:spPr>
          <a:xfrm>
            <a:off x="8438213" y="2443395"/>
            <a:ext cx="3050497" cy="3050497"/>
          </a:xfrm>
          <a:prstGeom prst="rect">
            <a:avLst/>
          </a:prstGeom>
        </p:spPr>
      </p:pic>
    </p:spTree>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7 </a:t>
            </a:r>
            <a:r>
              <a:rPr lang="zh-CN" altLang="en-US" dirty="0">
                <a:sym typeface="+mn-ea"/>
              </a:rPr>
              <a:t>数据代码设计</a:t>
            </a: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3.7.3 </a:t>
            </a:r>
            <a:r>
              <a:rPr lang="zh-CN" altLang="en-US" sz="2400" dirty="0">
                <a:solidFill>
                  <a:schemeClr val="tx1"/>
                </a:solidFill>
              </a:rPr>
              <a:t>代码的设计方法</a:t>
            </a:r>
            <a:endParaRPr lang="zh-CN" altLang="en-US" sz="2400" dirty="0">
              <a:solidFill>
                <a:schemeClr val="tx1"/>
              </a:solidFill>
              <a:sym typeface="+mn-ea"/>
            </a:endParaRPr>
          </a:p>
        </p:txBody>
      </p:sp>
      <p:grpSp>
        <p:nvGrpSpPr>
          <p:cNvPr id="14" name="组合 13"/>
          <p:cNvGrpSpPr/>
          <p:nvPr/>
        </p:nvGrpSpPr>
        <p:grpSpPr>
          <a:xfrm>
            <a:off x="1126490" y="3271520"/>
            <a:ext cx="5579110" cy="1680210"/>
            <a:chOff x="1188" y="3093"/>
            <a:chExt cx="8786" cy="2646"/>
          </a:xfrm>
        </p:grpSpPr>
        <p:grpSp>
          <p:nvGrpSpPr>
            <p:cNvPr id="5" name="组合 4"/>
            <p:cNvGrpSpPr/>
            <p:nvPr/>
          </p:nvGrpSpPr>
          <p:grpSpPr>
            <a:xfrm>
              <a:off x="1188" y="3093"/>
              <a:ext cx="8124" cy="930"/>
              <a:chOff x="508000" y="3196191"/>
              <a:chExt cx="5158698" cy="590550"/>
            </a:xfrm>
          </p:grpSpPr>
          <p:sp>
            <p:nvSpPr>
              <p:cNvPr id="21" name="TextBox 1"/>
              <p:cNvSpPr txBox="1">
                <a:spLocks noChangeArrowheads="1"/>
              </p:cNvSpPr>
              <p:nvPr/>
            </p:nvSpPr>
            <p:spPr bwMode="auto">
              <a:xfrm>
                <a:off x="508000" y="3196191"/>
                <a:ext cx="31813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751" y="3291428"/>
                <a:ext cx="470594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确定编码对象</a:t>
                </a:r>
              </a:p>
            </p:txBody>
          </p:sp>
        </p:grpSp>
        <p:sp>
          <p:nvSpPr>
            <p:cNvPr id="24" name="矩形 8"/>
            <p:cNvSpPr>
              <a:spLocks noChangeArrowheads="1"/>
            </p:cNvSpPr>
            <p:nvPr/>
          </p:nvSpPr>
          <p:spPr bwMode="auto">
            <a:xfrm>
              <a:off x="1689" y="3849"/>
              <a:ext cx="8285" cy="1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选择采用代码后可以提高输入、输出和查询效率的数据作为编码的对象，如学校的学生、教师、图书、设备，商场的商品、供货单位、财务科目等。</a:t>
              </a:r>
            </a:p>
          </p:txBody>
        </p:sp>
      </p:grpSp>
      <p:grpSp>
        <p:nvGrpSpPr>
          <p:cNvPr id="6" name="组合 5"/>
          <p:cNvGrpSpPr/>
          <p:nvPr/>
        </p:nvGrpSpPr>
        <p:grpSpPr>
          <a:xfrm>
            <a:off x="1126490" y="4866640"/>
            <a:ext cx="6320155" cy="1254760"/>
            <a:chOff x="1195" y="6125"/>
            <a:chExt cx="9953" cy="1976"/>
          </a:xfrm>
        </p:grpSpPr>
        <p:grpSp>
          <p:nvGrpSpPr>
            <p:cNvPr id="29" name="组合 28"/>
            <p:cNvGrpSpPr/>
            <p:nvPr/>
          </p:nvGrpSpPr>
          <p:grpSpPr>
            <a:xfrm>
              <a:off x="1195" y="6125"/>
              <a:ext cx="9953" cy="930"/>
              <a:chOff x="512763" y="5121828"/>
              <a:chExt cx="6319536" cy="590550"/>
            </a:xfrm>
          </p:grpSpPr>
          <p:sp>
            <p:nvSpPr>
              <p:cNvPr id="25" name="TextBox 10"/>
              <p:cNvSpPr txBox="1">
                <a:spLocks noChangeArrowheads="1"/>
              </p:cNvSpPr>
              <p:nvPr/>
            </p:nvSpPr>
            <p:spPr bwMode="auto">
              <a:xfrm>
                <a:off x="512763" y="5121828"/>
                <a:ext cx="3612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2</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6" name="直接连接符 25"/>
              <p:cNvCxnSpPr/>
              <p:nvPr/>
            </p:nvCxnSpPr>
            <p:spPr>
              <a:xfrm flipH="1">
                <a:off x="512763" y="5121828"/>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12"/>
              <p:cNvSpPr>
                <a:spLocks noChangeArrowheads="1"/>
              </p:cNvSpPr>
              <p:nvPr/>
            </p:nvSpPr>
            <p:spPr bwMode="auto">
              <a:xfrm>
                <a:off x="1103255" y="5185967"/>
                <a:ext cx="5729044"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一个数据存储不一定是一个文件</a:t>
                </a:r>
              </a:p>
            </p:txBody>
          </p:sp>
        </p:grpSp>
        <p:sp>
          <p:nvSpPr>
            <p:cNvPr id="28" name="矩形 9"/>
            <p:cNvSpPr>
              <a:spLocks noChangeArrowheads="1"/>
            </p:cNvSpPr>
            <p:nvPr/>
          </p:nvSpPr>
          <p:spPr bwMode="auto">
            <a:xfrm>
              <a:off x="1696" y="6947"/>
              <a:ext cx="7785" cy="1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1600" dirty="0">
                  <a:latin typeface="微软雅黑" panose="020B0503020204020204" charset="-122"/>
                  <a:ea typeface="微软雅黑" panose="020B0503020204020204" charset="-122"/>
                </a:rPr>
                <a:t>确定编码后需要进行识别、分类、排序等的重要性，编码目的不同所选用的代码种类也不相同。</a:t>
              </a:r>
            </a:p>
          </p:txBody>
        </p:sp>
      </p:grpSp>
      <p:grpSp>
        <p:nvGrpSpPr>
          <p:cNvPr id="9" name="组合 8"/>
          <p:cNvGrpSpPr/>
          <p:nvPr/>
        </p:nvGrpSpPr>
        <p:grpSpPr>
          <a:xfrm>
            <a:off x="6574790" y="3429635"/>
            <a:ext cx="5109210" cy="934085"/>
            <a:chOff x="1195" y="6153"/>
            <a:chExt cx="8046" cy="1471"/>
          </a:xfrm>
        </p:grpSpPr>
        <p:grpSp>
          <p:nvGrpSpPr>
            <p:cNvPr id="10" name="组合 9"/>
            <p:cNvGrpSpPr/>
            <p:nvPr/>
          </p:nvGrpSpPr>
          <p:grpSpPr>
            <a:xfrm>
              <a:off x="1195" y="6153"/>
              <a:ext cx="6926" cy="930"/>
              <a:chOff x="512763" y="5140941"/>
              <a:chExt cx="4396801" cy="590550"/>
            </a:xfrm>
          </p:grpSpPr>
          <p:sp>
            <p:nvSpPr>
              <p:cNvPr id="11" name="TextBox 10"/>
              <p:cNvSpPr txBox="1">
                <a:spLocks noChangeArrowheads="1"/>
              </p:cNvSpPr>
              <p:nvPr/>
            </p:nvSpPr>
            <p:spPr bwMode="auto">
              <a:xfrm>
                <a:off x="512763" y="5140941"/>
                <a:ext cx="371373"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3</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12" name="直接连接符 11"/>
              <p:cNvCxnSpPr/>
              <p:nvPr/>
            </p:nvCxnSpPr>
            <p:spPr>
              <a:xfrm flipH="1">
                <a:off x="512763" y="514094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960315" y="5237491"/>
                <a:ext cx="39492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数据存储和数据流都是数据</a:t>
                </a:r>
              </a:p>
            </p:txBody>
          </p:sp>
        </p:grpSp>
        <p:sp>
          <p:nvSpPr>
            <p:cNvPr id="16" name="矩形 9"/>
            <p:cNvSpPr>
              <a:spLocks noChangeArrowheads="1"/>
            </p:cNvSpPr>
            <p:nvPr/>
          </p:nvSpPr>
          <p:spPr bwMode="auto">
            <a:xfrm>
              <a:off x="1764" y="6975"/>
              <a:ext cx="7477" cy="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sz="1600" dirty="0">
                  <a:latin typeface="微软雅黑" panose="020B0503020204020204" charset="-122"/>
                  <a:ea typeface="微软雅黑" panose="020B0503020204020204" charset="-122"/>
                </a:rPr>
                <a:t>确定当前的代码数目和将来可能扩充的代码数目。</a:t>
              </a:r>
            </a:p>
          </p:txBody>
        </p:sp>
      </p:grpSp>
      <p:grpSp>
        <p:nvGrpSpPr>
          <p:cNvPr id="7" name="组合 6"/>
          <p:cNvGrpSpPr/>
          <p:nvPr/>
        </p:nvGrpSpPr>
        <p:grpSpPr>
          <a:xfrm>
            <a:off x="6612890" y="4893310"/>
            <a:ext cx="4499610" cy="934085"/>
            <a:chOff x="1195" y="6153"/>
            <a:chExt cx="7086" cy="1471"/>
          </a:xfrm>
        </p:grpSpPr>
        <p:grpSp>
          <p:nvGrpSpPr>
            <p:cNvPr id="8" name="组合 7"/>
            <p:cNvGrpSpPr/>
            <p:nvPr/>
          </p:nvGrpSpPr>
          <p:grpSpPr>
            <a:xfrm>
              <a:off x="1195" y="6153"/>
              <a:ext cx="7086" cy="930"/>
              <a:chOff x="512763" y="5140941"/>
              <a:chExt cx="4498373" cy="590550"/>
            </a:xfrm>
          </p:grpSpPr>
          <p:sp>
            <p:nvSpPr>
              <p:cNvPr id="15" name="TextBox 10"/>
              <p:cNvSpPr txBox="1">
                <a:spLocks noChangeArrowheads="1"/>
              </p:cNvSpPr>
              <p:nvPr/>
            </p:nvSpPr>
            <p:spPr bwMode="auto">
              <a:xfrm>
                <a:off x="512763" y="5140941"/>
                <a:ext cx="36058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4</a:t>
                </a:r>
              </a:p>
            </p:txBody>
          </p:sp>
          <p:cxnSp>
            <p:nvCxnSpPr>
              <p:cNvPr id="17" name="直接连接符 16"/>
              <p:cNvCxnSpPr/>
              <p:nvPr/>
            </p:nvCxnSpPr>
            <p:spPr>
              <a:xfrm flipH="1">
                <a:off x="512763" y="514094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8" name="矩形 17"/>
              <p:cNvSpPr>
                <a:spLocks noChangeArrowheads="1"/>
              </p:cNvSpPr>
              <p:nvPr/>
            </p:nvSpPr>
            <p:spPr bwMode="auto">
              <a:xfrm>
                <a:off x="960315" y="5237491"/>
                <a:ext cx="40508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确定代码的使用范围和使用期限</a:t>
                </a:r>
              </a:p>
            </p:txBody>
          </p:sp>
        </p:grpSp>
        <p:sp>
          <p:nvSpPr>
            <p:cNvPr id="19" name="矩形 9"/>
            <p:cNvSpPr>
              <a:spLocks noChangeArrowheads="1"/>
            </p:cNvSpPr>
            <p:nvPr/>
          </p:nvSpPr>
          <p:spPr bwMode="auto">
            <a:xfrm>
              <a:off x="1764" y="6975"/>
              <a:ext cx="6517" cy="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sz="1600" dirty="0">
                  <a:latin typeface="微软雅黑" panose="020B0503020204020204" charset="-122"/>
                  <a:ea typeface="微软雅黑" panose="020B0503020204020204" charset="-122"/>
                </a:rPr>
                <a:t>确定代码可以使用的范围以及使用期限等。</a:t>
              </a:r>
            </a:p>
          </p:txBody>
        </p:sp>
      </p:grpSp>
      <p:sp>
        <p:nvSpPr>
          <p:cNvPr id="30" name="MH_SubTitle_1"/>
          <p:cNvSpPr/>
          <p:nvPr>
            <p:custDataLst>
              <p:tags r:id="rId1"/>
            </p:custDataLst>
          </p:nvPr>
        </p:nvSpPr>
        <p:spPr>
          <a:xfrm>
            <a:off x="838200" y="1943264"/>
            <a:ext cx="10604500" cy="1600035"/>
          </a:xfrm>
          <a:prstGeom prst="rect">
            <a:avLst/>
          </a:prstGeom>
        </p:spPr>
        <p:txBody>
          <a:bodyPr lIns="0" tIns="0" rIns="0" bIns="0" anchor="ctr">
            <a:noAutofit/>
          </a:bodyPr>
          <a:lstStyle/>
          <a:p>
            <a:r>
              <a:rPr lang="zh-CN" altLang="en-US" dirty="0"/>
              <a:t>        设计代码时一定要遵循简单、唯一、标准化、可扩充、规范化的设计原则。记住设计代码的目的是提高信息的处理效率。对于软件系统中的主要数据，尤其是汉字词语，一般都要编码，这样有利于识别、分类和检索。</a:t>
            </a:r>
          </a:p>
          <a:p>
            <a:r>
              <a:rPr lang="zh-CN" altLang="en-US" dirty="0"/>
              <a:t>        代码设计的基本步骤如下：</a:t>
            </a:r>
          </a:p>
        </p:txBody>
      </p:sp>
    </p:spTree>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7 </a:t>
            </a:r>
            <a:r>
              <a:rPr lang="zh-CN" altLang="en-US">
                <a:sym typeface="+mn-ea"/>
              </a:rPr>
              <a:t>数据代码设计</a:t>
            </a: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3.7.3 </a:t>
            </a:r>
            <a:r>
              <a:rPr lang="zh-CN" altLang="en-US" sz="2400" dirty="0">
                <a:solidFill>
                  <a:schemeClr val="tx1"/>
                </a:solidFill>
              </a:rPr>
              <a:t>代码的设计方法</a:t>
            </a:r>
            <a:endParaRPr lang="zh-CN" altLang="en-US" sz="2400" dirty="0">
              <a:solidFill>
                <a:schemeClr val="tx1"/>
              </a:solidFill>
              <a:sym typeface="+mn-ea"/>
            </a:endParaRPr>
          </a:p>
        </p:txBody>
      </p:sp>
      <p:grpSp>
        <p:nvGrpSpPr>
          <p:cNvPr id="14" name="组合 13"/>
          <p:cNvGrpSpPr/>
          <p:nvPr/>
        </p:nvGrpSpPr>
        <p:grpSpPr>
          <a:xfrm>
            <a:off x="965835" y="2128520"/>
            <a:ext cx="5158740" cy="1668780"/>
            <a:chOff x="1188" y="3093"/>
            <a:chExt cx="8124" cy="2628"/>
          </a:xfrm>
        </p:grpSpPr>
        <p:grpSp>
          <p:nvGrpSpPr>
            <p:cNvPr id="5" name="组合 4"/>
            <p:cNvGrpSpPr/>
            <p:nvPr/>
          </p:nvGrpSpPr>
          <p:grpSpPr>
            <a:xfrm>
              <a:off x="1188" y="3093"/>
              <a:ext cx="8124" cy="930"/>
              <a:chOff x="508000" y="3196191"/>
              <a:chExt cx="5158698" cy="590550"/>
            </a:xfrm>
          </p:grpSpPr>
          <p:sp>
            <p:nvSpPr>
              <p:cNvPr id="21" name="TextBox 1"/>
              <p:cNvSpPr txBox="1">
                <a:spLocks noChangeArrowheads="1"/>
              </p:cNvSpPr>
              <p:nvPr/>
            </p:nvSpPr>
            <p:spPr bwMode="auto">
              <a:xfrm>
                <a:off x="508000" y="3196191"/>
                <a:ext cx="37401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5</a:t>
                </a: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751" y="3291428"/>
                <a:ext cx="470594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确定代码体系和代码位数</a:t>
                </a:r>
              </a:p>
            </p:txBody>
          </p:sp>
        </p:grpSp>
        <p:sp>
          <p:nvSpPr>
            <p:cNvPr id="24" name="矩形 8"/>
            <p:cNvSpPr>
              <a:spLocks noChangeArrowheads="1"/>
            </p:cNvSpPr>
            <p:nvPr/>
          </p:nvSpPr>
          <p:spPr bwMode="auto">
            <a:xfrm>
              <a:off x="1689" y="3849"/>
              <a:ext cx="6807" cy="1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这是编码的关键，要使设计的代码简短、易记、不易混淆。要根据代码使用的目的来确定采用哪种编码和代码位数。</a:t>
              </a:r>
            </a:p>
          </p:txBody>
        </p:sp>
      </p:grpSp>
      <p:grpSp>
        <p:nvGrpSpPr>
          <p:cNvPr id="6" name="组合 5"/>
          <p:cNvGrpSpPr/>
          <p:nvPr/>
        </p:nvGrpSpPr>
        <p:grpSpPr>
          <a:xfrm>
            <a:off x="965835" y="3893820"/>
            <a:ext cx="6320155" cy="1564005"/>
            <a:chOff x="1195" y="6125"/>
            <a:chExt cx="9953" cy="2463"/>
          </a:xfrm>
        </p:grpSpPr>
        <p:grpSp>
          <p:nvGrpSpPr>
            <p:cNvPr id="29" name="组合 28"/>
            <p:cNvGrpSpPr/>
            <p:nvPr/>
          </p:nvGrpSpPr>
          <p:grpSpPr>
            <a:xfrm>
              <a:off x="1195" y="6125"/>
              <a:ext cx="9953" cy="930"/>
              <a:chOff x="512763" y="5121828"/>
              <a:chExt cx="6319536" cy="590550"/>
            </a:xfrm>
          </p:grpSpPr>
          <p:sp>
            <p:nvSpPr>
              <p:cNvPr id="25" name="TextBox 10"/>
              <p:cNvSpPr txBox="1">
                <a:spLocks noChangeArrowheads="1"/>
              </p:cNvSpPr>
              <p:nvPr/>
            </p:nvSpPr>
            <p:spPr bwMode="auto">
              <a:xfrm>
                <a:off x="512763" y="5121828"/>
                <a:ext cx="375248"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6</a:t>
                </a:r>
              </a:p>
            </p:txBody>
          </p:sp>
          <p:cxnSp>
            <p:nvCxnSpPr>
              <p:cNvPr id="26" name="直接连接符 25"/>
              <p:cNvCxnSpPr/>
              <p:nvPr/>
            </p:nvCxnSpPr>
            <p:spPr>
              <a:xfrm flipH="1">
                <a:off x="512763" y="5121828"/>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12"/>
              <p:cNvSpPr>
                <a:spLocks noChangeArrowheads="1"/>
              </p:cNvSpPr>
              <p:nvPr/>
            </p:nvSpPr>
            <p:spPr bwMode="auto">
              <a:xfrm>
                <a:off x="1103255" y="5185967"/>
                <a:ext cx="5729044"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确定编码规则</a:t>
                </a:r>
              </a:p>
            </p:txBody>
          </p:sp>
        </p:grpSp>
        <p:sp>
          <p:nvSpPr>
            <p:cNvPr id="28" name="矩形 9"/>
            <p:cNvSpPr>
              <a:spLocks noChangeArrowheads="1"/>
            </p:cNvSpPr>
            <p:nvPr/>
          </p:nvSpPr>
          <p:spPr bwMode="auto">
            <a:xfrm>
              <a:off x="1696" y="6947"/>
              <a:ext cx="6576" cy="1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altLang="zh-CN"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编码规则的确定要与使用人员密切合作、认真讨论，要根据使用的需求、计算机处理的方便、容易记忆和维护等综合考虑。</a:t>
              </a:r>
            </a:p>
          </p:txBody>
        </p:sp>
      </p:grpSp>
      <p:grpSp>
        <p:nvGrpSpPr>
          <p:cNvPr id="9" name="组合 8"/>
          <p:cNvGrpSpPr/>
          <p:nvPr/>
        </p:nvGrpSpPr>
        <p:grpSpPr>
          <a:xfrm>
            <a:off x="5959683" y="2113529"/>
            <a:ext cx="7097395" cy="1574800"/>
            <a:chOff x="1195" y="6153"/>
            <a:chExt cx="11177" cy="2480"/>
          </a:xfrm>
        </p:grpSpPr>
        <p:grpSp>
          <p:nvGrpSpPr>
            <p:cNvPr id="10" name="组合 9"/>
            <p:cNvGrpSpPr/>
            <p:nvPr/>
          </p:nvGrpSpPr>
          <p:grpSpPr>
            <a:xfrm>
              <a:off x="1195" y="6153"/>
              <a:ext cx="11177" cy="930"/>
              <a:chOff x="512763" y="5140941"/>
              <a:chExt cx="7095444" cy="590550"/>
            </a:xfrm>
          </p:grpSpPr>
          <p:sp>
            <p:nvSpPr>
              <p:cNvPr id="11" name="TextBox 10"/>
              <p:cNvSpPr txBox="1">
                <a:spLocks noChangeArrowheads="1"/>
              </p:cNvSpPr>
              <p:nvPr/>
            </p:nvSpPr>
            <p:spPr bwMode="auto">
              <a:xfrm>
                <a:off x="512763" y="5140941"/>
                <a:ext cx="321857"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7</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12" name="直接连接符 11"/>
              <p:cNvCxnSpPr/>
              <p:nvPr/>
            </p:nvCxnSpPr>
            <p:spPr>
              <a:xfrm flipH="1">
                <a:off x="512763" y="514094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960315" y="5237491"/>
                <a:ext cx="6647892"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编写代码</a:t>
                </a:r>
              </a:p>
            </p:txBody>
          </p:sp>
        </p:grpSp>
        <p:sp>
          <p:nvSpPr>
            <p:cNvPr id="16" name="矩形 9"/>
            <p:cNvSpPr>
              <a:spLocks noChangeArrowheads="1"/>
            </p:cNvSpPr>
            <p:nvPr/>
          </p:nvSpPr>
          <p:spPr bwMode="auto">
            <a:xfrm>
              <a:off x="1764" y="6975"/>
              <a:ext cx="8412" cy="1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在明确了编码目的、编码对象，确定了编码规则、代码的个数、代码的使用范围和期限、代码体系和位数等问题后，就可以进行代码编写了。</a:t>
              </a:r>
            </a:p>
          </p:txBody>
        </p:sp>
      </p:grpSp>
      <p:grpSp>
        <p:nvGrpSpPr>
          <p:cNvPr id="7" name="组合 6"/>
          <p:cNvGrpSpPr/>
          <p:nvPr/>
        </p:nvGrpSpPr>
        <p:grpSpPr>
          <a:xfrm>
            <a:off x="6019644" y="3797300"/>
            <a:ext cx="7097395" cy="2214880"/>
            <a:chOff x="1195" y="6153"/>
            <a:chExt cx="11177" cy="3488"/>
          </a:xfrm>
        </p:grpSpPr>
        <p:grpSp>
          <p:nvGrpSpPr>
            <p:cNvPr id="8" name="组合 7"/>
            <p:cNvGrpSpPr/>
            <p:nvPr/>
          </p:nvGrpSpPr>
          <p:grpSpPr>
            <a:xfrm>
              <a:off x="1195" y="6153"/>
              <a:ext cx="11177" cy="930"/>
              <a:chOff x="512763" y="5140941"/>
              <a:chExt cx="7095444" cy="590550"/>
            </a:xfrm>
          </p:grpSpPr>
          <p:sp>
            <p:nvSpPr>
              <p:cNvPr id="15" name="TextBox 10"/>
              <p:cNvSpPr txBox="1">
                <a:spLocks noChangeArrowheads="1"/>
              </p:cNvSpPr>
              <p:nvPr/>
            </p:nvSpPr>
            <p:spPr bwMode="auto">
              <a:xfrm>
                <a:off x="512763" y="5140941"/>
                <a:ext cx="372643"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8</a:t>
                </a:r>
              </a:p>
            </p:txBody>
          </p:sp>
          <p:cxnSp>
            <p:nvCxnSpPr>
              <p:cNvPr id="17" name="直接连接符 16"/>
              <p:cNvCxnSpPr/>
              <p:nvPr/>
            </p:nvCxnSpPr>
            <p:spPr>
              <a:xfrm flipH="1">
                <a:off x="512763" y="514094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8" name="矩形 17"/>
              <p:cNvSpPr>
                <a:spLocks noChangeArrowheads="1"/>
              </p:cNvSpPr>
              <p:nvPr/>
            </p:nvSpPr>
            <p:spPr bwMode="auto">
              <a:xfrm>
                <a:off x="960315" y="5237491"/>
                <a:ext cx="6647892"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编写代码词典</a:t>
                </a:r>
              </a:p>
            </p:txBody>
          </p:sp>
        </p:grpSp>
        <p:sp>
          <p:nvSpPr>
            <p:cNvPr id="19" name="矩形 9"/>
            <p:cNvSpPr>
              <a:spLocks noChangeArrowheads="1"/>
            </p:cNvSpPr>
            <p:nvPr/>
          </p:nvSpPr>
          <p:spPr bwMode="auto">
            <a:xfrm>
              <a:off x="1764" y="6975"/>
              <a:ext cx="8435" cy="2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对于数据量小的代码，要在数据字典中将代码与数据的对应关系一一列出。</a:t>
              </a:r>
            </a:p>
            <a:p>
              <a:pPr>
                <a:lnSpc>
                  <a:spcPct val="130000"/>
                </a:lnSpc>
              </a:pPr>
              <a:r>
                <a:rPr sz="1600" dirty="0">
                  <a:latin typeface="微软雅黑" panose="020B0503020204020204" charset="-122"/>
                  <a:ea typeface="微软雅黑" panose="020B0503020204020204" charset="-122"/>
                </a:rPr>
                <a:t>       对于数据量较大的代码，应当编写代码词典。代码词典应记录数据与代码的对应关系、代码使用方法和示例、修改代码的手续及规则、代码管理的部门和权限等。</a:t>
              </a:r>
            </a:p>
          </p:txBody>
        </p:sp>
      </p:grpSp>
    </p:spTree>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latin typeface="Times New Roman" panose="02020603050405020304" pitchFamily="18" charset="0"/>
            </a:endParaRPr>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8</a:t>
              </a:r>
            </a:p>
          </p:txBody>
        </p:sp>
      </p:grpSp>
      <p:sp>
        <p:nvSpPr>
          <p:cNvPr id="40" name="文本框 39"/>
          <p:cNvSpPr txBox="1"/>
          <p:nvPr/>
        </p:nvSpPr>
        <p:spPr>
          <a:xfrm>
            <a:off x="6006555" y="2913198"/>
            <a:ext cx="5137150" cy="160591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面向数据结构的</a:t>
            </a: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设计方法</a:t>
            </a:r>
          </a:p>
        </p:txBody>
      </p:sp>
      <p:sp>
        <p:nvSpPr>
          <p:cNvPr id="48" name="文本框 47"/>
          <p:cNvSpPr txBox="1"/>
          <p:nvPr/>
        </p:nvSpPr>
        <p:spPr>
          <a:xfrm>
            <a:off x="6006465" y="465137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顺序结构</a:t>
            </a:r>
          </a:p>
        </p:txBody>
      </p:sp>
      <p:sp>
        <p:nvSpPr>
          <p:cNvPr id="50" name="文本框 49"/>
          <p:cNvSpPr txBox="1"/>
          <p:nvPr/>
        </p:nvSpPr>
        <p:spPr>
          <a:xfrm>
            <a:off x="6006465" y="521652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选择结构</a:t>
            </a:r>
          </a:p>
        </p:txBody>
      </p:sp>
      <p:sp>
        <p:nvSpPr>
          <p:cNvPr id="3" name="文本框 2"/>
          <p:cNvSpPr txBox="1"/>
          <p:nvPr/>
        </p:nvSpPr>
        <p:spPr>
          <a:xfrm>
            <a:off x="6006465" y="578167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重复结构</a:t>
            </a:r>
          </a:p>
        </p:txBody>
      </p:sp>
    </p:spTree>
  </p:cSld>
  <p:clrMapOvr>
    <a:masterClrMapping/>
  </p:clrMapOvr>
  <p:transition spd="slow">
    <p:wip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a:sym typeface="+mn-ea"/>
              </a:rPr>
              <a:t>3.</a:t>
            </a:r>
            <a:r>
              <a:rPr lang="en-US">
                <a:sym typeface="+mn-ea"/>
              </a:rPr>
              <a:t>8 </a:t>
            </a:r>
            <a:r>
              <a:rPr lang="zh-CN" altLang="en-US">
                <a:sym typeface="+mn-ea"/>
              </a:rPr>
              <a:t>面向数据结构的设计方法</a:t>
            </a: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dirty="0">
                <a:ln>
                  <a:noFill/>
                </a:ln>
                <a:solidFill>
                  <a:schemeClr val="tx1"/>
                </a:solidFill>
                <a:effectLst/>
                <a:uLnTx/>
                <a:uFillTx/>
                <a:latin typeface="微软雅黑" panose="020B0503020204020204" charset="-122"/>
                <a:ea typeface="微软雅黑" panose="020B0503020204020204" charset="-122"/>
              </a:rPr>
              <a:t>设计方法</a:t>
            </a:r>
            <a:endParaRPr kumimoji="0" lang="zh-CN" altLang="zh-CN" sz="1800" b="1" i="0" u="none" strike="noStrike" kern="0" cap="none" spc="0" normalizeH="0" baseline="0" dirty="0">
              <a:ln>
                <a:noFill/>
              </a:ln>
              <a:solidFill>
                <a:schemeClr val="tx1"/>
              </a:solidFill>
              <a:effectLst/>
              <a:uLnTx/>
              <a:uFillTx/>
              <a:latin typeface="微软雅黑" panose="020B0503020204020204" charset="-122"/>
              <a:ea typeface="微软雅黑" panose="020B0503020204020204" charset="-122"/>
            </a:endParaRPr>
          </a:p>
        </p:txBody>
      </p:sp>
      <p:sp>
        <p:nvSpPr>
          <p:cNvPr id="33" name="文本框 32"/>
          <p:cNvSpPr txBox="1"/>
          <p:nvPr/>
        </p:nvSpPr>
        <p:spPr>
          <a:xfrm>
            <a:off x="754380" y="2250440"/>
            <a:ext cx="476250" cy="3581400"/>
          </a:xfrm>
          <a:prstGeom prst="rect">
            <a:avLst/>
          </a:prstGeom>
          <a:noFill/>
        </p:spPr>
        <p:txBody>
          <a:bodyPr vert="eaVert" wrap="square" rtlCol="0">
            <a:spAutoFit/>
          </a:bodyPr>
          <a:lstStyle/>
          <a:p>
            <a:pPr algn="l"/>
            <a:r>
              <a:rPr lang="en-US" altLang="zh-CN" spc="160" dirty="0">
                <a:solidFill>
                  <a:schemeClr val="bg1"/>
                </a:solidFill>
                <a:latin typeface="微软雅黑" panose="020B0503020204020204" charset="-122"/>
                <a:ea typeface="微软雅黑" panose="020B0503020204020204" charset="-122"/>
              </a:rPr>
              <a:t>3.8 </a:t>
            </a:r>
            <a:r>
              <a:rPr lang="zh-CN" altLang="en-US" spc="160" dirty="0">
                <a:solidFill>
                  <a:schemeClr val="bg1"/>
                </a:solidFill>
                <a:latin typeface="微软雅黑" panose="020B0503020204020204" charset="-122"/>
                <a:ea typeface="微软雅黑" panose="020B0503020204020204" charset="-122"/>
              </a:rPr>
              <a:t>面向数据结构的设计方法</a:t>
            </a:r>
          </a:p>
        </p:txBody>
      </p:sp>
      <p:sp>
        <p:nvSpPr>
          <p:cNvPr id="100" name="文本框 99"/>
          <p:cNvSpPr txBox="1"/>
          <p:nvPr/>
        </p:nvSpPr>
        <p:spPr>
          <a:xfrm>
            <a:off x="1438910" y="1929130"/>
            <a:ext cx="8016240" cy="3297555"/>
          </a:xfrm>
          <a:prstGeom prst="rect">
            <a:avLst/>
          </a:prstGeom>
          <a:noFill/>
          <a:ln w="9525">
            <a:noFill/>
          </a:ln>
        </p:spPr>
        <p:txBody>
          <a:bodyPr wrap="square">
            <a:spAutoFit/>
          </a:bodyPr>
          <a:lstStyle/>
          <a:p>
            <a:pPr marL="0" indent="0" algn="l" fontAlgn="auto">
              <a:lnSpc>
                <a:spcPct val="130000"/>
              </a:lnSpc>
            </a:pPr>
            <a:r>
              <a:rPr lang="en-US" altLang="zh-CN" b="0" u="none" dirty="0">
                <a:latin typeface="宋体" panose="02010600030101010101" pitchFamily="2" charset="-122"/>
                <a:ea typeface="宋体" panose="02010600030101010101" pitchFamily="2" charset="-122"/>
                <a:cs typeface="宋体" panose="02010600030101010101" pitchFamily="2" charset="-122"/>
              </a:rPr>
              <a:t>    </a:t>
            </a:r>
            <a:r>
              <a:rPr lang="zh-CN" altLang="en-US" b="0" u="none" dirty="0">
                <a:latin typeface="宋体" panose="02010600030101010101" pitchFamily="2" charset="-122"/>
                <a:ea typeface="宋体" panose="02010600030101010101" pitchFamily="2" charset="-122"/>
                <a:cs typeface="宋体" panose="02010600030101010101" pitchFamily="2" charset="-122"/>
              </a:rPr>
              <a:t>面向数据结构的设计方法，是</a:t>
            </a:r>
            <a:r>
              <a:rPr lang="zh-CN" altLang="en-US" b="0" u="none" dirty="0">
                <a:solidFill>
                  <a:srgbClr val="C00000"/>
                </a:solidFill>
                <a:latin typeface="宋体" panose="02010600030101010101" pitchFamily="2" charset="-122"/>
                <a:ea typeface="宋体" panose="02010600030101010101" pitchFamily="2" charset="-122"/>
                <a:cs typeface="宋体" panose="02010600030101010101" pitchFamily="2" charset="-122"/>
              </a:rPr>
              <a:t>按输入、输出以及计算机内部存储信息的数据结构进行软件结构设计的</a:t>
            </a:r>
            <a:r>
              <a:rPr lang="zh-CN" altLang="en-US" b="0" u="none" dirty="0">
                <a:latin typeface="宋体" panose="02010600030101010101" pitchFamily="2" charset="-122"/>
                <a:ea typeface="宋体" panose="02010600030101010101" pitchFamily="2" charset="-122"/>
                <a:cs typeface="宋体" panose="02010600030101010101" pitchFamily="2" charset="-122"/>
              </a:rPr>
              <a:t>，把对数据结构的描述变换为对软件结构的描述。</a:t>
            </a:r>
          </a:p>
          <a:p>
            <a:pPr>
              <a:lnSpc>
                <a:spcPct val="130000"/>
              </a:lnSpc>
            </a:pPr>
            <a:r>
              <a:rPr lang="zh-CN" altLang="en-US" b="0" u="none" dirty="0">
                <a:latin typeface="宋体" panose="02010600030101010101" pitchFamily="2" charset="-122"/>
                <a:ea typeface="宋体" panose="02010600030101010101" pitchFamily="2" charset="-122"/>
                <a:cs typeface="宋体" panose="02010600030101010101" pitchFamily="2" charset="-122"/>
              </a:rPr>
              <a:t>    在许多应用领域中，信息的结构层次清楚，输入数据、输出数据以及内部存储的信息有一定的结构关系。数据结构不仅影响软件的结构设计，还影响软件的处理过程。例如，</a:t>
            </a:r>
            <a:r>
              <a:rPr lang="zh-CN" altLang="en-US" b="0" u="none" dirty="0">
                <a:solidFill>
                  <a:srgbClr val="00B050"/>
                </a:solidFill>
                <a:latin typeface="宋体" panose="02010600030101010101" pitchFamily="2" charset="-122"/>
                <a:ea typeface="宋体" panose="02010600030101010101" pitchFamily="2" charset="-122"/>
                <a:cs typeface="宋体" panose="02010600030101010101" pitchFamily="2" charset="-122"/>
              </a:rPr>
              <a:t>重复出现的数据通常由循环结构来控制；如果一个数据结构具有选择特性，可能出现也可能不出现，就采用条件选择程序来控制；如果一个数据结构是分层次的，软件结构也必然是分层次的</a:t>
            </a:r>
            <a:r>
              <a:rPr lang="zh-CN" altLang="en-US" b="0" u="none" dirty="0">
                <a:latin typeface="宋体" panose="02010600030101010101" pitchFamily="2" charset="-122"/>
                <a:ea typeface="宋体" panose="02010600030101010101" pitchFamily="2" charset="-122"/>
                <a:cs typeface="宋体" panose="02010600030101010101" pitchFamily="2" charset="-122"/>
              </a:rPr>
              <a:t>。所以，数据结构充分地揭示了软件结构。</a:t>
            </a:r>
            <a:r>
              <a:rPr lang="zh-CN" altLang="en-US" b="0" u="none" dirty="0">
                <a:solidFill>
                  <a:srgbClr val="C00000"/>
                </a:solidFill>
                <a:latin typeface="宋体" panose="02010600030101010101" pitchFamily="2" charset="-122"/>
                <a:ea typeface="宋体" panose="02010600030101010101" pitchFamily="2" charset="-122"/>
                <a:cs typeface="宋体" panose="02010600030101010101" pitchFamily="2" charset="-122"/>
              </a:rPr>
              <a:t>使用面向数据结构的设计方法，首先需要分析确定数据结构，并用适当的工具清晰地描述数据结构，最终得出对程序处理过程的描述。</a:t>
            </a:r>
          </a:p>
        </p:txBody>
      </p:sp>
      <p:pic>
        <p:nvPicPr>
          <p:cNvPr id="265218" name="图片 1" descr="问号28.jpg"/>
          <p:cNvPicPr>
            <a:picLocks noGrp="1" noChangeAspect="1"/>
          </p:cNvPicPr>
          <p:nvPr/>
        </p:nvPicPr>
        <p:blipFill>
          <a:blip r:embed="rId3" cstate="print">
            <a:clrChange>
              <a:clrFrom>
                <a:srgbClr val="FFFFFF"/>
              </a:clrFrom>
              <a:clrTo>
                <a:srgbClr val="FFFFFF">
                  <a:alpha val="0"/>
                </a:srgbClr>
              </a:clrTo>
            </a:clrChange>
          </a:blip>
          <a:stretch>
            <a:fillRect/>
          </a:stretch>
        </p:blipFill>
        <p:spPr>
          <a:xfrm flipH="1">
            <a:off x="9467215" y="2119630"/>
            <a:ext cx="2257425" cy="2931160"/>
          </a:xfrm>
          <a:prstGeom prst="rect">
            <a:avLst/>
          </a:prstGeom>
          <a:noFill/>
          <a:ln w="9525">
            <a:noFill/>
          </a:ln>
        </p:spPr>
      </p:pic>
      <p:sp>
        <p:nvSpPr>
          <p:cNvPr id="3" name="文本框 2"/>
          <p:cNvSpPr txBox="1"/>
          <p:nvPr/>
        </p:nvSpPr>
        <p:spPr>
          <a:xfrm>
            <a:off x="1438910" y="5226685"/>
            <a:ext cx="10273030" cy="772584"/>
          </a:xfrm>
          <a:prstGeom prst="rect">
            <a:avLst/>
          </a:prstGeom>
          <a:noFill/>
          <a:ln w="9525">
            <a:noFill/>
          </a:ln>
        </p:spPr>
        <p:txBody>
          <a:bodyPr wrap="square">
            <a:spAutoFit/>
          </a:bodyPr>
          <a:lstStyle/>
          <a:p>
            <a:pPr marL="0" indent="0" algn="l" fontAlgn="auto">
              <a:lnSpc>
                <a:spcPct val="130000"/>
              </a:lnSpc>
            </a:pPr>
            <a:r>
              <a:rPr lang="en-US" altLang="zh-CN" b="0" u="none" dirty="0">
                <a:latin typeface="宋体" panose="02010600030101010101" pitchFamily="2" charset="-122"/>
                <a:ea typeface="宋体" panose="02010600030101010101" pitchFamily="2" charset="-122"/>
                <a:cs typeface="宋体" panose="02010600030101010101" pitchFamily="2" charset="-122"/>
              </a:rPr>
              <a:t>    </a:t>
            </a:r>
            <a:r>
              <a:rPr lang="zh-CN" altLang="en-US" b="0" u="none" dirty="0">
                <a:latin typeface="宋体" panose="02010600030101010101" pitchFamily="2" charset="-122"/>
                <a:ea typeface="宋体" panose="02010600030101010101" pitchFamily="2" charset="-122"/>
                <a:cs typeface="宋体" panose="02010600030101010101" pitchFamily="2" charset="-122"/>
              </a:rPr>
              <a:t>面向数据结构的设计方法有两种：</a:t>
            </a:r>
            <a:r>
              <a:rPr lang="en-US" altLang="zh-CN" b="0" u="none" dirty="0">
                <a:solidFill>
                  <a:srgbClr val="C00000"/>
                </a:solidFill>
                <a:latin typeface="宋体" panose="02010600030101010101" pitchFamily="2" charset="-122"/>
                <a:ea typeface="宋体" panose="02010600030101010101" pitchFamily="2" charset="-122"/>
                <a:cs typeface="宋体" panose="02010600030101010101" pitchFamily="2" charset="-122"/>
              </a:rPr>
              <a:t>Jackson</a:t>
            </a:r>
            <a:r>
              <a:rPr lang="zh-CN" altLang="en-US" b="0" u="none" dirty="0">
                <a:solidFill>
                  <a:srgbClr val="C00000"/>
                </a:solidFill>
                <a:latin typeface="宋体" panose="02010600030101010101" pitchFamily="2" charset="-122"/>
                <a:ea typeface="宋体" panose="02010600030101010101" pitchFamily="2" charset="-122"/>
                <a:cs typeface="宋体" panose="02010600030101010101" pitchFamily="2" charset="-122"/>
              </a:rPr>
              <a:t>方法和</a:t>
            </a:r>
            <a:r>
              <a:rPr lang="en-US" altLang="zh-CN" b="0" u="none" dirty="0" err="1">
                <a:solidFill>
                  <a:srgbClr val="C00000"/>
                </a:solidFill>
                <a:latin typeface="Times New Roman" panose="02020603050405020304" charset="0"/>
                <a:ea typeface="Times New Roman" panose="02020603050405020304" charset="0"/>
                <a:cs typeface="Times New Roman" panose="02020603050405020304" charset="0"/>
              </a:rPr>
              <a:t>Warnier</a:t>
            </a:r>
            <a:r>
              <a:rPr lang="zh-CN" altLang="en-US" b="0" u="none" dirty="0">
                <a:solidFill>
                  <a:srgbClr val="C00000"/>
                </a:solidFill>
                <a:latin typeface="宋体" panose="02010600030101010101" pitchFamily="2" charset="-122"/>
                <a:ea typeface="宋体" panose="02010600030101010101" pitchFamily="2" charset="-122"/>
                <a:cs typeface="宋体" panose="02010600030101010101" pitchFamily="2" charset="-122"/>
              </a:rPr>
              <a:t>方法</a:t>
            </a:r>
            <a:r>
              <a:rPr lang="zh-CN" altLang="en-US" b="0" u="none" dirty="0">
                <a:latin typeface="宋体" panose="02010600030101010101" pitchFamily="2" charset="-122"/>
                <a:ea typeface="宋体" panose="02010600030101010101" pitchFamily="2" charset="-122"/>
                <a:cs typeface="宋体" panose="02010600030101010101" pitchFamily="2" charset="-122"/>
              </a:rPr>
              <a:t>。这两种方法只是图形工具不同，本节只介绍</a:t>
            </a:r>
            <a:r>
              <a:rPr lang="en-US" altLang="zh-CN" b="0" u="none" dirty="0">
                <a:latin typeface="宋体" panose="02010600030101010101" pitchFamily="2" charset="-122"/>
                <a:ea typeface="宋体" panose="02010600030101010101" pitchFamily="2" charset="-122"/>
                <a:cs typeface="宋体" panose="02010600030101010101" pitchFamily="2" charset="-122"/>
              </a:rPr>
              <a:t>Jackson</a:t>
            </a:r>
            <a:r>
              <a:rPr lang="zh-CN" altLang="en-US" b="0" u="none" dirty="0">
                <a:latin typeface="宋体" panose="02010600030101010101" pitchFamily="2" charset="-122"/>
                <a:ea typeface="宋体" panose="02010600030101010101" pitchFamily="2" charset="-122"/>
                <a:cs typeface="宋体" panose="02010600030101010101" pitchFamily="2" charset="-122"/>
              </a:rPr>
              <a:t>方法。</a:t>
            </a:r>
            <a:endParaRPr lang="zh-CN" altLang="en-US" dirty="0"/>
          </a:p>
        </p:txBody>
      </p:sp>
    </p:spTree>
  </p:cSld>
  <p:clrMapOvr>
    <a:masterClrMapping/>
  </p:clrMapOvr>
  <p:transition>
    <p:dissolv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8"/>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8 </a:t>
            </a:r>
            <a:r>
              <a:rPr lang="zh-CN" altLang="en-US" dirty="0">
                <a:sym typeface="+mn-ea"/>
              </a:rPr>
              <a:t>面向数据结构的设计方法</a:t>
            </a:r>
            <a:endParaRPr lang="zh-CN" altLang="en-US" dirty="0"/>
          </a:p>
        </p:txBody>
      </p:sp>
      <p:sp>
        <p:nvSpPr>
          <p:cNvPr id="5" name="矩形 4"/>
          <p:cNvSpPr/>
          <p:nvPr/>
        </p:nvSpPr>
        <p:spPr>
          <a:xfrm>
            <a:off x="774314" y="2173574"/>
            <a:ext cx="10408348" cy="3987383"/>
          </a:xfrm>
          <a:prstGeom prst="rect">
            <a:avLst/>
          </a:prstGeom>
          <a:solidFill>
            <a:sysClr val="window" lastClr="FFFFFF"/>
          </a:solidFill>
          <a:ln w="3175" cap="flat" cmpd="sng" algn="ctr">
            <a:solidFill>
              <a:sysClr val="window" lastClr="FFFFFF">
                <a:lumMod val="75000"/>
              </a:sysClr>
            </a:solidFill>
            <a:prstDash val="solid"/>
          </a:ln>
          <a:effectLst>
            <a:outerShdw blurRad="50800" dist="38100" dir="5400000" algn="t" rotWithShape="0">
              <a:prstClr val="black">
                <a:alpha val="40000"/>
              </a:prstClr>
            </a:outerShdw>
          </a:effectLst>
        </p:spPr>
        <p:txBody>
          <a:bodyPr anchor="ctr"/>
          <a:lstStyle/>
          <a:p>
            <a:pPr algn="ctr">
              <a:defRPr/>
            </a:pPr>
            <a:endParaRPr lang="zh-CN" altLang="en-US" kern="0">
              <a:solidFill>
                <a:sysClr val="window" lastClr="FFFFFF"/>
              </a:solidFill>
              <a:latin typeface="Tahoma" panose="020B0604030504040204"/>
              <a:ea typeface="微软雅黑" panose="020B0503020204020204" charset="-122"/>
            </a:endParaRPr>
          </a:p>
        </p:txBody>
      </p:sp>
      <p:graphicFrame>
        <p:nvGraphicFramePr>
          <p:cNvPr id="6" name="表格 5"/>
          <p:cNvGraphicFramePr>
            <a:graphicFrameLocks noGrp="1"/>
          </p:cNvGraphicFramePr>
          <p:nvPr/>
        </p:nvGraphicFramePr>
        <p:xfrm>
          <a:off x="960869" y="2355463"/>
          <a:ext cx="10026921" cy="3595632"/>
        </p:xfrm>
        <a:graphic>
          <a:graphicData uri="http://schemas.openxmlformats.org/drawingml/2006/table">
            <a:tbl>
              <a:tblPr firstRow="1" firstCol="1" bandRow="1">
                <a:tableStyleId>{F5AB1C69-6EDB-4FF4-983F-18BD219EF322}</a:tableStyleId>
              </a:tblPr>
              <a:tblGrid>
                <a:gridCol w="2930783">
                  <a:extLst>
                    <a:ext uri="{9D8B030D-6E8A-4147-A177-3AD203B41FA5}">
                      <a16:colId xmlns:a16="http://schemas.microsoft.com/office/drawing/2014/main" val="20000"/>
                    </a:ext>
                  </a:extLst>
                </a:gridCol>
                <a:gridCol w="7096138">
                  <a:extLst>
                    <a:ext uri="{9D8B030D-6E8A-4147-A177-3AD203B41FA5}">
                      <a16:colId xmlns:a16="http://schemas.microsoft.com/office/drawing/2014/main" val="20001"/>
                    </a:ext>
                  </a:extLst>
                </a:gridCol>
              </a:tblGrid>
              <a:tr h="610688">
                <a:tc>
                  <a:txBody>
                    <a:bodyPr/>
                    <a:lstStyle/>
                    <a:p>
                      <a:pPr algn="ctr">
                        <a:lnSpc>
                          <a:spcPct val="115000"/>
                        </a:lnSpc>
                        <a:spcAft>
                          <a:spcPts val="0"/>
                        </a:spcAft>
                      </a:pPr>
                      <a:r>
                        <a:rPr lang="zh-CN" altLang="en-US" sz="2000" kern="100" dirty="0">
                          <a:effectLst/>
                        </a:rPr>
                        <a:t>符号</a:t>
                      </a:r>
                      <a:endParaRPr lang="zh-CN" altLang="en-US" sz="2000" kern="100" dirty="0">
                        <a:effectLst/>
                        <a:latin typeface="微软雅黑" panose="020B0503020204020204" charset="-122"/>
                        <a:ea typeface="微软雅黑" panose="020B0503020204020204" charset="-122"/>
                      </a:endParaRPr>
                    </a:p>
                  </a:txBody>
                  <a:tcPr marL="68580" marR="68580" marT="0" marB="0" anchor="ctr"/>
                </a:tc>
                <a:tc>
                  <a:txBody>
                    <a:bodyPr/>
                    <a:lstStyle/>
                    <a:p>
                      <a:pPr algn="ctr">
                        <a:lnSpc>
                          <a:spcPct val="115000"/>
                        </a:lnSpc>
                        <a:spcAft>
                          <a:spcPts val="0"/>
                        </a:spcAft>
                      </a:pPr>
                      <a:r>
                        <a:rPr lang="zh-CN" sz="2000" kern="100" dirty="0">
                          <a:effectLst/>
                        </a:rPr>
                        <a:t>表示内容</a:t>
                      </a:r>
                      <a:endParaRPr lang="zh-CN" sz="2000" kern="100" dirty="0">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0"/>
                  </a:ext>
                </a:extLst>
              </a:tr>
              <a:tr h="1006242">
                <a:tc>
                  <a:txBody>
                    <a:bodyPr/>
                    <a:lstStyle/>
                    <a:p>
                      <a:pPr algn="ctr">
                        <a:lnSpc>
                          <a:spcPct val="115000"/>
                        </a:lnSpc>
                        <a:spcAft>
                          <a:spcPts val="0"/>
                        </a:spcAft>
                      </a:pP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600" kern="100" dirty="0">
                          <a:effectLst/>
                        </a:rPr>
                        <a:t>顺序结构的数据由一个或多个元素组成，每个元素依次出现一次。图（</a:t>
                      </a:r>
                      <a:r>
                        <a:rPr lang="en-US" altLang="zh-CN" sz="1600" kern="100" dirty="0">
                          <a:effectLst/>
                        </a:rPr>
                        <a:t>a</a:t>
                      </a:r>
                      <a:r>
                        <a:rPr lang="zh-CN" altLang="en-US" sz="1600" kern="100" dirty="0">
                          <a:effectLst/>
                        </a:rPr>
                        <a:t>）表示数据</a:t>
                      </a:r>
                      <a:r>
                        <a:rPr lang="en-US" altLang="zh-CN" sz="1600" kern="100" dirty="0">
                          <a:effectLst/>
                        </a:rPr>
                        <a:t>A</a:t>
                      </a:r>
                      <a:r>
                        <a:rPr lang="zh-CN" altLang="en-US" sz="1600" kern="100" dirty="0">
                          <a:effectLst/>
                        </a:rPr>
                        <a:t>由</a:t>
                      </a:r>
                      <a:r>
                        <a:rPr lang="en-US" altLang="zh-CN" sz="1600" kern="100" dirty="0">
                          <a:effectLst/>
                        </a:rPr>
                        <a:t>B</a:t>
                      </a:r>
                      <a:r>
                        <a:rPr lang="zh-CN" altLang="en-US" sz="1600" kern="100" dirty="0">
                          <a:effectLst/>
                        </a:rPr>
                        <a:t>，</a:t>
                      </a:r>
                      <a:r>
                        <a:rPr lang="en-US" altLang="zh-CN" sz="1600" kern="100" dirty="0">
                          <a:effectLst/>
                        </a:rPr>
                        <a:t>C</a:t>
                      </a:r>
                      <a:r>
                        <a:rPr lang="zh-CN" altLang="en-US" sz="1600" kern="100" dirty="0">
                          <a:effectLst/>
                        </a:rPr>
                        <a:t>，</a:t>
                      </a:r>
                      <a:r>
                        <a:rPr lang="en-US" altLang="zh-CN" sz="1600" kern="100" dirty="0">
                          <a:effectLst/>
                        </a:rPr>
                        <a:t>D</a:t>
                      </a:r>
                      <a:r>
                        <a:rPr lang="zh-CN" altLang="en-US" sz="1600" kern="100" dirty="0">
                          <a:effectLst/>
                        </a:rPr>
                        <a:t>三个元素顺序组成。</a:t>
                      </a:r>
                      <a:endParaRPr lang="zh-CN" altLang="en-US"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1"/>
                  </a:ext>
                </a:extLst>
              </a:tr>
              <a:tr h="1017610">
                <a:tc>
                  <a:txBody>
                    <a:bodyPr/>
                    <a:lstStyle/>
                    <a:p>
                      <a:pPr algn="ctr">
                        <a:lnSpc>
                          <a:spcPct val="115000"/>
                        </a:lnSpc>
                        <a:spcAft>
                          <a:spcPts val="0"/>
                        </a:spcAft>
                      </a:pP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600" kern="100" dirty="0">
                          <a:effectLst/>
                        </a:rPr>
                        <a:t>选择结构的数据包含两个或多个元素，每次使用该数据时，按一定的条件从这些元素中选择一个。图（</a:t>
                      </a:r>
                      <a:r>
                        <a:rPr lang="en-US" altLang="zh-CN" sz="1600" kern="100" dirty="0">
                          <a:effectLst/>
                        </a:rPr>
                        <a:t>b</a:t>
                      </a:r>
                      <a:r>
                        <a:rPr lang="zh-CN" altLang="en-US" sz="1600" kern="100" dirty="0">
                          <a:effectLst/>
                        </a:rPr>
                        <a:t>）表示数据</a:t>
                      </a:r>
                      <a:r>
                        <a:rPr lang="en-US" altLang="zh-CN" sz="1600" kern="100" dirty="0">
                          <a:effectLst/>
                        </a:rPr>
                        <a:t>A</a:t>
                      </a:r>
                      <a:r>
                        <a:rPr lang="zh-CN" altLang="en-US" sz="1600" kern="100" dirty="0">
                          <a:effectLst/>
                        </a:rPr>
                        <a:t>根据条件由</a:t>
                      </a:r>
                      <a:r>
                        <a:rPr lang="en-US" altLang="zh-CN" sz="1600" kern="100" dirty="0">
                          <a:effectLst/>
                        </a:rPr>
                        <a:t>B</a:t>
                      </a:r>
                      <a:r>
                        <a:rPr lang="zh-CN" altLang="en-US" sz="1600" kern="100" dirty="0">
                          <a:effectLst/>
                        </a:rPr>
                        <a:t>或</a:t>
                      </a:r>
                      <a:r>
                        <a:rPr lang="en-US" altLang="zh-CN" sz="1600" kern="100" dirty="0">
                          <a:effectLst/>
                        </a:rPr>
                        <a:t>C</a:t>
                      </a:r>
                      <a:r>
                        <a:rPr lang="zh-CN" altLang="en-US" sz="1600" kern="100" dirty="0">
                          <a:effectLst/>
                        </a:rPr>
                        <a:t>中选择一个。</a:t>
                      </a:r>
                      <a:r>
                        <a:rPr lang="en-US" altLang="zh-CN" sz="1600" kern="100" dirty="0">
                          <a:effectLst/>
                        </a:rPr>
                        <a:t>B</a:t>
                      </a:r>
                      <a:r>
                        <a:rPr lang="zh-CN" altLang="en-US" sz="1600" kern="100" dirty="0">
                          <a:effectLst/>
                        </a:rPr>
                        <a:t>和</a:t>
                      </a:r>
                      <a:r>
                        <a:rPr lang="en-US" altLang="zh-CN" sz="1600" kern="100" dirty="0">
                          <a:effectLst/>
                        </a:rPr>
                        <a:t>C</a:t>
                      </a:r>
                      <a:r>
                        <a:rPr lang="zh-CN" altLang="en-US" sz="1600" kern="100" dirty="0">
                          <a:effectLst/>
                        </a:rPr>
                        <a:t>的右上方加符号“</a:t>
                      </a:r>
                      <a:r>
                        <a:rPr lang="en-US" altLang="zh-CN" sz="1600" kern="100" dirty="0">
                          <a:effectLst/>
                        </a:rPr>
                        <a:t>°”</a:t>
                      </a:r>
                      <a:r>
                        <a:rPr lang="zh-CN" altLang="en-US" sz="1600" kern="100" dirty="0">
                          <a:effectLst/>
                        </a:rPr>
                        <a:t>表示从中选择一个。</a:t>
                      </a:r>
                      <a:endParaRPr lang="zh-CN" altLang="en-US"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2"/>
                  </a:ext>
                </a:extLst>
              </a:tr>
              <a:tr h="961092">
                <a:tc>
                  <a:txBody>
                    <a:bodyPr/>
                    <a:lstStyle/>
                    <a:p>
                      <a:pPr algn="ctr">
                        <a:lnSpc>
                          <a:spcPct val="115000"/>
                        </a:lnSpc>
                        <a:spcAft>
                          <a:spcPts val="0"/>
                        </a:spcAft>
                      </a:pP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600" kern="100" dirty="0">
                          <a:effectLst/>
                        </a:rPr>
                        <a:t>重复结构的数据，根据条件由数据元素出现零次或多次组成。图（</a:t>
                      </a:r>
                      <a:r>
                        <a:rPr lang="en-US" altLang="zh-CN" sz="1600" kern="100" dirty="0">
                          <a:effectLst/>
                        </a:rPr>
                        <a:t>c</a:t>
                      </a:r>
                      <a:r>
                        <a:rPr lang="zh-CN" altLang="en-US" sz="1600" kern="100" dirty="0">
                          <a:effectLst/>
                        </a:rPr>
                        <a:t>）表示数据</a:t>
                      </a:r>
                      <a:r>
                        <a:rPr lang="en-US" altLang="zh-CN" sz="1600" kern="100" dirty="0">
                          <a:effectLst/>
                        </a:rPr>
                        <a:t>A</a:t>
                      </a:r>
                      <a:r>
                        <a:rPr lang="zh-CN" altLang="en-US" sz="1600" kern="100" dirty="0">
                          <a:effectLst/>
                        </a:rPr>
                        <a:t>由</a:t>
                      </a:r>
                      <a:r>
                        <a:rPr lang="en-US" altLang="zh-CN" sz="1600" kern="100" dirty="0">
                          <a:effectLst/>
                        </a:rPr>
                        <a:t>B</a:t>
                      </a:r>
                      <a:r>
                        <a:rPr lang="zh-CN" altLang="en-US" sz="1600" kern="100" dirty="0">
                          <a:effectLst/>
                        </a:rPr>
                        <a:t>出现零次或多次组成。数据</a:t>
                      </a:r>
                      <a:r>
                        <a:rPr lang="en-US" altLang="zh-CN" sz="1600" kern="100" dirty="0">
                          <a:effectLst/>
                        </a:rPr>
                        <a:t>B</a:t>
                      </a:r>
                      <a:r>
                        <a:rPr lang="zh-CN" altLang="en-US" sz="1600" kern="100" dirty="0">
                          <a:effectLst/>
                        </a:rPr>
                        <a:t>后加符号“*”表示重复。</a:t>
                      </a:r>
                      <a:endParaRPr lang="zh-CN" altLang="en-US"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3"/>
                  </a:ext>
                </a:extLst>
              </a:tr>
            </a:tbl>
          </a:graphicData>
        </a:graphic>
      </p:graphicFrame>
      <p:sp>
        <p:nvSpPr>
          <p:cNvPr id="20" name="TextBox 6"/>
          <p:cNvSpPr txBox="1"/>
          <p:nvPr/>
        </p:nvSpPr>
        <p:spPr>
          <a:xfrm>
            <a:off x="809625" y="1403350"/>
            <a:ext cx="964311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3.8.1 </a:t>
            </a:r>
            <a:r>
              <a:rPr lang="zh-CN" altLang="en-US" sz="2400" dirty="0">
                <a:solidFill>
                  <a:schemeClr val="tx1"/>
                </a:solidFill>
              </a:rPr>
              <a:t>Jackson方法</a:t>
            </a:r>
          </a:p>
        </p:txBody>
      </p:sp>
      <p:pic>
        <p:nvPicPr>
          <p:cNvPr id="343042" name="Picture 2"/>
          <p:cNvPicPr>
            <a:picLocks noChangeAspect="1" noChangeArrowheads="1"/>
          </p:cNvPicPr>
          <p:nvPr/>
        </p:nvPicPr>
        <p:blipFill>
          <a:blip r:embed="rId2" cstate="print"/>
          <a:srcRect/>
          <a:stretch>
            <a:fillRect/>
          </a:stretch>
        </p:blipFill>
        <p:spPr bwMode="auto">
          <a:xfrm>
            <a:off x="1798817" y="3013022"/>
            <a:ext cx="1443875" cy="929391"/>
          </a:xfrm>
          <a:prstGeom prst="rect">
            <a:avLst/>
          </a:prstGeom>
          <a:noFill/>
          <a:ln w="9525">
            <a:noFill/>
            <a:miter lim="800000"/>
            <a:headEnd/>
            <a:tailEnd/>
          </a:ln>
        </p:spPr>
      </p:pic>
      <p:pic>
        <p:nvPicPr>
          <p:cNvPr id="343043" name="Picture 3"/>
          <p:cNvPicPr>
            <a:picLocks noChangeAspect="1" noChangeArrowheads="1"/>
          </p:cNvPicPr>
          <p:nvPr/>
        </p:nvPicPr>
        <p:blipFill>
          <a:blip r:embed="rId3" cstate="print"/>
          <a:srcRect/>
          <a:stretch>
            <a:fillRect/>
          </a:stretch>
        </p:blipFill>
        <p:spPr bwMode="auto">
          <a:xfrm>
            <a:off x="1828800" y="4022816"/>
            <a:ext cx="1270415" cy="923938"/>
          </a:xfrm>
          <a:prstGeom prst="rect">
            <a:avLst/>
          </a:prstGeom>
          <a:noFill/>
          <a:ln w="9525">
            <a:noFill/>
            <a:miter lim="800000"/>
            <a:headEnd/>
            <a:tailEnd/>
          </a:ln>
        </p:spPr>
      </p:pic>
      <p:pic>
        <p:nvPicPr>
          <p:cNvPr id="343044" name="Picture 4"/>
          <p:cNvPicPr>
            <a:picLocks noChangeAspect="1" noChangeArrowheads="1"/>
          </p:cNvPicPr>
          <p:nvPr/>
        </p:nvPicPr>
        <p:blipFill>
          <a:blip r:embed="rId4" cstate="print"/>
          <a:srcRect/>
          <a:stretch>
            <a:fillRect/>
          </a:stretch>
        </p:blipFill>
        <p:spPr bwMode="auto">
          <a:xfrm>
            <a:off x="2233534" y="5036695"/>
            <a:ext cx="379562" cy="914400"/>
          </a:xfrm>
          <a:prstGeom prst="rect">
            <a:avLst/>
          </a:prstGeom>
          <a:noFill/>
          <a:ln w="9525">
            <a:noFill/>
            <a:miter lim="800000"/>
            <a:headEnd/>
            <a:tailEnd/>
          </a:ln>
        </p:spPr>
      </p:pic>
      <p:grpSp>
        <p:nvGrpSpPr>
          <p:cNvPr id="24" name="组合 23"/>
          <p:cNvGrpSpPr/>
          <p:nvPr/>
        </p:nvGrpSpPr>
        <p:grpSpPr>
          <a:xfrm>
            <a:off x="6398281" y="710493"/>
            <a:ext cx="5513705" cy="1313180"/>
            <a:chOff x="881" y="2735"/>
            <a:chExt cx="8683" cy="2068"/>
          </a:xfrm>
        </p:grpSpPr>
        <p:sp>
          <p:nvSpPr>
            <p:cNvPr id="25" name="圆角矩形"/>
            <p:cNvSpPr/>
            <p:nvPr/>
          </p:nvSpPr>
          <p:spPr>
            <a:xfrm>
              <a:off x="1188" y="3071"/>
              <a:ext cx="8376" cy="1732"/>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26"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ndParaRPr>
            </a:p>
          </p:txBody>
        </p:sp>
        <p:sp>
          <p:nvSpPr>
            <p:cNvPr id="27" name="文本框 5"/>
            <p:cNvSpPr txBox="1"/>
            <p:nvPr/>
          </p:nvSpPr>
          <p:spPr>
            <a:xfrm>
              <a:off x="1252" y="3174"/>
              <a:ext cx="8312" cy="1454"/>
            </a:xfrm>
            <a:prstGeom prst="rect">
              <a:avLst/>
            </a:prstGeom>
            <a:noFill/>
          </p:spPr>
          <p:txBody>
            <a:bodyPr wrap="square" rtlCol="0">
              <a:spAutoFit/>
            </a:bodyPr>
            <a:lstStyle/>
            <a:p>
              <a:pPr indent="127000"/>
              <a:r>
                <a:rPr lang="zh-CN" altLang="en-US" dirty="0"/>
                <a:t>      此方法特别适合于设计企事业管理类的数据处理系统。</a:t>
              </a:r>
              <a:r>
                <a:rPr lang="en-US" dirty="0"/>
                <a:t>Jackson</a:t>
              </a:r>
              <a:r>
                <a:rPr lang="zh-CN" altLang="en-US" dirty="0"/>
                <a:t>方法的主要图形工具是</a:t>
              </a:r>
              <a:r>
                <a:rPr lang="en-US" dirty="0"/>
                <a:t>Jackson</a:t>
              </a:r>
              <a:r>
                <a:rPr lang="zh-CN" altLang="en-US" dirty="0"/>
                <a:t>图，它既可以表示数据结构也可以表示程序结构。</a:t>
              </a:r>
              <a:endParaRPr dirty="0">
                <a:sym typeface="+mn-ea"/>
              </a:endParaRPr>
            </a:p>
          </p:txBody>
        </p:sp>
      </p:grpSp>
    </p:spTree>
  </p:cSld>
  <p:clrMapOvr>
    <a:masterClrMapping/>
  </p:clrMapOvr>
  <p:transition>
    <p:dissolv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dirty="0">
                <a:sym typeface="+mn-ea"/>
              </a:rPr>
              <a:t>3.</a:t>
            </a:r>
            <a:r>
              <a:rPr lang="en-US" dirty="0">
                <a:sym typeface="+mn-ea"/>
              </a:rPr>
              <a:t>8 </a:t>
            </a:r>
            <a:r>
              <a:rPr lang="zh-CN" altLang="en-US" dirty="0">
                <a:sym typeface="+mn-ea"/>
              </a:rPr>
              <a:t>面向数据结构的设计方法</a:t>
            </a: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3.8.2 </a:t>
            </a:r>
            <a:r>
              <a:rPr lang="zh-CN" altLang="en-US" sz="2400" dirty="0">
                <a:solidFill>
                  <a:schemeClr val="tx1"/>
                </a:solidFill>
              </a:rPr>
              <a:t>Jackson图的特点</a:t>
            </a:r>
          </a:p>
        </p:txBody>
      </p:sp>
      <p:grpSp>
        <p:nvGrpSpPr>
          <p:cNvPr id="7" name="组合 6"/>
          <p:cNvGrpSpPr/>
          <p:nvPr/>
        </p:nvGrpSpPr>
        <p:grpSpPr>
          <a:xfrm>
            <a:off x="1221105" y="2384425"/>
            <a:ext cx="10120630" cy="3421380"/>
            <a:chOff x="2060" y="3526"/>
            <a:chExt cx="15096" cy="5498"/>
          </a:xfrm>
        </p:grpSpPr>
        <p:sp>
          <p:nvSpPr>
            <p:cNvPr id="8" name="MH_Other_1"/>
            <p:cNvSpPr>
              <a:spLocks noChangeArrowheads="1"/>
            </p:cNvSpPr>
            <p:nvPr>
              <p:custDataLst>
                <p:tags r:id="rId1"/>
              </p:custDataLst>
            </p:nvPr>
          </p:nvSpPr>
          <p:spPr bwMode="auto">
            <a:xfrm>
              <a:off x="2060" y="3526"/>
              <a:ext cx="1060" cy="79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9" name="MH_Other_2"/>
            <p:cNvSpPr>
              <a:spLocks noChangeArrowheads="1"/>
            </p:cNvSpPr>
            <p:nvPr>
              <p:custDataLst>
                <p:tags r:id="rId2"/>
              </p:custDataLst>
            </p:nvPr>
          </p:nvSpPr>
          <p:spPr bwMode="auto">
            <a:xfrm>
              <a:off x="3180" y="3691"/>
              <a:ext cx="840" cy="63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3"/>
            <p:cNvSpPr>
              <a:spLocks noChangeArrowheads="1"/>
            </p:cNvSpPr>
            <p:nvPr>
              <p:custDataLst>
                <p:tags r:id="rId3"/>
              </p:custDataLst>
            </p:nvPr>
          </p:nvSpPr>
          <p:spPr bwMode="auto">
            <a:xfrm>
              <a:off x="2300" y="4366"/>
              <a:ext cx="820" cy="61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1" name="MH_Other_4"/>
            <p:cNvSpPr>
              <a:spLocks noChangeArrowheads="1"/>
            </p:cNvSpPr>
            <p:nvPr>
              <p:custDataLst>
                <p:tags r:id="rId4"/>
              </p:custDataLst>
            </p:nvPr>
          </p:nvSpPr>
          <p:spPr bwMode="auto">
            <a:xfrm>
              <a:off x="3180" y="4366"/>
              <a:ext cx="1060" cy="52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SubTitle_1"/>
            <p:cNvSpPr/>
            <p:nvPr>
              <p:custDataLst>
                <p:tags r:id="rId5"/>
              </p:custDataLst>
            </p:nvPr>
          </p:nvSpPr>
          <p:spPr>
            <a:xfrm>
              <a:off x="4684" y="3613"/>
              <a:ext cx="10704" cy="1280"/>
            </a:xfrm>
            <a:prstGeom prst="rect">
              <a:avLst/>
            </a:prstGeom>
          </p:spPr>
          <p:txBody>
            <a:bodyPr lIns="0" tIns="0" rIns="0" bIns="0" anchor="ctr">
              <a:noAutofit/>
            </a:bodyPr>
            <a:lstStyle/>
            <a:p>
              <a:pPr>
                <a:lnSpc>
                  <a:spcPct val="140000"/>
                </a:lnSpc>
                <a:defRPr/>
              </a:pPr>
              <a:r>
                <a:rPr lang="zh-CN" altLang="en-US" sz="1600" dirty="0">
                  <a:solidFill>
                    <a:srgbClr val="000000"/>
                  </a:solidFill>
                  <a:latin typeface="微软雅黑" panose="020B0503020204020204" charset="-122"/>
                  <a:ea typeface="微软雅黑" panose="020B0503020204020204" charset="-122"/>
                  <a:sym typeface="+mn-ea"/>
                </a:rPr>
                <a:t>  </a:t>
              </a:r>
              <a:r>
                <a:rPr lang="zh-CN" altLang="en-US" dirty="0">
                  <a:solidFill>
                    <a:srgbClr val="000000"/>
                  </a:solidFill>
                  <a:latin typeface="微软雅黑" panose="020B0503020204020204" charset="-122"/>
                  <a:ea typeface="微软雅黑" panose="020B0503020204020204" charset="-122"/>
                  <a:sym typeface="+mn-ea"/>
                </a:rPr>
                <a:t>能对结构进行自顶向下分解，可以清晰地表示层次结构。</a:t>
              </a:r>
            </a:p>
          </p:txBody>
        </p:sp>
        <p:sp>
          <p:nvSpPr>
            <p:cNvPr id="13" name="MH_Other_5"/>
            <p:cNvSpPr>
              <a:spLocks noChangeArrowheads="1"/>
            </p:cNvSpPr>
            <p:nvPr>
              <p:custDataLst>
                <p:tags r:id="rId6"/>
              </p:custDataLst>
            </p:nvPr>
          </p:nvSpPr>
          <p:spPr bwMode="auto">
            <a:xfrm>
              <a:off x="7327" y="7570"/>
              <a:ext cx="1060" cy="79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4" name="MH_Other_6"/>
            <p:cNvSpPr>
              <a:spLocks noChangeArrowheads="1"/>
            </p:cNvSpPr>
            <p:nvPr>
              <p:custDataLst>
                <p:tags r:id="rId7"/>
              </p:custDataLst>
            </p:nvPr>
          </p:nvSpPr>
          <p:spPr bwMode="auto">
            <a:xfrm>
              <a:off x="8447" y="7735"/>
              <a:ext cx="840" cy="63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Other_7"/>
            <p:cNvSpPr>
              <a:spLocks noChangeArrowheads="1"/>
            </p:cNvSpPr>
            <p:nvPr>
              <p:custDataLst>
                <p:tags r:id="rId8"/>
              </p:custDataLst>
            </p:nvPr>
          </p:nvSpPr>
          <p:spPr bwMode="auto">
            <a:xfrm>
              <a:off x="7567" y="8410"/>
              <a:ext cx="820" cy="61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6" name="MH_Other_8"/>
            <p:cNvSpPr>
              <a:spLocks noChangeArrowheads="1"/>
            </p:cNvSpPr>
            <p:nvPr>
              <p:custDataLst>
                <p:tags r:id="rId9"/>
              </p:custDataLst>
            </p:nvPr>
          </p:nvSpPr>
          <p:spPr bwMode="auto">
            <a:xfrm>
              <a:off x="8447" y="8410"/>
              <a:ext cx="1060" cy="52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7" name="MH_SubTitle_3"/>
            <p:cNvSpPr/>
            <p:nvPr>
              <p:custDataLst>
                <p:tags r:id="rId10"/>
              </p:custDataLst>
            </p:nvPr>
          </p:nvSpPr>
          <p:spPr>
            <a:xfrm>
              <a:off x="9924" y="7570"/>
              <a:ext cx="7233" cy="1280"/>
            </a:xfrm>
            <a:prstGeom prst="rect">
              <a:avLst/>
            </a:prstGeom>
          </p:spPr>
          <p:txBody>
            <a:bodyPr lIns="0" tIns="0" rIns="0" bIns="0" anchor="ctr">
              <a:noAutofit/>
            </a:bodyPr>
            <a:lstStyle/>
            <a:p>
              <a:pPr>
                <a:lnSpc>
                  <a:spcPct val="130000"/>
                </a:lnSpc>
                <a:defRPr/>
              </a:pPr>
              <a:r>
                <a:rPr lang="zh-CN" altLang="en-US" sz="1600" dirty="0">
                  <a:solidFill>
                    <a:srgbClr val="000000"/>
                  </a:solidFill>
                  <a:latin typeface="微软雅黑" panose="020B0503020204020204" charset="-122"/>
                  <a:ea typeface="微软雅黑" panose="020B0503020204020204" charset="-122"/>
                  <a:sym typeface="+mn-ea"/>
                </a:rPr>
                <a:t>     </a:t>
              </a:r>
              <a:r>
                <a:rPr lang="zh-CN" altLang="en-US" dirty="0">
                  <a:solidFill>
                    <a:srgbClr val="000000"/>
                  </a:solidFill>
                  <a:latin typeface="微软雅黑" panose="020B0503020204020204" charset="-122"/>
                  <a:ea typeface="微软雅黑" panose="020B0503020204020204" charset="-122"/>
                  <a:sym typeface="+mn-ea"/>
                </a:rPr>
                <a:t>    既可表示数据结构，也可表示程序结构。</a:t>
              </a:r>
            </a:p>
          </p:txBody>
        </p:sp>
        <p:sp>
          <p:nvSpPr>
            <p:cNvPr id="18" name="MH_Other_9"/>
            <p:cNvSpPr>
              <a:spLocks noChangeArrowheads="1"/>
            </p:cNvSpPr>
            <p:nvPr>
              <p:custDataLst>
                <p:tags r:id="rId11"/>
              </p:custDataLst>
            </p:nvPr>
          </p:nvSpPr>
          <p:spPr bwMode="auto">
            <a:xfrm>
              <a:off x="4720" y="5568"/>
              <a:ext cx="1060" cy="79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9" name="MH_Other_10"/>
            <p:cNvSpPr>
              <a:spLocks noChangeArrowheads="1"/>
            </p:cNvSpPr>
            <p:nvPr>
              <p:custDataLst>
                <p:tags r:id="rId12"/>
              </p:custDataLst>
            </p:nvPr>
          </p:nvSpPr>
          <p:spPr bwMode="auto">
            <a:xfrm>
              <a:off x="5840" y="5733"/>
              <a:ext cx="840" cy="63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1"/>
            <p:cNvSpPr>
              <a:spLocks noChangeArrowheads="1"/>
            </p:cNvSpPr>
            <p:nvPr>
              <p:custDataLst>
                <p:tags r:id="rId13"/>
              </p:custDataLst>
            </p:nvPr>
          </p:nvSpPr>
          <p:spPr bwMode="auto">
            <a:xfrm>
              <a:off x="4960" y="6408"/>
              <a:ext cx="820" cy="61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12"/>
            <p:cNvSpPr>
              <a:spLocks noChangeArrowheads="1"/>
            </p:cNvSpPr>
            <p:nvPr>
              <p:custDataLst>
                <p:tags r:id="rId14"/>
              </p:custDataLst>
            </p:nvPr>
          </p:nvSpPr>
          <p:spPr bwMode="auto">
            <a:xfrm>
              <a:off x="5840" y="6408"/>
              <a:ext cx="1060" cy="52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4" name="MH_SubTitle_2"/>
            <p:cNvSpPr/>
            <p:nvPr>
              <p:custDataLst>
                <p:tags r:id="rId15"/>
              </p:custDataLst>
            </p:nvPr>
          </p:nvSpPr>
          <p:spPr>
            <a:xfrm>
              <a:off x="7290" y="5611"/>
              <a:ext cx="8906" cy="1280"/>
            </a:xfrm>
            <a:prstGeom prst="rect">
              <a:avLst/>
            </a:prstGeom>
          </p:spPr>
          <p:txBody>
            <a:bodyPr lIns="0" tIns="0" rIns="0" bIns="0" anchor="ctr">
              <a:noAutofit/>
            </a:bodyPr>
            <a:lstStyle/>
            <a:p>
              <a:pPr lvl="0" algn="just">
                <a:lnSpc>
                  <a:spcPct val="120000"/>
                </a:lnSpc>
                <a:spcBef>
                  <a:spcPct val="0"/>
                </a:spcBef>
              </a:pPr>
              <a:r>
                <a:rPr dirty="0">
                  <a:solidFill>
                    <a:srgbClr val="000000"/>
                  </a:solidFill>
                  <a:latin typeface="微软雅黑" panose="020B0503020204020204" charset="-122"/>
                  <a:ea typeface="微软雅黑" panose="020B0503020204020204" charset="-122"/>
                  <a:sym typeface="+mn-ea"/>
                </a:rPr>
                <a:t>     结构易读、形象、直观。</a:t>
              </a:r>
            </a:p>
          </p:txBody>
        </p:sp>
      </p:grpSp>
    </p:spTree>
  </p:cSld>
  <p:clrMapOvr>
    <a:masterClrMapping/>
  </p:clrMapOvr>
  <p:transition>
    <p:dissolv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8 </a:t>
            </a:r>
            <a:r>
              <a:rPr lang="zh-CN" altLang="en-US">
                <a:sym typeface="+mn-ea"/>
              </a:rPr>
              <a:t>面向数据结构的设计方法</a:t>
            </a:r>
          </a:p>
        </p:txBody>
      </p:sp>
      <p:sp>
        <p:nvSpPr>
          <p:cNvPr id="4" name="TextBox 6"/>
          <p:cNvSpPr txBox="1"/>
          <p:nvPr/>
        </p:nvSpPr>
        <p:spPr>
          <a:xfrm>
            <a:off x="809625" y="1403350"/>
            <a:ext cx="964311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3.8.3 </a:t>
            </a:r>
            <a:r>
              <a:rPr lang="zh-CN" altLang="en-US" sz="2400" dirty="0">
                <a:solidFill>
                  <a:schemeClr val="tx1"/>
                </a:solidFill>
              </a:rPr>
              <a:t>Jackson设计方法的4个步骤</a:t>
            </a:r>
          </a:p>
        </p:txBody>
      </p:sp>
      <p:grpSp>
        <p:nvGrpSpPr>
          <p:cNvPr id="18" name="组合 17"/>
          <p:cNvGrpSpPr/>
          <p:nvPr/>
        </p:nvGrpSpPr>
        <p:grpSpPr>
          <a:xfrm>
            <a:off x="946150" y="2430145"/>
            <a:ext cx="10076180" cy="4824095"/>
            <a:chOff x="1490" y="3563"/>
            <a:chExt cx="15868" cy="7597"/>
          </a:xfrm>
        </p:grpSpPr>
        <p:sp>
          <p:nvSpPr>
            <p:cNvPr id="18440" name="Line 5"/>
            <p:cNvSpPr>
              <a:spLocks noChangeShapeType="1"/>
            </p:cNvSpPr>
            <p:nvPr>
              <p:custDataLst>
                <p:tags r:id="rId1"/>
              </p:custDataLst>
            </p:nvPr>
          </p:nvSpPr>
          <p:spPr bwMode="auto">
            <a:xfrm flipV="1">
              <a:off x="8672" y="4774"/>
              <a:ext cx="1507" cy="3"/>
            </a:xfrm>
            <a:prstGeom prst="line">
              <a:avLst/>
            </a:prstGeom>
            <a:noFill/>
            <a:ln w="28575" cmpd="sng">
              <a:solidFill>
                <a:srgbClr val="D74B4B"/>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Arial" panose="020B0604020202020204" pitchFamily="34" charset="0"/>
                <a:ea typeface="黑体" panose="02010609060101010101" pitchFamily="49" charset="-122"/>
                <a:sym typeface="Arial" panose="020B0604020202020204" pitchFamily="34" charset="0"/>
              </a:endParaRPr>
            </a:p>
          </p:txBody>
        </p:sp>
        <p:sp>
          <p:nvSpPr>
            <p:cNvPr id="18441" name="Oval 6"/>
            <p:cNvSpPr>
              <a:spLocks noChangeArrowheads="1"/>
            </p:cNvSpPr>
            <p:nvPr>
              <p:custDataLst>
                <p:tags r:id="rId2"/>
              </p:custDataLst>
            </p:nvPr>
          </p:nvSpPr>
          <p:spPr bwMode="auto">
            <a:xfrm>
              <a:off x="10384" y="3563"/>
              <a:ext cx="2187" cy="2187"/>
            </a:xfrm>
            <a:prstGeom prst="ellipse">
              <a:avLst/>
            </a:prstGeom>
            <a:solidFill>
              <a:schemeClr val="accent3">
                <a:lumMod val="75000"/>
              </a:scheme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a:solidFill>
                    <a:srgbClr val="FFFFFF"/>
                  </a:solidFill>
                  <a:latin typeface="Arial" panose="020B0604020202020204" pitchFamily="34" charset="0"/>
                  <a:ea typeface="黑体" panose="02010609060101010101" pitchFamily="49" charset="-122"/>
                </a:rPr>
                <a:t>03</a:t>
              </a:r>
              <a:endParaRPr lang="zh-CN" altLang="zh-CN" sz="1800">
                <a:latin typeface="Arial" panose="020B0604020202020204" pitchFamily="34" charset="0"/>
                <a:ea typeface="黑体" panose="02010609060101010101" pitchFamily="49" charset="-122"/>
              </a:endParaRPr>
            </a:p>
          </p:txBody>
        </p:sp>
        <p:sp>
          <p:nvSpPr>
            <p:cNvPr id="18442" name="Oval 7"/>
            <p:cNvSpPr>
              <a:spLocks noChangeArrowheads="1"/>
            </p:cNvSpPr>
            <p:nvPr>
              <p:custDataLst>
                <p:tags r:id="rId3"/>
              </p:custDataLst>
            </p:nvPr>
          </p:nvSpPr>
          <p:spPr bwMode="auto">
            <a:xfrm>
              <a:off x="2174" y="3563"/>
              <a:ext cx="2187" cy="2187"/>
            </a:xfrm>
            <a:prstGeom prst="ellipse">
              <a:avLst/>
            </a:prstGeom>
            <a:solidFill>
              <a:schemeClr val="accent3">
                <a:lumMod val="40000"/>
                <a:lumOff val="60000"/>
              </a:scheme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a:solidFill>
                    <a:srgbClr val="FFFFFF"/>
                  </a:solidFill>
                  <a:latin typeface="Arial" panose="020B0604020202020204" pitchFamily="34" charset="0"/>
                  <a:ea typeface="黑体" panose="02010609060101010101" pitchFamily="49" charset="-122"/>
                </a:rPr>
                <a:t>01</a:t>
              </a:r>
              <a:endParaRPr lang="zh-CN" altLang="zh-CN" sz="1800">
                <a:latin typeface="Arial" panose="020B0604020202020204" pitchFamily="34" charset="0"/>
                <a:ea typeface="黑体" panose="02010609060101010101" pitchFamily="49" charset="-122"/>
              </a:endParaRPr>
            </a:p>
          </p:txBody>
        </p:sp>
        <p:sp>
          <p:nvSpPr>
            <p:cNvPr id="18443" name="Line 8"/>
            <p:cNvSpPr>
              <a:spLocks noChangeShapeType="1"/>
            </p:cNvSpPr>
            <p:nvPr>
              <p:custDataLst>
                <p:tags r:id="rId4"/>
              </p:custDataLst>
            </p:nvPr>
          </p:nvSpPr>
          <p:spPr bwMode="auto">
            <a:xfrm>
              <a:off x="4565" y="4774"/>
              <a:ext cx="1507" cy="0"/>
            </a:xfrm>
            <a:prstGeom prst="line">
              <a:avLst/>
            </a:prstGeom>
            <a:noFill/>
            <a:ln w="28575" cmpd="sng">
              <a:solidFill>
                <a:srgbClr val="D74B4B"/>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Arial" panose="020B0604020202020204" pitchFamily="34" charset="0"/>
                <a:ea typeface="黑体" panose="02010609060101010101" pitchFamily="49" charset="-122"/>
                <a:sym typeface="Arial" panose="020B0604020202020204" pitchFamily="34" charset="0"/>
              </a:endParaRPr>
            </a:p>
          </p:txBody>
        </p:sp>
        <p:sp>
          <p:nvSpPr>
            <p:cNvPr id="18447" name="Oval 12"/>
            <p:cNvSpPr>
              <a:spLocks noChangeArrowheads="1"/>
            </p:cNvSpPr>
            <p:nvPr>
              <p:custDataLst>
                <p:tags r:id="rId5"/>
              </p:custDataLst>
            </p:nvPr>
          </p:nvSpPr>
          <p:spPr bwMode="auto">
            <a:xfrm>
              <a:off x="14488" y="3563"/>
              <a:ext cx="2184" cy="2187"/>
            </a:xfrm>
            <a:prstGeom prst="ellipse">
              <a:avLst/>
            </a:prstGeom>
            <a:solidFill>
              <a:schemeClr val="accent3">
                <a:lumMod val="50000"/>
              </a:scheme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a:solidFill>
                    <a:srgbClr val="FFFFFF"/>
                  </a:solidFill>
                  <a:latin typeface="Arial" panose="020B0604020202020204" pitchFamily="34" charset="0"/>
                  <a:ea typeface="黑体" panose="02010609060101010101" pitchFamily="49" charset="-122"/>
                </a:rPr>
                <a:t>04</a:t>
              </a:r>
              <a:endParaRPr lang="zh-CN" altLang="zh-CN" sz="1800">
                <a:latin typeface="Arial" panose="020B0604020202020204" pitchFamily="34" charset="0"/>
                <a:ea typeface="黑体" panose="02010609060101010101" pitchFamily="49" charset="-122"/>
              </a:endParaRPr>
            </a:p>
          </p:txBody>
        </p:sp>
        <p:sp>
          <p:nvSpPr>
            <p:cNvPr id="18448" name="Oval 13"/>
            <p:cNvSpPr>
              <a:spLocks noChangeArrowheads="1"/>
            </p:cNvSpPr>
            <p:nvPr>
              <p:custDataLst>
                <p:tags r:id="rId6"/>
              </p:custDataLst>
            </p:nvPr>
          </p:nvSpPr>
          <p:spPr bwMode="auto">
            <a:xfrm>
              <a:off x="6280" y="3563"/>
              <a:ext cx="2184" cy="2187"/>
            </a:xfrm>
            <a:prstGeom prst="ellipse">
              <a:avLst/>
            </a:prstGeom>
            <a:solidFill>
              <a:schemeClr val="accent3">
                <a:lumMod val="60000"/>
                <a:lumOff val="40000"/>
              </a:scheme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dirty="0">
                  <a:solidFill>
                    <a:srgbClr val="FFFFFF"/>
                  </a:solidFill>
                  <a:latin typeface="Arial" panose="020B0604020202020204" pitchFamily="34" charset="0"/>
                  <a:ea typeface="黑体" panose="02010609060101010101" pitchFamily="49" charset="-122"/>
                </a:rPr>
                <a:t>02</a:t>
              </a:r>
              <a:endParaRPr lang="zh-CN" altLang="zh-CN" sz="1800" dirty="0">
                <a:latin typeface="Arial" panose="020B0604020202020204" pitchFamily="34" charset="0"/>
                <a:ea typeface="黑体" panose="02010609060101010101" pitchFamily="49" charset="-122"/>
              </a:endParaRPr>
            </a:p>
          </p:txBody>
        </p:sp>
        <p:sp>
          <p:nvSpPr>
            <p:cNvPr id="18449" name="Line 14"/>
            <p:cNvSpPr>
              <a:spLocks noChangeShapeType="1"/>
            </p:cNvSpPr>
            <p:nvPr>
              <p:custDataLst>
                <p:tags r:id="rId7"/>
              </p:custDataLst>
            </p:nvPr>
          </p:nvSpPr>
          <p:spPr bwMode="auto">
            <a:xfrm flipV="1">
              <a:off x="12776" y="4774"/>
              <a:ext cx="1507" cy="3"/>
            </a:xfrm>
            <a:prstGeom prst="line">
              <a:avLst/>
            </a:prstGeom>
            <a:noFill/>
            <a:ln w="28575" cmpd="sng">
              <a:solidFill>
                <a:srgbClr val="D74B4B"/>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Arial" panose="020B0604020202020204" pitchFamily="34" charset="0"/>
                <a:ea typeface="黑体" panose="02010609060101010101" pitchFamily="49" charset="-122"/>
                <a:sym typeface="Arial" panose="020B0604020202020204" pitchFamily="34" charset="0"/>
              </a:endParaRPr>
            </a:p>
          </p:txBody>
        </p:sp>
        <p:sp>
          <p:nvSpPr>
            <p:cNvPr id="12" name="文本框 11"/>
            <p:cNvSpPr txBox="1"/>
            <p:nvPr>
              <p:custDataLst>
                <p:tags r:id="rId8"/>
              </p:custDataLst>
            </p:nvPr>
          </p:nvSpPr>
          <p:spPr>
            <a:xfrm>
              <a:off x="1490" y="6593"/>
              <a:ext cx="3555" cy="4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6pPr>
              <a:lvl7pPr marL="29718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7pPr>
              <a:lvl8pPr marL="34290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8pPr>
              <a:lvl9pPr marL="38862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9pPr>
            </a:lstStyle>
            <a:p>
              <a:r>
                <a:rPr lang="en-US" altLang="zh-CN"/>
                <a:t>	       </a:t>
              </a:r>
              <a:r>
                <a:rPr lang="zh-CN" altLang="en-US"/>
                <a:t>分析并确定输入数据和输出数据的逻辑结构。</a:t>
              </a:r>
            </a:p>
          </p:txBody>
        </p:sp>
        <p:sp>
          <p:nvSpPr>
            <p:cNvPr id="13" name="文本框 12"/>
            <p:cNvSpPr txBox="1"/>
            <p:nvPr>
              <p:custDataLst>
                <p:tags r:id="rId9"/>
              </p:custDataLst>
            </p:nvPr>
          </p:nvSpPr>
          <p:spPr>
            <a:xfrm>
              <a:off x="5595" y="6593"/>
              <a:ext cx="3555" cy="4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6pPr>
              <a:lvl7pPr marL="29718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7pPr>
              <a:lvl8pPr marL="34290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8pPr>
              <a:lvl9pPr marL="38862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9pPr>
            </a:lstStyle>
            <a:p>
              <a:r>
                <a:rPr lang="en-US" altLang="zh-CN"/>
                <a:t>       </a:t>
              </a:r>
              <a:r>
                <a:rPr lang="zh-CN" altLang="en-US"/>
                <a:t>找出输入数据结构和输出数据结构中有对应关系的数据单元。</a:t>
              </a:r>
            </a:p>
          </p:txBody>
        </p:sp>
        <p:sp>
          <p:nvSpPr>
            <p:cNvPr id="14" name="文本框 13"/>
            <p:cNvSpPr txBox="1"/>
            <p:nvPr>
              <p:custDataLst>
                <p:tags r:id="rId10"/>
              </p:custDataLst>
            </p:nvPr>
          </p:nvSpPr>
          <p:spPr>
            <a:xfrm>
              <a:off x="9544" y="6593"/>
              <a:ext cx="3867" cy="4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6pPr>
              <a:lvl7pPr marL="29718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7pPr>
              <a:lvl8pPr marL="34290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8pPr>
              <a:lvl9pPr marL="38862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9pPr>
            </a:lstStyle>
            <a:p>
              <a:r>
                <a:rPr lang="en-US" altLang="zh-CN"/>
                <a:t>       </a:t>
              </a:r>
              <a:r>
                <a:rPr lang="zh-CN" altLang="en-US"/>
                <a:t>从描述数据结构的Jackson图导出描述程序结构的Jackson图。</a:t>
              </a:r>
            </a:p>
          </p:txBody>
        </p:sp>
        <p:sp>
          <p:nvSpPr>
            <p:cNvPr id="15" name="文本框 14"/>
            <p:cNvSpPr txBox="1"/>
            <p:nvPr>
              <p:custDataLst>
                <p:tags r:id="rId11"/>
              </p:custDataLst>
            </p:nvPr>
          </p:nvSpPr>
          <p:spPr>
            <a:xfrm>
              <a:off x="13803" y="6593"/>
              <a:ext cx="3555" cy="4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6pPr>
              <a:lvl7pPr marL="29718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7pPr>
              <a:lvl8pPr marL="34290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8pPr>
              <a:lvl9pPr marL="38862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9pPr>
            </a:lstStyle>
            <a:p>
              <a:r>
                <a:rPr lang="en-US" altLang="zh-CN"/>
                <a:t>       </a:t>
              </a:r>
              <a:r>
                <a:rPr lang="zh-CN" altLang="en-US"/>
                <a:t>列出所有的操作和条件，并把它们分配到程序结构图中去。</a:t>
              </a:r>
            </a:p>
          </p:txBody>
        </p:sp>
      </p:grpSp>
    </p:spTree>
  </p:cSld>
  <p:clrMapOvr>
    <a:masterClrMapping/>
  </p:clrMapOvr>
  <p:transition>
    <p:dissolv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8 </a:t>
            </a:r>
            <a:r>
              <a:rPr lang="zh-CN" altLang="en-US">
                <a:sym typeface="+mn-ea"/>
              </a:rPr>
              <a:t>面向数据结构的设计方法</a:t>
            </a:r>
            <a:endParaRPr lang="zh-CN" altLang="en-US"/>
          </a:p>
        </p:txBody>
      </p:sp>
      <p:grpSp>
        <p:nvGrpSpPr>
          <p:cNvPr id="2" name="组合 1"/>
          <p:cNvGrpSpPr/>
          <p:nvPr/>
        </p:nvGrpSpPr>
        <p:grpSpPr>
          <a:xfrm>
            <a:off x="737235" y="1419225"/>
            <a:ext cx="10574655" cy="3969385"/>
            <a:chOff x="1275" y="2210"/>
            <a:chExt cx="16653" cy="6251"/>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499" y="3150"/>
              <a:ext cx="16429" cy="5311"/>
              <a:chOff x="1499" y="3150"/>
              <a:chExt cx="16429" cy="5311"/>
            </a:xfrm>
          </p:grpSpPr>
          <p:sp>
            <p:nvSpPr>
              <p:cNvPr id="22" name="TextBox 21"/>
              <p:cNvSpPr txBox="1"/>
              <p:nvPr/>
            </p:nvSpPr>
            <p:spPr>
              <a:xfrm>
                <a:off x="3431" y="3419"/>
                <a:ext cx="13522" cy="624"/>
              </a:xfrm>
              <a:prstGeom prst="rect">
                <a:avLst/>
              </a:prstGeom>
              <a:noFill/>
            </p:spPr>
            <p:txBody>
              <a:bodyPr wrap="square">
                <a:spAutoFit/>
              </a:bodyPr>
              <a:lstStyle/>
              <a:p>
                <a:r>
                  <a:rPr sz="2000" dirty="0">
                    <a:sym typeface="+mn-ea"/>
                  </a:rPr>
                  <a:t> 用Jackson方法对学生成绩管理系统进行结构设计。</a:t>
                </a:r>
              </a:p>
            </p:txBody>
          </p:sp>
          <p:sp>
            <p:nvSpPr>
              <p:cNvPr id="24" name="矩形 23"/>
              <p:cNvSpPr>
                <a:spLocks noChangeAspect="1"/>
              </p:cNvSpPr>
              <p:nvPr/>
            </p:nvSpPr>
            <p:spPr>
              <a:xfrm>
                <a:off x="1499" y="4725"/>
                <a:ext cx="16429" cy="373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3-9</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4" name="TextBox 33"/>
              <p:cNvSpPr txBox="1"/>
              <p:nvPr/>
            </p:nvSpPr>
            <p:spPr>
              <a:xfrm>
                <a:off x="1945" y="4967"/>
                <a:ext cx="15536" cy="3252"/>
              </a:xfrm>
              <a:prstGeom prst="rect">
                <a:avLst/>
              </a:prstGeom>
              <a:solidFill>
                <a:schemeClr val="bg1">
                  <a:lumMod val="95000"/>
                </a:schemeClr>
              </a:solidFill>
            </p:spPr>
            <p:txBody>
              <a:bodyPr wrap="square">
                <a:spAutoFit/>
              </a:bodyPr>
              <a:lstStyle/>
              <a:p>
                <a:pPr fontAlgn="auto">
                  <a:lnSpc>
                    <a:spcPct val="120000"/>
                  </a:lnSpc>
                </a:pPr>
                <a:r>
                  <a:rPr lang="en-US" dirty="0">
                    <a:latin typeface="Times New Roman" panose="02020603050405020304" charset="0"/>
                    <a:ea typeface="宋体" panose="02010600030101010101" pitchFamily="2" charset="-122"/>
                  </a:rPr>
                  <a:t>        某校的学生成绩管理系统，在学生入学时输入学生基本信息，如班级、学号、姓名，课程（考试/考查）等。每门课程的单科成绩是由各位任课教师按班内学生学号的顺序依次输入每位学生的平时成绩和考试成绩，成绩输入格式见表3-5。然后由计算机计算每位学生的单科成绩总评分；班级单科成绩汇总时，要统计该班该科目成绩各分数段的人数及比例，班级单科成绩输出格式见表3-5。各科成绩都输入后，就可输出学生个人成绩单（格式见表3-6）和班级学生各科成绩汇总表（格式见表3-7）。</a:t>
                </a:r>
              </a:p>
            </p:txBody>
          </p:sp>
        </p:grpSp>
      </p:grpSp>
    </p:spTree>
  </p:cSld>
  <p:clrMapOvr>
    <a:masterClrMapping/>
  </p:clrMapOvr>
  <p:transition>
    <p:dissolv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8 </a:t>
            </a:r>
            <a:r>
              <a:rPr lang="zh-CN" altLang="en-US">
                <a:sym typeface="+mn-ea"/>
              </a:rPr>
              <a:t>面向数据结构的设计方法</a:t>
            </a:r>
            <a:endParaRPr lang="zh-CN" altLang="en-US"/>
          </a:p>
        </p:txBody>
      </p:sp>
      <p:grpSp>
        <p:nvGrpSpPr>
          <p:cNvPr id="2" name="组合 1"/>
          <p:cNvGrpSpPr/>
          <p:nvPr/>
        </p:nvGrpSpPr>
        <p:grpSpPr>
          <a:xfrm>
            <a:off x="737235" y="1419225"/>
            <a:ext cx="10845165" cy="4891405"/>
            <a:chOff x="1275" y="2210"/>
            <a:chExt cx="17079" cy="7703"/>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500" y="3150"/>
              <a:ext cx="16854" cy="6763"/>
              <a:chOff x="1500" y="3150"/>
              <a:chExt cx="16854" cy="6763"/>
            </a:xfrm>
          </p:grpSpPr>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3-9</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33"/>
                <a:ext cx="16408" cy="5380"/>
              </a:xfrm>
              <a:prstGeom prst="rect">
                <a:avLst/>
              </a:prstGeom>
              <a:solidFill>
                <a:schemeClr val="bg1">
                  <a:lumMod val="95000"/>
                </a:schemeClr>
              </a:solidFill>
            </p:spPr>
            <p:txBody>
              <a:bodyPr wrap="square">
                <a:spAutoFit/>
              </a:bodyPr>
              <a:lstStyle/>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p:txBody>
          </p:sp>
        </p:grpSp>
      </p:grpSp>
      <p:sp>
        <p:nvSpPr>
          <p:cNvPr id="102" name="文本框 101"/>
          <p:cNvSpPr txBox="1"/>
          <p:nvPr/>
        </p:nvSpPr>
        <p:spPr>
          <a:xfrm>
            <a:off x="3915410" y="5547360"/>
            <a:ext cx="5080000" cy="365760"/>
          </a:xfrm>
          <a:prstGeom prst="rect">
            <a:avLst/>
          </a:prstGeom>
          <a:noFill/>
          <a:ln w="9525">
            <a:noFill/>
          </a:ln>
        </p:spPr>
        <p:txBody>
          <a:bodyPr>
            <a:spAutoFit/>
          </a:bodyPr>
          <a:lstStyle/>
          <a:p>
            <a:pPr marL="0" indent="0" algn="ctr"/>
            <a:r>
              <a:rPr lang="en-US" altLang="zh-CN" b="0" u="none">
                <a:latin typeface="宋体" panose="02010600030101010101" pitchFamily="2" charset="-122"/>
                <a:ea typeface="宋体" panose="02010600030101010101" pitchFamily="2" charset="-122"/>
                <a:cs typeface="宋体" panose="02010600030101010101" pitchFamily="2" charset="-122"/>
              </a:rPr>
              <a:t> </a:t>
            </a:r>
            <a:endParaRPr lang="zh-CN" altLang="en-US"/>
          </a:p>
        </p:txBody>
      </p:sp>
      <p:sp>
        <p:nvSpPr>
          <p:cNvPr id="100" name="文本框 99"/>
          <p:cNvSpPr txBox="1"/>
          <p:nvPr/>
        </p:nvSpPr>
        <p:spPr>
          <a:xfrm>
            <a:off x="2269552" y="1681480"/>
            <a:ext cx="9287448" cy="1200329"/>
          </a:xfrm>
          <a:prstGeom prst="rect">
            <a:avLst/>
          </a:prstGeom>
          <a:noFill/>
          <a:ln w="9525">
            <a:noFill/>
          </a:ln>
        </p:spPr>
        <p:txBody>
          <a:bodyPr wrap="square">
            <a:spAutoFit/>
          </a:bodyPr>
          <a:lstStyle/>
          <a:p>
            <a:pPr marL="0" indent="0" algn="ctr"/>
            <a:r>
              <a:rPr lang="zh-CN" altLang="en-US" b="0" u="none" dirty="0">
                <a:latin typeface="宋体" panose="02010600030101010101" pitchFamily="2" charset="-122"/>
                <a:ea typeface="宋体" panose="02010600030101010101" pitchFamily="2" charset="-122"/>
                <a:cs typeface="宋体" panose="02010600030101010101" pitchFamily="2" charset="-122"/>
              </a:rPr>
              <a:t>上海应用技术学院</a:t>
            </a:r>
          </a:p>
          <a:p>
            <a:pPr algn="ctr"/>
            <a:r>
              <a:rPr lang="en-US" altLang="zh-CN" b="0" u="none" dirty="0">
                <a:latin typeface="宋体" panose="02010600030101010101" pitchFamily="2" charset="-122"/>
                <a:ea typeface="宋体" panose="02010600030101010101" pitchFamily="2" charset="-122"/>
                <a:cs typeface="宋体" panose="02010600030101010101" pitchFamily="2" charset="-122"/>
              </a:rPr>
              <a:t>2014</a:t>
            </a:r>
            <a:r>
              <a:rPr lang="zh-CN" altLang="en-US" b="0" u="none" dirty="0">
                <a:latin typeface="宋体" panose="02010600030101010101" pitchFamily="2" charset="-122"/>
                <a:ea typeface="宋体" panose="02010600030101010101" pitchFamily="2" charset="-122"/>
                <a:cs typeface="宋体" panose="02010600030101010101" pitchFamily="2" charset="-122"/>
              </a:rPr>
              <a:t>～</a:t>
            </a:r>
            <a:r>
              <a:rPr lang="en-US" altLang="zh-CN" b="0" u="none" dirty="0">
                <a:latin typeface="Times New Roman" panose="02020603050405020304" charset="0"/>
                <a:ea typeface="Times New Roman" panose="02020603050405020304" charset="0"/>
                <a:cs typeface="Times New Roman" panose="02020603050405020304" charset="0"/>
              </a:rPr>
              <a:t>2015</a:t>
            </a:r>
            <a:r>
              <a:rPr lang="zh-CN" altLang="en-US" b="0" u="none" dirty="0">
                <a:latin typeface="宋体" panose="02010600030101010101" pitchFamily="2" charset="-122"/>
                <a:ea typeface="宋体" panose="02010600030101010101" pitchFamily="2" charset="-122"/>
                <a:cs typeface="宋体" panose="02010600030101010101" pitchFamily="2" charset="-122"/>
              </a:rPr>
              <a:t>年第一学期</a:t>
            </a:r>
          </a:p>
          <a:p>
            <a:pPr algn="ctr"/>
            <a:r>
              <a:rPr lang="zh-CN" altLang="en-US" b="0" u="none" dirty="0">
                <a:latin typeface="宋体" panose="02010600030101010101" pitchFamily="2" charset="-122"/>
                <a:ea typeface="宋体" panose="02010600030101010101" pitchFamily="2" charset="-122"/>
                <a:cs typeface="宋体" panose="02010600030101010101" pitchFamily="2" charset="-122"/>
              </a:rPr>
              <a:t>班级课程成绩表</a:t>
            </a:r>
          </a:p>
          <a:p>
            <a:r>
              <a:rPr lang="zh-CN" altLang="en-US" b="0" u="none" dirty="0">
                <a:latin typeface="宋体" panose="02010600030101010101" pitchFamily="2" charset="-122"/>
                <a:ea typeface="宋体" panose="02010600030101010101" pitchFamily="2" charset="-122"/>
                <a:cs typeface="宋体" panose="02010600030101010101" pitchFamily="2" charset="-122"/>
              </a:rPr>
              <a:t>课程号：</a:t>
            </a:r>
            <a:r>
              <a:rPr lang="en-US" altLang="zh-CN" b="0" u="none" dirty="0">
                <a:latin typeface="宋体" panose="02010600030101010101" pitchFamily="2" charset="-122"/>
                <a:ea typeface="宋体" panose="02010600030101010101" pitchFamily="2" charset="-122"/>
                <a:cs typeface="宋体" panose="02010600030101010101" pitchFamily="2" charset="-122"/>
              </a:rPr>
              <a:t>1090    </a:t>
            </a:r>
            <a:r>
              <a:rPr lang="zh-CN" altLang="en-US" b="0" u="none" dirty="0">
                <a:latin typeface="宋体" panose="02010600030101010101" pitchFamily="2" charset="-122"/>
                <a:ea typeface="宋体" panose="02010600030101010101" pitchFamily="2" charset="-122"/>
                <a:cs typeface="宋体" panose="02010600030101010101" pitchFamily="2" charset="-122"/>
              </a:rPr>
              <a:t>课程名：计算机网络基础    系：计算机科学与技术    班级：</a:t>
            </a:r>
            <a:r>
              <a:rPr lang="en-US" altLang="zh-CN" b="0" u="none" dirty="0">
                <a:latin typeface="Times New Roman" panose="02020603050405020304" charset="0"/>
                <a:ea typeface="Times New Roman" panose="02020603050405020304" charset="0"/>
                <a:cs typeface="Times New Roman" panose="02020603050405020304" charset="0"/>
              </a:rPr>
              <a:t>1410111</a:t>
            </a:r>
            <a:endParaRPr lang="zh-CN" altLang="en-US" dirty="0"/>
          </a:p>
        </p:txBody>
      </p:sp>
      <p:graphicFrame>
        <p:nvGraphicFramePr>
          <p:cNvPr id="4" name="表格 3"/>
          <p:cNvGraphicFramePr/>
          <p:nvPr/>
        </p:nvGraphicFramePr>
        <p:xfrm>
          <a:off x="1803403" y="3144520"/>
          <a:ext cx="9588499" cy="1706880"/>
        </p:xfrm>
        <a:graphic>
          <a:graphicData uri="http://schemas.openxmlformats.org/drawingml/2006/table">
            <a:tbl>
              <a:tblPr firstRow="1" bandRow="1">
                <a:tableStyleId>{5940675A-B579-460E-94D1-54222C63F5DA}</a:tableStyleId>
              </a:tblPr>
              <a:tblGrid>
                <a:gridCol w="1597097">
                  <a:extLst>
                    <a:ext uri="{9D8B030D-6E8A-4147-A177-3AD203B41FA5}">
                      <a16:colId xmlns:a16="http://schemas.microsoft.com/office/drawing/2014/main" val="20000"/>
                    </a:ext>
                  </a:extLst>
                </a:gridCol>
                <a:gridCol w="1600647">
                  <a:extLst>
                    <a:ext uri="{9D8B030D-6E8A-4147-A177-3AD203B41FA5}">
                      <a16:colId xmlns:a16="http://schemas.microsoft.com/office/drawing/2014/main" val="20001"/>
                    </a:ext>
                  </a:extLst>
                </a:gridCol>
                <a:gridCol w="1597097">
                  <a:extLst>
                    <a:ext uri="{9D8B030D-6E8A-4147-A177-3AD203B41FA5}">
                      <a16:colId xmlns:a16="http://schemas.microsoft.com/office/drawing/2014/main" val="20002"/>
                    </a:ext>
                  </a:extLst>
                </a:gridCol>
                <a:gridCol w="1599464">
                  <a:extLst>
                    <a:ext uri="{9D8B030D-6E8A-4147-A177-3AD203B41FA5}">
                      <a16:colId xmlns:a16="http://schemas.microsoft.com/office/drawing/2014/main" val="20003"/>
                    </a:ext>
                  </a:extLst>
                </a:gridCol>
                <a:gridCol w="1597097">
                  <a:extLst>
                    <a:ext uri="{9D8B030D-6E8A-4147-A177-3AD203B41FA5}">
                      <a16:colId xmlns:a16="http://schemas.microsoft.com/office/drawing/2014/main" val="20004"/>
                    </a:ext>
                  </a:extLst>
                </a:gridCol>
                <a:gridCol w="1597097">
                  <a:extLst>
                    <a:ext uri="{9D8B030D-6E8A-4147-A177-3AD203B41FA5}">
                      <a16:colId xmlns:a16="http://schemas.microsoft.com/office/drawing/2014/main" val="20005"/>
                    </a:ext>
                  </a:extLst>
                </a:gridCol>
              </a:tblGrid>
              <a:tr h="284480">
                <a:tc>
                  <a:txBody>
                    <a:bodyPr/>
                    <a:lstStyle/>
                    <a:p>
                      <a:pPr marL="0" indent="0" algn="ctr">
                        <a:buNone/>
                      </a:pPr>
                      <a:r>
                        <a:rPr lang="zh-CN" altLang="en-US" sz="1600" b="0" u="none" dirty="0">
                          <a:highlight>
                            <a:srgbClr val="FADCE9"/>
                          </a:highlight>
                          <a:latin typeface="宋体" panose="02010600030101010101" pitchFamily="2" charset="-122"/>
                          <a:ea typeface="宋体" panose="02010600030101010101" pitchFamily="2" charset="-122"/>
                          <a:cs typeface="宋体" panose="02010600030101010101" pitchFamily="2" charset="-122"/>
                        </a:rPr>
                        <a:t>学号</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姓名</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性别</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平时成绩</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600" b="0" u="none" dirty="0">
                          <a:highlight>
                            <a:srgbClr val="FADCE9"/>
                          </a:highlight>
                          <a:latin typeface="宋体" panose="02010600030101010101" pitchFamily="2" charset="-122"/>
                          <a:ea typeface="宋体" panose="02010600030101010101" pitchFamily="2" charset="-122"/>
                          <a:cs typeface="宋体" panose="02010600030101010101" pitchFamily="2" charset="-122"/>
                        </a:rPr>
                        <a:t>考试成绩</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总评</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extLst>
                  <a:ext uri="{0D108BD9-81ED-4DB2-BD59-A6C34878D82A}">
                    <a16:rowId xmlns:a16="http://schemas.microsoft.com/office/drawing/2014/main" val="10000"/>
                  </a:ext>
                </a:extLst>
              </a:tr>
              <a:tr h="284480">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4480">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480">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4480">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4480">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7" name="表格 6"/>
          <p:cNvGraphicFramePr/>
          <p:nvPr/>
        </p:nvGraphicFramePr>
        <p:xfrm>
          <a:off x="1803400" y="4645660"/>
          <a:ext cx="9588499" cy="1463046"/>
        </p:xfrm>
        <a:graphic>
          <a:graphicData uri="http://schemas.openxmlformats.org/drawingml/2006/table">
            <a:tbl>
              <a:tblPr firstRow="1" bandRow="1">
                <a:tableStyleId>{5940675A-B579-460E-94D1-54222C63F5DA}</a:tableStyleId>
              </a:tblPr>
              <a:tblGrid>
                <a:gridCol w="1612477">
                  <a:extLst>
                    <a:ext uri="{9D8B030D-6E8A-4147-A177-3AD203B41FA5}">
                      <a16:colId xmlns:a16="http://schemas.microsoft.com/office/drawing/2014/main" val="20000"/>
                    </a:ext>
                  </a:extLst>
                </a:gridCol>
                <a:gridCol w="1611294">
                  <a:extLst>
                    <a:ext uri="{9D8B030D-6E8A-4147-A177-3AD203B41FA5}">
                      <a16:colId xmlns:a16="http://schemas.microsoft.com/office/drawing/2014/main" val="20001"/>
                    </a:ext>
                  </a:extLst>
                </a:gridCol>
                <a:gridCol w="1614843">
                  <a:extLst>
                    <a:ext uri="{9D8B030D-6E8A-4147-A177-3AD203B41FA5}">
                      <a16:colId xmlns:a16="http://schemas.microsoft.com/office/drawing/2014/main" val="20002"/>
                    </a:ext>
                  </a:extLst>
                </a:gridCol>
                <a:gridCol w="4749885">
                  <a:extLst>
                    <a:ext uri="{9D8B030D-6E8A-4147-A177-3AD203B41FA5}">
                      <a16:colId xmlns:a16="http://schemas.microsoft.com/office/drawing/2014/main" val="20003"/>
                    </a:ext>
                  </a:extLst>
                </a:gridCol>
              </a:tblGrid>
              <a:tr h="243840">
                <a:tc>
                  <a:txBody>
                    <a:bodyPr/>
                    <a:lstStyle/>
                    <a:p>
                      <a:pPr marL="0" indent="0" algn="ctr">
                        <a:buNone/>
                      </a:pPr>
                      <a:r>
                        <a:rPr lang="zh-CN" altLang="en-US" sz="1600" b="0" u="none" dirty="0">
                          <a:highlight>
                            <a:srgbClr val="FADCE9"/>
                          </a:highlight>
                          <a:latin typeface="宋体" panose="02010600030101010101" pitchFamily="2" charset="-122"/>
                          <a:ea typeface="宋体" panose="02010600030101010101" pitchFamily="2" charset="-122"/>
                          <a:cs typeface="宋体" panose="02010600030101010101" pitchFamily="2" charset="-122"/>
                        </a:rPr>
                        <a:t>分数段</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人数</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百分比</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rowSpan="6">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r>
                        <a:rPr lang="zh-CN" altLang="en-US" sz="1600" b="0" u="none">
                          <a:latin typeface="宋体" panose="02010600030101010101" pitchFamily="2" charset="-122"/>
                          <a:ea typeface="宋体" panose="02010600030101010101" pitchFamily="2" charset="-122"/>
                          <a:cs typeface="宋体" panose="02010600030101010101" pitchFamily="2" charset="-122"/>
                        </a:rPr>
                        <a:t>任课教师签名： 日期：   年   月   日</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43840">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90</a:t>
                      </a:r>
                      <a:r>
                        <a:rPr lang="zh-CN" altLang="en-US" sz="1600" b="0" u="none">
                          <a:latin typeface="宋体" panose="02010600030101010101" pitchFamily="2" charset="-122"/>
                          <a:ea typeface="宋体" panose="02010600030101010101" pitchFamily="2" charset="-122"/>
                          <a:cs typeface="宋体" panose="02010600030101010101" pitchFamily="2" charset="-122"/>
                        </a:rPr>
                        <a:t>分以上</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tcPr>
                </a:tc>
                <a:extLst>
                  <a:ext uri="{0D108BD9-81ED-4DB2-BD59-A6C34878D82A}">
                    <a16:rowId xmlns:a16="http://schemas.microsoft.com/office/drawing/2014/main" val="10001"/>
                  </a:ext>
                </a:extLst>
              </a:tr>
              <a:tr h="243840">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80</a:t>
                      </a:r>
                      <a:r>
                        <a:rPr lang="zh-CN" altLang="en-US" sz="1600" b="0" u="none">
                          <a:latin typeface="宋体" panose="02010600030101010101" pitchFamily="2" charset="-122"/>
                          <a:ea typeface="宋体" panose="02010600030101010101" pitchFamily="2" charset="-122"/>
                          <a:cs typeface="宋体" panose="02010600030101010101" pitchFamily="2" charset="-122"/>
                        </a:rPr>
                        <a:t>～</a:t>
                      </a:r>
                      <a:r>
                        <a:rPr lang="en-US" altLang="zh-CN" sz="1600" b="0" u="none">
                          <a:latin typeface="宋体" panose="02010600030101010101" pitchFamily="2" charset="-122"/>
                          <a:ea typeface="宋体" panose="02010600030101010101" pitchFamily="2" charset="-122"/>
                          <a:cs typeface="宋体" panose="02010600030101010101" pitchFamily="2" charset="-122"/>
                        </a:rPr>
                        <a:t>89</a:t>
                      </a:r>
                      <a:r>
                        <a:rPr lang="zh-CN" altLang="en-US" sz="1600" b="0" u="none">
                          <a:latin typeface="宋体" panose="02010600030101010101" pitchFamily="2" charset="-122"/>
                          <a:ea typeface="宋体" panose="02010600030101010101" pitchFamily="2" charset="-122"/>
                          <a:cs typeface="宋体" panose="02010600030101010101" pitchFamily="2" charset="-122"/>
                        </a:rPr>
                        <a:t>分</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tcPr>
                </a:tc>
                <a:extLst>
                  <a:ext uri="{0D108BD9-81ED-4DB2-BD59-A6C34878D82A}">
                    <a16:rowId xmlns:a16="http://schemas.microsoft.com/office/drawing/2014/main" val="10002"/>
                  </a:ext>
                </a:extLst>
              </a:tr>
              <a:tr h="243840">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70</a:t>
                      </a:r>
                      <a:r>
                        <a:rPr lang="zh-CN" altLang="en-US" sz="1600" b="0" u="none">
                          <a:latin typeface="宋体" panose="02010600030101010101" pitchFamily="2" charset="-122"/>
                          <a:ea typeface="宋体" panose="02010600030101010101" pitchFamily="2" charset="-122"/>
                          <a:cs typeface="宋体" panose="02010600030101010101" pitchFamily="2" charset="-122"/>
                        </a:rPr>
                        <a:t>～</a:t>
                      </a:r>
                      <a:r>
                        <a:rPr lang="en-US" altLang="zh-CN" sz="1600" b="0" u="none">
                          <a:latin typeface="宋体" panose="02010600030101010101" pitchFamily="2" charset="-122"/>
                          <a:ea typeface="宋体" panose="02010600030101010101" pitchFamily="2" charset="-122"/>
                          <a:cs typeface="宋体" panose="02010600030101010101" pitchFamily="2" charset="-122"/>
                        </a:rPr>
                        <a:t>79</a:t>
                      </a:r>
                      <a:r>
                        <a:rPr lang="zh-CN" altLang="en-US" sz="1600" b="0" u="none">
                          <a:latin typeface="宋体" panose="02010600030101010101" pitchFamily="2" charset="-122"/>
                          <a:ea typeface="宋体" panose="02010600030101010101" pitchFamily="2" charset="-122"/>
                          <a:cs typeface="宋体" panose="02010600030101010101" pitchFamily="2" charset="-122"/>
                        </a:rPr>
                        <a:t>分</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tcPr>
                </a:tc>
                <a:extLst>
                  <a:ext uri="{0D108BD9-81ED-4DB2-BD59-A6C34878D82A}">
                    <a16:rowId xmlns:a16="http://schemas.microsoft.com/office/drawing/2014/main" val="10003"/>
                  </a:ext>
                </a:extLst>
              </a:tr>
              <a:tr h="243840">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60</a:t>
                      </a:r>
                      <a:r>
                        <a:rPr lang="zh-CN" altLang="en-US" sz="1600" b="0" u="none">
                          <a:latin typeface="宋体" panose="02010600030101010101" pitchFamily="2" charset="-122"/>
                          <a:ea typeface="宋体" panose="02010600030101010101" pitchFamily="2" charset="-122"/>
                          <a:cs typeface="宋体" panose="02010600030101010101" pitchFamily="2" charset="-122"/>
                        </a:rPr>
                        <a:t>～</a:t>
                      </a:r>
                      <a:r>
                        <a:rPr lang="en-US" altLang="zh-CN" sz="1600" b="0" u="none">
                          <a:latin typeface="宋体" panose="02010600030101010101" pitchFamily="2" charset="-122"/>
                          <a:ea typeface="宋体" panose="02010600030101010101" pitchFamily="2" charset="-122"/>
                          <a:cs typeface="宋体" panose="02010600030101010101" pitchFamily="2" charset="-122"/>
                        </a:rPr>
                        <a:t>69</a:t>
                      </a:r>
                      <a:r>
                        <a:rPr lang="zh-CN" altLang="en-US" sz="1600" b="0" u="none">
                          <a:latin typeface="宋体" panose="02010600030101010101" pitchFamily="2" charset="-122"/>
                          <a:ea typeface="宋体" panose="02010600030101010101" pitchFamily="2" charset="-122"/>
                          <a:cs typeface="宋体" panose="02010600030101010101" pitchFamily="2" charset="-122"/>
                        </a:rPr>
                        <a:t>分</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tcPr>
                </a:tc>
                <a:extLst>
                  <a:ext uri="{0D108BD9-81ED-4DB2-BD59-A6C34878D82A}">
                    <a16:rowId xmlns:a16="http://schemas.microsoft.com/office/drawing/2014/main" val="10004"/>
                  </a:ext>
                </a:extLst>
              </a:tr>
              <a:tr h="243840">
                <a:tc>
                  <a:txBody>
                    <a:bodyPr/>
                    <a:lstStyle/>
                    <a:p>
                      <a:pPr marL="0" indent="0" algn="ctr">
                        <a:buNone/>
                      </a:pPr>
                      <a:r>
                        <a:rPr lang="zh-CN" altLang="en-US" sz="1600" b="0" u="none" dirty="0">
                          <a:latin typeface="宋体" panose="02010600030101010101" pitchFamily="2" charset="-122"/>
                          <a:ea typeface="宋体" panose="02010600030101010101" pitchFamily="2" charset="-122"/>
                          <a:cs typeface="宋体" panose="02010600030101010101" pitchFamily="2" charset="-122"/>
                        </a:rPr>
                        <a:t>不及格</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600" b="0" u="none" dirty="0">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5"/>
                  </a:ext>
                </a:extLst>
              </a:tr>
            </a:tbl>
          </a:graphicData>
        </a:graphic>
      </p:graphicFrame>
      <p:sp>
        <p:nvSpPr>
          <p:cNvPr id="18" name="矩形 17"/>
          <p:cNvSpPr/>
          <p:nvPr/>
        </p:nvSpPr>
        <p:spPr>
          <a:xfrm>
            <a:off x="4944407" y="1136134"/>
            <a:ext cx="3877985" cy="369332"/>
          </a:xfrm>
          <a:prstGeom prst="rect">
            <a:avLst/>
          </a:prstGeom>
        </p:spPr>
        <p:txBody>
          <a:bodyPr wrap="none">
            <a:spAutoFit/>
          </a:bodyPr>
          <a:lstStyle/>
          <a:p>
            <a:r>
              <a:rPr lang="zh-CN" altLang="en-US" dirty="0"/>
              <a:t>表</a:t>
            </a:r>
            <a:r>
              <a:rPr lang="en-US" dirty="0"/>
              <a:t>3-5  </a:t>
            </a:r>
            <a:r>
              <a:rPr lang="zh-CN" altLang="en-US" dirty="0"/>
              <a:t>班级单科成绩表输入输出格式</a:t>
            </a:r>
          </a:p>
        </p:txBody>
      </p:sp>
    </p:spTree>
  </p:cSld>
  <p:clrMapOvr>
    <a:masterClrMapping/>
  </p:clrMapOvr>
  <p:transition>
    <p:dissolv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8 </a:t>
            </a:r>
            <a:r>
              <a:rPr lang="zh-CN" altLang="en-US">
                <a:sym typeface="+mn-ea"/>
              </a:rPr>
              <a:t>面向数据结构的设计方法</a:t>
            </a:r>
            <a:endParaRPr lang="zh-CN" altLang="en-US"/>
          </a:p>
        </p:txBody>
      </p:sp>
      <p:grpSp>
        <p:nvGrpSpPr>
          <p:cNvPr id="2" name="组合 1"/>
          <p:cNvGrpSpPr/>
          <p:nvPr/>
        </p:nvGrpSpPr>
        <p:grpSpPr>
          <a:xfrm>
            <a:off x="737235" y="1403985"/>
            <a:ext cx="10514965" cy="4891405"/>
            <a:chOff x="1275" y="2210"/>
            <a:chExt cx="16559" cy="7703"/>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500" y="3150"/>
              <a:ext cx="16334" cy="6763"/>
              <a:chOff x="1500" y="3150"/>
              <a:chExt cx="16334" cy="6763"/>
            </a:xfrm>
          </p:grpSpPr>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3-9</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33"/>
                <a:ext cx="15888" cy="5380"/>
              </a:xfrm>
              <a:prstGeom prst="rect">
                <a:avLst/>
              </a:prstGeom>
              <a:solidFill>
                <a:schemeClr val="bg1">
                  <a:lumMod val="95000"/>
                </a:schemeClr>
              </a:solidFill>
            </p:spPr>
            <p:txBody>
              <a:bodyPr wrap="square">
                <a:spAutoFit/>
              </a:bodyPr>
              <a:lstStyle/>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p:txBody>
          </p:sp>
        </p:grpSp>
      </p:grpSp>
      <p:sp>
        <p:nvSpPr>
          <p:cNvPr id="100" name="文本框 99"/>
          <p:cNvSpPr txBox="1"/>
          <p:nvPr/>
        </p:nvSpPr>
        <p:spPr>
          <a:xfrm>
            <a:off x="1493520" y="1685290"/>
            <a:ext cx="9713595" cy="1188720"/>
          </a:xfrm>
          <a:prstGeom prst="rect">
            <a:avLst/>
          </a:prstGeom>
          <a:noFill/>
          <a:ln w="9525">
            <a:noFill/>
          </a:ln>
        </p:spPr>
        <p:txBody>
          <a:bodyPr wrap="square">
            <a:spAutoFit/>
          </a:bodyPr>
          <a:lstStyle/>
          <a:p>
            <a:pPr marL="0" indent="0" algn="ctr"/>
            <a:r>
              <a:rPr lang="zh-CN" altLang="en-US" b="0" u="none" dirty="0">
                <a:latin typeface="宋体" panose="02010600030101010101" pitchFamily="2" charset="-122"/>
                <a:ea typeface="宋体" panose="02010600030101010101" pitchFamily="2" charset="-122"/>
                <a:cs typeface="宋体" panose="02010600030101010101" pitchFamily="2" charset="-122"/>
              </a:rPr>
              <a:t>上海应用技术学院</a:t>
            </a:r>
          </a:p>
          <a:p>
            <a:pPr algn="ctr"/>
            <a:r>
              <a:rPr lang="en-US" altLang="zh-CN" b="0" u="none" dirty="0">
                <a:latin typeface="宋体" panose="02010600030101010101" pitchFamily="2" charset="-122"/>
                <a:ea typeface="宋体" panose="02010600030101010101" pitchFamily="2" charset="-122"/>
                <a:cs typeface="宋体" panose="02010600030101010101" pitchFamily="2" charset="-122"/>
              </a:rPr>
              <a:t>2014</a:t>
            </a:r>
            <a:r>
              <a:rPr lang="zh-CN" altLang="en-US" b="0" u="none" dirty="0">
                <a:latin typeface="宋体" panose="02010600030101010101" pitchFamily="2" charset="-122"/>
                <a:ea typeface="宋体" panose="02010600030101010101" pitchFamily="2" charset="-122"/>
                <a:cs typeface="宋体" panose="02010600030101010101" pitchFamily="2" charset="-122"/>
              </a:rPr>
              <a:t>～</a:t>
            </a:r>
            <a:r>
              <a:rPr lang="en-US" altLang="zh-CN" b="0" u="none" dirty="0">
                <a:latin typeface="Times New Roman" panose="02020603050405020304" charset="0"/>
                <a:ea typeface="Times New Roman" panose="02020603050405020304" charset="0"/>
                <a:cs typeface="Times New Roman" panose="02020603050405020304" charset="0"/>
              </a:rPr>
              <a:t>2015</a:t>
            </a:r>
            <a:r>
              <a:rPr lang="zh-CN" altLang="en-US" b="0" u="none" dirty="0">
                <a:latin typeface="宋体" panose="02010600030101010101" pitchFamily="2" charset="-122"/>
                <a:ea typeface="宋体" panose="02010600030101010101" pitchFamily="2" charset="-122"/>
                <a:cs typeface="宋体" panose="02010600030101010101" pitchFamily="2" charset="-122"/>
              </a:rPr>
              <a:t>年第一学期</a:t>
            </a:r>
          </a:p>
          <a:p>
            <a:pPr algn="ctr"/>
            <a:r>
              <a:rPr lang="zh-CN" altLang="en-US" b="0" u="none" dirty="0">
                <a:latin typeface="宋体" panose="02010600030101010101" pitchFamily="2" charset="-122"/>
                <a:ea typeface="宋体" panose="02010600030101010101" pitchFamily="2" charset="-122"/>
                <a:cs typeface="宋体" panose="02010600030101010101" pitchFamily="2" charset="-122"/>
              </a:rPr>
              <a:t>学生成绩单</a:t>
            </a:r>
          </a:p>
          <a:p>
            <a:pPr algn="ctr"/>
            <a:r>
              <a:rPr lang="zh-CN" altLang="en-US" b="0" u="none" dirty="0">
                <a:latin typeface="宋体" panose="02010600030101010101" pitchFamily="2" charset="-122"/>
                <a:ea typeface="宋体" panose="02010600030101010101" pitchFamily="2" charset="-122"/>
                <a:cs typeface="宋体" panose="02010600030101010101" pitchFamily="2" charset="-122"/>
              </a:rPr>
              <a:t>学号：</a:t>
            </a:r>
            <a:r>
              <a:rPr lang="en-US" altLang="zh-CN" b="0" u="none" dirty="0">
                <a:latin typeface="宋体" panose="02010600030101010101" pitchFamily="2" charset="-122"/>
                <a:ea typeface="宋体" panose="02010600030101010101" pitchFamily="2" charset="-122"/>
                <a:cs typeface="宋体" panose="02010600030101010101" pitchFamily="2" charset="-122"/>
              </a:rPr>
              <a:t>141011116     </a:t>
            </a:r>
            <a:r>
              <a:rPr lang="zh-CN" altLang="en-US" b="0" u="none" dirty="0">
                <a:latin typeface="宋体" panose="02010600030101010101" pitchFamily="2" charset="-122"/>
                <a:ea typeface="宋体" panose="02010600030101010101" pitchFamily="2" charset="-122"/>
                <a:cs typeface="宋体" panose="02010600030101010101" pitchFamily="2" charset="-122"/>
              </a:rPr>
              <a:t>姓名：王力     系：计算机科学与技术  班级：</a:t>
            </a:r>
            <a:r>
              <a:rPr lang="en-US" altLang="zh-CN" b="0" u="none" dirty="0">
                <a:latin typeface="Times New Roman" panose="02020603050405020304" charset="0"/>
                <a:ea typeface="Times New Roman" panose="02020603050405020304" charset="0"/>
                <a:cs typeface="Times New Roman" panose="02020603050405020304" charset="0"/>
              </a:rPr>
              <a:t>1410111</a:t>
            </a:r>
            <a:endParaRPr lang="zh-CN" altLang="en-US" dirty="0"/>
          </a:p>
        </p:txBody>
      </p:sp>
      <p:graphicFrame>
        <p:nvGraphicFramePr>
          <p:cNvPr id="4" name="表格 -1"/>
          <p:cNvGraphicFramePr/>
          <p:nvPr/>
        </p:nvGraphicFramePr>
        <p:xfrm>
          <a:off x="1422399" y="2959097"/>
          <a:ext cx="9606281" cy="3181360"/>
        </p:xfrm>
        <a:graphic>
          <a:graphicData uri="http://schemas.openxmlformats.org/drawingml/2006/table">
            <a:tbl>
              <a:tblPr firstRow="1" bandRow="1">
                <a:tableStyleId>{5940675A-B579-460E-94D1-54222C63F5DA}</a:tableStyleId>
              </a:tblPr>
              <a:tblGrid>
                <a:gridCol w="1919896">
                  <a:extLst>
                    <a:ext uri="{9D8B030D-6E8A-4147-A177-3AD203B41FA5}">
                      <a16:colId xmlns:a16="http://schemas.microsoft.com/office/drawing/2014/main" val="20000"/>
                    </a:ext>
                  </a:extLst>
                </a:gridCol>
                <a:gridCol w="1919896">
                  <a:extLst>
                    <a:ext uri="{9D8B030D-6E8A-4147-A177-3AD203B41FA5}">
                      <a16:colId xmlns:a16="http://schemas.microsoft.com/office/drawing/2014/main" val="20001"/>
                    </a:ext>
                  </a:extLst>
                </a:gridCol>
                <a:gridCol w="1924224">
                  <a:extLst>
                    <a:ext uri="{9D8B030D-6E8A-4147-A177-3AD203B41FA5}">
                      <a16:colId xmlns:a16="http://schemas.microsoft.com/office/drawing/2014/main" val="20002"/>
                    </a:ext>
                  </a:extLst>
                </a:gridCol>
                <a:gridCol w="1919896">
                  <a:extLst>
                    <a:ext uri="{9D8B030D-6E8A-4147-A177-3AD203B41FA5}">
                      <a16:colId xmlns:a16="http://schemas.microsoft.com/office/drawing/2014/main" val="20003"/>
                    </a:ext>
                  </a:extLst>
                </a:gridCol>
                <a:gridCol w="1922369">
                  <a:extLst>
                    <a:ext uri="{9D8B030D-6E8A-4147-A177-3AD203B41FA5}">
                      <a16:colId xmlns:a16="http://schemas.microsoft.com/office/drawing/2014/main" val="20004"/>
                    </a:ext>
                  </a:extLst>
                </a:gridCol>
              </a:tblGrid>
              <a:tr h="454480">
                <a:tc>
                  <a:txBody>
                    <a:bodyPr/>
                    <a:lstStyle/>
                    <a:p>
                      <a:pPr marL="0" indent="0" algn="ctr">
                        <a:buNone/>
                      </a:pPr>
                      <a:r>
                        <a:rPr lang="zh-CN" altLang="en-US" sz="1600" b="0" u="none" dirty="0">
                          <a:highlight>
                            <a:srgbClr val="FADCE9"/>
                          </a:highlight>
                          <a:latin typeface="宋体" panose="02010600030101010101" pitchFamily="2" charset="-122"/>
                          <a:ea typeface="宋体" panose="02010600030101010101" pitchFamily="2" charset="-122"/>
                          <a:cs typeface="宋体" panose="02010600030101010101" pitchFamily="2" charset="-122"/>
                        </a:rPr>
                        <a:t>课程名</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平时成绩</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考试成绩</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总评</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考试</a:t>
                      </a:r>
                      <a:r>
                        <a:rPr lang="en-US" altLang="zh-CN" sz="1600" b="0" u="none">
                          <a:highlight>
                            <a:srgbClr val="FADCE9"/>
                          </a:highlight>
                          <a:latin typeface="宋体" panose="02010600030101010101" pitchFamily="2" charset="-122"/>
                          <a:ea typeface="宋体" panose="02010600030101010101" pitchFamily="2" charset="-122"/>
                          <a:cs typeface="宋体" panose="02010600030101010101" pitchFamily="2" charset="-122"/>
                        </a:rPr>
                        <a:t>/</a:t>
                      </a: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考查</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extLst>
                  <a:ext uri="{0D108BD9-81ED-4DB2-BD59-A6C34878D82A}">
                    <a16:rowId xmlns:a16="http://schemas.microsoft.com/office/drawing/2014/main" val="10000"/>
                  </a:ext>
                </a:extLst>
              </a:tr>
              <a:tr h="454480">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4480">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4480">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4480">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4480">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4480">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endParaRPr lang="zh-CN" altLang="en-US" sz="16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6" name="矩形 15"/>
          <p:cNvSpPr/>
          <p:nvPr/>
        </p:nvSpPr>
        <p:spPr>
          <a:xfrm>
            <a:off x="4944407" y="1136134"/>
            <a:ext cx="2954655" cy="369332"/>
          </a:xfrm>
          <a:prstGeom prst="rect">
            <a:avLst/>
          </a:prstGeom>
        </p:spPr>
        <p:txBody>
          <a:bodyPr wrap="none">
            <a:spAutoFit/>
          </a:bodyPr>
          <a:lstStyle/>
          <a:p>
            <a:r>
              <a:rPr lang="zh-CN" altLang="en-US" dirty="0"/>
              <a:t>表</a:t>
            </a:r>
            <a:r>
              <a:rPr lang="en-US" dirty="0"/>
              <a:t>3-6  </a:t>
            </a:r>
            <a:r>
              <a:rPr lang="zh-CN" altLang="en-US" dirty="0"/>
              <a:t>学生个人成绩单格式</a:t>
            </a:r>
          </a:p>
        </p:txBody>
      </p:sp>
    </p:spTree>
  </p:cSld>
  <p:clrMapOvr>
    <a:masterClrMapping/>
  </p:clrMapOvr>
  <p:transition>
    <p:dissolv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8 </a:t>
            </a:r>
            <a:r>
              <a:rPr lang="zh-CN" altLang="en-US">
                <a:sym typeface="+mn-ea"/>
              </a:rPr>
              <a:t>面向数据结构的设计方法</a:t>
            </a:r>
            <a:endParaRPr lang="zh-CN" altLang="en-US"/>
          </a:p>
        </p:txBody>
      </p:sp>
      <p:grpSp>
        <p:nvGrpSpPr>
          <p:cNvPr id="2" name="组合 1"/>
          <p:cNvGrpSpPr/>
          <p:nvPr/>
        </p:nvGrpSpPr>
        <p:grpSpPr>
          <a:xfrm>
            <a:off x="737235" y="1403985"/>
            <a:ext cx="10575290" cy="4978400"/>
            <a:chOff x="1275" y="2210"/>
            <a:chExt cx="16654" cy="7840"/>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500" y="3150"/>
              <a:ext cx="16429" cy="6900"/>
              <a:chOff x="1500" y="3150"/>
              <a:chExt cx="16429" cy="6900"/>
            </a:xfrm>
          </p:grpSpPr>
          <p:sp>
            <p:nvSpPr>
              <p:cNvPr id="24" name="矩形 23"/>
              <p:cNvSpPr>
                <a:spLocks noChangeAspect="1"/>
              </p:cNvSpPr>
              <p:nvPr/>
            </p:nvSpPr>
            <p:spPr>
              <a:xfrm>
                <a:off x="1500" y="4275"/>
                <a:ext cx="16429" cy="5775"/>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3-9</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33"/>
                <a:ext cx="15668" cy="5380"/>
              </a:xfrm>
              <a:prstGeom prst="rect">
                <a:avLst/>
              </a:prstGeom>
              <a:solidFill>
                <a:schemeClr val="bg1">
                  <a:lumMod val="95000"/>
                </a:schemeClr>
              </a:solidFill>
            </p:spPr>
            <p:txBody>
              <a:bodyPr wrap="square">
                <a:spAutoFit/>
              </a:bodyPr>
              <a:lstStyle/>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p:txBody>
          </p:sp>
        </p:grpSp>
      </p:grpSp>
      <p:graphicFrame>
        <p:nvGraphicFramePr>
          <p:cNvPr id="6" name="表格 5"/>
          <p:cNvGraphicFramePr/>
          <p:nvPr/>
        </p:nvGraphicFramePr>
        <p:xfrm>
          <a:off x="1208405" y="3124199"/>
          <a:ext cx="9774555" cy="3016258"/>
        </p:xfrm>
        <a:graphic>
          <a:graphicData uri="http://schemas.openxmlformats.org/drawingml/2006/table">
            <a:tbl>
              <a:tblPr firstRow="1" bandRow="1">
                <a:tableStyleId>{5940675A-B579-460E-94D1-54222C63F5DA}</a:tableStyleId>
              </a:tblPr>
              <a:tblGrid>
                <a:gridCol w="1205865">
                  <a:extLst>
                    <a:ext uri="{9D8B030D-6E8A-4147-A177-3AD203B41FA5}">
                      <a16:colId xmlns:a16="http://schemas.microsoft.com/office/drawing/2014/main" val="20000"/>
                    </a:ext>
                  </a:extLst>
                </a:gridCol>
                <a:gridCol w="1206500">
                  <a:extLst>
                    <a:ext uri="{9D8B030D-6E8A-4147-A177-3AD203B41FA5}">
                      <a16:colId xmlns:a16="http://schemas.microsoft.com/office/drawing/2014/main" val="20001"/>
                    </a:ext>
                  </a:extLst>
                </a:gridCol>
                <a:gridCol w="1209675">
                  <a:extLst>
                    <a:ext uri="{9D8B030D-6E8A-4147-A177-3AD203B41FA5}">
                      <a16:colId xmlns:a16="http://schemas.microsoft.com/office/drawing/2014/main" val="20002"/>
                    </a:ext>
                  </a:extLst>
                </a:gridCol>
                <a:gridCol w="2063750">
                  <a:extLst>
                    <a:ext uri="{9D8B030D-6E8A-4147-A177-3AD203B41FA5}">
                      <a16:colId xmlns:a16="http://schemas.microsoft.com/office/drawing/2014/main" val="20003"/>
                    </a:ext>
                  </a:extLst>
                </a:gridCol>
                <a:gridCol w="1363345">
                  <a:extLst>
                    <a:ext uri="{9D8B030D-6E8A-4147-A177-3AD203B41FA5}">
                      <a16:colId xmlns:a16="http://schemas.microsoft.com/office/drawing/2014/main" val="20004"/>
                    </a:ext>
                  </a:extLst>
                </a:gridCol>
                <a:gridCol w="1362710">
                  <a:extLst>
                    <a:ext uri="{9D8B030D-6E8A-4147-A177-3AD203B41FA5}">
                      <a16:colId xmlns:a16="http://schemas.microsoft.com/office/drawing/2014/main" val="20005"/>
                    </a:ext>
                  </a:extLst>
                </a:gridCol>
                <a:gridCol w="1362710">
                  <a:extLst>
                    <a:ext uri="{9D8B030D-6E8A-4147-A177-3AD203B41FA5}">
                      <a16:colId xmlns:a16="http://schemas.microsoft.com/office/drawing/2014/main" val="20006"/>
                    </a:ext>
                  </a:extLst>
                </a:gridCol>
              </a:tblGrid>
              <a:tr h="430894">
                <a:tc>
                  <a:txBody>
                    <a:bodyPr/>
                    <a:lstStyle/>
                    <a:p>
                      <a:pPr marL="0" indent="0" algn="ctr">
                        <a:buNone/>
                      </a:pP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学号</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姓名</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高等数学</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计算机网络基础</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英语</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政治</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1600" b="0" u="none">
                          <a:highlight>
                            <a:srgbClr val="FADCE9"/>
                          </a:highlight>
                          <a:latin typeface="宋体" panose="02010600030101010101" pitchFamily="2" charset="-122"/>
                          <a:ea typeface="宋体" panose="02010600030101010101" pitchFamily="2" charset="-122"/>
                          <a:cs typeface="宋体" panose="02010600030101010101" pitchFamily="2" charset="-122"/>
                        </a:rPr>
                        <a:t>体育</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extLst>
                  <a:ext uri="{0D108BD9-81ED-4DB2-BD59-A6C34878D82A}">
                    <a16:rowId xmlns:a16="http://schemas.microsoft.com/office/drawing/2014/main" val="10000"/>
                  </a:ext>
                </a:extLst>
              </a:tr>
              <a:tr h="430894">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0894">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0894">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0894">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0894">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30894">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宋体" panose="02010600030101010101" pitchFamily="2" charset="-122"/>
                          <a:ea typeface="宋体" panose="02010600030101010101" pitchFamily="2"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endParaRPr lang="zh-CN" altLang="en-US" sz="16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 name="文本框 3"/>
          <p:cNvSpPr txBox="1"/>
          <p:nvPr/>
        </p:nvSpPr>
        <p:spPr>
          <a:xfrm>
            <a:off x="1892935" y="1774190"/>
            <a:ext cx="9003665" cy="1188720"/>
          </a:xfrm>
          <a:prstGeom prst="rect">
            <a:avLst/>
          </a:prstGeom>
          <a:noFill/>
          <a:ln w="9525">
            <a:noFill/>
          </a:ln>
        </p:spPr>
        <p:txBody>
          <a:bodyPr wrap="square">
            <a:spAutoFit/>
          </a:bodyPr>
          <a:lstStyle/>
          <a:p>
            <a:pPr marL="0" indent="0" algn="ctr"/>
            <a:r>
              <a:rPr lang="zh-CN" altLang="en-US" b="0" u="none" dirty="0">
                <a:latin typeface="宋体" panose="02010600030101010101" pitchFamily="2" charset="-122"/>
                <a:ea typeface="宋体" panose="02010600030101010101" pitchFamily="2" charset="-122"/>
                <a:cs typeface="宋体" panose="02010600030101010101" pitchFamily="2" charset="-122"/>
              </a:rPr>
              <a:t>上海应用技术学院</a:t>
            </a:r>
          </a:p>
          <a:p>
            <a:pPr marL="0" indent="0" algn="ctr"/>
            <a:r>
              <a:rPr lang="en-US" altLang="zh-CN" b="0" u="none" dirty="0">
                <a:latin typeface="宋体" panose="02010600030101010101" pitchFamily="2" charset="-122"/>
                <a:ea typeface="宋体" panose="02010600030101010101" pitchFamily="2" charset="-122"/>
                <a:cs typeface="宋体" panose="02010600030101010101" pitchFamily="2" charset="-122"/>
              </a:rPr>
              <a:t>2014</a:t>
            </a:r>
            <a:r>
              <a:rPr lang="zh-CN" altLang="en-US" b="0" u="none" dirty="0">
                <a:latin typeface="宋体" panose="02010600030101010101" pitchFamily="2" charset="-122"/>
                <a:ea typeface="宋体" panose="02010600030101010101" pitchFamily="2" charset="-122"/>
                <a:cs typeface="宋体" panose="02010600030101010101" pitchFamily="2" charset="-122"/>
              </a:rPr>
              <a:t>～</a:t>
            </a:r>
            <a:r>
              <a:rPr lang="en-US" altLang="zh-CN" b="0" u="none" dirty="0">
                <a:latin typeface="Times New Roman" panose="02020603050405020304" charset="0"/>
                <a:ea typeface="Times New Roman" panose="02020603050405020304" charset="0"/>
                <a:cs typeface="Times New Roman" panose="02020603050405020304" charset="0"/>
              </a:rPr>
              <a:t>2015</a:t>
            </a:r>
            <a:r>
              <a:rPr lang="zh-CN" altLang="en-US" b="0" u="none" dirty="0">
                <a:latin typeface="宋体" panose="02010600030101010101" pitchFamily="2" charset="-122"/>
                <a:ea typeface="宋体" panose="02010600030101010101" pitchFamily="2" charset="-122"/>
                <a:cs typeface="宋体" panose="02010600030101010101" pitchFamily="2" charset="-122"/>
              </a:rPr>
              <a:t>年第一学期</a:t>
            </a:r>
          </a:p>
          <a:p>
            <a:pPr algn="ctr"/>
            <a:r>
              <a:rPr lang="zh-CN" altLang="en-US" b="0" u="none" dirty="0">
                <a:latin typeface="宋体" panose="02010600030101010101" pitchFamily="2" charset="-122"/>
                <a:ea typeface="宋体" panose="02010600030101010101" pitchFamily="2" charset="-122"/>
                <a:cs typeface="宋体" panose="02010600030101010101" pitchFamily="2" charset="-122"/>
              </a:rPr>
              <a:t>班级成绩汇总表</a:t>
            </a:r>
          </a:p>
          <a:p>
            <a:pPr algn="ctr"/>
            <a:r>
              <a:rPr lang="zh-CN" altLang="en-US" b="0" u="none" dirty="0">
                <a:latin typeface="宋体" panose="02010600030101010101" pitchFamily="2" charset="-122"/>
                <a:ea typeface="宋体" panose="02010600030101010101" pitchFamily="2" charset="-122"/>
                <a:cs typeface="宋体" panose="02010600030101010101" pitchFamily="2" charset="-122"/>
              </a:rPr>
              <a:t>系：计算机科学与技术       班级：</a:t>
            </a:r>
            <a:r>
              <a:rPr lang="en-US" altLang="zh-CN" b="0" u="none" dirty="0">
                <a:latin typeface="宋体" panose="02010600030101010101" pitchFamily="2" charset="-122"/>
                <a:ea typeface="宋体" panose="02010600030101010101" pitchFamily="2" charset="-122"/>
                <a:cs typeface="宋体" panose="02010600030101010101" pitchFamily="2" charset="-122"/>
              </a:rPr>
              <a:t>1410111</a:t>
            </a:r>
            <a:endParaRPr lang="zh-CN" altLang="en-US" dirty="0"/>
          </a:p>
        </p:txBody>
      </p:sp>
      <p:sp>
        <p:nvSpPr>
          <p:cNvPr id="16" name="矩形 15"/>
          <p:cNvSpPr/>
          <p:nvPr/>
        </p:nvSpPr>
        <p:spPr>
          <a:xfrm>
            <a:off x="4944407" y="1136134"/>
            <a:ext cx="3416320" cy="369332"/>
          </a:xfrm>
          <a:prstGeom prst="rect">
            <a:avLst/>
          </a:prstGeom>
        </p:spPr>
        <p:txBody>
          <a:bodyPr wrap="none">
            <a:spAutoFit/>
          </a:bodyPr>
          <a:lstStyle/>
          <a:p>
            <a:r>
              <a:rPr lang="zh-CN" altLang="en-US" dirty="0"/>
              <a:t>表</a:t>
            </a:r>
            <a:r>
              <a:rPr lang="en-US" dirty="0"/>
              <a:t>3-7  </a:t>
            </a:r>
            <a:r>
              <a:rPr lang="zh-CN" altLang="en-US" dirty="0"/>
              <a:t>班级各科成绩汇总表格式</a:t>
            </a:r>
          </a:p>
        </p:txBody>
      </p:sp>
    </p:spTree>
  </p:cSld>
  <p:clrMapOvr>
    <a:masterClrMapping/>
  </p:clrMapOvr>
  <p:transition>
    <p:dissolv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8 </a:t>
            </a:r>
            <a:r>
              <a:rPr lang="zh-CN" altLang="en-US">
                <a:sym typeface="+mn-ea"/>
              </a:rPr>
              <a:t>面向数据结构的设计方法</a:t>
            </a:r>
            <a:endParaRPr lang="zh-CN" altLang="en-US"/>
          </a:p>
        </p:txBody>
      </p:sp>
      <p:grpSp>
        <p:nvGrpSpPr>
          <p:cNvPr id="2" name="组合 1"/>
          <p:cNvGrpSpPr/>
          <p:nvPr/>
        </p:nvGrpSpPr>
        <p:grpSpPr>
          <a:xfrm>
            <a:off x="737235" y="1403985"/>
            <a:ext cx="10575290" cy="4978400"/>
            <a:chOff x="1275" y="2210"/>
            <a:chExt cx="16654" cy="7840"/>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500" y="3150"/>
              <a:ext cx="16429" cy="6900"/>
              <a:chOff x="1500" y="3150"/>
              <a:chExt cx="16429" cy="6900"/>
            </a:xfrm>
          </p:grpSpPr>
          <p:sp>
            <p:nvSpPr>
              <p:cNvPr id="22" name="TextBox 21"/>
              <p:cNvSpPr txBox="1"/>
              <p:nvPr/>
            </p:nvSpPr>
            <p:spPr>
              <a:xfrm>
                <a:off x="3431" y="3419"/>
                <a:ext cx="13522" cy="624"/>
              </a:xfrm>
              <a:prstGeom prst="rect">
                <a:avLst/>
              </a:prstGeom>
              <a:noFill/>
            </p:spPr>
            <p:txBody>
              <a:bodyPr wrap="square">
                <a:spAutoFit/>
              </a:bodyPr>
              <a:lstStyle/>
              <a:p>
                <a:r>
                  <a:rPr sz="2000" dirty="0">
                    <a:sym typeface="+mn-ea"/>
                  </a:rPr>
                  <a:t> 用Jackson方法对学生成绩管理系统进行结构设计。</a:t>
                </a:r>
              </a:p>
            </p:txBody>
          </p:sp>
          <p:sp>
            <p:nvSpPr>
              <p:cNvPr id="24" name="矩形 23"/>
              <p:cNvSpPr>
                <a:spLocks noChangeAspect="1"/>
              </p:cNvSpPr>
              <p:nvPr/>
            </p:nvSpPr>
            <p:spPr>
              <a:xfrm>
                <a:off x="1500" y="4275"/>
                <a:ext cx="16429" cy="5775"/>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7"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3-9</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33"/>
                <a:ext cx="15536" cy="5324"/>
              </a:xfrm>
              <a:prstGeom prst="rect">
                <a:avLst/>
              </a:prstGeom>
              <a:solidFill>
                <a:schemeClr val="bg1">
                  <a:lumMod val="95000"/>
                </a:schemeClr>
              </a:solidFill>
            </p:spPr>
            <p:txBody>
              <a:bodyPr wrap="square">
                <a:spAutoFit/>
              </a:bodyPr>
              <a:lstStyle/>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p:txBody>
          </p:sp>
        </p:grpSp>
      </p:grpSp>
      <p:sp>
        <p:nvSpPr>
          <p:cNvPr id="16" name="矩形 15"/>
          <p:cNvSpPr/>
          <p:nvPr/>
        </p:nvSpPr>
        <p:spPr>
          <a:xfrm>
            <a:off x="1294152" y="3196414"/>
            <a:ext cx="6096000" cy="2613023"/>
          </a:xfrm>
          <a:prstGeom prst="rect">
            <a:avLst/>
          </a:prstGeom>
        </p:spPr>
        <p:txBody>
          <a:bodyPr>
            <a:spAutoFit/>
          </a:bodyPr>
          <a:lstStyle/>
          <a:p>
            <a:pPr>
              <a:lnSpc>
                <a:spcPct val="130000"/>
              </a:lnSpc>
            </a:pPr>
            <a:r>
              <a:rPr lang="zh-CN" altLang="en-US" dirty="0"/>
              <a:t>        根据以上输入数据和所需的输出表格，可写出输入数据结构、输出数据结构及程序结构的</a:t>
            </a:r>
            <a:r>
              <a:rPr lang="en-US" dirty="0"/>
              <a:t>Jackson</a:t>
            </a:r>
            <a:r>
              <a:rPr lang="zh-CN" altLang="en-US" dirty="0"/>
              <a:t>图，步骤如下：</a:t>
            </a:r>
          </a:p>
          <a:p>
            <a:pPr>
              <a:lnSpc>
                <a:spcPct val="130000"/>
              </a:lnSpc>
            </a:pPr>
            <a:r>
              <a:rPr lang="zh-CN" altLang="en-US" dirty="0"/>
              <a:t>（</a:t>
            </a:r>
            <a:r>
              <a:rPr lang="en-US" dirty="0"/>
              <a:t>1</a:t>
            </a:r>
            <a:r>
              <a:rPr lang="zh-CN" altLang="en-US" dirty="0"/>
              <a:t>）输入数据结构的</a:t>
            </a:r>
            <a:r>
              <a:rPr lang="en-US" dirty="0"/>
              <a:t>Jackson</a:t>
            </a:r>
            <a:r>
              <a:rPr lang="zh-CN" altLang="en-US" dirty="0"/>
              <a:t>图，如图（</a:t>
            </a:r>
            <a:r>
              <a:rPr lang="en-US" dirty="0"/>
              <a:t>a</a:t>
            </a:r>
            <a:r>
              <a:rPr lang="zh-CN" altLang="en-US" dirty="0"/>
              <a:t>）所示。</a:t>
            </a:r>
          </a:p>
          <a:p>
            <a:pPr>
              <a:lnSpc>
                <a:spcPct val="130000"/>
              </a:lnSpc>
            </a:pPr>
            <a:r>
              <a:rPr lang="zh-CN" altLang="en-US" dirty="0"/>
              <a:t>（</a:t>
            </a:r>
            <a:r>
              <a:rPr lang="en-US" dirty="0"/>
              <a:t>2</a:t>
            </a:r>
            <a:r>
              <a:rPr lang="zh-CN" altLang="en-US" dirty="0"/>
              <a:t>）输出数据结构的</a:t>
            </a:r>
            <a:r>
              <a:rPr lang="en-US" dirty="0"/>
              <a:t>Jackson</a:t>
            </a:r>
            <a:r>
              <a:rPr lang="zh-CN" altLang="en-US" dirty="0"/>
              <a:t>图，如图（</a:t>
            </a:r>
            <a:r>
              <a:rPr lang="en-US" dirty="0"/>
              <a:t>b</a:t>
            </a:r>
            <a:r>
              <a:rPr lang="zh-CN" altLang="en-US" dirty="0"/>
              <a:t>）所示。</a:t>
            </a:r>
          </a:p>
          <a:p>
            <a:pPr>
              <a:lnSpc>
                <a:spcPct val="130000"/>
              </a:lnSpc>
            </a:pPr>
            <a:r>
              <a:rPr lang="zh-CN" altLang="en-US" dirty="0"/>
              <a:t>（</a:t>
            </a:r>
            <a:r>
              <a:rPr lang="en-US" dirty="0"/>
              <a:t>3</a:t>
            </a:r>
            <a:r>
              <a:rPr lang="zh-CN" altLang="en-US" dirty="0"/>
              <a:t>）根据输入、输出数据结构的</a:t>
            </a:r>
            <a:r>
              <a:rPr lang="en-US" dirty="0"/>
              <a:t>Jackson</a:t>
            </a:r>
            <a:r>
              <a:rPr lang="zh-CN" altLang="en-US" dirty="0"/>
              <a:t>图用双向箭头画出对应关系图，如图</a:t>
            </a:r>
            <a:r>
              <a:rPr lang="en-US" dirty="0"/>
              <a:t>3-23</a:t>
            </a:r>
            <a:r>
              <a:rPr lang="zh-CN" altLang="en-US" dirty="0"/>
              <a:t>所示。</a:t>
            </a:r>
            <a:endParaRPr lang="en-US" altLang="zh-CN" dirty="0"/>
          </a:p>
          <a:p>
            <a:pPr>
              <a:lnSpc>
                <a:spcPct val="130000"/>
              </a:lnSpc>
            </a:pPr>
            <a:r>
              <a:rPr lang="zh-CN" altLang="en-US" dirty="0"/>
              <a:t>（</a:t>
            </a:r>
            <a:r>
              <a:rPr lang="en-US" dirty="0"/>
              <a:t>4</a:t>
            </a:r>
            <a:r>
              <a:rPr lang="zh-CN" altLang="en-US" dirty="0"/>
              <a:t>）从输入、输出数据结构关系导出程序结构</a:t>
            </a:r>
            <a:r>
              <a:rPr lang="en-US" dirty="0"/>
              <a:t>Jackson</a:t>
            </a:r>
            <a:r>
              <a:rPr lang="zh-CN" altLang="en-US" dirty="0"/>
              <a:t>图。</a:t>
            </a:r>
          </a:p>
        </p:txBody>
      </p:sp>
      <p:pic>
        <p:nvPicPr>
          <p:cNvPr id="415746" name="Picture 2"/>
          <p:cNvPicPr>
            <a:picLocks noChangeAspect="1" noChangeArrowheads="1"/>
          </p:cNvPicPr>
          <p:nvPr/>
        </p:nvPicPr>
        <p:blipFill>
          <a:blip r:embed="rId4" cstate="print"/>
          <a:srcRect/>
          <a:stretch>
            <a:fillRect/>
          </a:stretch>
        </p:blipFill>
        <p:spPr bwMode="auto">
          <a:xfrm>
            <a:off x="7405140" y="2878110"/>
            <a:ext cx="3676807" cy="3072985"/>
          </a:xfrm>
          <a:prstGeom prst="rect">
            <a:avLst/>
          </a:prstGeom>
          <a:noFill/>
          <a:ln w="9525">
            <a:noFill/>
            <a:miter lim="800000"/>
            <a:headEnd/>
            <a:tailEnd/>
          </a:ln>
        </p:spPr>
      </p:pic>
      <p:sp>
        <p:nvSpPr>
          <p:cNvPr id="18" name="矩形 17"/>
          <p:cNvSpPr/>
          <p:nvPr/>
        </p:nvSpPr>
        <p:spPr>
          <a:xfrm>
            <a:off x="7468279" y="5942563"/>
            <a:ext cx="3672800" cy="369332"/>
          </a:xfrm>
          <a:prstGeom prst="rect">
            <a:avLst/>
          </a:prstGeom>
        </p:spPr>
        <p:txBody>
          <a:bodyPr wrap="none">
            <a:spAutoFit/>
          </a:bodyPr>
          <a:lstStyle/>
          <a:p>
            <a:r>
              <a:rPr lang="zh-CN" altLang="en-US" dirty="0"/>
              <a:t>     （</a:t>
            </a:r>
            <a:r>
              <a:rPr lang="en-US" dirty="0"/>
              <a:t>a</a:t>
            </a:r>
            <a:r>
              <a:rPr lang="zh-CN" altLang="en-US" dirty="0"/>
              <a:t>）</a:t>
            </a:r>
            <a:r>
              <a:rPr lang="en-US" dirty="0"/>
              <a:t>                         </a:t>
            </a:r>
            <a:r>
              <a:rPr lang="zh-CN" altLang="en-US" dirty="0"/>
              <a:t>（</a:t>
            </a:r>
            <a:r>
              <a:rPr lang="en-US" dirty="0"/>
              <a:t>b</a:t>
            </a:r>
            <a:r>
              <a:rPr lang="zh-CN" altLang="en-US" dirty="0"/>
              <a:t>）     </a:t>
            </a:r>
          </a:p>
        </p:txBody>
      </p:sp>
    </p:spTree>
  </p:cSld>
  <p:clrMapOvr>
    <a:masterClrMapping/>
  </p:clrMapOvr>
  <p:transition>
    <p:dissolv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8 </a:t>
            </a:r>
            <a:r>
              <a:rPr lang="zh-CN" altLang="en-US">
                <a:sym typeface="+mn-ea"/>
              </a:rPr>
              <a:t>面向数据结构的设计方法</a:t>
            </a:r>
            <a:endParaRPr lang="zh-CN" altLang="en-US"/>
          </a:p>
        </p:txBody>
      </p:sp>
      <p:grpSp>
        <p:nvGrpSpPr>
          <p:cNvPr id="4" name="组合 4"/>
          <p:cNvGrpSpPr/>
          <p:nvPr/>
        </p:nvGrpSpPr>
        <p:grpSpPr>
          <a:xfrm>
            <a:off x="880110" y="1571659"/>
            <a:ext cx="10432415" cy="4381500"/>
            <a:chOff x="1500" y="3150"/>
            <a:chExt cx="16429" cy="6900"/>
          </a:xfrm>
        </p:grpSpPr>
        <p:sp>
          <p:nvSpPr>
            <p:cNvPr id="22" name="TextBox 21"/>
            <p:cNvSpPr txBox="1"/>
            <p:nvPr/>
          </p:nvSpPr>
          <p:spPr>
            <a:xfrm>
              <a:off x="3431" y="3419"/>
              <a:ext cx="13522" cy="624"/>
            </a:xfrm>
            <a:prstGeom prst="rect">
              <a:avLst/>
            </a:prstGeom>
            <a:noFill/>
          </p:spPr>
          <p:txBody>
            <a:bodyPr wrap="square">
              <a:spAutoFit/>
            </a:bodyPr>
            <a:lstStyle/>
            <a:p>
              <a:r>
                <a:rPr sz="2000" dirty="0">
                  <a:sym typeface="+mn-ea"/>
                </a:rPr>
                <a:t> 用Jackson方法对学生成绩管理系统进行结构设计。</a:t>
              </a:r>
            </a:p>
          </p:txBody>
        </p:sp>
        <p:sp>
          <p:nvSpPr>
            <p:cNvPr id="24" name="矩形 23"/>
            <p:cNvSpPr>
              <a:spLocks noChangeAspect="1"/>
            </p:cNvSpPr>
            <p:nvPr/>
          </p:nvSpPr>
          <p:spPr>
            <a:xfrm>
              <a:off x="1500" y="4275"/>
              <a:ext cx="16429" cy="5775"/>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3-9</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33"/>
              <a:ext cx="15536" cy="5380"/>
            </a:xfrm>
            <a:prstGeom prst="rect">
              <a:avLst/>
            </a:prstGeom>
            <a:solidFill>
              <a:schemeClr val="bg1">
                <a:lumMod val="95000"/>
              </a:schemeClr>
            </a:solidFill>
          </p:spPr>
          <p:txBody>
            <a:bodyPr wrap="square">
              <a:spAutoFit/>
            </a:bodyPr>
            <a:lstStyle/>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a:p>
              <a:pPr fontAlgn="auto">
                <a:lnSpc>
                  <a:spcPct val="120000"/>
                </a:lnSpc>
              </a:pPr>
              <a:endParaRPr lang="en-US" dirty="0">
                <a:latin typeface="Times New Roman" panose="02020603050405020304" charset="0"/>
                <a:ea typeface="宋体" panose="02010600030101010101" pitchFamily="2" charset="-122"/>
              </a:endParaRPr>
            </a:p>
          </p:txBody>
        </p:sp>
      </p:grpSp>
      <p:sp>
        <p:nvSpPr>
          <p:cNvPr id="16" name="矩形 15"/>
          <p:cNvSpPr/>
          <p:nvPr/>
        </p:nvSpPr>
        <p:spPr>
          <a:xfrm>
            <a:off x="1387764" y="2704951"/>
            <a:ext cx="9370432" cy="3083921"/>
          </a:xfrm>
          <a:prstGeom prst="rect">
            <a:avLst/>
          </a:prstGeom>
        </p:spPr>
        <p:txBody>
          <a:bodyPr wrap="square">
            <a:spAutoFit/>
          </a:bodyPr>
          <a:lstStyle/>
          <a:p>
            <a:pPr>
              <a:lnSpc>
                <a:spcPct val="120000"/>
              </a:lnSpc>
            </a:pPr>
            <a:r>
              <a:rPr lang="zh-CN" altLang="en-US" dirty="0"/>
              <a:t>（</a:t>
            </a:r>
            <a:r>
              <a:rPr lang="en-US" dirty="0"/>
              <a:t>5</a:t>
            </a:r>
            <a:r>
              <a:rPr lang="zh-CN" altLang="en-US" dirty="0"/>
              <a:t>）列出所有操作和条件，并把它们分配到程序结构图的适当位置。</a:t>
            </a:r>
            <a:endParaRPr lang="en-US" altLang="zh-CN" dirty="0"/>
          </a:p>
          <a:p>
            <a:pPr>
              <a:lnSpc>
                <a:spcPct val="120000"/>
              </a:lnSpc>
            </a:pPr>
            <a:endParaRPr lang="zh-CN" altLang="en-US" dirty="0"/>
          </a:p>
          <a:p>
            <a:pPr>
              <a:lnSpc>
                <a:spcPct val="120000"/>
              </a:lnSpc>
              <a:buFont typeface="Wingdings" pitchFamily="2" charset="2"/>
              <a:buChar char="Ø"/>
            </a:pPr>
            <a:r>
              <a:rPr lang="zh-CN" altLang="en-US" dirty="0"/>
              <a:t>输入学生基本情况；</a:t>
            </a:r>
          </a:p>
          <a:p>
            <a:pPr>
              <a:lnSpc>
                <a:spcPct val="120000"/>
              </a:lnSpc>
              <a:buFont typeface="Wingdings" pitchFamily="2" charset="2"/>
              <a:buChar char="Ø"/>
            </a:pPr>
            <a:r>
              <a:rPr lang="zh-CN" altLang="en-US" dirty="0"/>
              <a:t>输入学生单科成绩；</a:t>
            </a:r>
          </a:p>
          <a:p>
            <a:pPr>
              <a:lnSpc>
                <a:spcPct val="120000"/>
              </a:lnSpc>
              <a:buFont typeface="Wingdings" pitchFamily="2" charset="2"/>
              <a:buChar char="Ø"/>
            </a:pPr>
            <a:r>
              <a:rPr lang="zh-CN" altLang="en-US" dirty="0"/>
              <a:t>计算单科成绩总评分：</a:t>
            </a:r>
            <a:endParaRPr lang="en-US" altLang="zh-CN" dirty="0"/>
          </a:p>
          <a:p>
            <a:pPr>
              <a:lnSpc>
                <a:spcPct val="120000"/>
              </a:lnSpc>
            </a:pPr>
            <a:r>
              <a:rPr lang="zh-CN" altLang="en-US" dirty="0"/>
              <a:t>总评分＝平时成绩</a:t>
            </a:r>
            <a:r>
              <a:rPr lang="en-US" altLang="zh-CN" dirty="0"/>
              <a:t>×</a:t>
            </a:r>
            <a:r>
              <a:rPr lang="en-US" dirty="0"/>
              <a:t>0.3</a:t>
            </a:r>
            <a:r>
              <a:rPr lang="zh-CN" altLang="en-US" dirty="0"/>
              <a:t>＋考试成绩</a:t>
            </a:r>
            <a:r>
              <a:rPr lang="en-US" altLang="zh-CN" dirty="0"/>
              <a:t>×</a:t>
            </a:r>
            <a:r>
              <a:rPr lang="en-US" dirty="0"/>
              <a:t>0.7</a:t>
            </a:r>
            <a:r>
              <a:rPr lang="zh-CN" altLang="en-US" dirty="0"/>
              <a:t>；</a:t>
            </a:r>
          </a:p>
          <a:p>
            <a:pPr>
              <a:lnSpc>
                <a:spcPct val="120000"/>
              </a:lnSpc>
              <a:buFont typeface="Wingdings" pitchFamily="2" charset="2"/>
              <a:buChar char="Ø"/>
            </a:pPr>
            <a:r>
              <a:rPr lang="zh-CN" altLang="en-US" dirty="0"/>
              <a:t>输出班级单科成绩表；</a:t>
            </a:r>
          </a:p>
          <a:p>
            <a:pPr>
              <a:lnSpc>
                <a:spcPct val="120000"/>
              </a:lnSpc>
              <a:buFont typeface="Wingdings" pitchFamily="2" charset="2"/>
              <a:buChar char="Ø"/>
            </a:pPr>
            <a:r>
              <a:rPr lang="zh-CN" altLang="en-US" dirty="0"/>
              <a:t>输出学生个人成绩单；</a:t>
            </a:r>
            <a:endParaRPr lang="en-US" altLang="zh-CN" dirty="0"/>
          </a:p>
          <a:p>
            <a:pPr>
              <a:lnSpc>
                <a:spcPct val="120000"/>
              </a:lnSpc>
              <a:buFont typeface="Wingdings" pitchFamily="2" charset="2"/>
              <a:buChar char="Ø"/>
            </a:pPr>
            <a:r>
              <a:rPr lang="zh-CN" altLang="en-US" dirty="0"/>
              <a:t>输出班级单科成绩表；</a:t>
            </a:r>
          </a:p>
        </p:txBody>
      </p:sp>
      <p:sp>
        <p:nvSpPr>
          <p:cNvPr id="17" name="矩形 16"/>
          <p:cNvSpPr/>
          <p:nvPr/>
        </p:nvSpPr>
        <p:spPr>
          <a:xfrm>
            <a:off x="6300865" y="3399404"/>
            <a:ext cx="4913235" cy="2419124"/>
          </a:xfrm>
          <a:prstGeom prst="rect">
            <a:avLst/>
          </a:prstGeom>
        </p:spPr>
        <p:txBody>
          <a:bodyPr wrap="square">
            <a:spAutoFit/>
          </a:bodyPr>
          <a:lstStyle/>
          <a:p>
            <a:pPr>
              <a:lnSpc>
                <a:spcPct val="120000"/>
              </a:lnSpc>
              <a:buFont typeface="Wingdings" pitchFamily="2" charset="2"/>
              <a:buChar char="Ø"/>
            </a:pPr>
            <a:r>
              <a:rPr lang="zh-CN" altLang="en-US" dirty="0"/>
              <a:t>输出学生个人成绩单；</a:t>
            </a:r>
          </a:p>
          <a:p>
            <a:pPr>
              <a:lnSpc>
                <a:spcPct val="120000"/>
              </a:lnSpc>
              <a:buFont typeface="Wingdings" pitchFamily="2" charset="2"/>
              <a:buChar char="Ø"/>
            </a:pPr>
            <a:r>
              <a:rPr lang="zh-CN" altLang="en-US" dirty="0"/>
              <a:t>输出班级成绩汇总表；</a:t>
            </a:r>
          </a:p>
          <a:p>
            <a:pPr>
              <a:lnSpc>
                <a:spcPct val="120000"/>
              </a:lnSpc>
              <a:buFont typeface="Wingdings" pitchFamily="2" charset="2"/>
              <a:buChar char="Ø"/>
            </a:pPr>
            <a:r>
              <a:rPr lang="zh-CN" altLang="en-US" dirty="0"/>
              <a:t>输出重修名单；</a:t>
            </a:r>
          </a:p>
          <a:p>
            <a:pPr>
              <a:lnSpc>
                <a:spcPct val="120000"/>
              </a:lnSpc>
              <a:buFont typeface="Wingdings" pitchFamily="2" charset="2"/>
              <a:buChar char="Ø"/>
            </a:pPr>
            <a:r>
              <a:rPr lang="zh-CN" altLang="en-US" dirty="0"/>
              <a:t>输出留级名单；</a:t>
            </a:r>
          </a:p>
          <a:p>
            <a:pPr>
              <a:lnSpc>
                <a:spcPct val="120000"/>
              </a:lnSpc>
              <a:buFont typeface="Wingdings" pitchFamily="2" charset="2"/>
              <a:buChar char="Ø"/>
            </a:pPr>
            <a:r>
              <a:rPr lang="zh-CN" altLang="en-US" dirty="0"/>
              <a:t>重复条件</a:t>
            </a:r>
            <a:r>
              <a:rPr lang="en-US" dirty="0"/>
              <a:t>sum1</a:t>
            </a:r>
            <a:r>
              <a:rPr lang="zh-CN" altLang="en-US" dirty="0"/>
              <a:t>：对所有学生都执行一次；</a:t>
            </a:r>
          </a:p>
          <a:p>
            <a:pPr>
              <a:lnSpc>
                <a:spcPct val="120000"/>
              </a:lnSpc>
              <a:buFont typeface="Wingdings" pitchFamily="2" charset="2"/>
              <a:buChar char="Ø"/>
            </a:pPr>
            <a:r>
              <a:rPr lang="zh-CN" altLang="en-US" dirty="0"/>
              <a:t>重复条件</a:t>
            </a:r>
            <a:r>
              <a:rPr lang="en-US" dirty="0"/>
              <a:t>sum2</a:t>
            </a:r>
            <a:r>
              <a:rPr lang="zh-CN" altLang="en-US" dirty="0"/>
              <a:t>：总评成绩不及格人数；</a:t>
            </a:r>
          </a:p>
          <a:p>
            <a:pPr>
              <a:lnSpc>
                <a:spcPct val="120000"/>
              </a:lnSpc>
              <a:buFont typeface="Wingdings" pitchFamily="2" charset="2"/>
              <a:buChar char="Ø"/>
            </a:pPr>
            <a:r>
              <a:rPr lang="zh-CN" altLang="en-US" dirty="0"/>
              <a:t>重复条件</a:t>
            </a:r>
            <a:r>
              <a:rPr lang="en-US" dirty="0"/>
              <a:t>sum3</a:t>
            </a:r>
            <a:r>
              <a:rPr lang="zh-CN" altLang="en-US" dirty="0"/>
              <a:t>：留级人数。</a:t>
            </a:r>
          </a:p>
        </p:txBody>
      </p:sp>
    </p:spTree>
  </p:cSld>
  <p:clrMapOvr>
    <a:masterClrMapping/>
  </p:clrMapOvr>
  <p:transition>
    <p:dissolv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0000" y="360000"/>
            <a:ext cx="8415337" cy="480131"/>
          </a:xfrm>
        </p:spPr>
        <p:txBody>
          <a:bodyPr/>
          <a:lstStyle/>
          <a:p>
            <a:r>
              <a:rPr lang="en-US" altLang="zh-CN">
                <a:sym typeface="+mn-ea"/>
              </a:rPr>
              <a:t>3.</a:t>
            </a:r>
            <a:r>
              <a:rPr lang="en-US">
                <a:sym typeface="+mn-ea"/>
              </a:rPr>
              <a:t>8 </a:t>
            </a:r>
            <a:r>
              <a:rPr lang="zh-CN" altLang="en-US">
                <a:sym typeface="+mn-ea"/>
              </a:rPr>
              <a:t>面向数据结构的设计方法</a:t>
            </a:r>
            <a:endParaRPr lang="zh-CN" altLang="en-US"/>
          </a:p>
        </p:txBody>
      </p:sp>
      <p:grpSp>
        <p:nvGrpSpPr>
          <p:cNvPr id="2" name="组合 1"/>
          <p:cNvGrpSpPr/>
          <p:nvPr/>
        </p:nvGrpSpPr>
        <p:grpSpPr>
          <a:xfrm>
            <a:off x="737235" y="1403985"/>
            <a:ext cx="8872220" cy="2399030"/>
            <a:chOff x="1275" y="2210"/>
            <a:chExt cx="13972" cy="3778"/>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4" name="组合 4"/>
            <p:cNvGrpSpPr/>
            <p:nvPr/>
          </p:nvGrpSpPr>
          <p:grpSpPr>
            <a:xfrm>
              <a:off x="1500" y="3150"/>
              <a:ext cx="13747" cy="2838"/>
              <a:chOff x="1500" y="3150"/>
              <a:chExt cx="13747" cy="2838"/>
            </a:xfrm>
          </p:grpSpPr>
          <p:sp>
            <p:nvSpPr>
              <p:cNvPr id="22" name="TextBox 21"/>
              <p:cNvSpPr txBox="1"/>
              <p:nvPr/>
            </p:nvSpPr>
            <p:spPr>
              <a:xfrm>
                <a:off x="3431" y="3419"/>
                <a:ext cx="2483" cy="2569"/>
              </a:xfrm>
              <a:prstGeom prst="rect">
                <a:avLst/>
              </a:prstGeom>
              <a:noFill/>
            </p:spPr>
            <p:txBody>
              <a:bodyPr wrap="square">
                <a:spAutoFit/>
              </a:bodyPr>
              <a:lstStyle/>
              <a:p>
                <a:r>
                  <a:rPr sz="2000" dirty="0">
                    <a:sym typeface="+mn-ea"/>
                  </a:rPr>
                  <a:t> 用Jackson方法对学生成绩管理系统进行结构设计。</a:t>
                </a:r>
              </a:p>
            </p:txBody>
          </p:sp>
          <p:grpSp>
            <p:nvGrpSpPr>
              <p:cNvPr id="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3-9</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grpSp>
      </p:grpSp>
      <p:pic>
        <p:nvPicPr>
          <p:cNvPr id="6" name="Picture 2"/>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4022986" y="1415367"/>
            <a:ext cx="7127614" cy="4769742"/>
          </a:xfrm>
          <a:prstGeom prst="rect">
            <a:avLst/>
          </a:prstGeom>
          <a:noFill/>
          <a:ln w="9525">
            <a:noFill/>
            <a:miter lim="800000"/>
            <a:headEnd/>
            <a:tailEnd/>
          </a:ln>
        </p:spPr>
      </p:pic>
    </p:spTree>
  </p:cSld>
  <p:clrMapOvr>
    <a:masterClrMapping/>
  </p:clrMapOvr>
  <p:transition>
    <p:dissolv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latin typeface="Times New Roman" panose="02020603050405020304" pitchFamily="18" charset="0"/>
            </a:endParaRPr>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9</a:t>
              </a:r>
            </a:p>
          </p:txBody>
        </p:sp>
      </p:grpSp>
      <p:sp>
        <p:nvSpPr>
          <p:cNvPr id="40" name="文本框 39"/>
          <p:cNvSpPr txBox="1"/>
          <p:nvPr/>
        </p:nvSpPr>
        <p:spPr>
          <a:xfrm>
            <a:off x="6006555" y="2991303"/>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软件设计文档</a:t>
            </a:r>
          </a:p>
        </p:txBody>
      </p:sp>
      <p:grpSp>
        <p:nvGrpSpPr>
          <p:cNvPr id="6" name="组合 5"/>
          <p:cNvGrpSpPr/>
          <p:nvPr/>
        </p:nvGrpSpPr>
        <p:grpSpPr>
          <a:xfrm>
            <a:off x="6006465" y="4224020"/>
            <a:ext cx="3712845" cy="1990090"/>
            <a:chOff x="9613" y="6652"/>
            <a:chExt cx="5847" cy="3134"/>
          </a:xfrm>
        </p:grpSpPr>
        <p:sp>
          <p:nvSpPr>
            <p:cNvPr id="48" name="文本框 47"/>
            <p:cNvSpPr txBox="1"/>
            <p:nvPr/>
          </p:nvSpPr>
          <p:spPr>
            <a:xfrm>
              <a:off x="9613" y="6652"/>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概要设计说明书</a:t>
              </a:r>
            </a:p>
          </p:txBody>
        </p:sp>
        <p:sp>
          <p:nvSpPr>
            <p:cNvPr id="50" name="文本框 49"/>
            <p:cNvSpPr txBox="1"/>
            <p:nvPr/>
          </p:nvSpPr>
          <p:spPr>
            <a:xfrm>
              <a:off x="9613" y="7471"/>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数据库设计说明书</a:t>
              </a:r>
            </a:p>
          </p:txBody>
        </p:sp>
        <p:sp>
          <p:nvSpPr>
            <p:cNvPr id="3" name="文本框 2"/>
            <p:cNvSpPr txBox="1"/>
            <p:nvPr/>
          </p:nvSpPr>
          <p:spPr>
            <a:xfrm>
              <a:off x="9613" y="8291"/>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详细设计说明书</a:t>
              </a:r>
            </a:p>
          </p:txBody>
        </p:sp>
        <p:sp>
          <p:nvSpPr>
            <p:cNvPr id="5" name="文本框 4"/>
            <p:cNvSpPr txBox="1"/>
            <p:nvPr/>
          </p:nvSpPr>
          <p:spPr>
            <a:xfrm>
              <a:off x="9613" y="9128"/>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操作手册编写提示</a:t>
              </a:r>
            </a:p>
          </p:txBody>
        </p:sp>
      </p:grpSp>
    </p:spTree>
  </p:cSld>
  <p:clrMapOvr>
    <a:masterClrMapping/>
  </p:clrMapOvr>
  <p:transition spd="slow">
    <p:wip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sym typeface="+mn-ea"/>
              </a:rPr>
              <a:t>3.9 </a:t>
            </a:r>
            <a:r>
              <a:rPr lang="zh-CN" altLang="en-US" dirty="0">
                <a:sym typeface="+mn-ea"/>
              </a:rPr>
              <a:t>软件设计文档</a:t>
            </a: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zh-CN"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概要设计说明书</a:t>
            </a:r>
          </a:p>
        </p:txBody>
      </p:sp>
      <p:sp>
        <p:nvSpPr>
          <p:cNvPr id="33" name="文本框 32"/>
          <p:cNvSpPr txBox="1"/>
          <p:nvPr/>
        </p:nvSpPr>
        <p:spPr>
          <a:xfrm>
            <a:off x="768968" y="2509520"/>
            <a:ext cx="461665" cy="2989580"/>
          </a:xfrm>
          <a:prstGeom prst="rect">
            <a:avLst/>
          </a:prstGeom>
          <a:noFill/>
        </p:spPr>
        <p:txBody>
          <a:bodyPr vert="eaVert" wrap="square" rtlCol="0">
            <a:spAutoFit/>
          </a:bodyPr>
          <a:lstStyle/>
          <a:p>
            <a:pPr algn="l"/>
            <a:r>
              <a:rPr lang="en-US" altLang="zh-CN" spc="160" dirty="0">
                <a:solidFill>
                  <a:schemeClr val="bg1"/>
                </a:solidFill>
                <a:latin typeface="微软雅黑" panose="020B0503020204020204" charset="-122"/>
                <a:ea typeface="微软雅黑" panose="020B0503020204020204" charset="-122"/>
              </a:rPr>
              <a:t>3.9.1   </a:t>
            </a:r>
            <a:r>
              <a:rPr lang="zh-CN" altLang="en-US" spc="160" dirty="0">
                <a:solidFill>
                  <a:schemeClr val="bg1"/>
                </a:solidFill>
                <a:latin typeface="微软雅黑" panose="020B0503020204020204" charset="-122"/>
                <a:ea typeface="微软雅黑" panose="020B0503020204020204" charset="-122"/>
              </a:rPr>
              <a:t>概要设计说明书</a:t>
            </a:r>
          </a:p>
        </p:txBody>
      </p:sp>
      <p:pic>
        <p:nvPicPr>
          <p:cNvPr id="4" name="图片 3" descr="QQ截图20170117130849"/>
          <p:cNvPicPr>
            <a:picLocks noChangeAspect="1"/>
          </p:cNvPicPr>
          <p:nvPr/>
        </p:nvPicPr>
        <p:blipFill>
          <a:blip r:embed="rId2" cstate="print"/>
          <a:stretch>
            <a:fillRect/>
          </a:stretch>
        </p:blipFill>
        <p:spPr>
          <a:xfrm>
            <a:off x="1399540" y="1992630"/>
            <a:ext cx="10514200" cy="3798570"/>
          </a:xfrm>
          <a:prstGeom prst="rect">
            <a:avLst/>
          </a:prstGeom>
        </p:spPr>
      </p:pic>
    </p:spTree>
  </p:cSld>
  <p:clrMapOvr>
    <a:masterClrMapping/>
  </p:clrMapOvr>
  <p:transition>
    <p:wedge/>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sym typeface="+mn-ea"/>
              </a:rPr>
              <a:t>3.9 </a:t>
            </a:r>
            <a:r>
              <a:rPr lang="zh-CN" altLang="en-US" dirty="0">
                <a:sym typeface="+mn-ea"/>
              </a:rPr>
              <a:t>软件设计文档</a:t>
            </a: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zh-CN"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概要设计复审</a:t>
            </a:r>
          </a:p>
        </p:txBody>
      </p:sp>
      <p:sp>
        <p:nvSpPr>
          <p:cNvPr id="100" name="文本框 99"/>
          <p:cNvSpPr txBox="1"/>
          <p:nvPr/>
        </p:nvSpPr>
        <p:spPr>
          <a:xfrm>
            <a:off x="1513840" y="2273935"/>
            <a:ext cx="5080000" cy="3444240"/>
          </a:xfrm>
          <a:prstGeom prst="rect">
            <a:avLst/>
          </a:prstGeom>
          <a:noFill/>
          <a:ln w="9525">
            <a:noFill/>
          </a:ln>
        </p:spPr>
        <p:txBody>
          <a:bodyPr>
            <a:spAutoFit/>
          </a:bodyPr>
          <a:lstStyle/>
          <a:p>
            <a:pPr marL="0" indent="0" algn="l" fontAlgn="auto"/>
            <a:r>
              <a:rPr lang="en-US" altLang="zh-CN" sz="2000" b="0" u="none">
                <a:latin typeface="宋体" panose="02010600030101010101" pitchFamily="2" charset="-122"/>
                <a:ea typeface="宋体" panose="02010600030101010101" pitchFamily="2" charset="-122"/>
                <a:cs typeface="宋体" panose="02010600030101010101" pitchFamily="2" charset="-122"/>
              </a:rPr>
              <a:t>    </a:t>
            </a:r>
            <a:r>
              <a:rPr lang="zh-CN" altLang="en-US" sz="2000" b="0" u="none">
                <a:latin typeface="宋体" panose="02010600030101010101" pitchFamily="2" charset="-122"/>
                <a:ea typeface="宋体" panose="02010600030101010101" pitchFamily="2" charset="-122"/>
                <a:cs typeface="宋体" panose="02010600030101010101" pitchFamily="2" charset="-122"/>
              </a:rPr>
              <a:t>概要设计复审的参加人员包括：结构设计负责人、设计文档的作者、课题负责人、行政负责人、对开发任务进行技术监督的软件工程师、技术专家、其他方面代表。</a:t>
            </a:r>
          </a:p>
          <a:p>
            <a:r>
              <a:rPr lang="zh-CN" altLang="en-US" sz="2000" b="0" u="none">
                <a:latin typeface="宋体" panose="02010600030101010101" pitchFamily="2" charset="-122"/>
                <a:ea typeface="宋体" panose="02010600030101010101" pitchFamily="2" charset="-122"/>
                <a:cs typeface="宋体" panose="02010600030101010101" pitchFamily="2" charset="-122"/>
              </a:rPr>
              <a:t>    概要设计复审的主要内容是审查软件结构设计和接口设计的合理性。要充分彻底地评价数据流图，严格审查结构图中的参数传输情况、检查全局变量和模块间的对应关系，对系统接口设计进行检查，纠正设计中的错误和缺陷，使有关设计者了解与任务有关的接口情况。</a:t>
            </a:r>
            <a:endParaRPr lang="zh-CN" altLang="en-US" sz="2000"/>
          </a:p>
        </p:txBody>
      </p:sp>
      <p:pic>
        <p:nvPicPr>
          <p:cNvPr id="433154" name="图片 1" descr="www_tuweimei_comComp_2816041_cVpR7Ig4O4NVABRurprjCaGfg4tUF9.jpg"/>
          <p:cNvPicPr>
            <a:picLocks noGrp="1" noChangeAspect="1"/>
          </p:cNvPicPr>
          <p:nvPr/>
        </p:nvPicPr>
        <p:blipFill>
          <a:blip r:embed="rId2" cstate="print"/>
          <a:stretch>
            <a:fillRect/>
          </a:stretch>
        </p:blipFill>
        <p:spPr>
          <a:xfrm>
            <a:off x="6657340" y="2031365"/>
            <a:ext cx="4983480" cy="3737610"/>
          </a:xfrm>
          <a:prstGeom prst="rect">
            <a:avLst/>
          </a:prstGeom>
          <a:noFill/>
          <a:ln w="9525">
            <a:noFill/>
          </a:ln>
        </p:spPr>
      </p:pic>
      <p:sp>
        <p:nvSpPr>
          <p:cNvPr id="7" name="文本框 32"/>
          <p:cNvSpPr txBox="1"/>
          <p:nvPr/>
        </p:nvSpPr>
        <p:spPr>
          <a:xfrm>
            <a:off x="768968" y="2509520"/>
            <a:ext cx="461665" cy="2824480"/>
          </a:xfrm>
          <a:prstGeom prst="rect">
            <a:avLst/>
          </a:prstGeom>
          <a:noFill/>
        </p:spPr>
        <p:txBody>
          <a:bodyPr vert="eaVert" wrap="square" rtlCol="0">
            <a:spAutoFit/>
          </a:bodyPr>
          <a:lstStyle/>
          <a:p>
            <a:pPr algn="l"/>
            <a:r>
              <a:rPr lang="en-US" altLang="zh-CN" spc="160" dirty="0">
                <a:solidFill>
                  <a:schemeClr val="bg1"/>
                </a:solidFill>
                <a:latin typeface="微软雅黑" panose="020B0503020204020204" charset="-122"/>
                <a:ea typeface="微软雅黑" panose="020B0503020204020204" charset="-122"/>
              </a:rPr>
              <a:t>3.9.1   </a:t>
            </a:r>
            <a:r>
              <a:rPr lang="zh-CN" altLang="en-US" spc="160" dirty="0">
                <a:solidFill>
                  <a:schemeClr val="bg1"/>
                </a:solidFill>
                <a:latin typeface="微软雅黑" panose="020B0503020204020204" charset="-122"/>
                <a:ea typeface="微软雅黑" panose="020B0503020204020204" charset="-122"/>
              </a:rPr>
              <a:t>概要设计说明书</a:t>
            </a:r>
          </a:p>
        </p:txBody>
      </p:sp>
    </p:spTree>
  </p:cSld>
  <p:clrMapOvr>
    <a:masterClrMapping/>
  </p:clrMapOvr>
  <p:transition>
    <p:wedg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sym typeface="+mn-ea"/>
              </a:rPr>
              <a:t>3.9 </a:t>
            </a:r>
            <a:r>
              <a:rPr lang="zh-CN" altLang="en-US" dirty="0">
                <a:sym typeface="+mn-ea"/>
              </a:rPr>
              <a:t>软件设计文档</a:t>
            </a: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zh-CN"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数据库设计说明书</a:t>
            </a:r>
          </a:p>
        </p:txBody>
      </p:sp>
      <p:sp>
        <p:nvSpPr>
          <p:cNvPr id="33" name="文本框 32"/>
          <p:cNvSpPr txBox="1"/>
          <p:nvPr/>
        </p:nvSpPr>
        <p:spPr>
          <a:xfrm>
            <a:off x="768968" y="2494280"/>
            <a:ext cx="461665" cy="3157220"/>
          </a:xfrm>
          <a:prstGeom prst="rect">
            <a:avLst/>
          </a:prstGeom>
          <a:noFill/>
        </p:spPr>
        <p:txBody>
          <a:bodyPr vert="eaVert" wrap="square" rtlCol="0">
            <a:spAutoFit/>
          </a:bodyPr>
          <a:lstStyle/>
          <a:p>
            <a:pPr algn="l"/>
            <a:r>
              <a:rPr lang="en-US" altLang="zh-CN" spc="160" dirty="0">
                <a:solidFill>
                  <a:schemeClr val="bg1"/>
                </a:solidFill>
                <a:latin typeface="微软雅黑" panose="020B0503020204020204" charset="-122"/>
                <a:ea typeface="微软雅黑" panose="020B0503020204020204" charset="-122"/>
              </a:rPr>
              <a:t>3.9.2   </a:t>
            </a:r>
            <a:r>
              <a:rPr lang="zh-CN" altLang="en-US" spc="160" dirty="0">
                <a:solidFill>
                  <a:schemeClr val="bg1"/>
                </a:solidFill>
                <a:latin typeface="微软雅黑" panose="020B0503020204020204" charset="-122"/>
                <a:ea typeface="微软雅黑" panose="020B0503020204020204" charset="-122"/>
              </a:rPr>
              <a:t>数据库设计说明书</a:t>
            </a:r>
          </a:p>
        </p:txBody>
      </p:sp>
      <p:pic>
        <p:nvPicPr>
          <p:cNvPr id="3" name="图片 2" descr="QQ截图20170117131153"/>
          <p:cNvPicPr>
            <a:picLocks noChangeAspect="1"/>
          </p:cNvPicPr>
          <p:nvPr/>
        </p:nvPicPr>
        <p:blipFill>
          <a:blip r:embed="rId2" cstate="print"/>
          <a:stretch>
            <a:fillRect/>
          </a:stretch>
        </p:blipFill>
        <p:spPr>
          <a:xfrm>
            <a:off x="1452245" y="2032000"/>
            <a:ext cx="10019030" cy="3822700"/>
          </a:xfrm>
          <a:prstGeom prst="rect">
            <a:avLst/>
          </a:prstGeom>
        </p:spPr>
      </p:pic>
    </p:spTree>
  </p:cSld>
  <p:clrMapOvr>
    <a:masterClrMapping/>
  </p:clrMapOvr>
  <p:transition>
    <p:wedg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sym typeface="+mn-ea"/>
              </a:rPr>
              <a:t>3.9 </a:t>
            </a:r>
            <a:r>
              <a:rPr lang="zh-CN" altLang="en-US" dirty="0">
                <a:sym typeface="+mn-ea"/>
              </a:rPr>
              <a:t>软件设计文档</a:t>
            </a: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zh-CN"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详细设计说明书</a:t>
            </a:r>
          </a:p>
        </p:txBody>
      </p:sp>
      <p:sp>
        <p:nvSpPr>
          <p:cNvPr id="33" name="文本框 32"/>
          <p:cNvSpPr txBox="1"/>
          <p:nvPr/>
        </p:nvSpPr>
        <p:spPr>
          <a:xfrm>
            <a:off x="768967" y="2494280"/>
            <a:ext cx="461665" cy="2850515"/>
          </a:xfrm>
          <a:prstGeom prst="rect">
            <a:avLst/>
          </a:prstGeom>
          <a:noFill/>
        </p:spPr>
        <p:txBody>
          <a:bodyPr vert="eaVert" wrap="square" rtlCol="0">
            <a:spAutoFit/>
          </a:bodyPr>
          <a:lstStyle/>
          <a:p>
            <a:pPr algn="l"/>
            <a:r>
              <a:rPr lang="en-US" altLang="zh-CN" spc="160" dirty="0">
                <a:solidFill>
                  <a:schemeClr val="bg1"/>
                </a:solidFill>
                <a:latin typeface="微软雅黑" panose="020B0503020204020204" charset="-122"/>
                <a:ea typeface="微软雅黑" panose="020B0503020204020204" charset="-122"/>
              </a:rPr>
              <a:t>3.9.3   </a:t>
            </a:r>
            <a:r>
              <a:rPr lang="zh-CN" altLang="en-US" spc="160" dirty="0">
                <a:solidFill>
                  <a:schemeClr val="bg1"/>
                </a:solidFill>
                <a:latin typeface="微软雅黑" panose="020B0503020204020204" charset="-122"/>
                <a:ea typeface="微软雅黑" panose="020B0503020204020204" charset="-122"/>
              </a:rPr>
              <a:t>详细设计说明书</a:t>
            </a:r>
          </a:p>
        </p:txBody>
      </p:sp>
      <p:pic>
        <p:nvPicPr>
          <p:cNvPr id="4" name="图片 3" descr="QQ截图20170117132115"/>
          <p:cNvPicPr>
            <a:picLocks noChangeAspect="1"/>
          </p:cNvPicPr>
          <p:nvPr/>
        </p:nvPicPr>
        <p:blipFill>
          <a:blip r:embed="rId2" cstate="print"/>
          <a:stretch>
            <a:fillRect/>
          </a:stretch>
        </p:blipFill>
        <p:spPr>
          <a:xfrm>
            <a:off x="1746250" y="1862455"/>
            <a:ext cx="9247505" cy="4114165"/>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sym typeface="+mn-ea"/>
              </a:rPr>
              <a:t>3.9 </a:t>
            </a:r>
            <a:r>
              <a:rPr lang="zh-CN" altLang="en-US" dirty="0">
                <a:sym typeface="+mn-ea"/>
              </a:rPr>
              <a:t>软件设计文档</a:t>
            </a: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zh-CN"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详细设计的复审</a:t>
            </a:r>
          </a:p>
        </p:txBody>
      </p:sp>
      <p:sp>
        <p:nvSpPr>
          <p:cNvPr id="3" name="文本框 2"/>
          <p:cNvSpPr txBox="1"/>
          <p:nvPr/>
        </p:nvSpPr>
        <p:spPr>
          <a:xfrm>
            <a:off x="1468120" y="2667000"/>
            <a:ext cx="6799580" cy="2862322"/>
          </a:xfrm>
          <a:prstGeom prst="rect">
            <a:avLst/>
          </a:prstGeom>
          <a:noFill/>
          <a:ln w="9525">
            <a:noFill/>
          </a:ln>
        </p:spPr>
        <p:txBody>
          <a:bodyPr wrap="square">
            <a:spAutoFit/>
          </a:bodyPr>
          <a:lstStyle/>
          <a:p>
            <a:pPr marL="0" indent="0" algn="l" fontAlgn="auto"/>
            <a:r>
              <a:rPr lang="en-US" altLang="zh-CN" sz="2000" b="0" u="none" dirty="0">
                <a:latin typeface="宋体" panose="02010600030101010101" pitchFamily="2" charset="-122"/>
                <a:ea typeface="宋体" panose="02010600030101010101" pitchFamily="2" charset="-122"/>
                <a:cs typeface="宋体" panose="02010600030101010101" pitchFamily="2" charset="-122"/>
              </a:rPr>
              <a:t>    </a:t>
            </a:r>
            <a:r>
              <a:rPr lang="zh-CN" altLang="en-US" sz="2000" b="0" u="none" dirty="0">
                <a:latin typeface="宋体" panose="02010600030101010101" pitchFamily="2" charset="-122"/>
                <a:ea typeface="宋体" panose="02010600030101010101" pitchFamily="2" charset="-122"/>
                <a:cs typeface="宋体" panose="02010600030101010101" pitchFamily="2" charset="-122"/>
              </a:rPr>
              <a:t>软件的详细设计完成后，必须从软件的正确性和可维护性两个方面，对它的逻辑、数据结构和界面等进行审查。</a:t>
            </a:r>
          </a:p>
          <a:p>
            <a:r>
              <a:rPr lang="zh-CN" altLang="en-US" sz="2000" b="0" u="none" dirty="0">
                <a:latin typeface="宋体" panose="02010600030101010101" pitchFamily="2" charset="-122"/>
                <a:ea typeface="宋体" panose="02010600030101010101" pitchFamily="2" charset="-122"/>
                <a:cs typeface="宋体" panose="02010600030101010101" pitchFamily="2" charset="-122"/>
              </a:rPr>
              <a:t>    详细设计的复查可用下列形式之一完成。</a:t>
            </a:r>
            <a:endParaRPr lang="zh-CN" altLang="en-US" sz="2000" b="0" u="none" dirty="0">
              <a:solidFill>
                <a:srgbClr val="7F00E4"/>
              </a:solidFill>
              <a:latin typeface="Wingdings" panose="05000000000000000000" charset="0"/>
              <a:ea typeface="Wingdings" panose="05000000000000000000" charset="0"/>
              <a:cs typeface="Wingdings" panose="05000000000000000000" charset="0"/>
            </a:endParaRPr>
          </a:p>
          <a:p>
            <a:r>
              <a:rPr lang="en-US" altLang="zh-CN" sz="2000" b="0" u="none" dirty="0">
                <a:solidFill>
                  <a:srgbClr val="7F00E4"/>
                </a:solidFill>
                <a:latin typeface="Wingdings" panose="05000000000000000000" charset="0"/>
                <a:ea typeface="Wingdings" panose="05000000000000000000" charset="0"/>
                <a:cs typeface="Wingdings" panose="05000000000000000000" charset="0"/>
              </a:rPr>
              <a:t>Ø </a:t>
            </a:r>
            <a:r>
              <a:rPr lang="zh-CN" altLang="en-US" sz="2000" b="0" u="none" dirty="0">
                <a:latin typeface="宋体" panose="02010600030101010101" pitchFamily="2" charset="-122"/>
                <a:ea typeface="宋体" panose="02010600030101010101" pitchFamily="2" charset="-122"/>
                <a:cs typeface="宋体" panose="02010600030101010101" pitchFamily="2" charset="-122"/>
              </a:rPr>
              <a:t>设计者和设计组的另一成员一起进行静态检查。</a:t>
            </a:r>
            <a:endParaRPr lang="zh-CN" altLang="en-US" sz="2000" b="0" u="none" dirty="0">
              <a:solidFill>
                <a:srgbClr val="7F00E4"/>
              </a:solidFill>
              <a:latin typeface="Wingdings" panose="05000000000000000000" charset="0"/>
              <a:ea typeface="Wingdings" panose="05000000000000000000" charset="0"/>
              <a:cs typeface="Wingdings" panose="05000000000000000000" charset="0"/>
            </a:endParaRPr>
          </a:p>
          <a:p>
            <a:r>
              <a:rPr lang="en-US" altLang="zh-CN" sz="2000" b="0" u="none" dirty="0">
                <a:solidFill>
                  <a:srgbClr val="7F00E4"/>
                </a:solidFill>
                <a:latin typeface="Wingdings" panose="05000000000000000000" charset="0"/>
                <a:ea typeface="Wingdings" panose="05000000000000000000" charset="0"/>
                <a:cs typeface="Wingdings" panose="05000000000000000000" charset="0"/>
              </a:rPr>
              <a:t>Ø </a:t>
            </a:r>
            <a:r>
              <a:rPr lang="zh-CN" altLang="en-US" sz="2000" b="0" u="none" dirty="0">
                <a:latin typeface="宋体" panose="02010600030101010101" pitchFamily="2" charset="-122"/>
                <a:ea typeface="宋体" panose="02010600030101010101" pitchFamily="2" charset="-122"/>
                <a:cs typeface="宋体" panose="02010600030101010101" pitchFamily="2" charset="-122"/>
              </a:rPr>
              <a:t>由检查小组进行较正式的软件结构设计检查。</a:t>
            </a:r>
            <a:endParaRPr lang="zh-CN" altLang="en-US" sz="2000" b="0" u="none" dirty="0">
              <a:solidFill>
                <a:srgbClr val="7F00E4"/>
              </a:solidFill>
              <a:latin typeface="Wingdings" panose="05000000000000000000" charset="0"/>
              <a:ea typeface="Wingdings" panose="05000000000000000000" charset="0"/>
              <a:cs typeface="Wingdings" panose="05000000000000000000" charset="0"/>
            </a:endParaRPr>
          </a:p>
          <a:p>
            <a:r>
              <a:rPr lang="en-US" altLang="zh-CN" sz="2000" b="0" u="none" dirty="0">
                <a:solidFill>
                  <a:srgbClr val="7F00E4"/>
                </a:solidFill>
                <a:latin typeface="Wingdings" panose="05000000000000000000" charset="0"/>
                <a:ea typeface="Wingdings" panose="05000000000000000000" charset="0"/>
                <a:cs typeface="Wingdings" panose="05000000000000000000" charset="0"/>
              </a:rPr>
              <a:t>Ø </a:t>
            </a:r>
            <a:r>
              <a:rPr lang="zh-CN" altLang="en-US" sz="2000" b="0" u="none" dirty="0">
                <a:latin typeface="宋体" panose="02010600030101010101" pitchFamily="2" charset="-122"/>
                <a:ea typeface="宋体" panose="02010600030101010101" pitchFamily="2" charset="-122"/>
                <a:cs typeface="宋体" panose="02010600030101010101" pitchFamily="2" charset="-122"/>
              </a:rPr>
              <a:t>由检查小组进行正式的设计检查，对软件设计质量给出评价。</a:t>
            </a:r>
          </a:p>
          <a:p>
            <a:r>
              <a:rPr lang="zh-CN" altLang="en-US" sz="2000" b="0" u="none" dirty="0">
                <a:latin typeface="宋体" panose="02010600030101010101" pitchFamily="2" charset="-122"/>
                <a:ea typeface="宋体" panose="02010600030101010101" pitchFamily="2" charset="-122"/>
                <a:cs typeface="宋体" panose="02010600030101010101" pitchFamily="2" charset="-122"/>
              </a:rPr>
              <a:t>    实践证明，正式的详细设计复审工作，发现设计方面错误的作用与软件测试同样有效，并且发现设计错误更加容易。</a:t>
            </a:r>
            <a:endParaRPr lang="zh-CN" altLang="en-US" sz="2000" dirty="0"/>
          </a:p>
        </p:txBody>
      </p:sp>
      <p:pic>
        <p:nvPicPr>
          <p:cNvPr id="456711" name="图片 6"/>
          <p:cNvPicPr>
            <a:picLocks noChangeAspect="1"/>
          </p:cNvPicPr>
          <p:nvPr/>
        </p:nvPicPr>
        <p:blipFill>
          <a:blip r:embed="rId2" cstate="print">
            <a:clrChange>
              <a:clrFrom>
                <a:srgbClr val="FFFFFF"/>
              </a:clrFrom>
              <a:clrTo>
                <a:srgbClr val="FFFFFF">
                  <a:alpha val="0"/>
                </a:srgbClr>
              </a:clrTo>
            </a:clrChange>
          </a:blip>
          <a:stretch>
            <a:fillRect/>
          </a:stretch>
        </p:blipFill>
        <p:spPr>
          <a:xfrm>
            <a:off x="7842885" y="1907540"/>
            <a:ext cx="3902075" cy="3901440"/>
          </a:xfrm>
          <a:prstGeom prst="rect">
            <a:avLst/>
          </a:prstGeom>
          <a:noFill/>
          <a:ln w="9525">
            <a:noFill/>
          </a:ln>
        </p:spPr>
      </p:pic>
      <p:sp>
        <p:nvSpPr>
          <p:cNvPr id="7" name="文本框 32"/>
          <p:cNvSpPr txBox="1"/>
          <p:nvPr/>
        </p:nvSpPr>
        <p:spPr>
          <a:xfrm>
            <a:off x="768967" y="2494280"/>
            <a:ext cx="461665" cy="2850515"/>
          </a:xfrm>
          <a:prstGeom prst="rect">
            <a:avLst/>
          </a:prstGeom>
          <a:noFill/>
        </p:spPr>
        <p:txBody>
          <a:bodyPr vert="eaVert" wrap="square" rtlCol="0">
            <a:spAutoFit/>
          </a:bodyPr>
          <a:lstStyle/>
          <a:p>
            <a:pPr algn="l"/>
            <a:r>
              <a:rPr lang="en-US" altLang="zh-CN" spc="160" dirty="0">
                <a:solidFill>
                  <a:schemeClr val="bg1"/>
                </a:solidFill>
                <a:latin typeface="微软雅黑" panose="020B0503020204020204" charset="-122"/>
                <a:ea typeface="微软雅黑" panose="020B0503020204020204" charset="-122"/>
              </a:rPr>
              <a:t>3.9.3   </a:t>
            </a:r>
            <a:r>
              <a:rPr lang="zh-CN" altLang="en-US" spc="160" dirty="0">
                <a:solidFill>
                  <a:schemeClr val="bg1"/>
                </a:solidFill>
                <a:latin typeface="微软雅黑" panose="020B0503020204020204" charset="-122"/>
                <a:ea typeface="微软雅黑" panose="020B0503020204020204" charset="-122"/>
              </a:rPr>
              <a:t>详细设计说明书</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sym typeface="+mn-ea"/>
              </a:rPr>
              <a:t>3.9 </a:t>
            </a:r>
            <a:r>
              <a:rPr lang="zh-CN" altLang="en-US" dirty="0">
                <a:sym typeface="+mn-ea"/>
              </a:rPr>
              <a:t>软件设计文档</a:t>
            </a: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zh-CN"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操作手册</a:t>
            </a:r>
          </a:p>
        </p:txBody>
      </p:sp>
      <p:sp>
        <p:nvSpPr>
          <p:cNvPr id="33" name="文本框 32"/>
          <p:cNvSpPr txBox="1"/>
          <p:nvPr/>
        </p:nvSpPr>
        <p:spPr>
          <a:xfrm>
            <a:off x="768967" y="2494280"/>
            <a:ext cx="461665" cy="2850515"/>
          </a:xfrm>
          <a:prstGeom prst="rect">
            <a:avLst/>
          </a:prstGeom>
          <a:noFill/>
        </p:spPr>
        <p:txBody>
          <a:bodyPr vert="eaVert" wrap="square" rtlCol="0">
            <a:spAutoFit/>
          </a:bodyPr>
          <a:lstStyle/>
          <a:p>
            <a:pPr algn="l"/>
            <a:r>
              <a:rPr lang="en-US" altLang="zh-CN" spc="160" dirty="0">
                <a:solidFill>
                  <a:schemeClr val="bg1"/>
                </a:solidFill>
                <a:latin typeface="微软雅黑" panose="020B0503020204020204" charset="-122"/>
                <a:ea typeface="微软雅黑" panose="020B0503020204020204" charset="-122"/>
              </a:rPr>
              <a:t>3.9.4   </a:t>
            </a:r>
            <a:r>
              <a:rPr lang="zh-CN" altLang="en-US" spc="160" dirty="0">
                <a:solidFill>
                  <a:schemeClr val="bg1"/>
                </a:solidFill>
                <a:latin typeface="微软雅黑" panose="020B0503020204020204" charset="-122"/>
                <a:ea typeface="微软雅黑" panose="020B0503020204020204" charset="-122"/>
              </a:rPr>
              <a:t>操作手册的编写</a:t>
            </a:r>
          </a:p>
        </p:txBody>
      </p:sp>
      <p:pic>
        <p:nvPicPr>
          <p:cNvPr id="5" name="图片 4" descr="QQ截图20170117132745"/>
          <p:cNvPicPr>
            <a:picLocks noChangeAspect="1"/>
          </p:cNvPicPr>
          <p:nvPr/>
        </p:nvPicPr>
        <p:blipFill>
          <a:blip r:embed="rId2" cstate="print"/>
          <a:stretch>
            <a:fillRect/>
          </a:stretch>
        </p:blipFill>
        <p:spPr>
          <a:xfrm>
            <a:off x="1531620" y="2212340"/>
            <a:ext cx="10058400" cy="3718560"/>
          </a:xfrm>
          <a:prstGeom prst="rect">
            <a:avLst/>
          </a:prstGeom>
        </p:spPr>
      </p:pic>
    </p:spTree>
  </p:cSld>
  <p:clrMapOvr>
    <a:masterClrMapping/>
  </p:clrMapOvr>
  <p:transition>
    <p:wedge/>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sym typeface="+mn-ea"/>
              </a:rPr>
              <a:t>3.9 </a:t>
            </a:r>
            <a:r>
              <a:rPr lang="zh-CN" altLang="en-US" dirty="0">
                <a:sym typeface="+mn-ea"/>
              </a:rPr>
              <a:t>软件设计文档</a:t>
            </a: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zh-CN"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本章小结</a:t>
            </a:r>
          </a:p>
        </p:txBody>
      </p:sp>
      <p:sp>
        <p:nvSpPr>
          <p:cNvPr id="100" name="文本框 99"/>
          <p:cNvSpPr txBox="1"/>
          <p:nvPr/>
        </p:nvSpPr>
        <p:spPr>
          <a:xfrm>
            <a:off x="1605915" y="2120900"/>
            <a:ext cx="9529445" cy="4010025"/>
          </a:xfrm>
          <a:prstGeom prst="rect">
            <a:avLst/>
          </a:prstGeom>
          <a:noFill/>
          <a:ln w="9525">
            <a:noFill/>
          </a:ln>
        </p:spPr>
        <p:txBody>
          <a:bodyPr wrap="square">
            <a:spAutoFit/>
          </a:bodyPr>
          <a:lstStyle/>
          <a:p>
            <a:pPr marL="285750" indent="-285750" algn="l" fontAlgn="auto">
              <a:lnSpc>
                <a:spcPct val="130000"/>
              </a:lnSpc>
              <a:buClrTx/>
              <a:buFont typeface="Wingdings" panose="05000000000000000000" charset="0"/>
              <a:buChar char="Ø"/>
            </a:pPr>
            <a:r>
              <a:rPr lang="zh-CN" altLang="en-US" b="0" u="none">
                <a:latin typeface="宋体" panose="02010600030101010101" pitchFamily="2" charset="-122"/>
                <a:ea typeface="宋体" panose="02010600030101010101" pitchFamily="2" charset="-122"/>
                <a:cs typeface="宋体" panose="02010600030101010101" pitchFamily="2" charset="-122"/>
              </a:rPr>
              <a:t>概要设计阶段通常完成</a:t>
            </a:r>
            <a:r>
              <a:rPr lang="zh-CN" altLang="en-US" b="0" u="none">
                <a:solidFill>
                  <a:schemeClr val="accent3">
                    <a:lumMod val="50000"/>
                  </a:schemeClr>
                </a:solidFill>
                <a:latin typeface="宋体" panose="02010600030101010101" pitchFamily="2" charset="-122"/>
                <a:ea typeface="宋体" panose="02010600030101010101" pitchFamily="2" charset="-122"/>
                <a:cs typeface="宋体" panose="02010600030101010101" pitchFamily="2" charset="-122"/>
              </a:rPr>
              <a:t>确定设计方案</a:t>
            </a:r>
            <a:r>
              <a:rPr lang="zh-CN" altLang="en-US" b="0" u="none">
                <a:latin typeface="宋体" panose="02010600030101010101" pitchFamily="2" charset="-122"/>
                <a:ea typeface="宋体" panose="02010600030101010101" pitchFamily="2" charset="-122"/>
                <a:cs typeface="宋体" panose="02010600030101010101" pitchFamily="2" charset="-122"/>
              </a:rPr>
              <a:t>和</a:t>
            </a:r>
            <a:r>
              <a:rPr lang="zh-CN" altLang="en-US" b="0" u="none">
                <a:solidFill>
                  <a:schemeClr val="accent3">
                    <a:lumMod val="50000"/>
                  </a:schemeClr>
                </a:solidFill>
                <a:latin typeface="宋体" panose="02010600030101010101" pitchFamily="2" charset="-122"/>
                <a:ea typeface="宋体" panose="02010600030101010101" pitchFamily="2" charset="-122"/>
                <a:cs typeface="宋体" panose="02010600030101010101" pitchFamily="2" charset="-122"/>
              </a:rPr>
              <a:t>进行软件结构设计</a:t>
            </a:r>
            <a:r>
              <a:rPr lang="zh-CN" altLang="en-US" b="0" u="none">
                <a:latin typeface="宋体" panose="02010600030101010101" pitchFamily="2" charset="-122"/>
                <a:ea typeface="宋体" panose="02010600030101010101" pitchFamily="2" charset="-122"/>
                <a:cs typeface="宋体" panose="02010600030101010101" pitchFamily="2" charset="-122"/>
              </a:rPr>
              <a:t>两个任务。</a:t>
            </a:r>
          </a:p>
          <a:p>
            <a:pPr marL="285750" indent="-285750" algn="l" fontAlgn="auto">
              <a:lnSpc>
                <a:spcPct val="130000"/>
              </a:lnSpc>
              <a:buClrTx/>
              <a:buFont typeface="Wingdings" panose="05000000000000000000" charset="0"/>
              <a:buChar char="Ø"/>
            </a:pPr>
            <a:r>
              <a:rPr lang="zh-CN" altLang="en-US" b="0" u="none">
                <a:latin typeface="宋体" panose="02010600030101010101" pitchFamily="2" charset="-122"/>
                <a:ea typeface="宋体" panose="02010600030101010101" pitchFamily="2" charset="-122"/>
                <a:cs typeface="宋体" panose="02010600030101010101" pitchFamily="2" charset="-122"/>
              </a:rPr>
              <a:t>详细设计阶段主要完成</a:t>
            </a:r>
            <a:r>
              <a:rPr lang="en-US" altLang="zh-CN" b="0" u="none">
                <a:latin typeface="宋体" panose="02010600030101010101" pitchFamily="2" charset="-122"/>
                <a:ea typeface="宋体" panose="02010600030101010101" pitchFamily="2" charset="-122"/>
                <a:cs typeface="宋体" panose="02010600030101010101" pitchFamily="2" charset="-122"/>
              </a:rPr>
              <a:t>3</a:t>
            </a:r>
            <a:r>
              <a:rPr lang="zh-CN" altLang="en-US" b="0" u="none">
                <a:latin typeface="宋体" panose="02010600030101010101" pitchFamily="2" charset="-122"/>
                <a:ea typeface="宋体" panose="02010600030101010101" pitchFamily="2" charset="-122"/>
                <a:cs typeface="宋体" panose="02010600030101010101" pitchFamily="2" charset="-122"/>
              </a:rPr>
              <a:t>个任务：</a:t>
            </a:r>
            <a:r>
              <a:rPr lang="zh-CN" altLang="en-US" b="0" u="none">
                <a:solidFill>
                  <a:srgbClr val="0070C0"/>
                </a:solidFill>
                <a:latin typeface="宋体" panose="02010600030101010101" pitchFamily="2" charset="-122"/>
                <a:ea typeface="宋体" panose="02010600030101010101" pitchFamily="2" charset="-122"/>
                <a:cs typeface="宋体" panose="02010600030101010101" pitchFamily="2" charset="-122"/>
              </a:rPr>
              <a:t>过程设计、接口设计和数据设计</a:t>
            </a:r>
            <a:r>
              <a:rPr lang="zh-CN" altLang="en-US" b="0" u="none">
                <a:latin typeface="宋体" panose="02010600030101010101" pitchFamily="2" charset="-122"/>
                <a:ea typeface="宋体" panose="02010600030101010101" pitchFamily="2" charset="-122"/>
                <a:cs typeface="宋体" panose="02010600030101010101" pitchFamily="2" charset="-122"/>
              </a:rPr>
              <a:t>。</a:t>
            </a:r>
          </a:p>
          <a:p>
            <a:pPr marL="285750" indent="-285750" algn="l" fontAlgn="auto">
              <a:lnSpc>
                <a:spcPct val="130000"/>
              </a:lnSpc>
              <a:buClrTx/>
              <a:buFont typeface="Wingdings" panose="05000000000000000000" charset="0"/>
              <a:buChar char="Ø"/>
            </a:pPr>
            <a:r>
              <a:rPr lang="zh-CN" altLang="en-US" b="0" u="none">
                <a:latin typeface="宋体" panose="02010600030101010101" pitchFamily="2" charset="-122"/>
                <a:ea typeface="宋体" panose="02010600030101010101" pitchFamily="2" charset="-122"/>
                <a:cs typeface="宋体" panose="02010600030101010101" pitchFamily="2" charset="-122"/>
              </a:rPr>
              <a:t>软件结构化设计的基本要点如下：</a:t>
            </a:r>
            <a:r>
              <a:rPr lang="zh-CN" altLang="en-US" b="0" u="none">
                <a:solidFill>
                  <a:srgbClr val="00B050"/>
                </a:solidFill>
                <a:latin typeface="宋体" panose="02010600030101010101" pitchFamily="2" charset="-122"/>
                <a:ea typeface="宋体" panose="02010600030101010101" pitchFamily="2" charset="-122"/>
                <a:cs typeface="宋体" panose="02010600030101010101" pitchFamily="2" charset="-122"/>
              </a:rPr>
              <a:t>软件系统由层次结构的模块构成；模块是单入口、单出口的；模块构造和联结的基本准则是模块独立；软件系统结构用图来描述</a:t>
            </a:r>
            <a:r>
              <a:rPr lang="zh-CN" altLang="en-US" b="0" u="none">
                <a:latin typeface="宋体" panose="02010600030101010101" pitchFamily="2" charset="-122"/>
                <a:ea typeface="宋体" panose="02010600030101010101" pitchFamily="2" charset="-122"/>
                <a:cs typeface="宋体" panose="02010600030101010101" pitchFamily="2" charset="-122"/>
              </a:rPr>
              <a:t>。</a:t>
            </a:r>
          </a:p>
          <a:p>
            <a:pPr marL="285750" indent="-285750" algn="l" fontAlgn="auto">
              <a:lnSpc>
                <a:spcPct val="130000"/>
              </a:lnSpc>
              <a:buClrTx/>
              <a:buFont typeface="Wingdings" panose="05000000000000000000" charset="0"/>
              <a:buChar char="Ø"/>
            </a:pPr>
            <a:r>
              <a:rPr lang="zh-CN" altLang="en-US" b="0" u="none">
                <a:latin typeface="宋体" panose="02010600030101010101" pitchFamily="2" charset="-122"/>
                <a:ea typeface="宋体" panose="02010600030101010101" pitchFamily="2" charset="-122"/>
                <a:cs typeface="宋体" panose="02010600030101010101" pitchFamily="2" charset="-122"/>
              </a:rPr>
              <a:t>软件结构设计的基本原理为：</a:t>
            </a:r>
            <a:r>
              <a:rPr lang="zh-CN" altLang="en-US" b="0" u="none">
                <a:solidFill>
                  <a:srgbClr val="C00000"/>
                </a:solidFill>
                <a:latin typeface="宋体" panose="02010600030101010101" pitchFamily="2" charset="-122"/>
                <a:ea typeface="宋体" panose="02010600030101010101" pitchFamily="2" charset="-122"/>
                <a:cs typeface="宋体" panose="02010600030101010101" pitchFamily="2" charset="-122"/>
              </a:rPr>
              <a:t>软件的模块化，模块独立性，抽象和逐步求精，信息隐蔽和局部化</a:t>
            </a:r>
            <a:r>
              <a:rPr lang="zh-CN" altLang="en-US" b="0" u="none">
                <a:latin typeface="宋体" panose="02010600030101010101" pitchFamily="2" charset="-122"/>
                <a:ea typeface="宋体" panose="02010600030101010101" pitchFamily="2" charset="-122"/>
                <a:cs typeface="宋体" panose="02010600030101010101" pitchFamily="2" charset="-122"/>
              </a:rPr>
              <a:t>等。</a:t>
            </a:r>
          </a:p>
          <a:p>
            <a:pPr marL="285750" indent="-285750" algn="l" fontAlgn="auto">
              <a:lnSpc>
                <a:spcPct val="130000"/>
              </a:lnSpc>
              <a:buClrTx/>
              <a:buFont typeface="Wingdings" panose="05000000000000000000" charset="0"/>
              <a:buChar char="Ø"/>
            </a:pPr>
            <a:r>
              <a:rPr lang="zh-CN" altLang="en-US" b="0" u="none">
                <a:latin typeface="宋体" panose="02010600030101010101" pitchFamily="2" charset="-122"/>
                <a:ea typeface="宋体" panose="02010600030101010101" pitchFamily="2" charset="-122"/>
                <a:cs typeface="宋体" panose="02010600030101010101" pitchFamily="2" charset="-122"/>
              </a:rPr>
              <a:t>评价模块分割好坏的标准主要有</a:t>
            </a:r>
            <a:r>
              <a:rPr lang="en-US" altLang="zh-CN" b="0" u="none">
                <a:latin typeface="宋体" panose="02010600030101010101" pitchFamily="2" charset="-122"/>
                <a:ea typeface="宋体" panose="02010600030101010101" pitchFamily="2" charset="-122"/>
                <a:cs typeface="宋体" panose="02010600030101010101" pitchFamily="2" charset="-122"/>
              </a:rPr>
              <a:t>4</a:t>
            </a:r>
            <a:r>
              <a:rPr lang="zh-CN" altLang="en-US" b="0" u="none">
                <a:latin typeface="宋体" panose="02010600030101010101" pitchFamily="2" charset="-122"/>
                <a:ea typeface="宋体" panose="02010600030101010101" pitchFamily="2" charset="-122"/>
                <a:cs typeface="宋体" panose="02010600030101010101" pitchFamily="2" charset="-122"/>
              </a:rPr>
              <a:t>个方面：</a:t>
            </a:r>
            <a:r>
              <a:rPr lang="zh-CN" altLang="en-US" b="0" u="none">
                <a:solidFill>
                  <a:srgbClr val="C00000"/>
                </a:solidFill>
                <a:latin typeface="宋体" panose="02010600030101010101" pitchFamily="2" charset="-122"/>
                <a:ea typeface="宋体" panose="02010600030101010101" pitchFamily="2" charset="-122"/>
                <a:cs typeface="宋体" panose="02010600030101010101" pitchFamily="2" charset="-122"/>
              </a:rPr>
              <a:t>模块的大小</a:t>
            </a:r>
            <a:r>
              <a:rPr lang="zh-CN" altLang="en-US" b="0" u="none">
                <a:latin typeface="宋体" panose="02010600030101010101" pitchFamily="2" charset="-122"/>
                <a:ea typeface="宋体" panose="02010600030101010101" pitchFamily="2" charset="-122"/>
                <a:cs typeface="宋体" panose="02010600030101010101" pitchFamily="2" charset="-122"/>
              </a:rPr>
              <a:t>；</a:t>
            </a:r>
            <a:r>
              <a:rPr lang="zh-CN" altLang="en-US" b="0" u="none">
                <a:solidFill>
                  <a:srgbClr val="C00000"/>
                </a:solidFill>
                <a:latin typeface="宋体" panose="02010600030101010101" pitchFamily="2" charset="-122"/>
                <a:ea typeface="宋体" panose="02010600030101010101" pitchFamily="2" charset="-122"/>
                <a:cs typeface="宋体" panose="02010600030101010101" pitchFamily="2" charset="-122"/>
              </a:rPr>
              <a:t>模块之间的联系程度</a:t>
            </a:r>
            <a:r>
              <a:rPr lang="en-US" altLang="zh-CN" b="0" u="none">
                <a:solidFill>
                  <a:srgbClr val="C00000"/>
                </a:solidFill>
                <a:latin typeface="宋体" panose="02010600030101010101" pitchFamily="2" charset="-122"/>
                <a:ea typeface="宋体" panose="02010600030101010101" pitchFamily="2" charset="-122"/>
                <a:cs typeface="宋体" panose="02010600030101010101" pitchFamily="2" charset="-122"/>
              </a:rPr>
              <a:t>——</a:t>
            </a:r>
            <a:r>
              <a:rPr lang="zh-CN" altLang="en-US" b="0" u="none">
                <a:solidFill>
                  <a:srgbClr val="C00000"/>
                </a:solidFill>
                <a:latin typeface="宋体" panose="02010600030101010101" pitchFamily="2" charset="-122"/>
                <a:ea typeface="宋体" panose="02010600030101010101" pitchFamily="2" charset="-122"/>
                <a:cs typeface="宋体" panose="02010600030101010101" pitchFamily="2" charset="-122"/>
              </a:rPr>
              <a:t>耦合</a:t>
            </a:r>
            <a:r>
              <a:rPr lang="zh-CN" altLang="en-US" b="0" u="none">
                <a:latin typeface="宋体" panose="02010600030101010101" pitchFamily="2" charset="-122"/>
                <a:ea typeface="宋体" panose="02010600030101010101" pitchFamily="2" charset="-122"/>
                <a:cs typeface="宋体" panose="02010600030101010101" pitchFamily="2" charset="-122"/>
              </a:rPr>
              <a:t>，尽量使用数据耦合，少用控制耦合和特征耦合，不采用内容耦合，控制公共环境耦合；</a:t>
            </a:r>
            <a:r>
              <a:rPr lang="zh-CN" altLang="en-US" b="0" u="none">
                <a:solidFill>
                  <a:srgbClr val="C00000"/>
                </a:solidFill>
                <a:latin typeface="宋体" panose="02010600030101010101" pitchFamily="2" charset="-122"/>
                <a:ea typeface="宋体" panose="02010600030101010101" pitchFamily="2" charset="-122"/>
                <a:cs typeface="宋体" panose="02010600030101010101" pitchFamily="2" charset="-122"/>
              </a:rPr>
              <a:t>模块内元素的联系程度</a:t>
            </a:r>
            <a:r>
              <a:rPr lang="en-US" altLang="zh-CN" b="0" u="none">
                <a:solidFill>
                  <a:srgbClr val="C00000"/>
                </a:solidFill>
                <a:latin typeface="宋体" panose="02010600030101010101" pitchFamily="2" charset="-122"/>
                <a:ea typeface="宋体" panose="02010600030101010101" pitchFamily="2" charset="-122"/>
                <a:cs typeface="宋体" panose="02010600030101010101" pitchFamily="2" charset="-122"/>
              </a:rPr>
              <a:t>——</a:t>
            </a:r>
            <a:r>
              <a:rPr lang="zh-CN" altLang="en-US" b="0" u="none">
                <a:solidFill>
                  <a:srgbClr val="C00000"/>
                </a:solidFill>
                <a:latin typeface="宋体" panose="02010600030101010101" pitchFamily="2" charset="-122"/>
                <a:ea typeface="宋体" panose="02010600030101010101" pitchFamily="2" charset="-122"/>
                <a:cs typeface="宋体" panose="02010600030101010101" pitchFamily="2" charset="-122"/>
              </a:rPr>
              <a:t>内聚</a:t>
            </a:r>
            <a:r>
              <a:rPr lang="zh-CN" altLang="en-US" b="0" u="none">
                <a:latin typeface="宋体" panose="02010600030101010101" pitchFamily="2" charset="-122"/>
                <a:ea typeface="宋体" panose="02010600030101010101" pitchFamily="2" charset="-122"/>
                <a:cs typeface="宋体" panose="02010600030101010101" pitchFamily="2" charset="-122"/>
              </a:rPr>
              <a:t>，内聚按紧密程度从高到低排列，次序为功能内聚、顺序内聚、通信内聚、过程内聚、时间内聚、逻辑内聚、偶然内聚；</a:t>
            </a:r>
            <a:r>
              <a:rPr lang="zh-CN" altLang="en-US" b="0" u="none">
                <a:solidFill>
                  <a:srgbClr val="C00000"/>
                </a:solidFill>
                <a:latin typeface="宋体" panose="02010600030101010101" pitchFamily="2" charset="-122"/>
                <a:ea typeface="宋体" panose="02010600030101010101" pitchFamily="2" charset="-122"/>
                <a:cs typeface="宋体" panose="02010600030101010101" pitchFamily="2" charset="-122"/>
              </a:rPr>
              <a:t>模块信息的隐蔽程度</a:t>
            </a:r>
            <a:r>
              <a:rPr lang="zh-CN" altLang="en-US" b="0" u="none">
                <a:latin typeface="宋体" panose="02010600030101010101" pitchFamily="2" charset="-122"/>
                <a:ea typeface="宋体" panose="02010600030101010101" pitchFamily="2" charset="-122"/>
                <a:cs typeface="宋体" panose="02010600030101010101" pitchFamily="2" charset="-122"/>
              </a:rPr>
              <a:t>。</a:t>
            </a:r>
          </a:p>
          <a:p>
            <a:endParaRPr lang="zh-CN" altLang="en-US"/>
          </a:p>
        </p:txBody>
      </p:sp>
      <p:sp>
        <p:nvSpPr>
          <p:cNvPr id="6" name="文本框 32"/>
          <p:cNvSpPr txBox="1"/>
          <p:nvPr/>
        </p:nvSpPr>
        <p:spPr>
          <a:xfrm>
            <a:off x="768969" y="3132944"/>
            <a:ext cx="461665" cy="2211852"/>
          </a:xfrm>
          <a:prstGeom prst="rect">
            <a:avLst/>
          </a:prstGeom>
          <a:noFill/>
        </p:spPr>
        <p:txBody>
          <a:bodyPr vert="eaVert" wrap="square" rtlCol="0">
            <a:spAutoFit/>
          </a:bodyPr>
          <a:lstStyle/>
          <a:p>
            <a:pPr algn="l"/>
            <a:r>
              <a:rPr lang="zh-CN" altLang="en-US" spc="160" dirty="0">
                <a:solidFill>
                  <a:schemeClr val="bg1"/>
                </a:solidFill>
                <a:latin typeface="微软雅黑" panose="020B0503020204020204" charset="-122"/>
                <a:ea typeface="微软雅黑" panose="020B0503020204020204" charset="-122"/>
              </a:rPr>
              <a:t>本章小结</a:t>
            </a:r>
          </a:p>
        </p:txBody>
      </p:sp>
    </p:spTree>
  </p:cSld>
  <p:clrMapOvr>
    <a:masterClrMapping/>
  </p:clrMapOvr>
  <p:transition>
    <p:wedge/>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00" y="360000"/>
            <a:ext cx="8415337" cy="480131"/>
          </a:xfrm>
        </p:spPr>
        <p:txBody>
          <a:bodyPr/>
          <a:lstStyle/>
          <a:p>
            <a:r>
              <a:rPr lang="en-US" altLang="zh-CN" dirty="0">
                <a:sym typeface="+mn-ea"/>
              </a:rPr>
              <a:t>3.9 </a:t>
            </a:r>
            <a:r>
              <a:rPr lang="zh-CN" altLang="en-US" dirty="0">
                <a:sym typeface="+mn-ea"/>
              </a:rPr>
              <a:t>软件设计文档</a:t>
            </a:r>
          </a:p>
        </p:txBody>
      </p:sp>
      <p:sp>
        <p:nvSpPr>
          <p:cNvPr id="32" name="矩形 3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zh-CN"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本章小结</a:t>
            </a:r>
          </a:p>
        </p:txBody>
      </p:sp>
      <p:sp>
        <p:nvSpPr>
          <p:cNvPr id="33" name="文本框 32"/>
          <p:cNvSpPr txBox="1"/>
          <p:nvPr/>
        </p:nvSpPr>
        <p:spPr>
          <a:xfrm>
            <a:off x="768969" y="3132944"/>
            <a:ext cx="461665" cy="2211852"/>
          </a:xfrm>
          <a:prstGeom prst="rect">
            <a:avLst/>
          </a:prstGeom>
          <a:noFill/>
        </p:spPr>
        <p:txBody>
          <a:bodyPr vert="eaVert" wrap="square" rtlCol="0">
            <a:spAutoFit/>
          </a:bodyPr>
          <a:lstStyle/>
          <a:p>
            <a:pPr algn="l"/>
            <a:r>
              <a:rPr lang="zh-CN" altLang="en-US" spc="160" dirty="0">
                <a:solidFill>
                  <a:schemeClr val="bg1"/>
                </a:solidFill>
                <a:latin typeface="微软雅黑" panose="020B0503020204020204" charset="-122"/>
                <a:ea typeface="微软雅黑" panose="020B0503020204020204" charset="-122"/>
              </a:rPr>
              <a:t>本章小结</a:t>
            </a:r>
          </a:p>
        </p:txBody>
      </p:sp>
      <p:sp>
        <p:nvSpPr>
          <p:cNvPr id="100" name="文本框 99"/>
          <p:cNvSpPr txBox="1"/>
          <p:nvPr/>
        </p:nvSpPr>
        <p:spPr>
          <a:xfrm>
            <a:off x="1529715" y="2342515"/>
            <a:ext cx="9529445" cy="3429000"/>
          </a:xfrm>
          <a:prstGeom prst="rect">
            <a:avLst/>
          </a:prstGeom>
          <a:noFill/>
          <a:ln w="9525">
            <a:noFill/>
          </a:ln>
        </p:spPr>
        <p:txBody>
          <a:bodyPr wrap="square">
            <a:spAutoFit/>
          </a:bodyPr>
          <a:lstStyle/>
          <a:p>
            <a:pPr marL="285750" indent="-285750" algn="l" fontAlgn="auto">
              <a:lnSpc>
                <a:spcPct val="130000"/>
              </a:lnSpc>
              <a:buClrTx/>
              <a:buFont typeface="Wingdings" panose="05000000000000000000" charset="0"/>
              <a:buChar char="Ø"/>
            </a:pPr>
            <a:r>
              <a:rPr lang="zh-CN" altLang="en-US">
                <a:latin typeface="宋体" panose="02010600030101010101" pitchFamily="2" charset="-122"/>
                <a:ea typeface="宋体" panose="02010600030101010101" pitchFamily="2" charset="-122"/>
                <a:cs typeface="宋体" panose="02010600030101010101" pitchFamily="2" charset="-122"/>
                <a:sym typeface="+mn-ea"/>
              </a:rPr>
              <a:t>模块设计的启发式规则如下：</a:t>
            </a:r>
            <a:r>
              <a:rPr lang="zh-CN" altLang="en-US">
                <a:solidFill>
                  <a:srgbClr val="00B050"/>
                </a:solidFill>
                <a:latin typeface="宋体" panose="02010600030101010101" pitchFamily="2" charset="-122"/>
                <a:ea typeface="宋体" panose="02010600030101010101" pitchFamily="2" charset="-122"/>
                <a:cs typeface="宋体" panose="02010600030101010101" pitchFamily="2" charset="-122"/>
                <a:sym typeface="+mn-ea"/>
              </a:rPr>
              <a:t>尽力提高模块独立性；注意模块的可靠性、通用性、可维护性、简单性；模块应大小适中；模块的深度、宽度、扇出和扇入要适当。通常顶层扇出比较大，中间扇出较小，下层调用公共模块。</a:t>
            </a:r>
          </a:p>
          <a:p>
            <a:pPr marL="285750" indent="-285750" algn="l" fontAlgn="auto">
              <a:lnSpc>
                <a:spcPct val="130000"/>
              </a:lnSpc>
              <a:buClrTx/>
              <a:buFont typeface="Wingdings" panose="05000000000000000000" charset="0"/>
              <a:buChar char="Ø"/>
            </a:pPr>
            <a:r>
              <a:rPr lang="zh-CN" altLang="en-US">
                <a:latin typeface="宋体" panose="02010600030101010101" pitchFamily="2" charset="-122"/>
                <a:ea typeface="宋体" panose="02010600030101010101" pitchFamily="2" charset="-122"/>
                <a:cs typeface="宋体" panose="02010600030101010101" pitchFamily="2" charset="-122"/>
                <a:sym typeface="+mn-ea"/>
              </a:rPr>
              <a:t>进行软件系统结构设计需描绘系统模块的层次结构，可采用层次图、</a:t>
            </a:r>
            <a:r>
              <a:rPr lang="en-US" altLang="zh-CN">
                <a:latin typeface="宋体" panose="02010600030101010101" pitchFamily="2" charset="-122"/>
                <a:ea typeface="宋体" panose="02010600030101010101" pitchFamily="2" charset="-122"/>
                <a:cs typeface="宋体" panose="02010600030101010101" pitchFamily="2" charset="-122"/>
                <a:sym typeface="+mn-ea"/>
              </a:rPr>
              <a:t>HIPO</a:t>
            </a:r>
            <a:r>
              <a:rPr lang="zh-CN" altLang="en-US">
                <a:latin typeface="宋体" panose="02010600030101010101" pitchFamily="2" charset="-122"/>
                <a:ea typeface="宋体" panose="02010600030101010101" pitchFamily="2" charset="-122"/>
                <a:cs typeface="宋体" panose="02010600030101010101" pitchFamily="2" charset="-122"/>
                <a:sym typeface="+mn-ea"/>
              </a:rPr>
              <a:t>图和结构图。</a:t>
            </a:r>
          </a:p>
          <a:p>
            <a:pPr marL="285750" indent="-285750" algn="l" fontAlgn="auto">
              <a:lnSpc>
                <a:spcPct val="130000"/>
              </a:lnSpc>
              <a:buClrTx/>
              <a:buFont typeface="Wingdings" panose="05000000000000000000" charset="0"/>
              <a:buChar char="Ø"/>
            </a:pPr>
            <a:r>
              <a:rPr lang="zh-CN" altLang="en-US">
                <a:latin typeface="宋体" panose="02010600030101010101" pitchFamily="2" charset="-122"/>
                <a:ea typeface="宋体" panose="02010600030101010101" pitchFamily="2" charset="-122"/>
                <a:cs typeface="宋体" panose="02010600030101010101" pitchFamily="2" charset="-122"/>
                <a:sym typeface="+mn-ea"/>
              </a:rPr>
              <a:t>对于交互式软件系统来说，</a:t>
            </a:r>
            <a:r>
              <a:rPr lang="zh-CN" altLang="en-US">
                <a:solidFill>
                  <a:srgbClr val="00B050"/>
                </a:solidFill>
                <a:latin typeface="宋体" panose="02010600030101010101" pitchFamily="2" charset="-122"/>
                <a:ea typeface="宋体" panose="02010600030101010101" pitchFamily="2" charset="-122"/>
                <a:cs typeface="宋体" panose="02010600030101010101" pitchFamily="2" charset="-122"/>
                <a:sym typeface="+mn-ea"/>
              </a:rPr>
              <a:t>用户界面设计是接口设计的一个组成部分</a:t>
            </a:r>
            <a:r>
              <a:rPr lang="zh-CN" altLang="en-US">
                <a:latin typeface="宋体" panose="02010600030101010101" pitchFamily="2" charset="-122"/>
                <a:ea typeface="宋体" panose="02010600030101010101" pitchFamily="2" charset="-122"/>
                <a:cs typeface="宋体" panose="02010600030101010101" pitchFamily="2" charset="-122"/>
                <a:sym typeface="+mn-ea"/>
              </a:rPr>
              <a:t>。用户界面设计的质量直接影响用户对软件产品的评价，因此应对用户界面设计给予足够的重视。</a:t>
            </a:r>
          </a:p>
          <a:p>
            <a:pPr marL="285750" indent="-285750" algn="l" fontAlgn="auto">
              <a:lnSpc>
                <a:spcPct val="130000"/>
              </a:lnSpc>
              <a:buClrTx/>
              <a:buFont typeface="Wingdings" panose="05000000000000000000" charset="0"/>
              <a:buChar char="Ø"/>
            </a:pPr>
            <a:r>
              <a:rPr lang="zh-CN" altLang="en-US">
                <a:latin typeface="宋体" panose="02010600030101010101" pitchFamily="2" charset="-122"/>
                <a:ea typeface="宋体" panose="02010600030101010101" pitchFamily="2" charset="-122"/>
                <a:cs typeface="宋体" panose="02010600030101010101" pitchFamily="2" charset="-122"/>
                <a:sym typeface="+mn-ea"/>
              </a:rPr>
              <a:t>详细设计阶段使用的工具有：</a:t>
            </a:r>
            <a:r>
              <a:rPr lang="zh-CN" altLang="en-US">
                <a:solidFill>
                  <a:srgbClr val="C00000"/>
                </a:solidFill>
                <a:latin typeface="宋体" panose="02010600030101010101" pitchFamily="2" charset="-122"/>
                <a:ea typeface="宋体" panose="02010600030101010101" pitchFamily="2" charset="-122"/>
                <a:cs typeface="宋体" panose="02010600030101010101" pitchFamily="2" charset="-122"/>
                <a:sym typeface="+mn-ea"/>
              </a:rPr>
              <a:t>流程图、盒图（</a:t>
            </a:r>
            <a:r>
              <a:rPr lang="en-US" altLang="zh-CN">
                <a:solidFill>
                  <a:srgbClr val="C00000"/>
                </a:solidFill>
                <a:latin typeface="宋体" panose="02010600030101010101" pitchFamily="2" charset="-122"/>
                <a:ea typeface="宋体" panose="02010600030101010101" pitchFamily="2" charset="-122"/>
                <a:cs typeface="宋体" panose="02010600030101010101" pitchFamily="2" charset="-122"/>
                <a:sym typeface="+mn-ea"/>
              </a:rPr>
              <a:t>N-S</a:t>
            </a:r>
            <a:r>
              <a:rPr lang="zh-CN" altLang="en-US">
                <a:solidFill>
                  <a:srgbClr val="C00000"/>
                </a:solidFill>
                <a:latin typeface="宋体" panose="02010600030101010101" pitchFamily="2" charset="-122"/>
                <a:ea typeface="宋体" panose="02010600030101010101" pitchFamily="2" charset="-122"/>
                <a:cs typeface="宋体" panose="02010600030101010101" pitchFamily="2" charset="-122"/>
                <a:sym typeface="+mn-ea"/>
              </a:rPr>
              <a:t>图）、问题分析图（</a:t>
            </a:r>
            <a:r>
              <a:rPr lang="en-US" altLang="zh-CN">
                <a:solidFill>
                  <a:srgbClr val="C00000"/>
                </a:solidFill>
                <a:latin typeface="Times New Roman" panose="02020603050405020304" charset="0"/>
                <a:ea typeface="Times New Roman" panose="02020603050405020304" charset="0"/>
                <a:cs typeface="Times New Roman" panose="02020603050405020304" charset="0"/>
                <a:sym typeface="+mn-ea"/>
              </a:rPr>
              <a:t>PAD</a:t>
            </a:r>
            <a:r>
              <a:rPr lang="zh-CN" altLang="en-US">
                <a:solidFill>
                  <a:srgbClr val="C00000"/>
                </a:solidFill>
                <a:latin typeface="宋体" panose="02010600030101010101" pitchFamily="2" charset="-122"/>
                <a:ea typeface="宋体" panose="02010600030101010101" pitchFamily="2" charset="-122"/>
                <a:cs typeface="宋体" panose="02010600030101010101" pitchFamily="2" charset="-122"/>
                <a:sym typeface="+mn-ea"/>
              </a:rPr>
              <a:t>图）、判定表、判定树、过程设计语言（</a:t>
            </a:r>
            <a:r>
              <a:rPr lang="en-US" altLang="zh-CN">
                <a:solidFill>
                  <a:srgbClr val="C00000"/>
                </a:solidFill>
                <a:latin typeface="Times New Roman" panose="02020603050405020304" charset="0"/>
                <a:ea typeface="Times New Roman" panose="02020603050405020304" charset="0"/>
                <a:cs typeface="Times New Roman" panose="02020603050405020304" charset="0"/>
                <a:sym typeface="+mn-ea"/>
              </a:rPr>
              <a:t>PDL</a:t>
            </a:r>
            <a:r>
              <a:rPr lang="zh-CN" altLang="en-US">
                <a:solidFill>
                  <a:srgbClr val="C00000"/>
                </a:solidFill>
                <a:latin typeface="宋体" panose="02010600030101010101" pitchFamily="2" charset="-122"/>
                <a:ea typeface="宋体" panose="02010600030101010101" pitchFamily="2" charset="-122"/>
                <a:cs typeface="宋体" panose="02010600030101010101" pitchFamily="2" charset="-122"/>
                <a:sym typeface="+mn-ea"/>
              </a:rPr>
              <a:t>）等。</a:t>
            </a:r>
          </a:p>
          <a:p>
            <a:pPr marL="285750" indent="-285750" algn="l" fontAlgn="auto"/>
            <a:endParaRPr lang="zh-CN" altLang="en-US" sz="1600" b="0" u="none">
              <a:latin typeface="宋体" panose="02010600030101010101" pitchFamily="2" charset="-122"/>
              <a:ea typeface="宋体" panose="02010600030101010101" pitchFamily="2" charset="-122"/>
              <a:cs typeface="宋体" panose="02010600030101010101" pitchFamily="2" charset="-122"/>
            </a:endParaRPr>
          </a:p>
          <a:p>
            <a:endParaRPr lang="zh-CN" altLang="en-US" sz="1600"/>
          </a:p>
        </p:txBody>
      </p:sp>
    </p:spTree>
  </p:cSld>
  <p:clrMapOvr>
    <a:masterClrMapping/>
  </p:clrMapOvr>
  <p:transition>
    <p:wedge/>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randomBar dir="vert"/>
  </p:transition>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96"/>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96"/>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90*i*0"/>
  <p:tag name="KSO_WM_TEMPLATE_CATEGORY" val="custom"/>
  <p:tag name="KSO_WM_TEMPLATE_INDEX" val="160596"/>
  <p:tag name="KSO_WM_UNIT_INDEX" val="0"/>
</p:tagLst>
</file>

<file path=ppt/tags/tag4.xml><?xml version="1.0" encoding="utf-8"?>
<p:tagLst xmlns:a="http://schemas.openxmlformats.org/drawingml/2006/main" xmlns:r="http://schemas.openxmlformats.org/officeDocument/2006/relationships" xmlns:p="http://schemas.openxmlformats.org/presentationml/2006/main">
  <p:tag name="MH" val="20150911154116"/>
  <p:tag name="MH_LIBRARY" val="GRAPHIC"/>
  <p:tag name="MH_ORDER" val="矩形 2"/>
</p:tagLst>
</file>

<file path=ppt/tags/tag5.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2"/>
</p:tagLst>
</file>

<file path=ppt/tags/tag6.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3"/>
</p:tagLst>
</file>

<file path=ppt/tags/tag7.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4"/>
</p:tagLst>
</file>

<file path=ppt/tags/tag8.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6"/>
</p:tagLst>
</file>

<file path=ppt/tags/tag9.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7"/>
</p:tagLst>
</file>

<file path=ppt/tags/tag10.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8"/>
</p:tagLst>
</file>

<file path=ppt/tags/tag11.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9"/>
</p:tagLst>
</file>

<file path=ppt/tags/tag12.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0"/>
</p:tagLst>
</file>

<file path=ppt/tags/tag13.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1"/>
</p:tagLst>
</file>

<file path=ppt/tags/tag14.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2"/>
</p:tagLst>
</file>

<file path=ppt/tags/tag15.xml><?xml version="1.0" encoding="utf-8"?>
<p:tagLst xmlns:a="http://schemas.openxmlformats.org/drawingml/2006/main" xmlns:r="http://schemas.openxmlformats.org/officeDocument/2006/relationships" xmlns:p="http://schemas.openxmlformats.org/presentationml/2006/main">
  <p:tag name="MH_TYPE" val="#NeiR#"/>
  <p:tag name="MH_NUMBER" val="1"/>
  <p:tag name="MH_CATEGORY" val="#TuWHP#"/>
  <p:tag name="MH_LAYOUT" val="SubTitleText"/>
  <p:tag name="MH" val="20161213152808"/>
  <p:tag name="MH_LIBRARY" val="GRAPHIC"/>
</p:tagLst>
</file>

<file path=ppt/tags/tag16.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Picture"/>
  <p:tag name="MH_ORDER" val="1"/>
</p:tagLst>
</file>

<file path=ppt/tags/tag17.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Text"/>
  <p:tag name="MH_ORDER" val="1"/>
</p:tagLst>
</file>

<file path=ppt/tags/tag18.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2"/>
</p:tagLst>
</file>

<file path=ppt/tags/tag19.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3"/>
</p:tagLst>
</file>

<file path=ppt/tags/tag20.xml><?xml version="1.0" encoding="utf-8"?>
<p:tagLst xmlns:a="http://schemas.openxmlformats.org/drawingml/2006/main" xmlns:r="http://schemas.openxmlformats.org/officeDocument/2006/relationships" xmlns:p="http://schemas.openxmlformats.org/presentationml/2006/main">
  <p:tag name="MH" val="20161213153337"/>
  <p:tag name="MH_LIBRARY" val="GRAPHIC"/>
</p:tagLst>
</file>

<file path=ppt/tags/tag2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Text Box 20"/>
</p:tagLst>
</file>

<file path=ppt/tags/tag23.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文本框 20"/>
</p:tagLst>
</file>

<file path=ppt/tags/tag24.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2"/>
</p:tagLst>
</file>

<file path=ppt/tags/tag25.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4"/>
</p:tagLst>
</file>

<file path=ppt/tags/tag26.xml><?xml version="1.0" encoding="utf-8"?>
<p:tagLst xmlns:a="http://schemas.openxmlformats.org/drawingml/2006/main" xmlns:r="http://schemas.openxmlformats.org/officeDocument/2006/relationships" xmlns:p="http://schemas.openxmlformats.org/presentationml/2006/main">
  <p:tag name="MH" val="20161213153337"/>
  <p:tag name="MH_LIBRARY" val="GRAPHIC"/>
</p:tagLst>
</file>

<file path=ppt/tags/tag27.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8.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Text Box 20"/>
</p:tagLst>
</file>

<file path=ppt/tags/tag2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文本框 20"/>
</p:tagLst>
</file>

<file path=ppt/tags/tag30.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2"/>
</p:tagLst>
</file>

<file path=ppt/tags/tag3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4"/>
</p:tagLst>
</file>

<file path=ppt/tags/tag3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33.xml><?xml version="1.0" encoding="utf-8"?>
<p:tagLst xmlns:a="http://schemas.openxmlformats.org/drawingml/2006/main" xmlns:r="http://schemas.openxmlformats.org/officeDocument/2006/relationships" xmlns:p="http://schemas.openxmlformats.org/presentationml/2006/main">
  <p:tag name="MH" val="20170326200837"/>
  <p:tag name="MH_LIBRARY" val="GRAPHIC"/>
  <p:tag name="MH_TYPE" val="Other"/>
  <p:tag name="MH_ORDER" val="1"/>
</p:tagLst>
</file>

<file path=ppt/tags/tag34.xml><?xml version="1.0" encoding="utf-8"?>
<p:tagLst xmlns:a="http://schemas.openxmlformats.org/drawingml/2006/main" xmlns:r="http://schemas.openxmlformats.org/officeDocument/2006/relationships" xmlns:p="http://schemas.openxmlformats.org/presentationml/2006/main">
  <p:tag name="MH" val="20170326200837"/>
  <p:tag name="MH_LIBRARY" val="GRAPHIC"/>
  <p:tag name="MH_TYPE" val="Other"/>
  <p:tag name="MH_ORDER" val="2"/>
</p:tagLst>
</file>

<file path=ppt/tags/tag35.xml><?xml version="1.0" encoding="utf-8"?>
<p:tagLst xmlns:a="http://schemas.openxmlformats.org/drawingml/2006/main" xmlns:r="http://schemas.openxmlformats.org/officeDocument/2006/relationships" xmlns:p="http://schemas.openxmlformats.org/presentationml/2006/main">
  <p:tag name="MH" val="20170326200837"/>
  <p:tag name="MH_LIBRARY" val="GRAPHIC"/>
  <p:tag name="MH_TYPE" val="Other"/>
  <p:tag name="MH_ORDER" val="3"/>
</p:tagLst>
</file>

<file path=ppt/tags/tag36.xml><?xml version="1.0" encoding="utf-8"?>
<p:tagLst xmlns:a="http://schemas.openxmlformats.org/drawingml/2006/main" xmlns:r="http://schemas.openxmlformats.org/officeDocument/2006/relationships" xmlns:p="http://schemas.openxmlformats.org/presentationml/2006/main">
  <p:tag name="MH" val="20170326200837"/>
  <p:tag name="MH_LIBRARY" val="GRAPHIC"/>
  <p:tag name="MH_TYPE" val="Other"/>
  <p:tag name="MH_ORDER" val="4"/>
</p:tagLst>
</file>

<file path=ppt/tags/tag37.xml><?xml version="1.0" encoding="utf-8"?>
<p:tagLst xmlns:a="http://schemas.openxmlformats.org/drawingml/2006/main" xmlns:r="http://schemas.openxmlformats.org/officeDocument/2006/relationships" xmlns:p="http://schemas.openxmlformats.org/presentationml/2006/main">
  <p:tag name="MH" val="20170326200837"/>
  <p:tag name="MH_LIBRARY" val="GRAPHIC"/>
  <p:tag name="MH_TYPE" val="Other"/>
  <p:tag name="MH_ORDER" val="5"/>
</p:tagLst>
</file>

<file path=ppt/tags/tag38.xml><?xml version="1.0" encoding="utf-8"?>
<p:tagLst xmlns:a="http://schemas.openxmlformats.org/drawingml/2006/main" xmlns:r="http://schemas.openxmlformats.org/officeDocument/2006/relationships" xmlns:p="http://schemas.openxmlformats.org/presentationml/2006/main">
  <p:tag name="MH" val="20170326200837"/>
  <p:tag name="MH_LIBRARY" val="GRAPHIC"/>
  <p:tag name="MH_TYPE" val="Other"/>
  <p:tag name="MH_ORDER" val="6"/>
</p:tagLst>
</file>

<file path=ppt/tags/tag39.xml><?xml version="1.0" encoding="utf-8"?>
<p:tagLst xmlns:a="http://schemas.openxmlformats.org/drawingml/2006/main" xmlns:r="http://schemas.openxmlformats.org/officeDocument/2006/relationships" xmlns:p="http://schemas.openxmlformats.org/presentationml/2006/main">
  <p:tag name="MH" val="20170326200837"/>
  <p:tag name="MH_LIBRARY" val="GRAPHIC"/>
  <p:tag name="MH_TYPE" val="Other"/>
  <p:tag name="MH_ORDER" val="7"/>
</p:tagLst>
</file>

<file path=ppt/tags/tag40.xml><?xml version="1.0" encoding="utf-8"?>
<p:tagLst xmlns:a="http://schemas.openxmlformats.org/drawingml/2006/main" xmlns:r="http://schemas.openxmlformats.org/officeDocument/2006/relationships" xmlns:p="http://schemas.openxmlformats.org/presentationml/2006/main">
  <p:tag name="MH" val="20170326200837"/>
  <p:tag name="MH_LIBRARY" val="GRAPHIC"/>
  <p:tag name="MH_TYPE" val="Title"/>
  <p:tag name="MH_ORDER" val="1"/>
</p:tagLst>
</file>

<file path=ppt/tags/tag41.xml><?xml version="1.0" encoding="utf-8"?>
<p:tagLst xmlns:a="http://schemas.openxmlformats.org/drawingml/2006/main" xmlns:r="http://schemas.openxmlformats.org/officeDocument/2006/relationships" xmlns:p="http://schemas.openxmlformats.org/presentationml/2006/main">
  <p:tag name="MH" val="20170326200837"/>
  <p:tag name="MH_LIBRARY" val="GRAPHIC"/>
  <p:tag name="MH_TYPE" val="SubTitle"/>
  <p:tag name="MH_ORDER" val="1"/>
</p:tagLst>
</file>

<file path=ppt/tags/tag42.xml><?xml version="1.0" encoding="utf-8"?>
<p:tagLst xmlns:a="http://schemas.openxmlformats.org/drawingml/2006/main" xmlns:r="http://schemas.openxmlformats.org/officeDocument/2006/relationships" xmlns:p="http://schemas.openxmlformats.org/presentationml/2006/main">
  <p:tag name="MH" val="20170326200837"/>
  <p:tag name="MH_LIBRARY" val="GRAPHIC"/>
  <p:tag name="MH_TYPE" val="SubTitle"/>
  <p:tag name="MH_ORDER" val="2"/>
</p:tagLst>
</file>

<file path=ppt/tags/tag43.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1"/>
</p:tagLst>
</file>

<file path=ppt/tags/tag44.xml><?xml version="1.0" encoding="utf-8"?>
<p:tagLst xmlns:a="http://schemas.openxmlformats.org/drawingml/2006/main" xmlns:r="http://schemas.openxmlformats.org/officeDocument/2006/relationships" xmlns:p="http://schemas.openxmlformats.org/presentationml/2006/main">
  <p:tag name="MH" val="20170326201313"/>
  <p:tag name="MH_LIBRARY" val="GRAPHIC"/>
  <p:tag name="MH_TYPE" val="Title"/>
  <p:tag name="MH_ORDER" val="1"/>
</p:tagLst>
</file>

<file path=ppt/tags/tag45.xml><?xml version="1.0" encoding="utf-8"?>
<p:tagLst xmlns:a="http://schemas.openxmlformats.org/drawingml/2006/main" xmlns:r="http://schemas.openxmlformats.org/officeDocument/2006/relationships" xmlns:p="http://schemas.openxmlformats.org/presentationml/2006/main">
  <p:tag name="MH" val="20170326201313"/>
  <p:tag name="MH_LIBRARY" val="GRAPHIC"/>
  <p:tag name="MH_TYPE" val="Other"/>
  <p:tag name="MH_ORDER" val="1"/>
</p:tagLst>
</file>

<file path=ppt/tags/tag46.xml><?xml version="1.0" encoding="utf-8"?>
<p:tagLst xmlns:a="http://schemas.openxmlformats.org/drawingml/2006/main" xmlns:r="http://schemas.openxmlformats.org/officeDocument/2006/relationships" xmlns:p="http://schemas.openxmlformats.org/presentationml/2006/main">
  <p:tag name="MH" val="20170326201313"/>
  <p:tag name="MH_LIBRARY" val="GRAPHIC"/>
  <p:tag name="MH_TYPE" val="Other"/>
  <p:tag name="MH_ORDER" val="2"/>
</p:tagLst>
</file>

<file path=ppt/tags/tag47.xml><?xml version="1.0" encoding="utf-8"?>
<p:tagLst xmlns:a="http://schemas.openxmlformats.org/drawingml/2006/main" xmlns:r="http://schemas.openxmlformats.org/officeDocument/2006/relationships" xmlns:p="http://schemas.openxmlformats.org/presentationml/2006/main">
  <p:tag name="MH" val="20170326201313"/>
  <p:tag name="MH_LIBRARY" val="GRAPHIC"/>
  <p:tag name="MH_TYPE" val="Other"/>
  <p:tag name="MH_ORDER" val="3"/>
</p:tagLst>
</file>

<file path=ppt/tags/tag48.xml><?xml version="1.0" encoding="utf-8"?>
<p:tagLst xmlns:a="http://schemas.openxmlformats.org/drawingml/2006/main" xmlns:r="http://schemas.openxmlformats.org/officeDocument/2006/relationships" xmlns:p="http://schemas.openxmlformats.org/presentationml/2006/main">
  <p:tag name="MH" val="20170326201313"/>
  <p:tag name="MH_LIBRARY" val="GRAPHIC"/>
  <p:tag name="MH_TYPE" val="Text"/>
  <p:tag name="MH_ORDER" val="1"/>
</p:tagLst>
</file>

<file path=ppt/tags/tag49.xml><?xml version="1.0" encoding="utf-8"?>
<p:tagLst xmlns:a="http://schemas.openxmlformats.org/drawingml/2006/main" xmlns:r="http://schemas.openxmlformats.org/officeDocument/2006/relationships" xmlns:p="http://schemas.openxmlformats.org/presentationml/2006/main">
  <p:tag name="MH" val="20170326201313"/>
  <p:tag name="MH_LIBRARY" val="GRAPHIC"/>
  <p:tag name="MH_TYPE" val="Other"/>
  <p:tag name="MH_ORDER" val="4"/>
</p:tagLst>
</file>

<file path=ppt/tags/tag50.xml><?xml version="1.0" encoding="utf-8"?>
<p:tagLst xmlns:a="http://schemas.openxmlformats.org/drawingml/2006/main" xmlns:r="http://schemas.openxmlformats.org/officeDocument/2006/relationships" xmlns:p="http://schemas.openxmlformats.org/presentationml/2006/main">
  <p:tag name="MH" val="20170326201313"/>
  <p:tag name="MH_LIBRARY" val="GRAPHIC"/>
  <p:tag name="MH_TYPE" val="Other"/>
  <p:tag name="MH_ORDER" val="5"/>
</p:tagLst>
</file>

<file path=ppt/tags/tag51.xml><?xml version="1.0" encoding="utf-8"?>
<p:tagLst xmlns:a="http://schemas.openxmlformats.org/drawingml/2006/main" xmlns:r="http://schemas.openxmlformats.org/officeDocument/2006/relationships" xmlns:p="http://schemas.openxmlformats.org/presentationml/2006/main">
  <p:tag name="MH" val="20170326201313"/>
  <p:tag name="MH_LIBRARY" val="GRAPHIC"/>
  <p:tag name="MH_TYPE" val="Other"/>
  <p:tag name="MH_ORDER" val="6"/>
</p:tagLst>
</file>

<file path=ppt/tags/tag52.xml><?xml version="1.0" encoding="utf-8"?>
<p:tagLst xmlns:a="http://schemas.openxmlformats.org/drawingml/2006/main" xmlns:r="http://schemas.openxmlformats.org/officeDocument/2006/relationships" xmlns:p="http://schemas.openxmlformats.org/presentationml/2006/main">
  <p:tag name="MH" val="20170326201313"/>
  <p:tag name="MH_LIBRARY" val="GRAPHIC"/>
  <p:tag name="MH_TYPE" val="Text"/>
  <p:tag name="MH_ORDER" val="2"/>
</p:tagLst>
</file>

<file path=ppt/tags/tag53.xml><?xml version="1.0" encoding="utf-8"?>
<p:tagLst xmlns:a="http://schemas.openxmlformats.org/drawingml/2006/main" xmlns:r="http://schemas.openxmlformats.org/officeDocument/2006/relationships" xmlns:p="http://schemas.openxmlformats.org/presentationml/2006/main">
  <p:tag name="MH" val="20170326201313"/>
  <p:tag name="MH_LIBRARY" val="GRAPHIC"/>
  <p:tag name="MH_TYPE" val="Other"/>
  <p:tag name="MH_ORDER" val="7"/>
</p:tagLst>
</file>

<file path=ppt/tags/tag54.xml><?xml version="1.0" encoding="utf-8"?>
<p:tagLst xmlns:a="http://schemas.openxmlformats.org/drawingml/2006/main" xmlns:r="http://schemas.openxmlformats.org/officeDocument/2006/relationships" xmlns:p="http://schemas.openxmlformats.org/presentationml/2006/main">
  <p:tag name="MH" val="20170326201313"/>
  <p:tag name="MH_LIBRARY" val="GRAPHIC"/>
  <p:tag name="MH_TYPE" val="Other"/>
  <p:tag name="MH_ORDER" val="8"/>
</p:tagLst>
</file>

<file path=ppt/tags/tag55.xml><?xml version="1.0" encoding="utf-8"?>
<p:tagLst xmlns:a="http://schemas.openxmlformats.org/drawingml/2006/main" xmlns:r="http://schemas.openxmlformats.org/officeDocument/2006/relationships" xmlns:p="http://schemas.openxmlformats.org/presentationml/2006/main">
  <p:tag name="MH" val="20170326201313"/>
  <p:tag name="MH_LIBRARY" val="GRAPHIC"/>
  <p:tag name="MH_TYPE" val="Other"/>
  <p:tag name="MH_ORDER" val="9"/>
</p:tagLst>
</file>

<file path=ppt/tags/tag56.xml><?xml version="1.0" encoding="utf-8"?>
<p:tagLst xmlns:a="http://schemas.openxmlformats.org/drawingml/2006/main" xmlns:r="http://schemas.openxmlformats.org/officeDocument/2006/relationships" xmlns:p="http://schemas.openxmlformats.org/presentationml/2006/main">
  <p:tag name="MH" val="20170326201313"/>
  <p:tag name="MH_LIBRARY" val="GRAPHIC"/>
  <p:tag name="MH_TYPE" val="Text"/>
  <p:tag name="MH_ORDER" val="3"/>
</p:tagLst>
</file>

<file path=ppt/tags/tag57.xml><?xml version="1.0" encoding="utf-8"?>
<p:tagLst xmlns:a="http://schemas.openxmlformats.org/drawingml/2006/main" xmlns:r="http://schemas.openxmlformats.org/officeDocument/2006/relationships" xmlns:p="http://schemas.openxmlformats.org/presentationml/2006/main">
  <p:tag name="MH" val="20170326201313"/>
  <p:tag name="MH_LIBRARY" val="GRAPHIC"/>
  <p:tag name="MH_TYPE" val="Other"/>
  <p:tag name="MH_ORDER" val="10"/>
</p:tagLst>
</file>

<file path=ppt/tags/tag58.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1"/>
</p:tagLst>
</file>

<file path=ppt/tags/tag59.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1"/>
</p:tagLst>
</file>

<file path=ppt/tags/tag60.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2"/>
</p:tagLst>
</file>

<file path=ppt/tags/tag61.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1"/>
</p:tagLst>
</file>

<file path=ppt/tags/tag62.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1"/>
</p:tagLst>
</file>

<file path=ppt/tags/tag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
  <p:tag name="KSO_WM_UNIT_ID" val="custom160596_70*q_i*1_1"/>
  <p:tag name="KSO_WM_UNIT_LAYERLEVEL" val="1_1"/>
  <p:tag name="KSO_WM_DIAGRAM_GROUP_CODE" val="q1-1"/>
  <p:tag name="KSO_WM_UNIT_LINE_FORE_SCHEMECOLOR_INDEX" val="13"/>
  <p:tag name="KSO_WM_UNIT_LINE_FILL_TYPE" val="2"/>
  <p:tag name="KSO_WM_UNIT_USESOURCEFORMAT_APPLY" val="1"/>
</p:tagLst>
</file>

<file path=ppt/tags/tag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2_1"/>
  <p:tag name="KSO_WM_UNIT_ID" val="custom160596_70*q_h_f*1_2_1"/>
  <p:tag name="KSO_WM_UNIT_LAYERLEVEL" val="1_1_1"/>
  <p:tag name="KSO_WM_UNIT_VALUE" val="24"/>
  <p:tag name="KSO_WM_UNIT_HIGHLIGHT" val="0"/>
  <p:tag name="KSO_WM_UNIT_COMPATIBLE" val="0"/>
  <p:tag name="KSO_WM_UNIT_CLEAR" val="0"/>
  <p:tag name="KSO_WM_UNIT_PRESET_TEXT_INDEX" val="2"/>
  <p:tag name="KSO_WM_UNIT_PRESET_TEXT_LEN" val="20"/>
  <p:tag name="KSO_WM_DIAGRAM_GROUP_CODE" val="q1-1"/>
  <p:tag name="KSO_WM_UNIT_TEXT_FILL_FORE_SCHEMECOLOR_INDEX" val="13"/>
  <p:tag name="KSO_WM_UNIT_TEXT_FILL_TYPE" val="1"/>
  <p:tag name="KSO_WM_UNIT_USESOURCEFORMAT_APPLY" val="1"/>
</p:tagLst>
</file>

<file path=ppt/tags/tag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
  <p:tag name="KSO_WM_UNIT_ID" val="custom160596_70*q_i*1_2"/>
  <p:tag name="KSO_WM_UNIT_LAYERLEVEL" val="1_1"/>
  <p:tag name="KSO_WM_DIAGRAM_GROUP_CODE" val="q1-1"/>
  <p:tag name="KSO_WM_UNIT_LINE_FORE_SCHEMECOLOR_INDEX" val="13"/>
  <p:tag name="KSO_WM_UNIT_LINE_FILL_TYPE" val="2"/>
  <p:tag name="KSO_WM_UNIT_USESOURCEFORMAT_APPLY" val="1"/>
</p:tagLst>
</file>

<file path=ppt/tags/tag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3_1"/>
  <p:tag name="KSO_WM_UNIT_ID" val="custom160596_70*q_h_f*1_3_1"/>
  <p:tag name="KSO_WM_UNIT_LAYERLEVEL" val="1_1_1"/>
  <p:tag name="KSO_WM_UNIT_VALUE" val="24"/>
  <p:tag name="KSO_WM_UNIT_HIGHLIGHT" val="0"/>
  <p:tag name="KSO_WM_UNIT_COMPATIBLE" val="0"/>
  <p:tag name="KSO_WM_UNIT_CLEAR" val="0"/>
  <p:tag name="KSO_WM_UNIT_PRESET_TEXT_INDEX" val="2"/>
  <p:tag name="KSO_WM_UNIT_PRESET_TEXT_LEN" val="20"/>
  <p:tag name="KSO_WM_DIAGRAM_GROUP_CODE" val="q1-1"/>
  <p:tag name="KSO_WM_UNIT_TEXT_FILL_FORE_SCHEMECOLOR_INDEX" val="13"/>
  <p:tag name="KSO_WM_UNIT_TEXT_FILL_TYPE" val="1"/>
  <p:tag name="KSO_WM_UNIT_USESOURCEFORMAT_APPLY" val="1"/>
</p:tagLst>
</file>

<file path=ppt/tags/tag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70*i*4"/>
  <p:tag name="KSO_WM_TEMPLATE_CATEGORY" val="custom"/>
  <p:tag name="KSO_WM_TEMPLATE_INDEX" val="160596"/>
  <p:tag name="KSO_WM_UNIT_INDEX" val="4"/>
</p:tagLst>
</file>

<file path=ppt/tags/tag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4_1"/>
  <p:tag name="KSO_WM_UNIT_ID" val="custom160596_70*q_h_f*1_4_1"/>
  <p:tag name="KSO_WM_UNIT_LAYERLEVEL" val="1_1_1"/>
  <p:tag name="KSO_WM_UNIT_VALUE" val="24"/>
  <p:tag name="KSO_WM_UNIT_HIGHLIGHT" val="0"/>
  <p:tag name="KSO_WM_UNIT_COMPATIBLE" val="0"/>
  <p:tag name="KSO_WM_UNIT_CLEAR" val="0"/>
  <p:tag name="KSO_WM_UNIT_PRESET_TEXT_INDEX" val="2"/>
  <p:tag name="KSO_WM_UNIT_PRESET_TEXT_LEN" val="20"/>
  <p:tag name="KSO_WM_DIAGRAM_GROUP_CODE" val="q1-1"/>
  <p:tag name="KSO_WM_UNIT_TEXT_FILL_FORE_SCHEMECOLOR_INDEX" val="13"/>
  <p:tag name="KSO_WM_UNIT_TEXT_FILL_TYPE" val="1"/>
  <p:tag name="KSO_WM_UNIT_USESOURCEFORMAT_APPLY" val="1"/>
</p:tagLst>
</file>

<file path=ppt/tags/tag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5"/>
  <p:tag name="KSO_WM_UNIT_ID" val="custom160596_70*q_i*1_5"/>
  <p:tag name="KSO_WM_UNIT_LAYERLEVEL" val="1_1"/>
  <p:tag name="KSO_WM_DIAGRAM_GROUP_CODE" val="q1-1"/>
  <p:tag name="KSO_WM_UNIT_LINE_FORE_SCHEMECOLOR_INDEX" val="13"/>
  <p:tag name="KSO_WM_UNIT_LINE_FILL_TYPE" val="2"/>
  <p:tag name="KSO_WM_UNIT_USESOURCEFORMAT_APPLY" val="1"/>
</p:tagLst>
</file>

<file path=ppt/tags/tag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5_1"/>
  <p:tag name="KSO_WM_UNIT_ID" val="custom160596_70*q_h_f*1_5_1"/>
  <p:tag name="KSO_WM_UNIT_LAYERLEVEL" val="1_1_1"/>
  <p:tag name="KSO_WM_UNIT_VALUE" val="24"/>
  <p:tag name="KSO_WM_UNIT_HIGHLIGHT" val="0"/>
  <p:tag name="KSO_WM_UNIT_COMPATIBLE" val="0"/>
  <p:tag name="KSO_WM_UNIT_CLEAR" val="0"/>
  <p:tag name="KSO_WM_UNIT_PRESET_TEXT_INDEX" val="2"/>
  <p:tag name="KSO_WM_UNIT_PRESET_TEXT_LEN" val="20"/>
  <p:tag name="KSO_WM_DIAGRAM_GROUP_CODE" val="q1-1"/>
  <p:tag name="KSO_WM_UNIT_TEXT_FILL_FORE_SCHEMECOLOR_INDEX" val="13"/>
  <p:tag name="KSO_WM_UNIT_TEXT_FILL_TYPE" val="1"/>
  <p:tag name="KSO_WM_UNIT_USESOURCEFORMAT_APPLY" val="1"/>
</p:tagLst>
</file>

<file path=ppt/tags/tag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6"/>
  <p:tag name="KSO_WM_UNIT_ID" val="custom160596_70*q_i*1_6"/>
  <p:tag name="KSO_WM_UNIT_LAYERLEVEL" val="1_1"/>
  <p:tag name="KSO_WM_DIAGRAM_GROUP_CODE" val="q1-1"/>
  <p:tag name="KSO_WM_UNIT_LINE_FORE_SCHEMECOLOR_INDEX" val="13"/>
  <p:tag name="KSO_WM_UNIT_LINE_FILL_TYPE" val="2"/>
  <p:tag name="KSO_WM_UNIT_USESOURCEFORMAT_APPLY" val="1"/>
</p:tagLst>
</file>

<file path=ppt/tags/tag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6_1"/>
  <p:tag name="KSO_WM_UNIT_ID" val="custom160596_70*q_h_f*1_6_1"/>
  <p:tag name="KSO_WM_UNIT_LAYERLEVEL" val="1_1_1"/>
  <p:tag name="KSO_WM_UNIT_VALUE" val="24"/>
  <p:tag name="KSO_WM_UNIT_HIGHLIGHT" val="0"/>
  <p:tag name="KSO_WM_UNIT_COMPATIBLE" val="0"/>
  <p:tag name="KSO_WM_UNIT_CLEAR" val="0"/>
  <p:tag name="KSO_WM_UNIT_PRESET_TEXT_INDEX" val="2"/>
  <p:tag name="KSO_WM_UNIT_PRESET_TEXT_LEN" val="20"/>
  <p:tag name="KSO_WM_DIAGRAM_GROUP_CODE" val="q1-1"/>
  <p:tag name="KSO_WM_UNIT_TEXT_FILL_FORE_SCHEMECOLOR_INDEX" val="13"/>
  <p:tag name="KSO_WM_UNIT_TEXT_FILL_TYPE" val="1"/>
  <p:tag name="KSO_WM_UNIT_USESOURCEFORMAT_APPLY" val="1"/>
</p:tagLst>
</file>

<file path=ppt/tags/tag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70*i*14"/>
  <p:tag name="KSO_WM_TEMPLATE_CATEGORY" val="custom"/>
  <p:tag name="KSO_WM_TEMPLATE_INDEX" val="160596"/>
  <p:tag name="KSO_WM_UNIT_INDEX" val="14"/>
</p:tagLst>
</file>

<file path=ppt/tags/tag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1_1"/>
  <p:tag name="KSO_WM_UNIT_ID" val="custom160596_70*q_h_f*1_1_1"/>
  <p:tag name="KSO_WM_UNIT_LAYERLEVEL" val="1_1_1"/>
  <p:tag name="KSO_WM_UNIT_VALUE" val="20"/>
  <p:tag name="KSO_WM_UNIT_HIGHLIGHT" val="0"/>
  <p:tag name="KSO_WM_UNIT_COMPATIBLE" val="0"/>
  <p:tag name="KSO_WM_UNIT_CLEAR" val="0"/>
  <p:tag name="KSO_WM_UNIT_PRESET_TEXT_INDEX" val="2"/>
  <p:tag name="KSO_WM_UNIT_PRESET_TEXT_LEN" val="20"/>
  <p:tag name="KSO_WM_DIAGRAM_GROUP_CODE" val="q1-1"/>
  <p:tag name="KSO_WM_UNIT_TEXT_FILL_FORE_SCHEMECOLOR_INDEX" val="13"/>
  <p:tag name="KSO_WM_UNIT_TEXT_FILL_TYPE" val="1"/>
  <p:tag name="KSO_WM_UNIT_USESOURCEFORMAT_APPLY" val="1"/>
</p:tagLst>
</file>

<file path=ppt/tags/tag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9"/>
  <p:tag name="KSO_WM_UNIT_ID" val="custom160596_70*q_i*1_9"/>
  <p:tag name="KSO_WM_UNIT_LAYERLEVEL" val="1_1"/>
  <p:tag name="KSO_WM_DIAGRAM_GROUP_CODE" val="q1-1"/>
  <p:tag name="KSO_WM_UNIT_FILL_FORE_SCHEMECOLOR_INDEX" val="6"/>
  <p:tag name="KSO_WM_UNIT_FILL_TYPE" val="1"/>
  <p:tag name="KSO_WM_UNIT_TEXT_FILL_FORE_SCHEMECOLOR_INDEX" val="13"/>
  <p:tag name="KSO_WM_UNIT_TEXT_FILL_TYPE" val="1"/>
  <p:tag name="KSO_WM_UNIT_USESOURCEFORMAT_APPLY" val="1"/>
</p:tagLst>
</file>

<file path=ppt/tags/tag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0"/>
  <p:tag name="KSO_WM_UNIT_ID" val="custom160596_70*q_i*1_10"/>
  <p:tag name="KSO_WM_UNIT_LAYERLEVEL" val="1_1"/>
  <p:tag name="KSO_WM_DIAGRAM_GROUP_CODE" val="q1-1"/>
  <p:tag name="KSO_WM_UNIT_TEXT_FILL_FORE_SCHEMECOLOR_INDEX" val="13"/>
  <p:tag name="KSO_WM_UNIT_TEXT_FILL_TYPE" val="1"/>
  <p:tag name="KSO_WM_UNIT_USESOURCEFORMAT_APPLY" val="1"/>
</p:tagLst>
</file>

<file path=ppt/tags/tag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1"/>
  <p:tag name="KSO_WM_UNIT_ID" val="custom160596_70*q_i*1_11"/>
  <p:tag name="KSO_WM_UNIT_LAYERLEVEL" val="1_1"/>
  <p:tag name="KSO_WM_DIAGRAM_GROUP_CODE" val="q1-1"/>
  <p:tag name="KSO_WM_UNIT_FILL_FORE_SCHEMECOLOR_INDEX" val="7"/>
  <p:tag name="KSO_WM_UNIT_FILL_TYPE" val="1"/>
  <p:tag name="KSO_WM_UNIT_TEXT_FILL_FORE_SCHEMECOLOR_INDEX" val="13"/>
  <p:tag name="KSO_WM_UNIT_TEXT_FILL_TYPE" val="1"/>
  <p:tag name="KSO_WM_UNIT_USESOURCEFORMAT_APPLY" val="1"/>
</p:tagLst>
</file>

<file path=ppt/tags/tag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2"/>
  <p:tag name="KSO_WM_UNIT_ID" val="custom160596_70*q_i*1_12"/>
  <p:tag name="KSO_WM_UNIT_LAYERLEVEL" val="1_1"/>
  <p:tag name="KSO_WM_DIAGRAM_GROUP_CODE" val="q1-1"/>
  <p:tag name="KSO_WM_UNIT_TEXT_FILL_FORE_SCHEMECOLOR_INDEX" val="13"/>
  <p:tag name="KSO_WM_UNIT_TEXT_FILL_TYPE" val="1"/>
  <p:tag name="KSO_WM_UNIT_USESOURCEFORMAT_APPLY" val="1"/>
</p:tagLst>
</file>

<file path=ppt/tags/tag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3"/>
  <p:tag name="KSO_WM_UNIT_ID" val="custom160596_70*q_i*1_13"/>
  <p:tag name="KSO_WM_UNIT_LAYERLEVEL" val="1_1"/>
  <p:tag name="KSO_WM_DIAGRAM_GROUP_CODE" val="q1-1"/>
  <p:tag name="KSO_WM_UNIT_FILL_FORE_SCHEMECOLOR_INDEX" val="7"/>
  <p:tag name="KSO_WM_UNIT_FILL_TYPE" val="1"/>
  <p:tag name="KSO_WM_UNIT_TEXT_FILL_FORE_SCHEMECOLOR_INDEX" val="13"/>
  <p:tag name="KSO_WM_UNIT_TEXT_FILL_TYPE" val="1"/>
  <p:tag name="KSO_WM_UNIT_USESOURCEFORMAT_APPLY" val="1"/>
</p:tagLst>
</file>

<file path=ppt/tags/tag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4"/>
  <p:tag name="KSO_WM_UNIT_ID" val="custom160596_70*q_i*1_14"/>
  <p:tag name="KSO_WM_UNIT_LAYERLEVEL" val="1_1"/>
  <p:tag name="KSO_WM_DIAGRAM_GROUP_CODE" val="q1-1"/>
  <p:tag name="KSO_WM_UNIT_TEXT_FILL_FORE_SCHEMECOLOR_INDEX" val="13"/>
  <p:tag name="KSO_WM_UNIT_TEXT_FILL_TYPE" val="1"/>
  <p:tag name="KSO_WM_UNIT_USESOURCEFORMAT_APPLY" val="1"/>
</p:tagLst>
</file>

<file path=ppt/tags/tag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5"/>
  <p:tag name="KSO_WM_UNIT_ID" val="custom160596_70*q_i*1_15"/>
  <p:tag name="KSO_WM_UNIT_LAYERLEVEL" val="1_1"/>
  <p:tag name="KSO_WM_DIAGRAM_GROUP_CODE" val="q1-1"/>
  <p:tag name="KSO_WM_UNIT_FILL_FORE_SCHEMECOLOR_INDEX" val="7"/>
  <p:tag name="KSO_WM_UNIT_FILL_TYPE" val="1"/>
  <p:tag name="KSO_WM_UNIT_TEXT_FILL_FORE_SCHEMECOLOR_INDEX" val="13"/>
  <p:tag name="KSO_WM_UNIT_TEXT_FILL_TYPE" val="1"/>
  <p:tag name="KSO_WM_UNIT_USESOURCEFORMAT_APPLY" val="1"/>
</p:tagLst>
</file>

<file path=ppt/tags/tag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6"/>
  <p:tag name="KSO_WM_UNIT_ID" val="custom160596_70*q_i*1_16"/>
  <p:tag name="KSO_WM_UNIT_LAYERLEVEL" val="1_1"/>
  <p:tag name="KSO_WM_DIAGRAM_GROUP_CODE" val="q1-1"/>
  <p:tag name="KSO_WM_UNIT_TEXT_FILL_FORE_SCHEMECOLOR_INDEX" val="13"/>
  <p:tag name="KSO_WM_UNIT_TEXT_FILL_TYPE" val="1"/>
  <p:tag name="KSO_WM_UNIT_USESOURCEFORMAT_APPLY" val="1"/>
</p:tagLst>
</file>

<file path=ppt/tags/tag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7"/>
  <p:tag name="KSO_WM_UNIT_ID" val="custom160596_70*q_i*1_17"/>
  <p:tag name="KSO_WM_UNIT_LAYERLEVEL" val="1_1"/>
  <p:tag name="KSO_WM_DIAGRAM_GROUP_CODE" val="q1-1"/>
  <p:tag name="KSO_WM_UNIT_FILL_FORE_SCHEMECOLOR_INDEX" val="6"/>
  <p:tag name="KSO_WM_UNIT_FILL_TYPE" val="1"/>
  <p:tag name="KSO_WM_UNIT_TEXT_FILL_FORE_SCHEMECOLOR_INDEX" val="13"/>
  <p:tag name="KSO_WM_UNIT_TEXT_FILL_TYPE" val="1"/>
  <p:tag name="KSO_WM_UNIT_USESOURCEFORMAT_APPLY" val="1"/>
</p:tagLst>
</file>

<file path=ppt/tags/tag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8"/>
  <p:tag name="KSO_WM_UNIT_ID" val="custom160596_70*q_i*1_18"/>
  <p:tag name="KSO_WM_UNIT_LAYERLEVEL" val="1_1"/>
  <p:tag name="KSO_WM_DIAGRAM_GROUP_CODE" val="q1-1"/>
  <p:tag name="KSO_WM_UNIT_TEXT_FILL_FORE_SCHEMECOLOR_INDEX" val="13"/>
  <p:tag name="KSO_WM_UNIT_TEXT_FILL_TYPE" val="1"/>
  <p:tag name="KSO_WM_UNIT_USESOURCEFORMAT_APPLY" val="1"/>
</p:tagLst>
</file>

<file path=ppt/tags/tag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9"/>
  <p:tag name="KSO_WM_UNIT_ID" val="custom160596_70*q_i*1_19"/>
  <p:tag name="KSO_WM_UNIT_LAYERLEVEL" val="1_1"/>
  <p:tag name="KSO_WM_DIAGRAM_GROUP_CODE" val="q1-1"/>
  <p:tag name="KSO_WM_UNIT_FILL_FORE_SCHEMECOLOR_INDEX" val="6"/>
  <p:tag name="KSO_WM_UNIT_FILL_TYPE" val="1"/>
  <p:tag name="KSO_WM_UNIT_TEXT_FILL_FORE_SCHEMECOLOR_INDEX" val="13"/>
  <p:tag name="KSO_WM_UNIT_TEXT_FILL_TYPE" val="1"/>
  <p:tag name="KSO_WM_UNIT_USESOURCEFORMAT_APPLY" val="1"/>
</p:tagLst>
</file>

<file path=ppt/tags/tag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0"/>
  <p:tag name="KSO_WM_UNIT_ID" val="custom160596_70*q_i*1_20"/>
  <p:tag name="KSO_WM_UNIT_LAYERLEVEL" val="1_1"/>
  <p:tag name="KSO_WM_DIAGRAM_GROUP_CODE" val="q1-1"/>
  <p:tag name="KSO_WM_UNIT_TEXT_FILL_FORE_SCHEMECOLOR_INDEX" val="13"/>
  <p:tag name="KSO_WM_UNIT_TEXT_FILL_TYPE" val="1"/>
  <p:tag name="KSO_WM_UNIT_USESOURCEFORMAT_APPLY" val="1"/>
</p:tagLst>
</file>

<file path=ppt/tags/tag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1"/>
  <p:tag name="KSO_WM_UNIT_ID" val="custom160596_70*q_i*1_21"/>
  <p:tag name="KSO_WM_UNIT_LAYERLEVEL" val="1_1"/>
  <p:tag name="KSO_WM_DIAGRAM_GROUP_CODE" val="q1-1"/>
  <p:tag name="KSO_WM_UNIT_FILL_FORE_SCHEMECOLOR_INDEX" val="5"/>
  <p:tag name="KSO_WM_UNIT_FILL_TYPE" val="1"/>
  <p:tag name="KSO_WM_UNIT_TEXT_FILL_FORE_SCHEMECOLOR_INDEX" val="13"/>
  <p:tag name="KSO_WM_UNIT_TEXT_FILL_TYPE" val="1"/>
  <p:tag name="KSO_WM_UNIT_USESOURCEFORMAT_APPLY" val="1"/>
</p:tagLst>
</file>

<file path=ppt/tags/tag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70*i*33"/>
  <p:tag name="KSO_WM_TEMPLATE_CATEGORY" val="custom"/>
  <p:tag name="KSO_WM_TEMPLATE_INDEX" val="160596"/>
  <p:tag name="KSO_WM_UNIT_INDEX" val="33"/>
</p:tagLst>
</file>

<file path=ppt/tags/tag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2"/>
  <p:tag name="KSO_WM_UNIT_ID" val="custom160596_70*q_i*1_22"/>
  <p:tag name="KSO_WM_UNIT_LAYERLEVEL" val="1_1"/>
  <p:tag name="KSO_WM_DIAGRAM_GROUP_CODE" val="q1-1"/>
  <p:tag name="KSO_WM_UNIT_FILL_FORE_SCHEMECOLOR_INDEX" val="14"/>
  <p:tag name="KSO_WM_UNIT_FILL_TYPE" val="1"/>
  <p:tag name="KSO_WM_UNIT_TEXT_FILL_FORE_SCHEMECOLOR_INDEX" val="13"/>
  <p:tag name="KSO_WM_UNIT_TEXT_FILL_TYPE" val="1"/>
  <p:tag name="KSO_WM_UNIT_USESOURCEFORMAT_APPLY" val="1"/>
</p:tagLst>
</file>

<file path=ppt/tags/tag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3"/>
  <p:tag name="KSO_WM_UNIT_ID" val="custom160596_70*q_i*1_23"/>
  <p:tag name="KSO_WM_UNIT_LAYERLEVEL" val="1_1"/>
  <p:tag name="KSO_WM_DIAGRAM_GROUP_CODE" val="q1-1"/>
  <p:tag name="KSO_WM_UNIT_FILL_FORE_SCHEMECOLOR_INDEX" val="14"/>
  <p:tag name="KSO_WM_UNIT_FILL_TYPE" val="1"/>
  <p:tag name="KSO_WM_UNIT_TEXT_FILL_FORE_SCHEMECOLOR_INDEX" val="13"/>
  <p:tag name="KSO_WM_UNIT_TEXT_FILL_TYPE" val="1"/>
  <p:tag name="KSO_WM_UNIT_USESOURCEFORMAT_APPLY" val="1"/>
</p:tagLst>
</file>

<file path=ppt/tags/tag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4"/>
  <p:tag name="KSO_WM_UNIT_ID" val="custom160596_70*q_i*1_24"/>
  <p:tag name="KSO_WM_UNIT_LAYERLEVEL" val="1_1"/>
  <p:tag name="KSO_WM_DIAGRAM_GROUP_CODE" val="q1-1"/>
  <p:tag name="KSO_WM_UNIT_FILL_FORE_SCHEMECOLOR_INDEX" val="14"/>
  <p:tag name="KSO_WM_UNIT_FILL_TYPE" val="1"/>
  <p:tag name="KSO_WM_UNIT_TEXT_FILL_FORE_SCHEMECOLOR_INDEX" val="13"/>
  <p:tag name="KSO_WM_UNIT_TEXT_FILL_TYPE" val="1"/>
  <p:tag name="KSO_WM_UNIT_USESOURCEFORMAT_APPLY" val="1"/>
</p:tagLst>
</file>

<file path=ppt/tags/tag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5"/>
  <p:tag name="KSO_WM_UNIT_ID" val="custom160596_70*q_i*1_25"/>
  <p:tag name="KSO_WM_UNIT_LAYERLEVEL" val="1_1"/>
  <p:tag name="KSO_WM_DIAGRAM_GROUP_CODE" val="q1-1"/>
  <p:tag name="KSO_WM_UNIT_FILL_FORE_SCHEMECOLOR_INDEX" val="14"/>
  <p:tag name="KSO_WM_UNIT_FILL_TYPE" val="1"/>
  <p:tag name="KSO_WM_UNIT_TEXT_FILL_FORE_SCHEMECOLOR_INDEX" val="13"/>
  <p:tag name="KSO_WM_UNIT_TEXT_FILL_TYPE" val="1"/>
  <p:tag name="KSO_WM_UNIT_USESOURCEFORMAT_APPLY" val="1"/>
</p:tagLst>
</file>

<file path=ppt/tags/tag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6"/>
  <p:tag name="KSO_WM_UNIT_ID" val="custom160596_70*q_i*1_26"/>
  <p:tag name="KSO_WM_UNIT_LAYERLEVEL" val="1_1"/>
  <p:tag name="KSO_WM_DIAGRAM_GROUP_CODE" val="q1-1"/>
  <p:tag name="KSO_WM_UNIT_FILL_FORE_SCHEMECOLOR_INDEX" val="14"/>
  <p:tag name="KSO_WM_UNIT_FILL_TYPE" val="1"/>
  <p:tag name="KSO_WM_UNIT_TEXT_FILL_FORE_SCHEMECOLOR_INDEX" val="13"/>
  <p:tag name="KSO_WM_UNIT_TEXT_FILL_TYPE" val="1"/>
  <p:tag name="KSO_WM_UNIT_USESOURCEFORMAT_APPLY" val="1"/>
</p:tagLst>
</file>

<file path=ppt/tags/tag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7"/>
  <p:tag name="KSO_WM_UNIT_ID" val="custom160596_70*q_i*1_27"/>
  <p:tag name="KSO_WM_UNIT_LAYERLEVEL" val="1_1"/>
  <p:tag name="KSO_WM_DIAGRAM_GROUP_CODE" val="q1-1"/>
  <p:tag name="KSO_WM_UNIT_FILL_FORE_SCHEMECOLOR_INDEX" val="14"/>
  <p:tag name="KSO_WM_UNIT_FILL_TYPE" val="1"/>
  <p:tag name="KSO_WM_UNIT_TEXT_FILL_FORE_SCHEMECOLOR_INDEX" val="13"/>
  <p:tag name="KSO_WM_UNIT_TEXT_FILL_TYPE" val="1"/>
  <p:tag name="KSO_WM_UNIT_USESOURCEFORMAT_APPLY" val="1"/>
</p:tagLst>
</file>

<file path=ppt/tags/tag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7"/>
  <p:tag name="KSO_WM_UNIT_ID" val="custom160596_70*q_i*1_7"/>
  <p:tag name="KSO_WM_UNIT_LAYERLEVEL" val="1_1"/>
  <p:tag name="KSO_WM_DIAGRAM_GROUP_CODE" val="q1-1"/>
  <p:tag name="KSO_WM_UNIT_LINE_FORE_SCHEMECOLOR_INDEX" val="13"/>
  <p:tag name="KSO_WM_UNIT_LINE_FILL_TYPE" val="2"/>
  <p:tag name="KSO_WM_UNIT_USESOURCEFORMAT_APPLY" val="1"/>
</p:tagLst>
</file>

<file path=ppt/tags/tag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8"/>
  <p:tag name="KSO_WM_UNIT_ID" val="custom160596_70*q_i*1_8"/>
  <p:tag name="KSO_WM_UNIT_LAYERLEVEL" val="1_1"/>
  <p:tag name="KSO_WM_DIAGRAM_GROUP_CODE" val="q1-1"/>
  <p:tag name="KSO_WM_UNIT_LINE_FORE_SCHEMECOLOR_INDEX" val="13"/>
  <p:tag name="KSO_WM_UNIT_LINE_FILL_TYPE" val="2"/>
  <p:tag name="KSO_WM_UNIT_USESOURCEFORMAT_APPLY" val="1"/>
</p:tagLst>
</file>

<file path=ppt/tags/tag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3"/>
  <p:tag name="KSO_WM_UNIT_ID" val="custom160596_70*q_i*1_3"/>
  <p:tag name="KSO_WM_UNIT_LAYERLEVEL" val="1_1"/>
  <p:tag name="KSO_WM_DIAGRAM_GROUP_CODE" val="q1-1"/>
  <p:tag name="KSO_WM_UNIT_LINE_FORE_SCHEMECOLOR_INDEX" val="13"/>
  <p:tag name="KSO_WM_UNIT_LINE_FILL_TYPE" val="2"/>
  <p:tag name="KSO_WM_UNIT_USESOURCEFORMAT_APPLY" val="1"/>
</p:tagLst>
</file>

<file path=ppt/tags/tag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4"/>
  <p:tag name="KSO_WM_UNIT_ID" val="custom160596_70*q_i*1_4"/>
  <p:tag name="KSO_WM_UNIT_LAYERLEVEL" val="1_1"/>
  <p:tag name="KSO_WM_DIAGRAM_GROUP_CODE" val="q1-1"/>
  <p:tag name="KSO_WM_UNIT_LINE_FORE_SCHEMECOLOR_INDEX" val="13"/>
  <p:tag name="KSO_WM_UNIT_LINE_FILL_TYPE" val="2"/>
  <p:tag name="KSO_WM_UNIT_USESOURCEFORMAT_APPLY" val="1"/>
</p:tagLst>
</file>

<file path=ppt/tags/tag99.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1"/>
</p:tagLst>
</file>

<file path=ppt/tags/tag100.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SubTitle"/>
  <p:tag name="MH_ORDER" val="1"/>
</p:tagLst>
</file>

<file path=ppt/tags/tag101.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2"/>
</p:tagLst>
</file>

<file path=ppt/tags/tag102.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1"/>
</p:tagLst>
</file>

<file path=ppt/tags/tag103.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SubTitle"/>
  <p:tag name="MH_ORDER" val="2"/>
</p:tagLst>
</file>

<file path=ppt/tags/tag104.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3"/>
</p:tagLst>
</file>

<file path=ppt/tags/tag105.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2"/>
</p:tagLst>
</file>

<file path=ppt/tags/tag106.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SubTitle"/>
  <p:tag name="MH_ORDER" val="3"/>
</p:tagLst>
</file>

<file path=ppt/tags/tag107.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4"/>
</p:tagLst>
</file>

<file path=ppt/tags/tag108.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3"/>
</p:tagLst>
</file>

<file path=ppt/tags/tag1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1_1"/>
  <p:tag name="KSO_WM_UNIT_ID" val="custom160596_80*q_h_f*1_1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1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3_1"/>
  <p:tag name="KSO_WM_UNIT_ID" val="custom160596_80*q_h_f*1_3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1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2_1"/>
  <p:tag name="KSO_WM_UNIT_ID" val="custom160596_80*q_h_f*1_2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1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3"/>
  <p:tag name="KSO_WM_UNIT_ID" val="custom160596_80*q_i*1_3"/>
  <p:tag name="KSO_WM_UNIT_LAYERLEVEL" val="1_1"/>
  <p:tag name="KSO_WM_DIAGRAM_GROUP_CODE" val="q1-2"/>
  <p:tag name="KSO_WM_UNIT_USESOURCEFORMAT_APPLY" val="1"/>
</p:tagLst>
</file>

<file path=ppt/tags/tag1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1"/>
  <p:tag name="KSO_WM_UNIT_ID" val="custom160596_80*q_i*1_11"/>
  <p:tag name="KSO_WM_UNIT_LAYERLEVEL" val="1_1"/>
  <p:tag name="KSO_WM_DIAGRAM_GROUP_CODE" val="q1-2"/>
  <p:tag name="KSO_WM_UNIT_USESOURCEFORMAT_APPLY" val="1"/>
</p:tagLst>
</file>

<file path=ppt/tags/tag1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
  <p:tag name="KSO_WM_UNIT_ID" val="custom160596_80*q_i*1_1"/>
  <p:tag name="KSO_WM_UNIT_LAYERLEVEL" val="1_1"/>
  <p:tag name="KSO_WM_DIAGRAM_GROUP_CODE" val="q1-2"/>
  <p:tag name="KSO_WM_UNIT_USESOURCEFORMAT_APPLY" val="1"/>
</p:tagLst>
</file>

<file path=ppt/tags/tag1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
  <p:tag name="KSO_WM_UNIT_ID" val="custom160596_80*q_i*1_2"/>
  <p:tag name="KSO_WM_UNIT_LAYERLEVEL" val="1_1"/>
  <p:tag name="KSO_WM_DIAGRAM_GROUP_CODE" val="q1-2"/>
  <p:tag name="KSO_WM_UNIT_USESOURCEFORMAT_APPLY" val="1"/>
</p:tagLst>
</file>

<file path=ppt/tags/tag1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4"/>
  <p:tag name="KSO_WM_UNIT_ID" val="custom160596_80*q_i*1_4"/>
  <p:tag name="KSO_WM_UNIT_LAYERLEVEL" val="1_1"/>
  <p:tag name="KSO_WM_DIAGRAM_GROUP_CODE" val="q1-2"/>
  <p:tag name="KSO_WM_UNIT_USESOURCEFORMAT_APPLY" val="1"/>
</p:tagLst>
</file>

<file path=ppt/tags/tag1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80*i*5"/>
  <p:tag name="KSO_WM_TEMPLATE_CATEGORY" val="custom"/>
  <p:tag name="KSO_WM_TEMPLATE_INDEX" val="160596"/>
  <p:tag name="KSO_WM_UNIT_INDEX" val="5"/>
</p:tagLst>
</file>

<file path=ppt/tags/tag1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9"/>
  <p:tag name="KSO_WM_UNIT_ID" val="custom160596_80*q_i*1_9"/>
  <p:tag name="KSO_WM_UNIT_LAYERLEVEL" val="1_1"/>
  <p:tag name="KSO_WM_DIAGRAM_GROUP_CODE" val="q1-2"/>
  <p:tag name="KSO_WM_UNIT_USESOURCEFORMAT_APPLY" val="1"/>
</p:tagLst>
</file>

<file path=ppt/tags/tag1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0"/>
  <p:tag name="KSO_WM_UNIT_ID" val="custom160596_80*q_i*1_10"/>
  <p:tag name="KSO_WM_UNIT_LAYERLEVEL" val="1_1"/>
  <p:tag name="KSO_WM_DIAGRAM_GROUP_CODE" val="q1-2"/>
  <p:tag name="KSO_WM_UNIT_USESOURCEFORMAT_APPLY" val="1"/>
</p:tagLst>
</file>

<file path=ppt/tags/tag1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2"/>
  <p:tag name="KSO_WM_UNIT_ID" val="custom160596_80*q_i*1_12"/>
  <p:tag name="KSO_WM_UNIT_LAYERLEVEL" val="1_1"/>
  <p:tag name="KSO_WM_DIAGRAM_GROUP_CODE" val="q1-2"/>
  <p:tag name="KSO_WM_UNIT_USESOURCEFORMAT_APPLY" val="1"/>
</p:tagLst>
</file>

<file path=ppt/tags/tag1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5"/>
  <p:tag name="KSO_WM_UNIT_ID" val="custom160596_80*q_i*1_5"/>
  <p:tag name="KSO_WM_UNIT_LAYERLEVEL" val="1_1"/>
  <p:tag name="KSO_WM_DIAGRAM_GROUP_CODE" val="q1-2"/>
  <p:tag name="KSO_WM_UNIT_USESOURCEFORMAT_APPLY" val="1"/>
</p:tagLst>
</file>

<file path=ppt/tags/tag1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6"/>
  <p:tag name="KSO_WM_UNIT_ID" val="custom160596_80*q_i*1_6"/>
  <p:tag name="KSO_WM_UNIT_LAYERLEVEL" val="1_1"/>
  <p:tag name="KSO_WM_DIAGRAM_GROUP_CODE" val="q1-2"/>
  <p:tag name="KSO_WM_UNIT_USESOURCEFORMAT_APPLY" val="1"/>
</p:tagLst>
</file>

<file path=ppt/tags/tag1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7"/>
  <p:tag name="KSO_WM_UNIT_ID" val="custom160596_80*q_i*1_7"/>
  <p:tag name="KSO_WM_UNIT_LAYERLEVEL" val="1_1"/>
  <p:tag name="KSO_WM_DIAGRAM_GROUP_CODE" val="q1-2"/>
  <p:tag name="KSO_WM_UNIT_USESOURCEFORMAT_APPLY" val="1"/>
</p:tagLst>
</file>

<file path=ppt/tags/tag1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8"/>
  <p:tag name="KSO_WM_UNIT_ID" val="custom160596_80*q_i*1_8"/>
  <p:tag name="KSO_WM_UNIT_LAYERLEVEL" val="1_1"/>
  <p:tag name="KSO_WM_DIAGRAM_GROUP_CODE" val="q1-2"/>
  <p:tag name="KSO_WM_UNIT_USESOURCEFORMAT_APPLY" val="1"/>
</p:tagLst>
</file>

<file path=ppt/tags/tag125.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1"/>
</p:tagLst>
</file>

<file path=ppt/tags/tag126.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SubTitle"/>
  <p:tag name="MH_ORDER" val="2"/>
</p:tagLst>
</file>

<file path=ppt/tags/tag127.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3"/>
</p:tagLst>
</file>

<file path=ppt/tags/tag128.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1"/>
</p:tagLst>
</file>

<file path=ppt/tags/tag129.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2"/>
</p:tagLst>
</file>

<file path=ppt/tags/tag130.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3"/>
</p:tagLst>
</file>

<file path=ppt/tags/tag131.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SubTitle"/>
  <p:tag name="MH_ORDER" val="2"/>
</p:tagLst>
</file>

<file path=ppt/tags/tag132.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3"/>
</p:tagLst>
</file>

<file path=ppt/tags/tag133.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SubTitle"/>
  <p:tag name="MH_ORDER" val="3"/>
</p:tagLst>
</file>

<file path=ppt/tags/tag134.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4"/>
</p:tagLst>
</file>

<file path=ppt/tags/tag135.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36.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Other"/>
  <p:tag name="MH_ORDER" val="1"/>
</p:tagLst>
</file>

<file path=ppt/tags/tag137.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Other"/>
  <p:tag name="MH_ORDER" val="2"/>
</p:tagLst>
</file>

<file path=ppt/tags/tag138.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Other"/>
  <p:tag name="MH_ORDER" val="3"/>
</p:tagLst>
</file>

<file path=ppt/tags/tag139.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Other"/>
  <p:tag name="MH_ORDER" val="4"/>
</p:tagLst>
</file>

<file path=ppt/tags/tag140.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Other"/>
  <p:tag name="MH_ORDER" val="5"/>
</p:tagLst>
</file>

<file path=ppt/tags/tag141.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Other"/>
  <p:tag name="MH_ORDER" val="6"/>
</p:tagLst>
</file>

<file path=ppt/tags/tag142.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Other"/>
  <p:tag name="MH_ORDER" val="7"/>
</p:tagLst>
</file>

<file path=ppt/tags/tag143.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Other"/>
  <p:tag name="MH_ORDER" val="8"/>
</p:tagLst>
</file>

<file path=ppt/tags/tag144.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SubTitle"/>
  <p:tag name="MH_ORDER" val="2"/>
</p:tagLst>
</file>

<file path=ppt/tags/tag145.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SubTitle"/>
  <p:tag name="MH_ORDER" val="1"/>
</p:tagLst>
</file>

<file path=ppt/tags/tag146.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Title"/>
  <p:tag name="MH_ORDER" val="1"/>
</p:tagLst>
</file>

<file path=ppt/tags/tag147.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Other"/>
  <p:tag name="MH_ORDER" val="9"/>
</p:tagLst>
</file>

<file path=ppt/tags/tag148.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Other"/>
  <p:tag name="MH_ORDER" val="10"/>
</p:tagLst>
</file>

<file path=ppt/tags/tag149.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Other"/>
  <p:tag name="MH_ORDER" val="11"/>
</p:tagLst>
</file>

<file path=ppt/tags/tag150.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Other"/>
  <p:tag name="MH_ORDER" val="12"/>
</p:tagLst>
</file>

<file path=ppt/tags/tag151.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Other"/>
  <p:tag name="MH_ORDER" val="13"/>
</p:tagLst>
</file>

<file path=ppt/tags/tag152.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Other"/>
  <p:tag name="MH_ORDER" val="14"/>
</p:tagLst>
</file>

<file path=ppt/tags/tag153.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Other"/>
  <p:tag name="MH_ORDER" val="15"/>
</p:tagLst>
</file>

<file path=ppt/tags/tag154.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Other"/>
  <p:tag name="MH_ORDER" val="16"/>
</p:tagLst>
</file>

<file path=ppt/tags/tag155.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SubTitle"/>
  <p:tag name="MH_ORDER" val="4"/>
</p:tagLst>
</file>

<file path=ppt/tags/tag156.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SubTitle"/>
  <p:tag name="MH_ORDER" val="3"/>
</p:tagLst>
</file>

<file path=ppt/tags/tag157.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Text"/>
  <p:tag name="MH_ORDER" val="4"/>
</p:tagLst>
</file>

<file path=ppt/tags/tag158.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Text"/>
  <p:tag name="MH_ORDER" val="3"/>
</p:tagLst>
</file>

<file path=ppt/tags/tag159.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Text"/>
  <p:tag name="MH_ORDER" val="2"/>
</p:tagLst>
</file>

<file path=ppt/tags/tag160.xml><?xml version="1.0" encoding="utf-8"?>
<p:tagLst xmlns:a="http://schemas.openxmlformats.org/drawingml/2006/main" xmlns:r="http://schemas.openxmlformats.org/officeDocument/2006/relationships" xmlns:p="http://schemas.openxmlformats.org/presentationml/2006/main">
  <p:tag name="MH" val="20170326203300"/>
  <p:tag name="MH_LIBRARY" val="GRAPHIC"/>
  <p:tag name="MH_TYPE" val="Text"/>
  <p:tag name="MH_ORDER" val="1"/>
</p:tagLst>
</file>

<file path=ppt/tags/tag161.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1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1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1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1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1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1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1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1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1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1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1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1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1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1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7"/>
  <p:tag name="KSO_WM_UNIT_ID" val="custom160596_94*l_i*1_7"/>
  <p:tag name="KSO_WM_UNIT_LAYERLEVEL" val="1_1"/>
  <p:tag name="KSO_WM_DIAGRAM_GROUP_CODE" val="l1-19"/>
  <p:tag name="KSO_WM_UNIT_FILL_FORE_SCHEMECOLOR_INDEX" val="9"/>
  <p:tag name="KSO_WM_UNIT_FILL_TYPE" val="1"/>
  <p:tag name="KSO_WM_UNIT_TEXT_FILL_FORE_SCHEMECOLOR_INDEX" val="13"/>
  <p:tag name="KSO_WM_UNIT_TEXT_FILL_TYPE" val="1"/>
  <p:tag name="KSO_WM_UNIT_USESOURCEFORMAT_APPLY" val="1"/>
</p:tagLst>
</file>

<file path=ppt/tags/tag1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94*l_h_a*1_2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1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2_1"/>
  <p:tag name="KSO_WM_UNIT_ID" val="custom160596_94*l_h_f*1_2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1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1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1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1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182.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183.xml><?xml version="1.0" encoding="utf-8"?>
<p:tagLst xmlns:a="http://schemas.openxmlformats.org/drawingml/2006/main" xmlns:r="http://schemas.openxmlformats.org/officeDocument/2006/relationships" xmlns:p="http://schemas.openxmlformats.org/presentationml/2006/main">
  <p:tag name="MH" val="20170326203935"/>
  <p:tag name="MH_LIBRARY" val="GRAPHIC"/>
  <p:tag name="MH_TYPE" val="Desc"/>
  <p:tag name="MH_ORDER" val="1"/>
</p:tagLst>
</file>

<file path=ppt/tags/tag184.xml><?xml version="1.0" encoding="utf-8"?>
<p:tagLst xmlns:a="http://schemas.openxmlformats.org/drawingml/2006/main" xmlns:r="http://schemas.openxmlformats.org/officeDocument/2006/relationships" xmlns:p="http://schemas.openxmlformats.org/presentationml/2006/main">
  <p:tag name="MH" val="20170326203935"/>
  <p:tag name="MH_LIBRARY" val="GRAPHIC"/>
  <p:tag name="MH_TYPE" val="Title"/>
  <p:tag name="MH_ORDER" val="1"/>
</p:tagLst>
</file>

<file path=ppt/tags/tag185.xml><?xml version="1.0" encoding="utf-8"?>
<p:tagLst xmlns:a="http://schemas.openxmlformats.org/drawingml/2006/main" xmlns:r="http://schemas.openxmlformats.org/officeDocument/2006/relationships" xmlns:p="http://schemas.openxmlformats.org/presentationml/2006/main">
  <p:tag name="MH" val="20170326203935"/>
  <p:tag name="MH_LIBRARY" val="GRAPHIC"/>
  <p:tag name="MH_TYPE" val="Other"/>
  <p:tag name="MH_ORDER" val="1"/>
</p:tagLst>
</file>

<file path=ppt/tags/tag186.xml><?xml version="1.0" encoding="utf-8"?>
<p:tagLst xmlns:a="http://schemas.openxmlformats.org/drawingml/2006/main" xmlns:r="http://schemas.openxmlformats.org/officeDocument/2006/relationships" xmlns:p="http://schemas.openxmlformats.org/presentationml/2006/main">
  <p:tag name="MH" val="20170326203935"/>
  <p:tag name="MH_LIBRARY" val="GRAPHIC"/>
  <p:tag name="MH_TYPE" val="Other"/>
  <p:tag name="MH_ORDER" val="2"/>
</p:tagLst>
</file>

<file path=ppt/tags/tag187.xml><?xml version="1.0" encoding="utf-8"?>
<p:tagLst xmlns:a="http://schemas.openxmlformats.org/drawingml/2006/main" xmlns:r="http://schemas.openxmlformats.org/officeDocument/2006/relationships" xmlns:p="http://schemas.openxmlformats.org/presentationml/2006/main">
  <p:tag name="MH" val="20170326203935"/>
  <p:tag name="MH_LIBRARY" val="GRAPHIC"/>
  <p:tag name="MH_TYPE" val="SubTitle"/>
  <p:tag name="MH_ORDER" val="1"/>
</p:tagLst>
</file>

<file path=ppt/tags/tag188.xml><?xml version="1.0" encoding="utf-8"?>
<p:tagLst xmlns:a="http://schemas.openxmlformats.org/drawingml/2006/main" xmlns:r="http://schemas.openxmlformats.org/officeDocument/2006/relationships" xmlns:p="http://schemas.openxmlformats.org/presentationml/2006/main">
  <p:tag name="MH" val="20170326203935"/>
  <p:tag name="MH_LIBRARY" val="GRAPHIC"/>
  <p:tag name="MH_TYPE" val="SubTitle"/>
  <p:tag name="MH_ORDER" val="2"/>
</p:tagLst>
</file>

<file path=ppt/tags/tag189.xml><?xml version="1.0" encoding="utf-8"?>
<p:tagLst xmlns:a="http://schemas.openxmlformats.org/drawingml/2006/main" xmlns:r="http://schemas.openxmlformats.org/officeDocument/2006/relationships" xmlns:p="http://schemas.openxmlformats.org/presentationml/2006/main">
  <p:tag name="MH" val="20170326203935"/>
  <p:tag name="MH_LIBRARY" val="GRAPHIC"/>
  <p:tag name="MH_TYPE" val="SubTitle"/>
  <p:tag name="MH_ORDER" val="1"/>
</p:tagLst>
</file>

<file path=ppt/tags/tag190.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191.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SubTitle"/>
  <p:tag name="MH_ORDER" val="1"/>
</p:tagLst>
</file>

<file path=ppt/tags/tag192.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Other"/>
  <p:tag name="MH_ORDER" val="1"/>
</p:tagLst>
</file>

<file path=ppt/tags/tag193.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2"/>
</p:tagLst>
</file>

<file path=ppt/tags/tag194.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3"/>
</p:tagLst>
</file>

<file path=ppt/tags/tag195.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1"/>
</p:tagLst>
</file>

<file path=ppt/tags/tag196.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3"/>
</p:tagLst>
</file>

<file path=ppt/tags/tag197.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1"/>
</p:tagLst>
</file>

<file path=ppt/tags/tag198.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Title"/>
  <p:tag name="MH_ORDER" val="1"/>
</p:tagLst>
</file>

<file path=ppt/tags/tag199.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2"/>
</p:tagLst>
</file>

<file path=ppt/tags/tag200.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201.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SubTitle"/>
  <p:tag name="MH_ORDER" val="1"/>
</p:tagLst>
</file>

<file path=ppt/tags/tag202.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Other"/>
  <p:tag name="MH_ORDER" val="1"/>
</p:tagLst>
</file>

<file path=ppt/tags/tag203.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2"/>
</p:tagLst>
</file>

<file path=ppt/tags/tag204.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3"/>
</p:tagLst>
</file>

<file path=ppt/tags/tag205.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1"/>
</p:tagLst>
</file>

<file path=ppt/tags/tag206.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3"/>
</p:tagLst>
</file>

<file path=ppt/tags/tag207.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1"/>
</p:tagLst>
</file>

<file path=ppt/tags/tag208.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Title"/>
  <p:tag name="MH_ORDER" val="1"/>
</p:tagLst>
</file>

<file path=ppt/tags/tag209.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2"/>
</p:tagLst>
</file>

<file path=ppt/tags/tag210.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211.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SubTitle"/>
  <p:tag name="MH_ORDER" val="1"/>
</p:tagLst>
</file>

<file path=ppt/tags/tag212.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Other"/>
  <p:tag name="MH_ORDER" val="1"/>
</p:tagLst>
</file>

<file path=ppt/tags/tag213.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2"/>
</p:tagLst>
</file>

<file path=ppt/tags/tag214.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3"/>
</p:tagLst>
</file>

<file path=ppt/tags/tag215.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1"/>
</p:tagLst>
</file>

<file path=ppt/tags/tag216.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3"/>
</p:tagLst>
</file>

<file path=ppt/tags/tag217.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1"/>
</p:tagLst>
</file>

<file path=ppt/tags/tag218.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Title"/>
  <p:tag name="MH_ORDER" val="1"/>
</p:tagLst>
</file>

<file path=ppt/tags/tag219.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2"/>
</p:tagLst>
</file>

<file path=ppt/tags/tag220.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SubTitle"/>
  <p:tag name="MH_ORDER" val="2"/>
</p:tagLst>
</file>

<file path=ppt/tags/tag221.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Other"/>
  <p:tag name="MH_ORDER" val="6"/>
</p:tagLst>
</file>

<file path=ppt/tags/tag222.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Other"/>
  <p:tag name="MH_ORDER" val="7"/>
</p:tagLst>
</file>

<file path=ppt/tags/tag223.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Other"/>
  <p:tag name="MH_ORDER" val="8"/>
</p:tagLst>
</file>

<file path=ppt/tags/tag224.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Other"/>
  <p:tag name="MH_ORDER" val="9"/>
</p:tagLst>
</file>

<file path=ppt/tags/tag225.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Other"/>
  <p:tag name="MH_ORDER" val="10"/>
</p:tagLst>
</file>

<file path=ppt/tags/tag226.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Text"/>
  <p:tag name="MH_ORDER" val="2"/>
</p:tagLst>
</file>

<file path=ppt/tags/tag227.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Text"/>
  <p:tag name="MH_ORDER" val="4"/>
</p:tagLst>
</file>

<file path=ppt/tags/tag228.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Text"/>
  <p:tag name="MH_ORDER" val="6"/>
</p:tagLst>
</file>

<file path=ppt/tags/tag229.xml><?xml version="1.0" encoding="utf-8"?>
<p:tagLst xmlns:a="http://schemas.openxmlformats.org/drawingml/2006/main" xmlns:r="http://schemas.openxmlformats.org/officeDocument/2006/relationships" xmlns:p="http://schemas.openxmlformats.org/presentationml/2006/main">
  <p:tag name="MH" val="20150917100832"/>
  <p:tag name="MH_LIBRARY" val="GRAPHIC"/>
  <p:tag name="MH_TYPE" val="Text"/>
  <p:tag name="MH_ORDER" val="8"/>
</p:tagLst>
</file>

<file path=ppt/tags/tag230.xml><?xml version="1.0" encoding="utf-8"?>
<p:tagLst xmlns:a="http://schemas.openxmlformats.org/drawingml/2006/main" xmlns:r="http://schemas.openxmlformats.org/officeDocument/2006/relationships" xmlns:p="http://schemas.openxmlformats.org/presentationml/2006/main">
  <p:tag name="MH" val="20150917093948"/>
  <p:tag name="MH_LIBRARY" val="GRAPHIC"/>
  <p:tag name="MH_TYPE" val="Text"/>
  <p:tag name="MH_ORDER" val="2"/>
</p:tagLst>
</file>

<file path=ppt/tags/tag231.xml><?xml version="1.0" encoding="utf-8"?>
<p:tagLst xmlns:a="http://schemas.openxmlformats.org/drawingml/2006/main" xmlns:r="http://schemas.openxmlformats.org/officeDocument/2006/relationships" xmlns:p="http://schemas.openxmlformats.org/presentationml/2006/main">
  <p:tag name="MH" val="20150917093948"/>
  <p:tag name="MH_LIBRARY" val="GRAPHIC"/>
  <p:tag name="MH_TYPE" val="Text"/>
  <p:tag name="MH_ORDER" val="2"/>
</p:tagLst>
</file>

<file path=ppt/tags/tag232.xml><?xml version="1.0" encoding="utf-8"?>
<p:tagLst xmlns:a="http://schemas.openxmlformats.org/drawingml/2006/main" xmlns:r="http://schemas.openxmlformats.org/officeDocument/2006/relationships" xmlns:p="http://schemas.openxmlformats.org/presentationml/2006/main">
  <p:tag name="MH" val="20150917093948"/>
  <p:tag name="MH_LIBRARY" val="GRAPHIC"/>
  <p:tag name="MH_TYPE" val="Text"/>
  <p:tag name="MH_ORDER" val="2"/>
</p:tagLst>
</file>

<file path=ppt/tags/tag233.xml><?xml version="1.0" encoding="utf-8"?>
<p:tagLst xmlns:a="http://schemas.openxmlformats.org/drawingml/2006/main" xmlns:r="http://schemas.openxmlformats.org/officeDocument/2006/relationships" xmlns:p="http://schemas.openxmlformats.org/presentationml/2006/main">
  <p:tag name="MH" val="20150917093948"/>
  <p:tag name="MH_LIBRARY" val="GRAPHIC"/>
  <p:tag name="MH_TYPE" val="Text"/>
  <p:tag name="MH_ORDER" val="2"/>
</p:tagLst>
</file>

<file path=ppt/tags/tag2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2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7"/>
  <p:tag name="KSO_WM_UNIT_ID" val="custom160596_94*l_i*1_7"/>
  <p:tag name="KSO_WM_UNIT_LAYERLEVEL" val="1_1"/>
  <p:tag name="KSO_WM_DIAGRAM_GROUP_CODE" val="l1-19"/>
  <p:tag name="KSO_WM_UNIT_FILL_FORE_SCHEMECOLOR_INDEX" val="9"/>
  <p:tag name="KSO_WM_UNIT_FILL_TYPE" val="1"/>
  <p:tag name="KSO_WM_UNIT_TEXT_FILL_FORE_SCHEMECOLOR_INDEX" val="13"/>
  <p:tag name="KSO_WM_UNIT_TEXT_FILL_TYPE" val="1"/>
  <p:tag name="KSO_WM_UNIT_USESOURCEFORMAT_APPLY" val="1"/>
</p:tagLst>
</file>

<file path=ppt/tags/tag2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94*l_h_a*1_2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2_1"/>
  <p:tag name="KSO_WM_UNIT_ID" val="custom160596_94*l_h_f*1_2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2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2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7"/>
  <p:tag name="KSO_WM_UNIT_ID" val="custom160596_94*l_i*1_7"/>
  <p:tag name="KSO_WM_UNIT_LAYERLEVEL" val="1_1"/>
  <p:tag name="KSO_WM_DIAGRAM_GROUP_CODE" val="l1-19"/>
  <p:tag name="KSO_WM_UNIT_FILL_FORE_SCHEMECOLOR_INDEX" val="9"/>
  <p:tag name="KSO_WM_UNIT_FILL_TYPE" val="1"/>
  <p:tag name="KSO_WM_UNIT_TEXT_FILL_FORE_SCHEMECOLOR_INDEX" val="13"/>
  <p:tag name="KSO_WM_UNIT_TEXT_FILL_TYPE" val="1"/>
  <p:tag name="KSO_WM_UNIT_USESOURCEFORMAT_APPLY" val="1"/>
</p:tagLst>
</file>

<file path=ppt/tags/tag2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94*l_h_a*1_2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2_1"/>
  <p:tag name="KSO_WM_UNIT_ID" val="custom160596_94*l_h_f*1_2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2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2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
  <p:tag name="KSO_WM_UNIT_ID" val="custom160596_39*r_i*1_1"/>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3"/>
  <p:tag name="KSO_WM_UNIT_ID" val="custom160596_39*r_i*1_3"/>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4"/>
  <p:tag name="KSO_WM_UNIT_ID" val="custom160596_39*r_i*1_4"/>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5"/>
  <p:tag name="KSO_WM_UNIT_ID" val="custom160596_39*r_i*1_5"/>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6"/>
  <p:tag name="KSO_WM_UNIT_ID" val="custom160596_39*r_i*1_6"/>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7"/>
  <p:tag name="KSO_WM_UNIT_ID" val="custom160596_39*r_i*1_7"/>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8"/>
  <p:tag name="KSO_WM_UNIT_ID" val="custom160596_39*r_i*1_8"/>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9"/>
  <p:tag name="KSO_WM_UNIT_ID" val="custom160596_39*r_i*1_9"/>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0"/>
  <p:tag name="KSO_WM_UNIT_ID" val="custom160596_39*r_i*1_10"/>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1"/>
  <p:tag name="KSO_WM_UNIT_ID" val="custom160596_39*r_i*1_11"/>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2"/>
  <p:tag name="KSO_WM_UNIT_ID" val="custom160596_39*r_i*1_12"/>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2"/>
  <p:tag name="KSO_WM_UNIT_ID" val="custom160596_39*r_v*1_2"/>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4"/>
  <p:tag name="KSO_WM_UNIT_ID" val="custom160596_39*r_v*1_4"/>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6"/>
  <p:tag name="KSO_WM_UNIT_ID" val="custom160596_39*r_v*1_6"/>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8"/>
  <p:tag name="KSO_WM_UNIT_ID" val="custom160596_39*r_v*1_8"/>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10"/>
  <p:tag name="KSO_WM_UNIT_ID" val="custom160596_39*r_v*1_10"/>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3"/>
  <p:tag name="KSO_WM_UNIT_ID" val="custom160596_80*q_i*1_3"/>
  <p:tag name="KSO_WM_UNIT_LAYERLEVEL" val="1_1"/>
  <p:tag name="KSO_WM_DIAGRAM_GROUP_CODE" val="q1-2"/>
  <p:tag name="KSO_WM_UNIT_USESOURCEFORMAT_APPLY" val="1"/>
</p:tagLst>
</file>

<file path=ppt/tags/tag2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1"/>
  <p:tag name="KSO_WM_UNIT_ID" val="custom160596_80*q_i*1_11"/>
  <p:tag name="KSO_WM_UNIT_LAYERLEVEL" val="1_1"/>
  <p:tag name="KSO_WM_DIAGRAM_GROUP_CODE" val="q1-2"/>
  <p:tag name="KSO_WM_UNIT_USESOURCEFORMAT_APPLY" val="1"/>
</p:tagLst>
</file>

<file path=ppt/tags/tag2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
  <p:tag name="KSO_WM_UNIT_ID" val="custom160596_80*q_i*1_1"/>
  <p:tag name="KSO_WM_UNIT_LAYERLEVEL" val="1_1"/>
  <p:tag name="KSO_WM_DIAGRAM_GROUP_CODE" val="q1-2"/>
  <p:tag name="KSO_WM_UNIT_USESOURCEFORMAT_APPLY" val="1"/>
</p:tagLst>
</file>

<file path=ppt/tags/tag2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
  <p:tag name="KSO_WM_UNIT_ID" val="custom160596_80*q_i*1_2"/>
  <p:tag name="KSO_WM_UNIT_LAYERLEVEL" val="1_1"/>
  <p:tag name="KSO_WM_DIAGRAM_GROUP_CODE" val="q1-2"/>
  <p:tag name="KSO_WM_UNIT_USESOURCEFORMAT_APPLY" val="1"/>
</p:tagLst>
</file>

<file path=ppt/tags/tag2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4"/>
  <p:tag name="KSO_WM_UNIT_ID" val="custom160596_80*q_i*1_4"/>
  <p:tag name="KSO_WM_UNIT_LAYERLEVEL" val="1_1"/>
  <p:tag name="KSO_WM_DIAGRAM_GROUP_CODE" val="q1-2"/>
  <p:tag name="KSO_WM_UNIT_USESOURCEFORMAT_APPLY" val="1"/>
</p:tagLst>
</file>

<file path=ppt/tags/tag2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80*i*5"/>
  <p:tag name="KSO_WM_TEMPLATE_CATEGORY" val="custom"/>
  <p:tag name="KSO_WM_TEMPLATE_INDEX" val="160596"/>
  <p:tag name="KSO_WM_UNIT_INDEX" val="5"/>
</p:tagLst>
</file>

<file path=ppt/tags/tag2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9"/>
  <p:tag name="KSO_WM_UNIT_ID" val="custom160596_80*q_i*1_9"/>
  <p:tag name="KSO_WM_UNIT_LAYERLEVEL" val="1_1"/>
  <p:tag name="KSO_WM_DIAGRAM_GROUP_CODE" val="q1-2"/>
  <p:tag name="KSO_WM_UNIT_USESOURCEFORMAT_APPLY" val="1"/>
</p:tagLst>
</file>

<file path=ppt/tags/tag2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0"/>
  <p:tag name="KSO_WM_UNIT_ID" val="custom160596_80*q_i*1_10"/>
  <p:tag name="KSO_WM_UNIT_LAYERLEVEL" val="1_1"/>
  <p:tag name="KSO_WM_DIAGRAM_GROUP_CODE" val="q1-2"/>
  <p:tag name="KSO_WM_UNIT_USESOURCEFORMAT_APPLY" val="1"/>
</p:tagLst>
</file>

<file path=ppt/tags/tag2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2"/>
  <p:tag name="KSO_WM_UNIT_ID" val="custom160596_80*q_i*1_12"/>
  <p:tag name="KSO_WM_UNIT_LAYERLEVEL" val="1_1"/>
  <p:tag name="KSO_WM_DIAGRAM_GROUP_CODE" val="q1-2"/>
  <p:tag name="KSO_WM_UNIT_USESOURCEFORMAT_APPLY" val="1"/>
</p:tagLst>
</file>

<file path=ppt/tags/tag2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5"/>
  <p:tag name="KSO_WM_UNIT_ID" val="custom160596_80*q_i*1_5"/>
  <p:tag name="KSO_WM_UNIT_LAYERLEVEL" val="1_1"/>
  <p:tag name="KSO_WM_DIAGRAM_GROUP_CODE" val="q1-2"/>
  <p:tag name="KSO_WM_UNIT_USESOURCEFORMAT_APPLY" val="1"/>
</p:tagLst>
</file>

<file path=ppt/tags/tag2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6"/>
  <p:tag name="KSO_WM_UNIT_ID" val="custom160596_80*q_i*1_6"/>
  <p:tag name="KSO_WM_UNIT_LAYERLEVEL" val="1_1"/>
  <p:tag name="KSO_WM_DIAGRAM_GROUP_CODE" val="q1-2"/>
  <p:tag name="KSO_WM_UNIT_USESOURCEFORMAT_APPLY" val="1"/>
</p:tagLst>
</file>

<file path=ppt/tags/tag2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7"/>
  <p:tag name="KSO_WM_UNIT_ID" val="custom160596_80*q_i*1_7"/>
  <p:tag name="KSO_WM_UNIT_LAYERLEVEL" val="1_1"/>
  <p:tag name="KSO_WM_DIAGRAM_GROUP_CODE" val="q1-2"/>
  <p:tag name="KSO_WM_UNIT_USESOURCEFORMAT_APPLY" val="1"/>
</p:tagLst>
</file>

<file path=ppt/tags/tag2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8"/>
  <p:tag name="KSO_WM_UNIT_ID" val="custom160596_80*q_i*1_8"/>
  <p:tag name="KSO_WM_UNIT_LAYERLEVEL" val="1_1"/>
  <p:tag name="KSO_WM_DIAGRAM_GROUP_CODE" val="q1-2"/>
  <p:tag name="KSO_WM_UNIT_USESOURCEFORMAT_APPLY" val="1"/>
</p:tagLst>
</file>

<file path=ppt/tags/tag29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9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9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29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29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29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29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29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29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30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30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30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30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30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30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30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30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30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30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31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31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31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3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1_1"/>
  <p:tag name="KSO_WM_UNIT_CLEAR" val="1"/>
  <p:tag name="KSO_WM_UNIT_LAYERLEVEL" val="1_1_1"/>
  <p:tag name="KSO_WM_UNIT_VALUE" val="91"/>
  <p:tag name="KSO_WM_UNIT_HIGHLIGHT" val="0"/>
  <p:tag name="KSO_WM_UNIT_COMPATIBLE" val="0"/>
  <p:tag name="KSO_WM_UNIT_ID" val="custom160034_20*m_h_f*1_1_1"/>
  <p:tag name="KSO_WM_UNIT_PRESET_TEXT_INDEX" val="2"/>
  <p:tag name="KSO_WM_UNIT_PRESET_TEXT_LEN" val="20"/>
  <p:tag name="KSO_WM_DIAGRAM_GROUP_CODE" val="m1-1"/>
  <p:tag name="KSO_WM_UNIT_USESOURCEFORMAT_APPLY" val="1"/>
</p:tagLst>
</file>

<file path=ppt/tags/tag3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2_1"/>
  <p:tag name="KSO_WM_UNIT_CLEAR" val="1"/>
  <p:tag name="KSO_WM_UNIT_LAYERLEVEL" val="1_1_1"/>
  <p:tag name="KSO_WM_UNIT_VALUE" val="91"/>
  <p:tag name="KSO_WM_UNIT_HIGHLIGHT" val="0"/>
  <p:tag name="KSO_WM_UNIT_COMPATIBLE" val="0"/>
  <p:tag name="KSO_WM_UNIT_ID" val="custom160034_20*m_h_f*1_2_1"/>
  <p:tag name="KSO_WM_UNIT_PRESET_TEXT_INDEX" val="2"/>
  <p:tag name="KSO_WM_UNIT_PRESET_TEXT_LEN" val="20"/>
  <p:tag name="KSO_WM_DIAGRAM_GROUP_CODE" val="m1-1"/>
  <p:tag name="KSO_WM_UNIT_USESOURCEFORMAT_APPLY" val="1"/>
</p:tagLst>
</file>

<file path=ppt/tags/tag3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3_1"/>
  <p:tag name="KSO_WM_UNIT_CLEAR" val="1"/>
  <p:tag name="KSO_WM_UNIT_LAYERLEVEL" val="1_1_1"/>
  <p:tag name="KSO_WM_UNIT_VALUE" val="91"/>
  <p:tag name="KSO_WM_UNIT_HIGHLIGHT" val="0"/>
  <p:tag name="KSO_WM_UNIT_COMPATIBLE" val="0"/>
  <p:tag name="KSO_WM_UNIT_ID" val="custom160034_20*m_h_f*1_3_1"/>
  <p:tag name="KSO_WM_UNIT_PRESET_TEXT_INDEX" val="2"/>
  <p:tag name="KSO_WM_UNIT_PRESET_TEXT_LEN" val="20"/>
  <p:tag name="KSO_WM_DIAGRAM_GROUP_CODE" val="m1-1"/>
  <p:tag name="KSO_WM_UNIT_USESOURCEFORMAT_APPLY" val="1"/>
</p:tagLst>
</file>

<file path=ppt/tags/tag3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1"/>
  <p:tag name="KSO_WM_UNIT_CLEAR" val="1"/>
  <p:tag name="KSO_WM_UNIT_LAYERLEVEL" val="1_1"/>
  <p:tag name="KSO_WM_UNIT_ID" val="custom160034_20*m_i*1_1"/>
  <p:tag name="KSO_WM_DIAGRAM_GROUP_CODE" val="m1-1"/>
  <p:tag name="KSO_WM_UNIT_USESOURCEFORMAT_APPLY" val="1"/>
</p:tagLst>
</file>

<file path=ppt/tags/tag3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2"/>
  <p:tag name="KSO_WM_UNIT_CLEAR" val="1"/>
  <p:tag name="KSO_WM_UNIT_LAYERLEVEL" val="1_1"/>
  <p:tag name="KSO_WM_UNIT_ID" val="custom160034_20*m_i*1_2"/>
  <p:tag name="KSO_WM_DIAGRAM_GROUP_CODE" val="m1-1"/>
  <p:tag name="KSO_WM_UNIT_USESOURCEFORMAT_APPLY" val="1"/>
</p:tagLst>
</file>

<file path=ppt/tags/tag3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3"/>
  <p:tag name="KSO_WM_UNIT_CLEAR" val="1"/>
  <p:tag name="KSO_WM_UNIT_LAYERLEVEL" val="1_1"/>
  <p:tag name="KSO_WM_UNIT_ID" val="custom160034_20*m_i*1_3"/>
  <p:tag name="KSO_WM_DIAGRAM_GROUP_CODE" val="m1-1"/>
  <p:tag name="KSO_WM_UNIT_USESOURCEFORMAT_APPLY" val="1"/>
</p:tagLst>
</file>

<file path=ppt/tags/tag3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4"/>
  <p:tag name="KSO_WM_UNIT_CLEAR" val="1"/>
  <p:tag name="KSO_WM_UNIT_LAYERLEVEL" val="1_1"/>
  <p:tag name="KSO_WM_UNIT_ID" val="custom160034_20*m_i*1_4"/>
  <p:tag name="KSO_WM_DIAGRAM_GROUP_CODE" val="m1-1"/>
  <p:tag name="KSO_WM_UNIT_USESOURCEFORMAT_APPLY" val="1"/>
</p:tagLst>
</file>

<file path=ppt/tags/tag3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5"/>
  <p:tag name="KSO_WM_UNIT_CLEAR" val="1"/>
  <p:tag name="KSO_WM_UNIT_LAYERLEVEL" val="1_1"/>
  <p:tag name="KSO_WM_UNIT_ID" val="custom160034_20*m_i*1_5"/>
  <p:tag name="KSO_WM_DIAGRAM_GROUP_CODE" val="m1-1"/>
  <p:tag name="KSO_WM_UNIT_USESOURCEFORMAT_APPLY" val="1"/>
</p:tagLst>
</file>

<file path=ppt/tags/tag3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1_1"/>
  <p:tag name="KSO_WM_UNIT_CLEAR" val="1"/>
  <p:tag name="KSO_WM_UNIT_LAYERLEVEL" val="1_1_1"/>
  <p:tag name="KSO_WM_UNIT_VALUE" val="91"/>
  <p:tag name="KSO_WM_UNIT_HIGHLIGHT" val="0"/>
  <p:tag name="KSO_WM_UNIT_COMPATIBLE" val="0"/>
  <p:tag name="KSO_WM_UNIT_ID" val="custom160034_20*m_h_f*1_1_1"/>
  <p:tag name="KSO_WM_UNIT_PRESET_TEXT_INDEX" val="2"/>
  <p:tag name="KSO_WM_UNIT_PRESET_TEXT_LEN" val="20"/>
  <p:tag name="KSO_WM_DIAGRAM_GROUP_CODE" val="m1-1"/>
  <p:tag name="KSO_WM_UNIT_USESOURCEFORMAT_APPLY" val="1"/>
</p:tagLst>
</file>

<file path=ppt/tags/tag3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2_1"/>
  <p:tag name="KSO_WM_UNIT_CLEAR" val="1"/>
  <p:tag name="KSO_WM_UNIT_LAYERLEVEL" val="1_1_1"/>
  <p:tag name="KSO_WM_UNIT_VALUE" val="91"/>
  <p:tag name="KSO_WM_UNIT_HIGHLIGHT" val="0"/>
  <p:tag name="KSO_WM_UNIT_COMPATIBLE" val="0"/>
  <p:tag name="KSO_WM_UNIT_ID" val="custom160034_20*m_h_f*1_2_1"/>
  <p:tag name="KSO_WM_UNIT_PRESET_TEXT_INDEX" val="2"/>
  <p:tag name="KSO_WM_UNIT_PRESET_TEXT_LEN" val="20"/>
  <p:tag name="KSO_WM_DIAGRAM_GROUP_CODE" val="m1-1"/>
  <p:tag name="KSO_WM_UNIT_USESOURCEFORMAT_APPLY" val="1"/>
</p:tagLst>
</file>

<file path=ppt/tags/tag3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3_1"/>
  <p:tag name="KSO_WM_UNIT_CLEAR" val="1"/>
  <p:tag name="KSO_WM_UNIT_LAYERLEVEL" val="1_1_1"/>
  <p:tag name="KSO_WM_UNIT_VALUE" val="91"/>
  <p:tag name="KSO_WM_UNIT_HIGHLIGHT" val="0"/>
  <p:tag name="KSO_WM_UNIT_COMPATIBLE" val="0"/>
  <p:tag name="KSO_WM_UNIT_ID" val="custom160034_20*m_h_f*1_3_1"/>
  <p:tag name="KSO_WM_UNIT_PRESET_TEXT_INDEX" val="2"/>
  <p:tag name="KSO_WM_UNIT_PRESET_TEXT_LEN" val="20"/>
  <p:tag name="KSO_WM_DIAGRAM_GROUP_CODE" val="m1-1"/>
  <p:tag name="KSO_WM_UNIT_USESOURCEFORMAT_APPLY" val="1"/>
</p:tagLst>
</file>

<file path=ppt/tags/tag3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1"/>
  <p:tag name="KSO_WM_UNIT_CLEAR" val="1"/>
  <p:tag name="KSO_WM_UNIT_LAYERLEVEL" val="1_1"/>
  <p:tag name="KSO_WM_UNIT_ID" val="custom160034_20*m_i*1_1"/>
  <p:tag name="KSO_WM_DIAGRAM_GROUP_CODE" val="m1-1"/>
  <p:tag name="KSO_WM_UNIT_USESOURCEFORMAT_APPLY" val="1"/>
</p:tagLst>
</file>

<file path=ppt/tags/tag3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2"/>
  <p:tag name="KSO_WM_UNIT_CLEAR" val="1"/>
  <p:tag name="KSO_WM_UNIT_LAYERLEVEL" val="1_1"/>
  <p:tag name="KSO_WM_UNIT_ID" val="custom160034_20*m_i*1_2"/>
  <p:tag name="KSO_WM_DIAGRAM_GROUP_CODE" val="m1-1"/>
  <p:tag name="KSO_WM_UNIT_USESOURCEFORMAT_APPLY" val="1"/>
</p:tagLst>
</file>

<file path=ppt/tags/tag3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3"/>
  <p:tag name="KSO_WM_UNIT_CLEAR" val="1"/>
  <p:tag name="KSO_WM_UNIT_LAYERLEVEL" val="1_1"/>
  <p:tag name="KSO_WM_UNIT_ID" val="custom160034_20*m_i*1_3"/>
  <p:tag name="KSO_WM_DIAGRAM_GROUP_CODE" val="m1-1"/>
  <p:tag name="KSO_WM_UNIT_USESOURCEFORMAT_APPLY" val="1"/>
</p:tagLst>
</file>

<file path=ppt/tags/tag3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4"/>
  <p:tag name="KSO_WM_UNIT_CLEAR" val="1"/>
  <p:tag name="KSO_WM_UNIT_LAYERLEVEL" val="1_1"/>
  <p:tag name="KSO_WM_UNIT_ID" val="custom160034_20*m_i*1_4"/>
  <p:tag name="KSO_WM_DIAGRAM_GROUP_CODE" val="m1-1"/>
  <p:tag name="KSO_WM_UNIT_USESOURCEFORMAT_APPLY" val="1"/>
</p:tagLst>
</file>

<file path=ppt/tags/tag3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5"/>
  <p:tag name="KSO_WM_UNIT_CLEAR" val="1"/>
  <p:tag name="KSO_WM_UNIT_LAYERLEVEL" val="1_1"/>
  <p:tag name="KSO_WM_UNIT_ID" val="custom160034_20*m_i*1_5"/>
  <p:tag name="KSO_WM_DIAGRAM_GROUP_CODE" val="m1-1"/>
  <p:tag name="KSO_WM_UNIT_USESOURCEFORMAT_APPLY" val="1"/>
</p:tagLst>
</file>

<file path=ppt/tags/tag32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3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i"/>
  <p:tag name="KSO_WM_UNIT_INDEX" val="1_1"/>
  <p:tag name="KSO_WM_UNIT_ID" val="custom160135_23*l_i*1_1"/>
  <p:tag name="KSO_WM_UNIT_CLEAR" val="1"/>
  <p:tag name="KSO_WM_UNIT_LAYERLEVEL" val="1_1"/>
  <p:tag name="KSO_WM_DIAGRAM_GROUP_CODE" val="l1-2"/>
  <p:tag name="KSO_WM_UNIT_FILL_FORE_SCHEMECOLOR_INDEX" val="5"/>
  <p:tag name="KSO_WM_UNIT_FILL_TYPE" val="1"/>
  <p:tag name="KSO_WM_UNIT_TEXT_FILL_FORE_SCHEMECOLOR_INDEX" val="2"/>
  <p:tag name="KSO_WM_UNIT_TEXT_FILL_TYPE" val="1"/>
  <p:tag name="KSO_WM_UNIT_USESOURCEFORMAT_APPLY" val="1"/>
</p:tagLst>
</file>

<file path=ppt/tags/tag3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h_f"/>
  <p:tag name="KSO_WM_UNIT_INDEX" val="1_3_1"/>
  <p:tag name="KSO_WM_UNIT_ID" val="custom160135_23*l_h_f*1_3_1"/>
  <p:tag name="KSO_WM_UNIT_CLEAR" val="1"/>
  <p:tag name="KSO_WM_UNIT_LAYERLEVEL" val="1_1_1"/>
  <p:tag name="KSO_WM_UNIT_VALUE" val="24"/>
  <p:tag name="KSO_WM_UNIT_HIGHLIGHT" val="0"/>
  <p:tag name="KSO_WM_UNIT_COMPATIBLE" val="0"/>
  <p:tag name="KSO_WM_UNIT_PRESET_TEXT_INDEX" val="3"/>
  <p:tag name="KSO_WM_UNIT_PRESET_TEXT_LEN" val="17"/>
  <p:tag name="KSO_WM_DIAGRAM_GROUP_CODE" val="l1-2"/>
  <p:tag name="KSO_WM_UNIT_FILL_FORE_SCHEMECOLOR_INDEX" val="5"/>
  <p:tag name="KSO_WM_UNIT_FILL_TYPE" val="1"/>
  <p:tag name="KSO_WM_UNIT_USESOURCEFORMAT_APPLY" val="1"/>
</p:tagLst>
</file>

<file path=ppt/tags/tag3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i"/>
  <p:tag name="KSO_WM_UNIT_INDEX" val="1_2"/>
  <p:tag name="KSO_WM_UNIT_ID" val="custom160135_23*l_i*1_2"/>
  <p:tag name="KSO_WM_UNIT_CLEAR" val="1"/>
  <p:tag name="KSO_WM_UNIT_LAYERLEVEL" val="1_1"/>
  <p:tag name="KSO_WM_DIAGRAM_GROUP_CODE" val="l1-2"/>
  <p:tag name="KSO_WM_UNIT_FILL_FORE_SCHEMECOLOR_INDEX" val="5"/>
  <p:tag name="KSO_WM_UNIT_FILL_TYPE" val="1"/>
  <p:tag name="KSO_WM_UNIT_TEXT_FILL_FORE_SCHEMECOLOR_INDEX" val="2"/>
  <p:tag name="KSO_WM_UNIT_TEXT_FILL_TYPE" val="1"/>
  <p:tag name="KSO_WM_UNIT_USESOURCEFORMAT_APPLY" val="1"/>
</p:tagLst>
</file>

<file path=ppt/tags/tag3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i"/>
  <p:tag name="KSO_WM_UNIT_INDEX" val="1_3"/>
  <p:tag name="KSO_WM_UNIT_ID" val="custom160135_23*l_i*1_3"/>
  <p:tag name="KSO_WM_UNIT_CLEAR" val="1"/>
  <p:tag name="KSO_WM_UNIT_LAYERLEVEL" val="1_1"/>
  <p:tag name="KSO_WM_DIAGRAM_GROUP_CODE" val="l1-2"/>
  <p:tag name="KSO_WM_UNIT_FILL_FORE_SCHEMECOLOR_INDEX" val="5"/>
  <p:tag name="KSO_WM_UNIT_FILL_TYPE" val="1"/>
  <p:tag name="KSO_WM_UNIT_TEXT_FILL_FORE_SCHEMECOLOR_INDEX" val="2"/>
  <p:tag name="KSO_WM_UNIT_TEXT_FILL_TYPE" val="1"/>
  <p:tag name="KSO_WM_UNIT_USESOURCEFORMAT_APPLY" val="1"/>
</p:tagLst>
</file>

<file path=ppt/tags/tag3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i"/>
  <p:tag name="KSO_WM_UNIT_INDEX" val="1_4"/>
  <p:tag name="KSO_WM_UNIT_ID" val="custom160135_23*l_i*1_4"/>
  <p:tag name="KSO_WM_UNIT_CLEAR" val="1"/>
  <p:tag name="KSO_WM_UNIT_LAYERLEVEL" val="1_1"/>
  <p:tag name="KSO_WM_DIAGRAM_GROUP_CODE" val="l1-2"/>
  <p:tag name="KSO_WM_UNIT_FILL_FORE_SCHEMECOLOR_INDEX" val="5"/>
  <p:tag name="KSO_WM_UNIT_FILL_TYPE" val="1"/>
  <p:tag name="KSO_WM_UNIT_TEXT_FILL_FORE_SCHEMECOLOR_INDEX" val="2"/>
  <p:tag name="KSO_WM_UNIT_TEXT_FILL_TYPE" val="1"/>
  <p:tag name="KSO_WM_UNIT_USESOURCEFORMAT_APPLY" val="1"/>
</p:tagLst>
</file>

<file path=ppt/tags/tag3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i"/>
  <p:tag name="KSO_WM_UNIT_INDEX" val="1_5"/>
  <p:tag name="KSO_WM_UNIT_ID" val="custom160135_23*l_i*1_5"/>
  <p:tag name="KSO_WM_UNIT_CLEAR" val="1"/>
  <p:tag name="KSO_WM_UNIT_LAYERLEVEL" val="1_1"/>
  <p:tag name="KSO_WM_DIAGRAM_GROUP_CODE" val="l1-2"/>
  <p:tag name="KSO_WM_UNIT_FILL_FORE_SCHEMECOLOR_INDEX" val="6"/>
  <p:tag name="KSO_WM_UNIT_FILL_TYPE" val="1"/>
  <p:tag name="KSO_WM_UNIT_TEXT_FILL_FORE_SCHEMECOLOR_INDEX" val="2"/>
  <p:tag name="KSO_WM_UNIT_TEXT_FILL_TYPE" val="1"/>
  <p:tag name="KSO_WM_UNIT_USESOURCEFORMAT_APPLY" val="1"/>
</p:tagLst>
</file>

<file path=ppt/tags/tag3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h_f"/>
  <p:tag name="KSO_WM_UNIT_INDEX" val="1_2_1"/>
  <p:tag name="KSO_WM_UNIT_ID" val="custom160135_23*l_h_f*1_2_1"/>
  <p:tag name="KSO_WM_UNIT_CLEAR" val="1"/>
  <p:tag name="KSO_WM_UNIT_LAYERLEVEL" val="1_1_1"/>
  <p:tag name="KSO_WM_UNIT_VALUE" val="24"/>
  <p:tag name="KSO_WM_UNIT_HIGHLIGHT" val="0"/>
  <p:tag name="KSO_WM_UNIT_COMPATIBLE" val="0"/>
  <p:tag name="KSO_WM_UNIT_PRESET_TEXT_INDEX" val="3"/>
  <p:tag name="KSO_WM_UNIT_PRESET_TEXT_LEN" val="17"/>
  <p:tag name="KSO_WM_DIAGRAM_GROUP_CODE" val="l1-2"/>
  <p:tag name="KSO_WM_UNIT_FILL_FORE_SCHEMECOLOR_INDEX" val="6"/>
  <p:tag name="KSO_WM_UNIT_FILL_TYPE" val="1"/>
  <p:tag name="KSO_WM_UNIT_USESOURCEFORMAT_APPLY" val="1"/>
</p:tagLst>
</file>

<file path=ppt/tags/tag3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i"/>
  <p:tag name="KSO_WM_UNIT_INDEX" val="1_6"/>
  <p:tag name="KSO_WM_UNIT_ID" val="custom160135_23*l_i*1_6"/>
  <p:tag name="KSO_WM_UNIT_CLEAR" val="1"/>
  <p:tag name="KSO_WM_UNIT_LAYERLEVEL" val="1_1"/>
  <p:tag name="KSO_WM_DIAGRAM_GROUP_CODE" val="l1-2"/>
  <p:tag name="KSO_WM_UNIT_FILL_FORE_SCHEMECOLOR_INDEX" val="6"/>
  <p:tag name="KSO_WM_UNIT_FILL_TYPE" val="1"/>
  <p:tag name="KSO_WM_UNIT_TEXT_FILL_FORE_SCHEMECOLOR_INDEX" val="2"/>
  <p:tag name="KSO_WM_UNIT_TEXT_FILL_TYPE" val="1"/>
  <p:tag name="KSO_WM_UNIT_USESOURCEFORMAT_APPLY" val="1"/>
</p:tagLst>
</file>

<file path=ppt/tags/tag3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i"/>
  <p:tag name="KSO_WM_UNIT_INDEX" val="1_7"/>
  <p:tag name="KSO_WM_UNIT_ID" val="custom160135_23*l_i*1_7"/>
  <p:tag name="KSO_WM_UNIT_CLEAR" val="1"/>
  <p:tag name="KSO_WM_UNIT_LAYERLEVEL" val="1_1"/>
  <p:tag name="KSO_WM_DIAGRAM_GROUP_CODE" val="l1-2"/>
  <p:tag name="KSO_WM_UNIT_FILL_FORE_SCHEMECOLOR_INDEX" val="6"/>
  <p:tag name="KSO_WM_UNIT_FILL_TYPE" val="1"/>
  <p:tag name="KSO_WM_UNIT_TEXT_FILL_FORE_SCHEMECOLOR_INDEX" val="2"/>
  <p:tag name="KSO_WM_UNIT_TEXT_FILL_TYPE" val="1"/>
  <p:tag name="KSO_WM_UNIT_USESOURCEFORMAT_APPLY" val="1"/>
</p:tagLst>
</file>

<file path=ppt/tags/tag3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h_f"/>
  <p:tag name="KSO_WM_UNIT_INDEX" val="1_1_1"/>
  <p:tag name="KSO_WM_UNIT_ID" val="custom160135_23*l_h_f*1_1_1"/>
  <p:tag name="KSO_WM_UNIT_CLEAR" val="1"/>
  <p:tag name="KSO_WM_UNIT_LAYERLEVEL" val="1_1_1"/>
  <p:tag name="KSO_WM_UNIT_VALUE" val="24"/>
  <p:tag name="KSO_WM_UNIT_HIGHLIGHT" val="0"/>
  <p:tag name="KSO_WM_UNIT_COMPATIBLE" val="0"/>
  <p:tag name="KSO_WM_UNIT_PRESET_TEXT_INDEX" val="3"/>
  <p:tag name="KSO_WM_UNIT_PRESET_TEXT_LEN" val="17"/>
  <p:tag name="KSO_WM_DIAGRAM_GROUP_CODE" val="l1-2"/>
  <p:tag name="KSO_WM_UNIT_FILL_FORE_SCHEMECOLOR_INDEX" val="5"/>
  <p:tag name="KSO_WM_UNIT_FILL_TYPE" val="1"/>
  <p:tag name="KSO_WM_UNIT_USESOURCEFORMAT_APPLY" val="1"/>
</p:tagLst>
</file>

<file path=ppt/tags/tag3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i"/>
  <p:tag name="KSO_WM_UNIT_INDEX" val="1_8"/>
  <p:tag name="KSO_WM_UNIT_ID" val="custom160135_23*l_i*1_8"/>
  <p:tag name="KSO_WM_UNIT_CLEAR" val="1"/>
  <p:tag name="KSO_WM_UNIT_LAYERLEVEL" val="1_1"/>
  <p:tag name="KSO_WM_DIAGRAM_GROUP_CODE" val="l1-2"/>
  <p:tag name="KSO_WM_UNIT_FILL_FORE_SCHEMECOLOR_INDEX" val="5"/>
  <p:tag name="KSO_WM_UNIT_FILL_TYPE" val="1"/>
  <p:tag name="KSO_WM_UNIT_TEXT_FILL_FORE_SCHEMECOLOR_INDEX" val="2"/>
  <p:tag name="KSO_WM_UNIT_TEXT_FILL_TYPE" val="1"/>
  <p:tag name="KSO_WM_UNIT_USESOURCEFORMAT_APPLY" val="1"/>
</p:tagLst>
</file>

<file path=ppt/tags/tag3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i"/>
  <p:tag name="KSO_WM_UNIT_INDEX" val="1_9"/>
  <p:tag name="KSO_WM_UNIT_ID" val="custom160135_23*l_i*1_9"/>
  <p:tag name="KSO_WM_UNIT_CLEAR" val="1"/>
  <p:tag name="KSO_WM_UNIT_LAYERLEVEL" val="1_1"/>
  <p:tag name="KSO_WM_DIAGRAM_GROUP_CODE" val="l1-2"/>
  <p:tag name="KSO_WM_UNIT_FILL_FORE_SCHEMECOLOR_INDEX" val="5"/>
  <p:tag name="KSO_WM_UNIT_FILL_TYPE" val="1"/>
  <p:tag name="KSO_WM_UNIT_TEXT_FILL_FORE_SCHEMECOLOR_INDEX" val="2"/>
  <p:tag name="KSO_WM_UNIT_TEXT_FILL_TYPE" val="1"/>
  <p:tag name="KSO_WM_UNIT_USESOURCEFORMAT_APPLY" val="1"/>
</p:tagLst>
</file>

<file path=ppt/tags/tag3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i"/>
  <p:tag name="KSO_WM_UNIT_INDEX" val="1_10"/>
  <p:tag name="KSO_WM_UNIT_ID" val="custom160135_23*l_i*1_10"/>
  <p:tag name="KSO_WM_UNIT_CLEAR" val="1"/>
  <p:tag name="KSO_WM_UNIT_LAYERLEVEL" val="1_1"/>
  <p:tag name="KSO_WM_DIAGRAM_GROUP_CODE" val="l1-2"/>
  <p:tag name="KSO_WM_UNIT_FILL_FORE_SCHEMECOLOR_INDEX" val="5"/>
  <p:tag name="KSO_WM_UNIT_FILL_TYPE" val="1"/>
  <p:tag name="KSO_WM_UNIT_TEXT_FILL_FORE_SCHEMECOLOR_INDEX" val="2"/>
  <p:tag name="KSO_WM_UNIT_TEXT_FILL_TYPE" val="1"/>
  <p:tag name="KSO_WM_UNIT_USESOURCEFORMAT_APPLY" val="1"/>
</p:tagLst>
</file>

<file path=ppt/tags/tag3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h_f"/>
  <p:tag name="KSO_WM_UNIT_INDEX" val="1_4_1"/>
  <p:tag name="KSO_WM_UNIT_ID" val="custom160135_23*l_h_f*1_4_1"/>
  <p:tag name="KSO_WM_UNIT_CLEAR" val="1"/>
  <p:tag name="KSO_WM_UNIT_LAYERLEVEL" val="1_1_1"/>
  <p:tag name="KSO_WM_UNIT_VALUE" val="24"/>
  <p:tag name="KSO_WM_UNIT_HIGHLIGHT" val="0"/>
  <p:tag name="KSO_WM_UNIT_COMPATIBLE" val="0"/>
  <p:tag name="KSO_WM_UNIT_PRESET_TEXT_INDEX" val="3"/>
  <p:tag name="KSO_WM_UNIT_PRESET_TEXT_LEN" val="17"/>
  <p:tag name="KSO_WM_DIAGRAM_GROUP_CODE" val="l1-2"/>
  <p:tag name="KSO_WM_UNIT_FILL_FORE_SCHEMECOLOR_INDEX" val="6"/>
  <p:tag name="KSO_WM_UNIT_FILL_TYPE" val="1"/>
  <p:tag name="KSO_WM_UNIT_USESOURCEFORMAT_APPLY" val="1"/>
</p:tagLst>
</file>

<file path=ppt/tags/tag3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i"/>
  <p:tag name="KSO_WM_UNIT_INDEX" val="1_11"/>
  <p:tag name="KSO_WM_UNIT_ID" val="custom160135_23*l_i*1_11"/>
  <p:tag name="KSO_WM_UNIT_CLEAR" val="1"/>
  <p:tag name="KSO_WM_UNIT_LAYERLEVEL" val="1_1"/>
  <p:tag name="KSO_WM_DIAGRAM_GROUP_CODE" val="l1-2"/>
  <p:tag name="KSO_WM_UNIT_FILL_FORE_SCHEMECOLOR_INDEX" val="6"/>
  <p:tag name="KSO_WM_UNIT_FILL_TYPE" val="1"/>
  <p:tag name="KSO_WM_UNIT_TEXT_FILL_FORE_SCHEMECOLOR_INDEX" val="2"/>
  <p:tag name="KSO_WM_UNIT_TEXT_FILL_TYPE" val="1"/>
  <p:tag name="KSO_WM_UNIT_USESOURCEFORMAT_APPLY" val="1"/>
</p:tagLst>
</file>

<file path=ppt/tags/tag3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i"/>
  <p:tag name="KSO_WM_UNIT_INDEX" val="1_12"/>
  <p:tag name="KSO_WM_UNIT_ID" val="custom160135_23*l_i*1_12"/>
  <p:tag name="KSO_WM_UNIT_CLEAR" val="1"/>
  <p:tag name="KSO_WM_UNIT_LAYERLEVEL" val="1_1"/>
  <p:tag name="KSO_WM_DIAGRAM_GROUP_CODE" val="l1-2"/>
  <p:tag name="KSO_WM_UNIT_FILL_FORE_SCHEMECOLOR_INDEX" val="6"/>
  <p:tag name="KSO_WM_UNIT_FILL_TYPE" val="1"/>
  <p:tag name="KSO_WM_UNIT_TEXT_FILL_FORE_SCHEMECOLOR_INDEX" val="2"/>
  <p:tag name="KSO_WM_UNIT_TEXT_FILL_TYPE" val="1"/>
  <p:tag name="KSO_WM_UNIT_USESOURCEFORMAT_APPLY" val="1"/>
</p:tagLst>
</file>

<file path=ppt/tags/tag3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i"/>
  <p:tag name="KSO_WM_UNIT_INDEX" val="1_13"/>
  <p:tag name="KSO_WM_UNIT_ID" val="custom160135_23*l_i*1_13"/>
  <p:tag name="KSO_WM_UNIT_CLEAR" val="1"/>
  <p:tag name="KSO_WM_UNIT_LAYERLEVEL" val="1_1"/>
  <p:tag name="KSO_WM_DIAGRAM_GROUP_CODE" val="l1-2"/>
  <p:tag name="KSO_WM_UNIT_FILL_FORE_SCHEMECOLOR_INDEX" val="6"/>
  <p:tag name="KSO_WM_UNIT_FILL_TYPE" val="1"/>
  <p:tag name="KSO_WM_UNIT_TEXT_FILL_FORE_SCHEMECOLOR_INDEX" val="2"/>
  <p:tag name="KSO_WM_UNIT_TEXT_FILL_TYPE" val="1"/>
  <p:tag name="KSO_WM_UNIT_USESOURCEFORMAT_APPLY" val="1"/>
</p:tagLst>
</file>

<file path=ppt/tags/tag3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i"/>
  <p:tag name="KSO_WM_UNIT_INDEX" val="1_14"/>
  <p:tag name="KSO_WM_UNIT_ID" val="custom160135_23*l_i*1_14"/>
  <p:tag name="KSO_WM_UNIT_CLEAR" val="1"/>
  <p:tag name="KSO_WM_UNIT_LAYERLEVEL" val="1_1"/>
  <p:tag name="KSO_WM_DIAGRAM_GROUP_CODE" val="l1-2"/>
  <p:tag name="KSO_WM_UNIT_FILL_FORE_SCHEMECOLOR_INDEX" val="6"/>
  <p:tag name="KSO_WM_UNIT_FILL_TYPE" val="1"/>
  <p:tag name="KSO_WM_UNIT_TEXT_FILL_FORE_SCHEMECOLOR_INDEX" val="2"/>
  <p:tag name="KSO_WM_UNIT_TEXT_FILL_TYPE" val="1"/>
  <p:tag name="KSO_WM_UNIT_USESOURCEFORMAT_APPLY" val="1"/>
</p:tagLst>
</file>

<file path=ppt/tags/tag3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h_f"/>
  <p:tag name="KSO_WM_UNIT_INDEX" val="1_5_1"/>
  <p:tag name="KSO_WM_UNIT_ID" val="custom160135_23*l_h_f*1_5_1"/>
  <p:tag name="KSO_WM_UNIT_CLEAR" val="1"/>
  <p:tag name="KSO_WM_UNIT_LAYERLEVEL" val="1_1_1"/>
  <p:tag name="KSO_WM_UNIT_VALUE" val="24"/>
  <p:tag name="KSO_WM_UNIT_HIGHLIGHT" val="0"/>
  <p:tag name="KSO_WM_UNIT_COMPATIBLE" val="0"/>
  <p:tag name="KSO_WM_UNIT_PRESET_TEXT_INDEX" val="3"/>
  <p:tag name="KSO_WM_UNIT_PRESET_TEXT_LEN" val="17"/>
  <p:tag name="KSO_WM_DIAGRAM_GROUP_CODE" val="l1-2"/>
  <p:tag name="KSO_WM_UNIT_FILL_FORE_SCHEMECOLOR_INDEX" val="5"/>
  <p:tag name="KSO_WM_UNIT_FILL_TYPE" val="1"/>
  <p:tag name="KSO_WM_UNIT_USESOURCEFORMAT_APPLY" val="1"/>
</p:tagLst>
</file>

<file path=ppt/tags/tag3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i"/>
  <p:tag name="KSO_WM_UNIT_INDEX" val="1_15"/>
  <p:tag name="KSO_WM_UNIT_ID" val="custom160135_23*l_i*1_15"/>
  <p:tag name="KSO_WM_UNIT_CLEAR" val="1"/>
  <p:tag name="KSO_WM_UNIT_LAYERLEVEL" val="1_1"/>
  <p:tag name="KSO_WM_DIAGRAM_GROUP_CODE" val="l1-2"/>
  <p:tag name="KSO_WM_UNIT_FILL_FORE_SCHEMECOLOR_INDEX" val="5"/>
  <p:tag name="KSO_WM_UNIT_FILL_TYPE" val="1"/>
  <p:tag name="KSO_WM_UNIT_TEXT_FILL_FORE_SCHEMECOLOR_INDEX" val="2"/>
  <p:tag name="KSO_WM_UNIT_TEXT_FILL_TYPE" val="1"/>
  <p:tag name="KSO_WM_UNIT_USESOURCEFORMAT_APPLY" val="1"/>
</p:tagLst>
</file>

<file path=ppt/tags/tag3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35"/>
  <p:tag name="KSO_WM_UNIT_TYPE" val="l_i"/>
  <p:tag name="KSO_WM_UNIT_INDEX" val="1_16"/>
  <p:tag name="KSO_WM_UNIT_ID" val="custom160135_23*l_i*1_16"/>
  <p:tag name="KSO_WM_UNIT_CLEAR" val="1"/>
  <p:tag name="KSO_WM_UNIT_LAYERLEVEL" val="1_1"/>
  <p:tag name="KSO_WM_DIAGRAM_GROUP_CODE" val="l1-2"/>
  <p:tag name="KSO_WM_UNIT_FILL_FORE_SCHEMECOLOR_INDEX" val="5"/>
  <p:tag name="KSO_WM_UNIT_FILL_TYPE" val="1"/>
  <p:tag name="KSO_WM_UNIT_TEXT_FILL_FORE_SCHEMECOLOR_INDEX" val="2"/>
  <p:tag name="KSO_WM_UNIT_TEXT_FILL_TYPE" val="1"/>
  <p:tag name="KSO_WM_UNIT_USESOURCEFORMAT_APPLY" val="1"/>
</p:tagLst>
</file>

<file path=ppt/tags/tag35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35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35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35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35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35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35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35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35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36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36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36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36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36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36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36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36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36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36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37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37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37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37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37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37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37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37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37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37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38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38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38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38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38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38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38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38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38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38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39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39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39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39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39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39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39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39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39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39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40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40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40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40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40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40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40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40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40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40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41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41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41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41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41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41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41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41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41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41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42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42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42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42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42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42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42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42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42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42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43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43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43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43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43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43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43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43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43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43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44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44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44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44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44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44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44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4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h_f"/>
  <p:tag name="KSO_WM_UNIT_INDEX" val="1_2_1"/>
  <p:tag name="KSO_WM_UNIT_ID" val="diagram781_3*q_h_f*1_2_1"/>
  <p:tag name="KSO_WM_UNIT_CLEAR" val="1"/>
  <p:tag name="KSO_WM_UNIT_LAYERLEVEL" val="1_1_1"/>
  <p:tag name="KSO_WM_UNIT_VALUE" val="8"/>
  <p:tag name="KSO_WM_UNIT_HIGHLIGHT" val="0"/>
  <p:tag name="KSO_WM_UNIT_COMPATIBLE" val="0"/>
  <p:tag name="KSO_WM_UNIT_PRESET_TEXT_INDEX" val="4"/>
  <p:tag name="KSO_WM_UNIT_PRESET_TEXT_LEN" val="17"/>
  <p:tag name="KSO_WM_DIAGRAM_GROUP_CODE" val="q1-1"/>
  <p:tag name="KSO_WM_UNIT_TEXT_FILL_FORE_SCHEMECOLOR_INDEX" val="13"/>
  <p:tag name="KSO_WM_UNIT_TEXT_FILL_TYPE" val="1"/>
  <p:tag name="KSO_WM_UNIT_USESOURCEFORMAT_APPLY" val="1"/>
</p:tagLst>
</file>

<file path=ppt/tags/tag4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h_f"/>
  <p:tag name="KSO_WM_UNIT_INDEX" val="1_3_1"/>
  <p:tag name="KSO_WM_UNIT_ID" val="diagram781_3*q_h_f*1_3_1"/>
  <p:tag name="KSO_WM_UNIT_CLEAR" val="1"/>
  <p:tag name="KSO_WM_UNIT_LAYERLEVEL" val="1_1_1"/>
  <p:tag name="KSO_WM_UNIT_VALUE" val="8"/>
  <p:tag name="KSO_WM_UNIT_HIGHLIGHT" val="0"/>
  <p:tag name="KSO_WM_UNIT_COMPATIBLE" val="0"/>
  <p:tag name="KSO_WM_UNIT_PRESET_TEXT_INDEX" val="4"/>
  <p:tag name="KSO_WM_UNIT_PRESET_TEXT_LEN" val="17"/>
  <p:tag name="KSO_WM_DIAGRAM_GROUP_CODE" val="q1-1"/>
  <p:tag name="KSO_WM_UNIT_TEXT_FILL_FORE_SCHEMECOLOR_INDEX" val="13"/>
  <p:tag name="KSO_WM_UNIT_TEXT_FILL_TYPE" val="1"/>
  <p:tag name="KSO_WM_UNIT_USESOURCEFORMAT_APPLY" val="1"/>
</p:tagLst>
</file>

<file path=ppt/tags/tag4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781_3*i*3"/>
  <p:tag name="KSO_WM_TEMPLATE_CATEGORY" val="diagram"/>
  <p:tag name="KSO_WM_TEMPLATE_INDEX" val="781"/>
  <p:tag name="KSO_WM_UNIT_INDEX" val="3"/>
</p:tagLst>
</file>

<file path=ppt/tags/tag4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781_3*i*12"/>
  <p:tag name="KSO_WM_TEMPLATE_CATEGORY" val="diagram"/>
  <p:tag name="KSO_WM_TEMPLATE_INDEX" val="781"/>
  <p:tag name="KSO_WM_UNIT_INDEX" val="12"/>
</p:tagLst>
</file>

<file path=ppt/tags/tag4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781_3*i*17"/>
  <p:tag name="KSO_WM_TEMPLATE_CATEGORY" val="diagram"/>
  <p:tag name="KSO_WM_TEMPLATE_INDEX" val="781"/>
  <p:tag name="KSO_WM_UNIT_INDEX" val="17"/>
</p:tagLst>
</file>

<file path=ppt/tags/tag4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781_3*i*22"/>
  <p:tag name="KSO_WM_TEMPLATE_CATEGORY" val="diagram"/>
  <p:tag name="KSO_WM_TEMPLATE_INDEX" val="781"/>
  <p:tag name="KSO_WM_UNIT_INDEX" val="22"/>
</p:tagLst>
</file>

<file path=ppt/tags/tag4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781_3*i*27"/>
  <p:tag name="KSO_WM_TEMPLATE_CATEGORY" val="diagram"/>
  <p:tag name="KSO_WM_TEMPLATE_INDEX" val="781"/>
  <p:tag name="KSO_WM_UNIT_INDEX" val="27"/>
</p:tagLst>
</file>

<file path=ppt/tags/tag4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3"/>
  <p:tag name="KSO_WM_UNIT_ID" val="diagram781_3*q_i*1_13"/>
  <p:tag name="KSO_WM_UNIT_CLEAR" val="1"/>
  <p:tag name="KSO_WM_UNIT_LAYERLEVEL" val="1_1"/>
  <p:tag name="KSO_WM_DIAGRAM_GROUP_CODE" val="q1-1"/>
  <p:tag name="KSO_WM_UNIT_TEXT_FILL_FORE_SCHEMECOLOR_INDEX" val="14"/>
  <p:tag name="KSO_WM_UNIT_TEXT_FILL_TYPE" val="1"/>
  <p:tag name="KSO_WM_UNIT_USESOURCEFORMAT_APPLY" val="1"/>
</p:tagLst>
</file>

<file path=ppt/tags/tag4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4"/>
  <p:tag name="KSO_WM_UNIT_ID" val="diagram781_3*q_i*1_14"/>
  <p:tag name="KSO_WM_UNIT_CLEAR" val="1"/>
  <p:tag name="KSO_WM_UNIT_LAYERLEVEL" val="1_1"/>
  <p:tag name="KSO_WM_DIAGRAM_GROUP_CODE" val="q1-1"/>
  <p:tag name="KSO_WM_UNIT_TEXT_FILL_FORE_SCHEMECOLOR_INDEX" val="14"/>
  <p:tag name="KSO_WM_UNIT_TEXT_FILL_TYPE" val="1"/>
  <p:tag name="KSO_WM_UNIT_USESOURCEFORMAT_APPLY" val="1"/>
</p:tagLst>
</file>

<file path=ppt/tags/tag4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5"/>
  <p:tag name="KSO_WM_UNIT_ID" val="diagram781_3*q_i*1_15"/>
  <p:tag name="KSO_WM_UNIT_CLEAR" val="1"/>
  <p:tag name="KSO_WM_UNIT_LAYERLEVEL" val="1_1"/>
  <p:tag name="KSO_WM_DIAGRAM_GROUP_CODE" val="q1-1"/>
  <p:tag name="KSO_WM_UNIT_TEXT_FILL_FORE_SCHEMECOLOR_INDEX" val="14"/>
  <p:tag name="KSO_WM_UNIT_TEXT_FILL_TYPE" val="1"/>
  <p:tag name="KSO_WM_UNIT_USESOURCEFORMAT_APPLY" val="1"/>
</p:tagLst>
</file>

<file path=ppt/tags/tag4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6"/>
  <p:tag name="KSO_WM_UNIT_ID" val="diagram781_3*q_i*1_16"/>
  <p:tag name="KSO_WM_UNIT_CLEAR" val="1"/>
  <p:tag name="KSO_WM_UNIT_LAYERLEVEL" val="1_1"/>
  <p:tag name="KSO_WM_DIAGRAM_GROUP_CODE" val="q1-1"/>
  <p:tag name="KSO_WM_UNIT_TEXT_FILL_FORE_SCHEMECOLOR_INDEX" val="14"/>
  <p:tag name="KSO_WM_UNIT_TEXT_FILL_TYPE" val="1"/>
  <p:tag name="KSO_WM_UNIT_USESOURCEFORMAT_APPLY" val="1"/>
</p:tagLst>
</file>

<file path=ppt/tags/tag4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h_f"/>
  <p:tag name="KSO_WM_UNIT_INDEX" val="1_1_1"/>
  <p:tag name="KSO_WM_UNIT_ID" val="diagram781_3*q_h_f*1_1_1"/>
  <p:tag name="KSO_WM_UNIT_CLEAR" val="1"/>
  <p:tag name="KSO_WM_UNIT_LAYERLEVEL" val="1_1_1"/>
  <p:tag name="KSO_WM_UNIT_VALUE" val="8"/>
  <p:tag name="KSO_WM_UNIT_HIGHLIGHT" val="0"/>
  <p:tag name="KSO_WM_UNIT_COMPATIBLE" val="0"/>
  <p:tag name="KSO_WM_UNIT_PRESET_TEXT_INDEX" val="4"/>
  <p:tag name="KSO_WM_UNIT_PRESET_TEXT_LEN" val="17"/>
  <p:tag name="KSO_WM_DIAGRAM_GROUP_CODE" val="q1-1"/>
  <p:tag name="KSO_WM_UNIT_TEXT_FILL_FORE_SCHEMECOLOR_INDEX" val="13"/>
  <p:tag name="KSO_WM_UNIT_TEXT_FILL_TYPE" val="1"/>
  <p:tag name="KSO_WM_UNIT_USESOURCEFORMAT_APPLY" val="1"/>
</p:tagLst>
</file>

<file path=ppt/tags/tag4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h_f"/>
  <p:tag name="KSO_WM_UNIT_INDEX" val="1_4_1"/>
  <p:tag name="KSO_WM_UNIT_ID" val="diagram781_3*q_h_f*1_4_1"/>
  <p:tag name="KSO_WM_UNIT_CLEAR" val="1"/>
  <p:tag name="KSO_WM_UNIT_LAYERLEVEL" val="1_1_1"/>
  <p:tag name="KSO_WM_UNIT_VALUE" val="8"/>
  <p:tag name="KSO_WM_UNIT_HIGHLIGHT" val="0"/>
  <p:tag name="KSO_WM_UNIT_COMPATIBLE" val="0"/>
  <p:tag name="KSO_WM_UNIT_PRESET_TEXT_INDEX" val="4"/>
  <p:tag name="KSO_WM_UNIT_PRESET_TEXT_LEN" val="17"/>
  <p:tag name="KSO_WM_DIAGRAM_GROUP_CODE" val="q1-1"/>
  <p:tag name="KSO_WM_UNIT_TEXT_FILL_FORE_SCHEMECOLOR_INDEX" val="13"/>
  <p:tag name="KSO_WM_UNIT_TEXT_FILL_TYPE" val="1"/>
  <p:tag name="KSO_WM_UNIT_USESOURCEFORMAT_APPLY" val="1"/>
</p:tagLst>
</file>

<file path=ppt/tags/tag4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1"/>
  <p:tag name="KSO_WM_UNIT_ID" val="diagram781_3*q_i*1_11"/>
  <p:tag name="KSO_WM_UNIT_CLEAR" val="1"/>
  <p:tag name="KSO_WM_UNIT_LAYERLEVEL" val="1_1"/>
  <p:tag name="KSO_WM_DIAGRAM_GROUP_CODE" val="q1-1"/>
  <p:tag name="KSO_WM_UNIT_FILL_FORE_SCHEMECOLOR_INDEX" val="6"/>
  <p:tag name="KSO_WM_UNIT_FILL_TYPE" val="1"/>
  <p:tag name="KSO_WM_UNIT_TEXT_FILL_FORE_SCHEMECOLOR_INDEX" val="2"/>
  <p:tag name="KSO_WM_UNIT_TEXT_FILL_TYPE" val="1"/>
  <p:tag name="KSO_WM_UNIT_USESOURCEFORMAT_APPLY" val="1"/>
</p:tagLst>
</file>

<file path=ppt/tags/tag4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2"/>
  <p:tag name="KSO_WM_UNIT_ID" val="diagram781_3*q_i*1_12"/>
  <p:tag name="KSO_WM_UNIT_CLEAR" val="1"/>
  <p:tag name="KSO_WM_UNIT_LAYERLEVEL" val="1_1"/>
  <p:tag name="KSO_WM_DIAGRAM_GROUP_CODE" val="q1-1"/>
  <p:tag name="KSO_WM_UNIT_FILL_FORE_SCHEMECOLOR_INDEX" val="6"/>
  <p:tag name="KSO_WM_UNIT_FILL_TYPE" val="1"/>
  <p:tag name="KSO_WM_UNIT_TEXT_FILL_FORE_SCHEMECOLOR_INDEX" val="2"/>
  <p:tag name="KSO_WM_UNIT_TEXT_FILL_TYPE" val="1"/>
  <p:tag name="KSO_WM_UNIT_USESOURCEFORMAT_APPLY" val="1"/>
</p:tagLst>
</file>

<file path=ppt/tags/tag4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9"/>
  <p:tag name="KSO_WM_UNIT_ID" val="diagram781_3*q_i*1_9"/>
  <p:tag name="KSO_WM_UNIT_CLEAR" val="1"/>
  <p:tag name="KSO_WM_UNIT_LAYERLEVEL" val="1_1"/>
  <p:tag name="KSO_WM_DIAGRAM_GROUP_CODE" val="q1-1"/>
  <p:tag name="KSO_WM_UNIT_FILL_FORE_SCHEMECOLOR_INDEX" val="5"/>
  <p:tag name="KSO_WM_UNIT_FILL_TYPE" val="1"/>
  <p:tag name="KSO_WM_UNIT_TEXT_FILL_FORE_SCHEMECOLOR_INDEX" val="2"/>
  <p:tag name="KSO_WM_UNIT_TEXT_FILL_TYPE" val="1"/>
  <p:tag name="KSO_WM_UNIT_USESOURCEFORMAT_APPLY" val="1"/>
</p:tagLst>
</file>

<file path=ppt/tags/tag4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0"/>
  <p:tag name="KSO_WM_UNIT_ID" val="diagram781_3*q_i*1_10"/>
  <p:tag name="KSO_WM_UNIT_CLEAR" val="1"/>
  <p:tag name="KSO_WM_UNIT_LAYERLEVEL" val="1_1"/>
  <p:tag name="KSO_WM_DIAGRAM_GROUP_CODE" val="q1-1"/>
  <p:tag name="KSO_WM_UNIT_FILL_FORE_SCHEMECOLOR_INDEX" val="5"/>
  <p:tag name="KSO_WM_UNIT_FILL_TYPE" val="1"/>
  <p:tag name="KSO_WM_UNIT_TEXT_FILL_FORE_SCHEMECOLOR_INDEX" val="2"/>
  <p:tag name="KSO_WM_UNIT_TEXT_FILL_TYPE" val="1"/>
  <p:tag name="KSO_WM_UNIT_USESOURCEFORMAT_APPLY" val="1"/>
</p:tagLst>
</file>

<file path=ppt/tags/tag4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7"/>
  <p:tag name="KSO_WM_UNIT_ID" val="diagram781_3*q_i*1_7"/>
  <p:tag name="KSO_WM_UNIT_CLEAR" val="1"/>
  <p:tag name="KSO_WM_UNIT_LAYERLEVEL" val="1_1"/>
  <p:tag name="KSO_WM_DIAGRAM_GROUP_CODE" val="q1-1"/>
  <p:tag name="KSO_WM_UNIT_FILL_FORE_SCHEMECOLOR_INDEX" val="6"/>
  <p:tag name="KSO_WM_UNIT_FILL_TYPE" val="1"/>
  <p:tag name="KSO_WM_UNIT_TEXT_FILL_FORE_SCHEMECOLOR_INDEX" val="2"/>
  <p:tag name="KSO_WM_UNIT_TEXT_FILL_TYPE" val="1"/>
  <p:tag name="KSO_WM_UNIT_USESOURCEFORMAT_APPLY" val="1"/>
</p:tagLst>
</file>

<file path=ppt/tags/tag4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8"/>
  <p:tag name="KSO_WM_UNIT_ID" val="diagram781_3*q_i*1_8"/>
  <p:tag name="KSO_WM_UNIT_CLEAR" val="1"/>
  <p:tag name="KSO_WM_UNIT_LAYERLEVEL" val="1_1"/>
  <p:tag name="KSO_WM_DIAGRAM_GROUP_CODE" val="q1-1"/>
  <p:tag name="KSO_WM_UNIT_FILL_FORE_SCHEMECOLOR_INDEX" val="6"/>
  <p:tag name="KSO_WM_UNIT_FILL_TYPE" val="1"/>
  <p:tag name="KSO_WM_UNIT_TEXT_FILL_FORE_SCHEMECOLOR_INDEX" val="2"/>
  <p:tag name="KSO_WM_UNIT_TEXT_FILL_TYPE" val="1"/>
  <p:tag name="KSO_WM_UNIT_USESOURCEFORMAT_APPLY" val="1"/>
</p:tagLst>
</file>

<file path=ppt/tags/tag4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5"/>
  <p:tag name="KSO_WM_UNIT_ID" val="diagram781_3*q_i*1_5"/>
  <p:tag name="KSO_WM_UNIT_CLEAR" val="1"/>
  <p:tag name="KSO_WM_UNIT_LAYERLEVEL" val="1_1"/>
  <p:tag name="KSO_WM_DIAGRAM_GROUP_CODE" val="q1-1"/>
  <p:tag name="KSO_WM_UNIT_FILL_FORE_SCHEMECOLOR_INDEX" val="5"/>
  <p:tag name="KSO_WM_UNIT_FILL_TYPE" val="1"/>
  <p:tag name="KSO_WM_UNIT_TEXT_FILL_FORE_SCHEMECOLOR_INDEX" val="2"/>
  <p:tag name="KSO_WM_UNIT_TEXT_FILL_TYPE" val="1"/>
  <p:tag name="KSO_WM_UNIT_USESOURCEFORMAT_APPLY" val="1"/>
</p:tagLst>
</file>

<file path=ppt/tags/tag4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6"/>
  <p:tag name="KSO_WM_UNIT_ID" val="diagram781_3*q_i*1_6"/>
  <p:tag name="KSO_WM_UNIT_CLEAR" val="1"/>
  <p:tag name="KSO_WM_UNIT_LAYERLEVEL" val="1_1"/>
  <p:tag name="KSO_WM_DIAGRAM_GROUP_CODE" val="q1-1"/>
  <p:tag name="KSO_WM_UNIT_FILL_FORE_SCHEMECOLOR_INDEX" val="5"/>
  <p:tag name="KSO_WM_UNIT_FILL_TYPE" val="1"/>
  <p:tag name="KSO_WM_UNIT_TEXT_FILL_FORE_SCHEMECOLOR_INDEX" val="2"/>
  <p:tag name="KSO_WM_UNIT_TEXT_FILL_TYPE" val="1"/>
  <p:tag name="KSO_WM_UNIT_USESOURCEFORMAT_APPLY" val="1"/>
</p:tagLst>
</file>

<file path=ppt/tags/tag4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
  <p:tag name="KSO_WM_UNIT_ID" val="diagram781_3*q_i*1_1"/>
  <p:tag name="KSO_WM_UNIT_CLEAR" val="1"/>
  <p:tag name="KSO_WM_UNIT_LAYERLEVEL" val="1_1"/>
  <p:tag name="KSO_WM_DIAGRAM_GROUP_CODE" val="q1-1"/>
  <p:tag name="KSO_WM_UNIT_FILL_FORE_SCHEMECOLOR_INDEX" val="6"/>
  <p:tag name="KSO_WM_UNIT_FILL_TYPE" val="1"/>
  <p:tag name="KSO_WM_UNIT_TEXT_FILL_FORE_SCHEMECOLOR_INDEX" val="13"/>
  <p:tag name="KSO_WM_UNIT_TEXT_FILL_TYPE" val="1"/>
  <p:tag name="KSO_WM_UNIT_USESOURCEFORMAT_APPLY" val="1"/>
</p:tagLst>
</file>

<file path=ppt/tags/tag4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2"/>
  <p:tag name="KSO_WM_UNIT_ID" val="diagram781_3*q_i*1_2"/>
  <p:tag name="KSO_WM_UNIT_CLEAR" val="1"/>
  <p:tag name="KSO_WM_UNIT_LAYERLEVEL" val="1_1"/>
  <p:tag name="KSO_WM_DIAGRAM_GROUP_CODE" val="q1-1"/>
  <p:tag name="KSO_WM_UNIT_FILL_FORE_SCHEMECOLOR_INDEX" val="5"/>
  <p:tag name="KSO_WM_UNIT_FILL_TYPE" val="1"/>
  <p:tag name="KSO_WM_UNIT_TEXT_FILL_FORE_SCHEMECOLOR_INDEX" val="13"/>
  <p:tag name="KSO_WM_UNIT_TEXT_FILL_TYPE" val="1"/>
  <p:tag name="KSO_WM_UNIT_USESOURCEFORMAT_APPLY" val="1"/>
</p:tagLst>
</file>

<file path=ppt/tags/tag4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3"/>
  <p:tag name="KSO_WM_UNIT_ID" val="diagram781_3*q_i*1_3"/>
  <p:tag name="KSO_WM_UNIT_CLEAR" val="1"/>
  <p:tag name="KSO_WM_UNIT_LAYERLEVEL" val="1_1"/>
  <p:tag name="KSO_WM_DIAGRAM_GROUP_CODE" val="q1-1"/>
  <p:tag name="KSO_WM_UNIT_FILL_FORE_SCHEMECOLOR_INDEX" val="6"/>
  <p:tag name="KSO_WM_UNIT_FILL_TYPE" val="1"/>
  <p:tag name="KSO_WM_UNIT_TEXT_FILL_FORE_SCHEMECOLOR_INDEX" val="13"/>
  <p:tag name="KSO_WM_UNIT_TEXT_FILL_TYPE" val="1"/>
  <p:tag name="KSO_WM_UNIT_USESOURCEFORMAT_APPLY" val="1"/>
</p:tagLst>
</file>

<file path=ppt/tags/tag4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4"/>
  <p:tag name="KSO_WM_UNIT_ID" val="diagram781_3*q_i*1_4"/>
  <p:tag name="KSO_WM_UNIT_CLEAR" val="1"/>
  <p:tag name="KSO_WM_UNIT_LAYERLEVEL" val="1_1"/>
  <p:tag name="KSO_WM_DIAGRAM_GROUP_CODE" val="q1-1"/>
  <p:tag name="KSO_WM_UNIT_FILL_FORE_SCHEMECOLOR_INDEX" val="5"/>
  <p:tag name="KSO_WM_UNIT_FILL_TYPE" val="1"/>
  <p:tag name="KSO_WM_UNIT_TEXT_FILL_FORE_SCHEMECOLOR_INDEX" val="13"/>
  <p:tag name="KSO_WM_UNIT_TEXT_FILL_TYPE" val="1"/>
  <p:tag name="KSO_WM_UNIT_USESOURCEFORMAT_APPLY" val="1"/>
</p:tagLst>
</file>

<file path=ppt/tags/tag472.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4"/>
</p:tagLst>
</file>

<file path=ppt/tags/tag473.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4"/>
</p:tagLst>
</file>

<file path=ppt/tags/tag474.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4"/>
</p:tagLst>
</file>

<file path=ppt/tags/tag475.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4"/>
</p:tagLst>
</file>

<file path=ppt/tags/tag476.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4"/>
</p:tagLst>
</file>

<file path=ppt/tags/tag477.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Title"/>
  <p:tag name="MH_ORDER" val="1"/>
</p:tagLst>
</file>

<file path=ppt/tags/tag478.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479.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480.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481.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482.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483.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484.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485.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486.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Other"/>
  <p:tag name="MH_ORDER" val="5"/>
</p:tagLst>
</file>

<file path=ppt/tags/tag487.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4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6*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6*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6*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6*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6*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4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6*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4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6*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4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6*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4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6*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4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6*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4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6*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6*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6*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6*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02.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Other"/>
  <p:tag name="MH_ORDER" val="1"/>
</p:tagLst>
</file>

<file path=ppt/tags/tag503.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itle"/>
  <p:tag name="MH_ORDER" val="1"/>
</p:tagLst>
</file>

<file path=ppt/tags/tag504.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505.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ext"/>
  <p:tag name="MH_ORDER" val="1"/>
</p:tagLst>
</file>

<file path=ppt/tags/tag506.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507.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ext"/>
  <p:tag name="MH_ORDER" val="1"/>
</p:tagLst>
</file>

<file path=ppt/tags/tag508.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5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25*l_i*1_1"/>
  <p:tag name="KSO_WM_UNIT_LAYERLEVEL" val="1_1"/>
  <p:tag name="KSO_WM_DIAGRAM_GROUP_CODE" val="l1-8"/>
  <p:tag name="KSO_WM_UNIT_FILL_FORE_SCHEMECOLOR_INDEX" val="5"/>
  <p:tag name="KSO_WM_UNIT_FILL_TYPE" val="1"/>
  <p:tag name="KSO_WM_UNIT_TEXT_FILL_FORE_SCHEMECOLOR_INDEX" val="13"/>
  <p:tag name="KSO_WM_UNIT_TEXT_FILL_TYPE" val="1"/>
  <p:tag name="KSO_WM_UNIT_USESOURCEFORMAT_APPLY" val="1"/>
</p:tagLst>
</file>

<file path=ppt/tags/tag5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25*l_i*1_2"/>
  <p:tag name="KSO_WM_UNIT_LAYERLEVEL" val="1_1"/>
  <p:tag name="KSO_WM_DIAGRAM_GROUP_CODE" val="l1-8"/>
  <p:tag name="KSO_WM_UNIT_FILL_FORE_SCHEMECOLOR_INDEX" val="5"/>
  <p:tag name="KSO_WM_UNIT_FILL_TYPE" val="1"/>
  <p:tag name="KSO_WM_UNIT_TEXT_FILL_FORE_SCHEMECOLOR_INDEX" val="13"/>
  <p:tag name="KSO_WM_UNIT_TEXT_FILL_TYPE" val="1"/>
  <p:tag name="KSO_WM_UNIT_USESOURCEFORMAT_APPLY" val="1"/>
</p:tagLst>
</file>

<file path=ppt/tags/tag5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3"/>
  <p:tag name="KSO_WM_UNIT_ID" val="custom160596_25*l_i*1_3"/>
  <p:tag name="KSO_WM_UNIT_LAYERLEVEL" val="1_1"/>
  <p:tag name="KSO_WM_DIAGRAM_GROUP_CODE" val="l1-8"/>
  <p:tag name="KSO_WM_UNIT_FILL_FORE_SCHEMECOLOR_INDEX" val="6"/>
  <p:tag name="KSO_WM_UNIT_FILL_TYPE" val="1"/>
  <p:tag name="KSO_WM_UNIT_TEXT_FILL_FORE_SCHEMECOLOR_INDEX" val="13"/>
  <p:tag name="KSO_WM_UNIT_TEXT_FILL_TYPE" val="1"/>
  <p:tag name="KSO_WM_UNIT_USESOURCEFORMAT_APPLY" val="1"/>
</p:tagLst>
</file>

<file path=ppt/tags/tag5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4"/>
  <p:tag name="KSO_WM_UNIT_ID" val="custom160596_25*l_i*1_4"/>
  <p:tag name="KSO_WM_UNIT_LAYERLEVEL" val="1_1"/>
  <p:tag name="KSO_WM_DIAGRAM_GROUP_CODE" val="l1-8"/>
  <p:tag name="KSO_WM_UNIT_FILL_FORE_SCHEMECOLOR_INDEX" val="6"/>
  <p:tag name="KSO_WM_UNIT_FILL_TYPE" val="1"/>
  <p:tag name="KSO_WM_UNIT_TEXT_FILL_FORE_SCHEMECOLOR_INDEX" val="13"/>
  <p:tag name="KSO_WM_UNIT_TEXT_FILL_TYPE" val="1"/>
  <p:tag name="KSO_WM_UNIT_USESOURCEFORMAT_APPLY" val="1"/>
</p:tagLst>
</file>

<file path=ppt/tags/tag5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5"/>
  <p:tag name="KSO_WM_UNIT_ID" val="custom160596_25*l_i*1_5"/>
  <p:tag name="KSO_WM_UNIT_LAYERLEVEL" val="1_1"/>
  <p:tag name="KSO_WM_DIAGRAM_GROUP_CODE" val="l1-8"/>
  <p:tag name="KSO_WM_UNIT_FILL_FORE_SCHEMECOLOR_INDEX" val="7"/>
  <p:tag name="KSO_WM_UNIT_FILL_TYPE" val="1"/>
  <p:tag name="KSO_WM_UNIT_TEXT_FILL_FORE_SCHEMECOLOR_INDEX" val="13"/>
  <p:tag name="KSO_WM_UNIT_TEXT_FILL_TYPE" val="1"/>
  <p:tag name="KSO_WM_UNIT_USESOURCEFORMAT_APPLY" val="1"/>
</p:tagLst>
</file>

<file path=ppt/tags/tag5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6"/>
  <p:tag name="KSO_WM_UNIT_ID" val="custom160596_25*l_i*1_6"/>
  <p:tag name="KSO_WM_UNIT_LAYERLEVEL" val="1_1"/>
  <p:tag name="KSO_WM_DIAGRAM_GROUP_CODE" val="l1-8"/>
  <p:tag name="KSO_WM_UNIT_FILL_FORE_SCHEMECOLOR_INDEX" val="7"/>
  <p:tag name="KSO_WM_UNIT_FILL_TYPE" val="1"/>
  <p:tag name="KSO_WM_UNIT_TEXT_FILL_FORE_SCHEMECOLOR_INDEX" val="13"/>
  <p:tag name="KSO_WM_UNIT_TEXT_FILL_TYPE" val="1"/>
  <p:tag name="KSO_WM_UNIT_USESOURCEFORMAT_APPLY" val="1"/>
</p:tagLst>
</file>

<file path=ppt/tags/tag5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7"/>
  <p:tag name="KSO_WM_UNIT_ID" val="custom160596_25*l_i*1_7"/>
  <p:tag name="KSO_WM_UNIT_LAYERLEVEL" val="1_1"/>
  <p:tag name="KSO_WM_DIAGRAM_GROUP_CODE" val="l1-8"/>
  <p:tag name="KSO_WM_UNIT_FILL_FORE_SCHEMECOLOR_INDEX" val="9"/>
  <p:tag name="KSO_WM_UNIT_FILL_TYPE" val="1"/>
  <p:tag name="KSO_WM_UNIT_TEXT_FILL_FORE_SCHEMECOLOR_INDEX" val="13"/>
  <p:tag name="KSO_WM_UNIT_TEXT_FILL_TYPE" val="1"/>
  <p:tag name="KSO_WM_UNIT_USESOURCEFORMAT_APPLY" val="1"/>
</p:tagLst>
</file>

<file path=ppt/tags/tag5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8"/>
  <p:tag name="KSO_WM_UNIT_ID" val="custom160596_25*l_i*1_8"/>
  <p:tag name="KSO_WM_UNIT_LAYERLEVEL" val="1_1"/>
  <p:tag name="KSO_WM_DIAGRAM_GROUP_CODE" val="l1-8"/>
  <p:tag name="KSO_WM_UNIT_FILL_FORE_SCHEMECOLOR_INDEX" val="9"/>
  <p:tag name="KSO_WM_UNIT_FILL_TYPE" val="1"/>
  <p:tag name="KSO_WM_UNIT_TEXT_FILL_FORE_SCHEMECOLOR_INDEX" val="13"/>
  <p:tag name="KSO_WM_UNIT_TEXT_FILL_TYPE" val="1"/>
  <p:tag name="KSO_WM_UNIT_USESOURCEFORMAT_APPLY" val="1"/>
</p:tagLst>
</file>

<file path=ppt/tags/tag5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9"/>
  <p:tag name="KSO_WM_UNIT_ID" val="custom160596_25*l_i*1_9"/>
  <p:tag name="KSO_WM_UNIT_LAYERLEVEL" val="1_1"/>
  <p:tag name="KSO_WM_DIAGRAM_GROUP_CODE" val="l1-8"/>
  <p:tag name="KSO_WM_UNIT_FILL_FORE_SCHEMECOLOR_INDEX" val="5"/>
  <p:tag name="KSO_WM_UNIT_FILL_TYPE" val="1"/>
  <p:tag name="KSO_WM_UNIT_TEXT_FILL_FORE_SCHEMECOLOR_INDEX" val="13"/>
  <p:tag name="KSO_WM_UNIT_TEXT_FILL_TYPE" val="1"/>
  <p:tag name="KSO_WM_UNIT_USESOURCEFORMAT_APPLY" val="1"/>
</p:tagLst>
</file>

<file path=ppt/tags/tag5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0"/>
  <p:tag name="KSO_WM_UNIT_ID" val="custom160596_25*l_i*1_10"/>
  <p:tag name="KSO_WM_UNIT_LAYERLEVEL" val="1_1"/>
  <p:tag name="KSO_WM_DIAGRAM_GROUP_CODE" val="l1-8"/>
  <p:tag name="KSO_WM_UNIT_FILL_FORE_SCHEMECOLOR_INDEX" val="5"/>
  <p:tag name="KSO_WM_UNIT_FILL_TYPE" val="1"/>
  <p:tag name="KSO_WM_UNIT_TEXT_FILL_FORE_SCHEMECOLOR_INDEX" val="13"/>
  <p:tag name="KSO_WM_UNIT_TEXT_FILL_TYPE" val="1"/>
  <p:tag name="KSO_WM_UNIT_USESOURCEFORMAT_APPLY" val="1"/>
</p:tagLst>
</file>

<file path=ppt/tags/tag5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25*l_i*1_11"/>
  <p:tag name="KSO_WM_UNIT_LAYERLEVEL" val="1_1"/>
  <p:tag name="KSO_WM_DIAGRAM_GROUP_CODE" val="l1-8"/>
  <p:tag name="KSO_WM_UNIT_FILL_FORE_SCHEMECOLOR_INDEX" val="6"/>
  <p:tag name="KSO_WM_UNIT_FILL_TYPE" val="1"/>
  <p:tag name="KSO_WM_UNIT_TEXT_FILL_FORE_SCHEMECOLOR_INDEX" val="13"/>
  <p:tag name="KSO_WM_UNIT_TEXT_FILL_TYPE" val="1"/>
  <p:tag name="KSO_WM_UNIT_USESOURCEFORMAT_APPLY" val="1"/>
</p:tagLst>
</file>

<file path=ppt/tags/tag5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25*l_i*1_12"/>
  <p:tag name="KSO_WM_UNIT_LAYERLEVEL" val="1_1"/>
  <p:tag name="KSO_WM_DIAGRAM_GROUP_CODE" val="l1-8"/>
  <p:tag name="KSO_WM_UNIT_FILL_FORE_SCHEMECOLOR_INDEX" val="6"/>
  <p:tag name="KSO_WM_UNIT_FILL_TYPE" val="1"/>
  <p:tag name="KSO_WM_UNIT_TEXT_FILL_FORE_SCHEMECOLOR_INDEX" val="13"/>
  <p:tag name="KSO_WM_UNIT_TEXT_FILL_TYPE" val="1"/>
  <p:tag name="KSO_WM_UNIT_USESOURCEFORMAT_APPLY" val="1"/>
</p:tagLst>
</file>

<file path=ppt/tags/tag5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3"/>
  <p:tag name="KSO_WM_UNIT_ID" val="custom160596_25*l_i*1_13"/>
  <p:tag name="KSO_WM_UNIT_LAYERLEVEL" val="1_1"/>
  <p:tag name="KSO_WM_DIAGRAM_GROUP_CODE" val="l1-8"/>
  <p:tag name="KSO_WM_UNIT_FILL_FORE_SCHEMECOLOR_INDEX" val="7"/>
  <p:tag name="KSO_WM_UNIT_FILL_TYPE" val="1"/>
  <p:tag name="KSO_WM_UNIT_TEXT_FILL_FORE_SCHEMECOLOR_INDEX" val="13"/>
  <p:tag name="KSO_WM_UNIT_TEXT_FILL_TYPE" val="1"/>
  <p:tag name="KSO_WM_UNIT_USESOURCEFORMAT_APPLY" val="1"/>
</p:tagLst>
</file>

<file path=ppt/tags/tag5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4"/>
  <p:tag name="KSO_WM_UNIT_ID" val="custom160596_25*l_i*1_14"/>
  <p:tag name="KSO_WM_UNIT_LAYERLEVEL" val="1_1"/>
  <p:tag name="KSO_WM_DIAGRAM_GROUP_CODE" val="l1-8"/>
  <p:tag name="KSO_WM_UNIT_FILL_FORE_SCHEMECOLOR_INDEX" val="7"/>
  <p:tag name="KSO_WM_UNIT_FILL_TYPE" val="1"/>
  <p:tag name="KSO_WM_UNIT_TEXT_FILL_FORE_SCHEMECOLOR_INDEX" val="13"/>
  <p:tag name="KSO_WM_UNIT_TEXT_FILL_TYPE" val="1"/>
  <p:tag name="KSO_WM_UNIT_USESOURCEFORMAT_APPLY" val="1"/>
</p:tagLst>
</file>

<file path=ppt/tags/tag5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5"/>
  <p:tag name="KSO_WM_UNIT_ID" val="custom160596_25*l_i*1_15"/>
  <p:tag name="KSO_WM_UNIT_LAYERLEVEL" val="1_1"/>
  <p:tag name="KSO_WM_DIAGRAM_GROUP_CODE" val="l1-8"/>
  <p:tag name="KSO_WM_UNIT_FILL_FORE_SCHEMECOLOR_INDEX" val="9"/>
  <p:tag name="KSO_WM_UNIT_FILL_TYPE" val="1"/>
  <p:tag name="KSO_WM_UNIT_TEXT_FILL_FORE_SCHEMECOLOR_INDEX" val="13"/>
  <p:tag name="KSO_WM_UNIT_TEXT_FILL_TYPE" val="1"/>
  <p:tag name="KSO_WM_UNIT_USESOURCEFORMAT_APPLY" val="1"/>
</p:tagLst>
</file>

<file path=ppt/tags/tag5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6"/>
  <p:tag name="KSO_WM_UNIT_ID" val="custom160596_25*l_i*1_16"/>
  <p:tag name="KSO_WM_UNIT_LAYERLEVEL" val="1_1"/>
  <p:tag name="KSO_WM_DIAGRAM_GROUP_CODE" val="l1-8"/>
  <p:tag name="KSO_WM_UNIT_FILL_FORE_SCHEMECOLOR_INDEX" val="9"/>
  <p:tag name="KSO_WM_UNIT_FILL_TYPE" val="1"/>
  <p:tag name="KSO_WM_UNIT_TEXT_FILL_FORE_SCHEMECOLOR_INDEX" val="13"/>
  <p:tag name="KSO_WM_UNIT_TEXT_FILL_TYPE" val="1"/>
  <p:tag name="KSO_WM_UNIT_USESOURCEFORMAT_APPLY" val="1"/>
</p:tagLst>
</file>

<file path=ppt/tags/tag5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4_1"/>
  <p:tag name="KSO_WM_UNIT_ID" val="custom160596_25*l_h_a*1_4_1"/>
  <p:tag name="KSO_WM_UNIT_LAYERLEVEL" val="1_1_1"/>
  <p:tag name="KSO_WM_UNIT_VALUE" val="6"/>
  <p:tag name="KSO_WM_UNIT_HIGHLIGHT" val="0"/>
  <p:tag name="KSO_WM_UNIT_COMPATIBLE" val="0"/>
  <p:tag name="KSO_WM_UNIT_CLEAR" val="0"/>
  <p:tag name="KSO_WM_DIAGRAM_GROUP_CODE" val="l1-8"/>
  <p:tag name="KSO_WM_UNIT_PRESET_TEXT" val="添加您的文字"/>
  <p:tag name="KSO_WM_UNIT_TEXT_FILL_FORE_SCHEMECOLOR_INDEX" val="13"/>
  <p:tag name="KSO_WM_UNIT_TEXT_FILL_TYPE" val="1"/>
  <p:tag name="KSO_WM_UNIT_USESOURCEFORMAT_APPLY" val="1"/>
</p:tagLst>
</file>

<file path=ppt/tags/tag5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3_1"/>
  <p:tag name="KSO_WM_UNIT_ID" val="custom160596_25*l_h_a*1_3_1"/>
  <p:tag name="KSO_WM_UNIT_LAYERLEVEL" val="1_1_1"/>
  <p:tag name="KSO_WM_UNIT_VALUE" val="6"/>
  <p:tag name="KSO_WM_UNIT_HIGHLIGHT" val="0"/>
  <p:tag name="KSO_WM_UNIT_COMPATIBLE" val="0"/>
  <p:tag name="KSO_WM_UNIT_CLEAR" val="0"/>
  <p:tag name="KSO_WM_DIAGRAM_GROUP_CODE" val="l1-8"/>
  <p:tag name="KSO_WM_UNIT_PRESET_TEXT" val="添加您的文字"/>
  <p:tag name="KSO_WM_UNIT_TEXT_FILL_FORE_SCHEMECOLOR_INDEX" val="13"/>
  <p:tag name="KSO_WM_UNIT_TEXT_FILL_TYPE" val="1"/>
  <p:tag name="KSO_WM_UNIT_USESOURCEFORMAT_APPLY" val="1"/>
</p:tagLst>
</file>

<file path=ppt/tags/tag5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25*l_h_a*1_1_1"/>
  <p:tag name="KSO_WM_UNIT_LAYERLEVEL" val="1_1_1"/>
  <p:tag name="KSO_WM_UNIT_VALUE" val="6"/>
  <p:tag name="KSO_WM_UNIT_HIGHLIGHT" val="0"/>
  <p:tag name="KSO_WM_UNIT_COMPATIBLE" val="0"/>
  <p:tag name="KSO_WM_UNIT_CLEAR" val="0"/>
  <p:tag name="KSO_WM_DIAGRAM_GROUP_CODE" val="l1-8"/>
  <p:tag name="KSO_WM_UNIT_PRESET_TEXT" val="添加您的文字"/>
  <p:tag name="KSO_WM_UNIT_TEXT_FILL_FORE_SCHEMECOLOR_INDEX" val="13"/>
  <p:tag name="KSO_WM_UNIT_TEXT_FILL_TYPE" val="1"/>
  <p:tag name="KSO_WM_UNIT_USESOURCEFORMAT_APPLY" val="1"/>
</p:tagLst>
</file>

<file path=ppt/tags/tag5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25*l_h_a*1_2_1"/>
  <p:tag name="KSO_WM_UNIT_LAYERLEVEL" val="1_1_1"/>
  <p:tag name="KSO_WM_UNIT_VALUE" val="6"/>
  <p:tag name="KSO_WM_UNIT_HIGHLIGHT" val="0"/>
  <p:tag name="KSO_WM_UNIT_COMPATIBLE" val="0"/>
  <p:tag name="KSO_WM_UNIT_CLEAR" val="0"/>
  <p:tag name="KSO_WM_DIAGRAM_GROUP_CODE" val="l1-8"/>
  <p:tag name="KSO_WM_UNIT_PRESET_TEXT" val="添加您的文字"/>
  <p:tag name="KSO_WM_UNIT_TEXT_FILL_FORE_SCHEMECOLOR_INDEX" val="13"/>
  <p:tag name="KSO_WM_UNIT_TEXT_FILL_TYPE" val="1"/>
  <p:tag name="KSO_WM_UNIT_USESOURCEFORMAT_APPLY" val="1"/>
</p:tagLst>
</file>

<file path=ppt/tags/tag529.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Other"/>
  <p:tag name="MH_ORDER" val="1"/>
</p:tagLst>
</file>

<file path=ppt/tags/tag530.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itle"/>
  <p:tag name="MH_ORDER" val="1"/>
</p:tagLst>
</file>

<file path=ppt/tags/tag531.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532.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ext"/>
  <p:tag name="MH_ORDER" val="1"/>
</p:tagLst>
</file>

<file path=ppt/tags/tag533.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534.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ext"/>
  <p:tag name="MH_ORDER" val="1"/>
</p:tagLst>
</file>

<file path=ppt/tags/tag535.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ext"/>
  <p:tag name="MH_ORDER" val="1"/>
</p:tagLst>
</file>

<file path=ppt/tags/tag5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6*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5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6*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5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6*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5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6*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5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6*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5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6*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5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6*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6*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6*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6*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6*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6*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6*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6*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6*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5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55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55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55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55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55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55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55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55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56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56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56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56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56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56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56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56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56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56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57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57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5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8*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5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8*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5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8*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5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8*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5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8*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5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8*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5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8*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5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8*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5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7"/>
  <p:tag name="KSO_WM_UNIT_ID" val="custom160596_98*l_i*1_7"/>
  <p:tag name="KSO_WM_UNIT_LAYERLEVEL" val="1_1"/>
  <p:tag name="KSO_WM_DIAGRAM_GROUP_CODE" val="l1-19"/>
  <p:tag name="KSO_WM_UNIT_FILL_FORE_SCHEMECOLOR_INDEX" val="9"/>
  <p:tag name="KSO_WM_UNIT_FILL_TYPE" val="1"/>
  <p:tag name="KSO_WM_UNIT_TEXT_FILL_FORE_SCHEMECOLOR_INDEX" val="13"/>
  <p:tag name="KSO_WM_UNIT_TEXT_FILL_TYPE" val="1"/>
  <p:tag name="KSO_WM_UNIT_USESOURCEFORMAT_APPLY" val="1"/>
</p:tagLst>
</file>

<file path=ppt/tags/tag5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98*l_h_a*1_2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5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2_1"/>
  <p:tag name="KSO_WM_UNIT_ID" val="custom160596_98*l_h_f*1_2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5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8*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5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3"/>
  <p:tag name="KSO_WM_UNIT_ID" val="custom160596_98*l_i*1_3"/>
  <p:tag name="KSO_WM_UNIT_LAYERLEVEL" val="1_1"/>
  <p:tag name="KSO_WM_DIAGRAM_GROUP_CODE" val="l1-19"/>
  <p:tag name="KSO_WM_UNIT_FILL_FORE_SCHEMECOLOR_INDEX" val="5"/>
  <p:tag name="KSO_WM_UNIT_FILL_TYPE" val="1"/>
  <p:tag name="KSO_WM_UNIT_TEXT_FILL_FORE_SCHEMECOLOR_INDEX" val="13"/>
  <p:tag name="KSO_WM_UNIT_TEXT_FILL_TYPE" val="1"/>
  <p:tag name="KSO_WM_UNIT_USESOURCEFORMAT_APPLY" val="1"/>
</p:tagLst>
</file>

<file path=ppt/tags/tag5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3_1"/>
  <p:tag name="KSO_WM_UNIT_ID" val="custom160596_98*l_h_a*1_3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5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9"/>
  <p:tag name="KSO_WM_UNIT_ID" val="custom160596_98*l_i*1_9"/>
  <p:tag name="KSO_WM_UNIT_LAYERLEVEL" val="1_1"/>
  <p:tag name="KSO_WM_DIAGRAM_GROUP_CODE" val="l1-19"/>
  <p:tag name="KSO_WM_UNIT_FILL_FORE_SCHEMECOLOR_INDEX" val="6"/>
  <p:tag name="KSO_WM_UNIT_FILL_TYPE" val="1"/>
  <p:tag name="KSO_WM_UNIT_TEXT_FILL_FORE_SCHEMECOLOR_INDEX" val="13"/>
  <p:tag name="KSO_WM_UNIT_TEXT_FILL_TYPE" val="1"/>
  <p:tag name="KSO_WM_UNIT_USESOURCEFORMAT_APPLY" val="1"/>
</p:tagLst>
</file>

<file path=ppt/tags/tag5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4_1"/>
  <p:tag name="KSO_WM_UNIT_ID" val="custom160596_98*l_h_a*1_4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5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4_1"/>
  <p:tag name="KSO_WM_UNIT_ID" val="custom160596_98*l_h_f*1_4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5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3_1"/>
  <p:tag name="KSO_WM_UNIT_ID" val="custom160596_98*l_h_f*1_3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5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5"/>
  <p:tag name="KSO_WM_UNIT_ID" val="custom160596_98*l_i*1_5"/>
  <p:tag name="KSO_WM_UNIT_LAYERLEVEL" val="1_1"/>
  <p:tag name="KSO_WM_DIAGRAM_GROUP_CODE" val="l1-19"/>
  <p:tag name="KSO_WM_UNIT_FILL_FORE_SCHEMECOLOR_INDEX" val="10"/>
  <p:tag name="KSO_WM_UNIT_FILL_TYPE" val="1"/>
  <p:tag name="KSO_WM_UNIT_TEXT_FILL_FORE_SCHEMECOLOR_INDEX" val="13"/>
  <p:tag name="KSO_WM_UNIT_TEXT_FILL_TYPE" val="1"/>
  <p:tag name="KSO_WM_UNIT_USESOURCEFORMAT_APPLY" val="1"/>
</p:tagLst>
</file>

<file path=ppt/tags/tag5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5_1"/>
  <p:tag name="KSO_WM_UNIT_ID" val="custom160596_98*l_h_a*1_5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5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98*l_i*1_11"/>
  <p:tag name="KSO_WM_UNIT_LAYERLEVEL" val="1_1"/>
  <p:tag name="KSO_WM_DIAGRAM_GROUP_CODE" val="l1-19"/>
  <p:tag name="KSO_WM_UNIT_FILL_FORE_SCHEMECOLOR_INDEX" val="8"/>
  <p:tag name="KSO_WM_UNIT_FILL_TYPE" val="1"/>
  <p:tag name="KSO_WM_UNIT_TEXT_FILL_FORE_SCHEMECOLOR_INDEX" val="13"/>
  <p:tag name="KSO_WM_UNIT_TEXT_FILL_TYPE" val="1"/>
  <p:tag name="KSO_WM_UNIT_USESOURCEFORMAT_APPLY" val="1"/>
</p:tagLst>
</file>

<file path=ppt/tags/tag5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6_1"/>
  <p:tag name="KSO_WM_UNIT_ID" val="custom160596_98*l_h_a*1_6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5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6_1"/>
  <p:tag name="KSO_WM_UNIT_ID" val="custom160596_98*l_h_f*1_6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5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5_1"/>
  <p:tag name="KSO_WM_UNIT_ID" val="custom160596_98*l_h_f*1_5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59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597.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59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59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60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60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60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60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60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60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60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60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60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60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61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61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61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6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1"/>
  <p:tag name="KSO_WM_UNIT_CLEAR" val="1"/>
  <p:tag name="KSO_WM_UNIT_LAYERLEVEL" val="1_1"/>
  <p:tag name="KSO_WM_UNIT_ID" val="custom160034_21*m_i*1_1"/>
  <p:tag name="KSO_WM_DIAGRAM_GROUP_CODE" val="m1-1"/>
  <p:tag name="KSO_WM_UNIT_SHADOW_SCHEMECOLOR_INDEX" val="16"/>
  <p:tag name="KSO_WM_UNIT_TEXT_FILL_FORE_SCHEMECOLOR_INDEX" val="13"/>
  <p:tag name="KSO_WM_UNIT_TEXT_FILL_TYPE" val="1"/>
  <p:tag name="KSO_WM_UNIT_USESOURCEFORMAT_APPLY" val="1"/>
</p:tagLst>
</file>

<file path=ppt/tags/tag6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2"/>
  <p:tag name="KSO_WM_UNIT_CLEAR" val="1"/>
  <p:tag name="KSO_WM_UNIT_LAYERLEVEL" val="1_1"/>
  <p:tag name="KSO_WM_UNIT_ID" val="custom160034_21*m_i*1_2"/>
  <p:tag name="KSO_WM_DIAGRAM_GROUP_CODE" val="m1-1"/>
  <p:tag name="KSO_WM_UNIT_SHADOW_SCHEMECOLOR_INDEX" val="16"/>
  <p:tag name="KSO_WM_UNIT_TEXT_FILL_FORE_SCHEMECOLOR_INDEX" val="14"/>
  <p:tag name="KSO_WM_UNIT_TEXT_FILL_TYPE" val="1"/>
  <p:tag name="KSO_WM_UNIT_USESOURCEFORMAT_APPLY" val="1"/>
</p:tagLst>
</file>

<file path=ppt/tags/tag6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3"/>
  <p:tag name="KSO_WM_UNIT_CLEAR" val="1"/>
  <p:tag name="KSO_WM_UNIT_LAYERLEVEL" val="1_1"/>
  <p:tag name="KSO_WM_UNIT_ID" val="custom160034_21*m_i*1_3"/>
  <p:tag name="KSO_WM_DIAGRAM_GROUP_CODE" val="m1-1"/>
  <p:tag name="KSO_WM_UNIT_SHADOW_SCHEMECOLOR_INDEX" val="16"/>
  <p:tag name="KSO_WM_UNIT_TEXT_FILL_FORE_SCHEMECOLOR_INDEX" val="14"/>
  <p:tag name="KSO_WM_UNIT_TEXT_FILL_TYPE" val="1"/>
  <p:tag name="KSO_WM_UNIT_USESOURCEFORMAT_APPLY" val="1"/>
</p:tagLst>
</file>

<file path=ppt/tags/tag6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4"/>
  <p:tag name="KSO_WM_UNIT_CLEAR" val="1"/>
  <p:tag name="KSO_WM_UNIT_LAYERLEVEL" val="1_1"/>
  <p:tag name="KSO_WM_UNIT_ID" val="custom160034_21*m_i*1_4"/>
  <p:tag name="KSO_WM_DIAGRAM_GROUP_CODE" val="m1-1"/>
  <p:tag name="KSO_WM_UNIT_SHADOW_SCHEMECOLOR_INDEX" val="16"/>
  <p:tag name="KSO_WM_UNIT_TEXT_FILL_FORE_SCHEMECOLOR_INDEX" val="13"/>
  <p:tag name="KSO_WM_UNIT_TEXT_FILL_TYPE" val="1"/>
  <p:tag name="KSO_WM_UNIT_USESOURCEFORMAT_APPLY" val="1"/>
</p:tagLst>
</file>

<file path=ppt/tags/tag6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5"/>
  <p:tag name="KSO_WM_UNIT_CLEAR" val="1"/>
  <p:tag name="KSO_WM_UNIT_LAYERLEVEL" val="1_1"/>
  <p:tag name="KSO_WM_UNIT_ID" val="custom160034_21*m_i*1_5"/>
  <p:tag name="KSO_WM_DIAGRAM_GROUP_CODE" val="m1-1"/>
  <p:tag name="KSO_WM_UNIT_SHADOW_SCHEMECOLOR_INDEX" val="16"/>
  <p:tag name="KSO_WM_UNIT_TEXT_FILL_FORE_SCHEMECOLOR_INDEX" val="14"/>
  <p:tag name="KSO_WM_UNIT_TEXT_FILL_TYPE" val="1"/>
  <p:tag name="KSO_WM_UNIT_USESOURCEFORMAT_APPLY" val="1"/>
</p:tagLst>
</file>

<file path=ppt/tags/tag6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6"/>
  <p:tag name="KSO_WM_UNIT_CLEAR" val="1"/>
  <p:tag name="KSO_WM_UNIT_LAYERLEVEL" val="1_1"/>
  <p:tag name="KSO_WM_UNIT_ID" val="custom160034_21*m_i*1_6"/>
  <p:tag name="KSO_WM_DIAGRAM_GROUP_CODE" val="m1-1"/>
  <p:tag name="KSO_WM_UNIT_SHADOW_SCHEMECOLOR_INDEX" val="16"/>
  <p:tag name="KSO_WM_UNIT_TEXT_FILL_FORE_SCHEMECOLOR_INDEX" val="14"/>
  <p:tag name="KSO_WM_UNIT_TEXT_FILL_TYPE" val="1"/>
  <p:tag name="KSO_WM_UNIT_USESOURCEFORMAT_APPLY" val="1"/>
</p:tagLst>
</file>

<file path=ppt/tags/tag6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7"/>
  <p:tag name="KSO_WM_UNIT_CLEAR" val="1"/>
  <p:tag name="KSO_WM_UNIT_LAYERLEVEL" val="1_1"/>
  <p:tag name="KSO_WM_UNIT_ID" val="custom160034_21*m_i*1_7"/>
  <p:tag name="KSO_WM_DIAGRAM_GROUP_CODE" val="m1-1"/>
  <p:tag name="KSO_WM_UNIT_SHADOW_SCHEMECOLOR_INDEX" val="16"/>
  <p:tag name="KSO_WM_UNIT_TEXT_FILL_FORE_SCHEMECOLOR_INDEX" val="13"/>
  <p:tag name="KSO_WM_UNIT_TEXT_FILL_TYPE" val="1"/>
  <p:tag name="KSO_WM_UNIT_USESOURCEFORMAT_APPLY" val="1"/>
</p:tagLst>
</file>

<file path=ppt/tags/tag6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1_1"/>
  <p:tag name="KSO_WM_UNIT_CLEAR" val="1"/>
  <p:tag name="KSO_WM_UNIT_LAYERLEVEL" val="1_1_1"/>
  <p:tag name="KSO_WM_UNIT_VALUE" val="90"/>
  <p:tag name="KSO_WM_UNIT_HIGHLIGHT" val="0"/>
  <p:tag name="KSO_WM_UNIT_COMPATIBLE" val="0"/>
  <p:tag name="KSO_WM_UNIT_ID" val="custom160034_21*m_h_f*1_1_1"/>
  <p:tag name="KSO_WM_UNIT_PRESET_TEXT_INDEX" val="2"/>
  <p:tag name="KSO_WM_UNIT_PRESET_TEXT_LEN" val="20"/>
  <p:tag name="KSO_WM_DIAGRAM_GROUP_CODE" val="m1-1"/>
  <p:tag name="KSO_WM_UNIT_TEXT_FILL_FORE_SCHEMECOLOR_INDEX" val="13"/>
  <p:tag name="KSO_WM_UNIT_TEXT_FILL_TYPE" val="1"/>
  <p:tag name="KSO_WM_UNIT_USESOURCEFORMAT_APPLY" val="1"/>
</p:tagLst>
</file>

<file path=ppt/tags/tag6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2_1"/>
  <p:tag name="KSO_WM_UNIT_CLEAR" val="1"/>
  <p:tag name="KSO_WM_UNIT_LAYERLEVEL" val="1_1_1"/>
  <p:tag name="KSO_WM_UNIT_VALUE" val="90"/>
  <p:tag name="KSO_WM_UNIT_HIGHLIGHT" val="0"/>
  <p:tag name="KSO_WM_UNIT_COMPATIBLE" val="0"/>
  <p:tag name="KSO_WM_UNIT_ID" val="custom160034_21*m_h_f*1_2_1"/>
  <p:tag name="KSO_WM_UNIT_PRESET_TEXT_INDEX" val="2"/>
  <p:tag name="KSO_WM_UNIT_PRESET_TEXT_LEN" val="20"/>
  <p:tag name="KSO_WM_DIAGRAM_GROUP_CODE" val="m1-1"/>
  <p:tag name="KSO_WM_UNIT_TEXT_FILL_FORE_SCHEMECOLOR_INDEX" val="13"/>
  <p:tag name="KSO_WM_UNIT_TEXT_FILL_TYPE" val="1"/>
  <p:tag name="KSO_WM_UNIT_USESOURCEFORMAT_APPLY" val="1"/>
</p:tagLst>
</file>

<file path=ppt/tags/tag6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3_1"/>
  <p:tag name="KSO_WM_UNIT_CLEAR" val="1"/>
  <p:tag name="KSO_WM_UNIT_LAYERLEVEL" val="1_1_1"/>
  <p:tag name="KSO_WM_UNIT_VALUE" val="90"/>
  <p:tag name="KSO_WM_UNIT_HIGHLIGHT" val="0"/>
  <p:tag name="KSO_WM_UNIT_COMPATIBLE" val="0"/>
  <p:tag name="KSO_WM_UNIT_ID" val="custom160034_21*m_h_f*1_3_1"/>
  <p:tag name="KSO_WM_UNIT_PRESET_TEXT_INDEX" val="2"/>
  <p:tag name="KSO_WM_UNIT_PRESET_TEXT_LEN" val="20"/>
  <p:tag name="KSO_WM_DIAGRAM_GROUP_CODE" val="m1-1"/>
  <p:tag name="KSO_WM_UNIT_TEXT_FILL_FORE_SCHEMECOLOR_INDEX" val="13"/>
  <p:tag name="KSO_WM_UNIT_TEXT_FILL_TYPE" val="1"/>
  <p:tag name="KSO_WM_UNIT_USESOURCEFORMAT_APPLY" val="1"/>
</p:tagLst>
</file>

<file path=ppt/tags/tag6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4_1"/>
  <p:tag name="KSO_WM_UNIT_CLEAR" val="1"/>
  <p:tag name="KSO_WM_UNIT_LAYERLEVEL" val="1_1_1"/>
  <p:tag name="KSO_WM_UNIT_VALUE" val="90"/>
  <p:tag name="KSO_WM_UNIT_HIGHLIGHT" val="0"/>
  <p:tag name="KSO_WM_UNIT_COMPATIBLE" val="0"/>
  <p:tag name="KSO_WM_UNIT_ID" val="custom160034_21*m_h_f*1_4_1"/>
  <p:tag name="KSO_WM_UNIT_PRESET_TEXT_INDEX" val="2"/>
  <p:tag name="KSO_WM_UNIT_PRESET_TEXT_LEN" val="20"/>
  <p:tag name="KSO_WM_DIAGRAM_GROUP_CODE" val="m1-1"/>
  <p:tag name="KSO_WM_UNIT_TEXT_FILL_FORE_SCHEMECOLOR_INDEX" val="13"/>
  <p:tag name="KSO_WM_UNIT_TEXT_FILL_TYPE" val="1"/>
  <p:tag name="KSO_WM_UNIT_USESOURCEFORMAT_APPLY" val="1"/>
</p:tagLst>
</file>

<file path=ppt/tags/tag624.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heme/theme1.xml><?xml version="1.0" encoding="utf-8"?>
<a:theme xmlns:a="http://schemas.openxmlformats.org/drawingml/2006/main" name="2_A000120141119A01PPBG">
  <a:themeElements>
    <a:clrScheme name="自定义 49">
      <a:dk1>
        <a:srgbClr val="4D4D4D"/>
      </a:dk1>
      <a:lt1>
        <a:srgbClr val="FFFFFF"/>
      </a:lt1>
      <a:dk2>
        <a:srgbClr val="4D4D4D"/>
      </a:dk2>
      <a:lt2>
        <a:srgbClr val="FFFFFF"/>
      </a:lt2>
      <a:accent1>
        <a:srgbClr val="EF4150"/>
      </a:accent1>
      <a:accent2>
        <a:srgbClr val="FBAD24"/>
      </a:accent2>
      <a:accent3>
        <a:srgbClr val="58BDA8"/>
      </a:accent3>
      <a:accent4>
        <a:srgbClr val="E8766A"/>
      </a:accent4>
      <a:accent5>
        <a:srgbClr val="CCD373"/>
      </a:accent5>
      <a:accent6>
        <a:srgbClr val="E86ABB"/>
      </a:accent6>
      <a:hlink>
        <a:srgbClr val="447195"/>
      </a:hlink>
      <a:folHlink>
        <a:srgbClr val="7F7F7F"/>
      </a:folHlink>
    </a:clrScheme>
    <a:fontScheme name="glpla">
      <a:majorFont>
        <a:latin typeface="Times New Roman"/>
        <a:ea typeface="微软雅黑"/>
        <a:cs typeface=""/>
      </a:majorFont>
      <a:minorFont>
        <a:latin typeface="Times New Roman"/>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自定义 1">
      <a:dk1>
        <a:srgbClr val="475F77"/>
      </a:dk1>
      <a:lt1>
        <a:srgbClr val="FFFFFF"/>
      </a:lt1>
      <a:dk2>
        <a:srgbClr val="D74B4B"/>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glpla">
      <a:majorFont>
        <a:latin typeface="Times New Roman"/>
        <a:ea typeface="微软雅黑"/>
        <a:cs typeface=""/>
      </a:majorFont>
      <a:minorFont>
        <a:latin typeface="Times New Roman"/>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黑体" panose="020106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黑体" panose="02010609060101010101"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453</TotalTime>
  <Words>14029</Words>
  <Application>Microsoft Office PowerPoint</Application>
  <PresentationFormat>宽屏</PresentationFormat>
  <Paragraphs>1667</Paragraphs>
  <Slides>143</Slides>
  <Notes>74</Notes>
  <HiddenSlides>0</HiddenSlides>
  <MMClips>0</MMClips>
  <ScaleCrop>false</ScaleCrop>
  <HeadingPairs>
    <vt:vector size="8" baseType="variant">
      <vt:variant>
        <vt:lpstr>已用的字体</vt:lpstr>
      </vt:variant>
      <vt:variant>
        <vt:i4>13</vt:i4>
      </vt:variant>
      <vt:variant>
        <vt:lpstr>主题</vt:lpstr>
      </vt:variant>
      <vt:variant>
        <vt:i4>2</vt:i4>
      </vt:variant>
      <vt:variant>
        <vt:lpstr>嵌入 OLE 服务器</vt:lpstr>
      </vt:variant>
      <vt:variant>
        <vt:i4>3</vt:i4>
      </vt:variant>
      <vt:variant>
        <vt:lpstr>幻灯片标题</vt:lpstr>
      </vt:variant>
      <vt:variant>
        <vt:i4>143</vt:i4>
      </vt:variant>
    </vt:vector>
  </HeadingPairs>
  <TitlesOfParts>
    <vt:vector size="161" baseType="lpstr">
      <vt:lpstr>Arial Unicode MS</vt:lpstr>
      <vt:lpstr>Kozuka Gothic Pr6N B</vt:lpstr>
      <vt:lpstr>黑体</vt:lpstr>
      <vt:lpstr>华文细黑</vt:lpstr>
      <vt:lpstr>宋体</vt:lpstr>
      <vt:lpstr>微软雅黑</vt:lpstr>
      <vt:lpstr>Arial</vt:lpstr>
      <vt:lpstr>Arial Black</vt:lpstr>
      <vt:lpstr>Impact</vt:lpstr>
      <vt:lpstr>Tahoma</vt:lpstr>
      <vt:lpstr>Tempus Sans ITC</vt:lpstr>
      <vt:lpstr>Times New Roman</vt:lpstr>
      <vt:lpstr>Wingdings</vt:lpstr>
      <vt:lpstr>2_A000120141119A01PPBG</vt:lpstr>
      <vt:lpstr>默认设计模板</vt:lpstr>
      <vt:lpstr>公式</vt:lpstr>
      <vt:lpstr>Microsoft Word Picture</vt:lpstr>
      <vt:lpstr>Picture</vt:lpstr>
      <vt:lpstr>PowerPoint 演示文稿</vt:lpstr>
      <vt:lpstr>PowerPoint 演示文稿</vt:lpstr>
      <vt:lpstr>PowerPoint 演示文稿</vt:lpstr>
      <vt:lpstr>PowerPoint 演示文稿</vt:lpstr>
      <vt:lpstr>3.1 软件设计步骤</vt:lpstr>
      <vt:lpstr>3.1 软件设计步骤</vt:lpstr>
      <vt:lpstr>3.1 软件设计步骤</vt:lpstr>
      <vt:lpstr>3.1 软件设计步骤</vt:lpstr>
      <vt:lpstr>3.1 软件设计步骤</vt:lpstr>
      <vt:lpstr>3.1 软件设计步骤 </vt:lpstr>
      <vt:lpstr>3.1 软件设计步骤 </vt:lpstr>
      <vt:lpstr>3.1 软件设计步骤 </vt:lpstr>
      <vt:lpstr>3.1 软件设计步骤 </vt:lpstr>
      <vt:lpstr>3.1 软件设计步骤 </vt:lpstr>
      <vt:lpstr>3.1 软件设计步骤</vt:lpstr>
      <vt:lpstr>3.1 软件设计步骤</vt:lpstr>
      <vt:lpstr>3.1 软件设计步骤 </vt:lpstr>
      <vt:lpstr>3.1 软件设计步骤</vt:lpstr>
      <vt:lpstr>PowerPoint 演示文稿</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3.2 软件结构设计</vt:lpstr>
      <vt:lpstr>PowerPoint 演示文稿</vt:lpstr>
      <vt:lpstr>3.3 软件结构设计的图形工具</vt:lpstr>
      <vt:lpstr>3.3 软件结构设计的图形工具</vt:lpstr>
      <vt:lpstr>3.3 软件结构设计的图形工具</vt:lpstr>
      <vt:lpstr>3.3 软件结构设计的图形工具</vt:lpstr>
      <vt:lpstr>3.3 软件结构设计的图形工具</vt:lpstr>
      <vt:lpstr>3.3 软件结构设计的图形工具</vt:lpstr>
      <vt:lpstr>PowerPoint 演示文稿</vt:lpstr>
      <vt:lpstr>3.4 面向数据流的设计方法</vt:lpstr>
      <vt:lpstr>3.4 面向数据流的设计方法</vt:lpstr>
      <vt:lpstr>3.4 面向数据流的设计方法</vt:lpstr>
      <vt:lpstr>3.4 面向数据流的设计方法</vt:lpstr>
      <vt:lpstr>3.4 面向数据流的设计方法</vt:lpstr>
      <vt:lpstr>3.4 面向数据流的设计方法</vt:lpstr>
      <vt:lpstr>PowerPoint 演示文稿</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3.5 过程设计工具</vt:lpstr>
      <vt:lpstr>PowerPoint 演示文稿</vt:lpstr>
      <vt:lpstr>3.6 用户界面设计</vt:lpstr>
      <vt:lpstr>3.6 用户界面设计</vt:lpstr>
      <vt:lpstr>3.6 用户界面设计</vt:lpstr>
      <vt:lpstr>3.6 用户界面设计</vt:lpstr>
      <vt:lpstr>3.6 用户界面设计</vt:lpstr>
      <vt:lpstr>3.6 用户界面设计</vt:lpstr>
      <vt:lpstr>3.6 用户界面设计</vt:lpstr>
      <vt:lpstr>3.6 用户界面设计</vt:lpstr>
      <vt:lpstr>3.6 用户界面设计</vt:lpstr>
      <vt:lpstr>3.6 用户界面设计</vt:lpstr>
      <vt:lpstr>3.6 用户界面设计</vt:lpstr>
      <vt:lpstr>PowerPoint 演示文稿</vt:lpstr>
      <vt:lpstr>3.7 数据代码设计</vt:lpstr>
      <vt:lpstr>3.7 数据代码设计</vt:lpstr>
      <vt:lpstr>3.7 数据代码设计</vt:lpstr>
      <vt:lpstr>3.7 数据代码设计</vt:lpstr>
      <vt:lpstr>3.7 数据代码设计</vt:lpstr>
      <vt:lpstr>3.7 数据代码设计</vt:lpstr>
      <vt:lpstr>3.7 数据代码设计</vt:lpstr>
      <vt:lpstr>3.7 数据代码设计</vt:lpstr>
      <vt:lpstr>3.7 数据代码设计</vt:lpstr>
      <vt:lpstr>3.7 数据代码设计</vt:lpstr>
      <vt:lpstr>3.7 数据代码设计</vt:lpstr>
      <vt:lpstr>3.7 数据代码设计</vt:lpstr>
      <vt:lpstr>PowerPoint 演示文稿</vt:lpstr>
      <vt:lpstr>3.8 面向数据结构的设计方法</vt:lpstr>
      <vt:lpstr>3.8 面向数据结构的设计方法</vt:lpstr>
      <vt:lpstr>3.8 面向数据结构的设计方法</vt:lpstr>
      <vt:lpstr>3.8 面向数据结构的设计方法</vt:lpstr>
      <vt:lpstr>3.8 面向数据结构的设计方法</vt:lpstr>
      <vt:lpstr>3.8 面向数据结构的设计方法</vt:lpstr>
      <vt:lpstr>3.8 面向数据结构的设计方法</vt:lpstr>
      <vt:lpstr>3.8 面向数据结构的设计方法</vt:lpstr>
      <vt:lpstr>3.8 面向数据结构的设计方法</vt:lpstr>
      <vt:lpstr>3.8 面向数据结构的设计方法</vt:lpstr>
      <vt:lpstr>3.8 面向数据结构的设计方法</vt:lpstr>
      <vt:lpstr>PowerPoint 演示文稿</vt:lpstr>
      <vt:lpstr>3.9 软件设计文档</vt:lpstr>
      <vt:lpstr>3.9 软件设计文档</vt:lpstr>
      <vt:lpstr>3.9 软件设计文档</vt:lpstr>
      <vt:lpstr>3.9 软件设计文档</vt:lpstr>
      <vt:lpstr>3.9 软件设计文档</vt:lpstr>
      <vt:lpstr>3.9 软件设计文档</vt:lpstr>
      <vt:lpstr>3.9 软件设计文档</vt:lpstr>
      <vt:lpstr>3.9 软件设计文档</vt:lpstr>
      <vt:lpstr>PowerPoint 演示文稿</vt:lpstr>
    </vt:vector>
  </TitlesOfParts>
  <Manager>PLA</Manager>
  <Company>54414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dc:title>
  <dc:creator>glplaman.github.io</dc:creator>
  <cp:lastModifiedBy>cn plaman</cp:lastModifiedBy>
  <cp:revision>74</cp:revision>
  <dcterms:created xsi:type="dcterms:W3CDTF">2017-01-12T10:05:00Z</dcterms:created>
  <dcterms:modified xsi:type="dcterms:W3CDTF">2026-05-23T01:40:10Z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2052-10.1.0.6135</vt:lpwstr>
  </property>
</Properties>
</file>