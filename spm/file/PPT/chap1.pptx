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26.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27.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1"/>
  </p:notesMasterIdLst>
  <p:sldIdLst>
    <p:sldId id="311" r:id="rId2"/>
    <p:sldId id="331" r:id="rId3"/>
    <p:sldId id="332" r:id="rId4"/>
    <p:sldId id="373" r:id="rId5"/>
    <p:sldId id="385" r:id="rId6"/>
    <p:sldId id="256" r:id="rId7"/>
    <p:sldId id="262" r:id="rId8"/>
    <p:sldId id="266" r:id="rId9"/>
    <p:sldId id="257" r:id="rId10"/>
    <p:sldId id="258" r:id="rId11"/>
    <p:sldId id="270" r:id="rId12"/>
    <p:sldId id="282" r:id="rId13"/>
    <p:sldId id="283" r:id="rId14"/>
    <p:sldId id="259" r:id="rId15"/>
    <p:sldId id="261" r:id="rId16"/>
    <p:sldId id="260" r:id="rId17"/>
    <p:sldId id="302" r:id="rId18"/>
    <p:sldId id="303" r:id="rId19"/>
    <p:sldId id="304" r:id="rId20"/>
    <p:sldId id="305" r:id="rId21"/>
    <p:sldId id="306" r:id="rId22"/>
    <p:sldId id="307" r:id="rId23"/>
    <p:sldId id="308" r:id="rId24"/>
    <p:sldId id="309" r:id="rId25"/>
    <p:sldId id="314" r:id="rId26"/>
    <p:sldId id="285" r:id="rId27"/>
    <p:sldId id="286" r:id="rId28"/>
    <p:sldId id="328" r:id="rId29"/>
    <p:sldId id="327" r:id="rId30"/>
    <p:sldId id="315" r:id="rId31"/>
    <p:sldId id="316" r:id="rId32"/>
    <p:sldId id="317" r:id="rId33"/>
    <p:sldId id="318" r:id="rId34"/>
    <p:sldId id="319" r:id="rId35"/>
    <p:sldId id="320" r:id="rId36"/>
    <p:sldId id="321" r:id="rId37"/>
    <p:sldId id="322" r:id="rId38"/>
    <p:sldId id="323" r:id="rId39"/>
    <p:sldId id="324" r:id="rId40"/>
    <p:sldId id="325" r:id="rId41"/>
    <p:sldId id="326" r:id="rId42"/>
    <p:sldId id="329" r:id="rId43"/>
    <p:sldId id="330" r:id="rId44"/>
    <p:sldId id="312" r:id="rId45"/>
    <p:sldId id="310" r:id="rId46"/>
    <p:sldId id="263" r:id="rId47"/>
    <p:sldId id="264" r:id="rId48"/>
    <p:sldId id="265" r:id="rId49"/>
    <p:sldId id="287" r:id="rId50"/>
    <p:sldId id="288" r:id="rId51"/>
    <p:sldId id="289" r:id="rId52"/>
    <p:sldId id="290" r:id="rId53"/>
    <p:sldId id="267" r:id="rId54"/>
    <p:sldId id="268" r:id="rId55"/>
    <p:sldId id="269" r:id="rId56"/>
    <p:sldId id="271" r:id="rId57"/>
    <p:sldId id="291" r:id="rId58"/>
    <p:sldId id="292" r:id="rId59"/>
    <p:sldId id="293" r:id="rId60"/>
    <p:sldId id="294" r:id="rId61"/>
    <p:sldId id="299" r:id="rId62"/>
    <p:sldId id="300" r:id="rId63"/>
    <p:sldId id="301" r:id="rId64"/>
    <p:sldId id="298" r:id="rId65"/>
    <p:sldId id="295" r:id="rId66"/>
    <p:sldId id="296" r:id="rId67"/>
    <p:sldId id="297" r:id="rId68"/>
    <p:sldId id="272" r:id="rId69"/>
    <p:sldId id="339" r:id="rId70"/>
    <p:sldId id="333" r:id="rId71"/>
    <p:sldId id="334" r:id="rId72"/>
    <p:sldId id="335" r:id="rId73"/>
    <p:sldId id="336" r:id="rId74"/>
    <p:sldId id="337" r:id="rId75"/>
    <p:sldId id="338" r:id="rId76"/>
    <p:sldId id="345" r:id="rId77"/>
    <p:sldId id="384" r:id="rId78"/>
    <p:sldId id="340" r:id="rId79"/>
    <p:sldId id="346" r:id="rId80"/>
    <p:sldId id="341" r:id="rId81"/>
    <p:sldId id="342" r:id="rId82"/>
    <p:sldId id="343" r:id="rId83"/>
    <p:sldId id="359" r:id="rId84"/>
    <p:sldId id="347" r:id="rId85"/>
    <p:sldId id="348" r:id="rId86"/>
    <p:sldId id="349" r:id="rId87"/>
    <p:sldId id="350" r:id="rId88"/>
    <p:sldId id="351" r:id="rId89"/>
    <p:sldId id="352" r:id="rId90"/>
    <p:sldId id="353" r:id="rId91"/>
    <p:sldId id="354" r:id="rId92"/>
    <p:sldId id="355" r:id="rId93"/>
    <p:sldId id="356" r:id="rId94"/>
    <p:sldId id="357" r:id="rId95"/>
    <p:sldId id="358" r:id="rId96"/>
    <p:sldId id="360" r:id="rId97"/>
    <p:sldId id="361" r:id="rId98"/>
    <p:sldId id="362" r:id="rId99"/>
    <p:sldId id="363" r:id="rId100"/>
    <p:sldId id="364" r:id="rId101"/>
    <p:sldId id="344" r:id="rId102"/>
    <p:sldId id="380" r:id="rId103"/>
    <p:sldId id="381" r:id="rId104"/>
    <p:sldId id="382" r:id="rId105"/>
    <p:sldId id="383" r:id="rId106"/>
    <p:sldId id="365" r:id="rId107"/>
    <p:sldId id="366" r:id="rId108"/>
    <p:sldId id="368" r:id="rId109"/>
    <p:sldId id="369" r:id="rId110"/>
    <p:sldId id="370" r:id="rId111"/>
    <p:sldId id="371" r:id="rId112"/>
    <p:sldId id="372" r:id="rId113"/>
    <p:sldId id="374" r:id="rId114"/>
    <p:sldId id="375" r:id="rId115"/>
    <p:sldId id="376" r:id="rId116"/>
    <p:sldId id="377" r:id="rId117"/>
    <p:sldId id="378" r:id="rId118"/>
    <p:sldId id="379" r:id="rId119"/>
    <p:sldId id="273" r:id="rId120"/>
    <p:sldId id="274" r:id="rId121"/>
    <p:sldId id="275" r:id="rId122"/>
    <p:sldId id="276" r:id="rId123"/>
    <p:sldId id="277" r:id="rId124"/>
    <p:sldId id="313" r:id="rId125"/>
    <p:sldId id="278" r:id="rId126"/>
    <p:sldId id="279" r:id="rId127"/>
    <p:sldId id="280" r:id="rId128"/>
    <p:sldId id="281" r:id="rId129"/>
    <p:sldId id="367" r:id="rId130"/>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601"/>
    <a:srgbClr val="539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2833802-FEF1-4C79-8D5D-14CF1EAF98D9}" styleName="浅色样式 2 - 强调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89704" autoAdjust="0"/>
  </p:normalViewPr>
  <p:slideViewPr>
    <p:cSldViewPr snapToGrid="0">
      <p:cViewPr varScale="1">
        <p:scale>
          <a:sx n="101" d="100"/>
          <a:sy n="101" d="100"/>
        </p:scale>
        <p:origin x="216"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theme" Target="theme/theme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tableStyles" Target="tableStyle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presProps" Target="presProp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AACCFAB-3586-4C89-82F5-30CA64F870D8}" type="doc">
      <dgm:prSet loTypeId="urn:microsoft.com/office/officeart/2008/layout/VerticalCurvedList" loCatId="list" qsTypeId="urn:microsoft.com/office/officeart/2005/8/quickstyle/simple1" qsCatId="simple" csTypeId="urn:microsoft.com/office/officeart/2005/8/colors/colorful5" csCatId="colorful" phldr="1"/>
      <dgm:spPr/>
      <dgm:t>
        <a:bodyPr/>
        <a:lstStyle/>
        <a:p>
          <a:endParaRPr lang="zh-CN" altLang="en-US"/>
        </a:p>
      </dgm:t>
    </dgm:pt>
    <dgm:pt modelId="{8A8A65F4-3297-48D4-BA56-5E009D932CE9}">
      <dgm:prSet phldrT="[Text]"/>
      <dgm:spPr/>
      <dgm:t>
        <a:bodyPr/>
        <a:lstStyle/>
        <a:p>
          <a:r>
            <a:rPr lang="zh-CN" altLang="en-US" dirty="0">
              <a:latin typeface="微软雅黑 Light" panose="020B0502040204020203" pitchFamily="34" charset="-122"/>
              <a:ea typeface="微软雅黑 Light" panose="020B0502040204020203" pitchFamily="34" charset="-122"/>
            </a:rPr>
            <a:t>有明确的目标</a:t>
          </a:r>
          <a:endParaRPr lang="zh-CN" altLang="en-US" dirty="0"/>
        </a:p>
      </dgm:t>
    </dgm:pt>
    <dgm:pt modelId="{334A39A2-FF71-4BDD-9616-86C39CE7B69C}" type="parTrans" cxnId="{EA1E26A0-B55A-483C-93D6-CE65C1AE0420}">
      <dgm:prSet/>
      <dgm:spPr/>
      <dgm:t>
        <a:bodyPr/>
        <a:lstStyle/>
        <a:p>
          <a:endParaRPr lang="zh-CN" altLang="en-US"/>
        </a:p>
      </dgm:t>
    </dgm:pt>
    <dgm:pt modelId="{03D3FB13-FD44-4B83-8171-008A3801D643}" type="sibTrans" cxnId="{EA1E26A0-B55A-483C-93D6-CE65C1AE0420}">
      <dgm:prSet/>
      <dgm:spPr/>
      <dgm:t>
        <a:bodyPr/>
        <a:lstStyle/>
        <a:p>
          <a:endParaRPr lang="zh-CN" altLang="en-US"/>
        </a:p>
      </dgm:t>
    </dgm:pt>
    <dgm:pt modelId="{CB5B879A-6E15-4F22-99E7-D93FB8BE0F74}">
      <dgm:prSet phldrT="[Text]"/>
      <dgm:spPr/>
      <dgm:t>
        <a:bodyPr/>
        <a:lstStyle/>
        <a:p>
          <a:r>
            <a:rPr lang="zh-CN" altLang="en-US" dirty="0">
              <a:latin typeface="微软雅黑 Light" panose="020B0502040204020203" pitchFamily="34" charset="-122"/>
              <a:ea typeface="微软雅黑 Light" panose="020B0502040204020203" pitchFamily="34" charset="-122"/>
            </a:rPr>
            <a:t>项目之间的活动具有相关性</a:t>
          </a:r>
          <a:endParaRPr lang="zh-CN" altLang="en-US" dirty="0"/>
        </a:p>
      </dgm:t>
    </dgm:pt>
    <dgm:pt modelId="{72249B3D-5D25-4798-9643-B2BBCF2D115B}" type="parTrans" cxnId="{48EDB646-ACA0-4910-83EE-0F3C067EEFDA}">
      <dgm:prSet/>
      <dgm:spPr/>
      <dgm:t>
        <a:bodyPr/>
        <a:lstStyle/>
        <a:p>
          <a:endParaRPr lang="zh-CN" altLang="en-US"/>
        </a:p>
      </dgm:t>
    </dgm:pt>
    <dgm:pt modelId="{6CDD844A-482E-4808-9DDF-DA99A5C417F5}" type="sibTrans" cxnId="{48EDB646-ACA0-4910-83EE-0F3C067EEFDA}">
      <dgm:prSet/>
      <dgm:spPr/>
      <dgm:t>
        <a:bodyPr/>
        <a:lstStyle/>
        <a:p>
          <a:endParaRPr lang="zh-CN" altLang="en-US"/>
        </a:p>
      </dgm:t>
    </dgm:pt>
    <dgm:pt modelId="{446430FD-F2F4-476B-98F5-9A925A78FC3A}">
      <dgm:prSet phldrT="[Text]"/>
      <dgm:spPr/>
      <dgm:t>
        <a:bodyPr/>
        <a:lstStyle/>
        <a:p>
          <a:r>
            <a:rPr lang="zh-CN" altLang="en-US" dirty="0">
              <a:latin typeface="微软雅黑 Light" panose="020B0502040204020203" pitchFamily="34" charset="-122"/>
              <a:ea typeface="微软雅黑 Light" panose="020B0502040204020203" pitchFamily="34" charset="-122"/>
            </a:rPr>
            <a:t>限定的周期</a:t>
          </a:r>
          <a:endParaRPr lang="zh-CN" altLang="en-US" dirty="0"/>
        </a:p>
      </dgm:t>
    </dgm:pt>
    <dgm:pt modelId="{02E8D32E-D7F0-4144-AD3E-2C1C18F83F1A}" type="parTrans" cxnId="{31AF39F6-3C31-4C06-8BE6-D647A8EC59D0}">
      <dgm:prSet/>
      <dgm:spPr/>
      <dgm:t>
        <a:bodyPr/>
        <a:lstStyle/>
        <a:p>
          <a:endParaRPr lang="zh-CN" altLang="en-US"/>
        </a:p>
      </dgm:t>
    </dgm:pt>
    <dgm:pt modelId="{7D0852B4-8680-47AF-BD9B-F9EB79E56F9F}" type="sibTrans" cxnId="{31AF39F6-3C31-4C06-8BE6-D647A8EC59D0}">
      <dgm:prSet/>
      <dgm:spPr/>
      <dgm:t>
        <a:bodyPr/>
        <a:lstStyle/>
        <a:p>
          <a:endParaRPr lang="zh-CN" altLang="en-US"/>
        </a:p>
      </dgm:t>
    </dgm:pt>
    <dgm:pt modelId="{6FA26B6B-FE4B-41F5-B2A9-9ADC30544D27}">
      <dgm:prSet phldrT="[Text]"/>
      <dgm:spPr/>
      <dgm:t>
        <a:bodyPr/>
        <a:lstStyle/>
        <a:p>
          <a:r>
            <a:rPr lang="zh-CN" altLang="en-US" dirty="0">
              <a:latin typeface="微软雅黑 Light" panose="020B0502040204020203" pitchFamily="34" charset="-122"/>
              <a:ea typeface="微软雅黑 Light" panose="020B0502040204020203" pitchFamily="34" charset="-122"/>
            </a:rPr>
            <a:t>有独特性</a:t>
          </a:r>
          <a:endParaRPr lang="zh-CN" altLang="en-US" dirty="0">
            <a:latin typeface="黑体" panose="02010609060101010101" pitchFamily="49" charset="-122"/>
            <a:ea typeface="黑体" panose="02010609060101010101" pitchFamily="49" charset="-122"/>
          </a:endParaRPr>
        </a:p>
      </dgm:t>
    </dgm:pt>
    <dgm:pt modelId="{245EF0CD-4968-48A8-8F70-EDA6261BA5C2}" type="parTrans" cxnId="{694963BB-EB24-47EB-94FB-55D63B6750DF}">
      <dgm:prSet/>
      <dgm:spPr/>
      <dgm:t>
        <a:bodyPr/>
        <a:lstStyle/>
        <a:p>
          <a:endParaRPr lang="zh-CN" altLang="en-US"/>
        </a:p>
      </dgm:t>
    </dgm:pt>
    <dgm:pt modelId="{C27AA268-7724-445B-AE9F-7BBDD4272BB6}" type="sibTrans" cxnId="{694963BB-EB24-47EB-94FB-55D63B6750DF}">
      <dgm:prSet/>
      <dgm:spPr/>
      <dgm:t>
        <a:bodyPr/>
        <a:lstStyle/>
        <a:p>
          <a:endParaRPr lang="zh-CN" altLang="en-US"/>
        </a:p>
      </dgm:t>
    </dgm:pt>
    <dgm:pt modelId="{A3D7627C-3309-4716-B9B9-F2D918728006}">
      <dgm:prSet/>
      <dgm:spPr/>
      <dgm:t>
        <a:bodyPr/>
        <a:lstStyle/>
        <a:p>
          <a:r>
            <a:rPr lang="zh-CN" altLang="en-US" dirty="0">
              <a:latin typeface="微软雅黑 Light" panose="020B0502040204020203" pitchFamily="34" charset="-122"/>
              <a:ea typeface="微软雅黑 Light" panose="020B0502040204020203" pitchFamily="34" charset="-122"/>
            </a:rPr>
            <a:t>资源成本的约束性</a:t>
          </a:r>
          <a:endParaRPr lang="zh-CN" altLang="en-US" dirty="0">
            <a:latin typeface="黑体" panose="02010609060101010101" pitchFamily="49" charset="-122"/>
            <a:ea typeface="黑体" panose="02010609060101010101" pitchFamily="49" charset="-122"/>
          </a:endParaRPr>
        </a:p>
      </dgm:t>
    </dgm:pt>
    <dgm:pt modelId="{14A5C181-2E0E-45C8-AF76-F5B9C5488B2E}" type="parTrans" cxnId="{7FAB5738-257D-4EAD-AEED-2D99BB6CFEB3}">
      <dgm:prSet/>
      <dgm:spPr/>
      <dgm:t>
        <a:bodyPr/>
        <a:lstStyle/>
        <a:p>
          <a:endParaRPr lang="zh-CN" altLang="en-US"/>
        </a:p>
      </dgm:t>
    </dgm:pt>
    <dgm:pt modelId="{6679EA37-D4D9-4E66-BF74-08CB3ACD6E47}" type="sibTrans" cxnId="{7FAB5738-257D-4EAD-AEED-2D99BB6CFEB3}">
      <dgm:prSet/>
      <dgm:spPr/>
      <dgm:t>
        <a:bodyPr/>
        <a:lstStyle/>
        <a:p>
          <a:endParaRPr lang="zh-CN" altLang="en-US"/>
        </a:p>
      </dgm:t>
    </dgm:pt>
    <dgm:pt modelId="{71912B78-BC6D-417B-BC7C-5618600615C4}">
      <dgm:prSet/>
      <dgm:spPr/>
      <dgm:t>
        <a:bodyPr/>
        <a:lstStyle/>
        <a:p>
          <a:r>
            <a:rPr lang="zh-CN" altLang="en-US" dirty="0">
              <a:latin typeface="微软雅黑 Light" panose="020B0502040204020203" pitchFamily="34" charset="-122"/>
              <a:ea typeface="微软雅黑 Light" panose="020B0502040204020203" pitchFamily="34" charset="-122"/>
            </a:rPr>
            <a:t>项目的不确定性</a:t>
          </a:r>
          <a:endParaRPr lang="zh-CN" altLang="en-US" dirty="0">
            <a:latin typeface="黑体" pitchFamily="49" charset="-122"/>
            <a:ea typeface="黑体" pitchFamily="49" charset="-122"/>
          </a:endParaRPr>
        </a:p>
      </dgm:t>
    </dgm:pt>
    <dgm:pt modelId="{6872400D-8454-49C4-8E0A-84401AF342E7}" type="parTrans" cxnId="{44857260-1946-4623-98F7-13F272A3C74A}">
      <dgm:prSet/>
      <dgm:spPr/>
      <dgm:t>
        <a:bodyPr/>
        <a:lstStyle/>
        <a:p>
          <a:endParaRPr lang="zh-CN" altLang="en-US"/>
        </a:p>
      </dgm:t>
    </dgm:pt>
    <dgm:pt modelId="{3283CE3E-ADC3-41DA-B8B7-7E600A05C0DA}" type="sibTrans" cxnId="{44857260-1946-4623-98F7-13F272A3C74A}">
      <dgm:prSet/>
      <dgm:spPr/>
      <dgm:t>
        <a:bodyPr/>
        <a:lstStyle/>
        <a:p>
          <a:endParaRPr lang="zh-CN" altLang="en-US"/>
        </a:p>
      </dgm:t>
    </dgm:pt>
    <dgm:pt modelId="{D9AC989D-0392-4E4F-99CD-2C53326A6D27}" type="pres">
      <dgm:prSet presAssocID="{BAACCFAB-3586-4C89-82F5-30CA64F870D8}" presName="Name0" presStyleCnt="0">
        <dgm:presLayoutVars>
          <dgm:chMax val="7"/>
          <dgm:chPref val="7"/>
          <dgm:dir/>
        </dgm:presLayoutVars>
      </dgm:prSet>
      <dgm:spPr/>
    </dgm:pt>
    <dgm:pt modelId="{4326E8B3-941A-4426-AF03-8F04119C7B5E}" type="pres">
      <dgm:prSet presAssocID="{BAACCFAB-3586-4C89-82F5-30CA64F870D8}" presName="Name1" presStyleCnt="0"/>
      <dgm:spPr/>
    </dgm:pt>
    <dgm:pt modelId="{EBF0CB57-1D7C-46E6-8D1C-837FC77CA2DB}" type="pres">
      <dgm:prSet presAssocID="{BAACCFAB-3586-4C89-82F5-30CA64F870D8}" presName="cycle" presStyleCnt="0"/>
      <dgm:spPr/>
    </dgm:pt>
    <dgm:pt modelId="{99C9E886-D521-4426-8B22-767111540D6D}" type="pres">
      <dgm:prSet presAssocID="{BAACCFAB-3586-4C89-82F5-30CA64F870D8}" presName="srcNode" presStyleLbl="node1" presStyleIdx="0" presStyleCnt="6"/>
      <dgm:spPr/>
    </dgm:pt>
    <dgm:pt modelId="{CEC8AA7D-EF4E-4DA8-9550-E2EA63F97D35}" type="pres">
      <dgm:prSet presAssocID="{BAACCFAB-3586-4C89-82F5-30CA64F870D8}" presName="conn" presStyleLbl="parChTrans1D2" presStyleIdx="0" presStyleCnt="1"/>
      <dgm:spPr/>
    </dgm:pt>
    <dgm:pt modelId="{1B055E60-233D-4622-B64D-35F4FB8190BC}" type="pres">
      <dgm:prSet presAssocID="{BAACCFAB-3586-4C89-82F5-30CA64F870D8}" presName="extraNode" presStyleLbl="node1" presStyleIdx="0" presStyleCnt="6"/>
      <dgm:spPr/>
    </dgm:pt>
    <dgm:pt modelId="{AD6EDB53-8DDE-4491-A6D8-441205F3C400}" type="pres">
      <dgm:prSet presAssocID="{BAACCFAB-3586-4C89-82F5-30CA64F870D8}" presName="dstNode" presStyleLbl="node1" presStyleIdx="0" presStyleCnt="6"/>
      <dgm:spPr/>
    </dgm:pt>
    <dgm:pt modelId="{279D66B1-924F-4156-A795-F5AD9EBCE56B}" type="pres">
      <dgm:prSet presAssocID="{8A8A65F4-3297-48D4-BA56-5E009D932CE9}" presName="text_1" presStyleLbl="node1" presStyleIdx="0" presStyleCnt="6">
        <dgm:presLayoutVars>
          <dgm:bulletEnabled val="1"/>
        </dgm:presLayoutVars>
      </dgm:prSet>
      <dgm:spPr/>
    </dgm:pt>
    <dgm:pt modelId="{4B6FCCC4-07BB-41FE-A522-AF3D59937221}" type="pres">
      <dgm:prSet presAssocID="{8A8A65F4-3297-48D4-BA56-5E009D932CE9}" presName="accent_1" presStyleCnt="0"/>
      <dgm:spPr/>
    </dgm:pt>
    <dgm:pt modelId="{A5D8DC03-AC76-4F8B-9095-82230B702966}" type="pres">
      <dgm:prSet presAssocID="{8A8A65F4-3297-48D4-BA56-5E009D932CE9}" presName="accentRepeatNode" presStyleLbl="solidFgAcc1" presStyleIdx="0" presStyleCnt="6"/>
      <dgm:spPr/>
    </dgm:pt>
    <dgm:pt modelId="{8D79543D-0D4F-4D1C-9E04-9B163A8C7FF2}" type="pres">
      <dgm:prSet presAssocID="{CB5B879A-6E15-4F22-99E7-D93FB8BE0F74}" presName="text_2" presStyleLbl="node1" presStyleIdx="1" presStyleCnt="6">
        <dgm:presLayoutVars>
          <dgm:bulletEnabled val="1"/>
        </dgm:presLayoutVars>
      </dgm:prSet>
      <dgm:spPr/>
    </dgm:pt>
    <dgm:pt modelId="{676C91B2-566A-4982-9B9A-9CA8A51BF231}" type="pres">
      <dgm:prSet presAssocID="{CB5B879A-6E15-4F22-99E7-D93FB8BE0F74}" presName="accent_2" presStyleCnt="0"/>
      <dgm:spPr/>
    </dgm:pt>
    <dgm:pt modelId="{A694E9F5-D20F-4CE0-AAEF-A8AF7BCB9440}" type="pres">
      <dgm:prSet presAssocID="{CB5B879A-6E15-4F22-99E7-D93FB8BE0F74}" presName="accentRepeatNode" presStyleLbl="solidFgAcc1" presStyleIdx="1" presStyleCnt="6"/>
      <dgm:spPr/>
    </dgm:pt>
    <dgm:pt modelId="{59B95563-7B5B-4225-831A-29E1EEB39012}" type="pres">
      <dgm:prSet presAssocID="{446430FD-F2F4-476B-98F5-9A925A78FC3A}" presName="text_3" presStyleLbl="node1" presStyleIdx="2" presStyleCnt="6">
        <dgm:presLayoutVars>
          <dgm:bulletEnabled val="1"/>
        </dgm:presLayoutVars>
      </dgm:prSet>
      <dgm:spPr/>
    </dgm:pt>
    <dgm:pt modelId="{BECF69A7-2196-47C3-BE4C-D989FD88B487}" type="pres">
      <dgm:prSet presAssocID="{446430FD-F2F4-476B-98F5-9A925A78FC3A}" presName="accent_3" presStyleCnt="0"/>
      <dgm:spPr/>
    </dgm:pt>
    <dgm:pt modelId="{206E9F62-904C-4E09-965F-8F6A1D50CE99}" type="pres">
      <dgm:prSet presAssocID="{446430FD-F2F4-476B-98F5-9A925A78FC3A}" presName="accentRepeatNode" presStyleLbl="solidFgAcc1" presStyleIdx="2" presStyleCnt="6"/>
      <dgm:spPr/>
    </dgm:pt>
    <dgm:pt modelId="{6361ADEE-DDC8-4B92-A22E-8B90489C3496}" type="pres">
      <dgm:prSet presAssocID="{6FA26B6B-FE4B-41F5-B2A9-9ADC30544D27}" presName="text_4" presStyleLbl="node1" presStyleIdx="3" presStyleCnt="6">
        <dgm:presLayoutVars>
          <dgm:bulletEnabled val="1"/>
        </dgm:presLayoutVars>
      </dgm:prSet>
      <dgm:spPr/>
    </dgm:pt>
    <dgm:pt modelId="{B73B53AD-4868-436B-8E6C-DE9549E1B95D}" type="pres">
      <dgm:prSet presAssocID="{6FA26B6B-FE4B-41F5-B2A9-9ADC30544D27}" presName="accent_4" presStyleCnt="0"/>
      <dgm:spPr/>
    </dgm:pt>
    <dgm:pt modelId="{2701C0E2-42F7-4EF8-915B-95DB5DB722B2}" type="pres">
      <dgm:prSet presAssocID="{6FA26B6B-FE4B-41F5-B2A9-9ADC30544D27}" presName="accentRepeatNode" presStyleLbl="solidFgAcc1" presStyleIdx="3" presStyleCnt="6"/>
      <dgm:spPr/>
    </dgm:pt>
    <dgm:pt modelId="{BD20C5DB-CD08-4AEF-87F2-098846C6D817}" type="pres">
      <dgm:prSet presAssocID="{A3D7627C-3309-4716-B9B9-F2D918728006}" presName="text_5" presStyleLbl="node1" presStyleIdx="4" presStyleCnt="6">
        <dgm:presLayoutVars>
          <dgm:bulletEnabled val="1"/>
        </dgm:presLayoutVars>
      </dgm:prSet>
      <dgm:spPr/>
    </dgm:pt>
    <dgm:pt modelId="{1BB83503-308E-492B-8BF7-EB6AC7849597}" type="pres">
      <dgm:prSet presAssocID="{A3D7627C-3309-4716-B9B9-F2D918728006}" presName="accent_5" presStyleCnt="0"/>
      <dgm:spPr/>
    </dgm:pt>
    <dgm:pt modelId="{B0C54EBB-8ADF-4962-BF7D-1A4063195482}" type="pres">
      <dgm:prSet presAssocID="{A3D7627C-3309-4716-B9B9-F2D918728006}" presName="accentRepeatNode" presStyleLbl="solidFgAcc1" presStyleIdx="4" presStyleCnt="6"/>
      <dgm:spPr/>
    </dgm:pt>
    <dgm:pt modelId="{126B5754-9BAB-4335-8048-CAA059B4AA0E}" type="pres">
      <dgm:prSet presAssocID="{71912B78-BC6D-417B-BC7C-5618600615C4}" presName="text_6" presStyleLbl="node1" presStyleIdx="5" presStyleCnt="6">
        <dgm:presLayoutVars>
          <dgm:bulletEnabled val="1"/>
        </dgm:presLayoutVars>
      </dgm:prSet>
      <dgm:spPr/>
    </dgm:pt>
    <dgm:pt modelId="{89B00F1C-2CBE-49FE-B6D2-CB51C88DE4E0}" type="pres">
      <dgm:prSet presAssocID="{71912B78-BC6D-417B-BC7C-5618600615C4}" presName="accent_6" presStyleCnt="0"/>
      <dgm:spPr/>
    </dgm:pt>
    <dgm:pt modelId="{C2EDE2D4-FAE3-405D-AAC7-232D5860DC6B}" type="pres">
      <dgm:prSet presAssocID="{71912B78-BC6D-417B-BC7C-5618600615C4}" presName="accentRepeatNode" presStyleLbl="solidFgAcc1" presStyleIdx="5" presStyleCnt="6"/>
      <dgm:spPr/>
    </dgm:pt>
  </dgm:ptLst>
  <dgm:cxnLst>
    <dgm:cxn modelId="{D6A5550B-0109-4D84-AD28-906067C0059E}" type="presOf" srcId="{6FA26B6B-FE4B-41F5-B2A9-9ADC30544D27}" destId="{6361ADEE-DDC8-4B92-A22E-8B90489C3496}" srcOrd="0" destOrd="0" presId="urn:microsoft.com/office/officeart/2008/layout/VerticalCurvedList"/>
    <dgm:cxn modelId="{09520928-7CF9-4F30-A744-3D9FCF71043C}" type="presOf" srcId="{BAACCFAB-3586-4C89-82F5-30CA64F870D8}" destId="{D9AC989D-0392-4E4F-99CD-2C53326A6D27}" srcOrd="0" destOrd="0" presId="urn:microsoft.com/office/officeart/2008/layout/VerticalCurvedList"/>
    <dgm:cxn modelId="{7FAB5738-257D-4EAD-AEED-2D99BB6CFEB3}" srcId="{BAACCFAB-3586-4C89-82F5-30CA64F870D8}" destId="{A3D7627C-3309-4716-B9B9-F2D918728006}" srcOrd="4" destOrd="0" parTransId="{14A5C181-2E0E-45C8-AF76-F5B9C5488B2E}" sibTransId="{6679EA37-D4D9-4E66-BF74-08CB3ACD6E47}"/>
    <dgm:cxn modelId="{85608F3F-C375-4A0C-AC92-3A3816EB0448}" type="presOf" srcId="{71912B78-BC6D-417B-BC7C-5618600615C4}" destId="{126B5754-9BAB-4335-8048-CAA059B4AA0E}" srcOrd="0" destOrd="0" presId="urn:microsoft.com/office/officeart/2008/layout/VerticalCurvedList"/>
    <dgm:cxn modelId="{44857260-1946-4623-98F7-13F272A3C74A}" srcId="{BAACCFAB-3586-4C89-82F5-30CA64F870D8}" destId="{71912B78-BC6D-417B-BC7C-5618600615C4}" srcOrd="5" destOrd="0" parTransId="{6872400D-8454-49C4-8E0A-84401AF342E7}" sibTransId="{3283CE3E-ADC3-41DA-B8B7-7E600A05C0DA}"/>
    <dgm:cxn modelId="{48EDB646-ACA0-4910-83EE-0F3C067EEFDA}" srcId="{BAACCFAB-3586-4C89-82F5-30CA64F870D8}" destId="{CB5B879A-6E15-4F22-99E7-D93FB8BE0F74}" srcOrd="1" destOrd="0" parTransId="{72249B3D-5D25-4798-9643-B2BBCF2D115B}" sibTransId="{6CDD844A-482E-4808-9DDF-DA99A5C417F5}"/>
    <dgm:cxn modelId="{85ADAB6C-F822-40DC-AF07-AB0245A0FC4B}" type="presOf" srcId="{CB5B879A-6E15-4F22-99E7-D93FB8BE0F74}" destId="{8D79543D-0D4F-4D1C-9E04-9B163A8C7FF2}" srcOrd="0" destOrd="0" presId="urn:microsoft.com/office/officeart/2008/layout/VerticalCurvedList"/>
    <dgm:cxn modelId="{E8D5086E-3A81-4B0F-8E90-0FB97FF0E577}" type="presOf" srcId="{03D3FB13-FD44-4B83-8171-008A3801D643}" destId="{CEC8AA7D-EF4E-4DA8-9550-E2EA63F97D35}" srcOrd="0" destOrd="0" presId="urn:microsoft.com/office/officeart/2008/layout/VerticalCurvedList"/>
    <dgm:cxn modelId="{BF7D8F70-81C7-4E48-97E8-08399131DE37}" type="presOf" srcId="{8A8A65F4-3297-48D4-BA56-5E009D932CE9}" destId="{279D66B1-924F-4156-A795-F5AD9EBCE56B}" srcOrd="0" destOrd="0" presId="urn:microsoft.com/office/officeart/2008/layout/VerticalCurvedList"/>
    <dgm:cxn modelId="{EA1E26A0-B55A-483C-93D6-CE65C1AE0420}" srcId="{BAACCFAB-3586-4C89-82F5-30CA64F870D8}" destId="{8A8A65F4-3297-48D4-BA56-5E009D932CE9}" srcOrd="0" destOrd="0" parTransId="{334A39A2-FF71-4BDD-9616-86C39CE7B69C}" sibTransId="{03D3FB13-FD44-4B83-8171-008A3801D643}"/>
    <dgm:cxn modelId="{694963BB-EB24-47EB-94FB-55D63B6750DF}" srcId="{BAACCFAB-3586-4C89-82F5-30CA64F870D8}" destId="{6FA26B6B-FE4B-41F5-B2A9-9ADC30544D27}" srcOrd="3" destOrd="0" parTransId="{245EF0CD-4968-48A8-8F70-EDA6261BA5C2}" sibTransId="{C27AA268-7724-445B-AE9F-7BBDD4272BB6}"/>
    <dgm:cxn modelId="{A24D34DD-8B66-4972-81CF-2887B787E5DE}" type="presOf" srcId="{A3D7627C-3309-4716-B9B9-F2D918728006}" destId="{BD20C5DB-CD08-4AEF-87F2-098846C6D817}" srcOrd="0" destOrd="0" presId="urn:microsoft.com/office/officeart/2008/layout/VerticalCurvedList"/>
    <dgm:cxn modelId="{FC7507ED-1855-46BF-8EF6-81B905137BAB}" type="presOf" srcId="{446430FD-F2F4-476B-98F5-9A925A78FC3A}" destId="{59B95563-7B5B-4225-831A-29E1EEB39012}" srcOrd="0" destOrd="0" presId="urn:microsoft.com/office/officeart/2008/layout/VerticalCurvedList"/>
    <dgm:cxn modelId="{31AF39F6-3C31-4C06-8BE6-D647A8EC59D0}" srcId="{BAACCFAB-3586-4C89-82F5-30CA64F870D8}" destId="{446430FD-F2F4-476B-98F5-9A925A78FC3A}" srcOrd="2" destOrd="0" parTransId="{02E8D32E-D7F0-4144-AD3E-2C1C18F83F1A}" sibTransId="{7D0852B4-8680-47AF-BD9B-F9EB79E56F9F}"/>
    <dgm:cxn modelId="{558409AD-A731-448E-B68E-30D5E38E13BE}" type="presParOf" srcId="{D9AC989D-0392-4E4F-99CD-2C53326A6D27}" destId="{4326E8B3-941A-4426-AF03-8F04119C7B5E}" srcOrd="0" destOrd="0" presId="urn:microsoft.com/office/officeart/2008/layout/VerticalCurvedList"/>
    <dgm:cxn modelId="{515EB6E3-496A-4268-AD99-6DEFE35C317A}" type="presParOf" srcId="{4326E8B3-941A-4426-AF03-8F04119C7B5E}" destId="{EBF0CB57-1D7C-46E6-8D1C-837FC77CA2DB}" srcOrd="0" destOrd="0" presId="urn:microsoft.com/office/officeart/2008/layout/VerticalCurvedList"/>
    <dgm:cxn modelId="{509F4B5B-6226-4AE7-8873-89F00A14E64D}" type="presParOf" srcId="{EBF0CB57-1D7C-46E6-8D1C-837FC77CA2DB}" destId="{99C9E886-D521-4426-8B22-767111540D6D}" srcOrd="0" destOrd="0" presId="urn:microsoft.com/office/officeart/2008/layout/VerticalCurvedList"/>
    <dgm:cxn modelId="{B3ED85F0-34C3-43CC-9C63-02B4D9EE0B67}" type="presParOf" srcId="{EBF0CB57-1D7C-46E6-8D1C-837FC77CA2DB}" destId="{CEC8AA7D-EF4E-4DA8-9550-E2EA63F97D35}" srcOrd="1" destOrd="0" presId="urn:microsoft.com/office/officeart/2008/layout/VerticalCurvedList"/>
    <dgm:cxn modelId="{FF41EE68-8AD1-40BD-B80C-2B1F9B903693}" type="presParOf" srcId="{EBF0CB57-1D7C-46E6-8D1C-837FC77CA2DB}" destId="{1B055E60-233D-4622-B64D-35F4FB8190BC}" srcOrd="2" destOrd="0" presId="urn:microsoft.com/office/officeart/2008/layout/VerticalCurvedList"/>
    <dgm:cxn modelId="{C7EAA817-D895-47E6-83F0-44158E886BF2}" type="presParOf" srcId="{EBF0CB57-1D7C-46E6-8D1C-837FC77CA2DB}" destId="{AD6EDB53-8DDE-4491-A6D8-441205F3C400}" srcOrd="3" destOrd="0" presId="urn:microsoft.com/office/officeart/2008/layout/VerticalCurvedList"/>
    <dgm:cxn modelId="{636F86D9-0DB6-43A0-8EE3-6166886FD4E1}" type="presParOf" srcId="{4326E8B3-941A-4426-AF03-8F04119C7B5E}" destId="{279D66B1-924F-4156-A795-F5AD9EBCE56B}" srcOrd="1" destOrd="0" presId="urn:microsoft.com/office/officeart/2008/layout/VerticalCurvedList"/>
    <dgm:cxn modelId="{AFE396AC-6536-42E9-B244-734CCB4C0722}" type="presParOf" srcId="{4326E8B3-941A-4426-AF03-8F04119C7B5E}" destId="{4B6FCCC4-07BB-41FE-A522-AF3D59937221}" srcOrd="2" destOrd="0" presId="urn:microsoft.com/office/officeart/2008/layout/VerticalCurvedList"/>
    <dgm:cxn modelId="{2C4686AD-E2EC-4270-B4F7-D83678AD4523}" type="presParOf" srcId="{4B6FCCC4-07BB-41FE-A522-AF3D59937221}" destId="{A5D8DC03-AC76-4F8B-9095-82230B702966}" srcOrd="0" destOrd="0" presId="urn:microsoft.com/office/officeart/2008/layout/VerticalCurvedList"/>
    <dgm:cxn modelId="{2E6C2334-7D94-44F8-B217-BFA432EA51F1}" type="presParOf" srcId="{4326E8B3-941A-4426-AF03-8F04119C7B5E}" destId="{8D79543D-0D4F-4D1C-9E04-9B163A8C7FF2}" srcOrd="3" destOrd="0" presId="urn:microsoft.com/office/officeart/2008/layout/VerticalCurvedList"/>
    <dgm:cxn modelId="{B79C14DD-6292-4FF9-96B1-7B67E010F2BA}" type="presParOf" srcId="{4326E8B3-941A-4426-AF03-8F04119C7B5E}" destId="{676C91B2-566A-4982-9B9A-9CA8A51BF231}" srcOrd="4" destOrd="0" presId="urn:microsoft.com/office/officeart/2008/layout/VerticalCurvedList"/>
    <dgm:cxn modelId="{902B5732-C413-4F61-A58D-B9D1A88FDD62}" type="presParOf" srcId="{676C91B2-566A-4982-9B9A-9CA8A51BF231}" destId="{A694E9F5-D20F-4CE0-AAEF-A8AF7BCB9440}" srcOrd="0" destOrd="0" presId="urn:microsoft.com/office/officeart/2008/layout/VerticalCurvedList"/>
    <dgm:cxn modelId="{DD92076B-F683-4DA0-AEF5-CC1BAFFA6BCA}" type="presParOf" srcId="{4326E8B3-941A-4426-AF03-8F04119C7B5E}" destId="{59B95563-7B5B-4225-831A-29E1EEB39012}" srcOrd="5" destOrd="0" presId="urn:microsoft.com/office/officeart/2008/layout/VerticalCurvedList"/>
    <dgm:cxn modelId="{71F868BD-867F-421C-A8A0-4CFCF0512CE0}" type="presParOf" srcId="{4326E8B3-941A-4426-AF03-8F04119C7B5E}" destId="{BECF69A7-2196-47C3-BE4C-D989FD88B487}" srcOrd="6" destOrd="0" presId="urn:microsoft.com/office/officeart/2008/layout/VerticalCurvedList"/>
    <dgm:cxn modelId="{4DC9B1D4-F82F-47C7-A500-D780CCA36B3F}" type="presParOf" srcId="{BECF69A7-2196-47C3-BE4C-D989FD88B487}" destId="{206E9F62-904C-4E09-965F-8F6A1D50CE99}" srcOrd="0" destOrd="0" presId="urn:microsoft.com/office/officeart/2008/layout/VerticalCurvedList"/>
    <dgm:cxn modelId="{8FF430CA-93D8-416F-920C-6BFF9C011834}" type="presParOf" srcId="{4326E8B3-941A-4426-AF03-8F04119C7B5E}" destId="{6361ADEE-DDC8-4B92-A22E-8B90489C3496}" srcOrd="7" destOrd="0" presId="urn:microsoft.com/office/officeart/2008/layout/VerticalCurvedList"/>
    <dgm:cxn modelId="{7ECF39A8-F633-45DA-BEB2-9BFFC637141F}" type="presParOf" srcId="{4326E8B3-941A-4426-AF03-8F04119C7B5E}" destId="{B73B53AD-4868-436B-8E6C-DE9549E1B95D}" srcOrd="8" destOrd="0" presId="urn:microsoft.com/office/officeart/2008/layout/VerticalCurvedList"/>
    <dgm:cxn modelId="{B6B73A3E-E29D-45F2-9CEA-DDDBABE8A0A2}" type="presParOf" srcId="{B73B53AD-4868-436B-8E6C-DE9549E1B95D}" destId="{2701C0E2-42F7-4EF8-915B-95DB5DB722B2}" srcOrd="0" destOrd="0" presId="urn:microsoft.com/office/officeart/2008/layout/VerticalCurvedList"/>
    <dgm:cxn modelId="{EFD5AFD0-98C0-436D-B579-4E1F24C990BE}" type="presParOf" srcId="{4326E8B3-941A-4426-AF03-8F04119C7B5E}" destId="{BD20C5DB-CD08-4AEF-87F2-098846C6D817}" srcOrd="9" destOrd="0" presId="urn:microsoft.com/office/officeart/2008/layout/VerticalCurvedList"/>
    <dgm:cxn modelId="{A9E9C6E0-81E4-49CC-8EC9-1BD3281F6093}" type="presParOf" srcId="{4326E8B3-941A-4426-AF03-8F04119C7B5E}" destId="{1BB83503-308E-492B-8BF7-EB6AC7849597}" srcOrd="10" destOrd="0" presId="urn:microsoft.com/office/officeart/2008/layout/VerticalCurvedList"/>
    <dgm:cxn modelId="{022B68BD-A836-49FC-93BD-A39EBEB8F2D9}" type="presParOf" srcId="{1BB83503-308E-492B-8BF7-EB6AC7849597}" destId="{B0C54EBB-8ADF-4962-BF7D-1A4063195482}" srcOrd="0" destOrd="0" presId="urn:microsoft.com/office/officeart/2008/layout/VerticalCurvedList"/>
    <dgm:cxn modelId="{8E7F85A6-8663-44E6-B8A2-A825E79A1279}" type="presParOf" srcId="{4326E8B3-941A-4426-AF03-8F04119C7B5E}" destId="{126B5754-9BAB-4335-8048-CAA059B4AA0E}" srcOrd="11" destOrd="0" presId="urn:microsoft.com/office/officeart/2008/layout/VerticalCurvedList"/>
    <dgm:cxn modelId="{084DA166-2973-4F3E-95CC-BA0E082C046C}" type="presParOf" srcId="{4326E8B3-941A-4426-AF03-8F04119C7B5E}" destId="{89B00F1C-2CBE-49FE-B6D2-CB51C88DE4E0}" srcOrd="12" destOrd="0" presId="urn:microsoft.com/office/officeart/2008/layout/VerticalCurvedList"/>
    <dgm:cxn modelId="{23710884-5BDA-4A50-A4E8-89C275F49CF7}" type="presParOf" srcId="{89B00F1C-2CBE-49FE-B6D2-CB51C88DE4E0}" destId="{C2EDE2D4-FAE3-405D-AAC7-232D5860DC6B}" srcOrd="0" destOrd="0" presId="urn:microsoft.com/office/officeart/2008/layout/VerticalCurv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84DE132-2077-4703-B7A4-A2AADC558C7E}" type="doc">
      <dgm:prSet loTypeId="urn:microsoft.com/office/officeart/2008/layout/RadialCluster" loCatId="relationship" qsTypeId="urn:microsoft.com/office/officeart/2005/8/quickstyle/3d5" qsCatId="3D" csTypeId="urn:microsoft.com/office/officeart/2005/8/colors/colorful1" csCatId="colorful" phldr="1"/>
      <dgm:spPr/>
      <dgm:t>
        <a:bodyPr/>
        <a:lstStyle/>
        <a:p>
          <a:endParaRPr lang="zh-CN" altLang="en-US"/>
        </a:p>
      </dgm:t>
    </dgm:pt>
    <dgm:pt modelId="{314BF430-32F3-4937-B7A8-CDBC50A28586}">
      <dgm:prSet phldrT="[文本]" custT="1"/>
      <dgm:spPr/>
      <dgm:t>
        <a:bodyPr/>
        <a:lstStyle/>
        <a:p>
          <a:r>
            <a:rPr lang="zh-CN" altLang="en-US" sz="2400" dirty="0"/>
            <a:t>为什么需要敏捷</a:t>
          </a:r>
        </a:p>
      </dgm:t>
    </dgm:pt>
    <dgm:pt modelId="{FFF528F2-CD86-4C30-9CDA-FBA4F0F0AD51}" type="parTrans" cxnId="{7A3587CB-3A67-4010-9066-02B15F2FD936}">
      <dgm:prSet/>
      <dgm:spPr/>
      <dgm:t>
        <a:bodyPr/>
        <a:lstStyle/>
        <a:p>
          <a:endParaRPr lang="zh-CN" altLang="en-US" sz="1600"/>
        </a:p>
      </dgm:t>
    </dgm:pt>
    <dgm:pt modelId="{305F5B84-54DA-40BC-92F0-2D234A72D198}" type="sibTrans" cxnId="{7A3587CB-3A67-4010-9066-02B15F2FD936}">
      <dgm:prSet/>
      <dgm:spPr/>
      <dgm:t>
        <a:bodyPr/>
        <a:lstStyle/>
        <a:p>
          <a:endParaRPr lang="zh-CN" altLang="en-US" sz="1600"/>
        </a:p>
      </dgm:t>
    </dgm:pt>
    <dgm:pt modelId="{324CA685-49BD-4BD5-A8FD-A5710D9AC13B}">
      <dgm:prSet phldrT="[文本]" custT="1"/>
      <dgm:spPr/>
      <dgm:t>
        <a:bodyPr/>
        <a:lstStyle/>
        <a:p>
          <a:r>
            <a:rPr lang="zh-CN" altLang="en-US" sz="1600" dirty="0"/>
            <a:t>更加灵活</a:t>
          </a:r>
        </a:p>
      </dgm:t>
    </dgm:pt>
    <dgm:pt modelId="{7D8C2A10-8A07-4F15-B8A5-39F77B79AFE9}" type="parTrans" cxnId="{73B17A59-9241-4F2B-B6B4-885F888C132A}">
      <dgm:prSet/>
      <dgm:spPr/>
      <dgm:t>
        <a:bodyPr/>
        <a:lstStyle/>
        <a:p>
          <a:endParaRPr lang="zh-CN" altLang="en-US" sz="1600"/>
        </a:p>
      </dgm:t>
    </dgm:pt>
    <dgm:pt modelId="{28D2BF1F-59FB-44D8-8FD5-92B443E44216}" type="sibTrans" cxnId="{73B17A59-9241-4F2B-B6B4-885F888C132A}">
      <dgm:prSet/>
      <dgm:spPr/>
      <dgm:t>
        <a:bodyPr/>
        <a:lstStyle/>
        <a:p>
          <a:endParaRPr lang="zh-CN" altLang="en-US" sz="1600"/>
        </a:p>
      </dgm:t>
    </dgm:pt>
    <dgm:pt modelId="{87606509-C3F9-4238-A894-635D82EAB841}">
      <dgm:prSet phldrT="[文本]" custT="1"/>
      <dgm:spPr/>
      <dgm:t>
        <a:bodyPr/>
        <a:lstStyle/>
        <a:p>
          <a:r>
            <a:rPr lang="zh-CN" altLang="en-US" sz="1600" dirty="0"/>
            <a:t>快速交付</a:t>
          </a:r>
        </a:p>
      </dgm:t>
    </dgm:pt>
    <dgm:pt modelId="{D87EC061-DBBC-46D1-80B0-D3B15C61D5FF}" type="parTrans" cxnId="{1BC08063-DF8E-4682-A997-CCAA4FAB1183}">
      <dgm:prSet/>
      <dgm:spPr/>
      <dgm:t>
        <a:bodyPr/>
        <a:lstStyle/>
        <a:p>
          <a:endParaRPr lang="zh-CN" altLang="en-US" sz="1600"/>
        </a:p>
      </dgm:t>
    </dgm:pt>
    <dgm:pt modelId="{70C0542A-0A11-4E9D-9606-9272B5AF48C0}" type="sibTrans" cxnId="{1BC08063-DF8E-4682-A997-CCAA4FAB1183}">
      <dgm:prSet/>
      <dgm:spPr/>
      <dgm:t>
        <a:bodyPr/>
        <a:lstStyle/>
        <a:p>
          <a:endParaRPr lang="zh-CN" altLang="en-US" sz="1600"/>
        </a:p>
      </dgm:t>
    </dgm:pt>
    <dgm:pt modelId="{D8FE1109-6BE6-4606-AE0B-4682160FB4B6}">
      <dgm:prSet phldrT="[文本]" custT="1"/>
      <dgm:spPr/>
      <dgm:t>
        <a:bodyPr/>
        <a:lstStyle/>
        <a:p>
          <a:r>
            <a:rPr lang="zh-CN" altLang="en-US" sz="1600" dirty="0"/>
            <a:t>持续改进</a:t>
          </a:r>
        </a:p>
      </dgm:t>
    </dgm:pt>
    <dgm:pt modelId="{5662D5C6-378B-4690-BCED-2C584281D3AA}" type="parTrans" cxnId="{4E294A44-DFF9-48D0-A9F0-63F8A415BCD3}">
      <dgm:prSet/>
      <dgm:spPr/>
      <dgm:t>
        <a:bodyPr/>
        <a:lstStyle/>
        <a:p>
          <a:endParaRPr lang="zh-CN" altLang="en-US" sz="1600"/>
        </a:p>
      </dgm:t>
    </dgm:pt>
    <dgm:pt modelId="{EDA8ED59-D48E-4854-BCE5-1B6D47008CE9}" type="sibTrans" cxnId="{4E294A44-DFF9-48D0-A9F0-63F8A415BCD3}">
      <dgm:prSet/>
      <dgm:spPr/>
      <dgm:t>
        <a:bodyPr/>
        <a:lstStyle/>
        <a:p>
          <a:endParaRPr lang="zh-CN" altLang="en-US" sz="1600"/>
        </a:p>
      </dgm:t>
    </dgm:pt>
    <dgm:pt modelId="{39635E2A-0DDE-480A-BDA0-5F9B3A206D03}">
      <dgm:prSet phldrT="[文本]" custT="1"/>
      <dgm:spPr/>
      <dgm:t>
        <a:bodyPr/>
        <a:lstStyle/>
        <a:p>
          <a:r>
            <a:rPr lang="zh-CN" altLang="en-US" sz="1600" dirty="0"/>
            <a:t>更低风险</a:t>
          </a:r>
        </a:p>
      </dgm:t>
    </dgm:pt>
    <dgm:pt modelId="{D8A66E85-A2FA-4154-ACB7-ADCF5F955258}" type="parTrans" cxnId="{9120F8DE-3D09-4BF1-B92A-C934B465E308}">
      <dgm:prSet/>
      <dgm:spPr/>
      <dgm:t>
        <a:bodyPr/>
        <a:lstStyle/>
        <a:p>
          <a:endParaRPr lang="zh-CN" altLang="en-US" sz="1600"/>
        </a:p>
      </dgm:t>
    </dgm:pt>
    <dgm:pt modelId="{EBC4C119-FFAC-44A5-A81A-730732D0306D}" type="sibTrans" cxnId="{9120F8DE-3D09-4BF1-B92A-C934B465E308}">
      <dgm:prSet/>
      <dgm:spPr/>
      <dgm:t>
        <a:bodyPr/>
        <a:lstStyle/>
        <a:p>
          <a:endParaRPr lang="zh-CN" altLang="en-US" sz="1600"/>
        </a:p>
      </dgm:t>
    </dgm:pt>
    <dgm:pt modelId="{824CE0B2-F960-45F2-BCBE-1CD5E253A7F9}" type="pres">
      <dgm:prSet presAssocID="{D84DE132-2077-4703-B7A4-A2AADC558C7E}" presName="Name0" presStyleCnt="0">
        <dgm:presLayoutVars>
          <dgm:chMax val="1"/>
          <dgm:chPref val="1"/>
          <dgm:dir/>
          <dgm:animOne val="branch"/>
          <dgm:animLvl val="lvl"/>
        </dgm:presLayoutVars>
      </dgm:prSet>
      <dgm:spPr/>
    </dgm:pt>
    <dgm:pt modelId="{B54C53F5-4A22-4491-98CE-52D3E8765D02}" type="pres">
      <dgm:prSet presAssocID="{314BF430-32F3-4937-B7A8-CDBC50A28586}" presName="singleCycle" presStyleCnt="0"/>
      <dgm:spPr/>
    </dgm:pt>
    <dgm:pt modelId="{40C8E036-C2EE-4600-A051-491B681C8C8D}" type="pres">
      <dgm:prSet presAssocID="{314BF430-32F3-4937-B7A8-CDBC50A28586}" presName="singleCenter" presStyleLbl="node1" presStyleIdx="0" presStyleCnt="5">
        <dgm:presLayoutVars>
          <dgm:chMax val="7"/>
          <dgm:chPref val="7"/>
        </dgm:presLayoutVars>
      </dgm:prSet>
      <dgm:spPr/>
    </dgm:pt>
    <dgm:pt modelId="{2E08CFCD-6332-40E2-A17E-084ED5E59966}" type="pres">
      <dgm:prSet presAssocID="{7D8C2A10-8A07-4F15-B8A5-39F77B79AFE9}" presName="Name56" presStyleLbl="parChTrans1D2" presStyleIdx="0" presStyleCnt="4"/>
      <dgm:spPr/>
    </dgm:pt>
    <dgm:pt modelId="{A285A515-1A1B-44A4-867B-3B42E36AD233}" type="pres">
      <dgm:prSet presAssocID="{324CA685-49BD-4BD5-A8FD-A5710D9AC13B}" presName="text0" presStyleLbl="node1" presStyleIdx="1" presStyleCnt="5">
        <dgm:presLayoutVars>
          <dgm:bulletEnabled val="1"/>
        </dgm:presLayoutVars>
      </dgm:prSet>
      <dgm:spPr/>
    </dgm:pt>
    <dgm:pt modelId="{98E87A3E-8EDA-4E31-A58E-16C5DE7484A6}" type="pres">
      <dgm:prSet presAssocID="{D87EC061-DBBC-46D1-80B0-D3B15C61D5FF}" presName="Name56" presStyleLbl="parChTrans1D2" presStyleIdx="1" presStyleCnt="4"/>
      <dgm:spPr/>
    </dgm:pt>
    <dgm:pt modelId="{103858DB-0D8A-4A94-A8ED-8B7CB632D64B}" type="pres">
      <dgm:prSet presAssocID="{87606509-C3F9-4238-A894-635D82EAB841}" presName="text0" presStyleLbl="node1" presStyleIdx="2" presStyleCnt="5">
        <dgm:presLayoutVars>
          <dgm:bulletEnabled val="1"/>
        </dgm:presLayoutVars>
      </dgm:prSet>
      <dgm:spPr/>
    </dgm:pt>
    <dgm:pt modelId="{5A634463-5CA1-45DE-9DC2-51CE4525DE68}" type="pres">
      <dgm:prSet presAssocID="{5662D5C6-378B-4690-BCED-2C584281D3AA}" presName="Name56" presStyleLbl="parChTrans1D2" presStyleIdx="2" presStyleCnt="4"/>
      <dgm:spPr/>
    </dgm:pt>
    <dgm:pt modelId="{E5D4D3A5-5361-4E22-BE21-44F88B118BAD}" type="pres">
      <dgm:prSet presAssocID="{D8FE1109-6BE6-4606-AE0B-4682160FB4B6}" presName="text0" presStyleLbl="node1" presStyleIdx="3" presStyleCnt="5">
        <dgm:presLayoutVars>
          <dgm:bulletEnabled val="1"/>
        </dgm:presLayoutVars>
      </dgm:prSet>
      <dgm:spPr/>
    </dgm:pt>
    <dgm:pt modelId="{6917A371-A8D4-46BF-B362-B6BAC5B093F8}" type="pres">
      <dgm:prSet presAssocID="{D8A66E85-A2FA-4154-ACB7-ADCF5F955258}" presName="Name56" presStyleLbl="parChTrans1D2" presStyleIdx="3" presStyleCnt="4"/>
      <dgm:spPr/>
    </dgm:pt>
    <dgm:pt modelId="{F15E34B5-BCBC-4EE4-9EED-6AB235023B27}" type="pres">
      <dgm:prSet presAssocID="{39635E2A-0DDE-480A-BDA0-5F9B3A206D03}" presName="text0" presStyleLbl="node1" presStyleIdx="4" presStyleCnt="5">
        <dgm:presLayoutVars>
          <dgm:bulletEnabled val="1"/>
        </dgm:presLayoutVars>
      </dgm:prSet>
      <dgm:spPr/>
    </dgm:pt>
  </dgm:ptLst>
  <dgm:cxnLst>
    <dgm:cxn modelId="{FC3F7714-C301-4E3D-B22B-A6E2B15F0D19}" type="presOf" srcId="{D8A66E85-A2FA-4154-ACB7-ADCF5F955258}" destId="{6917A371-A8D4-46BF-B362-B6BAC5B093F8}" srcOrd="0" destOrd="0" presId="urn:microsoft.com/office/officeart/2008/layout/RadialCluster"/>
    <dgm:cxn modelId="{5A865718-E565-487D-A6E8-0E5796F0D5EE}" type="presOf" srcId="{87606509-C3F9-4238-A894-635D82EAB841}" destId="{103858DB-0D8A-4A94-A8ED-8B7CB632D64B}" srcOrd="0" destOrd="0" presId="urn:microsoft.com/office/officeart/2008/layout/RadialCluster"/>
    <dgm:cxn modelId="{91A4173A-F907-4179-98AD-44D77052B42E}" type="presOf" srcId="{D84DE132-2077-4703-B7A4-A2AADC558C7E}" destId="{824CE0B2-F960-45F2-BCBE-1CD5E253A7F9}" srcOrd="0" destOrd="0" presId="urn:microsoft.com/office/officeart/2008/layout/RadialCluster"/>
    <dgm:cxn modelId="{BD82F53E-2381-4A90-ABF5-1D4D25795834}" type="presOf" srcId="{D8FE1109-6BE6-4606-AE0B-4682160FB4B6}" destId="{E5D4D3A5-5361-4E22-BE21-44F88B118BAD}" srcOrd="0" destOrd="0" presId="urn:microsoft.com/office/officeart/2008/layout/RadialCluster"/>
    <dgm:cxn modelId="{1BC08063-DF8E-4682-A997-CCAA4FAB1183}" srcId="{314BF430-32F3-4937-B7A8-CDBC50A28586}" destId="{87606509-C3F9-4238-A894-635D82EAB841}" srcOrd="1" destOrd="0" parTransId="{D87EC061-DBBC-46D1-80B0-D3B15C61D5FF}" sibTransId="{70C0542A-0A11-4E9D-9606-9272B5AF48C0}"/>
    <dgm:cxn modelId="{4E294A44-DFF9-48D0-A9F0-63F8A415BCD3}" srcId="{314BF430-32F3-4937-B7A8-CDBC50A28586}" destId="{D8FE1109-6BE6-4606-AE0B-4682160FB4B6}" srcOrd="2" destOrd="0" parTransId="{5662D5C6-378B-4690-BCED-2C584281D3AA}" sibTransId="{EDA8ED59-D48E-4854-BCE5-1B6D47008CE9}"/>
    <dgm:cxn modelId="{BC32EA45-7D9F-4EF1-AF81-38B9B844AC91}" type="presOf" srcId="{7D8C2A10-8A07-4F15-B8A5-39F77B79AFE9}" destId="{2E08CFCD-6332-40E2-A17E-084ED5E59966}" srcOrd="0" destOrd="0" presId="urn:microsoft.com/office/officeart/2008/layout/RadialCluster"/>
    <dgm:cxn modelId="{73B17A59-9241-4F2B-B6B4-885F888C132A}" srcId="{314BF430-32F3-4937-B7A8-CDBC50A28586}" destId="{324CA685-49BD-4BD5-A8FD-A5710D9AC13B}" srcOrd="0" destOrd="0" parTransId="{7D8C2A10-8A07-4F15-B8A5-39F77B79AFE9}" sibTransId="{28D2BF1F-59FB-44D8-8FD5-92B443E44216}"/>
    <dgm:cxn modelId="{CFB060CA-1CDF-4B8E-8529-80E6B3AAF100}" type="presOf" srcId="{5662D5C6-378B-4690-BCED-2C584281D3AA}" destId="{5A634463-5CA1-45DE-9DC2-51CE4525DE68}" srcOrd="0" destOrd="0" presId="urn:microsoft.com/office/officeart/2008/layout/RadialCluster"/>
    <dgm:cxn modelId="{3ECA4DCA-93D3-4E2E-8335-23FA3217E0EA}" type="presOf" srcId="{D87EC061-DBBC-46D1-80B0-D3B15C61D5FF}" destId="{98E87A3E-8EDA-4E31-A58E-16C5DE7484A6}" srcOrd="0" destOrd="0" presId="urn:microsoft.com/office/officeart/2008/layout/RadialCluster"/>
    <dgm:cxn modelId="{7A3587CB-3A67-4010-9066-02B15F2FD936}" srcId="{D84DE132-2077-4703-B7A4-A2AADC558C7E}" destId="{314BF430-32F3-4937-B7A8-CDBC50A28586}" srcOrd="0" destOrd="0" parTransId="{FFF528F2-CD86-4C30-9CDA-FBA4F0F0AD51}" sibTransId="{305F5B84-54DA-40BC-92F0-2D234A72D198}"/>
    <dgm:cxn modelId="{9120F8DE-3D09-4BF1-B92A-C934B465E308}" srcId="{314BF430-32F3-4937-B7A8-CDBC50A28586}" destId="{39635E2A-0DDE-480A-BDA0-5F9B3A206D03}" srcOrd="3" destOrd="0" parTransId="{D8A66E85-A2FA-4154-ACB7-ADCF5F955258}" sibTransId="{EBC4C119-FFAC-44A5-A81A-730732D0306D}"/>
    <dgm:cxn modelId="{8B4E0DE9-02CD-492F-92A6-2509C6C092E5}" type="presOf" srcId="{39635E2A-0DDE-480A-BDA0-5F9B3A206D03}" destId="{F15E34B5-BCBC-4EE4-9EED-6AB235023B27}" srcOrd="0" destOrd="0" presId="urn:microsoft.com/office/officeart/2008/layout/RadialCluster"/>
    <dgm:cxn modelId="{BE615EE9-C165-4423-8441-0A6FB6E80D6D}" type="presOf" srcId="{324CA685-49BD-4BD5-A8FD-A5710D9AC13B}" destId="{A285A515-1A1B-44A4-867B-3B42E36AD233}" srcOrd="0" destOrd="0" presId="urn:microsoft.com/office/officeart/2008/layout/RadialCluster"/>
    <dgm:cxn modelId="{DF39FCF3-F28A-4F54-A978-F2DD934CC6A6}" type="presOf" srcId="{314BF430-32F3-4937-B7A8-CDBC50A28586}" destId="{40C8E036-C2EE-4600-A051-491B681C8C8D}" srcOrd="0" destOrd="0" presId="urn:microsoft.com/office/officeart/2008/layout/RadialCluster"/>
    <dgm:cxn modelId="{F7DB3DD6-9236-4395-814F-4E3A0DB81BF2}" type="presParOf" srcId="{824CE0B2-F960-45F2-BCBE-1CD5E253A7F9}" destId="{B54C53F5-4A22-4491-98CE-52D3E8765D02}" srcOrd="0" destOrd="0" presId="urn:microsoft.com/office/officeart/2008/layout/RadialCluster"/>
    <dgm:cxn modelId="{5FFA1774-5A00-4410-9B50-99E4E37EC1DA}" type="presParOf" srcId="{B54C53F5-4A22-4491-98CE-52D3E8765D02}" destId="{40C8E036-C2EE-4600-A051-491B681C8C8D}" srcOrd="0" destOrd="0" presId="urn:microsoft.com/office/officeart/2008/layout/RadialCluster"/>
    <dgm:cxn modelId="{1A16B853-1EC4-4FBE-B4E0-A1121959ABD5}" type="presParOf" srcId="{B54C53F5-4A22-4491-98CE-52D3E8765D02}" destId="{2E08CFCD-6332-40E2-A17E-084ED5E59966}" srcOrd="1" destOrd="0" presId="urn:microsoft.com/office/officeart/2008/layout/RadialCluster"/>
    <dgm:cxn modelId="{008742E3-02BE-4DDC-9344-1FF903368E18}" type="presParOf" srcId="{B54C53F5-4A22-4491-98CE-52D3E8765D02}" destId="{A285A515-1A1B-44A4-867B-3B42E36AD233}" srcOrd="2" destOrd="0" presId="urn:microsoft.com/office/officeart/2008/layout/RadialCluster"/>
    <dgm:cxn modelId="{ACA181CC-8E47-425C-BE7E-0DE33D6E56EA}" type="presParOf" srcId="{B54C53F5-4A22-4491-98CE-52D3E8765D02}" destId="{98E87A3E-8EDA-4E31-A58E-16C5DE7484A6}" srcOrd="3" destOrd="0" presId="urn:microsoft.com/office/officeart/2008/layout/RadialCluster"/>
    <dgm:cxn modelId="{322B153B-7A15-4CCB-AD50-D6B36B480BED}" type="presParOf" srcId="{B54C53F5-4A22-4491-98CE-52D3E8765D02}" destId="{103858DB-0D8A-4A94-A8ED-8B7CB632D64B}" srcOrd="4" destOrd="0" presId="urn:microsoft.com/office/officeart/2008/layout/RadialCluster"/>
    <dgm:cxn modelId="{F9AED44C-5E3C-4A5A-ADF3-426FAE88A4E4}" type="presParOf" srcId="{B54C53F5-4A22-4491-98CE-52D3E8765D02}" destId="{5A634463-5CA1-45DE-9DC2-51CE4525DE68}" srcOrd="5" destOrd="0" presId="urn:microsoft.com/office/officeart/2008/layout/RadialCluster"/>
    <dgm:cxn modelId="{5F3AF859-507C-4736-80CD-58B1B8A3DE4C}" type="presParOf" srcId="{B54C53F5-4A22-4491-98CE-52D3E8765D02}" destId="{E5D4D3A5-5361-4E22-BE21-44F88B118BAD}" srcOrd="6" destOrd="0" presId="urn:microsoft.com/office/officeart/2008/layout/RadialCluster"/>
    <dgm:cxn modelId="{D1B91DD2-5421-4F0E-8D17-CD5314AC0B56}" type="presParOf" srcId="{B54C53F5-4A22-4491-98CE-52D3E8765D02}" destId="{6917A371-A8D4-46BF-B362-B6BAC5B093F8}" srcOrd="7" destOrd="0" presId="urn:microsoft.com/office/officeart/2008/layout/RadialCluster"/>
    <dgm:cxn modelId="{B1C9F850-0A2D-41A3-9DF0-900266242A46}" type="presParOf" srcId="{B54C53F5-4A22-4491-98CE-52D3E8765D02}" destId="{F15E34B5-BCBC-4EE4-9EED-6AB235023B27}" srcOrd="8" destOrd="0" presId="urn:microsoft.com/office/officeart/2008/layout/RadialCluster"/>
  </dgm:cxnLst>
  <dgm:bg/>
  <dgm:whole>
    <a:ln w="12700">
      <a:noFill/>
    </a:ln>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r>
            <a:rPr lang="en-US" altLang="zh-CN" dirty="0"/>
            <a:t>Time</a:t>
          </a:r>
          <a:endParaRPr lang="zh-CN" altLang="en-US" dirty="0"/>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r>
            <a:rPr lang="en-US" altLang="zh-CN" dirty="0"/>
            <a:t>Cost</a:t>
          </a:r>
          <a:endParaRPr lang="zh-CN" altLang="en-US" dirty="0"/>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D3E1F960-B538-4893-8383-948EDC951F2A}" type="doc">
      <dgm:prSet loTypeId="urn:microsoft.com/office/officeart/2005/8/layout/radial1" loCatId="relationship" qsTypeId="urn:microsoft.com/office/officeart/2005/8/quickstyle/simple1" qsCatId="simple" csTypeId="urn:microsoft.com/office/officeart/2005/8/colors/colorful1" csCatId="colorful" phldr="1"/>
      <dgm:spPr/>
      <dgm:t>
        <a:bodyPr/>
        <a:lstStyle/>
        <a:p>
          <a:endParaRPr lang="zh-CN" altLang="en-US"/>
        </a:p>
      </dgm:t>
    </dgm:pt>
    <dgm:pt modelId="{CE8EEB70-791E-48FA-8C8F-2E8FADFCC934}">
      <dgm:prSet phldrT="[文本]" custT="1"/>
      <dgm:spPr>
        <a:effectLst>
          <a:outerShdw blurRad="50800" dist="38100" dir="2700000" algn="tl" rotWithShape="0">
            <a:prstClr val="black">
              <a:alpha val="40000"/>
            </a:prstClr>
          </a:outerShdw>
        </a:effectLst>
      </dgm:spPr>
      <dgm:t>
        <a:bodyPr/>
        <a:lstStyle/>
        <a:p>
          <a:pPr>
            <a:lnSpc>
              <a:spcPct val="100000"/>
            </a:lnSpc>
            <a:spcAft>
              <a:spcPts val="0"/>
            </a:spcAft>
          </a:pPr>
          <a:r>
            <a:rPr lang="zh-CN" altLang="en-US" sz="1600" dirty="0"/>
            <a:t>价值观</a:t>
          </a:r>
          <a:endParaRPr lang="en-US" altLang="zh-CN" sz="1600" dirty="0"/>
        </a:p>
        <a:p>
          <a:pPr>
            <a:lnSpc>
              <a:spcPct val="100000"/>
            </a:lnSpc>
            <a:spcAft>
              <a:spcPts val="0"/>
            </a:spcAft>
          </a:pPr>
          <a:r>
            <a:rPr lang="en-US" altLang="zh-CN" sz="1600" dirty="0"/>
            <a:t>Values</a:t>
          </a:r>
          <a:endParaRPr lang="zh-CN" altLang="en-US" sz="1600" dirty="0"/>
        </a:p>
      </dgm:t>
    </dgm:pt>
    <dgm:pt modelId="{D679ABF5-33EF-44B1-9295-F95FC9DB4790}" type="parTrans" cxnId="{8A30AAEF-E2CA-41E8-8EEC-187D68F9271C}">
      <dgm:prSet/>
      <dgm:spPr/>
      <dgm:t>
        <a:bodyPr/>
        <a:lstStyle/>
        <a:p>
          <a:endParaRPr lang="zh-CN" altLang="en-US"/>
        </a:p>
      </dgm:t>
    </dgm:pt>
    <dgm:pt modelId="{649C98F4-4855-402E-BD76-26014EDD963B}" type="sibTrans" cxnId="{8A30AAEF-E2CA-41E8-8EEC-187D68F9271C}">
      <dgm:prSet/>
      <dgm:spPr/>
      <dgm:t>
        <a:bodyPr/>
        <a:lstStyle/>
        <a:p>
          <a:endParaRPr lang="zh-CN" altLang="en-US"/>
        </a:p>
      </dgm:t>
    </dgm:pt>
    <dgm:pt modelId="{16A05B42-C487-4BD1-9030-18BBD9553FCD}">
      <dgm:prSet phldrT="[文本]" custT="1"/>
      <dgm:spPr>
        <a:effectLst>
          <a:outerShdw blurRad="50800" dist="38100" dir="2700000" algn="tl" rotWithShape="0">
            <a:prstClr val="black">
              <a:alpha val="40000"/>
            </a:prstClr>
          </a:outerShdw>
        </a:effectLst>
      </dgm:spPr>
      <dgm:t>
        <a:bodyPr/>
        <a:lstStyle/>
        <a:p>
          <a:r>
            <a:rPr lang="zh-CN" altLang="en-US" sz="1800" dirty="0"/>
            <a:t>承诺</a:t>
          </a:r>
        </a:p>
      </dgm:t>
    </dgm:pt>
    <dgm:pt modelId="{41AA5E90-B5B1-4317-8E91-CCB14A726C95}" type="parTrans" cxnId="{490D9D66-0135-44D2-90A0-1DEDCAC39AF3}">
      <dgm:prSet/>
      <dgm:spPr/>
      <dgm:t>
        <a:bodyPr/>
        <a:lstStyle/>
        <a:p>
          <a:endParaRPr lang="zh-CN" altLang="en-US"/>
        </a:p>
      </dgm:t>
    </dgm:pt>
    <dgm:pt modelId="{C561E714-DEE2-4F34-8F82-FF5B38302E5A}" type="sibTrans" cxnId="{490D9D66-0135-44D2-90A0-1DEDCAC39AF3}">
      <dgm:prSet/>
      <dgm:spPr/>
      <dgm:t>
        <a:bodyPr/>
        <a:lstStyle/>
        <a:p>
          <a:endParaRPr lang="zh-CN" altLang="en-US"/>
        </a:p>
      </dgm:t>
    </dgm:pt>
    <dgm:pt modelId="{0BBA5288-D454-4A5E-8B5F-4581CC5975F5}">
      <dgm:prSet phldrT="[文本]" custT="1"/>
      <dgm:spPr>
        <a:effectLst>
          <a:outerShdw blurRad="50800" dist="38100" dir="2700000" algn="tl" rotWithShape="0">
            <a:prstClr val="black">
              <a:alpha val="40000"/>
            </a:prstClr>
          </a:outerShdw>
        </a:effectLst>
      </dgm:spPr>
      <dgm:t>
        <a:bodyPr/>
        <a:lstStyle/>
        <a:p>
          <a:r>
            <a:rPr lang="zh-CN" altLang="en-US" sz="1800" dirty="0"/>
            <a:t>专注</a:t>
          </a:r>
        </a:p>
      </dgm:t>
    </dgm:pt>
    <dgm:pt modelId="{9B16A6A3-77F5-4938-AD2E-C5618ABDA282}" type="parTrans" cxnId="{D79A3B41-6133-403B-8DD2-815A4464B569}">
      <dgm:prSet/>
      <dgm:spPr/>
      <dgm:t>
        <a:bodyPr/>
        <a:lstStyle/>
        <a:p>
          <a:endParaRPr lang="zh-CN" altLang="en-US"/>
        </a:p>
      </dgm:t>
    </dgm:pt>
    <dgm:pt modelId="{74089577-39A7-4704-9D32-EED588F1AA4C}" type="sibTrans" cxnId="{D79A3B41-6133-403B-8DD2-815A4464B569}">
      <dgm:prSet/>
      <dgm:spPr/>
      <dgm:t>
        <a:bodyPr/>
        <a:lstStyle/>
        <a:p>
          <a:endParaRPr lang="zh-CN" altLang="en-US"/>
        </a:p>
      </dgm:t>
    </dgm:pt>
    <dgm:pt modelId="{623C5F3B-28F6-4B1C-A15C-7168C9F0016F}">
      <dgm:prSet phldrT="[文本]" custT="1"/>
      <dgm:spPr>
        <a:effectLst>
          <a:outerShdw blurRad="50800" dist="38100" dir="2700000" algn="tl" rotWithShape="0">
            <a:prstClr val="black">
              <a:alpha val="40000"/>
            </a:prstClr>
          </a:outerShdw>
        </a:effectLst>
      </dgm:spPr>
      <dgm:t>
        <a:bodyPr/>
        <a:lstStyle/>
        <a:p>
          <a:r>
            <a:rPr lang="zh-CN" altLang="en-US" sz="1800" dirty="0"/>
            <a:t>开放</a:t>
          </a:r>
        </a:p>
      </dgm:t>
    </dgm:pt>
    <dgm:pt modelId="{0025FC4C-8281-478C-92EC-0FE302523F92}" type="parTrans" cxnId="{574AF3FB-D184-469C-9002-1D1B7748635D}">
      <dgm:prSet/>
      <dgm:spPr/>
      <dgm:t>
        <a:bodyPr/>
        <a:lstStyle/>
        <a:p>
          <a:endParaRPr lang="zh-CN" altLang="en-US"/>
        </a:p>
      </dgm:t>
    </dgm:pt>
    <dgm:pt modelId="{D31C1F9B-88D0-4D66-85CB-A0C1D74D83F4}" type="sibTrans" cxnId="{574AF3FB-D184-469C-9002-1D1B7748635D}">
      <dgm:prSet/>
      <dgm:spPr/>
      <dgm:t>
        <a:bodyPr/>
        <a:lstStyle/>
        <a:p>
          <a:endParaRPr lang="zh-CN" altLang="en-US"/>
        </a:p>
      </dgm:t>
    </dgm:pt>
    <dgm:pt modelId="{3B25D58D-6F58-453F-82D4-34D27E172010}">
      <dgm:prSet phldrT="[文本]" custT="1"/>
      <dgm:spPr>
        <a:effectLst>
          <a:outerShdw blurRad="50800" dist="38100" dir="2700000" algn="tl" rotWithShape="0">
            <a:prstClr val="black">
              <a:alpha val="40000"/>
            </a:prstClr>
          </a:outerShdw>
        </a:effectLst>
      </dgm:spPr>
      <dgm:t>
        <a:bodyPr/>
        <a:lstStyle/>
        <a:p>
          <a:r>
            <a:rPr lang="zh-CN" altLang="en-US" sz="1800" dirty="0"/>
            <a:t>尊重</a:t>
          </a:r>
        </a:p>
      </dgm:t>
    </dgm:pt>
    <dgm:pt modelId="{075048E8-485B-4CF2-A313-ECBD44945DD4}" type="parTrans" cxnId="{652C6B38-F41C-47D1-B6BD-4A5871BAA11A}">
      <dgm:prSet/>
      <dgm:spPr/>
      <dgm:t>
        <a:bodyPr/>
        <a:lstStyle/>
        <a:p>
          <a:endParaRPr lang="zh-CN" altLang="en-US"/>
        </a:p>
      </dgm:t>
    </dgm:pt>
    <dgm:pt modelId="{39FBD948-B2D4-4F65-8868-960198B6B3CF}" type="sibTrans" cxnId="{652C6B38-F41C-47D1-B6BD-4A5871BAA11A}">
      <dgm:prSet/>
      <dgm:spPr/>
      <dgm:t>
        <a:bodyPr/>
        <a:lstStyle/>
        <a:p>
          <a:endParaRPr lang="zh-CN" altLang="en-US"/>
        </a:p>
      </dgm:t>
    </dgm:pt>
    <dgm:pt modelId="{F8A88CB0-C5FA-4968-84AD-9D45338DB00E}">
      <dgm:prSet phldrT="[文本]" custT="1"/>
      <dgm:spPr>
        <a:effectLst>
          <a:outerShdw blurRad="50800" dist="38100" dir="2700000" algn="tl" rotWithShape="0">
            <a:prstClr val="black">
              <a:alpha val="40000"/>
            </a:prstClr>
          </a:outerShdw>
        </a:effectLst>
      </dgm:spPr>
      <dgm:t>
        <a:bodyPr/>
        <a:lstStyle/>
        <a:p>
          <a:r>
            <a:rPr lang="zh-CN" altLang="en-US" sz="1800" dirty="0"/>
            <a:t>勇气</a:t>
          </a:r>
        </a:p>
      </dgm:t>
    </dgm:pt>
    <dgm:pt modelId="{B46081CB-D0CA-47FB-9772-1BDBFC236950}" type="parTrans" cxnId="{53D9C23C-A4DC-4E5A-A4EC-816C0887A094}">
      <dgm:prSet/>
      <dgm:spPr/>
      <dgm:t>
        <a:bodyPr/>
        <a:lstStyle/>
        <a:p>
          <a:endParaRPr lang="zh-CN" altLang="en-US"/>
        </a:p>
      </dgm:t>
    </dgm:pt>
    <dgm:pt modelId="{F1C38DA3-052E-4FC8-BA67-5B4B200CC764}" type="sibTrans" cxnId="{53D9C23C-A4DC-4E5A-A4EC-816C0887A094}">
      <dgm:prSet/>
      <dgm:spPr/>
      <dgm:t>
        <a:bodyPr/>
        <a:lstStyle/>
        <a:p>
          <a:endParaRPr lang="zh-CN" altLang="en-US"/>
        </a:p>
      </dgm:t>
    </dgm:pt>
    <dgm:pt modelId="{B5D3370E-ECE8-4EE3-87F2-C8C5618BCDA0}" type="pres">
      <dgm:prSet presAssocID="{D3E1F960-B538-4893-8383-948EDC951F2A}" presName="cycle" presStyleCnt="0">
        <dgm:presLayoutVars>
          <dgm:chMax val="1"/>
          <dgm:dir/>
          <dgm:animLvl val="ctr"/>
          <dgm:resizeHandles val="exact"/>
        </dgm:presLayoutVars>
      </dgm:prSet>
      <dgm:spPr/>
    </dgm:pt>
    <dgm:pt modelId="{A96581BA-45EF-4CB9-A1A8-9CFB4998A264}" type="pres">
      <dgm:prSet presAssocID="{CE8EEB70-791E-48FA-8C8F-2E8FADFCC934}" presName="centerShape" presStyleLbl="node0" presStyleIdx="0" presStyleCnt="1" custScaleX="112303" custScaleY="112303"/>
      <dgm:spPr/>
    </dgm:pt>
    <dgm:pt modelId="{2697905C-40A9-4D8E-AE89-88ADE6C34F0A}" type="pres">
      <dgm:prSet presAssocID="{41AA5E90-B5B1-4317-8E91-CCB14A726C95}" presName="Name9" presStyleLbl="parChTrans1D2" presStyleIdx="0" presStyleCnt="5"/>
      <dgm:spPr/>
    </dgm:pt>
    <dgm:pt modelId="{C4E0B2F5-7632-485B-B03A-601C1A11F4FC}" type="pres">
      <dgm:prSet presAssocID="{41AA5E90-B5B1-4317-8E91-CCB14A726C95}" presName="connTx" presStyleLbl="parChTrans1D2" presStyleIdx="0" presStyleCnt="5"/>
      <dgm:spPr/>
    </dgm:pt>
    <dgm:pt modelId="{A768ED12-DF85-403F-B898-D6729C70787D}" type="pres">
      <dgm:prSet presAssocID="{16A05B42-C487-4BD1-9030-18BBD9553FCD}" presName="node" presStyleLbl="node1" presStyleIdx="0" presStyleCnt="5" custScaleX="93586" custScaleY="93586">
        <dgm:presLayoutVars>
          <dgm:bulletEnabled val="1"/>
        </dgm:presLayoutVars>
      </dgm:prSet>
      <dgm:spPr/>
    </dgm:pt>
    <dgm:pt modelId="{B58731E0-DBD1-435A-ADD7-B425A898B445}" type="pres">
      <dgm:prSet presAssocID="{9B16A6A3-77F5-4938-AD2E-C5618ABDA282}" presName="Name9" presStyleLbl="parChTrans1D2" presStyleIdx="1" presStyleCnt="5"/>
      <dgm:spPr/>
    </dgm:pt>
    <dgm:pt modelId="{330FBA93-3A1A-47D5-9CC5-B3E47AB9E5DF}" type="pres">
      <dgm:prSet presAssocID="{9B16A6A3-77F5-4938-AD2E-C5618ABDA282}" presName="connTx" presStyleLbl="parChTrans1D2" presStyleIdx="1" presStyleCnt="5"/>
      <dgm:spPr/>
    </dgm:pt>
    <dgm:pt modelId="{A3CECE51-0A63-4775-BBDE-4FA68841EC20}" type="pres">
      <dgm:prSet presAssocID="{0BBA5288-D454-4A5E-8B5F-4581CC5975F5}" presName="node" presStyleLbl="node1" presStyleIdx="1" presStyleCnt="5" custScaleX="93586" custScaleY="93586">
        <dgm:presLayoutVars>
          <dgm:bulletEnabled val="1"/>
        </dgm:presLayoutVars>
      </dgm:prSet>
      <dgm:spPr/>
    </dgm:pt>
    <dgm:pt modelId="{C763681C-8D89-4BC9-887B-1CD1363C9AA1}" type="pres">
      <dgm:prSet presAssocID="{0025FC4C-8281-478C-92EC-0FE302523F92}" presName="Name9" presStyleLbl="parChTrans1D2" presStyleIdx="2" presStyleCnt="5"/>
      <dgm:spPr/>
    </dgm:pt>
    <dgm:pt modelId="{0AA7E569-EFC1-41AE-8E53-7AABDD2D38CF}" type="pres">
      <dgm:prSet presAssocID="{0025FC4C-8281-478C-92EC-0FE302523F92}" presName="connTx" presStyleLbl="parChTrans1D2" presStyleIdx="2" presStyleCnt="5"/>
      <dgm:spPr/>
    </dgm:pt>
    <dgm:pt modelId="{7C396246-E3D5-44E8-B402-F252989E77DB}" type="pres">
      <dgm:prSet presAssocID="{623C5F3B-28F6-4B1C-A15C-7168C9F0016F}" presName="node" presStyleLbl="node1" presStyleIdx="2" presStyleCnt="5" custScaleX="93586" custScaleY="93586">
        <dgm:presLayoutVars>
          <dgm:bulletEnabled val="1"/>
        </dgm:presLayoutVars>
      </dgm:prSet>
      <dgm:spPr/>
    </dgm:pt>
    <dgm:pt modelId="{979B44D0-1574-46A1-BD25-F046F787F5A7}" type="pres">
      <dgm:prSet presAssocID="{075048E8-485B-4CF2-A313-ECBD44945DD4}" presName="Name9" presStyleLbl="parChTrans1D2" presStyleIdx="3" presStyleCnt="5"/>
      <dgm:spPr/>
    </dgm:pt>
    <dgm:pt modelId="{C763AEEF-5F2C-44BA-9E5D-397922963F01}" type="pres">
      <dgm:prSet presAssocID="{075048E8-485B-4CF2-A313-ECBD44945DD4}" presName="connTx" presStyleLbl="parChTrans1D2" presStyleIdx="3" presStyleCnt="5"/>
      <dgm:spPr/>
    </dgm:pt>
    <dgm:pt modelId="{E45FD601-8F42-45A7-A248-D87DB5F9943A}" type="pres">
      <dgm:prSet presAssocID="{3B25D58D-6F58-453F-82D4-34D27E172010}" presName="node" presStyleLbl="node1" presStyleIdx="3" presStyleCnt="5" custScaleX="93586" custScaleY="93586">
        <dgm:presLayoutVars>
          <dgm:bulletEnabled val="1"/>
        </dgm:presLayoutVars>
      </dgm:prSet>
      <dgm:spPr/>
    </dgm:pt>
    <dgm:pt modelId="{B74C3A2B-0533-446F-AE56-FFBBBC35155B}" type="pres">
      <dgm:prSet presAssocID="{B46081CB-D0CA-47FB-9772-1BDBFC236950}" presName="Name9" presStyleLbl="parChTrans1D2" presStyleIdx="4" presStyleCnt="5"/>
      <dgm:spPr/>
    </dgm:pt>
    <dgm:pt modelId="{72A0FF43-5233-4D9B-ADFF-E97C97B46D15}" type="pres">
      <dgm:prSet presAssocID="{B46081CB-D0CA-47FB-9772-1BDBFC236950}" presName="connTx" presStyleLbl="parChTrans1D2" presStyleIdx="4" presStyleCnt="5"/>
      <dgm:spPr/>
    </dgm:pt>
    <dgm:pt modelId="{0ECE6D9B-1A91-4A29-82E7-FADB2EE4F6DC}" type="pres">
      <dgm:prSet presAssocID="{F8A88CB0-C5FA-4968-84AD-9D45338DB00E}" presName="node" presStyleLbl="node1" presStyleIdx="4" presStyleCnt="5" custScaleX="93586" custScaleY="93586">
        <dgm:presLayoutVars>
          <dgm:bulletEnabled val="1"/>
        </dgm:presLayoutVars>
      </dgm:prSet>
      <dgm:spPr/>
    </dgm:pt>
  </dgm:ptLst>
  <dgm:cxnLst>
    <dgm:cxn modelId="{68AA5C02-892F-401C-8640-1C536B1945E7}" type="presOf" srcId="{075048E8-485B-4CF2-A313-ECBD44945DD4}" destId="{979B44D0-1574-46A1-BD25-F046F787F5A7}" srcOrd="0" destOrd="0" presId="urn:microsoft.com/office/officeart/2005/8/layout/radial1"/>
    <dgm:cxn modelId="{C8790822-876E-4670-AAE2-4F5F4D1CA55B}" type="presOf" srcId="{CE8EEB70-791E-48FA-8C8F-2E8FADFCC934}" destId="{A96581BA-45EF-4CB9-A1A8-9CFB4998A264}" srcOrd="0" destOrd="0" presId="urn:microsoft.com/office/officeart/2005/8/layout/radial1"/>
    <dgm:cxn modelId="{3F8BD833-5738-45A6-817F-122C710B11B1}" type="presOf" srcId="{41AA5E90-B5B1-4317-8E91-CCB14A726C95}" destId="{2697905C-40A9-4D8E-AE89-88ADE6C34F0A}" srcOrd="0" destOrd="0" presId="urn:microsoft.com/office/officeart/2005/8/layout/radial1"/>
    <dgm:cxn modelId="{652C6B38-F41C-47D1-B6BD-4A5871BAA11A}" srcId="{CE8EEB70-791E-48FA-8C8F-2E8FADFCC934}" destId="{3B25D58D-6F58-453F-82D4-34D27E172010}" srcOrd="3" destOrd="0" parTransId="{075048E8-485B-4CF2-A313-ECBD44945DD4}" sibTransId="{39FBD948-B2D4-4F65-8868-960198B6B3CF}"/>
    <dgm:cxn modelId="{53D9C23C-A4DC-4E5A-A4EC-816C0887A094}" srcId="{CE8EEB70-791E-48FA-8C8F-2E8FADFCC934}" destId="{F8A88CB0-C5FA-4968-84AD-9D45338DB00E}" srcOrd="4" destOrd="0" parTransId="{B46081CB-D0CA-47FB-9772-1BDBFC236950}" sibTransId="{F1C38DA3-052E-4FC8-BA67-5B4B200CC764}"/>
    <dgm:cxn modelId="{D79A3B41-6133-403B-8DD2-815A4464B569}" srcId="{CE8EEB70-791E-48FA-8C8F-2E8FADFCC934}" destId="{0BBA5288-D454-4A5E-8B5F-4581CC5975F5}" srcOrd="1" destOrd="0" parTransId="{9B16A6A3-77F5-4938-AD2E-C5618ABDA282}" sibTransId="{74089577-39A7-4704-9D32-EED588F1AA4C}"/>
    <dgm:cxn modelId="{490D9D66-0135-44D2-90A0-1DEDCAC39AF3}" srcId="{CE8EEB70-791E-48FA-8C8F-2E8FADFCC934}" destId="{16A05B42-C487-4BD1-9030-18BBD9553FCD}" srcOrd="0" destOrd="0" parTransId="{41AA5E90-B5B1-4317-8E91-CCB14A726C95}" sibTransId="{C561E714-DEE2-4F34-8F82-FF5B38302E5A}"/>
    <dgm:cxn modelId="{D8824567-B4A5-4570-A923-371C8C26A5F6}" type="presOf" srcId="{0BBA5288-D454-4A5E-8B5F-4581CC5975F5}" destId="{A3CECE51-0A63-4775-BBDE-4FA68841EC20}" srcOrd="0" destOrd="0" presId="urn:microsoft.com/office/officeart/2005/8/layout/radial1"/>
    <dgm:cxn modelId="{F5F44B4E-B486-4586-B362-E35484DBEEE0}" type="presOf" srcId="{B46081CB-D0CA-47FB-9772-1BDBFC236950}" destId="{B74C3A2B-0533-446F-AE56-FFBBBC35155B}" srcOrd="0" destOrd="0" presId="urn:microsoft.com/office/officeart/2005/8/layout/radial1"/>
    <dgm:cxn modelId="{C3FF3357-F9EE-465C-85D9-3A83EAED6720}" type="presOf" srcId="{41AA5E90-B5B1-4317-8E91-CCB14A726C95}" destId="{C4E0B2F5-7632-485B-B03A-601C1A11F4FC}" srcOrd="1" destOrd="0" presId="urn:microsoft.com/office/officeart/2005/8/layout/radial1"/>
    <dgm:cxn modelId="{DDF2498C-8503-4DBE-BA9A-6F84C2A2C5A9}" type="presOf" srcId="{D3E1F960-B538-4893-8383-948EDC951F2A}" destId="{B5D3370E-ECE8-4EE3-87F2-C8C5618BCDA0}" srcOrd="0" destOrd="0" presId="urn:microsoft.com/office/officeart/2005/8/layout/radial1"/>
    <dgm:cxn modelId="{F617CAA2-5AAF-41C1-9378-188A59A29563}" type="presOf" srcId="{16A05B42-C487-4BD1-9030-18BBD9553FCD}" destId="{A768ED12-DF85-403F-B898-D6729C70787D}" srcOrd="0" destOrd="0" presId="urn:microsoft.com/office/officeart/2005/8/layout/radial1"/>
    <dgm:cxn modelId="{D1EED8A3-BA04-47CE-BF60-4E0C59008D19}" type="presOf" srcId="{0025FC4C-8281-478C-92EC-0FE302523F92}" destId="{C763681C-8D89-4BC9-887B-1CD1363C9AA1}" srcOrd="0" destOrd="0" presId="urn:microsoft.com/office/officeart/2005/8/layout/radial1"/>
    <dgm:cxn modelId="{90BE34B8-4EEF-4053-A28E-18F04DEDA9BA}" type="presOf" srcId="{9B16A6A3-77F5-4938-AD2E-C5618ABDA282}" destId="{B58731E0-DBD1-435A-ADD7-B425A898B445}" srcOrd="0" destOrd="0" presId="urn:microsoft.com/office/officeart/2005/8/layout/radial1"/>
    <dgm:cxn modelId="{881E69BB-A183-4B8E-9CF7-F3CB096C616B}" type="presOf" srcId="{B46081CB-D0CA-47FB-9772-1BDBFC236950}" destId="{72A0FF43-5233-4D9B-ADFF-E97C97B46D15}" srcOrd="1" destOrd="0" presId="urn:microsoft.com/office/officeart/2005/8/layout/radial1"/>
    <dgm:cxn modelId="{586E86C4-7123-41FD-8C5B-B7CA8D6FCB66}" type="presOf" srcId="{075048E8-485B-4CF2-A313-ECBD44945DD4}" destId="{C763AEEF-5F2C-44BA-9E5D-397922963F01}" srcOrd="1" destOrd="0" presId="urn:microsoft.com/office/officeart/2005/8/layout/radial1"/>
    <dgm:cxn modelId="{DB3E7ACE-6411-43F2-9EC0-7CB45795605C}" type="presOf" srcId="{0025FC4C-8281-478C-92EC-0FE302523F92}" destId="{0AA7E569-EFC1-41AE-8E53-7AABDD2D38CF}" srcOrd="1" destOrd="0" presId="urn:microsoft.com/office/officeart/2005/8/layout/radial1"/>
    <dgm:cxn modelId="{9F713ECF-8379-47D7-AFE8-A9F71D67462D}" type="presOf" srcId="{3B25D58D-6F58-453F-82D4-34D27E172010}" destId="{E45FD601-8F42-45A7-A248-D87DB5F9943A}" srcOrd="0" destOrd="0" presId="urn:microsoft.com/office/officeart/2005/8/layout/radial1"/>
    <dgm:cxn modelId="{E7963EEE-64CE-4C08-884D-49921549449D}" type="presOf" srcId="{9B16A6A3-77F5-4938-AD2E-C5618ABDA282}" destId="{330FBA93-3A1A-47D5-9CC5-B3E47AB9E5DF}" srcOrd="1" destOrd="0" presId="urn:microsoft.com/office/officeart/2005/8/layout/radial1"/>
    <dgm:cxn modelId="{8A30AAEF-E2CA-41E8-8EEC-187D68F9271C}" srcId="{D3E1F960-B538-4893-8383-948EDC951F2A}" destId="{CE8EEB70-791E-48FA-8C8F-2E8FADFCC934}" srcOrd="0" destOrd="0" parTransId="{D679ABF5-33EF-44B1-9295-F95FC9DB4790}" sibTransId="{649C98F4-4855-402E-BD76-26014EDD963B}"/>
    <dgm:cxn modelId="{07624BF1-F049-4CED-A5BA-04C350521BD1}" type="presOf" srcId="{F8A88CB0-C5FA-4968-84AD-9D45338DB00E}" destId="{0ECE6D9B-1A91-4A29-82E7-FADB2EE4F6DC}" srcOrd="0" destOrd="0" presId="urn:microsoft.com/office/officeart/2005/8/layout/radial1"/>
    <dgm:cxn modelId="{9F7096FA-AF85-4246-BC3C-8B9A2720735E}" type="presOf" srcId="{623C5F3B-28F6-4B1C-A15C-7168C9F0016F}" destId="{7C396246-E3D5-44E8-B402-F252989E77DB}" srcOrd="0" destOrd="0" presId="urn:microsoft.com/office/officeart/2005/8/layout/radial1"/>
    <dgm:cxn modelId="{574AF3FB-D184-469C-9002-1D1B7748635D}" srcId="{CE8EEB70-791E-48FA-8C8F-2E8FADFCC934}" destId="{623C5F3B-28F6-4B1C-A15C-7168C9F0016F}" srcOrd="2" destOrd="0" parTransId="{0025FC4C-8281-478C-92EC-0FE302523F92}" sibTransId="{D31C1F9B-88D0-4D66-85CB-A0C1D74D83F4}"/>
    <dgm:cxn modelId="{6FCC23B9-82F0-4A9B-BCC7-9031DD696F9B}" type="presParOf" srcId="{B5D3370E-ECE8-4EE3-87F2-C8C5618BCDA0}" destId="{A96581BA-45EF-4CB9-A1A8-9CFB4998A264}" srcOrd="0" destOrd="0" presId="urn:microsoft.com/office/officeart/2005/8/layout/radial1"/>
    <dgm:cxn modelId="{A0FE91FA-7DFE-4B7E-AF80-A9100BC434CD}" type="presParOf" srcId="{B5D3370E-ECE8-4EE3-87F2-C8C5618BCDA0}" destId="{2697905C-40A9-4D8E-AE89-88ADE6C34F0A}" srcOrd="1" destOrd="0" presId="urn:microsoft.com/office/officeart/2005/8/layout/radial1"/>
    <dgm:cxn modelId="{D7EC596C-AF63-48AF-82E8-BCC924D13E02}" type="presParOf" srcId="{2697905C-40A9-4D8E-AE89-88ADE6C34F0A}" destId="{C4E0B2F5-7632-485B-B03A-601C1A11F4FC}" srcOrd="0" destOrd="0" presId="urn:microsoft.com/office/officeart/2005/8/layout/radial1"/>
    <dgm:cxn modelId="{9EDFDDD3-E63E-4385-9C8A-1EABCE858CF0}" type="presParOf" srcId="{B5D3370E-ECE8-4EE3-87F2-C8C5618BCDA0}" destId="{A768ED12-DF85-403F-B898-D6729C70787D}" srcOrd="2" destOrd="0" presId="urn:microsoft.com/office/officeart/2005/8/layout/radial1"/>
    <dgm:cxn modelId="{A0FE6AA8-9997-4DC9-AD6C-A0647EDECFB8}" type="presParOf" srcId="{B5D3370E-ECE8-4EE3-87F2-C8C5618BCDA0}" destId="{B58731E0-DBD1-435A-ADD7-B425A898B445}" srcOrd="3" destOrd="0" presId="urn:microsoft.com/office/officeart/2005/8/layout/radial1"/>
    <dgm:cxn modelId="{30F04C35-5AA8-4216-8E80-DFBBDFDADA4C}" type="presParOf" srcId="{B58731E0-DBD1-435A-ADD7-B425A898B445}" destId="{330FBA93-3A1A-47D5-9CC5-B3E47AB9E5DF}" srcOrd="0" destOrd="0" presId="urn:microsoft.com/office/officeart/2005/8/layout/radial1"/>
    <dgm:cxn modelId="{F272BAEE-1523-4AEC-B3E3-488B467D1BD1}" type="presParOf" srcId="{B5D3370E-ECE8-4EE3-87F2-C8C5618BCDA0}" destId="{A3CECE51-0A63-4775-BBDE-4FA68841EC20}" srcOrd="4" destOrd="0" presId="urn:microsoft.com/office/officeart/2005/8/layout/radial1"/>
    <dgm:cxn modelId="{46041276-52F2-4C42-9D9F-F072E90CB244}" type="presParOf" srcId="{B5D3370E-ECE8-4EE3-87F2-C8C5618BCDA0}" destId="{C763681C-8D89-4BC9-887B-1CD1363C9AA1}" srcOrd="5" destOrd="0" presId="urn:microsoft.com/office/officeart/2005/8/layout/radial1"/>
    <dgm:cxn modelId="{29BAA8B5-A711-4B2F-AEAD-4B4A94D46A8E}" type="presParOf" srcId="{C763681C-8D89-4BC9-887B-1CD1363C9AA1}" destId="{0AA7E569-EFC1-41AE-8E53-7AABDD2D38CF}" srcOrd="0" destOrd="0" presId="urn:microsoft.com/office/officeart/2005/8/layout/radial1"/>
    <dgm:cxn modelId="{C314A784-DDCF-4C74-9988-49321F7A6A1E}" type="presParOf" srcId="{B5D3370E-ECE8-4EE3-87F2-C8C5618BCDA0}" destId="{7C396246-E3D5-44E8-B402-F252989E77DB}" srcOrd="6" destOrd="0" presId="urn:microsoft.com/office/officeart/2005/8/layout/radial1"/>
    <dgm:cxn modelId="{AB7CF0F1-F435-405C-BB14-1CA72F694EBB}" type="presParOf" srcId="{B5D3370E-ECE8-4EE3-87F2-C8C5618BCDA0}" destId="{979B44D0-1574-46A1-BD25-F046F787F5A7}" srcOrd="7" destOrd="0" presId="urn:microsoft.com/office/officeart/2005/8/layout/radial1"/>
    <dgm:cxn modelId="{291FD52D-2AE3-4983-88A8-421C97EC1D52}" type="presParOf" srcId="{979B44D0-1574-46A1-BD25-F046F787F5A7}" destId="{C763AEEF-5F2C-44BA-9E5D-397922963F01}" srcOrd="0" destOrd="0" presId="urn:microsoft.com/office/officeart/2005/8/layout/radial1"/>
    <dgm:cxn modelId="{7ED2CBD2-EC95-42FE-82A7-9B08FED21DFA}" type="presParOf" srcId="{B5D3370E-ECE8-4EE3-87F2-C8C5618BCDA0}" destId="{E45FD601-8F42-45A7-A248-D87DB5F9943A}" srcOrd="8" destOrd="0" presId="urn:microsoft.com/office/officeart/2005/8/layout/radial1"/>
    <dgm:cxn modelId="{A3A392A2-4EA7-4D59-BDFA-23A38B187C4F}" type="presParOf" srcId="{B5D3370E-ECE8-4EE3-87F2-C8C5618BCDA0}" destId="{B74C3A2B-0533-446F-AE56-FFBBBC35155B}" srcOrd="9" destOrd="0" presId="urn:microsoft.com/office/officeart/2005/8/layout/radial1"/>
    <dgm:cxn modelId="{5A26FC25-E3C6-406C-8055-3C0A875FFEFE}" type="presParOf" srcId="{B74C3A2B-0533-446F-AE56-FFBBBC35155B}" destId="{72A0FF43-5233-4D9B-ADFF-E97C97B46D15}" srcOrd="0" destOrd="0" presId="urn:microsoft.com/office/officeart/2005/8/layout/radial1"/>
    <dgm:cxn modelId="{93B4E826-26C5-44D6-8E7B-15179FFB107F}" type="presParOf" srcId="{B5D3370E-ECE8-4EE3-87F2-C8C5618BCDA0}" destId="{0ECE6D9B-1A91-4A29-82E7-FADB2EE4F6DC}" srcOrd="10" destOrd="0" presId="urn:microsoft.com/office/officeart/2005/8/layout/radial1"/>
  </dgm:cxnLst>
  <dgm:bg>
    <a:effect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3E1F960-B538-4893-8383-948EDC951F2A}" type="doc">
      <dgm:prSet loTypeId="urn:microsoft.com/office/officeart/2005/8/layout/radial1" loCatId="relationship" qsTypeId="urn:microsoft.com/office/officeart/2005/8/quickstyle/simple1" qsCatId="simple" csTypeId="urn:microsoft.com/office/officeart/2005/8/colors/colorful5" csCatId="colorful" phldr="1"/>
      <dgm:spPr/>
      <dgm:t>
        <a:bodyPr/>
        <a:lstStyle/>
        <a:p>
          <a:endParaRPr lang="zh-CN" altLang="en-US"/>
        </a:p>
      </dgm:t>
    </dgm:pt>
    <dgm:pt modelId="{CE8EEB70-791E-48FA-8C8F-2E8FADFCC934}">
      <dgm:prSet phldrT="[文本]" custT="1"/>
      <dgm:spPr>
        <a:effectLst>
          <a:outerShdw blurRad="50800" dist="38100" dir="2700000" algn="tl" rotWithShape="0">
            <a:prstClr val="black">
              <a:alpha val="40000"/>
            </a:prstClr>
          </a:outerShdw>
        </a:effectLst>
      </dgm:spPr>
      <dgm:t>
        <a:bodyPr/>
        <a:lstStyle/>
        <a:p>
          <a:r>
            <a:rPr lang="zh-CN" altLang="en-US" sz="1600" dirty="0"/>
            <a:t>理念</a:t>
          </a:r>
        </a:p>
      </dgm:t>
    </dgm:pt>
    <dgm:pt modelId="{D679ABF5-33EF-44B1-9295-F95FC9DB4790}" type="parTrans" cxnId="{8A30AAEF-E2CA-41E8-8EEC-187D68F9271C}">
      <dgm:prSet/>
      <dgm:spPr/>
      <dgm:t>
        <a:bodyPr/>
        <a:lstStyle/>
        <a:p>
          <a:endParaRPr lang="zh-CN" altLang="en-US"/>
        </a:p>
      </dgm:t>
    </dgm:pt>
    <dgm:pt modelId="{649C98F4-4855-402E-BD76-26014EDD963B}" type="sibTrans" cxnId="{8A30AAEF-E2CA-41E8-8EEC-187D68F9271C}">
      <dgm:prSet/>
      <dgm:spPr/>
      <dgm:t>
        <a:bodyPr/>
        <a:lstStyle/>
        <a:p>
          <a:endParaRPr lang="zh-CN" altLang="en-US"/>
        </a:p>
      </dgm:t>
    </dgm:pt>
    <dgm:pt modelId="{16A05B42-C487-4BD1-9030-18BBD9553FCD}">
      <dgm:prSet phldrT="[文本]" custT="1"/>
      <dgm:spPr>
        <a:effectLst>
          <a:outerShdw blurRad="50800" dist="38100" dir="2700000" algn="tl" rotWithShape="0">
            <a:prstClr val="black">
              <a:alpha val="40000"/>
            </a:prstClr>
          </a:outerShdw>
        </a:effectLst>
      </dgm:spPr>
      <dgm:t>
        <a:bodyPr/>
        <a:lstStyle/>
        <a:p>
          <a:r>
            <a:rPr lang="zh-CN" altLang="en-US" sz="1800" dirty="0"/>
            <a:t>透明</a:t>
          </a:r>
        </a:p>
      </dgm:t>
    </dgm:pt>
    <dgm:pt modelId="{41AA5E90-B5B1-4317-8E91-CCB14A726C95}" type="parTrans" cxnId="{490D9D66-0135-44D2-90A0-1DEDCAC39AF3}">
      <dgm:prSet/>
      <dgm:spPr/>
      <dgm:t>
        <a:bodyPr/>
        <a:lstStyle/>
        <a:p>
          <a:endParaRPr lang="zh-CN" altLang="en-US"/>
        </a:p>
      </dgm:t>
    </dgm:pt>
    <dgm:pt modelId="{C561E714-DEE2-4F34-8F82-FF5B38302E5A}" type="sibTrans" cxnId="{490D9D66-0135-44D2-90A0-1DEDCAC39AF3}">
      <dgm:prSet/>
      <dgm:spPr/>
      <dgm:t>
        <a:bodyPr/>
        <a:lstStyle/>
        <a:p>
          <a:endParaRPr lang="zh-CN" altLang="en-US"/>
        </a:p>
      </dgm:t>
    </dgm:pt>
    <dgm:pt modelId="{0BBA5288-D454-4A5E-8B5F-4581CC5975F5}">
      <dgm:prSet phldrT="[文本]" custT="1"/>
      <dgm:spPr>
        <a:effectLst>
          <a:outerShdw blurRad="50800" dist="38100" dir="2700000" algn="tl" rotWithShape="0">
            <a:prstClr val="black">
              <a:alpha val="40000"/>
            </a:prstClr>
          </a:outerShdw>
        </a:effectLst>
      </dgm:spPr>
      <dgm:t>
        <a:bodyPr/>
        <a:lstStyle/>
        <a:p>
          <a:r>
            <a:rPr lang="zh-CN" altLang="en-US" sz="1800" dirty="0"/>
            <a:t>监视</a:t>
          </a:r>
        </a:p>
      </dgm:t>
    </dgm:pt>
    <dgm:pt modelId="{9B16A6A3-77F5-4938-AD2E-C5618ABDA282}" type="parTrans" cxnId="{D79A3B41-6133-403B-8DD2-815A4464B569}">
      <dgm:prSet/>
      <dgm:spPr/>
      <dgm:t>
        <a:bodyPr/>
        <a:lstStyle/>
        <a:p>
          <a:endParaRPr lang="zh-CN" altLang="en-US"/>
        </a:p>
      </dgm:t>
    </dgm:pt>
    <dgm:pt modelId="{74089577-39A7-4704-9D32-EED588F1AA4C}" type="sibTrans" cxnId="{D79A3B41-6133-403B-8DD2-815A4464B569}">
      <dgm:prSet/>
      <dgm:spPr/>
      <dgm:t>
        <a:bodyPr/>
        <a:lstStyle/>
        <a:p>
          <a:endParaRPr lang="zh-CN" altLang="en-US"/>
        </a:p>
      </dgm:t>
    </dgm:pt>
    <dgm:pt modelId="{F8A88CB0-C5FA-4968-84AD-9D45338DB00E}">
      <dgm:prSet phldrT="[文本]" custT="1"/>
      <dgm:spPr>
        <a:effectLst>
          <a:outerShdw blurRad="50800" dist="38100" dir="2700000" algn="tl" rotWithShape="0">
            <a:prstClr val="black">
              <a:alpha val="40000"/>
            </a:prstClr>
          </a:outerShdw>
        </a:effectLst>
      </dgm:spPr>
      <dgm:t>
        <a:bodyPr/>
        <a:lstStyle/>
        <a:p>
          <a:r>
            <a:rPr lang="zh-CN" altLang="en-US" sz="1800" dirty="0"/>
            <a:t>适应</a:t>
          </a:r>
        </a:p>
      </dgm:t>
    </dgm:pt>
    <dgm:pt modelId="{B46081CB-D0CA-47FB-9772-1BDBFC236950}" type="parTrans" cxnId="{53D9C23C-A4DC-4E5A-A4EC-816C0887A094}">
      <dgm:prSet/>
      <dgm:spPr/>
      <dgm:t>
        <a:bodyPr/>
        <a:lstStyle/>
        <a:p>
          <a:endParaRPr lang="zh-CN" altLang="en-US"/>
        </a:p>
      </dgm:t>
    </dgm:pt>
    <dgm:pt modelId="{F1C38DA3-052E-4FC8-BA67-5B4B200CC764}" type="sibTrans" cxnId="{53D9C23C-A4DC-4E5A-A4EC-816C0887A094}">
      <dgm:prSet/>
      <dgm:spPr/>
      <dgm:t>
        <a:bodyPr/>
        <a:lstStyle/>
        <a:p>
          <a:endParaRPr lang="zh-CN" altLang="en-US"/>
        </a:p>
      </dgm:t>
    </dgm:pt>
    <dgm:pt modelId="{B5D3370E-ECE8-4EE3-87F2-C8C5618BCDA0}" type="pres">
      <dgm:prSet presAssocID="{D3E1F960-B538-4893-8383-948EDC951F2A}" presName="cycle" presStyleCnt="0">
        <dgm:presLayoutVars>
          <dgm:chMax val="1"/>
          <dgm:dir/>
          <dgm:animLvl val="ctr"/>
          <dgm:resizeHandles val="exact"/>
        </dgm:presLayoutVars>
      </dgm:prSet>
      <dgm:spPr/>
    </dgm:pt>
    <dgm:pt modelId="{A96581BA-45EF-4CB9-A1A8-9CFB4998A264}" type="pres">
      <dgm:prSet presAssocID="{CE8EEB70-791E-48FA-8C8F-2E8FADFCC934}" presName="centerShape" presStyleLbl="node0" presStyleIdx="0" presStyleCnt="1" custScaleX="98857" custScaleY="98857"/>
      <dgm:spPr/>
    </dgm:pt>
    <dgm:pt modelId="{2697905C-40A9-4D8E-AE89-88ADE6C34F0A}" type="pres">
      <dgm:prSet presAssocID="{41AA5E90-B5B1-4317-8E91-CCB14A726C95}" presName="Name9" presStyleLbl="parChTrans1D2" presStyleIdx="0" presStyleCnt="3"/>
      <dgm:spPr/>
    </dgm:pt>
    <dgm:pt modelId="{C4E0B2F5-7632-485B-B03A-601C1A11F4FC}" type="pres">
      <dgm:prSet presAssocID="{41AA5E90-B5B1-4317-8E91-CCB14A726C95}" presName="connTx" presStyleLbl="parChTrans1D2" presStyleIdx="0" presStyleCnt="3"/>
      <dgm:spPr/>
    </dgm:pt>
    <dgm:pt modelId="{A768ED12-DF85-403F-B898-D6729C70787D}" type="pres">
      <dgm:prSet presAssocID="{16A05B42-C487-4BD1-9030-18BBD9553FCD}" presName="node" presStyleLbl="node1" presStyleIdx="0" presStyleCnt="3" custScaleX="82381" custScaleY="82381">
        <dgm:presLayoutVars>
          <dgm:bulletEnabled val="1"/>
        </dgm:presLayoutVars>
      </dgm:prSet>
      <dgm:spPr/>
    </dgm:pt>
    <dgm:pt modelId="{B58731E0-DBD1-435A-ADD7-B425A898B445}" type="pres">
      <dgm:prSet presAssocID="{9B16A6A3-77F5-4938-AD2E-C5618ABDA282}" presName="Name9" presStyleLbl="parChTrans1D2" presStyleIdx="1" presStyleCnt="3"/>
      <dgm:spPr/>
    </dgm:pt>
    <dgm:pt modelId="{330FBA93-3A1A-47D5-9CC5-B3E47AB9E5DF}" type="pres">
      <dgm:prSet presAssocID="{9B16A6A3-77F5-4938-AD2E-C5618ABDA282}" presName="connTx" presStyleLbl="parChTrans1D2" presStyleIdx="1" presStyleCnt="3"/>
      <dgm:spPr/>
    </dgm:pt>
    <dgm:pt modelId="{A3CECE51-0A63-4775-BBDE-4FA68841EC20}" type="pres">
      <dgm:prSet presAssocID="{0BBA5288-D454-4A5E-8B5F-4581CC5975F5}" presName="node" presStyleLbl="node1" presStyleIdx="1" presStyleCnt="3" custScaleX="82381" custScaleY="82381">
        <dgm:presLayoutVars>
          <dgm:bulletEnabled val="1"/>
        </dgm:presLayoutVars>
      </dgm:prSet>
      <dgm:spPr/>
    </dgm:pt>
    <dgm:pt modelId="{B74C3A2B-0533-446F-AE56-FFBBBC35155B}" type="pres">
      <dgm:prSet presAssocID="{B46081CB-D0CA-47FB-9772-1BDBFC236950}" presName="Name9" presStyleLbl="parChTrans1D2" presStyleIdx="2" presStyleCnt="3"/>
      <dgm:spPr/>
    </dgm:pt>
    <dgm:pt modelId="{72A0FF43-5233-4D9B-ADFF-E97C97B46D15}" type="pres">
      <dgm:prSet presAssocID="{B46081CB-D0CA-47FB-9772-1BDBFC236950}" presName="connTx" presStyleLbl="parChTrans1D2" presStyleIdx="2" presStyleCnt="3"/>
      <dgm:spPr/>
    </dgm:pt>
    <dgm:pt modelId="{0ECE6D9B-1A91-4A29-82E7-FADB2EE4F6DC}" type="pres">
      <dgm:prSet presAssocID="{F8A88CB0-C5FA-4968-84AD-9D45338DB00E}" presName="node" presStyleLbl="node1" presStyleIdx="2" presStyleCnt="3" custScaleX="82381" custScaleY="82381">
        <dgm:presLayoutVars>
          <dgm:bulletEnabled val="1"/>
        </dgm:presLayoutVars>
      </dgm:prSet>
      <dgm:spPr/>
    </dgm:pt>
  </dgm:ptLst>
  <dgm:cxnLst>
    <dgm:cxn modelId="{C8790822-876E-4670-AAE2-4F5F4D1CA55B}" type="presOf" srcId="{CE8EEB70-791E-48FA-8C8F-2E8FADFCC934}" destId="{A96581BA-45EF-4CB9-A1A8-9CFB4998A264}" srcOrd="0" destOrd="0" presId="urn:microsoft.com/office/officeart/2005/8/layout/radial1"/>
    <dgm:cxn modelId="{3F8BD833-5738-45A6-817F-122C710B11B1}" type="presOf" srcId="{41AA5E90-B5B1-4317-8E91-CCB14A726C95}" destId="{2697905C-40A9-4D8E-AE89-88ADE6C34F0A}" srcOrd="0" destOrd="0" presId="urn:microsoft.com/office/officeart/2005/8/layout/radial1"/>
    <dgm:cxn modelId="{53D9C23C-A4DC-4E5A-A4EC-816C0887A094}" srcId="{CE8EEB70-791E-48FA-8C8F-2E8FADFCC934}" destId="{F8A88CB0-C5FA-4968-84AD-9D45338DB00E}" srcOrd="2" destOrd="0" parTransId="{B46081CB-D0CA-47FB-9772-1BDBFC236950}" sibTransId="{F1C38DA3-052E-4FC8-BA67-5B4B200CC764}"/>
    <dgm:cxn modelId="{D79A3B41-6133-403B-8DD2-815A4464B569}" srcId="{CE8EEB70-791E-48FA-8C8F-2E8FADFCC934}" destId="{0BBA5288-D454-4A5E-8B5F-4581CC5975F5}" srcOrd="1" destOrd="0" parTransId="{9B16A6A3-77F5-4938-AD2E-C5618ABDA282}" sibTransId="{74089577-39A7-4704-9D32-EED588F1AA4C}"/>
    <dgm:cxn modelId="{490D9D66-0135-44D2-90A0-1DEDCAC39AF3}" srcId="{CE8EEB70-791E-48FA-8C8F-2E8FADFCC934}" destId="{16A05B42-C487-4BD1-9030-18BBD9553FCD}" srcOrd="0" destOrd="0" parTransId="{41AA5E90-B5B1-4317-8E91-CCB14A726C95}" sibTransId="{C561E714-DEE2-4F34-8F82-FF5B38302E5A}"/>
    <dgm:cxn modelId="{D8824567-B4A5-4570-A923-371C8C26A5F6}" type="presOf" srcId="{0BBA5288-D454-4A5E-8B5F-4581CC5975F5}" destId="{A3CECE51-0A63-4775-BBDE-4FA68841EC20}" srcOrd="0" destOrd="0" presId="urn:microsoft.com/office/officeart/2005/8/layout/radial1"/>
    <dgm:cxn modelId="{F5F44B4E-B486-4586-B362-E35484DBEEE0}" type="presOf" srcId="{B46081CB-D0CA-47FB-9772-1BDBFC236950}" destId="{B74C3A2B-0533-446F-AE56-FFBBBC35155B}" srcOrd="0" destOrd="0" presId="urn:microsoft.com/office/officeart/2005/8/layout/radial1"/>
    <dgm:cxn modelId="{C3FF3357-F9EE-465C-85D9-3A83EAED6720}" type="presOf" srcId="{41AA5E90-B5B1-4317-8E91-CCB14A726C95}" destId="{C4E0B2F5-7632-485B-B03A-601C1A11F4FC}" srcOrd="1" destOrd="0" presId="urn:microsoft.com/office/officeart/2005/8/layout/radial1"/>
    <dgm:cxn modelId="{DDF2498C-8503-4DBE-BA9A-6F84C2A2C5A9}" type="presOf" srcId="{D3E1F960-B538-4893-8383-948EDC951F2A}" destId="{B5D3370E-ECE8-4EE3-87F2-C8C5618BCDA0}" srcOrd="0" destOrd="0" presId="urn:microsoft.com/office/officeart/2005/8/layout/radial1"/>
    <dgm:cxn modelId="{F617CAA2-5AAF-41C1-9378-188A59A29563}" type="presOf" srcId="{16A05B42-C487-4BD1-9030-18BBD9553FCD}" destId="{A768ED12-DF85-403F-B898-D6729C70787D}" srcOrd="0" destOrd="0" presId="urn:microsoft.com/office/officeart/2005/8/layout/radial1"/>
    <dgm:cxn modelId="{90BE34B8-4EEF-4053-A28E-18F04DEDA9BA}" type="presOf" srcId="{9B16A6A3-77F5-4938-AD2E-C5618ABDA282}" destId="{B58731E0-DBD1-435A-ADD7-B425A898B445}" srcOrd="0" destOrd="0" presId="urn:microsoft.com/office/officeart/2005/8/layout/radial1"/>
    <dgm:cxn modelId="{881E69BB-A183-4B8E-9CF7-F3CB096C616B}" type="presOf" srcId="{B46081CB-D0CA-47FB-9772-1BDBFC236950}" destId="{72A0FF43-5233-4D9B-ADFF-E97C97B46D15}" srcOrd="1" destOrd="0" presId="urn:microsoft.com/office/officeart/2005/8/layout/radial1"/>
    <dgm:cxn modelId="{E7963EEE-64CE-4C08-884D-49921549449D}" type="presOf" srcId="{9B16A6A3-77F5-4938-AD2E-C5618ABDA282}" destId="{330FBA93-3A1A-47D5-9CC5-B3E47AB9E5DF}" srcOrd="1" destOrd="0" presId="urn:microsoft.com/office/officeart/2005/8/layout/radial1"/>
    <dgm:cxn modelId="{8A30AAEF-E2CA-41E8-8EEC-187D68F9271C}" srcId="{D3E1F960-B538-4893-8383-948EDC951F2A}" destId="{CE8EEB70-791E-48FA-8C8F-2E8FADFCC934}" srcOrd="0" destOrd="0" parTransId="{D679ABF5-33EF-44B1-9295-F95FC9DB4790}" sibTransId="{649C98F4-4855-402E-BD76-26014EDD963B}"/>
    <dgm:cxn modelId="{07624BF1-F049-4CED-A5BA-04C350521BD1}" type="presOf" srcId="{F8A88CB0-C5FA-4968-84AD-9D45338DB00E}" destId="{0ECE6D9B-1A91-4A29-82E7-FADB2EE4F6DC}" srcOrd="0" destOrd="0" presId="urn:microsoft.com/office/officeart/2005/8/layout/radial1"/>
    <dgm:cxn modelId="{6FCC23B9-82F0-4A9B-BCC7-9031DD696F9B}" type="presParOf" srcId="{B5D3370E-ECE8-4EE3-87F2-C8C5618BCDA0}" destId="{A96581BA-45EF-4CB9-A1A8-9CFB4998A264}" srcOrd="0" destOrd="0" presId="urn:microsoft.com/office/officeart/2005/8/layout/radial1"/>
    <dgm:cxn modelId="{A0FE91FA-7DFE-4B7E-AF80-A9100BC434CD}" type="presParOf" srcId="{B5D3370E-ECE8-4EE3-87F2-C8C5618BCDA0}" destId="{2697905C-40A9-4D8E-AE89-88ADE6C34F0A}" srcOrd="1" destOrd="0" presId="urn:microsoft.com/office/officeart/2005/8/layout/radial1"/>
    <dgm:cxn modelId="{D7EC596C-AF63-48AF-82E8-BCC924D13E02}" type="presParOf" srcId="{2697905C-40A9-4D8E-AE89-88ADE6C34F0A}" destId="{C4E0B2F5-7632-485B-B03A-601C1A11F4FC}" srcOrd="0" destOrd="0" presId="urn:microsoft.com/office/officeart/2005/8/layout/radial1"/>
    <dgm:cxn modelId="{9EDFDDD3-E63E-4385-9C8A-1EABCE858CF0}" type="presParOf" srcId="{B5D3370E-ECE8-4EE3-87F2-C8C5618BCDA0}" destId="{A768ED12-DF85-403F-B898-D6729C70787D}" srcOrd="2" destOrd="0" presId="urn:microsoft.com/office/officeart/2005/8/layout/radial1"/>
    <dgm:cxn modelId="{A0FE6AA8-9997-4DC9-AD6C-A0647EDECFB8}" type="presParOf" srcId="{B5D3370E-ECE8-4EE3-87F2-C8C5618BCDA0}" destId="{B58731E0-DBD1-435A-ADD7-B425A898B445}" srcOrd="3" destOrd="0" presId="urn:microsoft.com/office/officeart/2005/8/layout/radial1"/>
    <dgm:cxn modelId="{30F04C35-5AA8-4216-8E80-DFBBDFDADA4C}" type="presParOf" srcId="{B58731E0-DBD1-435A-ADD7-B425A898B445}" destId="{330FBA93-3A1A-47D5-9CC5-B3E47AB9E5DF}" srcOrd="0" destOrd="0" presId="urn:microsoft.com/office/officeart/2005/8/layout/radial1"/>
    <dgm:cxn modelId="{F272BAEE-1523-4AEC-B3E3-488B467D1BD1}" type="presParOf" srcId="{B5D3370E-ECE8-4EE3-87F2-C8C5618BCDA0}" destId="{A3CECE51-0A63-4775-BBDE-4FA68841EC20}" srcOrd="4" destOrd="0" presId="urn:microsoft.com/office/officeart/2005/8/layout/radial1"/>
    <dgm:cxn modelId="{A3A392A2-4EA7-4D59-BDFA-23A38B187C4F}" type="presParOf" srcId="{B5D3370E-ECE8-4EE3-87F2-C8C5618BCDA0}" destId="{B74C3A2B-0533-446F-AE56-FFBBBC35155B}" srcOrd="5" destOrd="0" presId="urn:microsoft.com/office/officeart/2005/8/layout/radial1"/>
    <dgm:cxn modelId="{5A26FC25-E3C6-406C-8055-3C0A875FFEFE}" type="presParOf" srcId="{B74C3A2B-0533-446F-AE56-FFBBBC35155B}" destId="{72A0FF43-5233-4D9B-ADFF-E97C97B46D15}" srcOrd="0" destOrd="0" presId="urn:microsoft.com/office/officeart/2005/8/layout/radial1"/>
    <dgm:cxn modelId="{93B4E826-26C5-44D6-8E7B-15179FFB107F}" type="presParOf" srcId="{B5D3370E-ECE8-4EE3-87F2-C8C5618BCDA0}" destId="{0ECE6D9B-1A91-4A29-82E7-FADB2EE4F6DC}" srcOrd="6" destOrd="0" presId="urn:microsoft.com/office/officeart/2005/8/layout/radial1"/>
  </dgm:cxnLst>
  <dgm:bg>
    <a:effect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5B0DA7E-CBE2-4552-A8A7-5AB34385133B}" type="doc">
      <dgm:prSet loTypeId="urn:microsoft.com/office/officeart/2005/8/layout/orgChart1" loCatId="hierarchy" qsTypeId="urn:microsoft.com/office/officeart/2005/8/quickstyle/simple1" qsCatId="simple" csTypeId="urn:microsoft.com/office/officeart/2005/8/colors/colorful4" csCatId="colorful" phldr="1"/>
      <dgm:spPr/>
      <dgm:t>
        <a:bodyPr/>
        <a:lstStyle/>
        <a:p>
          <a:endParaRPr lang="zh-CN" altLang="en-US"/>
        </a:p>
      </dgm:t>
    </dgm:pt>
    <dgm:pt modelId="{2C63AD44-5545-48ED-B3E1-4923A2AC4FAA}">
      <dgm:prSet phldrT="[文本]" custT="1"/>
      <dgm:spPr>
        <a:solidFill>
          <a:schemeClr val="accent2"/>
        </a:solidFill>
      </dgm:spPr>
      <dgm:t>
        <a:bodyPr/>
        <a:lstStyle/>
        <a:p>
          <a:pPr>
            <a:lnSpc>
              <a:spcPct val="100000"/>
            </a:lnSpc>
            <a:spcAft>
              <a:spcPts val="0"/>
            </a:spcAft>
          </a:pPr>
          <a:r>
            <a:rPr lang="en-US" altLang="zh-CN" sz="1800" dirty="0"/>
            <a:t>Scrum Team</a:t>
          </a:r>
        </a:p>
        <a:p>
          <a:pPr>
            <a:lnSpc>
              <a:spcPct val="100000"/>
            </a:lnSpc>
            <a:spcAft>
              <a:spcPts val="0"/>
            </a:spcAft>
          </a:pPr>
          <a:r>
            <a:rPr lang="zh-CN" altLang="en-US" sz="1800" dirty="0"/>
            <a:t>团队</a:t>
          </a:r>
        </a:p>
      </dgm:t>
    </dgm:pt>
    <dgm:pt modelId="{460988F8-E170-49CF-B05B-898C6D4813EA}" type="parTrans" cxnId="{DCBFF955-EC2E-43F5-ADB9-606A6989915C}">
      <dgm:prSet/>
      <dgm:spPr/>
      <dgm:t>
        <a:bodyPr/>
        <a:lstStyle/>
        <a:p>
          <a:endParaRPr lang="zh-CN" altLang="en-US" sz="1800"/>
        </a:p>
      </dgm:t>
    </dgm:pt>
    <dgm:pt modelId="{F6A5CB87-F37F-4A9E-AB8E-A4C82C593886}" type="sibTrans" cxnId="{DCBFF955-EC2E-43F5-ADB9-606A6989915C}">
      <dgm:prSet/>
      <dgm:spPr/>
      <dgm:t>
        <a:bodyPr/>
        <a:lstStyle/>
        <a:p>
          <a:endParaRPr lang="zh-CN" altLang="en-US" sz="1800"/>
        </a:p>
      </dgm:t>
    </dgm:pt>
    <dgm:pt modelId="{A5B41717-E523-4E36-8FF4-299EFDF0A00C}">
      <dgm:prSet phldrT="[文本]" custT="1"/>
      <dgm:spPr/>
      <dgm:t>
        <a:bodyPr/>
        <a:lstStyle/>
        <a:p>
          <a:pPr>
            <a:lnSpc>
              <a:spcPct val="100000"/>
            </a:lnSpc>
            <a:spcAft>
              <a:spcPts val="0"/>
            </a:spcAft>
          </a:pPr>
          <a:r>
            <a:rPr lang="en-US" altLang="zh-CN" sz="1800" dirty="0"/>
            <a:t>Developer</a:t>
          </a:r>
        </a:p>
        <a:p>
          <a:pPr>
            <a:lnSpc>
              <a:spcPct val="100000"/>
            </a:lnSpc>
            <a:spcAft>
              <a:spcPts val="0"/>
            </a:spcAft>
          </a:pPr>
          <a:r>
            <a:rPr lang="zh-CN" altLang="en-US" sz="1800" dirty="0"/>
            <a:t>开发者</a:t>
          </a:r>
        </a:p>
      </dgm:t>
    </dgm:pt>
    <dgm:pt modelId="{7C2C86E9-6E44-404B-AA36-4D3C6466F1E2}" type="parTrans" cxnId="{C678C83D-1178-44CC-A51D-4FAD772276D1}">
      <dgm:prSet/>
      <dgm:spPr/>
      <dgm:t>
        <a:bodyPr/>
        <a:lstStyle/>
        <a:p>
          <a:endParaRPr lang="zh-CN" altLang="en-US" sz="1800"/>
        </a:p>
      </dgm:t>
    </dgm:pt>
    <dgm:pt modelId="{A11BD8B9-AEA8-4662-B10A-0CEBDAFCC933}" type="sibTrans" cxnId="{C678C83D-1178-44CC-A51D-4FAD772276D1}">
      <dgm:prSet/>
      <dgm:spPr/>
      <dgm:t>
        <a:bodyPr/>
        <a:lstStyle/>
        <a:p>
          <a:endParaRPr lang="zh-CN" altLang="en-US" sz="1800"/>
        </a:p>
      </dgm:t>
    </dgm:pt>
    <dgm:pt modelId="{9928A676-F7EE-4D1A-A698-399B198B9A4C}">
      <dgm:prSet phldrT="[文本]" custT="1"/>
      <dgm:spPr/>
      <dgm:t>
        <a:bodyPr/>
        <a:lstStyle/>
        <a:p>
          <a:pPr>
            <a:lnSpc>
              <a:spcPct val="100000"/>
            </a:lnSpc>
            <a:spcAft>
              <a:spcPts val="0"/>
            </a:spcAft>
          </a:pPr>
          <a:r>
            <a:rPr lang="en-US" altLang="zh-CN" sz="1800" dirty="0"/>
            <a:t>Product Owner</a:t>
          </a:r>
        </a:p>
        <a:p>
          <a:pPr>
            <a:lnSpc>
              <a:spcPct val="100000"/>
            </a:lnSpc>
            <a:spcAft>
              <a:spcPts val="0"/>
            </a:spcAft>
          </a:pPr>
          <a:r>
            <a:rPr lang="zh-CN" altLang="en-US" sz="1800" dirty="0"/>
            <a:t>产品负责人</a:t>
          </a:r>
        </a:p>
      </dgm:t>
    </dgm:pt>
    <dgm:pt modelId="{05AC3703-48EB-43E4-B717-6F19AB9E8B6C}" type="parTrans" cxnId="{9A9C71B0-1DD1-457B-A26D-F580FE3A0600}">
      <dgm:prSet/>
      <dgm:spPr/>
      <dgm:t>
        <a:bodyPr/>
        <a:lstStyle/>
        <a:p>
          <a:endParaRPr lang="zh-CN" altLang="en-US" sz="1800"/>
        </a:p>
      </dgm:t>
    </dgm:pt>
    <dgm:pt modelId="{6E082CE1-FA13-48BB-9FBF-B704C5ADB758}" type="sibTrans" cxnId="{9A9C71B0-1DD1-457B-A26D-F580FE3A0600}">
      <dgm:prSet/>
      <dgm:spPr/>
      <dgm:t>
        <a:bodyPr/>
        <a:lstStyle/>
        <a:p>
          <a:endParaRPr lang="zh-CN" altLang="en-US" sz="1800"/>
        </a:p>
      </dgm:t>
    </dgm:pt>
    <dgm:pt modelId="{7ABC4384-A1A5-42B9-A937-00D575C2EAC4}">
      <dgm:prSet phldrT="[文本]" custT="1"/>
      <dgm:spPr/>
      <dgm:t>
        <a:bodyPr/>
        <a:lstStyle/>
        <a:p>
          <a:pPr>
            <a:lnSpc>
              <a:spcPct val="100000"/>
            </a:lnSpc>
            <a:spcAft>
              <a:spcPts val="0"/>
            </a:spcAft>
          </a:pPr>
          <a:r>
            <a:rPr lang="en-US" altLang="zh-CN" sz="1800" dirty="0"/>
            <a:t>Scrum Master</a:t>
          </a:r>
        </a:p>
        <a:p>
          <a:pPr>
            <a:lnSpc>
              <a:spcPct val="100000"/>
            </a:lnSpc>
            <a:spcAft>
              <a:spcPts val="0"/>
            </a:spcAft>
          </a:pPr>
          <a:r>
            <a:rPr lang="zh-CN" altLang="en-US" sz="1800" dirty="0"/>
            <a:t>敏捷教练</a:t>
          </a:r>
        </a:p>
      </dgm:t>
    </dgm:pt>
    <dgm:pt modelId="{DB6EAF03-585D-46DB-9568-94C8598AB98D}" type="parTrans" cxnId="{5F02DD32-F92A-4224-BA98-E296371D3FB1}">
      <dgm:prSet/>
      <dgm:spPr/>
      <dgm:t>
        <a:bodyPr/>
        <a:lstStyle/>
        <a:p>
          <a:endParaRPr lang="zh-CN" altLang="en-US" sz="1800"/>
        </a:p>
      </dgm:t>
    </dgm:pt>
    <dgm:pt modelId="{043DB222-9121-42E1-8AD0-5AFFFDDCA6F1}" type="sibTrans" cxnId="{5F02DD32-F92A-4224-BA98-E296371D3FB1}">
      <dgm:prSet/>
      <dgm:spPr/>
      <dgm:t>
        <a:bodyPr/>
        <a:lstStyle/>
        <a:p>
          <a:endParaRPr lang="zh-CN" altLang="en-US" sz="1800"/>
        </a:p>
      </dgm:t>
    </dgm:pt>
    <dgm:pt modelId="{9B471BEC-AC44-42AD-B11A-707E30B97E4E}" type="pres">
      <dgm:prSet presAssocID="{D5B0DA7E-CBE2-4552-A8A7-5AB34385133B}" presName="hierChild1" presStyleCnt="0">
        <dgm:presLayoutVars>
          <dgm:orgChart val="1"/>
          <dgm:chPref val="1"/>
          <dgm:dir/>
          <dgm:animOne val="branch"/>
          <dgm:animLvl val="lvl"/>
          <dgm:resizeHandles/>
        </dgm:presLayoutVars>
      </dgm:prSet>
      <dgm:spPr/>
    </dgm:pt>
    <dgm:pt modelId="{AB54A245-4ADF-4D0A-9D90-B92C03DD7DB1}" type="pres">
      <dgm:prSet presAssocID="{2C63AD44-5545-48ED-B3E1-4923A2AC4FAA}" presName="hierRoot1" presStyleCnt="0">
        <dgm:presLayoutVars>
          <dgm:hierBranch val="init"/>
        </dgm:presLayoutVars>
      </dgm:prSet>
      <dgm:spPr/>
    </dgm:pt>
    <dgm:pt modelId="{AED5EF2C-9BEB-44AD-9AEF-B2D465843B54}" type="pres">
      <dgm:prSet presAssocID="{2C63AD44-5545-48ED-B3E1-4923A2AC4FAA}" presName="rootComposite1" presStyleCnt="0"/>
      <dgm:spPr/>
    </dgm:pt>
    <dgm:pt modelId="{4D9CCFF9-BD17-4D75-86B1-78E586639F4F}" type="pres">
      <dgm:prSet presAssocID="{2C63AD44-5545-48ED-B3E1-4923A2AC4FAA}" presName="rootText1" presStyleLbl="node0" presStyleIdx="0" presStyleCnt="1" custScaleY="71251">
        <dgm:presLayoutVars>
          <dgm:chPref val="3"/>
        </dgm:presLayoutVars>
      </dgm:prSet>
      <dgm:spPr/>
    </dgm:pt>
    <dgm:pt modelId="{0387F2FC-E99B-45ED-AA38-20F988FC8BC6}" type="pres">
      <dgm:prSet presAssocID="{2C63AD44-5545-48ED-B3E1-4923A2AC4FAA}" presName="rootConnector1" presStyleLbl="node1" presStyleIdx="0" presStyleCnt="0"/>
      <dgm:spPr/>
    </dgm:pt>
    <dgm:pt modelId="{F48CA8D6-1239-487C-BA02-C79906DBA8D7}" type="pres">
      <dgm:prSet presAssocID="{2C63AD44-5545-48ED-B3E1-4923A2AC4FAA}" presName="hierChild2" presStyleCnt="0"/>
      <dgm:spPr/>
    </dgm:pt>
    <dgm:pt modelId="{77AD3EA0-D08B-44E0-90FF-941318A849A9}" type="pres">
      <dgm:prSet presAssocID="{7C2C86E9-6E44-404B-AA36-4D3C6466F1E2}" presName="Name37" presStyleLbl="parChTrans1D2" presStyleIdx="0" presStyleCnt="3"/>
      <dgm:spPr/>
    </dgm:pt>
    <dgm:pt modelId="{4FBB0E8C-0474-4D2E-A8C2-CC93B425BA5C}" type="pres">
      <dgm:prSet presAssocID="{A5B41717-E523-4E36-8FF4-299EFDF0A00C}" presName="hierRoot2" presStyleCnt="0">
        <dgm:presLayoutVars>
          <dgm:hierBranch val="init"/>
        </dgm:presLayoutVars>
      </dgm:prSet>
      <dgm:spPr/>
    </dgm:pt>
    <dgm:pt modelId="{DC517A7C-C96E-40EB-BE3F-0B25EDB19C79}" type="pres">
      <dgm:prSet presAssocID="{A5B41717-E523-4E36-8FF4-299EFDF0A00C}" presName="rootComposite" presStyleCnt="0"/>
      <dgm:spPr/>
    </dgm:pt>
    <dgm:pt modelId="{E1B194E7-E9A2-4E57-9BB7-20DBBFCA2C24}" type="pres">
      <dgm:prSet presAssocID="{A5B41717-E523-4E36-8FF4-299EFDF0A00C}" presName="rootText" presStyleLbl="node2" presStyleIdx="0" presStyleCnt="3" custScaleY="71251">
        <dgm:presLayoutVars>
          <dgm:chPref val="3"/>
        </dgm:presLayoutVars>
      </dgm:prSet>
      <dgm:spPr/>
    </dgm:pt>
    <dgm:pt modelId="{6C4E8E94-ADAD-493B-83F3-4BB485BD15BA}" type="pres">
      <dgm:prSet presAssocID="{A5B41717-E523-4E36-8FF4-299EFDF0A00C}" presName="rootConnector" presStyleLbl="node2" presStyleIdx="0" presStyleCnt="3"/>
      <dgm:spPr/>
    </dgm:pt>
    <dgm:pt modelId="{1FEB4788-5936-421D-A201-F6308D3C777C}" type="pres">
      <dgm:prSet presAssocID="{A5B41717-E523-4E36-8FF4-299EFDF0A00C}" presName="hierChild4" presStyleCnt="0"/>
      <dgm:spPr/>
    </dgm:pt>
    <dgm:pt modelId="{F26F6516-8AB2-4981-A59F-4B0F381E4CDD}" type="pres">
      <dgm:prSet presAssocID="{A5B41717-E523-4E36-8FF4-299EFDF0A00C}" presName="hierChild5" presStyleCnt="0"/>
      <dgm:spPr/>
    </dgm:pt>
    <dgm:pt modelId="{591147C7-2FCD-4627-B9AE-9C0A7122E164}" type="pres">
      <dgm:prSet presAssocID="{05AC3703-48EB-43E4-B717-6F19AB9E8B6C}" presName="Name37" presStyleLbl="parChTrans1D2" presStyleIdx="1" presStyleCnt="3"/>
      <dgm:spPr/>
    </dgm:pt>
    <dgm:pt modelId="{121AAE99-A0A8-4284-9E01-285F357742EC}" type="pres">
      <dgm:prSet presAssocID="{9928A676-F7EE-4D1A-A698-399B198B9A4C}" presName="hierRoot2" presStyleCnt="0">
        <dgm:presLayoutVars>
          <dgm:hierBranch val="init"/>
        </dgm:presLayoutVars>
      </dgm:prSet>
      <dgm:spPr/>
    </dgm:pt>
    <dgm:pt modelId="{53BA791C-84AB-413C-AE7A-A86DD2AE5983}" type="pres">
      <dgm:prSet presAssocID="{9928A676-F7EE-4D1A-A698-399B198B9A4C}" presName="rootComposite" presStyleCnt="0"/>
      <dgm:spPr/>
    </dgm:pt>
    <dgm:pt modelId="{3BD3742E-89D8-4278-B047-2E690CF46C27}" type="pres">
      <dgm:prSet presAssocID="{9928A676-F7EE-4D1A-A698-399B198B9A4C}" presName="rootText" presStyleLbl="node2" presStyleIdx="1" presStyleCnt="3" custScaleY="71251">
        <dgm:presLayoutVars>
          <dgm:chPref val="3"/>
        </dgm:presLayoutVars>
      </dgm:prSet>
      <dgm:spPr/>
    </dgm:pt>
    <dgm:pt modelId="{1C196A48-6022-498A-9527-F4773465C43B}" type="pres">
      <dgm:prSet presAssocID="{9928A676-F7EE-4D1A-A698-399B198B9A4C}" presName="rootConnector" presStyleLbl="node2" presStyleIdx="1" presStyleCnt="3"/>
      <dgm:spPr/>
    </dgm:pt>
    <dgm:pt modelId="{8B392C00-EA94-478D-AC2F-0982A676C659}" type="pres">
      <dgm:prSet presAssocID="{9928A676-F7EE-4D1A-A698-399B198B9A4C}" presName="hierChild4" presStyleCnt="0"/>
      <dgm:spPr/>
    </dgm:pt>
    <dgm:pt modelId="{7B4FAA56-6C6D-4FA5-A6D0-19C31DC2AFC6}" type="pres">
      <dgm:prSet presAssocID="{9928A676-F7EE-4D1A-A698-399B198B9A4C}" presName="hierChild5" presStyleCnt="0"/>
      <dgm:spPr/>
    </dgm:pt>
    <dgm:pt modelId="{FCC79863-28B7-4641-A9CA-CA81A5866EAD}" type="pres">
      <dgm:prSet presAssocID="{DB6EAF03-585D-46DB-9568-94C8598AB98D}" presName="Name37" presStyleLbl="parChTrans1D2" presStyleIdx="2" presStyleCnt="3"/>
      <dgm:spPr/>
    </dgm:pt>
    <dgm:pt modelId="{CE1207AE-853D-4C2E-83C4-080F2BD63AF0}" type="pres">
      <dgm:prSet presAssocID="{7ABC4384-A1A5-42B9-A937-00D575C2EAC4}" presName="hierRoot2" presStyleCnt="0">
        <dgm:presLayoutVars>
          <dgm:hierBranch val="init"/>
        </dgm:presLayoutVars>
      </dgm:prSet>
      <dgm:spPr/>
    </dgm:pt>
    <dgm:pt modelId="{CB7CFF74-24B9-44BB-A2B5-92109B681CBE}" type="pres">
      <dgm:prSet presAssocID="{7ABC4384-A1A5-42B9-A937-00D575C2EAC4}" presName="rootComposite" presStyleCnt="0"/>
      <dgm:spPr/>
    </dgm:pt>
    <dgm:pt modelId="{E24E934A-6782-4A44-B105-7B83B7DB5B47}" type="pres">
      <dgm:prSet presAssocID="{7ABC4384-A1A5-42B9-A937-00D575C2EAC4}" presName="rootText" presStyleLbl="node2" presStyleIdx="2" presStyleCnt="3" custScaleY="71251">
        <dgm:presLayoutVars>
          <dgm:chPref val="3"/>
        </dgm:presLayoutVars>
      </dgm:prSet>
      <dgm:spPr/>
    </dgm:pt>
    <dgm:pt modelId="{5AA88587-4138-4C96-A469-54661A164102}" type="pres">
      <dgm:prSet presAssocID="{7ABC4384-A1A5-42B9-A937-00D575C2EAC4}" presName="rootConnector" presStyleLbl="node2" presStyleIdx="2" presStyleCnt="3"/>
      <dgm:spPr/>
    </dgm:pt>
    <dgm:pt modelId="{B9543503-0585-40B0-A235-9443F235BCF9}" type="pres">
      <dgm:prSet presAssocID="{7ABC4384-A1A5-42B9-A937-00D575C2EAC4}" presName="hierChild4" presStyleCnt="0"/>
      <dgm:spPr/>
    </dgm:pt>
    <dgm:pt modelId="{D58E9973-4CC6-41F0-9B44-4CB3E7C15DE2}" type="pres">
      <dgm:prSet presAssocID="{7ABC4384-A1A5-42B9-A937-00D575C2EAC4}" presName="hierChild5" presStyleCnt="0"/>
      <dgm:spPr/>
    </dgm:pt>
    <dgm:pt modelId="{593FC476-5F45-4442-B7F5-D6C3520F3D12}" type="pres">
      <dgm:prSet presAssocID="{2C63AD44-5545-48ED-B3E1-4923A2AC4FAA}" presName="hierChild3" presStyleCnt="0"/>
      <dgm:spPr/>
    </dgm:pt>
  </dgm:ptLst>
  <dgm:cxnLst>
    <dgm:cxn modelId="{73129002-6F80-4C66-AF83-B0E63173CB0A}" type="presOf" srcId="{A5B41717-E523-4E36-8FF4-299EFDF0A00C}" destId="{6C4E8E94-ADAD-493B-83F3-4BB485BD15BA}" srcOrd="1" destOrd="0" presId="urn:microsoft.com/office/officeart/2005/8/layout/orgChart1"/>
    <dgm:cxn modelId="{2923C71C-1389-4AC0-BBB7-05F926056FAF}" type="presOf" srcId="{DB6EAF03-585D-46DB-9568-94C8598AB98D}" destId="{FCC79863-28B7-4641-A9CA-CA81A5866EAD}" srcOrd="0" destOrd="0" presId="urn:microsoft.com/office/officeart/2005/8/layout/orgChart1"/>
    <dgm:cxn modelId="{561DBF23-B884-42EB-9FC1-E576492922E4}" type="presOf" srcId="{05AC3703-48EB-43E4-B717-6F19AB9E8B6C}" destId="{591147C7-2FCD-4627-B9AE-9C0A7122E164}" srcOrd="0" destOrd="0" presId="urn:microsoft.com/office/officeart/2005/8/layout/orgChart1"/>
    <dgm:cxn modelId="{A0643524-C065-46DC-8451-C0C94C37D877}" type="presOf" srcId="{D5B0DA7E-CBE2-4552-A8A7-5AB34385133B}" destId="{9B471BEC-AC44-42AD-B11A-707E30B97E4E}" srcOrd="0" destOrd="0" presId="urn:microsoft.com/office/officeart/2005/8/layout/orgChart1"/>
    <dgm:cxn modelId="{5F02DD32-F92A-4224-BA98-E296371D3FB1}" srcId="{2C63AD44-5545-48ED-B3E1-4923A2AC4FAA}" destId="{7ABC4384-A1A5-42B9-A937-00D575C2EAC4}" srcOrd="2" destOrd="0" parTransId="{DB6EAF03-585D-46DB-9568-94C8598AB98D}" sibTransId="{043DB222-9121-42E1-8AD0-5AFFFDDCA6F1}"/>
    <dgm:cxn modelId="{DAEC3D3B-C74D-4359-BFB7-1E81539C158C}" type="presOf" srcId="{7ABC4384-A1A5-42B9-A937-00D575C2EAC4}" destId="{5AA88587-4138-4C96-A469-54661A164102}" srcOrd="1" destOrd="0" presId="urn:microsoft.com/office/officeart/2005/8/layout/orgChart1"/>
    <dgm:cxn modelId="{C678C83D-1178-44CC-A51D-4FAD772276D1}" srcId="{2C63AD44-5545-48ED-B3E1-4923A2AC4FAA}" destId="{A5B41717-E523-4E36-8FF4-299EFDF0A00C}" srcOrd="0" destOrd="0" parTransId="{7C2C86E9-6E44-404B-AA36-4D3C6466F1E2}" sibTransId="{A11BD8B9-AEA8-4662-B10A-0CEBDAFCC933}"/>
    <dgm:cxn modelId="{7413B15F-F93D-485B-8F57-67CDA39374A7}" type="presOf" srcId="{9928A676-F7EE-4D1A-A698-399B198B9A4C}" destId="{1C196A48-6022-498A-9527-F4773465C43B}" srcOrd="1" destOrd="0" presId="urn:microsoft.com/office/officeart/2005/8/layout/orgChart1"/>
    <dgm:cxn modelId="{D921F251-47C9-4F90-8DC5-8BD8480921F1}" type="presOf" srcId="{A5B41717-E523-4E36-8FF4-299EFDF0A00C}" destId="{E1B194E7-E9A2-4E57-9BB7-20DBBFCA2C24}" srcOrd="0" destOrd="0" presId="urn:microsoft.com/office/officeart/2005/8/layout/orgChart1"/>
    <dgm:cxn modelId="{DCBFF955-EC2E-43F5-ADB9-606A6989915C}" srcId="{D5B0DA7E-CBE2-4552-A8A7-5AB34385133B}" destId="{2C63AD44-5545-48ED-B3E1-4923A2AC4FAA}" srcOrd="0" destOrd="0" parTransId="{460988F8-E170-49CF-B05B-898C6D4813EA}" sibTransId="{F6A5CB87-F37F-4A9E-AB8E-A4C82C593886}"/>
    <dgm:cxn modelId="{7D25F684-FE7C-4534-A9F5-7541BD7E9C38}" type="presOf" srcId="{2C63AD44-5545-48ED-B3E1-4923A2AC4FAA}" destId="{0387F2FC-E99B-45ED-AA38-20F988FC8BC6}" srcOrd="1" destOrd="0" presId="urn:microsoft.com/office/officeart/2005/8/layout/orgChart1"/>
    <dgm:cxn modelId="{F638079A-9E37-47B9-9948-E3B5FE5B6ABE}" type="presOf" srcId="{2C63AD44-5545-48ED-B3E1-4923A2AC4FAA}" destId="{4D9CCFF9-BD17-4D75-86B1-78E586639F4F}" srcOrd="0" destOrd="0" presId="urn:microsoft.com/office/officeart/2005/8/layout/orgChart1"/>
    <dgm:cxn modelId="{80F339A9-DE98-490F-9FF3-321DB481DCAE}" type="presOf" srcId="{7C2C86E9-6E44-404B-AA36-4D3C6466F1E2}" destId="{77AD3EA0-D08B-44E0-90FF-941318A849A9}" srcOrd="0" destOrd="0" presId="urn:microsoft.com/office/officeart/2005/8/layout/orgChart1"/>
    <dgm:cxn modelId="{05D9E3AC-1DA2-4DEC-9028-7F123F190FF0}" type="presOf" srcId="{7ABC4384-A1A5-42B9-A937-00D575C2EAC4}" destId="{E24E934A-6782-4A44-B105-7B83B7DB5B47}" srcOrd="0" destOrd="0" presId="urn:microsoft.com/office/officeart/2005/8/layout/orgChart1"/>
    <dgm:cxn modelId="{9A9C71B0-1DD1-457B-A26D-F580FE3A0600}" srcId="{2C63AD44-5545-48ED-B3E1-4923A2AC4FAA}" destId="{9928A676-F7EE-4D1A-A698-399B198B9A4C}" srcOrd="1" destOrd="0" parTransId="{05AC3703-48EB-43E4-B717-6F19AB9E8B6C}" sibTransId="{6E082CE1-FA13-48BB-9FBF-B704C5ADB758}"/>
    <dgm:cxn modelId="{C4E655BE-BCB1-4210-A337-876FCA711285}" type="presOf" srcId="{9928A676-F7EE-4D1A-A698-399B198B9A4C}" destId="{3BD3742E-89D8-4278-B047-2E690CF46C27}" srcOrd="0" destOrd="0" presId="urn:microsoft.com/office/officeart/2005/8/layout/orgChart1"/>
    <dgm:cxn modelId="{6DA87987-777C-4693-8CA7-C891B06E5648}" type="presParOf" srcId="{9B471BEC-AC44-42AD-B11A-707E30B97E4E}" destId="{AB54A245-4ADF-4D0A-9D90-B92C03DD7DB1}" srcOrd="0" destOrd="0" presId="urn:microsoft.com/office/officeart/2005/8/layout/orgChart1"/>
    <dgm:cxn modelId="{3B6A4210-3147-445C-9B37-339C877AC7F8}" type="presParOf" srcId="{AB54A245-4ADF-4D0A-9D90-B92C03DD7DB1}" destId="{AED5EF2C-9BEB-44AD-9AEF-B2D465843B54}" srcOrd="0" destOrd="0" presId="urn:microsoft.com/office/officeart/2005/8/layout/orgChart1"/>
    <dgm:cxn modelId="{82DAA314-0B43-4C0A-ABD7-4E774932FE83}" type="presParOf" srcId="{AED5EF2C-9BEB-44AD-9AEF-B2D465843B54}" destId="{4D9CCFF9-BD17-4D75-86B1-78E586639F4F}" srcOrd="0" destOrd="0" presId="urn:microsoft.com/office/officeart/2005/8/layout/orgChart1"/>
    <dgm:cxn modelId="{D2488730-77DE-4869-A338-267909061CD4}" type="presParOf" srcId="{AED5EF2C-9BEB-44AD-9AEF-B2D465843B54}" destId="{0387F2FC-E99B-45ED-AA38-20F988FC8BC6}" srcOrd="1" destOrd="0" presId="urn:microsoft.com/office/officeart/2005/8/layout/orgChart1"/>
    <dgm:cxn modelId="{98C52BC7-FAE8-4501-8629-5384793E60F4}" type="presParOf" srcId="{AB54A245-4ADF-4D0A-9D90-B92C03DD7DB1}" destId="{F48CA8D6-1239-487C-BA02-C79906DBA8D7}" srcOrd="1" destOrd="0" presId="urn:microsoft.com/office/officeart/2005/8/layout/orgChart1"/>
    <dgm:cxn modelId="{CFAF12A8-ED0B-4F4A-B0E7-664765EE4E1F}" type="presParOf" srcId="{F48CA8D6-1239-487C-BA02-C79906DBA8D7}" destId="{77AD3EA0-D08B-44E0-90FF-941318A849A9}" srcOrd="0" destOrd="0" presId="urn:microsoft.com/office/officeart/2005/8/layout/orgChart1"/>
    <dgm:cxn modelId="{91C1B27A-6B00-484F-9593-48CE02CEACB1}" type="presParOf" srcId="{F48CA8D6-1239-487C-BA02-C79906DBA8D7}" destId="{4FBB0E8C-0474-4D2E-A8C2-CC93B425BA5C}" srcOrd="1" destOrd="0" presId="urn:microsoft.com/office/officeart/2005/8/layout/orgChart1"/>
    <dgm:cxn modelId="{058D2628-7392-4C96-BEFE-F61882B8B5C8}" type="presParOf" srcId="{4FBB0E8C-0474-4D2E-A8C2-CC93B425BA5C}" destId="{DC517A7C-C96E-40EB-BE3F-0B25EDB19C79}" srcOrd="0" destOrd="0" presId="urn:microsoft.com/office/officeart/2005/8/layout/orgChart1"/>
    <dgm:cxn modelId="{B0FE5BB7-4CA0-43E0-B224-A51710773FFF}" type="presParOf" srcId="{DC517A7C-C96E-40EB-BE3F-0B25EDB19C79}" destId="{E1B194E7-E9A2-4E57-9BB7-20DBBFCA2C24}" srcOrd="0" destOrd="0" presId="urn:microsoft.com/office/officeart/2005/8/layout/orgChart1"/>
    <dgm:cxn modelId="{77843084-8C2C-4F19-8045-52E215B83223}" type="presParOf" srcId="{DC517A7C-C96E-40EB-BE3F-0B25EDB19C79}" destId="{6C4E8E94-ADAD-493B-83F3-4BB485BD15BA}" srcOrd="1" destOrd="0" presId="urn:microsoft.com/office/officeart/2005/8/layout/orgChart1"/>
    <dgm:cxn modelId="{7CB555AC-C81F-478C-BD83-72E85EF7EB87}" type="presParOf" srcId="{4FBB0E8C-0474-4D2E-A8C2-CC93B425BA5C}" destId="{1FEB4788-5936-421D-A201-F6308D3C777C}" srcOrd="1" destOrd="0" presId="urn:microsoft.com/office/officeart/2005/8/layout/orgChart1"/>
    <dgm:cxn modelId="{1E473BC0-8C26-4C46-99E3-10E0ADA450FB}" type="presParOf" srcId="{4FBB0E8C-0474-4D2E-A8C2-CC93B425BA5C}" destId="{F26F6516-8AB2-4981-A59F-4B0F381E4CDD}" srcOrd="2" destOrd="0" presId="urn:microsoft.com/office/officeart/2005/8/layout/orgChart1"/>
    <dgm:cxn modelId="{145148D6-4768-4A1C-B4B2-8699751CA7CC}" type="presParOf" srcId="{F48CA8D6-1239-487C-BA02-C79906DBA8D7}" destId="{591147C7-2FCD-4627-B9AE-9C0A7122E164}" srcOrd="2" destOrd="0" presId="urn:microsoft.com/office/officeart/2005/8/layout/orgChart1"/>
    <dgm:cxn modelId="{5DE4F274-1E07-4FD6-B067-35FD1F788C50}" type="presParOf" srcId="{F48CA8D6-1239-487C-BA02-C79906DBA8D7}" destId="{121AAE99-A0A8-4284-9E01-285F357742EC}" srcOrd="3" destOrd="0" presId="urn:microsoft.com/office/officeart/2005/8/layout/orgChart1"/>
    <dgm:cxn modelId="{BA903617-A820-45B0-9F07-D6105EE9378C}" type="presParOf" srcId="{121AAE99-A0A8-4284-9E01-285F357742EC}" destId="{53BA791C-84AB-413C-AE7A-A86DD2AE5983}" srcOrd="0" destOrd="0" presId="urn:microsoft.com/office/officeart/2005/8/layout/orgChart1"/>
    <dgm:cxn modelId="{5C165DE1-599B-4C66-8625-8493A0AFB164}" type="presParOf" srcId="{53BA791C-84AB-413C-AE7A-A86DD2AE5983}" destId="{3BD3742E-89D8-4278-B047-2E690CF46C27}" srcOrd="0" destOrd="0" presId="urn:microsoft.com/office/officeart/2005/8/layout/orgChart1"/>
    <dgm:cxn modelId="{A15E2697-B05A-440B-82ED-511BDB8B072F}" type="presParOf" srcId="{53BA791C-84AB-413C-AE7A-A86DD2AE5983}" destId="{1C196A48-6022-498A-9527-F4773465C43B}" srcOrd="1" destOrd="0" presId="urn:microsoft.com/office/officeart/2005/8/layout/orgChart1"/>
    <dgm:cxn modelId="{42676DEE-AB96-4620-BAF1-04681383992D}" type="presParOf" srcId="{121AAE99-A0A8-4284-9E01-285F357742EC}" destId="{8B392C00-EA94-478D-AC2F-0982A676C659}" srcOrd="1" destOrd="0" presId="urn:microsoft.com/office/officeart/2005/8/layout/orgChart1"/>
    <dgm:cxn modelId="{DDF48116-6D40-453B-85CD-E0B1877F348A}" type="presParOf" srcId="{121AAE99-A0A8-4284-9E01-285F357742EC}" destId="{7B4FAA56-6C6D-4FA5-A6D0-19C31DC2AFC6}" srcOrd="2" destOrd="0" presId="urn:microsoft.com/office/officeart/2005/8/layout/orgChart1"/>
    <dgm:cxn modelId="{7A83F7FB-BE35-4544-983D-0881C1F92106}" type="presParOf" srcId="{F48CA8D6-1239-487C-BA02-C79906DBA8D7}" destId="{FCC79863-28B7-4641-A9CA-CA81A5866EAD}" srcOrd="4" destOrd="0" presId="urn:microsoft.com/office/officeart/2005/8/layout/orgChart1"/>
    <dgm:cxn modelId="{72C06D6B-4CAA-45C9-A51F-1C4AE18D6278}" type="presParOf" srcId="{F48CA8D6-1239-487C-BA02-C79906DBA8D7}" destId="{CE1207AE-853D-4C2E-83C4-080F2BD63AF0}" srcOrd="5" destOrd="0" presId="urn:microsoft.com/office/officeart/2005/8/layout/orgChart1"/>
    <dgm:cxn modelId="{3536A4F2-7498-4079-9C9C-6EF7D8C70FA7}" type="presParOf" srcId="{CE1207AE-853D-4C2E-83C4-080F2BD63AF0}" destId="{CB7CFF74-24B9-44BB-A2B5-92109B681CBE}" srcOrd="0" destOrd="0" presId="urn:microsoft.com/office/officeart/2005/8/layout/orgChart1"/>
    <dgm:cxn modelId="{C446E1EB-1529-43AE-829F-66B4C5B908AF}" type="presParOf" srcId="{CB7CFF74-24B9-44BB-A2B5-92109B681CBE}" destId="{E24E934A-6782-4A44-B105-7B83B7DB5B47}" srcOrd="0" destOrd="0" presId="urn:microsoft.com/office/officeart/2005/8/layout/orgChart1"/>
    <dgm:cxn modelId="{C3B9DEE9-3CE2-4ABF-95D6-F95D96ECE652}" type="presParOf" srcId="{CB7CFF74-24B9-44BB-A2B5-92109B681CBE}" destId="{5AA88587-4138-4C96-A469-54661A164102}" srcOrd="1" destOrd="0" presId="urn:microsoft.com/office/officeart/2005/8/layout/orgChart1"/>
    <dgm:cxn modelId="{803EA1F8-9139-4A3C-9D6C-D9614E15B764}" type="presParOf" srcId="{CE1207AE-853D-4C2E-83C4-080F2BD63AF0}" destId="{B9543503-0585-40B0-A235-9443F235BCF9}" srcOrd="1" destOrd="0" presId="urn:microsoft.com/office/officeart/2005/8/layout/orgChart1"/>
    <dgm:cxn modelId="{87FD65E4-C0BC-4453-8CCB-D85B95CD570D}" type="presParOf" srcId="{CE1207AE-853D-4C2E-83C4-080F2BD63AF0}" destId="{D58E9973-4CC6-41F0-9B44-4CB3E7C15DE2}" srcOrd="2" destOrd="0" presId="urn:microsoft.com/office/officeart/2005/8/layout/orgChart1"/>
    <dgm:cxn modelId="{488C47A9-9688-4F9E-99D6-5A42BA93DB68}" type="presParOf" srcId="{AB54A245-4ADF-4D0A-9D90-B92C03DD7DB1}" destId="{593FC476-5F45-4442-B7F5-D6C3520F3D12}" srcOrd="2" destOrd="0" presId="urn:microsoft.com/office/officeart/2005/8/layout/orgChar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2A8570DF-D6EB-4605-92EC-111A78DD04C8}" type="doc">
      <dgm:prSet loTypeId="urn:microsoft.com/office/officeart/2009/3/layout/IncreasingArrowsProcess" loCatId="process" qsTypeId="urn:microsoft.com/office/officeart/2005/8/quickstyle/simple1" qsCatId="simple" csTypeId="urn:microsoft.com/office/officeart/2005/8/colors/colorful5" csCatId="colorful" phldr="1"/>
      <dgm:spPr/>
      <dgm:t>
        <a:bodyPr/>
        <a:lstStyle/>
        <a:p>
          <a:endParaRPr lang="zh-CN" altLang="en-US"/>
        </a:p>
      </dgm:t>
    </dgm:pt>
    <dgm:pt modelId="{27174115-FD95-4E62-B33A-C2D8FA744ED4}">
      <dgm:prSet phldrT="[文本]" phldr="0"/>
      <dgm:spPr/>
      <dgm:t>
        <a:bodyPr/>
        <a:lstStyle/>
        <a:p>
          <a:r>
            <a:rPr lang="en-US" altLang="zh-CN" dirty="0"/>
            <a:t>Sprint</a:t>
          </a:r>
          <a:endParaRPr lang="zh-CN" altLang="en-US" dirty="0"/>
        </a:p>
      </dgm:t>
    </dgm:pt>
    <dgm:pt modelId="{0272BAA0-E293-418B-8CB7-BCBF7D92DA3B}" type="parTrans" cxnId="{ACF9B48E-162D-4BC9-AF57-38300A3F6243}">
      <dgm:prSet/>
      <dgm:spPr/>
      <dgm:t>
        <a:bodyPr/>
        <a:lstStyle/>
        <a:p>
          <a:endParaRPr lang="zh-CN" altLang="en-US"/>
        </a:p>
      </dgm:t>
    </dgm:pt>
    <dgm:pt modelId="{5BFB1068-2037-493F-A484-A25F7039D8BA}" type="sibTrans" cxnId="{ACF9B48E-162D-4BC9-AF57-38300A3F6243}">
      <dgm:prSet/>
      <dgm:spPr/>
      <dgm:t>
        <a:bodyPr/>
        <a:lstStyle/>
        <a:p>
          <a:endParaRPr lang="zh-CN" altLang="en-US"/>
        </a:p>
      </dgm:t>
    </dgm:pt>
    <dgm:pt modelId="{54A42531-F6CF-4017-96EB-95C8615A3294}">
      <dgm:prSet phldrT="[文本]"/>
      <dgm:spPr/>
      <dgm:t>
        <a:bodyPr/>
        <a:lstStyle/>
        <a:p>
          <a:r>
            <a:rPr lang="zh-CN" altLang="en-US" dirty="0"/>
            <a:t>冲刺</a:t>
          </a:r>
        </a:p>
      </dgm:t>
    </dgm:pt>
    <dgm:pt modelId="{925C0D60-EDFF-4DAA-8C9A-450B1DE40C85}" type="parTrans" cxnId="{BC60CE86-214B-4263-B72A-3154B9B94234}">
      <dgm:prSet/>
      <dgm:spPr/>
      <dgm:t>
        <a:bodyPr/>
        <a:lstStyle/>
        <a:p>
          <a:endParaRPr lang="zh-CN" altLang="en-US"/>
        </a:p>
      </dgm:t>
    </dgm:pt>
    <dgm:pt modelId="{096C92D1-D232-4365-9EF8-408E540F7561}" type="sibTrans" cxnId="{BC60CE86-214B-4263-B72A-3154B9B94234}">
      <dgm:prSet/>
      <dgm:spPr/>
      <dgm:t>
        <a:bodyPr/>
        <a:lstStyle/>
        <a:p>
          <a:endParaRPr lang="zh-CN" altLang="en-US"/>
        </a:p>
      </dgm:t>
    </dgm:pt>
    <dgm:pt modelId="{44B57C55-2B17-4C87-A444-485482BB1579}">
      <dgm:prSet phldrT="[文本]"/>
      <dgm:spPr/>
      <dgm:t>
        <a:bodyPr/>
        <a:lstStyle/>
        <a:p>
          <a:r>
            <a:rPr lang="en-US" altLang="zh-CN" dirty="0"/>
            <a:t>Spring Planning</a:t>
          </a:r>
          <a:endParaRPr lang="zh-CN" altLang="en-US" dirty="0"/>
        </a:p>
      </dgm:t>
    </dgm:pt>
    <dgm:pt modelId="{F287AE56-46E9-4E3A-8FC6-3EB1D2BB58A3}" type="parTrans" cxnId="{062FB0AC-1D74-4DDE-841C-3D9B3F3991A3}">
      <dgm:prSet/>
      <dgm:spPr/>
      <dgm:t>
        <a:bodyPr/>
        <a:lstStyle/>
        <a:p>
          <a:endParaRPr lang="zh-CN" altLang="en-US"/>
        </a:p>
      </dgm:t>
    </dgm:pt>
    <dgm:pt modelId="{13DE7946-9FB2-49CB-9BF7-8401DBD6EDF4}" type="sibTrans" cxnId="{062FB0AC-1D74-4DDE-841C-3D9B3F3991A3}">
      <dgm:prSet/>
      <dgm:spPr/>
      <dgm:t>
        <a:bodyPr/>
        <a:lstStyle/>
        <a:p>
          <a:endParaRPr lang="zh-CN" altLang="en-US"/>
        </a:p>
      </dgm:t>
    </dgm:pt>
    <dgm:pt modelId="{A7F2DD4B-9069-431A-96B2-D35103A66940}">
      <dgm:prSet phldrT="[文本]"/>
      <dgm:spPr/>
      <dgm:t>
        <a:bodyPr/>
        <a:lstStyle/>
        <a:p>
          <a:r>
            <a:rPr lang="zh-CN" altLang="en-US" dirty="0"/>
            <a:t>规划</a:t>
          </a:r>
        </a:p>
      </dgm:t>
    </dgm:pt>
    <dgm:pt modelId="{9E6FADB4-0E10-48E4-A448-80AC9138B5F3}" type="parTrans" cxnId="{25C09A10-1142-4521-886A-B8416008464A}">
      <dgm:prSet/>
      <dgm:spPr/>
      <dgm:t>
        <a:bodyPr/>
        <a:lstStyle/>
        <a:p>
          <a:endParaRPr lang="zh-CN" altLang="en-US"/>
        </a:p>
      </dgm:t>
    </dgm:pt>
    <dgm:pt modelId="{6411CDAA-A48D-44F5-83F1-9229675A04EF}" type="sibTrans" cxnId="{25C09A10-1142-4521-886A-B8416008464A}">
      <dgm:prSet/>
      <dgm:spPr/>
      <dgm:t>
        <a:bodyPr/>
        <a:lstStyle/>
        <a:p>
          <a:endParaRPr lang="zh-CN" altLang="en-US"/>
        </a:p>
      </dgm:t>
    </dgm:pt>
    <dgm:pt modelId="{F7A46958-C503-4AAE-A847-4641297F8D89}">
      <dgm:prSet phldrT="[文本]"/>
      <dgm:spPr/>
      <dgm:t>
        <a:bodyPr/>
        <a:lstStyle/>
        <a:p>
          <a:r>
            <a:rPr lang="en-US" altLang="zh-CN" dirty="0"/>
            <a:t>Daily Scrum</a:t>
          </a:r>
          <a:endParaRPr lang="zh-CN" altLang="en-US" dirty="0"/>
        </a:p>
      </dgm:t>
    </dgm:pt>
    <dgm:pt modelId="{D8A7B5A7-A843-4F1C-979F-141322ADF43B}" type="parTrans" cxnId="{CF1FAF76-0A52-49AA-B793-BBB61493A4AC}">
      <dgm:prSet/>
      <dgm:spPr/>
      <dgm:t>
        <a:bodyPr/>
        <a:lstStyle/>
        <a:p>
          <a:endParaRPr lang="zh-CN" altLang="en-US"/>
        </a:p>
      </dgm:t>
    </dgm:pt>
    <dgm:pt modelId="{7A562CAC-600C-478B-BFD7-FD93B3815C03}" type="sibTrans" cxnId="{CF1FAF76-0A52-49AA-B793-BBB61493A4AC}">
      <dgm:prSet/>
      <dgm:spPr/>
      <dgm:t>
        <a:bodyPr/>
        <a:lstStyle/>
        <a:p>
          <a:endParaRPr lang="zh-CN" altLang="en-US"/>
        </a:p>
      </dgm:t>
    </dgm:pt>
    <dgm:pt modelId="{7BEB3467-3C35-4A0E-A004-15FC82181F10}">
      <dgm:prSet phldrT="[文本]"/>
      <dgm:spPr/>
      <dgm:t>
        <a:bodyPr/>
        <a:lstStyle/>
        <a:p>
          <a:r>
            <a:rPr lang="zh-CN" altLang="en-US" dirty="0"/>
            <a:t>每日站会</a:t>
          </a:r>
        </a:p>
      </dgm:t>
    </dgm:pt>
    <dgm:pt modelId="{05BA3D8D-35FF-4536-9334-4A8F8A93BA8F}" type="parTrans" cxnId="{0A6E8ED2-1FD6-4D46-886C-ED38DE32E94A}">
      <dgm:prSet/>
      <dgm:spPr/>
      <dgm:t>
        <a:bodyPr/>
        <a:lstStyle/>
        <a:p>
          <a:endParaRPr lang="zh-CN" altLang="en-US"/>
        </a:p>
      </dgm:t>
    </dgm:pt>
    <dgm:pt modelId="{D43588C1-6611-4485-9E73-E693916771F7}" type="sibTrans" cxnId="{0A6E8ED2-1FD6-4D46-886C-ED38DE32E94A}">
      <dgm:prSet/>
      <dgm:spPr/>
      <dgm:t>
        <a:bodyPr/>
        <a:lstStyle/>
        <a:p>
          <a:endParaRPr lang="zh-CN" altLang="en-US"/>
        </a:p>
      </dgm:t>
    </dgm:pt>
    <dgm:pt modelId="{2A0230E0-88F0-4F81-BAF8-58E270957BCA}">
      <dgm:prSet phldrT="[文本]"/>
      <dgm:spPr/>
      <dgm:t>
        <a:bodyPr/>
        <a:lstStyle/>
        <a:p>
          <a:r>
            <a:rPr lang="en-US" altLang="zh-CN" dirty="0"/>
            <a:t>Review</a:t>
          </a:r>
          <a:endParaRPr lang="zh-CN" altLang="en-US" dirty="0"/>
        </a:p>
      </dgm:t>
    </dgm:pt>
    <dgm:pt modelId="{F392463D-EF57-40EC-B67C-C427D234A650}" type="parTrans" cxnId="{22B89D49-9562-441A-A3C0-200200FF53F9}">
      <dgm:prSet/>
      <dgm:spPr/>
      <dgm:t>
        <a:bodyPr/>
        <a:lstStyle/>
        <a:p>
          <a:endParaRPr lang="zh-CN" altLang="en-US"/>
        </a:p>
      </dgm:t>
    </dgm:pt>
    <dgm:pt modelId="{1230CFE9-5BEE-4C51-993B-44F31F0578A1}" type="sibTrans" cxnId="{22B89D49-9562-441A-A3C0-200200FF53F9}">
      <dgm:prSet/>
      <dgm:spPr/>
      <dgm:t>
        <a:bodyPr/>
        <a:lstStyle/>
        <a:p>
          <a:endParaRPr lang="zh-CN" altLang="en-US"/>
        </a:p>
      </dgm:t>
    </dgm:pt>
    <dgm:pt modelId="{8E71BD4B-776B-47D4-AA46-165AA34C906F}">
      <dgm:prSet phldrT="[文本]"/>
      <dgm:spPr/>
      <dgm:t>
        <a:bodyPr/>
        <a:lstStyle/>
        <a:p>
          <a:r>
            <a:rPr lang="zh-CN" altLang="en-US" dirty="0"/>
            <a:t>回顾</a:t>
          </a:r>
        </a:p>
      </dgm:t>
    </dgm:pt>
    <dgm:pt modelId="{C925A356-4720-4E67-B167-949855C276AA}" type="parTrans" cxnId="{DC7B6575-D619-40D3-A5CF-88DD0C7AFCE6}">
      <dgm:prSet/>
      <dgm:spPr/>
      <dgm:t>
        <a:bodyPr/>
        <a:lstStyle/>
        <a:p>
          <a:endParaRPr lang="zh-CN" altLang="en-US"/>
        </a:p>
      </dgm:t>
    </dgm:pt>
    <dgm:pt modelId="{2314D5BD-917B-47AB-9FDE-9F9C4C6931B5}" type="sibTrans" cxnId="{DC7B6575-D619-40D3-A5CF-88DD0C7AFCE6}">
      <dgm:prSet/>
      <dgm:spPr/>
      <dgm:t>
        <a:bodyPr/>
        <a:lstStyle/>
        <a:p>
          <a:endParaRPr lang="zh-CN" altLang="en-US"/>
        </a:p>
      </dgm:t>
    </dgm:pt>
    <dgm:pt modelId="{39015ED6-41D0-4554-9CAD-7105BDB878C4}">
      <dgm:prSet phldrT="[文本]"/>
      <dgm:spPr/>
      <dgm:t>
        <a:bodyPr/>
        <a:lstStyle/>
        <a:p>
          <a:r>
            <a:rPr lang="en-US" altLang="zh-CN" dirty="0"/>
            <a:t>Retrospective</a:t>
          </a:r>
          <a:endParaRPr lang="zh-CN" altLang="en-US" dirty="0"/>
        </a:p>
      </dgm:t>
    </dgm:pt>
    <dgm:pt modelId="{6DCD1CAC-583A-4100-9B98-DB6842F3CDB7}" type="parTrans" cxnId="{AE292B29-323D-49C7-99AD-047EF273DC3B}">
      <dgm:prSet/>
      <dgm:spPr/>
      <dgm:t>
        <a:bodyPr/>
        <a:lstStyle/>
        <a:p>
          <a:endParaRPr lang="zh-CN" altLang="en-US"/>
        </a:p>
      </dgm:t>
    </dgm:pt>
    <dgm:pt modelId="{5F328325-9871-47CB-977A-F457C8CDB2CA}" type="sibTrans" cxnId="{AE292B29-323D-49C7-99AD-047EF273DC3B}">
      <dgm:prSet/>
      <dgm:spPr/>
      <dgm:t>
        <a:bodyPr/>
        <a:lstStyle/>
        <a:p>
          <a:endParaRPr lang="zh-CN" altLang="en-US"/>
        </a:p>
      </dgm:t>
    </dgm:pt>
    <dgm:pt modelId="{456063A0-C6C6-447E-84DB-3526F269FD58}">
      <dgm:prSet phldrT="[文本]"/>
      <dgm:spPr/>
      <dgm:t>
        <a:bodyPr/>
        <a:lstStyle/>
        <a:p>
          <a:r>
            <a:rPr lang="zh-CN" altLang="en-US" dirty="0"/>
            <a:t>评审</a:t>
          </a:r>
        </a:p>
      </dgm:t>
    </dgm:pt>
    <dgm:pt modelId="{49298535-35D2-4D69-AA6D-45D615C7DADB}" type="parTrans" cxnId="{5BA08229-F1AD-4AF5-A3FA-A8269B63959C}">
      <dgm:prSet/>
      <dgm:spPr/>
      <dgm:t>
        <a:bodyPr/>
        <a:lstStyle/>
        <a:p>
          <a:endParaRPr lang="zh-CN" altLang="en-US"/>
        </a:p>
      </dgm:t>
    </dgm:pt>
    <dgm:pt modelId="{9EC5BF2E-09EC-4648-B356-2173EF72710F}" type="sibTrans" cxnId="{5BA08229-F1AD-4AF5-A3FA-A8269B63959C}">
      <dgm:prSet/>
      <dgm:spPr/>
      <dgm:t>
        <a:bodyPr/>
        <a:lstStyle/>
        <a:p>
          <a:endParaRPr lang="zh-CN" altLang="en-US"/>
        </a:p>
      </dgm:t>
    </dgm:pt>
    <dgm:pt modelId="{7E98DD0F-2D96-4F62-B946-5235C76F447F}" type="pres">
      <dgm:prSet presAssocID="{2A8570DF-D6EB-4605-92EC-111A78DD04C8}" presName="Name0" presStyleCnt="0">
        <dgm:presLayoutVars>
          <dgm:chMax val="5"/>
          <dgm:chPref val="5"/>
          <dgm:dir/>
          <dgm:animLvl val="lvl"/>
        </dgm:presLayoutVars>
      </dgm:prSet>
      <dgm:spPr/>
    </dgm:pt>
    <dgm:pt modelId="{094F4DF1-37BB-4ECD-9418-D07081488686}" type="pres">
      <dgm:prSet presAssocID="{27174115-FD95-4E62-B33A-C2D8FA744ED4}" presName="parentText1" presStyleLbl="node1" presStyleIdx="0" presStyleCnt="5">
        <dgm:presLayoutVars>
          <dgm:chMax/>
          <dgm:chPref val="3"/>
          <dgm:bulletEnabled val="1"/>
        </dgm:presLayoutVars>
      </dgm:prSet>
      <dgm:spPr/>
    </dgm:pt>
    <dgm:pt modelId="{E86EC7DA-1671-4DAB-B8CD-684A0A10D28B}" type="pres">
      <dgm:prSet presAssocID="{27174115-FD95-4E62-B33A-C2D8FA744ED4}" presName="childText1" presStyleLbl="solidAlignAcc1" presStyleIdx="0" presStyleCnt="5">
        <dgm:presLayoutVars>
          <dgm:chMax val="0"/>
          <dgm:chPref val="0"/>
          <dgm:bulletEnabled val="1"/>
        </dgm:presLayoutVars>
      </dgm:prSet>
      <dgm:spPr/>
    </dgm:pt>
    <dgm:pt modelId="{3377E146-BBE8-4251-922A-3A142A5DB22A}" type="pres">
      <dgm:prSet presAssocID="{44B57C55-2B17-4C87-A444-485482BB1579}" presName="parentText2" presStyleLbl="node1" presStyleIdx="1" presStyleCnt="5">
        <dgm:presLayoutVars>
          <dgm:chMax/>
          <dgm:chPref val="3"/>
          <dgm:bulletEnabled val="1"/>
        </dgm:presLayoutVars>
      </dgm:prSet>
      <dgm:spPr/>
    </dgm:pt>
    <dgm:pt modelId="{3F0F4678-4480-4F65-812F-7188E8E3BA27}" type="pres">
      <dgm:prSet presAssocID="{44B57C55-2B17-4C87-A444-485482BB1579}" presName="childText2" presStyleLbl="solidAlignAcc1" presStyleIdx="1" presStyleCnt="5">
        <dgm:presLayoutVars>
          <dgm:chMax val="0"/>
          <dgm:chPref val="0"/>
          <dgm:bulletEnabled val="1"/>
        </dgm:presLayoutVars>
      </dgm:prSet>
      <dgm:spPr/>
    </dgm:pt>
    <dgm:pt modelId="{962DE86B-57FB-4E57-B9E2-1CDD9869201D}" type="pres">
      <dgm:prSet presAssocID="{F7A46958-C503-4AAE-A847-4641297F8D89}" presName="parentText3" presStyleLbl="node1" presStyleIdx="2" presStyleCnt="5">
        <dgm:presLayoutVars>
          <dgm:chMax/>
          <dgm:chPref val="3"/>
          <dgm:bulletEnabled val="1"/>
        </dgm:presLayoutVars>
      </dgm:prSet>
      <dgm:spPr/>
    </dgm:pt>
    <dgm:pt modelId="{A2FE8EDA-D970-4B0B-BEE7-3C260734EB3F}" type="pres">
      <dgm:prSet presAssocID="{F7A46958-C503-4AAE-A847-4641297F8D89}" presName="childText3" presStyleLbl="solidAlignAcc1" presStyleIdx="2" presStyleCnt="5">
        <dgm:presLayoutVars>
          <dgm:chMax val="0"/>
          <dgm:chPref val="0"/>
          <dgm:bulletEnabled val="1"/>
        </dgm:presLayoutVars>
      </dgm:prSet>
      <dgm:spPr/>
    </dgm:pt>
    <dgm:pt modelId="{C0E91409-81B0-4028-907D-5327B5143ADB}" type="pres">
      <dgm:prSet presAssocID="{2A0230E0-88F0-4F81-BAF8-58E270957BCA}" presName="parentText4" presStyleLbl="node1" presStyleIdx="3" presStyleCnt="5">
        <dgm:presLayoutVars>
          <dgm:chMax/>
          <dgm:chPref val="3"/>
          <dgm:bulletEnabled val="1"/>
        </dgm:presLayoutVars>
      </dgm:prSet>
      <dgm:spPr/>
    </dgm:pt>
    <dgm:pt modelId="{2B2584B2-DDE4-43C5-AC13-F191D54BFA19}" type="pres">
      <dgm:prSet presAssocID="{2A0230E0-88F0-4F81-BAF8-58E270957BCA}" presName="childText4" presStyleLbl="solidAlignAcc1" presStyleIdx="3" presStyleCnt="5">
        <dgm:presLayoutVars>
          <dgm:chMax val="0"/>
          <dgm:chPref val="0"/>
          <dgm:bulletEnabled val="1"/>
        </dgm:presLayoutVars>
      </dgm:prSet>
      <dgm:spPr/>
    </dgm:pt>
    <dgm:pt modelId="{C2F78D87-5BAB-4238-BA32-642972FEF7AA}" type="pres">
      <dgm:prSet presAssocID="{39015ED6-41D0-4554-9CAD-7105BDB878C4}" presName="parentText5" presStyleLbl="node1" presStyleIdx="4" presStyleCnt="5">
        <dgm:presLayoutVars>
          <dgm:chMax/>
          <dgm:chPref val="3"/>
          <dgm:bulletEnabled val="1"/>
        </dgm:presLayoutVars>
      </dgm:prSet>
      <dgm:spPr/>
    </dgm:pt>
    <dgm:pt modelId="{5E52CB30-E02C-40CD-B263-64B93A59E37F}" type="pres">
      <dgm:prSet presAssocID="{39015ED6-41D0-4554-9CAD-7105BDB878C4}" presName="childText5" presStyleLbl="solidAlignAcc1" presStyleIdx="4" presStyleCnt="5">
        <dgm:presLayoutVars>
          <dgm:chMax val="0"/>
          <dgm:chPref val="0"/>
          <dgm:bulletEnabled val="1"/>
        </dgm:presLayoutVars>
      </dgm:prSet>
      <dgm:spPr/>
    </dgm:pt>
  </dgm:ptLst>
  <dgm:cxnLst>
    <dgm:cxn modelId="{A66BED05-8A46-43B2-8A0D-338A0EC4C718}" type="presOf" srcId="{F7A46958-C503-4AAE-A847-4641297F8D89}" destId="{962DE86B-57FB-4E57-B9E2-1CDD9869201D}" srcOrd="0" destOrd="0" presId="urn:microsoft.com/office/officeart/2009/3/layout/IncreasingArrowsProcess"/>
    <dgm:cxn modelId="{25C09A10-1142-4521-886A-B8416008464A}" srcId="{44B57C55-2B17-4C87-A444-485482BB1579}" destId="{A7F2DD4B-9069-431A-96B2-D35103A66940}" srcOrd="0" destOrd="0" parTransId="{9E6FADB4-0E10-48E4-A448-80AC9138B5F3}" sibTransId="{6411CDAA-A48D-44F5-83F1-9229675A04EF}"/>
    <dgm:cxn modelId="{A32E7711-D049-4311-918A-483A71EC6FFC}" type="presOf" srcId="{A7F2DD4B-9069-431A-96B2-D35103A66940}" destId="{3F0F4678-4480-4F65-812F-7188E8E3BA27}" srcOrd="0" destOrd="0" presId="urn:microsoft.com/office/officeart/2009/3/layout/IncreasingArrowsProcess"/>
    <dgm:cxn modelId="{550B8113-A838-4639-A3FB-B533024EDA3F}" type="presOf" srcId="{2A8570DF-D6EB-4605-92EC-111A78DD04C8}" destId="{7E98DD0F-2D96-4F62-B946-5235C76F447F}" srcOrd="0" destOrd="0" presId="urn:microsoft.com/office/officeart/2009/3/layout/IncreasingArrowsProcess"/>
    <dgm:cxn modelId="{60852A27-AC1B-4706-A529-244E8DF4F374}" type="presOf" srcId="{456063A0-C6C6-447E-84DB-3526F269FD58}" destId="{2B2584B2-DDE4-43C5-AC13-F191D54BFA19}" srcOrd="0" destOrd="0" presId="urn:microsoft.com/office/officeart/2009/3/layout/IncreasingArrowsProcess"/>
    <dgm:cxn modelId="{E0530229-B731-4F27-A3D4-98B8289B7B7C}" type="presOf" srcId="{54A42531-F6CF-4017-96EB-95C8615A3294}" destId="{E86EC7DA-1671-4DAB-B8CD-684A0A10D28B}" srcOrd="0" destOrd="0" presId="urn:microsoft.com/office/officeart/2009/3/layout/IncreasingArrowsProcess"/>
    <dgm:cxn modelId="{AE292B29-323D-49C7-99AD-047EF273DC3B}" srcId="{2A8570DF-D6EB-4605-92EC-111A78DD04C8}" destId="{39015ED6-41D0-4554-9CAD-7105BDB878C4}" srcOrd="4" destOrd="0" parTransId="{6DCD1CAC-583A-4100-9B98-DB6842F3CDB7}" sibTransId="{5F328325-9871-47CB-977A-F457C8CDB2CA}"/>
    <dgm:cxn modelId="{5BA08229-F1AD-4AF5-A3FA-A8269B63959C}" srcId="{2A0230E0-88F0-4F81-BAF8-58E270957BCA}" destId="{456063A0-C6C6-447E-84DB-3526F269FD58}" srcOrd="0" destOrd="0" parTransId="{49298535-35D2-4D69-AA6D-45D615C7DADB}" sibTransId="{9EC5BF2E-09EC-4648-B356-2173EF72710F}"/>
    <dgm:cxn modelId="{B4D02142-953A-49C0-B1E4-09C9369F6EF3}" type="presOf" srcId="{8E71BD4B-776B-47D4-AA46-165AA34C906F}" destId="{5E52CB30-E02C-40CD-B263-64B93A59E37F}" srcOrd="0" destOrd="0" presId="urn:microsoft.com/office/officeart/2009/3/layout/IncreasingArrowsProcess"/>
    <dgm:cxn modelId="{22B89D49-9562-441A-A3C0-200200FF53F9}" srcId="{2A8570DF-D6EB-4605-92EC-111A78DD04C8}" destId="{2A0230E0-88F0-4F81-BAF8-58E270957BCA}" srcOrd="3" destOrd="0" parTransId="{F392463D-EF57-40EC-B67C-C427D234A650}" sibTransId="{1230CFE9-5BEE-4C51-993B-44F31F0578A1}"/>
    <dgm:cxn modelId="{DC7B6575-D619-40D3-A5CF-88DD0C7AFCE6}" srcId="{39015ED6-41D0-4554-9CAD-7105BDB878C4}" destId="{8E71BD4B-776B-47D4-AA46-165AA34C906F}" srcOrd="0" destOrd="0" parTransId="{C925A356-4720-4E67-B167-949855C276AA}" sibTransId="{2314D5BD-917B-47AB-9FDE-9F9C4C6931B5}"/>
    <dgm:cxn modelId="{CF1FAF76-0A52-49AA-B793-BBB61493A4AC}" srcId="{2A8570DF-D6EB-4605-92EC-111A78DD04C8}" destId="{F7A46958-C503-4AAE-A847-4641297F8D89}" srcOrd="2" destOrd="0" parTransId="{D8A7B5A7-A843-4F1C-979F-141322ADF43B}" sibTransId="{7A562CAC-600C-478B-BFD7-FD93B3815C03}"/>
    <dgm:cxn modelId="{42F8BC58-3FE0-410C-A9C8-F5AA09461B07}" type="presOf" srcId="{27174115-FD95-4E62-B33A-C2D8FA744ED4}" destId="{094F4DF1-37BB-4ECD-9418-D07081488686}" srcOrd="0" destOrd="0" presId="urn:microsoft.com/office/officeart/2009/3/layout/IncreasingArrowsProcess"/>
    <dgm:cxn modelId="{25C27684-A316-41AC-A75C-48D86CFF029B}" type="presOf" srcId="{2A0230E0-88F0-4F81-BAF8-58E270957BCA}" destId="{C0E91409-81B0-4028-907D-5327B5143ADB}" srcOrd="0" destOrd="0" presId="urn:microsoft.com/office/officeart/2009/3/layout/IncreasingArrowsProcess"/>
    <dgm:cxn modelId="{BC60CE86-214B-4263-B72A-3154B9B94234}" srcId="{27174115-FD95-4E62-B33A-C2D8FA744ED4}" destId="{54A42531-F6CF-4017-96EB-95C8615A3294}" srcOrd="0" destOrd="0" parTransId="{925C0D60-EDFF-4DAA-8C9A-450B1DE40C85}" sibTransId="{096C92D1-D232-4365-9EF8-408E540F7561}"/>
    <dgm:cxn modelId="{ACF9B48E-162D-4BC9-AF57-38300A3F6243}" srcId="{2A8570DF-D6EB-4605-92EC-111A78DD04C8}" destId="{27174115-FD95-4E62-B33A-C2D8FA744ED4}" srcOrd="0" destOrd="0" parTransId="{0272BAA0-E293-418B-8CB7-BCBF7D92DA3B}" sibTransId="{5BFB1068-2037-493F-A484-A25F7039D8BA}"/>
    <dgm:cxn modelId="{05FA468F-6FC3-44D1-B820-A2B22E3BD8DF}" type="presOf" srcId="{39015ED6-41D0-4554-9CAD-7105BDB878C4}" destId="{C2F78D87-5BAB-4238-BA32-642972FEF7AA}" srcOrd="0" destOrd="0" presId="urn:microsoft.com/office/officeart/2009/3/layout/IncreasingArrowsProcess"/>
    <dgm:cxn modelId="{3E34AA92-BB1E-4B6A-B2F3-5D134A67B9E8}" type="presOf" srcId="{44B57C55-2B17-4C87-A444-485482BB1579}" destId="{3377E146-BBE8-4251-922A-3A142A5DB22A}" srcOrd="0" destOrd="0" presId="urn:microsoft.com/office/officeart/2009/3/layout/IncreasingArrowsProcess"/>
    <dgm:cxn modelId="{6C82C39C-88EE-448F-A4C0-36F6F9A23AC9}" type="presOf" srcId="{7BEB3467-3C35-4A0E-A004-15FC82181F10}" destId="{A2FE8EDA-D970-4B0B-BEE7-3C260734EB3F}" srcOrd="0" destOrd="0" presId="urn:microsoft.com/office/officeart/2009/3/layout/IncreasingArrowsProcess"/>
    <dgm:cxn modelId="{062FB0AC-1D74-4DDE-841C-3D9B3F3991A3}" srcId="{2A8570DF-D6EB-4605-92EC-111A78DD04C8}" destId="{44B57C55-2B17-4C87-A444-485482BB1579}" srcOrd="1" destOrd="0" parTransId="{F287AE56-46E9-4E3A-8FC6-3EB1D2BB58A3}" sibTransId="{13DE7946-9FB2-49CB-9BF7-8401DBD6EDF4}"/>
    <dgm:cxn modelId="{0A6E8ED2-1FD6-4D46-886C-ED38DE32E94A}" srcId="{F7A46958-C503-4AAE-A847-4641297F8D89}" destId="{7BEB3467-3C35-4A0E-A004-15FC82181F10}" srcOrd="0" destOrd="0" parTransId="{05BA3D8D-35FF-4536-9334-4A8F8A93BA8F}" sibTransId="{D43588C1-6611-4485-9E73-E693916771F7}"/>
    <dgm:cxn modelId="{A955FB5D-190D-464D-AAC4-85485535903A}" type="presParOf" srcId="{7E98DD0F-2D96-4F62-B946-5235C76F447F}" destId="{094F4DF1-37BB-4ECD-9418-D07081488686}" srcOrd="0" destOrd="0" presId="urn:microsoft.com/office/officeart/2009/3/layout/IncreasingArrowsProcess"/>
    <dgm:cxn modelId="{EB8AAE4C-EB0B-49A6-AC2C-838B300104AF}" type="presParOf" srcId="{7E98DD0F-2D96-4F62-B946-5235C76F447F}" destId="{E86EC7DA-1671-4DAB-B8CD-684A0A10D28B}" srcOrd="1" destOrd="0" presId="urn:microsoft.com/office/officeart/2009/3/layout/IncreasingArrowsProcess"/>
    <dgm:cxn modelId="{2B4D0CD2-FAB0-4749-A215-6B28E53632D0}" type="presParOf" srcId="{7E98DD0F-2D96-4F62-B946-5235C76F447F}" destId="{3377E146-BBE8-4251-922A-3A142A5DB22A}" srcOrd="2" destOrd="0" presId="urn:microsoft.com/office/officeart/2009/3/layout/IncreasingArrowsProcess"/>
    <dgm:cxn modelId="{11F85046-68CC-477F-839F-D0B59DD95964}" type="presParOf" srcId="{7E98DD0F-2D96-4F62-B946-5235C76F447F}" destId="{3F0F4678-4480-4F65-812F-7188E8E3BA27}" srcOrd="3" destOrd="0" presId="urn:microsoft.com/office/officeart/2009/3/layout/IncreasingArrowsProcess"/>
    <dgm:cxn modelId="{8F9C801A-2F3B-4A9F-96E7-18C7FC53A204}" type="presParOf" srcId="{7E98DD0F-2D96-4F62-B946-5235C76F447F}" destId="{962DE86B-57FB-4E57-B9E2-1CDD9869201D}" srcOrd="4" destOrd="0" presId="urn:microsoft.com/office/officeart/2009/3/layout/IncreasingArrowsProcess"/>
    <dgm:cxn modelId="{7CBD9D99-89D7-4ACF-B05F-8F15C9A3EF59}" type="presParOf" srcId="{7E98DD0F-2D96-4F62-B946-5235C76F447F}" destId="{A2FE8EDA-D970-4B0B-BEE7-3C260734EB3F}" srcOrd="5" destOrd="0" presId="urn:microsoft.com/office/officeart/2009/3/layout/IncreasingArrowsProcess"/>
    <dgm:cxn modelId="{072321A2-A90F-4764-AE18-EC5485AFDFB7}" type="presParOf" srcId="{7E98DD0F-2D96-4F62-B946-5235C76F447F}" destId="{C0E91409-81B0-4028-907D-5327B5143ADB}" srcOrd="6" destOrd="0" presId="urn:microsoft.com/office/officeart/2009/3/layout/IncreasingArrowsProcess"/>
    <dgm:cxn modelId="{D0F7A523-68E5-4C2A-8FA7-CB55714F95FC}" type="presParOf" srcId="{7E98DD0F-2D96-4F62-B946-5235C76F447F}" destId="{2B2584B2-DDE4-43C5-AC13-F191D54BFA19}" srcOrd="7" destOrd="0" presId="urn:microsoft.com/office/officeart/2009/3/layout/IncreasingArrowsProcess"/>
    <dgm:cxn modelId="{71EC015C-B832-4515-ADA0-31294DD52490}" type="presParOf" srcId="{7E98DD0F-2D96-4F62-B946-5235C76F447F}" destId="{C2F78D87-5BAB-4238-BA32-642972FEF7AA}" srcOrd="8" destOrd="0" presId="urn:microsoft.com/office/officeart/2009/3/layout/IncreasingArrowsProcess"/>
    <dgm:cxn modelId="{80FF57AF-6FCD-4D97-9366-B300556969B6}" type="presParOf" srcId="{7E98DD0F-2D96-4F62-B946-5235C76F447F}" destId="{5E52CB30-E02C-40CD-B263-64B93A59E37F}" srcOrd="9" destOrd="0" presId="urn:microsoft.com/office/officeart/2009/3/layout/IncreasingArrows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64630D51-AF33-446F-BBFA-44FD96D55F14}" type="doc">
      <dgm:prSet loTypeId="urn:microsoft.com/office/officeart/2005/8/layout/list1" loCatId="list" qsTypeId="urn:microsoft.com/office/officeart/2005/8/quickstyle/simple1" qsCatId="simple" csTypeId="urn:microsoft.com/office/officeart/2005/8/colors/colorful5" csCatId="colorful" phldr="1"/>
      <dgm:spPr/>
      <dgm:t>
        <a:bodyPr/>
        <a:lstStyle/>
        <a:p>
          <a:endParaRPr lang="zh-CN" altLang="en-US"/>
        </a:p>
      </dgm:t>
    </dgm:pt>
    <dgm:pt modelId="{95ED1A9E-E38D-42B2-9D0A-5BE954589F12}">
      <dgm:prSet phldrT="[文本]"/>
      <dgm:spPr/>
      <dgm:t>
        <a:bodyPr/>
        <a:lstStyle/>
        <a:p>
          <a:r>
            <a:rPr lang="en-US" altLang="zh-CN" dirty="0"/>
            <a:t>Product Backlog </a:t>
          </a:r>
          <a:r>
            <a:rPr lang="zh-CN" altLang="en-US" dirty="0"/>
            <a:t>产品待办事项 </a:t>
          </a:r>
        </a:p>
      </dgm:t>
    </dgm:pt>
    <dgm:pt modelId="{35B26F15-481E-4980-8B11-9EE0F478DD59}" type="parTrans" cxnId="{D79B505B-9D89-4968-8277-F0D430410105}">
      <dgm:prSet/>
      <dgm:spPr/>
      <dgm:t>
        <a:bodyPr/>
        <a:lstStyle/>
        <a:p>
          <a:endParaRPr lang="zh-CN" altLang="en-US"/>
        </a:p>
      </dgm:t>
    </dgm:pt>
    <dgm:pt modelId="{A94150D4-C492-46EB-B1AC-9F736396AA0D}" type="sibTrans" cxnId="{D79B505B-9D89-4968-8277-F0D430410105}">
      <dgm:prSet/>
      <dgm:spPr/>
      <dgm:t>
        <a:bodyPr/>
        <a:lstStyle/>
        <a:p>
          <a:endParaRPr lang="zh-CN" altLang="en-US"/>
        </a:p>
      </dgm:t>
    </dgm:pt>
    <dgm:pt modelId="{CFB0D99E-28ED-4902-8D61-7ACF91349FF3}">
      <dgm:prSet phldrT="[文本]"/>
      <dgm:spPr/>
      <dgm:t>
        <a:bodyPr/>
        <a:lstStyle/>
        <a:p>
          <a:r>
            <a:rPr lang="en-US" altLang="zh-CN" dirty="0"/>
            <a:t>Sprint Backlog </a:t>
          </a:r>
          <a:r>
            <a:rPr lang="zh-CN" altLang="en-US" dirty="0"/>
            <a:t>冲刺待办事项</a:t>
          </a:r>
        </a:p>
      </dgm:t>
    </dgm:pt>
    <dgm:pt modelId="{99722672-1784-4400-81B7-D0DF21E97805}" type="parTrans" cxnId="{E1AF4824-10A9-4F9E-8664-538DE83A0D90}">
      <dgm:prSet/>
      <dgm:spPr/>
      <dgm:t>
        <a:bodyPr/>
        <a:lstStyle/>
        <a:p>
          <a:endParaRPr lang="zh-CN" altLang="en-US"/>
        </a:p>
      </dgm:t>
    </dgm:pt>
    <dgm:pt modelId="{F3F17E05-AEAE-4D48-8949-759579CCD152}" type="sibTrans" cxnId="{E1AF4824-10A9-4F9E-8664-538DE83A0D90}">
      <dgm:prSet/>
      <dgm:spPr/>
      <dgm:t>
        <a:bodyPr/>
        <a:lstStyle/>
        <a:p>
          <a:endParaRPr lang="zh-CN" altLang="en-US"/>
        </a:p>
      </dgm:t>
    </dgm:pt>
    <dgm:pt modelId="{0BE932A6-6974-4FF5-9D55-B28BE60115AD}">
      <dgm:prSet phldrT="[文本]"/>
      <dgm:spPr/>
      <dgm:t>
        <a:bodyPr/>
        <a:lstStyle/>
        <a:p>
          <a:r>
            <a:rPr lang="en-US" altLang="zh-CN" dirty="0"/>
            <a:t>Increment </a:t>
          </a:r>
          <a:r>
            <a:rPr lang="zh-CN" altLang="en-US" dirty="0"/>
            <a:t>增量</a:t>
          </a:r>
        </a:p>
      </dgm:t>
    </dgm:pt>
    <dgm:pt modelId="{17D82F36-9F94-4776-98C5-AE3B3F0F3E6C}" type="parTrans" cxnId="{A392CC0F-611C-4D9E-BCC9-4711500668CE}">
      <dgm:prSet/>
      <dgm:spPr/>
      <dgm:t>
        <a:bodyPr/>
        <a:lstStyle/>
        <a:p>
          <a:endParaRPr lang="zh-CN" altLang="en-US"/>
        </a:p>
      </dgm:t>
    </dgm:pt>
    <dgm:pt modelId="{AB964673-9E14-4EF3-BC35-34F63573595B}" type="sibTrans" cxnId="{A392CC0F-611C-4D9E-BCC9-4711500668CE}">
      <dgm:prSet/>
      <dgm:spPr/>
      <dgm:t>
        <a:bodyPr/>
        <a:lstStyle/>
        <a:p>
          <a:endParaRPr lang="zh-CN" altLang="en-US"/>
        </a:p>
      </dgm:t>
    </dgm:pt>
    <dgm:pt modelId="{BF7DEF04-E53A-4D1E-B708-6263A9D0922B}" type="pres">
      <dgm:prSet presAssocID="{64630D51-AF33-446F-BBFA-44FD96D55F14}" presName="linear" presStyleCnt="0">
        <dgm:presLayoutVars>
          <dgm:dir/>
          <dgm:animLvl val="lvl"/>
          <dgm:resizeHandles val="exact"/>
        </dgm:presLayoutVars>
      </dgm:prSet>
      <dgm:spPr/>
    </dgm:pt>
    <dgm:pt modelId="{133C7E76-CA13-46C5-BA9B-7ABE7C2B1D04}" type="pres">
      <dgm:prSet presAssocID="{95ED1A9E-E38D-42B2-9D0A-5BE954589F12}" presName="parentLin" presStyleCnt="0"/>
      <dgm:spPr/>
    </dgm:pt>
    <dgm:pt modelId="{158E9AAA-CAE5-4792-A1B4-83A90D5C332B}" type="pres">
      <dgm:prSet presAssocID="{95ED1A9E-E38D-42B2-9D0A-5BE954589F12}" presName="parentLeftMargin" presStyleLbl="node1" presStyleIdx="0" presStyleCnt="3"/>
      <dgm:spPr/>
    </dgm:pt>
    <dgm:pt modelId="{DD02235A-25BF-4B29-9162-A7F92081A1E0}" type="pres">
      <dgm:prSet presAssocID="{95ED1A9E-E38D-42B2-9D0A-5BE954589F12}" presName="parentText" presStyleLbl="node1" presStyleIdx="0" presStyleCnt="3">
        <dgm:presLayoutVars>
          <dgm:chMax val="0"/>
          <dgm:bulletEnabled val="1"/>
        </dgm:presLayoutVars>
      </dgm:prSet>
      <dgm:spPr/>
    </dgm:pt>
    <dgm:pt modelId="{72CCA6E7-20A2-40F6-A12E-792EF63775BB}" type="pres">
      <dgm:prSet presAssocID="{95ED1A9E-E38D-42B2-9D0A-5BE954589F12}" presName="negativeSpace" presStyleCnt="0"/>
      <dgm:spPr/>
    </dgm:pt>
    <dgm:pt modelId="{1DA210CE-E0B8-452A-AD79-866B094362ED}" type="pres">
      <dgm:prSet presAssocID="{95ED1A9E-E38D-42B2-9D0A-5BE954589F12}" presName="childText" presStyleLbl="conFgAcc1" presStyleIdx="0" presStyleCnt="3">
        <dgm:presLayoutVars>
          <dgm:bulletEnabled val="1"/>
        </dgm:presLayoutVars>
      </dgm:prSet>
      <dgm:spPr/>
    </dgm:pt>
    <dgm:pt modelId="{A89CF975-5116-4783-8481-4F237334A9D5}" type="pres">
      <dgm:prSet presAssocID="{A94150D4-C492-46EB-B1AC-9F736396AA0D}" presName="spaceBetweenRectangles" presStyleCnt="0"/>
      <dgm:spPr/>
    </dgm:pt>
    <dgm:pt modelId="{D1ABF7A7-8BA0-42E8-AC70-1C622A0A9CA8}" type="pres">
      <dgm:prSet presAssocID="{CFB0D99E-28ED-4902-8D61-7ACF91349FF3}" presName="parentLin" presStyleCnt="0"/>
      <dgm:spPr/>
    </dgm:pt>
    <dgm:pt modelId="{5381098F-BFAA-4B00-8A31-9A99AF189B1A}" type="pres">
      <dgm:prSet presAssocID="{CFB0D99E-28ED-4902-8D61-7ACF91349FF3}" presName="parentLeftMargin" presStyleLbl="node1" presStyleIdx="0" presStyleCnt="3"/>
      <dgm:spPr/>
    </dgm:pt>
    <dgm:pt modelId="{FD40A4DF-7C4E-41CE-A7B9-B01921CDC790}" type="pres">
      <dgm:prSet presAssocID="{CFB0D99E-28ED-4902-8D61-7ACF91349FF3}" presName="parentText" presStyleLbl="node1" presStyleIdx="1" presStyleCnt="3">
        <dgm:presLayoutVars>
          <dgm:chMax val="0"/>
          <dgm:bulletEnabled val="1"/>
        </dgm:presLayoutVars>
      </dgm:prSet>
      <dgm:spPr/>
    </dgm:pt>
    <dgm:pt modelId="{ED6ED8EE-B2DC-49A8-9696-985A956FCB62}" type="pres">
      <dgm:prSet presAssocID="{CFB0D99E-28ED-4902-8D61-7ACF91349FF3}" presName="negativeSpace" presStyleCnt="0"/>
      <dgm:spPr/>
    </dgm:pt>
    <dgm:pt modelId="{F7F664A6-DE14-4ED8-B93A-D4F9738CC253}" type="pres">
      <dgm:prSet presAssocID="{CFB0D99E-28ED-4902-8D61-7ACF91349FF3}" presName="childText" presStyleLbl="conFgAcc1" presStyleIdx="1" presStyleCnt="3">
        <dgm:presLayoutVars>
          <dgm:bulletEnabled val="1"/>
        </dgm:presLayoutVars>
      </dgm:prSet>
      <dgm:spPr/>
    </dgm:pt>
    <dgm:pt modelId="{38047EAB-5916-4A4C-813C-B59708DC6726}" type="pres">
      <dgm:prSet presAssocID="{F3F17E05-AEAE-4D48-8949-759579CCD152}" presName="spaceBetweenRectangles" presStyleCnt="0"/>
      <dgm:spPr/>
    </dgm:pt>
    <dgm:pt modelId="{2F719F66-0E83-44FA-B32C-C022CB3BDAA5}" type="pres">
      <dgm:prSet presAssocID="{0BE932A6-6974-4FF5-9D55-B28BE60115AD}" presName="parentLin" presStyleCnt="0"/>
      <dgm:spPr/>
    </dgm:pt>
    <dgm:pt modelId="{0EB91F7C-FC75-4C8F-9F36-3E93C8F0ED6B}" type="pres">
      <dgm:prSet presAssocID="{0BE932A6-6974-4FF5-9D55-B28BE60115AD}" presName="parentLeftMargin" presStyleLbl="node1" presStyleIdx="1" presStyleCnt="3"/>
      <dgm:spPr/>
    </dgm:pt>
    <dgm:pt modelId="{0CC10CEA-1E00-49BD-A38F-CC6B008709AD}" type="pres">
      <dgm:prSet presAssocID="{0BE932A6-6974-4FF5-9D55-B28BE60115AD}" presName="parentText" presStyleLbl="node1" presStyleIdx="2" presStyleCnt="3">
        <dgm:presLayoutVars>
          <dgm:chMax val="0"/>
          <dgm:bulletEnabled val="1"/>
        </dgm:presLayoutVars>
      </dgm:prSet>
      <dgm:spPr/>
    </dgm:pt>
    <dgm:pt modelId="{7759B597-5578-4712-9DDF-4B04DD2D17E4}" type="pres">
      <dgm:prSet presAssocID="{0BE932A6-6974-4FF5-9D55-B28BE60115AD}" presName="negativeSpace" presStyleCnt="0"/>
      <dgm:spPr/>
    </dgm:pt>
    <dgm:pt modelId="{44DB4402-D2FD-4BD6-9786-F158A4EC5712}" type="pres">
      <dgm:prSet presAssocID="{0BE932A6-6974-4FF5-9D55-B28BE60115AD}" presName="childText" presStyleLbl="conFgAcc1" presStyleIdx="2" presStyleCnt="3">
        <dgm:presLayoutVars>
          <dgm:bulletEnabled val="1"/>
        </dgm:presLayoutVars>
      </dgm:prSet>
      <dgm:spPr/>
    </dgm:pt>
  </dgm:ptLst>
  <dgm:cxnLst>
    <dgm:cxn modelId="{A392CC0F-611C-4D9E-BCC9-4711500668CE}" srcId="{64630D51-AF33-446F-BBFA-44FD96D55F14}" destId="{0BE932A6-6974-4FF5-9D55-B28BE60115AD}" srcOrd="2" destOrd="0" parTransId="{17D82F36-9F94-4776-98C5-AE3B3F0F3E6C}" sibTransId="{AB964673-9E14-4EF3-BC35-34F63573595B}"/>
    <dgm:cxn modelId="{6D9B2516-A53A-4E3A-98A9-B70FC9DFE0DE}" type="presOf" srcId="{95ED1A9E-E38D-42B2-9D0A-5BE954589F12}" destId="{DD02235A-25BF-4B29-9162-A7F92081A1E0}" srcOrd="1" destOrd="0" presId="urn:microsoft.com/office/officeart/2005/8/layout/list1"/>
    <dgm:cxn modelId="{E1AF4824-10A9-4F9E-8664-538DE83A0D90}" srcId="{64630D51-AF33-446F-BBFA-44FD96D55F14}" destId="{CFB0D99E-28ED-4902-8D61-7ACF91349FF3}" srcOrd="1" destOrd="0" parTransId="{99722672-1784-4400-81B7-D0DF21E97805}" sibTransId="{F3F17E05-AEAE-4D48-8949-759579CCD152}"/>
    <dgm:cxn modelId="{4F30693C-97FA-4E2E-8849-FCE0E7656406}" type="presOf" srcId="{CFB0D99E-28ED-4902-8D61-7ACF91349FF3}" destId="{5381098F-BFAA-4B00-8A31-9A99AF189B1A}" srcOrd="0" destOrd="0" presId="urn:microsoft.com/office/officeart/2005/8/layout/list1"/>
    <dgm:cxn modelId="{D79B505B-9D89-4968-8277-F0D430410105}" srcId="{64630D51-AF33-446F-BBFA-44FD96D55F14}" destId="{95ED1A9E-E38D-42B2-9D0A-5BE954589F12}" srcOrd="0" destOrd="0" parTransId="{35B26F15-481E-4980-8B11-9EE0F478DD59}" sibTransId="{A94150D4-C492-46EB-B1AC-9F736396AA0D}"/>
    <dgm:cxn modelId="{2AD73E6F-AAF9-419E-A3EF-16F3DBFB3742}" type="presOf" srcId="{64630D51-AF33-446F-BBFA-44FD96D55F14}" destId="{BF7DEF04-E53A-4D1E-B708-6263A9D0922B}" srcOrd="0" destOrd="0" presId="urn:microsoft.com/office/officeart/2005/8/layout/list1"/>
    <dgm:cxn modelId="{9F3B7772-5B46-422C-9E98-62E1E6E3FFA7}" type="presOf" srcId="{0BE932A6-6974-4FF5-9D55-B28BE60115AD}" destId="{0CC10CEA-1E00-49BD-A38F-CC6B008709AD}" srcOrd="1" destOrd="0" presId="urn:microsoft.com/office/officeart/2005/8/layout/list1"/>
    <dgm:cxn modelId="{3E34D486-DEE0-4198-B40A-8C983BC6A74C}" type="presOf" srcId="{0BE932A6-6974-4FF5-9D55-B28BE60115AD}" destId="{0EB91F7C-FC75-4C8F-9F36-3E93C8F0ED6B}" srcOrd="0" destOrd="0" presId="urn:microsoft.com/office/officeart/2005/8/layout/list1"/>
    <dgm:cxn modelId="{B4CE748C-BAE0-4CAD-BDB5-4A40C7EB835D}" type="presOf" srcId="{95ED1A9E-E38D-42B2-9D0A-5BE954589F12}" destId="{158E9AAA-CAE5-4792-A1B4-83A90D5C332B}" srcOrd="0" destOrd="0" presId="urn:microsoft.com/office/officeart/2005/8/layout/list1"/>
    <dgm:cxn modelId="{496B24FD-810F-44B5-8D66-A954D811A0DE}" type="presOf" srcId="{CFB0D99E-28ED-4902-8D61-7ACF91349FF3}" destId="{FD40A4DF-7C4E-41CE-A7B9-B01921CDC790}" srcOrd="1" destOrd="0" presId="urn:microsoft.com/office/officeart/2005/8/layout/list1"/>
    <dgm:cxn modelId="{AFA20D32-C055-4AA5-92F4-5F59FD0D33CF}" type="presParOf" srcId="{BF7DEF04-E53A-4D1E-B708-6263A9D0922B}" destId="{133C7E76-CA13-46C5-BA9B-7ABE7C2B1D04}" srcOrd="0" destOrd="0" presId="urn:microsoft.com/office/officeart/2005/8/layout/list1"/>
    <dgm:cxn modelId="{926A2C36-7271-4F4B-A69B-EA097EF58824}" type="presParOf" srcId="{133C7E76-CA13-46C5-BA9B-7ABE7C2B1D04}" destId="{158E9AAA-CAE5-4792-A1B4-83A90D5C332B}" srcOrd="0" destOrd="0" presId="urn:microsoft.com/office/officeart/2005/8/layout/list1"/>
    <dgm:cxn modelId="{D8D06147-FEDF-4DEA-83B5-80BC423CC111}" type="presParOf" srcId="{133C7E76-CA13-46C5-BA9B-7ABE7C2B1D04}" destId="{DD02235A-25BF-4B29-9162-A7F92081A1E0}" srcOrd="1" destOrd="0" presId="urn:microsoft.com/office/officeart/2005/8/layout/list1"/>
    <dgm:cxn modelId="{48635821-F49C-43A6-8CFC-B1AFBB899B27}" type="presParOf" srcId="{BF7DEF04-E53A-4D1E-B708-6263A9D0922B}" destId="{72CCA6E7-20A2-40F6-A12E-792EF63775BB}" srcOrd="1" destOrd="0" presId="urn:microsoft.com/office/officeart/2005/8/layout/list1"/>
    <dgm:cxn modelId="{485F3352-A239-47C3-844D-4794C06F2297}" type="presParOf" srcId="{BF7DEF04-E53A-4D1E-B708-6263A9D0922B}" destId="{1DA210CE-E0B8-452A-AD79-866B094362ED}" srcOrd="2" destOrd="0" presId="urn:microsoft.com/office/officeart/2005/8/layout/list1"/>
    <dgm:cxn modelId="{BD10CFB5-A4D6-4CDF-9717-7CE1E8AF1987}" type="presParOf" srcId="{BF7DEF04-E53A-4D1E-B708-6263A9D0922B}" destId="{A89CF975-5116-4783-8481-4F237334A9D5}" srcOrd="3" destOrd="0" presId="urn:microsoft.com/office/officeart/2005/8/layout/list1"/>
    <dgm:cxn modelId="{975A22F9-F3C9-4272-AF55-B11782E937C2}" type="presParOf" srcId="{BF7DEF04-E53A-4D1E-B708-6263A9D0922B}" destId="{D1ABF7A7-8BA0-42E8-AC70-1C622A0A9CA8}" srcOrd="4" destOrd="0" presId="urn:microsoft.com/office/officeart/2005/8/layout/list1"/>
    <dgm:cxn modelId="{9083D8F1-540D-4755-8C89-E5D35112C269}" type="presParOf" srcId="{D1ABF7A7-8BA0-42E8-AC70-1C622A0A9CA8}" destId="{5381098F-BFAA-4B00-8A31-9A99AF189B1A}" srcOrd="0" destOrd="0" presId="urn:microsoft.com/office/officeart/2005/8/layout/list1"/>
    <dgm:cxn modelId="{378A66BB-409D-4C25-AC4D-AC06894ED348}" type="presParOf" srcId="{D1ABF7A7-8BA0-42E8-AC70-1C622A0A9CA8}" destId="{FD40A4DF-7C4E-41CE-A7B9-B01921CDC790}" srcOrd="1" destOrd="0" presId="urn:microsoft.com/office/officeart/2005/8/layout/list1"/>
    <dgm:cxn modelId="{7063B6DA-FB36-450F-B4DD-54A1D0225FFB}" type="presParOf" srcId="{BF7DEF04-E53A-4D1E-B708-6263A9D0922B}" destId="{ED6ED8EE-B2DC-49A8-9696-985A956FCB62}" srcOrd="5" destOrd="0" presId="urn:microsoft.com/office/officeart/2005/8/layout/list1"/>
    <dgm:cxn modelId="{AC87EC03-8921-43CC-8DD1-2833102E46D2}" type="presParOf" srcId="{BF7DEF04-E53A-4D1E-B708-6263A9D0922B}" destId="{F7F664A6-DE14-4ED8-B93A-D4F9738CC253}" srcOrd="6" destOrd="0" presId="urn:microsoft.com/office/officeart/2005/8/layout/list1"/>
    <dgm:cxn modelId="{5D181AF2-715C-4B1A-887A-FACA3F308380}" type="presParOf" srcId="{BF7DEF04-E53A-4D1E-B708-6263A9D0922B}" destId="{38047EAB-5916-4A4C-813C-B59708DC6726}" srcOrd="7" destOrd="0" presId="urn:microsoft.com/office/officeart/2005/8/layout/list1"/>
    <dgm:cxn modelId="{53B53813-268D-4382-ACB8-7E56E84E9442}" type="presParOf" srcId="{BF7DEF04-E53A-4D1E-B708-6263A9D0922B}" destId="{2F719F66-0E83-44FA-B32C-C022CB3BDAA5}" srcOrd="8" destOrd="0" presId="urn:microsoft.com/office/officeart/2005/8/layout/list1"/>
    <dgm:cxn modelId="{263096C2-0BEE-413E-A365-E3F02543B7D8}" type="presParOf" srcId="{2F719F66-0E83-44FA-B32C-C022CB3BDAA5}" destId="{0EB91F7C-FC75-4C8F-9F36-3E93C8F0ED6B}" srcOrd="0" destOrd="0" presId="urn:microsoft.com/office/officeart/2005/8/layout/list1"/>
    <dgm:cxn modelId="{313F1B2B-58DC-4D2D-9052-789D118263EE}" type="presParOf" srcId="{2F719F66-0E83-44FA-B32C-C022CB3BDAA5}" destId="{0CC10CEA-1E00-49BD-A38F-CC6B008709AD}" srcOrd="1" destOrd="0" presId="urn:microsoft.com/office/officeart/2005/8/layout/list1"/>
    <dgm:cxn modelId="{9172D2DA-F153-4E4A-814F-2851227F641E}" type="presParOf" srcId="{BF7DEF04-E53A-4D1E-B708-6263A9D0922B}" destId="{7759B597-5578-4712-9DDF-4B04DD2D17E4}" srcOrd="9" destOrd="0" presId="urn:microsoft.com/office/officeart/2005/8/layout/list1"/>
    <dgm:cxn modelId="{09177B8A-B8D1-4D3C-BCBC-D6703F20D2A2}" type="presParOf" srcId="{BF7DEF04-E53A-4D1E-B708-6263A9D0922B}" destId="{44DB4402-D2FD-4BD6-9786-F158A4EC5712}"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EC8AA7D-EF4E-4DA8-9550-E2EA63F97D35}">
      <dsp:nvSpPr>
        <dsp:cNvPr id="0" name=""/>
        <dsp:cNvSpPr/>
      </dsp:nvSpPr>
      <dsp:spPr>
        <a:xfrm>
          <a:off x="-5342809" y="-818195"/>
          <a:ext cx="6361948" cy="6361948"/>
        </a:xfrm>
        <a:prstGeom prst="blockArc">
          <a:avLst>
            <a:gd name="adj1" fmla="val 18900000"/>
            <a:gd name="adj2" fmla="val 2700000"/>
            <a:gd name="adj3" fmla="val 340"/>
          </a:avLst>
        </a:pr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79D66B1-924F-4156-A795-F5AD9EBCE56B}">
      <dsp:nvSpPr>
        <dsp:cNvPr id="0" name=""/>
        <dsp:cNvSpPr/>
      </dsp:nvSpPr>
      <dsp:spPr>
        <a:xfrm>
          <a:off x="379984" y="248847"/>
          <a:ext cx="5698723" cy="497506"/>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50800" rIns="50800" bIns="50800" numCol="1" spcCol="1270" anchor="ctr" anchorCtr="0">
          <a:noAutofit/>
        </a:bodyPr>
        <a:lstStyle/>
        <a:p>
          <a:pPr marL="0" lvl="0" indent="0" algn="l" defTabSz="889000">
            <a:lnSpc>
              <a:spcPct val="90000"/>
            </a:lnSpc>
            <a:spcBef>
              <a:spcPct val="0"/>
            </a:spcBef>
            <a:spcAft>
              <a:spcPct val="35000"/>
            </a:spcAft>
            <a:buNone/>
          </a:pPr>
          <a:r>
            <a:rPr lang="zh-CN" altLang="en-US" sz="2000" kern="1200" dirty="0">
              <a:latin typeface="微软雅黑 Light" panose="020B0502040204020203" pitchFamily="34" charset="-122"/>
              <a:ea typeface="微软雅黑 Light" panose="020B0502040204020203" pitchFamily="34" charset="-122"/>
            </a:rPr>
            <a:t>有明确的目标</a:t>
          </a:r>
          <a:endParaRPr lang="zh-CN" altLang="en-US" sz="2000" kern="1200" dirty="0"/>
        </a:p>
      </dsp:txBody>
      <dsp:txXfrm>
        <a:off x="379984" y="248847"/>
        <a:ext cx="5698723" cy="497506"/>
      </dsp:txXfrm>
    </dsp:sp>
    <dsp:sp modelId="{A5D8DC03-AC76-4F8B-9095-82230B702966}">
      <dsp:nvSpPr>
        <dsp:cNvPr id="0" name=""/>
        <dsp:cNvSpPr/>
      </dsp:nvSpPr>
      <dsp:spPr>
        <a:xfrm>
          <a:off x="69043" y="186659"/>
          <a:ext cx="621883" cy="621883"/>
        </a:xfrm>
        <a:prstGeom prst="ellipse">
          <a:avLst/>
        </a:prstGeom>
        <a:solidFill>
          <a:schemeClr val="lt1">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8D79543D-0D4F-4D1C-9E04-9B163A8C7FF2}">
      <dsp:nvSpPr>
        <dsp:cNvPr id="0" name=""/>
        <dsp:cNvSpPr/>
      </dsp:nvSpPr>
      <dsp:spPr>
        <a:xfrm>
          <a:off x="789218" y="995013"/>
          <a:ext cx="5289490" cy="497506"/>
        </a:xfrm>
        <a:prstGeom prst="rect">
          <a:avLst/>
        </a:prstGeom>
        <a:solidFill>
          <a:schemeClr val="accent5">
            <a:hueOff val="-1351709"/>
            <a:satOff val="-3484"/>
            <a:lumOff val="-235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50800" rIns="50800" bIns="50800" numCol="1" spcCol="1270" anchor="ctr" anchorCtr="0">
          <a:noAutofit/>
        </a:bodyPr>
        <a:lstStyle/>
        <a:p>
          <a:pPr marL="0" lvl="0" indent="0" algn="l" defTabSz="889000">
            <a:lnSpc>
              <a:spcPct val="90000"/>
            </a:lnSpc>
            <a:spcBef>
              <a:spcPct val="0"/>
            </a:spcBef>
            <a:spcAft>
              <a:spcPct val="35000"/>
            </a:spcAft>
            <a:buNone/>
          </a:pPr>
          <a:r>
            <a:rPr lang="zh-CN" altLang="en-US" sz="2000" kern="1200" dirty="0">
              <a:latin typeface="微软雅黑 Light" panose="020B0502040204020203" pitchFamily="34" charset="-122"/>
              <a:ea typeface="微软雅黑 Light" panose="020B0502040204020203" pitchFamily="34" charset="-122"/>
            </a:rPr>
            <a:t>项目之间的活动具有相关性</a:t>
          </a:r>
          <a:endParaRPr lang="zh-CN" altLang="en-US" sz="2000" kern="1200" dirty="0"/>
        </a:p>
      </dsp:txBody>
      <dsp:txXfrm>
        <a:off x="789218" y="995013"/>
        <a:ext cx="5289490" cy="497506"/>
      </dsp:txXfrm>
    </dsp:sp>
    <dsp:sp modelId="{A694E9F5-D20F-4CE0-AAEF-A8AF7BCB9440}">
      <dsp:nvSpPr>
        <dsp:cNvPr id="0" name=""/>
        <dsp:cNvSpPr/>
      </dsp:nvSpPr>
      <dsp:spPr>
        <a:xfrm>
          <a:off x="478276" y="932824"/>
          <a:ext cx="621883" cy="621883"/>
        </a:xfrm>
        <a:prstGeom prst="ellipse">
          <a:avLst/>
        </a:prstGeom>
        <a:solidFill>
          <a:schemeClr val="lt1">
            <a:hueOff val="0"/>
            <a:satOff val="0"/>
            <a:lumOff val="0"/>
            <a:alphaOff val="0"/>
          </a:schemeClr>
        </a:solidFill>
        <a:ln w="12700" cap="flat" cmpd="sng" algn="ctr">
          <a:solidFill>
            <a:schemeClr val="accent5">
              <a:hueOff val="-1351709"/>
              <a:satOff val="-3484"/>
              <a:lumOff val="-2353"/>
              <a:alphaOff val="0"/>
            </a:schemeClr>
          </a:solidFill>
          <a:prstDash val="solid"/>
          <a:miter lim="800000"/>
        </a:ln>
        <a:effectLst/>
      </dsp:spPr>
      <dsp:style>
        <a:lnRef idx="2">
          <a:scrgbClr r="0" g="0" b="0"/>
        </a:lnRef>
        <a:fillRef idx="1">
          <a:scrgbClr r="0" g="0" b="0"/>
        </a:fillRef>
        <a:effectRef idx="0">
          <a:scrgbClr r="0" g="0" b="0"/>
        </a:effectRef>
        <a:fontRef idx="minor"/>
      </dsp:style>
    </dsp:sp>
    <dsp:sp modelId="{59B95563-7B5B-4225-831A-29E1EEB39012}">
      <dsp:nvSpPr>
        <dsp:cNvPr id="0" name=""/>
        <dsp:cNvSpPr/>
      </dsp:nvSpPr>
      <dsp:spPr>
        <a:xfrm>
          <a:off x="976350" y="1741178"/>
          <a:ext cx="5102358" cy="497506"/>
        </a:xfrm>
        <a:prstGeom prst="rect">
          <a:avLst/>
        </a:prstGeom>
        <a:solidFill>
          <a:schemeClr val="accent5">
            <a:hueOff val="-2703417"/>
            <a:satOff val="-6968"/>
            <a:lumOff val="-470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50800" rIns="50800" bIns="50800" numCol="1" spcCol="1270" anchor="ctr" anchorCtr="0">
          <a:noAutofit/>
        </a:bodyPr>
        <a:lstStyle/>
        <a:p>
          <a:pPr marL="0" lvl="0" indent="0" algn="l" defTabSz="889000">
            <a:lnSpc>
              <a:spcPct val="90000"/>
            </a:lnSpc>
            <a:spcBef>
              <a:spcPct val="0"/>
            </a:spcBef>
            <a:spcAft>
              <a:spcPct val="35000"/>
            </a:spcAft>
            <a:buNone/>
          </a:pPr>
          <a:r>
            <a:rPr lang="zh-CN" altLang="en-US" sz="2000" kern="1200" dirty="0">
              <a:latin typeface="微软雅黑 Light" panose="020B0502040204020203" pitchFamily="34" charset="-122"/>
              <a:ea typeface="微软雅黑 Light" panose="020B0502040204020203" pitchFamily="34" charset="-122"/>
            </a:rPr>
            <a:t>限定的周期</a:t>
          </a:r>
          <a:endParaRPr lang="zh-CN" altLang="en-US" sz="2000" kern="1200" dirty="0"/>
        </a:p>
      </dsp:txBody>
      <dsp:txXfrm>
        <a:off x="976350" y="1741178"/>
        <a:ext cx="5102358" cy="497506"/>
      </dsp:txXfrm>
    </dsp:sp>
    <dsp:sp modelId="{206E9F62-904C-4E09-965F-8F6A1D50CE99}">
      <dsp:nvSpPr>
        <dsp:cNvPr id="0" name=""/>
        <dsp:cNvSpPr/>
      </dsp:nvSpPr>
      <dsp:spPr>
        <a:xfrm>
          <a:off x="665408" y="1678990"/>
          <a:ext cx="621883" cy="621883"/>
        </a:xfrm>
        <a:prstGeom prst="ellipse">
          <a:avLst/>
        </a:prstGeom>
        <a:solidFill>
          <a:schemeClr val="lt1">
            <a:hueOff val="0"/>
            <a:satOff val="0"/>
            <a:lumOff val="0"/>
            <a:alphaOff val="0"/>
          </a:schemeClr>
        </a:solidFill>
        <a:ln w="12700" cap="flat" cmpd="sng" algn="ctr">
          <a:solidFill>
            <a:schemeClr val="accent5">
              <a:hueOff val="-2703417"/>
              <a:satOff val="-6968"/>
              <a:lumOff val="-4706"/>
              <a:alphaOff val="0"/>
            </a:schemeClr>
          </a:solidFill>
          <a:prstDash val="solid"/>
          <a:miter lim="800000"/>
        </a:ln>
        <a:effectLst/>
      </dsp:spPr>
      <dsp:style>
        <a:lnRef idx="2">
          <a:scrgbClr r="0" g="0" b="0"/>
        </a:lnRef>
        <a:fillRef idx="1">
          <a:scrgbClr r="0" g="0" b="0"/>
        </a:fillRef>
        <a:effectRef idx="0">
          <a:scrgbClr r="0" g="0" b="0"/>
        </a:effectRef>
        <a:fontRef idx="minor"/>
      </dsp:style>
    </dsp:sp>
    <dsp:sp modelId="{6361ADEE-DDC8-4B92-A22E-8B90489C3496}">
      <dsp:nvSpPr>
        <dsp:cNvPr id="0" name=""/>
        <dsp:cNvSpPr/>
      </dsp:nvSpPr>
      <dsp:spPr>
        <a:xfrm>
          <a:off x="976350" y="2486871"/>
          <a:ext cx="5102358" cy="497506"/>
        </a:xfrm>
        <a:prstGeom prst="rect">
          <a:avLst/>
        </a:prstGeom>
        <a:solidFill>
          <a:schemeClr val="accent5">
            <a:hueOff val="-4055126"/>
            <a:satOff val="-10451"/>
            <a:lumOff val="-705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50800" rIns="50800" bIns="50800" numCol="1" spcCol="1270" anchor="ctr" anchorCtr="0">
          <a:noAutofit/>
        </a:bodyPr>
        <a:lstStyle/>
        <a:p>
          <a:pPr marL="0" lvl="0" indent="0" algn="l" defTabSz="889000">
            <a:lnSpc>
              <a:spcPct val="90000"/>
            </a:lnSpc>
            <a:spcBef>
              <a:spcPct val="0"/>
            </a:spcBef>
            <a:spcAft>
              <a:spcPct val="35000"/>
            </a:spcAft>
            <a:buNone/>
          </a:pPr>
          <a:r>
            <a:rPr lang="zh-CN" altLang="en-US" sz="2000" kern="1200" dirty="0">
              <a:latin typeface="微软雅黑 Light" panose="020B0502040204020203" pitchFamily="34" charset="-122"/>
              <a:ea typeface="微软雅黑 Light" panose="020B0502040204020203" pitchFamily="34" charset="-122"/>
            </a:rPr>
            <a:t>有独特性</a:t>
          </a:r>
          <a:endParaRPr lang="zh-CN" altLang="en-US" sz="2000" kern="1200" dirty="0">
            <a:latin typeface="黑体" panose="02010609060101010101" pitchFamily="49" charset="-122"/>
            <a:ea typeface="黑体" panose="02010609060101010101" pitchFamily="49" charset="-122"/>
          </a:endParaRPr>
        </a:p>
      </dsp:txBody>
      <dsp:txXfrm>
        <a:off x="976350" y="2486871"/>
        <a:ext cx="5102358" cy="497506"/>
      </dsp:txXfrm>
    </dsp:sp>
    <dsp:sp modelId="{2701C0E2-42F7-4EF8-915B-95DB5DB722B2}">
      <dsp:nvSpPr>
        <dsp:cNvPr id="0" name=""/>
        <dsp:cNvSpPr/>
      </dsp:nvSpPr>
      <dsp:spPr>
        <a:xfrm>
          <a:off x="665408" y="2424683"/>
          <a:ext cx="621883" cy="621883"/>
        </a:xfrm>
        <a:prstGeom prst="ellipse">
          <a:avLst/>
        </a:prstGeom>
        <a:solidFill>
          <a:schemeClr val="lt1">
            <a:hueOff val="0"/>
            <a:satOff val="0"/>
            <a:lumOff val="0"/>
            <a:alphaOff val="0"/>
          </a:schemeClr>
        </a:solidFill>
        <a:ln w="12700" cap="flat" cmpd="sng" algn="ctr">
          <a:solidFill>
            <a:schemeClr val="accent5">
              <a:hueOff val="-4055126"/>
              <a:satOff val="-10451"/>
              <a:lumOff val="-7059"/>
              <a:alphaOff val="0"/>
            </a:schemeClr>
          </a:solidFill>
          <a:prstDash val="solid"/>
          <a:miter lim="800000"/>
        </a:ln>
        <a:effectLst/>
      </dsp:spPr>
      <dsp:style>
        <a:lnRef idx="2">
          <a:scrgbClr r="0" g="0" b="0"/>
        </a:lnRef>
        <a:fillRef idx="1">
          <a:scrgbClr r="0" g="0" b="0"/>
        </a:fillRef>
        <a:effectRef idx="0">
          <a:scrgbClr r="0" g="0" b="0"/>
        </a:effectRef>
        <a:fontRef idx="minor"/>
      </dsp:style>
    </dsp:sp>
    <dsp:sp modelId="{BD20C5DB-CD08-4AEF-87F2-098846C6D817}">
      <dsp:nvSpPr>
        <dsp:cNvPr id="0" name=""/>
        <dsp:cNvSpPr/>
      </dsp:nvSpPr>
      <dsp:spPr>
        <a:xfrm>
          <a:off x="789218" y="3233037"/>
          <a:ext cx="5289490" cy="497506"/>
        </a:xfrm>
        <a:prstGeom prst="rect">
          <a:avLst/>
        </a:prstGeom>
        <a:solidFill>
          <a:schemeClr val="accent5">
            <a:hueOff val="-5406834"/>
            <a:satOff val="-13935"/>
            <a:lumOff val="-941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50800" rIns="50800" bIns="50800" numCol="1" spcCol="1270" anchor="ctr" anchorCtr="0">
          <a:noAutofit/>
        </a:bodyPr>
        <a:lstStyle/>
        <a:p>
          <a:pPr marL="0" lvl="0" indent="0" algn="l" defTabSz="889000">
            <a:lnSpc>
              <a:spcPct val="90000"/>
            </a:lnSpc>
            <a:spcBef>
              <a:spcPct val="0"/>
            </a:spcBef>
            <a:spcAft>
              <a:spcPct val="35000"/>
            </a:spcAft>
            <a:buNone/>
          </a:pPr>
          <a:r>
            <a:rPr lang="zh-CN" altLang="en-US" sz="2000" kern="1200" dirty="0">
              <a:latin typeface="微软雅黑 Light" panose="020B0502040204020203" pitchFamily="34" charset="-122"/>
              <a:ea typeface="微软雅黑 Light" panose="020B0502040204020203" pitchFamily="34" charset="-122"/>
            </a:rPr>
            <a:t>资源成本的约束性</a:t>
          </a:r>
          <a:endParaRPr lang="zh-CN" altLang="en-US" sz="2000" kern="1200" dirty="0">
            <a:latin typeface="黑体" panose="02010609060101010101" pitchFamily="49" charset="-122"/>
            <a:ea typeface="黑体" panose="02010609060101010101" pitchFamily="49" charset="-122"/>
          </a:endParaRPr>
        </a:p>
      </dsp:txBody>
      <dsp:txXfrm>
        <a:off x="789218" y="3233037"/>
        <a:ext cx="5289490" cy="497506"/>
      </dsp:txXfrm>
    </dsp:sp>
    <dsp:sp modelId="{B0C54EBB-8ADF-4962-BF7D-1A4063195482}">
      <dsp:nvSpPr>
        <dsp:cNvPr id="0" name=""/>
        <dsp:cNvSpPr/>
      </dsp:nvSpPr>
      <dsp:spPr>
        <a:xfrm>
          <a:off x="478276" y="3170848"/>
          <a:ext cx="621883" cy="621883"/>
        </a:xfrm>
        <a:prstGeom prst="ellipse">
          <a:avLst/>
        </a:prstGeom>
        <a:solidFill>
          <a:schemeClr val="lt1">
            <a:hueOff val="0"/>
            <a:satOff val="0"/>
            <a:lumOff val="0"/>
            <a:alphaOff val="0"/>
          </a:schemeClr>
        </a:solidFill>
        <a:ln w="12700" cap="flat" cmpd="sng" algn="ctr">
          <a:solidFill>
            <a:schemeClr val="accent5">
              <a:hueOff val="-5406834"/>
              <a:satOff val="-13935"/>
              <a:lumOff val="-9412"/>
              <a:alphaOff val="0"/>
            </a:schemeClr>
          </a:solidFill>
          <a:prstDash val="solid"/>
          <a:miter lim="800000"/>
        </a:ln>
        <a:effectLst/>
      </dsp:spPr>
      <dsp:style>
        <a:lnRef idx="2">
          <a:scrgbClr r="0" g="0" b="0"/>
        </a:lnRef>
        <a:fillRef idx="1">
          <a:scrgbClr r="0" g="0" b="0"/>
        </a:fillRef>
        <a:effectRef idx="0">
          <a:scrgbClr r="0" g="0" b="0"/>
        </a:effectRef>
        <a:fontRef idx="minor"/>
      </dsp:style>
    </dsp:sp>
    <dsp:sp modelId="{126B5754-9BAB-4335-8048-CAA059B4AA0E}">
      <dsp:nvSpPr>
        <dsp:cNvPr id="0" name=""/>
        <dsp:cNvSpPr/>
      </dsp:nvSpPr>
      <dsp:spPr>
        <a:xfrm>
          <a:off x="379984" y="3979202"/>
          <a:ext cx="5698723" cy="497506"/>
        </a:xfrm>
        <a:prstGeom prst="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50800" rIns="50800" bIns="50800" numCol="1" spcCol="1270" anchor="ctr" anchorCtr="0">
          <a:noAutofit/>
        </a:bodyPr>
        <a:lstStyle/>
        <a:p>
          <a:pPr marL="0" lvl="0" indent="0" algn="l" defTabSz="889000">
            <a:lnSpc>
              <a:spcPct val="90000"/>
            </a:lnSpc>
            <a:spcBef>
              <a:spcPct val="0"/>
            </a:spcBef>
            <a:spcAft>
              <a:spcPct val="35000"/>
            </a:spcAft>
            <a:buNone/>
          </a:pPr>
          <a:r>
            <a:rPr lang="zh-CN" altLang="en-US" sz="2000" kern="1200" dirty="0">
              <a:latin typeface="微软雅黑 Light" panose="020B0502040204020203" pitchFamily="34" charset="-122"/>
              <a:ea typeface="微软雅黑 Light" panose="020B0502040204020203" pitchFamily="34" charset="-122"/>
            </a:rPr>
            <a:t>项目的不确定性</a:t>
          </a:r>
          <a:endParaRPr lang="zh-CN" altLang="en-US" sz="2000" kern="1200" dirty="0">
            <a:latin typeface="黑体" pitchFamily="49" charset="-122"/>
            <a:ea typeface="黑体" pitchFamily="49" charset="-122"/>
          </a:endParaRPr>
        </a:p>
      </dsp:txBody>
      <dsp:txXfrm>
        <a:off x="379984" y="3979202"/>
        <a:ext cx="5698723" cy="497506"/>
      </dsp:txXfrm>
    </dsp:sp>
    <dsp:sp modelId="{C2EDE2D4-FAE3-405D-AAC7-232D5860DC6B}">
      <dsp:nvSpPr>
        <dsp:cNvPr id="0" name=""/>
        <dsp:cNvSpPr/>
      </dsp:nvSpPr>
      <dsp:spPr>
        <a:xfrm>
          <a:off x="69043" y="3917014"/>
          <a:ext cx="621883" cy="621883"/>
        </a:xfrm>
        <a:prstGeom prst="ellipse">
          <a:avLst/>
        </a:prstGeom>
        <a:solidFill>
          <a:schemeClr val="lt1">
            <a:hueOff val="0"/>
            <a:satOff val="0"/>
            <a:lumOff val="0"/>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0C8E036-C2EE-4600-A051-491B681C8C8D}">
      <dsp:nvSpPr>
        <dsp:cNvPr id="0" name=""/>
        <dsp:cNvSpPr/>
      </dsp:nvSpPr>
      <dsp:spPr>
        <a:xfrm>
          <a:off x="4633912" y="1789112"/>
          <a:ext cx="1533525" cy="1533525"/>
        </a:xfrm>
        <a:prstGeom prst="roundRect">
          <a:avLst/>
        </a:prstGeom>
        <a:solidFill>
          <a:schemeClr val="accent2">
            <a:hueOff val="0"/>
            <a:satOff val="0"/>
            <a:lumOff val="0"/>
            <a:alphaOff val="0"/>
          </a:schemeClr>
        </a:solidFill>
        <a:ln>
          <a:noFill/>
        </a:ln>
        <a:effectLst/>
        <a:sp3d extrusionH="381000" contourW="38100" prstMaterial="matte">
          <a:contourClr>
            <a:schemeClr val="lt1"/>
          </a:contourClr>
        </a:sp3d>
      </dsp:spPr>
      <dsp:style>
        <a:lnRef idx="0">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1066800">
            <a:lnSpc>
              <a:spcPct val="90000"/>
            </a:lnSpc>
            <a:spcBef>
              <a:spcPct val="0"/>
            </a:spcBef>
            <a:spcAft>
              <a:spcPct val="35000"/>
            </a:spcAft>
            <a:buNone/>
          </a:pPr>
          <a:r>
            <a:rPr lang="zh-CN" altLang="en-US" sz="2400" kern="1200" dirty="0"/>
            <a:t>为什么需要敏捷</a:t>
          </a:r>
        </a:p>
      </dsp:txBody>
      <dsp:txXfrm>
        <a:off x="4708773" y="1863973"/>
        <a:ext cx="1383803" cy="1383803"/>
      </dsp:txXfrm>
    </dsp:sp>
    <dsp:sp modelId="{2E08CFCD-6332-40E2-A17E-084ED5E59966}">
      <dsp:nvSpPr>
        <dsp:cNvPr id="0" name=""/>
        <dsp:cNvSpPr/>
      </dsp:nvSpPr>
      <dsp:spPr>
        <a:xfrm rot="16200000">
          <a:off x="5020069" y="1408506"/>
          <a:ext cx="761211" cy="0"/>
        </a:xfrm>
        <a:custGeom>
          <a:avLst/>
          <a:gdLst/>
          <a:ahLst/>
          <a:cxnLst/>
          <a:rect l="0" t="0" r="0" b="0"/>
          <a:pathLst>
            <a:path>
              <a:moveTo>
                <a:pt x="0" y="0"/>
              </a:moveTo>
              <a:lnTo>
                <a:pt x="761211" y="0"/>
              </a:lnTo>
            </a:path>
          </a:pathLst>
        </a:custGeom>
        <a:noFill/>
        <a:ln w="12700" cap="flat" cmpd="sng" algn="ctr">
          <a:solidFill>
            <a:schemeClr val="accent2">
              <a:hueOff val="0"/>
              <a:satOff val="0"/>
              <a:lumOff val="0"/>
              <a:alphaOff val="0"/>
            </a:schemeClr>
          </a:solidFill>
          <a:prstDash val="solid"/>
          <a:miter lim="800000"/>
        </a:ln>
        <a:effectLst/>
        <a:sp3d z="-40000" prstMaterial="matte"/>
      </dsp:spPr>
      <dsp:style>
        <a:lnRef idx="2">
          <a:scrgbClr r="0" g="0" b="0"/>
        </a:lnRef>
        <a:fillRef idx="0">
          <a:scrgbClr r="0" g="0" b="0"/>
        </a:fillRef>
        <a:effectRef idx="0">
          <a:scrgbClr r="0" g="0" b="0"/>
        </a:effectRef>
        <a:fontRef idx="minor"/>
      </dsp:style>
    </dsp:sp>
    <dsp:sp modelId="{A285A515-1A1B-44A4-867B-3B42E36AD233}">
      <dsp:nvSpPr>
        <dsp:cNvPr id="0" name=""/>
        <dsp:cNvSpPr/>
      </dsp:nvSpPr>
      <dsp:spPr>
        <a:xfrm>
          <a:off x="4886944" y="439"/>
          <a:ext cx="1027461" cy="1027461"/>
        </a:xfrm>
        <a:prstGeom prst="roundRect">
          <a:avLst/>
        </a:prstGeom>
        <a:solidFill>
          <a:schemeClr val="accent3">
            <a:hueOff val="0"/>
            <a:satOff val="0"/>
            <a:lumOff val="0"/>
            <a:alphaOff val="0"/>
          </a:schemeClr>
        </a:solidFill>
        <a:ln>
          <a:noFill/>
        </a:ln>
        <a:effectLst/>
        <a:sp3d extrusionH="381000" contourW="38100" prstMaterial="matte">
          <a:contourClr>
            <a:schemeClr val="lt1"/>
          </a:contourClr>
        </a:sp3d>
      </dsp:spPr>
      <dsp:style>
        <a:lnRef idx="0">
          <a:scrgbClr r="0" g="0" b="0"/>
        </a:lnRef>
        <a:fillRef idx="1">
          <a:scrgbClr r="0" g="0" b="0"/>
        </a:fillRef>
        <a:effectRef idx="0">
          <a:scrgbClr r="0" g="0" b="0"/>
        </a:effectRef>
        <a:fontRef idx="minor">
          <a:schemeClr val="lt1"/>
        </a:fontRef>
      </dsp:style>
      <dsp:txBody>
        <a:bodyPr spcFirstLastPara="0" vert="horz" wrap="square" lIns="40640" tIns="40640" rIns="40640" bIns="4064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更加灵活</a:t>
          </a:r>
        </a:p>
      </dsp:txBody>
      <dsp:txXfrm>
        <a:off x="4937101" y="50596"/>
        <a:ext cx="927147" cy="927147"/>
      </dsp:txXfrm>
    </dsp:sp>
    <dsp:sp modelId="{98E87A3E-8EDA-4E31-A58E-16C5DE7484A6}">
      <dsp:nvSpPr>
        <dsp:cNvPr id="0" name=""/>
        <dsp:cNvSpPr/>
      </dsp:nvSpPr>
      <dsp:spPr>
        <a:xfrm>
          <a:off x="6167437" y="2555874"/>
          <a:ext cx="761211" cy="0"/>
        </a:xfrm>
        <a:custGeom>
          <a:avLst/>
          <a:gdLst/>
          <a:ahLst/>
          <a:cxnLst/>
          <a:rect l="0" t="0" r="0" b="0"/>
          <a:pathLst>
            <a:path>
              <a:moveTo>
                <a:pt x="0" y="0"/>
              </a:moveTo>
              <a:lnTo>
                <a:pt x="761211" y="0"/>
              </a:lnTo>
            </a:path>
          </a:pathLst>
        </a:custGeom>
        <a:noFill/>
        <a:ln w="12700" cap="flat" cmpd="sng" algn="ctr">
          <a:solidFill>
            <a:schemeClr val="accent2">
              <a:hueOff val="0"/>
              <a:satOff val="0"/>
              <a:lumOff val="0"/>
              <a:alphaOff val="0"/>
            </a:schemeClr>
          </a:solidFill>
          <a:prstDash val="solid"/>
          <a:miter lim="800000"/>
        </a:ln>
        <a:effectLst/>
        <a:sp3d z="-40000" prstMaterial="matte"/>
      </dsp:spPr>
      <dsp:style>
        <a:lnRef idx="2">
          <a:scrgbClr r="0" g="0" b="0"/>
        </a:lnRef>
        <a:fillRef idx="0">
          <a:scrgbClr r="0" g="0" b="0"/>
        </a:fillRef>
        <a:effectRef idx="0">
          <a:scrgbClr r="0" g="0" b="0"/>
        </a:effectRef>
        <a:fontRef idx="minor"/>
      </dsp:style>
    </dsp:sp>
    <dsp:sp modelId="{103858DB-0D8A-4A94-A8ED-8B7CB632D64B}">
      <dsp:nvSpPr>
        <dsp:cNvPr id="0" name=""/>
        <dsp:cNvSpPr/>
      </dsp:nvSpPr>
      <dsp:spPr>
        <a:xfrm>
          <a:off x="6928648" y="2042144"/>
          <a:ext cx="1027461" cy="1027461"/>
        </a:xfrm>
        <a:prstGeom prst="roundRect">
          <a:avLst/>
        </a:prstGeom>
        <a:solidFill>
          <a:schemeClr val="accent4">
            <a:hueOff val="0"/>
            <a:satOff val="0"/>
            <a:lumOff val="0"/>
            <a:alphaOff val="0"/>
          </a:schemeClr>
        </a:solidFill>
        <a:ln>
          <a:noFill/>
        </a:ln>
        <a:effectLst/>
        <a:sp3d extrusionH="381000" contourW="38100" prstMaterial="matte">
          <a:contourClr>
            <a:schemeClr val="lt1"/>
          </a:contourClr>
        </a:sp3d>
      </dsp:spPr>
      <dsp:style>
        <a:lnRef idx="0">
          <a:scrgbClr r="0" g="0" b="0"/>
        </a:lnRef>
        <a:fillRef idx="1">
          <a:scrgbClr r="0" g="0" b="0"/>
        </a:fillRef>
        <a:effectRef idx="0">
          <a:scrgbClr r="0" g="0" b="0"/>
        </a:effectRef>
        <a:fontRef idx="minor">
          <a:schemeClr val="lt1"/>
        </a:fontRef>
      </dsp:style>
      <dsp:txBody>
        <a:bodyPr spcFirstLastPara="0" vert="horz" wrap="square" lIns="40640" tIns="40640" rIns="40640" bIns="4064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快速交付</a:t>
          </a:r>
        </a:p>
      </dsp:txBody>
      <dsp:txXfrm>
        <a:off x="6978805" y="2092301"/>
        <a:ext cx="927147" cy="927147"/>
      </dsp:txXfrm>
    </dsp:sp>
    <dsp:sp modelId="{5A634463-5CA1-45DE-9DC2-51CE4525DE68}">
      <dsp:nvSpPr>
        <dsp:cNvPr id="0" name=""/>
        <dsp:cNvSpPr/>
      </dsp:nvSpPr>
      <dsp:spPr>
        <a:xfrm rot="5400000">
          <a:off x="5020069" y="3703243"/>
          <a:ext cx="761211" cy="0"/>
        </a:xfrm>
        <a:custGeom>
          <a:avLst/>
          <a:gdLst/>
          <a:ahLst/>
          <a:cxnLst/>
          <a:rect l="0" t="0" r="0" b="0"/>
          <a:pathLst>
            <a:path>
              <a:moveTo>
                <a:pt x="0" y="0"/>
              </a:moveTo>
              <a:lnTo>
                <a:pt x="761211" y="0"/>
              </a:lnTo>
            </a:path>
          </a:pathLst>
        </a:custGeom>
        <a:noFill/>
        <a:ln w="12700" cap="flat" cmpd="sng" algn="ctr">
          <a:solidFill>
            <a:schemeClr val="accent2">
              <a:hueOff val="0"/>
              <a:satOff val="0"/>
              <a:lumOff val="0"/>
              <a:alphaOff val="0"/>
            </a:schemeClr>
          </a:solidFill>
          <a:prstDash val="solid"/>
          <a:miter lim="800000"/>
        </a:ln>
        <a:effectLst/>
        <a:sp3d z="-40000" prstMaterial="matte"/>
      </dsp:spPr>
      <dsp:style>
        <a:lnRef idx="2">
          <a:scrgbClr r="0" g="0" b="0"/>
        </a:lnRef>
        <a:fillRef idx="0">
          <a:scrgbClr r="0" g="0" b="0"/>
        </a:fillRef>
        <a:effectRef idx="0">
          <a:scrgbClr r="0" g="0" b="0"/>
        </a:effectRef>
        <a:fontRef idx="minor"/>
      </dsp:style>
    </dsp:sp>
    <dsp:sp modelId="{E5D4D3A5-5361-4E22-BE21-44F88B118BAD}">
      <dsp:nvSpPr>
        <dsp:cNvPr id="0" name=""/>
        <dsp:cNvSpPr/>
      </dsp:nvSpPr>
      <dsp:spPr>
        <a:xfrm>
          <a:off x="4886944" y="4083848"/>
          <a:ext cx="1027461" cy="1027461"/>
        </a:xfrm>
        <a:prstGeom prst="roundRect">
          <a:avLst/>
        </a:prstGeom>
        <a:solidFill>
          <a:schemeClr val="accent5">
            <a:hueOff val="0"/>
            <a:satOff val="0"/>
            <a:lumOff val="0"/>
            <a:alphaOff val="0"/>
          </a:schemeClr>
        </a:solidFill>
        <a:ln>
          <a:noFill/>
        </a:ln>
        <a:effectLst/>
        <a:sp3d extrusionH="381000" contourW="38100" prstMaterial="matte">
          <a:contourClr>
            <a:schemeClr val="lt1"/>
          </a:contourClr>
        </a:sp3d>
      </dsp:spPr>
      <dsp:style>
        <a:lnRef idx="0">
          <a:scrgbClr r="0" g="0" b="0"/>
        </a:lnRef>
        <a:fillRef idx="1">
          <a:scrgbClr r="0" g="0" b="0"/>
        </a:fillRef>
        <a:effectRef idx="0">
          <a:scrgbClr r="0" g="0" b="0"/>
        </a:effectRef>
        <a:fontRef idx="minor">
          <a:schemeClr val="lt1"/>
        </a:fontRef>
      </dsp:style>
      <dsp:txBody>
        <a:bodyPr spcFirstLastPara="0" vert="horz" wrap="square" lIns="40640" tIns="40640" rIns="40640" bIns="4064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持续改进</a:t>
          </a:r>
        </a:p>
      </dsp:txBody>
      <dsp:txXfrm>
        <a:off x="4937101" y="4134005"/>
        <a:ext cx="927147" cy="927147"/>
      </dsp:txXfrm>
    </dsp:sp>
    <dsp:sp modelId="{6917A371-A8D4-46BF-B362-B6BAC5B093F8}">
      <dsp:nvSpPr>
        <dsp:cNvPr id="0" name=""/>
        <dsp:cNvSpPr/>
      </dsp:nvSpPr>
      <dsp:spPr>
        <a:xfrm rot="10800000">
          <a:off x="3872701" y="2555874"/>
          <a:ext cx="761211" cy="0"/>
        </a:xfrm>
        <a:custGeom>
          <a:avLst/>
          <a:gdLst/>
          <a:ahLst/>
          <a:cxnLst/>
          <a:rect l="0" t="0" r="0" b="0"/>
          <a:pathLst>
            <a:path>
              <a:moveTo>
                <a:pt x="0" y="0"/>
              </a:moveTo>
              <a:lnTo>
                <a:pt x="761211" y="0"/>
              </a:lnTo>
            </a:path>
          </a:pathLst>
        </a:custGeom>
        <a:noFill/>
        <a:ln w="12700" cap="flat" cmpd="sng" algn="ctr">
          <a:solidFill>
            <a:schemeClr val="accent2">
              <a:hueOff val="0"/>
              <a:satOff val="0"/>
              <a:lumOff val="0"/>
              <a:alphaOff val="0"/>
            </a:schemeClr>
          </a:solidFill>
          <a:prstDash val="solid"/>
          <a:miter lim="800000"/>
        </a:ln>
        <a:effectLst/>
        <a:sp3d z="-40000" prstMaterial="matte"/>
      </dsp:spPr>
      <dsp:style>
        <a:lnRef idx="2">
          <a:scrgbClr r="0" g="0" b="0"/>
        </a:lnRef>
        <a:fillRef idx="0">
          <a:scrgbClr r="0" g="0" b="0"/>
        </a:fillRef>
        <a:effectRef idx="0">
          <a:scrgbClr r="0" g="0" b="0"/>
        </a:effectRef>
        <a:fontRef idx="minor"/>
      </dsp:style>
    </dsp:sp>
    <dsp:sp modelId="{F15E34B5-BCBC-4EE4-9EED-6AB235023B27}">
      <dsp:nvSpPr>
        <dsp:cNvPr id="0" name=""/>
        <dsp:cNvSpPr/>
      </dsp:nvSpPr>
      <dsp:spPr>
        <a:xfrm>
          <a:off x="2845239" y="2042144"/>
          <a:ext cx="1027461" cy="1027461"/>
        </a:xfrm>
        <a:prstGeom prst="roundRect">
          <a:avLst/>
        </a:prstGeom>
        <a:solidFill>
          <a:schemeClr val="accent6">
            <a:hueOff val="0"/>
            <a:satOff val="0"/>
            <a:lumOff val="0"/>
            <a:alphaOff val="0"/>
          </a:schemeClr>
        </a:solidFill>
        <a:ln>
          <a:noFill/>
        </a:ln>
        <a:effectLst/>
        <a:sp3d extrusionH="381000" contourW="38100" prstMaterial="matte">
          <a:contourClr>
            <a:schemeClr val="lt1"/>
          </a:contourClr>
        </a:sp3d>
      </dsp:spPr>
      <dsp:style>
        <a:lnRef idx="0">
          <a:scrgbClr r="0" g="0" b="0"/>
        </a:lnRef>
        <a:fillRef idx="1">
          <a:scrgbClr r="0" g="0" b="0"/>
        </a:fillRef>
        <a:effectRef idx="0">
          <a:scrgbClr r="0" g="0" b="0"/>
        </a:effectRef>
        <a:fontRef idx="minor">
          <a:schemeClr val="lt1"/>
        </a:fontRef>
      </dsp:style>
      <dsp:txBody>
        <a:bodyPr spcFirstLastPara="0" vert="horz" wrap="square" lIns="40640" tIns="40640" rIns="40640" bIns="4064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更低风险</a:t>
          </a:r>
        </a:p>
      </dsp:txBody>
      <dsp:txXfrm>
        <a:off x="2895396" y="2092301"/>
        <a:ext cx="927147" cy="92714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dirty="0"/>
            <a:t>Time</a:t>
          </a:r>
          <a:endParaRPr lang="zh-CN" altLang="en-US" sz="2200" kern="1200" dirty="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dirty="0"/>
            <a:t>Cost</a:t>
          </a:r>
          <a:endParaRPr lang="zh-CN" altLang="en-US" sz="2200" kern="1200" dirty="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6581BA-45EF-4CB9-A1A8-9CFB4998A264}">
      <dsp:nvSpPr>
        <dsp:cNvPr id="0" name=""/>
        <dsp:cNvSpPr/>
      </dsp:nvSpPr>
      <dsp:spPr>
        <a:xfrm>
          <a:off x="1619999" y="1205152"/>
          <a:ext cx="1080001" cy="1080001"/>
        </a:xfrm>
        <a:prstGeom prst="ellips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zh-CN" altLang="en-US" sz="1600" kern="1200" dirty="0"/>
            <a:t>价值观</a:t>
          </a:r>
          <a:endParaRPr lang="en-US" altLang="zh-CN" sz="1600" kern="1200" dirty="0"/>
        </a:p>
        <a:p>
          <a:pPr marL="0" lvl="0" indent="0" algn="ctr" defTabSz="711200">
            <a:lnSpc>
              <a:spcPct val="100000"/>
            </a:lnSpc>
            <a:spcBef>
              <a:spcPct val="0"/>
            </a:spcBef>
            <a:spcAft>
              <a:spcPts val="0"/>
            </a:spcAft>
            <a:buNone/>
          </a:pPr>
          <a:r>
            <a:rPr lang="en-US" altLang="zh-CN" sz="1600" kern="1200" dirty="0"/>
            <a:t>Values</a:t>
          </a:r>
          <a:endParaRPr lang="zh-CN" altLang="en-US" sz="1600" kern="1200" dirty="0"/>
        </a:p>
      </dsp:txBody>
      <dsp:txXfrm>
        <a:off x="1778161" y="1363314"/>
        <a:ext cx="763677" cy="763677"/>
      </dsp:txXfrm>
    </dsp:sp>
    <dsp:sp modelId="{2697905C-40A9-4D8E-AE89-88ADE6C34F0A}">
      <dsp:nvSpPr>
        <dsp:cNvPr id="0" name=""/>
        <dsp:cNvSpPr/>
      </dsp:nvSpPr>
      <dsp:spPr>
        <a:xfrm rot="16200000">
          <a:off x="2029012" y="1054130"/>
          <a:ext cx="261974" cy="40070"/>
        </a:xfrm>
        <a:custGeom>
          <a:avLst/>
          <a:gdLst/>
          <a:ahLst/>
          <a:cxnLst/>
          <a:rect l="0" t="0" r="0" b="0"/>
          <a:pathLst>
            <a:path>
              <a:moveTo>
                <a:pt x="0" y="20035"/>
              </a:moveTo>
              <a:lnTo>
                <a:pt x="261974" y="20035"/>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a:off x="2153450" y="1067615"/>
        <a:ext cx="13098" cy="13098"/>
      </dsp:txXfrm>
    </dsp:sp>
    <dsp:sp modelId="{A768ED12-DF85-403F-B898-D6729C70787D}">
      <dsp:nvSpPr>
        <dsp:cNvPr id="0" name=""/>
        <dsp:cNvSpPr/>
      </dsp:nvSpPr>
      <dsp:spPr>
        <a:xfrm>
          <a:off x="1709998" y="43174"/>
          <a:ext cx="900002" cy="900002"/>
        </a:xfrm>
        <a:prstGeom prst="ellipse">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承诺</a:t>
          </a:r>
        </a:p>
      </dsp:txBody>
      <dsp:txXfrm>
        <a:off x="1841800" y="174976"/>
        <a:ext cx="636398" cy="636398"/>
      </dsp:txXfrm>
    </dsp:sp>
    <dsp:sp modelId="{B58731E0-DBD1-435A-ADD7-B425A898B445}">
      <dsp:nvSpPr>
        <dsp:cNvPr id="0" name=""/>
        <dsp:cNvSpPr/>
      </dsp:nvSpPr>
      <dsp:spPr>
        <a:xfrm rot="20520000">
          <a:off x="2667160" y="1517771"/>
          <a:ext cx="261974" cy="40070"/>
        </a:xfrm>
        <a:custGeom>
          <a:avLst/>
          <a:gdLst/>
          <a:ahLst/>
          <a:cxnLst/>
          <a:rect l="0" t="0" r="0" b="0"/>
          <a:pathLst>
            <a:path>
              <a:moveTo>
                <a:pt x="0" y="20035"/>
              </a:moveTo>
              <a:lnTo>
                <a:pt x="261974" y="20035"/>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a:off x="2791598" y="1531257"/>
        <a:ext cx="13098" cy="13098"/>
      </dsp:txXfrm>
    </dsp:sp>
    <dsp:sp modelId="{A3CECE51-0A63-4775-BBDE-4FA68841EC20}">
      <dsp:nvSpPr>
        <dsp:cNvPr id="0" name=""/>
        <dsp:cNvSpPr/>
      </dsp:nvSpPr>
      <dsp:spPr>
        <a:xfrm>
          <a:off x="2900699" y="908269"/>
          <a:ext cx="900002" cy="900002"/>
        </a:xfrm>
        <a:prstGeom prst="ellipse">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专注</a:t>
          </a:r>
        </a:p>
      </dsp:txBody>
      <dsp:txXfrm>
        <a:off x="3032501" y="1040071"/>
        <a:ext cx="636398" cy="636398"/>
      </dsp:txXfrm>
    </dsp:sp>
    <dsp:sp modelId="{C763681C-8D89-4BC9-887B-1CD1363C9AA1}">
      <dsp:nvSpPr>
        <dsp:cNvPr id="0" name=""/>
        <dsp:cNvSpPr/>
      </dsp:nvSpPr>
      <dsp:spPr>
        <a:xfrm rot="3240000">
          <a:off x="2423409" y="2267958"/>
          <a:ext cx="261974" cy="40070"/>
        </a:xfrm>
        <a:custGeom>
          <a:avLst/>
          <a:gdLst/>
          <a:ahLst/>
          <a:cxnLst/>
          <a:rect l="0" t="0" r="0" b="0"/>
          <a:pathLst>
            <a:path>
              <a:moveTo>
                <a:pt x="0" y="20035"/>
              </a:moveTo>
              <a:lnTo>
                <a:pt x="261974" y="20035"/>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a:off x="2547847" y="2281444"/>
        <a:ext cx="13098" cy="13098"/>
      </dsp:txXfrm>
    </dsp:sp>
    <dsp:sp modelId="{7C396246-E3D5-44E8-B402-F252989E77DB}">
      <dsp:nvSpPr>
        <dsp:cNvPr id="0" name=""/>
        <dsp:cNvSpPr/>
      </dsp:nvSpPr>
      <dsp:spPr>
        <a:xfrm>
          <a:off x="2445891" y="2308022"/>
          <a:ext cx="900002" cy="900002"/>
        </a:xfrm>
        <a:prstGeom prst="ellipse">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开放</a:t>
          </a:r>
        </a:p>
      </dsp:txBody>
      <dsp:txXfrm>
        <a:off x="2577693" y="2439824"/>
        <a:ext cx="636398" cy="636398"/>
      </dsp:txXfrm>
    </dsp:sp>
    <dsp:sp modelId="{979B44D0-1574-46A1-BD25-F046F787F5A7}">
      <dsp:nvSpPr>
        <dsp:cNvPr id="0" name=""/>
        <dsp:cNvSpPr/>
      </dsp:nvSpPr>
      <dsp:spPr>
        <a:xfrm rot="7560000">
          <a:off x="1634615" y="2267958"/>
          <a:ext cx="261974" cy="40070"/>
        </a:xfrm>
        <a:custGeom>
          <a:avLst/>
          <a:gdLst/>
          <a:ahLst/>
          <a:cxnLst/>
          <a:rect l="0" t="0" r="0" b="0"/>
          <a:pathLst>
            <a:path>
              <a:moveTo>
                <a:pt x="0" y="20035"/>
              </a:moveTo>
              <a:lnTo>
                <a:pt x="261974" y="20035"/>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rot="10800000">
        <a:off x="1759053" y="2281444"/>
        <a:ext cx="13098" cy="13098"/>
      </dsp:txXfrm>
    </dsp:sp>
    <dsp:sp modelId="{E45FD601-8F42-45A7-A248-D87DB5F9943A}">
      <dsp:nvSpPr>
        <dsp:cNvPr id="0" name=""/>
        <dsp:cNvSpPr/>
      </dsp:nvSpPr>
      <dsp:spPr>
        <a:xfrm>
          <a:off x="974105" y="2308022"/>
          <a:ext cx="900002" cy="900002"/>
        </a:xfrm>
        <a:prstGeom prst="ellipse">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尊重</a:t>
          </a:r>
        </a:p>
      </dsp:txBody>
      <dsp:txXfrm>
        <a:off x="1105907" y="2439824"/>
        <a:ext cx="636398" cy="636398"/>
      </dsp:txXfrm>
    </dsp:sp>
    <dsp:sp modelId="{B74C3A2B-0533-446F-AE56-FFBBBC35155B}">
      <dsp:nvSpPr>
        <dsp:cNvPr id="0" name=""/>
        <dsp:cNvSpPr/>
      </dsp:nvSpPr>
      <dsp:spPr>
        <a:xfrm rot="11880000">
          <a:off x="1390865" y="1517771"/>
          <a:ext cx="261974" cy="40070"/>
        </a:xfrm>
        <a:custGeom>
          <a:avLst/>
          <a:gdLst/>
          <a:ahLst/>
          <a:cxnLst/>
          <a:rect l="0" t="0" r="0" b="0"/>
          <a:pathLst>
            <a:path>
              <a:moveTo>
                <a:pt x="0" y="20035"/>
              </a:moveTo>
              <a:lnTo>
                <a:pt x="261974" y="20035"/>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rot="10800000">
        <a:off x="1515303" y="1531257"/>
        <a:ext cx="13098" cy="13098"/>
      </dsp:txXfrm>
    </dsp:sp>
    <dsp:sp modelId="{0ECE6D9B-1A91-4A29-82E7-FADB2EE4F6DC}">
      <dsp:nvSpPr>
        <dsp:cNvPr id="0" name=""/>
        <dsp:cNvSpPr/>
      </dsp:nvSpPr>
      <dsp:spPr>
        <a:xfrm>
          <a:off x="519297" y="908269"/>
          <a:ext cx="900002" cy="900002"/>
        </a:xfrm>
        <a:prstGeom prst="ellipse">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勇气</a:t>
          </a:r>
        </a:p>
      </dsp:txBody>
      <dsp:txXfrm>
        <a:off x="651099" y="1040071"/>
        <a:ext cx="636398" cy="636398"/>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6581BA-45EF-4CB9-A1A8-9CFB4998A264}">
      <dsp:nvSpPr>
        <dsp:cNvPr id="0" name=""/>
        <dsp:cNvSpPr/>
      </dsp:nvSpPr>
      <dsp:spPr>
        <a:xfrm>
          <a:off x="1619997" y="1441185"/>
          <a:ext cx="1080004" cy="1080004"/>
        </a:xfrm>
        <a:prstGeom prst="ellipse">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理念</a:t>
          </a:r>
        </a:p>
      </dsp:txBody>
      <dsp:txXfrm>
        <a:off x="1778160" y="1599348"/>
        <a:ext cx="763678" cy="763678"/>
      </dsp:txXfrm>
    </dsp:sp>
    <dsp:sp modelId="{2697905C-40A9-4D8E-AE89-88ADE6C34F0A}">
      <dsp:nvSpPr>
        <dsp:cNvPr id="0" name=""/>
        <dsp:cNvSpPr/>
      </dsp:nvSpPr>
      <dsp:spPr>
        <a:xfrm rot="16200000">
          <a:off x="1943827" y="1202252"/>
          <a:ext cx="432345" cy="45520"/>
        </a:xfrm>
        <a:custGeom>
          <a:avLst/>
          <a:gdLst/>
          <a:ahLst/>
          <a:cxnLst/>
          <a:rect l="0" t="0" r="0" b="0"/>
          <a:pathLst>
            <a:path>
              <a:moveTo>
                <a:pt x="0" y="22760"/>
              </a:moveTo>
              <a:lnTo>
                <a:pt x="432345" y="2276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a:off x="2149191" y="1214204"/>
        <a:ext cx="21617" cy="21617"/>
      </dsp:txXfrm>
    </dsp:sp>
    <dsp:sp modelId="{A768ED12-DF85-403F-B898-D6729C70787D}">
      <dsp:nvSpPr>
        <dsp:cNvPr id="0" name=""/>
        <dsp:cNvSpPr/>
      </dsp:nvSpPr>
      <dsp:spPr>
        <a:xfrm>
          <a:off x="1709997" y="108834"/>
          <a:ext cx="900005" cy="900005"/>
        </a:xfrm>
        <a:prstGeom prst="ellipse">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透明</a:t>
          </a:r>
        </a:p>
      </dsp:txBody>
      <dsp:txXfrm>
        <a:off x="1841800" y="240637"/>
        <a:ext cx="636399" cy="636399"/>
      </dsp:txXfrm>
    </dsp:sp>
    <dsp:sp modelId="{B58731E0-DBD1-435A-ADD7-B425A898B445}">
      <dsp:nvSpPr>
        <dsp:cNvPr id="0" name=""/>
        <dsp:cNvSpPr/>
      </dsp:nvSpPr>
      <dsp:spPr>
        <a:xfrm rot="1800000">
          <a:off x="2598693" y="2336514"/>
          <a:ext cx="432345" cy="45520"/>
        </a:xfrm>
        <a:custGeom>
          <a:avLst/>
          <a:gdLst/>
          <a:ahLst/>
          <a:cxnLst/>
          <a:rect l="0" t="0" r="0" b="0"/>
          <a:pathLst>
            <a:path>
              <a:moveTo>
                <a:pt x="0" y="22760"/>
              </a:moveTo>
              <a:lnTo>
                <a:pt x="432345" y="2276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a:off x="2804057" y="2348466"/>
        <a:ext cx="21617" cy="21617"/>
      </dsp:txXfrm>
    </dsp:sp>
    <dsp:sp modelId="{A3CECE51-0A63-4775-BBDE-4FA68841EC20}">
      <dsp:nvSpPr>
        <dsp:cNvPr id="0" name=""/>
        <dsp:cNvSpPr/>
      </dsp:nvSpPr>
      <dsp:spPr>
        <a:xfrm>
          <a:off x="2941788" y="2242359"/>
          <a:ext cx="900005" cy="900005"/>
        </a:xfrm>
        <a:prstGeom prst="ellipse">
          <a:avLst/>
        </a:prstGeom>
        <a:solidFill>
          <a:schemeClr val="accent5">
            <a:hueOff val="-3379271"/>
            <a:satOff val="-8710"/>
            <a:lumOff val="-5883"/>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监视</a:t>
          </a:r>
        </a:p>
      </dsp:txBody>
      <dsp:txXfrm>
        <a:off x="3073591" y="2374162"/>
        <a:ext cx="636399" cy="636399"/>
      </dsp:txXfrm>
    </dsp:sp>
    <dsp:sp modelId="{B74C3A2B-0533-446F-AE56-FFBBBC35155B}">
      <dsp:nvSpPr>
        <dsp:cNvPr id="0" name=""/>
        <dsp:cNvSpPr/>
      </dsp:nvSpPr>
      <dsp:spPr>
        <a:xfrm rot="9000000">
          <a:off x="1288960" y="2336514"/>
          <a:ext cx="432345" cy="45520"/>
        </a:xfrm>
        <a:custGeom>
          <a:avLst/>
          <a:gdLst/>
          <a:ahLst/>
          <a:cxnLst/>
          <a:rect l="0" t="0" r="0" b="0"/>
          <a:pathLst>
            <a:path>
              <a:moveTo>
                <a:pt x="0" y="22760"/>
              </a:moveTo>
              <a:lnTo>
                <a:pt x="432345" y="2276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rot="10800000">
        <a:off x="1494324" y="2348466"/>
        <a:ext cx="21617" cy="21617"/>
      </dsp:txXfrm>
    </dsp:sp>
    <dsp:sp modelId="{0ECE6D9B-1A91-4A29-82E7-FADB2EE4F6DC}">
      <dsp:nvSpPr>
        <dsp:cNvPr id="0" name=""/>
        <dsp:cNvSpPr/>
      </dsp:nvSpPr>
      <dsp:spPr>
        <a:xfrm>
          <a:off x="478205" y="2242359"/>
          <a:ext cx="900005" cy="900005"/>
        </a:xfrm>
        <a:prstGeom prst="ellipse">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适应</a:t>
          </a:r>
        </a:p>
      </dsp:txBody>
      <dsp:txXfrm>
        <a:off x="610008" y="2374162"/>
        <a:ext cx="636399" cy="63639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CC79863-28B7-4641-A9CA-CA81A5866EAD}">
      <dsp:nvSpPr>
        <dsp:cNvPr id="0" name=""/>
        <dsp:cNvSpPr/>
      </dsp:nvSpPr>
      <dsp:spPr>
        <a:xfrm>
          <a:off x="4320540" y="1779439"/>
          <a:ext cx="3056813" cy="530521"/>
        </a:xfrm>
        <a:custGeom>
          <a:avLst/>
          <a:gdLst/>
          <a:ahLst/>
          <a:cxnLst/>
          <a:rect l="0" t="0" r="0" b="0"/>
          <a:pathLst>
            <a:path>
              <a:moveTo>
                <a:pt x="0" y="0"/>
              </a:moveTo>
              <a:lnTo>
                <a:pt x="0" y="265260"/>
              </a:lnTo>
              <a:lnTo>
                <a:pt x="3056813" y="265260"/>
              </a:lnTo>
              <a:lnTo>
                <a:pt x="3056813" y="530521"/>
              </a:lnTo>
            </a:path>
          </a:pathLst>
        </a:custGeom>
        <a:noFill/>
        <a:ln w="1270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91147C7-2FCD-4627-B9AE-9C0A7122E164}">
      <dsp:nvSpPr>
        <dsp:cNvPr id="0" name=""/>
        <dsp:cNvSpPr/>
      </dsp:nvSpPr>
      <dsp:spPr>
        <a:xfrm>
          <a:off x="4274820" y="1779439"/>
          <a:ext cx="91440" cy="530521"/>
        </a:xfrm>
        <a:custGeom>
          <a:avLst/>
          <a:gdLst/>
          <a:ahLst/>
          <a:cxnLst/>
          <a:rect l="0" t="0" r="0" b="0"/>
          <a:pathLst>
            <a:path>
              <a:moveTo>
                <a:pt x="45720" y="0"/>
              </a:moveTo>
              <a:lnTo>
                <a:pt x="45720" y="530521"/>
              </a:lnTo>
            </a:path>
          </a:pathLst>
        </a:custGeom>
        <a:noFill/>
        <a:ln w="1270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7AD3EA0-D08B-44E0-90FF-941318A849A9}">
      <dsp:nvSpPr>
        <dsp:cNvPr id="0" name=""/>
        <dsp:cNvSpPr/>
      </dsp:nvSpPr>
      <dsp:spPr>
        <a:xfrm>
          <a:off x="1263726" y="1779439"/>
          <a:ext cx="3056813" cy="530521"/>
        </a:xfrm>
        <a:custGeom>
          <a:avLst/>
          <a:gdLst/>
          <a:ahLst/>
          <a:cxnLst/>
          <a:rect l="0" t="0" r="0" b="0"/>
          <a:pathLst>
            <a:path>
              <a:moveTo>
                <a:pt x="3056813" y="0"/>
              </a:moveTo>
              <a:lnTo>
                <a:pt x="3056813" y="265260"/>
              </a:lnTo>
              <a:lnTo>
                <a:pt x="0" y="265260"/>
              </a:lnTo>
              <a:lnTo>
                <a:pt x="0" y="530521"/>
              </a:lnTo>
            </a:path>
          </a:pathLst>
        </a:custGeom>
        <a:noFill/>
        <a:ln w="1270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D9CCFF9-BD17-4D75-86B1-78E586639F4F}">
      <dsp:nvSpPr>
        <dsp:cNvPr id="0" name=""/>
        <dsp:cNvSpPr/>
      </dsp:nvSpPr>
      <dsp:spPr>
        <a:xfrm>
          <a:off x="3057393" y="879435"/>
          <a:ext cx="2526292" cy="900004"/>
        </a:xfrm>
        <a:prstGeom prst="rect">
          <a:avLst/>
        </a:prstGeom>
        <a:solidFill>
          <a:schemeClr val="accent2"/>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100000"/>
            </a:lnSpc>
            <a:spcBef>
              <a:spcPct val="0"/>
            </a:spcBef>
            <a:spcAft>
              <a:spcPts val="0"/>
            </a:spcAft>
            <a:buNone/>
          </a:pPr>
          <a:r>
            <a:rPr lang="en-US" altLang="zh-CN" sz="1800" kern="1200" dirty="0"/>
            <a:t>Scrum Team</a:t>
          </a:r>
        </a:p>
        <a:p>
          <a:pPr marL="0" lvl="0" indent="0" algn="ctr" defTabSz="800100">
            <a:lnSpc>
              <a:spcPct val="100000"/>
            </a:lnSpc>
            <a:spcBef>
              <a:spcPct val="0"/>
            </a:spcBef>
            <a:spcAft>
              <a:spcPts val="0"/>
            </a:spcAft>
            <a:buNone/>
          </a:pPr>
          <a:r>
            <a:rPr lang="zh-CN" altLang="en-US" sz="1800" kern="1200" dirty="0"/>
            <a:t>团队</a:t>
          </a:r>
        </a:p>
      </dsp:txBody>
      <dsp:txXfrm>
        <a:off x="3057393" y="879435"/>
        <a:ext cx="2526292" cy="900004"/>
      </dsp:txXfrm>
    </dsp:sp>
    <dsp:sp modelId="{E1B194E7-E9A2-4E57-9BB7-20DBBFCA2C24}">
      <dsp:nvSpPr>
        <dsp:cNvPr id="0" name=""/>
        <dsp:cNvSpPr/>
      </dsp:nvSpPr>
      <dsp:spPr>
        <a:xfrm>
          <a:off x="580" y="2309960"/>
          <a:ext cx="2526292" cy="900004"/>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100000"/>
            </a:lnSpc>
            <a:spcBef>
              <a:spcPct val="0"/>
            </a:spcBef>
            <a:spcAft>
              <a:spcPts val="0"/>
            </a:spcAft>
            <a:buNone/>
          </a:pPr>
          <a:r>
            <a:rPr lang="en-US" altLang="zh-CN" sz="1800" kern="1200" dirty="0"/>
            <a:t>Developer</a:t>
          </a:r>
        </a:p>
        <a:p>
          <a:pPr marL="0" lvl="0" indent="0" algn="ctr" defTabSz="800100">
            <a:lnSpc>
              <a:spcPct val="100000"/>
            </a:lnSpc>
            <a:spcBef>
              <a:spcPct val="0"/>
            </a:spcBef>
            <a:spcAft>
              <a:spcPts val="0"/>
            </a:spcAft>
            <a:buNone/>
          </a:pPr>
          <a:r>
            <a:rPr lang="zh-CN" altLang="en-US" sz="1800" kern="1200" dirty="0"/>
            <a:t>开发者</a:t>
          </a:r>
        </a:p>
      </dsp:txBody>
      <dsp:txXfrm>
        <a:off x="580" y="2309960"/>
        <a:ext cx="2526292" cy="900004"/>
      </dsp:txXfrm>
    </dsp:sp>
    <dsp:sp modelId="{3BD3742E-89D8-4278-B047-2E690CF46C27}">
      <dsp:nvSpPr>
        <dsp:cNvPr id="0" name=""/>
        <dsp:cNvSpPr/>
      </dsp:nvSpPr>
      <dsp:spPr>
        <a:xfrm>
          <a:off x="3057393" y="2309960"/>
          <a:ext cx="2526292" cy="900004"/>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100000"/>
            </a:lnSpc>
            <a:spcBef>
              <a:spcPct val="0"/>
            </a:spcBef>
            <a:spcAft>
              <a:spcPts val="0"/>
            </a:spcAft>
            <a:buNone/>
          </a:pPr>
          <a:r>
            <a:rPr lang="en-US" altLang="zh-CN" sz="1800" kern="1200" dirty="0"/>
            <a:t>Product Owner</a:t>
          </a:r>
        </a:p>
        <a:p>
          <a:pPr marL="0" lvl="0" indent="0" algn="ctr" defTabSz="800100">
            <a:lnSpc>
              <a:spcPct val="100000"/>
            </a:lnSpc>
            <a:spcBef>
              <a:spcPct val="0"/>
            </a:spcBef>
            <a:spcAft>
              <a:spcPts val="0"/>
            </a:spcAft>
            <a:buNone/>
          </a:pPr>
          <a:r>
            <a:rPr lang="zh-CN" altLang="en-US" sz="1800" kern="1200" dirty="0"/>
            <a:t>产品负责人</a:t>
          </a:r>
        </a:p>
      </dsp:txBody>
      <dsp:txXfrm>
        <a:off x="3057393" y="2309960"/>
        <a:ext cx="2526292" cy="900004"/>
      </dsp:txXfrm>
    </dsp:sp>
    <dsp:sp modelId="{E24E934A-6782-4A44-B105-7B83B7DB5B47}">
      <dsp:nvSpPr>
        <dsp:cNvPr id="0" name=""/>
        <dsp:cNvSpPr/>
      </dsp:nvSpPr>
      <dsp:spPr>
        <a:xfrm>
          <a:off x="6114207" y="2309960"/>
          <a:ext cx="2526292" cy="900004"/>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100000"/>
            </a:lnSpc>
            <a:spcBef>
              <a:spcPct val="0"/>
            </a:spcBef>
            <a:spcAft>
              <a:spcPts val="0"/>
            </a:spcAft>
            <a:buNone/>
          </a:pPr>
          <a:r>
            <a:rPr lang="en-US" altLang="zh-CN" sz="1800" kern="1200" dirty="0"/>
            <a:t>Scrum Master</a:t>
          </a:r>
        </a:p>
        <a:p>
          <a:pPr marL="0" lvl="0" indent="0" algn="ctr" defTabSz="800100">
            <a:lnSpc>
              <a:spcPct val="100000"/>
            </a:lnSpc>
            <a:spcBef>
              <a:spcPct val="0"/>
            </a:spcBef>
            <a:spcAft>
              <a:spcPts val="0"/>
            </a:spcAft>
            <a:buNone/>
          </a:pPr>
          <a:r>
            <a:rPr lang="zh-CN" altLang="en-US" sz="1800" kern="1200" dirty="0"/>
            <a:t>敏捷教练</a:t>
          </a:r>
        </a:p>
      </dsp:txBody>
      <dsp:txXfrm>
        <a:off x="6114207" y="2309960"/>
        <a:ext cx="2526292" cy="900004"/>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94F4DF1-37BB-4ECD-9418-D07081488686}">
      <dsp:nvSpPr>
        <dsp:cNvPr id="0" name=""/>
        <dsp:cNvSpPr/>
      </dsp:nvSpPr>
      <dsp:spPr>
        <a:xfrm>
          <a:off x="842595" y="51954"/>
          <a:ext cx="6955889" cy="1011581"/>
        </a:xfrm>
        <a:prstGeom prst="rightArrow">
          <a:avLst>
            <a:gd name="adj1" fmla="val 50000"/>
            <a:gd name="adj2" fmla="val 5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Sprint</a:t>
          </a:r>
          <a:endParaRPr lang="zh-CN" altLang="en-US" sz="1400" kern="1200" dirty="0"/>
        </a:p>
      </dsp:txBody>
      <dsp:txXfrm>
        <a:off x="842595" y="304849"/>
        <a:ext cx="6702994" cy="505791"/>
      </dsp:txXfrm>
    </dsp:sp>
    <dsp:sp modelId="{E86EC7DA-1671-4DAB-B8CD-684A0A10D28B}">
      <dsp:nvSpPr>
        <dsp:cNvPr id="0" name=""/>
        <dsp:cNvSpPr/>
      </dsp:nvSpPr>
      <dsp:spPr>
        <a:xfrm>
          <a:off x="842595" y="830724"/>
          <a:ext cx="1285587" cy="1857425"/>
        </a:xfrm>
        <a:prstGeom prst="rect">
          <a:avLst/>
        </a:prstGeom>
        <a:solidFill>
          <a:schemeClr val="lt1">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冲刺</a:t>
          </a:r>
        </a:p>
      </dsp:txBody>
      <dsp:txXfrm>
        <a:off x="842595" y="830724"/>
        <a:ext cx="1285587" cy="1857425"/>
      </dsp:txXfrm>
    </dsp:sp>
    <dsp:sp modelId="{3377E146-BBE8-4251-922A-3A142A5DB22A}">
      <dsp:nvSpPr>
        <dsp:cNvPr id="0" name=""/>
        <dsp:cNvSpPr/>
      </dsp:nvSpPr>
      <dsp:spPr>
        <a:xfrm>
          <a:off x="2128043" y="389278"/>
          <a:ext cx="5670441" cy="1011581"/>
        </a:xfrm>
        <a:prstGeom prst="rightArrow">
          <a:avLst>
            <a:gd name="adj1" fmla="val 50000"/>
            <a:gd name="adj2" fmla="val 50000"/>
          </a:avLst>
        </a:prstGeom>
        <a:solidFill>
          <a:schemeClr val="accent5">
            <a:hueOff val="-1689636"/>
            <a:satOff val="-4355"/>
            <a:lumOff val="-2941"/>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Spring Planning</a:t>
          </a:r>
          <a:endParaRPr lang="zh-CN" altLang="en-US" sz="1400" kern="1200" dirty="0"/>
        </a:p>
      </dsp:txBody>
      <dsp:txXfrm>
        <a:off x="2128043" y="642173"/>
        <a:ext cx="5417546" cy="505791"/>
      </dsp:txXfrm>
    </dsp:sp>
    <dsp:sp modelId="{3F0F4678-4480-4F65-812F-7188E8E3BA27}">
      <dsp:nvSpPr>
        <dsp:cNvPr id="0" name=""/>
        <dsp:cNvSpPr/>
      </dsp:nvSpPr>
      <dsp:spPr>
        <a:xfrm>
          <a:off x="2128043" y="1168048"/>
          <a:ext cx="1285587" cy="1857425"/>
        </a:xfrm>
        <a:prstGeom prst="rect">
          <a:avLst/>
        </a:prstGeom>
        <a:solidFill>
          <a:schemeClr val="lt1">
            <a:hueOff val="0"/>
            <a:satOff val="0"/>
            <a:lumOff val="0"/>
            <a:alphaOff val="0"/>
          </a:schemeClr>
        </a:solidFill>
        <a:ln w="12700" cap="flat" cmpd="sng" algn="ctr">
          <a:solidFill>
            <a:schemeClr val="accent5">
              <a:hueOff val="-1689636"/>
              <a:satOff val="-4355"/>
              <a:lumOff val="-2941"/>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规划</a:t>
          </a:r>
        </a:p>
      </dsp:txBody>
      <dsp:txXfrm>
        <a:off x="2128043" y="1168048"/>
        <a:ext cx="1285587" cy="1857425"/>
      </dsp:txXfrm>
    </dsp:sp>
    <dsp:sp modelId="{962DE86B-57FB-4E57-B9E2-1CDD9869201D}">
      <dsp:nvSpPr>
        <dsp:cNvPr id="0" name=""/>
        <dsp:cNvSpPr/>
      </dsp:nvSpPr>
      <dsp:spPr>
        <a:xfrm>
          <a:off x="3413491" y="726602"/>
          <a:ext cx="4384993" cy="1011581"/>
        </a:xfrm>
        <a:prstGeom prst="rightArrow">
          <a:avLst>
            <a:gd name="adj1" fmla="val 50000"/>
            <a:gd name="adj2" fmla="val 50000"/>
          </a:avLst>
        </a:prstGeom>
        <a:solidFill>
          <a:schemeClr val="accent5">
            <a:hueOff val="-3379271"/>
            <a:satOff val="-8710"/>
            <a:lumOff val="-588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Daily Scrum</a:t>
          </a:r>
          <a:endParaRPr lang="zh-CN" altLang="en-US" sz="1400" kern="1200" dirty="0"/>
        </a:p>
      </dsp:txBody>
      <dsp:txXfrm>
        <a:off x="3413491" y="979497"/>
        <a:ext cx="4132098" cy="505791"/>
      </dsp:txXfrm>
    </dsp:sp>
    <dsp:sp modelId="{A2FE8EDA-D970-4B0B-BEE7-3C260734EB3F}">
      <dsp:nvSpPr>
        <dsp:cNvPr id="0" name=""/>
        <dsp:cNvSpPr/>
      </dsp:nvSpPr>
      <dsp:spPr>
        <a:xfrm>
          <a:off x="3413491" y="1505371"/>
          <a:ext cx="1285587" cy="1857425"/>
        </a:xfrm>
        <a:prstGeom prst="rect">
          <a:avLst/>
        </a:prstGeom>
        <a:solidFill>
          <a:schemeClr val="lt1">
            <a:hueOff val="0"/>
            <a:satOff val="0"/>
            <a:lumOff val="0"/>
            <a:alphaOff val="0"/>
          </a:schemeClr>
        </a:solid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每日站会</a:t>
          </a:r>
        </a:p>
      </dsp:txBody>
      <dsp:txXfrm>
        <a:off x="3413491" y="1505371"/>
        <a:ext cx="1285587" cy="1857425"/>
      </dsp:txXfrm>
    </dsp:sp>
    <dsp:sp modelId="{C0E91409-81B0-4028-907D-5327B5143ADB}">
      <dsp:nvSpPr>
        <dsp:cNvPr id="0" name=""/>
        <dsp:cNvSpPr/>
      </dsp:nvSpPr>
      <dsp:spPr>
        <a:xfrm>
          <a:off x="4699636" y="1063926"/>
          <a:ext cx="3098848" cy="1011581"/>
        </a:xfrm>
        <a:prstGeom prst="rightArrow">
          <a:avLst>
            <a:gd name="adj1" fmla="val 50000"/>
            <a:gd name="adj2" fmla="val 50000"/>
          </a:avLst>
        </a:prstGeom>
        <a:solidFill>
          <a:schemeClr val="accent5">
            <a:hueOff val="-5068907"/>
            <a:satOff val="-13064"/>
            <a:lumOff val="-882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Review</a:t>
          </a:r>
          <a:endParaRPr lang="zh-CN" altLang="en-US" sz="1400" kern="1200" dirty="0"/>
        </a:p>
      </dsp:txBody>
      <dsp:txXfrm>
        <a:off x="4699636" y="1316821"/>
        <a:ext cx="2845953" cy="505791"/>
      </dsp:txXfrm>
    </dsp:sp>
    <dsp:sp modelId="{2B2584B2-DDE4-43C5-AC13-F191D54BFA19}">
      <dsp:nvSpPr>
        <dsp:cNvPr id="0" name=""/>
        <dsp:cNvSpPr/>
      </dsp:nvSpPr>
      <dsp:spPr>
        <a:xfrm>
          <a:off x="4699636" y="1842695"/>
          <a:ext cx="1285587" cy="1857425"/>
        </a:xfrm>
        <a:prstGeom prst="rect">
          <a:avLst/>
        </a:prstGeom>
        <a:solidFill>
          <a:schemeClr val="lt1">
            <a:hueOff val="0"/>
            <a:satOff val="0"/>
            <a:lumOff val="0"/>
            <a:alphaOff val="0"/>
          </a:schemeClr>
        </a:solidFill>
        <a:ln w="12700" cap="flat" cmpd="sng" algn="ctr">
          <a:solidFill>
            <a:schemeClr val="accent5">
              <a:hueOff val="-5068907"/>
              <a:satOff val="-13064"/>
              <a:lumOff val="-8824"/>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评审</a:t>
          </a:r>
        </a:p>
      </dsp:txBody>
      <dsp:txXfrm>
        <a:off x="4699636" y="1842695"/>
        <a:ext cx="1285587" cy="1857425"/>
      </dsp:txXfrm>
    </dsp:sp>
    <dsp:sp modelId="{C2F78D87-5BAB-4238-BA32-642972FEF7AA}">
      <dsp:nvSpPr>
        <dsp:cNvPr id="0" name=""/>
        <dsp:cNvSpPr/>
      </dsp:nvSpPr>
      <dsp:spPr>
        <a:xfrm>
          <a:off x="5985084" y="1401249"/>
          <a:ext cx="1813400" cy="1011581"/>
        </a:xfrm>
        <a:prstGeom prst="rightArrow">
          <a:avLst>
            <a:gd name="adj1" fmla="val 50000"/>
            <a:gd name="adj2" fmla="val 50000"/>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Retrospective</a:t>
          </a:r>
          <a:endParaRPr lang="zh-CN" altLang="en-US" sz="1400" kern="1200" dirty="0"/>
        </a:p>
      </dsp:txBody>
      <dsp:txXfrm>
        <a:off x="5985084" y="1654144"/>
        <a:ext cx="1560505" cy="505791"/>
      </dsp:txXfrm>
    </dsp:sp>
    <dsp:sp modelId="{5E52CB30-E02C-40CD-B263-64B93A59E37F}">
      <dsp:nvSpPr>
        <dsp:cNvPr id="0" name=""/>
        <dsp:cNvSpPr/>
      </dsp:nvSpPr>
      <dsp:spPr>
        <a:xfrm>
          <a:off x="5985084" y="2180019"/>
          <a:ext cx="1285587" cy="1857425"/>
        </a:xfrm>
        <a:prstGeom prst="rect">
          <a:avLst/>
        </a:prstGeom>
        <a:solidFill>
          <a:schemeClr val="lt1">
            <a:hueOff val="0"/>
            <a:satOff val="0"/>
            <a:lumOff val="0"/>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回顾</a:t>
          </a:r>
        </a:p>
      </dsp:txBody>
      <dsp:txXfrm>
        <a:off x="5985084" y="2180019"/>
        <a:ext cx="1285587" cy="1857425"/>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A210CE-E0B8-452A-AD79-866B094362ED}">
      <dsp:nvSpPr>
        <dsp:cNvPr id="0" name=""/>
        <dsp:cNvSpPr/>
      </dsp:nvSpPr>
      <dsp:spPr>
        <a:xfrm>
          <a:off x="0" y="889560"/>
          <a:ext cx="5400000" cy="453600"/>
        </a:xfrm>
        <a:prstGeom prst="rect">
          <a:avLst/>
        </a:prstGeom>
        <a:solidFill>
          <a:schemeClr val="lt1">
            <a:alpha val="90000"/>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D02235A-25BF-4B29-9162-A7F92081A1E0}">
      <dsp:nvSpPr>
        <dsp:cNvPr id="0" name=""/>
        <dsp:cNvSpPr/>
      </dsp:nvSpPr>
      <dsp:spPr>
        <a:xfrm>
          <a:off x="270000" y="623879"/>
          <a:ext cx="3780000" cy="531360"/>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90000"/>
            </a:lnSpc>
            <a:spcBef>
              <a:spcPct val="0"/>
            </a:spcBef>
            <a:spcAft>
              <a:spcPct val="35000"/>
            </a:spcAft>
            <a:buNone/>
          </a:pPr>
          <a:r>
            <a:rPr lang="en-US" altLang="zh-CN" sz="1800" kern="1200" dirty="0"/>
            <a:t>Product Backlog </a:t>
          </a:r>
          <a:r>
            <a:rPr lang="zh-CN" altLang="en-US" sz="1800" kern="1200" dirty="0"/>
            <a:t>产品待办事项 </a:t>
          </a:r>
        </a:p>
      </dsp:txBody>
      <dsp:txXfrm>
        <a:off x="295939" y="649818"/>
        <a:ext cx="3728122" cy="479482"/>
      </dsp:txXfrm>
    </dsp:sp>
    <dsp:sp modelId="{F7F664A6-DE14-4ED8-B93A-D4F9738CC253}">
      <dsp:nvSpPr>
        <dsp:cNvPr id="0" name=""/>
        <dsp:cNvSpPr/>
      </dsp:nvSpPr>
      <dsp:spPr>
        <a:xfrm>
          <a:off x="0" y="1706040"/>
          <a:ext cx="5400000" cy="453600"/>
        </a:xfrm>
        <a:prstGeom prst="rect">
          <a:avLst/>
        </a:prstGeom>
        <a:solidFill>
          <a:schemeClr val="lt1">
            <a:alpha val="90000"/>
            <a:hueOff val="0"/>
            <a:satOff val="0"/>
            <a:lumOff val="0"/>
            <a:alphaOff val="0"/>
          </a:schemeClr>
        </a:solid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dsp:style>
    </dsp:sp>
    <dsp:sp modelId="{FD40A4DF-7C4E-41CE-A7B9-B01921CDC790}">
      <dsp:nvSpPr>
        <dsp:cNvPr id="0" name=""/>
        <dsp:cNvSpPr/>
      </dsp:nvSpPr>
      <dsp:spPr>
        <a:xfrm>
          <a:off x="270000" y="1440360"/>
          <a:ext cx="3780000" cy="531360"/>
        </a:xfrm>
        <a:prstGeom prst="roundRect">
          <a:avLst/>
        </a:prstGeom>
        <a:solidFill>
          <a:schemeClr val="accent5">
            <a:hueOff val="-3379271"/>
            <a:satOff val="-8710"/>
            <a:lumOff val="-588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90000"/>
            </a:lnSpc>
            <a:spcBef>
              <a:spcPct val="0"/>
            </a:spcBef>
            <a:spcAft>
              <a:spcPct val="35000"/>
            </a:spcAft>
            <a:buNone/>
          </a:pPr>
          <a:r>
            <a:rPr lang="en-US" altLang="zh-CN" sz="1800" kern="1200" dirty="0"/>
            <a:t>Sprint Backlog </a:t>
          </a:r>
          <a:r>
            <a:rPr lang="zh-CN" altLang="en-US" sz="1800" kern="1200" dirty="0"/>
            <a:t>冲刺待办事项</a:t>
          </a:r>
        </a:p>
      </dsp:txBody>
      <dsp:txXfrm>
        <a:off x="295939" y="1466299"/>
        <a:ext cx="3728122" cy="479482"/>
      </dsp:txXfrm>
    </dsp:sp>
    <dsp:sp modelId="{44DB4402-D2FD-4BD6-9786-F158A4EC5712}">
      <dsp:nvSpPr>
        <dsp:cNvPr id="0" name=""/>
        <dsp:cNvSpPr/>
      </dsp:nvSpPr>
      <dsp:spPr>
        <a:xfrm>
          <a:off x="0" y="2522519"/>
          <a:ext cx="5400000" cy="453600"/>
        </a:xfrm>
        <a:prstGeom prst="rect">
          <a:avLst/>
        </a:prstGeom>
        <a:solidFill>
          <a:schemeClr val="lt1">
            <a:alpha val="90000"/>
            <a:hueOff val="0"/>
            <a:satOff val="0"/>
            <a:lumOff val="0"/>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sp>
    <dsp:sp modelId="{0CC10CEA-1E00-49BD-A38F-CC6B008709AD}">
      <dsp:nvSpPr>
        <dsp:cNvPr id="0" name=""/>
        <dsp:cNvSpPr/>
      </dsp:nvSpPr>
      <dsp:spPr>
        <a:xfrm>
          <a:off x="270000" y="2256840"/>
          <a:ext cx="3780000" cy="531360"/>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90000"/>
            </a:lnSpc>
            <a:spcBef>
              <a:spcPct val="0"/>
            </a:spcBef>
            <a:spcAft>
              <a:spcPct val="35000"/>
            </a:spcAft>
            <a:buNone/>
          </a:pPr>
          <a:r>
            <a:rPr lang="en-US" altLang="zh-CN" sz="1800" kern="1200" dirty="0"/>
            <a:t>Increment </a:t>
          </a:r>
          <a:r>
            <a:rPr lang="zh-CN" altLang="en-US" sz="1800" kern="1200" dirty="0"/>
            <a:t>增量</a:t>
          </a:r>
        </a:p>
      </dsp:txBody>
      <dsp:txXfrm>
        <a:off x="295939" y="2282779"/>
        <a:ext cx="3728122" cy="479482"/>
      </dsp:txXfrm>
    </dsp:sp>
  </dsp:spTree>
</dsp:drawing>
</file>

<file path=ppt/diagrams/layout1.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2.xml><?xml version="1.0" encoding="utf-8"?>
<dgm:layoutDef xmlns:dgm="http://schemas.openxmlformats.org/drawingml/2006/diagram" xmlns:a="http://schemas.openxmlformats.org/drawingml/2006/main" uniqueId="urn:microsoft.com/office/officeart/2008/layout/RadialCluster">
  <dgm:title val=""/>
  <dgm:desc val=""/>
  <dgm:catLst>
    <dgm:cat type="relationship" pri="19500"/>
    <dgm:cat type="cycle" pri="15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useDef="1">
    <dgm:dataModel>
      <dgm:ptLst/>
      <dgm:bg/>
      <dgm:whole/>
    </dgm:dataModel>
  </dgm:styleData>
  <dgm:clrData useDef="1">
    <dgm:dataModel>
      <dgm:ptLst/>
      <dgm:bg/>
      <dgm:whole/>
    </dgm:dataModel>
  </dgm:clrData>
  <dgm:layoutNode name="Name0">
    <dgm:varLst>
      <dgm:chMax val="1"/>
      <dgm:chPref val="1"/>
      <dgm:dir/>
      <dgm:animOne val="branch"/>
      <dgm:animLvl val="lvl"/>
    </dgm:varLst>
    <dgm:alg type="composite">
      <dgm:param type="ar" val="1.00"/>
    </dgm:alg>
    <dgm:shape xmlns:r="http://schemas.openxmlformats.org/officeDocument/2006/relationships" r:blip="">
      <dgm:adjLst/>
    </dgm:shape>
    <dgm:choose name="Name1">
      <dgm:if name="Name2" func="var" arg="dir" op="equ" val="norm">
        <dgm:choose name="Name3">
          <dgm:if name="Name4" axis="ch ch" ptType="node node" cnt="1 0" func="cnt" op="equ" val="1">
            <dgm:constrLst>
              <dgm:constr type="l" for="ch" forName="textCenter"/>
              <dgm:constr type="ctrY" for="ch" forName="textCenter" refType="h" fact="0.5"/>
              <dgm:constr type="w" for="ch" forName="textCenter" refType="w" fact="0.32"/>
              <dgm:constr type="h" for="ch" forName="textCenter" refType="w" refFor="ch" refForName="textCenter"/>
              <dgm:constr type="r" for="ch" forName="cycle_1" refType="w"/>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5" axis="ch ch" ptType="node node" cnt="1 0"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6" axis="ch ch" ptType="node node" cnt="1 0" func="cnt" op="equ" val="3">
            <dgm:choose name="Name7">
              <dgm:if name="Name8" axis="ch ch ch" ptType="node node node" st="1 2 0" cnt="1 1 0" func="cnt" op="equ" val="1">
                <dgm:choose name="Name9">
                  <dgm:if name="Name10"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12">
                <dgm:choose name="Name13">
                  <dgm:if name="Name14"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5">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16" axis="ch ch" ptType="node node" cnt="1 0"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r" for="ch" forName="cycle_2" refType="w"/>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l" for="ch" forName="cycle_4"/>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17" axis="ch ch" ptType="node node" cnt="1 0"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24"/>
              <dgm:constr type="w" for="ch" forName="cycle_2" refType="w" fact="0.33"/>
              <dgm:constr type="h" for="ch" forName="cycle_2" refType="w" refFor="ch" refForName="cycle_2"/>
              <dgm:constr type="r" for="ch" forName="cycle_3" refType="w" fact="0.89"/>
              <dgm:constr type="b" for="ch" forName="cycle_3" refType="h"/>
              <dgm:constr type="w" for="ch" forName="cycle_3" refType="w" fact="0.33"/>
              <dgm:constr type="h" for="ch" forName="cycle_3" refType="w" refFor="ch" refForName="cycle_3"/>
              <dgm:constr type="l" for="ch" forName="cycle_4" refType="w" fact="0.11"/>
              <dgm:constr type="b" for="ch" forName="cycle_4" refType="h"/>
              <dgm:constr type="w" for="ch" forName="cycle_4" refType="w" fact="0.33"/>
              <dgm:constr type="h" for="ch" forName="cycle_4" refType="w" refFor="ch" refForName="cycle_4"/>
              <dgm:constr type="l" for="ch" forName="cycle_5"/>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18" axis="ch ch" ptType="node node" cnt="1 0"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17"/>
              <dgm:constr type="w" for="ch" forName="cycle_2" refType="w" fact="0.33"/>
              <dgm:constr type="h" for="ch" forName="cycle_2" refType="w" refFor="ch" refForName="cycle_2"/>
              <dgm:constr type="r" for="ch" forName="cycle_3" refType="w"/>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l" for="ch" forName="cycle_5"/>
              <dgm:constr type="b" for="ch" forName="cycle_5" refType="h" fact="0.83"/>
              <dgm:constr type="w" for="ch" forName="cycle_5" refType="w" fact="0.33"/>
              <dgm:constr type="h" for="ch" forName="cycle_5" refType="w" refFor="ch" refForName="cycle_5"/>
              <dgm:constr type="l" for="ch" forName="cycle_6"/>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19">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r" for="ch" forName="cycle_2" refType="w" fact="0.938"/>
              <dgm:constr type="t" for="ch" forName="cycle_2" refType="h" fact="0.141"/>
              <dgm:constr type="w" for="ch" forName="cycle_2" refType="w" fact="0.263"/>
              <dgm:constr type="h" for="ch" forName="cycle_2" refType="w" refFor="ch" refForName="cycle_2"/>
              <dgm:constr type="r" for="ch" forName="cycle_3" refType="w"/>
              <dgm:constr type="b" for="ch" forName="cycle_3" refType="h" fact="0.74"/>
              <dgm:constr type="w" for="ch" forName="cycle_3" refType="w" fact="0.263"/>
              <dgm:constr type="h" for="ch" forName="cycle_3" refType="w" refFor="ch" refForName="cycle_3"/>
              <dgm:constr type="r" for="ch" forName="cycle_4" refType="w" fact="0.8"/>
              <dgm:constr type="b" for="ch" forName="cycle_4" refType="h"/>
              <dgm:constr type="w" for="ch" forName="cycle_4" refType="w" fact="0.263"/>
              <dgm:constr type="h" for="ch" forName="cycle_4" refType="w" refFor="ch" refForName="cycle_4"/>
              <dgm:constr type="l" for="ch" forName="cycle_5" refType="w" fact="0.2"/>
              <dgm:constr type="b" for="ch" forName="cycle_5" refType="h"/>
              <dgm:constr type="w" for="ch" forName="cycle_5" refType="w" fact="0.263"/>
              <dgm:constr type="h" for="ch" forName="cycle_5" refType="w" refFor="ch" refForName="cycle_5"/>
              <dgm:constr type="l" for="ch" forName="cycle_6"/>
              <dgm:constr type="b" for="ch" forName="cycle_6" refType="h" fact="0.74"/>
              <dgm:constr type="w" for="ch" forName="cycle_6" refType="w" fact="0.263"/>
              <dgm:constr type="h" for="ch" forName="cycle_6" refType="w" refFor="ch" refForName="cycle_6"/>
              <dgm:constr type="l" for="ch" forName="cycle_7" refType="w" fact="0.062"/>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if>
      <dgm:else name="Name20">
        <dgm:choose name="Name21">
          <dgm:if name="Name22" axis="ch ch" ptType="node node" func="cnt" op="equ" val="1">
            <dgm:constrLst>
              <dgm:constr type="r" for="ch" forName="textCenter" refType="w"/>
              <dgm:constr type="ctrY" for="ch" forName="textCenter" refType="h" fact="0.5"/>
              <dgm:constr type="w" for="ch" forName="textCenter" refType="w" fact="0.32"/>
              <dgm:constr type="h" for="ch" forName="textCenter" refType="w" refFor="ch" refForName="textCenter"/>
              <dgm:constr type="l" for="ch" forName="cycle_1"/>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23" axis="ch ch" ptType="node node"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24" axis="ch ch" ptType="node node" func="cnt" op="equ" val="3">
            <dgm:choose name="Name25">
              <dgm:if name="Name26" axis="ch ch ch" ptType="node node node" st="1 2 0" cnt="1 1 0" func="cnt" op="equ" val="1">
                <dgm:choose name="Name27">
                  <dgm:if name="Name28"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29">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30">
                <dgm:choose name="Name31">
                  <dgm:if name="Name32"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33">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34" axis="ch ch" ptType="node node"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l" for="ch" forName="cycle_2"/>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r" for="ch" forName="cycle_4" refType="w"/>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35" axis="ch ch" ptType="node node"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24"/>
              <dgm:constr type="w" for="ch" forName="cycle_2" refType="w" fact="0.33"/>
              <dgm:constr type="h" for="ch" forName="cycle_2" refType="w" refFor="ch" refForName="cycle_2"/>
              <dgm:constr type="l" for="ch" forName="cycle_3" refType="w" fact="0.11"/>
              <dgm:constr type="b" for="ch" forName="cycle_3" refType="h"/>
              <dgm:constr type="w" for="ch" forName="cycle_3" refType="w" fact="0.33"/>
              <dgm:constr type="h" for="ch" forName="cycle_3" refType="w" refFor="ch" refForName="cycle_3"/>
              <dgm:constr type="r" for="ch" forName="cycle_4" refType="w" fact="0.89"/>
              <dgm:constr type="b" for="ch" forName="cycle_4" refType="h"/>
              <dgm:constr type="w" for="ch" forName="cycle_4" refType="w" fact="0.33"/>
              <dgm:constr type="h" for="ch" forName="cycle_4" refType="w" refFor="ch" refForName="cycle_4"/>
              <dgm:constr type="r" for="ch" forName="cycle_5" refType="w"/>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36" axis="ch ch" ptType="node node"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17"/>
              <dgm:constr type="w" for="ch" forName="cycle_2" refType="w" fact="0.33"/>
              <dgm:constr type="h" for="ch" forName="cycle_2" refType="w" refFor="ch" refForName="cycle_2"/>
              <dgm:constr type="l" for="ch" forName="cycle_3"/>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r" for="ch" forName="cycle_5" refType="w"/>
              <dgm:constr type="b" for="ch" forName="cycle_5" refType="h" fact="0.83"/>
              <dgm:constr type="w" for="ch" forName="cycle_5" refType="w" fact="0.33"/>
              <dgm:constr type="h" for="ch" forName="cycle_5" refType="w" refFor="ch" refForName="cycle_5"/>
              <dgm:constr type="r" for="ch" forName="cycle_6" refType="w"/>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37">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l" for="ch" forName="cycle_2" refType="w" fact="0.062"/>
              <dgm:constr type="t" for="ch" forName="cycle_2" refType="h" fact="0.141"/>
              <dgm:constr type="w" for="ch" forName="cycle_2" refType="w" fact="0.263"/>
              <dgm:constr type="h" for="ch" forName="cycle_2" refType="w" refFor="ch" refForName="cycle_2"/>
              <dgm:constr type="l" for="ch" forName="cycle_3"/>
              <dgm:constr type="b" for="ch" forName="cycle_3" refType="h" fact="0.74"/>
              <dgm:constr type="w" for="ch" forName="cycle_3" refType="w" fact="0.263"/>
              <dgm:constr type="h" for="ch" forName="cycle_3" refType="w" refFor="ch" refForName="cycle_3"/>
              <dgm:constr type="l" for="ch" forName="cycle_4" refType="w" fact="0.2"/>
              <dgm:constr type="b" for="ch" forName="cycle_4" refType="h"/>
              <dgm:constr type="w" for="ch" forName="cycle_4" refType="w" fact="0.263"/>
              <dgm:constr type="h" for="ch" forName="cycle_4" refType="w" refFor="ch" refForName="cycle_4"/>
              <dgm:constr type="r" for="ch" forName="cycle_5" refType="w" fact="0.8"/>
              <dgm:constr type="b" for="ch" forName="cycle_5" refType="h"/>
              <dgm:constr type="w" for="ch" forName="cycle_5" refType="w" fact="0.263"/>
              <dgm:constr type="h" for="ch" forName="cycle_5" refType="w" refFor="ch" refForName="cycle_5"/>
              <dgm:constr type="r" for="ch" forName="cycle_6" refType="w"/>
              <dgm:constr type="b" for="ch" forName="cycle_6" refType="h" fact="0.74"/>
              <dgm:constr type="w" for="ch" forName="cycle_6" refType="w" fact="0.263"/>
              <dgm:constr type="h" for="ch" forName="cycle_6" refType="w" refFor="ch" refForName="cycle_6"/>
              <dgm:constr type="r" for="ch" forName="cycle_7" refType="w" fact="0.938"/>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else>
    </dgm:choose>
    <dgm:forEach name="Name38" axis="ch" ptType="node" cnt="1">
      <dgm:choose name="Name39">
        <dgm:if name="Name40" axis="des" func="maxDepth" op="lte" val="1">
          <dgm:layoutNode name="singleCycle">
            <dgm:choose name="Name41">
              <dgm:if name="Name42" axis="ch" ptType="node" func="cnt" op="equ" val="1">
                <dgm:choose name="Name43">
                  <dgm:if name="Name44" func="var" arg="dir" op="equ" val="norm">
                    <dgm:alg type="cycle">
                      <dgm:param type="stAng" val="90"/>
                      <dgm:param type="ctrShpMap" val="fNode"/>
                    </dgm:alg>
                  </dgm:if>
                  <dgm:else name="Name45">
                    <dgm:alg type="cycle">
                      <dgm:param type="stAng" val="-90"/>
                      <dgm:param type="spanAng" val="-360"/>
                      <dgm:param type="ctrShpMap" val="fNode"/>
                    </dgm:alg>
                  </dgm:else>
                </dgm:choose>
              </dgm:if>
              <dgm:else name="Name46">
                <dgm:choose name="Name47">
                  <dgm:if name="Name48" func="var" arg="dir" op="equ" val="norm">
                    <dgm:alg type="cycle">
                      <dgm:param type="ctrShpMap" val="fNode"/>
                    </dgm:alg>
                  </dgm:if>
                  <dgm:else name="Name49">
                    <dgm:alg type="cycle">
                      <dgm:param type="spanAng" val="-360"/>
                      <dgm:param type="ctrShpMap" val="fNode"/>
                    </dgm:alg>
                  </dgm:else>
                </dgm:choose>
              </dgm:else>
            </dgm:choose>
            <dgm:shape xmlns:r="http://schemas.openxmlformats.org/officeDocument/2006/relationships" r:blip="">
              <dgm:adjLst/>
            </dgm:shape>
            <dgm:presOf/>
            <dgm:choose name="Name50">
              <dgm:if name="Name51" axis="ch" ptType="node" func="cnt" op="equ" val="0">
                <dgm:constrLst>
                  <dgm:constr type="w" for="ch" forName="singleCenter" refType="w"/>
                  <dgm:constr type="h" for="ch" forName="singleCenter" refType="w" refFor="ch" refForName="singleCenter"/>
                </dgm:constrLst>
              </dgm:if>
              <dgm:if name="Name52" axis="ch" ptType="node" func="cnt" op="equ" val="1">
                <dgm:constrLst>
                  <dgm:constr type="w" for="ch" forName="singleCenter" refType="w" fact="0.5"/>
                  <dgm:constr type="h" for="ch" forName="singleCenter" refType="w" refFor="ch" refForName="singleCenter"/>
                  <dgm:constr type="userS" for="ch" ptType="node" refType="w" refFor="ch" refForName="singleCenter" fact="0.67"/>
                </dgm:constrLst>
              </dgm:if>
              <dgm:else name="Name53">
                <dgm:constrLst>
                  <dgm:constr type="w" for="ch" forName="singleCenter" refType="w" fact="0.3"/>
                  <dgm:constr type="h" for="ch" forName="singleCenter" refType="w" refFor="ch" refForName="singleCenter"/>
                  <dgm:constr type="userS" for="ch" ptType="node" refType="w" refFor="ch" refForName="singleCenter" fact="0.67"/>
                </dgm:constrLst>
              </dgm:else>
            </dgm:choose>
            <dgm:layoutNode name="singleCenter" styleLbl="node1">
              <dgm:varLst>
                <dgm:chMax val="7"/>
                <dgm:chPref val="7"/>
              </dgm:varLst>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54" axis="ch" cnt="21">
              <dgm:forEach name="Name55" axis="self" ptType="parTrans">
                <dgm:layoutNode name="Name5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57" axis="self" ptType="node">
                <dgm:layoutNode name="text0"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layoutNode>
        </dgm:if>
        <dgm:else name="Name58">
          <dgm:layoutNode name="textCenter" styleLbl="node1">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choose name="Name59">
            <dgm:if name="Name60" axis="ch" ptType="node" func="cnt" op="gte" val="1">
              <dgm:layoutNode name="cycle_1">
                <dgm:choose name="Name61">
                  <dgm:if name="Name62" func="var" arg="dir" op="equ" val="norm">
                    <dgm:choose name="Name63">
                      <dgm:if name="Name64" axis="ch" ptType="node" func="cnt" op="equ" val="1">
                        <dgm:choose name="Name65">
                          <dgm:if name="Name66" axis="ch ch" ptType="node node" st="1 1" cnt="1 0" func="cnt" op="equ" val="1">
                            <dgm:alg type="cycle">
                              <dgm:param type="ctrShpMap" val="fNode"/>
                              <dgm:param type="stAng" val="90"/>
                            </dgm:alg>
                          </dgm:if>
                          <dgm:if name="Name67" axis="ch ch" ptType="node node" st="1 1" cnt="1 0" func="cnt" op="equ" val="2">
                            <dgm:alg type="cycle">
                              <dgm:param type="ctrShpMap" val="fNode"/>
                              <dgm:param type="stAng" val="45"/>
                              <dgm:param type="spanAng" val="90"/>
                            </dgm:alg>
                          </dgm:if>
                          <dgm:else name="Name68">
                            <dgm:alg type="cycle">
                              <dgm:param type="ctrShpMap" val="fNode"/>
                              <dgm:param type="stAng" val="0"/>
                              <dgm:param type="spanAng" val="180"/>
                            </dgm:alg>
                          </dgm:else>
                        </dgm:choose>
                      </dgm:if>
                      <dgm:if name="Name69" axis="ch" ptType="node" func="cnt" op="equ" val="2">
                        <dgm:choose name="Name70">
                          <dgm:if name="Name71" axis="ch ch" ptType="node node" st="1 1" cnt="1 0" func="cnt" op="equ" val="1">
                            <dgm:alg type="cycle">
                              <dgm:param type="ctrShpMap" val="fNode"/>
                              <dgm:param type="stAng" val="0"/>
                            </dgm:alg>
                          </dgm:if>
                          <dgm:if name="Name72" axis="ch ch" ptType="node node" st="1 1" cnt="1 0" func="cnt" op="equ" val="2">
                            <dgm:alg type="cycle">
                              <dgm:param type="ctrShpMap" val="fNode"/>
                              <dgm:param type="stAng" val="315"/>
                              <dgm:param type="spanAng" val="90"/>
                            </dgm:alg>
                          </dgm:if>
                          <dgm:else name="Name73">
                            <dgm:alg type="cycle">
                              <dgm:param type="ctrShpMap" val="fNode"/>
                              <dgm:param type="stAng" val="270"/>
                              <dgm:param type="spanAng" val="180"/>
                            </dgm:alg>
                          </dgm:else>
                        </dgm:choose>
                      </dgm:if>
                      <dgm:if name="Name74" axis="ch" ptType="node" func="cnt" op="equ" val="3">
                        <dgm:choose name="Name75">
                          <dgm:if name="Name76" axis="ch ch" ptType="node node" st="1 1" cnt="1 0" func="cnt" op="equ" val="1">
                            <dgm:alg type="cycle">
                              <dgm:param type="ctrShpMap" val="fNode"/>
                              <dgm:param type="stAng" val="0"/>
                            </dgm:alg>
                          </dgm:if>
                          <dgm:if name="Name77" axis="ch ch" ptType="node node" st="1 1" cnt="1 0" func="cnt" op="equ" val="2">
                            <dgm:alg type="cycle">
                              <dgm:param type="ctrShpMap" val="fNode"/>
                              <dgm:param type="stAng" val="315"/>
                              <dgm:param type="spanAng" val="90"/>
                            </dgm:alg>
                          </dgm:if>
                          <dgm:else name="Name78">
                            <dgm:alg type="cycle">
                              <dgm:param type="ctrShpMap" val="fNode"/>
                              <dgm:param type="stAng" val="270"/>
                              <dgm:param type="spanAng" val="180"/>
                            </dgm:alg>
                          </dgm:else>
                        </dgm:choose>
                      </dgm:if>
                      <dgm:if name="Name79" axis="ch" ptType="node" func="cnt" op="equ" val="4">
                        <dgm:choose name="Name80">
                          <dgm:if name="Name81" axis="ch ch" ptType="node node" st="1 1" cnt="1 0" func="cnt" op="equ" val="1">
                            <dgm:alg type="cycle">
                              <dgm:param type="ctrShpMap" val="fNode"/>
                              <dgm:param type="stAng" val="0"/>
                            </dgm:alg>
                          </dgm:if>
                          <dgm:if name="Name82" axis="ch ch" ptType="node node" st="1 1" cnt="1 0" func="cnt" op="equ" val="2">
                            <dgm:alg type="cycle">
                              <dgm:param type="ctrShpMap" val="fNode"/>
                              <dgm:param type="stAng" val="315"/>
                              <dgm:param type="spanAng" val="90"/>
                            </dgm:alg>
                          </dgm:if>
                          <dgm:else name="Name83">
                            <dgm:alg type="cycle">
                              <dgm:param type="ctrShpMap" val="fNode"/>
                              <dgm:param type="stAng" val="292.5"/>
                              <dgm:param type="spanAng" val="135"/>
                            </dgm:alg>
                          </dgm:else>
                        </dgm:choose>
                      </dgm:if>
                      <dgm:if name="Name84" axis="ch" ptType="node" func="cnt" op="equ" val="5">
                        <dgm:choose name="Name85">
                          <dgm:if name="Name86" axis="ch ch" ptType="node node" st="1 1" cnt="1 0" func="cnt" op="equ" val="1">
                            <dgm:alg type="cycle">
                              <dgm:param type="ctrShpMap" val="fNode"/>
                              <dgm:param type="stAng" val="0"/>
                            </dgm:alg>
                          </dgm:if>
                          <dgm:if name="Name87" axis="ch ch" ptType="node node" st="1 1" cnt="1 0" func="cnt" op="equ" val="2">
                            <dgm:alg type="cycle">
                              <dgm:param type="ctrShpMap" val="fNode"/>
                              <dgm:param type="stAng" val="315"/>
                              <dgm:param type="spanAng" val="90"/>
                            </dgm:alg>
                          </dgm:if>
                          <dgm:else name="Name88">
                            <dgm:alg type="cycle">
                              <dgm:param type="ctrShpMap" val="fNode"/>
                              <dgm:param type="stAng" val="0"/>
                              <dgm:param type="spanAng" val="360"/>
                            </dgm:alg>
                          </dgm:else>
                        </dgm:choose>
                      </dgm:if>
                      <dgm:if name="Name89" axis="ch" ptType="node" func="cnt" op="equ" val="6">
                        <dgm:choose name="Name90">
                          <dgm:if name="Name91" axis="ch ch" ptType="node node" st="1 1" cnt="1 0" func="cnt" op="equ" val="1">
                            <dgm:alg type="cycle">
                              <dgm:param type="ctrShpMap" val="fNode"/>
                              <dgm:param type="stAng" val="0"/>
                            </dgm:alg>
                          </dgm:if>
                          <dgm:if name="Name92" axis="ch ch" ptType="node node" st="1 1" cnt="1 0" func="cnt" op="equ" val="2">
                            <dgm:alg type="cycle">
                              <dgm:param type="ctrShpMap" val="fNode"/>
                              <dgm:param type="stAng" val="315"/>
                              <dgm:param type="spanAng" val="90"/>
                            </dgm:alg>
                          </dgm:if>
                          <dgm:else name="Name93">
                            <dgm:alg type="cycle">
                              <dgm:param type="ctrShpMap" val="fNode"/>
                              <dgm:param type="stAng" val="0"/>
                              <dgm:param type="spanAng" val="360"/>
                            </dgm:alg>
                          </dgm:else>
                        </dgm:choose>
                      </dgm:if>
                      <dgm:if name="Name94" axis="ch" ptType="node" func="cnt" op="gte" val="7">
                        <dgm:choose name="Name95">
                          <dgm:if name="Name96" axis="ch ch" ptType="node node" st="1 1" cnt="1 0" func="cnt" op="equ" val="1">
                            <dgm:alg type="cycle">
                              <dgm:param type="ctrShpMap" val="fNode"/>
                              <dgm:param type="stAng" val="0"/>
                            </dgm:alg>
                          </dgm:if>
                          <dgm:if name="Name97" axis="ch ch" ptType="node node" st="1 1" cnt="1 0" func="cnt" op="equ" val="2">
                            <dgm:alg type="cycle">
                              <dgm:param type="ctrShpMap" val="fNode"/>
                              <dgm:param type="stAng" val="315"/>
                              <dgm:param type="spanAng" val="90"/>
                            </dgm:alg>
                          </dgm:if>
                          <dgm:else name="Name98">
                            <dgm:alg type="cycle">
                              <dgm:param type="ctrShpMap" val="fNode"/>
                              <dgm:param type="stAng" val="0"/>
                              <dgm:param type="spanAng" val="360"/>
                            </dgm:alg>
                          </dgm:else>
                        </dgm:choose>
                      </dgm:if>
                      <dgm:else name="Name99"/>
                    </dgm:choose>
                  </dgm:if>
                  <dgm:else name="Name100">
                    <dgm:choose name="Name101">
                      <dgm:if name="Name102" axis="ch" ptType="node" func="cnt" op="equ" val="1">
                        <dgm:choose name="Name103">
                          <dgm:if name="Name104" axis="ch ch" ptType="node node" st="1 1" cnt="1 0" func="cnt" op="equ" val="1">
                            <dgm:alg type="cycle">
                              <dgm:param type="ctrShpMap" val="fNode"/>
                              <dgm:param type="stAng" val="270"/>
                            </dgm:alg>
                          </dgm:if>
                          <dgm:if name="Name105" axis="ch ch" ptType="node node" st="1 1" cnt="1 0" func="cnt" op="equ" val="2">
                            <dgm:alg type="cycle">
                              <dgm:param type="ctrShpMap" val="fNode"/>
                              <dgm:param type="stAng" val="315"/>
                              <dgm:param type="spanAng" val="-90"/>
                            </dgm:alg>
                          </dgm:if>
                          <dgm:else name="Name106">
                            <dgm:alg type="cycle">
                              <dgm:param type="ctrShpMap" val="fNode"/>
                              <dgm:param type="stAng" val="0"/>
                              <dgm:param type="spanAng" val="-180"/>
                            </dgm:alg>
                          </dgm:else>
                        </dgm:choose>
                      </dgm:if>
                      <dgm:if name="Name107" axis="ch" ptType="node" func="cnt" op="equ" val="2">
                        <dgm:choose name="Name108">
                          <dgm:if name="Name109" axis="ch ch" ptType="node node" st="1 1" cnt="1 0" func="cnt" op="equ" val="1">
                            <dgm:alg type="cycle">
                              <dgm:param type="ctrShpMap" val="fNode"/>
                              <dgm:param type="stAng" val="0"/>
                            </dgm:alg>
                          </dgm:if>
                          <dgm:if name="Name110" axis="ch ch" ptType="node node" st="1 1" cnt="1 0" func="cnt" op="equ" val="2">
                            <dgm:alg type="cycle">
                              <dgm:param type="ctrShpMap" val="fNode"/>
                              <dgm:param type="stAng" val="45"/>
                              <dgm:param type="spanAng" val="-90"/>
                            </dgm:alg>
                          </dgm:if>
                          <dgm:else name="Name111">
                            <dgm:alg type="cycle">
                              <dgm:param type="ctrShpMap" val="fNode"/>
                              <dgm:param type="stAng" val="90"/>
                              <dgm:param type="spanAng" val="-180"/>
                            </dgm:alg>
                          </dgm:else>
                        </dgm:choose>
                      </dgm:if>
                      <dgm:if name="Name112" axis="ch" ptType="node" func="cnt" op="equ" val="3">
                        <dgm:choose name="Name113">
                          <dgm:if name="Name114" axis="ch ch" ptType="node node" st="1 1" cnt="1 0" func="cnt" op="equ" val="1">
                            <dgm:alg type="cycle">
                              <dgm:param type="ctrShpMap" val="fNode"/>
                              <dgm:param type="stAng" val="0"/>
                            </dgm:alg>
                          </dgm:if>
                          <dgm:if name="Name115" axis="ch ch" ptType="node node" st="1 1" cnt="1 0" func="cnt" op="equ" val="2">
                            <dgm:alg type="cycle">
                              <dgm:param type="ctrShpMap" val="fNode"/>
                              <dgm:param type="stAng" val="45"/>
                              <dgm:param type="spanAng" val="-90"/>
                            </dgm:alg>
                          </dgm:if>
                          <dgm:else name="Name116">
                            <dgm:alg type="cycle">
                              <dgm:param type="ctrShpMap" val="fNode"/>
                              <dgm:param type="stAng" val="90"/>
                              <dgm:param type="spanAng" val="-180"/>
                            </dgm:alg>
                          </dgm:else>
                        </dgm:choose>
                      </dgm:if>
                      <dgm:if name="Name117" axis="ch" ptType="node" func="cnt" op="equ" val="4">
                        <dgm:choose name="Name118">
                          <dgm:if name="Name119" axis="ch ch" ptType="node node" st="1 1" cnt="1 0" func="cnt" op="equ" val="1">
                            <dgm:alg type="cycle">
                              <dgm:param type="ctrShpMap" val="fNode"/>
                              <dgm:param type="stAng" val="0"/>
                            </dgm:alg>
                          </dgm:if>
                          <dgm:if name="Name120" axis="ch ch" ptType="node node" st="1 1" cnt="1 0" func="cnt" op="equ" val="2">
                            <dgm:alg type="cycle">
                              <dgm:param type="ctrShpMap" val="fNode"/>
                              <dgm:param type="stAng" val="45"/>
                              <dgm:param type="spanAng" val="-90"/>
                            </dgm:alg>
                          </dgm:if>
                          <dgm:else name="Name121">
                            <dgm:alg type="cycle">
                              <dgm:param type="ctrShpMap" val="fNode"/>
                              <dgm:param type="stAng" val="67.5"/>
                              <dgm:param type="spanAng" val="-135"/>
                            </dgm:alg>
                          </dgm:else>
                        </dgm:choose>
                      </dgm:if>
                      <dgm:if name="Name122" axis="ch" ptType="node" func="cnt" op="equ" val="5">
                        <dgm:choose name="Name123">
                          <dgm:if name="Name124" axis="ch ch" ptType="node node" st="1 1" cnt="1 0" func="cnt" op="equ" val="1">
                            <dgm:alg type="cycle">
                              <dgm:param type="ctrShpMap" val="fNode"/>
                              <dgm:param type="stAng" val="0"/>
                            </dgm:alg>
                          </dgm:if>
                          <dgm:if name="Name125" axis="ch ch" ptType="node node" st="1 1" cnt="1 0" func="cnt" op="equ" val="2">
                            <dgm:alg type="cycle">
                              <dgm:param type="ctrShpMap" val="fNode"/>
                              <dgm:param type="stAng" val="45"/>
                              <dgm:param type="spanAng" val="-90"/>
                            </dgm:alg>
                          </dgm:if>
                          <dgm:else name="Name126">
                            <dgm:alg type="cycle">
                              <dgm:param type="ctrShpMap" val="fNode"/>
                              <dgm:param type="stAng" val="0"/>
                              <dgm:param type="spanAng" val="-360"/>
                            </dgm:alg>
                          </dgm:else>
                        </dgm:choose>
                      </dgm:if>
                      <dgm:if name="Name127" axis="ch" ptType="node" func="cnt" op="equ" val="6">
                        <dgm:choose name="Name128">
                          <dgm:if name="Name129" axis="ch ch" ptType="node node" st="1 1" cnt="1 0" func="cnt" op="equ" val="1">
                            <dgm:alg type="cycle">
                              <dgm:param type="ctrShpMap" val="fNode"/>
                              <dgm:param type="stAng" val="0"/>
                            </dgm:alg>
                          </dgm:if>
                          <dgm:if name="Name130" axis="ch ch" ptType="node node" st="1 1" cnt="1 0" func="cnt" op="equ" val="2">
                            <dgm:alg type="cycle">
                              <dgm:param type="ctrShpMap" val="fNode"/>
                              <dgm:param type="stAng" val="45"/>
                              <dgm:param type="spanAng" val="-90"/>
                            </dgm:alg>
                          </dgm:if>
                          <dgm:else name="Name131">
                            <dgm:alg type="cycle">
                              <dgm:param type="ctrShpMap" val="fNode"/>
                              <dgm:param type="stAng" val="0"/>
                              <dgm:param type="spanAng" val="-360"/>
                            </dgm:alg>
                          </dgm:else>
                        </dgm:choose>
                      </dgm:if>
                      <dgm:if name="Name132" axis="ch" ptType="node" func="cnt" op="gte" val="7">
                        <dgm:choose name="Name133">
                          <dgm:if name="Name134" axis="ch ch" ptType="node node" st="1 1" cnt="1 0" func="cnt" op="equ" val="1">
                            <dgm:alg type="cycle">
                              <dgm:param type="ctrShpMap" val="fNode"/>
                              <dgm:param type="stAng" val="0"/>
                            </dgm:alg>
                          </dgm:if>
                          <dgm:if name="Name135" axis="ch ch" ptType="node node" st="1 1" cnt="1 0" func="cnt" op="equ" val="2">
                            <dgm:alg type="cycle">
                              <dgm:param type="ctrShpMap" val="fNode"/>
                              <dgm:param type="stAng" val="45"/>
                              <dgm:param type="spanAng" val="-90"/>
                            </dgm:alg>
                          </dgm:if>
                          <dgm:else name="Name136">
                            <dgm:alg type="cycle">
                              <dgm:param type="ctrShpMap" val="fNode"/>
                              <dgm:param type="stAng" val="0"/>
                              <dgm:param type="spanAng" val="-360"/>
                            </dgm:alg>
                          </dgm:else>
                        </dgm:choose>
                      </dgm:if>
                      <dgm:else name="Name137"/>
                    </dgm:choose>
                  </dgm:else>
                </dgm:choose>
                <dgm:shape xmlns:r="http://schemas.openxmlformats.org/officeDocument/2006/relationships" r:blip="">
                  <dgm:adjLst/>
                </dgm:shape>
                <dgm:presOf/>
                <dgm:constrLst>
                  <dgm:constr type="sp" refType="w" fact="0.1"/>
                  <dgm:constr type="sibSp" refType="w" fact="0.1"/>
                </dgm:constrLst>
                <dgm:forEach name="Name138" axis="ch" ptType="node" cnt="1">
                  <dgm:layoutNode name="childCenter1"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139" axis="ch">
                    <dgm:forEach name="Name140" axis="self" ptType="parTrans">
                      <dgm:layoutNode name="Name141">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142" axis="self" ptType="node">
                      <dgm:layoutNode name="text1"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143" axis="ch" ptType="parTrans" cnt="1">
                <dgm:layoutNode name="Name144">
                  <dgm:alg type="conn">
                    <dgm:param type="dim" val="1D"/>
                    <dgm:param type="begPts" val="auto"/>
                    <dgm:param type="endPts" val="auto"/>
                    <dgm:param type="endSty" val="noArr"/>
                    <dgm:param type="srcNode" val="textCenter"/>
                    <dgm:param type="dstNode" val="childCenter1"/>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145"/>
          </dgm:choose>
          <dgm:choose name="Name146">
            <dgm:if name="Name147" axis="ch" ptType="node" func="cnt" op="gte" val="2">
              <dgm:layoutNode name="cycle_2">
                <dgm:choose name="Name148">
                  <dgm:if name="Name149" func="var" arg="dir" op="equ" val="norm">
                    <dgm:choose name="Name150">
                      <dgm:if name="Name151" axis="ch" ptType="node" func="cnt" op="equ" val="2">
                        <dgm:choose name="Name152">
                          <dgm:if name="Name153" axis="ch ch" ptType="node node" st="2 1" cnt="1 0" func="cnt" op="equ" val="1">
                            <dgm:alg type="cycle">
                              <dgm:param type="ctrShpMap" val="fNode"/>
                              <dgm:param type="stAng" val="180"/>
                            </dgm:alg>
                          </dgm:if>
                          <dgm:if name="Name154" axis="ch ch" ptType="node node" st="2 1" cnt="1 0" func="cnt" op="equ" val="2">
                            <dgm:alg type="cycle">
                              <dgm:param type="ctrShpMap" val="fNode"/>
                              <dgm:param type="stAng" val="135"/>
                              <dgm:param type="spanAng" val="90"/>
                            </dgm:alg>
                          </dgm:if>
                          <dgm:else name="Name155">
                            <dgm:alg type="cycle">
                              <dgm:param type="ctrShpMap" val="fNode"/>
                              <dgm:param type="stAng" val="90"/>
                              <dgm:param type="spanAng" val="180"/>
                            </dgm:alg>
                          </dgm:else>
                        </dgm:choose>
                      </dgm:if>
                      <dgm:if name="Name156" axis="ch" ptType="node" func="cnt" op="equ" val="3">
                        <dgm:choose name="Name157">
                          <dgm:if name="Name158" axis="ch ch" ptType="node node" st="2 1" cnt="1 0" func="cnt" op="equ" val="1">
                            <dgm:alg type="cycle">
                              <dgm:param type="ctrShpMap" val="fNode"/>
                              <dgm:param type="stAng" val="120"/>
                              <dgm:param type="horzAlign" val="r"/>
                              <dgm:param type="vertAlign" val="b"/>
                            </dgm:alg>
                          </dgm:if>
                          <dgm:if name="Name159" axis="ch ch" ptType="node node" st="2 1" cnt="1 0" func="cnt" op="equ" val="2">
                            <dgm:alg type="cycle">
                              <dgm:param type="ctrShpMap" val="fNode"/>
                              <dgm:param type="stAng" val="75"/>
                              <dgm:param type="spanAng" val="90"/>
                              <dgm:param type="horzAlign" val="r"/>
                              <dgm:param type="vertAlign" val="b"/>
                            </dgm:alg>
                          </dgm:if>
                          <dgm:else name="Name160">
                            <dgm:alg type="cycle">
                              <dgm:param type="ctrShpMap" val="fNode"/>
                              <dgm:param type="stAng" val="30"/>
                              <dgm:param type="spanAng" val="180"/>
                            </dgm:alg>
                          </dgm:else>
                        </dgm:choose>
                      </dgm:if>
                      <dgm:if name="Name161" axis="ch" ptType="node" func="cnt" op="equ" val="4">
                        <dgm:choose name="Name162">
                          <dgm:if name="Name163" axis="ch ch" ptType="node node" st="2 1" cnt="1 0" func="cnt" op="equ" val="1">
                            <dgm:alg type="cycle">
                              <dgm:param type="ctrShpMap" val="fNode"/>
                              <dgm:param type="stAng" val="90"/>
                            </dgm:alg>
                          </dgm:if>
                          <dgm:if name="Name164" axis="ch ch" ptType="node node" st="2 1" cnt="1 0" func="cnt" op="equ" val="2">
                            <dgm:alg type="cycle">
                              <dgm:param type="ctrShpMap" val="fNode"/>
                              <dgm:param type="stAng" val="45"/>
                              <dgm:param type="spanAng" val="90"/>
                            </dgm:alg>
                          </dgm:if>
                          <dgm:else name="Name165">
                            <dgm:alg type="cycle">
                              <dgm:param type="ctrShpMap" val="fNode"/>
                              <dgm:param type="stAng" val="22.5"/>
                              <dgm:param type="spanAng" val="135"/>
                            </dgm:alg>
                          </dgm:else>
                        </dgm:choose>
                      </dgm:if>
                      <dgm:if name="Name166" axis="ch" ptType="node" func="cnt" op="equ" val="5">
                        <dgm:choose name="Name167">
                          <dgm:if name="Name168" axis="ch ch" ptType="node node" st="2 1" cnt="1 0" func="cnt" op="equ" val="1">
                            <dgm:alg type="cycle">
                              <dgm:param type="ctrShpMap" val="fNode"/>
                              <dgm:param type="stAng" val="72"/>
                            </dgm:alg>
                          </dgm:if>
                          <dgm:if name="Name169" axis="ch ch" ptType="node node" st="2 1" cnt="1 0" func="cnt" op="equ" val="2">
                            <dgm:alg type="cycle">
                              <dgm:param type="ctrShpMap" val="fNode"/>
                              <dgm:param type="stAng" val="27"/>
                              <dgm:param type="spanAng" val="90"/>
                            </dgm:alg>
                          </dgm:if>
                          <dgm:else name="Name170">
                            <dgm:alg type="cycle">
                              <dgm:param type="ctrShpMap" val="fNode"/>
                              <dgm:param type="stAng" val="0"/>
                              <dgm:param type="spanAng" val="360"/>
                            </dgm:alg>
                          </dgm:else>
                        </dgm:choose>
                      </dgm:if>
                      <dgm:if name="Name171" axis="ch" ptType="node" func="cnt" op="equ" val="6">
                        <dgm:choose name="Name172">
                          <dgm:if name="Name173" axis="ch ch" ptType="node node" st="2 1" cnt="1 0" func="cnt" op="equ" val="1">
                            <dgm:alg type="cycle">
                              <dgm:param type="ctrShpMap" val="fNode"/>
                              <dgm:param type="stAng" val="60"/>
                            </dgm:alg>
                          </dgm:if>
                          <dgm:if name="Name174" axis="ch ch" ptType="node node" st="2 1" cnt="1 0" func="cnt" op="equ" val="2">
                            <dgm:alg type="cycle">
                              <dgm:param type="ctrShpMap" val="fNode"/>
                              <dgm:param type="stAng" val="15"/>
                              <dgm:param type="spanAng" val="90"/>
                            </dgm:alg>
                          </dgm:if>
                          <dgm:else name="Name175">
                            <dgm:alg type="cycle">
                              <dgm:param type="ctrShpMap" val="fNode"/>
                              <dgm:param type="stAng" val="0"/>
                              <dgm:param type="spanAng" val="360"/>
                            </dgm:alg>
                          </dgm:else>
                        </dgm:choose>
                      </dgm:if>
                      <dgm:if name="Name176" axis="ch" ptType="node" func="cnt" op="gte" val="7">
                        <dgm:choose name="Name177">
                          <dgm:if name="Name178" axis="ch ch" ptType="node node" st="2 1" cnt="1 0" func="cnt" op="equ" val="1">
                            <dgm:alg type="cycle">
                              <dgm:param type="ctrShpMap" val="fNode"/>
                              <dgm:param type="stAng" val="51"/>
                            </dgm:alg>
                          </dgm:if>
                          <dgm:if name="Name179" axis="ch ch" ptType="node node" st="2 1" cnt="1 0" func="cnt" op="equ" val="2">
                            <dgm:alg type="cycle">
                              <dgm:param type="ctrShpMap" val="fNode"/>
                              <dgm:param type="stAng" val="6"/>
                              <dgm:param type="spanAng" val="90"/>
                            </dgm:alg>
                          </dgm:if>
                          <dgm:else name="Name180">
                            <dgm:alg type="cycle">
                              <dgm:param type="ctrShpMap" val="fNode"/>
                              <dgm:param type="stAng" val="0"/>
                              <dgm:param type="spanAng" val="360"/>
                            </dgm:alg>
                          </dgm:else>
                        </dgm:choose>
                      </dgm:if>
                      <dgm:else name="Name181"/>
                    </dgm:choose>
                  </dgm:if>
                  <dgm:else name="Name182">
                    <dgm:choose name="Name183">
                      <dgm:if name="Name184" axis="ch" ptType="node" func="cnt" op="equ" val="2">
                        <dgm:choose name="Name185">
                          <dgm:if name="Name186" axis="ch ch" ptType="node node" st="2 1" cnt="1 0" func="cnt" op="equ" val="1">
                            <dgm:alg type="cycle">
                              <dgm:param type="ctrShpMap" val="fNode"/>
                              <dgm:param type="stAng" val="180"/>
                            </dgm:alg>
                          </dgm:if>
                          <dgm:if name="Name187" axis="ch ch" ptType="node node" st="2 1" cnt="1 0" func="cnt" op="equ" val="2">
                            <dgm:alg type="cycle">
                              <dgm:param type="ctrShpMap" val="fNode"/>
                              <dgm:param type="stAng" val="225"/>
                              <dgm:param type="spanAng" val="-90"/>
                            </dgm:alg>
                          </dgm:if>
                          <dgm:else name="Name188">
                            <dgm:alg type="cycle">
                              <dgm:param type="ctrShpMap" val="fNode"/>
                              <dgm:param type="stAng" val="270"/>
                              <dgm:param type="spanAng" val="-180"/>
                            </dgm:alg>
                          </dgm:else>
                        </dgm:choose>
                      </dgm:if>
                      <dgm:if name="Name189" axis="ch" ptType="node" func="cnt" op="equ" val="3">
                        <dgm:choose name="Name190">
                          <dgm:if name="Name191" axis="ch ch" ptType="node node" st="2 1" cnt="1 0" func="cnt" op="equ" val="1">
                            <dgm:alg type="cycle">
                              <dgm:param type="ctrShpMap" val="fNode"/>
                              <dgm:param type="stAng" val="240"/>
                              <dgm:param type="horzAlign" val="l"/>
                              <dgm:param type="vertAlign" val="b"/>
                            </dgm:alg>
                          </dgm:if>
                          <dgm:if name="Name192" axis="ch ch" ptType="node node" st="2 1" cnt="1 0" func="cnt" op="equ" val="2">
                            <dgm:alg type="cycle">
                              <dgm:param type="ctrShpMap" val="fNode"/>
                              <dgm:param type="stAng" val="285"/>
                              <dgm:param type="spanAng" val="-90"/>
                              <dgm:param type="horzAlign" val="l"/>
                              <dgm:param type="vertAlign" val="b"/>
                            </dgm:alg>
                          </dgm:if>
                          <dgm:else name="Name193">
                            <dgm:alg type="cycle">
                              <dgm:param type="ctrShpMap" val="fNode"/>
                              <dgm:param type="stAng" val="330"/>
                              <dgm:param type="spanAng" val="-180"/>
                            </dgm:alg>
                          </dgm:else>
                        </dgm:choose>
                      </dgm:if>
                      <dgm:if name="Name194" axis="ch" ptType="node" func="cnt" op="equ" val="4">
                        <dgm:choose name="Name195">
                          <dgm:if name="Name196" axis="ch ch" ptType="node node" st="2 1" cnt="1 0" func="cnt" op="equ" val="1">
                            <dgm:alg type="cycle">
                              <dgm:param type="ctrShpMap" val="fNode"/>
                              <dgm:param type="stAng" val="270"/>
                            </dgm:alg>
                          </dgm:if>
                          <dgm:if name="Name197" axis="ch ch" ptType="node node" st="2 1" cnt="1 0" func="cnt" op="equ" val="2">
                            <dgm:alg type="cycle">
                              <dgm:param type="ctrShpMap" val="fNode"/>
                              <dgm:param type="stAng" val="315"/>
                              <dgm:param type="spanAng" val="-90"/>
                            </dgm:alg>
                          </dgm:if>
                          <dgm:else name="Name198">
                            <dgm:alg type="cycle">
                              <dgm:param type="ctrShpMap" val="fNode"/>
                              <dgm:param type="stAng" val="337.5"/>
                              <dgm:param type="spanAng" val="-135"/>
                            </dgm:alg>
                          </dgm:else>
                        </dgm:choose>
                      </dgm:if>
                      <dgm:if name="Name199" axis="ch" ptType="node" func="cnt" op="equ" val="5">
                        <dgm:choose name="Name200">
                          <dgm:if name="Name201" axis="ch ch" ptType="node node" st="2 1" cnt="1 0" func="cnt" op="equ" val="1">
                            <dgm:alg type="cycle">
                              <dgm:param type="ctrShpMap" val="fNode"/>
                              <dgm:param type="stAng" val="288"/>
                            </dgm:alg>
                          </dgm:if>
                          <dgm:if name="Name202" axis="ch ch" ptType="node node" st="2 1" cnt="1 0" func="cnt" op="equ" val="2">
                            <dgm:alg type="cycle">
                              <dgm:param type="ctrShpMap" val="fNode"/>
                              <dgm:param type="stAng" val="333"/>
                              <dgm:param type="spanAng" val="-90"/>
                            </dgm:alg>
                          </dgm:if>
                          <dgm:else name="Name203">
                            <dgm:alg type="cycle">
                              <dgm:param type="ctrShpMap" val="fNode"/>
                              <dgm:param type="stAng" val="0"/>
                              <dgm:param type="spanAng" val="-360"/>
                            </dgm:alg>
                          </dgm:else>
                        </dgm:choose>
                      </dgm:if>
                      <dgm:if name="Name204" axis="ch" ptType="node" func="cnt" op="equ" val="6">
                        <dgm:choose name="Name205">
                          <dgm:if name="Name206" axis="ch ch" ptType="node node" st="2 1" cnt="1 0" func="cnt" op="equ" val="1">
                            <dgm:alg type="cycle">
                              <dgm:param type="ctrShpMap" val="fNode"/>
                              <dgm:param type="stAng" val="300"/>
                            </dgm:alg>
                          </dgm:if>
                          <dgm:if name="Name207" axis="ch ch" ptType="node node" st="2 1" cnt="1 0" func="cnt" op="equ" val="2">
                            <dgm:alg type="cycle">
                              <dgm:param type="ctrShpMap" val="fNode"/>
                              <dgm:param type="stAng" val="345"/>
                              <dgm:param type="spanAng" val="-90"/>
                            </dgm:alg>
                          </dgm:if>
                          <dgm:else name="Name208">
                            <dgm:alg type="cycle">
                              <dgm:param type="ctrShpMap" val="fNode"/>
                              <dgm:param type="stAng" val="0"/>
                              <dgm:param type="spanAng" val="-360"/>
                            </dgm:alg>
                          </dgm:else>
                        </dgm:choose>
                      </dgm:if>
                      <dgm:if name="Name209" axis="ch" ptType="node" func="cnt" op="gte" val="7">
                        <dgm:choose name="Name210">
                          <dgm:if name="Name211" axis="ch ch" ptType="node node" st="2 1" cnt="1 0" func="cnt" op="equ" val="1">
                            <dgm:alg type="cycle">
                              <dgm:param type="ctrShpMap" val="fNode"/>
                              <dgm:param type="stAng" val="308"/>
                            </dgm:alg>
                          </dgm:if>
                          <dgm:if name="Name212" axis="ch ch" ptType="node node" st="2 1" cnt="1 0" func="cnt" op="equ" val="2">
                            <dgm:alg type="cycle">
                              <dgm:param type="ctrShpMap" val="fNode"/>
                              <dgm:param type="stAng" val="353"/>
                              <dgm:param type="spanAng" val="-90"/>
                            </dgm:alg>
                          </dgm:if>
                          <dgm:else name="Name213">
                            <dgm:alg type="cycle">
                              <dgm:param type="ctrShpMap" val="fNode"/>
                              <dgm:param type="stAng" val="0"/>
                              <dgm:param type="spanAng" val="-360"/>
                            </dgm:alg>
                          </dgm:else>
                        </dgm:choose>
                      </dgm:if>
                      <dgm:else name="Name214"/>
                    </dgm:choose>
                  </dgm:else>
                </dgm:choose>
                <dgm:shape xmlns:r="http://schemas.openxmlformats.org/officeDocument/2006/relationships" r:blip="">
                  <dgm:adjLst/>
                </dgm:shape>
                <dgm:presOf/>
                <dgm:constrLst>
                  <dgm:constr type="sp" refType="w" fact="0.1"/>
                  <dgm:constr type="sibSp" refType="w" fact="0.1"/>
                </dgm:constrLst>
                <dgm:forEach name="Name215" axis="ch" ptType="node" st="2" cnt="1">
                  <dgm:layoutNode name="childCenter2"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16" axis="ch">
                    <dgm:forEach name="Name217" axis="self" ptType="parTrans">
                      <dgm:layoutNode name="Name218">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19" axis="self" ptType="node">
                      <dgm:layoutNode name="text2"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20" axis="ch" ptType="parTrans" st="2" cnt="1">
                <dgm:layoutNode name="Name221">
                  <dgm:alg type="conn">
                    <dgm:param type="dim" val="1D"/>
                    <dgm:param type="begPts" val="auto"/>
                    <dgm:param type="endPts" val="auto"/>
                    <dgm:param type="endSty" val="noArr"/>
                    <dgm:param type="srcNode" val="textCenter"/>
                    <dgm:param type="dstNode" val="childCenter2"/>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22"/>
          </dgm:choose>
          <dgm:choose name="Name223">
            <dgm:if name="Name224" axis="ch" ptType="node" func="cnt" op="gte" val="3">
              <dgm:layoutNode name="cycle_3">
                <dgm:choose name="Name225">
                  <dgm:if name="Name226" func="var" arg="dir" op="equ" val="norm">
                    <dgm:choose name="Name227">
                      <dgm:if name="Name228" axis="ch" ptType="node" func="cnt" op="equ" val="3">
                        <dgm:choose name="Name229">
                          <dgm:if name="Name230" axis="ch ch" ptType="node node" st="3 1" cnt="1 0" func="cnt" op="equ" val="1">
                            <dgm:alg type="cycle">
                              <dgm:param type="ctrShpMap" val="fNode"/>
                              <dgm:param type="stAng" val="240"/>
                              <dgm:param type="horzAlign" val="l"/>
                              <dgm:param type="vertAlign" val="b"/>
                            </dgm:alg>
                          </dgm:if>
                          <dgm:if name="Name231" axis="ch ch" ptType="node node" st="3 1" cnt="1 0" func="cnt" op="equ" val="2">
                            <dgm:alg type="cycle">
                              <dgm:param type="ctrShpMap" val="fNode"/>
                              <dgm:param type="stAng" val="195"/>
                              <dgm:param type="spanAng" val="90"/>
                              <dgm:param type="horzAlign" val="l"/>
                              <dgm:param type="vertAlign" val="b"/>
                            </dgm:alg>
                          </dgm:if>
                          <dgm:else name="Name232">
                            <dgm:alg type="cycle">
                              <dgm:param type="ctrShpMap" val="fNode"/>
                              <dgm:param type="stAng" val="150"/>
                              <dgm:param type="spanAng" val="180"/>
                            </dgm:alg>
                          </dgm:else>
                        </dgm:choose>
                      </dgm:if>
                      <dgm:if name="Name233" axis="ch" ptType="node" func="cnt" op="equ" val="4">
                        <dgm:choose name="Name234">
                          <dgm:if name="Name235" axis="ch ch" ptType="node node" st="3 1" cnt="1 0" func="cnt" op="equ" val="1">
                            <dgm:alg type="cycle">
                              <dgm:param type="ctrShpMap" val="fNode"/>
                              <dgm:param type="stAng" val="180"/>
                            </dgm:alg>
                          </dgm:if>
                          <dgm:if name="Name236" axis="ch ch" ptType="node node" st="3 1" cnt="1 0" func="cnt" op="equ" val="2">
                            <dgm:alg type="cycle">
                              <dgm:param type="ctrShpMap" val="fNode"/>
                              <dgm:param type="stAng" val="135"/>
                              <dgm:param type="spanAng" val="90"/>
                            </dgm:alg>
                          </dgm:if>
                          <dgm:else name="Name237">
                            <dgm:alg type="cycle">
                              <dgm:param type="ctrShpMap" val="fNode"/>
                              <dgm:param type="stAng" val="112.5"/>
                              <dgm:param type="spanAng" val="135"/>
                            </dgm:alg>
                          </dgm:else>
                        </dgm:choose>
                      </dgm:if>
                      <dgm:if name="Name238" axis="ch" ptType="node" func="cnt" op="equ" val="5">
                        <dgm:choose name="Name239">
                          <dgm:if name="Name240" axis="ch ch" ptType="node node" st="3 1" cnt="1 0" func="cnt" op="equ" val="1">
                            <dgm:alg type="cycle">
                              <dgm:param type="ctrShpMap" val="fNode"/>
                              <dgm:param type="stAng" val="144"/>
                            </dgm:alg>
                          </dgm:if>
                          <dgm:if name="Name241" axis="ch ch" ptType="node node" st="3 1" cnt="1 0" func="cnt" op="equ" val="2">
                            <dgm:alg type="cycle">
                              <dgm:param type="ctrShpMap" val="fNode"/>
                              <dgm:param type="stAng" val="99"/>
                              <dgm:param type="spanAng" val="90"/>
                            </dgm:alg>
                          </dgm:if>
                          <dgm:else name="Name242">
                            <dgm:alg type="cycle">
                              <dgm:param type="ctrShpMap" val="fNode"/>
                              <dgm:param type="stAng" val="0"/>
                              <dgm:param type="spanAng" val="360"/>
                            </dgm:alg>
                          </dgm:else>
                        </dgm:choose>
                      </dgm:if>
                      <dgm:if name="Name243" axis="ch" ptType="node" func="cnt" op="equ" val="6">
                        <dgm:choose name="Name244">
                          <dgm:if name="Name245" axis="ch ch" ptType="node node" st="3 1" cnt="1 0" func="cnt" op="equ" val="1">
                            <dgm:alg type="cycle">
                              <dgm:param type="ctrShpMap" val="fNode"/>
                              <dgm:param type="stAng" val="120"/>
                            </dgm:alg>
                          </dgm:if>
                          <dgm:if name="Name246" axis="ch ch" ptType="node node" st="3 1" cnt="1 0" func="cnt" op="equ" val="2">
                            <dgm:alg type="cycle">
                              <dgm:param type="ctrShpMap" val="fNode"/>
                              <dgm:param type="stAng" val="75"/>
                              <dgm:param type="spanAng" val="90"/>
                            </dgm:alg>
                          </dgm:if>
                          <dgm:else name="Name247">
                            <dgm:alg type="cycle">
                              <dgm:param type="ctrShpMap" val="fNode"/>
                              <dgm:param type="stAng" val="0"/>
                              <dgm:param type="spanAng" val="360"/>
                            </dgm:alg>
                          </dgm:else>
                        </dgm:choose>
                      </dgm:if>
                      <dgm:if name="Name248" axis="ch" ptType="node" func="cnt" op="gte" val="7">
                        <dgm:choose name="Name249">
                          <dgm:if name="Name250" axis="ch ch" ptType="node node" st="3 1" cnt="1 0" func="cnt" op="equ" val="1">
                            <dgm:alg type="cycle">
                              <dgm:param type="ctrShpMap" val="fNode"/>
                              <dgm:param type="stAng" val="102"/>
                            </dgm:alg>
                          </dgm:if>
                          <dgm:if name="Name251" axis="ch ch" ptType="node node" st="3 1" cnt="1 0" func="cnt" op="equ" val="2">
                            <dgm:alg type="cycle">
                              <dgm:param type="ctrShpMap" val="fNode"/>
                              <dgm:param type="stAng" val="57"/>
                              <dgm:param type="spanAng" val="90"/>
                            </dgm:alg>
                          </dgm:if>
                          <dgm:else name="Name252">
                            <dgm:alg type="cycle">
                              <dgm:param type="ctrShpMap" val="fNode"/>
                              <dgm:param type="stAng" val="0"/>
                              <dgm:param type="spanAng" val="360"/>
                            </dgm:alg>
                          </dgm:else>
                        </dgm:choose>
                      </dgm:if>
                      <dgm:else name="Name253"/>
                    </dgm:choose>
                  </dgm:if>
                  <dgm:else name="Name254">
                    <dgm:choose name="Name255">
                      <dgm:if name="Name256" axis="ch" ptType="node" func="cnt" op="equ" val="3">
                        <dgm:choose name="Name257">
                          <dgm:if name="Name258" axis="ch ch" ptType="node node" st="3 1" cnt="1 0" func="cnt" op="equ" val="1">
                            <dgm:alg type="cycle">
                              <dgm:param type="ctrShpMap" val="fNode"/>
                              <dgm:param type="stAng" val="120"/>
                              <dgm:param type="horzAlign" val="r"/>
                              <dgm:param type="vertAlign" val="b"/>
                            </dgm:alg>
                          </dgm:if>
                          <dgm:if name="Name259" axis="ch ch" ptType="node node" st="3 1" cnt="1 0" func="cnt" op="equ" val="2">
                            <dgm:alg type="cycle">
                              <dgm:param type="ctrShpMap" val="fNode"/>
                              <dgm:param type="stAng" val="165"/>
                              <dgm:param type="spanAng" val="-90"/>
                              <dgm:param type="horzAlign" val="r"/>
                              <dgm:param type="vertAlign" val="b"/>
                            </dgm:alg>
                          </dgm:if>
                          <dgm:else name="Name260">
                            <dgm:alg type="cycle">
                              <dgm:param type="ctrShpMap" val="fNode"/>
                              <dgm:param type="stAng" val="210"/>
                              <dgm:param type="spanAng" val="-180"/>
                            </dgm:alg>
                          </dgm:else>
                        </dgm:choose>
                      </dgm:if>
                      <dgm:if name="Name261" axis="ch" ptType="node" func="cnt" op="equ" val="4">
                        <dgm:choose name="Name262">
                          <dgm:if name="Name263" axis="ch ch" ptType="node node" st="3 1" cnt="1 0" func="cnt" op="equ" val="1">
                            <dgm:alg type="cycle">
                              <dgm:param type="ctrShpMap" val="fNode"/>
                              <dgm:param type="stAng" val="180"/>
                            </dgm:alg>
                          </dgm:if>
                          <dgm:if name="Name264" axis="ch ch" ptType="node node" st="3 1" cnt="1 0" func="cnt" op="equ" val="2">
                            <dgm:alg type="cycle">
                              <dgm:param type="ctrShpMap" val="fNode"/>
                              <dgm:param type="stAng" val="225"/>
                              <dgm:param type="spanAng" val="-90"/>
                            </dgm:alg>
                          </dgm:if>
                          <dgm:else name="Name265">
                            <dgm:alg type="cycle">
                              <dgm:param type="ctrShpMap" val="fNode"/>
                              <dgm:param type="stAng" val="247.5"/>
                              <dgm:param type="spanAng" val="-135"/>
                            </dgm:alg>
                          </dgm:else>
                        </dgm:choose>
                      </dgm:if>
                      <dgm:if name="Name266" axis="ch" ptType="node" func="cnt" op="equ" val="5">
                        <dgm:choose name="Name267">
                          <dgm:if name="Name268" axis="ch ch" ptType="node node" st="3 1" cnt="1 0" func="cnt" op="equ" val="1">
                            <dgm:alg type="cycle">
                              <dgm:param type="ctrShpMap" val="fNode"/>
                              <dgm:param type="stAng" val="216"/>
                            </dgm:alg>
                          </dgm:if>
                          <dgm:if name="Name269" axis="ch ch" ptType="node node" st="3 1" cnt="1 0" func="cnt" op="equ" val="2">
                            <dgm:alg type="cycle">
                              <dgm:param type="ctrShpMap" val="fNode"/>
                              <dgm:param type="stAng" val="261"/>
                              <dgm:param type="spanAng" val="-90"/>
                            </dgm:alg>
                          </dgm:if>
                          <dgm:else name="Name270">
                            <dgm:alg type="cycle">
                              <dgm:param type="ctrShpMap" val="fNode"/>
                              <dgm:param type="stAng" val="0"/>
                              <dgm:param type="spanAng" val="-360"/>
                            </dgm:alg>
                          </dgm:else>
                        </dgm:choose>
                      </dgm:if>
                      <dgm:if name="Name271" axis="ch" ptType="node" func="cnt" op="equ" val="6">
                        <dgm:choose name="Name272">
                          <dgm:if name="Name273" axis="ch ch" ptType="node node" st="3 1" cnt="1 0" func="cnt" op="equ" val="1">
                            <dgm:alg type="cycle">
                              <dgm:param type="ctrShpMap" val="fNode"/>
                              <dgm:param type="stAng" val="240"/>
                            </dgm:alg>
                          </dgm:if>
                          <dgm:if name="Name274" axis="ch ch" ptType="node node" st="3 1" cnt="1 0" func="cnt" op="equ" val="2">
                            <dgm:alg type="cycle">
                              <dgm:param type="ctrShpMap" val="fNode"/>
                              <dgm:param type="stAng" val="285"/>
                              <dgm:param type="spanAng" val="-90"/>
                            </dgm:alg>
                          </dgm:if>
                          <dgm:else name="Name275">
                            <dgm:alg type="cycle">
                              <dgm:param type="ctrShpMap" val="fNode"/>
                              <dgm:param type="stAng" val="0"/>
                              <dgm:param type="spanAng" val="-360"/>
                            </dgm:alg>
                          </dgm:else>
                        </dgm:choose>
                      </dgm:if>
                      <dgm:if name="Name276" axis="ch" ptType="node" func="cnt" op="gte" val="7">
                        <dgm:choose name="Name277">
                          <dgm:if name="Name278" axis="ch ch" ptType="node node" st="3 1" cnt="1 0" func="cnt" op="equ" val="1">
                            <dgm:alg type="cycle">
                              <dgm:param type="ctrShpMap" val="fNode"/>
                              <dgm:param type="stAng" val="257"/>
                            </dgm:alg>
                          </dgm:if>
                          <dgm:if name="Name279" axis="ch ch" ptType="node node" st="3 1" cnt="1 0" func="cnt" op="equ" val="2">
                            <dgm:alg type="cycle">
                              <dgm:param type="ctrShpMap" val="fNode"/>
                              <dgm:param type="stAng" val="302"/>
                              <dgm:param type="spanAng" val="-90"/>
                            </dgm:alg>
                          </dgm:if>
                          <dgm:else name="Name280">
                            <dgm:alg type="cycle">
                              <dgm:param type="ctrShpMap" val="fNode"/>
                              <dgm:param type="stAng" val="0"/>
                              <dgm:param type="spanAng" val="-360"/>
                            </dgm:alg>
                          </dgm:else>
                        </dgm:choose>
                      </dgm:if>
                      <dgm:else name="Name281"/>
                    </dgm:choose>
                  </dgm:else>
                </dgm:choose>
                <dgm:shape xmlns:r="http://schemas.openxmlformats.org/officeDocument/2006/relationships" r:blip="">
                  <dgm:adjLst/>
                </dgm:shape>
                <dgm:presOf/>
                <dgm:constrLst>
                  <dgm:constr type="sp" refType="w" fact="0.1"/>
                  <dgm:constr type="sibSp" refType="w" fact="0.1"/>
                </dgm:constrLst>
                <dgm:forEach name="Name282" axis="ch" ptType="node" st="3" cnt="1">
                  <dgm:layoutNode name="childCenter3"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83" axis="ch">
                    <dgm:forEach name="Name284" axis="self" ptType="parTrans">
                      <dgm:layoutNode name="Name285">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86" axis="self" ptType="node">
                      <dgm:layoutNode name="text3"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87" axis="ch" ptType="parTrans" st="3" cnt="1">
                <dgm:layoutNode name="Name288">
                  <dgm:alg type="conn">
                    <dgm:param type="dim" val="1D"/>
                    <dgm:param type="begPts" val="auto"/>
                    <dgm:param type="endPts" val="auto"/>
                    <dgm:param type="endSty" val="noArr"/>
                    <dgm:param type="srcNode" val="textCenter"/>
                    <dgm:param type="dstNode" val="childCenter3"/>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89"/>
          </dgm:choose>
          <dgm:choose name="Name290">
            <dgm:if name="Name291" axis="ch" ptType="node" func="cnt" op="gte" val="4">
              <dgm:layoutNode name="cycle_4">
                <dgm:choose name="Name292">
                  <dgm:if name="Name293" func="var" arg="dir" op="equ" val="norm">
                    <dgm:choose name="Name294">
                      <dgm:if name="Name295" axis="ch" ptType="node" func="cnt" op="equ" val="4">
                        <dgm:choose name="Name296">
                          <dgm:if name="Name297" axis="ch ch" ptType="node node" st="4 1" cnt="1 0" func="cnt" op="equ" val="1">
                            <dgm:alg type="cycle">
                              <dgm:param type="ctrShpMap" val="fNode"/>
                              <dgm:param type="stAng" val="270"/>
                            </dgm:alg>
                          </dgm:if>
                          <dgm:if name="Name298" axis="ch ch" ptType="node node" st="4 1" cnt="1 0" func="cnt" op="equ" val="2">
                            <dgm:alg type="cycle">
                              <dgm:param type="ctrShpMap" val="fNode"/>
                              <dgm:param type="stAng" val="225"/>
                              <dgm:param type="spanAng" val="90"/>
                            </dgm:alg>
                          </dgm:if>
                          <dgm:else name="Name299">
                            <dgm:alg type="cycle">
                              <dgm:param type="ctrShpMap" val="fNode"/>
                              <dgm:param type="stAng" val="202.5"/>
                              <dgm:param type="spanAng" val="135"/>
                            </dgm:alg>
                          </dgm:else>
                        </dgm:choose>
                      </dgm:if>
                      <dgm:if name="Name300" axis="ch" ptType="node" func="cnt" op="equ" val="5">
                        <dgm:choose name="Name301">
                          <dgm:if name="Name302" axis="ch ch" ptType="node node" st="4 1" cnt="1 0" func="cnt" op="equ" val="1">
                            <dgm:alg type="cycle">
                              <dgm:param type="ctrShpMap" val="fNode"/>
                              <dgm:param type="stAng" val="216"/>
                            </dgm:alg>
                          </dgm:if>
                          <dgm:if name="Name303" axis="ch ch" ptType="node node" st="4 1" cnt="1 0" func="cnt" op="equ" val="2">
                            <dgm:alg type="cycle">
                              <dgm:param type="ctrShpMap" val="fNode"/>
                              <dgm:param type="stAng" val="171"/>
                              <dgm:param type="spanAng" val="90"/>
                            </dgm:alg>
                          </dgm:if>
                          <dgm:else name="Name304">
                            <dgm:alg type="cycle">
                              <dgm:param type="ctrShpMap" val="fNode"/>
                              <dgm:param type="stAng" val="0"/>
                              <dgm:param type="spanAng" val="360"/>
                            </dgm:alg>
                          </dgm:else>
                        </dgm:choose>
                      </dgm:if>
                      <dgm:if name="Name305" axis="ch" ptType="node" func="cnt" op="equ" val="6">
                        <dgm:choose name="Name306">
                          <dgm:if name="Name307" axis="ch ch" ptType="node node" st="4 1" cnt="1 0" func="cnt" op="equ" val="1">
                            <dgm:alg type="cycle">
                              <dgm:param type="ctrShpMap" val="fNode"/>
                              <dgm:param type="stAng" val="180"/>
                            </dgm:alg>
                          </dgm:if>
                          <dgm:if name="Name308" axis="ch ch" ptType="node node" st="4 1" cnt="1 0" func="cnt" op="equ" val="2">
                            <dgm:alg type="cycle">
                              <dgm:param type="ctrShpMap" val="fNode"/>
                              <dgm:param type="stAng" val="135"/>
                              <dgm:param type="spanAng" val="90"/>
                            </dgm:alg>
                          </dgm:if>
                          <dgm:else name="Name309">
                            <dgm:alg type="cycle">
                              <dgm:param type="ctrShpMap" val="fNode"/>
                              <dgm:param type="stAng" val="0"/>
                              <dgm:param type="spanAng" val="360"/>
                            </dgm:alg>
                          </dgm:else>
                        </dgm:choose>
                      </dgm:if>
                      <dgm:if name="Name310" axis="ch" ptType="node" func="cnt" op="gte" val="7">
                        <dgm:choose name="Name311">
                          <dgm:if name="Name312" axis="ch ch" ptType="node node" st="4 1" cnt="1 0" func="cnt" op="equ" val="1">
                            <dgm:alg type="cycle">
                              <dgm:param type="ctrShpMap" val="fNode"/>
                              <dgm:param type="stAng" val="154"/>
                            </dgm:alg>
                          </dgm:if>
                          <dgm:if name="Name313" axis="ch ch" ptType="node node" st="4 1" cnt="1 0" func="cnt" op="equ" val="2">
                            <dgm:alg type="cycle">
                              <dgm:param type="ctrShpMap" val="fNode"/>
                              <dgm:param type="stAng" val="109"/>
                              <dgm:param type="spanAng" val="90"/>
                            </dgm:alg>
                          </dgm:if>
                          <dgm:else name="Name314">
                            <dgm:alg type="cycle">
                              <dgm:param type="ctrShpMap" val="fNode"/>
                              <dgm:param type="stAng" val="0"/>
                              <dgm:param type="spanAng" val="360"/>
                            </dgm:alg>
                          </dgm:else>
                        </dgm:choose>
                      </dgm:if>
                      <dgm:else name="Name315"/>
                    </dgm:choose>
                  </dgm:if>
                  <dgm:else name="Name316">
                    <dgm:choose name="Name317">
                      <dgm:if name="Name318" axis="ch" ptType="node" func="cnt" op="equ" val="4">
                        <dgm:choose name="Name319">
                          <dgm:if name="Name320" axis="ch ch" ptType="node node" st="4 1" cnt="1 0" func="cnt" op="equ" val="1">
                            <dgm:alg type="cycle">
                              <dgm:param type="ctrShpMap" val="fNode"/>
                              <dgm:param type="stAng" val="90"/>
                            </dgm:alg>
                          </dgm:if>
                          <dgm:if name="Name321" axis="ch ch" ptType="node node" st="4 1" cnt="1 0" func="cnt" op="equ" val="2">
                            <dgm:alg type="cycle">
                              <dgm:param type="ctrShpMap" val="fNode"/>
                              <dgm:param type="stAng" val="135"/>
                              <dgm:param type="spanAng" val="-90"/>
                            </dgm:alg>
                          </dgm:if>
                          <dgm:else name="Name322">
                            <dgm:alg type="cycle">
                              <dgm:param type="ctrShpMap" val="fNode"/>
                              <dgm:param type="stAng" val="157.5"/>
                              <dgm:param type="spanAng" val="-135"/>
                            </dgm:alg>
                          </dgm:else>
                        </dgm:choose>
                      </dgm:if>
                      <dgm:if name="Name323" axis="ch" ptType="node" func="cnt" op="equ" val="5">
                        <dgm:choose name="Name324">
                          <dgm:if name="Name325" axis="ch ch" ptType="node node" st="4 1" cnt="1 0" func="cnt" op="equ" val="1">
                            <dgm:alg type="cycle">
                              <dgm:param type="ctrShpMap" val="fNode"/>
                              <dgm:param type="stAng" val="144"/>
                            </dgm:alg>
                          </dgm:if>
                          <dgm:if name="Name326" axis="ch ch" ptType="node node" st="4 1" cnt="1 0" func="cnt" op="equ" val="2">
                            <dgm:alg type="cycle">
                              <dgm:param type="ctrShpMap" val="fNode"/>
                              <dgm:param type="stAng" val="189"/>
                              <dgm:param type="spanAng" val="-90"/>
                            </dgm:alg>
                          </dgm:if>
                          <dgm:else name="Name327">
                            <dgm:alg type="cycle">
                              <dgm:param type="ctrShpMap" val="fNode"/>
                              <dgm:param type="stAng" val="0"/>
                              <dgm:param type="spanAng" val="-360"/>
                            </dgm:alg>
                          </dgm:else>
                        </dgm:choose>
                      </dgm:if>
                      <dgm:if name="Name328" axis="ch" ptType="node" func="cnt" op="equ" val="6">
                        <dgm:choose name="Name329">
                          <dgm:if name="Name330" axis="ch ch" ptType="node node" st="4 1" cnt="1 0" func="cnt" op="equ" val="1">
                            <dgm:alg type="cycle">
                              <dgm:param type="ctrShpMap" val="fNode"/>
                              <dgm:param type="stAng" val="180"/>
                            </dgm:alg>
                          </dgm:if>
                          <dgm:if name="Name331" axis="ch ch" ptType="node node" st="4 1" cnt="1 0" func="cnt" op="equ" val="2">
                            <dgm:alg type="cycle">
                              <dgm:param type="ctrShpMap" val="fNode"/>
                              <dgm:param type="stAng" val="225"/>
                              <dgm:param type="spanAng" val="-90"/>
                            </dgm:alg>
                          </dgm:if>
                          <dgm:else name="Name332">
                            <dgm:alg type="cycle">
                              <dgm:param type="ctrShpMap" val="fNode"/>
                              <dgm:param type="stAng" val="0"/>
                              <dgm:param type="spanAng" val="-360"/>
                            </dgm:alg>
                          </dgm:else>
                        </dgm:choose>
                      </dgm:if>
                      <dgm:if name="Name333" axis="ch" ptType="node" func="cnt" op="gte" val="7">
                        <dgm:choose name="Name334">
                          <dgm:if name="Name335" axis="ch ch" ptType="node node" st="4 1" cnt="1 0" func="cnt" op="equ" val="1">
                            <dgm:alg type="cycle">
                              <dgm:param type="ctrShpMap" val="fNode"/>
                              <dgm:param type="stAng" val="205"/>
                            </dgm:alg>
                          </dgm:if>
                          <dgm:if name="Name336" axis="ch ch" ptType="node node" st="4 1" cnt="1 0" func="cnt" op="equ" val="2">
                            <dgm:alg type="cycle">
                              <dgm:param type="ctrShpMap" val="fNode"/>
                              <dgm:param type="stAng" val="250"/>
                              <dgm:param type="spanAng" val="-90"/>
                            </dgm:alg>
                          </dgm:if>
                          <dgm:else name="Name337">
                            <dgm:alg type="cycle">
                              <dgm:param type="ctrShpMap" val="fNode"/>
                              <dgm:param type="stAng" val="0"/>
                              <dgm:param type="spanAng" val="-360"/>
                            </dgm:alg>
                          </dgm:else>
                        </dgm:choose>
                      </dgm:if>
                      <dgm:else name="Name338"/>
                    </dgm:choose>
                  </dgm:else>
                </dgm:choose>
                <dgm:shape xmlns:r="http://schemas.openxmlformats.org/officeDocument/2006/relationships" r:blip="">
                  <dgm:adjLst/>
                </dgm:shape>
                <dgm:presOf/>
                <dgm:constrLst>
                  <dgm:constr type="sp" refType="w" fact="0.1"/>
                  <dgm:constr type="sibSp" refType="w" fact="0.1"/>
                </dgm:constrLst>
                <dgm:forEach name="Name339" axis="ch" ptType="node" st="4" cnt="1">
                  <dgm:layoutNode name="childCenter4"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40" axis="ch">
                    <dgm:forEach name="Name341" axis="self" ptType="parTrans">
                      <dgm:layoutNode name="Name342">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43" axis="self" ptType="node">
                      <dgm:layoutNode name="text4"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44" axis="ch" ptType="parTrans" st="4" cnt="1">
                <dgm:layoutNode name="Name345">
                  <dgm:alg type="conn">
                    <dgm:param type="dim" val="1D"/>
                    <dgm:param type="begPts" val="auto"/>
                    <dgm:param type="endPts" val="auto"/>
                    <dgm:param type="endSty" val="noArr"/>
                    <dgm:param type="srcNode" val="textCenter"/>
                    <dgm:param type="dstNode" val="childCenter4"/>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46"/>
          </dgm:choose>
          <dgm:choose name="Name347">
            <dgm:if name="Name348" axis="ch" ptType="node" func="cnt" op="gte" val="5">
              <dgm:layoutNode name="cycle_5">
                <dgm:choose name="Name349">
                  <dgm:if name="Name350" func="var" arg="dir" op="equ" val="norm">
                    <dgm:choose name="Name351">
                      <dgm:if name="Name352" axis="ch" ptType="node" func="cnt" op="equ" val="5">
                        <dgm:choose name="Name353">
                          <dgm:if name="Name354" axis="ch ch" ptType="node node" st="5 1" cnt="1 0" func="cnt" op="equ" val="1">
                            <dgm:alg type="cycle">
                              <dgm:param type="ctrShpMap" val="fNode"/>
                              <dgm:param type="stAng" val="288"/>
                            </dgm:alg>
                          </dgm:if>
                          <dgm:if name="Name355" axis="ch ch" ptType="node node" st="5 1" cnt="1 0" func="cnt" op="equ" val="2">
                            <dgm:alg type="cycle">
                              <dgm:param type="ctrShpMap" val="fNode"/>
                              <dgm:param type="stAng" val="243"/>
                              <dgm:param type="spanAng" val="90"/>
                            </dgm:alg>
                          </dgm:if>
                          <dgm:else name="Name356">
                            <dgm:alg type="cycle">
                              <dgm:param type="ctrShpMap" val="fNode"/>
                              <dgm:param type="stAng" val="0"/>
                              <dgm:param type="spanAng" val="360"/>
                            </dgm:alg>
                          </dgm:else>
                        </dgm:choose>
                      </dgm:if>
                      <dgm:if name="Name357" axis="ch" ptType="node" func="cnt" op="equ" val="6">
                        <dgm:choose name="Name358">
                          <dgm:if name="Name359" axis="ch ch" ptType="node node" st="5 1" cnt="1 0" func="cnt" op="equ" val="1">
                            <dgm:alg type="cycle">
                              <dgm:param type="ctrShpMap" val="fNode"/>
                              <dgm:param type="stAng" val="240"/>
                            </dgm:alg>
                          </dgm:if>
                          <dgm:if name="Name360" axis="ch ch" ptType="node node" st="5 1" cnt="1 0" func="cnt" op="equ" val="2">
                            <dgm:alg type="cycle">
                              <dgm:param type="ctrShpMap" val="fNode"/>
                              <dgm:param type="stAng" val="195"/>
                              <dgm:param type="spanAng" val="90"/>
                            </dgm:alg>
                          </dgm:if>
                          <dgm:else name="Name361">
                            <dgm:alg type="cycle">
                              <dgm:param type="ctrShpMap" val="fNode"/>
                              <dgm:param type="stAng" val="0"/>
                              <dgm:param type="spanAng" val="360"/>
                            </dgm:alg>
                          </dgm:else>
                        </dgm:choose>
                      </dgm:if>
                      <dgm:if name="Name362" axis="ch" ptType="node" func="cnt" op="gte" val="7">
                        <dgm:choose name="Name363">
                          <dgm:if name="Name364" axis="ch ch" ptType="node node" st="5 1" cnt="1 0" func="cnt" op="equ" val="1">
                            <dgm:alg type="cycle">
                              <dgm:param type="ctrShpMap" val="fNode"/>
                              <dgm:param type="stAng" val="205"/>
                            </dgm:alg>
                          </dgm:if>
                          <dgm:if name="Name365" axis="ch ch" ptType="node node" st="5 1" cnt="1 0" func="cnt" op="equ" val="2">
                            <dgm:alg type="cycle">
                              <dgm:param type="ctrShpMap" val="fNode"/>
                              <dgm:param type="stAng" val="160"/>
                              <dgm:param type="spanAng" val="90"/>
                            </dgm:alg>
                          </dgm:if>
                          <dgm:else name="Name366">
                            <dgm:alg type="cycle">
                              <dgm:param type="ctrShpMap" val="fNode"/>
                              <dgm:param type="stAng" val="0"/>
                              <dgm:param type="spanAng" val="360"/>
                            </dgm:alg>
                          </dgm:else>
                        </dgm:choose>
                      </dgm:if>
                      <dgm:else name="Name367"/>
                    </dgm:choose>
                  </dgm:if>
                  <dgm:else name="Name368">
                    <dgm:choose name="Name369">
                      <dgm:if name="Name370" axis="ch" ptType="node" func="cnt" op="equ" val="5">
                        <dgm:choose name="Name371">
                          <dgm:if name="Name372" axis="ch ch" ptType="node node" st="5 1" cnt="1 0" func="cnt" op="equ" val="1">
                            <dgm:alg type="cycle">
                              <dgm:param type="ctrShpMap" val="fNode"/>
                              <dgm:param type="stAng" val="72"/>
                            </dgm:alg>
                          </dgm:if>
                          <dgm:if name="Name373" axis="ch ch" ptType="node node" st="5 1" cnt="1 0" func="cnt" op="equ" val="2">
                            <dgm:alg type="cycle">
                              <dgm:param type="ctrShpMap" val="fNode"/>
                              <dgm:param type="stAng" val="117"/>
                              <dgm:param type="spanAng" val="-90"/>
                            </dgm:alg>
                          </dgm:if>
                          <dgm:else name="Name374">
                            <dgm:alg type="cycle">
                              <dgm:param type="ctrShpMap" val="fNode"/>
                              <dgm:param type="stAng" val="0"/>
                              <dgm:param type="spanAng" val="-360"/>
                            </dgm:alg>
                          </dgm:else>
                        </dgm:choose>
                      </dgm:if>
                      <dgm:if name="Name375" axis="ch" ptType="node" func="cnt" op="equ" val="6">
                        <dgm:choose name="Name376">
                          <dgm:if name="Name377" axis="ch ch" ptType="node node" st="5 1" cnt="1 0" func="cnt" op="equ" val="1">
                            <dgm:alg type="cycle">
                              <dgm:param type="ctrShpMap" val="fNode"/>
                              <dgm:param type="stAng" val="120"/>
                            </dgm:alg>
                          </dgm:if>
                          <dgm:if name="Name378" axis="ch ch" ptType="node node" st="5 1" cnt="1 0" func="cnt" op="equ" val="2">
                            <dgm:alg type="cycle">
                              <dgm:param type="ctrShpMap" val="fNode"/>
                              <dgm:param type="stAng" val="165"/>
                              <dgm:param type="spanAng" val="-90"/>
                            </dgm:alg>
                          </dgm:if>
                          <dgm:else name="Name379">
                            <dgm:alg type="cycle">
                              <dgm:param type="ctrShpMap" val="fNode"/>
                              <dgm:param type="stAng" val="0"/>
                              <dgm:param type="spanAng" val="-360"/>
                            </dgm:alg>
                          </dgm:else>
                        </dgm:choose>
                      </dgm:if>
                      <dgm:if name="Name380" axis="ch" ptType="node" func="cnt" op="gte" val="7">
                        <dgm:choose name="Name381">
                          <dgm:if name="Name382" axis="ch ch" ptType="node node" st="5 1" cnt="1 0" func="cnt" op="equ" val="1">
                            <dgm:alg type="cycle">
                              <dgm:param type="ctrShpMap" val="fNode"/>
                              <dgm:param type="stAng" val="154"/>
                            </dgm:alg>
                          </dgm:if>
                          <dgm:if name="Name383" axis="ch ch" ptType="node node" st="5 1" cnt="1 0" func="cnt" op="equ" val="2">
                            <dgm:alg type="cycle">
                              <dgm:param type="ctrShpMap" val="fNode"/>
                              <dgm:param type="stAng" val="199"/>
                              <dgm:param type="spanAng" val="-90"/>
                            </dgm:alg>
                          </dgm:if>
                          <dgm:else name="Name384">
                            <dgm:alg type="cycle">
                              <dgm:param type="ctrShpMap" val="fNode"/>
                              <dgm:param type="stAng" val="0"/>
                              <dgm:param type="spanAng" val="-360"/>
                            </dgm:alg>
                          </dgm:else>
                        </dgm:choose>
                      </dgm:if>
                      <dgm:else name="Name385"/>
                    </dgm:choose>
                  </dgm:else>
                </dgm:choose>
                <dgm:shape xmlns:r="http://schemas.openxmlformats.org/officeDocument/2006/relationships" r:blip="">
                  <dgm:adjLst/>
                </dgm:shape>
                <dgm:presOf/>
                <dgm:constrLst>
                  <dgm:constr type="sp" refType="w" fact="0.1"/>
                  <dgm:constr type="sibSp" refType="w" fact="0.1"/>
                </dgm:constrLst>
                <dgm:forEach name="Name386" axis="ch" ptType="node" st="5" cnt="1">
                  <dgm:layoutNode name="childCenter5"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87" axis="ch">
                    <dgm:forEach name="Name388" axis="self" ptType="parTrans">
                      <dgm:layoutNode name="Name38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90" axis="self" ptType="node">
                      <dgm:layoutNode name="text5"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91" axis="ch" ptType="parTrans" st="5" cnt="1">
                <dgm:layoutNode name="Name392">
                  <dgm:alg type="conn">
                    <dgm:param type="dim" val="1D"/>
                    <dgm:param type="begPts" val="auto"/>
                    <dgm:param type="endPts" val="auto"/>
                    <dgm:param type="endSty" val="noArr"/>
                    <dgm:param type="srcNode" val="textCenter"/>
                    <dgm:param type="dstNode" val="childCenter5"/>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93"/>
          </dgm:choose>
          <dgm:choose name="Name394">
            <dgm:if name="Name395" axis="ch" ptType="node" func="cnt" op="gte" val="6">
              <dgm:layoutNode name="cycle_6">
                <dgm:choose name="Name396">
                  <dgm:if name="Name397" func="var" arg="dir" op="equ" val="norm">
                    <dgm:choose name="Name398">
                      <dgm:if name="Name399" axis="ch" ptType="node" func="cnt" op="equ" val="6">
                        <dgm:choose name="Name400">
                          <dgm:if name="Name401" axis="ch ch" ptType="node node" st="6 1" cnt="1 0" func="cnt" op="equ" val="1">
                            <dgm:alg type="cycle">
                              <dgm:param type="ctrShpMap" val="fNode"/>
                              <dgm:param type="stAng" val="300"/>
                            </dgm:alg>
                          </dgm:if>
                          <dgm:if name="Name402" axis="ch ch" ptType="node node" st="6 1" cnt="1 0" func="cnt" op="equ" val="2">
                            <dgm:alg type="cycle">
                              <dgm:param type="ctrShpMap" val="fNode"/>
                              <dgm:param type="stAng" val="255"/>
                              <dgm:param type="spanAng" val="90"/>
                            </dgm:alg>
                          </dgm:if>
                          <dgm:else name="Name403">
                            <dgm:alg type="cycle">
                              <dgm:param type="ctrShpMap" val="fNode"/>
                              <dgm:param type="stAng" val="0"/>
                              <dgm:param type="spanAng" val="360"/>
                            </dgm:alg>
                          </dgm:else>
                        </dgm:choose>
                      </dgm:if>
                      <dgm:if name="Name404" axis="ch" ptType="node" func="cnt" op="gte" val="7">
                        <dgm:choose name="Name405">
                          <dgm:if name="Name406" axis="ch ch" ptType="node node" st="6 1" cnt="1 0" func="cnt" op="equ" val="1">
                            <dgm:alg type="cycle">
                              <dgm:param type="ctrShpMap" val="fNode"/>
                              <dgm:param type="stAng" val="257"/>
                            </dgm:alg>
                          </dgm:if>
                          <dgm:if name="Name407" axis="ch ch" ptType="node node" st="6 1" cnt="1 0" func="cnt" op="equ" val="2">
                            <dgm:alg type="cycle">
                              <dgm:param type="ctrShpMap" val="fNode"/>
                              <dgm:param type="stAng" val="212"/>
                              <dgm:param type="spanAng" val="90"/>
                            </dgm:alg>
                          </dgm:if>
                          <dgm:else name="Name408">
                            <dgm:alg type="cycle">
                              <dgm:param type="ctrShpMap" val="fNode"/>
                              <dgm:param type="stAng" val="0"/>
                              <dgm:param type="spanAng" val="360"/>
                            </dgm:alg>
                          </dgm:else>
                        </dgm:choose>
                      </dgm:if>
                      <dgm:else name="Name409"/>
                    </dgm:choose>
                  </dgm:if>
                  <dgm:else name="Name410">
                    <dgm:choose name="Name411">
                      <dgm:if name="Name412" axis="ch" ptType="node" func="cnt" op="equ" val="6">
                        <dgm:choose name="Name413">
                          <dgm:if name="Name414" axis="ch ch" ptType="node node" st="6 1" cnt="1 0" func="cnt" op="equ" val="1">
                            <dgm:alg type="cycle">
                              <dgm:param type="ctrShpMap" val="fNode"/>
                              <dgm:param type="stAng" val="60"/>
                            </dgm:alg>
                          </dgm:if>
                          <dgm:if name="Name415" axis="ch ch" ptType="node node" st="6 1" cnt="1 0" func="cnt" op="equ" val="2">
                            <dgm:alg type="cycle">
                              <dgm:param type="ctrShpMap" val="fNode"/>
                              <dgm:param type="stAng" val="105"/>
                              <dgm:param type="spanAng" val="-90"/>
                            </dgm:alg>
                          </dgm:if>
                          <dgm:else name="Name416">
                            <dgm:alg type="cycle">
                              <dgm:param type="ctrShpMap" val="fNode"/>
                              <dgm:param type="stAng" val="0"/>
                              <dgm:param type="spanAng" val="-360"/>
                            </dgm:alg>
                          </dgm:else>
                        </dgm:choose>
                      </dgm:if>
                      <dgm:if name="Name417" axis="ch" ptType="node" func="cnt" op="gte" val="7">
                        <dgm:choose name="Name418">
                          <dgm:if name="Name419" axis="ch ch" ptType="node node" st="6 1" cnt="1 0" func="cnt" op="equ" val="1">
                            <dgm:alg type="cycle">
                              <dgm:param type="ctrShpMap" val="fNode"/>
                              <dgm:param type="stAng" val="102"/>
                            </dgm:alg>
                          </dgm:if>
                          <dgm:if name="Name420" axis="ch ch" ptType="node node" st="6 1" cnt="1 0" func="cnt" op="equ" val="2">
                            <dgm:alg type="cycle">
                              <dgm:param type="ctrShpMap" val="fNode"/>
                              <dgm:param type="stAng" val="147"/>
                              <dgm:param type="spanAng" val="-90"/>
                            </dgm:alg>
                          </dgm:if>
                          <dgm:else name="Name421">
                            <dgm:alg type="cycle">
                              <dgm:param type="ctrShpMap" val="fNode"/>
                              <dgm:param type="stAng" val="0"/>
                              <dgm:param type="spanAng" val="-360"/>
                            </dgm:alg>
                          </dgm:else>
                        </dgm:choose>
                      </dgm:if>
                      <dgm:else name="Name422"/>
                    </dgm:choose>
                  </dgm:else>
                </dgm:choose>
                <dgm:shape xmlns:r="http://schemas.openxmlformats.org/officeDocument/2006/relationships" r:blip="">
                  <dgm:adjLst/>
                </dgm:shape>
                <dgm:presOf/>
                <dgm:constrLst>
                  <dgm:constr type="sp" refType="w" fact="0.1"/>
                  <dgm:constr type="sibSp" refType="w" fact="0.1"/>
                </dgm:constrLst>
                <dgm:forEach name="Name423" axis="ch" ptType="node" st="6" cnt="1">
                  <dgm:layoutNode name="childCenter6"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24" axis="ch">
                    <dgm:forEach name="Name425" axis="self" ptType="parTrans">
                      <dgm:layoutNode name="Name42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27" axis="self" ptType="node">
                      <dgm:layoutNode name="text6"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28" axis="ch" ptType="parTrans" st="6" cnt="1">
                <dgm:layoutNode name="Name429">
                  <dgm:alg type="conn">
                    <dgm:param type="dim" val="1D"/>
                    <dgm:param type="begPts" val="auto"/>
                    <dgm:param type="endPts" val="auto"/>
                    <dgm:param type="endSty" val="noArr"/>
                    <dgm:param type="srcNode" val="textCenter"/>
                    <dgm:param type="dstNode" val="childCenter6"/>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30"/>
          </dgm:choose>
          <dgm:choose name="Name431">
            <dgm:if name="Name432" axis="ch" ptType="node" func="cnt" op="gte" val="7">
              <dgm:layoutNode name="cycle_7">
                <dgm:choose name="Name433">
                  <dgm:if name="Name434" func="var" arg="dir" op="equ" val="norm">
                    <dgm:choose name="Name435">
                      <dgm:if name="Name436" axis="ch" ptType="node" func="cnt" op="gte" val="7">
                        <dgm:choose name="Name437">
                          <dgm:if name="Name438" axis="ch ch" ptType="node node" st="7 1" cnt="1 0" func="cnt" op="equ" val="1">
                            <dgm:alg type="cycle">
                              <dgm:param type="ctrShpMap" val="fNode"/>
                              <dgm:param type="stAng" val="308"/>
                            </dgm:alg>
                          </dgm:if>
                          <dgm:if name="Name439" axis="ch ch" ptType="node node" st="7 1" cnt="1 0" func="cnt" op="equ" val="2">
                            <dgm:alg type="cycle">
                              <dgm:param type="ctrShpMap" val="fNode"/>
                              <dgm:param type="stAng" val="263"/>
                              <dgm:param type="spanAng" val="90"/>
                            </dgm:alg>
                          </dgm:if>
                          <dgm:else name="Name440">
                            <dgm:alg type="cycle">
                              <dgm:param type="ctrShpMap" val="fNode"/>
                              <dgm:param type="stAng" val="0"/>
                              <dgm:param type="spanAng" val="360"/>
                            </dgm:alg>
                          </dgm:else>
                        </dgm:choose>
                      </dgm:if>
                      <dgm:else name="Name441"/>
                    </dgm:choose>
                  </dgm:if>
                  <dgm:else name="Name442">
                    <dgm:choose name="Name443">
                      <dgm:if name="Name444" axis="ch" ptType="node" func="cnt" op="gte" val="7">
                        <dgm:choose name="Name445">
                          <dgm:if name="Name446" axis="ch ch" ptType="node node" st="7 1" cnt="1 0" func="cnt" op="equ" val="1">
                            <dgm:alg type="cycle">
                              <dgm:param type="ctrShpMap" val="fNode"/>
                              <dgm:param type="stAng" val="51"/>
                            </dgm:alg>
                          </dgm:if>
                          <dgm:if name="Name447" axis="ch ch" ptType="node node" st="7 1" cnt="1 0" func="cnt" op="equ" val="2">
                            <dgm:alg type="cycle">
                              <dgm:param type="ctrShpMap" val="fNode"/>
                              <dgm:param type="stAng" val="96"/>
                              <dgm:param type="spanAng" val="-90"/>
                            </dgm:alg>
                          </dgm:if>
                          <dgm:else name="Name448">
                            <dgm:alg type="cycle">
                              <dgm:param type="ctrShpMap" val="fNode"/>
                              <dgm:param type="stAng" val="0"/>
                              <dgm:param type="spanAng" val="-360"/>
                            </dgm:alg>
                          </dgm:else>
                        </dgm:choose>
                      </dgm:if>
                      <dgm:else name="Name449"/>
                    </dgm:choose>
                  </dgm:else>
                </dgm:choose>
                <dgm:shape xmlns:r="http://schemas.openxmlformats.org/officeDocument/2006/relationships" r:blip="">
                  <dgm:adjLst/>
                </dgm:shape>
                <dgm:presOf/>
                <dgm:constrLst>
                  <dgm:constr type="sp" refType="w" fact="0.1"/>
                  <dgm:constr type="sibSp" refType="w" fact="0.1"/>
                </dgm:constrLst>
                <dgm:forEach name="Name450" axis="ch" ptType="node" st="7" cnt="1">
                  <dgm:layoutNode name="childCenter7"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51" axis="ch">
                    <dgm:forEach name="Name452" axis="self" ptType="parTrans">
                      <dgm:layoutNode name="Name453">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54" axis="self" ptType="node">
                      <dgm:layoutNode name="text7"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55" axis="ch" ptType="parTrans" st="7" cnt="1">
                <dgm:layoutNode name="Name456">
                  <dgm:alg type="conn">
                    <dgm:param type="dim" val="1D"/>
                    <dgm:param type="begPts" val="auto"/>
                    <dgm:param type="endPts" val="auto"/>
                    <dgm:param type="endSty" val="noArr"/>
                    <dgm:param type="srcNode" val="textCenter"/>
                    <dgm:param type="dstNode" val="childCenter7"/>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5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radial1">
  <dgm:title val=""/>
  <dgm:desc val=""/>
  <dgm:catLst>
    <dgm:cat type="relationship" pri="22000"/>
    <dgm:cat type="cycle" pri="10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ycle">
    <dgm:varLst>
      <dgm:chMax val="1"/>
      <dgm:dir/>
      <dgm:animLvl val="ctr"/>
      <dgm:resizeHandles val="exact"/>
    </dgm:varLst>
    <dgm:choose name="Name0">
      <dgm:if name="Name1" func="var" arg="dir" op="equ" val="norm">
        <dgm:choose name="Name2">
          <dgm:if name="Name3" axis="ch ch" ptType="node node" st="1 1" cnt="1 0" func="cnt" op="lte" val="1">
            <dgm:alg type="cycle">
              <dgm:param type="stAng" val="90"/>
              <dgm:param type="spanAng" val="360"/>
              <dgm:param type="ctrShpMap" val="fNode"/>
            </dgm:alg>
          </dgm:if>
          <dgm:else name="Name4">
            <dgm:alg type="cycle">
              <dgm:param type="stAng" val="0"/>
              <dgm:param type="spanAng" val="360"/>
              <dgm:param type="ctrShpMap" val="fNode"/>
            </dgm:alg>
          </dgm:else>
        </dgm:choose>
      </dgm:if>
      <dgm:else name="Name5">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node" refType="w" refFor="ch" refForName="centerShape" op="equ"/>
      <dgm:constr type="sp" refType="w" refFor="ch" refForName="node" fact="0.3"/>
      <dgm:constr type="sibSp" refType="w" refFor="ch" refForName="node" fact="0.3"/>
      <dgm:constr type="primFontSz" for="ch" forName="centerShape" val="65"/>
      <dgm:constr type="primFontSz" for="des" forName="node" op="equ" val="65"/>
      <dgm:constr type="primFontSz" for="des" forName="connTx" val="55"/>
      <dgm:constr type="primFontSz" for="des" forName="connTx" refType="primFontSz" refFor="ch" refForName="centerShape" op="lte" fact="0.8"/>
    </dgm:constrLst>
    <dgm:ruleLst/>
    <dgm:forEach name="Name6"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name="Name7" axis="ch">
        <dgm:forEach name="Name8" axis="self" ptType="parTrans">
          <dgm:layoutNode name="Name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connDist"/>
              <dgm:constr type="userA" for="ch" refType="connDist"/>
              <dgm:constr type="w" val="1"/>
              <dgm:constr type="h" val="5"/>
              <dgm:constr type="begPad"/>
              <dgm:constr type="endPad"/>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w" val="NaN" fact="0.8" max="NaN"/>
                <dgm:rule type="h" val="NaN" fact="1" max="NaN"/>
                <dgm:rule type="primFontSz" val="5" fact="NaN" max="NaN"/>
              </dgm:ruleLst>
            </dgm:layoutNode>
          </dgm:layoutNode>
        </dgm:forEach>
        <dgm:forEach name="Name10"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radial1">
  <dgm:title val=""/>
  <dgm:desc val=""/>
  <dgm:catLst>
    <dgm:cat type="relationship" pri="22000"/>
    <dgm:cat type="cycle" pri="10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ycle">
    <dgm:varLst>
      <dgm:chMax val="1"/>
      <dgm:dir/>
      <dgm:animLvl val="ctr"/>
      <dgm:resizeHandles val="exact"/>
    </dgm:varLst>
    <dgm:choose name="Name0">
      <dgm:if name="Name1" func="var" arg="dir" op="equ" val="norm">
        <dgm:choose name="Name2">
          <dgm:if name="Name3" axis="ch ch" ptType="node node" st="1 1" cnt="1 0" func="cnt" op="lte" val="1">
            <dgm:alg type="cycle">
              <dgm:param type="stAng" val="90"/>
              <dgm:param type="spanAng" val="360"/>
              <dgm:param type="ctrShpMap" val="fNode"/>
            </dgm:alg>
          </dgm:if>
          <dgm:else name="Name4">
            <dgm:alg type="cycle">
              <dgm:param type="stAng" val="0"/>
              <dgm:param type="spanAng" val="360"/>
              <dgm:param type="ctrShpMap" val="fNode"/>
            </dgm:alg>
          </dgm:else>
        </dgm:choose>
      </dgm:if>
      <dgm:else name="Name5">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node" refType="w" refFor="ch" refForName="centerShape" op="equ"/>
      <dgm:constr type="sp" refType="w" refFor="ch" refForName="node" fact="0.3"/>
      <dgm:constr type="sibSp" refType="w" refFor="ch" refForName="node" fact="0.3"/>
      <dgm:constr type="primFontSz" for="ch" forName="centerShape" val="65"/>
      <dgm:constr type="primFontSz" for="des" forName="node" op="equ" val="65"/>
      <dgm:constr type="primFontSz" for="des" forName="connTx" val="55"/>
      <dgm:constr type="primFontSz" for="des" forName="connTx" refType="primFontSz" refFor="ch" refForName="centerShape" op="lte" fact="0.8"/>
    </dgm:constrLst>
    <dgm:ruleLst/>
    <dgm:forEach name="Name6"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name="Name7" axis="ch">
        <dgm:forEach name="Name8" axis="self" ptType="parTrans">
          <dgm:layoutNode name="Name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connDist"/>
              <dgm:constr type="userA" for="ch" refType="connDist"/>
              <dgm:constr type="w" val="1"/>
              <dgm:constr type="h" val="5"/>
              <dgm:constr type="begPad"/>
              <dgm:constr type="endPad"/>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w" val="NaN" fact="0.8" max="NaN"/>
                <dgm:rule type="h" val="NaN" fact="1" max="NaN"/>
                <dgm:rule type="primFontSz" val="5" fact="NaN" max="NaN"/>
              </dgm:ruleLst>
            </dgm:layoutNode>
          </dgm:layoutNode>
        </dgm:forEach>
        <dgm:forEach name="Name10"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9/3/layout/IncreasingArrowsProcess">
  <dgm:title val=""/>
  <dgm:desc val=""/>
  <dgm:catLst>
    <dgm:cat type="process" pri="5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sampData>
  <dgm:styleData>
    <dgm:dataModel>
      <dgm:ptLst>
        <dgm:pt modelId="0" type="doc"/>
        <dgm:pt modelId="10">
          <dgm:prSet phldr="1"/>
        </dgm:pt>
        <dgm:pt modelId="11">
          <dgm:prSet phldr="1"/>
        </dgm:pt>
        <dgm:pt modelId="20">
          <dgm:prSet phldr="1"/>
        </dgm:pt>
        <dgm:pt modelId="21">
          <dgm:prSet phldr="1"/>
        </dgm:pt>
      </dgm:ptLst>
      <dgm:cxnLst>
        <dgm:cxn modelId="40" srcId="0" destId="10" srcOrd="0" destOrd="0"/>
        <dgm:cxn modelId="12" srcId="10" destId="11" srcOrd="0" destOrd="0"/>
        <dgm:cxn modelId="50" srcId="0" destId="20" srcOrd="1" destOrd="0"/>
        <dgm:cxn modelId="22" srcId="20" destId="21" srcOrd="0" destOrd="0"/>
      </dgm:cxnLst>
      <dgm:bg/>
      <dgm:whole/>
    </dgm:dataModel>
  </dgm:styleData>
  <dgm:clr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clrData>
  <dgm:layoutNode name="Name0">
    <dgm:varLst>
      <dgm:chMax val="5"/>
      <dgm:chPref val="5"/>
      <dgm:dir/>
      <dgm:animLvl val="lvl"/>
    </dgm:varLst>
    <dgm:shape xmlns:r="http://schemas.openxmlformats.org/officeDocument/2006/relationships" r:blip="">
      <dgm:adjLst/>
    </dgm:shape>
    <dgm:choose name="Name1">
      <dgm:if name="Name2" axis="ch" ptType="node" func="cnt" op="equ" val="1">
        <dgm:choose name="Name3">
          <dgm:if name="Name4" axis="ch ch" ptType="node node" func="cnt" op="equ" val="0">
            <dgm:alg type="composite">
              <dgm:param type="ar" val="6.8662"/>
            </dgm:alg>
            <dgm:choose name="Name5">
              <dgm:if name="Name6" func="var" arg="dir" op="equ" val="norm">
                <dgm:constrLst>
                  <dgm:constr type="primFontSz" for="des" forName="parentText1" val="65"/>
                  <dgm:constr type="l" for="ch" forName="parentText1" refType="w" fact="0"/>
                  <dgm:constr type="t" for="ch" forName="parentText1" refType="h" fact="0"/>
                  <dgm:constr type="w" for="ch" forName="parentText1" refType="w"/>
                  <dgm:constr type="h" for="ch" forName="parentText1" refType="h"/>
                </dgm:constrLst>
              </dgm:if>
              <dgm:else name="Name7">
                <dgm:constrLst>
                  <dgm:constr type="primFontSz" for="des" forName="parentText1" val="65"/>
                  <dgm:constr type="l" for="ch" forName="parentText1" refType="w" fact="0"/>
                  <dgm:constr type="t" for="ch" forName="parentText1" refType="h" fact="0"/>
                  <dgm:constr type="w" for="ch" forName="parentText1" refType="w"/>
                  <dgm:constr type="h" for="ch" forName="parentText1" refType="h"/>
                </dgm:constrLst>
              </dgm:else>
            </dgm:choose>
          </dgm:if>
          <dgm:else name="Name8">
            <dgm:alg type="composite">
              <dgm:param type="ar" val="1.9864"/>
            </dgm:alg>
            <dgm:choose name="Name9">
              <dgm:if name="Name10" func="var" arg="dir" op="equ" val="norm">
                <dgm:constrLst>
                  <dgm:constr type="primFontSz" for="des" forName="childText1" val="65"/>
                  <dgm:constr type="primFontSz" for="des" forName="parentText1" val="65"/>
                  <dgm:constr type="primFontSz" for="des" forName="childText1" refType="primFontSz" refFor="des" refForName="parentText1" op="lte"/>
                  <dgm:constr type="l" for="ch" forName="parentText1" refType="w" fact="0"/>
                  <dgm:constr type="t" for="ch" forName="parentText1" refType="h" fact="0"/>
                  <dgm:constr type="w" for="ch" forName="parentText1" refType="w"/>
                  <dgm:constr type="h" for="ch" forName="parentText1" refType="h" fact="0.2893"/>
                  <dgm:constr type="l" for="ch" forName="childText1" refType="w" fact="0"/>
                  <dgm:constr type="t" for="ch" forName="childText1" refType="h" fact="0.224"/>
                  <dgm:constr type="w" for="ch" forName="childText1" refType="w" fact="0.9241"/>
                  <dgm:constr type="h" for="ch" forName="childText1" refType="h" fact="0.776"/>
                </dgm:constrLst>
              </dgm:if>
              <dgm:else name="Name11">
                <dgm:constrLst>
                  <dgm:constr type="primFontSz" for="des" forName="childText1" val="65"/>
                  <dgm:constr type="primFontSz" for="des" forName="parentText1" val="65"/>
                  <dgm:constr type="primFontSz" for="des" forName="childText1" refType="primFontSz" refFor="des" refForName="parentText1" op="lte"/>
                  <dgm:constr type="l" for="ch" forName="parentText1" refType="w" fact="0"/>
                  <dgm:constr type="t" for="ch" forName="parentText1" refType="h" fact="0"/>
                  <dgm:constr type="w" for="ch" forName="parentText1" refType="w"/>
                  <dgm:constr type="h" for="ch" forName="parentText1" refType="h" fact="0.2893"/>
                  <dgm:constr type="l" for="ch" forName="childText1" refType="w" fact="0.076"/>
                  <dgm:constr type="t" for="ch" forName="childText1" refType="h" fact="0.224"/>
                  <dgm:constr type="w" for="ch" forName="childText1" refType="w" fact="0.9241"/>
                  <dgm:constr type="h" for="ch" forName="childText1" refType="h" fact="0.776"/>
                </dgm:constrLst>
              </dgm:else>
            </dgm:choose>
          </dgm:else>
        </dgm:choose>
      </dgm:if>
      <dgm:if name="Name12" axis="ch" ptType="node" func="cnt" op="equ" val="2">
        <dgm:choose name="Name13">
          <dgm:if name="Name14" axis="ch ch" ptType="node node" func="cnt" op="equ" val="0">
            <dgm:alg type="composite">
              <dgm:param type="ar" val="5.1498"/>
            </dgm:alg>
            <dgm:choose name="Name15">
              <dgm:if name="Name16" func="var" arg="dir" op="equ" val="norm">
                <dgm:constrLst>
                  <dgm:constr type="primFontSz" for="des" forName="parentText1" val="65"/>
                  <dgm:constr type="primFontSz" for="des" forName="parentText2" refType="primFontSz" refFor="des" refForName="parentText1" op="equ"/>
                  <dgm:constr type="l" for="ch" forName="parentText1" refType="w" fact="0"/>
                  <dgm:constr type="t" for="ch" forName="parentText1" refType="h" fact="0"/>
                  <dgm:constr type="w" for="ch" forName="parentText1" refType="w"/>
                  <dgm:constr type="h" for="ch" forName="parentText1" refType="h" fact="0.7501"/>
                  <dgm:constr type="l" for="ch" forName="parentText2" refType="w" fact="0.462"/>
                  <dgm:constr type="t" for="ch" forName="parentText2" refType="h" fact="0.2499"/>
                  <dgm:constr type="w" for="ch" forName="parentText2" refType="w" fact="0.538"/>
                  <dgm:constr type="h" for="ch" forName="parentText2" refType="h" fact="0.7501"/>
                </dgm:constrLst>
              </dgm:if>
              <dgm:else name="Name17">
                <dgm:constrLst>
                  <dgm:constr type="primFontSz" for="des" forName="parentText1" val="65"/>
                  <dgm:constr type="primFontSz" for="des" forName="parentText2" refType="primFontSz" refFor="des" refForName="parentText1" op="equ"/>
                  <dgm:constr type="l" for="ch" forName="parentText1" refType="w" fact="0"/>
                  <dgm:constr type="t" for="ch" forName="parentText1" refType="h" fact="0"/>
                  <dgm:constr type="w" for="ch" forName="parentText1" refType="w"/>
                  <dgm:constr type="h" for="ch" forName="parentText1" refType="h" fact="0.7501"/>
                  <dgm:constr type="l" for="ch" forName="parentText2" refType="w" fact="0"/>
                  <dgm:constr type="t" for="ch" forName="parentText2" refType="h" fact="0.2499"/>
                  <dgm:constr type="w" for="ch" forName="parentText2" refType="w" fact="0.538"/>
                  <dgm:constr type="h" for="ch" forName="parentText2" refType="h" fact="0.7501"/>
                </dgm:constrLst>
              </dgm:else>
            </dgm:choose>
          </dgm:if>
          <dgm:else name="Name18">
            <dgm:alg type="composite">
              <dgm:param type="ar" val="2.0563"/>
            </dgm:alg>
            <dgm:choose name="Name19">
              <dgm:if name="Name2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parentText2" refType="primFontSz" refFor="des" refForName="parentText1" op="equ"/>
                  <dgm:constr type="primFontSz" for="des" forName="childText2" refType="primFontSz" refFor="des" refForName="childText1" op="equ"/>
                  <dgm:constr type="l" for="ch" forName="parentText1" refType="w" fact="0"/>
                  <dgm:constr type="t" for="ch" forName="parentText1" refType="h" fact="0"/>
                  <dgm:constr type="w" for="ch" forName="parentText1" refType="w"/>
                  <dgm:constr type="h" for="ch" forName="parentText1" refType="h" fact="0.2995"/>
                  <dgm:constr type="l" for="ch" forName="parentText2" refType="w" fact="0.462"/>
                  <dgm:constr type="t" for="ch" forName="parentText2" refType="h" fact="0.0998"/>
                  <dgm:constr type="w" for="ch" forName="parentText2" refType="w" fact="0.538"/>
                  <dgm:constr type="h" for="ch" forName="parentText2" refType="h" fact="0.2995"/>
                  <dgm:constr type="l" for="ch" forName="childText1" refType="w" fact="0"/>
                  <dgm:constr type="t" for="ch" forName="childText1" refType="h" fact="0.2317"/>
                  <dgm:constr type="w" for="ch" forName="childText1" refType="w" fact="0.462"/>
                  <dgm:constr type="h" for="ch" forName="childText1" refType="h" fact="0.6685"/>
                  <dgm:constr type="l" for="ch" forName="childText2" refType="w" fact="0.462"/>
                  <dgm:constr type="t" for="ch" forName="childText2" refType="h" fact="0.3315"/>
                  <dgm:constr type="w" for="ch" forName="childText2" refType="w" fact="0.462"/>
                  <dgm:constr type="h" for="ch" forName="childText2" refType="h" fact="0.6685"/>
                </dgm:constrLst>
              </dgm:if>
              <dgm:else name="Name2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parentText2" refType="primFontSz" refFor="des" refForName="parentText1" op="equ"/>
                  <dgm:constr type="primFontSz" for="des" forName="childText2" refType="primFontSz" refFor="des" refForName="childText1" op="equ"/>
                  <dgm:constr type="l" for="ch" forName="parentText1" refType="w" fact="0"/>
                  <dgm:constr type="t" for="ch" forName="parentText1" refType="h" fact="0"/>
                  <dgm:constr type="w" for="ch" forName="parentText1" refType="w"/>
                  <dgm:constr type="h" for="ch" forName="parentText1" refType="h" fact="0.2995"/>
                  <dgm:constr type="l" for="ch" forName="parentText2" refType="w" fact="0"/>
                  <dgm:constr type="t" for="ch" forName="parentText2" refType="h" fact="0.0998"/>
                  <dgm:constr type="w" for="ch" forName="parentText2" refType="w" fact="0.538"/>
                  <dgm:constr type="h" for="ch" forName="parentText2" refType="h" fact="0.2995"/>
                  <dgm:constr type="l" for="ch" forName="childText1" refType="w" fact="0.538"/>
                  <dgm:constr type="t" for="ch" forName="childText1" refType="h" fact="0.2317"/>
                  <dgm:constr type="w" for="ch" forName="childText1" refType="w" fact="0.462"/>
                  <dgm:constr type="h" for="ch" forName="childText1" refType="h" fact="0.6685"/>
                  <dgm:constr type="l" for="ch" forName="childText2" refType="w" fact="0.076"/>
                  <dgm:constr type="t" for="ch" forName="childText2" refType="h" fact="0.3315"/>
                  <dgm:constr type="w" for="ch" forName="childText2" refType="w" fact="0.462"/>
                  <dgm:constr type="h" for="ch" forName="childText2" refType="h" fact="0.6685"/>
                </dgm:constrLst>
              </dgm:else>
            </dgm:choose>
          </dgm:else>
        </dgm:choose>
      </dgm:if>
      <dgm:if name="Name22" axis="ch" ptType="node" func="cnt" op="equ" val="3">
        <dgm:choose name="Name23">
          <dgm:if name="Name24" axis="ch ch" ptType="node node" func="cnt" op="equ" val="0">
            <dgm:alg type="composite">
              <dgm:param type="ar" val="4.1198"/>
            </dgm:alg>
            <dgm:choose name="Name25">
              <dgm:if name="Name26" func="var" arg="dir" op="equ" val="norm">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l" for="ch" forName="parentText1" refType="w" fact="0"/>
                  <dgm:constr type="t" for="ch" forName="parentText1" refType="h" fact="0"/>
                  <dgm:constr type="w" for="ch" forName="parentText1" refType="w"/>
                  <dgm:constr type="h" for="ch" forName="parentText1" refType="h" fact="0.6"/>
                  <dgm:constr type="l" for="ch" forName="parentText2" refType="w" fact="0.308"/>
                  <dgm:constr type="t" for="ch" forName="parentText2" refType="h" fact="0.2"/>
                  <dgm:constr type="w" for="ch" forName="parentText2" refType="w" fact="0.692"/>
                  <dgm:constr type="h" for="ch" forName="parentText2" refType="h" fact="0.6"/>
                  <dgm:constr type="l" for="ch" forName="parentText3" refType="w" fact="0.616"/>
                  <dgm:constr type="t" for="ch" forName="parentText3" refType="h" fact="0.4"/>
                  <dgm:constr type="w" for="ch" forName="parentText3" refType="w" fact="0.384"/>
                  <dgm:constr type="h" for="ch" forName="parentText3" refType="h" fact="0.6"/>
                </dgm:constrLst>
              </dgm:if>
              <dgm:else name="Name27">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l" for="ch" forName="parentText1" refType="w" fact="0"/>
                  <dgm:constr type="t" for="ch" forName="parentText1" refType="h" fact="0"/>
                  <dgm:constr type="w" for="ch" forName="parentText1" refType="w"/>
                  <dgm:constr type="h" for="ch" forName="parentText1" refType="h" fact="0.6"/>
                  <dgm:constr type="l" for="ch" forName="parentText2" refType="w" fact="0"/>
                  <dgm:constr type="t" for="ch" forName="parentText2" refType="h" fact="0.2"/>
                  <dgm:constr type="w" for="ch" forName="parentText2" refType="w" fact="0.692"/>
                  <dgm:constr type="h" for="ch" forName="parentText2" refType="h" fact="0.6"/>
                  <dgm:constr type="l" for="ch" forName="parentText3" refType="w" fact="0"/>
                  <dgm:constr type="t" for="ch" forName="parentText3" refType="h" fact="0.4"/>
                  <dgm:constr type="w" for="ch" forName="parentText3" refType="w" fact="0.384"/>
                  <dgm:constr type="h" for="ch" forName="parentText3" refType="h" fact="0.6"/>
                </dgm:constrLst>
              </dgm:else>
            </dgm:choose>
          </dgm:if>
          <dgm:else name="Name28">
            <dgm:alg type="composite">
              <dgm:param type="ar" val="2.0702"/>
            </dgm:alg>
            <dgm:choose name="Name29">
              <dgm:if name="Name3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parentText2" refType="primFontSz" refFor="des" refForName="parentText1" op="equ"/>
                  <dgm:constr type="primFontSz" for="des" forName="parentText3"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l" for="ch" forName="childText1" refType="w" fact="0"/>
                  <dgm:constr type="t" for="ch" forName="childText1" refType="h" fact="0.2325"/>
                  <dgm:constr type="w" for="ch" forName="childText1" refType="w" fact="0.308"/>
                  <dgm:constr type="h" for="ch" forName="childText1" refType="h" fact="0.5808"/>
                  <dgm:constr type="l" for="ch" forName="childText2" refType="w" fact="0.308"/>
                  <dgm:constr type="t" for="ch" forName="childText2" refType="h" fact="0.333"/>
                  <dgm:constr type="w" for="ch" forName="childText2" refType="w" fact="0.308"/>
                  <dgm:constr type="h" for="ch" forName="childText2" refType="h" fact="0.5808"/>
                  <dgm:constr type="l" for="ch" forName="childText3" refType="w" fact="0.616"/>
                  <dgm:constr type="t" for="ch" forName="childText3" refType="h" fact="0.4335"/>
                  <dgm:constr type="w" for="ch" forName="childText3" refType="w" fact="0.308"/>
                  <dgm:constr type="h" for="ch" forName="childText3" refType="h" fact="0.5723"/>
                  <dgm:constr type="l" for="ch" forName="parentText1" refType="w" fact="0"/>
                  <dgm:constr type="t" for="ch" forName="parentText1" refType="h" fact="0"/>
                  <dgm:constr type="w" for="ch" forName="parentText1" refType="w"/>
                  <dgm:constr type="h" for="ch" forName="parentText1" refType="h" fact="0.3015"/>
                  <dgm:constr type="l" for="ch" forName="parentText2" refType="w" fact="0.308"/>
                  <dgm:constr type="t" for="ch" forName="parentText2" refType="h" fact="0.1005"/>
                  <dgm:constr type="w" for="ch" forName="parentText2" refType="w" fact="0.692"/>
                  <dgm:constr type="h" for="ch" forName="parentText2" refType="h" fact="0.3015"/>
                  <dgm:constr type="l" for="ch" forName="parentText3" refType="w" fact="0.616"/>
                  <dgm:constr type="t" for="ch" forName="parentText3" refType="h" fact="0.201"/>
                  <dgm:constr type="w" for="ch" forName="parentText3" refType="w" fact="0.384"/>
                  <dgm:constr type="h" for="ch" forName="parentText3" refType="h" fact="0.3015"/>
                </dgm:constrLst>
              </dgm:if>
              <dgm:else name="Name3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parentText2" refType="primFontSz" refFor="des" refForName="parentText1" op="equ"/>
                  <dgm:constr type="primFontSz" for="des" forName="parentText3"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l" for="ch" forName="childText1" refType="w" fact="0.692"/>
                  <dgm:constr type="t" for="ch" forName="childText1" refType="h" fact="0.2325"/>
                  <dgm:constr type="w" for="ch" forName="childText1" refType="w" fact="0.308"/>
                  <dgm:constr type="h" for="ch" forName="childText1" refType="h" fact="0.5808"/>
                  <dgm:constr type="l" for="ch" forName="childText2" refType="w" fact="0.384"/>
                  <dgm:constr type="t" for="ch" forName="childText2" refType="h" fact="0.333"/>
                  <dgm:constr type="w" for="ch" forName="childText2" refType="w" fact="0.308"/>
                  <dgm:constr type="h" for="ch" forName="childText2" refType="h" fact="0.5808"/>
                  <dgm:constr type="l" for="ch" forName="childText3" refType="w" fact="0.076"/>
                  <dgm:constr type="t" for="ch" forName="childText3" refType="h" fact="0.4335"/>
                  <dgm:constr type="w" for="ch" forName="childText3" refType="w" fact="0.308"/>
                  <dgm:constr type="h" for="ch" forName="childText3" refType="h" fact="0.5723"/>
                  <dgm:constr type="l" for="ch" forName="parentText1" refType="w" fact="0"/>
                  <dgm:constr type="t" for="ch" forName="parentText1" refType="h" fact="0"/>
                  <dgm:constr type="w" for="ch" forName="parentText1" refType="w"/>
                  <dgm:constr type="h" for="ch" forName="parentText1" refType="h" fact="0.3015"/>
                  <dgm:constr type="l" for="ch" forName="parentText2" refType="w" fact="0"/>
                  <dgm:constr type="t" for="ch" forName="parentText2" refType="h" fact="0.1005"/>
                  <dgm:constr type="w" for="ch" forName="parentText2" refType="w" fact="0.692"/>
                  <dgm:constr type="h" for="ch" forName="parentText2" refType="h" fact="0.3015"/>
                  <dgm:constr type="l" for="ch" forName="parentText3" refType="w" fact="0"/>
                  <dgm:constr type="t" for="ch" forName="parentText3" refType="h" fact="0.201"/>
                  <dgm:constr type="w" for="ch" forName="parentText3" refType="w" fact="0.384"/>
                  <dgm:constr type="h" for="ch" forName="parentText3" refType="h" fact="0.3015"/>
                </dgm:constrLst>
              </dgm:else>
            </dgm:choose>
          </dgm:else>
        </dgm:choose>
      </dgm:if>
      <dgm:if name="Name32" axis="ch" ptType="node" func="cnt" op="equ" val="4">
        <dgm:choose name="Name33">
          <dgm:if name="Name34" axis="ch ch" ptType="node node" func="cnt" op="equ" val="0">
            <dgm:alg type="composite">
              <dgm:param type="ar" val="3.435"/>
            </dgm:alg>
            <dgm:choose name="Name35">
              <dgm:if name="Name36" func="var" arg="dir" op="equ" val="norm">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l" for="ch" forName="parentText1" refType="w" fact="0"/>
                  <dgm:constr type="t" for="ch" forName="parentText1" refType="h" fact="0"/>
                  <dgm:constr type="w" for="ch" forName="parentText1" refType="w"/>
                  <dgm:constr type="h" for="ch" forName="parentText1" refType="h" fact="0.5001"/>
                  <dgm:constr type="l" for="ch" forName="parentText2" refType="w" fact="0.2305"/>
                  <dgm:constr type="t" for="ch" forName="parentText2" refType="h" fact="0.1666"/>
                  <dgm:constr type="w" for="ch" forName="parentText2" refType="w" fact="0.7695"/>
                  <dgm:constr type="h" for="ch" forName="parentText2" refType="h" fact="0.5001"/>
                  <dgm:constr type="l" for="ch" forName="parentText3" refType="w" fact="0.461"/>
                  <dgm:constr type="t" for="ch" forName="parentText3" refType="h" fact="0.3333"/>
                  <dgm:constr type="w" for="ch" forName="parentText3" refType="w" fact="0.539"/>
                  <dgm:constr type="h" for="ch" forName="parentText3" refType="h" fact="0.5001"/>
                  <dgm:constr type="l" for="ch" forName="parentText4" refType="w" fact="0.6915"/>
                  <dgm:constr type="t" for="ch" forName="parentText4" refType="h" fact="0.4999"/>
                  <dgm:constr type="w" for="ch" forName="parentText4" refType="w" fact="0.3085"/>
                  <dgm:constr type="h" for="ch" forName="parentText4" refType="h" fact="0.5001"/>
                </dgm:constrLst>
              </dgm:if>
              <dgm:else name="Name37">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l" for="ch" forName="parentText1" refType="w" fact="0"/>
                  <dgm:constr type="t" for="ch" forName="parentText1" refType="h" fact="0"/>
                  <dgm:constr type="w" for="ch" forName="parentText1" refType="w"/>
                  <dgm:constr type="h" for="ch" forName="parentText1" refType="h" fact="0.5001"/>
                  <dgm:constr type="l" for="ch" forName="parentText2" refType="w" fact="0"/>
                  <dgm:constr type="t" for="ch" forName="parentText2" refType="h" fact="0.1666"/>
                  <dgm:constr type="w" for="ch" forName="parentText2" refType="w" fact="0.7695"/>
                  <dgm:constr type="h" for="ch" forName="parentText2" refType="h" fact="0.5001"/>
                  <dgm:constr type="l" for="ch" forName="parentText3" refType="w" fact="0"/>
                  <dgm:constr type="t" for="ch" forName="parentText3" refType="h" fact="0.3333"/>
                  <dgm:constr type="w" for="ch" forName="parentText3" refType="w" fact="0.539"/>
                  <dgm:constr type="h" for="ch" forName="parentText3" refType="h" fact="0.5001"/>
                  <dgm:constr type="l" for="ch" forName="parentText4" refType="w" fact="0"/>
                  <dgm:constr type="t" for="ch" forName="parentText4" refType="h" fact="0.4999"/>
                  <dgm:constr type="w" for="ch" forName="parentText4" refType="w" fact="0.3085"/>
                  <dgm:constr type="h" for="ch" forName="parentText4" refType="h" fact="0.5001"/>
                </dgm:constrLst>
              </dgm:else>
            </dgm:choose>
          </dgm:if>
          <dgm:else name="Name38">
            <dgm:alg type="composite">
              <dgm:param type="ar" val="1.9377"/>
            </dgm:alg>
            <dgm:choose name="Name39">
              <dgm:if name="Name4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l" for="ch" forName="childText1" refType="w" fact="0"/>
                  <dgm:constr type="t" for="ch" forName="childText1" refType="h" fact="0.218"/>
                  <dgm:constr type="w" for="ch" forName="childText1" refType="w" fact="0.2305"/>
                  <dgm:constr type="h" for="ch" forName="childText1" refType="h" fact="0.5218"/>
                  <dgm:constr type="l" for="ch" forName="childText2" refType="w" fact="0.2305"/>
                  <dgm:constr type="t" for="ch" forName="childText2" refType="h" fact="0.312"/>
                  <dgm:constr type="w" for="ch" forName="childText2" refType="w" fact="0.2305"/>
                  <dgm:constr type="h" for="ch" forName="childText2" refType="h" fact="0.5085"/>
                  <dgm:constr type="l" for="ch" forName="childText3" refType="w" fact="0.461"/>
                  <dgm:constr type="t" for="ch" forName="childText3" refType="h" fact="0.406"/>
                  <dgm:constr type="w" for="ch" forName="childText3" refType="w" fact="0.2305"/>
                  <dgm:constr type="h" for="ch" forName="childText3" refType="h" fact="0.5119"/>
                  <dgm:constr type="l" for="ch" forName="childText4" refType="w" fact="0.6915"/>
                  <dgm:constr type="t" for="ch" forName="childText4" refType="h" fact="0.5"/>
                  <dgm:constr type="w" for="ch" forName="childText4" refType="w" fact="0.2326"/>
                  <dgm:constr type="h" for="ch" forName="childText4" refType="h" fact="0.5179"/>
                  <dgm:constr type="l" for="ch" forName="parentText1" refType="w" fact="0"/>
                  <dgm:constr type="t" for="ch" forName="parentText1" refType="h" fact="0"/>
                  <dgm:constr type="w" for="ch" forName="parentText1" refType="w"/>
                  <dgm:constr type="h" for="ch" forName="parentText1" refType="h" fact="0.2821"/>
                  <dgm:constr type="l" for="ch" forName="parentText2" refType="w" fact="0.2305"/>
                  <dgm:constr type="t" for="ch" forName="parentText2" refType="h" fact="0.094"/>
                  <dgm:constr type="w" for="ch" forName="parentText2" refType="w" fact="0.7695"/>
                  <dgm:constr type="h" for="ch" forName="parentText2" refType="h" fact="0.2821"/>
                  <dgm:constr type="l" for="ch" forName="parentText3" refType="w" fact="0.461"/>
                  <dgm:constr type="t" for="ch" forName="parentText3" refType="h" fact="0.188"/>
                  <dgm:constr type="w" for="ch" forName="parentText3" refType="w" fact="0.539"/>
                  <dgm:constr type="h" for="ch" forName="parentText3" refType="h" fact="0.2821"/>
                  <dgm:constr type="l" for="ch" forName="parentText4" refType="w" fact="0.6915"/>
                  <dgm:constr type="t" for="ch" forName="parentText4" refType="h" fact="0.282"/>
                  <dgm:constr type="w" for="ch" forName="parentText4" refType="w" fact="0.3085"/>
                  <dgm:constr type="h" for="ch" forName="parentText4" refType="h" fact="0.2821"/>
                </dgm:constrLst>
              </dgm:if>
              <dgm:else name="Name4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l" for="ch" forName="childText1" refType="w" fact="0.7695"/>
                  <dgm:constr type="t" for="ch" forName="childText1" refType="h" fact="0.218"/>
                  <dgm:constr type="w" for="ch" forName="childText1" refType="w" fact="0.2305"/>
                  <dgm:constr type="h" for="ch" forName="childText1" refType="h" fact="0.5218"/>
                  <dgm:constr type="l" for="ch" forName="childText2" refType="w" fact="0.539"/>
                  <dgm:constr type="t" for="ch" forName="childText2" refType="h" fact="0.312"/>
                  <dgm:constr type="w" for="ch" forName="childText2" refType="w" fact="0.2305"/>
                  <dgm:constr type="h" for="ch" forName="childText2" refType="h" fact="0.5085"/>
                  <dgm:constr type="l" for="ch" forName="childText3" refType="w" fact="0.3085"/>
                  <dgm:constr type="t" for="ch" forName="childText3" refType="h" fact="0.406"/>
                  <dgm:constr type="w" for="ch" forName="childText3" refType="w" fact="0.2305"/>
                  <dgm:constr type="h" for="ch" forName="childText3" refType="h" fact="0.5119"/>
                  <dgm:constr type="l" for="ch" forName="childText4" refType="w" fact="0.076"/>
                  <dgm:constr type="t" for="ch" forName="childText4" refType="h" fact="0.5"/>
                  <dgm:constr type="w" for="ch" forName="childText4" refType="w" fact="0.2346"/>
                  <dgm:constr type="h" for="ch" forName="childText4" refType="h" fact="0.5179"/>
                  <dgm:constr type="l" for="ch" forName="parentText1" refType="w" fact="0"/>
                  <dgm:constr type="t" for="ch" forName="parentText1" refType="h" fact="0"/>
                  <dgm:constr type="w" for="ch" forName="parentText1" refType="w"/>
                  <dgm:constr type="h" for="ch" forName="parentText1" refType="h" fact="0.2821"/>
                  <dgm:constr type="l" for="ch" forName="parentText2" refType="w" fact="0"/>
                  <dgm:constr type="t" for="ch" forName="parentText2" refType="h" fact="0.094"/>
                  <dgm:constr type="w" for="ch" forName="parentText2" refType="w" fact="0.7695"/>
                  <dgm:constr type="h" for="ch" forName="parentText2" refType="h" fact="0.2821"/>
                  <dgm:constr type="l" for="ch" forName="parentText3" refType="w" fact="0"/>
                  <dgm:constr type="t" for="ch" forName="parentText3" refType="h" fact="0.188"/>
                  <dgm:constr type="w" for="ch" forName="parentText3" refType="w" fact="0.539"/>
                  <dgm:constr type="h" for="ch" forName="parentText3" refType="h" fact="0.2821"/>
                  <dgm:constr type="l" for="ch" forName="parentText4" refType="w" fact="0"/>
                  <dgm:constr type="t" for="ch" forName="parentText4" refType="h" fact="0.282"/>
                  <dgm:constr type="w" for="ch" forName="parentText4" refType="w" fact="0.3085"/>
                  <dgm:constr type="h" for="ch" forName="parentText4" refType="h" fact="0.2821"/>
                </dgm:constrLst>
              </dgm:else>
            </dgm:choose>
          </dgm:else>
        </dgm:choose>
      </dgm:if>
      <dgm:else name="Name42">
        <dgm:choose name="Name43">
          <dgm:if name="Name44" axis="ch ch" ptType="node node" func="cnt" op="equ" val="0">
            <dgm:alg type="composite">
              <dgm:param type="ar" val="2.9463"/>
            </dgm:alg>
            <dgm:choose name="Name45">
              <dgm:if name="Name46" func="var" arg="dir" op="equ" val="norm">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l" for="ch" forName="parentText1" refType="w" fact="0"/>
                  <dgm:constr type="t" for="ch" forName="parentText1" refType="h" fact="0"/>
                  <dgm:constr type="w" for="ch" forName="parentText1" refType="w"/>
                  <dgm:constr type="h" for="ch" forName="parentText1" refType="h" fact="0.4285"/>
                  <dgm:constr type="l" for="ch" forName="parentText2" refType="w" fact="0.1848"/>
                  <dgm:constr type="t" for="ch" forName="parentText2" refType="h" fact="0.1429"/>
                  <dgm:constr type="w" for="ch" forName="parentText2" refType="w" fact="0.8152"/>
                  <dgm:constr type="h" for="ch" forName="parentText2" refType="h" fact="0.4285"/>
                  <dgm:constr type="l" for="ch" forName="parentText3" refType="w" fact="0.3696"/>
                  <dgm:constr type="t" for="ch" forName="parentText3" refType="h" fact="0.2858"/>
                  <dgm:constr type="w" for="ch" forName="parentText3" refType="w" fact="0.6304"/>
                  <dgm:constr type="h" for="ch" forName="parentText3" refType="h" fact="0.4285"/>
                  <dgm:constr type="l" for="ch" forName="parentText4" refType="w" fact="0.5545"/>
                  <dgm:constr type="t" for="ch" forName="parentText4" refType="h" fact="0.4286"/>
                  <dgm:constr type="w" for="ch" forName="parentText4" refType="w" fact="0.4455"/>
                  <dgm:constr type="h" for="ch" forName="parentText4" refType="h" fact="0.4285"/>
                  <dgm:constr type="l" for="ch" forName="parentText5" refType="w" fact="0.7393"/>
                  <dgm:constr type="t" for="ch" forName="parentText5" refType="h" fact="0.5715"/>
                  <dgm:constr type="w" for="ch" forName="parentText5" refType="w" fact="0.2607"/>
                  <dgm:constr type="h" for="ch" forName="parentText5" refType="h" fact="0.4285"/>
                </dgm:constrLst>
              </dgm:if>
              <dgm:else name="Name47">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l" for="ch" forName="parentText1" refType="w" fact="0"/>
                  <dgm:constr type="t" for="ch" forName="parentText1" refType="h" fact="0"/>
                  <dgm:constr type="w" for="ch" forName="parentText1" refType="w"/>
                  <dgm:constr type="h" for="ch" forName="parentText1" refType="h" fact="0.4285"/>
                  <dgm:constr type="l" for="ch" forName="parentText2" refType="w" fact="0"/>
                  <dgm:constr type="t" for="ch" forName="parentText2" refType="h" fact="0.1429"/>
                  <dgm:constr type="w" for="ch" forName="parentText2" refType="w" fact="0.8152"/>
                  <dgm:constr type="h" for="ch" forName="parentText2" refType="h" fact="0.4285"/>
                  <dgm:constr type="l" for="ch" forName="parentText3" refType="w" fact="0"/>
                  <dgm:constr type="t" for="ch" forName="parentText3" refType="h" fact="0.2858"/>
                  <dgm:constr type="w" for="ch" forName="parentText3" refType="w" fact="0.6304"/>
                  <dgm:constr type="h" for="ch" forName="parentText3" refType="h" fact="0.4285"/>
                  <dgm:constr type="l" for="ch" forName="parentText4" refType="w" fact="0"/>
                  <dgm:constr type="t" for="ch" forName="parentText4" refType="h" fact="0.4286"/>
                  <dgm:constr type="w" for="ch" forName="parentText4" refType="w" fact="0.4455"/>
                  <dgm:constr type="h" for="ch" forName="parentText4" refType="h" fact="0.4285"/>
                  <dgm:constr type="l" for="ch" forName="parentText5" refType="w" fact="0"/>
                  <dgm:constr type="t" for="ch" forName="parentText5" refType="h" fact="0.5715"/>
                  <dgm:constr type="w" for="ch" forName="parentText5" refType="w" fact="0.2607"/>
                  <dgm:constr type="h" for="ch" forName="parentText5" refType="h" fact="0.4285"/>
                </dgm:constrLst>
              </dgm:else>
            </dgm:choose>
          </dgm:if>
          <dgm:else name="Name48">
            <dgm:alg type="composite">
              <dgm:param type="ar" val="1.7837"/>
            </dgm:alg>
            <dgm:choose name="Name49">
              <dgm:if name="Name5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5"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5"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5"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childText5" refType="primFontSz" refFor="des" refForName="parentText4" op="lte"/>
                  <dgm:constr type="primFontSz" for="des" forName="childText1" refType="primFontSz" refFor="des" refForName="parentText5" op="lte"/>
                  <dgm:constr type="primFontSz" for="des" forName="childText2" refType="primFontSz" refFor="des" refForName="parentText5" op="lte"/>
                  <dgm:constr type="primFontSz" for="des" forName="childText3" refType="primFontSz" refFor="des" refForName="parentText5" op="lte"/>
                  <dgm:constr type="primFontSz" for="des" forName="childText4" refType="primFontSz" refFor="des" refForName="parentText5" op="lte"/>
                  <dgm:constr type="primFontSz" for="des" forName="childText5" refType="primFontSz" refFor="des" refForName="parentText5"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primFontSz" for="des" forName="childText5" refType="primFontSz" refFor="des" refForName="childText1" op="equ"/>
                  <dgm:constr type="l" for="ch" forName="childText1" refType="w" fact="0"/>
                  <dgm:constr type="t" for="ch" forName="childText1" refType="h" fact="0.1997"/>
                  <dgm:constr type="w" for="ch" forName="childText1" refType="w" fact="0.18482"/>
                  <dgm:constr type="h" for="ch" forName="childText1" refType="h" fact="0.4763"/>
                  <dgm:constr type="l" for="ch" forName="childText2" refType="w" fact="0.1848"/>
                  <dgm:constr type="t" for="ch" forName="childText2" refType="h" fact="0.2862"/>
                  <dgm:constr type="w" for="ch" forName="childText2" refType="w" fact="0.18482"/>
                  <dgm:constr type="h" for="ch" forName="childText2" refType="h" fact="0.4763"/>
                  <dgm:constr type="l" for="ch" forName="childText3" refType="w" fact="0.3696"/>
                  <dgm:constr type="t" for="ch" forName="childText3" refType="h" fact="0.3727"/>
                  <dgm:constr type="w" for="ch" forName="childText3" refType="w" fact="0.18482"/>
                  <dgm:constr type="h" for="ch" forName="childText3" refType="h" fact="0.4763"/>
                  <dgm:constr type="l" for="ch" forName="childText4" refType="w" fact="0.5545"/>
                  <dgm:constr type="t" for="ch" forName="childText4" refType="h" fact="0.4592"/>
                  <dgm:constr type="w" for="ch" forName="childText4" refType="w" fact="0.18482"/>
                  <dgm:constr type="h" for="ch" forName="childText4" refType="h" fact="0.4763"/>
                  <dgm:constr type="l" for="ch" forName="childText5" refType="w" fact="0.7393"/>
                  <dgm:constr type="t" for="ch" forName="childText5" refType="h" fact="0.5457"/>
                  <dgm:constr type="w" for="ch" forName="childText5" refType="w" fact="0.18482"/>
                  <dgm:constr type="h" for="ch" forName="childText5" refType="h" fact="0.4763"/>
                  <dgm:constr type="l" for="ch" forName="parentText1" refType="w" fact="0"/>
                  <dgm:constr type="t" for="ch" forName="parentText1" refType="h" fact="0"/>
                  <dgm:constr type="w" for="ch" forName="parentText1" refType="w"/>
                  <dgm:constr type="h" for="ch" forName="parentText1" refType="h" fact="0.2594"/>
                  <dgm:constr type="l" for="ch" forName="parentText2" refType="w" fact="0.1848"/>
                  <dgm:constr type="t" for="ch" forName="parentText2" refType="h" fact="0.0865"/>
                  <dgm:constr type="w" for="ch" forName="parentText2" refType="w" fact="0.8152"/>
                  <dgm:constr type="h" for="ch" forName="parentText2" refType="h" fact="0.2594"/>
                  <dgm:constr type="l" for="ch" forName="parentText3" refType="w" fact="0.3696"/>
                  <dgm:constr type="t" for="ch" forName="parentText3" refType="h" fact="0.173"/>
                  <dgm:constr type="w" for="ch" forName="parentText3" refType="w" fact="0.6304"/>
                  <dgm:constr type="h" for="ch" forName="parentText3" refType="h" fact="0.2594"/>
                  <dgm:constr type="l" for="ch" forName="parentText4" refType="w" fact="0.5545"/>
                  <dgm:constr type="t" for="ch" forName="parentText4" refType="h" fact="0.2595"/>
                  <dgm:constr type="w" for="ch" forName="parentText4" refType="w" fact="0.4455"/>
                  <dgm:constr type="h" for="ch" forName="parentText4" refType="h" fact="0.2594"/>
                  <dgm:constr type="l" for="ch" forName="parentText5" refType="w" fact="0.7393"/>
                  <dgm:constr type="t" for="ch" forName="parentText5" refType="h" fact="0.346"/>
                  <dgm:constr type="w" for="ch" forName="parentText5" refType="w" fact="0.2607"/>
                  <dgm:constr type="h" for="ch" forName="parentText5" refType="h" fact="0.2594"/>
                </dgm:constrLst>
              </dgm:if>
              <dgm:else name="Name5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5"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5"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5"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childText5" refType="primFontSz" refFor="des" refForName="parentText4" op="lte"/>
                  <dgm:constr type="primFontSz" for="des" forName="childText1" refType="primFontSz" refFor="des" refForName="parentText5" op="lte"/>
                  <dgm:constr type="primFontSz" for="des" forName="childText2" refType="primFontSz" refFor="des" refForName="parentText5" op="lte"/>
                  <dgm:constr type="primFontSz" for="des" forName="childText3" refType="primFontSz" refFor="des" refForName="parentText5" op="lte"/>
                  <dgm:constr type="primFontSz" for="des" forName="childText4" refType="primFontSz" refFor="des" refForName="parentText5" op="lte"/>
                  <dgm:constr type="primFontSz" for="des" forName="childText5" refType="primFontSz" refFor="des" refForName="parentText5"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primFontSz" for="des" forName="childText5" refType="primFontSz" refFor="des" refForName="childText1" op="equ"/>
                  <dgm:constr type="l" for="ch" forName="childText1" refType="w" fact="0.81518"/>
                  <dgm:constr type="t" for="ch" forName="childText1" refType="h" fact="0.1997"/>
                  <dgm:constr type="w" for="ch" forName="childText1" refType="w" fact="0.18482"/>
                  <dgm:constr type="h" for="ch" forName="childText1" refType="h" fact="0.4763"/>
                  <dgm:constr type="l" for="ch" forName="childText2" refType="w" fact="0.63036"/>
                  <dgm:constr type="t" for="ch" forName="childText2" refType="h" fact="0.2862"/>
                  <dgm:constr type="w" for="ch" forName="childText2" refType="w" fact="0.18482"/>
                  <dgm:constr type="h" for="ch" forName="childText2" refType="h" fact="0.4763"/>
                  <dgm:constr type="l" for="ch" forName="childText3" refType="w" fact="0.44554"/>
                  <dgm:constr type="t" for="ch" forName="childText3" refType="h" fact="0.3727"/>
                  <dgm:constr type="w" for="ch" forName="childText3" refType="w" fact="0.18482"/>
                  <dgm:constr type="h" for="ch" forName="childText3" refType="h" fact="0.4763"/>
                  <dgm:constr type="l" for="ch" forName="childText4" refType="w" fact="0.26072"/>
                  <dgm:constr type="t" for="ch" forName="childText4" refType="h" fact="0.4592"/>
                  <dgm:constr type="w" for="ch" forName="childText4" refType="w" fact="0.18482"/>
                  <dgm:constr type="h" for="ch" forName="childText4" refType="h" fact="0.4763"/>
                  <dgm:constr type="l" for="ch" forName="childText5" refType="w" fact="0.0759"/>
                  <dgm:constr type="t" for="ch" forName="childText5" refType="h" fact="0.5457"/>
                  <dgm:constr type="w" for="ch" forName="childText5" refType="w" fact="0.18482"/>
                  <dgm:constr type="h" for="ch" forName="childText5" refType="h" fact="0.4763"/>
                  <dgm:constr type="l" for="ch" forName="parentText1" refType="w" fact="0"/>
                  <dgm:constr type="t" for="ch" forName="parentText1" refType="h" fact="0"/>
                  <dgm:constr type="w" for="ch" forName="parentText1" refType="w"/>
                  <dgm:constr type="h" for="ch" forName="parentText1" refType="h" fact="0.2594"/>
                  <dgm:constr type="l" for="ch" forName="parentText2" refType="w" fact="0"/>
                  <dgm:constr type="t" for="ch" forName="parentText2" refType="h" fact="0.0865"/>
                  <dgm:constr type="w" for="ch" forName="parentText2" refType="w" fact="0.8152"/>
                  <dgm:constr type="h" for="ch" forName="parentText2" refType="h" fact="0.2594"/>
                  <dgm:constr type="l" for="ch" forName="parentText3" refType="w" fact="0"/>
                  <dgm:constr type="t" for="ch" forName="parentText3" refType="h" fact="0.173"/>
                  <dgm:constr type="w" for="ch" forName="parentText3" refType="w" fact="0.6304"/>
                  <dgm:constr type="h" for="ch" forName="parentText3" refType="h" fact="0.2594"/>
                  <dgm:constr type="l" for="ch" forName="parentText4" refType="w" fact="0"/>
                  <dgm:constr type="t" for="ch" forName="parentText4" refType="h" fact="0.2595"/>
                  <dgm:constr type="w" for="ch" forName="parentText4" refType="w" fact="0.4455"/>
                  <dgm:constr type="h" for="ch" forName="parentText4" refType="h" fact="0.2594"/>
                  <dgm:constr type="l" for="ch" forName="parentText5" refType="w" fact="0"/>
                  <dgm:constr type="t" for="ch" forName="parentText5" refType="h" fact="0.346"/>
                  <dgm:constr type="w" for="ch" forName="parentText5" refType="w" fact="0.2607"/>
                  <dgm:constr type="h" for="ch" forName="parentText5" refType="h" fact="0.2594"/>
                </dgm:constrLst>
              </dgm:else>
            </dgm:choose>
          </dgm:else>
        </dgm:choose>
      </dgm:else>
    </dgm:choose>
    <dgm:forEach name="Name52" axis="ch" ptType="node" cnt="1">
      <dgm:layoutNode name="parentText1" styleLbl="node1">
        <dgm:varLst>
          <dgm:chMax/>
          <dgm:chPref val="3"/>
          <dgm:bulletEnabled val="1"/>
        </dgm:varLst>
        <dgm:choose name="Name53">
          <dgm:if name="Name54"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55">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56">
        <dgm:if name="Name57" axis="ch" ptType="node" func="cnt" op="gte" val="1">
          <dgm:layoutNode name="childText1"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8"/>
      </dgm:choose>
    </dgm:forEach>
    <dgm:forEach name="Name59" axis="ch" ptType="node" st="2" cnt="1">
      <dgm:layoutNode name="parentText2" styleLbl="node1">
        <dgm:varLst>
          <dgm:chMax/>
          <dgm:chPref val="3"/>
          <dgm:bulletEnabled val="1"/>
        </dgm:varLst>
        <dgm:choose name="Name60">
          <dgm:if name="Name61"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62">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63">
        <dgm:if name="Name64" axis="ch" ptType="node" func="cnt" op="gte" val="1">
          <dgm:layoutNode name="childText2"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5"/>
      </dgm:choose>
    </dgm:forEach>
    <dgm:forEach name="Name66" axis="ch" ptType="node" st="3" cnt="1">
      <dgm:layoutNode name="parentText3" styleLbl="node1">
        <dgm:varLst>
          <dgm:chMax/>
          <dgm:chPref val="3"/>
          <dgm:bulletEnabled val="1"/>
        </dgm:varLst>
        <dgm:choose name="Name67">
          <dgm:if name="Name68"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69">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70">
        <dgm:if name="Name71" axis="ch" ptType="node" func="cnt" op="gte" val="1">
          <dgm:layoutNode name="childText3"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forEach>
    <dgm:forEach name="Name73" axis="ch" ptType="node" st="4" cnt="1">
      <dgm:layoutNode name="parentText4" styleLbl="node1">
        <dgm:varLst>
          <dgm:chMax/>
          <dgm:chPref val="3"/>
          <dgm:bulletEnabled val="1"/>
        </dgm:varLst>
        <dgm:choose name="Name74">
          <dgm:if name="Name75"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76">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77">
        <dgm:if name="Name78" axis="ch" ptType="node" func="cnt" op="gte" val="1">
          <dgm:layoutNode name="childText4"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9"/>
      </dgm:choose>
    </dgm:forEach>
    <dgm:forEach name="Name80" axis="ch" ptType="node" st="5" cnt="1">
      <dgm:layoutNode name="parentText5" styleLbl="node1">
        <dgm:varLst>
          <dgm:chMax/>
          <dgm:chPref val="3"/>
          <dgm:bulletEnabled val="1"/>
        </dgm:varLst>
        <dgm:choose name="Name81">
          <dgm:if name="Name82"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83">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84">
        <dgm:if name="Name85" axis="ch" ptType="node" func="cnt" op="gte" val="1">
          <dgm:layoutNode name="childText5"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6"/>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3d5">
  <dgm:title val=""/>
  <dgm:desc val=""/>
  <dgm:catLst>
    <dgm:cat type="3D" pri="11500"/>
  </dgm:catLst>
  <dgm:scene3d>
    <a:camera prst="isometricOffAxis2Left" zoom="95000"/>
    <a:lightRig rig="flat" dir="t"/>
  </dgm:scene3d>
  <dgm:styleLbl name="node0">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extrusionH="381000" contourW="38100" prstMaterial="matte">
      <a:contourClr>
        <a:schemeClr val="lt1"/>
      </a:contourClr>
    </dgm:sp3d>
    <dgm:txPr/>
    <dgm:style>
      <a:lnRef idx="1">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z="5715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alignImgPlace1">
    <dgm:scene3d>
      <a:camera prst="orthographicFront"/>
      <a:lightRig rig="threePt" dir="t"/>
    </dgm:scene3d>
    <dgm:sp3d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bgImgPlace1">
    <dgm:scene3d>
      <a:camera prst="orthographicFront"/>
      <a:lightRig rig="threePt" dir="t"/>
    </dgm:scene3d>
    <dgm:sp3d z="-3810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threePt" dir="t"/>
    </dgm:scene3d>
    <dgm:sp3d z="-52400" extrusionH="1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z="57150" extrusionH="63500" contourW="12700" prstMaterial="matte">
      <a:contourClr>
        <a:schemeClr val="dk1">
          <a:tint val="20000"/>
        </a:schemeClr>
      </a:contourClr>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z="-381000" extrusionH="63500" contourW="12700" prstMaterial="matte">
      <a:contourClr>
        <a:schemeClr val="dk1">
          <a:tint val="20000"/>
        </a:schemeClr>
      </a:contourClr>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z="52400"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z="52400"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z="60000" prstMaterial="flat">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threePt" dir="t"/>
    </dgm:scene3d>
    <dgm:sp3d z="60000" prstMaterial="flat">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threePt" dir="t"/>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z="57150" extrusionH="63500" prstMaterial="matte"/>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z="-60000" extrusionH="63500" prstMaterial="matte"/>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z="-60000" extrusionH="63500" prstMaterial="matte"/>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extrusionH="381000" prstMaterial="matte"/>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z="-400500" extrusionH="63500" prstMaterial="matte"/>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z="57150" extrusionH="12700" prstMaterial="flat">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extrusionH="12700" prstMaterial="flat">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dgm:scene3d>
    <dgm:sp3d z="-63500" extrusionH="63500" prstMaterial="matte"/>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z="57150" extrusionH="63500" contourW="12700" prstMaterial="matte">
      <a:contourClr>
        <a:schemeClr val="dk1">
          <a:tint val="20000"/>
        </a:schemeClr>
      </a:contourClr>
    </dgm:sp3d>
    <dgm:txPr/>
    <dgm:style>
      <a:lnRef idx="0">
        <a:scrgbClr r="0" g="0" b="0"/>
      </a:lnRef>
      <a:fillRef idx="1">
        <a:scrgbClr r="0" g="0" b="0"/>
      </a:fillRef>
      <a:effectRef idx="0">
        <a:scrgbClr r="0" g="0" b="0"/>
      </a:effectRef>
      <a:fontRef idx="minor"/>
    </dgm:style>
  </dgm:styleLbl>
  <dgm:styleLbl name="alignAccFollowNode1">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dgm:style>
  </dgm:styleLbl>
  <dgm:styleLbl name="bgAccFollowNode1">
    <dgm:scene3d>
      <a:camera prst="orthographicFront"/>
      <a:lightRig rig="threePt" dir="t"/>
    </dgm:scene3d>
    <dgm:sp3d z="-400500" extrusionH="63500" contourW="12700" prstMaterial="matte">
      <a:contourClr>
        <a:schemeClr val="lt1"/>
      </a:contourClr>
    </dgm:sp3d>
    <dgm:txPr/>
    <dgm:style>
      <a:lnRef idx="0">
        <a:scrgbClr r="0" g="0" b="0"/>
      </a:lnRef>
      <a:fillRef idx="1">
        <a:scrgbClr r="0" g="0" b="0"/>
      </a:fillRef>
      <a:effectRef idx="2">
        <a:scrgbClr r="0" g="0" b="0"/>
      </a:effectRef>
      <a:fontRef idx="minor"/>
    </dgm:style>
  </dgm:styleLbl>
  <dgm:styleLbl name="fgAcc0">
    <dgm:scene3d>
      <a:camera prst="orthographicFront"/>
      <a:lightRig rig="threePt" dir="t"/>
    </dgm:scene3d>
    <dgm:sp3d z="57150" extrusionH="63500" prstMaterial="matte"/>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z="57150" extrusionH="63500" prstMaterial="matte"/>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z="57150" extrusionH="63500" prstMaterial="matte"/>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z="57150" extrusionH="63500" prstMaterial="matte"/>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z="-400500" extrusionH="63500" contourW="12700" prstMaterial="matte">
      <a:contourClr>
        <a:schemeClr val="lt1">
          <a:tint val="50000"/>
        </a:schemeClr>
      </a:contourClr>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trBgShp">
    <dgm:scene3d>
      <a:camera prst="orthographicFront"/>
      <a:lightRig rig="threePt" dir="t"/>
    </dgm:scene3d>
    <dgm:sp3d z="-4005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z="57150" extrusionH="63500" contourW="12700" prstMaterial="matte">
      <a:contourClr>
        <a:schemeClr val="lt1">
          <a:tint val="50000"/>
        </a:schemeClr>
      </a:contourClr>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A6F2D3-2395-4AAE-9CF0-95BD3D8E29BD}" type="datetimeFigureOut">
              <a:rPr lang="zh-CN" altLang="en-US" smtClean="0"/>
              <a:t>2026/1/28</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D27E3F6-C3AC-4131-BD60-F31F1EE091B2}" type="slidenum">
              <a:rPr lang="zh-CN" altLang="en-US" smtClean="0"/>
              <a:t>‹#›</a:t>
            </a:fld>
            <a:endParaRPr lang="zh-CN" altLang="en-US"/>
          </a:p>
        </p:txBody>
      </p:sp>
    </p:spTree>
    <p:extLst>
      <p:ext uri="{BB962C8B-B14F-4D97-AF65-F5344CB8AC3E}">
        <p14:creationId xmlns:p14="http://schemas.microsoft.com/office/powerpoint/2010/main" val="8874320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a:t>
            </a:fld>
            <a:endParaRPr lang="zh-CN" altLang="en-US"/>
          </a:p>
        </p:txBody>
      </p:sp>
    </p:spTree>
    <p:extLst>
      <p:ext uri="{BB962C8B-B14F-4D97-AF65-F5344CB8AC3E}">
        <p14:creationId xmlns:p14="http://schemas.microsoft.com/office/powerpoint/2010/main" val="1449716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a:t>
            </a:fld>
            <a:endParaRPr lang="zh-CN" altLang="en-US"/>
          </a:p>
        </p:txBody>
      </p:sp>
    </p:spTree>
    <p:extLst>
      <p:ext uri="{BB962C8B-B14F-4D97-AF65-F5344CB8AC3E}">
        <p14:creationId xmlns:p14="http://schemas.microsoft.com/office/powerpoint/2010/main" val="29389336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a:t>
            </a:fld>
            <a:endParaRPr lang="zh-CN" altLang="en-US"/>
          </a:p>
        </p:txBody>
      </p:sp>
    </p:spTree>
    <p:extLst>
      <p:ext uri="{BB962C8B-B14F-4D97-AF65-F5344CB8AC3E}">
        <p14:creationId xmlns:p14="http://schemas.microsoft.com/office/powerpoint/2010/main" val="11838158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5</a:t>
            </a:fld>
            <a:endParaRPr lang="zh-CN" altLang="en-US"/>
          </a:p>
        </p:txBody>
      </p:sp>
    </p:spTree>
    <p:extLst>
      <p:ext uri="{BB962C8B-B14F-4D97-AF65-F5344CB8AC3E}">
        <p14:creationId xmlns:p14="http://schemas.microsoft.com/office/powerpoint/2010/main" val="13808412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门难进</a:t>
            </a:r>
            <a:endParaRPr lang="en-US" altLang="zh-CN" dirty="0"/>
          </a:p>
          <a:p>
            <a:r>
              <a:rPr lang="zh-CN" altLang="en-US" dirty="0"/>
              <a:t>脸难看</a:t>
            </a:r>
            <a:endParaRPr lang="en-US" altLang="zh-CN" dirty="0"/>
          </a:p>
          <a:p>
            <a:r>
              <a:rPr lang="zh-CN" altLang="en-US" dirty="0"/>
              <a:t>事难办</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23</a:t>
            </a:fld>
            <a:endParaRPr lang="zh-CN" altLang="en-US"/>
          </a:p>
        </p:txBody>
      </p:sp>
    </p:spTree>
    <p:extLst>
      <p:ext uri="{BB962C8B-B14F-4D97-AF65-F5344CB8AC3E}">
        <p14:creationId xmlns:p14="http://schemas.microsoft.com/office/powerpoint/2010/main" val="12185171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电视剧 </a:t>
            </a:r>
            <a:r>
              <a:rPr lang="en-US" altLang="zh-CN" dirty="0"/>
              <a:t>– </a:t>
            </a:r>
            <a:r>
              <a:rPr lang="zh-CN" altLang="en-US" dirty="0"/>
              <a:t>美剧，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a:t>
            </a:fld>
            <a:endParaRPr lang="zh-CN" altLang="en-US"/>
          </a:p>
        </p:txBody>
      </p:sp>
    </p:spTree>
    <p:extLst>
      <p:ext uri="{BB962C8B-B14F-4D97-AF65-F5344CB8AC3E}">
        <p14:creationId xmlns:p14="http://schemas.microsoft.com/office/powerpoint/2010/main" val="36759143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以人为本</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以价值为导向</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合作共赢</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拥抱变化</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胜于</a:t>
            </a:r>
            <a:r>
              <a:rPr lang="en-US" altLang="zh-CN" dirty="0"/>
              <a:t>/</a:t>
            </a:r>
            <a:r>
              <a:rPr lang="zh-CN" altLang="en-US" dirty="0"/>
              <a:t>优于</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并没有否定</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26</a:t>
            </a:fld>
            <a:endParaRPr lang="zh-CN" altLang="en-US"/>
          </a:p>
        </p:txBody>
      </p:sp>
    </p:spTree>
    <p:extLst>
      <p:ext uri="{BB962C8B-B14F-4D97-AF65-F5344CB8AC3E}">
        <p14:creationId xmlns:p14="http://schemas.microsoft.com/office/powerpoint/2010/main" val="6735118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自己圈关键词</a:t>
            </a:r>
            <a:endParaRPr lang="en-US" altLang="zh-CN" dirty="0"/>
          </a:p>
          <a:p>
            <a:r>
              <a:rPr lang="zh-CN" altLang="en-US" dirty="0"/>
              <a:t>用人不疑</a:t>
            </a:r>
            <a:endParaRPr lang="en-US" altLang="zh-CN" dirty="0"/>
          </a:p>
          <a:p>
            <a:r>
              <a:rPr lang="zh-CN" altLang="en-US" dirty="0"/>
              <a:t>可工作：应用</a:t>
            </a:r>
            <a:endParaRPr lang="en-US" altLang="zh-CN" dirty="0"/>
          </a:p>
          <a:p>
            <a:r>
              <a:rPr lang="zh-CN" altLang="en-US" dirty="0"/>
              <a:t>团队稳定、不加班</a:t>
            </a:r>
            <a:endParaRPr lang="en-US" altLang="zh-CN" dirty="0"/>
          </a:p>
          <a:p>
            <a:r>
              <a:rPr lang="zh-CN" altLang="en-US" dirty="0"/>
              <a:t>复盘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27</a:t>
            </a:fld>
            <a:endParaRPr lang="zh-CN" altLang="en-US"/>
          </a:p>
        </p:txBody>
      </p:sp>
    </p:spTree>
    <p:extLst>
      <p:ext uri="{BB962C8B-B14F-4D97-AF65-F5344CB8AC3E}">
        <p14:creationId xmlns:p14="http://schemas.microsoft.com/office/powerpoint/2010/main" val="41800919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30</a:t>
            </a:fld>
            <a:endParaRPr lang="zh-CN" altLang="en-US"/>
          </a:p>
        </p:txBody>
      </p:sp>
    </p:spTree>
    <p:extLst>
      <p:ext uri="{BB962C8B-B14F-4D97-AF65-F5344CB8AC3E}">
        <p14:creationId xmlns:p14="http://schemas.microsoft.com/office/powerpoint/2010/main" val="54595852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31</a:t>
            </a:fld>
            <a:endParaRPr lang="zh-CN" altLang="en-US"/>
          </a:p>
        </p:txBody>
      </p:sp>
    </p:spTree>
    <p:extLst>
      <p:ext uri="{BB962C8B-B14F-4D97-AF65-F5344CB8AC3E}">
        <p14:creationId xmlns:p14="http://schemas.microsoft.com/office/powerpoint/2010/main" val="249736672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32</a:t>
            </a:fld>
            <a:endParaRPr lang="zh-CN" altLang="en-US"/>
          </a:p>
        </p:txBody>
      </p:sp>
    </p:spTree>
    <p:extLst>
      <p:ext uri="{BB962C8B-B14F-4D97-AF65-F5344CB8AC3E}">
        <p14:creationId xmlns:p14="http://schemas.microsoft.com/office/powerpoint/2010/main" val="14363666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33</a:t>
            </a:fld>
            <a:endParaRPr lang="zh-CN" altLang="en-US"/>
          </a:p>
        </p:txBody>
      </p:sp>
    </p:spTree>
    <p:extLst>
      <p:ext uri="{BB962C8B-B14F-4D97-AF65-F5344CB8AC3E}">
        <p14:creationId xmlns:p14="http://schemas.microsoft.com/office/powerpoint/2010/main" val="91882626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34</a:t>
            </a:fld>
            <a:endParaRPr lang="zh-CN" altLang="en-US"/>
          </a:p>
        </p:txBody>
      </p:sp>
    </p:spTree>
    <p:extLst>
      <p:ext uri="{BB962C8B-B14F-4D97-AF65-F5344CB8AC3E}">
        <p14:creationId xmlns:p14="http://schemas.microsoft.com/office/powerpoint/2010/main" val="267244747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35</a:t>
            </a:fld>
            <a:endParaRPr lang="zh-CN" altLang="en-US"/>
          </a:p>
        </p:txBody>
      </p:sp>
    </p:spTree>
    <p:extLst>
      <p:ext uri="{BB962C8B-B14F-4D97-AF65-F5344CB8AC3E}">
        <p14:creationId xmlns:p14="http://schemas.microsoft.com/office/powerpoint/2010/main" val="11460602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r>
              <a:rPr lang="zh-CN" altLang="en-US" dirty="0"/>
              <a:t>：</a:t>
            </a:r>
            <a:r>
              <a:rPr lang="zh-CN" altLang="en-US" sz="1200" b="0" i="0" kern="1200" dirty="0">
                <a:solidFill>
                  <a:schemeClr val="tx1"/>
                </a:solidFill>
                <a:effectLst/>
                <a:latin typeface="+mn-lt"/>
                <a:ea typeface="+mn-ea"/>
                <a:cs typeface="+mn-cs"/>
              </a:rPr>
              <a:t>敏捷强调</a:t>
            </a:r>
            <a:r>
              <a:rPr lang="zh-CN" altLang="en-US" sz="1200" b="1" i="0" kern="1200" dirty="0">
                <a:solidFill>
                  <a:schemeClr val="tx1"/>
                </a:solidFill>
                <a:effectLst/>
                <a:latin typeface="+mn-lt"/>
                <a:ea typeface="+mn-ea"/>
                <a:cs typeface="+mn-cs"/>
              </a:rPr>
              <a:t>逐步细化</a:t>
            </a:r>
            <a:r>
              <a:rPr lang="zh-CN" altLang="en-US" sz="1200" b="0" i="0" kern="1200" dirty="0">
                <a:solidFill>
                  <a:schemeClr val="tx1"/>
                </a:solidFill>
                <a:effectLst/>
                <a:latin typeface="+mn-lt"/>
                <a:ea typeface="+mn-ea"/>
                <a:cs typeface="+mn-cs"/>
              </a:rPr>
              <a:t>（</a:t>
            </a:r>
            <a:r>
              <a:rPr lang="en-US" altLang="zh-CN" sz="1200" b="0" i="0" kern="1200" dirty="0">
                <a:solidFill>
                  <a:schemeClr val="tx1"/>
                </a:solidFill>
                <a:effectLst/>
                <a:latin typeface="+mn-lt"/>
                <a:ea typeface="+mn-ea"/>
                <a:cs typeface="+mn-cs"/>
              </a:rPr>
              <a:t>Just-in-Time Planning</a:t>
            </a:r>
            <a:r>
              <a:rPr lang="zh-CN" altLang="en-US" sz="1200" b="0" i="0" kern="1200" dirty="0">
                <a:solidFill>
                  <a:schemeClr val="tx1"/>
                </a:solidFill>
                <a:effectLst/>
                <a:latin typeface="+mn-lt"/>
                <a:ea typeface="+mn-ea"/>
                <a:cs typeface="+mn-cs"/>
              </a:rPr>
              <a:t>），不追求提前定义所有活动。需求和任务会在迭代中不断澄清和调整</a:t>
            </a:r>
            <a:endParaRPr lang="en-US" altLang="zh-CN" dirty="0"/>
          </a:p>
          <a:p>
            <a:r>
              <a:rPr lang="en-US" altLang="zh-CN" dirty="0"/>
              <a:t>C</a:t>
            </a:r>
            <a:r>
              <a:rPr lang="zh-CN" altLang="en-US" dirty="0"/>
              <a:t>：</a:t>
            </a:r>
            <a:r>
              <a:rPr lang="zh-CN" altLang="en-US" sz="1200" b="0" i="0" kern="1200" dirty="0">
                <a:solidFill>
                  <a:schemeClr val="tx1"/>
                </a:solidFill>
                <a:effectLst/>
                <a:latin typeface="+mn-lt"/>
                <a:ea typeface="+mn-ea"/>
                <a:cs typeface="+mn-cs"/>
              </a:rPr>
              <a:t>预测式（瀑布）方法的特征</a:t>
            </a:r>
            <a:endParaRPr lang="en-US" altLang="zh-CN" dirty="0"/>
          </a:p>
          <a:p>
            <a:r>
              <a:rPr lang="zh-CN" altLang="en-US" dirty="0"/>
              <a:t>排除</a:t>
            </a:r>
            <a:r>
              <a:rPr lang="en-US" altLang="zh-CN" dirty="0"/>
              <a:t>AD</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36</a:t>
            </a:fld>
            <a:endParaRPr lang="zh-CN" altLang="en-US"/>
          </a:p>
        </p:txBody>
      </p:sp>
    </p:spTree>
    <p:extLst>
      <p:ext uri="{BB962C8B-B14F-4D97-AF65-F5344CB8AC3E}">
        <p14:creationId xmlns:p14="http://schemas.microsoft.com/office/powerpoint/2010/main" val="12922037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37</a:t>
            </a:fld>
            <a:endParaRPr lang="zh-CN" altLang="en-US"/>
          </a:p>
        </p:txBody>
      </p:sp>
    </p:spTree>
    <p:extLst>
      <p:ext uri="{BB962C8B-B14F-4D97-AF65-F5344CB8AC3E}">
        <p14:creationId xmlns:p14="http://schemas.microsoft.com/office/powerpoint/2010/main" val="139999893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r>
              <a:rPr lang="zh-CN" altLang="en-US" dirty="0"/>
              <a:t>；经典答案；从价值流图中消除</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38</a:t>
            </a:fld>
            <a:endParaRPr lang="zh-CN" altLang="en-US"/>
          </a:p>
        </p:txBody>
      </p:sp>
    </p:spTree>
    <p:extLst>
      <p:ext uri="{BB962C8B-B14F-4D97-AF65-F5344CB8AC3E}">
        <p14:creationId xmlns:p14="http://schemas.microsoft.com/office/powerpoint/2010/main" val="254297609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39</a:t>
            </a:fld>
            <a:endParaRPr lang="zh-CN" altLang="en-US"/>
          </a:p>
        </p:txBody>
      </p:sp>
    </p:spTree>
    <p:extLst>
      <p:ext uri="{BB962C8B-B14F-4D97-AF65-F5344CB8AC3E}">
        <p14:creationId xmlns:p14="http://schemas.microsoft.com/office/powerpoint/2010/main" val="329753871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r>
              <a:rPr lang="zh-CN" altLang="en-US" dirty="0"/>
              <a:t>：共同决定</a:t>
            </a:r>
            <a:endParaRPr lang="en-US" altLang="zh-CN" dirty="0"/>
          </a:p>
          <a:p>
            <a:r>
              <a:rPr lang="en-US" altLang="zh-CN" dirty="0"/>
              <a:t>D</a:t>
            </a:r>
            <a:r>
              <a:rPr lang="zh-CN" altLang="en-US" dirty="0"/>
              <a:t>：某个人决定</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40</a:t>
            </a:fld>
            <a:endParaRPr lang="zh-CN" altLang="en-US"/>
          </a:p>
        </p:txBody>
      </p:sp>
    </p:spTree>
    <p:extLst>
      <p:ext uri="{BB962C8B-B14F-4D97-AF65-F5344CB8AC3E}">
        <p14:creationId xmlns:p14="http://schemas.microsoft.com/office/powerpoint/2010/main" val="307739009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41</a:t>
            </a:fld>
            <a:endParaRPr lang="zh-CN" altLang="en-US"/>
          </a:p>
        </p:txBody>
      </p:sp>
    </p:spTree>
    <p:extLst>
      <p:ext uri="{BB962C8B-B14F-4D97-AF65-F5344CB8AC3E}">
        <p14:creationId xmlns:p14="http://schemas.microsoft.com/office/powerpoint/2010/main" val="428889225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42</a:t>
            </a:fld>
            <a:endParaRPr lang="zh-CN" altLang="en-US"/>
          </a:p>
        </p:txBody>
      </p:sp>
    </p:spTree>
    <p:extLst>
      <p:ext uri="{BB962C8B-B14F-4D97-AF65-F5344CB8AC3E}">
        <p14:creationId xmlns:p14="http://schemas.microsoft.com/office/powerpoint/2010/main" val="429336775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43</a:t>
            </a:fld>
            <a:endParaRPr lang="zh-CN" altLang="en-US"/>
          </a:p>
        </p:txBody>
      </p:sp>
    </p:spTree>
    <p:extLst>
      <p:ext uri="{BB962C8B-B14F-4D97-AF65-F5344CB8AC3E}">
        <p14:creationId xmlns:p14="http://schemas.microsoft.com/office/powerpoint/2010/main" val="172440207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以下为“范围外”项目内容：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1. </a:t>
            </a:r>
            <a:r>
              <a:rPr lang="zh-CN" altLang="en-US" dirty="0"/>
              <a:t>维护现有系统的升级与更新</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2. </a:t>
            </a:r>
            <a:r>
              <a:rPr lang="zh-CN" altLang="en-US" dirty="0"/>
              <a:t>为项目提供长期的技术支持</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3. </a:t>
            </a:r>
            <a:r>
              <a:rPr lang="zh-CN" altLang="en-US" dirty="0"/>
              <a:t>负责项目的市场营销与推广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4. </a:t>
            </a:r>
            <a:r>
              <a:rPr lang="zh-CN" altLang="en-US" dirty="0"/>
              <a:t>完成项目外的任何额外研究或调查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5. </a:t>
            </a:r>
            <a:r>
              <a:rPr lang="zh-CN" altLang="en-US" dirty="0"/>
              <a:t>项目相关的法律、税务咨询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6. </a:t>
            </a:r>
            <a:r>
              <a:rPr lang="zh-CN" altLang="en-US" dirty="0"/>
              <a:t>项目相关的内部培训与指导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7. </a:t>
            </a:r>
            <a:r>
              <a:rPr lang="zh-CN" altLang="en-US" dirty="0"/>
              <a:t>项目的扩展功能开发，除非在合同中特别约定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8. </a:t>
            </a:r>
            <a:r>
              <a:rPr lang="zh-CN" altLang="en-US" dirty="0"/>
              <a:t>任何不在合同明确范围内的工作内容</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60</a:t>
            </a:fld>
            <a:endParaRPr lang="zh-CN" altLang="en-US"/>
          </a:p>
        </p:txBody>
      </p:sp>
    </p:spTree>
    <p:extLst>
      <p:ext uri="{BB962C8B-B14F-4D97-AF65-F5344CB8AC3E}">
        <p14:creationId xmlns:p14="http://schemas.microsoft.com/office/powerpoint/2010/main" val="425320437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E2664E-0A19-F89A-0C2E-727CEAF340B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08438AE-0AD8-259B-8EE5-02216CBE931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87C37A3-9B26-1C71-6809-EB8217787F8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以下为“范围外”项目内容：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1. </a:t>
            </a:r>
            <a:r>
              <a:rPr lang="zh-CN" altLang="en-US" dirty="0"/>
              <a:t>维护现有系统的升级与更新</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2. </a:t>
            </a:r>
            <a:r>
              <a:rPr lang="zh-CN" altLang="en-US" dirty="0"/>
              <a:t>为项目提供长期的技术支持</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3. </a:t>
            </a:r>
            <a:r>
              <a:rPr lang="zh-CN" altLang="en-US" dirty="0"/>
              <a:t>负责项目的市场营销与推广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4. </a:t>
            </a:r>
            <a:r>
              <a:rPr lang="zh-CN" altLang="en-US" dirty="0"/>
              <a:t>完成项目外的任何额外研究或调查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5. </a:t>
            </a:r>
            <a:r>
              <a:rPr lang="zh-CN" altLang="en-US" dirty="0"/>
              <a:t>项目相关的法律、税务咨询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6. </a:t>
            </a:r>
            <a:r>
              <a:rPr lang="zh-CN" altLang="en-US" dirty="0"/>
              <a:t>项目相关的内部培训与指导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7. </a:t>
            </a:r>
            <a:r>
              <a:rPr lang="zh-CN" altLang="en-US" dirty="0"/>
              <a:t>项目的扩展功能开发，除非在合同中特别约定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8. </a:t>
            </a:r>
            <a:r>
              <a:rPr lang="zh-CN" altLang="en-US" dirty="0"/>
              <a:t>任何不在合同明确范围内的工作内容</a:t>
            </a:r>
          </a:p>
          <a:p>
            <a:endParaRPr lang="zh-CN" altLang="en-US" dirty="0"/>
          </a:p>
        </p:txBody>
      </p:sp>
      <p:sp>
        <p:nvSpPr>
          <p:cNvPr id="4" name="灯片编号占位符 3">
            <a:extLst>
              <a:ext uri="{FF2B5EF4-FFF2-40B4-BE49-F238E27FC236}">
                <a16:creationId xmlns:a16="http://schemas.microsoft.com/office/drawing/2014/main" id="{853AD7A3-A5D3-46E5-A0E2-011047672515}"/>
              </a:ext>
            </a:extLst>
          </p:cNvPr>
          <p:cNvSpPr>
            <a:spLocks noGrp="1"/>
          </p:cNvSpPr>
          <p:nvPr>
            <p:ph type="sldNum" sz="quarter" idx="5"/>
          </p:nvPr>
        </p:nvSpPr>
        <p:spPr/>
        <p:txBody>
          <a:bodyPr/>
          <a:lstStyle/>
          <a:p>
            <a:fld id="{6D27E3F6-C3AC-4131-BD60-F31F1EE091B2}" type="slidenum">
              <a:rPr lang="zh-CN" altLang="en-US" smtClean="0"/>
              <a:t>64</a:t>
            </a:fld>
            <a:endParaRPr lang="zh-CN" altLang="en-US"/>
          </a:p>
        </p:txBody>
      </p:sp>
    </p:spTree>
    <p:extLst>
      <p:ext uri="{BB962C8B-B14F-4D97-AF65-F5344CB8AC3E}">
        <p14:creationId xmlns:p14="http://schemas.microsoft.com/office/powerpoint/2010/main" val="328430768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开发：透明</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76</a:t>
            </a:fld>
            <a:endParaRPr lang="zh-CN" altLang="en-US"/>
          </a:p>
        </p:txBody>
      </p:sp>
    </p:spTree>
    <p:extLst>
      <p:ext uri="{BB962C8B-B14F-4D97-AF65-F5344CB8AC3E}">
        <p14:creationId xmlns:p14="http://schemas.microsoft.com/office/powerpoint/2010/main" val="287670353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77</a:t>
            </a:fld>
            <a:endParaRPr lang="zh-CN" altLang="en-US"/>
          </a:p>
        </p:txBody>
      </p:sp>
    </p:spTree>
    <p:extLst>
      <p:ext uri="{BB962C8B-B14F-4D97-AF65-F5344CB8AC3E}">
        <p14:creationId xmlns:p14="http://schemas.microsoft.com/office/powerpoint/2010/main" val="386100173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PO</a:t>
            </a:r>
            <a:r>
              <a:rPr lang="zh-CN" altLang="en-US" dirty="0"/>
              <a:t>：关注产品本身；根据价值排序</a:t>
            </a:r>
            <a:endParaRPr lang="en-US" altLang="zh-CN" dirty="0"/>
          </a:p>
          <a:p>
            <a:r>
              <a:rPr lang="en-US" altLang="zh-CN" dirty="0" err="1"/>
              <a:t>Msater</a:t>
            </a:r>
            <a:r>
              <a:rPr lang="zh-CN" altLang="en-US" dirty="0"/>
              <a:t>：项目经理、促进者、团队领导、</a:t>
            </a:r>
            <a:r>
              <a:rPr lang="en-US" altLang="zh-CN" dirty="0"/>
              <a:t>scrum</a:t>
            </a:r>
            <a:r>
              <a:rPr lang="zh-CN" altLang="en-US" dirty="0"/>
              <a:t>主管；仆人式领导</a:t>
            </a:r>
            <a:r>
              <a:rPr lang="en-US" altLang="zh-CN" dirty="0"/>
              <a:t>a servant-leader</a:t>
            </a:r>
            <a:r>
              <a:rPr lang="zh-CN" altLang="en-US" dirty="0"/>
              <a:t>、催化剂、老母鸡</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82</a:t>
            </a:fld>
            <a:endParaRPr lang="zh-CN" altLang="en-US"/>
          </a:p>
        </p:txBody>
      </p:sp>
    </p:spTree>
    <p:extLst>
      <p:ext uri="{BB962C8B-B14F-4D97-AF65-F5344CB8AC3E}">
        <p14:creationId xmlns:p14="http://schemas.microsoft.com/office/powerpoint/2010/main" val="423208807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83A18-A8BC-4089-5A75-422129070BD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E52A0FB-9913-CC99-E989-693E8A8FD35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FD950F57-7FF7-CCC9-D4BE-E81DB647C152}"/>
              </a:ext>
            </a:extLst>
          </p:cNvPr>
          <p:cNvSpPr>
            <a:spLocks noGrp="1"/>
          </p:cNvSpPr>
          <p:nvPr>
            <p:ph type="body" idx="1"/>
          </p:nvPr>
        </p:nvSpPr>
        <p:spPr/>
        <p:txBody>
          <a:bodyPr/>
          <a:lstStyle/>
          <a:p>
            <a:r>
              <a:rPr lang="en-US" altLang="zh-CN" dirty="0"/>
              <a:t>PO</a:t>
            </a:r>
            <a:r>
              <a:rPr lang="zh-CN" altLang="en-US" dirty="0"/>
              <a:t>：关注产品本身；根据价值排序</a:t>
            </a:r>
            <a:endParaRPr lang="en-US" altLang="zh-CN" dirty="0"/>
          </a:p>
          <a:p>
            <a:r>
              <a:rPr lang="en-US" altLang="zh-CN" dirty="0" err="1"/>
              <a:t>Msater</a:t>
            </a:r>
            <a:r>
              <a:rPr lang="zh-CN" altLang="en-US" dirty="0"/>
              <a:t>：项目经理、促进者、团队领导、</a:t>
            </a:r>
            <a:r>
              <a:rPr lang="en-US" altLang="zh-CN" dirty="0"/>
              <a:t>scrum</a:t>
            </a:r>
            <a:r>
              <a:rPr lang="zh-CN" altLang="en-US" dirty="0"/>
              <a:t>主管；仆人式领导</a:t>
            </a:r>
            <a:r>
              <a:rPr lang="en-US" altLang="zh-CN" dirty="0"/>
              <a:t>a servant-leader</a:t>
            </a:r>
            <a:r>
              <a:rPr lang="zh-CN" altLang="en-US" dirty="0"/>
              <a:t>、催化剂、老母鸡</a:t>
            </a:r>
            <a:endParaRPr lang="en-US" altLang="zh-CN" dirty="0"/>
          </a:p>
        </p:txBody>
      </p:sp>
      <p:sp>
        <p:nvSpPr>
          <p:cNvPr id="4" name="灯片编号占位符 3">
            <a:extLst>
              <a:ext uri="{FF2B5EF4-FFF2-40B4-BE49-F238E27FC236}">
                <a16:creationId xmlns:a16="http://schemas.microsoft.com/office/drawing/2014/main" id="{711DF6DB-172C-C723-2E5B-A4E8E68BC5BC}"/>
              </a:ext>
            </a:extLst>
          </p:cNvPr>
          <p:cNvSpPr>
            <a:spLocks noGrp="1"/>
          </p:cNvSpPr>
          <p:nvPr>
            <p:ph type="sldNum" sz="quarter" idx="5"/>
          </p:nvPr>
        </p:nvSpPr>
        <p:spPr/>
        <p:txBody>
          <a:bodyPr/>
          <a:lstStyle/>
          <a:p>
            <a:fld id="{6D27E3F6-C3AC-4131-BD60-F31F1EE091B2}" type="slidenum">
              <a:rPr lang="zh-CN" altLang="en-US" smtClean="0"/>
              <a:t>83</a:t>
            </a:fld>
            <a:endParaRPr lang="zh-CN" altLang="en-US"/>
          </a:p>
        </p:txBody>
      </p:sp>
    </p:spTree>
    <p:extLst>
      <p:ext uri="{BB962C8B-B14F-4D97-AF65-F5344CB8AC3E}">
        <p14:creationId xmlns:p14="http://schemas.microsoft.com/office/powerpoint/2010/main" val="333157526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r>
              <a:rPr lang="zh-CN" altLang="en-US" dirty="0"/>
              <a:t>；</a:t>
            </a:r>
            <a:r>
              <a:rPr lang="en-US" altLang="zh-CN" dirty="0"/>
              <a:t>PO</a:t>
            </a:r>
            <a:r>
              <a:rPr lang="zh-CN" altLang="en-US" dirty="0"/>
              <a:t>对接客户，收集需求</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84</a:t>
            </a:fld>
            <a:endParaRPr lang="zh-CN" altLang="en-US"/>
          </a:p>
        </p:txBody>
      </p:sp>
    </p:spTree>
    <p:extLst>
      <p:ext uri="{BB962C8B-B14F-4D97-AF65-F5344CB8AC3E}">
        <p14:creationId xmlns:p14="http://schemas.microsoft.com/office/powerpoint/2010/main" val="312570094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r>
              <a:rPr lang="zh-CN" altLang="en-US" dirty="0"/>
              <a:t>：</a:t>
            </a:r>
            <a:r>
              <a:rPr lang="en-US" altLang="zh-CN" dirty="0"/>
              <a:t>PO</a:t>
            </a:r>
            <a:r>
              <a:rPr lang="zh-CN" altLang="en-US" dirty="0"/>
              <a:t>关注点偏离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85</a:t>
            </a:fld>
            <a:endParaRPr lang="zh-CN" altLang="en-US"/>
          </a:p>
        </p:txBody>
      </p:sp>
    </p:spTree>
    <p:extLst>
      <p:ext uri="{BB962C8B-B14F-4D97-AF65-F5344CB8AC3E}">
        <p14:creationId xmlns:p14="http://schemas.microsoft.com/office/powerpoint/2010/main" val="240246452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a:t>
            </a:r>
            <a:r>
              <a:rPr lang="zh-CN" altLang="en-US" dirty="0"/>
              <a:t>；</a:t>
            </a:r>
            <a:r>
              <a:rPr lang="en-US" altLang="zh-CN" dirty="0"/>
              <a:t>PO</a:t>
            </a:r>
            <a:r>
              <a:rPr lang="zh-CN" altLang="en-US" dirty="0"/>
              <a:t>负责定义优先级</a:t>
            </a:r>
            <a:endParaRPr lang="en-US" altLang="zh-CN" dirty="0"/>
          </a:p>
          <a:p>
            <a:r>
              <a:rPr lang="en-US" altLang="zh-CN" dirty="0"/>
              <a:t>B</a:t>
            </a:r>
            <a:r>
              <a:rPr lang="zh-CN" altLang="en-US" dirty="0"/>
              <a:t>排除</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86</a:t>
            </a:fld>
            <a:endParaRPr lang="zh-CN" altLang="en-US"/>
          </a:p>
        </p:txBody>
      </p:sp>
    </p:spTree>
    <p:extLst>
      <p:ext uri="{BB962C8B-B14F-4D97-AF65-F5344CB8AC3E}">
        <p14:creationId xmlns:p14="http://schemas.microsoft.com/office/powerpoint/2010/main" val="420739679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排除</a:t>
            </a:r>
            <a:r>
              <a:rPr lang="en-US" altLang="zh-CN" dirty="0"/>
              <a:t>AD</a:t>
            </a:r>
          </a:p>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87</a:t>
            </a:fld>
            <a:endParaRPr lang="zh-CN" altLang="en-US"/>
          </a:p>
        </p:txBody>
      </p:sp>
    </p:spTree>
    <p:extLst>
      <p:ext uri="{BB962C8B-B14F-4D97-AF65-F5344CB8AC3E}">
        <p14:creationId xmlns:p14="http://schemas.microsoft.com/office/powerpoint/2010/main" val="176816716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典型的 </a:t>
            </a:r>
            <a:r>
              <a:rPr lang="zh-CN" altLang="en-US" sz="1200" b="1" i="0" kern="1200" dirty="0">
                <a:solidFill>
                  <a:schemeClr val="tx1"/>
                </a:solidFill>
                <a:effectLst/>
                <a:latin typeface="+mn-lt"/>
                <a:ea typeface="+mn-ea"/>
                <a:cs typeface="+mn-cs"/>
              </a:rPr>
              <a:t>“变更干扰”场景</a:t>
            </a:r>
            <a:r>
              <a:rPr lang="zh-CN" altLang="en-US" sz="1200" b="0" i="0" kern="1200" dirty="0">
                <a:solidFill>
                  <a:schemeClr val="tx1"/>
                </a:solidFill>
                <a:effectLst/>
                <a:latin typeface="+mn-lt"/>
                <a:ea typeface="+mn-ea"/>
                <a:cs typeface="+mn-cs"/>
              </a:rPr>
              <a:t>，考验 </a:t>
            </a:r>
            <a:r>
              <a:rPr lang="en-US" altLang="zh-CN" sz="1200" b="0" i="0" kern="1200" dirty="0">
                <a:solidFill>
                  <a:schemeClr val="tx1"/>
                </a:solidFill>
                <a:effectLst/>
                <a:latin typeface="+mn-lt"/>
                <a:ea typeface="+mn-ea"/>
                <a:cs typeface="+mn-cs"/>
              </a:rPr>
              <a:t>Scrum Master </a:t>
            </a:r>
            <a:r>
              <a:rPr lang="zh-CN" altLang="en-US" sz="1200" b="0" i="0" kern="1200" dirty="0">
                <a:solidFill>
                  <a:schemeClr val="tx1"/>
                </a:solidFill>
                <a:effectLst/>
                <a:latin typeface="+mn-lt"/>
                <a:ea typeface="+mn-ea"/>
                <a:cs typeface="+mn-cs"/>
              </a:rPr>
              <a:t>是否能坚持原则、保护团队专注力</a:t>
            </a:r>
            <a:endParaRPr lang="en-US" altLang="zh-CN" dirty="0"/>
          </a:p>
          <a:p>
            <a:r>
              <a:rPr lang="zh-CN" altLang="en-US" dirty="0"/>
              <a:t>排除</a:t>
            </a:r>
            <a:r>
              <a:rPr lang="en-US" altLang="zh-CN" dirty="0"/>
              <a:t>ACD</a:t>
            </a:r>
            <a:r>
              <a:rPr lang="zh-CN" altLang="en-US" dirty="0"/>
              <a:t>，</a:t>
            </a:r>
            <a:r>
              <a:rPr lang="en-US" altLang="zh-CN" dirty="0"/>
              <a:t>master </a:t>
            </a:r>
            <a:r>
              <a:rPr lang="zh-CN" altLang="en-US" dirty="0"/>
              <a:t>无权添加</a:t>
            </a:r>
            <a:endParaRPr lang="en-US" altLang="zh-CN" dirty="0"/>
          </a:p>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88</a:t>
            </a:fld>
            <a:endParaRPr lang="zh-CN" altLang="en-US"/>
          </a:p>
        </p:txBody>
      </p:sp>
    </p:spTree>
    <p:extLst>
      <p:ext uri="{BB962C8B-B14F-4D97-AF65-F5344CB8AC3E}">
        <p14:creationId xmlns:p14="http://schemas.microsoft.com/office/powerpoint/2010/main" val="254175502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p>
          <a:p>
            <a:r>
              <a:rPr lang="zh-CN" altLang="en-US" dirty="0"/>
              <a:t>排除</a:t>
            </a:r>
            <a:r>
              <a:rPr lang="en-US" altLang="zh-CN" dirty="0"/>
              <a:t>BC</a:t>
            </a:r>
            <a:r>
              <a:rPr lang="zh-CN" altLang="en-US" dirty="0"/>
              <a:t>；相关方没有时间频繁参加每日站会</a:t>
            </a:r>
            <a:endParaRPr lang="en-US" altLang="zh-CN" dirty="0"/>
          </a:p>
          <a:p>
            <a:r>
              <a:rPr lang="en-US" altLang="zh-CN" dirty="0"/>
              <a:t>D</a:t>
            </a:r>
            <a:r>
              <a:rPr lang="zh-CN" altLang="en-US" dirty="0"/>
              <a:t>：做了，但是没有做到位</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89</a:t>
            </a:fld>
            <a:endParaRPr lang="zh-CN" altLang="en-US"/>
          </a:p>
        </p:txBody>
      </p:sp>
    </p:spTree>
    <p:extLst>
      <p:ext uri="{BB962C8B-B14F-4D97-AF65-F5344CB8AC3E}">
        <p14:creationId xmlns:p14="http://schemas.microsoft.com/office/powerpoint/2010/main" val="31681844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90</a:t>
            </a:fld>
            <a:endParaRPr lang="zh-CN" altLang="en-US"/>
          </a:p>
        </p:txBody>
      </p:sp>
    </p:spTree>
    <p:extLst>
      <p:ext uri="{BB962C8B-B14F-4D97-AF65-F5344CB8AC3E}">
        <p14:creationId xmlns:p14="http://schemas.microsoft.com/office/powerpoint/2010/main" val="350201282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排除</a:t>
            </a:r>
            <a:r>
              <a:rPr lang="en-US" altLang="zh-CN" dirty="0"/>
              <a:t>A</a:t>
            </a:r>
          </a:p>
          <a:p>
            <a:r>
              <a:rPr lang="en-US" altLang="zh-CN" dirty="0"/>
              <a:t>C</a:t>
            </a:r>
            <a:r>
              <a:rPr lang="zh-CN" altLang="en-US" dirty="0"/>
              <a:t>：提醒和辅导；不等于“替团队做事”，而是“移除障碍，让团队能自己做成事”</a:t>
            </a:r>
            <a:r>
              <a:rPr lang="en-US" altLang="zh-CN" dirty="0"/>
              <a:t>——</a:t>
            </a:r>
            <a:r>
              <a:rPr lang="zh-CN" altLang="en-US" dirty="0"/>
              <a:t>这正是最高级的赋能</a:t>
            </a:r>
            <a:endParaRPr lang="en-US" altLang="zh-CN" dirty="0"/>
          </a:p>
          <a:p>
            <a:r>
              <a:rPr lang="en-US" altLang="zh-CN" dirty="0"/>
              <a:t>B</a:t>
            </a:r>
            <a:r>
              <a:rPr lang="zh-CN" altLang="en-US" dirty="0"/>
              <a:t>：存疑；虽然温和，但流于表面，无法解决根本问题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91</a:t>
            </a:fld>
            <a:endParaRPr lang="zh-CN" altLang="en-US"/>
          </a:p>
        </p:txBody>
      </p:sp>
    </p:spTree>
    <p:extLst>
      <p:ext uri="{BB962C8B-B14F-4D97-AF65-F5344CB8AC3E}">
        <p14:creationId xmlns:p14="http://schemas.microsoft.com/office/powerpoint/2010/main" val="385308620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p>
          <a:p>
            <a:r>
              <a:rPr lang="zh-CN" altLang="en-US" dirty="0"/>
              <a:t>排除</a:t>
            </a:r>
            <a:r>
              <a:rPr lang="en-US" altLang="zh-CN" dirty="0"/>
              <a:t>D</a:t>
            </a:r>
            <a:r>
              <a:rPr lang="zh-CN" altLang="en-US" dirty="0"/>
              <a:t>：技术不归你管</a:t>
            </a:r>
            <a:endParaRPr lang="en-US" altLang="zh-CN" dirty="0"/>
          </a:p>
          <a:p>
            <a:r>
              <a:rPr lang="en-US" altLang="zh-CN" dirty="0"/>
              <a:t>B</a:t>
            </a:r>
            <a:r>
              <a:rPr lang="zh-CN" altLang="en-US" dirty="0"/>
              <a:t>：计划会由</a:t>
            </a:r>
            <a:r>
              <a:rPr lang="en-US" altLang="zh-CN" dirty="0"/>
              <a:t>PO</a:t>
            </a:r>
            <a:r>
              <a:rPr lang="zh-CN" altLang="en-US" dirty="0"/>
              <a:t>主导</a:t>
            </a:r>
            <a:endParaRPr lang="en-US" altLang="zh-CN"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92</a:t>
            </a:fld>
            <a:endParaRPr lang="zh-CN" altLang="en-US"/>
          </a:p>
        </p:txBody>
      </p:sp>
    </p:spTree>
    <p:extLst>
      <p:ext uri="{BB962C8B-B14F-4D97-AF65-F5344CB8AC3E}">
        <p14:creationId xmlns:p14="http://schemas.microsoft.com/office/powerpoint/2010/main" val="47445031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排除</a:t>
            </a:r>
            <a:r>
              <a:rPr lang="en-US" altLang="zh-CN" dirty="0"/>
              <a:t>AC</a:t>
            </a:r>
          </a:p>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93</a:t>
            </a:fld>
            <a:endParaRPr lang="zh-CN" altLang="en-US"/>
          </a:p>
        </p:txBody>
      </p:sp>
    </p:spTree>
    <p:extLst>
      <p:ext uri="{BB962C8B-B14F-4D97-AF65-F5344CB8AC3E}">
        <p14:creationId xmlns:p14="http://schemas.microsoft.com/office/powerpoint/2010/main" val="305290462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a:t>
            </a:r>
            <a:r>
              <a:rPr lang="zh-CN" altLang="en-US" dirty="0"/>
              <a:t>：</a:t>
            </a:r>
            <a:r>
              <a:rPr lang="zh-CN" altLang="en-US" sz="1200" b="0" i="0" kern="1200" dirty="0">
                <a:solidFill>
                  <a:schemeClr val="tx1"/>
                </a:solidFill>
                <a:effectLst/>
                <a:latin typeface="+mn-lt"/>
                <a:ea typeface="+mn-ea"/>
                <a:cs typeface="+mn-cs"/>
              </a:rPr>
              <a:t>核心职责之一：移除障碍 </a:t>
            </a:r>
            <a:r>
              <a:rPr lang="en-US" altLang="zh-CN" sz="1200" b="0" i="0" kern="1200" dirty="0">
                <a:solidFill>
                  <a:schemeClr val="tx1"/>
                </a:solidFill>
                <a:effectLst/>
                <a:latin typeface="+mn-lt"/>
                <a:ea typeface="+mn-ea"/>
                <a:cs typeface="+mn-cs"/>
              </a:rPr>
              <a:t>Impediment</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94</a:t>
            </a:fld>
            <a:endParaRPr lang="zh-CN" altLang="en-US"/>
          </a:p>
        </p:txBody>
      </p:sp>
    </p:spTree>
    <p:extLst>
      <p:ext uri="{BB962C8B-B14F-4D97-AF65-F5344CB8AC3E}">
        <p14:creationId xmlns:p14="http://schemas.microsoft.com/office/powerpoint/2010/main" val="219220838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p>
          <a:p>
            <a:r>
              <a:rPr lang="zh-CN" altLang="en-US" dirty="0"/>
              <a:t>排除</a:t>
            </a:r>
            <a:r>
              <a:rPr lang="en-US" altLang="zh-CN" dirty="0"/>
              <a:t>D</a:t>
            </a:r>
            <a:r>
              <a:rPr lang="zh-CN" altLang="en-US" dirty="0"/>
              <a:t>：关键、虚拟</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95</a:t>
            </a:fld>
            <a:endParaRPr lang="zh-CN" altLang="en-US"/>
          </a:p>
        </p:txBody>
      </p:sp>
    </p:spTree>
    <p:extLst>
      <p:ext uri="{BB962C8B-B14F-4D97-AF65-F5344CB8AC3E}">
        <p14:creationId xmlns:p14="http://schemas.microsoft.com/office/powerpoint/2010/main" val="23853548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96</a:t>
            </a:fld>
            <a:endParaRPr lang="zh-CN" altLang="en-US"/>
          </a:p>
        </p:txBody>
      </p:sp>
    </p:spTree>
    <p:extLst>
      <p:ext uri="{BB962C8B-B14F-4D97-AF65-F5344CB8AC3E}">
        <p14:creationId xmlns:p14="http://schemas.microsoft.com/office/powerpoint/2010/main" val="9762713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r>
              <a:rPr lang="zh-CN" altLang="en-US" dirty="0"/>
              <a:t>：人数</a:t>
            </a:r>
            <a:r>
              <a:rPr lang="en-US" altLang="zh-CN" dirty="0"/>
              <a:t>5-9</a:t>
            </a:r>
            <a:r>
              <a:rPr lang="zh-CN" altLang="en-US" dirty="0"/>
              <a:t>人为宜</a:t>
            </a:r>
            <a:endParaRPr lang="en-US" altLang="zh-CN" dirty="0"/>
          </a:p>
          <a:p>
            <a:r>
              <a:rPr lang="en-US" altLang="zh-CN" dirty="0"/>
              <a:t>C</a:t>
            </a:r>
            <a:r>
              <a:rPr lang="zh-CN" altLang="en-US" dirty="0"/>
              <a:t>：</a:t>
            </a:r>
            <a:r>
              <a:rPr lang="en-US" altLang="zh-CN" dirty="0"/>
              <a:t>15</a:t>
            </a:r>
            <a:r>
              <a:rPr lang="zh-CN" altLang="en-US" dirty="0"/>
              <a:t>分钟；避免太长</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97</a:t>
            </a:fld>
            <a:endParaRPr lang="zh-CN" altLang="en-US"/>
          </a:p>
        </p:txBody>
      </p:sp>
    </p:spTree>
    <p:extLst>
      <p:ext uri="{BB962C8B-B14F-4D97-AF65-F5344CB8AC3E}">
        <p14:creationId xmlns:p14="http://schemas.microsoft.com/office/powerpoint/2010/main" val="339081825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p>
          <a:p>
            <a:r>
              <a:rPr lang="en-US" altLang="zh-CN" dirty="0"/>
              <a:t>B</a:t>
            </a:r>
            <a:r>
              <a:rPr lang="zh-CN" altLang="en-US" dirty="0"/>
              <a:t>：错在而不是</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98</a:t>
            </a:fld>
            <a:endParaRPr lang="zh-CN" altLang="en-US"/>
          </a:p>
        </p:txBody>
      </p:sp>
    </p:spTree>
    <p:extLst>
      <p:ext uri="{BB962C8B-B14F-4D97-AF65-F5344CB8AC3E}">
        <p14:creationId xmlns:p14="http://schemas.microsoft.com/office/powerpoint/2010/main" val="367863359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排除</a:t>
            </a:r>
            <a:r>
              <a:rPr lang="en-US" altLang="zh-CN" dirty="0"/>
              <a:t>AD</a:t>
            </a:r>
          </a:p>
          <a:p>
            <a:r>
              <a:rPr lang="en-US" altLang="zh-CN" dirty="0"/>
              <a:t>B</a:t>
            </a:r>
            <a:r>
              <a:rPr lang="zh-CN" altLang="en-US" dirty="0"/>
              <a:t>：不能代表用户反馈</a:t>
            </a:r>
            <a:endParaRPr lang="en-US" altLang="zh-CN" dirty="0"/>
          </a:p>
          <a:p>
            <a:r>
              <a:rPr lang="en-US" altLang="zh-CN" dirty="0"/>
              <a:t>C</a:t>
            </a:r>
            <a:r>
              <a:rPr lang="zh-CN" altLang="en-US" dirty="0"/>
              <a:t>：在约束条件下创新地获取真实反馈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99</a:t>
            </a:fld>
            <a:endParaRPr lang="zh-CN" altLang="en-US"/>
          </a:p>
        </p:txBody>
      </p:sp>
    </p:spTree>
    <p:extLst>
      <p:ext uri="{BB962C8B-B14F-4D97-AF65-F5344CB8AC3E}">
        <p14:creationId xmlns:p14="http://schemas.microsoft.com/office/powerpoint/2010/main" val="246363700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排除</a:t>
            </a:r>
            <a:r>
              <a:rPr lang="en-US" altLang="zh-CN" dirty="0"/>
              <a:t>D</a:t>
            </a:r>
          </a:p>
          <a:p>
            <a:r>
              <a:rPr lang="zh-CN" altLang="en-US" dirty="0"/>
              <a:t>排除</a:t>
            </a:r>
            <a:r>
              <a:rPr lang="en-US" altLang="zh-CN" dirty="0"/>
              <a:t>B</a:t>
            </a:r>
            <a:r>
              <a:rPr lang="zh-CN" altLang="en-US" dirty="0"/>
              <a:t>：技术</a:t>
            </a:r>
            <a:endParaRPr lang="en-US" altLang="zh-CN" dirty="0"/>
          </a:p>
          <a:p>
            <a:r>
              <a:rPr lang="en-US" altLang="zh-CN" dirty="0"/>
              <a:t>C</a:t>
            </a:r>
            <a:r>
              <a:rPr lang="zh-CN" altLang="en-US" dirty="0"/>
              <a:t>：属于参与</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100</a:t>
            </a:fld>
            <a:endParaRPr lang="zh-CN" altLang="en-US"/>
          </a:p>
        </p:txBody>
      </p:sp>
    </p:spTree>
    <p:extLst>
      <p:ext uri="{BB962C8B-B14F-4D97-AF65-F5344CB8AC3E}">
        <p14:creationId xmlns:p14="http://schemas.microsoft.com/office/powerpoint/2010/main" val="78000608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err="1"/>
              <a:t>Planing</a:t>
            </a:r>
            <a:r>
              <a:rPr lang="zh-CN" altLang="en-US" dirty="0"/>
              <a:t>：</a:t>
            </a:r>
            <a:r>
              <a:rPr lang="en-US" altLang="zh-CN" dirty="0"/>
              <a:t>eight hours for a one-month Sprint</a:t>
            </a:r>
            <a:r>
              <a:rPr lang="zh-CN" altLang="en-US" dirty="0"/>
              <a:t>；</a:t>
            </a:r>
            <a:r>
              <a:rPr lang="en-US" altLang="zh-CN" dirty="0"/>
              <a:t>2h/week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Daily</a:t>
            </a:r>
            <a:r>
              <a:rPr lang="zh-CN" altLang="en-US" dirty="0"/>
              <a:t>：</a:t>
            </a:r>
            <a:r>
              <a:rPr lang="en-US" altLang="zh-CN" dirty="0"/>
              <a:t>15min</a:t>
            </a:r>
            <a:r>
              <a:rPr lang="zh-CN" altLang="en-US" dirty="0"/>
              <a:t>；检查进度</a:t>
            </a:r>
            <a:r>
              <a:rPr lang="en-US" altLang="zh-CN" sz="1200" b="0" i="0" kern="1200" dirty="0">
                <a:solidFill>
                  <a:schemeClr val="tx1"/>
                </a:solidFill>
                <a:effectLst/>
                <a:latin typeface="+mn-lt"/>
                <a:ea typeface="+mn-ea"/>
                <a:cs typeface="+mn-cs"/>
              </a:rPr>
              <a:t>inspect </a:t>
            </a:r>
            <a:r>
              <a:rPr lang="zh-CN" altLang="en-US" sz="1200" b="0" i="0" kern="1200" dirty="0">
                <a:solidFill>
                  <a:schemeClr val="tx1"/>
                </a:solidFill>
                <a:effectLst/>
                <a:latin typeface="+mn-lt"/>
                <a:ea typeface="+mn-ea"/>
                <a:cs typeface="+mn-cs"/>
              </a:rPr>
              <a:t>，</a:t>
            </a:r>
            <a:r>
              <a:rPr lang="zh-CN" altLang="en-US" dirty="0"/>
              <a:t>同步信息：完成什么。计划完成什么；什么障碍；但是不解决问题；团队成员都可以主持</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0" i="0" kern="1200" dirty="0">
                <a:solidFill>
                  <a:schemeClr val="tx1"/>
                </a:solidFill>
                <a:effectLst/>
                <a:latin typeface="+mn-lt"/>
                <a:ea typeface="+mn-ea"/>
                <a:cs typeface="+mn-cs"/>
              </a:rPr>
              <a:t>冲刺评审：对于一个月的冲刺，时间限制在最多四小时，</a:t>
            </a:r>
            <a:r>
              <a:rPr lang="en-US" altLang="zh-CN" sz="1200" b="0" i="0" kern="1200" dirty="0">
                <a:solidFill>
                  <a:schemeClr val="tx1"/>
                </a:solidFill>
                <a:effectLst/>
                <a:latin typeface="+mn-lt"/>
                <a:ea typeface="+mn-ea"/>
                <a:cs typeface="+mn-cs"/>
              </a:rPr>
              <a:t>1h/week</a:t>
            </a:r>
            <a:endParaRPr lang="en-US" altLang="zh-CN"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101</a:t>
            </a:fld>
            <a:endParaRPr lang="zh-CN" altLang="en-US"/>
          </a:p>
        </p:txBody>
      </p:sp>
    </p:spTree>
    <p:extLst>
      <p:ext uri="{BB962C8B-B14F-4D97-AF65-F5344CB8AC3E}">
        <p14:creationId xmlns:p14="http://schemas.microsoft.com/office/powerpoint/2010/main" val="295050894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如何要所有人真正参与于到每日站会而不流于形式？随机请人复述其它某个人的站会事项</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102</a:t>
            </a:fld>
            <a:endParaRPr lang="zh-CN" altLang="en-US"/>
          </a:p>
        </p:txBody>
      </p:sp>
    </p:spTree>
    <p:extLst>
      <p:ext uri="{BB962C8B-B14F-4D97-AF65-F5344CB8AC3E}">
        <p14:creationId xmlns:p14="http://schemas.microsoft.com/office/powerpoint/2010/main" val="311135043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103</a:t>
            </a:fld>
            <a:endParaRPr lang="zh-CN" altLang="en-US"/>
          </a:p>
        </p:txBody>
      </p:sp>
    </p:spTree>
    <p:extLst>
      <p:ext uri="{BB962C8B-B14F-4D97-AF65-F5344CB8AC3E}">
        <p14:creationId xmlns:p14="http://schemas.microsoft.com/office/powerpoint/2010/main" val="102755439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eight hours for a one-month Sprint</a:t>
            </a:r>
          </a:p>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104</a:t>
            </a:fld>
            <a:endParaRPr lang="zh-CN" altLang="en-US"/>
          </a:p>
        </p:txBody>
      </p:sp>
    </p:spTree>
    <p:extLst>
      <p:ext uri="{BB962C8B-B14F-4D97-AF65-F5344CB8AC3E}">
        <p14:creationId xmlns:p14="http://schemas.microsoft.com/office/powerpoint/2010/main" val="246214089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r>
              <a:rPr lang="zh-CN" altLang="en-US" dirty="0"/>
              <a:t>：迭代结束后，需要提交价值，应该让干系人了解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105</a:t>
            </a:fld>
            <a:endParaRPr lang="zh-CN" altLang="en-US"/>
          </a:p>
        </p:txBody>
      </p:sp>
    </p:spTree>
    <p:extLst>
      <p:ext uri="{BB962C8B-B14F-4D97-AF65-F5344CB8AC3E}">
        <p14:creationId xmlns:p14="http://schemas.microsoft.com/office/powerpoint/2010/main" val="358007181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Product Backlog</a:t>
            </a:r>
            <a:r>
              <a:rPr lang="zh-CN" altLang="en-US" dirty="0"/>
              <a:t>：有序列表；每</a:t>
            </a:r>
            <a:r>
              <a:rPr lang="en-US" altLang="zh-CN" dirty="0"/>
              <a:t>2</a:t>
            </a:r>
            <a:r>
              <a:rPr lang="zh-CN" altLang="en-US" dirty="0"/>
              <a:t>周选最重要的几项（</a:t>
            </a:r>
            <a:r>
              <a:rPr lang="en-US" altLang="zh-CN" dirty="0"/>
              <a:t>Sprint Goal</a:t>
            </a:r>
            <a:r>
              <a:rPr lang="zh-CN" altLang="en-US" dirty="0"/>
              <a:t>），再拆成每天任务 </a:t>
            </a:r>
            <a:r>
              <a:rPr lang="en-US" altLang="zh-CN" dirty="0"/>
              <a:t>Sprint Backlog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Increment</a:t>
            </a:r>
            <a:r>
              <a:rPr lang="zh-CN" altLang="en-US" dirty="0"/>
              <a:t>：当前冲刺阶段完成且</a:t>
            </a:r>
            <a:r>
              <a:rPr lang="en-US" altLang="zh-CN" dirty="0"/>
              <a:t>PO</a:t>
            </a:r>
            <a:r>
              <a:rPr lang="zh-CN" altLang="en-US" dirty="0"/>
              <a:t>审核通过，可以交付的价值</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106</a:t>
            </a:fld>
            <a:endParaRPr lang="zh-CN" altLang="en-US"/>
          </a:p>
        </p:txBody>
      </p:sp>
    </p:spTree>
    <p:extLst>
      <p:ext uri="{BB962C8B-B14F-4D97-AF65-F5344CB8AC3E}">
        <p14:creationId xmlns:p14="http://schemas.microsoft.com/office/powerpoint/2010/main" val="406858123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p>
          <a:p>
            <a:r>
              <a:rPr lang="en-US" altLang="zh-CN" dirty="0"/>
              <a:t>C</a:t>
            </a:r>
            <a:r>
              <a:rPr lang="zh-CN" altLang="en-US" dirty="0"/>
              <a:t>：被动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107</a:t>
            </a:fld>
            <a:endParaRPr lang="zh-CN" altLang="en-US"/>
          </a:p>
        </p:txBody>
      </p:sp>
    </p:spTree>
    <p:extLst>
      <p:ext uri="{BB962C8B-B14F-4D97-AF65-F5344CB8AC3E}">
        <p14:creationId xmlns:p14="http://schemas.microsoft.com/office/powerpoint/2010/main" val="237733028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r>
              <a:rPr lang="zh-CN" altLang="en-US" dirty="0"/>
              <a:t>：逐步精细化 </a:t>
            </a:r>
            <a:r>
              <a:rPr lang="en-US" altLang="zh-CN" dirty="0"/>
              <a:t>Progressive Elaboration</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108</a:t>
            </a:fld>
            <a:endParaRPr lang="zh-CN" altLang="en-US"/>
          </a:p>
        </p:txBody>
      </p:sp>
    </p:spTree>
    <p:extLst>
      <p:ext uri="{BB962C8B-B14F-4D97-AF65-F5344CB8AC3E}">
        <p14:creationId xmlns:p14="http://schemas.microsoft.com/office/powerpoint/2010/main" val="46141511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109</a:t>
            </a:fld>
            <a:endParaRPr lang="zh-CN" altLang="en-US"/>
          </a:p>
        </p:txBody>
      </p:sp>
    </p:spTree>
    <p:extLst>
      <p:ext uri="{BB962C8B-B14F-4D97-AF65-F5344CB8AC3E}">
        <p14:creationId xmlns:p14="http://schemas.microsoft.com/office/powerpoint/2010/main" val="302603070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110</a:t>
            </a:fld>
            <a:endParaRPr lang="zh-CN" altLang="en-US"/>
          </a:p>
        </p:txBody>
      </p:sp>
    </p:spTree>
    <p:extLst>
      <p:ext uri="{BB962C8B-B14F-4D97-AF65-F5344CB8AC3E}">
        <p14:creationId xmlns:p14="http://schemas.microsoft.com/office/powerpoint/2010/main" val="39716683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r>
              <a:rPr lang="zh-CN" altLang="en-US" dirty="0"/>
              <a:t>：都要做</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111</a:t>
            </a:fld>
            <a:endParaRPr lang="zh-CN" altLang="en-US"/>
          </a:p>
        </p:txBody>
      </p:sp>
    </p:spTree>
    <p:extLst>
      <p:ext uri="{BB962C8B-B14F-4D97-AF65-F5344CB8AC3E}">
        <p14:creationId xmlns:p14="http://schemas.microsoft.com/office/powerpoint/2010/main" val="114946285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r>
              <a:rPr lang="zh-CN" altLang="en-US" dirty="0"/>
              <a:t>：包括目标和任务</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112</a:t>
            </a:fld>
            <a:endParaRPr lang="zh-CN" altLang="en-US"/>
          </a:p>
        </p:txBody>
      </p:sp>
    </p:spTree>
    <p:extLst>
      <p:ext uri="{BB962C8B-B14F-4D97-AF65-F5344CB8AC3E}">
        <p14:creationId xmlns:p14="http://schemas.microsoft.com/office/powerpoint/2010/main" val="41353725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a:t>
            </a:r>
            <a:r>
              <a:rPr lang="zh-CN" altLang="en-US" dirty="0"/>
              <a:t>：确定目标→添加到代表事项条目→分解任务→认领任务</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113</a:t>
            </a:fld>
            <a:endParaRPr lang="zh-CN" altLang="en-US"/>
          </a:p>
        </p:txBody>
      </p:sp>
    </p:spTree>
    <p:extLst>
      <p:ext uri="{BB962C8B-B14F-4D97-AF65-F5344CB8AC3E}">
        <p14:creationId xmlns:p14="http://schemas.microsoft.com/office/powerpoint/2010/main" val="412725374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r>
              <a:rPr lang="zh-CN" altLang="en-US" dirty="0"/>
              <a:t>：</a:t>
            </a:r>
            <a:r>
              <a:rPr lang="en-US" altLang="zh-CN" dirty="0"/>
              <a:t>Sprint </a:t>
            </a:r>
            <a:r>
              <a:rPr lang="zh-CN" altLang="en-US" dirty="0"/>
              <a:t>目标和 </a:t>
            </a:r>
            <a:r>
              <a:rPr lang="en-US" altLang="zh-CN" dirty="0"/>
              <a:t>Sprint </a:t>
            </a:r>
            <a:r>
              <a:rPr lang="zh-CN" altLang="en-US" dirty="0"/>
              <a:t>待办列表在 </a:t>
            </a:r>
            <a:r>
              <a:rPr lang="en-US" altLang="zh-CN" dirty="0"/>
              <a:t>Sprint </a:t>
            </a:r>
            <a:r>
              <a:rPr lang="zh-CN" altLang="en-US" dirty="0"/>
              <a:t>期间不得更改</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114</a:t>
            </a:fld>
            <a:endParaRPr lang="zh-CN" altLang="en-US"/>
          </a:p>
        </p:txBody>
      </p:sp>
    </p:spTree>
    <p:extLst>
      <p:ext uri="{BB962C8B-B14F-4D97-AF65-F5344CB8AC3E}">
        <p14:creationId xmlns:p14="http://schemas.microsoft.com/office/powerpoint/2010/main" val="184761961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r>
              <a:rPr lang="zh-CN" altLang="en-US" dirty="0"/>
              <a:t>：产品待办列表（</a:t>
            </a:r>
            <a:r>
              <a:rPr lang="en-US" altLang="zh-CN" dirty="0"/>
              <a:t>Product Backlog</a:t>
            </a:r>
            <a:r>
              <a:rPr lang="zh-CN" altLang="en-US" dirty="0"/>
              <a:t>）是未来工作的集合，不是当前 </a:t>
            </a:r>
            <a:r>
              <a:rPr lang="en-US" altLang="zh-CN" dirty="0"/>
              <a:t>Sprint </a:t>
            </a:r>
            <a:r>
              <a:rPr lang="zh-CN" altLang="en-US" dirty="0"/>
              <a:t>的执行计划</a:t>
            </a:r>
            <a:endParaRPr lang="en-US" altLang="zh-CN" dirty="0"/>
          </a:p>
          <a:p>
            <a:r>
              <a:rPr lang="en-US" altLang="zh-CN" dirty="0"/>
              <a:t>C</a:t>
            </a:r>
            <a:r>
              <a:rPr lang="zh-CN" altLang="en-US" dirty="0"/>
              <a:t>：</a:t>
            </a:r>
            <a:r>
              <a:rPr lang="en-US" altLang="zh-CN" dirty="0"/>
              <a:t>Sprint </a:t>
            </a:r>
            <a:r>
              <a:rPr lang="zh-CN" altLang="en-US" dirty="0"/>
              <a:t>时间盒是固定的，不应改变</a:t>
            </a:r>
            <a:endParaRPr lang="en-US" altLang="zh-CN" dirty="0"/>
          </a:p>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115</a:t>
            </a:fld>
            <a:endParaRPr lang="zh-CN" altLang="en-US"/>
          </a:p>
        </p:txBody>
      </p:sp>
    </p:spTree>
    <p:extLst>
      <p:ext uri="{BB962C8B-B14F-4D97-AF65-F5344CB8AC3E}">
        <p14:creationId xmlns:p14="http://schemas.microsoft.com/office/powerpoint/2010/main" val="912889876"/>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116</a:t>
            </a:fld>
            <a:endParaRPr lang="zh-CN" altLang="en-US"/>
          </a:p>
        </p:txBody>
      </p:sp>
    </p:spTree>
    <p:extLst>
      <p:ext uri="{BB962C8B-B14F-4D97-AF65-F5344CB8AC3E}">
        <p14:creationId xmlns:p14="http://schemas.microsoft.com/office/powerpoint/2010/main" val="322508626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117</a:t>
            </a:fld>
            <a:endParaRPr lang="zh-CN" altLang="en-US"/>
          </a:p>
        </p:txBody>
      </p:sp>
    </p:spTree>
    <p:extLst>
      <p:ext uri="{BB962C8B-B14F-4D97-AF65-F5344CB8AC3E}">
        <p14:creationId xmlns:p14="http://schemas.microsoft.com/office/powerpoint/2010/main" val="210865051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118</a:t>
            </a:fld>
            <a:endParaRPr lang="zh-CN" altLang="en-US"/>
          </a:p>
        </p:txBody>
      </p:sp>
    </p:spTree>
    <p:extLst>
      <p:ext uri="{BB962C8B-B14F-4D97-AF65-F5344CB8AC3E}">
        <p14:creationId xmlns:p14="http://schemas.microsoft.com/office/powerpoint/2010/main" val="296006306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标题幻灯片">
    <p:spTree>
      <p:nvGrpSpPr>
        <p:cNvPr id="1" name=""/>
        <p:cNvGrpSpPr/>
        <p:nvPr/>
      </p:nvGrpSpPr>
      <p:grpSpPr>
        <a:xfrm>
          <a:off x="0" y="0"/>
          <a:ext cx="0" cy="0"/>
          <a:chOff x="0" y="0"/>
          <a:chExt cx="0" cy="0"/>
        </a:xfrm>
      </p:grpSpPr>
      <p:sp>
        <p:nvSpPr>
          <p:cNvPr id="8" name="图片占位符 7">
            <a:extLst>
              <a:ext uri="{FF2B5EF4-FFF2-40B4-BE49-F238E27FC236}">
                <a16:creationId xmlns:a16="http://schemas.microsoft.com/office/drawing/2014/main" id="{DD2370AC-1BEE-3E5D-48C7-011775346A5C}"/>
              </a:ext>
            </a:extLst>
          </p:cNvPr>
          <p:cNvSpPr>
            <a:spLocks noGrp="1"/>
          </p:cNvSpPr>
          <p:nvPr>
            <p:ph type="pic" sz="quarter" idx="10"/>
          </p:nvPr>
        </p:nvSpPr>
        <p:spPr>
          <a:xfrm>
            <a:off x="0" y="0"/>
            <a:ext cx="7912359" cy="6858000"/>
          </a:xfrm>
        </p:spPr>
        <p:txBody>
          <a:bodyPr/>
          <a:lstStyle/>
          <a:p>
            <a:endParaRPr lang="zh-CN" altLang="en-US"/>
          </a:p>
        </p:txBody>
      </p:sp>
      <p:pic>
        <p:nvPicPr>
          <p:cNvPr id="11" name="图片 10">
            <a:extLst>
              <a:ext uri="{FF2B5EF4-FFF2-40B4-BE49-F238E27FC236}">
                <a16:creationId xmlns:a16="http://schemas.microsoft.com/office/drawing/2014/main" id="{AAD46275-3AD6-767E-0713-088117FF7C2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147801" y="84798"/>
            <a:ext cx="900000" cy="900000"/>
          </a:xfrm>
          <a:prstGeom prst="rect">
            <a:avLst/>
          </a:prstGeom>
        </p:spPr>
      </p:pic>
      <p:sp>
        <p:nvSpPr>
          <p:cNvPr id="2" name="标题 1">
            <a:extLst>
              <a:ext uri="{FF2B5EF4-FFF2-40B4-BE49-F238E27FC236}">
                <a16:creationId xmlns:a16="http://schemas.microsoft.com/office/drawing/2014/main" id="{72F450D1-2B98-9869-554D-D0BA13E48E58}"/>
              </a:ext>
            </a:extLst>
          </p:cNvPr>
          <p:cNvSpPr>
            <a:spLocks noGrp="1"/>
          </p:cNvSpPr>
          <p:nvPr>
            <p:ph type="ctrTitle"/>
          </p:nvPr>
        </p:nvSpPr>
        <p:spPr>
          <a:xfrm>
            <a:off x="4077578" y="3498981"/>
            <a:ext cx="7262228" cy="1440000"/>
          </a:xfrm>
          <a:solidFill>
            <a:schemeClr val="accent2"/>
          </a:solidFill>
        </p:spPr>
        <p:txBody>
          <a:bodyPr wrap="square" lIns="180000" tIns="72000" rIns="180000" bIns="72000" anchor="b" anchorCtr="0">
            <a:noAutofit/>
          </a:bodyPr>
          <a:lstStyle>
            <a:lvl1pPr algn="r">
              <a:defRPr sz="4000">
                <a:solidFill>
                  <a:schemeClr val="bg1"/>
                </a:solidFill>
              </a:defRPr>
            </a:lvl1pPr>
          </a:lstStyle>
          <a:p>
            <a:r>
              <a:rPr lang="zh-CN" altLang="en-US" dirty="0"/>
              <a:t>单击此处编辑母版标题样式</a:t>
            </a:r>
          </a:p>
        </p:txBody>
      </p:sp>
      <p:sp>
        <p:nvSpPr>
          <p:cNvPr id="3" name="副标题 2">
            <a:extLst>
              <a:ext uri="{FF2B5EF4-FFF2-40B4-BE49-F238E27FC236}">
                <a16:creationId xmlns:a16="http://schemas.microsoft.com/office/drawing/2014/main" id="{A87B90A3-455D-D324-B463-CDE9FC6BE089}"/>
              </a:ext>
            </a:extLst>
          </p:cNvPr>
          <p:cNvSpPr>
            <a:spLocks noGrp="1"/>
          </p:cNvSpPr>
          <p:nvPr>
            <p:ph type="subTitle" idx="1"/>
          </p:nvPr>
        </p:nvSpPr>
        <p:spPr>
          <a:xfrm>
            <a:off x="4077578" y="4938981"/>
            <a:ext cx="7262228" cy="900000"/>
          </a:xfrm>
          <a:solidFill>
            <a:schemeClr val="accent2"/>
          </a:solidFill>
        </p:spPr>
        <p:txBody>
          <a:bodyPr wrap="square" lIns="180000" tIns="72000" rIns="180000" bIns="72000">
            <a:noAutofit/>
          </a:bodyPr>
          <a:lstStyle>
            <a:lvl1pPr marL="0" indent="0" algn="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p>
        </p:txBody>
      </p:sp>
      <p:sp>
        <p:nvSpPr>
          <p:cNvPr id="19" name="菱形 18" descr="89f8af67-b191-4e95-a5e3-cbb147f04195">
            <a:extLst>
              <a:ext uri="{FF2B5EF4-FFF2-40B4-BE49-F238E27FC236}">
                <a16:creationId xmlns:a16="http://schemas.microsoft.com/office/drawing/2014/main" id="{15004213-0984-0627-4EBA-FEF74DCA9A6E}"/>
              </a:ext>
            </a:extLst>
          </p:cNvPr>
          <p:cNvSpPr>
            <a:spLocks noChangeAspect="1"/>
          </p:cNvSpPr>
          <p:nvPr userDrawn="1"/>
        </p:nvSpPr>
        <p:spPr>
          <a:xfrm>
            <a:off x="10469687" y="244928"/>
            <a:ext cx="540000" cy="540000"/>
          </a:xfrm>
          <a:prstGeom prst="diamond">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zh-CN" altLang="en-US"/>
          </a:p>
        </p:txBody>
      </p:sp>
      <p:sp>
        <p:nvSpPr>
          <p:cNvPr id="20" name="菱形 19" descr="7f2bef7e-9b0d-4d11-befa-c798825aecb3">
            <a:extLst>
              <a:ext uri="{FF2B5EF4-FFF2-40B4-BE49-F238E27FC236}">
                <a16:creationId xmlns:a16="http://schemas.microsoft.com/office/drawing/2014/main" id="{C145F8BC-62DA-23DC-37E3-4A31FDFE7DB0}"/>
              </a:ext>
            </a:extLst>
          </p:cNvPr>
          <p:cNvSpPr>
            <a:spLocks noChangeAspect="1"/>
          </p:cNvSpPr>
          <p:nvPr userDrawn="1"/>
        </p:nvSpPr>
        <p:spPr>
          <a:xfrm>
            <a:off x="10352588" y="298928"/>
            <a:ext cx="432000" cy="432000"/>
          </a:xfrm>
          <a:prstGeom prst="diamond">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zh-CN" altLang="en-US"/>
          </a:p>
        </p:txBody>
      </p:sp>
      <p:sp>
        <p:nvSpPr>
          <p:cNvPr id="22" name="文本占位符 21">
            <a:extLst>
              <a:ext uri="{FF2B5EF4-FFF2-40B4-BE49-F238E27FC236}">
                <a16:creationId xmlns:a16="http://schemas.microsoft.com/office/drawing/2014/main" id="{A1F7BB37-E4C0-C016-3E58-F8D62C5C16A4}"/>
              </a:ext>
            </a:extLst>
          </p:cNvPr>
          <p:cNvSpPr>
            <a:spLocks noGrp="1"/>
          </p:cNvSpPr>
          <p:nvPr>
            <p:ph type="body" sz="quarter" idx="11"/>
          </p:nvPr>
        </p:nvSpPr>
        <p:spPr>
          <a:xfrm>
            <a:off x="7912100" y="1128713"/>
            <a:ext cx="3427413" cy="2300287"/>
          </a:xfrm>
        </p:spPr>
        <p:txBody>
          <a:bodyPr/>
          <a:lstStyle>
            <a:lvl1pPr algn="r">
              <a:buNone/>
              <a:defRPr/>
            </a:lvl1pPr>
          </a:lstStyle>
          <a:p>
            <a:pPr lvl="0"/>
            <a:r>
              <a:rPr lang="zh-CN" altLang="en-US" dirty="0"/>
              <a:t>单击此处编辑母版文本样式</a:t>
            </a:r>
          </a:p>
        </p:txBody>
      </p:sp>
    </p:spTree>
    <p:extLst>
      <p:ext uri="{BB962C8B-B14F-4D97-AF65-F5344CB8AC3E}">
        <p14:creationId xmlns:p14="http://schemas.microsoft.com/office/powerpoint/2010/main" val="39040826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76456F5-2A18-8257-6B35-05010BF45EAB}"/>
              </a:ext>
            </a:extLst>
          </p:cNvPr>
          <p:cNvSpPr>
            <a:spLocks noGrp="1"/>
          </p:cNvSpPr>
          <p:nvPr>
            <p:ph type="title"/>
          </p:nvPr>
        </p:nvSpPr>
        <p:spPr>
          <a:xfrm>
            <a:off x="695998" y="360000"/>
            <a:ext cx="7200000" cy="424732"/>
          </a:xfrm>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41776D05-FCCE-6B04-6AA1-6194D1436192}"/>
              </a:ext>
            </a:extLst>
          </p:cNvPr>
          <p:cNvSpPr>
            <a:spLocks noGrp="1"/>
          </p:cNvSpPr>
          <p:nvPr>
            <p:ph idx="1"/>
          </p:nvPr>
        </p:nvSpPr>
        <p:spPr>
          <a:xfrm>
            <a:off x="696000" y="1080000"/>
            <a:ext cx="10800000" cy="5112000"/>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矩形 6">
            <a:extLst>
              <a:ext uri="{FF2B5EF4-FFF2-40B4-BE49-F238E27FC236}">
                <a16:creationId xmlns:a16="http://schemas.microsoft.com/office/drawing/2014/main" id="{D4812367-3D08-B306-B266-F72C3AB8A53C}"/>
              </a:ext>
            </a:extLst>
          </p:cNvPr>
          <p:cNvSpPr/>
          <p:nvPr userDrawn="1"/>
        </p:nvSpPr>
        <p:spPr>
          <a:xfrm>
            <a:off x="696000" y="900000"/>
            <a:ext cx="10800000" cy="72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占位符 4">
            <a:extLst>
              <a:ext uri="{FF2B5EF4-FFF2-40B4-BE49-F238E27FC236}">
                <a16:creationId xmlns:a16="http://schemas.microsoft.com/office/drawing/2014/main" id="{9F828CC5-6987-894B-DEE9-D85BFBE13D32}"/>
              </a:ext>
            </a:extLst>
          </p:cNvPr>
          <p:cNvSpPr>
            <a:spLocks noGrp="1"/>
          </p:cNvSpPr>
          <p:nvPr>
            <p:ph type="body" sz="quarter" idx="10"/>
          </p:nvPr>
        </p:nvSpPr>
        <p:spPr>
          <a:xfrm>
            <a:off x="6702424" y="360001"/>
            <a:ext cx="4793575" cy="424731"/>
          </a:xfrm>
        </p:spPr>
        <p:txBody>
          <a:bodyPr anchor="b" anchorCtr="0"/>
          <a:lstStyle>
            <a:lvl1pPr marL="0" indent="0" algn="r">
              <a:spcAft>
                <a:spcPts val="0"/>
              </a:spcAft>
              <a:buNone/>
              <a:defRPr sz="1600" baseline="0"/>
            </a:lvl1pPr>
          </a:lstStyle>
          <a:p>
            <a:pPr lvl="0"/>
            <a:r>
              <a:rPr lang="zh-CN" altLang="en-US" dirty="0"/>
              <a:t>单击此处编辑母版文本样式</a:t>
            </a:r>
          </a:p>
        </p:txBody>
      </p:sp>
    </p:spTree>
    <p:extLst>
      <p:ext uri="{BB962C8B-B14F-4D97-AF65-F5344CB8AC3E}">
        <p14:creationId xmlns:p14="http://schemas.microsoft.com/office/powerpoint/2010/main" val="938100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example">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EABB6A93-D02D-918B-2B1D-A3357BCA5056}"/>
              </a:ext>
            </a:extLst>
          </p:cNvPr>
          <p:cNvSpPr/>
          <p:nvPr userDrawn="1"/>
        </p:nvSpPr>
        <p:spPr>
          <a:xfrm>
            <a:off x="0" y="1"/>
            <a:ext cx="2880000"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 name="文本框 3">
            <a:extLst>
              <a:ext uri="{FF2B5EF4-FFF2-40B4-BE49-F238E27FC236}">
                <a16:creationId xmlns:a16="http://schemas.microsoft.com/office/drawing/2014/main" id="{16E90887-707D-F2D6-AF72-59ADDF4E06DA}"/>
              </a:ext>
            </a:extLst>
          </p:cNvPr>
          <p:cNvSpPr txBox="1"/>
          <p:nvPr userDrawn="1"/>
        </p:nvSpPr>
        <p:spPr>
          <a:xfrm>
            <a:off x="2079781" y="5234475"/>
            <a:ext cx="800219" cy="461665"/>
          </a:xfrm>
          <a:prstGeom prst="rect">
            <a:avLst/>
          </a:prstGeom>
          <a:noFill/>
        </p:spPr>
        <p:txBody>
          <a:bodyPr wrap="none" rtlCol="0">
            <a:spAutoFit/>
          </a:bodyPr>
          <a:lstStyle/>
          <a:p>
            <a:pPr algn="r"/>
            <a:r>
              <a:rPr lang="zh-CN" altLang="en-US" sz="2400" dirty="0">
                <a:solidFill>
                  <a:schemeClr val="bg1"/>
                </a:solidFill>
              </a:rPr>
              <a:t>例题</a:t>
            </a:r>
          </a:p>
        </p:txBody>
      </p:sp>
      <p:sp>
        <p:nvSpPr>
          <p:cNvPr id="5" name="文本框 4">
            <a:extLst>
              <a:ext uri="{FF2B5EF4-FFF2-40B4-BE49-F238E27FC236}">
                <a16:creationId xmlns:a16="http://schemas.microsoft.com/office/drawing/2014/main" id="{E72B00FE-3D5A-99D1-2D7E-EE4F6C75F589}"/>
              </a:ext>
            </a:extLst>
          </p:cNvPr>
          <p:cNvSpPr txBox="1"/>
          <p:nvPr userDrawn="1"/>
        </p:nvSpPr>
        <p:spPr>
          <a:xfrm>
            <a:off x="1911465" y="5610808"/>
            <a:ext cx="968535" cy="338554"/>
          </a:xfrm>
          <a:prstGeom prst="rect">
            <a:avLst/>
          </a:prstGeom>
          <a:noFill/>
        </p:spPr>
        <p:txBody>
          <a:bodyPr wrap="none" rtlCol="0">
            <a:spAutoFit/>
          </a:bodyPr>
          <a:lstStyle/>
          <a:p>
            <a:pPr algn="r"/>
            <a:r>
              <a:rPr lang="en-US" altLang="zh-CN" sz="1600" dirty="0">
                <a:solidFill>
                  <a:schemeClr val="bg1"/>
                </a:solidFill>
              </a:rPr>
              <a:t>Sample</a:t>
            </a:r>
            <a:endParaRPr lang="zh-CN" altLang="en-US" sz="1600" dirty="0">
              <a:solidFill>
                <a:schemeClr val="bg1"/>
              </a:solidFill>
            </a:endParaRPr>
          </a:p>
        </p:txBody>
      </p:sp>
      <p:sp>
        <p:nvSpPr>
          <p:cNvPr id="7" name="文本占位符 6">
            <a:extLst>
              <a:ext uri="{FF2B5EF4-FFF2-40B4-BE49-F238E27FC236}">
                <a16:creationId xmlns:a16="http://schemas.microsoft.com/office/drawing/2014/main" id="{ED9FA67D-111C-00A7-E4D4-00847D2E834F}"/>
              </a:ext>
            </a:extLst>
          </p:cNvPr>
          <p:cNvSpPr>
            <a:spLocks noGrp="1"/>
          </p:cNvSpPr>
          <p:nvPr>
            <p:ph type="body" sz="quarter" idx="10"/>
          </p:nvPr>
        </p:nvSpPr>
        <p:spPr>
          <a:xfrm>
            <a:off x="3219345" y="1629000"/>
            <a:ext cx="8640000" cy="3600000"/>
          </a:xfrm>
        </p:spPr>
        <p:txBody>
          <a:bodyPr/>
          <a:lstStyle>
            <a:lvl1pPr marL="0" indent="0" algn="l">
              <a:spcAft>
                <a:spcPts val="0"/>
              </a:spcAft>
              <a:buNone/>
              <a:defRPr/>
            </a:lvl1pPr>
            <a:lvl2pPr>
              <a:buNone/>
              <a:defRPr/>
            </a:lvl2pPr>
            <a:lvl3pPr>
              <a:buNone/>
              <a:defRPr/>
            </a:lvl3pPr>
            <a:lvl4pPr>
              <a:buNone/>
              <a:defRPr/>
            </a:lvl4pPr>
            <a:lvl5pPr>
              <a:buNone/>
              <a:defRPr/>
            </a:lvl5pPr>
          </a:lstStyle>
          <a:p>
            <a:pPr lvl="0"/>
            <a:r>
              <a:rPr lang="zh-CN" altLang="en-US" dirty="0"/>
              <a:t>单击此处编辑母版文本样式</a:t>
            </a:r>
          </a:p>
        </p:txBody>
      </p:sp>
    </p:spTree>
    <p:extLst>
      <p:ext uri="{BB962C8B-B14F-4D97-AF65-F5344CB8AC3E}">
        <p14:creationId xmlns:p14="http://schemas.microsoft.com/office/powerpoint/2010/main" val="21031664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AEA1E1F-496A-0F26-86AD-A65EA5F18E27}"/>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1A69FBED-B759-9337-AE23-B8D54A54D2C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Tree>
    <p:extLst>
      <p:ext uri="{BB962C8B-B14F-4D97-AF65-F5344CB8AC3E}">
        <p14:creationId xmlns:p14="http://schemas.microsoft.com/office/powerpoint/2010/main" val="8081474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D638FDA1-5138-E182-FC77-2C92D8B0460C}"/>
              </a:ext>
            </a:extLst>
          </p:cNvPr>
          <p:cNvSpPr>
            <a:spLocks noGrp="1"/>
          </p:cNvSpPr>
          <p:nvPr>
            <p:ph type="dt" sz="half" idx="10"/>
          </p:nvPr>
        </p:nvSpPr>
        <p:spPr>
          <a:xfrm>
            <a:off x="838200" y="6356350"/>
            <a:ext cx="2743200" cy="365125"/>
          </a:xfrm>
          <a:prstGeom prst="rect">
            <a:avLst/>
          </a:prstGeom>
        </p:spPr>
        <p:txBody>
          <a:bodyPr/>
          <a:lstStyle/>
          <a:p>
            <a:fld id="{06850CC8-3A95-415C-AB05-1EF8CDC649BA}" type="datetimeFigureOut">
              <a:rPr lang="zh-CN" altLang="en-US" smtClean="0"/>
              <a:t>2026/1/28</a:t>
            </a:fld>
            <a:endParaRPr lang="zh-CN" altLang="en-US"/>
          </a:p>
        </p:txBody>
      </p:sp>
      <p:sp>
        <p:nvSpPr>
          <p:cNvPr id="3" name="页脚占位符 2">
            <a:extLst>
              <a:ext uri="{FF2B5EF4-FFF2-40B4-BE49-F238E27FC236}">
                <a16:creationId xmlns:a16="http://schemas.microsoft.com/office/drawing/2014/main" id="{B9A74514-8DC7-6C41-4D59-D4CD238E03B9}"/>
              </a:ext>
            </a:extLst>
          </p:cNvPr>
          <p:cNvSpPr>
            <a:spLocks noGrp="1"/>
          </p:cNvSpPr>
          <p:nvPr>
            <p:ph type="ftr" sz="quarter" idx="11"/>
          </p:nvPr>
        </p:nvSpPr>
        <p:spPr>
          <a:xfrm>
            <a:off x="4038600" y="6356350"/>
            <a:ext cx="4114800" cy="365125"/>
          </a:xfrm>
          <a:prstGeom prst="rect">
            <a:avLst/>
          </a:prstGeom>
        </p:spPr>
        <p:txBody>
          <a:bodyPr/>
          <a:lstStyle/>
          <a:p>
            <a:endParaRPr lang="zh-CN" altLang="en-US"/>
          </a:p>
        </p:txBody>
      </p:sp>
      <p:sp>
        <p:nvSpPr>
          <p:cNvPr id="4" name="灯片编号占位符 3">
            <a:extLst>
              <a:ext uri="{FF2B5EF4-FFF2-40B4-BE49-F238E27FC236}">
                <a16:creationId xmlns:a16="http://schemas.microsoft.com/office/drawing/2014/main" id="{8DF56264-8C57-DCE4-678B-6884CF5F63AE}"/>
              </a:ext>
            </a:extLst>
          </p:cNvPr>
          <p:cNvSpPr>
            <a:spLocks noGrp="1"/>
          </p:cNvSpPr>
          <p:nvPr>
            <p:ph type="sldNum" sz="quarter" idx="12"/>
          </p:nvPr>
        </p:nvSpPr>
        <p:spPr>
          <a:xfrm>
            <a:off x="8610600" y="6356350"/>
            <a:ext cx="2743200" cy="365125"/>
          </a:xfrm>
          <a:prstGeom prst="rect">
            <a:avLst/>
          </a:prstGeom>
        </p:spPr>
        <p:txBody>
          <a:bodyPr/>
          <a:lstStyle/>
          <a:p>
            <a:fld id="{0DFA34F5-2612-4656-B2AA-94101840898A}" type="slidenum">
              <a:rPr lang="zh-CN" altLang="en-US" smtClean="0"/>
              <a:t>‹#›</a:t>
            </a:fld>
            <a:endParaRPr lang="zh-CN" altLang="en-US"/>
          </a:p>
        </p:txBody>
      </p:sp>
    </p:spTree>
    <p:extLst>
      <p:ext uri="{BB962C8B-B14F-4D97-AF65-F5344CB8AC3E}">
        <p14:creationId xmlns:p14="http://schemas.microsoft.com/office/powerpoint/2010/main" val="20664957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100000">
              <a:schemeClr val="accent2">
                <a:lumMod val="20000"/>
                <a:lumOff val="80000"/>
              </a:schemeClr>
            </a:gs>
            <a:gs pos="0">
              <a:schemeClr val="bg1"/>
            </a:gs>
          </a:gsLst>
          <a:lin ang="2700000" scaled="1"/>
          <a:tileRect/>
        </a:gradFill>
        <a:effectLst/>
      </p:bgPr>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5F9F6B20-C300-A63B-D488-71A839D2D2D3}"/>
              </a:ext>
            </a:extLst>
          </p:cNvPr>
          <p:cNvSpPr>
            <a:spLocks noGrp="1"/>
          </p:cNvSpPr>
          <p:nvPr>
            <p:ph type="title"/>
          </p:nvPr>
        </p:nvSpPr>
        <p:spPr>
          <a:xfrm>
            <a:off x="696000" y="360000"/>
            <a:ext cx="10800000" cy="424732"/>
          </a:xfrm>
          <a:prstGeom prst="rect">
            <a:avLst/>
          </a:prstGeom>
        </p:spPr>
        <p:txBody>
          <a:bodyPr vert="horz" lIns="91440" tIns="45720" rIns="91440" bIns="45720" rtlCol="0" anchor="ctr">
            <a:sp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C7A0E102-0853-B518-A26D-A96099C58AF1}"/>
              </a:ext>
            </a:extLst>
          </p:cNvPr>
          <p:cNvSpPr>
            <a:spLocks noGrp="1"/>
          </p:cNvSpPr>
          <p:nvPr>
            <p:ph type="body" idx="1"/>
          </p:nvPr>
        </p:nvSpPr>
        <p:spPr>
          <a:xfrm>
            <a:off x="696000" y="1080000"/>
            <a:ext cx="10800000" cy="5040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椭圆 6">
            <a:extLst>
              <a:ext uri="{FF2B5EF4-FFF2-40B4-BE49-F238E27FC236}">
                <a16:creationId xmlns:a16="http://schemas.microsoft.com/office/drawing/2014/main" id="{D580EE5F-8A4F-3247-D288-DBB8A01CAEC2}"/>
              </a:ext>
            </a:extLst>
          </p:cNvPr>
          <p:cNvSpPr>
            <a:spLocks noChangeAspect="1"/>
          </p:cNvSpPr>
          <p:nvPr userDrawn="1"/>
        </p:nvSpPr>
        <p:spPr>
          <a:xfrm>
            <a:off x="5826000" y="6250231"/>
            <a:ext cx="540000" cy="540000"/>
          </a:xfrm>
          <a:prstGeom prst="ellipse">
            <a:avLst/>
          </a:prstGeom>
          <a:blipFill>
            <a:blip r:embed="rId7"/>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a:extLst>
              <a:ext uri="{FF2B5EF4-FFF2-40B4-BE49-F238E27FC236}">
                <a16:creationId xmlns:a16="http://schemas.microsoft.com/office/drawing/2014/main" id="{1F252007-0065-B7F2-785D-39982B9CF0CF}"/>
              </a:ext>
            </a:extLst>
          </p:cNvPr>
          <p:cNvSpPr txBox="1"/>
          <p:nvPr userDrawn="1"/>
        </p:nvSpPr>
        <p:spPr>
          <a:xfrm>
            <a:off x="6456000" y="6366343"/>
            <a:ext cx="5040000" cy="307777"/>
          </a:xfrm>
          <a:prstGeom prst="rect">
            <a:avLst/>
          </a:prstGeom>
        </p:spPr>
        <p:txBody>
          <a:bodyPr vert="horz" anchor="ctr" anchorCtr="0"/>
          <a:lstStyle>
            <a:defPPr>
              <a:defRPr lang="zh-CN"/>
            </a:defPPr>
            <a:lvl1pPr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l"/>
            <a:r>
              <a:rPr lang="en-US" altLang="zh-CN" sz="1200" dirty="0"/>
              <a:t>glplaman.github.io</a:t>
            </a:r>
          </a:p>
        </p:txBody>
      </p:sp>
      <p:sp>
        <p:nvSpPr>
          <p:cNvPr id="9" name="文本框 8">
            <a:extLst>
              <a:ext uri="{FF2B5EF4-FFF2-40B4-BE49-F238E27FC236}">
                <a16:creationId xmlns:a16="http://schemas.microsoft.com/office/drawing/2014/main" id="{CE46BE85-4554-3B10-94EB-7C6CB7CA174C}"/>
              </a:ext>
            </a:extLst>
          </p:cNvPr>
          <p:cNvSpPr txBox="1"/>
          <p:nvPr userDrawn="1"/>
        </p:nvSpPr>
        <p:spPr>
          <a:xfrm>
            <a:off x="696000" y="6366343"/>
            <a:ext cx="5040000" cy="307777"/>
          </a:xfrm>
          <a:prstGeom prst="rect">
            <a:avLst/>
          </a:prstGeom>
        </p:spPr>
        <p:txBody>
          <a:bodyPr vert="horz" anchor="ctr" anchorCtr="0"/>
          <a:lstStyle>
            <a:defPPr>
              <a:defRPr lang="zh-CN"/>
            </a:defPPr>
            <a:lvl1pPr lvl="0"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r"/>
            <a:r>
              <a:rPr lang="en-US" altLang="zh-CN" sz="1200" dirty="0"/>
              <a:t>Software Project Management</a:t>
            </a:r>
          </a:p>
        </p:txBody>
      </p:sp>
    </p:spTree>
    <p:extLst>
      <p:ext uri="{BB962C8B-B14F-4D97-AF65-F5344CB8AC3E}">
        <p14:creationId xmlns:p14="http://schemas.microsoft.com/office/powerpoint/2010/main" val="18073043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6" r:id="rId3"/>
    <p:sldLayoutId id="2147483651" r:id="rId4"/>
    <p:sldLayoutId id="2147483655" r:id="rId5"/>
  </p:sldLayoutIdLst>
  <p:txStyles>
    <p:titleStyle>
      <a:lvl1pPr algn="l" defTabSz="914400" rtl="0" eaLnBrk="1" latinLnBrk="0" hangingPunct="1">
        <a:lnSpc>
          <a:spcPct val="90000"/>
        </a:lnSpc>
        <a:spcBef>
          <a:spcPct val="0"/>
        </a:spcBef>
        <a:buNone/>
        <a:defRPr sz="2400" kern="1200" baseline="0">
          <a:solidFill>
            <a:schemeClr val="tx1"/>
          </a:solidFill>
          <a:latin typeface="Montserrat" panose="00000500000000000000" pitchFamily="2" charset="0"/>
          <a:ea typeface="微软雅黑" panose="020B0503020204020204" pitchFamily="34" charset="-122"/>
          <a:cs typeface="+mj-cs"/>
        </a:defRPr>
      </a:lvl1pPr>
    </p:titleStyle>
    <p:bodyStyle>
      <a:lvl1pPr marL="228600" indent="-216000" algn="just" defTabSz="914400" rtl="0" eaLnBrk="1" latinLnBrk="0" hangingPunct="1">
        <a:lnSpc>
          <a:spcPct val="100000"/>
        </a:lnSpc>
        <a:spcBef>
          <a:spcPts val="0"/>
        </a:spcBef>
        <a:spcAft>
          <a:spcPts val="600"/>
        </a:spcAft>
        <a:buFont typeface="Arial" panose="020B0604020202020204" pitchFamily="34" charset="0"/>
        <a:buChar char="•"/>
        <a:defRPr sz="2000" kern="1200" baseline="0">
          <a:solidFill>
            <a:schemeClr val="tx1"/>
          </a:solidFill>
          <a:latin typeface="Montserrat" panose="00000500000000000000" pitchFamily="2" charset="0"/>
          <a:ea typeface="微软雅黑 Light" panose="020B0502040204020203" pitchFamily="34" charset="-122"/>
          <a:cs typeface="+mn-cs"/>
        </a:defRPr>
      </a:lvl1pPr>
      <a:lvl2pPr marL="685800" indent="-216000" algn="just" defTabSz="914400" rtl="0" eaLnBrk="1" latinLnBrk="0" hangingPunct="1">
        <a:lnSpc>
          <a:spcPct val="100000"/>
        </a:lnSpc>
        <a:spcBef>
          <a:spcPts val="0"/>
        </a:spcBef>
        <a:spcAft>
          <a:spcPts val="600"/>
        </a:spcAft>
        <a:buFont typeface="Arial" panose="020B0604020202020204" pitchFamily="34" charset="0"/>
        <a:buChar char="•"/>
        <a:defRPr sz="1800" kern="1200" baseline="0">
          <a:solidFill>
            <a:schemeClr val="tx1"/>
          </a:solidFill>
          <a:latin typeface="Montserrat" panose="00000500000000000000" pitchFamily="2" charset="0"/>
          <a:ea typeface="微软雅黑 Light" panose="020B0502040204020203" pitchFamily="34" charset="-122"/>
          <a:cs typeface="+mn-cs"/>
        </a:defRPr>
      </a:lvl2pPr>
      <a:lvl3pPr marL="1143000" indent="-216000" algn="just"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3pPr>
      <a:lvl4pPr marL="1600200" indent="-216000" algn="just"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4pPr>
      <a:lvl5pPr marL="2057400" indent="-216000" algn="just"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png"/></Relationships>
</file>

<file path=ppt/slides/_rels/slide1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png"/></Relationships>
</file>

<file path=ppt/slides/_rels/slide2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png"/></Relationships>
</file>

<file path=ppt/slides/_rels/slide2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22.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png"/></Relationships>
</file>

<file path=ppt/slides/_rels/slide23.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8" Type="http://schemas.openxmlformats.org/officeDocument/2006/relationships/image" Target="../media/image19.svg"/><Relationship Id="rId3" Type="http://schemas.openxmlformats.org/officeDocument/2006/relationships/diagramLayout" Target="../diagrams/layout3.xml"/><Relationship Id="rId7" Type="http://schemas.openxmlformats.org/officeDocument/2006/relationships/image" Target="../media/image18.png"/><Relationship Id="rId12" Type="http://schemas.openxmlformats.org/officeDocument/2006/relationships/image" Target="../media/image23.svg"/><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11" Type="http://schemas.openxmlformats.org/officeDocument/2006/relationships/image" Target="../media/image22.png"/><Relationship Id="rId5" Type="http://schemas.openxmlformats.org/officeDocument/2006/relationships/diagramColors" Target="../diagrams/colors3.xml"/><Relationship Id="rId10" Type="http://schemas.openxmlformats.org/officeDocument/2006/relationships/image" Target="../media/image21.svg"/><Relationship Id="rId4" Type="http://schemas.openxmlformats.org/officeDocument/2006/relationships/diagramQuickStyle" Target="../diagrams/quickStyle3.xml"/><Relationship Id="rId9" Type="http://schemas.openxmlformats.org/officeDocument/2006/relationships/image" Target="../media/image20.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101.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10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7.xml"/><Relationship Id="rId1" Type="http://schemas.openxmlformats.org/officeDocument/2006/relationships/slideLayout" Target="../slideLayouts/slideLayout5.xml"/><Relationship Id="rId4" Type="http://schemas.openxmlformats.org/officeDocument/2006/relationships/image" Target="../media/image27.svg"/></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3.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3.xml"/></Relationships>
</file>

<file path=ppt/slides/_rels/slide106.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3.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3.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3.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3.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3.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3.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3.xml"/></Relationships>
</file>

<file path=ppt/slides/_rels/slide11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a:extLst>
              <a:ext uri="{FF2B5EF4-FFF2-40B4-BE49-F238E27FC236}">
                <a16:creationId xmlns:a16="http://schemas.microsoft.com/office/drawing/2014/main" id="{9445E614-E647-EB35-3EA8-D8379963D14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86000" y="571500"/>
            <a:ext cx="7620000" cy="5715000"/>
          </a:xfrm>
          <a:prstGeom prst="rect">
            <a:avLst/>
          </a:prstGeom>
          <a:effectLst>
            <a:innerShdw blurRad="63500" dist="50800" dir="13500000">
              <a:prstClr val="black">
                <a:alpha val="50000"/>
              </a:prstClr>
            </a:innerShdw>
          </a:effectLst>
        </p:spPr>
      </p:pic>
    </p:spTree>
    <p:extLst>
      <p:ext uri="{BB962C8B-B14F-4D97-AF65-F5344CB8AC3E}">
        <p14:creationId xmlns:p14="http://schemas.microsoft.com/office/powerpoint/2010/main" val="33898396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E7228AC8-4C19-0C6B-50D5-6FEE87C6049B}"/>
              </a:ext>
            </a:extLst>
          </p:cNvPr>
          <p:cNvSpPr txBox="1"/>
          <p:nvPr/>
        </p:nvSpPr>
        <p:spPr>
          <a:xfrm>
            <a:off x="1056000" y="1440000"/>
            <a:ext cx="10080000" cy="2031325"/>
          </a:xfrm>
          <a:prstGeom prst="rect">
            <a:avLst/>
          </a:prstGeom>
          <a:noFill/>
        </p:spPr>
        <p:txBody>
          <a:bodyPr wrap="square" rtlCol="0">
            <a:spAutoFit/>
          </a:bodyPr>
          <a:lstStyle/>
          <a:p>
            <a:r>
              <a:rPr lang="zh-CN" altLang="en-US" dirty="0"/>
              <a:t>项目经理接到一个新软件产品开发项目，根据用户的持续反馈才能一步步决定产品的功能，而且如何实现这些功能也没有成熟的技术方案可以借鉴。项目经理应该建议采用哪种项目生命周期？</a:t>
            </a:r>
            <a:endParaRPr lang="en-US" altLang="zh-CN" dirty="0"/>
          </a:p>
          <a:p>
            <a:endParaRPr lang="zh-CN" altLang="en-US" dirty="0"/>
          </a:p>
          <a:p>
            <a:r>
              <a:rPr lang="en-US" altLang="zh-CN" dirty="0"/>
              <a:t>A. </a:t>
            </a:r>
            <a:r>
              <a:rPr lang="zh-CN" altLang="en-US" dirty="0"/>
              <a:t>预测型</a:t>
            </a:r>
            <a:br>
              <a:rPr lang="zh-CN" altLang="en-US" dirty="0"/>
            </a:br>
            <a:r>
              <a:rPr lang="en-US" altLang="zh-CN" dirty="0"/>
              <a:t>B. </a:t>
            </a:r>
            <a:r>
              <a:rPr lang="zh-CN" altLang="en-US" dirty="0"/>
              <a:t>适应型</a:t>
            </a:r>
            <a:br>
              <a:rPr lang="zh-CN" altLang="en-US" dirty="0"/>
            </a:br>
            <a:r>
              <a:rPr lang="en-US" altLang="zh-CN" dirty="0"/>
              <a:t>C. </a:t>
            </a:r>
            <a:r>
              <a:rPr lang="zh-CN" altLang="en-US" dirty="0"/>
              <a:t>迭代型</a:t>
            </a:r>
            <a:br>
              <a:rPr lang="zh-CN" altLang="en-US" dirty="0"/>
            </a:br>
            <a:r>
              <a:rPr lang="en-US" altLang="zh-CN" dirty="0"/>
              <a:t>D. </a:t>
            </a:r>
            <a:r>
              <a:rPr lang="zh-CN" altLang="en-US" dirty="0"/>
              <a:t>增量型</a:t>
            </a:r>
          </a:p>
        </p:txBody>
      </p:sp>
    </p:spTree>
    <p:extLst>
      <p:ext uri="{BB962C8B-B14F-4D97-AF65-F5344CB8AC3E}">
        <p14:creationId xmlns:p14="http://schemas.microsoft.com/office/powerpoint/2010/main" val="20497290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E7228AC8-4C19-0C6B-50D5-6FEE87C6049B}"/>
              </a:ext>
            </a:extLst>
          </p:cNvPr>
          <p:cNvSpPr txBox="1"/>
          <p:nvPr/>
        </p:nvSpPr>
        <p:spPr>
          <a:xfrm>
            <a:off x="1056000" y="1440000"/>
            <a:ext cx="10080000" cy="2031325"/>
          </a:xfrm>
          <a:prstGeom prst="rect">
            <a:avLst/>
          </a:prstGeom>
          <a:noFill/>
        </p:spPr>
        <p:txBody>
          <a:bodyPr wrap="square" rtlCol="0">
            <a:spAutoFit/>
          </a:bodyPr>
          <a:lstStyle/>
          <a:p>
            <a:r>
              <a:rPr lang="zh-CN" altLang="en-US" dirty="0"/>
              <a:t>在一个快速变化环境中工作的项目经理，将收集到的需求清单按照优先顺序进行分组排序。让优先级最高的可交付成果在</a:t>
            </a:r>
            <a:r>
              <a:rPr lang="en-US" altLang="zh-CN" dirty="0"/>
              <a:t>3-4</a:t>
            </a:r>
            <a:r>
              <a:rPr lang="zh-CN" altLang="en-US" dirty="0"/>
              <a:t>周内完成。项目经理正在使用哪一种项目生命周期方法？</a:t>
            </a:r>
            <a:endParaRPr lang="en-US" altLang="zh-CN" dirty="0"/>
          </a:p>
          <a:p>
            <a:endParaRPr lang="zh-CN" altLang="en-US" dirty="0"/>
          </a:p>
          <a:p>
            <a:r>
              <a:rPr lang="en-US" altLang="zh-CN" dirty="0"/>
              <a:t>A. </a:t>
            </a:r>
            <a:r>
              <a:rPr lang="zh-CN" altLang="en-US" dirty="0"/>
              <a:t>直觉</a:t>
            </a:r>
          </a:p>
          <a:p>
            <a:r>
              <a:rPr lang="en-US" altLang="zh-CN" dirty="0"/>
              <a:t>B. </a:t>
            </a:r>
            <a:r>
              <a:rPr lang="zh-CN" altLang="en-US" dirty="0"/>
              <a:t>预测</a:t>
            </a:r>
          </a:p>
          <a:p>
            <a:r>
              <a:rPr lang="en-US" altLang="zh-CN" dirty="0"/>
              <a:t>C. </a:t>
            </a:r>
            <a:r>
              <a:rPr lang="zh-CN" altLang="en-US" dirty="0"/>
              <a:t>适应</a:t>
            </a:r>
          </a:p>
          <a:p>
            <a:r>
              <a:rPr lang="en-US" altLang="zh-CN" dirty="0"/>
              <a:t>D. </a:t>
            </a:r>
            <a:r>
              <a:rPr lang="zh-CN" altLang="en-US" dirty="0"/>
              <a:t>迭代</a:t>
            </a:r>
          </a:p>
        </p:txBody>
      </p:sp>
    </p:spTree>
    <p:extLst>
      <p:ext uri="{BB962C8B-B14F-4D97-AF65-F5344CB8AC3E}">
        <p14:creationId xmlns:p14="http://schemas.microsoft.com/office/powerpoint/2010/main" val="38740027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E7228AC8-4C19-0C6B-50D5-6FEE87C6049B}"/>
              </a:ext>
            </a:extLst>
          </p:cNvPr>
          <p:cNvSpPr txBox="1"/>
          <p:nvPr/>
        </p:nvSpPr>
        <p:spPr>
          <a:xfrm>
            <a:off x="1056000" y="1440000"/>
            <a:ext cx="10080000" cy="2308324"/>
          </a:xfrm>
          <a:prstGeom prst="rect">
            <a:avLst/>
          </a:prstGeom>
          <a:noFill/>
        </p:spPr>
        <p:txBody>
          <a:bodyPr wrap="square" rtlCol="0">
            <a:spAutoFit/>
          </a:bodyPr>
          <a:lstStyle/>
          <a:p>
            <a:r>
              <a:rPr lang="zh-CN" altLang="en-US" dirty="0"/>
              <a:t>作为公司某项目敏捷团队的开发人员，马上要开始这个项目的第一次迭代，你充满了干劲，但是不知道应该从哪里开始做起。为此，你所在的团队应该准备一份文件，里面应该包含本次迭代需要开发的功能以及特征，请问这个文件是指的？</a:t>
            </a:r>
          </a:p>
          <a:p>
            <a:endParaRPr lang="zh-CN" altLang="en-US" dirty="0"/>
          </a:p>
          <a:p>
            <a:r>
              <a:rPr lang="en-US" altLang="zh-CN" dirty="0"/>
              <a:t>A. </a:t>
            </a:r>
            <a:r>
              <a:rPr lang="zh-CN" altLang="en-US" dirty="0"/>
              <a:t>产品待办事项列表</a:t>
            </a:r>
          </a:p>
          <a:p>
            <a:r>
              <a:rPr lang="en-US" altLang="zh-CN" dirty="0"/>
              <a:t>B. </a:t>
            </a:r>
            <a:r>
              <a:rPr lang="zh-CN" altLang="en-US" dirty="0"/>
              <a:t>迭代待办事项列表</a:t>
            </a:r>
          </a:p>
          <a:p>
            <a:r>
              <a:rPr lang="en-US" altLang="zh-CN" dirty="0"/>
              <a:t>C. </a:t>
            </a:r>
            <a:r>
              <a:rPr lang="zh-CN" altLang="en-US" dirty="0"/>
              <a:t>每日计划</a:t>
            </a:r>
          </a:p>
          <a:p>
            <a:r>
              <a:rPr lang="en-US" altLang="zh-CN" dirty="0"/>
              <a:t>D. </a:t>
            </a:r>
            <a:r>
              <a:rPr lang="zh-CN" altLang="en-US" dirty="0"/>
              <a:t>项目章程</a:t>
            </a:r>
          </a:p>
        </p:txBody>
      </p:sp>
    </p:spTree>
    <p:extLst>
      <p:ext uri="{BB962C8B-B14F-4D97-AF65-F5344CB8AC3E}">
        <p14:creationId xmlns:p14="http://schemas.microsoft.com/office/powerpoint/2010/main" val="26951497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E7228AC8-4C19-0C6B-50D5-6FEE87C6049B}"/>
              </a:ext>
            </a:extLst>
          </p:cNvPr>
          <p:cNvSpPr txBox="1"/>
          <p:nvPr/>
        </p:nvSpPr>
        <p:spPr>
          <a:xfrm>
            <a:off x="1056000" y="1440000"/>
            <a:ext cx="10080000" cy="2308324"/>
          </a:xfrm>
          <a:prstGeom prst="rect">
            <a:avLst/>
          </a:prstGeom>
          <a:noFill/>
        </p:spPr>
        <p:txBody>
          <a:bodyPr wrap="square" rtlCol="0">
            <a:spAutoFit/>
          </a:bodyPr>
          <a:lstStyle/>
          <a:p>
            <a:r>
              <a:rPr lang="zh-CN" altLang="en-US" dirty="0"/>
              <a:t>在迭代规划会议中，敏捷团队估算出一个功能特性所需时间为两周，但是新来的敏捷教练要求必须在一周内完成。团队成员向敏捷教练解释一周内完成是不可行的，并且没有理由给出一周的交付期限。敏捷教练的做法不符合以下哪一个 </a:t>
            </a:r>
            <a:r>
              <a:rPr lang="en-US" altLang="zh-CN" dirty="0"/>
              <a:t>Scrum </a:t>
            </a:r>
            <a:r>
              <a:rPr lang="zh-CN" altLang="en-US" dirty="0"/>
              <a:t>价值观？</a:t>
            </a:r>
            <a:endParaRPr lang="en-US" altLang="zh-CN" dirty="0"/>
          </a:p>
          <a:p>
            <a:endParaRPr lang="zh-CN" altLang="en-US" dirty="0"/>
          </a:p>
          <a:p>
            <a:r>
              <a:rPr lang="en-US" altLang="zh-CN" dirty="0"/>
              <a:t>A. </a:t>
            </a:r>
            <a:r>
              <a:rPr lang="zh-CN" altLang="en-US" dirty="0"/>
              <a:t>开放</a:t>
            </a:r>
          </a:p>
          <a:p>
            <a:r>
              <a:rPr lang="en-US" altLang="zh-CN" dirty="0"/>
              <a:t>B. </a:t>
            </a:r>
            <a:r>
              <a:rPr lang="zh-CN" altLang="en-US" dirty="0"/>
              <a:t>尊重</a:t>
            </a:r>
          </a:p>
          <a:p>
            <a:r>
              <a:rPr lang="en-US" altLang="zh-CN" dirty="0"/>
              <a:t>C. </a:t>
            </a:r>
            <a:r>
              <a:rPr lang="zh-CN" altLang="en-US" dirty="0"/>
              <a:t>勇气</a:t>
            </a:r>
          </a:p>
          <a:p>
            <a:r>
              <a:rPr lang="en-US" altLang="zh-CN" dirty="0"/>
              <a:t>D. </a:t>
            </a:r>
            <a:r>
              <a:rPr lang="zh-CN" altLang="en-US" dirty="0"/>
              <a:t>专注</a:t>
            </a:r>
          </a:p>
        </p:txBody>
      </p:sp>
    </p:spTree>
    <p:extLst>
      <p:ext uri="{BB962C8B-B14F-4D97-AF65-F5344CB8AC3E}">
        <p14:creationId xmlns:p14="http://schemas.microsoft.com/office/powerpoint/2010/main" val="26026439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图片占位符 6">
            <a:extLst>
              <a:ext uri="{FF2B5EF4-FFF2-40B4-BE49-F238E27FC236}">
                <a16:creationId xmlns:a16="http://schemas.microsoft.com/office/drawing/2014/main" id="{D933F5D5-78D7-DF7D-D15A-2B4072A0B5B3}"/>
              </a:ext>
            </a:extLst>
          </p:cNvPr>
          <p:cNvPicPr>
            <a:picLocks noGrp="1" noChangeAspect="1"/>
          </p:cNvPicPr>
          <p:nvPr>
            <p:ph type="pic" sz="quarter" idx="4294967295"/>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3A4CA759-5621-EB6A-3BE8-E0B4F08C2D2D}"/>
              </a:ext>
            </a:extLst>
          </p:cNvPr>
          <p:cNvSpPr>
            <a:spLocks noGrp="1"/>
          </p:cNvSpPr>
          <p:nvPr>
            <p:ph type="ctrTitle"/>
          </p:nvPr>
        </p:nvSpPr>
        <p:spPr>
          <a:xfrm>
            <a:off x="4077578" y="3498981"/>
            <a:ext cx="7262228" cy="1440000"/>
          </a:xfrm>
        </p:spPr>
        <p:txBody>
          <a:bodyPr/>
          <a:lstStyle/>
          <a:p>
            <a:r>
              <a:rPr lang="zh-CN" altLang="en-US"/>
              <a:t>软件项目管理概述</a:t>
            </a:r>
            <a:endParaRPr lang="zh-CN" altLang="en-US" dirty="0"/>
          </a:p>
        </p:txBody>
      </p:sp>
      <p:sp>
        <p:nvSpPr>
          <p:cNvPr id="3" name="副标题 2">
            <a:extLst>
              <a:ext uri="{FF2B5EF4-FFF2-40B4-BE49-F238E27FC236}">
                <a16:creationId xmlns:a16="http://schemas.microsoft.com/office/drawing/2014/main" id="{9A649945-96D7-8543-8CFE-9D885EE22BF8}"/>
              </a:ext>
            </a:extLst>
          </p:cNvPr>
          <p:cNvSpPr>
            <a:spLocks noGrp="1"/>
          </p:cNvSpPr>
          <p:nvPr>
            <p:ph type="subTitle" idx="1"/>
          </p:nvPr>
        </p:nvSpPr>
        <p:spPr>
          <a:xfrm>
            <a:off x="4077578" y="4938981"/>
            <a:ext cx="7262228" cy="900000"/>
          </a:xfrm>
        </p:spPr>
        <p:txBody>
          <a:bodyPr/>
          <a:lstStyle/>
          <a:p>
            <a:r>
              <a:rPr lang="en-US" altLang="zh-CN"/>
              <a:t>Section 1 Overview</a:t>
            </a:r>
            <a:endParaRPr lang="zh-CN" altLang="en-US" dirty="0"/>
          </a:p>
        </p:txBody>
      </p:sp>
    </p:spTree>
    <p:extLst>
      <p:ext uri="{BB962C8B-B14F-4D97-AF65-F5344CB8AC3E}">
        <p14:creationId xmlns:p14="http://schemas.microsoft.com/office/powerpoint/2010/main" val="20334360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CB481C-BB8D-8881-5F15-37181E213008}"/>
              </a:ext>
            </a:extLst>
          </p:cNvPr>
          <p:cNvSpPr>
            <a:spLocks noGrp="1"/>
          </p:cNvSpPr>
          <p:nvPr>
            <p:ph type="title"/>
          </p:nvPr>
        </p:nvSpPr>
        <p:spPr>
          <a:xfrm>
            <a:off x="696000" y="360000"/>
            <a:ext cx="10800000" cy="424732"/>
          </a:xfrm>
        </p:spPr>
        <p:txBody>
          <a:bodyPr/>
          <a:lstStyle/>
          <a:p>
            <a:r>
              <a:rPr lang="zh-CN" altLang="en-US" dirty="0"/>
              <a:t>项目 </a:t>
            </a:r>
            <a:r>
              <a:rPr lang="en-US" altLang="zh-CN" dirty="0"/>
              <a:t>Project</a:t>
            </a:r>
            <a:endParaRPr lang="zh-CN" altLang="en-US" dirty="0"/>
          </a:p>
        </p:txBody>
      </p:sp>
      <p:sp>
        <p:nvSpPr>
          <p:cNvPr id="3" name="内容占位符 2">
            <a:extLst>
              <a:ext uri="{FF2B5EF4-FFF2-40B4-BE49-F238E27FC236}">
                <a16:creationId xmlns:a16="http://schemas.microsoft.com/office/drawing/2014/main" id="{5AB56C25-F459-19D0-36CB-4BA5E15CAD51}"/>
              </a:ext>
            </a:extLst>
          </p:cNvPr>
          <p:cNvSpPr>
            <a:spLocks noGrp="1"/>
          </p:cNvSpPr>
          <p:nvPr>
            <p:ph idx="1"/>
          </p:nvPr>
        </p:nvSpPr>
        <p:spPr>
          <a:xfrm>
            <a:off x="696000" y="1080000"/>
            <a:ext cx="10800000" cy="5112000"/>
          </a:xfrm>
        </p:spPr>
        <p:txBody>
          <a:bodyPr/>
          <a:lstStyle/>
          <a:p>
            <a:r>
              <a:rPr lang="zh-CN" altLang="en-US" dirty="0"/>
              <a:t>项目</a:t>
            </a:r>
            <a:r>
              <a:rPr lang="en-US" altLang="zh-CN" dirty="0"/>
              <a:t>(Project)</a:t>
            </a:r>
            <a:r>
              <a:rPr lang="zh-CN" altLang="en-US" dirty="0"/>
              <a:t>是为了创造一个唯一的产品或提供一个唯一的服务而进行的临时性的努力</a:t>
            </a:r>
            <a:endParaRPr lang="en-US" altLang="zh-CN" dirty="0"/>
          </a:p>
          <a:p>
            <a:pPr lvl="1"/>
            <a:r>
              <a:rPr lang="zh-CN" altLang="en-US" dirty="0"/>
              <a:t>临时性 </a:t>
            </a:r>
            <a:r>
              <a:rPr lang="en-US" altLang="zh-CN" dirty="0"/>
              <a:t>Temporary</a:t>
            </a:r>
            <a:endParaRPr lang="zh-CN" altLang="en-US" dirty="0"/>
          </a:p>
          <a:p>
            <a:pPr lvl="1"/>
            <a:r>
              <a:rPr lang="zh-CN" altLang="en-US" dirty="0"/>
              <a:t>独特性 </a:t>
            </a:r>
            <a:r>
              <a:rPr lang="en-US" altLang="zh-CN" dirty="0"/>
              <a:t>Unique</a:t>
            </a:r>
            <a:endParaRPr lang="zh-CN" altLang="en-US" dirty="0"/>
          </a:p>
          <a:p>
            <a:pPr lvl="1"/>
            <a:r>
              <a:rPr lang="zh-CN" altLang="en-US" dirty="0"/>
              <a:t>不确定性 </a:t>
            </a:r>
            <a:r>
              <a:rPr lang="en-US" altLang="zh-CN" dirty="0"/>
              <a:t>Uncertainty</a:t>
            </a:r>
            <a:endParaRPr lang="zh-CN" altLang="en-US" dirty="0"/>
          </a:p>
          <a:p>
            <a:endParaRPr lang="zh-CN" altLang="en-US" dirty="0"/>
          </a:p>
        </p:txBody>
      </p:sp>
    </p:spTree>
    <p:extLst>
      <p:ext uri="{BB962C8B-B14F-4D97-AF65-F5344CB8AC3E}">
        <p14:creationId xmlns:p14="http://schemas.microsoft.com/office/powerpoint/2010/main" val="17769601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982661-5AAD-D544-4A07-E00C15249E9E}"/>
              </a:ext>
            </a:extLst>
          </p:cNvPr>
          <p:cNvSpPr>
            <a:spLocks noGrp="1"/>
          </p:cNvSpPr>
          <p:nvPr>
            <p:ph type="title"/>
          </p:nvPr>
        </p:nvSpPr>
        <p:spPr/>
        <p:txBody>
          <a:bodyPr/>
          <a:lstStyle/>
          <a:p>
            <a:r>
              <a:rPr lang="zh-CN" altLang="en-US" dirty="0"/>
              <a:t>项目 </a:t>
            </a:r>
            <a:r>
              <a:rPr lang="en-US" altLang="zh-CN" dirty="0"/>
              <a:t>Project</a:t>
            </a:r>
            <a:endParaRPr lang="zh-CN" altLang="en-US" dirty="0"/>
          </a:p>
        </p:txBody>
      </p:sp>
      <p:sp>
        <p:nvSpPr>
          <p:cNvPr id="3" name="内容占位符 2">
            <a:extLst>
              <a:ext uri="{FF2B5EF4-FFF2-40B4-BE49-F238E27FC236}">
                <a16:creationId xmlns:a16="http://schemas.microsoft.com/office/drawing/2014/main" id="{29FF7D73-A8D9-59C3-0280-29A8FD7EA9B2}"/>
              </a:ext>
            </a:extLst>
          </p:cNvPr>
          <p:cNvSpPr>
            <a:spLocks noGrp="1"/>
          </p:cNvSpPr>
          <p:nvPr>
            <p:ph idx="1"/>
          </p:nvPr>
        </p:nvSpPr>
        <p:spPr>
          <a:xfrm>
            <a:off x="696000" y="1101172"/>
            <a:ext cx="10800000" cy="5112000"/>
          </a:xfrm>
        </p:spPr>
        <p:txBody>
          <a:bodyPr/>
          <a:lstStyle/>
          <a:p>
            <a:endParaRPr lang="zh-CN" altLang="en-US"/>
          </a:p>
        </p:txBody>
      </p:sp>
      <p:graphicFrame>
        <p:nvGraphicFramePr>
          <p:cNvPr id="4" name="Diagram 3">
            <a:extLst>
              <a:ext uri="{FF2B5EF4-FFF2-40B4-BE49-F238E27FC236}">
                <a16:creationId xmlns:a16="http://schemas.microsoft.com/office/drawing/2014/main" id="{25391F4A-3619-B28E-05D6-A8F854D3800E}"/>
              </a:ext>
            </a:extLst>
          </p:cNvPr>
          <p:cNvGraphicFramePr/>
          <p:nvPr>
            <p:extLst>
              <p:ext uri="{D42A27DB-BD31-4B8C-83A1-F6EECF244321}">
                <p14:modId xmlns:p14="http://schemas.microsoft.com/office/powerpoint/2010/main" val="4228336298"/>
              </p:ext>
            </p:extLst>
          </p:nvPr>
        </p:nvGraphicFramePr>
        <p:xfrm>
          <a:off x="3023828" y="1294394"/>
          <a:ext cx="6144344" cy="472555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330553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161405-C853-3F50-B3A0-E0D973E7F3FD}"/>
              </a:ext>
            </a:extLst>
          </p:cNvPr>
          <p:cNvSpPr>
            <a:spLocks noGrp="1"/>
          </p:cNvSpPr>
          <p:nvPr>
            <p:ph type="title"/>
          </p:nvPr>
        </p:nvSpPr>
        <p:spPr/>
        <p:txBody>
          <a:bodyPr/>
          <a:lstStyle/>
          <a:p>
            <a:r>
              <a:rPr lang="zh-CN" altLang="en-US" dirty="0"/>
              <a:t>项目集 </a:t>
            </a:r>
            <a:r>
              <a:rPr lang="en-US" altLang="zh-CN" dirty="0"/>
              <a:t>Program</a:t>
            </a:r>
            <a:endParaRPr lang="zh-CN" altLang="en-US" dirty="0"/>
          </a:p>
        </p:txBody>
      </p:sp>
      <p:sp>
        <p:nvSpPr>
          <p:cNvPr id="3" name="内容占位符 2">
            <a:extLst>
              <a:ext uri="{FF2B5EF4-FFF2-40B4-BE49-F238E27FC236}">
                <a16:creationId xmlns:a16="http://schemas.microsoft.com/office/drawing/2014/main" id="{7D33A585-C003-C1AF-99E1-DDFEA3EFC716}"/>
              </a:ext>
            </a:extLst>
          </p:cNvPr>
          <p:cNvSpPr>
            <a:spLocks noGrp="1"/>
          </p:cNvSpPr>
          <p:nvPr>
            <p:ph idx="1"/>
          </p:nvPr>
        </p:nvSpPr>
        <p:spPr/>
        <p:txBody>
          <a:bodyPr>
            <a:normAutofit/>
          </a:bodyPr>
          <a:lstStyle/>
          <a:p>
            <a:r>
              <a:rPr lang="zh-CN" altLang="en-US" dirty="0"/>
              <a:t>指一组相互关联且被协调管理的项目、子项目集和项目集活动</a:t>
            </a:r>
          </a:p>
          <a:p>
            <a:r>
              <a:rPr lang="zh-CN" altLang="en-US" dirty="0"/>
              <a:t>目的：通过协同管理获取单独管理各个部分时无法实现的额外效益</a:t>
            </a:r>
          </a:p>
          <a:p>
            <a:r>
              <a:rPr lang="zh-CN" altLang="en-US" dirty="0"/>
              <a:t>相互关联的项目：多个项目之间存在逻辑或目标上的联系</a:t>
            </a:r>
          </a:p>
          <a:p>
            <a:r>
              <a:rPr lang="zh-CN" altLang="en-US" dirty="0"/>
              <a:t>协调管理：统一规划、组织与控制，以确保整体一致性</a:t>
            </a:r>
          </a:p>
          <a:p>
            <a:r>
              <a:rPr lang="zh-CN" altLang="en-US" dirty="0"/>
              <a:t>包含内容：项目、子项目集、项目集活动</a:t>
            </a:r>
          </a:p>
          <a:p>
            <a:r>
              <a:rPr lang="zh-CN" altLang="en-US" dirty="0"/>
              <a:t>目的：获得分别管理所无法取得的利益（如资源优化、风险降低、战略对齐等）</a:t>
            </a:r>
          </a:p>
          <a:p>
            <a:endParaRPr lang="zh-CN" altLang="en-US" dirty="0"/>
          </a:p>
          <a:p>
            <a:r>
              <a:rPr lang="zh-CN" altLang="en-US" dirty="0"/>
              <a:t>强调：项目集管理的核心价值在于整体大于部分之和</a:t>
            </a:r>
          </a:p>
          <a:p>
            <a:endParaRPr lang="zh-CN" altLang="en-US" dirty="0"/>
          </a:p>
        </p:txBody>
      </p:sp>
    </p:spTree>
    <p:extLst>
      <p:ext uri="{BB962C8B-B14F-4D97-AF65-F5344CB8AC3E}">
        <p14:creationId xmlns:p14="http://schemas.microsoft.com/office/powerpoint/2010/main" val="21514935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4DCD3D-6D38-3329-3963-48458FF2AB20}"/>
              </a:ext>
            </a:extLst>
          </p:cNvPr>
          <p:cNvSpPr>
            <a:spLocks noGrp="1"/>
          </p:cNvSpPr>
          <p:nvPr>
            <p:ph type="title"/>
          </p:nvPr>
        </p:nvSpPr>
        <p:spPr/>
        <p:txBody>
          <a:bodyPr/>
          <a:lstStyle/>
          <a:p>
            <a:r>
              <a:rPr lang="zh-CN" altLang="en-US" dirty="0"/>
              <a:t>项目组合 </a:t>
            </a:r>
            <a:r>
              <a:rPr lang="en-US" altLang="zh-CN" dirty="0"/>
              <a:t>Portfolio</a:t>
            </a:r>
            <a:endParaRPr lang="zh-CN" altLang="en-US" dirty="0"/>
          </a:p>
        </p:txBody>
      </p:sp>
      <p:sp>
        <p:nvSpPr>
          <p:cNvPr id="3" name="内容占位符 2">
            <a:extLst>
              <a:ext uri="{FF2B5EF4-FFF2-40B4-BE49-F238E27FC236}">
                <a16:creationId xmlns:a16="http://schemas.microsoft.com/office/drawing/2014/main" id="{95D0D1E3-9D28-9D35-C380-9AB9BEE94183}"/>
              </a:ext>
            </a:extLst>
          </p:cNvPr>
          <p:cNvSpPr>
            <a:spLocks noGrp="1"/>
          </p:cNvSpPr>
          <p:nvPr>
            <p:ph idx="1"/>
          </p:nvPr>
        </p:nvSpPr>
        <p:spPr/>
        <p:txBody>
          <a:bodyPr>
            <a:normAutofit/>
          </a:bodyPr>
          <a:lstStyle/>
          <a:p>
            <a:r>
              <a:rPr lang="zh-CN" altLang="en-US" dirty="0"/>
              <a:t>项目组合是为实现战略目标而整合管理的一系列项目、项目集和运营活动的集合</a:t>
            </a:r>
            <a:endParaRPr lang="en-US" altLang="zh-CN" dirty="0"/>
          </a:p>
          <a:p>
            <a:r>
              <a:rPr lang="zh-CN" altLang="en-US" dirty="0"/>
              <a:t>成员之间不必存在直接关联或依赖关系</a:t>
            </a:r>
            <a:endParaRPr lang="en-US" altLang="zh-CN" dirty="0"/>
          </a:p>
          <a:p>
            <a:r>
              <a:rPr lang="zh-CN" altLang="en-US" dirty="0"/>
              <a:t>特点：</a:t>
            </a:r>
          </a:p>
          <a:p>
            <a:pPr lvl="1"/>
            <a:r>
              <a:rPr lang="zh-CN" altLang="en-US" dirty="0"/>
              <a:t>项目或项目集之间不一定彼此依赖或直接相关</a:t>
            </a:r>
          </a:p>
          <a:p>
            <a:pPr lvl="1"/>
            <a:r>
              <a:rPr lang="zh-CN" altLang="en-US" dirty="0"/>
              <a:t>管理重点在于战略对齐，而非技术或执行上的关联性</a:t>
            </a:r>
            <a:endParaRPr lang="en-US" altLang="zh-CN" dirty="0"/>
          </a:p>
          <a:p>
            <a:r>
              <a:rPr lang="zh-CN" altLang="en-US" dirty="0"/>
              <a:t>战略导向：项目组合的管理是为了达成组织的战略目标。</a:t>
            </a:r>
          </a:p>
          <a:p>
            <a:r>
              <a:rPr lang="zh-CN" altLang="en-US" dirty="0"/>
              <a:t>多样化组成：包含项目、项目集、子项目组合及运营工作</a:t>
            </a:r>
          </a:p>
          <a:p>
            <a:r>
              <a:rPr lang="zh-CN" altLang="en-US" dirty="0"/>
              <a:t>非依赖性：组合内的元素可以独立运作，无需相互依赖</a:t>
            </a:r>
          </a:p>
          <a:p>
            <a:r>
              <a:rPr lang="zh-CN" altLang="en-US" dirty="0"/>
              <a:t>统一管理：通过集中管理实现资源优化、优先级排序和战略一致性</a:t>
            </a:r>
            <a:endParaRPr lang="en-US" altLang="zh-CN" dirty="0"/>
          </a:p>
          <a:p>
            <a:endParaRPr lang="en-US" altLang="zh-CN" dirty="0"/>
          </a:p>
          <a:p>
            <a:r>
              <a:rPr lang="zh-CN" altLang="en-US" dirty="0"/>
              <a:t>强调的是战略价值和整体效益</a:t>
            </a:r>
            <a:endParaRPr lang="en-US" altLang="zh-CN" dirty="0"/>
          </a:p>
        </p:txBody>
      </p:sp>
    </p:spTree>
    <p:extLst>
      <p:ext uri="{BB962C8B-B14F-4D97-AF65-F5344CB8AC3E}">
        <p14:creationId xmlns:p14="http://schemas.microsoft.com/office/powerpoint/2010/main" val="22143100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B55A89-383F-D7DE-49EB-516143BAE0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FA46C6-529A-1FB0-2DCA-2FDF71E11B79}"/>
              </a:ext>
            </a:extLst>
          </p:cNvPr>
          <p:cNvSpPr>
            <a:spLocks noGrp="1"/>
          </p:cNvSpPr>
          <p:nvPr>
            <p:ph type="title"/>
          </p:nvPr>
        </p:nvSpPr>
        <p:spPr/>
        <p:txBody>
          <a:bodyPr/>
          <a:lstStyle/>
          <a:p>
            <a:r>
              <a:rPr lang="zh-CN" altLang="en-US" dirty="0"/>
              <a:t>软件项目 </a:t>
            </a:r>
            <a:r>
              <a:rPr lang="en-US" altLang="zh-CN" dirty="0"/>
              <a:t>Software</a:t>
            </a:r>
            <a:r>
              <a:rPr lang="zh-CN" altLang="en-US" dirty="0"/>
              <a:t> </a:t>
            </a:r>
            <a:r>
              <a:rPr lang="en-US" altLang="zh-CN" dirty="0"/>
              <a:t>Project</a:t>
            </a:r>
            <a:endParaRPr lang="zh-CN" altLang="en-US" dirty="0"/>
          </a:p>
        </p:txBody>
      </p:sp>
      <p:sp>
        <p:nvSpPr>
          <p:cNvPr id="3" name="内容占位符 2">
            <a:extLst>
              <a:ext uri="{FF2B5EF4-FFF2-40B4-BE49-F238E27FC236}">
                <a16:creationId xmlns:a16="http://schemas.microsoft.com/office/drawing/2014/main" id="{01135036-3A8E-2545-5B7E-39C1D659629A}"/>
              </a:ext>
            </a:extLst>
          </p:cNvPr>
          <p:cNvSpPr>
            <a:spLocks noGrp="1"/>
          </p:cNvSpPr>
          <p:nvPr>
            <p:ph idx="1"/>
          </p:nvPr>
        </p:nvSpPr>
        <p:spPr/>
        <p:txBody>
          <a:bodyPr>
            <a:normAutofit/>
          </a:bodyPr>
          <a:lstStyle/>
          <a:p>
            <a:r>
              <a:rPr lang="zh-CN" altLang="en-US" dirty="0"/>
              <a:t>含义</a:t>
            </a:r>
            <a:endParaRPr lang="en-US" altLang="zh-CN" dirty="0"/>
          </a:p>
          <a:p>
            <a:r>
              <a:rPr lang="zh-CN" altLang="en-US" dirty="0"/>
              <a:t>组成要素</a:t>
            </a:r>
          </a:p>
        </p:txBody>
      </p:sp>
    </p:spTree>
    <p:extLst>
      <p:ext uri="{BB962C8B-B14F-4D97-AF65-F5344CB8AC3E}">
        <p14:creationId xmlns:p14="http://schemas.microsoft.com/office/powerpoint/2010/main" val="491549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E069F-4CA2-41F5-36C6-99433EBD71E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BDA507A-9715-EA8B-0263-3F4F7C64C512}"/>
              </a:ext>
            </a:extLst>
          </p:cNvPr>
          <p:cNvSpPr>
            <a:spLocks noGrp="1"/>
          </p:cNvSpPr>
          <p:nvPr>
            <p:ph type="title"/>
          </p:nvPr>
        </p:nvSpPr>
        <p:spPr/>
        <p:txBody>
          <a:bodyPr/>
          <a:lstStyle/>
          <a:p>
            <a:r>
              <a:rPr lang="zh-CN" altLang="en-US" dirty="0"/>
              <a:t>项目管理 </a:t>
            </a:r>
            <a:r>
              <a:rPr lang="en-US" altLang="zh-CN" dirty="0"/>
              <a:t>Project Management</a:t>
            </a:r>
            <a:endParaRPr lang="zh-CN" altLang="en-US" dirty="0"/>
          </a:p>
        </p:txBody>
      </p:sp>
      <p:sp>
        <p:nvSpPr>
          <p:cNvPr id="3" name="内容占位符 2">
            <a:extLst>
              <a:ext uri="{FF2B5EF4-FFF2-40B4-BE49-F238E27FC236}">
                <a16:creationId xmlns:a16="http://schemas.microsoft.com/office/drawing/2014/main" id="{FDA56224-1A2A-8309-7C3D-C9AE8C5EED73}"/>
              </a:ext>
            </a:extLst>
          </p:cNvPr>
          <p:cNvSpPr>
            <a:spLocks noGrp="1"/>
          </p:cNvSpPr>
          <p:nvPr>
            <p:ph idx="1"/>
          </p:nvPr>
        </p:nvSpPr>
        <p:spPr/>
        <p:txBody>
          <a:bodyPr>
            <a:normAutofit/>
          </a:bodyPr>
          <a:lstStyle/>
          <a:p>
            <a:endParaRPr lang="zh-CN" altLang="en-US" dirty="0"/>
          </a:p>
        </p:txBody>
      </p:sp>
    </p:spTree>
    <p:extLst>
      <p:ext uri="{BB962C8B-B14F-4D97-AF65-F5344CB8AC3E}">
        <p14:creationId xmlns:p14="http://schemas.microsoft.com/office/powerpoint/2010/main" val="4100669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36E6B-E6B3-0F7A-3C60-419F40F17FA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43CAB87-5155-DA15-375B-14F2BF75A70F}"/>
              </a:ext>
            </a:extLst>
          </p:cNvPr>
          <p:cNvSpPr>
            <a:spLocks noGrp="1"/>
          </p:cNvSpPr>
          <p:nvPr>
            <p:ph type="title"/>
          </p:nvPr>
        </p:nvSpPr>
        <p:spPr/>
        <p:txBody>
          <a:bodyPr/>
          <a:lstStyle/>
          <a:p>
            <a:r>
              <a:rPr lang="zh-CN" altLang="en-US" dirty="0"/>
              <a:t>软件项目管理 </a:t>
            </a:r>
            <a:r>
              <a:rPr lang="en-US" altLang="zh-CN" dirty="0"/>
              <a:t>Software</a:t>
            </a:r>
            <a:r>
              <a:rPr lang="zh-CN" altLang="en-US" dirty="0"/>
              <a:t> </a:t>
            </a:r>
            <a:r>
              <a:rPr lang="en-US" altLang="zh-CN" dirty="0"/>
              <a:t>Project Management</a:t>
            </a:r>
            <a:endParaRPr lang="zh-CN" altLang="en-US" dirty="0"/>
          </a:p>
        </p:txBody>
      </p:sp>
      <p:sp>
        <p:nvSpPr>
          <p:cNvPr id="3" name="内容占位符 2">
            <a:extLst>
              <a:ext uri="{FF2B5EF4-FFF2-40B4-BE49-F238E27FC236}">
                <a16:creationId xmlns:a16="http://schemas.microsoft.com/office/drawing/2014/main" id="{145B2F63-A505-EB9D-3392-399B930010DE}"/>
              </a:ext>
            </a:extLst>
          </p:cNvPr>
          <p:cNvSpPr>
            <a:spLocks noGrp="1"/>
          </p:cNvSpPr>
          <p:nvPr>
            <p:ph idx="1"/>
          </p:nvPr>
        </p:nvSpPr>
        <p:spPr/>
        <p:txBody>
          <a:bodyPr>
            <a:normAutofit/>
          </a:bodyPr>
          <a:lstStyle/>
          <a:p>
            <a:endParaRPr lang="zh-CN" altLang="en-US" dirty="0"/>
          </a:p>
        </p:txBody>
      </p:sp>
    </p:spTree>
    <p:extLst>
      <p:ext uri="{BB962C8B-B14F-4D97-AF65-F5344CB8AC3E}">
        <p14:creationId xmlns:p14="http://schemas.microsoft.com/office/powerpoint/2010/main" val="10110492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等腰三角形 3">
            <a:extLst>
              <a:ext uri="{FF2B5EF4-FFF2-40B4-BE49-F238E27FC236}">
                <a16:creationId xmlns:a16="http://schemas.microsoft.com/office/drawing/2014/main" id="{A07BF38B-7EF7-5B69-A2D5-E243426FBA4A}"/>
              </a:ext>
            </a:extLst>
          </p:cNvPr>
          <p:cNvSpPr/>
          <p:nvPr/>
        </p:nvSpPr>
        <p:spPr>
          <a:xfrm>
            <a:off x="1911434" y="3457575"/>
            <a:ext cx="464058" cy="288000"/>
          </a:xfrm>
          <a:prstGeom prst="triangle">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65C13C1B-DC05-2791-E3B3-6325CA90A827}"/>
              </a:ext>
            </a:extLst>
          </p:cNvPr>
          <p:cNvSpPr>
            <a:spLocks noGrp="1"/>
          </p:cNvSpPr>
          <p:nvPr>
            <p:ph type="title"/>
          </p:nvPr>
        </p:nvSpPr>
        <p:spPr>
          <a:xfrm>
            <a:off x="696000" y="360000"/>
            <a:ext cx="10800000" cy="424732"/>
          </a:xfrm>
        </p:spPr>
        <p:txBody>
          <a:bodyPr/>
          <a:lstStyle/>
          <a:p>
            <a:r>
              <a:rPr lang="zh-CN" altLang="en-US" dirty="0"/>
              <a:t>概念解析 </a:t>
            </a:r>
            <a:r>
              <a:rPr lang="en-US" altLang="zh-CN" dirty="0"/>
              <a:t>Concepts</a:t>
            </a:r>
            <a:endParaRPr lang="zh-CN" altLang="en-US" dirty="0"/>
          </a:p>
        </p:txBody>
      </p:sp>
      <p:graphicFrame>
        <p:nvGraphicFramePr>
          <p:cNvPr id="6" name="内容占位符 3">
            <a:extLst>
              <a:ext uri="{FF2B5EF4-FFF2-40B4-BE49-F238E27FC236}">
                <a16:creationId xmlns:a16="http://schemas.microsoft.com/office/drawing/2014/main" id="{235B63BB-D4E1-0D9F-1F82-71B2EE34CBD1}"/>
              </a:ext>
            </a:extLst>
          </p:cNvPr>
          <p:cNvGraphicFramePr>
            <a:graphicFrameLocks/>
          </p:cNvGraphicFramePr>
          <p:nvPr>
            <p:extLst>
              <p:ext uri="{D42A27DB-BD31-4B8C-83A1-F6EECF244321}">
                <p14:modId xmlns:p14="http://schemas.microsoft.com/office/powerpoint/2010/main" val="1453757854"/>
              </p:ext>
            </p:extLst>
          </p:nvPr>
        </p:nvGraphicFramePr>
        <p:xfrm>
          <a:off x="695325" y="3746741"/>
          <a:ext cx="10801350" cy="2445259"/>
        </p:xfrm>
        <a:graphic>
          <a:graphicData uri="http://schemas.openxmlformats.org/drawingml/2006/table">
            <a:tbl>
              <a:tblPr firstRow="1" bandRow="1">
                <a:tableStyleId>{72833802-FEF1-4C79-8D5D-14CF1EAF98D9}</a:tableStyleId>
              </a:tblPr>
              <a:tblGrid>
                <a:gridCol w="1805279">
                  <a:extLst>
                    <a:ext uri="{9D8B030D-6E8A-4147-A177-3AD203B41FA5}">
                      <a16:colId xmlns:a16="http://schemas.microsoft.com/office/drawing/2014/main" val="3401312939"/>
                    </a:ext>
                  </a:extLst>
                </a:gridCol>
                <a:gridCol w="5822302">
                  <a:extLst>
                    <a:ext uri="{9D8B030D-6E8A-4147-A177-3AD203B41FA5}">
                      <a16:colId xmlns:a16="http://schemas.microsoft.com/office/drawing/2014/main" val="370412264"/>
                    </a:ext>
                  </a:extLst>
                </a:gridCol>
                <a:gridCol w="3173769">
                  <a:extLst>
                    <a:ext uri="{9D8B030D-6E8A-4147-A177-3AD203B41FA5}">
                      <a16:colId xmlns:a16="http://schemas.microsoft.com/office/drawing/2014/main" val="1004544071"/>
                    </a:ext>
                  </a:extLst>
                </a:gridCol>
              </a:tblGrid>
              <a:tr h="236917">
                <a:tc>
                  <a:txBody>
                    <a:bodyPr/>
                    <a:lstStyle/>
                    <a:p>
                      <a:pPr>
                        <a:lnSpc>
                          <a:spcPct val="150000"/>
                        </a:lnSpc>
                        <a:buNone/>
                      </a:pPr>
                      <a:r>
                        <a:rPr lang="zh-CN" altLang="en-US" sz="1600" b="0" i="0" baseline="0" dirty="0">
                          <a:latin typeface="Montserrat" panose="00000500000000000000" pitchFamily="2" charset="0"/>
                          <a:ea typeface="微软雅黑 Light" panose="020B0502040204020203" pitchFamily="34" charset="-122"/>
                        </a:rPr>
                        <a:t>术语</a:t>
                      </a:r>
                    </a:p>
                  </a:txBody>
                  <a:tcPr anchor="ctr"/>
                </a:tc>
                <a:tc>
                  <a:txBody>
                    <a:bodyPr/>
                    <a:lstStyle/>
                    <a:p>
                      <a:pPr>
                        <a:lnSpc>
                          <a:spcPct val="150000"/>
                        </a:lnSpc>
                        <a:buNone/>
                      </a:pPr>
                      <a:r>
                        <a:rPr lang="zh-CN" altLang="en-US" sz="1600" b="0" i="0" baseline="0" dirty="0">
                          <a:latin typeface="Montserrat" panose="00000500000000000000" pitchFamily="2" charset="0"/>
                          <a:ea typeface="微软雅黑 Light" panose="020B0502040204020203" pitchFamily="34" charset="-122"/>
                        </a:rPr>
                        <a:t>全称</a:t>
                      </a:r>
                    </a:p>
                  </a:txBody>
                  <a:tcPr anchor="ctr"/>
                </a:tc>
                <a:tc>
                  <a:txBody>
                    <a:bodyPr/>
                    <a:lstStyle/>
                    <a:p>
                      <a:pPr>
                        <a:lnSpc>
                          <a:spcPct val="150000"/>
                        </a:lnSpc>
                        <a:buNone/>
                      </a:pPr>
                      <a:r>
                        <a:rPr lang="zh-CN" altLang="en-US" sz="1600" b="0" i="0" baseline="0" dirty="0">
                          <a:latin typeface="Montserrat" panose="00000500000000000000" pitchFamily="2" charset="0"/>
                          <a:ea typeface="微软雅黑 Light" panose="020B0502040204020203" pitchFamily="34" charset="-122"/>
                        </a:rPr>
                        <a:t>描述</a:t>
                      </a:r>
                    </a:p>
                  </a:txBody>
                  <a:tcPr anchor="ctr"/>
                </a:tc>
                <a:extLst>
                  <a:ext uri="{0D108BD9-81ED-4DB2-BD59-A6C34878D82A}">
                    <a16:rowId xmlns:a16="http://schemas.microsoft.com/office/drawing/2014/main" val="3522540848"/>
                  </a:ext>
                </a:extLst>
              </a:tr>
              <a:tr h="236917">
                <a:tc>
                  <a:txBody>
                    <a:bodyPr/>
                    <a:lstStyle/>
                    <a:p>
                      <a:pPr>
                        <a:lnSpc>
                          <a:spcPct val="150000"/>
                        </a:lnSpc>
                        <a:buNone/>
                      </a:pPr>
                      <a:r>
                        <a:rPr lang="en-US" altLang="zh-CN" sz="1600" baseline="0" dirty="0"/>
                        <a:t>PMP</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r>
                        <a:rPr lang="en-US" altLang="zh-CN" sz="1600" dirty="0"/>
                        <a:t>Project Management Professional</a:t>
                      </a:r>
                    </a:p>
                  </a:txBody>
                  <a:tcPr anchor="ctr"/>
                </a:tc>
                <a:tc>
                  <a:txBody>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lang="zh-CN" altLang="en-US" sz="1600" dirty="0"/>
                        <a:t>项目管理专业资质认证</a:t>
                      </a:r>
                    </a:p>
                  </a:txBody>
                  <a:tcPr anchor="ctr"/>
                </a:tc>
                <a:extLst>
                  <a:ext uri="{0D108BD9-81ED-4DB2-BD59-A6C34878D82A}">
                    <a16:rowId xmlns:a16="http://schemas.microsoft.com/office/drawing/2014/main" val="4268597692"/>
                  </a:ext>
                </a:extLst>
              </a:tr>
              <a:tr h="236917">
                <a:tc>
                  <a:txBody>
                    <a:bodyPr/>
                    <a:lstStyle/>
                    <a:p>
                      <a:pPr>
                        <a:lnSpc>
                          <a:spcPct val="150000"/>
                        </a:lnSpc>
                        <a:buNone/>
                      </a:pPr>
                      <a:r>
                        <a:rPr lang="en-US" altLang="zh-CN" sz="1600" b="0" i="0" baseline="0">
                          <a:latin typeface="Montserrat" panose="00000500000000000000" pitchFamily="2" charset="0"/>
                          <a:ea typeface="微软雅黑 Light" panose="020B0502040204020203" pitchFamily="34" charset="-122"/>
                        </a:rPr>
                        <a:t>PMI</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r>
                        <a:rPr lang="en-US" altLang="zh-CN" sz="1600" dirty="0"/>
                        <a:t>Project Management Institute</a:t>
                      </a:r>
                    </a:p>
                  </a:txBody>
                  <a:tcPr anchor="ctr"/>
                </a:tc>
                <a:tc>
                  <a:txBody>
                    <a:bodyPr/>
                    <a:lstStyle/>
                    <a:p>
                      <a:pPr>
                        <a:lnSpc>
                          <a:spcPct val="150000"/>
                        </a:lnSpc>
                        <a:buNone/>
                      </a:pPr>
                      <a:r>
                        <a:rPr lang="zh-CN" altLang="en-US" sz="1600" dirty="0"/>
                        <a:t>项目管理委员会</a:t>
                      </a:r>
                      <a:endParaRPr lang="en-US" altLang="zh-CN"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88565667"/>
                  </a:ext>
                </a:extLst>
              </a:tr>
              <a:tr h="236917">
                <a:tc>
                  <a:txBody>
                    <a:bodyPr/>
                    <a:lstStyle/>
                    <a:p>
                      <a:pPr>
                        <a:lnSpc>
                          <a:spcPct val="150000"/>
                        </a:lnSpc>
                        <a:buNone/>
                      </a:pPr>
                      <a:r>
                        <a:rPr lang="en-US" altLang="zh-CN" sz="1600" b="0" i="0" baseline="0" dirty="0">
                          <a:latin typeface="Montserrat" panose="00000500000000000000" pitchFamily="2" charset="0"/>
                          <a:ea typeface="微软雅黑 Light" panose="020B0502040204020203" pitchFamily="34" charset="-122"/>
                        </a:rPr>
                        <a:t>PMBOK 6</a:t>
                      </a:r>
                      <a:r>
                        <a:rPr lang="en-US" altLang="zh-CN" sz="1600" b="0" i="0" baseline="30000" dirty="0">
                          <a:latin typeface="Montserrat" panose="00000500000000000000" pitchFamily="2" charset="0"/>
                          <a:ea typeface="微软雅黑 Light" panose="020B0502040204020203" pitchFamily="34" charset="-122"/>
                        </a:rPr>
                        <a:t>th</a:t>
                      </a:r>
                      <a:endParaRPr lang="zh-CN" altLang="en-US" sz="1600" b="0" i="0" baseline="3000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600" dirty="0"/>
                        <a:t>Project Management Body of Knowledge, 6th Edition</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dirty="0"/>
                        <a:t>项目管理知识体系，第</a:t>
                      </a:r>
                      <a:r>
                        <a:rPr lang="en-US" altLang="zh-CN" sz="1600" dirty="0"/>
                        <a:t>6</a:t>
                      </a:r>
                      <a:r>
                        <a:rPr lang="zh-CN" altLang="en-US" sz="1600" dirty="0"/>
                        <a:t>版</a:t>
                      </a:r>
                      <a:endParaRPr lang="en-US" altLang="zh-CN"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24873842"/>
                  </a:ext>
                </a:extLst>
              </a:tr>
              <a:tr h="236917">
                <a:tc>
                  <a:txBody>
                    <a:bodyPr/>
                    <a:lstStyle/>
                    <a:p>
                      <a:pPr>
                        <a:lnSpc>
                          <a:spcPct val="150000"/>
                        </a:lnSpc>
                        <a:buNone/>
                      </a:pPr>
                      <a:r>
                        <a:rPr lang="en-US" altLang="zh-CN" sz="1600" b="0" i="0" baseline="0" dirty="0">
                          <a:latin typeface="Montserrat" panose="00000500000000000000" pitchFamily="2" charset="0"/>
                          <a:ea typeface="微软雅黑 Light" panose="020B0502040204020203" pitchFamily="34" charset="-122"/>
                        </a:rPr>
                        <a:t>PMBOK 7</a:t>
                      </a:r>
                      <a:r>
                        <a:rPr lang="en-US" altLang="zh-CN" sz="1600" b="0" i="0" baseline="30000" dirty="0">
                          <a:latin typeface="Montserrat" panose="00000500000000000000" pitchFamily="2" charset="0"/>
                          <a:ea typeface="微软雅黑 Light" panose="020B0502040204020203" pitchFamily="34" charset="-122"/>
                        </a:rPr>
                        <a:t>th</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600" dirty="0"/>
                        <a:t>Project Management Body of Knowledge, 7th Edition</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dirty="0"/>
                        <a:t>项目管理知识体系，第</a:t>
                      </a:r>
                      <a:r>
                        <a:rPr lang="en-US" altLang="zh-CN" sz="1600" dirty="0"/>
                        <a:t>7</a:t>
                      </a:r>
                      <a:r>
                        <a:rPr lang="zh-CN" altLang="en-US" sz="1600" dirty="0"/>
                        <a:t>版</a:t>
                      </a:r>
                      <a:endParaRPr lang="en-US" altLang="zh-CN" sz="1600" dirty="0"/>
                    </a:p>
                    <a:p>
                      <a:pPr>
                        <a:lnSpc>
                          <a:spcPct val="150000"/>
                        </a:lnSpc>
                        <a:buNone/>
                      </a:pPr>
                      <a:r>
                        <a:rPr lang="zh-CN" altLang="en-US" sz="1600" b="0" i="0" baseline="0" dirty="0">
                          <a:latin typeface="Montserrat" panose="00000500000000000000" pitchFamily="2" charset="0"/>
                          <a:ea typeface="微软雅黑 Light" panose="020B0502040204020203" pitchFamily="34" charset="-122"/>
                        </a:rPr>
                        <a:t>以交付价值为导向</a:t>
                      </a:r>
                      <a:endParaRPr lang="en-US" altLang="zh-CN"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1342128013"/>
                  </a:ext>
                </a:extLst>
              </a:tr>
            </a:tbl>
          </a:graphicData>
        </a:graphic>
      </p:graphicFrame>
      <p:sp>
        <p:nvSpPr>
          <p:cNvPr id="3" name="矩形 2">
            <a:extLst>
              <a:ext uri="{FF2B5EF4-FFF2-40B4-BE49-F238E27FC236}">
                <a16:creationId xmlns:a16="http://schemas.microsoft.com/office/drawing/2014/main" id="{56340BD9-7EAE-58EB-1EFB-A047DECD5D5C}"/>
              </a:ext>
            </a:extLst>
          </p:cNvPr>
          <p:cNvSpPr/>
          <p:nvPr/>
        </p:nvSpPr>
        <p:spPr>
          <a:xfrm>
            <a:off x="771863" y="3451473"/>
            <a:ext cx="1371600" cy="2740527"/>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7" name="内容占位符 6">
            <a:extLst>
              <a:ext uri="{FF2B5EF4-FFF2-40B4-BE49-F238E27FC236}">
                <a16:creationId xmlns:a16="http://schemas.microsoft.com/office/drawing/2014/main" id="{482F61EF-E5C1-96E9-5279-07BF28F35308}"/>
              </a:ext>
            </a:extLst>
          </p:cNvPr>
          <p:cNvGraphicFramePr>
            <a:graphicFrameLocks noGrp="1"/>
          </p:cNvGraphicFramePr>
          <p:nvPr>
            <p:ph idx="1"/>
            <p:extLst>
              <p:ext uri="{D42A27DB-BD31-4B8C-83A1-F6EECF244321}">
                <p14:modId xmlns:p14="http://schemas.microsoft.com/office/powerpoint/2010/main" val="3138199236"/>
              </p:ext>
            </p:extLst>
          </p:nvPr>
        </p:nvGraphicFramePr>
        <p:xfrm>
          <a:off x="695325" y="3762525"/>
          <a:ext cx="1680167" cy="2079562"/>
        </p:xfrm>
        <a:graphic>
          <a:graphicData uri="http://schemas.openxmlformats.org/drawingml/2006/table">
            <a:tbl>
              <a:tblPr firstRow="1" bandRow="1">
                <a:tableStyleId>{5C22544A-7EE6-4342-B048-85BDC9FD1C3A}</a:tableStyleId>
              </a:tblPr>
              <a:tblGrid>
                <a:gridCol w="1680167">
                  <a:extLst>
                    <a:ext uri="{9D8B030D-6E8A-4147-A177-3AD203B41FA5}">
                      <a16:colId xmlns:a16="http://schemas.microsoft.com/office/drawing/2014/main" val="3766040380"/>
                    </a:ext>
                  </a:extLst>
                </a:gridCol>
              </a:tblGrid>
              <a:tr h="370840">
                <a:tc>
                  <a:txBody>
                    <a:bodyPr/>
                    <a:lstStyle/>
                    <a:p>
                      <a:pPr algn="ctr">
                        <a:lnSpc>
                          <a:spcPct val="150000"/>
                        </a:lnSpc>
                        <a:buNone/>
                      </a:pPr>
                      <a:r>
                        <a:rPr lang="zh-CN" altLang="en-US" sz="1600" b="0" i="0" baseline="0" dirty="0">
                          <a:solidFill>
                            <a:schemeClr val="bg1"/>
                          </a:solidFill>
                          <a:latin typeface="Montserrat" panose="00000500000000000000" pitchFamily="2" charset="0"/>
                          <a:ea typeface="微软雅黑 Light" panose="020B0502040204020203" pitchFamily="34" charset="-122"/>
                        </a:rPr>
                        <a:t>术语</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59951062"/>
                  </a:ext>
                </a:extLst>
              </a:tr>
              <a:tr h="370840">
                <a:tc>
                  <a:txBody>
                    <a:bodyPr/>
                    <a:lstStyle/>
                    <a:p>
                      <a:pPr algn="ctr">
                        <a:lnSpc>
                          <a:spcPct val="150000"/>
                        </a:lnSpc>
                        <a:buNone/>
                      </a:pPr>
                      <a:r>
                        <a:rPr lang="en-US" altLang="zh-CN" sz="1600" baseline="0" dirty="0">
                          <a:solidFill>
                            <a:schemeClr val="bg1"/>
                          </a:solidFill>
                        </a:rPr>
                        <a:t>PMP</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35449991"/>
                  </a:ext>
                </a:extLst>
              </a:tr>
              <a:tr h="370840">
                <a:tc>
                  <a:txBody>
                    <a:bodyPr/>
                    <a:lstStyle/>
                    <a:p>
                      <a:pPr algn="ctr">
                        <a:lnSpc>
                          <a:spcPct val="150000"/>
                        </a:lnSpc>
                        <a:buNone/>
                      </a:pPr>
                      <a:r>
                        <a:rPr lang="en-US" altLang="zh-CN" sz="1600" b="0" i="0" baseline="0" dirty="0">
                          <a:solidFill>
                            <a:schemeClr val="bg1"/>
                          </a:solidFill>
                          <a:latin typeface="Montserrat" panose="00000500000000000000" pitchFamily="2" charset="0"/>
                          <a:ea typeface="微软雅黑 Light" panose="020B0502040204020203" pitchFamily="34" charset="-122"/>
                        </a:rPr>
                        <a:t>PMI</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786421"/>
                  </a:ext>
                </a:extLst>
              </a:tr>
              <a:tr h="370840">
                <a:tc>
                  <a:txBody>
                    <a:bodyPr/>
                    <a:lstStyle/>
                    <a:p>
                      <a:pPr algn="ctr">
                        <a:lnSpc>
                          <a:spcPct val="150000"/>
                        </a:lnSpc>
                        <a:buNone/>
                      </a:pPr>
                      <a:r>
                        <a:rPr lang="en-US" altLang="zh-CN" sz="1600" b="0" i="0" baseline="0" dirty="0">
                          <a:solidFill>
                            <a:schemeClr val="bg1"/>
                          </a:solidFill>
                          <a:latin typeface="Montserrat" panose="00000500000000000000" pitchFamily="2" charset="0"/>
                          <a:ea typeface="微软雅黑 Light" panose="020B0502040204020203" pitchFamily="34" charset="-122"/>
                        </a:rPr>
                        <a:t>PMBOK 6</a:t>
                      </a:r>
                      <a:r>
                        <a:rPr lang="en-US" altLang="zh-CN" sz="1600" b="0" i="0" baseline="30000" dirty="0">
                          <a:solidFill>
                            <a:schemeClr val="bg1"/>
                          </a:solidFill>
                          <a:latin typeface="Montserrat" panose="00000500000000000000" pitchFamily="2" charset="0"/>
                          <a:ea typeface="微软雅黑 Light" panose="020B0502040204020203" pitchFamily="34" charset="-122"/>
                        </a:rPr>
                        <a:t>th</a:t>
                      </a:r>
                      <a:endParaRPr lang="zh-CN" altLang="en-US" sz="1600" b="0" i="0" baseline="3000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46253306"/>
                  </a:ext>
                </a:extLst>
              </a:tr>
              <a:tr h="370840">
                <a:tc>
                  <a:txBody>
                    <a:bodyPr/>
                    <a:lstStyle/>
                    <a:p>
                      <a:pPr algn="ctr">
                        <a:lnSpc>
                          <a:spcPct val="150000"/>
                        </a:lnSpc>
                        <a:buNone/>
                      </a:pPr>
                      <a:r>
                        <a:rPr lang="en-US" altLang="zh-CN" sz="1600" b="0" i="0" baseline="0" dirty="0">
                          <a:solidFill>
                            <a:schemeClr val="bg1"/>
                          </a:solidFill>
                          <a:latin typeface="Montserrat" panose="00000500000000000000" pitchFamily="2" charset="0"/>
                          <a:ea typeface="微软雅黑 Light" panose="020B0502040204020203" pitchFamily="34" charset="-122"/>
                        </a:rPr>
                        <a:t>PMBOK 7</a:t>
                      </a:r>
                      <a:r>
                        <a:rPr lang="en-US" altLang="zh-CN" sz="1600" b="0" i="0" baseline="30000" dirty="0">
                          <a:solidFill>
                            <a:schemeClr val="bg1"/>
                          </a:solidFill>
                          <a:latin typeface="Montserrat" panose="00000500000000000000" pitchFamily="2" charset="0"/>
                          <a:ea typeface="微软雅黑 Light" panose="020B0502040204020203" pitchFamily="34" charset="-122"/>
                        </a:rPr>
                        <a:t>th</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10684257"/>
                  </a:ext>
                </a:extLst>
              </a:tr>
            </a:tbl>
          </a:graphicData>
        </a:graphic>
      </p:graphicFrame>
    </p:spTree>
    <p:extLst>
      <p:ext uri="{BB962C8B-B14F-4D97-AF65-F5344CB8AC3E}">
        <p14:creationId xmlns:p14="http://schemas.microsoft.com/office/powerpoint/2010/main" val="36250521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290990-A3A3-FED8-21B8-78D81BB021EF}"/>
              </a:ext>
            </a:extLst>
          </p:cNvPr>
          <p:cNvSpPr>
            <a:spLocks noGrp="1"/>
          </p:cNvSpPr>
          <p:nvPr>
            <p:ph type="title"/>
          </p:nvPr>
        </p:nvSpPr>
        <p:spPr>
          <a:xfrm>
            <a:off x="696000" y="360000"/>
            <a:ext cx="10800000" cy="424732"/>
          </a:xfrm>
        </p:spPr>
        <p:txBody>
          <a:bodyPr/>
          <a:lstStyle/>
          <a:p>
            <a:r>
              <a:rPr lang="zh-CN" altLang="en-US" dirty="0"/>
              <a:t>五大过程组 </a:t>
            </a:r>
            <a:r>
              <a:rPr lang="en-US" altLang="zh-CN" dirty="0"/>
              <a:t>Project Management Process Groups</a:t>
            </a:r>
            <a:endParaRPr lang="zh-CN" altLang="en-US" dirty="0"/>
          </a:p>
        </p:txBody>
      </p:sp>
      <p:sp>
        <p:nvSpPr>
          <p:cNvPr id="16" name="内容占位符 15">
            <a:extLst>
              <a:ext uri="{FF2B5EF4-FFF2-40B4-BE49-F238E27FC236}">
                <a16:creationId xmlns:a16="http://schemas.microsoft.com/office/drawing/2014/main" id="{AE2E026C-95D9-CF8D-C9AD-B6F0EEE00786}"/>
              </a:ext>
            </a:extLst>
          </p:cNvPr>
          <p:cNvSpPr>
            <a:spLocks noGrp="1"/>
          </p:cNvSpPr>
          <p:nvPr>
            <p:ph idx="1"/>
          </p:nvPr>
        </p:nvSpPr>
        <p:spPr>
          <a:xfrm>
            <a:off x="696000" y="1080000"/>
            <a:ext cx="10800000" cy="5112000"/>
          </a:xfrm>
        </p:spPr>
        <p:txBody>
          <a:bodyPr/>
          <a:lstStyle/>
          <a:p>
            <a:r>
              <a:rPr lang="zh-CN" altLang="en-US" dirty="0"/>
              <a:t>生命周期 </a:t>
            </a:r>
            <a:r>
              <a:rPr lang="en-US" altLang="zh-CN" dirty="0"/>
              <a:t>Lifecycle</a:t>
            </a:r>
          </a:p>
          <a:p>
            <a:r>
              <a:rPr lang="zh-CN" altLang="en-US" dirty="0"/>
              <a:t>阶段 </a:t>
            </a:r>
            <a:r>
              <a:rPr lang="en-US" altLang="zh-CN" dirty="0"/>
              <a:t>Phase</a:t>
            </a:r>
            <a:endParaRPr lang="zh-CN" altLang="en-US" dirty="0"/>
          </a:p>
        </p:txBody>
      </p:sp>
      <p:graphicFrame>
        <p:nvGraphicFramePr>
          <p:cNvPr id="10" name="内容占位符 3">
            <a:extLst>
              <a:ext uri="{FF2B5EF4-FFF2-40B4-BE49-F238E27FC236}">
                <a16:creationId xmlns:a16="http://schemas.microsoft.com/office/drawing/2014/main" id="{1B3CC294-7520-BBD9-FCB2-67410199AEB4}"/>
              </a:ext>
            </a:extLst>
          </p:cNvPr>
          <p:cNvGraphicFramePr>
            <a:graphicFrameLocks/>
          </p:cNvGraphicFramePr>
          <p:nvPr>
            <p:extLst>
              <p:ext uri="{D42A27DB-BD31-4B8C-83A1-F6EECF244321}">
                <p14:modId xmlns:p14="http://schemas.microsoft.com/office/powerpoint/2010/main" val="3930722558"/>
              </p:ext>
            </p:extLst>
          </p:nvPr>
        </p:nvGraphicFramePr>
        <p:xfrm>
          <a:off x="695325" y="2233788"/>
          <a:ext cx="10800000" cy="3958212"/>
        </p:xfrm>
        <a:graphic>
          <a:graphicData uri="http://schemas.openxmlformats.org/drawingml/2006/table">
            <a:tbl>
              <a:tblPr firstRow="1" bandRow="1">
                <a:tableStyleId>{72833802-FEF1-4C79-8D5D-14CF1EAF98D9}</a:tableStyleId>
              </a:tblPr>
              <a:tblGrid>
                <a:gridCol w="3475459">
                  <a:extLst>
                    <a:ext uri="{9D8B030D-6E8A-4147-A177-3AD203B41FA5}">
                      <a16:colId xmlns:a16="http://schemas.microsoft.com/office/drawing/2014/main" val="3401312939"/>
                    </a:ext>
                  </a:extLst>
                </a:gridCol>
                <a:gridCol w="7324541">
                  <a:extLst>
                    <a:ext uri="{9D8B030D-6E8A-4147-A177-3AD203B41FA5}">
                      <a16:colId xmlns:a16="http://schemas.microsoft.com/office/drawing/2014/main" val="370412264"/>
                    </a:ext>
                  </a:extLst>
                </a:gridCol>
              </a:tblGrid>
              <a:tr h="120025">
                <a:tc>
                  <a:txBody>
                    <a:bodyPr/>
                    <a:lstStyle/>
                    <a:p>
                      <a:pPr algn="ctr">
                        <a:lnSpc>
                          <a:spcPct val="150000"/>
                        </a:lnSpc>
                        <a:buNone/>
                      </a:pPr>
                      <a:r>
                        <a:rPr lang="zh-CN" altLang="en-US" sz="1600" b="0" baseline="0" dirty="0"/>
                        <a:t>过程</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0" baseline="0" dirty="0"/>
                        <a:t>主要内容</a:t>
                      </a:r>
                      <a:endParaRPr lang="zh-CN" altLang="en-US"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522540848"/>
                  </a:ext>
                </a:extLst>
              </a:tr>
              <a:tr h="187437">
                <a:tc>
                  <a:txBody>
                    <a:bodyPr/>
                    <a:lstStyle/>
                    <a:p>
                      <a:pPr algn="l">
                        <a:lnSpc>
                          <a:spcPct val="150000"/>
                        </a:lnSpc>
                        <a:buNone/>
                      </a:pPr>
                      <a:r>
                        <a:rPr lang="zh-CN" altLang="en-US" sz="1600" b="0" baseline="0" dirty="0"/>
                        <a:t>启动 </a:t>
                      </a:r>
                      <a:r>
                        <a:rPr lang="en-US" altLang="zh-CN" sz="1600" b="0" baseline="0" dirty="0"/>
                        <a:t>Initiating</a:t>
                      </a:r>
                      <a:endParaRPr lang="en-US" altLang="zh-CN"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0" baseline="0" dirty="0"/>
                        <a:t>定义新项目或阶段，获得授权</a:t>
                      </a:r>
                    </a:p>
                    <a:p>
                      <a:pPr>
                        <a:lnSpc>
                          <a:spcPct val="150000"/>
                        </a:lnSpc>
                        <a:buNone/>
                      </a:pPr>
                      <a:r>
                        <a:rPr lang="zh-CN" altLang="en-US" sz="1600" b="0" baseline="0" dirty="0"/>
                        <a:t>关键输出：项目章程、识别干系人</a:t>
                      </a:r>
                      <a:endParaRPr lang="zh-CN" altLang="en-US"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4268597692"/>
                  </a:ext>
                </a:extLst>
              </a:tr>
              <a:tr h="187437">
                <a:tc>
                  <a:txBody>
                    <a:bodyPr/>
                    <a:lstStyle/>
                    <a:p>
                      <a:pPr algn="l">
                        <a:lnSpc>
                          <a:spcPct val="150000"/>
                        </a:lnSpc>
                        <a:buNone/>
                      </a:pPr>
                      <a:r>
                        <a:rPr lang="zh-CN" altLang="en-US" sz="1600" b="0" baseline="0" dirty="0"/>
                        <a:t>规划 </a:t>
                      </a:r>
                      <a:r>
                        <a:rPr lang="en-US" altLang="zh-CN" sz="1600" b="0" baseline="0" dirty="0"/>
                        <a:t>Planning</a:t>
                      </a:r>
                      <a:endParaRPr lang="en-US" altLang="zh-CN"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0" baseline="0" dirty="0"/>
                        <a:t>制定范围、进度、成本、质量、风险等计划</a:t>
                      </a:r>
                    </a:p>
                    <a:p>
                      <a:pPr>
                        <a:lnSpc>
                          <a:spcPct val="150000"/>
                        </a:lnSpc>
                        <a:buNone/>
                      </a:pPr>
                      <a:r>
                        <a:rPr lang="zh-CN" altLang="en-US" sz="1600" b="0" baseline="0" dirty="0"/>
                        <a:t>占比最大（</a:t>
                      </a:r>
                      <a:r>
                        <a:rPr lang="en-US" altLang="zh-CN" sz="1600" b="0" baseline="0" dirty="0"/>
                        <a:t>24</a:t>
                      </a:r>
                      <a:r>
                        <a:rPr lang="zh-CN" altLang="en-US" sz="1600" b="0" baseline="0" dirty="0"/>
                        <a:t>个过程），强调“滚动式规划</a:t>
                      </a:r>
                      <a:endParaRPr lang="zh-CN" altLang="en-US"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88565667"/>
                  </a:ext>
                </a:extLst>
              </a:tr>
              <a:tr h="187437">
                <a:tc>
                  <a:txBody>
                    <a:bodyPr/>
                    <a:lstStyle/>
                    <a:p>
                      <a:pPr algn="l">
                        <a:lnSpc>
                          <a:spcPct val="150000"/>
                        </a:lnSpc>
                        <a:buNone/>
                      </a:pPr>
                      <a:r>
                        <a:rPr lang="zh-CN" altLang="en-US" sz="1600" b="0" baseline="0" dirty="0"/>
                        <a:t>执行 </a:t>
                      </a:r>
                      <a:r>
                        <a:rPr lang="en-US" altLang="zh-CN" sz="1600" b="0" baseline="0" dirty="0"/>
                        <a:t>Executing</a:t>
                      </a:r>
                      <a:endParaRPr lang="en-US" altLang="zh-CN"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0" baseline="0" dirty="0"/>
                        <a:t>完成项目工作，满足范围说明书要求。</a:t>
                      </a:r>
                    </a:p>
                    <a:p>
                      <a:pPr>
                        <a:lnSpc>
                          <a:spcPct val="150000"/>
                        </a:lnSpc>
                        <a:buNone/>
                      </a:pPr>
                      <a:r>
                        <a:rPr lang="zh-CN" altLang="en-US" sz="1600" b="0" baseline="0" dirty="0"/>
                        <a:t>包括团队建设、质量保证、采购实施等</a:t>
                      </a:r>
                      <a:endParaRPr lang="zh-CN" altLang="en-US"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24873842"/>
                  </a:ext>
                </a:extLst>
              </a:tr>
              <a:tr h="187437">
                <a:tc>
                  <a:txBody>
                    <a:bodyPr/>
                    <a:lstStyle/>
                    <a:p>
                      <a:pPr algn="l">
                        <a:lnSpc>
                          <a:spcPct val="150000"/>
                        </a:lnSpc>
                        <a:buNone/>
                      </a:pPr>
                      <a:r>
                        <a:rPr lang="zh-CN" altLang="en-US" sz="1600" b="0" baseline="0" dirty="0"/>
                        <a:t>监控 </a:t>
                      </a:r>
                      <a:r>
                        <a:rPr lang="en-US" altLang="zh-CN" sz="1600" b="0" baseline="0" dirty="0"/>
                        <a:t>Monitoring &amp; Controlling</a:t>
                      </a:r>
                      <a:endParaRPr lang="en-US" altLang="zh-CN"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0" baseline="0" dirty="0"/>
                        <a:t>跟踪、审查和调整项目进展与绩效</a:t>
                      </a:r>
                    </a:p>
                    <a:p>
                      <a:pPr>
                        <a:lnSpc>
                          <a:spcPct val="150000"/>
                        </a:lnSpc>
                        <a:buNone/>
                      </a:pPr>
                      <a:r>
                        <a:rPr lang="zh-CN" altLang="en-US" sz="1600" b="0" baseline="0" dirty="0"/>
                        <a:t>核心：变更控制和偏差分析</a:t>
                      </a:r>
                      <a:endParaRPr lang="zh-CN" altLang="en-US"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821566994"/>
                  </a:ext>
                </a:extLst>
              </a:tr>
              <a:tr h="187437">
                <a:tc>
                  <a:txBody>
                    <a:bodyPr/>
                    <a:lstStyle/>
                    <a:p>
                      <a:pPr algn="l">
                        <a:lnSpc>
                          <a:spcPct val="150000"/>
                        </a:lnSpc>
                        <a:buNone/>
                      </a:pPr>
                      <a:r>
                        <a:rPr lang="zh-CN" altLang="en-US" sz="1600" b="0" baseline="0" dirty="0"/>
                        <a:t>收尾 </a:t>
                      </a:r>
                      <a:r>
                        <a:rPr lang="en-US" altLang="zh-CN" sz="1600" b="0" baseline="0" dirty="0"/>
                        <a:t>Closing</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0" baseline="0" dirty="0"/>
                        <a:t>正式结束项目或阶段，移交成果，总结经验</a:t>
                      </a:r>
                      <a:endParaRPr lang="zh-CN" altLang="en-US"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4161976425"/>
                  </a:ext>
                </a:extLst>
              </a:tr>
            </a:tbl>
          </a:graphicData>
        </a:graphic>
      </p:graphicFrame>
    </p:spTree>
    <p:extLst>
      <p:ext uri="{BB962C8B-B14F-4D97-AF65-F5344CB8AC3E}">
        <p14:creationId xmlns:p14="http://schemas.microsoft.com/office/powerpoint/2010/main" val="401639732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D8917EB-CB8B-937C-591C-8A6BA9392578}"/>
              </a:ext>
            </a:extLst>
          </p:cNvPr>
          <p:cNvSpPr>
            <a:spLocks noGrp="1"/>
          </p:cNvSpPr>
          <p:nvPr>
            <p:ph type="title"/>
          </p:nvPr>
        </p:nvSpPr>
        <p:spPr>
          <a:xfrm>
            <a:off x="696000" y="360000"/>
            <a:ext cx="10800000" cy="424732"/>
          </a:xfrm>
        </p:spPr>
        <p:txBody>
          <a:bodyPr/>
          <a:lstStyle/>
          <a:p>
            <a:r>
              <a:rPr lang="zh-CN" altLang="en-US" dirty="0"/>
              <a:t>十大知识领域 </a:t>
            </a:r>
            <a:r>
              <a:rPr lang="en-US" altLang="zh-CN" dirty="0"/>
              <a:t>Knowledge Areas</a:t>
            </a:r>
            <a:endParaRPr lang="zh-CN" altLang="en-US" dirty="0"/>
          </a:p>
        </p:txBody>
      </p:sp>
      <p:sp>
        <p:nvSpPr>
          <p:cNvPr id="8" name="内容占位符 7">
            <a:extLst>
              <a:ext uri="{FF2B5EF4-FFF2-40B4-BE49-F238E27FC236}">
                <a16:creationId xmlns:a16="http://schemas.microsoft.com/office/drawing/2014/main" id="{0A6EFE26-E49C-31A1-5896-E5D9251BEB71}"/>
              </a:ext>
            </a:extLst>
          </p:cNvPr>
          <p:cNvSpPr>
            <a:spLocks noGrp="1"/>
          </p:cNvSpPr>
          <p:nvPr>
            <p:ph idx="1"/>
          </p:nvPr>
        </p:nvSpPr>
        <p:spPr>
          <a:xfrm>
            <a:off x="696000" y="1080000"/>
            <a:ext cx="10800000" cy="5112000"/>
          </a:xfrm>
        </p:spPr>
        <p:txBody>
          <a:bodyPr/>
          <a:lstStyle/>
          <a:p>
            <a:endParaRPr lang="zh-CN" altLang="en-US"/>
          </a:p>
        </p:txBody>
      </p:sp>
      <p:graphicFrame>
        <p:nvGraphicFramePr>
          <p:cNvPr id="9" name="内容占位符 3">
            <a:extLst>
              <a:ext uri="{FF2B5EF4-FFF2-40B4-BE49-F238E27FC236}">
                <a16:creationId xmlns:a16="http://schemas.microsoft.com/office/drawing/2014/main" id="{C1F4BF11-4C89-7F9F-E67E-D373E4D93433}"/>
              </a:ext>
            </a:extLst>
          </p:cNvPr>
          <p:cNvGraphicFramePr>
            <a:graphicFrameLocks/>
          </p:cNvGraphicFramePr>
          <p:nvPr>
            <p:extLst>
              <p:ext uri="{D42A27DB-BD31-4B8C-83A1-F6EECF244321}">
                <p14:modId xmlns:p14="http://schemas.microsoft.com/office/powerpoint/2010/main" val="651832195"/>
              </p:ext>
            </p:extLst>
          </p:nvPr>
        </p:nvGraphicFramePr>
        <p:xfrm>
          <a:off x="695325" y="1616888"/>
          <a:ext cx="10801350" cy="4575112"/>
        </p:xfrm>
        <a:graphic>
          <a:graphicData uri="http://schemas.openxmlformats.org/drawingml/2006/table">
            <a:tbl>
              <a:tblPr firstRow="1" bandRow="1">
                <a:tableStyleId>{72833802-FEF1-4C79-8D5D-14CF1EAF98D9}</a:tableStyleId>
              </a:tblPr>
              <a:tblGrid>
                <a:gridCol w="3699393">
                  <a:extLst>
                    <a:ext uri="{9D8B030D-6E8A-4147-A177-3AD203B41FA5}">
                      <a16:colId xmlns:a16="http://schemas.microsoft.com/office/drawing/2014/main" val="3401312939"/>
                    </a:ext>
                  </a:extLst>
                </a:gridCol>
                <a:gridCol w="5766319">
                  <a:extLst>
                    <a:ext uri="{9D8B030D-6E8A-4147-A177-3AD203B41FA5}">
                      <a16:colId xmlns:a16="http://schemas.microsoft.com/office/drawing/2014/main" val="370412264"/>
                    </a:ext>
                  </a:extLst>
                </a:gridCol>
                <a:gridCol w="1335638">
                  <a:extLst>
                    <a:ext uri="{9D8B030D-6E8A-4147-A177-3AD203B41FA5}">
                      <a16:colId xmlns:a16="http://schemas.microsoft.com/office/drawing/2014/main" val="1004544071"/>
                    </a:ext>
                  </a:extLst>
                </a:gridCol>
              </a:tblGrid>
              <a:tr h="236917">
                <a:tc>
                  <a:txBody>
                    <a:bodyPr/>
                    <a:lstStyle/>
                    <a:p>
                      <a:pPr>
                        <a:lnSpc>
                          <a:spcPct val="150000"/>
                        </a:lnSpc>
                        <a:buNone/>
                      </a:pPr>
                      <a:r>
                        <a:rPr lang="zh-CN" altLang="en-US" sz="1600" baseline="0" dirty="0"/>
                        <a:t>知识领域</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aseline="0"/>
                        <a:t>主要内容</a:t>
                      </a:r>
                      <a:endParaRPr lang="zh-CN" altLang="en-US" sz="1600" b="0" i="0" baseline="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aseline="0"/>
                        <a:t>过程数</a:t>
                      </a:r>
                      <a:endParaRPr lang="zh-CN" altLang="en-US" sz="1600" b="0" i="0" baseline="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522540848"/>
                  </a:ext>
                </a:extLst>
              </a:tr>
              <a:tr h="236917">
                <a:tc>
                  <a:txBody>
                    <a:bodyPr/>
                    <a:lstStyle/>
                    <a:p>
                      <a:pPr>
                        <a:lnSpc>
                          <a:spcPct val="150000"/>
                        </a:lnSpc>
                        <a:buNone/>
                      </a:pPr>
                      <a:r>
                        <a:rPr lang="zh-CN" altLang="en-US" sz="1600" baseline="0" dirty="0"/>
                        <a:t>项目整合管理 </a:t>
                      </a:r>
                      <a:r>
                        <a:rPr lang="en-US" altLang="zh-CN" sz="1600" baseline="0" dirty="0"/>
                        <a:t>Integration </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aseline="0" dirty="0"/>
                        <a:t>统一协调各过程，如制定章程、项目管理计划、变更控制</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600" baseline="0" dirty="0"/>
                        <a:t>7</a:t>
                      </a:r>
                      <a:endParaRPr lang="en-US" altLang="zh-CN"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4268597692"/>
                  </a:ext>
                </a:extLst>
              </a:tr>
              <a:tr h="236917">
                <a:tc>
                  <a:txBody>
                    <a:bodyPr/>
                    <a:lstStyle/>
                    <a:p>
                      <a:pPr>
                        <a:lnSpc>
                          <a:spcPct val="150000"/>
                        </a:lnSpc>
                        <a:buNone/>
                      </a:pPr>
                      <a:r>
                        <a:rPr lang="zh-CN" altLang="en-US" sz="1600" baseline="0" dirty="0"/>
                        <a:t>项目范围管理 </a:t>
                      </a:r>
                      <a:r>
                        <a:rPr lang="en-US" altLang="zh-CN" sz="1600" baseline="0" dirty="0"/>
                        <a:t>Scope</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aseline="0" dirty="0"/>
                        <a:t>定义和控制“做哪些工作”，防止范围蔓延</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600" baseline="0" dirty="0"/>
                        <a:t>6</a:t>
                      </a:r>
                      <a:endParaRPr lang="en-US" altLang="zh-CN"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88565667"/>
                  </a:ext>
                </a:extLst>
              </a:tr>
              <a:tr h="236917">
                <a:tc>
                  <a:txBody>
                    <a:bodyPr/>
                    <a:lstStyle/>
                    <a:p>
                      <a:pPr>
                        <a:lnSpc>
                          <a:spcPct val="150000"/>
                        </a:lnSpc>
                        <a:buNone/>
                      </a:pPr>
                      <a:r>
                        <a:rPr lang="zh-CN" altLang="en-US" sz="1600" baseline="0" dirty="0"/>
                        <a:t>项目进度管理 </a:t>
                      </a:r>
                      <a:r>
                        <a:rPr lang="en-US" altLang="zh-CN" sz="1600" baseline="0" dirty="0"/>
                        <a:t>Schedule </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aseline="0" dirty="0"/>
                        <a:t>活动定义、排序、估算、制定进度计划</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600" baseline="0" dirty="0"/>
                        <a:t>6</a:t>
                      </a:r>
                      <a:endParaRPr lang="en-US" altLang="zh-CN"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24873842"/>
                  </a:ext>
                </a:extLst>
              </a:tr>
              <a:tr h="236917">
                <a:tc>
                  <a:txBody>
                    <a:bodyPr/>
                    <a:lstStyle/>
                    <a:p>
                      <a:pPr>
                        <a:lnSpc>
                          <a:spcPct val="150000"/>
                        </a:lnSpc>
                        <a:buNone/>
                      </a:pPr>
                      <a:r>
                        <a:rPr lang="zh-CN" altLang="en-US" sz="1600" baseline="0" dirty="0"/>
                        <a:t>项目成本管理 </a:t>
                      </a:r>
                      <a:r>
                        <a:rPr lang="en-US" altLang="zh-CN" sz="1600" baseline="0" dirty="0"/>
                        <a:t>Cost</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aseline="0"/>
                        <a:t>估算、预算、控制成本</a:t>
                      </a:r>
                      <a:endParaRPr lang="zh-CN" altLang="en-US" sz="1600" b="0" i="0" baseline="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600" baseline="0" dirty="0"/>
                        <a:t>4</a:t>
                      </a:r>
                      <a:endParaRPr lang="en-US" altLang="zh-CN"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821566994"/>
                  </a:ext>
                </a:extLst>
              </a:tr>
              <a:tr h="236917">
                <a:tc>
                  <a:txBody>
                    <a:bodyPr/>
                    <a:lstStyle/>
                    <a:p>
                      <a:pPr>
                        <a:lnSpc>
                          <a:spcPct val="150000"/>
                        </a:lnSpc>
                        <a:buNone/>
                      </a:pPr>
                      <a:r>
                        <a:rPr lang="zh-CN" altLang="en-US" sz="1600" baseline="0" dirty="0"/>
                        <a:t>项目质量管理 </a:t>
                      </a:r>
                      <a:r>
                        <a:rPr lang="en-US" altLang="zh-CN" sz="1600" baseline="0" dirty="0"/>
                        <a:t>Quality</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aseline="0"/>
                        <a:t>规划质量、管理质量、控制质量</a:t>
                      </a:r>
                      <a:endParaRPr lang="zh-CN" altLang="en-US" sz="1600" b="0" i="0" baseline="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600" baseline="0" dirty="0"/>
                        <a:t>3</a:t>
                      </a:r>
                      <a:endParaRPr lang="en-US" altLang="zh-CN"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4161976425"/>
                  </a:ext>
                </a:extLst>
              </a:tr>
              <a:tr h="236917">
                <a:tc>
                  <a:txBody>
                    <a:bodyPr/>
                    <a:lstStyle/>
                    <a:p>
                      <a:pPr>
                        <a:lnSpc>
                          <a:spcPct val="150000"/>
                        </a:lnSpc>
                        <a:buNone/>
                      </a:pPr>
                      <a:r>
                        <a:rPr lang="zh-CN" altLang="en-US" sz="1600" baseline="0" dirty="0"/>
                        <a:t>项目资源管理 </a:t>
                      </a:r>
                      <a:r>
                        <a:rPr lang="en-US" altLang="zh-CN" sz="1600" baseline="0" dirty="0"/>
                        <a:t>Resource</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aseline="0"/>
                        <a:t>获取、发展、管理团队及实物资源</a:t>
                      </a:r>
                      <a:endParaRPr lang="zh-CN" altLang="en-US" sz="1600" b="0" i="0" baseline="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600" baseline="0" dirty="0"/>
                        <a:t>6</a:t>
                      </a:r>
                      <a:endParaRPr lang="en-US" altLang="zh-CN"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43909409"/>
                  </a:ext>
                </a:extLst>
              </a:tr>
              <a:tr h="236917">
                <a:tc>
                  <a:txBody>
                    <a:bodyPr/>
                    <a:lstStyle/>
                    <a:p>
                      <a:pPr>
                        <a:lnSpc>
                          <a:spcPct val="150000"/>
                        </a:lnSpc>
                        <a:buNone/>
                      </a:pPr>
                      <a:r>
                        <a:rPr lang="zh-CN" altLang="en-US" sz="1600" baseline="0" dirty="0"/>
                        <a:t>项目沟通管理 </a:t>
                      </a:r>
                      <a:r>
                        <a:rPr lang="en-US" altLang="zh-CN" sz="1600" baseline="0" dirty="0"/>
                        <a:t>Communication</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aseline="0"/>
                        <a:t>规划、管理、监督沟通</a:t>
                      </a:r>
                      <a:endParaRPr lang="zh-CN" altLang="en-US" sz="1600" b="0" i="0" baseline="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600" baseline="0" dirty="0"/>
                        <a:t>3</a:t>
                      </a:r>
                      <a:endParaRPr lang="en-US" altLang="zh-CN"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773125882"/>
                  </a:ext>
                </a:extLst>
              </a:tr>
              <a:tr h="236917">
                <a:tc>
                  <a:txBody>
                    <a:bodyPr/>
                    <a:lstStyle/>
                    <a:p>
                      <a:pPr>
                        <a:lnSpc>
                          <a:spcPct val="150000"/>
                        </a:lnSpc>
                        <a:buNone/>
                      </a:pPr>
                      <a:r>
                        <a:rPr lang="zh-CN" altLang="en-US" sz="1600" baseline="0" dirty="0"/>
                        <a:t>项目风险管理 </a:t>
                      </a:r>
                      <a:r>
                        <a:rPr lang="en-US" altLang="zh-CN" sz="1600" baseline="0" dirty="0"/>
                        <a:t>Risk</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aseline="0" dirty="0"/>
                        <a:t>识别、分析、应对不确定性</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600" baseline="0" dirty="0"/>
                        <a:t>7</a:t>
                      </a:r>
                      <a:endParaRPr lang="en-US" altLang="zh-CN"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104933583"/>
                  </a:ext>
                </a:extLst>
              </a:tr>
              <a:tr h="236917">
                <a:tc>
                  <a:txBody>
                    <a:bodyPr/>
                    <a:lstStyle/>
                    <a:p>
                      <a:pPr>
                        <a:lnSpc>
                          <a:spcPct val="150000"/>
                        </a:lnSpc>
                        <a:buNone/>
                      </a:pPr>
                      <a:r>
                        <a:rPr lang="zh-CN" altLang="en-US" sz="1600" baseline="0" dirty="0"/>
                        <a:t>项目采购管理 </a:t>
                      </a:r>
                      <a:r>
                        <a:rPr lang="en-US" altLang="zh-CN" sz="1600" baseline="0" dirty="0"/>
                        <a:t>Procurement</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aseline="0"/>
                        <a:t>从外部获取产品</a:t>
                      </a:r>
                      <a:r>
                        <a:rPr lang="en-US" altLang="zh-CN" sz="1600" baseline="0"/>
                        <a:t>/</a:t>
                      </a:r>
                      <a:r>
                        <a:rPr lang="zh-CN" altLang="en-US" sz="1600" baseline="0"/>
                        <a:t>服务</a:t>
                      </a:r>
                      <a:endParaRPr lang="zh-CN" altLang="en-US" sz="1600" b="0" i="0" baseline="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600" baseline="0" dirty="0"/>
                        <a:t>3</a:t>
                      </a:r>
                      <a:endParaRPr lang="en-US" altLang="zh-CN"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855479412"/>
                  </a:ext>
                </a:extLst>
              </a:tr>
              <a:tr h="236917">
                <a:tc>
                  <a:txBody>
                    <a:bodyPr/>
                    <a:lstStyle/>
                    <a:p>
                      <a:pPr>
                        <a:lnSpc>
                          <a:spcPct val="150000"/>
                        </a:lnSpc>
                        <a:buNone/>
                      </a:pPr>
                      <a:r>
                        <a:rPr lang="zh-CN" altLang="en-US" sz="1600" baseline="0" dirty="0"/>
                        <a:t>项目干系人管理 </a:t>
                      </a:r>
                      <a:r>
                        <a:rPr lang="en-US" altLang="zh-CN" sz="1600" baseline="0" dirty="0"/>
                        <a:t>Stakeholder</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aseline="0" dirty="0"/>
                        <a:t>识别干系人、制定参与策略、管理期望</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600" baseline="0" dirty="0"/>
                        <a:t>4</a:t>
                      </a:r>
                      <a:endParaRPr lang="en-US" altLang="zh-CN"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216840895"/>
                  </a:ext>
                </a:extLst>
              </a:tr>
            </a:tbl>
          </a:graphicData>
        </a:graphic>
      </p:graphicFrame>
    </p:spTree>
    <p:extLst>
      <p:ext uri="{BB962C8B-B14F-4D97-AF65-F5344CB8AC3E}">
        <p14:creationId xmlns:p14="http://schemas.microsoft.com/office/powerpoint/2010/main" val="21183863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图片占位符 6">
            <a:extLst>
              <a:ext uri="{FF2B5EF4-FFF2-40B4-BE49-F238E27FC236}">
                <a16:creationId xmlns:a16="http://schemas.microsoft.com/office/drawing/2014/main" id="{10224068-D407-57C1-CCDD-F5466BC70627}"/>
              </a:ext>
            </a:extLst>
          </p:cNvPr>
          <p:cNvPicPr>
            <a:picLocks noGrp="1" noChangeAspect="1"/>
          </p:cNvPicPr>
          <p:nvPr>
            <p:ph type="pic" sz="quarter" idx="10"/>
          </p:nvPr>
        </p:nvPicPr>
        <p:blipFill>
          <a:blip r:embed="rId2"/>
          <a:srcRect l="18363" r="18363"/>
          <a:stretch/>
        </p:blipFill>
        <p:spPr>
          <a:xfrm>
            <a:off x="0" y="0"/>
            <a:ext cx="7912359" cy="6858000"/>
          </a:xfrm>
        </p:spPr>
      </p:pic>
      <p:sp>
        <p:nvSpPr>
          <p:cNvPr id="4" name="标题 3">
            <a:extLst>
              <a:ext uri="{FF2B5EF4-FFF2-40B4-BE49-F238E27FC236}">
                <a16:creationId xmlns:a16="http://schemas.microsoft.com/office/drawing/2014/main" id="{ADC12093-39A9-AFCE-9943-147B6807D0A2}"/>
              </a:ext>
            </a:extLst>
          </p:cNvPr>
          <p:cNvSpPr>
            <a:spLocks noGrp="1"/>
          </p:cNvSpPr>
          <p:nvPr>
            <p:ph type="ctrTitle"/>
          </p:nvPr>
        </p:nvSpPr>
        <p:spPr>
          <a:xfrm>
            <a:off x="4077578" y="3498981"/>
            <a:ext cx="7262228" cy="1440000"/>
          </a:xfrm>
        </p:spPr>
        <p:txBody>
          <a:bodyPr/>
          <a:lstStyle/>
          <a:p>
            <a:r>
              <a:rPr lang="zh-CN" altLang="en-US" dirty="0"/>
              <a:t>敏捷开发</a:t>
            </a:r>
          </a:p>
        </p:txBody>
      </p:sp>
      <p:sp>
        <p:nvSpPr>
          <p:cNvPr id="5" name="副标题 4">
            <a:extLst>
              <a:ext uri="{FF2B5EF4-FFF2-40B4-BE49-F238E27FC236}">
                <a16:creationId xmlns:a16="http://schemas.microsoft.com/office/drawing/2014/main" id="{DDF973D3-72E6-837C-15FE-0AA1A9C8166B}"/>
              </a:ext>
            </a:extLst>
          </p:cNvPr>
          <p:cNvSpPr>
            <a:spLocks noGrp="1"/>
          </p:cNvSpPr>
          <p:nvPr>
            <p:ph type="subTitle" idx="1"/>
          </p:nvPr>
        </p:nvSpPr>
        <p:spPr>
          <a:xfrm>
            <a:off x="4077578" y="4938981"/>
            <a:ext cx="7262228" cy="900000"/>
          </a:xfrm>
        </p:spPr>
        <p:txBody>
          <a:bodyPr/>
          <a:lstStyle/>
          <a:p>
            <a:r>
              <a:rPr lang="en-US" altLang="zh-CN" dirty="0"/>
              <a:t>Agile Development</a:t>
            </a:r>
            <a:endParaRPr lang="zh-CN" altLang="en-US" dirty="0"/>
          </a:p>
        </p:txBody>
      </p:sp>
      <p:sp>
        <p:nvSpPr>
          <p:cNvPr id="11" name="文本占位符 10">
            <a:extLst>
              <a:ext uri="{FF2B5EF4-FFF2-40B4-BE49-F238E27FC236}">
                <a16:creationId xmlns:a16="http://schemas.microsoft.com/office/drawing/2014/main" id="{72220D6F-3B93-B8EC-FF87-D0185A2D8587}"/>
              </a:ext>
            </a:extLst>
          </p:cNvPr>
          <p:cNvSpPr>
            <a:spLocks noGrp="1"/>
          </p:cNvSpPr>
          <p:nvPr>
            <p:ph type="body" sz="quarter" idx="11"/>
          </p:nvPr>
        </p:nvSpPr>
        <p:spPr/>
        <p:txBody>
          <a:bodyPr/>
          <a:lstStyle/>
          <a:p>
            <a:endParaRPr lang="zh-CN" altLang="en-US" dirty="0"/>
          </a:p>
        </p:txBody>
      </p:sp>
    </p:spTree>
    <p:extLst>
      <p:ext uri="{BB962C8B-B14F-4D97-AF65-F5344CB8AC3E}">
        <p14:creationId xmlns:p14="http://schemas.microsoft.com/office/powerpoint/2010/main" val="14118239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8C551F2-6FE6-E657-FA8F-F68CE8FC82D7}"/>
              </a:ext>
            </a:extLst>
          </p:cNvPr>
          <p:cNvSpPr>
            <a:spLocks noGrp="1"/>
          </p:cNvSpPr>
          <p:nvPr>
            <p:ph type="title"/>
          </p:nvPr>
        </p:nvSpPr>
        <p:spPr/>
        <p:txBody>
          <a:bodyPr/>
          <a:lstStyle/>
          <a:p>
            <a:r>
              <a:rPr lang="en-US" altLang="zh-CN" dirty="0"/>
              <a:t>Case 1</a:t>
            </a:r>
            <a:endParaRPr lang="zh-CN" altLang="en-US" dirty="0"/>
          </a:p>
        </p:txBody>
      </p:sp>
      <p:sp>
        <p:nvSpPr>
          <p:cNvPr id="11" name="内容占位符 10">
            <a:extLst>
              <a:ext uri="{FF2B5EF4-FFF2-40B4-BE49-F238E27FC236}">
                <a16:creationId xmlns:a16="http://schemas.microsoft.com/office/drawing/2014/main" id="{B4E6B4E2-5A7F-1FCD-F7C2-B1853197308A}"/>
              </a:ext>
            </a:extLst>
          </p:cNvPr>
          <p:cNvSpPr>
            <a:spLocks noGrp="1"/>
          </p:cNvSpPr>
          <p:nvPr>
            <p:ph idx="1"/>
          </p:nvPr>
        </p:nvSpPr>
        <p:spPr/>
        <p:txBody>
          <a:bodyPr/>
          <a:lstStyle/>
          <a:p>
            <a:r>
              <a:rPr lang="en-US" altLang="zh-CN" dirty="0"/>
              <a:t>Client </a:t>
            </a:r>
            <a:r>
              <a:rPr lang="zh-CN" altLang="en-US" dirty="0"/>
              <a:t>不知道需求</a:t>
            </a:r>
          </a:p>
        </p:txBody>
      </p:sp>
      <p:pic>
        <p:nvPicPr>
          <p:cNvPr id="12" name="内容占位符 4" descr="男人">
            <a:extLst>
              <a:ext uri="{FF2B5EF4-FFF2-40B4-BE49-F238E27FC236}">
                <a16:creationId xmlns:a16="http://schemas.microsoft.com/office/drawing/2014/main" id="{946485A4-AE83-C5CE-6A48-6FB70BB2DCB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63734" y="3567500"/>
            <a:ext cx="914400" cy="914400"/>
          </a:xfrm>
          <a:prstGeom prst="rect">
            <a:avLst/>
          </a:prstGeom>
        </p:spPr>
      </p:pic>
      <p:pic>
        <p:nvPicPr>
          <p:cNvPr id="13" name="图形 12" descr="妇女">
            <a:extLst>
              <a:ext uri="{FF2B5EF4-FFF2-40B4-BE49-F238E27FC236}">
                <a16:creationId xmlns:a16="http://schemas.microsoft.com/office/drawing/2014/main" id="{5A12281A-450C-A64B-2134-FF0F8D5B4E8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213999" y="3567500"/>
            <a:ext cx="914400" cy="914400"/>
          </a:xfrm>
          <a:prstGeom prst="rect">
            <a:avLst/>
          </a:prstGeom>
        </p:spPr>
      </p:pic>
      <p:sp>
        <p:nvSpPr>
          <p:cNvPr id="14" name="思想气泡: 云 13">
            <a:extLst>
              <a:ext uri="{FF2B5EF4-FFF2-40B4-BE49-F238E27FC236}">
                <a16:creationId xmlns:a16="http://schemas.microsoft.com/office/drawing/2014/main" id="{7C49250D-BBB0-1FFC-6A0F-E9B346BF33AE}"/>
              </a:ext>
            </a:extLst>
          </p:cNvPr>
          <p:cNvSpPr/>
          <p:nvPr/>
        </p:nvSpPr>
        <p:spPr>
          <a:xfrm>
            <a:off x="3413710" y="2514600"/>
            <a:ext cx="1364776" cy="914400"/>
          </a:xfrm>
          <a:prstGeom prst="cloudCallout">
            <a:avLst>
              <a:gd name="adj1" fmla="val 26936"/>
              <a:gd name="adj2" fmla="val 69907"/>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chemeClr val="tx1"/>
                </a:solidFill>
              </a:rPr>
              <a:t>？？？</a:t>
            </a:r>
          </a:p>
        </p:txBody>
      </p:sp>
    </p:spTree>
    <p:extLst>
      <p:ext uri="{BB962C8B-B14F-4D97-AF65-F5344CB8AC3E}">
        <p14:creationId xmlns:p14="http://schemas.microsoft.com/office/powerpoint/2010/main" val="31606470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196AD-3D08-7346-2936-6979D293F08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2A959-596A-C88F-F148-B85FDE540D2F}"/>
              </a:ext>
            </a:extLst>
          </p:cNvPr>
          <p:cNvSpPr>
            <a:spLocks noGrp="1"/>
          </p:cNvSpPr>
          <p:nvPr>
            <p:ph type="title"/>
          </p:nvPr>
        </p:nvSpPr>
        <p:spPr/>
        <p:txBody>
          <a:bodyPr/>
          <a:lstStyle/>
          <a:p>
            <a:r>
              <a:rPr lang="en-US" altLang="zh-CN" dirty="0"/>
              <a:t>Case 2</a:t>
            </a:r>
            <a:endParaRPr lang="zh-CN" altLang="en-US" dirty="0"/>
          </a:p>
        </p:txBody>
      </p:sp>
      <p:sp>
        <p:nvSpPr>
          <p:cNvPr id="6" name="内容占位符 5">
            <a:extLst>
              <a:ext uri="{FF2B5EF4-FFF2-40B4-BE49-F238E27FC236}">
                <a16:creationId xmlns:a16="http://schemas.microsoft.com/office/drawing/2014/main" id="{C8EDB4A1-7B95-7B17-5B05-BFF09711378C}"/>
              </a:ext>
            </a:extLst>
          </p:cNvPr>
          <p:cNvSpPr>
            <a:spLocks noGrp="1"/>
          </p:cNvSpPr>
          <p:nvPr>
            <p:ph idx="1"/>
          </p:nvPr>
        </p:nvSpPr>
        <p:spPr/>
        <p:txBody>
          <a:bodyPr/>
          <a:lstStyle/>
          <a:p>
            <a:r>
              <a:rPr lang="en-US" altLang="zh-CN" dirty="0"/>
              <a:t>Client </a:t>
            </a:r>
            <a:r>
              <a:rPr lang="zh-CN" altLang="en-US" dirty="0"/>
              <a:t>知道需求，但是表达错误</a:t>
            </a:r>
          </a:p>
        </p:txBody>
      </p:sp>
      <p:pic>
        <p:nvPicPr>
          <p:cNvPr id="8" name="内容占位符 4" descr="男人">
            <a:extLst>
              <a:ext uri="{FF2B5EF4-FFF2-40B4-BE49-F238E27FC236}">
                <a16:creationId xmlns:a16="http://schemas.microsoft.com/office/drawing/2014/main" id="{1FEDB702-4B99-B75E-CC3A-CC2E676653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63734" y="3567500"/>
            <a:ext cx="914400" cy="914400"/>
          </a:xfrm>
          <a:prstGeom prst="rect">
            <a:avLst/>
          </a:prstGeom>
        </p:spPr>
      </p:pic>
      <p:pic>
        <p:nvPicPr>
          <p:cNvPr id="10" name="图形 9" descr="妇女">
            <a:extLst>
              <a:ext uri="{FF2B5EF4-FFF2-40B4-BE49-F238E27FC236}">
                <a16:creationId xmlns:a16="http://schemas.microsoft.com/office/drawing/2014/main" id="{FC9F066E-8DB2-87F6-F20A-50C12CD64CD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213999" y="3567500"/>
            <a:ext cx="914400" cy="914400"/>
          </a:xfrm>
          <a:prstGeom prst="rect">
            <a:avLst/>
          </a:prstGeom>
        </p:spPr>
      </p:pic>
      <p:sp>
        <p:nvSpPr>
          <p:cNvPr id="11" name="思想气泡: 云 10">
            <a:extLst>
              <a:ext uri="{FF2B5EF4-FFF2-40B4-BE49-F238E27FC236}">
                <a16:creationId xmlns:a16="http://schemas.microsoft.com/office/drawing/2014/main" id="{EA78D8F5-4510-AB68-8011-C7005792AB88}"/>
              </a:ext>
            </a:extLst>
          </p:cNvPr>
          <p:cNvSpPr/>
          <p:nvPr/>
        </p:nvSpPr>
        <p:spPr>
          <a:xfrm>
            <a:off x="3413710" y="2514600"/>
            <a:ext cx="1364776" cy="914400"/>
          </a:xfrm>
          <a:prstGeom prst="cloudCallout">
            <a:avLst>
              <a:gd name="adj1" fmla="val 26936"/>
              <a:gd name="adj2" fmla="val 69907"/>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a:t>
            </a:r>
            <a:endParaRPr lang="zh-CN" altLang="en-US" sz="1200" dirty="0">
              <a:solidFill>
                <a:schemeClr val="tx1"/>
              </a:solidFill>
            </a:endParaRPr>
          </a:p>
        </p:txBody>
      </p:sp>
      <p:sp>
        <p:nvSpPr>
          <p:cNvPr id="12" name="思想气泡: 云 11">
            <a:extLst>
              <a:ext uri="{FF2B5EF4-FFF2-40B4-BE49-F238E27FC236}">
                <a16:creationId xmlns:a16="http://schemas.microsoft.com/office/drawing/2014/main" id="{4FB31F1F-F801-5426-BC72-84EA641D04DA}"/>
              </a:ext>
            </a:extLst>
          </p:cNvPr>
          <p:cNvSpPr/>
          <p:nvPr/>
        </p:nvSpPr>
        <p:spPr>
          <a:xfrm>
            <a:off x="4963679" y="2971800"/>
            <a:ext cx="1364776" cy="914400"/>
          </a:xfrm>
          <a:prstGeom prst="cloudCallout">
            <a:avLst>
              <a:gd name="adj1" fmla="val -53712"/>
              <a:gd name="adj2" fmla="val 51388"/>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B</a:t>
            </a:r>
            <a:endParaRPr lang="zh-CN" altLang="en-US" sz="1200" dirty="0">
              <a:solidFill>
                <a:schemeClr val="tx1"/>
              </a:solidFill>
            </a:endParaRPr>
          </a:p>
        </p:txBody>
      </p:sp>
    </p:spTree>
    <p:extLst>
      <p:ext uri="{BB962C8B-B14F-4D97-AF65-F5344CB8AC3E}">
        <p14:creationId xmlns:p14="http://schemas.microsoft.com/office/powerpoint/2010/main" val="20414213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2AD060-A758-056A-0006-A87053C16C1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43F1DB2-F92D-8D96-E9E3-66491A119E2F}"/>
              </a:ext>
            </a:extLst>
          </p:cNvPr>
          <p:cNvSpPr>
            <a:spLocks noGrp="1"/>
          </p:cNvSpPr>
          <p:nvPr>
            <p:ph type="title"/>
          </p:nvPr>
        </p:nvSpPr>
        <p:spPr/>
        <p:txBody>
          <a:bodyPr/>
          <a:lstStyle/>
          <a:p>
            <a:r>
              <a:rPr lang="en-US" altLang="zh-CN" dirty="0"/>
              <a:t>Case 3</a:t>
            </a:r>
            <a:endParaRPr lang="zh-CN" altLang="en-US" dirty="0"/>
          </a:p>
        </p:txBody>
      </p:sp>
      <p:sp>
        <p:nvSpPr>
          <p:cNvPr id="6" name="内容占位符 5">
            <a:extLst>
              <a:ext uri="{FF2B5EF4-FFF2-40B4-BE49-F238E27FC236}">
                <a16:creationId xmlns:a16="http://schemas.microsoft.com/office/drawing/2014/main" id="{26DFE599-B5B5-9DA9-3995-53591EB745F3}"/>
              </a:ext>
            </a:extLst>
          </p:cNvPr>
          <p:cNvSpPr>
            <a:spLocks noGrp="1"/>
          </p:cNvSpPr>
          <p:nvPr>
            <p:ph idx="1"/>
          </p:nvPr>
        </p:nvSpPr>
        <p:spPr/>
        <p:txBody>
          <a:bodyPr/>
          <a:lstStyle/>
          <a:p>
            <a:r>
              <a:rPr lang="en-US" altLang="zh-CN" dirty="0"/>
              <a:t>Client </a:t>
            </a:r>
            <a:r>
              <a:rPr lang="zh-CN" altLang="en-US" dirty="0"/>
              <a:t>知道并清晰传达需求</a:t>
            </a:r>
            <a:endParaRPr lang="en-US" altLang="zh-CN" dirty="0"/>
          </a:p>
          <a:p>
            <a:r>
              <a:rPr lang="zh-CN" altLang="en-US" dirty="0"/>
              <a:t>交互时，需求发生变化</a:t>
            </a:r>
          </a:p>
        </p:txBody>
      </p:sp>
      <p:pic>
        <p:nvPicPr>
          <p:cNvPr id="8" name="内容占位符 4" descr="男人">
            <a:extLst>
              <a:ext uri="{FF2B5EF4-FFF2-40B4-BE49-F238E27FC236}">
                <a16:creationId xmlns:a16="http://schemas.microsoft.com/office/drawing/2014/main" id="{5021FD43-3E88-FEF7-0E04-4CA8E798810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63734" y="3567500"/>
            <a:ext cx="914400" cy="914400"/>
          </a:xfrm>
          <a:prstGeom prst="rect">
            <a:avLst/>
          </a:prstGeom>
        </p:spPr>
      </p:pic>
      <p:pic>
        <p:nvPicPr>
          <p:cNvPr id="10" name="图形 9" descr="妇女">
            <a:extLst>
              <a:ext uri="{FF2B5EF4-FFF2-40B4-BE49-F238E27FC236}">
                <a16:creationId xmlns:a16="http://schemas.microsoft.com/office/drawing/2014/main" id="{DA235D09-5ECC-788B-099D-70909130D42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213999" y="3567500"/>
            <a:ext cx="914400" cy="914400"/>
          </a:xfrm>
          <a:prstGeom prst="rect">
            <a:avLst/>
          </a:prstGeom>
        </p:spPr>
      </p:pic>
      <p:sp>
        <p:nvSpPr>
          <p:cNvPr id="11" name="思想气泡: 云 10">
            <a:extLst>
              <a:ext uri="{FF2B5EF4-FFF2-40B4-BE49-F238E27FC236}">
                <a16:creationId xmlns:a16="http://schemas.microsoft.com/office/drawing/2014/main" id="{06746333-38A1-56B4-289E-B5B010AD751F}"/>
              </a:ext>
            </a:extLst>
          </p:cNvPr>
          <p:cNvSpPr/>
          <p:nvPr/>
        </p:nvSpPr>
        <p:spPr>
          <a:xfrm>
            <a:off x="3413710" y="2514600"/>
            <a:ext cx="1364776" cy="914400"/>
          </a:xfrm>
          <a:prstGeom prst="cloudCallout">
            <a:avLst>
              <a:gd name="adj1" fmla="val 26936"/>
              <a:gd name="adj2" fmla="val 69907"/>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 </a:t>
            </a:r>
            <a:r>
              <a:rPr lang="zh-CN" altLang="en-US" sz="1200" dirty="0">
                <a:solidFill>
                  <a:schemeClr val="tx1"/>
                </a:solidFill>
              </a:rPr>
              <a:t>→ </a:t>
            </a:r>
            <a:r>
              <a:rPr lang="en-US" altLang="zh-CN" sz="1200" dirty="0">
                <a:solidFill>
                  <a:schemeClr val="tx1"/>
                </a:solidFill>
              </a:rPr>
              <a:t>B</a:t>
            </a:r>
            <a:endParaRPr lang="zh-CN" altLang="en-US" sz="1200" dirty="0">
              <a:solidFill>
                <a:schemeClr val="tx1"/>
              </a:solidFill>
            </a:endParaRPr>
          </a:p>
        </p:txBody>
      </p:sp>
      <p:sp>
        <p:nvSpPr>
          <p:cNvPr id="12" name="思想气泡: 云 11">
            <a:extLst>
              <a:ext uri="{FF2B5EF4-FFF2-40B4-BE49-F238E27FC236}">
                <a16:creationId xmlns:a16="http://schemas.microsoft.com/office/drawing/2014/main" id="{60B0CA74-E7F0-FC6F-4CB0-60C879442836}"/>
              </a:ext>
            </a:extLst>
          </p:cNvPr>
          <p:cNvSpPr/>
          <p:nvPr/>
        </p:nvSpPr>
        <p:spPr>
          <a:xfrm>
            <a:off x="4963679" y="2971800"/>
            <a:ext cx="1364776" cy="914400"/>
          </a:xfrm>
          <a:prstGeom prst="cloudCallout">
            <a:avLst>
              <a:gd name="adj1" fmla="val 51131"/>
              <a:gd name="adj2" fmla="val 52314"/>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a:t>
            </a:r>
            <a:endParaRPr lang="zh-CN" altLang="en-US" sz="1200" dirty="0">
              <a:solidFill>
                <a:schemeClr val="tx1"/>
              </a:solidFill>
            </a:endParaRPr>
          </a:p>
        </p:txBody>
      </p:sp>
    </p:spTree>
    <p:extLst>
      <p:ext uri="{BB962C8B-B14F-4D97-AF65-F5344CB8AC3E}">
        <p14:creationId xmlns:p14="http://schemas.microsoft.com/office/powerpoint/2010/main" val="370346623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3BC7EB-E318-C55C-BB9B-86B69CD269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5F8FBA1-6DB0-F80A-5C74-F1736ECDE370}"/>
              </a:ext>
            </a:extLst>
          </p:cNvPr>
          <p:cNvSpPr>
            <a:spLocks noGrp="1"/>
          </p:cNvSpPr>
          <p:nvPr>
            <p:ph type="title"/>
          </p:nvPr>
        </p:nvSpPr>
        <p:spPr/>
        <p:txBody>
          <a:bodyPr/>
          <a:lstStyle/>
          <a:p>
            <a:r>
              <a:rPr lang="en-US" altLang="zh-CN" dirty="0"/>
              <a:t>Case 4</a:t>
            </a:r>
            <a:endParaRPr lang="zh-CN" altLang="en-US" dirty="0"/>
          </a:p>
        </p:txBody>
      </p:sp>
      <p:sp>
        <p:nvSpPr>
          <p:cNvPr id="6" name="内容占位符 5">
            <a:extLst>
              <a:ext uri="{FF2B5EF4-FFF2-40B4-BE49-F238E27FC236}">
                <a16:creationId xmlns:a16="http://schemas.microsoft.com/office/drawing/2014/main" id="{64F63BB2-1921-1535-20EC-B2A0881AD77B}"/>
              </a:ext>
            </a:extLst>
          </p:cNvPr>
          <p:cNvSpPr>
            <a:spLocks noGrp="1"/>
          </p:cNvSpPr>
          <p:nvPr>
            <p:ph idx="1"/>
          </p:nvPr>
        </p:nvSpPr>
        <p:spPr/>
        <p:txBody>
          <a:bodyPr/>
          <a:lstStyle/>
          <a:p>
            <a:r>
              <a:rPr lang="zh-CN" altLang="en-US" dirty="0"/>
              <a:t>团队无法领悟或理解有偏差</a:t>
            </a:r>
          </a:p>
        </p:txBody>
      </p:sp>
      <p:sp>
        <p:nvSpPr>
          <p:cNvPr id="11" name="思想气泡: 云 10">
            <a:extLst>
              <a:ext uri="{FF2B5EF4-FFF2-40B4-BE49-F238E27FC236}">
                <a16:creationId xmlns:a16="http://schemas.microsoft.com/office/drawing/2014/main" id="{D5317B92-3613-F7BA-B8F1-A70B5385D705}"/>
              </a:ext>
            </a:extLst>
          </p:cNvPr>
          <p:cNvSpPr/>
          <p:nvPr/>
        </p:nvSpPr>
        <p:spPr>
          <a:xfrm>
            <a:off x="3413710" y="2514600"/>
            <a:ext cx="1364776" cy="914400"/>
          </a:xfrm>
          <a:prstGeom prst="cloudCallout">
            <a:avLst>
              <a:gd name="adj1" fmla="val 26936"/>
              <a:gd name="adj2" fmla="val 69907"/>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a:t>
            </a:r>
            <a:endParaRPr lang="zh-CN" altLang="en-US" sz="1200" dirty="0">
              <a:solidFill>
                <a:schemeClr val="tx1"/>
              </a:solidFill>
            </a:endParaRPr>
          </a:p>
        </p:txBody>
      </p:sp>
      <p:sp>
        <p:nvSpPr>
          <p:cNvPr id="12" name="思想气泡: 云 11">
            <a:extLst>
              <a:ext uri="{FF2B5EF4-FFF2-40B4-BE49-F238E27FC236}">
                <a16:creationId xmlns:a16="http://schemas.microsoft.com/office/drawing/2014/main" id="{1A43EA31-7F2E-9167-5603-1A74157CCDBB}"/>
              </a:ext>
            </a:extLst>
          </p:cNvPr>
          <p:cNvSpPr/>
          <p:nvPr/>
        </p:nvSpPr>
        <p:spPr>
          <a:xfrm>
            <a:off x="6292947" y="2514600"/>
            <a:ext cx="1364776" cy="914400"/>
          </a:xfrm>
          <a:prstGeom prst="cloudCallout">
            <a:avLst>
              <a:gd name="adj1" fmla="val -35721"/>
              <a:gd name="adj2" fmla="val 70833"/>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chemeClr val="tx1"/>
                </a:solidFill>
              </a:rPr>
              <a:t>？？？</a:t>
            </a:r>
            <a:r>
              <a:rPr lang="en-US" altLang="zh-CN" sz="1200" dirty="0">
                <a:solidFill>
                  <a:schemeClr val="tx1"/>
                </a:solidFill>
              </a:rPr>
              <a:t>/ B</a:t>
            </a:r>
            <a:endParaRPr lang="zh-CN" altLang="en-US" sz="1200" dirty="0">
              <a:solidFill>
                <a:schemeClr val="tx1"/>
              </a:solidFill>
            </a:endParaRPr>
          </a:p>
        </p:txBody>
      </p:sp>
      <p:pic>
        <p:nvPicPr>
          <p:cNvPr id="3" name="内容占位符 4" descr="男人">
            <a:extLst>
              <a:ext uri="{FF2B5EF4-FFF2-40B4-BE49-F238E27FC236}">
                <a16:creationId xmlns:a16="http://schemas.microsoft.com/office/drawing/2014/main" id="{179C1D82-66F3-08BA-876B-6D6FF460942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213999" y="3567500"/>
            <a:ext cx="914400" cy="914400"/>
          </a:xfrm>
          <a:prstGeom prst="rect">
            <a:avLst/>
          </a:prstGeom>
        </p:spPr>
      </p:pic>
      <p:pic>
        <p:nvPicPr>
          <p:cNvPr id="5" name="图形 4" descr="男人群">
            <a:extLst>
              <a:ext uri="{FF2B5EF4-FFF2-40B4-BE49-F238E27FC236}">
                <a16:creationId xmlns:a16="http://schemas.microsoft.com/office/drawing/2014/main" id="{10CF149A-3219-47E6-5104-A65692BF793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163734" y="3567500"/>
            <a:ext cx="914400" cy="914400"/>
          </a:xfrm>
          <a:prstGeom prst="rect">
            <a:avLst/>
          </a:prstGeom>
        </p:spPr>
      </p:pic>
    </p:spTree>
    <p:extLst>
      <p:ext uri="{BB962C8B-B14F-4D97-AF65-F5344CB8AC3E}">
        <p14:creationId xmlns:p14="http://schemas.microsoft.com/office/powerpoint/2010/main" val="42303715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6D5A39-B517-647B-429A-CD8A6D37390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91364FF-53CE-CC8A-F232-D9C411CCAD93}"/>
              </a:ext>
            </a:extLst>
          </p:cNvPr>
          <p:cNvSpPr>
            <a:spLocks noGrp="1"/>
          </p:cNvSpPr>
          <p:nvPr>
            <p:ph type="title"/>
          </p:nvPr>
        </p:nvSpPr>
        <p:spPr/>
        <p:txBody>
          <a:bodyPr/>
          <a:lstStyle/>
          <a:p>
            <a:r>
              <a:rPr lang="en-US" altLang="zh-CN" dirty="0"/>
              <a:t>Case 5</a:t>
            </a:r>
            <a:endParaRPr lang="zh-CN" altLang="en-US" dirty="0"/>
          </a:p>
        </p:txBody>
      </p:sp>
      <p:sp>
        <p:nvSpPr>
          <p:cNvPr id="6" name="内容占位符 5">
            <a:extLst>
              <a:ext uri="{FF2B5EF4-FFF2-40B4-BE49-F238E27FC236}">
                <a16:creationId xmlns:a16="http://schemas.microsoft.com/office/drawing/2014/main" id="{DFF00A53-48EB-9A50-193D-FC009AFB8227}"/>
              </a:ext>
            </a:extLst>
          </p:cNvPr>
          <p:cNvSpPr>
            <a:spLocks noGrp="1"/>
          </p:cNvSpPr>
          <p:nvPr>
            <p:ph idx="1"/>
          </p:nvPr>
        </p:nvSpPr>
        <p:spPr/>
        <p:txBody>
          <a:bodyPr/>
          <a:lstStyle/>
          <a:p>
            <a:r>
              <a:rPr lang="zh-CN" altLang="en-US" dirty="0"/>
              <a:t>大环境变化、发生不可抗力因素</a:t>
            </a:r>
          </a:p>
        </p:txBody>
      </p:sp>
      <p:sp>
        <p:nvSpPr>
          <p:cNvPr id="11" name="思想气泡: 云 10">
            <a:extLst>
              <a:ext uri="{FF2B5EF4-FFF2-40B4-BE49-F238E27FC236}">
                <a16:creationId xmlns:a16="http://schemas.microsoft.com/office/drawing/2014/main" id="{17414C63-64EA-04AF-BD71-D022B1D5B3CA}"/>
              </a:ext>
            </a:extLst>
          </p:cNvPr>
          <p:cNvSpPr/>
          <p:nvPr/>
        </p:nvSpPr>
        <p:spPr>
          <a:xfrm>
            <a:off x="3413710" y="2514600"/>
            <a:ext cx="1364776" cy="914400"/>
          </a:xfrm>
          <a:prstGeom prst="cloudCallout">
            <a:avLst>
              <a:gd name="adj1" fmla="val 26936"/>
              <a:gd name="adj2" fmla="val 69907"/>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a:t>
            </a:r>
            <a:endParaRPr lang="zh-CN" altLang="en-US" sz="1200" dirty="0">
              <a:solidFill>
                <a:schemeClr val="tx1"/>
              </a:solidFill>
            </a:endParaRPr>
          </a:p>
        </p:txBody>
      </p:sp>
      <p:sp>
        <p:nvSpPr>
          <p:cNvPr id="12" name="思想气泡: 云 11">
            <a:extLst>
              <a:ext uri="{FF2B5EF4-FFF2-40B4-BE49-F238E27FC236}">
                <a16:creationId xmlns:a16="http://schemas.microsoft.com/office/drawing/2014/main" id="{5376AA21-9A1B-AAB2-6F44-BBE749871FC5}"/>
              </a:ext>
            </a:extLst>
          </p:cNvPr>
          <p:cNvSpPr/>
          <p:nvPr/>
        </p:nvSpPr>
        <p:spPr>
          <a:xfrm>
            <a:off x="6292947" y="2514600"/>
            <a:ext cx="1364776" cy="914400"/>
          </a:xfrm>
          <a:prstGeom prst="cloudCallout">
            <a:avLst>
              <a:gd name="adj1" fmla="val -35721"/>
              <a:gd name="adj2" fmla="val 70833"/>
            </a:avLst>
          </a:prstGeom>
          <a:solidFill>
            <a:schemeClr val="accent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A</a:t>
            </a:r>
            <a:endParaRPr lang="zh-CN" altLang="en-US" sz="1200" dirty="0">
              <a:solidFill>
                <a:schemeClr val="bg1"/>
              </a:solidFill>
            </a:endParaRPr>
          </a:p>
        </p:txBody>
      </p:sp>
      <p:pic>
        <p:nvPicPr>
          <p:cNvPr id="4" name="内容占位符 4" descr="男人">
            <a:extLst>
              <a:ext uri="{FF2B5EF4-FFF2-40B4-BE49-F238E27FC236}">
                <a16:creationId xmlns:a16="http://schemas.microsoft.com/office/drawing/2014/main" id="{05C51AB8-DB60-4791-1880-623C77C4A7E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63734" y="3567500"/>
            <a:ext cx="914400" cy="914400"/>
          </a:xfrm>
          <a:prstGeom prst="rect">
            <a:avLst/>
          </a:prstGeom>
        </p:spPr>
      </p:pic>
      <p:pic>
        <p:nvPicPr>
          <p:cNvPr id="7" name="图形 6" descr="妇女">
            <a:extLst>
              <a:ext uri="{FF2B5EF4-FFF2-40B4-BE49-F238E27FC236}">
                <a16:creationId xmlns:a16="http://schemas.microsoft.com/office/drawing/2014/main" id="{8ADAC87F-2967-A4F7-76F8-6FDCE999DDF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213999" y="3567500"/>
            <a:ext cx="914400" cy="914400"/>
          </a:xfrm>
          <a:prstGeom prst="rect">
            <a:avLst/>
          </a:prstGeom>
        </p:spPr>
      </p:pic>
    </p:spTree>
    <p:extLst>
      <p:ext uri="{BB962C8B-B14F-4D97-AF65-F5344CB8AC3E}">
        <p14:creationId xmlns:p14="http://schemas.microsoft.com/office/powerpoint/2010/main" val="318647633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图形 21" descr="实心填充的悲伤表情">
            <a:extLst>
              <a:ext uri="{FF2B5EF4-FFF2-40B4-BE49-F238E27FC236}">
                <a16:creationId xmlns:a16="http://schemas.microsoft.com/office/drawing/2014/main" id="{C9CC4B4F-81BD-2DB3-B2AF-2A79A5710EB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788800" y="3196800"/>
            <a:ext cx="914400" cy="914400"/>
          </a:xfrm>
          <a:prstGeom prst="rect">
            <a:avLst/>
          </a:prstGeom>
        </p:spPr>
      </p:pic>
      <p:pic>
        <p:nvPicPr>
          <p:cNvPr id="24" name="图形 23" descr="清单">
            <a:extLst>
              <a:ext uri="{FF2B5EF4-FFF2-40B4-BE49-F238E27FC236}">
                <a16:creationId xmlns:a16="http://schemas.microsoft.com/office/drawing/2014/main" id="{AD72BE5B-0F0D-9E99-914F-2BC132AAAC7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228800" y="3196800"/>
            <a:ext cx="914400" cy="914400"/>
          </a:xfrm>
          <a:prstGeom prst="rect">
            <a:avLst/>
          </a:prstGeom>
        </p:spPr>
      </p:pic>
      <p:sp>
        <p:nvSpPr>
          <p:cNvPr id="2" name="标题 1">
            <a:extLst>
              <a:ext uri="{FF2B5EF4-FFF2-40B4-BE49-F238E27FC236}">
                <a16:creationId xmlns:a16="http://schemas.microsoft.com/office/drawing/2014/main" id="{67BA8A10-CF2C-DF01-D27A-B573024D8872}"/>
              </a:ext>
            </a:extLst>
          </p:cNvPr>
          <p:cNvSpPr>
            <a:spLocks noGrp="1"/>
          </p:cNvSpPr>
          <p:nvPr>
            <p:ph type="title"/>
          </p:nvPr>
        </p:nvSpPr>
        <p:spPr/>
        <p:txBody>
          <a:bodyPr/>
          <a:lstStyle/>
          <a:p>
            <a:r>
              <a:rPr lang="en-US" altLang="zh-CN" dirty="0"/>
              <a:t>Conclusion</a:t>
            </a:r>
            <a:endParaRPr lang="zh-CN" altLang="en-US" dirty="0"/>
          </a:p>
        </p:txBody>
      </p:sp>
      <p:pic>
        <p:nvPicPr>
          <p:cNvPr id="20" name="内容占位符 19" descr="居家">
            <a:extLst>
              <a:ext uri="{FF2B5EF4-FFF2-40B4-BE49-F238E27FC236}">
                <a16:creationId xmlns:a16="http://schemas.microsoft.com/office/drawing/2014/main" id="{5E1DEA80-994A-A0AA-95B2-4E9EB03B5356}"/>
              </a:ext>
            </a:extLst>
          </p:cNvPr>
          <p:cNvPicPr>
            <a:picLocks noGrp="1" noChangeAspect="1"/>
          </p:cNvPicPr>
          <p:nvPr>
            <p:ph idx="1"/>
          </p:nvPr>
        </p:nvPicPr>
        <p:blipFill>
          <a:blip r:embed="rId7">
            <a:extLst>
              <a:ext uri="{96DAC541-7B7A-43D3-8B79-37D633B846F1}">
                <asvg:svgBlip xmlns:asvg="http://schemas.microsoft.com/office/drawing/2016/SVG/main" r:embed="rId8"/>
              </a:ext>
            </a:extLst>
          </a:blip>
          <a:stretch>
            <a:fillRect/>
          </a:stretch>
        </p:blipFill>
        <p:spPr>
          <a:xfrm>
            <a:off x="4348800" y="3196800"/>
            <a:ext cx="914400" cy="914400"/>
          </a:xfrm>
        </p:spPr>
      </p:pic>
    </p:spTree>
    <p:extLst>
      <p:ext uri="{BB962C8B-B14F-4D97-AF65-F5344CB8AC3E}">
        <p14:creationId xmlns:p14="http://schemas.microsoft.com/office/powerpoint/2010/main" val="6652189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ADE250D-6EB2-9770-26EA-3883317C1CB1}"/>
              </a:ext>
            </a:extLst>
          </p:cNvPr>
          <p:cNvSpPr>
            <a:spLocks noGrp="1"/>
          </p:cNvSpPr>
          <p:nvPr>
            <p:ph type="title"/>
          </p:nvPr>
        </p:nvSpPr>
        <p:spPr/>
        <p:txBody>
          <a:bodyPr/>
          <a:lstStyle/>
          <a:p>
            <a:r>
              <a:rPr lang="en-US" altLang="zh-CN" dirty="0"/>
              <a:t>Cases</a:t>
            </a:r>
            <a:endParaRPr lang="zh-CN" altLang="en-US" dirty="0"/>
          </a:p>
        </p:txBody>
      </p:sp>
      <p:sp>
        <p:nvSpPr>
          <p:cNvPr id="3" name="内容占位符 2">
            <a:extLst>
              <a:ext uri="{FF2B5EF4-FFF2-40B4-BE49-F238E27FC236}">
                <a16:creationId xmlns:a16="http://schemas.microsoft.com/office/drawing/2014/main" id="{A2584458-8F52-9896-AC0B-F971AF737472}"/>
              </a:ext>
            </a:extLst>
          </p:cNvPr>
          <p:cNvSpPr>
            <a:spLocks noGrp="1"/>
          </p:cNvSpPr>
          <p:nvPr>
            <p:ph idx="1"/>
          </p:nvPr>
        </p:nvSpPr>
        <p:spPr/>
        <p:txBody>
          <a:bodyPr/>
          <a:lstStyle/>
          <a:p>
            <a:r>
              <a:rPr lang="zh-CN" altLang="en-US" dirty="0"/>
              <a:t>部分可用、阶段可用、多次交付</a:t>
            </a:r>
            <a:endParaRPr lang="en-US" altLang="zh-CN" dirty="0"/>
          </a:p>
          <a:p>
            <a:r>
              <a:rPr lang="zh-CN" altLang="en-US" dirty="0"/>
              <a:t>试水</a:t>
            </a:r>
            <a:endParaRPr lang="en-US" altLang="zh-CN" dirty="0"/>
          </a:p>
          <a:p>
            <a:r>
              <a:rPr lang="zh-CN" altLang="en-US" dirty="0"/>
              <a:t>看市场反映</a:t>
            </a:r>
            <a:endParaRPr lang="en-US" altLang="zh-CN" dirty="0"/>
          </a:p>
          <a:p>
            <a:r>
              <a:rPr lang="zh-CN" altLang="en-US" dirty="0"/>
              <a:t>及时止损</a:t>
            </a:r>
          </a:p>
        </p:txBody>
      </p:sp>
    </p:spTree>
    <p:extLst>
      <p:ext uri="{BB962C8B-B14F-4D97-AF65-F5344CB8AC3E}">
        <p14:creationId xmlns:p14="http://schemas.microsoft.com/office/powerpoint/2010/main" val="253547486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D0F49E-FB0F-5357-6A08-33C3C75459CB}"/>
              </a:ext>
            </a:extLst>
          </p:cNvPr>
          <p:cNvSpPr>
            <a:spLocks noGrp="1"/>
          </p:cNvSpPr>
          <p:nvPr>
            <p:ph type="title"/>
          </p:nvPr>
        </p:nvSpPr>
        <p:spPr>
          <a:xfrm>
            <a:off x="696000" y="360000"/>
            <a:ext cx="5400000" cy="424732"/>
          </a:xfrm>
        </p:spPr>
        <p:txBody>
          <a:bodyPr/>
          <a:lstStyle/>
          <a:p>
            <a:r>
              <a:rPr lang="zh-CN" altLang="en-US" dirty="0"/>
              <a:t>敏捷宣言 </a:t>
            </a:r>
            <a:r>
              <a:rPr lang="en-US" altLang="zh-CN" dirty="0"/>
              <a:t>Manifesto</a:t>
            </a:r>
            <a:endParaRPr lang="zh-CN" altLang="en-US" dirty="0"/>
          </a:p>
        </p:txBody>
      </p:sp>
      <p:sp>
        <p:nvSpPr>
          <p:cNvPr id="3" name="内容占位符 2">
            <a:extLst>
              <a:ext uri="{FF2B5EF4-FFF2-40B4-BE49-F238E27FC236}">
                <a16:creationId xmlns:a16="http://schemas.microsoft.com/office/drawing/2014/main" id="{740A8104-58F8-B7FC-F758-820F715C8DA3}"/>
              </a:ext>
            </a:extLst>
          </p:cNvPr>
          <p:cNvSpPr>
            <a:spLocks noGrp="1"/>
          </p:cNvSpPr>
          <p:nvPr>
            <p:ph idx="1"/>
          </p:nvPr>
        </p:nvSpPr>
        <p:spPr>
          <a:xfrm>
            <a:off x="696000" y="1080000"/>
            <a:ext cx="10800000" cy="5112000"/>
          </a:xfrm>
        </p:spPr>
        <p:txBody>
          <a:bodyPr/>
          <a:lstStyle/>
          <a:p>
            <a:r>
              <a:rPr lang="zh-CN" altLang="en-US" dirty="0"/>
              <a:t>敏捷软件开发宣言，简称敏捷宣言 </a:t>
            </a:r>
            <a:endParaRPr lang="en-US" altLang="zh-CN" dirty="0"/>
          </a:p>
          <a:p>
            <a:r>
              <a:rPr lang="en-US" altLang="zh-CN" dirty="0"/>
              <a:t>Manifesto for Agile Software Development</a:t>
            </a:r>
          </a:p>
          <a:p>
            <a:r>
              <a:rPr lang="en-US" altLang="zh-CN" dirty="0"/>
              <a:t>2001</a:t>
            </a:r>
            <a:r>
              <a:rPr lang="zh-CN" altLang="en-US" dirty="0"/>
              <a:t>年，</a:t>
            </a:r>
            <a:r>
              <a:rPr lang="en-US" altLang="zh-CN" dirty="0"/>
              <a:t>17</a:t>
            </a:r>
            <a:r>
              <a:rPr lang="zh-CN" altLang="en-US" dirty="0"/>
              <a:t>位软件开发专家在美国犹他州雪鸟滑雪度假村聚会，共同起草</a:t>
            </a:r>
            <a:endParaRPr lang="en-US" altLang="zh-CN" dirty="0"/>
          </a:p>
          <a:p>
            <a:r>
              <a:rPr lang="zh-CN" altLang="en-US" dirty="0"/>
              <a:t>应对迅速变化需求的快速软件开发方法</a:t>
            </a:r>
          </a:p>
          <a:p>
            <a:r>
              <a:rPr lang="zh-CN" altLang="en-US" dirty="0"/>
              <a:t>是一种迭代、循序渐进的开发方法</a:t>
            </a:r>
            <a:endParaRPr lang="en-US" altLang="zh-CN" dirty="0"/>
          </a:p>
          <a:p>
            <a:r>
              <a:rPr lang="zh-CN" altLang="en-US" dirty="0"/>
              <a:t>敏捷是一种思维模式</a:t>
            </a:r>
            <a:endParaRPr lang="en-US" altLang="zh-CN" dirty="0"/>
          </a:p>
          <a:p>
            <a:endParaRPr lang="en-US" altLang="zh-CN" dirty="0"/>
          </a:p>
          <a:p>
            <a:endParaRPr lang="en-US" altLang="zh-CN" dirty="0"/>
          </a:p>
        </p:txBody>
      </p:sp>
      <p:sp>
        <p:nvSpPr>
          <p:cNvPr id="9" name="文本占位符 8">
            <a:extLst>
              <a:ext uri="{FF2B5EF4-FFF2-40B4-BE49-F238E27FC236}">
                <a16:creationId xmlns:a16="http://schemas.microsoft.com/office/drawing/2014/main" id="{77F24199-1982-7096-8E97-BE02B9BC6B49}"/>
              </a:ext>
            </a:extLst>
          </p:cNvPr>
          <p:cNvSpPr>
            <a:spLocks noGrp="1"/>
          </p:cNvSpPr>
          <p:nvPr>
            <p:ph type="body" sz="quarter" idx="10"/>
          </p:nvPr>
        </p:nvSpPr>
        <p:spPr/>
        <p:txBody>
          <a:bodyPr/>
          <a:lstStyle/>
          <a:p>
            <a:endParaRPr lang="zh-CN" altLang="en-US"/>
          </a:p>
        </p:txBody>
      </p:sp>
      <p:sp>
        <p:nvSpPr>
          <p:cNvPr id="6" name="文本框 5">
            <a:extLst>
              <a:ext uri="{FF2B5EF4-FFF2-40B4-BE49-F238E27FC236}">
                <a16:creationId xmlns:a16="http://schemas.microsoft.com/office/drawing/2014/main" id="{A95BC040-B8D3-AE12-64EE-BE02F88BE487}"/>
              </a:ext>
            </a:extLst>
          </p:cNvPr>
          <p:cNvSpPr txBox="1"/>
          <p:nvPr/>
        </p:nvSpPr>
        <p:spPr>
          <a:xfrm>
            <a:off x="696000" y="5044359"/>
            <a:ext cx="10800001" cy="1147641"/>
          </a:xfrm>
          <a:prstGeom prst="rect">
            <a:avLst/>
          </a:prstGeom>
          <a:solidFill>
            <a:schemeClr val="accent2"/>
          </a:solidFill>
        </p:spPr>
        <p:txBody>
          <a:bodyPr wrap="square" lIns="180000" tIns="180000" rIns="180000" bIns="180000" rtlCol="0">
            <a:spAutoFit/>
          </a:bodyPr>
          <a:lstStyle/>
          <a:p>
            <a:pPr>
              <a:lnSpc>
                <a:spcPct val="150000"/>
              </a:lnSpc>
            </a:pPr>
            <a:r>
              <a:rPr lang="zh-CN" altLang="en-US" dirty="0">
                <a:solidFill>
                  <a:schemeClr val="bg1"/>
                </a:solidFill>
              </a:rPr>
              <a:t>敏捷是创造并响应变化，从而在动荡的商业环境中创造利润的能力。敏捷是平衡灵活性和稳定性的能力。</a:t>
            </a:r>
            <a:endParaRPr lang="en-US" altLang="zh-CN" dirty="0">
              <a:solidFill>
                <a:schemeClr val="bg1"/>
              </a:solidFill>
            </a:endParaRPr>
          </a:p>
          <a:p>
            <a:pPr algn="r">
              <a:lnSpc>
                <a:spcPct val="150000"/>
              </a:lnSpc>
            </a:pPr>
            <a:r>
              <a:rPr lang="en-US" altLang="zh-CN" dirty="0">
                <a:solidFill>
                  <a:schemeClr val="bg1"/>
                </a:solidFill>
              </a:rPr>
              <a:t>——</a:t>
            </a:r>
            <a:r>
              <a:rPr lang="zh-CN" altLang="en-US" dirty="0">
                <a:solidFill>
                  <a:schemeClr val="bg1"/>
                </a:solidFill>
              </a:rPr>
              <a:t>吉姆</a:t>
            </a:r>
            <a:r>
              <a:rPr lang="en-US" altLang="zh-CN" dirty="0">
                <a:solidFill>
                  <a:schemeClr val="bg1"/>
                </a:solidFill>
              </a:rPr>
              <a:t>·</a:t>
            </a:r>
            <a:r>
              <a:rPr lang="zh-CN" altLang="en-US" dirty="0">
                <a:solidFill>
                  <a:schemeClr val="bg1"/>
                </a:solidFill>
              </a:rPr>
              <a:t>海斯密斯，</a:t>
            </a:r>
            <a:r>
              <a:rPr lang="en-US" altLang="zh-CN" dirty="0">
                <a:solidFill>
                  <a:schemeClr val="bg1"/>
                </a:solidFill>
              </a:rPr>
              <a:t>2002</a:t>
            </a:r>
          </a:p>
        </p:txBody>
      </p:sp>
    </p:spTree>
    <p:extLst>
      <p:ext uri="{BB962C8B-B14F-4D97-AF65-F5344CB8AC3E}">
        <p14:creationId xmlns:p14="http://schemas.microsoft.com/office/powerpoint/2010/main" val="160704731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A49F7-8190-50B9-6A92-7C330DB83C8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319126-8297-1510-7CBE-0592B6A35BD6}"/>
              </a:ext>
            </a:extLst>
          </p:cNvPr>
          <p:cNvSpPr>
            <a:spLocks noGrp="1"/>
          </p:cNvSpPr>
          <p:nvPr>
            <p:ph type="title"/>
          </p:nvPr>
        </p:nvSpPr>
        <p:spPr>
          <a:xfrm>
            <a:off x="696000" y="360000"/>
            <a:ext cx="5400000" cy="424732"/>
          </a:xfrm>
        </p:spPr>
        <p:txBody>
          <a:bodyPr/>
          <a:lstStyle/>
          <a:p>
            <a:r>
              <a:rPr lang="en-US" altLang="zh-CN" dirty="0"/>
              <a:t>4</a:t>
            </a:r>
            <a:r>
              <a:rPr lang="zh-CN" altLang="en-US" dirty="0"/>
              <a:t>个核心价值 </a:t>
            </a:r>
            <a:r>
              <a:rPr lang="en-US" altLang="zh-CN" dirty="0"/>
              <a:t>Value</a:t>
            </a:r>
          </a:p>
        </p:txBody>
      </p:sp>
      <p:sp>
        <p:nvSpPr>
          <p:cNvPr id="3" name="内容占位符 2">
            <a:extLst>
              <a:ext uri="{FF2B5EF4-FFF2-40B4-BE49-F238E27FC236}">
                <a16:creationId xmlns:a16="http://schemas.microsoft.com/office/drawing/2014/main" id="{B40B7C42-97D7-2E4E-9E6A-0F2A600FCD28}"/>
              </a:ext>
            </a:extLst>
          </p:cNvPr>
          <p:cNvSpPr>
            <a:spLocks noGrp="1"/>
          </p:cNvSpPr>
          <p:nvPr>
            <p:ph idx="1"/>
          </p:nvPr>
        </p:nvSpPr>
        <p:spPr>
          <a:xfrm>
            <a:off x="696000" y="1080000"/>
            <a:ext cx="10800000" cy="5112000"/>
          </a:xfrm>
        </p:spPr>
        <p:txBody>
          <a:bodyPr>
            <a:normAutofit/>
          </a:bodyPr>
          <a:lstStyle/>
          <a:p>
            <a:r>
              <a:rPr lang="en-US" altLang="zh-CN" dirty="0"/>
              <a:t>Individuals and interactions over processes and tools</a:t>
            </a:r>
          </a:p>
          <a:p>
            <a:r>
              <a:rPr lang="en-US" altLang="zh-CN" dirty="0"/>
              <a:t>Working software over comprehensive documentation</a:t>
            </a:r>
          </a:p>
          <a:p>
            <a:r>
              <a:rPr lang="en-US" altLang="zh-CN" dirty="0"/>
              <a:t>Customer collaboration over contract negotiation</a:t>
            </a:r>
          </a:p>
          <a:p>
            <a:r>
              <a:rPr lang="en-US" altLang="zh-CN" dirty="0"/>
              <a:t>Responding to change over following a plan</a:t>
            </a:r>
            <a:endParaRPr lang="zh-CN" altLang="en-US" dirty="0"/>
          </a:p>
        </p:txBody>
      </p:sp>
      <p:sp>
        <p:nvSpPr>
          <p:cNvPr id="12" name="文本占位符 11">
            <a:extLst>
              <a:ext uri="{FF2B5EF4-FFF2-40B4-BE49-F238E27FC236}">
                <a16:creationId xmlns:a16="http://schemas.microsoft.com/office/drawing/2014/main" id="{C3F013C6-5D6E-27F7-DF1A-F254BEF644B3}"/>
              </a:ext>
            </a:extLst>
          </p:cNvPr>
          <p:cNvSpPr>
            <a:spLocks noGrp="1"/>
          </p:cNvSpPr>
          <p:nvPr>
            <p:ph type="body" sz="quarter" idx="10"/>
          </p:nvPr>
        </p:nvSpPr>
        <p:spPr>
          <a:xfrm>
            <a:off x="6702424" y="360001"/>
            <a:ext cx="4793575" cy="424731"/>
          </a:xfrm>
        </p:spPr>
        <p:txBody>
          <a:bodyPr/>
          <a:lstStyle/>
          <a:p>
            <a:r>
              <a:rPr lang="zh-CN" altLang="en-US" dirty="0"/>
              <a:t>敏捷宣言 </a:t>
            </a:r>
            <a:r>
              <a:rPr lang="en-US" altLang="zh-CN" dirty="0"/>
              <a:t>Manifesto</a:t>
            </a:r>
            <a:endParaRPr lang="zh-CN" altLang="en-US" dirty="0"/>
          </a:p>
        </p:txBody>
      </p:sp>
      <p:sp>
        <p:nvSpPr>
          <p:cNvPr id="5" name="椭圆 4">
            <a:extLst>
              <a:ext uri="{FF2B5EF4-FFF2-40B4-BE49-F238E27FC236}">
                <a16:creationId xmlns:a16="http://schemas.microsoft.com/office/drawing/2014/main" id="{DE3AEB75-F575-0B94-5645-AB22AFCBB6E2}"/>
              </a:ext>
            </a:extLst>
          </p:cNvPr>
          <p:cNvSpPr/>
          <p:nvPr/>
        </p:nvSpPr>
        <p:spPr>
          <a:xfrm>
            <a:off x="5772000" y="3958255"/>
            <a:ext cx="648000" cy="648000"/>
          </a:xfrm>
          <a:prstGeom prst="ellipse">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6" name="椭圆 5">
            <a:extLst>
              <a:ext uri="{FF2B5EF4-FFF2-40B4-BE49-F238E27FC236}">
                <a16:creationId xmlns:a16="http://schemas.microsoft.com/office/drawing/2014/main" id="{6900F5E0-4106-1950-B85B-99633AD2659E}"/>
              </a:ext>
            </a:extLst>
          </p:cNvPr>
          <p:cNvSpPr/>
          <p:nvPr/>
        </p:nvSpPr>
        <p:spPr>
          <a:xfrm>
            <a:off x="5772000" y="3203512"/>
            <a:ext cx="648000" cy="648000"/>
          </a:xfrm>
          <a:prstGeom prst="ellipse">
            <a:avLst/>
          </a:prstGeom>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dirty="0"/>
          </a:p>
        </p:txBody>
      </p:sp>
      <p:sp>
        <p:nvSpPr>
          <p:cNvPr id="7" name="椭圆 6">
            <a:extLst>
              <a:ext uri="{FF2B5EF4-FFF2-40B4-BE49-F238E27FC236}">
                <a16:creationId xmlns:a16="http://schemas.microsoft.com/office/drawing/2014/main" id="{DA023A71-64A8-65B7-D208-F51499E3C351}"/>
              </a:ext>
            </a:extLst>
          </p:cNvPr>
          <p:cNvSpPr/>
          <p:nvPr/>
        </p:nvSpPr>
        <p:spPr>
          <a:xfrm>
            <a:off x="5772000" y="4712998"/>
            <a:ext cx="648000" cy="648000"/>
          </a:xfrm>
          <a:prstGeom prst="ellipse">
            <a:avLst/>
          </a:prstGeom>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8" name="椭圆 7">
            <a:extLst>
              <a:ext uri="{FF2B5EF4-FFF2-40B4-BE49-F238E27FC236}">
                <a16:creationId xmlns:a16="http://schemas.microsoft.com/office/drawing/2014/main" id="{5143D818-39E5-8E6C-464D-9035C1B36C3D}"/>
              </a:ext>
            </a:extLst>
          </p:cNvPr>
          <p:cNvSpPr/>
          <p:nvPr/>
        </p:nvSpPr>
        <p:spPr>
          <a:xfrm>
            <a:off x="5772000" y="5467741"/>
            <a:ext cx="648000" cy="648000"/>
          </a:xfrm>
          <a:prstGeom prst="ellipse">
            <a:avLst/>
          </a:prstGeom>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9" name="文本框 8">
            <a:extLst>
              <a:ext uri="{FF2B5EF4-FFF2-40B4-BE49-F238E27FC236}">
                <a16:creationId xmlns:a16="http://schemas.microsoft.com/office/drawing/2014/main" id="{0FE6CF8F-BD5F-E135-0F2D-21B70FDB2323}"/>
              </a:ext>
            </a:extLst>
          </p:cNvPr>
          <p:cNvSpPr txBox="1"/>
          <p:nvPr/>
        </p:nvSpPr>
        <p:spPr>
          <a:xfrm>
            <a:off x="4049489" y="3342846"/>
            <a:ext cx="1338828" cy="369332"/>
          </a:xfrm>
          <a:prstGeom prst="rect">
            <a:avLst/>
          </a:prstGeom>
          <a:noFill/>
        </p:spPr>
        <p:txBody>
          <a:bodyPr wrap="none" rtlCol="0">
            <a:spAutoFit/>
          </a:bodyPr>
          <a:lstStyle/>
          <a:p>
            <a:pPr algn="r"/>
            <a:r>
              <a:rPr lang="zh-CN" altLang="en-US" dirty="0"/>
              <a:t>个体和互动</a:t>
            </a:r>
          </a:p>
        </p:txBody>
      </p:sp>
      <p:sp>
        <p:nvSpPr>
          <p:cNvPr id="10" name="文本框 9">
            <a:extLst>
              <a:ext uri="{FF2B5EF4-FFF2-40B4-BE49-F238E27FC236}">
                <a16:creationId xmlns:a16="http://schemas.microsoft.com/office/drawing/2014/main" id="{EDD6D666-A088-8C5D-7DAE-F1E26A4DF678}"/>
              </a:ext>
            </a:extLst>
          </p:cNvPr>
          <p:cNvSpPr txBox="1"/>
          <p:nvPr/>
        </p:nvSpPr>
        <p:spPr>
          <a:xfrm>
            <a:off x="6803683" y="3342846"/>
            <a:ext cx="1338828" cy="369332"/>
          </a:xfrm>
          <a:prstGeom prst="rect">
            <a:avLst/>
          </a:prstGeom>
          <a:noFill/>
        </p:spPr>
        <p:txBody>
          <a:bodyPr wrap="none" rtlCol="0">
            <a:spAutoFit/>
          </a:bodyPr>
          <a:lstStyle/>
          <a:p>
            <a:r>
              <a:rPr lang="zh-CN" altLang="en-US" dirty="0"/>
              <a:t>流程和工具</a:t>
            </a:r>
          </a:p>
        </p:txBody>
      </p:sp>
      <p:sp>
        <p:nvSpPr>
          <p:cNvPr id="13" name="文本框 12">
            <a:extLst>
              <a:ext uri="{FF2B5EF4-FFF2-40B4-BE49-F238E27FC236}">
                <a16:creationId xmlns:a16="http://schemas.microsoft.com/office/drawing/2014/main" id="{80F824E1-2583-7B1D-6E68-179253CC3562}"/>
              </a:ext>
            </a:extLst>
          </p:cNvPr>
          <p:cNvSpPr txBox="1"/>
          <p:nvPr/>
        </p:nvSpPr>
        <p:spPr>
          <a:xfrm>
            <a:off x="3818657" y="4097589"/>
            <a:ext cx="1569660" cy="369332"/>
          </a:xfrm>
          <a:prstGeom prst="rect">
            <a:avLst/>
          </a:prstGeom>
          <a:noFill/>
        </p:spPr>
        <p:txBody>
          <a:bodyPr wrap="none" rtlCol="0">
            <a:spAutoFit/>
          </a:bodyPr>
          <a:lstStyle/>
          <a:p>
            <a:pPr algn="r"/>
            <a:r>
              <a:rPr lang="zh-CN" altLang="en-US" dirty="0"/>
              <a:t>可工作的软件</a:t>
            </a:r>
          </a:p>
        </p:txBody>
      </p:sp>
      <p:sp>
        <p:nvSpPr>
          <p:cNvPr id="14" name="文本框 13">
            <a:extLst>
              <a:ext uri="{FF2B5EF4-FFF2-40B4-BE49-F238E27FC236}">
                <a16:creationId xmlns:a16="http://schemas.microsoft.com/office/drawing/2014/main" id="{B71D254C-C20A-C823-CA43-A206200E3AB4}"/>
              </a:ext>
            </a:extLst>
          </p:cNvPr>
          <p:cNvSpPr txBox="1"/>
          <p:nvPr/>
        </p:nvSpPr>
        <p:spPr>
          <a:xfrm>
            <a:off x="6803683" y="4097589"/>
            <a:ext cx="1338828" cy="369332"/>
          </a:xfrm>
          <a:prstGeom prst="rect">
            <a:avLst/>
          </a:prstGeom>
          <a:noFill/>
        </p:spPr>
        <p:txBody>
          <a:bodyPr wrap="none" rtlCol="0">
            <a:spAutoFit/>
          </a:bodyPr>
          <a:lstStyle/>
          <a:p>
            <a:r>
              <a:rPr lang="zh-CN" altLang="en-US" dirty="0"/>
              <a:t>详尽的文档</a:t>
            </a:r>
          </a:p>
        </p:txBody>
      </p:sp>
      <p:sp>
        <p:nvSpPr>
          <p:cNvPr id="16" name="文本框 15">
            <a:extLst>
              <a:ext uri="{FF2B5EF4-FFF2-40B4-BE49-F238E27FC236}">
                <a16:creationId xmlns:a16="http://schemas.microsoft.com/office/drawing/2014/main" id="{4D3F9E93-8B0D-B66D-FCD2-F22E153806DC}"/>
              </a:ext>
            </a:extLst>
          </p:cNvPr>
          <p:cNvSpPr txBox="1"/>
          <p:nvPr/>
        </p:nvSpPr>
        <p:spPr>
          <a:xfrm>
            <a:off x="4280321" y="4852332"/>
            <a:ext cx="1107996" cy="369332"/>
          </a:xfrm>
          <a:prstGeom prst="rect">
            <a:avLst/>
          </a:prstGeom>
          <a:noFill/>
        </p:spPr>
        <p:txBody>
          <a:bodyPr wrap="none" rtlCol="0">
            <a:spAutoFit/>
          </a:bodyPr>
          <a:lstStyle/>
          <a:p>
            <a:pPr algn="r"/>
            <a:r>
              <a:rPr lang="zh-CN" altLang="en-US" dirty="0"/>
              <a:t>客户合作</a:t>
            </a:r>
          </a:p>
        </p:txBody>
      </p:sp>
      <p:sp>
        <p:nvSpPr>
          <p:cNvPr id="17" name="文本框 16">
            <a:extLst>
              <a:ext uri="{FF2B5EF4-FFF2-40B4-BE49-F238E27FC236}">
                <a16:creationId xmlns:a16="http://schemas.microsoft.com/office/drawing/2014/main" id="{90F8E0AF-A800-07ED-9D43-CB17C26196BD}"/>
              </a:ext>
            </a:extLst>
          </p:cNvPr>
          <p:cNvSpPr txBox="1"/>
          <p:nvPr/>
        </p:nvSpPr>
        <p:spPr>
          <a:xfrm>
            <a:off x="6803683" y="4852332"/>
            <a:ext cx="1107996" cy="369332"/>
          </a:xfrm>
          <a:prstGeom prst="rect">
            <a:avLst/>
          </a:prstGeom>
          <a:noFill/>
        </p:spPr>
        <p:txBody>
          <a:bodyPr wrap="none" rtlCol="0">
            <a:spAutoFit/>
          </a:bodyPr>
          <a:lstStyle/>
          <a:p>
            <a:r>
              <a:rPr lang="zh-CN" altLang="en-US" dirty="0"/>
              <a:t>合同谈判</a:t>
            </a:r>
          </a:p>
        </p:txBody>
      </p:sp>
      <p:sp>
        <p:nvSpPr>
          <p:cNvPr id="19" name="文本框 18">
            <a:extLst>
              <a:ext uri="{FF2B5EF4-FFF2-40B4-BE49-F238E27FC236}">
                <a16:creationId xmlns:a16="http://schemas.microsoft.com/office/drawing/2014/main" id="{C50ECDB9-4680-E8A2-23D4-9417CCDC8F56}"/>
              </a:ext>
            </a:extLst>
          </p:cNvPr>
          <p:cNvSpPr txBox="1"/>
          <p:nvPr/>
        </p:nvSpPr>
        <p:spPr>
          <a:xfrm>
            <a:off x="4280321" y="5607075"/>
            <a:ext cx="1107996" cy="369332"/>
          </a:xfrm>
          <a:prstGeom prst="rect">
            <a:avLst/>
          </a:prstGeom>
          <a:noFill/>
        </p:spPr>
        <p:txBody>
          <a:bodyPr wrap="none" rtlCol="0">
            <a:spAutoFit/>
          </a:bodyPr>
          <a:lstStyle/>
          <a:p>
            <a:pPr algn="r"/>
            <a:r>
              <a:rPr lang="zh-CN" altLang="en-US" dirty="0"/>
              <a:t>响应变化</a:t>
            </a:r>
          </a:p>
        </p:txBody>
      </p:sp>
      <p:sp>
        <p:nvSpPr>
          <p:cNvPr id="20" name="文本框 19">
            <a:extLst>
              <a:ext uri="{FF2B5EF4-FFF2-40B4-BE49-F238E27FC236}">
                <a16:creationId xmlns:a16="http://schemas.microsoft.com/office/drawing/2014/main" id="{B68726CA-34C5-5EA9-646A-0A4BA49CFF2A}"/>
              </a:ext>
            </a:extLst>
          </p:cNvPr>
          <p:cNvSpPr txBox="1"/>
          <p:nvPr/>
        </p:nvSpPr>
        <p:spPr>
          <a:xfrm>
            <a:off x="6803683" y="5607075"/>
            <a:ext cx="1107996" cy="369332"/>
          </a:xfrm>
          <a:prstGeom prst="rect">
            <a:avLst/>
          </a:prstGeom>
          <a:noFill/>
        </p:spPr>
        <p:txBody>
          <a:bodyPr wrap="none" rtlCol="0">
            <a:spAutoFit/>
          </a:bodyPr>
          <a:lstStyle/>
          <a:p>
            <a:r>
              <a:rPr lang="zh-CN" altLang="en-US" dirty="0"/>
              <a:t>遵循计划</a:t>
            </a:r>
          </a:p>
        </p:txBody>
      </p:sp>
      <p:sp>
        <p:nvSpPr>
          <p:cNvPr id="23" name="箭头: 右 22">
            <a:extLst>
              <a:ext uri="{FF2B5EF4-FFF2-40B4-BE49-F238E27FC236}">
                <a16:creationId xmlns:a16="http://schemas.microsoft.com/office/drawing/2014/main" id="{E2B3E1C9-9C14-E9CC-3404-F28F9BA1CAB7}"/>
              </a:ext>
            </a:extLst>
          </p:cNvPr>
          <p:cNvSpPr/>
          <p:nvPr/>
        </p:nvSpPr>
        <p:spPr>
          <a:xfrm>
            <a:off x="6445956" y="3431873"/>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4" name="箭头: 右 23">
            <a:extLst>
              <a:ext uri="{FF2B5EF4-FFF2-40B4-BE49-F238E27FC236}">
                <a16:creationId xmlns:a16="http://schemas.microsoft.com/office/drawing/2014/main" id="{EFBE2482-DBFF-80CF-A9F1-8D1467668880}"/>
              </a:ext>
            </a:extLst>
          </p:cNvPr>
          <p:cNvSpPr/>
          <p:nvPr/>
        </p:nvSpPr>
        <p:spPr>
          <a:xfrm flipH="1">
            <a:off x="5456795" y="3431873"/>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7" name="箭头: 右 26">
            <a:extLst>
              <a:ext uri="{FF2B5EF4-FFF2-40B4-BE49-F238E27FC236}">
                <a16:creationId xmlns:a16="http://schemas.microsoft.com/office/drawing/2014/main" id="{AE6DEB4B-473F-1560-49AC-FDA98BBD325E}"/>
              </a:ext>
            </a:extLst>
          </p:cNvPr>
          <p:cNvSpPr/>
          <p:nvPr/>
        </p:nvSpPr>
        <p:spPr>
          <a:xfrm>
            <a:off x="6445956" y="4186616"/>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28" name="箭头: 右 27">
            <a:extLst>
              <a:ext uri="{FF2B5EF4-FFF2-40B4-BE49-F238E27FC236}">
                <a16:creationId xmlns:a16="http://schemas.microsoft.com/office/drawing/2014/main" id="{ADC70125-0912-DA1C-7E15-A62DCEEE3881}"/>
              </a:ext>
            </a:extLst>
          </p:cNvPr>
          <p:cNvSpPr/>
          <p:nvPr/>
        </p:nvSpPr>
        <p:spPr>
          <a:xfrm flipH="1">
            <a:off x="5456795" y="4186616"/>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30" name="箭头: 右 29">
            <a:extLst>
              <a:ext uri="{FF2B5EF4-FFF2-40B4-BE49-F238E27FC236}">
                <a16:creationId xmlns:a16="http://schemas.microsoft.com/office/drawing/2014/main" id="{3D17E2DC-EC6F-5A26-C493-33E17F34A045}"/>
              </a:ext>
            </a:extLst>
          </p:cNvPr>
          <p:cNvSpPr/>
          <p:nvPr/>
        </p:nvSpPr>
        <p:spPr>
          <a:xfrm>
            <a:off x="6445956" y="4941359"/>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1" name="箭头: 右 30">
            <a:extLst>
              <a:ext uri="{FF2B5EF4-FFF2-40B4-BE49-F238E27FC236}">
                <a16:creationId xmlns:a16="http://schemas.microsoft.com/office/drawing/2014/main" id="{3DFF4F37-E924-F619-EB24-EB79BBB364EC}"/>
              </a:ext>
            </a:extLst>
          </p:cNvPr>
          <p:cNvSpPr/>
          <p:nvPr/>
        </p:nvSpPr>
        <p:spPr>
          <a:xfrm flipH="1">
            <a:off x="5456795" y="4941359"/>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3" name="箭头: 右 32">
            <a:extLst>
              <a:ext uri="{FF2B5EF4-FFF2-40B4-BE49-F238E27FC236}">
                <a16:creationId xmlns:a16="http://schemas.microsoft.com/office/drawing/2014/main" id="{304A44ED-5196-828A-3B1C-29FA336C0B13}"/>
              </a:ext>
            </a:extLst>
          </p:cNvPr>
          <p:cNvSpPr/>
          <p:nvPr/>
        </p:nvSpPr>
        <p:spPr>
          <a:xfrm>
            <a:off x="6445956" y="5696102"/>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80F1BCC5-3E18-E230-C4FF-AE375EF44A4B}"/>
              </a:ext>
            </a:extLst>
          </p:cNvPr>
          <p:cNvSpPr/>
          <p:nvPr/>
        </p:nvSpPr>
        <p:spPr>
          <a:xfrm flipH="1">
            <a:off x="5456795" y="5696102"/>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201404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D600E-28CA-0BEF-11BE-560AC5BFB15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411A204-C0B4-8807-2C19-980922710B79}"/>
              </a:ext>
            </a:extLst>
          </p:cNvPr>
          <p:cNvSpPr>
            <a:spLocks noGrp="1"/>
          </p:cNvSpPr>
          <p:nvPr>
            <p:ph type="title"/>
          </p:nvPr>
        </p:nvSpPr>
        <p:spPr>
          <a:xfrm>
            <a:off x="696000" y="360000"/>
            <a:ext cx="5400000" cy="424732"/>
          </a:xfrm>
        </p:spPr>
        <p:txBody>
          <a:bodyPr/>
          <a:lstStyle/>
          <a:p>
            <a:r>
              <a:rPr lang="en-US" altLang="zh-CN" dirty="0"/>
              <a:t>12</a:t>
            </a:r>
            <a:r>
              <a:rPr lang="zh-CN" altLang="en-US" dirty="0"/>
              <a:t>个原则 </a:t>
            </a:r>
            <a:r>
              <a:rPr lang="en-US" altLang="zh-CN" dirty="0"/>
              <a:t>Principle</a:t>
            </a:r>
          </a:p>
        </p:txBody>
      </p:sp>
      <p:sp>
        <p:nvSpPr>
          <p:cNvPr id="3" name="内容占位符 2">
            <a:extLst>
              <a:ext uri="{FF2B5EF4-FFF2-40B4-BE49-F238E27FC236}">
                <a16:creationId xmlns:a16="http://schemas.microsoft.com/office/drawing/2014/main" id="{77EC6E35-91B5-299A-68FA-147D2BD512FA}"/>
              </a:ext>
            </a:extLst>
          </p:cNvPr>
          <p:cNvSpPr>
            <a:spLocks noGrp="1"/>
          </p:cNvSpPr>
          <p:nvPr>
            <p:ph idx="1"/>
          </p:nvPr>
        </p:nvSpPr>
        <p:spPr>
          <a:xfrm>
            <a:off x="696000" y="1080000"/>
            <a:ext cx="10800000" cy="5112000"/>
          </a:xfrm>
        </p:spPr>
        <p:txBody>
          <a:bodyPr>
            <a:normAutofit/>
          </a:bodyPr>
          <a:lstStyle/>
          <a:p>
            <a:r>
              <a:rPr lang="zh-CN" altLang="en-US" dirty="0"/>
              <a:t>我们的最高目标，是通过尽早并持续交付有价值的软件来满足客户</a:t>
            </a:r>
          </a:p>
          <a:p>
            <a:r>
              <a:rPr lang="zh-CN" altLang="en-US" dirty="0"/>
              <a:t>欢迎需求变化，即使是在开发后期。敏捷过程善于利用变化来为客户创造竞争优势</a:t>
            </a:r>
          </a:p>
          <a:p>
            <a:r>
              <a:rPr lang="zh-CN" altLang="en-US" dirty="0"/>
              <a:t>频繁地交付可工作的软件，周期可以从几周到几个月，倾向于更短的周期</a:t>
            </a:r>
          </a:p>
          <a:p>
            <a:r>
              <a:rPr lang="zh-CN" altLang="en-US" dirty="0"/>
              <a:t>业务人员和开发人员必须在整个项目期间每天一起工作</a:t>
            </a:r>
          </a:p>
          <a:p>
            <a:r>
              <a:rPr lang="zh-CN" altLang="en-US" dirty="0"/>
              <a:t>围绕有积极性的个体构建项目。给予他们所需的环境和支持，并信任他们能够完成工作</a:t>
            </a:r>
          </a:p>
          <a:p>
            <a:r>
              <a:rPr lang="zh-CN" altLang="en-US" dirty="0"/>
              <a:t>面对面交谈是团队内部传递信息的最有效方式</a:t>
            </a:r>
          </a:p>
          <a:p>
            <a:r>
              <a:rPr lang="zh-CN" altLang="en-US" dirty="0"/>
              <a:t>可工作的软件是衡量进展的首要标准</a:t>
            </a:r>
          </a:p>
          <a:p>
            <a:r>
              <a:rPr lang="zh-CN" altLang="en-US" dirty="0"/>
              <a:t>敏捷过程提倡可持续的开发节奏。赞助者、开发者和用户应该能够长期保持恒定的速度</a:t>
            </a:r>
          </a:p>
          <a:p>
            <a:r>
              <a:rPr lang="zh-CN" altLang="en-US" dirty="0"/>
              <a:t>持续关注技术卓越和良好设计，以增强敏捷能力</a:t>
            </a:r>
          </a:p>
          <a:p>
            <a:r>
              <a:rPr lang="zh-CN" altLang="en-US" dirty="0"/>
              <a:t>简洁</a:t>
            </a:r>
            <a:r>
              <a:rPr lang="en-US" altLang="zh-CN" dirty="0"/>
              <a:t> - </a:t>
            </a:r>
            <a:r>
              <a:rPr lang="zh-CN" altLang="en-US" dirty="0"/>
              <a:t>最大化未完成工作量的艺术 </a:t>
            </a:r>
            <a:r>
              <a:rPr lang="en-US" altLang="zh-CN" dirty="0"/>
              <a:t>- </a:t>
            </a:r>
            <a:r>
              <a:rPr lang="zh-CN" altLang="en-US" dirty="0"/>
              <a:t>是根本的</a:t>
            </a:r>
          </a:p>
          <a:p>
            <a:r>
              <a:rPr lang="zh-CN" altLang="en-US" dirty="0"/>
              <a:t>最好的架构、需求和设计出自自组织团队</a:t>
            </a:r>
          </a:p>
          <a:p>
            <a:r>
              <a:rPr lang="zh-CN" altLang="en-US" dirty="0"/>
              <a:t>团队定期反思如何变得更高效，并相应地调整自身行为</a:t>
            </a:r>
          </a:p>
        </p:txBody>
      </p:sp>
      <p:sp>
        <p:nvSpPr>
          <p:cNvPr id="6" name="文本占位符 5">
            <a:extLst>
              <a:ext uri="{FF2B5EF4-FFF2-40B4-BE49-F238E27FC236}">
                <a16:creationId xmlns:a16="http://schemas.microsoft.com/office/drawing/2014/main" id="{2F7647FF-48FB-E14E-CC67-151DF02AD363}"/>
              </a:ext>
            </a:extLst>
          </p:cNvPr>
          <p:cNvSpPr>
            <a:spLocks noGrp="1"/>
          </p:cNvSpPr>
          <p:nvPr>
            <p:ph type="body" sz="quarter" idx="10"/>
          </p:nvPr>
        </p:nvSpPr>
        <p:spPr>
          <a:xfrm>
            <a:off x="6702424" y="360001"/>
            <a:ext cx="4793575" cy="424731"/>
          </a:xfrm>
        </p:spPr>
        <p:txBody>
          <a:bodyPr/>
          <a:lstStyle/>
          <a:p>
            <a:r>
              <a:rPr lang="zh-CN" altLang="en-US" dirty="0"/>
              <a:t>敏捷宣言 </a:t>
            </a:r>
            <a:r>
              <a:rPr lang="en-US" altLang="zh-CN" dirty="0"/>
              <a:t>Manifesto</a:t>
            </a:r>
            <a:endParaRPr lang="zh-CN" altLang="en-US" dirty="0"/>
          </a:p>
        </p:txBody>
      </p:sp>
    </p:spTree>
    <p:extLst>
      <p:ext uri="{BB962C8B-B14F-4D97-AF65-F5344CB8AC3E}">
        <p14:creationId xmlns:p14="http://schemas.microsoft.com/office/powerpoint/2010/main" val="19386436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04374C-4A73-3BD1-EC4A-5470E068C8C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AD199FB-37E8-267C-513B-BCBDAEC5C443}"/>
              </a:ext>
            </a:extLst>
          </p:cNvPr>
          <p:cNvSpPr>
            <a:spLocks noGrp="1"/>
          </p:cNvSpPr>
          <p:nvPr>
            <p:ph type="title"/>
          </p:nvPr>
        </p:nvSpPr>
        <p:spPr>
          <a:xfrm>
            <a:off x="695998" y="360000"/>
            <a:ext cx="7200000" cy="424732"/>
          </a:xfrm>
        </p:spPr>
        <p:txBody>
          <a:bodyPr/>
          <a:lstStyle/>
          <a:p>
            <a:r>
              <a:rPr lang="en-US" altLang="zh-CN" dirty="0"/>
              <a:t>The 12 Principles behind the Agile Manifesto</a:t>
            </a:r>
            <a:endParaRPr lang="zh-CN" altLang="en-US" dirty="0"/>
          </a:p>
        </p:txBody>
      </p:sp>
      <p:sp>
        <p:nvSpPr>
          <p:cNvPr id="21" name="内容占位符 20">
            <a:extLst>
              <a:ext uri="{FF2B5EF4-FFF2-40B4-BE49-F238E27FC236}">
                <a16:creationId xmlns:a16="http://schemas.microsoft.com/office/drawing/2014/main" id="{A2F119A4-9036-C345-5873-7768364D0883}"/>
              </a:ext>
            </a:extLst>
          </p:cNvPr>
          <p:cNvSpPr>
            <a:spLocks noGrp="1"/>
          </p:cNvSpPr>
          <p:nvPr>
            <p:ph idx="1"/>
          </p:nvPr>
        </p:nvSpPr>
        <p:spPr/>
        <p:txBody>
          <a:bodyPr>
            <a:normAutofit/>
          </a:bodyPr>
          <a:lstStyle/>
          <a:p>
            <a:r>
              <a:rPr lang="en-US" altLang="zh-CN" dirty="0"/>
              <a:t>Our highest priority is to satisfy the customer through early and continuous delivery of valuable software.</a:t>
            </a:r>
          </a:p>
          <a:p>
            <a:r>
              <a:rPr lang="en-US" altLang="zh-CN" dirty="0"/>
              <a:t>Welcome changing requirements, even late in development. Agile processes harness change for the customer's competitive advantage.</a:t>
            </a:r>
          </a:p>
          <a:p>
            <a:r>
              <a:rPr lang="en-US" altLang="zh-CN" dirty="0"/>
              <a:t>Deliver working software frequently, from a couple of weeks to a couple of months, with a preference to the shorter timescale.</a:t>
            </a:r>
          </a:p>
          <a:p>
            <a:r>
              <a:rPr lang="en-US" altLang="zh-CN" dirty="0"/>
              <a:t>Business people and developers must work together daily throughout the project.</a:t>
            </a:r>
          </a:p>
          <a:p>
            <a:r>
              <a:rPr lang="en-US" altLang="zh-CN" dirty="0"/>
              <a:t>Build projects around motivated individuals. Give them the environment and support they need, and trust them to get the job done.</a:t>
            </a:r>
          </a:p>
          <a:p>
            <a:r>
              <a:rPr lang="en-US" altLang="zh-CN" dirty="0"/>
              <a:t>The most efficient and effective method of conveying information to and within a development team is face-to-face conversation.</a:t>
            </a:r>
          </a:p>
        </p:txBody>
      </p:sp>
      <p:sp>
        <p:nvSpPr>
          <p:cNvPr id="22" name="文本占位符 21">
            <a:extLst>
              <a:ext uri="{FF2B5EF4-FFF2-40B4-BE49-F238E27FC236}">
                <a16:creationId xmlns:a16="http://schemas.microsoft.com/office/drawing/2014/main" id="{99550F68-6C7C-640B-1D37-ADF6892035A7}"/>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8368793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ED2522A-C6D6-ACB7-3E52-2F9A9AA248DD}"/>
              </a:ext>
            </a:extLst>
          </p:cNvPr>
          <p:cNvSpPr>
            <a:spLocks noGrp="1"/>
          </p:cNvSpPr>
          <p:nvPr>
            <p:ph type="title"/>
          </p:nvPr>
        </p:nvSpPr>
        <p:spPr>
          <a:xfrm>
            <a:off x="695998" y="360000"/>
            <a:ext cx="7200000" cy="424732"/>
          </a:xfrm>
        </p:spPr>
        <p:txBody>
          <a:bodyPr/>
          <a:lstStyle/>
          <a:p>
            <a:r>
              <a:rPr lang="en-US" altLang="zh-CN" dirty="0"/>
              <a:t>The 12 Principles behind the Agile Manifesto</a:t>
            </a:r>
            <a:endParaRPr lang="zh-CN" altLang="en-US" dirty="0"/>
          </a:p>
        </p:txBody>
      </p:sp>
      <p:sp>
        <p:nvSpPr>
          <p:cNvPr id="21" name="内容占位符 20">
            <a:extLst>
              <a:ext uri="{FF2B5EF4-FFF2-40B4-BE49-F238E27FC236}">
                <a16:creationId xmlns:a16="http://schemas.microsoft.com/office/drawing/2014/main" id="{973F6DDA-8B3D-9A2A-FB2A-918F43FE7415}"/>
              </a:ext>
            </a:extLst>
          </p:cNvPr>
          <p:cNvSpPr>
            <a:spLocks noGrp="1"/>
          </p:cNvSpPr>
          <p:nvPr>
            <p:ph idx="1"/>
          </p:nvPr>
        </p:nvSpPr>
        <p:spPr/>
        <p:txBody>
          <a:bodyPr>
            <a:normAutofit/>
          </a:bodyPr>
          <a:lstStyle/>
          <a:p>
            <a:r>
              <a:rPr lang="en-US" altLang="zh-CN" dirty="0"/>
              <a:t>Working software is the primary measure of progress.</a:t>
            </a:r>
          </a:p>
          <a:p>
            <a:r>
              <a:rPr lang="en-US" altLang="zh-CN" dirty="0"/>
              <a:t>Agile processes promote sustainable development. The sponsors, developers, and users should be able to maintain a constant pace indefinitely.</a:t>
            </a:r>
          </a:p>
          <a:p>
            <a:r>
              <a:rPr lang="en-US" altLang="zh-CN" dirty="0"/>
              <a:t>Continuous attention to technical excellence and good design enhances agility.</a:t>
            </a:r>
          </a:p>
          <a:p>
            <a:r>
              <a:rPr lang="en-US" altLang="zh-CN" dirty="0"/>
              <a:t>Simplicity—the art of maximizing the amount of work not done—is essential.</a:t>
            </a:r>
          </a:p>
          <a:p>
            <a:r>
              <a:rPr lang="en-US" altLang="zh-CN" dirty="0"/>
              <a:t>The best architectures, requirements, and designs emerge from self-organizing teams.</a:t>
            </a:r>
          </a:p>
          <a:p>
            <a:r>
              <a:rPr lang="en-US" altLang="zh-CN" dirty="0"/>
              <a:t>At regular intervals, the team reflects on how to become more effective, then tunes and adjusts its behavior accordingly.</a:t>
            </a:r>
            <a:endParaRPr lang="zh-CN" altLang="en-US" dirty="0"/>
          </a:p>
        </p:txBody>
      </p:sp>
      <p:sp>
        <p:nvSpPr>
          <p:cNvPr id="22" name="文本占位符 21">
            <a:extLst>
              <a:ext uri="{FF2B5EF4-FFF2-40B4-BE49-F238E27FC236}">
                <a16:creationId xmlns:a16="http://schemas.microsoft.com/office/drawing/2014/main" id="{96AE3B3F-88FC-5A14-E64B-8476D511469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49957220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8BFDB917-2DE5-99E3-5CE4-A0D583696C96}"/>
              </a:ext>
            </a:extLst>
          </p:cNvPr>
          <p:cNvSpPr>
            <a:spLocks noGrp="1"/>
          </p:cNvSpPr>
          <p:nvPr>
            <p:ph type="body" sz="quarter" idx="10"/>
          </p:nvPr>
        </p:nvSpPr>
        <p:spPr>
          <a:xfrm>
            <a:off x="3219345" y="1629000"/>
            <a:ext cx="8640000" cy="3600000"/>
          </a:xfrm>
        </p:spPr>
        <p:txBody>
          <a:bodyPr/>
          <a:lstStyle/>
          <a:p>
            <a:r>
              <a:rPr lang="zh-CN" altLang="en-US" dirty="0"/>
              <a:t>你是一个项目经理，你的团队正在构建嵌入式系统的网络固件。你召集大家开会，向技术水平很高的一些业务用户和客户提供演示，在这个会上演示了团队为控制面板界面开发的最新版本的代码。这是你第</a:t>
            </a:r>
            <a:r>
              <a:rPr lang="en-US" altLang="zh-CN" dirty="0"/>
              <a:t>5</a:t>
            </a:r>
            <a:r>
              <a:rPr lang="zh-CN" altLang="en-US" dirty="0"/>
              <a:t>次开这种会向用户演示软件。而在这第</a:t>
            </a:r>
            <a:r>
              <a:rPr lang="en-US" altLang="zh-CN" dirty="0"/>
              <a:t>5</a:t>
            </a:r>
            <a:r>
              <a:rPr lang="zh-CN" altLang="en-US" dirty="0"/>
              <a:t>次会议上，用户和客户有提出了一些特定的变更。团队现在又得回去开发第</a:t>
            </a:r>
            <a:r>
              <a:rPr lang="en-US" altLang="zh-CN" dirty="0"/>
              <a:t>6</a:t>
            </a:r>
            <a:r>
              <a:rPr lang="zh-CN" altLang="en-US" dirty="0"/>
              <a:t>个版本，这个过程又得再来一次。以下哪种说法最准确地描述了这种情况？</a:t>
            </a:r>
            <a:endParaRPr lang="en-US" altLang="zh-CN" dirty="0"/>
          </a:p>
          <a:p>
            <a:endParaRPr lang="zh-CN" altLang="en-US" dirty="0"/>
          </a:p>
          <a:p>
            <a:r>
              <a:rPr lang="en-US" altLang="zh-CN" dirty="0"/>
              <a:t>A. </a:t>
            </a:r>
            <a:r>
              <a:rPr lang="zh-CN" altLang="en-US" dirty="0"/>
              <a:t>团队不了解需求</a:t>
            </a:r>
          </a:p>
          <a:p>
            <a:r>
              <a:rPr lang="en-US" altLang="zh-CN" dirty="0"/>
              <a:t>B. </a:t>
            </a:r>
            <a:r>
              <a:rPr lang="zh-CN" altLang="en-US" dirty="0"/>
              <a:t>用户和客户不知道他们想要什么</a:t>
            </a:r>
          </a:p>
          <a:p>
            <a:r>
              <a:rPr lang="en-US" altLang="zh-CN" dirty="0"/>
              <a:t>C. </a:t>
            </a:r>
            <a:r>
              <a:rPr lang="zh-CN" altLang="en-US" dirty="0"/>
              <a:t>这个项目需要更好的变更控制和需求管理实践</a:t>
            </a:r>
          </a:p>
          <a:p>
            <a:r>
              <a:rPr lang="en-US" altLang="zh-CN" dirty="0"/>
              <a:t>D. </a:t>
            </a:r>
            <a:r>
              <a:rPr lang="zh-CN" altLang="en-US" dirty="0"/>
              <a:t>团队做到了尽早交付和持续交付</a:t>
            </a:r>
          </a:p>
        </p:txBody>
      </p:sp>
    </p:spTree>
    <p:extLst>
      <p:ext uri="{BB962C8B-B14F-4D97-AF65-F5344CB8AC3E}">
        <p14:creationId xmlns:p14="http://schemas.microsoft.com/office/powerpoint/2010/main" val="303034283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5B7F6F12-E230-1DA2-E48E-3A33A78A1FF7}"/>
              </a:ext>
            </a:extLst>
          </p:cNvPr>
          <p:cNvSpPr>
            <a:spLocks noGrp="1"/>
          </p:cNvSpPr>
          <p:nvPr>
            <p:ph type="body" sz="quarter" idx="10"/>
          </p:nvPr>
        </p:nvSpPr>
        <p:spPr>
          <a:xfrm>
            <a:off x="3219345" y="1629000"/>
            <a:ext cx="8640000" cy="3600000"/>
          </a:xfrm>
        </p:spPr>
        <p:txBody>
          <a:bodyPr/>
          <a:lstStyle/>
          <a:p>
            <a:r>
              <a:rPr lang="zh-CN" altLang="en-US" dirty="0"/>
              <a:t>经验丰富的项目经理直到现在才管理敏捷项目。由于项目的不确定性，项目经理正在为定义项目范围而苦苦挣扎，并且花了很长时间试图定义它。项目经理应该做什么？</a:t>
            </a:r>
            <a:endParaRPr lang="en-US" altLang="zh-CN" dirty="0"/>
          </a:p>
          <a:p>
            <a:endParaRPr lang="zh-CN" altLang="en-US" dirty="0"/>
          </a:p>
          <a:p>
            <a:r>
              <a:rPr lang="en-US" altLang="zh-CN" dirty="0"/>
              <a:t>A. </a:t>
            </a:r>
            <a:r>
              <a:rPr lang="zh-CN" altLang="en-US" dirty="0"/>
              <a:t>提交变更请求以利用以前的经验并使用预测方法管理项目</a:t>
            </a:r>
          </a:p>
          <a:p>
            <a:r>
              <a:rPr lang="en-US" altLang="zh-CN" dirty="0"/>
              <a:t>B. </a:t>
            </a:r>
            <a:r>
              <a:rPr lang="zh-CN" altLang="en-US" dirty="0"/>
              <a:t>与团队安排每日项目定义会议，以在开始执行之前定义项目范围</a:t>
            </a:r>
          </a:p>
          <a:p>
            <a:r>
              <a:rPr lang="en-US" altLang="zh-CN" dirty="0"/>
              <a:t>C. </a:t>
            </a:r>
            <a:r>
              <a:rPr lang="zh-CN" altLang="en-US" dirty="0"/>
              <a:t>开始执行项目，因为范围将在整个项目中被定义和重新定义</a:t>
            </a:r>
          </a:p>
          <a:p>
            <a:r>
              <a:rPr lang="en-US" altLang="zh-CN" dirty="0"/>
              <a:t>D. </a:t>
            </a:r>
            <a:r>
              <a:rPr lang="zh-CN" altLang="en-US" dirty="0"/>
              <a:t>在开始执行之前获得产品负责人的部分批准，以作为项目范围计划的基准</a:t>
            </a:r>
          </a:p>
        </p:txBody>
      </p:sp>
    </p:spTree>
    <p:extLst>
      <p:ext uri="{BB962C8B-B14F-4D97-AF65-F5344CB8AC3E}">
        <p14:creationId xmlns:p14="http://schemas.microsoft.com/office/powerpoint/2010/main" val="210317562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E64D18D6-72D6-A32D-816B-531A8E0EE854}"/>
              </a:ext>
            </a:extLst>
          </p:cNvPr>
          <p:cNvSpPr>
            <a:spLocks noGrp="1"/>
          </p:cNvSpPr>
          <p:nvPr>
            <p:ph type="body" sz="quarter" idx="10"/>
          </p:nvPr>
        </p:nvSpPr>
        <p:spPr>
          <a:xfrm>
            <a:off x="3219345" y="1629000"/>
            <a:ext cx="8640000" cy="3600000"/>
          </a:xfrm>
        </p:spPr>
        <p:txBody>
          <a:bodyPr/>
          <a:lstStyle/>
          <a:p>
            <a:r>
              <a:rPr lang="zh-CN" altLang="en-US" dirty="0"/>
              <a:t>项目团队正在为项目的开展做准备，在讨论迭代周期的问题上，团队产生了分歧。一位成员指出，应该使用</a:t>
            </a:r>
            <a:r>
              <a:rPr lang="en-US" altLang="zh-CN" dirty="0"/>
              <a:t>4</a:t>
            </a:r>
            <a:r>
              <a:rPr lang="zh-CN" altLang="en-US" dirty="0"/>
              <a:t>周为一个迭代周期，迭代周期越长，完成的功能越多，其他团队成员不赞同他的意见，最终团队决定以</a:t>
            </a:r>
            <a:r>
              <a:rPr lang="en-US" altLang="zh-CN" dirty="0"/>
              <a:t>2</a:t>
            </a:r>
            <a:r>
              <a:rPr lang="zh-CN" altLang="en-US" dirty="0"/>
              <a:t>周为一个迭代周期，团队做出这个决定主要依据是什么？</a:t>
            </a:r>
            <a:endParaRPr lang="en-US" altLang="zh-CN" dirty="0"/>
          </a:p>
          <a:p>
            <a:endParaRPr lang="zh-CN" altLang="en-US" dirty="0"/>
          </a:p>
          <a:p>
            <a:r>
              <a:rPr lang="en-US" altLang="zh-CN" dirty="0"/>
              <a:t>A. </a:t>
            </a:r>
            <a:r>
              <a:rPr lang="zh-CN" altLang="en-US" dirty="0"/>
              <a:t>短的时间盒限制能够使团队尽快完成软件，实现产品发布</a:t>
            </a:r>
          </a:p>
          <a:p>
            <a:r>
              <a:rPr lang="en-US" altLang="zh-CN" dirty="0"/>
              <a:t>B. </a:t>
            </a:r>
            <a:r>
              <a:rPr lang="zh-CN" altLang="en-US" dirty="0"/>
              <a:t>短的时间盒限制能使</a:t>
            </a:r>
            <a:r>
              <a:rPr lang="en-US" altLang="zh-CN" dirty="0"/>
              <a:t>PO</a:t>
            </a:r>
            <a:r>
              <a:rPr lang="zh-CN" altLang="en-US" dirty="0"/>
              <a:t>和项目干系人及时了解项目进展</a:t>
            </a:r>
          </a:p>
          <a:p>
            <a:r>
              <a:rPr lang="en-US" altLang="zh-CN" dirty="0"/>
              <a:t>C. </a:t>
            </a:r>
            <a:r>
              <a:rPr lang="zh-CN" altLang="en-US" dirty="0"/>
              <a:t>短的时间盒限制能提高团队效率，避免团队的发生认知障碍</a:t>
            </a:r>
          </a:p>
          <a:p>
            <a:r>
              <a:rPr lang="en-US" altLang="zh-CN" dirty="0"/>
              <a:t>D. </a:t>
            </a:r>
            <a:r>
              <a:rPr lang="zh-CN" altLang="en-US" dirty="0"/>
              <a:t>短的时间盒限制能尽早获得需求反馈，更早满足相关方需求</a:t>
            </a:r>
          </a:p>
        </p:txBody>
      </p:sp>
    </p:spTree>
    <p:extLst>
      <p:ext uri="{BB962C8B-B14F-4D97-AF65-F5344CB8AC3E}">
        <p14:creationId xmlns:p14="http://schemas.microsoft.com/office/powerpoint/2010/main" val="71458693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7B574468-073D-9C94-ABF5-808EE855FA52}"/>
              </a:ext>
            </a:extLst>
          </p:cNvPr>
          <p:cNvSpPr>
            <a:spLocks noGrp="1"/>
          </p:cNvSpPr>
          <p:nvPr>
            <p:ph type="body" sz="quarter" idx="10"/>
          </p:nvPr>
        </p:nvSpPr>
        <p:spPr>
          <a:xfrm>
            <a:off x="3219345" y="1629000"/>
            <a:ext cx="8640000" cy="3600000"/>
          </a:xfrm>
        </p:spPr>
        <p:txBody>
          <a:bodyPr/>
          <a:lstStyle/>
          <a:p>
            <a:r>
              <a:rPr lang="zh-CN" altLang="en-US" dirty="0"/>
              <a:t>在一个敏捷项目已经进行到第二个迭代时，大部分团队成员都是第一次参与敏捷项目，他们对待办事项的最高优先级不是非常清楚，</a:t>
            </a:r>
            <a:r>
              <a:rPr lang="en-US" altLang="zh-CN" dirty="0"/>
              <a:t>scrum</a:t>
            </a:r>
            <a:r>
              <a:rPr lang="zh-CN" altLang="en-US" dirty="0"/>
              <a:t>主管应该建议他们重点关注什么？</a:t>
            </a:r>
            <a:endParaRPr lang="en-US" altLang="zh-CN" dirty="0"/>
          </a:p>
          <a:p>
            <a:endParaRPr lang="zh-CN" altLang="en-US" dirty="0"/>
          </a:p>
          <a:p>
            <a:r>
              <a:rPr lang="en-US" altLang="zh-CN" dirty="0"/>
              <a:t>A. </a:t>
            </a:r>
            <a:r>
              <a:rPr lang="zh-CN" altLang="en-US" dirty="0"/>
              <a:t>交付具有价值的解决方案</a:t>
            </a:r>
          </a:p>
          <a:p>
            <a:r>
              <a:rPr lang="en-US" altLang="zh-CN" dirty="0"/>
              <a:t>B. </a:t>
            </a:r>
            <a:r>
              <a:rPr lang="zh-CN" altLang="en-US" dirty="0"/>
              <a:t>平衡稳定性和灵活性</a:t>
            </a:r>
          </a:p>
          <a:p>
            <a:r>
              <a:rPr lang="en-US" altLang="zh-CN" dirty="0"/>
              <a:t>C. </a:t>
            </a:r>
            <a:r>
              <a:rPr lang="zh-CN" altLang="en-US" dirty="0"/>
              <a:t>管理是否混乱</a:t>
            </a:r>
          </a:p>
          <a:p>
            <a:r>
              <a:rPr lang="en-US" altLang="zh-CN" dirty="0"/>
              <a:t>D. </a:t>
            </a:r>
            <a:r>
              <a:rPr lang="zh-CN" altLang="en-US" dirty="0"/>
              <a:t>业务需求是否详细</a:t>
            </a:r>
          </a:p>
        </p:txBody>
      </p:sp>
    </p:spTree>
    <p:extLst>
      <p:ext uri="{BB962C8B-B14F-4D97-AF65-F5344CB8AC3E}">
        <p14:creationId xmlns:p14="http://schemas.microsoft.com/office/powerpoint/2010/main" val="274231971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D726EC01-8D9B-15AC-675B-DC69406E6296}"/>
              </a:ext>
            </a:extLst>
          </p:cNvPr>
          <p:cNvSpPr>
            <a:spLocks noGrp="1"/>
          </p:cNvSpPr>
          <p:nvPr>
            <p:ph type="body" sz="quarter" idx="10"/>
          </p:nvPr>
        </p:nvSpPr>
        <p:spPr>
          <a:xfrm>
            <a:off x="3219345" y="1629000"/>
            <a:ext cx="8640000" cy="3600000"/>
          </a:xfrm>
        </p:spPr>
        <p:txBody>
          <a:bodyPr/>
          <a:lstStyle/>
          <a:p>
            <a:r>
              <a:rPr lang="zh-CN" altLang="en-US" dirty="0"/>
              <a:t>敏捷团队计划</a:t>
            </a:r>
            <a:r>
              <a:rPr lang="en-US" altLang="zh-CN" dirty="0"/>
              <a:t>1</a:t>
            </a:r>
            <a:r>
              <a:rPr lang="zh-CN" altLang="en-US" dirty="0"/>
              <a:t>年的时间内完成一个项目的开发工作，客户表示希望减少团队人员流动，保证按时交付产品，作为敏捷教练，为了保证整个开发工作的可持续进行，应该怎样做？</a:t>
            </a:r>
            <a:endParaRPr lang="en-US" altLang="zh-CN" dirty="0"/>
          </a:p>
          <a:p>
            <a:endParaRPr lang="zh-CN" altLang="en-US" dirty="0"/>
          </a:p>
          <a:p>
            <a:r>
              <a:rPr lang="en-US" altLang="zh-CN" dirty="0"/>
              <a:t>A. </a:t>
            </a:r>
            <a:r>
              <a:rPr lang="zh-CN" altLang="en-US" dirty="0"/>
              <a:t>确保制定接下来</a:t>
            </a:r>
            <a:r>
              <a:rPr lang="en-US" altLang="zh-CN" dirty="0"/>
              <a:t>1</a:t>
            </a:r>
            <a:r>
              <a:rPr lang="zh-CN" altLang="en-US" dirty="0"/>
              <a:t>年详细的工作计划，使团队不会遇到突发事件</a:t>
            </a:r>
          </a:p>
          <a:p>
            <a:r>
              <a:rPr lang="en-US" altLang="zh-CN" dirty="0"/>
              <a:t>B. </a:t>
            </a:r>
            <a:r>
              <a:rPr lang="zh-CN" altLang="en-US" dirty="0"/>
              <a:t>确保完成的功能第一次就做好，不需要二次改进</a:t>
            </a:r>
          </a:p>
          <a:p>
            <a:r>
              <a:rPr lang="en-US" altLang="zh-CN" dirty="0"/>
              <a:t>C. </a:t>
            </a:r>
            <a:r>
              <a:rPr lang="zh-CN" altLang="en-US" dirty="0"/>
              <a:t>确保团队正常下班，没有加班压力，不会太过疲劳</a:t>
            </a:r>
          </a:p>
          <a:p>
            <a:r>
              <a:rPr lang="en-US" altLang="zh-CN" dirty="0"/>
              <a:t>D. </a:t>
            </a:r>
            <a:r>
              <a:rPr lang="zh-CN" altLang="en-US" dirty="0"/>
              <a:t>制定很短时间的冲刺，保证冲刺内故事的完成</a:t>
            </a:r>
          </a:p>
        </p:txBody>
      </p:sp>
    </p:spTree>
    <p:extLst>
      <p:ext uri="{BB962C8B-B14F-4D97-AF65-F5344CB8AC3E}">
        <p14:creationId xmlns:p14="http://schemas.microsoft.com/office/powerpoint/2010/main" val="347690162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D2BE82F5-0619-CF75-209C-BEF279BD9929}"/>
              </a:ext>
            </a:extLst>
          </p:cNvPr>
          <p:cNvSpPr>
            <a:spLocks noGrp="1"/>
          </p:cNvSpPr>
          <p:nvPr>
            <p:ph type="body" sz="quarter" idx="10"/>
          </p:nvPr>
        </p:nvSpPr>
        <p:spPr>
          <a:xfrm>
            <a:off x="3219345" y="1629000"/>
            <a:ext cx="8640000" cy="3600000"/>
          </a:xfrm>
        </p:spPr>
        <p:txBody>
          <a:bodyPr/>
          <a:lstStyle/>
          <a:p>
            <a:r>
              <a:rPr lang="zh-CN" altLang="en-US" dirty="0"/>
              <a:t>由于之前的糟糕经历，项目的业务干系人不愿意接受敏捷方法，目前正在推进一种预测方法。项目经理应该使用什么策略来说服干系人使用敏捷方法？</a:t>
            </a:r>
            <a:endParaRPr lang="en-US" altLang="zh-CN" dirty="0"/>
          </a:p>
          <a:p>
            <a:endParaRPr lang="zh-CN" altLang="en-US" dirty="0"/>
          </a:p>
          <a:p>
            <a:r>
              <a:rPr lang="en-US" altLang="zh-CN" dirty="0"/>
              <a:t>A. </a:t>
            </a:r>
            <a:r>
              <a:rPr lang="zh-CN" altLang="en-US" dirty="0"/>
              <a:t>确保干系人相信敏捷方法将在更短的时间内交付所有预期结果</a:t>
            </a:r>
          </a:p>
          <a:p>
            <a:r>
              <a:rPr lang="en-US" altLang="zh-CN" dirty="0"/>
              <a:t>B. </a:t>
            </a:r>
            <a:r>
              <a:rPr lang="zh-CN" altLang="en-US" dirty="0"/>
              <a:t>提出一种分阶段的项目方法，通过多次小型互动，并通过频繁的价值交付与干系人建立信任</a:t>
            </a:r>
          </a:p>
          <a:p>
            <a:r>
              <a:rPr lang="en-US" altLang="zh-CN" dirty="0"/>
              <a:t>C. </a:t>
            </a:r>
            <a:r>
              <a:rPr lang="zh-CN" altLang="en-US" dirty="0"/>
              <a:t>记录请求并上报给上级管理层，以考虑修改项目章程</a:t>
            </a:r>
          </a:p>
          <a:p>
            <a:r>
              <a:rPr lang="en-US" altLang="zh-CN" dirty="0"/>
              <a:t>D. </a:t>
            </a:r>
            <a:r>
              <a:rPr lang="zh-CN" altLang="en-US" dirty="0"/>
              <a:t>同意预测方法，但在项目管理框架下应用敏捷概念</a:t>
            </a:r>
          </a:p>
        </p:txBody>
      </p:sp>
    </p:spTree>
    <p:extLst>
      <p:ext uri="{BB962C8B-B14F-4D97-AF65-F5344CB8AC3E}">
        <p14:creationId xmlns:p14="http://schemas.microsoft.com/office/powerpoint/2010/main" val="157187023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1DF4D989-651C-BBBD-584D-5EB645DCC605}"/>
              </a:ext>
            </a:extLst>
          </p:cNvPr>
          <p:cNvSpPr>
            <a:spLocks noGrp="1"/>
          </p:cNvSpPr>
          <p:nvPr>
            <p:ph type="body" sz="quarter" idx="10"/>
          </p:nvPr>
        </p:nvSpPr>
        <p:spPr>
          <a:xfrm>
            <a:off x="3219345" y="1629000"/>
            <a:ext cx="8640000" cy="3600000"/>
          </a:xfrm>
        </p:spPr>
        <p:txBody>
          <a:bodyPr/>
          <a:lstStyle/>
          <a:p>
            <a:r>
              <a:rPr lang="zh-CN" altLang="en-US" dirty="0"/>
              <a:t>某公司启动了一个敏捷项目，项目发起人非常关心项目的情况，并要求敏捷教练遵循敏捷管理的方法和实践。敏捷教练应该如何向项目发起人说明？</a:t>
            </a:r>
            <a:endParaRPr lang="en-US" altLang="zh-CN" dirty="0"/>
          </a:p>
          <a:p>
            <a:endParaRPr lang="zh-CN" altLang="en-US" dirty="0"/>
          </a:p>
          <a:p>
            <a:r>
              <a:rPr lang="en-US" altLang="zh-CN" dirty="0"/>
              <a:t>A. </a:t>
            </a:r>
            <a:r>
              <a:rPr lang="zh-CN" altLang="en-US" dirty="0"/>
              <a:t>为项目制定完备的项目管理计划</a:t>
            </a:r>
          </a:p>
          <a:p>
            <a:r>
              <a:rPr lang="en-US" altLang="zh-CN" dirty="0"/>
              <a:t>B. </a:t>
            </a:r>
            <a:r>
              <a:rPr lang="zh-CN" altLang="en-US" dirty="0"/>
              <a:t>项目将关注技术卓越和良好设计</a:t>
            </a:r>
          </a:p>
          <a:p>
            <a:r>
              <a:rPr lang="en-US" altLang="zh-CN" dirty="0"/>
              <a:t>C. </a:t>
            </a:r>
            <a:r>
              <a:rPr lang="zh-CN" altLang="en-US" dirty="0"/>
              <a:t>每一项项目活动应该被具体定义在开发过程中</a:t>
            </a:r>
          </a:p>
          <a:p>
            <a:r>
              <a:rPr lang="en-US" altLang="zh-CN" dirty="0"/>
              <a:t>D. </a:t>
            </a:r>
            <a:r>
              <a:rPr lang="zh-CN" altLang="en-US" dirty="0"/>
              <a:t>开发人员和业务人员应该分开工作</a:t>
            </a:r>
          </a:p>
        </p:txBody>
      </p:sp>
    </p:spTree>
    <p:extLst>
      <p:ext uri="{BB962C8B-B14F-4D97-AF65-F5344CB8AC3E}">
        <p14:creationId xmlns:p14="http://schemas.microsoft.com/office/powerpoint/2010/main" val="76254252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E545BC28-4D79-7BE2-F0ED-390B952604DA}"/>
              </a:ext>
            </a:extLst>
          </p:cNvPr>
          <p:cNvSpPr>
            <a:spLocks noGrp="1"/>
          </p:cNvSpPr>
          <p:nvPr>
            <p:ph type="body" sz="quarter" idx="10"/>
          </p:nvPr>
        </p:nvSpPr>
        <p:spPr>
          <a:xfrm>
            <a:off x="3219345" y="1629000"/>
            <a:ext cx="8640000" cy="3600000"/>
          </a:xfrm>
        </p:spPr>
        <p:txBody>
          <a:bodyPr/>
          <a:lstStyle/>
          <a:p>
            <a:r>
              <a:rPr lang="zh-CN" altLang="en-US" dirty="0"/>
              <a:t>因组织业务调整，你所在的项目选定了敏捷开发方式，团队成员表示了担心，因为他们之前并没有做过敏捷相关的项目。为此，你咨询了敏捷管理专业人士在敏捷项目中，文档应该做到怎样的程度。请问他可能给你怎样的答复？</a:t>
            </a:r>
            <a:endParaRPr lang="en-US" altLang="zh-CN" dirty="0"/>
          </a:p>
          <a:p>
            <a:endParaRPr lang="zh-CN" altLang="en-US" dirty="0"/>
          </a:p>
          <a:p>
            <a:r>
              <a:rPr lang="en-US" altLang="zh-CN" dirty="0"/>
              <a:t>A. </a:t>
            </a:r>
            <a:r>
              <a:rPr lang="zh-CN" altLang="en-US" dirty="0"/>
              <a:t>敏捷强调快速交付，所以不需要文档</a:t>
            </a:r>
          </a:p>
          <a:p>
            <a:r>
              <a:rPr lang="en-US" altLang="zh-CN" dirty="0"/>
              <a:t>B. </a:t>
            </a:r>
            <a:r>
              <a:rPr lang="zh-CN" altLang="en-US" dirty="0"/>
              <a:t>根据项目的实际情况，只完成到需要的程度</a:t>
            </a:r>
          </a:p>
          <a:p>
            <a:r>
              <a:rPr lang="en-US" altLang="zh-CN" dirty="0"/>
              <a:t>C. </a:t>
            </a:r>
            <a:r>
              <a:rPr lang="zh-CN" altLang="en-US" dirty="0"/>
              <a:t>应该考虑组织过程资产，尽可能涵盖每一个方面，但是不用过于细致</a:t>
            </a:r>
          </a:p>
          <a:p>
            <a:r>
              <a:rPr lang="en-US" altLang="zh-CN" dirty="0"/>
              <a:t>D. </a:t>
            </a:r>
            <a:r>
              <a:rPr lang="zh-CN" altLang="en-US" dirty="0"/>
              <a:t>因为敏捷项目的人员变动比较频繁，所以文档需要详细到能够满足工作的交接</a:t>
            </a:r>
          </a:p>
          <a:p>
            <a:endParaRPr lang="zh-CN" altLang="en-US" dirty="0"/>
          </a:p>
        </p:txBody>
      </p:sp>
    </p:spTree>
    <p:extLst>
      <p:ext uri="{BB962C8B-B14F-4D97-AF65-F5344CB8AC3E}">
        <p14:creationId xmlns:p14="http://schemas.microsoft.com/office/powerpoint/2010/main" val="353097420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E6213DB1-73CF-FE09-3B9D-D37F40BCA17C}"/>
              </a:ext>
            </a:extLst>
          </p:cNvPr>
          <p:cNvSpPr>
            <a:spLocks noGrp="1"/>
          </p:cNvSpPr>
          <p:nvPr>
            <p:ph type="body" sz="quarter" idx="10"/>
          </p:nvPr>
        </p:nvSpPr>
        <p:spPr>
          <a:xfrm>
            <a:off x="3219345" y="1629000"/>
            <a:ext cx="8640000" cy="3600000"/>
          </a:xfrm>
        </p:spPr>
        <p:txBody>
          <a:bodyPr/>
          <a:lstStyle/>
          <a:p>
            <a:r>
              <a:rPr lang="zh-CN" altLang="en-US" dirty="0"/>
              <a:t>你是一个软件服务开发商中团队的项目经理。你的一个客户给出一个价值流图，指出处理一个特性的团队将大量时间用来等待两个公司的法律部门对范围变更达成一致，而这个时间并没有给项目创造价值。这会对项目有什么影响？</a:t>
            </a:r>
            <a:endParaRPr lang="en-US" altLang="zh-CN" dirty="0"/>
          </a:p>
          <a:p>
            <a:endParaRPr lang="zh-CN" altLang="en-US" dirty="0"/>
          </a:p>
          <a:p>
            <a:r>
              <a:rPr lang="en-US" altLang="zh-CN" dirty="0"/>
              <a:t>A. </a:t>
            </a:r>
            <a:r>
              <a:rPr lang="zh-CN" altLang="en-US" dirty="0"/>
              <a:t>非工作时间是额外的进行中工作（在制品），可以加以限制。</a:t>
            </a:r>
          </a:p>
          <a:p>
            <a:r>
              <a:rPr lang="en-US" altLang="zh-CN" dirty="0"/>
              <a:t>B. </a:t>
            </a:r>
            <a:r>
              <a:rPr lang="zh-CN" altLang="en-US" dirty="0"/>
              <a:t>客户和开发商有一种合同谈判的关系。</a:t>
            </a:r>
          </a:p>
          <a:p>
            <a:r>
              <a:rPr lang="en-US" altLang="zh-CN" dirty="0"/>
              <a:t>C. </a:t>
            </a:r>
            <a:r>
              <a:rPr lang="zh-CN" altLang="en-US" dirty="0"/>
              <a:t>非工作时间是项目浪费，可以加以消除。</a:t>
            </a:r>
          </a:p>
          <a:p>
            <a:r>
              <a:rPr lang="en-US" altLang="zh-CN" dirty="0"/>
              <a:t>D. </a:t>
            </a:r>
            <a:r>
              <a:rPr lang="zh-CN" altLang="en-US" dirty="0"/>
              <a:t>得不出有意义的结论。</a:t>
            </a:r>
          </a:p>
        </p:txBody>
      </p:sp>
    </p:spTree>
    <p:extLst>
      <p:ext uri="{BB962C8B-B14F-4D97-AF65-F5344CB8AC3E}">
        <p14:creationId xmlns:p14="http://schemas.microsoft.com/office/powerpoint/2010/main" val="297696617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B5173412-F17A-7834-426C-CB969291F1B7}"/>
              </a:ext>
            </a:extLst>
          </p:cNvPr>
          <p:cNvSpPr>
            <a:spLocks noGrp="1"/>
          </p:cNvSpPr>
          <p:nvPr>
            <p:ph type="body" sz="quarter" idx="10"/>
          </p:nvPr>
        </p:nvSpPr>
        <p:spPr>
          <a:xfrm>
            <a:off x="3219345" y="1629000"/>
            <a:ext cx="8640000" cy="3600000"/>
          </a:xfrm>
        </p:spPr>
        <p:txBody>
          <a:bodyPr/>
          <a:lstStyle/>
          <a:p>
            <a:r>
              <a:rPr lang="zh-CN" altLang="en-US" dirty="0"/>
              <a:t>小黄在年度敏捷会议上听到了关于敏捷项目管理的内容，演讲者的主题是授权团队。那么授权团队是指？</a:t>
            </a:r>
            <a:endParaRPr lang="en-US" altLang="zh-CN" dirty="0"/>
          </a:p>
          <a:p>
            <a:endParaRPr lang="zh-CN" altLang="en-US" dirty="0"/>
          </a:p>
          <a:p>
            <a:r>
              <a:rPr lang="en-US" altLang="zh-CN" dirty="0"/>
              <a:t>A. </a:t>
            </a:r>
            <a:r>
              <a:rPr lang="zh-CN" altLang="en-US" dirty="0"/>
              <a:t>一支自组织、跨功能和几乎不受外部影响进行自我管理的团队</a:t>
            </a:r>
          </a:p>
          <a:p>
            <a:r>
              <a:rPr lang="en-US" altLang="zh-CN" dirty="0"/>
              <a:t>B. </a:t>
            </a:r>
            <a:r>
              <a:rPr lang="zh-CN" altLang="en-US" dirty="0"/>
              <a:t>一支以盈利为目的，注重会议成本和进度限制的团队</a:t>
            </a:r>
          </a:p>
          <a:p>
            <a:r>
              <a:rPr lang="en-US" altLang="zh-CN" dirty="0"/>
              <a:t>C. </a:t>
            </a:r>
            <a:r>
              <a:rPr lang="zh-CN" altLang="en-US" dirty="0"/>
              <a:t>一支依靠外部管理来获得方向的团队</a:t>
            </a:r>
          </a:p>
          <a:p>
            <a:r>
              <a:rPr lang="en-US" altLang="zh-CN" dirty="0"/>
              <a:t>D. </a:t>
            </a:r>
            <a:r>
              <a:rPr lang="zh-CN" altLang="en-US" dirty="0"/>
              <a:t>一支在迭代中超越可持续开发速度以实现迭代待办事项目标的团队</a:t>
            </a:r>
          </a:p>
        </p:txBody>
      </p:sp>
    </p:spTree>
    <p:extLst>
      <p:ext uri="{BB962C8B-B14F-4D97-AF65-F5344CB8AC3E}">
        <p14:creationId xmlns:p14="http://schemas.microsoft.com/office/powerpoint/2010/main" val="1009256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6613211B-4125-A0C6-7564-94729AE8C488}"/>
              </a:ext>
            </a:extLst>
          </p:cNvPr>
          <p:cNvSpPr>
            <a:spLocks noGrp="1"/>
          </p:cNvSpPr>
          <p:nvPr>
            <p:ph type="body" sz="quarter" idx="10"/>
          </p:nvPr>
        </p:nvSpPr>
        <p:spPr>
          <a:xfrm>
            <a:off x="3219345" y="1629000"/>
            <a:ext cx="8640000" cy="3600000"/>
          </a:xfrm>
        </p:spPr>
        <p:txBody>
          <a:bodyPr/>
          <a:lstStyle/>
          <a:p>
            <a:r>
              <a:rPr lang="zh-CN" altLang="en-US" dirty="0"/>
              <a:t>在敏捷团队中，一些团队成员积极主动，要求在项目上获得更多自主权。在这种情况下，项目经理应该怎么做？</a:t>
            </a:r>
            <a:endParaRPr lang="en-US" altLang="zh-CN" dirty="0"/>
          </a:p>
          <a:p>
            <a:endParaRPr lang="zh-CN" altLang="en-US" dirty="0"/>
          </a:p>
          <a:p>
            <a:r>
              <a:rPr lang="en-US" altLang="zh-CN" dirty="0"/>
              <a:t>A. </a:t>
            </a:r>
            <a:r>
              <a:rPr lang="zh-CN" altLang="en-US" dirty="0"/>
              <a:t>不鼓励这种要求，因为它是针对管理团队的</a:t>
            </a:r>
          </a:p>
          <a:p>
            <a:r>
              <a:rPr lang="en-US" altLang="zh-CN" dirty="0"/>
              <a:t>B. </a:t>
            </a:r>
            <a:r>
              <a:rPr lang="zh-CN" altLang="en-US" dirty="0"/>
              <a:t>劝阻他们，因为可能会产生冲突</a:t>
            </a:r>
          </a:p>
          <a:p>
            <a:r>
              <a:rPr lang="en-US" altLang="zh-CN" dirty="0"/>
              <a:t>C. </a:t>
            </a:r>
            <a:r>
              <a:rPr lang="zh-CN" altLang="en-US" dirty="0"/>
              <a:t>鼓励团队成员做出决定</a:t>
            </a:r>
          </a:p>
          <a:p>
            <a:r>
              <a:rPr lang="en-US" altLang="zh-CN" dirty="0"/>
              <a:t>D. </a:t>
            </a:r>
            <a:r>
              <a:rPr lang="zh-CN" altLang="en-US" dirty="0"/>
              <a:t>鼓励团队领导做出决定</a:t>
            </a:r>
          </a:p>
        </p:txBody>
      </p:sp>
    </p:spTree>
    <p:extLst>
      <p:ext uri="{BB962C8B-B14F-4D97-AF65-F5344CB8AC3E}">
        <p14:creationId xmlns:p14="http://schemas.microsoft.com/office/powerpoint/2010/main" val="228856347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59EBD68C-FCCA-0A87-994F-DD4A299A65FC}"/>
              </a:ext>
            </a:extLst>
          </p:cNvPr>
          <p:cNvSpPr>
            <a:spLocks noGrp="1"/>
          </p:cNvSpPr>
          <p:nvPr>
            <p:ph type="body" sz="quarter" idx="10"/>
          </p:nvPr>
        </p:nvSpPr>
        <p:spPr>
          <a:xfrm>
            <a:off x="3219345" y="1629000"/>
            <a:ext cx="8640000" cy="3600000"/>
          </a:xfrm>
        </p:spPr>
        <p:txBody>
          <a:bodyPr/>
          <a:lstStyle/>
          <a:p>
            <a:r>
              <a:rPr lang="zh-CN" altLang="en-US" dirty="0"/>
              <a:t>团队成员认为团队目前的工作方法的敏捷性不突出，于是该成员提出团队可以试试以新的形式进行回顾会议，团队成员在每次的回顾会议中可以提出自己的建议，指明在下次的迭代中希望维持或者是改变的东西。请问团队应该尝试这种新方式的原因是什么？</a:t>
            </a:r>
            <a:endParaRPr lang="en-US" altLang="zh-CN" dirty="0"/>
          </a:p>
          <a:p>
            <a:endParaRPr lang="zh-CN" altLang="en-US" dirty="0"/>
          </a:p>
          <a:p>
            <a:r>
              <a:rPr lang="en-US" altLang="zh-CN" dirty="0"/>
              <a:t>A. </a:t>
            </a:r>
            <a:r>
              <a:rPr lang="zh-CN" altLang="en-US" dirty="0"/>
              <a:t>新的会议方法可以激发团队的热情</a:t>
            </a:r>
          </a:p>
          <a:p>
            <a:r>
              <a:rPr lang="en-US" altLang="zh-CN" dirty="0"/>
              <a:t>B. </a:t>
            </a:r>
            <a:r>
              <a:rPr lang="zh-CN" altLang="en-US" dirty="0"/>
              <a:t>可以放大迭代会议的正面作用，以此减少回顾会议的次数</a:t>
            </a:r>
          </a:p>
          <a:p>
            <a:r>
              <a:rPr lang="en-US" altLang="zh-CN" dirty="0"/>
              <a:t>C. </a:t>
            </a:r>
            <a:r>
              <a:rPr lang="zh-CN" altLang="en-US" dirty="0"/>
              <a:t>可以掌握迭代过程的改进状况，对团队起到了帮助</a:t>
            </a:r>
          </a:p>
          <a:p>
            <a:r>
              <a:rPr lang="en-US" altLang="zh-CN" dirty="0"/>
              <a:t>D. </a:t>
            </a:r>
            <a:r>
              <a:rPr lang="zh-CN" altLang="en-US" dirty="0"/>
              <a:t>使用新方式对进展计划有积极的影响</a:t>
            </a:r>
          </a:p>
          <a:p>
            <a:endParaRPr lang="zh-CN" altLang="en-US" dirty="0"/>
          </a:p>
        </p:txBody>
      </p:sp>
    </p:spTree>
    <p:extLst>
      <p:ext uri="{BB962C8B-B14F-4D97-AF65-F5344CB8AC3E}">
        <p14:creationId xmlns:p14="http://schemas.microsoft.com/office/powerpoint/2010/main" val="38514113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4AA6C52A-F0AE-BC70-B178-3F498804DF42}"/>
              </a:ext>
            </a:extLst>
          </p:cNvPr>
          <p:cNvSpPr>
            <a:spLocks noGrp="1"/>
          </p:cNvSpPr>
          <p:nvPr>
            <p:ph type="body" sz="quarter" idx="10"/>
          </p:nvPr>
        </p:nvSpPr>
        <p:spPr>
          <a:xfrm>
            <a:off x="3219345" y="1629000"/>
            <a:ext cx="8640000" cy="3600000"/>
          </a:xfrm>
        </p:spPr>
        <p:txBody>
          <a:bodyPr/>
          <a:lstStyle/>
          <a:p>
            <a:r>
              <a:rPr lang="zh-CN" altLang="en-US" dirty="0"/>
              <a:t>敏捷从业人员及项目干系人所采用的敏捷方法，均以敏捷宣言和敏捷原则为敏捷项目工作的指导。关于敏捷方法，以下哪一项是项目干系人可以获得的主要好处？</a:t>
            </a:r>
            <a:endParaRPr lang="en-US" altLang="zh-CN" dirty="0"/>
          </a:p>
          <a:p>
            <a:endParaRPr lang="zh-CN" altLang="en-US" dirty="0"/>
          </a:p>
          <a:p>
            <a:r>
              <a:rPr lang="en-US" altLang="zh-CN" dirty="0"/>
              <a:t>A. </a:t>
            </a:r>
            <a:r>
              <a:rPr lang="zh-CN" altLang="en-US" dirty="0"/>
              <a:t>可以更加关注项目本身并减少形式化的会议，从而更好的把控项目风险</a:t>
            </a:r>
          </a:p>
          <a:p>
            <a:r>
              <a:rPr lang="en-US" altLang="zh-CN" dirty="0"/>
              <a:t>B. </a:t>
            </a:r>
            <a:r>
              <a:rPr lang="zh-CN" altLang="en-US" dirty="0"/>
              <a:t>不需要遵循变更管理流程并且对于需求变更可以在每日站会中直接添加</a:t>
            </a:r>
          </a:p>
          <a:p>
            <a:r>
              <a:rPr lang="en-US" altLang="zh-CN" dirty="0"/>
              <a:t>C. </a:t>
            </a:r>
            <a:r>
              <a:rPr lang="zh-CN" altLang="en-US" dirty="0"/>
              <a:t>尽早持续地交付有价值的软件，提高可视性和频繁适应的机会</a:t>
            </a:r>
          </a:p>
          <a:p>
            <a:r>
              <a:rPr lang="en-US" altLang="zh-CN" dirty="0"/>
              <a:t>D. </a:t>
            </a:r>
            <a:r>
              <a:rPr lang="zh-CN" altLang="en-US" dirty="0"/>
              <a:t>可以在迭代中考虑客户的商业需求并减少优先级的变更程序，以便使团队更好的履行承诺</a:t>
            </a:r>
          </a:p>
        </p:txBody>
      </p:sp>
    </p:spTree>
    <p:extLst>
      <p:ext uri="{BB962C8B-B14F-4D97-AF65-F5344CB8AC3E}">
        <p14:creationId xmlns:p14="http://schemas.microsoft.com/office/powerpoint/2010/main" val="315188301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249B2C71-C28C-6A07-30A2-2C8134BB9144}"/>
              </a:ext>
            </a:extLst>
          </p:cNvPr>
          <p:cNvSpPr>
            <a:spLocks noGrp="1"/>
          </p:cNvSpPr>
          <p:nvPr>
            <p:ph type="body" sz="quarter" idx="10"/>
          </p:nvPr>
        </p:nvSpPr>
        <p:spPr>
          <a:xfrm>
            <a:off x="3219345" y="1629000"/>
            <a:ext cx="8640000" cy="3600000"/>
          </a:xfrm>
        </p:spPr>
        <p:txBody>
          <a:bodyPr/>
          <a:lstStyle/>
          <a:p>
            <a:r>
              <a:rPr lang="zh-CN" altLang="en-US" dirty="0"/>
              <a:t>项目经理接管了公司的的一个由关键相关方、主题专家（</a:t>
            </a:r>
            <a:r>
              <a:rPr lang="en-US" altLang="zh-CN" dirty="0"/>
              <a:t>SME</a:t>
            </a:r>
            <a:r>
              <a:rPr lang="zh-CN" altLang="en-US" dirty="0"/>
              <a:t>）和高级开发人员组成的负责现有软件项目的精益团队。在与团队一起审查项目状态时，项目经理发现团队似乎缺乏方向和热情。项目经理应该做什么？</a:t>
            </a:r>
            <a:endParaRPr lang="en-US" altLang="zh-CN" dirty="0"/>
          </a:p>
          <a:p>
            <a:endParaRPr lang="zh-CN" altLang="en-US" dirty="0"/>
          </a:p>
          <a:p>
            <a:r>
              <a:rPr lang="en-US" altLang="zh-CN" dirty="0"/>
              <a:t>A. </a:t>
            </a:r>
            <a:r>
              <a:rPr lang="zh-CN" altLang="en-US" dirty="0"/>
              <a:t>与项目发起人会面并提出项目的纠正措施</a:t>
            </a:r>
          </a:p>
          <a:p>
            <a:r>
              <a:rPr lang="en-US" altLang="zh-CN" dirty="0"/>
              <a:t>B. </a:t>
            </a:r>
            <a:r>
              <a:rPr lang="zh-CN" altLang="en-US" dirty="0"/>
              <a:t>确保每个人都按计划执行分配的任务</a:t>
            </a:r>
          </a:p>
          <a:p>
            <a:r>
              <a:rPr lang="en-US" altLang="zh-CN" dirty="0"/>
              <a:t>C. </a:t>
            </a:r>
            <a:r>
              <a:rPr lang="zh-CN" altLang="en-US" dirty="0"/>
              <a:t>鼓励参与决策并赋予团队权力</a:t>
            </a:r>
          </a:p>
          <a:p>
            <a:r>
              <a:rPr lang="en-US" altLang="zh-CN" dirty="0"/>
              <a:t>D. </a:t>
            </a:r>
            <a:r>
              <a:rPr lang="zh-CN" altLang="en-US" dirty="0"/>
              <a:t>组织频繁的团队建设会议并更新风险登记册</a:t>
            </a:r>
          </a:p>
        </p:txBody>
      </p:sp>
    </p:spTree>
    <p:extLst>
      <p:ext uri="{BB962C8B-B14F-4D97-AF65-F5344CB8AC3E}">
        <p14:creationId xmlns:p14="http://schemas.microsoft.com/office/powerpoint/2010/main" val="133821066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4A54B-9660-D284-8044-7F5214261DF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27200D4-339F-36C7-A39A-BD843D4E3CFF}"/>
              </a:ext>
            </a:extLst>
          </p:cNvPr>
          <p:cNvSpPr>
            <a:spLocks noGrp="1"/>
          </p:cNvSpPr>
          <p:nvPr>
            <p:ph type="title"/>
          </p:nvPr>
        </p:nvSpPr>
        <p:spPr/>
        <p:txBody>
          <a:bodyPr/>
          <a:lstStyle/>
          <a:p>
            <a:r>
              <a:rPr lang="en-US" altLang="zh-CN" dirty="0"/>
              <a:t>Why</a:t>
            </a:r>
            <a:endParaRPr lang="zh-CN" altLang="en-US" dirty="0"/>
          </a:p>
        </p:txBody>
      </p:sp>
      <p:graphicFrame>
        <p:nvGraphicFramePr>
          <p:cNvPr id="4" name="内容占位符 3">
            <a:extLst>
              <a:ext uri="{FF2B5EF4-FFF2-40B4-BE49-F238E27FC236}">
                <a16:creationId xmlns:a16="http://schemas.microsoft.com/office/drawing/2014/main" id="{50B29EFD-80F3-C708-D8FC-5228496CACD3}"/>
              </a:ext>
            </a:extLst>
          </p:cNvPr>
          <p:cNvGraphicFramePr>
            <a:graphicFrameLocks noGrp="1"/>
          </p:cNvGraphicFramePr>
          <p:nvPr>
            <p:ph idx="1"/>
            <p:extLst>
              <p:ext uri="{D42A27DB-BD31-4B8C-83A1-F6EECF244321}">
                <p14:modId xmlns:p14="http://schemas.microsoft.com/office/powerpoint/2010/main" val="3826695095"/>
              </p:ext>
            </p:extLst>
          </p:nvPr>
        </p:nvGraphicFramePr>
        <p:xfrm>
          <a:off x="695325" y="1079500"/>
          <a:ext cx="10801350" cy="51117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0700706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EA9DC62-21FF-F519-85C9-A37C079EBACB}"/>
              </a:ext>
            </a:extLst>
          </p:cNvPr>
          <p:cNvSpPr>
            <a:spLocks noGrp="1"/>
          </p:cNvSpPr>
          <p:nvPr>
            <p:ph type="title"/>
          </p:nvPr>
        </p:nvSpPr>
        <p:spPr/>
        <p:txBody>
          <a:bodyPr/>
          <a:lstStyle/>
          <a:p>
            <a:r>
              <a:rPr lang="zh-CN" altLang="en-US" dirty="0"/>
              <a:t>说明 </a:t>
            </a:r>
            <a:r>
              <a:rPr lang="en-US" altLang="zh-CN" dirty="0"/>
              <a:t>Tips</a:t>
            </a:r>
            <a:endParaRPr lang="zh-CN" altLang="en-US" dirty="0"/>
          </a:p>
        </p:txBody>
      </p:sp>
      <p:sp>
        <p:nvSpPr>
          <p:cNvPr id="3" name="内容占位符 2">
            <a:extLst>
              <a:ext uri="{FF2B5EF4-FFF2-40B4-BE49-F238E27FC236}">
                <a16:creationId xmlns:a16="http://schemas.microsoft.com/office/drawing/2014/main" id="{2D45C9DF-8123-5E2E-3F6D-859FF846E852}"/>
              </a:ext>
            </a:extLst>
          </p:cNvPr>
          <p:cNvSpPr>
            <a:spLocks noGrp="1"/>
          </p:cNvSpPr>
          <p:nvPr>
            <p:ph idx="1"/>
          </p:nvPr>
        </p:nvSpPr>
        <p:spPr/>
        <p:txBody>
          <a:bodyPr/>
          <a:lstStyle/>
          <a:p>
            <a:r>
              <a:rPr lang="zh-CN" altLang="en-US" dirty="0"/>
              <a:t>不太适合确定性工作</a:t>
            </a:r>
            <a:endParaRPr lang="en-US" altLang="zh-CN" dirty="0"/>
          </a:p>
          <a:p>
            <a:pPr lvl="1"/>
            <a:r>
              <a:rPr lang="zh-CN" altLang="en-US" dirty="0"/>
              <a:t>基建</a:t>
            </a:r>
          </a:p>
        </p:txBody>
      </p:sp>
    </p:spTree>
    <p:extLst>
      <p:ext uri="{BB962C8B-B14F-4D97-AF65-F5344CB8AC3E}">
        <p14:creationId xmlns:p14="http://schemas.microsoft.com/office/powerpoint/2010/main" val="331248615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EF26FB-B0DE-4125-134A-4E0614469BD3}"/>
              </a:ext>
            </a:extLst>
          </p:cNvPr>
          <p:cNvSpPr>
            <a:spLocks noGrp="1"/>
          </p:cNvSpPr>
          <p:nvPr>
            <p:ph type="title"/>
          </p:nvPr>
        </p:nvSpPr>
        <p:spPr/>
        <p:txBody>
          <a:bodyPr/>
          <a:lstStyle/>
          <a:p>
            <a:r>
              <a:rPr lang="zh-CN" altLang="en-US" dirty="0"/>
              <a:t>干系人 </a:t>
            </a:r>
            <a:r>
              <a:rPr lang="en-US" altLang="zh-CN" dirty="0"/>
              <a:t>Stakeholders</a:t>
            </a:r>
            <a:endParaRPr lang="zh-CN" altLang="en-US" dirty="0"/>
          </a:p>
        </p:txBody>
      </p:sp>
      <p:sp>
        <p:nvSpPr>
          <p:cNvPr id="3" name="内容占位符 2">
            <a:extLst>
              <a:ext uri="{FF2B5EF4-FFF2-40B4-BE49-F238E27FC236}">
                <a16:creationId xmlns:a16="http://schemas.microsoft.com/office/drawing/2014/main" id="{1A53E66D-42F5-9025-C7D2-0B9DE6AC81CF}"/>
              </a:ext>
            </a:extLst>
          </p:cNvPr>
          <p:cNvSpPr>
            <a:spLocks noGrp="1"/>
          </p:cNvSpPr>
          <p:nvPr>
            <p:ph idx="1"/>
          </p:nvPr>
        </p:nvSpPr>
        <p:spPr/>
        <p:txBody>
          <a:bodyPr/>
          <a:lstStyle/>
          <a:p>
            <a:endParaRPr lang="zh-CN" altLang="en-US"/>
          </a:p>
        </p:txBody>
      </p:sp>
    </p:spTree>
    <p:extLst>
      <p:ext uri="{BB962C8B-B14F-4D97-AF65-F5344CB8AC3E}">
        <p14:creationId xmlns:p14="http://schemas.microsoft.com/office/powerpoint/2010/main" val="151241634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59578-7087-52F7-997F-3737C639765A}"/>
              </a:ext>
            </a:extLst>
          </p:cNvPr>
          <p:cNvSpPr>
            <a:spLocks noGrp="1"/>
          </p:cNvSpPr>
          <p:nvPr>
            <p:ph type="title"/>
          </p:nvPr>
        </p:nvSpPr>
        <p:spPr>
          <a:xfrm>
            <a:off x="696000" y="360000"/>
            <a:ext cx="10800000" cy="424732"/>
          </a:xfrm>
        </p:spPr>
        <p:txBody>
          <a:bodyPr/>
          <a:lstStyle/>
          <a:p>
            <a:r>
              <a:rPr lang="zh-CN" altLang="en-US" dirty="0"/>
              <a:t>凸显模型 </a:t>
            </a:r>
            <a:r>
              <a:rPr lang="en-US" altLang="zh-CN" dirty="0"/>
              <a:t>Salience Model</a:t>
            </a:r>
            <a:endParaRPr lang="zh-CN" altLang="en-US" dirty="0"/>
          </a:p>
        </p:txBody>
      </p:sp>
      <p:sp>
        <p:nvSpPr>
          <p:cNvPr id="11" name="内容占位符 10">
            <a:extLst>
              <a:ext uri="{FF2B5EF4-FFF2-40B4-BE49-F238E27FC236}">
                <a16:creationId xmlns:a16="http://schemas.microsoft.com/office/drawing/2014/main" id="{7C17E8C5-E405-C470-919F-F377F38AF7FD}"/>
              </a:ext>
            </a:extLst>
          </p:cNvPr>
          <p:cNvSpPr>
            <a:spLocks noGrp="1"/>
          </p:cNvSpPr>
          <p:nvPr>
            <p:ph idx="1"/>
          </p:nvPr>
        </p:nvSpPr>
        <p:spPr>
          <a:xfrm>
            <a:off x="696000" y="1080000"/>
            <a:ext cx="10800000" cy="5112000"/>
          </a:xfrm>
        </p:spPr>
        <p:txBody>
          <a:bodyPr/>
          <a:lstStyle/>
          <a:p>
            <a:endParaRPr lang="zh-CN" altLang="en-US"/>
          </a:p>
        </p:txBody>
      </p:sp>
      <p:graphicFrame>
        <p:nvGraphicFramePr>
          <p:cNvPr id="9" name="内容占位符 5">
            <a:extLst>
              <a:ext uri="{FF2B5EF4-FFF2-40B4-BE49-F238E27FC236}">
                <a16:creationId xmlns:a16="http://schemas.microsoft.com/office/drawing/2014/main" id="{28CD73D4-2AD0-D999-55A3-A7BD54DBD2B5}"/>
              </a:ext>
            </a:extLst>
          </p:cNvPr>
          <p:cNvGraphicFramePr>
            <a:graphicFrameLocks/>
          </p:cNvGraphicFramePr>
          <p:nvPr>
            <p:extLst>
              <p:ext uri="{D42A27DB-BD31-4B8C-83A1-F6EECF244321}">
                <p14:modId xmlns:p14="http://schemas.microsoft.com/office/powerpoint/2010/main" val="2993091100"/>
              </p:ext>
            </p:extLst>
          </p:nvPr>
        </p:nvGraphicFramePr>
        <p:xfrm>
          <a:off x="695325" y="4528552"/>
          <a:ext cx="10801350" cy="1663448"/>
        </p:xfrm>
        <a:graphic>
          <a:graphicData uri="http://schemas.openxmlformats.org/drawingml/2006/table">
            <a:tbl>
              <a:tblPr>
                <a:tableStyleId>{72833802-FEF1-4C79-8D5D-14CF1EAF98D9}</a:tableStyleId>
              </a:tblPr>
              <a:tblGrid>
                <a:gridCol w="5400675">
                  <a:extLst>
                    <a:ext uri="{9D8B030D-6E8A-4147-A177-3AD203B41FA5}">
                      <a16:colId xmlns:a16="http://schemas.microsoft.com/office/drawing/2014/main" val="2257498338"/>
                    </a:ext>
                  </a:extLst>
                </a:gridCol>
                <a:gridCol w="5400675">
                  <a:extLst>
                    <a:ext uri="{9D8B030D-6E8A-4147-A177-3AD203B41FA5}">
                      <a16:colId xmlns:a16="http://schemas.microsoft.com/office/drawing/2014/main" val="772762208"/>
                    </a:ext>
                  </a:extLst>
                </a:gridCol>
              </a:tblGrid>
              <a:tr h="0">
                <a:tc>
                  <a:txBody>
                    <a:bodyPr/>
                    <a:lstStyle/>
                    <a:p>
                      <a:pPr>
                        <a:lnSpc>
                          <a:spcPct val="150000"/>
                        </a:lnSpc>
                        <a:buNone/>
                      </a:pPr>
                      <a:r>
                        <a:rPr lang="zh-CN" altLang="en-US" sz="1600" dirty="0">
                          <a:solidFill>
                            <a:schemeClr val="bg1"/>
                          </a:solidFill>
                        </a:rPr>
                        <a:t>维度</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tc>
                  <a:txBody>
                    <a:bodyPr/>
                    <a:lstStyle/>
                    <a:p>
                      <a:pPr>
                        <a:lnSpc>
                          <a:spcPct val="150000"/>
                        </a:lnSpc>
                        <a:buNone/>
                      </a:pPr>
                      <a:r>
                        <a:rPr lang="zh-CN" altLang="en-US" sz="1600" dirty="0">
                          <a:solidFill>
                            <a:schemeClr val="bg1"/>
                          </a:solidFill>
                        </a:rPr>
                        <a:t>含义</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extLst>
                  <a:ext uri="{0D108BD9-81ED-4DB2-BD59-A6C34878D82A}">
                    <a16:rowId xmlns:a16="http://schemas.microsoft.com/office/drawing/2014/main" val="1950792618"/>
                  </a:ext>
                </a:extLst>
              </a:tr>
              <a:tr h="0">
                <a:tc>
                  <a:txBody>
                    <a:bodyPr/>
                    <a:lstStyle/>
                    <a:p>
                      <a:pPr>
                        <a:lnSpc>
                          <a:spcPct val="150000"/>
                        </a:lnSpc>
                        <a:buNone/>
                      </a:pPr>
                      <a:r>
                        <a:rPr lang="zh-CN" altLang="en-US" sz="1600" dirty="0"/>
                        <a:t>权力 </a:t>
                      </a:r>
                      <a:r>
                        <a:rPr lang="en-US" sz="1600" dirty="0"/>
                        <a:t>Power</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是否有能力影响项目决策或资源分配？</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314146267"/>
                  </a:ext>
                </a:extLst>
              </a:tr>
              <a:tr h="0">
                <a:tc>
                  <a:txBody>
                    <a:bodyPr/>
                    <a:lstStyle/>
                    <a:p>
                      <a:pPr>
                        <a:lnSpc>
                          <a:spcPct val="150000"/>
                        </a:lnSpc>
                        <a:buNone/>
                      </a:pPr>
                      <a:r>
                        <a:rPr lang="zh-CN" altLang="en-US" sz="1600" dirty="0"/>
                        <a:t>合法性 </a:t>
                      </a:r>
                      <a:r>
                        <a:rPr lang="en-US" sz="1600" dirty="0"/>
                        <a:t>Legitimacy</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其参与是否符合规则、道德或社会期望？</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4004831539"/>
                  </a:ext>
                </a:extLst>
              </a:tr>
              <a:tr h="0">
                <a:tc>
                  <a:txBody>
                    <a:bodyPr/>
                    <a:lstStyle/>
                    <a:p>
                      <a:pPr>
                        <a:lnSpc>
                          <a:spcPct val="150000"/>
                        </a:lnSpc>
                        <a:buNone/>
                      </a:pPr>
                      <a:r>
                        <a:rPr lang="zh-CN" altLang="en-US" sz="1600" dirty="0"/>
                        <a:t>紧迫性 </a:t>
                      </a:r>
                      <a:r>
                        <a:rPr lang="en-US" sz="1600" dirty="0"/>
                        <a:t>Urgency</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是否需要立即响应？是否有时间压力？</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184911823"/>
                  </a:ext>
                </a:extLst>
              </a:tr>
            </a:tbl>
          </a:graphicData>
        </a:graphic>
      </p:graphicFrame>
    </p:spTree>
    <p:extLst>
      <p:ext uri="{BB962C8B-B14F-4D97-AF65-F5344CB8AC3E}">
        <p14:creationId xmlns:p14="http://schemas.microsoft.com/office/powerpoint/2010/main" val="43898430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B596F958-C726-0557-68E6-F92B50677791}"/>
              </a:ext>
            </a:extLst>
          </p:cNvPr>
          <p:cNvSpPr>
            <a:spLocks noGrp="1"/>
          </p:cNvSpPr>
          <p:nvPr>
            <p:ph type="title"/>
          </p:nvPr>
        </p:nvSpPr>
        <p:spPr/>
        <p:txBody>
          <a:bodyPr/>
          <a:lstStyle/>
          <a:p>
            <a:endParaRPr lang="zh-CN" altLang="en-US"/>
          </a:p>
        </p:txBody>
      </p:sp>
      <p:sp>
        <p:nvSpPr>
          <p:cNvPr id="8" name="内容占位符 7">
            <a:extLst>
              <a:ext uri="{FF2B5EF4-FFF2-40B4-BE49-F238E27FC236}">
                <a16:creationId xmlns:a16="http://schemas.microsoft.com/office/drawing/2014/main" id="{3ED41F76-377E-3337-182C-BFF3AB3BD1C0}"/>
              </a:ext>
            </a:extLst>
          </p:cNvPr>
          <p:cNvSpPr>
            <a:spLocks noGrp="1"/>
          </p:cNvSpPr>
          <p:nvPr>
            <p:ph idx="1"/>
          </p:nvPr>
        </p:nvSpPr>
        <p:spPr>
          <a:xfrm>
            <a:off x="696000" y="1080000"/>
            <a:ext cx="10800000" cy="5112000"/>
          </a:xfrm>
        </p:spPr>
        <p:txBody>
          <a:bodyPr/>
          <a:lstStyle/>
          <a:p>
            <a:endParaRPr lang="zh-CN" altLang="en-US" dirty="0"/>
          </a:p>
        </p:txBody>
      </p:sp>
      <p:graphicFrame>
        <p:nvGraphicFramePr>
          <p:cNvPr id="9" name="内容占位符 3">
            <a:extLst>
              <a:ext uri="{FF2B5EF4-FFF2-40B4-BE49-F238E27FC236}">
                <a16:creationId xmlns:a16="http://schemas.microsoft.com/office/drawing/2014/main" id="{B7830169-B500-B273-3FB2-332093BAA4B1}"/>
              </a:ext>
            </a:extLst>
          </p:cNvPr>
          <p:cNvGraphicFramePr>
            <a:graphicFrameLocks/>
          </p:cNvGraphicFramePr>
          <p:nvPr>
            <p:extLst>
              <p:ext uri="{D42A27DB-BD31-4B8C-83A1-F6EECF244321}">
                <p14:modId xmlns:p14="http://schemas.microsoft.com/office/powerpoint/2010/main" val="1681298989"/>
              </p:ext>
            </p:extLst>
          </p:nvPr>
        </p:nvGraphicFramePr>
        <p:xfrm>
          <a:off x="695325" y="2994807"/>
          <a:ext cx="10800000" cy="3197193"/>
        </p:xfrm>
        <a:graphic>
          <a:graphicData uri="http://schemas.openxmlformats.org/drawingml/2006/table">
            <a:tbl>
              <a:tblPr>
                <a:tableStyleId>{72833802-FEF1-4C79-8D5D-14CF1EAF98D9}</a:tableStyleId>
              </a:tblPr>
              <a:tblGrid>
                <a:gridCol w="647608">
                  <a:extLst>
                    <a:ext uri="{9D8B030D-6E8A-4147-A177-3AD203B41FA5}">
                      <a16:colId xmlns:a16="http://schemas.microsoft.com/office/drawing/2014/main" val="3977532349"/>
                    </a:ext>
                  </a:extLst>
                </a:gridCol>
                <a:gridCol w="2995127">
                  <a:extLst>
                    <a:ext uri="{9D8B030D-6E8A-4147-A177-3AD203B41FA5}">
                      <a16:colId xmlns:a16="http://schemas.microsoft.com/office/drawing/2014/main" val="3201153781"/>
                    </a:ext>
                  </a:extLst>
                </a:gridCol>
                <a:gridCol w="1119673">
                  <a:extLst>
                    <a:ext uri="{9D8B030D-6E8A-4147-A177-3AD203B41FA5}">
                      <a16:colId xmlns:a16="http://schemas.microsoft.com/office/drawing/2014/main" val="790501837"/>
                    </a:ext>
                  </a:extLst>
                </a:gridCol>
                <a:gridCol w="6037592">
                  <a:extLst>
                    <a:ext uri="{9D8B030D-6E8A-4147-A177-3AD203B41FA5}">
                      <a16:colId xmlns:a16="http://schemas.microsoft.com/office/drawing/2014/main" val="246903288"/>
                    </a:ext>
                  </a:extLst>
                </a:gridCol>
              </a:tblGrid>
              <a:tr h="0">
                <a:tc>
                  <a:txBody>
                    <a:bodyPr/>
                    <a:lstStyle/>
                    <a:p>
                      <a:pPr algn="ctr">
                        <a:lnSpc>
                          <a:spcPct val="150000"/>
                        </a:lnSpc>
                        <a:buNone/>
                      </a:pPr>
                      <a:r>
                        <a:rPr lang="zh-CN" altLang="en-US" sz="1600" dirty="0">
                          <a:solidFill>
                            <a:schemeClr val="bg1"/>
                          </a:solidFill>
                        </a:rPr>
                        <a:t>编号</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tc>
                  <a:txBody>
                    <a:bodyPr/>
                    <a:lstStyle/>
                    <a:p>
                      <a:pPr>
                        <a:lnSpc>
                          <a:spcPct val="150000"/>
                        </a:lnSpc>
                        <a:buNone/>
                      </a:pPr>
                      <a:r>
                        <a:rPr lang="zh-CN" altLang="en-US" sz="1600" dirty="0">
                          <a:solidFill>
                            <a:schemeClr val="bg1"/>
                          </a:solidFill>
                        </a:rPr>
                        <a:t>英文名称</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tc>
                  <a:txBody>
                    <a:bodyPr/>
                    <a:lstStyle/>
                    <a:p>
                      <a:pPr>
                        <a:lnSpc>
                          <a:spcPct val="150000"/>
                        </a:lnSpc>
                        <a:buNone/>
                      </a:pPr>
                      <a:r>
                        <a:rPr lang="zh-CN" altLang="en-US" sz="1600" dirty="0">
                          <a:solidFill>
                            <a:schemeClr val="bg1"/>
                          </a:solidFill>
                        </a:rPr>
                        <a:t>中文名称</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tc>
                  <a:txBody>
                    <a:bodyPr/>
                    <a:lstStyle/>
                    <a:p>
                      <a:pPr>
                        <a:lnSpc>
                          <a:spcPct val="150000"/>
                        </a:lnSpc>
                        <a:buNone/>
                      </a:pPr>
                      <a:r>
                        <a:rPr lang="zh-CN" altLang="en-US" sz="1600" dirty="0">
                          <a:solidFill>
                            <a:schemeClr val="bg1"/>
                          </a:solidFill>
                        </a:rPr>
                        <a:t>特征说明</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extLst>
                  <a:ext uri="{0D108BD9-81ED-4DB2-BD59-A6C34878D82A}">
                    <a16:rowId xmlns:a16="http://schemas.microsoft.com/office/drawing/2014/main" val="127923883"/>
                  </a:ext>
                </a:extLst>
              </a:tr>
              <a:tr h="0">
                <a:tc>
                  <a:txBody>
                    <a:bodyPr/>
                    <a:lstStyle/>
                    <a:p>
                      <a:pPr algn="ctr">
                        <a:lnSpc>
                          <a:spcPct val="150000"/>
                        </a:lnSpc>
                        <a:buNone/>
                      </a:pPr>
                      <a:r>
                        <a:rPr lang="en-US" altLang="zh-CN" sz="1600" dirty="0"/>
                        <a:t>1</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Dormant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潜伏型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有权力但不主动，合法且非紧急。可暂时忽略，但需监控</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2590803437"/>
                  </a:ext>
                </a:extLst>
              </a:tr>
              <a:tr h="0">
                <a:tc>
                  <a:txBody>
                    <a:bodyPr/>
                    <a:lstStyle/>
                    <a:p>
                      <a:pPr algn="ctr">
                        <a:lnSpc>
                          <a:spcPct val="150000"/>
                        </a:lnSpc>
                        <a:buNone/>
                      </a:pPr>
                      <a:r>
                        <a:rPr lang="en-US" altLang="zh-CN" sz="1600" dirty="0"/>
                        <a:t>2</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Discretionary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随意型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无权力，但合法且紧急。例如：临时求助的同事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4224256384"/>
                  </a:ext>
                </a:extLst>
              </a:tr>
              <a:tr h="0">
                <a:tc>
                  <a:txBody>
                    <a:bodyPr/>
                    <a:lstStyle/>
                    <a:p>
                      <a:pPr algn="ctr">
                        <a:lnSpc>
                          <a:spcPct val="150000"/>
                        </a:lnSpc>
                        <a:buNone/>
                      </a:pPr>
                      <a:r>
                        <a:rPr lang="en-US" altLang="zh-CN" sz="1600" dirty="0"/>
                        <a:t>3</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Demanding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娇情型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有权、合法但不紧急。喜欢提要求，但不会立刻施压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1075907110"/>
                  </a:ext>
                </a:extLst>
              </a:tr>
              <a:tr h="0">
                <a:tc>
                  <a:txBody>
                    <a:bodyPr/>
                    <a:lstStyle/>
                    <a:p>
                      <a:pPr algn="ctr">
                        <a:lnSpc>
                          <a:spcPct val="150000"/>
                        </a:lnSpc>
                        <a:buNone/>
                      </a:pPr>
                      <a:r>
                        <a:rPr lang="en-US" altLang="zh-CN" sz="1600" dirty="0"/>
                        <a:t>4</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Dominant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权贵型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有权、合法、但不紧急。典型如高层领导、董事会成员</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2980077829"/>
                  </a:ext>
                </a:extLst>
              </a:tr>
              <a:tr h="0">
                <a:tc>
                  <a:txBody>
                    <a:bodyPr/>
                    <a:lstStyle/>
                    <a:p>
                      <a:pPr algn="ctr">
                        <a:lnSpc>
                          <a:spcPct val="150000"/>
                        </a:lnSpc>
                        <a:buNone/>
                      </a:pPr>
                      <a:r>
                        <a:rPr lang="en-US" altLang="zh-CN" sz="1600" dirty="0"/>
                        <a:t>5</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Dangerous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危险型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有权、不合法、但紧急。可能违法或破坏项目，需警惕</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2484786950"/>
                  </a:ext>
                </a:extLst>
              </a:tr>
              <a:tr h="0">
                <a:tc>
                  <a:txBody>
                    <a:bodyPr/>
                    <a:lstStyle/>
                    <a:p>
                      <a:pPr algn="ctr">
                        <a:lnSpc>
                          <a:spcPct val="150000"/>
                        </a:lnSpc>
                        <a:buNone/>
                      </a:pPr>
                      <a:r>
                        <a:rPr lang="en-US" altLang="zh-CN" sz="1600" dirty="0"/>
                        <a:t>6</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Dependent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从众型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无权、不合法、也不紧急。依赖他人支持，影响力小</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2214180841"/>
                  </a:ext>
                </a:extLst>
              </a:tr>
              <a:tr h="0">
                <a:tc>
                  <a:txBody>
                    <a:bodyPr/>
                    <a:lstStyle/>
                    <a:p>
                      <a:pPr algn="ctr">
                        <a:lnSpc>
                          <a:spcPct val="150000"/>
                        </a:lnSpc>
                        <a:buNone/>
                      </a:pPr>
                      <a:r>
                        <a:rPr lang="en-US" altLang="zh-CN" sz="1600" dirty="0"/>
                        <a:t>7</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Definitive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统治型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三者俱全：有权、合法、紧急。最核心的干系人，必须重点管理</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1880363959"/>
                  </a:ext>
                </a:extLst>
              </a:tr>
            </a:tbl>
          </a:graphicData>
        </a:graphic>
      </p:graphicFrame>
    </p:spTree>
    <p:extLst>
      <p:ext uri="{BB962C8B-B14F-4D97-AF65-F5344CB8AC3E}">
        <p14:creationId xmlns:p14="http://schemas.microsoft.com/office/powerpoint/2010/main" val="89056386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内容占位符 8">
            <a:extLst>
              <a:ext uri="{FF2B5EF4-FFF2-40B4-BE49-F238E27FC236}">
                <a16:creationId xmlns:a16="http://schemas.microsoft.com/office/drawing/2014/main" id="{03DD6A68-E284-9765-27FB-5C4B1E7464E6}"/>
              </a:ext>
            </a:extLst>
          </p:cNvPr>
          <p:cNvGraphicFramePr>
            <a:graphicFrameLocks noChangeAspect="1"/>
          </p:cNvGraphicFramePr>
          <p:nvPr>
            <p:extLst>
              <p:ext uri="{D42A27DB-BD31-4B8C-83A1-F6EECF244321}">
                <p14:modId xmlns:p14="http://schemas.microsoft.com/office/powerpoint/2010/main" val="2246024272"/>
              </p:ext>
            </p:extLst>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3C1A01B-1C73-8662-947E-7752092AADE1}"/>
              </a:ext>
            </a:extLst>
          </p:cNvPr>
          <p:cNvSpPr>
            <a:spLocks noGrp="1"/>
          </p:cNvSpPr>
          <p:nvPr>
            <p:ph type="title"/>
          </p:nvPr>
        </p:nvSpPr>
        <p:spPr>
          <a:xfrm>
            <a:off x="696000" y="360000"/>
            <a:ext cx="10800000" cy="424732"/>
          </a:xfrm>
        </p:spPr>
        <p:txBody>
          <a:bodyPr/>
          <a:lstStyle/>
          <a:p>
            <a:r>
              <a:rPr lang="en-US" altLang="zh-CN" dirty="0"/>
              <a:t>Triple Constraint Diagram</a:t>
            </a:r>
            <a:endParaRPr lang="zh-CN" altLang="en-US" dirty="0"/>
          </a:p>
        </p:txBody>
      </p:sp>
      <p:pic>
        <p:nvPicPr>
          <p:cNvPr id="27" name="内容占位符 26" descr="时钟">
            <a:extLst>
              <a:ext uri="{FF2B5EF4-FFF2-40B4-BE49-F238E27FC236}">
                <a16:creationId xmlns:a16="http://schemas.microsoft.com/office/drawing/2014/main" id="{2FA749CD-DA96-5D61-98F9-DDE1A6EA1D16}"/>
              </a:ext>
            </a:extLst>
          </p:cNvPr>
          <p:cNvPicPr>
            <a:picLocks noGrp="1" noChangeAspect="1"/>
          </p:cNvPicPr>
          <p:nvPr>
            <p:ph idx="1"/>
          </p:nvPr>
        </p:nvPicPr>
        <p:blipFill>
          <a:blip r:embed="rId7">
            <a:extLst>
              <a:ext uri="{96DAC541-7B7A-43D3-8B79-37D633B846F1}">
                <asvg:svgBlip xmlns:asvg="http://schemas.microsoft.com/office/drawing/2016/SVG/main" r:embed="rId8"/>
              </a:ext>
            </a:extLst>
          </a:blip>
          <a:stretch>
            <a:fillRect/>
          </a:stretch>
        </p:blipFill>
        <p:spPr>
          <a:xfrm>
            <a:off x="6834378" y="4198978"/>
            <a:ext cx="540000" cy="540000"/>
          </a:xfrm>
        </p:spPr>
      </p:pic>
      <p:sp>
        <p:nvSpPr>
          <p:cNvPr id="21" name="文本框 20">
            <a:extLst>
              <a:ext uri="{FF2B5EF4-FFF2-40B4-BE49-F238E27FC236}">
                <a16:creationId xmlns:a16="http://schemas.microsoft.com/office/drawing/2014/main" id="{F998C7B8-46D9-E83C-D2AC-790D6EC6195B}"/>
              </a:ext>
            </a:extLst>
          </p:cNvPr>
          <p:cNvSpPr txBox="1"/>
          <p:nvPr/>
        </p:nvSpPr>
        <p:spPr>
          <a:xfrm>
            <a:off x="4310743" y="1249144"/>
            <a:ext cx="4330032" cy="646331"/>
          </a:xfrm>
          <a:prstGeom prst="rect">
            <a:avLst/>
          </a:prstGeom>
          <a:noFill/>
        </p:spPr>
        <p:txBody>
          <a:bodyPr wrap="none" rtlCol="0">
            <a:spAutoFit/>
          </a:bodyPr>
          <a:lstStyle/>
          <a:p>
            <a:r>
              <a:rPr lang="en-US" altLang="zh-CN" dirty="0"/>
              <a:t>The tasks</a:t>
            </a:r>
          </a:p>
          <a:p>
            <a:r>
              <a:rPr lang="en-US" altLang="zh-CN" dirty="0"/>
              <a:t>required to fulfill the project’s goals</a:t>
            </a:r>
          </a:p>
        </p:txBody>
      </p:sp>
      <p:sp>
        <p:nvSpPr>
          <p:cNvPr id="22" name="文本框 21">
            <a:extLst>
              <a:ext uri="{FF2B5EF4-FFF2-40B4-BE49-F238E27FC236}">
                <a16:creationId xmlns:a16="http://schemas.microsoft.com/office/drawing/2014/main" id="{E2DA17C7-80A0-40A4-D18C-CEAA73FA21C7}"/>
              </a:ext>
            </a:extLst>
          </p:cNvPr>
          <p:cNvSpPr txBox="1"/>
          <p:nvPr/>
        </p:nvSpPr>
        <p:spPr>
          <a:xfrm>
            <a:off x="821094" y="3815648"/>
            <a:ext cx="3489649" cy="923330"/>
          </a:xfrm>
          <a:prstGeom prst="rect">
            <a:avLst/>
          </a:prstGeom>
          <a:noFill/>
        </p:spPr>
        <p:txBody>
          <a:bodyPr wrap="square" rtlCol="0">
            <a:spAutoFit/>
          </a:bodyPr>
          <a:lstStyle/>
          <a:p>
            <a:pPr algn="r"/>
            <a:r>
              <a:rPr lang="en-US" altLang="zh-CN" dirty="0"/>
              <a:t>The financial constraints of a project, also known as the project budget</a:t>
            </a:r>
          </a:p>
        </p:txBody>
      </p:sp>
      <p:sp>
        <p:nvSpPr>
          <p:cNvPr id="25" name="文本框 24">
            <a:extLst>
              <a:ext uri="{FF2B5EF4-FFF2-40B4-BE49-F238E27FC236}">
                <a16:creationId xmlns:a16="http://schemas.microsoft.com/office/drawing/2014/main" id="{0646777D-4340-C671-94EC-0995E0A595AA}"/>
              </a:ext>
            </a:extLst>
          </p:cNvPr>
          <p:cNvSpPr txBox="1"/>
          <p:nvPr/>
        </p:nvSpPr>
        <p:spPr>
          <a:xfrm>
            <a:off x="7881259" y="3815648"/>
            <a:ext cx="2855595" cy="923330"/>
          </a:xfrm>
          <a:prstGeom prst="rect">
            <a:avLst/>
          </a:prstGeom>
          <a:noFill/>
        </p:spPr>
        <p:txBody>
          <a:bodyPr wrap="square" rtlCol="0">
            <a:spAutoFit/>
          </a:bodyPr>
          <a:lstStyle/>
          <a:p>
            <a:r>
              <a:rPr lang="en-US" altLang="zh-CN" dirty="0"/>
              <a:t>The schedule</a:t>
            </a:r>
          </a:p>
          <a:p>
            <a:r>
              <a:rPr lang="en-US" altLang="zh-CN" dirty="0"/>
              <a:t>for the project to reach completion</a:t>
            </a:r>
            <a:endParaRPr lang="zh-CN" altLang="en-US" dirty="0"/>
          </a:p>
        </p:txBody>
      </p:sp>
      <p:pic>
        <p:nvPicPr>
          <p:cNvPr id="29" name="图形 28" descr="硬币">
            <a:extLst>
              <a:ext uri="{FF2B5EF4-FFF2-40B4-BE49-F238E27FC236}">
                <a16:creationId xmlns:a16="http://schemas.microsoft.com/office/drawing/2014/main" id="{DAF165AB-7164-78C7-FA98-223268FDE5E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4884627" y="4198978"/>
            <a:ext cx="540000" cy="540000"/>
          </a:xfrm>
          <a:prstGeom prst="rect">
            <a:avLst/>
          </a:prstGeom>
        </p:spPr>
      </p:pic>
      <p:pic>
        <p:nvPicPr>
          <p:cNvPr id="31" name="图形 30" descr="清单">
            <a:extLst>
              <a:ext uri="{FF2B5EF4-FFF2-40B4-BE49-F238E27FC236}">
                <a16:creationId xmlns:a16="http://schemas.microsoft.com/office/drawing/2014/main" id="{7E3A5C84-3367-F662-C583-279FB6DF2FDD}"/>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5826000" y="2466725"/>
            <a:ext cx="540000" cy="540000"/>
          </a:xfrm>
          <a:prstGeom prst="rect">
            <a:avLst/>
          </a:prstGeom>
        </p:spPr>
      </p:pic>
    </p:spTree>
    <p:extLst>
      <p:ext uri="{BB962C8B-B14F-4D97-AF65-F5344CB8AC3E}">
        <p14:creationId xmlns:p14="http://schemas.microsoft.com/office/powerpoint/2010/main" val="407964784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336B65-CD14-D8DC-209A-4A34FFB3E405}"/>
              </a:ext>
            </a:extLst>
          </p:cNvPr>
          <p:cNvSpPr>
            <a:spLocks noGrp="1"/>
          </p:cNvSpPr>
          <p:nvPr>
            <p:ph type="title"/>
          </p:nvPr>
        </p:nvSpPr>
        <p:spPr>
          <a:xfrm>
            <a:off x="696000" y="360000"/>
            <a:ext cx="10800000" cy="424732"/>
          </a:xfrm>
        </p:spPr>
        <p:txBody>
          <a:bodyPr/>
          <a:lstStyle/>
          <a:p>
            <a:r>
              <a:rPr lang="en-US" altLang="zh-CN" dirty="0"/>
              <a:t>Construction project Triple Constraint Example</a:t>
            </a:r>
            <a:endParaRPr lang="zh-CN" altLang="en-US" dirty="0"/>
          </a:p>
        </p:txBody>
      </p:sp>
      <p:sp>
        <p:nvSpPr>
          <p:cNvPr id="5" name="内容占位符 4">
            <a:extLst>
              <a:ext uri="{FF2B5EF4-FFF2-40B4-BE49-F238E27FC236}">
                <a16:creationId xmlns:a16="http://schemas.microsoft.com/office/drawing/2014/main" id="{6533F0E3-E562-1BD0-CC49-2E461DB0A6D8}"/>
              </a:ext>
            </a:extLst>
          </p:cNvPr>
          <p:cNvSpPr>
            <a:spLocks noGrp="1"/>
          </p:cNvSpPr>
          <p:nvPr>
            <p:ph idx="1"/>
          </p:nvPr>
        </p:nvSpPr>
        <p:spPr>
          <a:xfrm>
            <a:off x="696000" y="1080000"/>
            <a:ext cx="10800000" cy="5112000"/>
          </a:xfrm>
        </p:spPr>
        <p:txBody>
          <a:bodyPr/>
          <a:lstStyle/>
          <a:p>
            <a:r>
              <a:rPr lang="zh-CN" altLang="en-US" dirty="0"/>
              <a:t>假设正在建设一个小型零售店，大约</a:t>
            </a:r>
            <a:r>
              <a:rPr lang="en-US" altLang="zh-CN" dirty="0"/>
              <a:t>2,000</a:t>
            </a:r>
            <a:r>
              <a:rPr lang="zh-CN" altLang="en-US" dirty="0"/>
              <a:t>平方英尺。项目时间为</a:t>
            </a:r>
            <a:r>
              <a:rPr lang="en-US" altLang="zh-CN" dirty="0"/>
              <a:t>6</a:t>
            </a:r>
            <a:r>
              <a:rPr lang="zh-CN" altLang="en-US" dirty="0"/>
              <a:t>个月，预算为</a:t>
            </a:r>
            <a:r>
              <a:rPr lang="en-US" altLang="zh-CN" dirty="0"/>
              <a:t>30</a:t>
            </a:r>
            <a:r>
              <a:rPr lang="zh-CN" altLang="en-US" dirty="0"/>
              <a:t>万美元</a:t>
            </a:r>
            <a:endParaRPr lang="en-US" altLang="zh-CN" dirty="0"/>
          </a:p>
          <a:p>
            <a:r>
              <a:rPr lang="zh-CN" altLang="en-US" dirty="0"/>
              <a:t>如果客户在最后一刻提出增加</a:t>
            </a:r>
            <a:r>
              <a:rPr lang="en-US" altLang="zh-CN" dirty="0"/>
              <a:t>500</a:t>
            </a:r>
            <a:r>
              <a:rPr lang="zh-CN" altLang="en-US" dirty="0"/>
              <a:t>平方英尺的要求：</a:t>
            </a:r>
            <a:endParaRPr lang="en-US" altLang="zh-CN" dirty="0"/>
          </a:p>
          <a:p>
            <a:pPr lvl="1"/>
            <a:r>
              <a:rPr lang="zh-CN" altLang="en-US" dirty="0"/>
              <a:t>扩大项目范围</a:t>
            </a:r>
            <a:endParaRPr lang="en-US" altLang="zh-CN" dirty="0"/>
          </a:p>
          <a:p>
            <a:pPr lvl="1"/>
            <a:r>
              <a:rPr lang="zh-CN" altLang="en-US" dirty="0"/>
              <a:t>要么时间表必须推迟，要么预算增加</a:t>
            </a:r>
          </a:p>
        </p:txBody>
      </p:sp>
    </p:spTree>
    <p:extLst>
      <p:ext uri="{BB962C8B-B14F-4D97-AF65-F5344CB8AC3E}">
        <p14:creationId xmlns:p14="http://schemas.microsoft.com/office/powerpoint/2010/main" val="14065886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457E22E-3DE1-3CC9-4281-208AB4D4CFB4}"/>
              </a:ext>
            </a:extLst>
          </p:cNvPr>
          <p:cNvSpPr>
            <a:spLocks noGrp="1"/>
          </p:cNvSpPr>
          <p:nvPr>
            <p:ph type="title"/>
          </p:nvPr>
        </p:nvSpPr>
        <p:spPr>
          <a:xfrm>
            <a:off x="696000" y="360000"/>
            <a:ext cx="10800000" cy="424732"/>
          </a:xfrm>
        </p:spPr>
        <p:txBody>
          <a:bodyPr/>
          <a:lstStyle/>
          <a:p>
            <a:r>
              <a:rPr lang="en-US" altLang="zh-CN" dirty="0"/>
              <a:t>IT project Triple Constraint Example</a:t>
            </a:r>
            <a:endParaRPr lang="zh-CN" altLang="en-US" dirty="0"/>
          </a:p>
        </p:txBody>
      </p:sp>
      <p:sp>
        <p:nvSpPr>
          <p:cNvPr id="3" name="内容占位符 2">
            <a:extLst>
              <a:ext uri="{FF2B5EF4-FFF2-40B4-BE49-F238E27FC236}">
                <a16:creationId xmlns:a16="http://schemas.microsoft.com/office/drawing/2014/main" id="{E10AADB8-38F4-68BF-D326-32B00A7E0275}"/>
              </a:ext>
            </a:extLst>
          </p:cNvPr>
          <p:cNvSpPr>
            <a:spLocks noGrp="1"/>
          </p:cNvSpPr>
          <p:nvPr>
            <p:ph idx="1"/>
          </p:nvPr>
        </p:nvSpPr>
        <p:spPr>
          <a:xfrm>
            <a:off x="696000" y="1080000"/>
            <a:ext cx="10800000" cy="5112000"/>
          </a:xfrm>
        </p:spPr>
        <p:txBody>
          <a:bodyPr/>
          <a:lstStyle/>
          <a:p>
            <a:r>
              <a:rPr lang="zh-CN" altLang="en-US" dirty="0"/>
              <a:t>如果一个销售团队需要建立一个新的客户关系管理系统</a:t>
            </a:r>
            <a:r>
              <a:rPr lang="en-US" altLang="zh-CN" dirty="0"/>
              <a:t>CRM</a:t>
            </a:r>
            <a:r>
              <a:rPr lang="zh-CN" altLang="en-US" dirty="0"/>
              <a:t>，他们可能有</a:t>
            </a:r>
            <a:r>
              <a:rPr lang="en-US" altLang="zh-CN" dirty="0"/>
              <a:t>9</a:t>
            </a:r>
            <a:r>
              <a:rPr lang="zh-CN" altLang="en-US" dirty="0"/>
              <a:t>个月的时间框架和</a:t>
            </a:r>
            <a:r>
              <a:rPr lang="en-US" altLang="zh-CN" dirty="0"/>
              <a:t>25</a:t>
            </a:r>
            <a:r>
              <a:rPr lang="zh-CN" altLang="en-US" dirty="0"/>
              <a:t>万美元的预算。在范围方面，</a:t>
            </a:r>
            <a:r>
              <a:rPr lang="en-US" altLang="zh-CN" dirty="0"/>
              <a:t>CRM</a:t>
            </a:r>
            <a:r>
              <a:rPr lang="zh-CN" altLang="en-US" dirty="0"/>
              <a:t>需要包括潜在客户管理、销售报告和联系跟踪</a:t>
            </a:r>
            <a:endParaRPr lang="en-US" altLang="zh-CN" dirty="0"/>
          </a:p>
          <a:p>
            <a:r>
              <a:rPr lang="zh-CN" altLang="en-US" dirty="0"/>
              <a:t>如果销售团队要求系统在</a:t>
            </a:r>
            <a:r>
              <a:rPr lang="en-US" altLang="zh-CN" dirty="0"/>
              <a:t>6</a:t>
            </a:r>
            <a:r>
              <a:rPr lang="zh-CN" altLang="en-US" dirty="0"/>
              <a:t>个月内准备就绪：</a:t>
            </a:r>
            <a:endParaRPr lang="en-US" altLang="zh-CN" dirty="0"/>
          </a:p>
          <a:p>
            <a:pPr lvl="1"/>
            <a:r>
              <a:rPr lang="zh-CN" altLang="en-US" dirty="0"/>
              <a:t>减少范围</a:t>
            </a:r>
            <a:endParaRPr lang="en-US" altLang="zh-CN" dirty="0"/>
          </a:p>
          <a:p>
            <a:pPr lvl="1"/>
            <a:r>
              <a:rPr lang="zh-CN" altLang="en-US" dirty="0"/>
              <a:t>增加预算</a:t>
            </a:r>
          </a:p>
        </p:txBody>
      </p:sp>
    </p:spTree>
    <p:extLst>
      <p:ext uri="{BB962C8B-B14F-4D97-AF65-F5344CB8AC3E}">
        <p14:creationId xmlns:p14="http://schemas.microsoft.com/office/powerpoint/2010/main" val="136161144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7E78845-DCE9-B251-2BAF-6A8452142989}"/>
              </a:ext>
            </a:extLst>
          </p:cNvPr>
          <p:cNvSpPr>
            <a:spLocks noGrp="1"/>
          </p:cNvSpPr>
          <p:nvPr>
            <p:ph type="title"/>
          </p:nvPr>
        </p:nvSpPr>
        <p:spPr>
          <a:xfrm>
            <a:off x="696000" y="360000"/>
            <a:ext cx="10800000" cy="424732"/>
          </a:xfrm>
        </p:spPr>
        <p:txBody>
          <a:bodyPr/>
          <a:lstStyle/>
          <a:p>
            <a:r>
              <a:rPr lang="en-US" altLang="zh-CN" dirty="0"/>
              <a:t>Manufacturing Triple Constraint Example</a:t>
            </a:r>
            <a:endParaRPr lang="zh-CN" altLang="en-US" dirty="0"/>
          </a:p>
        </p:txBody>
      </p:sp>
      <p:sp>
        <p:nvSpPr>
          <p:cNvPr id="5" name="内容占位符 4">
            <a:extLst>
              <a:ext uri="{FF2B5EF4-FFF2-40B4-BE49-F238E27FC236}">
                <a16:creationId xmlns:a16="http://schemas.microsoft.com/office/drawing/2014/main" id="{67A14637-32C6-3EBE-553B-85FD5C9D17D2}"/>
              </a:ext>
            </a:extLst>
          </p:cNvPr>
          <p:cNvSpPr>
            <a:spLocks noGrp="1"/>
          </p:cNvSpPr>
          <p:nvPr>
            <p:ph idx="1"/>
          </p:nvPr>
        </p:nvSpPr>
        <p:spPr/>
        <p:txBody>
          <a:bodyPr/>
          <a:lstStyle/>
          <a:p>
            <a:r>
              <a:rPr lang="zh-CN" altLang="en-US" dirty="0"/>
              <a:t>假设一家制造公司正在生产</a:t>
            </a:r>
            <a:r>
              <a:rPr lang="en-US" altLang="zh-CN" dirty="0"/>
              <a:t>5,000</a:t>
            </a:r>
            <a:r>
              <a:rPr lang="zh-CN" altLang="en-US" dirty="0"/>
              <a:t>台新型智能家居设备。它需要包含应用程序集成和语音控制，每台设备的制造成本不能超过</a:t>
            </a:r>
            <a:r>
              <a:rPr lang="en-US" altLang="zh-CN" dirty="0"/>
              <a:t>50</a:t>
            </a:r>
            <a:r>
              <a:rPr lang="zh-CN" altLang="en-US" dirty="0"/>
              <a:t>美元，并且所有设备必须在</a:t>
            </a:r>
            <a:r>
              <a:rPr lang="en-US" altLang="zh-CN" dirty="0"/>
              <a:t>3</a:t>
            </a:r>
            <a:r>
              <a:rPr lang="zh-CN" altLang="en-US" dirty="0"/>
              <a:t>个月内生产完成</a:t>
            </a:r>
            <a:endParaRPr lang="en-US" altLang="zh-CN" dirty="0"/>
          </a:p>
          <a:p>
            <a:r>
              <a:rPr lang="zh-CN" altLang="en-US" dirty="0"/>
              <a:t>如果预算中突然出现成本变化，并且每台设备的制造成本不能超过</a:t>
            </a:r>
            <a:r>
              <a:rPr lang="en-US" altLang="zh-CN" dirty="0"/>
              <a:t>40</a:t>
            </a:r>
            <a:r>
              <a:rPr lang="zh-CN" altLang="en-US" dirty="0"/>
              <a:t>美元：</a:t>
            </a:r>
            <a:endParaRPr lang="en-US" altLang="zh-CN" dirty="0"/>
          </a:p>
          <a:p>
            <a:pPr lvl="1"/>
            <a:r>
              <a:rPr lang="zh-CN" altLang="en-US" dirty="0"/>
              <a:t>要么需要放慢速度，这将延长预算</a:t>
            </a:r>
            <a:endParaRPr lang="en-US" altLang="zh-CN" dirty="0"/>
          </a:p>
          <a:p>
            <a:pPr lvl="1"/>
            <a:r>
              <a:rPr lang="zh-CN" altLang="en-US" dirty="0"/>
              <a:t>要么范围将需要缩减</a:t>
            </a:r>
          </a:p>
        </p:txBody>
      </p:sp>
    </p:spTree>
    <p:extLst>
      <p:ext uri="{BB962C8B-B14F-4D97-AF65-F5344CB8AC3E}">
        <p14:creationId xmlns:p14="http://schemas.microsoft.com/office/powerpoint/2010/main" val="218873131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E5469-7B42-CB80-5266-37043A22DD9B}"/>
              </a:ext>
            </a:extLst>
          </p:cNvPr>
          <p:cNvSpPr>
            <a:spLocks noGrp="1"/>
          </p:cNvSpPr>
          <p:nvPr>
            <p:ph type="title"/>
          </p:nvPr>
        </p:nvSpPr>
        <p:spPr>
          <a:xfrm>
            <a:off x="696000" y="360000"/>
            <a:ext cx="10800000" cy="424732"/>
          </a:xfrm>
        </p:spPr>
        <p:txBody>
          <a:bodyPr/>
          <a:lstStyle/>
          <a:p>
            <a:r>
              <a:rPr lang="zh-CN" altLang="en-US" dirty="0"/>
              <a:t>甘特图 </a:t>
            </a:r>
            <a:r>
              <a:rPr lang="en-US" altLang="zh-CN" dirty="0"/>
              <a:t>Gantt Chart</a:t>
            </a:r>
            <a:endParaRPr lang="zh-CN" altLang="en-US" dirty="0"/>
          </a:p>
        </p:txBody>
      </p:sp>
      <p:sp>
        <p:nvSpPr>
          <p:cNvPr id="3" name="内容占位符 2">
            <a:extLst>
              <a:ext uri="{FF2B5EF4-FFF2-40B4-BE49-F238E27FC236}">
                <a16:creationId xmlns:a16="http://schemas.microsoft.com/office/drawing/2014/main" id="{13487814-DD5D-0B6B-08D6-B79EA4614178}"/>
              </a:ext>
            </a:extLst>
          </p:cNvPr>
          <p:cNvSpPr>
            <a:spLocks noGrp="1"/>
          </p:cNvSpPr>
          <p:nvPr>
            <p:ph idx="1"/>
          </p:nvPr>
        </p:nvSpPr>
        <p:spPr>
          <a:xfrm>
            <a:off x="696000" y="1080000"/>
            <a:ext cx="10800000" cy="5112000"/>
          </a:xfrm>
        </p:spPr>
        <p:txBody>
          <a:bodyPr/>
          <a:lstStyle/>
          <a:p>
            <a:r>
              <a:rPr lang="zh-CN" altLang="en-US" dirty="0"/>
              <a:t>甘特图是一种条形图，用于展示项目进度计划以及每个任务的开始时间和结束时间。它帮助团队成员了解项目的时间安排、任务之间的依赖关系以及整个项目的进展情况</a:t>
            </a:r>
          </a:p>
          <a:p>
            <a:r>
              <a:rPr lang="zh-CN" altLang="en-US" dirty="0"/>
              <a:t>特点：</a:t>
            </a:r>
          </a:p>
          <a:p>
            <a:pPr lvl="1"/>
            <a:r>
              <a:rPr lang="zh-CN" altLang="en-US" dirty="0"/>
              <a:t>显示每个任务的起止日期</a:t>
            </a:r>
          </a:p>
          <a:p>
            <a:pPr lvl="1"/>
            <a:r>
              <a:rPr lang="zh-CN" altLang="en-US" dirty="0"/>
              <a:t>可以清晰地看到任务之间的重叠和依赖关系</a:t>
            </a:r>
          </a:p>
          <a:p>
            <a:pPr lvl="1"/>
            <a:r>
              <a:rPr lang="zh-CN" altLang="en-US" dirty="0"/>
              <a:t>帮助项目经理监控项目进度，并根据需要调整资源分配</a:t>
            </a:r>
          </a:p>
          <a:p>
            <a:endParaRPr lang="zh-CN" altLang="en-US" dirty="0"/>
          </a:p>
        </p:txBody>
      </p:sp>
    </p:spTree>
    <p:extLst>
      <p:ext uri="{BB962C8B-B14F-4D97-AF65-F5344CB8AC3E}">
        <p14:creationId xmlns:p14="http://schemas.microsoft.com/office/powerpoint/2010/main" val="316785549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8376403-9490-E546-9A60-15472BC68971}"/>
              </a:ext>
            </a:extLst>
          </p:cNvPr>
          <p:cNvSpPr>
            <a:spLocks noGrp="1"/>
          </p:cNvSpPr>
          <p:nvPr>
            <p:ph type="title"/>
          </p:nvPr>
        </p:nvSpPr>
        <p:spPr>
          <a:xfrm>
            <a:off x="696000" y="360000"/>
            <a:ext cx="10800000" cy="424732"/>
          </a:xfrm>
        </p:spPr>
        <p:txBody>
          <a:bodyPr/>
          <a:lstStyle/>
          <a:p>
            <a:r>
              <a:rPr lang="zh-CN" altLang="en-US" dirty="0"/>
              <a:t>鱼骨图 </a:t>
            </a:r>
            <a:r>
              <a:rPr lang="en-US" altLang="zh-CN" dirty="0"/>
              <a:t>Fishbone Diagram</a:t>
            </a:r>
            <a:endParaRPr lang="zh-CN" altLang="en-US" dirty="0"/>
          </a:p>
        </p:txBody>
      </p:sp>
      <p:sp>
        <p:nvSpPr>
          <p:cNvPr id="3" name="内容占位符 2">
            <a:extLst>
              <a:ext uri="{FF2B5EF4-FFF2-40B4-BE49-F238E27FC236}">
                <a16:creationId xmlns:a16="http://schemas.microsoft.com/office/drawing/2014/main" id="{41920068-70E0-6FFB-2FD8-C740C5268823}"/>
              </a:ext>
            </a:extLst>
          </p:cNvPr>
          <p:cNvSpPr>
            <a:spLocks noGrp="1"/>
          </p:cNvSpPr>
          <p:nvPr>
            <p:ph idx="1"/>
          </p:nvPr>
        </p:nvSpPr>
        <p:spPr>
          <a:xfrm>
            <a:off x="696000" y="1080000"/>
            <a:ext cx="10800000" cy="5112000"/>
          </a:xfrm>
        </p:spPr>
        <p:txBody>
          <a:bodyPr/>
          <a:lstStyle/>
          <a:p>
            <a:r>
              <a:rPr lang="zh-CN" altLang="en-US" dirty="0"/>
              <a:t>发明者 </a:t>
            </a:r>
            <a:r>
              <a:rPr lang="en-US" altLang="zh-CN" dirty="0"/>
              <a:t>Kaoru Ishikawa</a:t>
            </a:r>
            <a:endParaRPr lang="zh-CN" altLang="en-US" dirty="0"/>
          </a:p>
          <a:p>
            <a:r>
              <a:rPr lang="zh-CN" altLang="en-US" dirty="0"/>
              <a:t>也称因果图、石川图</a:t>
            </a:r>
            <a:endParaRPr lang="en-US" altLang="zh-CN" dirty="0"/>
          </a:p>
          <a:p>
            <a:r>
              <a:rPr lang="zh-CN" altLang="en-US" dirty="0"/>
              <a:t>主要用于分析问题的根本原因、缺陷，进而推动质量改进</a:t>
            </a:r>
            <a:endParaRPr lang="en-US" altLang="zh-CN" dirty="0"/>
          </a:p>
          <a:p>
            <a:r>
              <a:rPr lang="zh-CN" altLang="en-US" dirty="0"/>
              <a:t>通过图形化的方式展示可能导致特定结果的各种因素，有助于识别问题的核心所在</a:t>
            </a:r>
            <a:endParaRPr lang="en-US" altLang="zh-CN" dirty="0"/>
          </a:p>
          <a:p>
            <a:r>
              <a:rPr lang="zh-CN" altLang="en-US" dirty="0"/>
              <a:t>特点：</a:t>
            </a:r>
          </a:p>
          <a:p>
            <a:pPr lvl="1" algn="l"/>
            <a:r>
              <a:rPr lang="zh-CN" altLang="en-US" dirty="0"/>
              <a:t>图形呈现为鱼骨形状，问题或效果放在“鱼头”位置，“鱼骨”代表主要类别原因</a:t>
            </a:r>
          </a:p>
          <a:p>
            <a:pPr lvl="1"/>
            <a:r>
              <a:rPr lang="zh-CN" altLang="en-US" dirty="0"/>
              <a:t>每个主要原因下还可以细分出多个子原因</a:t>
            </a:r>
          </a:p>
          <a:p>
            <a:pPr lvl="1"/>
            <a:r>
              <a:rPr lang="zh-CN" altLang="en-US" dirty="0"/>
              <a:t>帮助团队系统性思考，避免遗漏重要因素</a:t>
            </a:r>
          </a:p>
          <a:p>
            <a:endParaRPr lang="zh-CN" altLang="en-US" dirty="0"/>
          </a:p>
        </p:txBody>
      </p:sp>
    </p:spTree>
    <p:extLst>
      <p:ext uri="{BB962C8B-B14F-4D97-AF65-F5344CB8AC3E}">
        <p14:creationId xmlns:p14="http://schemas.microsoft.com/office/powerpoint/2010/main" val="155228733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218DEFB-22F7-9D90-1F62-D95C82EE4E46}"/>
              </a:ext>
            </a:extLst>
          </p:cNvPr>
          <p:cNvSpPr>
            <a:spLocks noGrp="1"/>
          </p:cNvSpPr>
          <p:nvPr>
            <p:ph type="title"/>
          </p:nvPr>
        </p:nvSpPr>
        <p:spPr>
          <a:xfrm>
            <a:off x="696000" y="360000"/>
            <a:ext cx="10800000" cy="424732"/>
          </a:xfrm>
        </p:spPr>
        <p:txBody>
          <a:bodyPr/>
          <a:lstStyle/>
          <a:p>
            <a:r>
              <a:rPr lang="en-US" altLang="zh-CN" dirty="0"/>
              <a:t>PERT</a:t>
            </a:r>
            <a:endParaRPr lang="zh-CN" altLang="en-US" dirty="0"/>
          </a:p>
        </p:txBody>
      </p:sp>
      <p:sp>
        <p:nvSpPr>
          <p:cNvPr id="3" name="内容占位符 2">
            <a:extLst>
              <a:ext uri="{FF2B5EF4-FFF2-40B4-BE49-F238E27FC236}">
                <a16:creationId xmlns:a16="http://schemas.microsoft.com/office/drawing/2014/main" id="{F48CDA7E-69B1-74ED-652B-B59DD3BDC07F}"/>
              </a:ext>
            </a:extLst>
          </p:cNvPr>
          <p:cNvSpPr>
            <a:spLocks noGrp="1"/>
          </p:cNvSpPr>
          <p:nvPr>
            <p:ph idx="1"/>
          </p:nvPr>
        </p:nvSpPr>
        <p:spPr>
          <a:xfrm>
            <a:off x="696000" y="1080000"/>
            <a:ext cx="10800000" cy="5112000"/>
          </a:xfrm>
        </p:spPr>
        <p:txBody>
          <a:bodyPr/>
          <a:lstStyle/>
          <a:p>
            <a:pPr algn="just"/>
            <a:r>
              <a:rPr lang="en-US" altLang="zh-CN" dirty="0"/>
              <a:t>Program Evaluation and Review Technique</a:t>
            </a:r>
          </a:p>
          <a:p>
            <a:pPr algn="just"/>
            <a:r>
              <a:rPr lang="zh-CN" altLang="en-US" dirty="0"/>
              <a:t>用于项目管理的统计工具，旨在分析并表示完成项目所需活动的时间。它特别适用于不确定性强、复杂度高的项目</a:t>
            </a:r>
            <a:endParaRPr lang="en-US" altLang="zh-CN" dirty="0"/>
          </a:p>
          <a:p>
            <a:pPr lvl="1" algn="just"/>
            <a:r>
              <a:rPr lang="zh-CN" altLang="en-US" dirty="0"/>
              <a:t>由节点（事件）和箭线（活动）组成，用来显示项目中的关键路径和活动间的逻辑关系</a:t>
            </a:r>
          </a:p>
          <a:p>
            <a:pPr lvl="1" algn="just"/>
            <a:r>
              <a:rPr lang="zh-CN" altLang="en-US" dirty="0"/>
              <a:t>可以计算出项目的最短完成时间，同时也能识别出哪些活动是决定项目进度的关键</a:t>
            </a:r>
          </a:p>
          <a:p>
            <a:pPr lvl="1" algn="just"/>
            <a:r>
              <a:rPr lang="zh-CN" altLang="en-US" dirty="0"/>
              <a:t>除了时间估计外，</a:t>
            </a:r>
            <a:r>
              <a:rPr lang="en-US" altLang="zh-CN" dirty="0"/>
              <a:t>PERT</a:t>
            </a:r>
            <a:r>
              <a:rPr lang="zh-CN" altLang="en-US" dirty="0"/>
              <a:t>还考虑了活动时间的不确定性，通常会给出乐观时间、悲观时间和最可能时间三个估计值</a:t>
            </a:r>
            <a:endParaRPr lang="en-US" altLang="zh-CN" dirty="0"/>
          </a:p>
          <a:p>
            <a:pPr algn="just"/>
            <a:endParaRPr lang="zh-CN" altLang="en-US" dirty="0"/>
          </a:p>
        </p:txBody>
      </p:sp>
    </p:spTree>
    <p:extLst>
      <p:ext uri="{BB962C8B-B14F-4D97-AF65-F5344CB8AC3E}">
        <p14:creationId xmlns:p14="http://schemas.microsoft.com/office/powerpoint/2010/main" val="55266595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8AF9B-1193-7998-3569-EE3C16444A33}"/>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8BE83240-F34C-EE8D-6ED2-9835BC2A70C2}"/>
              </a:ext>
            </a:extLst>
          </p:cNvPr>
          <p:cNvPicPr>
            <a:picLocks noGrp="1" noChangeAspect="1"/>
          </p:cNvPicPr>
          <p:nvPr>
            <p:ph type="pic" sz="quarter" idx="10"/>
          </p:nvPr>
        </p:nvPicPr>
        <p:blipFill>
          <a:blip r:embed="rId2"/>
          <a:srcRect l="17552" r="17552"/>
          <a:stretch/>
        </p:blipFill>
        <p:spPr>
          <a:xfrm>
            <a:off x="0" y="0"/>
            <a:ext cx="7912100" cy="6858000"/>
          </a:xfrm>
        </p:spPr>
      </p:pic>
      <p:sp>
        <p:nvSpPr>
          <p:cNvPr id="2" name="标题 1">
            <a:extLst>
              <a:ext uri="{FF2B5EF4-FFF2-40B4-BE49-F238E27FC236}">
                <a16:creationId xmlns:a16="http://schemas.microsoft.com/office/drawing/2014/main" id="{38F6789C-3CFD-8184-F7E4-4098D724FF3E}"/>
              </a:ext>
            </a:extLst>
          </p:cNvPr>
          <p:cNvSpPr>
            <a:spLocks noGrp="1"/>
          </p:cNvSpPr>
          <p:nvPr>
            <p:ph type="ctrTitle"/>
          </p:nvPr>
        </p:nvSpPr>
        <p:spPr>
          <a:xfrm>
            <a:off x="4077578" y="3498981"/>
            <a:ext cx="7262228" cy="1440000"/>
          </a:xfrm>
        </p:spPr>
        <p:txBody>
          <a:bodyPr/>
          <a:lstStyle/>
          <a:p>
            <a:r>
              <a:rPr lang="zh-CN" altLang="en-US" dirty="0"/>
              <a:t>项目启动</a:t>
            </a:r>
          </a:p>
        </p:txBody>
      </p:sp>
      <p:sp>
        <p:nvSpPr>
          <p:cNvPr id="3" name="副标题 2">
            <a:extLst>
              <a:ext uri="{FF2B5EF4-FFF2-40B4-BE49-F238E27FC236}">
                <a16:creationId xmlns:a16="http://schemas.microsoft.com/office/drawing/2014/main" id="{81C8CC4C-2E8E-B353-5957-AAE14F72B6FF}"/>
              </a:ext>
            </a:extLst>
          </p:cNvPr>
          <p:cNvSpPr>
            <a:spLocks noGrp="1"/>
          </p:cNvSpPr>
          <p:nvPr>
            <p:ph type="subTitle" idx="1"/>
          </p:nvPr>
        </p:nvSpPr>
        <p:spPr>
          <a:xfrm>
            <a:off x="4077578" y="4938981"/>
            <a:ext cx="7262228" cy="900000"/>
          </a:xfrm>
        </p:spPr>
        <p:txBody>
          <a:bodyPr/>
          <a:lstStyle/>
          <a:p>
            <a:r>
              <a:rPr lang="en-US" altLang="zh-CN"/>
              <a:t>Section 2 Project Initial</a:t>
            </a:r>
            <a:endParaRPr lang="zh-CN" altLang="en-US" dirty="0"/>
          </a:p>
        </p:txBody>
      </p:sp>
    </p:spTree>
    <p:extLst>
      <p:ext uri="{BB962C8B-B14F-4D97-AF65-F5344CB8AC3E}">
        <p14:creationId xmlns:p14="http://schemas.microsoft.com/office/powerpoint/2010/main" val="306378714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BBCBF9C-99ED-69D6-03B1-A635704FD0CD}"/>
              </a:ext>
            </a:extLst>
          </p:cNvPr>
          <p:cNvSpPr>
            <a:spLocks noGrp="1"/>
          </p:cNvSpPr>
          <p:nvPr>
            <p:ph type="title"/>
          </p:nvPr>
        </p:nvSpPr>
        <p:spPr>
          <a:xfrm>
            <a:off x="696000" y="360000"/>
            <a:ext cx="10800000" cy="424732"/>
          </a:xfrm>
        </p:spPr>
        <p:txBody>
          <a:bodyPr/>
          <a:lstStyle/>
          <a:p>
            <a:r>
              <a:rPr lang="zh-CN" altLang="en-US" dirty="0"/>
              <a:t>任命项目经理 </a:t>
            </a:r>
            <a:r>
              <a:rPr lang="en-US" altLang="zh-CN" dirty="0"/>
              <a:t>- Appoint the Project Manager</a:t>
            </a:r>
            <a:endParaRPr lang="zh-CN" altLang="en-US" dirty="0"/>
          </a:p>
        </p:txBody>
      </p:sp>
      <p:sp>
        <p:nvSpPr>
          <p:cNvPr id="7" name="内容占位符 6">
            <a:extLst>
              <a:ext uri="{FF2B5EF4-FFF2-40B4-BE49-F238E27FC236}">
                <a16:creationId xmlns:a16="http://schemas.microsoft.com/office/drawing/2014/main" id="{52E20CE5-D971-5461-DEEA-328F661565E4}"/>
              </a:ext>
            </a:extLst>
          </p:cNvPr>
          <p:cNvSpPr>
            <a:spLocks noGrp="1"/>
          </p:cNvSpPr>
          <p:nvPr>
            <p:ph idx="1"/>
          </p:nvPr>
        </p:nvSpPr>
        <p:spPr/>
        <p:txBody>
          <a:bodyPr/>
          <a:lstStyle/>
          <a:p>
            <a:endParaRPr lang="zh-CN" altLang="en-US"/>
          </a:p>
        </p:txBody>
      </p:sp>
    </p:spTree>
    <p:extLst>
      <p:ext uri="{BB962C8B-B14F-4D97-AF65-F5344CB8AC3E}">
        <p14:creationId xmlns:p14="http://schemas.microsoft.com/office/powerpoint/2010/main" val="153685802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C2505AD-8CA3-EF0E-8186-DB86D75691EF}"/>
              </a:ext>
            </a:extLst>
          </p:cNvPr>
          <p:cNvSpPr>
            <a:spLocks noGrp="1"/>
          </p:cNvSpPr>
          <p:nvPr>
            <p:ph type="title"/>
          </p:nvPr>
        </p:nvSpPr>
        <p:spPr>
          <a:xfrm>
            <a:off x="696000" y="360000"/>
            <a:ext cx="10800000" cy="424732"/>
          </a:xfrm>
        </p:spPr>
        <p:txBody>
          <a:bodyPr/>
          <a:lstStyle/>
          <a:p>
            <a:r>
              <a:rPr lang="zh-CN" altLang="en-US" dirty="0"/>
              <a:t>批准业务案例 </a:t>
            </a:r>
            <a:r>
              <a:rPr lang="en-US" altLang="zh-CN" dirty="0"/>
              <a:t>- Approve the business case</a:t>
            </a:r>
            <a:endParaRPr lang="zh-CN" altLang="en-US" dirty="0"/>
          </a:p>
        </p:txBody>
      </p:sp>
      <p:sp>
        <p:nvSpPr>
          <p:cNvPr id="5" name="内容占位符 4">
            <a:extLst>
              <a:ext uri="{FF2B5EF4-FFF2-40B4-BE49-F238E27FC236}">
                <a16:creationId xmlns:a16="http://schemas.microsoft.com/office/drawing/2014/main" id="{E0A6EF37-AC6D-50F8-1949-0270CD25BF0A}"/>
              </a:ext>
            </a:extLst>
          </p:cNvPr>
          <p:cNvSpPr>
            <a:spLocks noGrp="1"/>
          </p:cNvSpPr>
          <p:nvPr>
            <p:ph idx="1"/>
          </p:nvPr>
        </p:nvSpPr>
        <p:spPr/>
        <p:txBody>
          <a:bodyPr/>
          <a:lstStyle/>
          <a:p>
            <a:r>
              <a:rPr lang="zh-CN" altLang="en-US" dirty="0"/>
              <a:t>项目章程 </a:t>
            </a:r>
            <a:r>
              <a:rPr lang="en-US" altLang="zh-CN" dirty="0"/>
              <a:t>Charter</a:t>
            </a:r>
            <a:r>
              <a:rPr lang="zh-CN" altLang="en-US" dirty="0"/>
              <a:t>：提交和批准业务案例的流程</a:t>
            </a:r>
          </a:p>
        </p:txBody>
      </p:sp>
    </p:spTree>
    <p:extLst>
      <p:ext uri="{BB962C8B-B14F-4D97-AF65-F5344CB8AC3E}">
        <p14:creationId xmlns:p14="http://schemas.microsoft.com/office/powerpoint/2010/main" val="96408595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D738D6D-36C5-51F0-4BC1-CBE2733EDB51}"/>
              </a:ext>
            </a:extLst>
          </p:cNvPr>
          <p:cNvSpPr>
            <a:spLocks noGrp="1"/>
          </p:cNvSpPr>
          <p:nvPr>
            <p:ph type="title"/>
          </p:nvPr>
        </p:nvSpPr>
        <p:spPr>
          <a:xfrm>
            <a:off x="696000" y="360000"/>
            <a:ext cx="10800000" cy="424732"/>
          </a:xfrm>
        </p:spPr>
        <p:txBody>
          <a:bodyPr/>
          <a:lstStyle/>
          <a:p>
            <a:r>
              <a:rPr lang="zh-CN" altLang="en-US" dirty="0"/>
              <a:t>确定项目目标 </a:t>
            </a:r>
            <a:r>
              <a:rPr lang="en-US" altLang="zh-CN" dirty="0"/>
              <a:t>- Identify Project Objectives</a:t>
            </a:r>
            <a:endParaRPr lang="zh-CN" altLang="en-US" dirty="0"/>
          </a:p>
        </p:txBody>
      </p:sp>
      <p:sp>
        <p:nvSpPr>
          <p:cNvPr id="7" name="内容占位符 6">
            <a:extLst>
              <a:ext uri="{FF2B5EF4-FFF2-40B4-BE49-F238E27FC236}">
                <a16:creationId xmlns:a16="http://schemas.microsoft.com/office/drawing/2014/main" id="{152E305E-7D2D-324D-CAD1-D078E7A0A30F}"/>
              </a:ext>
            </a:extLst>
          </p:cNvPr>
          <p:cNvSpPr>
            <a:spLocks noGrp="1"/>
          </p:cNvSpPr>
          <p:nvPr>
            <p:ph idx="1"/>
          </p:nvPr>
        </p:nvSpPr>
        <p:spPr/>
        <p:txBody>
          <a:bodyPr/>
          <a:lstStyle/>
          <a:p>
            <a:r>
              <a:rPr lang="zh-CN" altLang="en-US" dirty="0"/>
              <a:t>确定项目目标，明确项目预期成果</a:t>
            </a:r>
            <a:endParaRPr lang="en-US" altLang="zh-CN" dirty="0"/>
          </a:p>
          <a:p>
            <a:r>
              <a:rPr lang="zh-CN" altLang="en-US" dirty="0"/>
              <a:t>分析项目背景，理解项目对于公司的价值</a:t>
            </a:r>
            <a:endParaRPr lang="en-US" altLang="zh-CN" dirty="0"/>
          </a:p>
          <a:p>
            <a:r>
              <a:rPr lang="zh-CN" altLang="en-US" dirty="0"/>
              <a:t>明确项目解决的问题，评估其对公司的影响</a:t>
            </a:r>
            <a:endParaRPr lang="en-US" altLang="zh-CN" dirty="0"/>
          </a:p>
          <a:p>
            <a:r>
              <a:rPr lang="zh-CN" altLang="en-US" dirty="0"/>
              <a:t>制定项目计划，确保项目顺利进行</a:t>
            </a:r>
            <a:endParaRPr lang="en-US" altLang="zh-CN" dirty="0"/>
          </a:p>
          <a:p>
            <a:r>
              <a:rPr lang="zh-CN" altLang="en-US" dirty="0"/>
              <a:t>通过项目实施，提升公司运营效率和市场竞争力</a:t>
            </a:r>
          </a:p>
        </p:txBody>
      </p:sp>
    </p:spTree>
    <p:extLst>
      <p:ext uri="{BB962C8B-B14F-4D97-AF65-F5344CB8AC3E}">
        <p14:creationId xmlns:p14="http://schemas.microsoft.com/office/powerpoint/2010/main" val="93384464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B19336A-C039-9D95-BD38-922535D0105E}"/>
              </a:ext>
            </a:extLst>
          </p:cNvPr>
          <p:cNvSpPr>
            <a:spLocks noGrp="1"/>
          </p:cNvSpPr>
          <p:nvPr>
            <p:ph type="title"/>
          </p:nvPr>
        </p:nvSpPr>
        <p:spPr>
          <a:xfrm>
            <a:off x="696000" y="360000"/>
            <a:ext cx="10800000" cy="424732"/>
          </a:xfrm>
        </p:spPr>
        <p:txBody>
          <a:bodyPr/>
          <a:lstStyle/>
          <a:p>
            <a:r>
              <a:rPr lang="zh-CN" altLang="en-US" dirty="0"/>
              <a:t>定义项目范围 </a:t>
            </a:r>
            <a:r>
              <a:rPr lang="en-US" altLang="zh-CN" dirty="0"/>
              <a:t>- Define Project Scope</a:t>
            </a:r>
            <a:endParaRPr lang="zh-CN" altLang="en-US" dirty="0"/>
          </a:p>
        </p:txBody>
      </p:sp>
      <p:sp>
        <p:nvSpPr>
          <p:cNvPr id="3" name="内容占位符 2">
            <a:extLst>
              <a:ext uri="{FF2B5EF4-FFF2-40B4-BE49-F238E27FC236}">
                <a16:creationId xmlns:a16="http://schemas.microsoft.com/office/drawing/2014/main" id="{F674FFA5-05CF-6980-6C7C-8E3034C17FDE}"/>
              </a:ext>
            </a:extLst>
          </p:cNvPr>
          <p:cNvSpPr>
            <a:spLocks noGrp="1"/>
          </p:cNvSpPr>
          <p:nvPr>
            <p:ph idx="1"/>
          </p:nvPr>
        </p:nvSpPr>
        <p:spPr>
          <a:xfrm>
            <a:off x="696000" y="1080000"/>
            <a:ext cx="10800000" cy="5112000"/>
          </a:xfrm>
        </p:spPr>
        <p:txBody>
          <a:bodyPr>
            <a:normAutofit/>
          </a:bodyPr>
          <a:lstStyle/>
          <a:p>
            <a:r>
              <a:rPr lang="zh-CN" altLang="en-US" dirty="0"/>
              <a:t>工作范围 </a:t>
            </a:r>
            <a:r>
              <a:rPr lang="en-US" altLang="zh-CN" dirty="0"/>
              <a:t>SOW</a:t>
            </a:r>
          </a:p>
          <a:p>
            <a:pPr lvl="1"/>
            <a:r>
              <a:rPr lang="en-US" altLang="zh-CN" dirty="0"/>
              <a:t>Scope Of Work</a:t>
            </a:r>
          </a:p>
          <a:p>
            <a:pPr lvl="1"/>
            <a:r>
              <a:rPr lang="zh-CN" altLang="en-US" dirty="0"/>
              <a:t>一份正式文件</a:t>
            </a:r>
            <a:endParaRPr lang="en-US" altLang="zh-CN" dirty="0"/>
          </a:p>
          <a:p>
            <a:pPr lvl="1"/>
            <a:r>
              <a:rPr lang="zh-CN" altLang="en-US" dirty="0"/>
              <a:t>定义了完成项目所需的特定任务、可交付成果、时间表和责任</a:t>
            </a:r>
            <a:endParaRPr lang="en-US" altLang="zh-CN" dirty="0"/>
          </a:p>
          <a:p>
            <a:pPr lvl="1"/>
            <a:r>
              <a:rPr lang="zh-CN" altLang="en-US" dirty="0"/>
              <a:t>在整个执行过程中也起到控制工具的作用</a:t>
            </a:r>
            <a:endParaRPr lang="en-US" altLang="zh-CN" dirty="0"/>
          </a:p>
          <a:p>
            <a:pPr lvl="1"/>
            <a:r>
              <a:rPr lang="zh-CN" altLang="en-US" dirty="0"/>
              <a:t>当出现疑问或变更请求时，团队可以回顾工作范围，以确定请求是否在范围之内。这有助于防止范围蔓延 </a:t>
            </a:r>
            <a:r>
              <a:rPr lang="en-US" altLang="zh-CN" dirty="0"/>
              <a:t>- Scope creep</a:t>
            </a:r>
          </a:p>
          <a:p>
            <a:r>
              <a:rPr lang="zh-CN" altLang="en-US" dirty="0"/>
              <a:t>工作范围旨在</a:t>
            </a:r>
            <a:endParaRPr lang="en-US" altLang="zh-CN" dirty="0"/>
          </a:p>
          <a:p>
            <a:pPr lvl="1"/>
            <a:r>
              <a:rPr lang="zh-CN" altLang="en-US" dirty="0"/>
              <a:t>定义项目可交付成果和边界 </a:t>
            </a:r>
            <a:r>
              <a:rPr lang="en-US" altLang="zh-CN" dirty="0"/>
              <a:t>- Define project deliverables and boundaries</a:t>
            </a:r>
            <a:endParaRPr lang="zh-CN" altLang="en-US" dirty="0"/>
          </a:p>
          <a:p>
            <a:pPr lvl="1"/>
            <a:r>
              <a:rPr lang="zh-CN" altLang="en-US" dirty="0"/>
              <a:t>明确角色、责任和期望 </a:t>
            </a:r>
            <a:r>
              <a:rPr lang="en-US" altLang="zh-CN" dirty="0"/>
              <a:t>- Clarify roles, responsibilities and expectations</a:t>
            </a:r>
          </a:p>
          <a:p>
            <a:pPr lvl="1"/>
            <a:r>
              <a:rPr lang="zh-CN" altLang="en-US" dirty="0"/>
              <a:t>建立时间表、里程碑和假设 </a:t>
            </a:r>
            <a:r>
              <a:rPr lang="en-US" altLang="zh-CN" dirty="0"/>
              <a:t>- Establish timelines, milestones and assumptions</a:t>
            </a:r>
          </a:p>
          <a:p>
            <a:pPr lvl="1"/>
            <a:r>
              <a:rPr lang="zh-CN" altLang="en-US" dirty="0"/>
              <a:t>降低风险、争议和计划外变更 </a:t>
            </a:r>
            <a:r>
              <a:rPr lang="en-US" altLang="zh-CN" dirty="0"/>
              <a:t>- Reduce risk, disputes and unplanned changes</a:t>
            </a:r>
          </a:p>
          <a:p>
            <a:endParaRPr lang="en-US" altLang="zh-CN" dirty="0"/>
          </a:p>
        </p:txBody>
      </p:sp>
    </p:spTree>
    <p:extLst>
      <p:ext uri="{BB962C8B-B14F-4D97-AF65-F5344CB8AC3E}">
        <p14:creationId xmlns:p14="http://schemas.microsoft.com/office/powerpoint/2010/main" val="333427573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5E262AF-5CFD-285A-E924-7470BB608182}"/>
              </a:ext>
            </a:extLst>
          </p:cNvPr>
          <p:cNvSpPr>
            <a:spLocks noGrp="1"/>
          </p:cNvSpPr>
          <p:nvPr>
            <p:ph type="title"/>
          </p:nvPr>
        </p:nvSpPr>
        <p:spPr>
          <a:xfrm>
            <a:off x="696000" y="360000"/>
            <a:ext cx="10800000" cy="424732"/>
          </a:xfrm>
        </p:spPr>
        <p:txBody>
          <a:bodyPr/>
          <a:lstStyle/>
          <a:p>
            <a:r>
              <a:rPr lang="en-US" altLang="zh-CN" dirty="0"/>
              <a:t>Construction Project Scope Creep Example</a:t>
            </a:r>
            <a:endParaRPr lang="zh-CN" altLang="en-US" dirty="0"/>
          </a:p>
        </p:txBody>
      </p:sp>
      <p:sp>
        <p:nvSpPr>
          <p:cNvPr id="3" name="内容占位符 2">
            <a:extLst>
              <a:ext uri="{FF2B5EF4-FFF2-40B4-BE49-F238E27FC236}">
                <a16:creationId xmlns:a16="http://schemas.microsoft.com/office/drawing/2014/main" id="{F67911EB-2FBB-0137-F7C4-6D497643E096}"/>
              </a:ext>
            </a:extLst>
          </p:cNvPr>
          <p:cNvSpPr>
            <a:spLocks noGrp="1"/>
          </p:cNvSpPr>
          <p:nvPr>
            <p:ph idx="1"/>
          </p:nvPr>
        </p:nvSpPr>
        <p:spPr>
          <a:xfrm>
            <a:off x="696000" y="1080000"/>
            <a:ext cx="10800000" cy="5112000"/>
          </a:xfrm>
        </p:spPr>
        <p:txBody>
          <a:bodyPr/>
          <a:lstStyle/>
          <a:p>
            <a:r>
              <a:rPr lang="en-US" altLang="zh-CN" dirty="0"/>
              <a:t>Acme Builders </a:t>
            </a:r>
            <a:r>
              <a:rPr lang="zh-CN" altLang="en-US" dirty="0"/>
              <a:t>已签订合同，承建一栋三层多户住宅</a:t>
            </a:r>
            <a:endParaRPr lang="en-US" altLang="zh-CN" dirty="0"/>
          </a:p>
          <a:p>
            <a:r>
              <a:rPr lang="zh-CN" altLang="en-US" dirty="0"/>
              <a:t>建设已经开始，当客户找到总承包商时，表示为了使项目对他们作为房东有利可图，他们必须增加一层的建筑，并且要在同一时间内完成</a:t>
            </a:r>
            <a:endParaRPr lang="en-US" altLang="zh-CN" dirty="0"/>
          </a:p>
          <a:p>
            <a:r>
              <a:rPr lang="zh-CN" altLang="en-US" dirty="0"/>
              <a:t>这是不切实际的。这影响了建设预算，承包商的利润空间以及进度表。</a:t>
            </a:r>
          </a:p>
        </p:txBody>
      </p:sp>
    </p:spTree>
    <p:extLst>
      <p:ext uri="{BB962C8B-B14F-4D97-AF65-F5344CB8AC3E}">
        <p14:creationId xmlns:p14="http://schemas.microsoft.com/office/powerpoint/2010/main" val="193262370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C403E3A-26F2-8F8F-2799-EF6D1992CC00}"/>
              </a:ext>
            </a:extLst>
          </p:cNvPr>
          <p:cNvSpPr>
            <a:spLocks noGrp="1"/>
          </p:cNvSpPr>
          <p:nvPr>
            <p:ph type="title"/>
          </p:nvPr>
        </p:nvSpPr>
        <p:spPr>
          <a:xfrm>
            <a:off x="696000" y="360000"/>
            <a:ext cx="10800000" cy="424732"/>
          </a:xfrm>
        </p:spPr>
        <p:txBody>
          <a:bodyPr/>
          <a:lstStyle/>
          <a:p>
            <a:r>
              <a:rPr lang="en-US" altLang="zh-CN" dirty="0"/>
              <a:t>Manufacturing Project Scope Creep Example</a:t>
            </a:r>
            <a:endParaRPr lang="zh-CN" altLang="en-US" dirty="0"/>
          </a:p>
        </p:txBody>
      </p:sp>
      <p:sp>
        <p:nvSpPr>
          <p:cNvPr id="3" name="内容占位符 2">
            <a:extLst>
              <a:ext uri="{FF2B5EF4-FFF2-40B4-BE49-F238E27FC236}">
                <a16:creationId xmlns:a16="http://schemas.microsoft.com/office/drawing/2014/main" id="{B48014D4-18DB-DBE3-F7BD-15AF4D109A60}"/>
              </a:ext>
            </a:extLst>
          </p:cNvPr>
          <p:cNvSpPr>
            <a:spLocks noGrp="1"/>
          </p:cNvSpPr>
          <p:nvPr>
            <p:ph idx="1"/>
          </p:nvPr>
        </p:nvSpPr>
        <p:spPr>
          <a:xfrm>
            <a:off x="696000" y="1080000"/>
            <a:ext cx="10800000" cy="5112000"/>
          </a:xfrm>
        </p:spPr>
        <p:txBody>
          <a:bodyPr/>
          <a:lstStyle/>
          <a:p>
            <a:r>
              <a:rPr lang="en-US" altLang="zh-CN" dirty="0"/>
              <a:t>A</a:t>
            </a:r>
            <a:r>
              <a:rPr lang="zh-CN" altLang="en-US" dirty="0"/>
              <a:t>到</a:t>
            </a:r>
            <a:r>
              <a:rPr lang="en-US" altLang="zh-CN" dirty="0"/>
              <a:t>B</a:t>
            </a:r>
            <a:r>
              <a:rPr lang="zh-CN" altLang="en-US" dirty="0"/>
              <a:t>制造商正准备为新产品投入生产，他们已经设计并采购了手机壳的材料</a:t>
            </a:r>
            <a:endParaRPr lang="en-US" altLang="zh-CN" dirty="0"/>
          </a:p>
          <a:p>
            <a:r>
              <a:rPr lang="zh-CN" altLang="en-US" dirty="0"/>
              <a:t>执行团队未经监督地更改了设计，想添加一个夹子，让手机壳能够挂在用户的腰带上</a:t>
            </a:r>
            <a:endParaRPr lang="en-US" altLang="zh-CN" dirty="0"/>
          </a:p>
          <a:p>
            <a:r>
              <a:rPr lang="zh-CN" altLang="en-US" dirty="0"/>
              <a:t>这将影响材料、设计和生产时间，削减预算和时间表</a:t>
            </a:r>
          </a:p>
        </p:txBody>
      </p:sp>
    </p:spTree>
    <p:extLst>
      <p:ext uri="{BB962C8B-B14F-4D97-AF65-F5344CB8AC3E}">
        <p14:creationId xmlns:p14="http://schemas.microsoft.com/office/powerpoint/2010/main" val="341106043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E298286-45D4-172E-7BDC-5BBEE726AAAA}"/>
              </a:ext>
            </a:extLst>
          </p:cNvPr>
          <p:cNvSpPr>
            <a:spLocks noGrp="1"/>
          </p:cNvSpPr>
          <p:nvPr>
            <p:ph type="title"/>
          </p:nvPr>
        </p:nvSpPr>
        <p:spPr>
          <a:xfrm>
            <a:off x="696000" y="360000"/>
            <a:ext cx="10800000" cy="424732"/>
          </a:xfrm>
        </p:spPr>
        <p:txBody>
          <a:bodyPr/>
          <a:lstStyle/>
          <a:p>
            <a:r>
              <a:rPr lang="en-US" altLang="zh-CN" dirty="0"/>
              <a:t>IT Project Scope Creep Example</a:t>
            </a:r>
            <a:endParaRPr lang="zh-CN" altLang="en-US" dirty="0"/>
          </a:p>
        </p:txBody>
      </p:sp>
      <p:sp>
        <p:nvSpPr>
          <p:cNvPr id="3" name="内容占位符 2">
            <a:extLst>
              <a:ext uri="{FF2B5EF4-FFF2-40B4-BE49-F238E27FC236}">
                <a16:creationId xmlns:a16="http://schemas.microsoft.com/office/drawing/2014/main" id="{5C31BDE8-4A13-3A98-BD96-6DCCFCAF82BF}"/>
              </a:ext>
            </a:extLst>
          </p:cNvPr>
          <p:cNvSpPr>
            <a:spLocks noGrp="1"/>
          </p:cNvSpPr>
          <p:nvPr>
            <p:ph idx="1"/>
          </p:nvPr>
        </p:nvSpPr>
        <p:spPr>
          <a:xfrm>
            <a:off x="696000" y="1080000"/>
            <a:ext cx="10800000" cy="5112000"/>
          </a:xfrm>
        </p:spPr>
        <p:txBody>
          <a:bodyPr/>
          <a:lstStyle/>
          <a:p>
            <a:r>
              <a:rPr lang="zh-CN" altLang="en-US" dirty="0"/>
              <a:t>三个月内，一位项目经理负责交付一款新的软件</a:t>
            </a:r>
            <a:endParaRPr lang="en-US" altLang="zh-CN" dirty="0"/>
          </a:p>
          <a:p>
            <a:r>
              <a:rPr lang="zh-CN" altLang="en-US" dirty="0"/>
              <a:t>在规划阶段几周后，项目的赞助商增加了新的功能。在项目经理将新要求纳入项目范围后，赞助商根据项目客户的请求进行了更多更改</a:t>
            </a:r>
          </a:p>
        </p:txBody>
      </p:sp>
    </p:spTree>
    <p:extLst>
      <p:ext uri="{BB962C8B-B14F-4D97-AF65-F5344CB8AC3E}">
        <p14:creationId xmlns:p14="http://schemas.microsoft.com/office/powerpoint/2010/main" val="356792453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84E05D-698E-FFBC-5554-20FA6B56AD5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8D9686-463E-E42A-A976-71CDEDC177D1}"/>
              </a:ext>
            </a:extLst>
          </p:cNvPr>
          <p:cNvSpPr>
            <a:spLocks noGrp="1"/>
          </p:cNvSpPr>
          <p:nvPr>
            <p:ph type="title"/>
          </p:nvPr>
        </p:nvSpPr>
        <p:spPr>
          <a:xfrm>
            <a:off x="696000" y="360000"/>
            <a:ext cx="10800000" cy="424732"/>
          </a:xfrm>
        </p:spPr>
        <p:txBody>
          <a:bodyPr/>
          <a:lstStyle/>
          <a:p>
            <a:r>
              <a:rPr lang="zh-CN" altLang="en-US" dirty="0"/>
              <a:t>定义项目范围 </a:t>
            </a:r>
            <a:r>
              <a:rPr lang="en-US" altLang="zh-CN" dirty="0"/>
              <a:t>- Define Project Scope</a:t>
            </a:r>
            <a:endParaRPr lang="zh-CN" altLang="en-US" dirty="0"/>
          </a:p>
        </p:txBody>
      </p:sp>
      <p:sp>
        <p:nvSpPr>
          <p:cNvPr id="3" name="内容占位符 2">
            <a:extLst>
              <a:ext uri="{FF2B5EF4-FFF2-40B4-BE49-F238E27FC236}">
                <a16:creationId xmlns:a16="http://schemas.microsoft.com/office/drawing/2014/main" id="{3BF29426-0EE6-FA22-E26A-892CDD5990CB}"/>
              </a:ext>
            </a:extLst>
          </p:cNvPr>
          <p:cNvSpPr>
            <a:spLocks noGrp="1"/>
          </p:cNvSpPr>
          <p:nvPr>
            <p:ph idx="1"/>
          </p:nvPr>
        </p:nvSpPr>
        <p:spPr>
          <a:xfrm>
            <a:off x="696000" y="1080000"/>
            <a:ext cx="10800000" cy="5112000"/>
          </a:xfrm>
        </p:spPr>
        <p:txBody>
          <a:bodyPr>
            <a:normAutofit/>
          </a:bodyPr>
          <a:lstStyle/>
          <a:p>
            <a:r>
              <a:rPr lang="zh-CN" altLang="en-US" dirty="0"/>
              <a:t>编写项目需求文档</a:t>
            </a:r>
            <a:endParaRPr lang="en-US" altLang="zh-CN" dirty="0"/>
          </a:p>
          <a:p>
            <a:r>
              <a:rPr lang="zh-CN" altLang="en-US" dirty="0"/>
              <a:t>设计系统架构</a:t>
            </a:r>
            <a:endParaRPr lang="en-US" altLang="zh-CN" dirty="0"/>
          </a:p>
          <a:p>
            <a:r>
              <a:rPr lang="zh-CN" altLang="en-US" dirty="0"/>
              <a:t>开发前端界面</a:t>
            </a:r>
            <a:endParaRPr lang="en-US" altLang="zh-CN" dirty="0"/>
          </a:p>
          <a:p>
            <a:r>
              <a:rPr lang="zh-CN" altLang="en-US" dirty="0"/>
              <a:t>实现后端逻辑</a:t>
            </a:r>
            <a:endParaRPr lang="en-US" altLang="zh-CN" dirty="0"/>
          </a:p>
          <a:p>
            <a:r>
              <a:rPr lang="zh-CN" altLang="en-US" dirty="0"/>
              <a:t>数据库设计与优化</a:t>
            </a:r>
            <a:endParaRPr lang="en-US" altLang="zh-CN" dirty="0"/>
          </a:p>
          <a:p>
            <a:r>
              <a:rPr lang="zh-CN" altLang="en-US" dirty="0"/>
              <a:t>编写单元测试</a:t>
            </a:r>
            <a:endParaRPr lang="en-US" altLang="zh-CN" dirty="0"/>
          </a:p>
          <a:p>
            <a:r>
              <a:rPr lang="zh-CN" altLang="en-US" dirty="0"/>
              <a:t>集成第三方服务</a:t>
            </a:r>
            <a:endParaRPr lang="en-US" altLang="zh-CN" dirty="0"/>
          </a:p>
          <a:p>
            <a:r>
              <a:rPr lang="zh-CN" altLang="en-US" dirty="0"/>
              <a:t>用户手册编写</a:t>
            </a:r>
            <a:endParaRPr lang="en-US" altLang="zh-CN" dirty="0"/>
          </a:p>
          <a:p>
            <a:r>
              <a:rPr lang="zh-CN" altLang="en-US" dirty="0"/>
              <a:t>代码审查与重构</a:t>
            </a:r>
            <a:endParaRPr lang="en-US" altLang="zh-CN" dirty="0"/>
          </a:p>
          <a:p>
            <a:r>
              <a:rPr lang="zh-CN" altLang="en-US" dirty="0"/>
              <a:t>项目的部署与上线支持</a:t>
            </a:r>
            <a:endParaRPr lang="en-US" altLang="zh-CN" dirty="0"/>
          </a:p>
        </p:txBody>
      </p:sp>
    </p:spTree>
    <p:extLst>
      <p:ext uri="{BB962C8B-B14F-4D97-AF65-F5344CB8AC3E}">
        <p14:creationId xmlns:p14="http://schemas.microsoft.com/office/powerpoint/2010/main" val="171998207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E98FC6D-463B-EEDC-458F-9D9963D653DF}"/>
              </a:ext>
            </a:extLst>
          </p:cNvPr>
          <p:cNvSpPr>
            <a:spLocks noGrp="1"/>
          </p:cNvSpPr>
          <p:nvPr>
            <p:ph type="title"/>
          </p:nvPr>
        </p:nvSpPr>
        <p:spPr>
          <a:xfrm>
            <a:off x="696000" y="360000"/>
            <a:ext cx="10800000" cy="424732"/>
          </a:xfrm>
        </p:spPr>
        <p:txBody>
          <a:bodyPr/>
          <a:lstStyle/>
          <a:p>
            <a:r>
              <a:rPr lang="zh-CN" altLang="en-US" dirty="0"/>
              <a:t>批准预算 </a:t>
            </a:r>
            <a:r>
              <a:rPr lang="en-US" altLang="zh-CN" dirty="0"/>
              <a:t>- Approve the Budget</a:t>
            </a:r>
            <a:endParaRPr lang="zh-CN" altLang="en-US" dirty="0"/>
          </a:p>
        </p:txBody>
      </p:sp>
      <p:sp>
        <p:nvSpPr>
          <p:cNvPr id="7" name="内容占位符 6">
            <a:extLst>
              <a:ext uri="{FF2B5EF4-FFF2-40B4-BE49-F238E27FC236}">
                <a16:creationId xmlns:a16="http://schemas.microsoft.com/office/drawing/2014/main" id="{6D7837F6-9899-FE85-B3C0-43A253ABBA5B}"/>
              </a:ext>
            </a:extLst>
          </p:cNvPr>
          <p:cNvSpPr>
            <a:spLocks noGrp="1"/>
          </p:cNvSpPr>
          <p:nvPr>
            <p:ph idx="1"/>
          </p:nvPr>
        </p:nvSpPr>
        <p:spPr>
          <a:xfrm>
            <a:off x="696000" y="1080000"/>
            <a:ext cx="10800000" cy="5112000"/>
          </a:xfrm>
        </p:spPr>
        <p:txBody>
          <a:bodyPr/>
          <a:lstStyle/>
          <a:p>
            <a:r>
              <a:rPr lang="zh-CN" altLang="en-US" dirty="0"/>
              <a:t>检查你是否已经获得资金批准</a:t>
            </a:r>
            <a:endParaRPr lang="en-US" altLang="zh-CN" dirty="0"/>
          </a:p>
          <a:p>
            <a:r>
              <a:rPr lang="zh-CN" altLang="en-US" dirty="0"/>
              <a:t>任何其他所需资源</a:t>
            </a:r>
            <a:endParaRPr lang="en-US" altLang="zh-CN" dirty="0"/>
          </a:p>
          <a:p>
            <a:r>
              <a:rPr lang="zh-CN" altLang="en-US" dirty="0"/>
              <a:t>询问如何获取这些资源，并整理出使用这些资金的流程</a:t>
            </a:r>
          </a:p>
        </p:txBody>
      </p:sp>
    </p:spTree>
    <p:extLst>
      <p:ext uri="{BB962C8B-B14F-4D97-AF65-F5344CB8AC3E}">
        <p14:creationId xmlns:p14="http://schemas.microsoft.com/office/powerpoint/2010/main" val="226505159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206CD6-DA14-175A-5205-47406F816224}"/>
              </a:ext>
            </a:extLst>
          </p:cNvPr>
          <p:cNvSpPr>
            <a:spLocks noGrp="1"/>
          </p:cNvSpPr>
          <p:nvPr>
            <p:ph type="title"/>
          </p:nvPr>
        </p:nvSpPr>
        <p:spPr>
          <a:xfrm>
            <a:off x="696000" y="360000"/>
            <a:ext cx="10800000" cy="424732"/>
          </a:xfrm>
        </p:spPr>
        <p:txBody>
          <a:bodyPr/>
          <a:lstStyle/>
          <a:p>
            <a:r>
              <a:rPr lang="zh-CN" altLang="en-US" dirty="0"/>
              <a:t>识别初始项目风险 </a:t>
            </a:r>
            <a:r>
              <a:rPr lang="en-US" altLang="zh-CN" dirty="0"/>
              <a:t>- Identify Initial Project Risks</a:t>
            </a:r>
            <a:endParaRPr lang="zh-CN" altLang="en-US" dirty="0"/>
          </a:p>
        </p:txBody>
      </p:sp>
      <p:sp>
        <p:nvSpPr>
          <p:cNvPr id="5" name="内容占位符 4">
            <a:extLst>
              <a:ext uri="{FF2B5EF4-FFF2-40B4-BE49-F238E27FC236}">
                <a16:creationId xmlns:a16="http://schemas.microsoft.com/office/drawing/2014/main" id="{604D04A8-596E-A4F4-598C-73A5737AC9A3}"/>
              </a:ext>
            </a:extLst>
          </p:cNvPr>
          <p:cNvSpPr>
            <a:spLocks noGrp="1"/>
          </p:cNvSpPr>
          <p:nvPr>
            <p:ph idx="1"/>
          </p:nvPr>
        </p:nvSpPr>
        <p:spPr>
          <a:xfrm>
            <a:off x="696000" y="1080000"/>
            <a:ext cx="10800000" cy="5112000"/>
          </a:xfrm>
        </p:spPr>
        <p:txBody>
          <a:bodyPr/>
          <a:lstStyle/>
          <a:p>
            <a:r>
              <a:rPr lang="zh-CN" altLang="en-US" dirty="0"/>
              <a:t>风险是可能影响你完成项目指定内容的事情</a:t>
            </a:r>
            <a:endParaRPr lang="en-US" altLang="zh-CN" dirty="0"/>
          </a:p>
          <a:p>
            <a:pPr lvl="1"/>
            <a:r>
              <a:rPr lang="zh-CN" altLang="en-US" dirty="0"/>
              <a:t>如供应商让你失望</a:t>
            </a:r>
            <a:endParaRPr lang="en-US" altLang="zh-CN" dirty="0"/>
          </a:p>
          <a:p>
            <a:pPr lvl="1"/>
            <a:r>
              <a:rPr lang="zh-CN" altLang="en-US" dirty="0"/>
              <a:t>在你需要时没有拥有合适技能的资源</a:t>
            </a:r>
            <a:endParaRPr lang="en-US" altLang="zh-CN" dirty="0"/>
          </a:p>
          <a:p>
            <a:r>
              <a:rPr lang="zh-CN" altLang="en-US" dirty="0"/>
              <a:t>在开始进行太多项目工作之前，分析任何可能出错的风险</a:t>
            </a:r>
            <a:endParaRPr lang="en-US" altLang="zh-CN" dirty="0"/>
          </a:p>
          <a:p>
            <a:r>
              <a:rPr lang="zh-CN" altLang="en-US" dirty="0"/>
              <a:t>准备你的</a:t>
            </a:r>
            <a:r>
              <a:rPr lang="en-US" altLang="zh-CN" dirty="0"/>
              <a:t>B</a:t>
            </a:r>
            <a:r>
              <a:rPr lang="zh-CN" altLang="en-US" dirty="0"/>
              <a:t>计划，以防清单上的任何事情发生</a:t>
            </a:r>
            <a:endParaRPr lang="en-US" altLang="zh-CN" dirty="0"/>
          </a:p>
          <a:p>
            <a:r>
              <a:rPr lang="zh-CN" altLang="en-US" dirty="0"/>
              <a:t>风险分析包括使用工具和技术来确定先前已识别的项目风险的可能性和影响</a:t>
            </a:r>
          </a:p>
        </p:txBody>
      </p:sp>
    </p:spTree>
    <p:extLst>
      <p:ext uri="{BB962C8B-B14F-4D97-AF65-F5344CB8AC3E}">
        <p14:creationId xmlns:p14="http://schemas.microsoft.com/office/powerpoint/2010/main" val="71819001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16AF74-A279-5E8E-04DB-6CAAA6528771}"/>
              </a:ext>
            </a:extLst>
          </p:cNvPr>
          <p:cNvSpPr>
            <a:spLocks noGrp="1"/>
          </p:cNvSpPr>
          <p:nvPr>
            <p:ph type="title"/>
          </p:nvPr>
        </p:nvSpPr>
        <p:spPr>
          <a:xfrm>
            <a:off x="696000" y="360000"/>
            <a:ext cx="10800000" cy="424732"/>
          </a:xfrm>
        </p:spPr>
        <p:txBody>
          <a:bodyPr/>
          <a:lstStyle/>
          <a:p>
            <a:r>
              <a:rPr lang="zh-CN" altLang="en-US" dirty="0"/>
              <a:t>生产交付物清单 </a:t>
            </a:r>
            <a:r>
              <a:rPr lang="en-US" altLang="zh-CN" dirty="0"/>
              <a:t>- Produce List of Deliverables</a:t>
            </a:r>
            <a:endParaRPr lang="zh-CN" altLang="en-US" dirty="0"/>
          </a:p>
        </p:txBody>
      </p:sp>
      <p:sp>
        <p:nvSpPr>
          <p:cNvPr id="7" name="内容占位符 6">
            <a:extLst>
              <a:ext uri="{FF2B5EF4-FFF2-40B4-BE49-F238E27FC236}">
                <a16:creationId xmlns:a16="http://schemas.microsoft.com/office/drawing/2014/main" id="{7485708C-1458-0F01-E4A9-5A5411907CFA}"/>
              </a:ext>
            </a:extLst>
          </p:cNvPr>
          <p:cNvSpPr>
            <a:spLocks noGrp="1"/>
          </p:cNvSpPr>
          <p:nvPr>
            <p:ph idx="1"/>
          </p:nvPr>
        </p:nvSpPr>
        <p:spPr/>
        <p:txBody>
          <a:bodyPr/>
          <a:lstStyle/>
          <a:p>
            <a:endParaRPr lang="zh-CN" altLang="en-US"/>
          </a:p>
        </p:txBody>
      </p:sp>
    </p:spTree>
    <p:extLst>
      <p:ext uri="{BB962C8B-B14F-4D97-AF65-F5344CB8AC3E}">
        <p14:creationId xmlns:p14="http://schemas.microsoft.com/office/powerpoint/2010/main" val="144179190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8BFF6D-67CB-1D2C-9E6D-9CAE10361B09}"/>
            </a:ext>
          </a:extLst>
        </p:cNvPr>
        <p:cNvGrpSpPr/>
        <p:nvPr/>
      </p:nvGrpSpPr>
      <p:grpSpPr>
        <a:xfrm>
          <a:off x="0" y="0"/>
          <a:ext cx="0" cy="0"/>
          <a:chOff x="0" y="0"/>
          <a:chExt cx="0" cy="0"/>
        </a:xfrm>
      </p:grpSpPr>
      <p:pic>
        <p:nvPicPr>
          <p:cNvPr id="13" name="图片占位符 12">
            <a:extLst>
              <a:ext uri="{FF2B5EF4-FFF2-40B4-BE49-F238E27FC236}">
                <a16:creationId xmlns:a16="http://schemas.microsoft.com/office/drawing/2014/main" id="{D13AA6AC-02B8-122F-AF35-26646C6A9A9E}"/>
              </a:ext>
            </a:extLst>
          </p:cNvPr>
          <p:cNvPicPr>
            <a:picLocks noGrp="1" noChangeAspect="1"/>
          </p:cNvPicPr>
          <p:nvPr>
            <p:ph type="pic" sz="quarter" idx="10"/>
          </p:nvPr>
        </p:nvPicPr>
        <p:blipFill>
          <a:blip r:embed="rId2"/>
          <a:srcRect l="17552" r="17552"/>
          <a:stretch/>
        </p:blipFill>
        <p:spPr>
          <a:xfrm>
            <a:off x="0" y="0"/>
            <a:ext cx="7912100" cy="6858000"/>
          </a:xfrm>
        </p:spPr>
      </p:pic>
      <p:sp>
        <p:nvSpPr>
          <p:cNvPr id="2" name="标题 1">
            <a:extLst>
              <a:ext uri="{FF2B5EF4-FFF2-40B4-BE49-F238E27FC236}">
                <a16:creationId xmlns:a16="http://schemas.microsoft.com/office/drawing/2014/main" id="{1BDFAB9D-CED7-93ED-D163-27E732F87402}"/>
              </a:ext>
            </a:extLst>
          </p:cNvPr>
          <p:cNvSpPr>
            <a:spLocks noGrp="1"/>
          </p:cNvSpPr>
          <p:nvPr>
            <p:ph type="ctrTitle"/>
          </p:nvPr>
        </p:nvSpPr>
        <p:spPr>
          <a:xfrm>
            <a:off x="4077578" y="3498981"/>
            <a:ext cx="7262228" cy="1440000"/>
          </a:xfrm>
        </p:spPr>
        <p:txBody>
          <a:bodyPr/>
          <a:lstStyle/>
          <a:p>
            <a:r>
              <a:rPr lang="zh-CN" altLang="en-US" dirty="0"/>
              <a:t>项目经理</a:t>
            </a:r>
          </a:p>
        </p:txBody>
      </p:sp>
      <p:sp>
        <p:nvSpPr>
          <p:cNvPr id="3" name="副标题 2">
            <a:extLst>
              <a:ext uri="{FF2B5EF4-FFF2-40B4-BE49-F238E27FC236}">
                <a16:creationId xmlns:a16="http://schemas.microsoft.com/office/drawing/2014/main" id="{F407C76E-4108-B021-095E-DAC72C8100EF}"/>
              </a:ext>
            </a:extLst>
          </p:cNvPr>
          <p:cNvSpPr>
            <a:spLocks noGrp="1"/>
          </p:cNvSpPr>
          <p:nvPr>
            <p:ph type="subTitle" idx="1"/>
          </p:nvPr>
        </p:nvSpPr>
        <p:spPr>
          <a:xfrm>
            <a:off x="4077578" y="4938981"/>
            <a:ext cx="7262228" cy="900000"/>
          </a:xfrm>
        </p:spPr>
        <p:txBody>
          <a:bodyPr/>
          <a:lstStyle/>
          <a:p>
            <a:r>
              <a:rPr lang="en-US" altLang="zh-CN" dirty="0"/>
              <a:t>Project Manager</a:t>
            </a:r>
            <a:endParaRPr lang="zh-CN" altLang="en-US" dirty="0"/>
          </a:p>
        </p:txBody>
      </p:sp>
    </p:spTree>
    <p:extLst>
      <p:ext uri="{BB962C8B-B14F-4D97-AF65-F5344CB8AC3E}">
        <p14:creationId xmlns:p14="http://schemas.microsoft.com/office/powerpoint/2010/main" val="297789857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93EE4F-9A47-5DAF-E8F1-C2F2CDB49ECE}"/>
            </a:ext>
          </a:extLst>
        </p:cNvPr>
        <p:cNvGrpSpPr/>
        <p:nvPr/>
      </p:nvGrpSpPr>
      <p:grpSpPr>
        <a:xfrm>
          <a:off x="0" y="0"/>
          <a:ext cx="0" cy="0"/>
          <a:chOff x="0" y="0"/>
          <a:chExt cx="0" cy="0"/>
        </a:xfrm>
      </p:grpSpPr>
      <p:pic>
        <p:nvPicPr>
          <p:cNvPr id="13" name="图片占位符 12">
            <a:extLst>
              <a:ext uri="{FF2B5EF4-FFF2-40B4-BE49-F238E27FC236}">
                <a16:creationId xmlns:a16="http://schemas.microsoft.com/office/drawing/2014/main" id="{6A42495B-7B9A-FA31-2307-FC2981FC2BD3}"/>
              </a:ext>
            </a:extLst>
          </p:cNvPr>
          <p:cNvPicPr>
            <a:picLocks noGrp="1" noChangeAspect="1"/>
          </p:cNvPicPr>
          <p:nvPr>
            <p:ph type="pic" sz="quarter" idx="4294967295"/>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BF9673A5-81A3-BE2E-FE4A-5AF12389CEDC}"/>
              </a:ext>
            </a:extLst>
          </p:cNvPr>
          <p:cNvSpPr>
            <a:spLocks noGrp="1"/>
          </p:cNvSpPr>
          <p:nvPr>
            <p:ph type="ctrTitle"/>
          </p:nvPr>
        </p:nvSpPr>
        <p:spPr>
          <a:xfrm>
            <a:off x="4077578" y="3498981"/>
            <a:ext cx="7262228" cy="1440000"/>
          </a:xfrm>
        </p:spPr>
        <p:txBody>
          <a:bodyPr/>
          <a:lstStyle/>
          <a:p>
            <a:r>
              <a:rPr lang="zh-CN" altLang="en-US" dirty="0"/>
              <a:t>项目生成周期</a:t>
            </a:r>
          </a:p>
        </p:txBody>
      </p:sp>
      <p:sp>
        <p:nvSpPr>
          <p:cNvPr id="3" name="副标题 2">
            <a:extLst>
              <a:ext uri="{FF2B5EF4-FFF2-40B4-BE49-F238E27FC236}">
                <a16:creationId xmlns:a16="http://schemas.microsoft.com/office/drawing/2014/main" id="{8783BF1D-2843-5B87-C62B-0E578EB26C21}"/>
              </a:ext>
            </a:extLst>
          </p:cNvPr>
          <p:cNvSpPr>
            <a:spLocks noGrp="1"/>
          </p:cNvSpPr>
          <p:nvPr>
            <p:ph type="subTitle" idx="1"/>
          </p:nvPr>
        </p:nvSpPr>
        <p:spPr>
          <a:xfrm>
            <a:off x="4077578" y="4938981"/>
            <a:ext cx="7262228" cy="900000"/>
          </a:xfrm>
        </p:spPr>
        <p:txBody>
          <a:bodyPr/>
          <a:lstStyle/>
          <a:p>
            <a:r>
              <a:rPr lang="en-US" altLang="zh-CN" dirty="0"/>
              <a:t>Project Life Cycle Types</a:t>
            </a:r>
            <a:endParaRPr lang="zh-CN" altLang="en-US" dirty="0"/>
          </a:p>
        </p:txBody>
      </p:sp>
    </p:spTree>
    <p:extLst>
      <p:ext uri="{BB962C8B-B14F-4D97-AF65-F5344CB8AC3E}">
        <p14:creationId xmlns:p14="http://schemas.microsoft.com/office/powerpoint/2010/main" val="157635729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8ACDE4E-0E93-7EE1-78FB-37D799B9C8E1}"/>
              </a:ext>
            </a:extLst>
          </p:cNvPr>
          <p:cNvSpPr>
            <a:spLocks noGrp="1"/>
          </p:cNvSpPr>
          <p:nvPr>
            <p:ph type="title"/>
          </p:nvPr>
        </p:nvSpPr>
        <p:spPr>
          <a:xfrm>
            <a:off x="695998" y="360000"/>
            <a:ext cx="7200000" cy="424732"/>
          </a:xfrm>
        </p:spPr>
        <p:txBody>
          <a:bodyPr/>
          <a:lstStyle/>
          <a:p>
            <a:r>
              <a:rPr lang="zh-CN" altLang="en-US" dirty="0"/>
              <a:t>项目生命周期类型</a:t>
            </a:r>
          </a:p>
        </p:txBody>
      </p:sp>
      <p:sp>
        <p:nvSpPr>
          <p:cNvPr id="15" name="内容占位符 14">
            <a:extLst>
              <a:ext uri="{FF2B5EF4-FFF2-40B4-BE49-F238E27FC236}">
                <a16:creationId xmlns:a16="http://schemas.microsoft.com/office/drawing/2014/main" id="{BEBEA09C-A11F-E792-C16A-0D15FD171C42}"/>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15D7454-D130-725F-915B-E3090B9C7497}"/>
              </a:ext>
            </a:extLst>
          </p:cNvPr>
          <p:cNvSpPr>
            <a:spLocks noGrp="1"/>
          </p:cNvSpPr>
          <p:nvPr>
            <p:ph type="body" sz="quarter" idx="10"/>
          </p:nvPr>
        </p:nvSpPr>
        <p:spPr>
          <a:xfrm>
            <a:off x="6702424" y="360001"/>
            <a:ext cx="4793575" cy="424731"/>
          </a:xfrm>
        </p:spPr>
        <p:txBody>
          <a:bodyPr/>
          <a:lstStyle/>
          <a:p>
            <a:r>
              <a:rPr lang="en-US" altLang="zh-CN" dirty="0"/>
              <a:t>Project Life Cycle Types</a:t>
            </a:r>
            <a:endParaRPr lang="zh-CN" altLang="en-US" dirty="0"/>
          </a:p>
        </p:txBody>
      </p:sp>
      <p:graphicFrame>
        <p:nvGraphicFramePr>
          <p:cNvPr id="5" name="表格 4">
            <a:extLst>
              <a:ext uri="{FF2B5EF4-FFF2-40B4-BE49-F238E27FC236}">
                <a16:creationId xmlns:a16="http://schemas.microsoft.com/office/drawing/2014/main" id="{98D226DE-68E5-AAE6-D80D-877EA0AF650C}"/>
              </a:ext>
            </a:extLst>
          </p:cNvPr>
          <p:cNvGraphicFramePr>
            <a:graphicFrameLocks noGrp="1"/>
          </p:cNvGraphicFramePr>
          <p:nvPr>
            <p:extLst>
              <p:ext uri="{D42A27DB-BD31-4B8C-83A1-F6EECF244321}">
                <p14:modId xmlns:p14="http://schemas.microsoft.com/office/powerpoint/2010/main" val="3367340612"/>
              </p:ext>
            </p:extLst>
          </p:nvPr>
        </p:nvGraphicFramePr>
        <p:xfrm>
          <a:off x="695997" y="2991600"/>
          <a:ext cx="10800000" cy="3200400"/>
        </p:xfrm>
        <a:graphic>
          <a:graphicData uri="http://schemas.openxmlformats.org/drawingml/2006/table">
            <a:tbl>
              <a:tblPr/>
              <a:tblGrid>
                <a:gridCol w="2039485">
                  <a:extLst>
                    <a:ext uri="{9D8B030D-6E8A-4147-A177-3AD203B41FA5}">
                      <a16:colId xmlns:a16="http://schemas.microsoft.com/office/drawing/2014/main" val="4038817863"/>
                    </a:ext>
                  </a:extLst>
                </a:gridCol>
                <a:gridCol w="2039485">
                  <a:extLst>
                    <a:ext uri="{9D8B030D-6E8A-4147-A177-3AD203B41FA5}">
                      <a16:colId xmlns:a16="http://schemas.microsoft.com/office/drawing/2014/main" val="75251589"/>
                    </a:ext>
                  </a:extLst>
                </a:gridCol>
                <a:gridCol w="6721030">
                  <a:extLst>
                    <a:ext uri="{9D8B030D-6E8A-4147-A177-3AD203B41FA5}">
                      <a16:colId xmlns:a16="http://schemas.microsoft.com/office/drawing/2014/main" val="1686519469"/>
                    </a:ext>
                  </a:extLst>
                </a:gridCol>
              </a:tblGrid>
              <a:tr h="0">
                <a:tc>
                  <a:txBody>
                    <a:bodyPr/>
                    <a:lstStyle/>
                    <a:p>
                      <a:pPr>
                        <a:buNone/>
                      </a:pPr>
                      <a:r>
                        <a:rPr lang="en-US">
                          <a:solidFill>
                            <a:schemeClr val="bg1"/>
                          </a:solidFill>
                        </a:rPr>
                        <a:t>Life Cycle Type</a:t>
                      </a:r>
                      <a:endParaRPr lang="en-US" dirty="0">
                        <a:solidFill>
                          <a:schemeClr val="bg1"/>
                        </a:solidFill>
                      </a:endParaRPr>
                    </a:p>
                  </a:txBody>
                  <a:tcPr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chemeClr val="accent2"/>
                    </a:solidFill>
                  </a:tcPr>
                </a:tc>
                <a:tc>
                  <a:txBody>
                    <a:bodyPr/>
                    <a:lstStyle/>
                    <a:p>
                      <a:pPr>
                        <a:buNone/>
                      </a:pPr>
                      <a:r>
                        <a:rPr lang="en-US" altLang="zh-CN" dirty="0">
                          <a:solidFill>
                            <a:schemeClr val="bg1"/>
                          </a:solidFill>
                        </a:rPr>
                        <a:t>Description</a:t>
                      </a:r>
                      <a:endParaRPr lang="en-US" dirty="0">
                        <a:solidFill>
                          <a:schemeClr val="bg1"/>
                        </a:solidFill>
                      </a:endParaRPr>
                    </a:p>
                  </a:txBody>
                  <a:tcPr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chemeClr val="accent2"/>
                    </a:solidFill>
                  </a:tcPr>
                </a:tc>
                <a:tc>
                  <a:txBody>
                    <a:bodyPr/>
                    <a:lstStyle/>
                    <a:p>
                      <a:pPr>
                        <a:buNone/>
                      </a:pPr>
                      <a:r>
                        <a:rPr lang="en-US">
                          <a:solidFill>
                            <a:schemeClr val="bg1"/>
                          </a:solidFill>
                        </a:rPr>
                        <a:t>Key Characteristics</a:t>
                      </a:r>
                      <a:endParaRPr lang="en-US" dirty="0">
                        <a:solidFill>
                          <a:schemeClr val="bg1"/>
                        </a:solidFill>
                      </a:endParaRPr>
                    </a:p>
                  </a:txBody>
                  <a:tcPr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538606623"/>
                  </a:ext>
                </a:extLst>
              </a:tr>
              <a:tr h="0">
                <a:tc>
                  <a:txBody>
                    <a:bodyPr/>
                    <a:lstStyle/>
                    <a:p>
                      <a:pPr>
                        <a:buNone/>
                      </a:pPr>
                      <a:r>
                        <a:rPr lang="en-US" dirty="0"/>
                        <a:t>Predictive</a:t>
                      </a:r>
                    </a:p>
                  </a:txBody>
                  <a:tcPr anchor="ctr">
                    <a:lnL w="12700" cmpd="sng">
                      <a:noFill/>
                      <a:prstDash val="solid"/>
                    </a:lnL>
                    <a:lnR w="12700" cmpd="sng">
                      <a:noFill/>
                      <a:prstDash val="solid"/>
                    </a:lnR>
                    <a:lnT w="12700" cmpd="sng">
                      <a:noFill/>
                      <a:prstDash val="soli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zh-CN" altLang="en-US"/>
                        <a:t>预测型</a:t>
                      </a:r>
                      <a:endParaRPr lang="en-US" dirty="0"/>
                    </a:p>
                  </a:txBody>
                  <a:tcPr anchor="ctr">
                    <a:lnL w="12700" cmpd="sng">
                      <a:noFill/>
                      <a:prstDash val="solid"/>
                    </a:lnL>
                    <a:lnR w="12700" cmpd="sng">
                      <a:noFill/>
                      <a:prstDash val="solid"/>
                    </a:lnR>
                    <a:lnT w="12700" cmpd="sng">
                      <a:noFill/>
                      <a:prstDash val="soli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a:t>Scope, schedule, and cost defined early; </a:t>
                      </a:r>
                    </a:p>
                    <a:p>
                      <a:pPr>
                        <a:buNone/>
                      </a:pPr>
                      <a:r>
                        <a:rPr lang="en-US"/>
                        <a:t>low tolerance for change</a:t>
                      </a:r>
                      <a:endParaRPr lang="en-US" dirty="0"/>
                    </a:p>
                  </a:txBody>
                  <a:tcPr anchor="ctr">
                    <a:lnL w="12700" cmpd="sng">
                      <a:noFill/>
                      <a:prstDash val="solid"/>
                    </a:lnL>
                    <a:lnR w="12700" cmpd="sng">
                      <a:noFill/>
                      <a:prstDash val="solid"/>
                    </a:lnR>
                    <a:lnT w="12700" cmpd="sng">
                      <a:noFill/>
                      <a:prstDash val="soli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42919921"/>
                  </a:ext>
                </a:extLst>
              </a:tr>
              <a:tr h="0">
                <a:tc>
                  <a:txBody>
                    <a:bodyPr/>
                    <a:lstStyle/>
                    <a:p>
                      <a:pPr>
                        <a:buNone/>
                      </a:pPr>
                      <a:r>
                        <a:rPr lang="en-US" dirty="0"/>
                        <a:t>Iterative</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zh-CN" altLang="en-US"/>
                        <a:t>迭代型</a:t>
                      </a:r>
                      <a:endParaRPr lang="en-US" dirty="0"/>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a:t>Product refined over cycles; </a:t>
                      </a:r>
                    </a:p>
                    <a:p>
                      <a:pPr>
                        <a:buNone/>
                      </a:pPr>
                      <a:r>
                        <a:rPr lang="en-US"/>
                        <a:t>each iteration improves design/understanding</a:t>
                      </a:r>
                      <a:endParaRPr lang="en-US" dirty="0"/>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34103914"/>
                  </a:ext>
                </a:extLst>
              </a:tr>
              <a:tr h="0">
                <a:tc>
                  <a:txBody>
                    <a:bodyPr/>
                    <a:lstStyle/>
                    <a:p>
                      <a:pPr>
                        <a:buNone/>
                      </a:pPr>
                      <a:r>
                        <a:rPr lang="en-US" dirty="0"/>
                        <a:t>Incremental</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zh-CN" altLang="en-US"/>
                        <a:t>增量型</a:t>
                      </a:r>
                      <a:endParaRPr lang="en-US" dirty="0"/>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a:t>Product delivered in usable chunks; </a:t>
                      </a:r>
                    </a:p>
                    <a:p>
                      <a:pPr>
                        <a:buNone/>
                      </a:pPr>
                      <a:r>
                        <a:rPr lang="en-US"/>
                        <a:t>each increment adds functionality</a:t>
                      </a:r>
                      <a:endParaRPr lang="en-US" dirty="0"/>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16746955"/>
                  </a:ext>
                </a:extLst>
              </a:tr>
              <a:tr h="0">
                <a:tc>
                  <a:txBody>
                    <a:bodyPr/>
                    <a:lstStyle/>
                    <a:p>
                      <a:pPr>
                        <a:buNone/>
                      </a:pPr>
                      <a:r>
                        <a:rPr lang="en-US" dirty="0"/>
                        <a:t>Adaptive (Agile)</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zh-CN" altLang="en-US"/>
                        <a:t>适应型 </a:t>
                      </a:r>
                      <a:r>
                        <a:rPr lang="en-US" altLang="zh-CN"/>
                        <a:t>/ </a:t>
                      </a:r>
                      <a:r>
                        <a:rPr lang="zh-CN" altLang="en-US"/>
                        <a:t>敏捷型</a:t>
                      </a:r>
                      <a:endParaRPr lang="en-US" dirty="0"/>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dirty="0"/>
                        <a:t>Combines iterative + incremental; </a:t>
                      </a:r>
                    </a:p>
                    <a:p>
                      <a:pPr>
                        <a:buNone/>
                      </a:pPr>
                      <a:r>
                        <a:rPr lang="en-US" dirty="0"/>
                        <a:t>high responsiveness to change; </a:t>
                      </a:r>
                    </a:p>
                    <a:p>
                      <a:pPr>
                        <a:buNone/>
                      </a:pPr>
                      <a:r>
                        <a:rPr lang="en-US" dirty="0"/>
                        <a:t>stakeholder feedback</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40491"/>
                  </a:ext>
                </a:extLst>
              </a:tr>
            </a:tbl>
          </a:graphicData>
        </a:graphic>
      </p:graphicFrame>
    </p:spTree>
    <p:extLst>
      <p:ext uri="{BB962C8B-B14F-4D97-AF65-F5344CB8AC3E}">
        <p14:creationId xmlns:p14="http://schemas.microsoft.com/office/powerpoint/2010/main" val="213186457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50BDD1-EBB6-4170-204F-6AA41BC60B87}"/>
              </a:ext>
            </a:extLst>
          </p:cNvPr>
          <p:cNvSpPr>
            <a:spLocks noGrp="1"/>
          </p:cNvSpPr>
          <p:nvPr>
            <p:ph type="title"/>
          </p:nvPr>
        </p:nvSpPr>
        <p:spPr/>
        <p:txBody>
          <a:bodyPr/>
          <a:lstStyle/>
          <a:p>
            <a:r>
              <a:rPr lang="zh-CN" altLang="en-US" dirty="0"/>
              <a:t>预测型</a:t>
            </a:r>
          </a:p>
        </p:txBody>
      </p:sp>
      <p:sp>
        <p:nvSpPr>
          <p:cNvPr id="3" name="内容占位符 2">
            <a:extLst>
              <a:ext uri="{FF2B5EF4-FFF2-40B4-BE49-F238E27FC236}">
                <a16:creationId xmlns:a16="http://schemas.microsoft.com/office/drawing/2014/main" id="{8ADB95AD-419E-9B8D-E406-13E30DDD37D5}"/>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DB3AD9D0-3054-B3CE-A948-83258182B893}"/>
              </a:ext>
            </a:extLst>
          </p:cNvPr>
          <p:cNvSpPr>
            <a:spLocks noGrp="1"/>
          </p:cNvSpPr>
          <p:nvPr>
            <p:ph type="body" sz="quarter" idx="10"/>
          </p:nvPr>
        </p:nvSpPr>
        <p:spPr/>
        <p:txBody>
          <a:bodyPr/>
          <a:lstStyle/>
          <a:p>
            <a:r>
              <a:rPr lang="en-US" altLang="zh-CN" dirty="0"/>
              <a:t>Predictive</a:t>
            </a:r>
          </a:p>
        </p:txBody>
      </p:sp>
    </p:spTree>
    <p:extLst>
      <p:ext uri="{BB962C8B-B14F-4D97-AF65-F5344CB8AC3E}">
        <p14:creationId xmlns:p14="http://schemas.microsoft.com/office/powerpoint/2010/main" val="398825041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774DB-C436-60D8-D2B9-02B661ACD5B9}"/>
              </a:ext>
            </a:extLst>
          </p:cNvPr>
          <p:cNvSpPr>
            <a:spLocks noGrp="1"/>
          </p:cNvSpPr>
          <p:nvPr>
            <p:ph type="title"/>
          </p:nvPr>
        </p:nvSpPr>
        <p:spPr/>
        <p:txBody>
          <a:bodyPr/>
          <a:lstStyle/>
          <a:p>
            <a:r>
              <a:rPr lang="zh-CN" altLang="en-US" dirty="0"/>
              <a:t>迭代型</a:t>
            </a:r>
          </a:p>
        </p:txBody>
      </p:sp>
      <p:sp>
        <p:nvSpPr>
          <p:cNvPr id="3" name="内容占位符 2">
            <a:extLst>
              <a:ext uri="{FF2B5EF4-FFF2-40B4-BE49-F238E27FC236}">
                <a16:creationId xmlns:a16="http://schemas.microsoft.com/office/drawing/2014/main" id="{8340A271-A592-EB8A-529E-307F80A0BC80}"/>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E45B5FD3-73D0-0EAC-AD54-DE761675CF3D}"/>
              </a:ext>
            </a:extLst>
          </p:cNvPr>
          <p:cNvSpPr>
            <a:spLocks noGrp="1"/>
          </p:cNvSpPr>
          <p:nvPr>
            <p:ph type="body" sz="quarter" idx="10"/>
          </p:nvPr>
        </p:nvSpPr>
        <p:spPr/>
        <p:txBody>
          <a:bodyPr/>
          <a:lstStyle/>
          <a:p>
            <a:r>
              <a:rPr lang="en-US" altLang="zh-CN" dirty="0"/>
              <a:t>Iterative</a:t>
            </a:r>
          </a:p>
        </p:txBody>
      </p:sp>
    </p:spTree>
    <p:extLst>
      <p:ext uri="{BB962C8B-B14F-4D97-AF65-F5344CB8AC3E}">
        <p14:creationId xmlns:p14="http://schemas.microsoft.com/office/powerpoint/2010/main" val="260778009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E002F98-FAE2-7D7A-816E-EF6A979960A9}"/>
              </a:ext>
            </a:extLst>
          </p:cNvPr>
          <p:cNvSpPr>
            <a:spLocks noGrp="1"/>
          </p:cNvSpPr>
          <p:nvPr>
            <p:ph type="title"/>
          </p:nvPr>
        </p:nvSpPr>
        <p:spPr/>
        <p:txBody>
          <a:bodyPr/>
          <a:lstStyle/>
          <a:p>
            <a:r>
              <a:rPr lang="zh-CN" altLang="en-US" dirty="0"/>
              <a:t>增量型</a:t>
            </a:r>
          </a:p>
        </p:txBody>
      </p:sp>
      <p:sp>
        <p:nvSpPr>
          <p:cNvPr id="3" name="内容占位符 2">
            <a:extLst>
              <a:ext uri="{FF2B5EF4-FFF2-40B4-BE49-F238E27FC236}">
                <a16:creationId xmlns:a16="http://schemas.microsoft.com/office/drawing/2014/main" id="{AD33A60F-DE9A-75FF-0A00-D4DDAA8D9B55}"/>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3375682-E5CF-9CE6-9BB3-FD0363F796CF}"/>
              </a:ext>
            </a:extLst>
          </p:cNvPr>
          <p:cNvSpPr>
            <a:spLocks noGrp="1"/>
          </p:cNvSpPr>
          <p:nvPr>
            <p:ph type="body" sz="quarter" idx="10"/>
          </p:nvPr>
        </p:nvSpPr>
        <p:spPr/>
        <p:txBody>
          <a:bodyPr/>
          <a:lstStyle/>
          <a:p>
            <a:r>
              <a:rPr lang="en-US" altLang="zh-CN" dirty="0"/>
              <a:t>Incremental</a:t>
            </a:r>
            <a:endParaRPr lang="zh-CN" altLang="en-US" dirty="0"/>
          </a:p>
        </p:txBody>
      </p:sp>
    </p:spTree>
    <p:extLst>
      <p:ext uri="{BB962C8B-B14F-4D97-AF65-F5344CB8AC3E}">
        <p14:creationId xmlns:p14="http://schemas.microsoft.com/office/powerpoint/2010/main" val="34772131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08E9A5A-E4EF-BFA7-5D45-9875F87C04F7}"/>
              </a:ext>
            </a:extLst>
          </p:cNvPr>
          <p:cNvSpPr>
            <a:spLocks noGrp="1"/>
          </p:cNvSpPr>
          <p:nvPr>
            <p:ph type="title"/>
          </p:nvPr>
        </p:nvSpPr>
        <p:spPr/>
        <p:txBody>
          <a:bodyPr/>
          <a:lstStyle/>
          <a:p>
            <a:r>
              <a:rPr lang="zh-CN" altLang="en-US" dirty="0"/>
              <a:t>敏捷型</a:t>
            </a:r>
          </a:p>
        </p:txBody>
      </p:sp>
      <p:sp>
        <p:nvSpPr>
          <p:cNvPr id="3" name="内容占位符 2">
            <a:extLst>
              <a:ext uri="{FF2B5EF4-FFF2-40B4-BE49-F238E27FC236}">
                <a16:creationId xmlns:a16="http://schemas.microsoft.com/office/drawing/2014/main" id="{D17BA3B4-CC89-7C52-91D3-8A97336D7F4A}"/>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9C392903-4C00-10DF-7FCF-770BC8EA1A95}"/>
              </a:ext>
            </a:extLst>
          </p:cNvPr>
          <p:cNvSpPr>
            <a:spLocks noGrp="1"/>
          </p:cNvSpPr>
          <p:nvPr>
            <p:ph type="body" sz="quarter" idx="10"/>
          </p:nvPr>
        </p:nvSpPr>
        <p:spPr/>
        <p:txBody>
          <a:bodyPr/>
          <a:lstStyle/>
          <a:p>
            <a:r>
              <a:rPr lang="en-US" altLang="zh-CN" dirty="0"/>
              <a:t>Agile</a:t>
            </a:r>
            <a:endParaRPr lang="zh-CN" altLang="en-US" dirty="0"/>
          </a:p>
        </p:txBody>
      </p:sp>
    </p:spTree>
    <p:extLst>
      <p:ext uri="{BB962C8B-B14F-4D97-AF65-F5344CB8AC3E}">
        <p14:creationId xmlns:p14="http://schemas.microsoft.com/office/powerpoint/2010/main" val="195452419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0BD86-4599-E43C-4B41-E19A306A138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CFB3CF9-F3DC-3366-8BCB-59570683B3F7}"/>
              </a:ext>
            </a:extLst>
          </p:cNvPr>
          <p:cNvSpPr>
            <a:spLocks noGrp="1"/>
          </p:cNvSpPr>
          <p:nvPr>
            <p:ph type="title"/>
          </p:nvPr>
        </p:nvSpPr>
        <p:spPr>
          <a:xfrm>
            <a:off x="695998" y="360000"/>
            <a:ext cx="7200000" cy="424732"/>
          </a:xfrm>
        </p:spPr>
        <p:txBody>
          <a:bodyPr/>
          <a:lstStyle/>
          <a:p>
            <a:r>
              <a:rPr lang="en-US" altLang="zh-CN" dirty="0"/>
              <a:t>Scrum</a:t>
            </a:r>
            <a:endParaRPr lang="zh-CN" altLang="en-US" dirty="0"/>
          </a:p>
        </p:txBody>
      </p:sp>
      <p:sp>
        <p:nvSpPr>
          <p:cNvPr id="3" name="内容占位符 2">
            <a:extLst>
              <a:ext uri="{FF2B5EF4-FFF2-40B4-BE49-F238E27FC236}">
                <a16:creationId xmlns:a16="http://schemas.microsoft.com/office/drawing/2014/main" id="{15780787-8DE9-A954-129B-C9315F9232A7}"/>
              </a:ext>
            </a:extLst>
          </p:cNvPr>
          <p:cNvSpPr>
            <a:spLocks noGrp="1"/>
          </p:cNvSpPr>
          <p:nvPr>
            <p:ph idx="1"/>
          </p:nvPr>
        </p:nvSpPr>
        <p:spPr>
          <a:xfrm>
            <a:off x="696000" y="1080000"/>
            <a:ext cx="10800000" cy="5112000"/>
          </a:xfrm>
        </p:spPr>
        <p:txBody>
          <a:bodyPr>
            <a:normAutofit/>
          </a:bodyPr>
          <a:lstStyle/>
          <a:p>
            <a:r>
              <a:rPr lang="en-US" altLang="zh-CN" dirty="0"/>
              <a:t>Scrum is a lightweight framework that helps people, teams and organizations generate value through adaptive solutions for complex problems.</a:t>
            </a:r>
          </a:p>
          <a:p>
            <a:endParaRPr lang="en-US" altLang="zh-CN" dirty="0"/>
          </a:p>
          <a:p>
            <a:r>
              <a:rPr lang="en-US" altLang="zh-CN" dirty="0"/>
              <a:t>Scrum requires a Scrum Master to foster an environment where:</a:t>
            </a:r>
          </a:p>
          <a:p>
            <a:pPr lvl="1"/>
            <a:r>
              <a:rPr lang="en-US" altLang="zh-CN" dirty="0"/>
              <a:t>A Product Owner orders the work for a complex problem into a Product Backlog.</a:t>
            </a:r>
          </a:p>
          <a:p>
            <a:pPr lvl="1"/>
            <a:r>
              <a:rPr lang="zh-CN" altLang="en-US" dirty="0"/>
              <a:t>产品负责人将复杂问题的工作订单放入产品待办事项列表中。</a:t>
            </a:r>
          </a:p>
          <a:p>
            <a:pPr lvl="1"/>
            <a:r>
              <a:rPr lang="en-US" altLang="zh-CN" dirty="0"/>
              <a:t>The Scrum Team turns a selection of the work into an Increment of value during a Sprint.</a:t>
            </a:r>
          </a:p>
          <a:p>
            <a:pPr lvl="1"/>
            <a:r>
              <a:rPr lang="zh-CN" altLang="en-US" dirty="0"/>
              <a:t>敏捷团队在冲刺期间将一部分工作转化为价值增量。</a:t>
            </a:r>
          </a:p>
          <a:p>
            <a:pPr lvl="1"/>
            <a:r>
              <a:rPr lang="en-US" altLang="zh-CN" dirty="0"/>
              <a:t>The Scrum Team and its stakeholders inspect the results and adjust for the next Sprint.</a:t>
            </a:r>
          </a:p>
          <a:p>
            <a:pPr lvl="1"/>
            <a:r>
              <a:rPr lang="zh-CN" altLang="en-US" dirty="0"/>
              <a:t>敏捷团队及其利益相关者检查结果并调整以备下一轮迭代。</a:t>
            </a:r>
          </a:p>
          <a:p>
            <a:pPr lvl="1"/>
            <a:r>
              <a:rPr lang="en-US" altLang="zh-CN" dirty="0"/>
              <a:t>Repeat.</a:t>
            </a:r>
          </a:p>
        </p:txBody>
      </p:sp>
      <p:sp>
        <p:nvSpPr>
          <p:cNvPr id="4" name="文本占位符 3">
            <a:extLst>
              <a:ext uri="{FF2B5EF4-FFF2-40B4-BE49-F238E27FC236}">
                <a16:creationId xmlns:a16="http://schemas.microsoft.com/office/drawing/2014/main" id="{1803B349-5414-1E1D-2271-2D1608E0B179}"/>
              </a:ext>
            </a:extLst>
          </p:cNvPr>
          <p:cNvSpPr>
            <a:spLocks noGrp="1"/>
          </p:cNvSpPr>
          <p:nvPr>
            <p:ph type="body" sz="quarter" idx="10"/>
          </p:nvPr>
        </p:nvSpPr>
        <p:spPr>
          <a:xfrm>
            <a:off x="6702424" y="360001"/>
            <a:ext cx="4793575" cy="424731"/>
          </a:xfrm>
        </p:spPr>
        <p:txBody>
          <a:bodyPr/>
          <a:lstStyle/>
          <a:p>
            <a:r>
              <a:rPr lang="en-US" altLang="zh-CN" dirty="0"/>
              <a:t>Agile</a:t>
            </a:r>
            <a:endParaRPr lang="zh-CN" altLang="en-US" dirty="0"/>
          </a:p>
        </p:txBody>
      </p:sp>
    </p:spTree>
    <p:extLst>
      <p:ext uri="{BB962C8B-B14F-4D97-AF65-F5344CB8AC3E}">
        <p14:creationId xmlns:p14="http://schemas.microsoft.com/office/powerpoint/2010/main" val="208939448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7200000" cy="424732"/>
          </a:xfrm>
        </p:spPr>
        <p:txBody>
          <a:bodyPr/>
          <a:lstStyle/>
          <a:p>
            <a:r>
              <a:rPr lang="zh-CN" altLang="en-US" dirty="0"/>
              <a:t>敏捷价值观 </a:t>
            </a:r>
            <a:r>
              <a:rPr lang="en-US" altLang="zh-CN" dirty="0"/>
              <a:t>Scrum Values</a:t>
            </a:r>
            <a:endParaRPr lang="zh-CN" altLang="en-US" dirty="0"/>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1080000"/>
            <a:ext cx="10800000" cy="5112000"/>
          </a:xfrm>
        </p:spPr>
        <p:txBody>
          <a:bodyPr>
            <a:normAutofit/>
          </a:bodyPr>
          <a:lstStyle/>
          <a:p>
            <a:endParaRPr lang="zh-CN" altLang="en-US" dirty="0"/>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6702424" y="360001"/>
            <a:ext cx="4793575" cy="424731"/>
          </a:xfrm>
        </p:spPr>
        <p:txBody>
          <a:bodyPr/>
          <a:lstStyle/>
          <a:p>
            <a:r>
              <a:rPr lang="en-US" altLang="zh-CN"/>
              <a:t>Agile</a:t>
            </a:r>
            <a:endParaRPr lang="zh-CN" altLang="en-US" dirty="0"/>
          </a:p>
        </p:txBody>
      </p:sp>
      <p:graphicFrame>
        <p:nvGraphicFramePr>
          <p:cNvPr id="5" name="图示 4">
            <a:extLst>
              <a:ext uri="{FF2B5EF4-FFF2-40B4-BE49-F238E27FC236}">
                <a16:creationId xmlns:a16="http://schemas.microsoft.com/office/drawing/2014/main" id="{4FE710AB-0FDC-FE60-6BBC-ED504CCE5A13}"/>
              </a:ext>
            </a:extLst>
          </p:cNvPr>
          <p:cNvGraphicFramePr>
            <a:graphicFrameLocks noChangeAspect="1"/>
          </p:cNvGraphicFramePr>
          <p:nvPr>
            <p:extLst>
              <p:ext uri="{D42A27DB-BD31-4B8C-83A1-F6EECF244321}">
                <p14:modId xmlns:p14="http://schemas.microsoft.com/office/powerpoint/2010/main" val="1722025490"/>
              </p:ext>
            </p:extLst>
          </p:nvPr>
        </p:nvGraphicFramePr>
        <p:xfrm>
          <a:off x="3936000" y="1803400"/>
          <a:ext cx="4320000" cy="32512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1" name="文本框 20">
            <a:extLst>
              <a:ext uri="{FF2B5EF4-FFF2-40B4-BE49-F238E27FC236}">
                <a16:creationId xmlns:a16="http://schemas.microsoft.com/office/drawing/2014/main" id="{DCF03C1D-5E51-CF36-4DCA-6EBB50B1AE80}"/>
              </a:ext>
            </a:extLst>
          </p:cNvPr>
          <p:cNvSpPr txBox="1"/>
          <p:nvPr/>
        </p:nvSpPr>
        <p:spPr>
          <a:xfrm>
            <a:off x="5208577" y="1434068"/>
            <a:ext cx="1774845" cy="369332"/>
          </a:xfrm>
          <a:prstGeom prst="rect">
            <a:avLst/>
          </a:prstGeom>
          <a:noFill/>
        </p:spPr>
        <p:txBody>
          <a:bodyPr wrap="none" rtlCol="0">
            <a:spAutoFit/>
          </a:bodyPr>
          <a:lstStyle/>
          <a:p>
            <a:pPr algn="ctr"/>
            <a:r>
              <a:rPr lang="en-US" altLang="zh-CN" dirty="0"/>
              <a:t>Commitment</a:t>
            </a:r>
            <a:endParaRPr lang="zh-CN" altLang="en-US" dirty="0"/>
          </a:p>
        </p:txBody>
      </p:sp>
      <p:sp>
        <p:nvSpPr>
          <p:cNvPr id="22" name="文本框 21">
            <a:extLst>
              <a:ext uri="{FF2B5EF4-FFF2-40B4-BE49-F238E27FC236}">
                <a16:creationId xmlns:a16="http://schemas.microsoft.com/office/drawing/2014/main" id="{38BFF154-81A5-7FD3-2466-D58F9BE7095E}"/>
              </a:ext>
            </a:extLst>
          </p:cNvPr>
          <p:cNvSpPr txBox="1"/>
          <p:nvPr/>
        </p:nvSpPr>
        <p:spPr>
          <a:xfrm>
            <a:off x="7768643" y="3007755"/>
            <a:ext cx="872355" cy="369332"/>
          </a:xfrm>
          <a:prstGeom prst="rect">
            <a:avLst/>
          </a:prstGeom>
          <a:noFill/>
        </p:spPr>
        <p:txBody>
          <a:bodyPr wrap="none" rtlCol="0">
            <a:spAutoFit/>
          </a:bodyPr>
          <a:lstStyle/>
          <a:p>
            <a:pPr algn="ctr"/>
            <a:r>
              <a:rPr lang="en-US" altLang="zh-CN" dirty="0"/>
              <a:t>Focus</a:t>
            </a:r>
            <a:endParaRPr lang="zh-CN" altLang="en-US" dirty="0"/>
          </a:p>
        </p:txBody>
      </p:sp>
      <p:sp>
        <p:nvSpPr>
          <p:cNvPr id="23" name="文本框 22">
            <a:extLst>
              <a:ext uri="{FF2B5EF4-FFF2-40B4-BE49-F238E27FC236}">
                <a16:creationId xmlns:a16="http://schemas.microsoft.com/office/drawing/2014/main" id="{34AEB695-845E-E57B-AC3B-ECBE4B8AB4FA}"/>
              </a:ext>
            </a:extLst>
          </p:cNvPr>
          <p:cNvSpPr txBox="1"/>
          <p:nvPr/>
        </p:nvSpPr>
        <p:spPr>
          <a:xfrm>
            <a:off x="7337389" y="4334481"/>
            <a:ext cx="1350049" cy="369332"/>
          </a:xfrm>
          <a:prstGeom prst="rect">
            <a:avLst/>
          </a:prstGeom>
          <a:noFill/>
        </p:spPr>
        <p:txBody>
          <a:bodyPr wrap="none" rtlCol="0">
            <a:spAutoFit/>
          </a:bodyPr>
          <a:lstStyle/>
          <a:p>
            <a:pPr algn="ctr"/>
            <a:r>
              <a:rPr lang="en-US" altLang="zh-CN" dirty="0"/>
              <a:t>Openness</a:t>
            </a:r>
            <a:endParaRPr lang="zh-CN" altLang="en-US" dirty="0"/>
          </a:p>
        </p:txBody>
      </p:sp>
      <p:sp>
        <p:nvSpPr>
          <p:cNvPr id="24" name="文本框 23">
            <a:extLst>
              <a:ext uri="{FF2B5EF4-FFF2-40B4-BE49-F238E27FC236}">
                <a16:creationId xmlns:a16="http://schemas.microsoft.com/office/drawing/2014/main" id="{821585AB-AD17-A67D-A9A5-D9853766B7A7}"/>
              </a:ext>
            </a:extLst>
          </p:cNvPr>
          <p:cNvSpPr txBox="1"/>
          <p:nvPr/>
        </p:nvSpPr>
        <p:spPr>
          <a:xfrm>
            <a:off x="3732190" y="4334481"/>
            <a:ext cx="1122423" cy="369332"/>
          </a:xfrm>
          <a:prstGeom prst="rect">
            <a:avLst/>
          </a:prstGeom>
          <a:noFill/>
        </p:spPr>
        <p:txBody>
          <a:bodyPr wrap="none" rtlCol="0">
            <a:spAutoFit/>
          </a:bodyPr>
          <a:lstStyle/>
          <a:p>
            <a:pPr algn="ctr"/>
            <a:r>
              <a:rPr lang="en-US" altLang="zh-CN" dirty="0"/>
              <a:t>Respect</a:t>
            </a:r>
            <a:endParaRPr lang="zh-CN" altLang="en-US" dirty="0"/>
          </a:p>
        </p:txBody>
      </p:sp>
      <p:sp>
        <p:nvSpPr>
          <p:cNvPr id="25" name="文本框 24">
            <a:extLst>
              <a:ext uri="{FF2B5EF4-FFF2-40B4-BE49-F238E27FC236}">
                <a16:creationId xmlns:a16="http://schemas.microsoft.com/office/drawing/2014/main" id="{53FB7CB7-0B5D-9C26-5EC0-4D6E26A4772F}"/>
              </a:ext>
            </a:extLst>
          </p:cNvPr>
          <p:cNvSpPr txBox="1"/>
          <p:nvPr/>
        </p:nvSpPr>
        <p:spPr>
          <a:xfrm>
            <a:off x="3244831" y="3013165"/>
            <a:ext cx="1178528" cy="369332"/>
          </a:xfrm>
          <a:prstGeom prst="rect">
            <a:avLst/>
          </a:prstGeom>
          <a:noFill/>
        </p:spPr>
        <p:txBody>
          <a:bodyPr wrap="none" rtlCol="0">
            <a:spAutoFit/>
          </a:bodyPr>
          <a:lstStyle/>
          <a:p>
            <a:pPr algn="ctr"/>
            <a:r>
              <a:rPr lang="en-US" altLang="zh-CN" dirty="0"/>
              <a:t>Courage</a:t>
            </a:r>
            <a:endParaRPr lang="zh-CN" altLang="en-US" dirty="0"/>
          </a:p>
        </p:txBody>
      </p:sp>
    </p:spTree>
    <p:extLst>
      <p:ext uri="{BB962C8B-B14F-4D97-AF65-F5344CB8AC3E}">
        <p14:creationId xmlns:p14="http://schemas.microsoft.com/office/powerpoint/2010/main" val="66200774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D27DD6BB-A6C8-BD48-4C37-FF0D7CF9B997}"/>
              </a:ext>
            </a:extLst>
          </p:cNvPr>
          <p:cNvSpPr>
            <a:spLocks noGrp="1"/>
          </p:cNvSpPr>
          <p:nvPr>
            <p:ph type="body" sz="quarter" idx="10"/>
          </p:nvPr>
        </p:nvSpPr>
        <p:spPr/>
        <p:txBody>
          <a:bodyPr/>
          <a:lstStyle/>
          <a:p>
            <a:r>
              <a:rPr lang="zh-CN" altLang="en-US" dirty="0"/>
              <a:t>在迭代规划会议中，敏捷团队估算出一个功能特性所需时间为两周，但是新来的敏捷教练要求必须在一周内完成。团队成员向敏捷教练解释一周内完成是不可行的，并且没有理由给出一周的交付期限。敏捷教练的做法不符合以下哪一个 </a:t>
            </a:r>
            <a:r>
              <a:rPr lang="en-US" altLang="zh-CN" dirty="0"/>
              <a:t>Scrum </a:t>
            </a:r>
            <a:r>
              <a:rPr lang="zh-CN" altLang="en-US" dirty="0"/>
              <a:t>价值观？</a:t>
            </a:r>
            <a:endParaRPr lang="en-US" altLang="zh-CN" dirty="0"/>
          </a:p>
          <a:p>
            <a:endParaRPr lang="zh-CN" altLang="en-US" dirty="0"/>
          </a:p>
          <a:p>
            <a:r>
              <a:rPr lang="en-US" altLang="zh-CN" dirty="0"/>
              <a:t>A. </a:t>
            </a:r>
            <a:r>
              <a:rPr lang="zh-CN" altLang="en-US" dirty="0"/>
              <a:t>开放</a:t>
            </a:r>
          </a:p>
          <a:p>
            <a:r>
              <a:rPr lang="en-US" altLang="zh-CN" dirty="0"/>
              <a:t>B. </a:t>
            </a:r>
            <a:r>
              <a:rPr lang="zh-CN" altLang="en-US" dirty="0"/>
              <a:t>尊重</a:t>
            </a:r>
          </a:p>
          <a:p>
            <a:r>
              <a:rPr lang="en-US" altLang="zh-CN" dirty="0"/>
              <a:t>C. </a:t>
            </a:r>
            <a:r>
              <a:rPr lang="zh-CN" altLang="en-US" dirty="0"/>
              <a:t>勇气</a:t>
            </a:r>
          </a:p>
          <a:p>
            <a:r>
              <a:rPr lang="en-US" altLang="zh-CN" dirty="0"/>
              <a:t>D. </a:t>
            </a:r>
            <a:r>
              <a:rPr lang="zh-CN" altLang="en-US" dirty="0"/>
              <a:t>专注</a:t>
            </a:r>
          </a:p>
        </p:txBody>
      </p:sp>
    </p:spTree>
    <p:extLst>
      <p:ext uri="{BB962C8B-B14F-4D97-AF65-F5344CB8AC3E}">
        <p14:creationId xmlns:p14="http://schemas.microsoft.com/office/powerpoint/2010/main" val="317713618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7200000" cy="424732"/>
          </a:xfrm>
        </p:spPr>
        <p:txBody>
          <a:bodyPr/>
          <a:lstStyle/>
          <a:p>
            <a:r>
              <a:rPr lang="zh-CN" altLang="en-US" dirty="0"/>
              <a:t>敏捷理念 </a:t>
            </a:r>
            <a:r>
              <a:rPr lang="en-US" altLang="zh-CN" dirty="0"/>
              <a:t>Scrum Theory</a:t>
            </a:r>
            <a:endParaRPr lang="zh-CN" altLang="en-US" dirty="0"/>
          </a:p>
        </p:txBody>
      </p:sp>
      <p:sp>
        <p:nvSpPr>
          <p:cNvPr id="3" name="内容占位符 2">
            <a:extLst>
              <a:ext uri="{FF2B5EF4-FFF2-40B4-BE49-F238E27FC236}">
                <a16:creationId xmlns:a16="http://schemas.microsoft.com/office/drawing/2014/main" id="{33774E86-9670-9389-82F6-81112488EB3A}"/>
              </a:ext>
            </a:extLst>
          </p:cNvPr>
          <p:cNvSpPr>
            <a:spLocks noGrp="1"/>
          </p:cNvSpPr>
          <p:nvPr>
            <p:ph idx="1"/>
          </p:nvPr>
        </p:nvSpPr>
        <p:spPr>
          <a:xfrm>
            <a:off x="696000" y="1080000"/>
            <a:ext cx="10800000" cy="5112000"/>
          </a:xfrm>
        </p:spPr>
        <p:txBody>
          <a:bodyPr>
            <a:normAutofit/>
          </a:bodyPr>
          <a:lstStyle/>
          <a:p>
            <a:r>
              <a:rPr lang="en-US" altLang="zh-CN" dirty="0"/>
              <a:t>Pillars of Scrum</a:t>
            </a:r>
            <a:endParaRPr lang="zh-CN" altLang="en-US" dirty="0"/>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6702424" y="360001"/>
            <a:ext cx="4793575" cy="424731"/>
          </a:xfrm>
        </p:spPr>
        <p:txBody>
          <a:bodyPr/>
          <a:lstStyle/>
          <a:p>
            <a:r>
              <a:rPr lang="en-US" altLang="zh-CN" dirty="0"/>
              <a:t>Agile</a:t>
            </a:r>
            <a:endParaRPr lang="zh-CN" altLang="en-US" dirty="0"/>
          </a:p>
        </p:txBody>
      </p:sp>
      <p:graphicFrame>
        <p:nvGraphicFramePr>
          <p:cNvPr id="5" name="图示 4">
            <a:extLst>
              <a:ext uri="{FF2B5EF4-FFF2-40B4-BE49-F238E27FC236}">
                <a16:creationId xmlns:a16="http://schemas.microsoft.com/office/drawing/2014/main" id="{E253287A-1B3A-FBEC-CB16-ADD31DF1DB24}"/>
              </a:ext>
            </a:extLst>
          </p:cNvPr>
          <p:cNvGraphicFramePr>
            <a:graphicFrameLocks noChangeAspect="1"/>
          </p:cNvGraphicFramePr>
          <p:nvPr>
            <p:extLst>
              <p:ext uri="{D42A27DB-BD31-4B8C-83A1-F6EECF244321}">
                <p14:modId xmlns:p14="http://schemas.microsoft.com/office/powerpoint/2010/main" val="3259145015"/>
              </p:ext>
            </p:extLst>
          </p:nvPr>
        </p:nvGraphicFramePr>
        <p:xfrm>
          <a:off x="3936000" y="1803400"/>
          <a:ext cx="4320000" cy="32512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49541315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p:txBody>
          <a:bodyPr/>
          <a:lstStyle/>
          <a:p>
            <a:r>
              <a:rPr lang="zh-CN" altLang="en-US" dirty="0"/>
              <a:t>敏捷理念 </a:t>
            </a:r>
            <a:r>
              <a:rPr lang="en-US" altLang="zh-CN" dirty="0"/>
              <a:t>Scrum Theory/Pillars of Scrum</a:t>
            </a:r>
            <a:endParaRPr lang="zh-CN" altLang="en-US" dirty="0"/>
          </a:p>
        </p:txBody>
      </p:sp>
      <p:sp>
        <p:nvSpPr>
          <p:cNvPr id="3" name="内容占位符 2">
            <a:extLst>
              <a:ext uri="{FF2B5EF4-FFF2-40B4-BE49-F238E27FC236}">
                <a16:creationId xmlns:a16="http://schemas.microsoft.com/office/drawing/2014/main" id="{33774E86-9670-9389-82F6-81112488EB3A}"/>
              </a:ext>
            </a:extLst>
          </p:cNvPr>
          <p:cNvSpPr>
            <a:spLocks noGrp="1"/>
          </p:cNvSpPr>
          <p:nvPr>
            <p:ph idx="1"/>
          </p:nvPr>
        </p:nvSpPr>
        <p:spPr/>
        <p:txBody>
          <a:bodyPr>
            <a:normAutofit/>
          </a:bodyPr>
          <a:lstStyle/>
          <a:p>
            <a:r>
              <a:rPr lang="zh-CN" altLang="en-US" dirty="0"/>
              <a:t>透明性 </a:t>
            </a:r>
            <a:r>
              <a:rPr lang="en-US" altLang="zh-CN" dirty="0"/>
              <a:t>Transparency</a:t>
            </a:r>
            <a:endParaRPr lang="zh-CN" altLang="en-US" dirty="0"/>
          </a:p>
          <a:p>
            <a:pPr lvl="1"/>
            <a:r>
              <a:rPr lang="zh-CN" altLang="en-US" dirty="0"/>
              <a:t>所有与过程、工作、进展和挑战相关的信息必须对团队和干系人清晰可见。</a:t>
            </a:r>
          </a:p>
          <a:p>
            <a:pPr lvl="1"/>
            <a:r>
              <a:rPr lang="zh-CN" altLang="en-US" dirty="0"/>
              <a:t>工作项（如 </a:t>
            </a:r>
            <a:r>
              <a:rPr lang="en-US" altLang="zh-CN" dirty="0"/>
              <a:t>Product Backlog</a:t>
            </a:r>
            <a:r>
              <a:rPr lang="zh-CN" altLang="en-US" dirty="0"/>
              <a:t>）的内容、状态和优先级必须公开。</a:t>
            </a:r>
          </a:p>
          <a:p>
            <a:pPr lvl="1"/>
            <a:r>
              <a:rPr lang="zh-CN" altLang="en-US" dirty="0"/>
              <a:t>团队使用统一的术语（如“完成”需有明确定义</a:t>
            </a:r>
            <a:r>
              <a:rPr lang="en-US" altLang="zh-CN" dirty="0"/>
              <a:t>——Definition of Done</a:t>
            </a:r>
            <a:r>
              <a:rPr lang="zh-CN" altLang="en-US" dirty="0"/>
              <a:t>）。</a:t>
            </a:r>
          </a:p>
          <a:p>
            <a:pPr lvl="1"/>
            <a:r>
              <a:rPr lang="zh-CN" altLang="en-US" dirty="0"/>
              <a:t>进度通过可视化工具（如 </a:t>
            </a:r>
            <a:r>
              <a:rPr lang="en-US" altLang="zh-CN" dirty="0"/>
              <a:t>Sprint Burndown Chart</a:t>
            </a:r>
            <a:r>
              <a:rPr lang="zh-CN" altLang="en-US" dirty="0"/>
              <a:t>、看板）展示。</a:t>
            </a:r>
          </a:p>
          <a:p>
            <a:pPr lvl="1"/>
            <a:r>
              <a:rPr lang="zh-CN" altLang="en-US" dirty="0"/>
              <a:t>目的：确保所有人基于相同事实做决策，避免误解和隐藏问题。</a:t>
            </a:r>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p:txBody>
          <a:bodyPr/>
          <a:lstStyle/>
          <a:p>
            <a:r>
              <a:rPr lang="en-US" altLang="zh-CN" dirty="0"/>
              <a:t>Agile</a:t>
            </a:r>
            <a:endParaRPr lang="zh-CN" altLang="en-US" dirty="0"/>
          </a:p>
        </p:txBody>
      </p:sp>
    </p:spTree>
    <p:extLst>
      <p:ext uri="{BB962C8B-B14F-4D97-AF65-F5344CB8AC3E}">
        <p14:creationId xmlns:p14="http://schemas.microsoft.com/office/powerpoint/2010/main" val="132265015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FB9B9C-FE7C-43FA-6074-450CA725C4B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D1B2DBA-EB28-86E9-708A-E7263B31E26C}"/>
              </a:ext>
            </a:extLst>
          </p:cNvPr>
          <p:cNvSpPr>
            <a:spLocks noGrp="1"/>
          </p:cNvSpPr>
          <p:nvPr>
            <p:ph type="title"/>
          </p:nvPr>
        </p:nvSpPr>
        <p:spPr>
          <a:xfrm>
            <a:off x="695998" y="360000"/>
            <a:ext cx="7200000" cy="424732"/>
          </a:xfrm>
        </p:spPr>
        <p:txBody>
          <a:bodyPr/>
          <a:lstStyle/>
          <a:p>
            <a:r>
              <a:rPr lang="zh-CN" altLang="en-US" dirty="0"/>
              <a:t>敏捷理念 </a:t>
            </a:r>
            <a:r>
              <a:rPr lang="en-US" altLang="zh-CN" dirty="0"/>
              <a:t>Scrum Theory/Pillars of Scrum</a:t>
            </a:r>
            <a:endParaRPr lang="zh-CN" altLang="en-US" dirty="0"/>
          </a:p>
        </p:txBody>
      </p:sp>
      <p:sp>
        <p:nvSpPr>
          <p:cNvPr id="3" name="内容占位符 2">
            <a:extLst>
              <a:ext uri="{FF2B5EF4-FFF2-40B4-BE49-F238E27FC236}">
                <a16:creationId xmlns:a16="http://schemas.microsoft.com/office/drawing/2014/main" id="{3CA2C378-9EC1-86B4-F634-8E82F80F4D31}"/>
              </a:ext>
            </a:extLst>
          </p:cNvPr>
          <p:cNvSpPr>
            <a:spLocks noGrp="1"/>
          </p:cNvSpPr>
          <p:nvPr>
            <p:ph idx="1"/>
          </p:nvPr>
        </p:nvSpPr>
        <p:spPr>
          <a:xfrm>
            <a:off x="696000" y="1080000"/>
            <a:ext cx="10800000" cy="5112000"/>
          </a:xfrm>
        </p:spPr>
        <p:txBody>
          <a:bodyPr>
            <a:normAutofit/>
          </a:bodyPr>
          <a:lstStyle/>
          <a:p>
            <a:r>
              <a:rPr lang="zh-CN" altLang="en-US" dirty="0"/>
              <a:t>检视 </a:t>
            </a:r>
            <a:r>
              <a:rPr lang="en-US" altLang="zh-CN" dirty="0"/>
              <a:t>Inspection</a:t>
            </a:r>
            <a:endParaRPr lang="zh-CN" altLang="en-US" dirty="0"/>
          </a:p>
          <a:p>
            <a:pPr lvl="1"/>
            <a:r>
              <a:rPr lang="en-US" altLang="zh-CN" dirty="0"/>
              <a:t>Scrum </a:t>
            </a:r>
            <a:r>
              <a:rPr lang="zh-CN" altLang="en-US" dirty="0"/>
              <a:t>团队定期检查产品、过程和计划，以识别偏差或改进机会。</a:t>
            </a:r>
          </a:p>
          <a:p>
            <a:pPr lvl="1"/>
            <a:r>
              <a:rPr lang="zh-CN" altLang="en-US" dirty="0"/>
              <a:t>在固定时间点进行：</a:t>
            </a:r>
          </a:p>
          <a:p>
            <a:pPr lvl="1"/>
            <a:r>
              <a:rPr lang="en-US" altLang="zh-CN" dirty="0"/>
              <a:t>Daily Scrum</a:t>
            </a:r>
            <a:r>
              <a:rPr lang="zh-CN" altLang="en-US" dirty="0"/>
              <a:t>：每日检视进度与障碍</a:t>
            </a:r>
          </a:p>
          <a:p>
            <a:pPr lvl="1"/>
            <a:r>
              <a:rPr lang="en-US" altLang="zh-CN" dirty="0"/>
              <a:t>Sprint Review</a:t>
            </a:r>
            <a:r>
              <a:rPr lang="zh-CN" altLang="en-US" dirty="0"/>
              <a:t>：检视可交付成果是否满足目标</a:t>
            </a:r>
          </a:p>
          <a:p>
            <a:pPr lvl="1"/>
            <a:r>
              <a:rPr lang="en-US" altLang="zh-CN" dirty="0"/>
              <a:t>Sprint Retrospective</a:t>
            </a:r>
            <a:r>
              <a:rPr lang="zh-CN" altLang="en-US" dirty="0"/>
              <a:t>：检视流程与协作方式</a:t>
            </a:r>
          </a:p>
          <a:p>
            <a:pPr lvl="1"/>
            <a:r>
              <a:rPr lang="zh-CN" altLang="en-US" dirty="0"/>
              <a:t>检视必须及时（不能等到项目结束），且不影响正常工作流。</a:t>
            </a:r>
          </a:p>
          <a:p>
            <a:pPr lvl="1"/>
            <a:r>
              <a:rPr lang="zh-CN" altLang="en-US" dirty="0"/>
              <a:t>目的：尽早发现问题，防止小偏差演变成大风险。</a:t>
            </a:r>
          </a:p>
        </p:txBody>
      </p:sp>
      <p:sp>
        <p:nvSpPr>
          <p:cNvPr id="4" name="文本占位符 3">
            <a:extLst>
              <a:ext uri="{FF2B5EF4-FFF2-40B4-BE49-F238E27FC236}">
                <a16:creationId xmlns:a16="http://schemas.microsoft.com/office/drawing/2014/main" id="{D8D92919-39A9-E1A8-D096-6AB6F0081756}"/>
              </a:ext>
            </a:extLst>
          </p:cNvPr>
          <p:cNvSpPr>
            <a:spLocks noGrp="1"/>
          </p:cNvSpPr>
          <p:nvPr>
            <p:ph type="body" sz="quarter" idx="10"/>
          </p:nvPr>
        </p:nvSpPr>
        <p:spPr>
          <a:xfrm>
            <a:off x="6702424" y="360001"/>
            <a:ext cx="4793575" cy="424731"/>
          </a:xfrm>
        </p:spPr>
        <p:txBody>
          <a:bodyPr/>
          <a:lstStyle/>
          <a:p>
            <a:r>
              <a:rPr lang="en-US" altLang="zh-CN" dirty="0"/>
              <a:t>Agile</a:t>
            </a:r>
            <a:endParaRPr lang="zh-CN" altLang="en-US" dirty="0"/>
          </a:p>
        </p:txBody>
      </p:sp>
    </p:spTree>
    <p:extLst>
      <p:ext uri="{BB962C8B-B14F-4D97-AF65-F5344CB8AC3E}">
        <p14:creationId xmlns:p14="http://schemas.microsoft.com/office/powerpoint/2010/main" val="235677342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1D866-D0D6-17FC-5CAF-7C2DFFF7732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7F18F71-78FC-0508-C5A4-F215D710E704}"/>
              </a:ext>
            </a:extLst>
          </p:cNvPr>
          <p:cNvSpPr>
            <a:spLocks noGrp="1"/>
          </p:cNvSpPr>
          <p:nvPr>
            <p:ph type="title"/>
          </p:nvPr>
        </p:nvSpPr>
        <p:spPr>
          <a:xfrm>
            <a:off x="695998" y="360000"/>
            <a:ext cx="7200000" cy="424732"/>
          </a:xfrm>
        </p:spPr>
        <p:txBody>
          <a:bodyPr/>
          <a:lstStyle/>
          <a:p>
            <a:r>
              <a:rPr lang="zh-CN" altLang="en-US" dirty="0"/>
              <a:t>敏捷理念 </a:t>
            </a:r>
            <a:r>
              <a:rPr lang="en-US" altLang="zh-CN" dirty="0"/>
              <a:t>Scrum Theory/Pillars of Scrum</a:t>
            </a:r>
            <a:endParaRPr lang="zh-CN" altLang="en-US" dirty="0"/>
          </a:p>
        </p:txBody>
      </p:sp>
      <p:sp>
        <p:nvSpPr>
          <p:cNvPr id="3" name="内容占位符 2">
            <a:extLst>
              <a:ext uri="{FF2B5EF4-FFF2-40B4-BE49-F238E27FC236}">
                <a16:creationId xmlns:a16="http://schemas.microsoft.com/office/drawing/2014/main" id="{2BB11921-90F9-E334-41D4-BC2D0F24AF77}"/>
              </a:ext>
            </a:extLst>
          </p:cNvPr>
          <p:cNvSpPr>
            <a:spLocks noGrp="1"/>
          </p:cNvSpPr>
          <p:nvPr>
            <p:ph idx="1"/>
          </p:nvPr>
        </p:nvSpPr>
        <p:spPr>
          <a:xfrm>
            <a:off x="696000" y="1080000"/>
            <a:ext cx="10800000" cy="5112000"/>
          </a:xfrm>
        </p:spPr>
        <p:txBody>
          <a:bodyPr>
            <a:normAutofit/>
          </a:bodyPr>
          <a:lstStyle/>
          <a:p>
            <a:r>
              <a:rPr lang="zh-CN" altLang="en-US" dirty="0"/>
              <a:t>适应 </a:t>
            </a:r>
            <a:r>
              <a:rPr lang="en-US" altLang="zh-CN" dirty="0"/>
              <a:t>Adaptation</a:t>
            </a:r>
            <a:endParaRPr lang="zh-CN" altLang="en-US" dirty="0"/>
          </a:p>
          <a:p>
            <a:pPr lvl="1"/>
            <a:r>
              <a:rPr lang="zh-CN" altLang="en-US" dirty="0"/>
              <a:t>基于检视结果，团队必须迅速调整行为、计划或方法。</a:t>
            </a:r>
          </a:p>
          <a:p>
            <a:pPr lvl="1"/>
            <a:r>
              <a:rPr lang="zh-CN" altLang="en-US" dirty="0"/>
              <a:t>如果发现产品方向偏离，可在下个 </a:t>
            </a:r>
            <a:r>
              <a:rPr lang="en-US" altLang="zh-CN" dirty="0"/>
              <a:t>Sprint </a:t>
            </a:r>
            <a:r>
              <a:rPr lang="zh-CN" altLang="en-US" dirty="0"/>
              <a:t>调整 </a:t>
            </a:r>
            <a:r>
              <a:rPr lang="en-US" altLang="zh-CN" dirty="0"/>
              <a:t>Backlog</a:t>
            </a:r>
            <a:r>
              <a:rPr lang="zh-CN" altLang="en-US" dirty="0"/>
              <a:t>。</a:t>
            </a:r>
          </a:p>
          <a:p>
            <a:pPr lvl="1"/>
            <a:r>
              <a:rPr lang="zh-CN" altLang="en-US" dirty="0"/>
              <a:t>如果流程效率低，可在 </a:t>
            </a:r>
            <a:r>
              <a:rPr lang="en-US" altLang="zh-CN" dirty="0"/>
              <a:t>Retrospective </a:t>
            </a:r>
            <a:r>
              <a:rPr lang="zh-CN" altLang="en-US" dirty="0"/>
              <a:t>后改进工作方式。</a:t>
            </a:r>
          </a:p>
          <a:p>
            <a:pPr lvl="1"/>
            <a:r>
              <a:rPr lang="zh-CN" altLang="en-US" dirty="0"/>
              <a:t>适应必须在“可接受的时间窗口”内发生（通常在下一个 </a:t>
            </a:r>
            <a:r>
              <a:rPr lang="en-US" altLang="zh-CN" dirty="0"/>
              <a:t>Sprint </a:t>
            </a:r>
            <a:r>
              <a:rPr lang="zh-CN" altLang="en-US" dirty="0"/>
              <a:t>开始前）。</a:t>
            </a:r>
          </a:p>
          <a:p>
            <a:pPr lvl="1"/>
            <a:r>
              <a:rPr lang="zh-CN" altLang="en-US" dirty="0"/>
              <a:t>目的：持续优化交付价值的能力和团队效能。</a:t>
            </a:r>
          </a:p>
        </p:txBody>
      </p:sp>
      <p:sp>
        <p:nvSpPr>
          <p:cNvPr id="4" name="文本占位符 3">
            <a:extLst>
              <a:ext uri="{FF2B5EF4-FFF2-40B4-BE49-F238E27FC236}">
                <a16:creationId xmlns:a16="http://schemas.microsoft.com/office/drawing/2014/main" id="{DA61DE41-8EB2-C890-486D-5257116D616C}"/>
              </a:ext>
            </a:extLst>
          </p:cNvPr>
          <p:cNvSpPr>
            <a:spLocks noGrp="1"/>
          </p:cNvSpPr>
          <p:nvPr>
            <p:ph type="body" sz="quarter" idx="10"/>
          </p:nvPr>
        </p:nvSpPr>
        <p:spPr>
          <a:xfrm>
            <a:off x="6702424" y="360001"/>
            <a:ext cx="4793575" cy="424731"/>
          </a:xfrm>
        </p:spPr>
        <p:txBody>
          <a:bodyPr/>
          <a:lstStyle/>
          <a:p>
            <a:r>
              <a:rPr lang="en-US" altLang="zh-CN" dirty="0"/>
              <a:t>Agile</a:t>
            </a:r>
            <a:endParaRPr lang="zh-CN" altLang="en-US" dirty="0"/>
          </a:p>
        </p:txBody>
      </p:sp>
    </p:spTree>
    <p:extLst>
      <p:ext uri="{BB962C8B-B14F-4D97-AF65-F5344CB8AC3E}">
        <p14:creationId xmlns:p14="http://schemas.microsoft.com/office/powerpoint/2010/main" val="195627219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7200000" cy="424732"/>
          </a:xfrm>
        </p:spPr>
        <p:txBody>
          <a:bodyPr/>
          <a:lstStyle/>
          <a:p>
            <a:r>
              <a:rPr lang="zh-CN" altLang="en-US" dirty="0"/>
              <a:t>敏捷团队 </a:t>
            </a:r>
            <a:r>
              <a:rPr lang="en-US" altLang="zh-CN" dirty="0"/>
              <a:t>Scrum Team</a:t>
            </a:r>
            <a:endParaRPr lang="zh-CN" altLang="en-US" dirty="0"/>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1080000"/>
            <a:ext cx="10800000" cy="5112000"/>
          </a:xfrm>
        </p:spPr>
        <p:txBody>
          <a:bodyPr>
            <a:normAutofit/>
          </a:bodyPr>
          <a:lstStyle/>
          <a:p>
            <a:r>
              <a:rPr lang="zh-CN" altLang="en-US" dirty="0"/>
              <a:t>角色 </a:t>
            </a:r>
            <a:r>
              <a:rPr lang="en-US" altLang="zh-CN" dirty="0"/>
              <a:t>Role</a:t>
            </a:r>
            <a:endParaRPr lang="zh-CN" altLang="en-US" dirty="0"/>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6702424" y="360001"/>
            <a:ext cx="4793575" cy="424731"/>
          </a:xfrm>
        </p:spPr>
        <p:txBody>
          <a:bodyPr/>
          <a:lstStyle/>
          <a:p>
            <a:r>
              <a:rPr lang="en-US" altLang="zh-CN" dirty="0"/>
              <a:t>Agile</a:t>
            </a:r>
            <a:endParaRPr lang="zh-CN" altLang="en-US" dirty="0"/>
          </a:p>
        </p:txBody>
      </p:sp>
      <p:graphicFrame>
        <p:nvGraphicFramePr>
          <p:cNvPr id="9" name="图示 8">
            <a:extLst>
              <a:ext uri="{FF2B5EF4-FFF2-40B4-BE49-F238E27FC236}">
                <a16:creationId xmlns:a16="http://schemas.microsoft.com/office/drawing/2014/main" id="{5CD635B7-D2B1-DA09-8D52-9879F640C15F}"/>
              </a:ext>
            </a:extLst>
          </p:cNvPr>
          <p:cNvGraphicFramePr>
            <a:graphicFrameLocks noChangeAspect="1"/>
          </p:cNvGraphicFramePr>
          <p:nvPr>
            <p:extLst>
              <p:ext uri="{D42A27DB-BD31-4B8C-83A1-F6EECF244321}">
                <p14:modId xmlns:p14="http://schemas.microsoft.com/office/powerpoint/2010/main" val="4077878185"/>
              </p:ext>
            </p:extLst>
          </p:nvPr>
        </p:nvGraphicFramePr>
        <p:xfrm>
          <a:off x="1775460" y="1932941"/>
          <a:ext cx="8641080" cy="4089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6966989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96989-B986-52F1-0720-B7405EED1BF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C7046B2-D89F-1BCB-6C54-62EAA198E2C5}"/>
              </a:ext>
            </a:extLst>
          </p:cNvPr>
          <p:cNvSpPr>
            <a:spLocks noGrp="1"/>
          </p:cNvSpPr>
          <p:nvPr>
            <p:ph type="title"/>
          </p:nvPr>
        </p:nvSpPr>
        <p:spPr>
          <a:xfrm>
            <a:off x="695998" y="360000"/>
            <a:ext cx="7200000" cy="424732"/>
          </a:xfrm>
        </p:spPr>
        <p:txBody>
          <a:bodyPr/>
          <a:lstStyle/>
          <a:p>
            <a:r>
              <a:rPr lang="zh-CN" altLang="en-US" dirty="0"/>
              <a:t>敏捷团队 </a:t>
            </a:r>
            <a:r>
              <a:rPr lang="en-US" altLang="zh-CN" dirty="0"/>
              <a:t>Scrum Team</a:t>
            </a:r>
            <a:endParaRPr lang="zh-CN" altLang="en-US" dirty="0"/>
          </a:p>
        </p:txBody>
      </p:sp>
      <p:sp>
        <p:nvSpPr>
          <p:cNvPr id="3" name="内容占位符 2">
            <a:extLst>
              <a:ext uri="{FF2B5EF4-FFF2-40B4-BE49-F238E27FC236}">
                <a16:creationId xmlns:a16="http://schemas.microsoft.com/office/drawing/2014/main" id="{06AB2D2A-7F6F-8EA9-E3DA-17D607C4AE14}"/>
              </a:ext>
            </a:extLst>
          </p:cNvPr>
          <p:cNvSpPr>
            <a:spLocks noGrp="1"/>
          </p:cNvSpPr>
          <p:nvPr>
            <p:ph idx="1"/>
          </p:nvPr>
        </p:nvSpPr>
        <p:spPr>
          <a:xfrm>
            <a:off x="696000" y="1080000"/>
            <a:ext cx="10800000" cy="5112000"/>
          </a:xfrm>
        </p:spPr>
        <p:txBody>
          <a:bodyPr>
            <a:normAutofit/>
          </a:bodyPr>
          <a:lstStyle/>
          <a:p>
            <a:r>
              <a:rPr lang="zh-CN" altLang="en-US" dirty="0"/>
              <a:t>形成阶段和管理</a:t>
            </a:r>
          </a:p>
        </p:txBody>
      </p:sp>
      <p:sp>
        <p:nvSpPr>
          <p:cNvPr id="4" name="文本占位符 3">
            <a:extLst>
              <a:ext uri="{FF2B5EF4-FFF2-40B4-BE49-F238E27FC236}">
                <a16:creationId xmlns:a16="http://schemas.microsoft.com/office/drawing/2014/main" id="{B5C5C35D-A8E2-A285-EE6C-8B05877B62B1}"/>
              </a:ext>
            </a:extLst>
          </p:cNvPr>
          <p:cNvSpPr>
            <a:spLocks noGrp="1"/>
          </p:cNvSpPr>
          <p:nvPr>
            <p:ph type="body" sz="quarter" idx="10"/>
          </p:nvPr>
        </p:nvSpPr>
        <p:spPr>
          <a:xfrm>
            <a:off x="6702424" y="360001"/>
            <a:ext cx="4793575" cy="424731"/>
          </a:xfrm>
        </p:spPr>
        <p:txBody>
          <a:bodyPr/>
          <a:lstStyle/>
          <a:p>
            <a:r>
              <a:rPr lang="en-US" altLang="zh-CN" dirty="0"/>
              <a:t>Agile</a:t>
            </a:r>
            <a:endParaRPr lang="zh-CN" altLang="en-US" dirty="0"/>
          </a:p>
        </p:txBody>
      </p:sp>
      <p:grpSp>
        <p:nvGrpSpPr>
          <p:cNvPr id="10" name="组合 9">
            <a:extLst>
              <a:ext uri="{FF2B5EF4-FFF2-40B4-BE49-F238E27FC236}">
                <a16:creationId xmlns:a16="http://schemas.microsoft.com/office/drawing/2014/main" id="{25A96D12-8B50-0E0D-37CA-530BC85C45C3}"/>
              </a:ext>
            </a:extLst>
          </p:cNvPr>
          <p:cNvGrpSpPr/>
          <p:nvPr/>
        </p:nvGrpSpPr>
        <p:grpSpPr>
          <a:xfrm>
            <a:off x="4348444" y="2128642"/>
            <a:ext cx="3495112" cy="369332"/>
            <a:chOff x="4348444" y="2757292"/>
            <a:chExt cx="3495112" cy="369332"/>
          </a:xfrm>
        </p:grpSpPr>
        <p:sp>
          <p:nvSpPr>
            <p:cNvPr id="6" name="箭头: 左右 5">
              <a:extLst>
                <a:ext uri="{FF2B5EF4-FFF2-40B4-BE49-F238E27FC236}">
                  <a16:creationId xmlns:a16="http://schemas.microsoft.com/office/drawing/2014/main" id="{3D100740-5285-689D-8421-779A655C838A}"/>
                </a:ext>
              </a:extLst>
            </p:cNvPr>
            <p:cNvSpPr/>
            <p:nvPr/>
          </p:nvSpPr>
          <p:spPr>
            <a:xfrm>
              <a:off x="5016000" y="2761958"/>
              <a:ext cx="2160000" cy="360000"/>
            </a:xfrm>
            <a:prstGeom prst="leftRightArrow">
              <a:avLst/>
            </a:prstGeom>
          </p:spPr>
          <p:style>
            <a:lnRef idx="0">
              <a:schemeClr val="accent3"/>
            </a:lnRef>
            <a:fillRef idx="3">
              <a:schemeClr val="accent3"/>
            </a:fillRef>
            <a:effectRef idx="3">
              <a:schemeClr val="accent3"/>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B951D5FC-6727-0785-1A7A-64A25564BEA8}"/>
                </a:ext>
              </a:extLst>
            </p:cNvPr>
            <p:cNvSpPr txBox="1"/>
            <p:nvPr/>
          </p:nvSpPr>
          <p:spPr>
            <a:xfrm>
              <a:off x="4348444" y="2757292"/>
              <a:ext cx="646331" cy="369332"/>
            </a:xfrm>
            <a:prstGeom prst="rect">
              <a:avLst/>
            </a:prstGeom>
            <a:noFill/>
          </p:spPr>
          <p:txBody>
            <a:bodyPr wrap="none" rtlCol="0">
              <a:spAutoFit/>
            </a:bodyPr>
            <a:lstStyle/>
            <a:p>
              <a:r>
                <a:rPr lang="zh-CN" altLang="en-US" dirty="0"/>
                <a:t>形成</a:t>
              </a:r>
            </a:p>
          </p:txBody>
        </p:sp>
        <p:sp>
          <p:nvSpPr>
            <p:cNvPr id="8" name="文本框 7">
              <a:extLst>
                <a:ext uri="{FF2B5EF4-FFF2-40B4-BE49-F238E27FC236}">
                  <a16:creationId xmlns:a16="http://schemas.microsoft.com/office/drawing/2014/main" id="{1DB84078-9392-CEAC-1DC1-79A9C4AC5BAE}"/>
                </a:ext>
              </a:extLst>
            </p:cNvPr>
            <p:cNvSpPr txBox="1"/>
            <p:nvPr/>
          </p:nvSpPr>
          <p:spPr>
            <a:xfrm>
              <a:off x="7197225" y="2757292"/>
              <a:ext cx="646331" cy="369332"/>
            </a:xfrm>
            <a:prstGeom prst="rect">
              <a:avLst/>
            </a:prstGeom>
            <a:noFill/>
          </p:spPr>
          <p:txBody>
            <a:bodyPr wrap="none" rtlCol="0">
              <a:spAutoFit/>
            </a:bodyPr>
            <a:lstStyle/>
            <a:p>
              <a:r>
                <a:rPr lang="zh-CN" altLang="en-US" dirty="0"/>
                <a:t>指导</a:t>
              </a:r>
            </a:p>
          </p:txBody>
        </p:sp>
      </p:grpSp>
      <p:grpSp>
        <p:nvGrpSpPr>
          <p:cNvPr id="11" name="组合 10">
            <a:extLst>
              <a:ext uri="{FF2B5EF4-FFF2-40B4-BE49-F238E27FC236}">
                <a16:creationId xmlns:a16="http://schemas.microsoft.com/office/drawing/2014/main" id="{E6AFF645-D906-B164-8ABC-D637283A730B}"/>
              </a:ext>
            </a:extLst>
          </p:cNvPr>
          <p:cNvGrpSpPr/>
          <p:nvPr/>
        </p:nvGrpSpPr>
        <p:grpSpPr>
          <a:xfrm>
            <a:off x="4348444" y="2802536"/>
            <a:ext cx="3495112" cy="369332"/>
            <a:chOff x="4348444" y="2757292"/>
            <a:chExt cx="3495112" cy="369332"/>
          </a:xfrm>
        </p:grpSpPr>
        <p:sp>
          <p:nvSpPr>
            <p:cNvPr id="12" name="箭头: 左右 11">
              <a:extLst>
                <a:ext uri="{FF2B5EF4-FFF2-40B4-BE49-F238E27FC236}">
                  <a16:creationId xmlns:a16="http://schemas.microsoft.com/office/drawing/2014/main" id="{6987D6CC-913D-E929-73AD-50153F602CE9}"/>
                </a:ext>
              </a:extLst>
            </p:cNvPr>
            <p:cNvSpPr/>
            <p:nvPr/>
          </p:nvSpPr>
          <p:spPr>
            <a:xfrm>
              <a:off x="5016000" y="2761958"/>
              <a:ext cx="2160000" cy="360000"/>
            </a:xfrm>
            <a:prstGeom prst="leftRightArrow">
              <a:avLst/>
            </a:prstGeom>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3" name="文本框 12">
              <a:extLst>
                <a:ext uri="{FF2B5EF4-FFF2-40B4-BE49-F238E27FC236}">
                  <a16:creationId xmlns:a16="http://schemas.microsoft.com/office/drawing/2014/main" id="{204911E3-1783-5E2A-B2C1-7D684A13AAB5}"/>
                </a:ext>
              </a:extLst>
            </p:cNvPr>
            <p:cNvSpPr txBox="1"/>
            <p:nvPr/>
          </p:nvSpPr>
          <p:spPr>
            <a:xfrm>
              <a:off x="4348444" y="2757292"/>
              <a:ext cx="646331" cy="369332"/>
            </a:xfrm>
            <a:prstGeom prst="rect">
              <a:avLst/>
            </a:prstGeom>
            <a:noFill/>
          </p:spPr>
          <p:txBody>
            <a:bodyPr wrap="none" rtlCol="0">
              <a:spAutoFit/>
            </a:bodyPr>
            <a:lstStyle/>
            <a:p>
              <a:r>
                <a:rPr lang="zh-CN" altLang="en-US" dirty="0"/>
                <a:t>震荡</a:t>
              </a:r>
            </a:p>
          </p:txBody>
        </p:sp>
        <p:sp>
          <p:nvSpPr>
            <p:cNvPr id="14" name="文本框 13">
              <a:extLst>
                <a:ext uri="{FF2B5EF4-FFF2-40B4-BE49-F238E27FC236}">
                  <a16:creationId xmlns:a16="http://schemas.microsoft.com/office/drawing/2014/main" id="{56DB0103-73F7-5CB0-6DF5-D6B269CF630C}"/>
                </a:ext>
              </a:extLst>
            </p:cNvPr>
            <p:cNvSpPr txBox="1"/>
            <p:nvPr/>
          </p:nvSpPr>
          <p:spPr>
            <a:xfrm>
              <a:off x="7197225" y="2757292"/>
              <a:ext cx="646331" cy="369332"/>
            </a:xfrm>
            <a:prstGeom prst="rect">
              <a:avLst/>
            </a:prstGeom>
            <a:noFill/>
          </p:spPr>
          <p:txBody>
            <a:bodyPr wrap="none" rtlCol="0">
              <a:spAutoFit/>
            </a:bodyPr>
            <a:lstStyle/>
            <a:p>
              <a:r>
                <a:rPr lang="zh-CN" altLang="en-US" dirty="0"/>
                <a:t>教练</a:t>
              </a:r>
            </a:p>
          </p:txBody>
        </p:sp>
      </p:grpSp>
      <p:grpSp>
        <p:nvGrpSpPr>
          <p:cNvPr id="15" name="组合 14">
            <a:extLst>
              <a:ext uri="{FF2B5EF4-FFF2-40B4-BE49-F238E27FC236}">
                <a16:creationId xmlns:a16="http://schemas.microsoft.com/office/drawing/2014/main" id="{AFE20FB1-045A-A879-7CFA-CEFA81F0CB53}"/>
              </a:ext>
            </a:extLst>
          </p:cNvPr>
          <p:cNvGrpSpPr/>
          <p:nvPr/>
        </p:nvGrpSpPr>
        <p:grpSpPr>
          <a:xfrm>
            <a:off x="4348444" y="3476430"/>
            <a:ext cx="3495112" cy="369332"/>
            <a:chOff x="4348444" y="2757292"/>
            <a:chExt cx="3495112" cy="369332"/>
          </a:xfrm>
        </p:grpSpPr>
        <p:sp>
          <p:nvSpPr>
            <p:cNvPr id="16" name="箭头: 左右 15">
              <a:extLst>
                <a:ext uri="{FF2B5EF4-FFF2-40B4-BE49-F238E27FC236}">
                  <a16:creationId xmlns:a16="http://schemas.microsoft.com/office/drawing/2014/main" id="{AD310A36-B61C-AE4F-6B68-2D0B4F9513E0}"/>
                </a:ext>
              </a:extLst>
            </p:cNvPr>
            <p:cNvSpPr/>
            <p:nvPr/>
          </p:nvSpPr>
          <p:spPr>
            <a:xfrm>
              <a:off x="5016000" y="2761958"/>
              <a:ext cx="2160000" cy="360000"/>
            </a:xfrm>
            <a:prstGeom prst="leftRightArrow">
              <a:avLst/>
            </a:prstGeom>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17" name="文本框 16">
              <a:extLst>
                <a:ext uri="{FF2B5EF4-FFF2-40B4-BE49-F238E27FC236}">
                  <a16:creationId xmlns:a16="http://schemas.microsoft.com/office/drawing/2014/main" id="{E043D0E5-7470-3CA7-FE38-2330E88A4427}"/>
                </a:ext>
              </a:extLst>
            </p:cNvPr>
            <p:cNvSpPr txBox="1"/>
            <p:nvPr/>
          </p:nvSpPr>
          <p:spPr>
            <a:xfrm>
              <a:off x="4348444" y="2757292"/>
              <a:ext cx="646331" cy="369332"/>
            </a:xfrm>
            <a:prstGeom prst="rect">
              <a:avLst/>
            </a:prstGeom>
            <a:noFill/>
          </p:spPr>
          <p:txBody>
            <a:bodyPr wrap="none" rtlCol="0">
              <a:spAutoFit/>
            </a:bodyPr>
            <a:lstStyle/>
            <a:p>
              <a:r>
                <a:rPr lang="zh-CN" altLang="en-US" dirty="0"/>
                <a:t>规范</a:t>
              </a:r>
            </a:p>
          </p:txBody>
        </p:sp>
        <p:sp>
          <p:nvSpPr>
            <p:cNvPr id="18" name="文本框 17">
              <a:extLst>
                <a:ext uri="{FF2B5EF4-FFF2-40B4-BE49-F238E27FC236}">
                  <a16:creationId xmlns:a16="http://schemas.microsoft.com/office/drawing/2014/main" id="{C2EF03C7-4501-9849-E7EF-BC0B547D5E4F}"/>
                </a:ext>
              </a:extLst>
            </p:cNvPr>
            <p:cNvSpPr txBox="1"/>
            <p:nvPr/>
          </p:nvSpPr>
          <p:spPr>
            <a:xfrm>
              <a:off x="7197225" y="2757292"/>
              <a:ext cx="646331" cy="369332"/>
            </a:xfrm>
            <a:prstGeom prst="rect">
              <a:avLst/>
            </a:prstGeom>
            <a:noFill/>
          </p:spPr>
          <p:txBody>
            <a:bodyPr wrap="none" rtlCol="0">
              <a:spAutoFit/>
            </a:bodyPr>
            <a:lstStyle/>
            <a:p>
              <a:r>
                <a:rPr lang="zh-CN" altLang="en-US" dirty="0"/>
                <a:t>参与</a:t>
              </a:r>
            </a:p>
          </p:txBody>
        </p:sp>
      </p:grpSp>
      <p:grpSp>
        <p:nvGrpSpPr>
          <p:cNvPr id="19" name="组合 18">
            <a:extLst>
              <a:ext uri="{FF2B5EF4-FFF2-40B4-BE49-F238E27FC236}">
                <a16:creationId xmlns:a16="http://schemas.microsoft.com/office/drawing/2014/main" id="{509884F0-B2C8-1623-8484-2500070B5A7C}"/>
              </a:ext>
            </a:extLst>
          </p:cNvPr>
          <p:cNvGrpSpPr/>
          <p:nvPr/>
        </p:nvGrpSpPr>
        <p:grpSpPr>
          <a:xfrm>
            <a:off x="4348444" y="4150324"/>
            <a:ext cx="3495112" cy="369332"/>
            <a:chOff x="4348444" y="2757292"/>
            <a:chExt cx="3495112" cy="369332"/>
          </a:xfrm>
        </p:grpSpPr>
        <p:sp>
          <p:nvSpPr>
            <p:cNvPr id="20" name="箭头: 左右 19">
              <a:extLst>
                <a:ext uri="{FF2B5EF4-FFF2-40B4-BE49-F238E27FC236}">
                  <a16:creationId xmlns:a16="http://schemas.microsoft.com/office/drawing/2014/main" id="{E52F6EB0-555C-F9FA-3EB1-641A68EE7731}"/>
                </a:ext>
              </a:extLst>
            </p:cNvPr>
            <p:cNvSpPr/>
            <p:nvPr/>
          </p:nvSpPr>
          <p:spPr>
            <a:xfrm>
              <a:off x="5016000" y="2761958"/>
              <a:ext cx="2160000" cy="360000"/>
            </a:xfrm>
            <a:prstGeom prst="leftRightArrow">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21" name="文本框 20">
              <a:extLst>
                <a:ext uri="{FF2B5EF4-FFF2-40B4-BE49-F238E27FC236}">
                  <a16:creationId xmlns:a16="http://schemas.microsoft.com/office/drawing/2014/main" id="{9E5BC592-D92B-FF0A-4B76-54F0B41BC81D}"/>
                </a:ext>
              </a:extLst>
            </p:cNvPr>
            <p:cNvSpPr txBox="1"/>
            <p:nvPr/>
          </p:nvSpPr>
          <p:spPr>
            <a:xfrm>
              <a:off x="4348444" y="2757292"/>
              <a:ext cx="646331" cy="369332"/>
            </a:xfrm>
            <a:prstGeom prst="rect">
              <a:avLst/>
            </a:prstGeom>
            <a:noFill/>
          </p:spPr>
          <p:txBody>
            <a:bodyPr wrap="none" rtlCol="0">
              <a:spAutoFit/>
            </a:bodyPr>
            <a:lstStyle/>
            <a:p>
              <a:r>
                <a:rPr lang="zh-CN" altLang="en-US" dirty="0"/>
                <a:t>成熟</a:t>
              </a:r>
            </a:p>
          </p:txBody>
        </p:sp>
        <p:sp>
          <p:nvSpPr>
            <p:cNvPr id="22" name="文本框 21">
              <a:extLst>
                <a:ext uri="{FF2B5EF4-FFF2-40B4-BE49-F238E27FC236}">
                  <a16:creationId xmlns:a16="http://schemas.microsoft.com/office/drawing/2014/main" id="{53D15627-CC8C-65A6-D2F5-3EB58FC125D7}"/>
                </a:ext>
              </a:extLst>
            </p:cNvPr>
            <p:cNvSpPr txBox="1"/>
            <p:nvPr/>
          </p:nvSpPr>
          <p:spPr>
            <a:xfrm>
              <a:off x="7197225" y="2757292"/>
              <a:ext cx="646331" cy="369332"/>
            </a:xfrm>
            <a:prstGeom prst="rect">
              <a:avLst/>
            </a:prstGeom>
            <a:noFill/>
          </p:spPr>
          <p:txBody>
            <a:bodyPr wrap="none" rtlCol="0">
              <a:spAutoFit/>
            </a:bodyPr>
            <a:lstStyle/>
            <a:p>
              <a:r>
                <a:rPr lang="zh-CN" altLang="en-US" dirty="0"/>
                <a:t>授权</a:t>
              </a:r>
            </a:p>
          </p:txBody>
        </p:sp>
      </p:grpSp>
      <p:grpSp>
        <p:nvGrpSpPr>
          <p:cNvPr id="23" name="组合 22">
            <a:extLst>
              <a:ext uri="{FF2B5EF4-FFF2-40B4-BE49-F238E27FC236}">
                <a16:creationId xmlns:a16="http://schemas.microsoft.com/office/drawing/2014/main" id="{90EA23AC-2102-E627-24E0-9C089CBB6CF6}"/>
              </a:ext>
            </a:extLst>
          </p:cNvPr>
          <p:cNvGrpSpPr/>
          <p:nvPr/>
        </p:nvGrpSpPr>
        <p:grpSpPr>
          <a:xfrm>
            <a:off x="4348444" y="4824217"/>
            <a:ext cx="3495112" cy="369332"/>
            <a:chOff x="4348444" y="2757292"/>
            <a:chExt cx="3495112" cy="369332"/>
          </a:xfrm>
        </p:grpSpPr>
        <p:sp>
          <p:nvSpPr>
            <p:cNvPr id="24" name="箭头: 左右 23">
              <a:extLst>
                <a:ext uri="{FF2B5EF4-FFF2-40B4-BE49-F238E27FC236}">
                  <a16:creationId xmlns:a16="http://schemas.microsoft.com/office/drawing/2014/main" id="{D1FFFF04-8F85-0959-EEB0-400407E5F5F6}"/>
                </a:ext>
              </a:extLst>
            </p:cNvPr>
            <p:cNvSpPr/>
            <p:nvPr/>
          </p:nvSpPr>
          <p:spPr>
            <a:xfrm>
              <a:off x="5016000" y="2761958"/>
              <a:ext cx="2160000" cy="360000"/>
            </a:xfrm>
            <a:prstGeom prst="leftRightArrow">
              <a:avLst/>
            </a:prstGeom>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5" name="文本框 24">
              <a:extLst>
                <a:ext uri="{FF2B5EF4-FFF2-40B4-BE49-F238E27FC236}">
                  <a16:creationId xmlns:a16="http://schemas.microsoft.com/office/drawing/2014/main" id="{893ABB7C-855E-A57A-A9A4-8471674896A8}"/>
                </a:ext>
              </a:extLst>
            </p:cNvPr>
            <p:cNvSpPr txBox="1"/>
            <p:nvPr/>
          </p:nvSpPr>
          <p:spPr>
            <a:xfrm>
              <a:off x="4348444" y="2757292"/>
              <a:ext cx="646331" cy="369332"/>
            </a:xfrm>
            <a:prstGeom prst="rect">
              <a:avLst/>
            </a:prstGeom>
            <a:noFill/>
          </p:spPr>
          <p:txBody>
            <a:bodyPr wrap="none" rtlCol="0">
              <a:spAutoFit/>
            </a:bodyPr>
            <a:lstStyle/>
            <a:p>
              <a:r>
                <a:rPr lang="zh-CN" altLang="en-US" dirty="0"/>
                <a:t>解散</a:t>
              </a:r>
            </a:p>
          </p:txBody>
        </p:sp>
        <p:sp>
          <p:nvSpPr>
            <p:cNvPr id="26" name="文本框 25">
              <a:extLst>
                <a:ext uri="{FF2B5EF4-FFF2-40B4-BE49-F238E27FC236}">
                  <a16:creationId xmlns:a16="http://schemas.microsoft.com/office/drawing/2014/main" id="{5B81B0CC-0828-6A16-7B1F-A5750C49E63B}"/>
                </a:ext>
              </a:extLst>
            </p:cNvPr>
            <p:cNvSpPr txBox="1"/>
            <p:nvPr/>
          </p:nvSpPr>
          <p:spPr>
            <a:xfrm>
              <a:off x="7197225" y="2757292"/>
              <a:ext cx="646331" cy="369332"/>
            </a:xfrm>
            <a:prstGeom prst="rect">
              <a:avLst/>
            </a:prstGeom>
            <a:noFill/>
          </p:spPr>
          <p:txBody>
            <a:bodyPr wrap="none" rtlCol="0">
              <a:spAutoFit/>
            </a:bodyPr>
            <a:lstStyle/>
            <a:p>
              <a:r>
                <a:rPr lang="zh-CN" altLang="en-US" dirty="0">
                  <a:solidFill>
                    <a:schemeClr val="bg1"/>
                  </a:solidFill>
                </a:rPr>
                <a:t>指导</a:t>
              </a:r>
            </a:p>
          </p:txBody>
        </p:sp>
      </p:grpSp>
    </p:spTree>
    <p:extLst>
      <p:ext uri="{BB962C8B-B14F-4D97-AF65-F5344CB8AC3E}">
        <p14:creationId xmlns:p14="http://schemas.microsoft.com/office/powerpoint/2010/main" val="681105621"/>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148F0534-31AD-BC3A-7C5A-74BAD1F7BC85}"/>
              </a:ext>
            </a:extLst>
          </p:cNvPr>
          <p:cNvSpPr>
            <a:spLocks noGrp="1"/>
          </p:cNvSpPr>
          <p:nvPr>
            <p:ph type="body" sz="quarter" idx="10"/>
          </p:nvPr>
        </p:nvSpPr>
        <p:spPr>
          <a:xfrm>
            <a:off x="3219345" y="1629000"/>
            <a:ext cx="8640000" cy="3600000"/>
          </a:xfrm>
        </p:spPr>
        <p:txBody>
          <a:bodyPr>
            <a:normAutofit/>
          </a:bodyPr>
          <a:lstStyle/>
          <a:p>
            <a:r>
              <a:rPr lang="zh-CN" altLang="en-US" dirty="0"/>
              <a:t>敏捷团队正在开发一个有价值的软件功能。在每日站会上，某重要相关方邀请团队参加具有类似功能的竞争对手软件演示。敏捷团队领导应该怎么做？</a:t>
            </a:r>
            <a:endParaRPr lang="en-US" altLang="zh-CN" dirty="0"/>
          </a:p>
          <a:p>
            <a:endParaRPr lang="zh-CN" altLang="en-US" dirty="0"/>
          </a:p>
          <a:p>
            <a:r>
              <a:rPr lang="en-US" altLang="zh-CN" dirty="0"/>
              <a:t>A. </a:t>
            </a:r>
            <a:r>
              <a:rPr lang="zh-CN" altLang="en-US" dirty="0"/>
              <a:t>派团队参加演示，以获得有关如何更好地开发功能以产生更高投资回报率的更多见解</a:t>
            </a:r>
          </a:p>
          <a:p>
            <a:r>
              <a:rPr lang="en-US" altLang="zh-CN" dirty="0"/>
              <a:t>B. </a:t>
            </a:r>
            <a:r>
              <a:rPr lang="zh-CN" altLang="en-US" dirty="0"/>
              <a:t>派产品负责人参加演示，以获得有关市场趋势的更多知识，并让团队继续专注于计划的工作</a:t>
            </a:r>
          </a:p>
          <a:p>
            <a:r>
              <a:rPr lang="en-US" altLang="zh-CN" dirty="0"/>
              <a:t>C. </a:t>
            </a:r>
            <a:r>
              <a:rPr lang="zh-CN" altLang="en-US" dirty="0"/>
              <a:t>派一名开发人员参加演示，让其他开发人员可以专注于计划的工作</a:t>
            </a:r>
          </a:p>
          <a:p>
            <a:r>
              <a:rPr lang="en-US" altLang="zh-CN" dirty="0"/>
              <a:t>D. </a:t>
            </a:r>
            <a:r>
              <a:rPr lang="zh-CN" altLang="en-US" dirty="0"/>
              <a:t>派一名团队测试人员参加演示，开发人员可以专注于计划的工作</a:t>
            </a:r>
          </a:p>
        </p:txBody>
      </p:sp>
    </p:spTree>
    <p:extLst>
      <p:ext uri="{BB962C8B-B14F-4D97-AF65-F5344CB8AC3E}">
        <p14:creationId xmlns:p14="http://schemas.microsoft.com/office/powerpoint/2010/main" val="303126605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5F3CDA0C-6B7C-9AF5-C0A1-408F42A4C15F}"/>
              </a:ext>
            </a:extLst>
          </p:cNvPr>
          <p:cNvSpPr>
            <a:spLocks noGrp="1"/>
          </p:cNvSpPr>
          <p:nvPr>
            <p:ph type="body" sz="quarter" idx="10"/>
          </p:nvPr>
        </p:nvSpPr>
        <p:spPr>
          <a:xfrm>
            <a:off x="3219345" y="1629000"/>
            <a:ext cx="8640000" cy="3600000"/>
          </a:xfrm>
        </p:spPr>
        <p:txBody>
          <a:bodyPr/>
          <a:lstStyle/>
          <a:p>
            <a:r>
              <a:rPr lang="zh-CN" altLang="en-US" dirty="0"/>
              <a:t>自项目开始以来，产品负责人在规划期间不断询问每次产品迭代的预算。产品负责人似乎对成本更感兴趣，而不是产品本身。项目经理应该更早做什么来改变产品负责人的行为？</a:t>
            </a:r>
            <a:endParaRPr lang="en-US" altLang="zh-CN" dirty="0"/>
          </a:p>
          <a:p>
            <a:endParaRPr lang="zh-CN" altLang="en-US" dirty="0"/>
          </a:p>
          <a:p>
            <a:r>
              <a:rPr lang="en-US" altLang="zh-CN" dirty="0"/>
              <a:t>A. </a:t>
            </a:r>
            <a:r>
              <a:rPr lang="zh-CN" altLang="en-US" dirty="0"/>
              <a:t>与产品负责人一起明确他们在敏捷项目中的角色以及敏捷规划的范围</a:t>
            </a:r>
          </a:p>
          <a:p>
            <a:r>
              <a:rPr lang="en-US" altLang="zh-CN" dirty="0"/>
              <a:t>B. </a:t>
            </a:r>
            <a:r>
              <a:rPr lang="zh-CN" altLang="en-US" dirty="0"/>
              <a:t>制定沟通管理计划，报告每次迭代中花费的预算与计划在规划期间避免这些讨论</a:t>
            </a:r>
          </a:p>
          <a:p>
            <a:r>
              <a:rPr lang="en-US" altLang="zh-CN" dirty="0"/>
              <a:t>C. </a:t>
            </a:r>
            <a:r>
              <a:rPr lang="zh-CN" altLang="en-US" dirty="0"/>
              <a:t>制定固定价格合同，将产品所有者的注意力转移到价值而不是金钱上</a:t>
            </a:r>
          </a:p>
          <a:p>
            <a:r>
              <a:rPr lang="en-US" altLang="zh-CN" dirty="0"/>
              <a:t>D. </a:t>
            </a:r>
            <a:r>
              <a:rPr lang="zh-CN" altLang="en-US" dirty="0"/>
              <a:t>采用不同的估算方法来确定每个产品增量所花费的成本</a:t>
            </a:r>
          </a:p>
        </p:txBody>
      </p:sp>
    </p:spTree>
    <p:extLst>
      <p:ext uri="{BB962C8B-B14F-4D97-AF65-F5344CB8AC3E}">
        <p14:creationId xmlns:p14="http://schemas.microsoft.com/office/powerpoint/2010/main" val="274998641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B42C675B-B747-42FC-682B-07635A79B7A7}"/>
              </a:ext>
            </a:extLst>
          </p:cNvPr>
          <p:cNvSpPr>
            <a:spLocks noGrp="1"/>
          </p:cNvSpPr>
          <p:nvPr>
            <p:ph type="body" sz="quarter" idx="10"/>
          </p:nvPr>
        </p:nvSpPr>
        <p:spPr/>
        <p:txBody>
          <a:bodyPr/>
          <a:lstStyle/>
          <a:p>
            <a:r>
              <a:rPr lang="zh-CN" altLang="en-US" dirty="0"/>
              <a:t>产品负责人认为某个用户故事对于迭代至关重要，但是一名团队的主题专家（</a:t>
            </a:r>
            <a:r>
              <a:rPr lang="en-US" altLang="zh-CN" dirty="0"/>
              <a:t>SME</a:t>
            </a:r>
            <a:r>
              <a:rPr lang="zh-CN" altLang="en-US" dirty="0"/>
              <a:t>）却不同意。该冲突影响到团队士气。敏捷教练应该怎么做？</a:t>
            </a:r>
            <a:endParaRPr lang="en-US" altLang="zh-CN" dirty="0"/>
          </a:p>
          <a:p>
            <a:endParaRPr lang="zh-CN" altLang="en-US" dirty="0"/>
          </a:p>
          <a:p>
            <a:r>
              <a:rPr lang="en-US" altLang="zh-CN" dirty="0"/>
              <a:t>A. </a:t>
            </a:r>
            <a:r>
              <a:rPr lang="zh-CN" altLang="en-US" dirty="0"/>
              <a:t>在回顾会议中陈述该问题，并要求团队确定用户故事是否应该保留或修改。</a:t>
            </a:r>
          </a:p>
          <a:p>
            <a:r>
              <a:rPr lang="en-US" altLang="zh-CN" dirty="0"/>
              <a:t>B. </a:t>
            </a:r>
            <a:r>
              <a:rPr lang="zh-CN" altLang="en-US" dirty="0"/>
              <a:t>询问产品负责人的意见，但解释说该主题专家将做出最终决定。</a:t>
            </a:r>
          </a:p>
          <a:p>
            <a:r>
              <a:rPr lang="en-US" altLang="zh-CN" dirty="0"/>
              <a:t>C. </a:t>
            </a:r>
            <a:r>
              <a:rPr lang="zh-CN" altLang="en-US" dirty="0"/>
              <a:t>与该主题专家和产品负责人单独开会，以减轻分歧。</a:t>
            </a:r>
          </a:p>
          <a:p>
            <a:r>
              <a:rPr lang="en-US" altLang="zh-CN" dirty="0"/>
              <a:t>D. </a:t>
            </a:r>
            <a:r>
              <a:rPr lang="zh-CN" altLang="en-US" dirty="0"/>
              <a:t>询问该主题专家的意见，但解释说产品负责人负责定义待办列表优先级。</a:t>
            </a:r>
          </a:p>
          <a:p>
            <a:endParaRPr lang="zh-CN" altLang="en-US" dirty="0"/>
          </a:p>
        </p:txBody>
      </p:sp>
    </p:spTree>
    <p:extLst>
      <p:ext uri="{BB962C8B-B14F-4D97-AF65-F5344CB8AC3E}">
        <p14:creationId xmlns:p14="http://schemas.microsoft.com/office/powerpoint/2010/main" val="83334208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75387D10-6AC2-FA1E-F494-755C5092647A}"/>
              </a:ext>
            </a:extLst>
          </p:cNvPr>
          <p:cNvSpPr>
            <a:spLocks noGrp="1"/>
          </p:cNvSpPr>
          <p:nvPr>
            <p:ph type="body" sz="quarter" idx="10"/>
          </p:nvPr>
        </p:nvSpPr>
        <p:spPr/>
        <p:txBody>
          <a:bodyPr/>
          <a:lstStyle/>
          <a:p>
            <a:r>
              <a:rPr lang="zh-CN" altLang="en-US" dirty="0"/>
              <a:t>因为最终产品的交付已经发生了第三次延迟，所以一位关键相关方很沮丧。项目经理与该相关方会面，并且发现如果一项新功能在一个月内没有被发布的话，将面临影响收入的风险。项目经理应该做什么？</a:t>
            </a:r>
            <a:endParaRPr lang="en-US" altLang="zh-CN" dirty="0"/>
          </a:p>
          <a:p>
            <a:endParaRPr lang="zh-CN" altLang="en-US" dirty="0"/>
          </a:p>
          <a:p>
            <a:r>
              <a:rPr lang="en-US" altLang="zh-CN" dirty="0"/>
              <a:t>A. </a:t>
            </a:r>
            <a:r>
              <a:rPr lang="zh-CN" altLang="en-US" dirty="0"/>
              <a:t>告知该相关方将会在下一次发布计划会议中考虑新需求</a:t>
            </a:r>
          </a:p>
          <a:p>
            <a:r>
              <a:rPr lang="en-US" altLang="zh-CN" dirty="0"/>
              <a:t>B. </a:t>
            </a:r>
            <a:r>
              <a:rPr lang="zh-CN" altLang="en-US" dirty="0"/>
              <a:t>请产品负责人确定是否需要将此要求视为最高优先级</a:t>
            </a:r>
          </a:p>
          <a:p>
            <a:r>
              <a:rPr lang="en-US" altLang="zh-CN" dirty="0"/>
              <a:t>C. </a:t>
            </a:r>
            <a:r>
              <a:rPr lang="zh-CN" altLang="en-US" dirty="0"/>
              <a:t>通知发起人最新的更改，并要求发起人对功能进行优先排序</a:t>
            </a:r>
          </a:p>
          <a:p>
            <a:r>
              <a:rPr lang="en-US" altLang="zh-CN" dirty="0"/>
              <a:t>D. </a:t>
            </a:r>
            <a:r>
              <a:rPr lang="zh-CN" altLang="en-US" dirty="0"/>
              <a:t>立即指导开发团队处理此需求</a:t>
            </a:r>
          </a:p>
        </p:txBody>
      </p:sp>
    </p:spTree>
    <p:extLst>
      <p:ext uri="{BB962C8B-B14F-4D97-AF65-F5344CB8AC3E}">
        <p14:creationId xmlns:p14="http://schemas.microsoft.com/office/powerpoint/2010/main" val="381275041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3B9FD4C2-7666-4684-38F5-360F739775C9}"/>
              </a:ext>
            </a:extLst>
          </p:cNvPr>
          <p:cNvSpPr>
            <a:spLocks noGrp="1"/>
          </p:cNvSpPr>
          <p:nvPr>
            <p:ph type="body" sz="quarter" idx="10"/>
          </p:nvPr>
        </p:nvSpPr>
        <p:spPr>
          <a:xfrm>
            <a:off x="3219345" y="1629000"/>
            <a:ext cx="8640000" cy="3600000"/>
          </a:xfrm>
        </p:spPr>
        <p:txBody>
          <a:bodyPr/>
          <a:lstStyle/>
          <a:p>
            <a:r>
              <a:rPr lang="zh-CN" altLang="en-US" dirty="0"/>
              <a:t>一名资深业务经理要求团队在当前的迭代周期中添加一项“非常重要”的需求。作为该敏捷团队的 </a:t>
            </a:r>
            <a:r>
              <a:rPr lang="en-US" altLang="zh-CN" dirty="0"/>
              <a:t>Scrum Master</a:t>
            </a:r>
            <a:r>
              <a:rPr lang="zh-CN" altLang="en-US" dirty="0"/>
              <a:t>，你应该怎么做？</a:t>
            </a:r>
            <a:endParaRPr lang="en-US" altLang="zh-CN" dirty="0"/>
          </a:p>
          <a:p>
            <a:endParaRPr lang="zh-CN" altLang="en-US" dirty="0"/>
          </a:p>
          <a:p>
            <a:r>
              <a:rPr lang="en-US" altLang="zh-CN" dirty="0"/>
              <a:t>A. </a:t>
            </a:r>
            <a:r>
              <a:rPr lang="zh-CN" altLang="en-US" dirty="0"/>
              <a:t>把该项添加进来，因为资深业务经理是关键利益相关方之一</a:t>
            </a:r>
            <a:br>
              <a:rPr lang="zh-CN" altLang="en-US" dirty="0"/>
            </a:br>
            <a:r>
              <a:rPr lang="en-US" altLang="zh-CN" dirty="0"/>
              <a:t>B. </a:t>
            </a:r>
            <a:r>
              <a:rPr lang="zh-CN" altLang="en-US" dirty="0"/>
              <a:t>告知产品负责人，让产品负责人和资深业务经理可以一起工作</a:t>
            </a:r>
            <a:br>
              <a:rPr lang="zh-CN" altLang="en-US" dirty="0"/>
            </a:br>
            <a:r>
              <a:rPr lang="en-US" altLang="zh-CN" dirty="0"/>
              <a:t>C. </a:t>
            </a:r>
            <a:r>
              <a:rPr lang="zh-CN" altLang="en-US" dirty="0"/>
              <a:t>把该项添加到下一个迭代周期中</a:t>
            </a:r>
            <a:br>
              <a:rPr lang="zh-CN" altLang="en-US" dirty="0"/>
            </a:br>
            <a:r>
              <a:rPr lang="en-US" altLang="zh-CN" dirty="0"/>
              <a:t>D. </a:t>
            </a:r>
            <a:r>
              <a:rPr lang="zh-CN" altLang="en-US" dirty="0"/>
              <a:t>把该项添加进来，但是和产品负责人及团队共同决定把哪项剔除，以满足承诺</a:t>
            </a:r>
          </a:p>
          <a:p>
            <a:endParaRPr lang="zh-CN" altLang="en-US" dirty="0"/>
          </a:p>
        </p:txBody>
      </p:sp>
    </p:spTree>
    <p:extLst>
      <p:ext uri="{BB962C8B-B14F-4D97-AF65-F5344CB8AC3E}">
        <p14:creationId xmlns:p14="http://schemas.microsoft.com/office/powerpoint/2010/main" val="327066644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B8E0827-4A91-7B7A-3B8F-4C9B99DC1732}"/>
              </a:ext>
            </a:extLst>
          </p:cNvPr>
          <p:cNvSpPr>
            <a:spLocks noGrp="1"/>
          </p:cNvSpPr>
          <p:nvPr>
            <p:ph type="body" sz="quarter" idx="10"/>
          </p:nvPr>
        </p:nvSpPr>
        <p:spPr/>
        <p:txBody>
          <a:bodyPr/>
          <a:lstStyle/>
          <a:p>
            <a:r>
              <a:rPr lang="zh-CN" altLang="en-US" dirty="0"/>
              <a:t>在回顾会议中，项目经理听到相关方在迭代演示中不断抱怨产品特性没有按照要求交付。项目经理应该给产品负责人什么建议，以确保产品特性总是按要求交付？</a:t>
            </a:r>
          </a:p>
          <a:p>
            <a:r>
              <a:rPr lang="en-US" altLang="zh-CN" dirty="0"/>
              <a:t>A. </a:t>
            </a:r>
            <a:r>
              <a:rPr lang="zh-CN" altLang="en-US" dirty="0"/>
              <a:t>在细化待办事项之前，与相关方一起验证验收标准</a:t>
            </a:r>
          </a:p>
          <a:p>
            <a:r>
              <a:rPr lang="en-US" altLang="zh-CN" dirty="0"/>
              <a:t>B. </a:t>
            </a:r>
            <a:r>
              <a:rPr lang="zh-CN" altLang="en-US" dirty="0"/>
              <a:t>在每日站会中包括相关方，以监测进展情况</a:t>
            </a:r>
          </a:p>
          <a:p>
            <a:r>
              <a:rPr lang="en-US" altLang="zh-CN" dirty="0"/>
              <a:t>C. </a:t>
            </a:r>
            <a:r>
              <a:rPr lang="zh-CN" altLang="en-US" dirty="0"/>
              <a:t>避免在迭代评审中包括相关方</a:t>
            </a:r>
          </a:p>
          <a:p>
            <a:r>
              <a:rPr lang="en-US" altLang="zh-CN" dirty="0"/>
              <a:t>D. </a:t>
            </a:r>
            <a:r>
              <a:rPr lang="zh-CN" altLang="en-US" dirty="0"/>
              <a:t>创建一个需求跟踪矩阵并相应地分配它</a:t>
            </a:r>
          </a:p>
        </p:txBody>
      </p:sp>
    </p:spTree>
    <p:extLst>
      <p:ext uri="{BB962C8B-B14F-4D97-AF65-F5344CB8AC3E}">
        <p14:creationId xmlns:p14="http://schemas.microsoft.com/office/powerpoint/2010/main" val="53551929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83BC343-1291-0701-7970-2E3AD7D0B200}"/>
              </a:ext>
            </a:extLst>
          </p:cNvPr>
          <p:cNvSpPr>
            <a:spLocks noGrp="1"/>
          </p:cNvSpPr>
          <p:nvPr>
            <p:ph type="body" sz="quarter" idx="10"/>
          </p:nvPr>
        </p:nvSpPr>
        <p:spPr/>
        <p:txBody>
          <a:bodyPr/>
          <a:lstStyle/>
          <a:p>
            <a:r>
              <a:rPr lang="zh-CN" altLang="en-US" dirty="0"/>
              <a:t>作为敏捷团队的一员，你发现敏捷项目管理专业人士和以往的领导风格不太一样，他并没有很强制地做出决定，而是支持团队讨论，为团队提供指导。同时用信息发射源来公开项目的进展情况，让团队不需要经常性地汇报项目状态报告。当团队遇到障碍时，会帮团队清除。敏捷项目领导正在做什么？</a:t>
            </a:r>
            <a:endParaRPr lang="en-US" altLang="zh-CN" dirty="0"/>
          </a:p>
          <a:p>
            <a:endParaRPr lang="zh-CN" altLang="en-US" dirty="0"/>
          </a:p>
          <a:p>
            <a:r>
              <a:rPr lang="en-US" altLang="zh-CN" dirty="0"/>
              <a:t>A. </a:t>
            </a:r>
            <a:r>
              <a:rPr lang="zh-CN" altLang="en-US" dirty="0"/>
              <a:t>遵循参与式决策模型</a:t>
            </a:r>
          </a:p>
          <a:p>
            <a:r>
              <a:rPr lang="en-US" altLang="zh-CN" dirty="0"/>
              <a:t>B. </a:t>
            </a:r>
            <a:r>
              <a:rPr lang="zh-CN" altLang="en-US" dirty="0"/>
              <a:t>采用接受反馈的做法，促进团队改进</a:t>
            </a:r>
          </a:p>
          <a:p>
            <a:r>
              <a:rPr lang="en-US" altLang="zh-CN" dirty="0"/>
              <a:t>C. </a:t>
            </a:r>
            <a:r>
              <a:rPr lang="zh-CN" altLang="en-US" dirty="0"/>
              <a:t>实行与敏捷团队合作的仆人式领导风格</a:t>
            </a:r>
          </a:p>
          <a:p>
            <a:r>
              <a:rPr lang="en-US" altLang="zh-CN" dirty="0"/>
              <a:t>D. </a:t>
            </a:r>
            <a:r>
              <a:rPr lang="zh-CN" altLang="en-US" dirty="0"/>
              <a:t>建立互相协作的团队工作文化</a:t>
            </a:r>
          </a:p>
        </p:txBody>
      </p:sp>
    </p:spTree>
    <p:extLst>
      <p:ext uri="{BB962C8B-B14F-4D97-AF65-F5344CB8AC3E}">
        <p14:creationId xmlns:p14="http://schemas.microsoft.com/office/powerpoint/2010/main" val="96048354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E355DEF1-3C9F-9F68-F567-AF749D60A350}"/>
              </a:ext>
            </a:extLst>
          </p:cNvPr>
          <p:cNvSpPr>
            <a:spLocks noGrp="1"/>
          </p:cNvSpPr>
          <p:nvPr>
            <p:ph type="body" sz="quarter" idx="10"/>
          </p:nvPr>
        </p:nvSpPr>
        <p:spPr/>
        <p:txBody>
          <a:bodyPr/>
          <a:lstStyle/>
          <a:p>
            <a:r>
              <a:rPr lang="zh-CN" altLang="en-US" dirty="0"/>
              <a:t>回顾会议未能按敏捷团队领导的预期改进效率。若要确保回顾会议为团队和项目带来价值，该团队领导应该怎么做？</a:t>
            </a:r>
            <a:endParaRPr lang="en-US" altLang="zh-CN" dirty="0"/>
          </a:p>
          <a:p>
            <a:endParaRPr lang="zh-CN" altLang="en-US" dirty="0"/>
          </a:p>
          <a:p>
            <a:r>
              <a:rPr lang="en-US" altLang="zh-CN" dirty="0"/>
              <a:t>A. </a:t>
            </a:r>
            <a:r>
              <a:rPr lang="zh-CN" altLang="en-US" dirty="0"/>
              <a:t>实行更紧凑的回顾会议时间表</a:t>
            </a:r>
          </a:p>
          <a:p>
            <a:r>
              <a:rPr lang="en-US" altLang="zh-CN" dirty="0"/>
              <a:t>B. </a:t>
            </a:r>
            <a:r>
              <a:rPr lang="zh-CN" altLang="en-US" dirty="0"/>
              <a:t>确定妨碍回顾会议结果得到实施的问题，并立即解决</a:t>
            </a:r>
          </a:p>
          <a:p>
            <a:r>
              <a:rPr lang="en-US" altLang="zh-CN" dirty="0"/>
              <a:t>C. </a:t>
            </a:r>
            <a:r>
              <a:rPr lang="zh-CN" altLang="en-US" dirty="0"/>
              <a:t>辅导并提醒团队聚焦回顾会议行动项</a:t>
            </a:r>
          </a:p>
          <a:p>
            <a:r>
              <a:rPr lang="en-US" altLang="zh-CN" dirty="0"/>
              <a:t>D. </a:t>
            </a:r>
            <a:r>
              <a:rPr lang="zh-CN" altLang="en-US" dirty="0"/>
              <a:t>确保产品负责人在下一次规划会上对改进进行优先级排序</a:t>
            </a:r>
          </a:p>
        </p:txBody>
      </p:sp>
    </p:spTree>
    <p:extLst>
      <p:ext uri="{BB962C8B-B14F-4D97-AF65-F5344CB8AC3E}">
        <p14:creationId xmlns:p14="http://schemas.microsoft.com/office/powerpoint/2010/main" val="148624211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532E8FD6-2F02-A716-2216-AE5E9851DE69}"/>
              </a:ext>
            </a:extLst>
          </p:cNvPr>
          <p:cNvSpPr>
            <a:spLocks noGrp="1"/>
          </p:cNvSpPr>
          <p:nvPr>
            <p:ph type="body" sz="quarter" idx="10"/>
          </p:nvPr>
        </p:nvSpPr>
        <p:spPr/>
        <p:txBody>
          <a:bodyPr/>
          <a:lstStyle/>
          <a:p>
            <a:r>
              <a:rPr lang="zh-CN" altLang="en-US" dirty="0"/>
              <a:t>作为团队教练，你应该什么时候专注于对团队成员个体进行教练（</a:t>
            </a:r>
            <a:r>
              <a:rPr lang="en-US" altLang="zh-CN" dirty="0"/>
              <a:t>coaching</a:t>
            </a:r>
            <a:r>
              <a:rPr lang="zh-CN" altLang="en-US" dirty="0"/>
              <a:t>）？</a:t>
            </a:r>
            <a:endParaRPr lang="en-US" altLang="zh-CN" dirty="0"/>
          </a:p>
          <a:p>
            <a:endParaRPr lang="zh-CN" altLang="en-US" dirty="0"/>
          </a:p>
          <a:p>
            <a:r>
              <a:rPr lang="en-US" altLang="zh-CN" dirty="0"/>
              <a:t>A. </a:t>
            </a:r>
            <a:r>
              <a:rPr lang="zh-CN" altLang="en-US" dirty="0"/>
              <a:t>当有人向你求助或寻求建议的时候。</a:t>
            </a:r>
          </a:p>
          <a:p>
            <a:r>
              <a:rPr lang="en-US" altLang="zh-CN" dirty="0"/>
              <a:t>B. </a:t>
            </a:r>
            <a:r>
              <a:rPr lang="zh-CN" altLang="en-US" dirty="0"/>
              <a:t>在计划会和回顾会中。</a:t>
            </a:r>
          </a:p>
          <a:p>
            <a:r>
              <a:rPr lang="en-US" altLang="zh-CN" dirty="0"/>
              <a:t>C. </a:t>
            </a:r>
            <a:r>
              <a:rPr lang="zh-CN" altLang="en-US" dirty="0"/>
              <a:t>有外部阻碍出现的时候。</a:t>
            </a:r>
          </a:p>
          <a:p>
            <a:r>
              <a:rPr lang="en-US" altLang="zh-CN" dirty="0"/>
              <a:t>D. </a:t>
            </a:r>
            <a:r>
              <a:rPr lang="zh-CN" altLang="en-US" dirty="0"/>
              <a:t>当有人遇到了技术问题，并且他们自己解决不了的时候。</a:t>
            </a:r>
          </a:p>
        </p:txBody>
      </p:sp>
    </p:spTree>
    <p:extLst>
      <p:ext uri="{BB962C8B-B14F-4D97-AF65-F5344CB8AC3E}">
        <p14:creationId xmlns:p14="http://schemas.microsoft.com/office/powerpoint/2010/main" val="302858664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95CC9C1-CCC4-5EBA-B406-CD38369DA1FB}"/>
              </a:ext>
            </a:extLst>
          </p:cNvPr>
          <p:cNvSpPr>
            <a:spLocks noGrp="1"/>
          </p:cNvSpPr>
          <p:nvPr>
            <p:ph type="body" sz="quarter" idx="10"/>
          </p:nvPr>
        </p:nvSpPr>
        <p:spPr/>
        <p:txBody>
          <a:bodyPr/>
          <a:lstStyle/>
          <a:p>
            <a:r>
              <a:rPr lang="zh-CN" altLang="en-US" dirty="0"/>
              <a:t>敏捷团队负责一款智能手机的研发项目，在第三次迭代中，一名开发人员由于使用了新的技术导致另一名开发成员的工作出现了一些问题，由此产生了冲突。开发人员经过努力还是无法独自解决冲突，敏捷教练应该怎么办？</a:t>
            </a:r>
            <a:endParaRPr lang="en-US" altLang="zh-CN" dirty="0"/>
          </a:p>
          <a:p>
            <a:endParaRPr lang="zh-CN" altLang="en-US" dirty="0"/>
          </a:p>
          <a:p>
            <a:r>
              <a:rPr lang="en-US" altLang="zh-CN" dirty="0"/>
              <a:t>A. </a:t>
            </a:r>
            <a:r>
              <a:rPr lang="zh-CN" altLang="en-US" dirty="0"/>
              <a:t>要求产品负责人帮助解决问题</a:t>
            </a:r>
          </a:p>
          <a:p>
            <a:r>
              <a:rPr lang="en-US" altLang="zh-CN" dirty="0"/>
              <a:t>B. </a:t>
            </a:r>
            <a:r>
              <a:rPr lang="zh-CN" altLang="en-US" dirty="0"/>
              <a:t>和开发人员沟通，并协助他们解决问题</a:t>
            </a:r>
          </a:p>
          <a:p>
            <a:r>
              <a:rPr lang="en-US" altLang="zh-CN" dirty="0"/>
              <a:t>C. </a:t>
            </a:r>
            <a:r>
              <a:rPr lang="zh-CN" altLang="en-US" dirty="0"/>
              <a:t>利用职权进行干预并对冲突进行影响评估</a:t>
            </a:r>
          </a:p>
          <a:p>
            <a:r>
              <a:rPr lang="en-US" altLang="zh-CN" dirty="0"/>
              <a:t>D. </a:t>
            </a:r>
            <a:r>
              <a:rPr lang="zh-CN" altLang="en-US" dirty="0"/>
              <a:t>举行团队会议讨论这个问题，并重构构建沟通规则</a:t>
            </a:r>
          </a:p>
        </p:txBody>
      </p:sp>
    </p:spTree>
    <p:extLst>
      <p:ext uri="{BB962C8B-B14F-4D97-AF65-F5344CB8AC3E}">
        <p14:creationId xmlns:p14="http://schemas.microsoft.com/office/powerpoint/2010/main" val="36329607"/>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F445C827-306D-8A41-35EE-F6C421765890}"/>
              </a:ext>
            </a:extLst>
          </p:cNvPr>
          <p:cNvSpPr>
            <a:spLocks noGrp="1"/>
          </p:cNvSpPr>
          <p:nvPr>
            <p:ph type="body" sz="quarter" idx="10"/>
          </p:nvPr>
        </p:nvSpPr>
        <p:spPr>
          <a:xfrm>
            <a:off x="3219345" y="1629000"/>
            <a:ext cx="8640000" cy="3600000"/>
          </a:xfrm>
        </p:spPr>
        <p:txBody>
          <a:bodyPr/>
          <a:lstStyle/>
          <a:p>
            <a:r>
              <a:rPr lang="zh-CN" altLang="en-US" dirty="0"/>
              <a:t>一个团队成员向 </a:t>
            </a:r>
            <a:r>
              <a:rPr lang="en-US" altLang="zh-CN" dirty="0"/>
              <a:t>Scrum </a:t>
            </a:r>
            <a:r>
              <a:rPr lang="zh-CN" altLang="en-US" dirty="0"/>
              <a:t>教练抱怨，他们的经理每个星期都要开好几次会，提供更新情况，但那些更新与他们的项目并没有关系。团队成员很不满，因为这些中断导致工作慢下来。</a:t>
            </a:r>
            <a:r>
              <a:rPr lang="en-US" altLang="zh-CN" dirty="0"/>
              <a:t>Scrum </a:t>
            </a:r>
            <a:r>
              <a:rPr lang="zh-CN" altLang="en-US" dirty="0"/>
              <a:t>教练应该做什么？</a:t>
            </a:r>
            <a:endParaRPr lang="en-US" altLang="zh-CN" dirty="0"/>
          </a:p>
          <a:p>
            <a:endParaRPr lang="zh-CN" altLang="en-US" dirty="0"/>
          </a:p>
          <a:p>
            <a:r>
              <a:rPr lang="en-US" altLang="zh-CN" dirty="0"/>
              <a:t>A. </a:t>
            </a:r>
            <a:r>
              <a:rPr lang="zh-CN" altLang="en-US" dirty="0"/>
              <a:t>授权团队成员可以不参加这些会议，而专注于工作</a:t>
            </a:r>
          </a:p>
          <a:p>
            <a:r>
              <a:rPr lang="en-US" altLang="zh-CN" dirty="0"/>
              <a:t>B. </a:t>
            </a:r>
            <a:r>
              <a:rPr lang="zh-CN" altLang="en-US" dirty="0"/>
              <a:t>向产品负责人提出这个问题</a:t>
            </a:r>
          </a:p>
          <a:p>
            <a:r>
              <a:rPr lang="en-US" altLang="zh-CN" dirty="0"/>
              <a:t>C. </a:t>
            </a:r>
            <a:r>
              <a:rPr lang="zh-CN" altLang="en-US" dirty="0"/>
              <a:t>准备一个报告，说明这些会议对工作的的影响</a:t>
            </a:r>
          </a:p>
          <a:p>
            <a:r>
              <a:rPr lang="en-US" altLang="zh-CN" dirty="0"/>
              <a:t>D. </a:t>
            </a:r>
            <a:r>
              <a:rPr lang="zh-CN" altLang="en-US" dirty="0"/>
              <a:t>找这位经理讨论其他方法而不中断团队的工作</a:t>
            </a:r>
          </a:p>
        </p:txBody>
      </p:sp>
    </p:spTree>
    <p:extLst>
      <p:ext uri="{BB962C8B-B14F-4D97-AF65-F5344CB8AC3E}">
        <p14:creationId xmlns:p14="http://schemas.microsoft.com/office/powerpoint/2010/main" val="146439565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F44840EE-E737-C70E-CE0A-48B1483ED343}"/>
              </a:ext>
            </a:extLst>
          </p:cNvPr>
          <p:cNvSpPr>
            <a:spLocks noGrp="1"/>
          </p:cNvSpPr>
          <p:nvPr>
            <p:ph type="body" sz="quarter" idx="10"/>
          </p:nvPr>
        </p:nvSpPr>
        <p:spPr/>
        <p:txBody>
          <a:bodyPr/>
          <a:lstStyle/>
          <a:p>
            <a:r>
              <a:rPr lang="zh-CN" altLang="en-US" dirty="0"/>
              <a:t>敏捷团队最近接到一项政府部门的开发工作，经过接触，项目负责人发现这个项目的需求变动很多，而且范围并不明确，因此团队讨论决定使用敏捷的方式开发。公司为其匹配了一位敏捷教练，面对这个没有敏捷经验、也缺乏敏捷知识培训的团队，敏捷教练该如何应对？</a:t>
            </a:r>
            <a:endParaRPr lang="en-US" altLang="zh-CN" dirty="0"/>
          </a:p>
          <a:p>
            <a:endParaRPr lang="zh-CN" altLang="en-US" dirty="0"/>
          </a:p>
          <a:p>
            <a:r>
              <a:rPr lang="en-US" altLang="zh-CN" dirty="0"/>
              <a:t>A. </a:t>
            </a:r>
            <a:r>
              <a:rPr lang="zh-CN" altLang="en-US" dirty="0"/>
              <a:t>为团队成员确定并实施最具成本效益的敏捷培训</a:t>
            </a:r>
          </a:p>
          <a:p>
            <a:r>
              <a:rPr lang="en-US" altLang="zh-CN" dirty="0"/>
              <a:t>B. </a:t>
            </a:r>
            <a:r>
              <a:rPr lang="zh-CN" altLang="en-US" dirty="0"/>
              <a:t>申请一个变更请求为团队成员进行敏捷培训</a:t>
            </a:r>
          </a:p>
          <a:p>
            <a:r>
              <a:rPr lang="en-US" altLang="zh-CN" dirty="0"/>
              <a:t>C. </a:t>
            </a:r>
            <a:r>
              <a:rPr lang="zh-CN" altLang="en-US" dirty="0"/>
              <a:t>确保项目的应急储备可以覆盖所有团队成员的敏捷培训</a:t>
            </a:r>
          </a:p>
          <a:p>
            <a:r>
              <a:rPr lang="en-US" altLang="zh-CN" dirty="0"/>
              <a:t>D. </a:t>
            </a:r>
            <a:r>
              <a:rPr lang="zh-CN" altLang="en-US" dirty="0"/>
              <a:t>为关键团队成员安排虚拟培训课程，涵盖敏捷课题</a:t>
            </a:r>
          </a:p>
        </p:txBody>
      </p:sp>
    </p:spTree>
    <p:extLst>
      <p:ext uri="{BB962C8B-B14F-4D97-AF65-F5344CB8AC3E}">
        <p14:creationId xmlns:p14="http://schemas.microsoft.com/office/powerpoint/2010/main" val="243083887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19FE333D-382F-A157-A207-509AD75636E4}"/>
              </a:ext>
            </a:extLst>
          </p:cNvPr>
          <p:cNvSpPr>
            <a:spLocks noGrp="1"/>
          </p:cNvSpPr>
          <p:nvPr>
            <p:ph type="body" sz="quarter" idx="10"/>
          </p:nvPr>
        </p:nvSpPr>
        <p:spPr/>
        <p:txBody>
          <a:bodyPr/>
          <a:lstStyle/>
          <a:p>
            <a:r>
              <a:rPr lang="zh-CN" altLang="en-US" dirty="0"/>
              <a:t>组织正在转型敏捷，这是以往都没有过的新尝试。为此，组织聘请了具有专业敏捷知识的专家作为敏捷教练。作为敏捷管理专业人士，你明确地知道一点：关于敏捷团队必须是被授权的，这是因为？</a:t>
            </a:r>
            <a:endParaRPr lang="en-US" altLang="zh-CN" dirty="0"/>
          </a:p>
          <a:p>
            <a:endParaRPr lang="zh-CN" altLang="en-US" dirty="0"/>
          </a:p>
          <a:p>
            <a:r>
              <a:rPr lang="en-US" altLang="zh-CN" dirty="0"/>
              <a:t>A. </a:t>
            </a:r>
            <a:r>
              <a:rPr lang="zh-CN" altLang="en-US" dirty="0"/>
              <a:t>团队被授权后可以减少范围蔓延的情况，因为团队的适应是缓慢的</a:t>
            </a:r>
          </a:p>
          <a:p>
            <a:r>
              <a:rPr lang="en-US" altLang="zh-CN" dirty="0"/>
              <a:t>B. </a:t>
            </a:r>
            <a:r>
              <a:rPr lang="zh-CN" altLang="en-US" dirty="0"/>
              <a:t>团队被授权后可以直接与客户沟通，以获取具体且不变的需求</a:t>
            </a:r>
          </a:p>
          <a:p>
            <a:r>
              <a:rPr lang="en-US" altLang="zh-CN" dirty="0"/>
              <a:t>C. </a:t>
            </a:r>
            <a:r>
              <a:rPr lang="zh-CN" altLang="en-US" dirty="0"/>
              <a:t>团队被授权后能够更加适应需求变更，从而创造更多价值</a:t>
            </a:r>
          </a:p>
          <a:p>
            <a:r>
              <a:rPr lang="en-US" altLang="zh-CN" dirty="0"/>
              <a:t>D. </a:t>
            </a:r>
            <a:r>
              <a:rPr lang="zh-CN" altLang="en-US" dirty="0"/>
              <a:t>队伍被授权后可以承担相关责任，尽量减少组织风险</a:t>
            </a:r>
          </a:p>
        </p:txBody>
      </p:sp>
    </p:spTree>
    <p:extLst>
      <p:ext uri="{BB962C8B-B14F-4D97-AF65-F5344CB8AC3E}">
        <p14:creationId xmlns:p14="http://schemas.microsoft.com/office/powerpoint/2010/main" val="26605603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F4DE30E7-3DC3-5791-4C77-E52508CE3966}"/>
              </a:ext>
            </a:extLst>
          </p:cNvPr>
          <p:cNvSpPr>
            <a:spLocks noGrp="1"/>
          </p:cNvSpPr>
          <p:nvPr>
            <p:ph type="body" sz="quarter" idx="10"/>
          </p:nvPr>
        </p:nvSpPr>
        <p:spPr/>
        <p:txBody>
          <a:bodyPr/>
          <a:lstStyle/>
          <a:p>
            <a:r>
              <a:rPr lang="zh-CN" altLang="en-US" dirty="0"/>
              <a:t>一支敏捷团队组建来执行一个大型项目，为确保成功，管理层为项目分配了</a:t>
            </a:r>
            <a:r>
              <a:rPr lang="en-US" altLang="zh-CN" dirty="0"/>
              <a:t>14</a:t>
            </a:r>
            <a:r>
              <a:rPr lang="zh-CN" altLang="en-US" dirty="0"/>
              <a:t>名人员。团队领导注意到经常发生沟通不畅、会议晚开始，以及某些团队成员不积极参与等问题。团队领导应该怎么做？</a:t>
            </a:r>
            <a:endParaRPr lang="en-US" altLang="zh-CN" dirty="0"/>
          </a:p>
          <a:p>
            <a:endParaRPr lang="zh-CN" altLang="en-US" dirty="0"/>
          </a:p>
          <a:p>
            <a:r>
              <a:rPr lang="en-US" altLang="zh-CN" dirty="0"/>
              <a:t>A. </a:t>
            </a:r>
            <a:r>
              <a:rPr lang="zh-CN" altLang="en-US" dirty="0"/>
              <a:t>将团队分成更小的团队</a:t>
            </a:r>
          </a:p>
          <a:p>
            <a:r>
              <a:rPr lang="en-US" altLang="zh-CN" dirty="0"/>
              <a:t>B. </a:t>
            </a:r>
            <a:r>
              <a:rPr lang="zh-CN" altLang="en-US" dirty="0"/>
              <a:t>与每个团队成员开展个别辅导课程</a:t>
            </a:r>
          </a:p>
          <a:p>
            <a:r>
              <a:rPr lang="en-US" altLang="zh-CN" dirty="0"/>
              <a:t>C. </a:t>
            </a:r>
            <a:r>
              <a:rPr lang="zh-CN" altLang="en-US" dirty="0"/>
              <a:t>为每日站会增加团队交流时间</a:t>
            </a:r>
          </a:p>
          <a:p>
            <a:r>
              <a:rPr lang="en-US" altLang="zh-CN" dirty="0"/>
              <a:t>D. </a:t>
            </a:r>
            <a:r>
              <a:rPr lang="zh-CN" altLang="en-US" dirty="0"/>
              <a:t>使用</a:t>
            </a:r>
            <a:r>
              <a:rPr lang="en-US" altLang="zh-CN" dirty="0" err="1"/>
              <a:t>WiFi</a:t>
            </a:r>
            <a:r>
              <a:rPr lang="zh-CN" altLang="en-US" dirty="0"/>
              <a:t>，综合文档和对话</a:t>
            </a:r>
          </a:p>
        </p:txBody>
      </p:sp>
    </p:spTree>
    <p:extLst>
      <p:ext uri="{BB962C8B-B14F-4D97-AF65-F5344CB8AC3E}">
        <p14:creationId xmlns:p14="http://schemas.microsoft.com/office/powerpoint/2010/main" val="306374304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0663899A-868B-7999-B659-E5345D73B798}"/>
              </a:ext>
            </a:extLst>
          </p:cNvPr>
          <p:cNvSpPr>
            <a:spLocks noGrp="1"/>
          </p:cNvSpPr>
          <p:nvPr>
            <p:ph type="body" sz="quarter" idx="10"/>
          </p:nvPr>
        </p:nvSpPr>
        <p:spPr/>
        <p:txBody>
          <a:bodyPr/>
          <a:lstStyle/>
          <a:p>
            <a:r>
              <a:rPr lang="zh-CN" altLang="en-US" dirty="0"/>
              <a:t>一家公司聘请敏捷教练帮助解决孤岛</a:t>
            </a:r>
            <a:r>
              <a:rPr lang="en-US" altLang="zh-CN" dirty="0"/>
              <a:t>/</a:t>
            </a:r>
            <a:r>
              <a:rPr lang="zh-CN" altLang="en-US" dirty="0"/>
              <a:t>竖井（</a:t>
            </a:r>
            <a:r>
              <a:rPr lang="en-US" altLang="zh-CN" dirty="0"/>
              <a:t>silos</a:t>
            </a:r>
            <a:r>
              <a:rPr lang="zh-CN" altLang="en-US" dirty="0"/>
              <a:t>） 和人员损耗（</a:t>
            </a:r>
            <a:r>
              <a:rPr lang="en-US" altLang="zh-CN" dirty="0"/>
              <a:t>attrition</a:t>
            </a:r>
            <a:r>
              <a:rPr lang="zh-CN" altLang="en-US" dirty="0"/>
              <a:t>） 问题。敏捷教练应提供什么建议？</a:t>
            </a:r>
            <a:endParaRPr lang="en-US" altLang="zh-CN" dirty="0"/>
          </a:p>
          <a:p>
            <a:endParaRPr lang="zh-CN" altLang="en-US" dirty="0"/>
          </a:p>
          <a:p>
            <a:r>
              <a:rPr lang="en-US" altLang="zh-CN" dirty="0"/>
              <a:t>A. </a:t>
            </a:r>
            <a:r>
              <a:rPr lang="zh-CN" altLang="en-US" dirty="0"/>
              <a:t>创建由主题专家</a:t>
            </a:r>
            <a:r>
              <a:rPr lang="en-US" altLang="zh-CN" dirty="0"/>
              <a:t>(SMEs)</a:t>
            </a:r>
            <a:r>
              <a:rPr lang="zh-CN" altLang="en-US" dirty="0"/>
              <a:t>组成的团队，并不断利用其专业知识</a:t>
            </a:r>
          </a:p>
          <a:p>
            <a:r>
              <a:rPr lang="en-US" altLang="zh-CN" dirty="0"/>
              <a:t>B. </a:t>
            </a:r>
            <a:r>
              <a:rPr lang="zh-CN" altLang="en-US" dirty="0"/>
              <a:t>鼓励学习团队成长而不是个人发展</a:t>
            </a:r>
          </a:p>
          <a:p>
            <a:r>
              <a:rPr lang="en-US" altLang="zh-CN" dirty="0"/>
              <a:t>C. </a:t>
            </a:r>
            <a:r>
              <a:rPr lang="zh-CN" altLang="en-US" dirty="0"/>
              <a:t>培养由通才专家组成的团队，并鼓励个人学习新的技能</a:t>
            </a:r>
          </a:p>
          <a:p>
            <a:r>
              <a:rPr lang="en-US" altLang="zh-CN" dirty="0"/>
              <a:t>D. </a:t>
            </a:r>
            <a:r>
              <a:rPr lang="zh-CN" altLang="en-US" dirty="0"/>
              <a:t>向所有团队成员提供平等的培训，无论他们的经验如何</a:t>
            </a:r>
          </a:p>
        </p:txBody>
      </p:sp>
    </p:spTree>
    <p:extLst>
      <p:ext uri="{BB962C8B-B14F-4D97-AF65-F5344CB8AC3E}">
        <p14:creationId xmlns:p14="http://schemas.microsoft.com/office/powerpoint/2010/main" val="187156375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B3E67BAB-754E-FAB0-3392-34AADAF1E0AE}"/>
              </a:ext>
            </a:extLst>
          </p:cNvPr>
          <p:cNvSpPr>
            <a:spLocks noGrp="1"/>
          </p:cNvSpPr>
          <p:nvPr>
            <p:ph type="body" sz="quarter" idx="10"/>
          </p:nvPr>
        </p:nvSpPr>
        <p:spPr/>
        <p:txBody>
          <a:bodyPr/>
          <a:lstStyle/>
          <a:p>
            <a:r>
              <a:rPr lang="zh-CN" altLang="en-US" dirty="0"/>
              <a:t>一个跨国项目团队正在进行一项手机软件的研发项目，产品经理认为软件的易操作性有助于产品成功，这需要用户体验专家与公测用户群开展可用性研讨会以尽早改进。但很快遭到关键干系人的反对，因为项目预算无法支付差旅费。若要保证产品成功，应该怎么做？</a:t>
            </a:r>
            <a:endParaRPr lang="en-US" altLang="zh-CN" dirty="0"/>
          </a:p>
          <a:p>
            <a:endParaRPr lang="zh-CN" altLang="en-US" dirty="0"/>
          </a:p>
          <a:p>
            <a:r>
              <a:rPr lang="en-US" altLang="zh-CN" dirty="0"/>
              <a:t>A. </a:t>
            </a:r>
            <a:r>
              <a:rPr lang="zh-CN" altLang="en-US" dirty="0"/>
              <a:t>要求团队成员提升工作效率以预留差旅费</a:t>
            </a:r>
          </a:p>
          <a:p>
            <a:r>
              <a:rPr lang="en-US" altLang="zh-CN" dirty="0"/>
              <a:t>B. </a:t>
            </a:r>
            <a:r>
              <a:rPr lang="zh-CN" altLang="en-US" dirty="0"/>
              <a:t>采用产品经理的反馈作为用户反馈代表</a:t>
            </a:r>
          </a:p>
          <a:p>
            <a:r>
              <a:rPr lang="en-US" altLang="zh-CN" dirty="0"/>
              <a:t>C. </a:t>
            </a:r>
            <a:r>
              <a:rPr lang="zh-CN" altLang="en-US" dirty="0"/>
              <a:t>在视频会议期间使用屏幕共享工具进行测试，获得用户反馈</a:t>
            </a:r>
          </a:p>
          <a:p>
            <a:r>
              <a:rPr lang="en-US" altLang="zh-CN" dirty="0"/>
              <a:t>D. </a:t>
            </a:r>
            <a:r>
              <a:rPr lang="zh-CN" altLang="en-US" dirty="0"/>
              <a:t>与产品经理协商以减少项目范围预留差旅费</a:t>
            </a:r>
          </a:p>
        </p:txBody>
      </p:sp>
    </p:spTree>
    <p:extLst>
      <p:ext uri="{BB962C8B-B14F-4D97-AF65-F5344CB8AC3E}">
        <p14:creationId xmlns:p14="http://schemas.microsoft.com/office/powerpoint/2010/main" val="154917032"/>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7FB01AD2-E0BB-E298-728D-A90AC6B7A142}"/>
              </a:ext>
            </a:extLst>
          </p:cNvPr>
          <p:cNvSpPr>
            <a:spLocks noGrp="1"/>
          </p:cNvSpPr>
          <p:nvPr>
            <p:ph type="body" sz="quarter" idx="10"/>
          </p:nvPr>
        </p:nvSpPr>
        <p:spPr>
          <a:xfrm>
            <a:off x="3219345" y="1629000"/>
            <a:ext cx="8640000" cy="3600000"/>
          </a:xfrm>
        </p:spPr>
        <p:txBody>
          <a:bodyPr/>
          <a:lstStyle/>
          <a:p>
            <a:r>
              <a:rPr lang="zh-CN" altLang="en-US" dirty="0"/>
              <a:t>在经历过团队的震荡阶段后，目前团队成员已经不会再为一点小问题而产生争执了，开发工作也正式步入规范阶段。在这个阶段，敏捷教练需要为团队成员提供什么帮助？</a:t>
            </a:r>
            <a:endParaRPr lang="en-US" altLang="zh-CN" dirty="0"/>
          </a:p>
          <a:p>
            <a:endParaRPr lang="zh-CN" altLang="en-US" dirty="0"/>
          </a:p>
          <a:p>
            <a:r>
              <a:rPr lang="en-US" altLang="zh-CN" dirty="0"/>
              <a:t>A. </a:t>
            </a:r>
            <a:r>
              <a:rPr lang="zh-CN" altLang="en-US" dirty="0"/>
              <a:t>指导成员如何完成工作，保持高绩效水平</a:t>
            </a:r>
            <a:br>
              <a:rPr lang="zh-CN" altLang="en-US" dirty="0"/>
            </a:br>
            <a:r>
              <a:rPr lang="en-US" altLang="zh-CN" dirty="0"/>
              <a:t>B. </a:t>
            </a:r>
            <a:r>
              <a:rPr lang="zh-CN" altLang="en-US" dirty="0"/>
              <a:t>帮助成员一起解决技术问题，确保成员专注完成目标</a:t>
            </a:r>
            <a:br>
              <a:rPr lang="zh-CN" altLang="en-US" dirty="0"/>
            </a:br>
            <a:r>
              <a:rPr lang="en-US" altLang="zh-CN" dirty="0"/>
              <a:t>C. </a:t>
            </a:r>
            <a:r>
              <a:rPr lang="zh-CN" altLang="en-US" dirty="0"/>
              <a:t>不需要提供太多指导，在他们单独请求帮助时再给予支持</a:t>
            </a:r>
            <a:br>
              <a:rPr lang="zh-CN" altLang="en-US" dirty="0"/>
            </a:br>
            <a:r>
              <a:rPr lang="en-US" altLang="zh-CN" dirty="0"/>
              <a:t>D. </a:t>
            </a:r>
            <a:r>
              <a:rPr lang="zh-CN" altLang="en-US" dirty="0"/>
              <a:t>不提供帮助，因为团队是自组织团队可以自我解决问题</a:t>
            </a:r>
          </a:p>
          <a:p>
            <a:endParaRPr lang="zh-CN" altLang="en-US" dirty="0"/>
          </a:p>
        </p:txBody>
      </p:sp>
    </p:spTree>
    <p:extLst>
      <p:ext uri="{BB962C8B-B14F-4D97-AF65-F5344CB8AC3E}">
        <p14:creationId xmlns:p14="http://schemas.microsoft.com/office/powerpoint/2010/main" val="226537670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ECA2C8-FA71-8616-8B2E-40AE1800314F}"/>
              </a:ext>
            </a:extLst>
          </p:cNvPr>
          <p:cNvSpPr>
            <a:spLocks noGrp="1"/>
          </p:cNvSpPr>
          <p:nvPr>
            <p:ph type="title"/>
          </p:nvPr>
        </p:nvSpPr>
        <p:spPr>
          <a:xfrm>
            <a:off x="695998" y="360000"/>
            <a:ext cx="7200000" cy="424732"/>
          </a:xfrm>
        </p:spPr>
        <p:txBody>
          <a:bodyPr/>
          <a:lstStyle/>
          <a:p>
            <a:r>
              <a:rPr lang="zh-CN" altLang="en-US" dirty="0"/>
              <a:t>敏捷活动 </a:t>
            </a:r>
            <a:r>
              <a:rPr lang="en-US" altLang="zh-CN" dirty="0"/>
              <a:t>Scrum Events</a:t>
            </a:r>
            <a:endParaRPr lang="zh-CN" altLang="en-US" dirty="0"/>
          </a:p>
        </p:txBody>
      </p:sp>
      <p:sp>
        <p:nvSpPr>
          <p:cNvPr id="17" name="内容占位符 16">
            <a:extLst>
              <a:ext uri="{FF2B5EF4-FFF2-40B4-BE49-F238E27FC236}">
                <a16:creationId xmlns:a16="http://schemas.microsoft.com/office/drawing/2014/main" id="{EA3816E0-FB94-2648-5E22-3FE08E30DA90}"/>
              </a:ext>
            </a:extLst>
          </p:cNvPr>
          <p:cNvSpPr>
            <a:spLocks noGrp="1"/>
          </p:cNvSpPr>
          <p:nvPr>
            <p:ph idx="1"/>
          </p:nvPr>
        </p:nvSpPr>
        <p:spPr/>
        <p:txBody>
          <a:bodyPr/>
          <a:lstStyle/>
          <a:p>
            <a:r>
              <a:rPr lang="zh-CN" altLang="en-US" dirty="0"/>
              <a:t>部分资料使用迭代一词</a:t>
            </a:r>
          </a:p>
        </p:txBody>
      </p:sp>
      <p:sp>
        <p:nvSpPr>
          <p:cNvPr id="18" name="文本占位符 17">
            <a:extLst>
              <a:ext uri="{FF2B5EF4-FFF2-40B4-BE49-F238E27FC236}">
                <a16:creationId xmlns:a16="http://schemas.microsoft.com/office/drawing/2014/main" id="{FA45CF84-A816-7BD1-F5CA-88546510CE69}"/>
              </a:ext>
            </a:extLst>
          </p:cNvPr>
          <p:cNvSpPr>
            <a:spLocks noGrp="1"/>
          </p:cNvSpPr>
          <p:nvPr>
            <p:ph type="body" sz="quarter" idx="10"/>
          </p:nvPr>
        </p:nvSpPr>
        <p:spPr/>
        <p:txBody>
          <a:bodyPr/>
          <a:lstStyle/>
          <a:p>
            <a:r>
              <a:rPr lang="en-US" altLang="zh-CN" dirty="0"/>
              <a:t>Agile</a:t>
            </a:r>
            <a:endParaRPr lang="zh-CN" altLang="en-US" dirty="0"/>
          </a:p>
        </p:txBody>
      </p:sp>
      <p:graphicFrame>
        <p:nvGraphicFramePr>
          <p:cNvPr id="12" name="图示 11">
            <a:extLst>
              <a:ext uri="{FF2B5EF4-FFF2-40B4-BE49-F238E27FC236}">
                <a16:creationId xmlns:a16="http://schemas.microsoft.com/office/drawing/2014/main" id="{2F59913E-9152-614D-80D9-103E7E331BE2}"/>
              </a:ext>
            </a:extLst>
          </p:cNvPr>
          <p:cNvGraphicFramePr>
            <a:graphicFrameLocks noChangeAspect="1"/>
          </p:cNvGraphicFramePr>
          <p:nvPr>
            <p:extLst>
              <p:ext uri="{D42A27DB-BD31-4B8C-83A1-F6EECF244321}">
                <p14:modId xmlns:p14="http://schemas.microsoft.com/office/powerpoint/2010/main" val="606119711"/>
              </p:ext>
            </p:extLst>
          </p:nvPr>
        </p:nvGraphicFramePr>
        <p:xfrm>
          <a:off x="1775460" y="1846314"/>
          <a:ext cx="8641080" cy="4089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69431483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B31D0B73-147B-625B-DF1F-1C975580759C}"/>
              </a:ext>
            </a:extLst>
          </p:cNvPr>
          <p:cNvSpPr/>
          <p:nvPr/>
        </p:nvSpPr>
        <p:spPr>
          <a:xfrm>
            <a:off x="785974" y="44115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6" name="矩形: 圆角 5">
            <a:extLst>
              <a:ext uri="{FF2B5EF4-FFF2-40B4-BE49-F238E27FC236}">
                <a16:creationId xmlns:a16="http://schemas.microsoft.com/office/drawing/2014/main" id="{A9EDADA6-51DE-A6F4-9D65-A2A946731806}"/>
              </a:ext>
            </a:extLst>
          </p:cNvPr>
          <p:cNvSpPr/>
          <p:nvPr/>
        </p:nvSpPr>
        <p:spPr>
          <a:xfrm>
            <a:off x="784079" y="48201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7" name="矩形: 圆角 6">
            <a:extLst>
              <a:ext uri="{FF2B5EF4-FFF2-40B4-BE49-F238E27FC236}">
                <a16:creationId xmlns:a16="http://schemas.microsoft.com/office/drawing/2014/main" id="{E7C6F2D2-0C3E-707C-DBC1-FE27FF3C61BA}"/>
              </a:ext>
            </a:extLst>
          </p:cNvPr>
          <p:cNvSpPr/>
          <p:nvPr/>
        </p:nvSpPr>
        <p:spPr>
          <a:xfrm>
            <a:off x="784079" y="52287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8" name="矩形: 圆角 7">
            <a:extLst>
              <a:ext uri="{FF2B5EF4-FFF2-40B4-BE49-F238E27FC236}">
                <a16:creationId xmlns:a16="http://schemas.microsoft.com/office/drawing/2014/main" id="{85623A42-16A6-602C-83C3-3C8F7B600D53}"/>
              </a:ext>
            </a:extLst>
          </p:cNvPr>
          <p:cNvSpPr/>
          <p:nvPr/>
        </p:nvSpPr>
        <p:spPr>
          <a:xfrm>
            <a:off x="1548415" y="48201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9" name="矩形: 圆角 8">
            <a:extLst>
              <a:ext uri="{FF2B5EF4-FFF2-40B4-BE49-F238E27FC236}">
                <a16:creationId xmlns:a16="http://schemas.microsoft.com/office/drawing/2014/main" id="{F8E0EAAF-6528-B828-3CAE-6F3CABA14ACA}"/>
              </a:ext>
            </a:extLst>
          </p:cNvPr>
          <p:cNvSpPr/>
          <p:nvPr/>
        </p:nvSpPr>
        <p:spPr>
          <a:xfrm>
            <a:off x="1548415" y="52287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68132CFB-F09F-C0D9-D627-AF12629EACC3}"/>
              </a:ext>
            </a:extLst>
          </p:cNvPr>
          <p:cNvSpPr/>
          <p:nvPr/>
        </p:nvSpPr>
        <p:spPr>
          <a:xfrm>
            <a:off x="4096763" y="44115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1" name="矩形: 圆角 10">
            <a:extLst>
              <a:ext uri="{FF2B5EF4-FFF2-40B4-BE49-F238E27FC236}">
                <a16:creationId xmlns:a16="http://schemas.microsoft.com/office/drawing/2014/main" id="{79C77528-0F72-6C04-82C1-D6CACF1F1853}"/>
              </a:ext>
            </a:extLst>
          </p:cNvPr>
          <p:cNvSpPr/>
          <p:nvPr/>
        </p:nvSpPr>
        <p:spPr>
          <a:xfrm>
            <a:off x="4094868" y="46608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2" name="矩形: 圆角 11">
            <a:extLst>
              <a:ext uri="{FF2B5EF4-FFF2-40B4-BE49-F238E27FC236}">
                <a16:creationId xmlns:a16="http://schemas.microsoft.com/office/drawing/2014/main" id="{C646DCCB-5721-2031-8798-9B5A9CEE0141}"/>
              </a:ext>
            </a:extLst>
          </p:cNvPr>
          <p:cNvSpPr/>
          <p:nvPr/>
        </p:nvSpPr>
        <p:spPr>
          <a:xfrm>
            <a:off x="4094868" y="51594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3" name="矩形: 圆角 12">
            <a:extLst>
              <a:ext uri="{FF2B5EF4-FFF2-40B4-BE49-F238E27FC236}">
                <a16:creationId xmlns:a16="http://schemas.microsoft.com/office/drawing/2014/main" id="{DA7F826F-2505-2BB1-0337-957126B6BE8C}"/>
              </a:ext>
            </a:extLst>
          </p:cNvPr>
          <p:cNvSpPr/>
          <p:nvPr/>
        </p:nvSpPr>
        <p:spPr>
          <a:xfrm>
            <a:off x="4094868" y="49101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4" name="矩形: 圆角 13">
            <a:extLst>
              <a:ext uri="{FF2B5EF4-FFF2-40B4-BE49-F238E27FC236}">
                <a16:creationId xmlns:a16="http://schemas.microsoft.com/office/drawing/2014/main" id="{4D36BC18-F6EF-E685-3419-1A6C89F2B15B}"/>
              </a:ext>
            </a:extLst>
          </p:cNvPr>
          <p:cNvSpPr/>
          <p:nvPr/>
        </p:nvSpPr>
        <p:spPr>
          <a:xfrm>
            <a:off x="4094868" y="54087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5" name="文本框 14">
            <a:extLst>
              <a:ext uri="{FF2B5EF4-FFF2-40B4-BE49-F238E27FC236}">
                <a16:creationId xmlns:a16="http://schemas.microsoft.com/office/drawing/2014/main" id="{40FBFD0A-8E11-E36D-B89F-C5F8892CA549}"/>
              </a:ext>
            </a:extLst>
          </p:cNvPr>
          <p:cNvSpPr txBox="1"/>
          <p:nvPr/>
        </p:nvSpPr>
        <p:spPr>
          <a:xfrm>
            <a:off x="483860" y="5825192"/>
            <a:ext cx="2129109" cy="369332"/>
          </a:xfrm>
          <a:prstGeom prst="rect">
            <a:avLst/>
          </a:prstGeom>
          <a:noFill/>
        </p:spPr>
        <p:txBody>
          <a:bodyPr wrap="none" rtlCol="0">
            <a:spAutoFit/>
          </a:bodyPr>
          <a:lstStyle/>
          <a:p>
            <a:pPr algn="ctr"/>
            <a:r>
              <a:rPr lang="en-US" altLang="zh-CN" dirty="0"/>
              <a:t>Product Backlog</a:t>
            </a:r>
            <a:endParaRPr lang="zh-CN" altLang="en-US" dirty="0"/>
          </a:p>
        </p:txBody>
      </p:sp>
      <p:sp>
        <p:nvSpPr>
          <p:cNvPr id="16" name="文本框 15">
            <a:extLst>
              <a:ext uri="{FF2B5EF4-FFF2-40B4-BE49-F238E27FC236}">
                <a16:creationId xmlns:a16="http://schemas.microsoft.com/office/drawing/2014/main" id="{4262DDDD-FE14-AFB9-5B56-9B47A1F90D75}"/>
              </a:ext>
            </a:extLst>
          </p:cNvPr>
          <p:cNvSpPr txBox="1"/>
          <p:nvPr/>
        </p:nvSpPr>
        <p:spPr>
          <a:xfrm>
            <a:off x="3476875" y="5825192"/>
            <a:ext cx="1955985" cy="369332"/>
          </a:xfrm>
          <a:prstGeom prst="rect">
            <a:avLst/>
          </a:prstGeom>
          <a:noFill/>
        </p:spPr>
        <p:txBody>
          <a:bodyPr wrap="none" rtlCol="0">
            <a:spAutoFit/>
          </a:bodyPr>
          <a:lstStyle/>
          <a:p>
            <a:pPr algn="ctr"/>
            <a:r>
              <a:rPr lang="en-US" altLang="zh-CN" dirty="0"/>
              <a:t>Sprint Backlog</a:t>
            </a:r>
            <a:endParaRPr lang="zh-CN" altLang="en-US" dirty="0"/>
          </a:p>
        </p:txBody>
      </p:sp>
      <p:sp>
        <p:nvSpPr>
          <p:cNvPr id="19" name="文本框 18">
            <a:extLst>
              <a:ext uri="{FF2B5EF4-FFF2-40B4-BE49-F238E27FC236}">
                <a16:creationId xmlns:a16="http://schemas.microsoft.com/office/drawing/2014/main" id="{51C05E4B-16AF-EB18-51CD-5143A0C4944C}"/>
              </a:ext>
            </a:extLst>
          </p:cNvPr>
          <p:cNvSpPr txBox="1"/>
          <p:nvPr/>
        </p:nvSpPr>
        <p:spPr>
          <a:xfrm>
            <a:off x="9458581" y="5825192"/>
            <a:ext cx="1459054" cy="369332"/>
          </a:xfrm>
          <a:prstGeom prst="rect">
            <a:avLst/>
          </a:prstGeom>
          <a:noFill/>
        </p:spPr>
        <p:txBody>
          <a:bodyPr wrap="none" rtlCol="0">
            <a:spAutoFit/>
          </a:bodyPr>
          <a:lstStyle/>
          <a:p>
            <a:pPr algn="ctr"/>
            <a:r>
              <a:rPr lang="en-US" altLang="zh-CN" dirty="0"/>
              <a:t>Increment</a:t>
            </a:r>
            <a:endParaRPr lang="zh-CN" altLang="en-US" dirty="0"/>
          </a:p>
        </p:txBody>
      </p:sp>
      <p:grpSp>
        <p:nvGrpSpPr>
          <p:cNvPr id="24" name="组合 23">
            <a:extLst>
              <a:ext uri="{FF2B5EF4-FFF2-40B4-BE49-F238E27FC236}">
                <a16:creationId xmlns:a16="http://schemas.microsoft.com/office/drawing/2014/main" id="{CD92B576-D6F3-A678-7038-4ECEED11C852}"/>
              </a:ext>
            </a:extLst>
          </p:cNvPr>
          <p:cNvGrpSpPr/>
          <p:nvPr/>
        </p:nvGrpSpPr>
        <p:grpSpPr>
          <a:xfrm>
            <a:off x="2429688" y="1504950"/>
            <a:ext cx="1455375" cy="1455375"/>
            <a:chOff x="3153586" y="1504950"/>
            <a:chExt cx="1455375" cy="1455375"/>
          </a:xfrm>
        </p:grpSpPr>
        <p:sp>
          <p:nvSpPr>
            <p:cNvPr id="23" name="椭圆 22">
              <a:extLst>
                <a:ext uri="{FF2B5EF4-FFF2-40B4-BE49-F238E27FC236}">
                  <a16:creationId xmlns:a16="http://schemas.microsoft.com/office/drawing/2014/main" id="{7FCA4C26-6C76-5498-6301-373EADA1C481}"/>
                </a:ext>
              </a:extLst>
            </p:cNvPr>
            <p:cNvSpPr/>
            <p:nvPr/>
          </p:nvSpPr>
          <p:spPr>
            <a:xfrm>
              <a:off x="3153586" y="1504950"/>
              <a:ext cx="1455375" cy="1455375"/>
            </a:xfrm>
            <a:prstGeom prst="ellipse">
              <a:avLst/>
            </a:prstGeom>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a:p>
          </p:txBody>
        </p:sp>
        <p:pic>
          <p:nvPicPr>
            <p:cNvPr id="21" name="图形 20" descr="人群">
              <a:extLst>
                <a:ext uri="{FF2B5EF4-FFF2-40B4-BE49-F238E27FC236}">
                  <a16:creationId xmlns:a16="http://schemas.microsoft.com/office/drawing/2014/main" id="{07EF8178-A701-AF3F-CF35-038AD2E82CF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424073" y="1775437"/>
              <a:ext cx="914400" cy="914400"/>
            </a:xfrm>
            <a:prstGeom prst="rect">
              <a:avLst/>
            </a:prstGeom>
          </p:spPr>
        </p:pic>
      </p:grpSp>
      <p:grpSp>
        <p:nvGrpSpPr>
          <p:cNvPr id="25" name="组合 24">
            <a:extLst>
              <a:ext uri="{FF2B5EF4-FFF2-40B4-BE49-F238E27FC236}">
                <a16:creationId xmlns:a16="http://schemas.microsoft.com/office/drawing/2014/main" id="{AB9D6BBD-8EB7-023F-EEDF-42196F56DF46}"/>
              </a:ext>
            </a:extLst>
          </p:cNvPr>
          <p:cNvGrpSpPr/>
          <p:nvPr/>
        </p:nvGrpSpPr>
        <p:grpSpPr>
          <a:xfrm>
            <a:off x="8646861" y="1504950"/>
            <a:ext cx="1455375" cy="1455375"/>
            <a:chOff x="3153586" y="1504950"/>
            <a:chExt cx="1455375" cy="1455375"/>
          </a:xfrm>
        </p:grpSpPr>
        <p:sp>
          <p:nvSpPr>
            <p:cNvPr id="26" name="椭圆 25">
              <a:extLst>
                <a:ext uri="{FF2B5EF4-FFF2-40B4-BE49-F238E27FC236}">
                  <a16:creationId xmlns:a16="http://schemas.microsoft.com/office/drawing/2014/main" id="{9471551D-6BA1-BFCA-572B-67E1375C6774}"/>
                </a:ext>
              </a:extLst>
            </p:cNvPr>
            <p:cNvSpPr/>
            <p:nvPr/>
          </p:nvSpPr>
          <p:spPr>
            <a:xfrm>
              <a:off x="3153586" y="1504950"/>
              <a:ext cx="1455375" cy="1455375"/>
            </a:xfrm>
            <a:prstGeom prst="ellipse">
              <a:avLst/>
            </a:prstGeom>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a:p>
          </p:txBody>
        </p:sp>
        <p:pic>
          <p:nvPicPr>
            <p:cNvPr id="27" name="图形 26" descr="人群">
              <a:extLst>
                <a:ext uri="{FF2B5EF4-FFF2-40B4-BE49-F238E27FC236}">
                  <a16:creationId xmlns:a16="http://schemas.microsoft.com/office/drawing/2014/main" id="{6DDA19B8-1CA0-EE92-D395-17E7F6C9B7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424073" y="1775437"/>
              <a:ext cx="914400" cy="914400"/>
            </a:xfrm>
            <a:prstGeom prst="rect">
              <a:avLst/>
            </a:prstGeom>
          </p:spPr>
        </p:pic>
      </p:grpSp>
      <p:sp>
        <p:nvSpPr>
          <p:cNvPr id="28" name="文本框 27">
            <a:extLst>
              <a:ext uri="{FF2B5EF4-FFF2-40B4-BE49-F238E27FC236}">
                <a16:creationId xmlns:a16="http://schemas.microsoft.com/office/drawing/2014/main" id="{5EA054E3-2D8B-30EB-1FB9-D427AB4834B5}"/>
              </a:ext>
            </a:extLst>
          </p:cNvPr>
          <p:cNvSpPr txBox="1"/>
          <p:nvPr/>
        </p:nvSpPr>
        <p:spPr>
          <a:xfrm>
            <a:off x="1847561" y="3023132"/>
            <a:ext cx="2619628" cy="369332"/>
          </a:xfrm>
          <a:prstGeom prst="rect">
            <a:avLst/>
          </a:prstGeom>
          <a:noFill/>
        </p:spPr>
        <p:txBody>
          <a:bodyPr wrap="none" rtlCol="0">
            <a:spAutoFit/>
          </a:bodyPr>
          <a:lstStyle/>
          <a:p>
            <a:pPr algn="ctr"/>
            <a:r>
              <a:rPr lang="en-US" altLang="zh-CN" dirty="0"/>
              <a:t>Daily Scrum Meeting</a:t>
            </a:r>
            <a:endParaRPr lang="zh-CN" altLang="en-US" dirty="0"/>
          </a:p>
        </p:txBody>
      </p:sp>
      <p:sp>
        <p:nvSpPr>
          <p:cNvPr id="29" name="文本框 28">
            <a:extLst>
              <a:ext uri="{FF2B5EF4-FFF2-40B4-BE49-F238E27FC236}">
                <a16:creationId xmlns:a16="http://schemas.microsoft.com/office/drawing/2014/main" id="{A99EDA19-CDB9-E837-B15A-D53478C112FE}"/>
              </a:ext>
            </a:extLst>
          </p:cNvPr>
          <p:cNvSpPr txBox="1"/>
          <p:nvPr/>
        </p:nvSpPr>
        <p:spPr>
          <a:xfrm>
            <a:off x="8454264" y="3023132"/>
            <a:ext cx="1840568" cy="369332"/>
          </a:xfrm>
          <a:prstGeom prst="rect">
            <a:avLst/>
          </a:prstGeom>
          <a:noFill/>
        </p:spPr>
        <p:txBody>
          <a:bodyPr wrap="none" rtlCol="0">
            <a:spAutoFit/>
          </a:bodyPr>
          <a:lstStyle/>
          <a:p>
            <a:pPr algn="ctr"/>
            <a:r>
              <a:rPr lang="en-US" altLang="zh-CN" dirty="0"/>
              <a:t>Retrospective</a:t>
            </a:r>
            <a:endParaRPr lang="zh-CN" altLang="en-US" dirty="0"/>
          </a:p>
        </p:txBody>
      </p:sp>
      <p:sp>
        <p:nvSpPr>
          <p:cNvPr id="54" name="文本框 53">
            <a:extLst>
              <a:ext uri="{FF2B5EF4-FFF2-40B4-BE49-F238E27FC236}">
                <a16:creationId xmlns:a16="http://schemas.microsoft.com/office/drawing/2014/main" id="{8CB15623-04C7-DD26-E5DC-1D79846BF18D}"/>
              </a:ext>
            </a:extLst>
          </p:cNvPr>
          <p:cNvSpPr txBox="1"/>
          <p:nvPr/>
        </p:nvSpPr>
        <p:spPr>
          <a:xfrm>
            <a:off x="6291701" y="3999511"/>
            <a:ext cx="1669047" cy="646331"/>
          </a:xfrm>
          <a:prstGeom prst="rect">
            <a:avLst/>
          </a:prstGeom>
          <a:noFill/>
        </p:spPr>
        <p:txBody>
          <a:bodyPr wrap="none" rtlCol="0">
            <a:spAutoFit/>
          </a:bodyPr>
          <a:lstStyle/>
          <a:p>
            <a:pPr algn="ctr"/>
            <a:r>
              <a:rPr lang="en-US" altLang="zh-CN" dirty="0"/>
              <a:t>Sprint</a:t>
            </a:r>
          </a:p>
          <a:p>
            <a:pPr algn="ctr"/>
            <a:r>
              <a:rPr lang="en-US" altLang="zh-CN" dirty="0"/>
              <a:t>2 to 4 weeks</a:t>
            </a:r>
            <a:endParaRPr lang="zh-CN" altLang="en-US" dirty="0"/>
          </a:p>
        </p:txBody>
      </p:sp>
      <p:sp>
        <p:nvSpPr>
          <p:cNvPr id="2075" name="任意多边形: 形状 2074">
            <a:extLst>
              <a:ext uri="{FF2B5EF4-FFF2-40B4-BE49-F238E27FC236}">
                <a16:creationId xmlns:a16="http://schemas.microsoft.com/office/drawing/2014/main" id="{581CF433-7D6E-1FE3-6AA0-7BB4DBB921F9}"/>
              </a:ext>
            </a:extLst>
          </p:cNvPr>
          <p:cNvSpPr/>
          <p:nvPr/>
        </p:nvSpPr>
        <p:spPr>
          <a:xfrm>
            <a:off x="5648688" y="2099582"/>
            <a:ext cx="2955073" cy="3614972"/>
          </a:xfrm>
          <a:custGeom>
            <a:avLst/>
            <a:gdLst>
              <a:gd name="csX0" fmla="*/ 1350132 w 2955073"/>
              <a:gd name="csY0" fmla="*/ 1222504 h 3614972"/>
              <a:gd name="csX1" fmla="*/ 1354318 w 2955073"/>
              <a:gd name="csY1" fmla="*/ 1222504 h 3614972"/>
              <a:gd name="csX2" fmla="*/ 1352225 w 2955073"/>
              <a:gd name="csY2" fmla="*/ 1222715 h 3614972"/>
              <a:gd name="csX3" fmla="*/ 1352225 w 2955073"/>
              <a:gd name="csY3" fmla="*/ 0 h 3614972"/>
              <a:gd name="csX4" fmla="*/ 1951161 w 2955073"/>
              <a:gd name="csY4" fmla="*/ 488147 h 3614972"/>
              <a:gd name="csX5" fmla="*/ 1953857 w 2955073"/>
              <a:gd name="csY5" fmla="*/ 514883 h 3614972"/>
              <a:gd name="csX6" fmla="*/ 2096086 w 2955073"/>
              <a:gd name="csY6" fmla="*/ 538338 h 3614972"/>
              <a:gd name="csX7" fmla="*/ 1949118 w 2955073"/>
              <a:gd name="csY7" fmla="*/ 741149 h 3614972"/>
              <a:gd name="csX8" fmla="*/ 1859910 w 2955073"/>
              <a:gd name="csY8" fmla="*/ 864253 h 3614972"/>
              <a:gd name="csX9" fmla="*/ 1820895 w 2955073"/>
              <a:gd name="csY9" fmla="*/ 738223 h 3614972"/>
              <a:gd name="csX10" fmla="*/ 1740883 w 2955073"/>
              <a:gd name="csY10" fmla="*/ 479763 h 3614972"/>
              <a:gd name="csX11" fmla="*/ 1823665 w 2955073"/>
              <a:gd name="csY11" fmla="*/ 493414 h 3614972"/>
              <a:gd name="csX12" fmla="*/ 1801377 w 2955073"/>
              <a:gd name="csY12" fmla="*/ 421616 h 3614972"/>
              <a:gd name="csX13" fmla="*/ 1352225 w 2955073"/>
              <a:gd name="csY13" fmla="*/ 123898 h 3614972"/>
              <a:gd name="csX14" fmla="*/ 864766 w 2955073"/>
              <a:gd name="csY14" fmla="*/ 611357 h 3614972"/>
              <a:gd name="csX15" fmla="*/ 991399 w 2955073"/>
              <a:gd name="csY15" fmla="*/ 939114 h 3614972"/>
              <a:gd name="csX16" fmla="*/ 1049300 w 2955073"/>
              <a:gd name="csY16" fmla="*/ 989255 h 3614972"/>
              <a:gd name="csX17" fmla="*/ 1197738 w 2955073"/>
              <a:gd name="csY17" fmla="*/ 952112 h 3614972"/>
              <a:gd name="csX18" fmla="*/ 1409085 w 2955073"/>
              <a:gd name="csY18" fmla="*/ 934793 h 3614972"/>
              <a:gd name="csX19" fmla="*/ 2692475 w 2955073"/>
              <a:gd name="csY19" fmla="*/ 2218183 h 3614972"/>
              <a:gd name="csX20" fmla="*/ 2126641 w 2955073"/>
              <a:gd name="csY20" fmla="*/ 3282390 h 3614972"/>
              <a:gd name="csX21" fmla="*/ 2112515 w 2955073"/>
              <a:gd name="csY21" fmla="*/ 3290972 h 3614972"/>
              <a:gd name="csX22" fmla="*/ 2739073 w 2955073"/>
              <a:gd name="csY22" fmla="*/ 3290972 h 3614972"/>
              <a:gd name="csX23" fmla="*/ 2739073 w 2955073"/>
              <a:gd name="csY23" fmla="*/ 3182972 h 3614972"/>
              <a:gd name="csX24" fmla="*/ 2955073 w 2955073"/>
              <a:gd name="csY24" fmla="*/ 3398972 h 3614972"/>
              <a:gd name="csX25" fmla="*/ 2739073 w 2955073"/>
              <a:gd name="csY25" fmla="*/ 3614972 h 3614972"/>
              <a:gd name="csX26" fmla="*/ 2739073 w 2955073"/>
              <a:gd name="csY26" fmla="*/ 3506972 h 3614972"/>
              <a:gd name="csX27" fmla="*/ 228975 w 2955073"/>
              <a:gd name="csY27" fmla="*/ 3506972 h 3614972"/>
              <a:gd name="csX28" fmla="*/ 228975 w 2955073"/>
              <a:gd name="csY28" fmla="*/ 3290972 h 3614972"/>
              <a:gd name="csX29" fmla="*/ 705655 w 2955073"/>
              <a:gd name="csY29" fmla="*/ 3290972 h 3614972"/>
              <a:gd name="csX30" fmla="*/ 797344 w 2955073"/>
              <a:gd name="csY30" fmla="*/ 3346675 h 3614972"/>
              <a:gd name="csX31" fmla="*/ 797370 w 2955073"/>
              <a:gd name="csY31" fmla="*/ 3346687 h 3614972"/>
              <a:gd name="csX32" fmla="*/ 902346 w 2955073"/>
              <a:gd name="csY32" fmla="*/ 3397653 h 3614972"/>
              <a:gd name="csX33" fmla="*/ 924218 w 2955073"/>
              <a:gd name="csY33" fmla="*/ 3405889 h 3614972"/>
              <a:gd name="csX34" fmla="*/ 938497 w 2955073"/>
              <a:gd name="csY34" fmla="*/ 3412553 h 3614972"/>
              <a:gd name="csX35" fmla="*/ 963212 w 2955073"/>
              <a:gd name="csY35" fmla="*/ 3420571 h 3614972"/>
              <a:gd name="csX36" fmla="*/ 1012414 w 2955073"/>
              <a:gd name="csY36" fmla="*/ 3439098 h 3614972"/>
              <a:gd name="csX37" fmla="*/ 1063057 w 2955073"/>
              <a:gd name="csY37" fmla="*/ 3452965 h 3614972"/>
              <a:gd name="csX38" fmla="*/ 1088345 w 2955073"/>
              <a:gd name="csY38" fmla="*/ 3461169 h 3614972"/>
              <a:gd name="csX39" fmla="*/ 1103866 w 2955073"/>
              <a:gd name="csY39" fmla="*/ 3464139 h 3614972"/>
              <a:gd name="csX40" fmla="*/ 1127019 w 2955073"/>
              <a:gd name="csY40" fmla="*/ 3470478 h 3614972"/>
              <a:gd name="csX41" fmla="*/ 1245621 w 2955073"/>
              <a:gd name="csY41" fmla="*/ 3491261 h 3614972"/>
              <a:gd name="csX42" fmla="*/ 1245627 w 2955073"/>
              <a:gd name="csY42" fmla="*/ 3491262 h 3614972"/>
              <a:gd name="csX43" fmla="*/ 1409084 w 2955073"/>
              <a:gd name="csY43" fmla="*/ 3501573 h 3614972"/>
              <a:gd name="csX44" fmla="*/ 1409085 w 2955073"/>
              <a:gd name="csY44" fmla="*/ 3501573 h 3614972"/>
              <a:gd name="csX45" fmla="*/ 1245628 w 2955073"/>
              <a:gd name="csY45" fmla="*/ 3491262 h 3614972"/>
              <a:gd name="csX46" fmla="*/ 1245621 w 2955073"/>
              <a:gd name="csY46" fmla="*/ 3491261 h 3614972"/>
              <a:gd name="csX47" fmla="*/ 1103866 w 2955073"/>
              <a:gd name="csY47" fmla="*/ 3464139 h 3614972"/>
              <a:gd name="csX48" fmla="*/ 1063057 w 2955073"/>
              <a:gd name="csY48" fmla="*/ 3452965 h 3614972"/>
              <a:gd name="csX49" fmla="*/ 963212 w 2955073"/>
              <a:gd name="csY49" fmla="*/ 3420571 h 3614972"/>
              <a:gd name="csX50" fmla="*/ 924218 w 2955073"/>
              <a:gd name="csY50" fmla="*/ 3405889 h 3614972"/>
              <a:gd name="csX51" fmla="*/ 797370 w 2955073"/>
              <a:gd name="csY51" fmla="*/ 3346687 h 3614972"/>
              <a:gd name="csX52" fmla="*/ 797345 w 2955073"/>
              <a:gd name="csY52" fmla="*/ 3346675 h 3614972"/>
              <a:gd name="csX53" fmla="*/ 705656 w 2955073"/>
              <a:gd name="csY53" fmla="*/ 3290972 h 3614972"/>
              <a:gd name="csX54" fmla="*/ 1266550 w 2955073"/>
              <a:gd name="csY54" fmla="*/ 3290972 h 3614972"/>
              <a:gd name="csX55" fmla="*/ 1551619 w 2955073"/>
              <a:gd name="csY55" fmla="*/ 3290972 h 3614972"/>
              <a:gd name="csX56" fmla="*/ 1627393 w 2955073"/>
              <a:gd name="csY56" fmla="*/ 3279408 h 3614972"/>
              <a:gd name="csX57" fmla="*/ 2492316 w 2955073"/>
              <a:gd name="csY57" fmla="*/ 2218183 h 3614972"/>
              <a:gd name="csX58" fmla="*/ 1409084 w 2955073"/>
              <a:gd name="csY58" fmla="*/ 1134951 h 3614972"/>
              <a:gd name="csX59" fmla="*/ 374552 w 2955073"/>
              <a:gd name="csY59" fmla="*/ 1896063 h 3614972"/>
              <a:gd name="csX60" fmla="*/ 362067 w 2955073"/>
              <a:gd name="csY60" fmla="*/ 1944618 h 3614972"/>
              <a:gd name="csX61" fmla="*/ 520755 w 2955073"/>
              <a:gd name="csY61" fmla="*/ 1962116 h 3614972"/>
              <a:gd name="csX62" fmla="*/ 329117 w 2955073"/>
              <a:gd name="csY62" fmla="*/ 2282824 h 3614972"/>
              <a:gd name="csX63" fmla="*/ 197575 w 2955073"/>
              <a:gd name="csY63" fmla="*/ 2502959 h 3614972"/>
              <a:gd name="csX64" fmla="*/ 129696 w 2955073"/>
              <a:gd name="csY64" fmla="*/ 2297420 h 3614972"/>
              <a:gd name="csX65" fmla="*/ 0 w 2955073"/>
              <a:gd name="csY65" fmla="*/ 1904695 h 3614972"/>
              <a:gd name="csX66" fmla="*/ 161297 w 2955073"/>
              <a:gd name="csY66" fmla="*/ 1922481 h 3614972"/>
              <a:gd name="csX67" fmla="*/ 183394 w 2955073"/>
              <a:gd name="csY67" fmla="*/ 1836542 h 3614972"/>
              <a:gd name="csX68" fmla="*/ 811034 w 2955073"/>
              <a:gd name="csY68" fmla="*/ 1082363 h 3614972"/>
              <a:gd name="csX69" fmla="*/ 914998 w 2955073"/>
              <a:gd name="csY69" fmla="*/ 1037674 h 3614972"/>
              <a:gd name="csX70" fmla="*/ 845279 w 2955073"/>
              <a:gd name="csY70" fmla="*/ 953173 h 3614972"/>
              <a:gd name="csX71" fmla="*/ 740868 w 2955073"/>
              <a:gd name="csY71" fmla="*/ 611357 h 3614972"/>
              <a:gd name="csX72" fmla="*/ 1352225 w 2955073"/>
              <a:gd name="csY72" fmla="*/ 0 h 3614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2955073" h="3614972">
                <a:moveTo>
                  <a:pt x="1350132" y="1222504"/>
                </a:moveTo>
                <a:lnTo>
                  <a:pt x="1354318" y="1222504"/>
                </a:lnTo>
                <a:lnTo>
                  <a:pt x="1352225" y="1222715"/>
                </a:lnTo>
                <a:close/>
                <a:moveTo>
                  <a:pt x="1352225" y="0"/>
                </a:moveTo>
                <a:cubicBezTo>
                  <a:pt x="1647663" y="0"/>
                  <a:pt x="1894155" y="209562"/>
                  <a:pt x="1951161" y="488147"/>
                </a:cubicBezTo>
                <a:lnTo>
                  <a:pt x="1953857" y="514883"/>
                </a:lnTo>
                <a:lnTo>
                  <a:pt x="2096086" y="538338"/>
                </a:lnTo>
                <a:lnTo>
                  <a:pt x="1949118" y="741149"/>
                </a:lnTo>
                <a:lnTo>
                  <a:pt x="1859910" y="864253"/>
                </a:lnTo>
                <a:lnTo>
                  <a:pt x="1820895" y="738223"/>
                </a:lnTo>
                <a:lnTo>
                  <a:pt x="1740883" y="479763"/>
                </a:lnTo>
                <a:lnTo>
                  <a:pt x="1823665" y="493414"/>
                </a:lnTo>
                <a:lnTo>
                  <a:pt x="1801377" y="421616"/>
                </a:lnTo>
                <a:cubicBezTo>
                  <a:pt x="1727377" y="246660"/>
                  <a:pt x="1554137" y="123898"/>
                  <a:pt x="1352225" y="123898"/>
                </a:cubicBezTo>
                <a:cubicBezTo>
                  <a:pt x="1083009" y="123898"/>
                  <a:pt x="864766" y="342141"/>
                  <a:pt x="864766" y="611357"/>
                </a:cubicBezTo>
                <a:cubicBezTo>
                  <a:pt x="864766" y="737552"/>
                  <a:pt x="912720" y="852547"/>
                  <a:pt x="991399" y="939114"/>
                </a:cubicBezTo>
                <a:lnTo>
                  <a:pt x="1049300" y="989255"/>
                </a:lnTo>
                <a:lnTo>
                  <a:pt x="1197738" y="952112"/>
                </a:lnTo>
                <a:cubicBezTo>
                  <a:pt x="1266495" y="940720"/>
                  <a:pt x="1337098" y="934793"/>
                  <a:pt x="1409085" y="934793"/>
                </a:cubicBezTo>
                <a:cubicBezTo>
                  <a:pt x="2117882" y="934793"/>
                  <a:pt x="2692475" y="1509386"/>
                  <a:pt x="2692475" y="2218183"/>
                </a:cubicBezTo>
                <a:cubicBezTo>
                  <a:pt x="2692475" y="2661181"/>
                  <a:pt x="2468025" y="3051756"/>
                  <a:pt x="2126641" y="3282390"/>
                </a:cubicBezTo>
                <a:lnTo>
                  <a:pt x="2112515" y="3290972"/>
                </a:lnTo>
                <a:lnTo>
                  <a:pt x="2739073" y="3290972"/>
                </a:lnTo>
                <a:lnTo>
                  <a:pt x="2739073" y="3182972"/>
                </a:lnTo>
                <a:lnTo>
                  <a:pt x="2955073" y="3398972"/>
                </a:lnTo>
                <a:lnTo>
                  <a:pt x="2739073" y="3614972"/>
                </a:lnTo>
                <a:lnTo>
                  <a:pt x="2739073" y="3506972"/>
                </a:lnTo>
                <a:lnTo>
                  <a:pt x="228975" y="3506972"/>
                </a:lnTo>
                <a:lnTo>
                  <a:pt x="228975" y="3290972"/>
                </a:lnTo>
                <a:lnTo>
                  <a:pt x="705655" y="3290972"/>
                </a:lnTo>
                <a:lnTo>
                  <a:pt x="797344" y="3346675"/>
                </a:lnTo>
                <a:lnTo>
                  <a:pt x="797370" y="3346687"/>
                </a:lnTo>
                <a:lnTo>
                  <a:pt x="902346" y="3397653"/>
                </a:lnTo>
                <a:lnTo>
                  <a:pt x="924218" y="3405889"/>
                </a:lnTo>
                <a:lnTo>
                  <a:pt x="938497" y="3412553"/>
                </a:lnTo>
                <a:lnTo>
                  <a:pt x="963212" y="3420571"/>
                </a:lnTo>
                <a:lnTo>
                  <a:pt x="1012414" y="3439098"/>
                </a:lnTo>
                <a:lnTo>
                  <a:pt x="1063057" y="3452965"/>
                </a:lnTo>
                <a:lnTo>
                  <a:pt x="1088345" y="3461169"/>
                </a:lnTo>
                <a:lnTo>
                  <a:pt x="1103866" y="3464139"/>
                </a:lnTo>
                <a:lnTo>
                  <a:pt x="1127019" y="3470478"/>
                </a:lnTo>
                <a:lnTo>
                  <a:pt x="1245621" y="3491261"/>
                </a:lnTo>
                <a:lnTo>
                  <a:pt x="1245627" y="3491262"/>
                </a:lnTo>
                <a:cubicBezTo>
                  <a:pt x="1299154" y="3498066"/>
                  <a:pt x="1353710" y="3501573"/>
                  <a:pt x="1409084" y="3501573"/>
                </a:cubicBezTo>
                <a:lnTo>
                  <a:pt x="1409085" y="3501573"/>
                </a:lnTo>
                <a:lnTo>
                  <a:pt x="1245628" y="3491262"/>
                </a:lnTo>
                <a:lnTo>
                  <a:pt x="1245621" y="3491261"/>
                </a:lnTo>
                <a:lnTo>
                  <a:pt x="1103866" y="3464139"/>
                </a:lnTo>
                <a:lnTo>
                  <a:pt x="1063057" y="3452965"/>
                </a:lnTo>
                <a:lnTo>
                  <a:pt x="963212" y="3420571"/>
                </a:lnTo>
                <a:lnTo>
                  <a:pt x="924218" y="3405889"/>
                </a:lnTo>
                <a:lnTo>
                  <a:pt x="797370" y="3346687"/>
                </a:lnTo>
                <a:lnTo>
                  <a:pt x="797345" y="3346675"/>
                </a:lnTo>
                <a:lnTo>
                  <a:pt x="705656" y="3290972"/>
                </a:lnTo>
                <a:lnTo>
                  <a:pt x="1266550" y="3290972"/>
                </a:lnTo>
                <a:lnTo>
                  <a:pt x="1551619" y="3290972"/>
                </a:lnTo>
                <a:lnTo>
                  <a:pt x="1627393" y="3279408"/>
                </a:lnTo>
                <a:cubicBezTo>
                  <a:pt x="2121004" y="3178401"/>
                  <a:pt x="2492316" y="2741655"/>
                  <a:pt x="2492316" y="2218183"/>
                </a:cubicBezTo>
                <a:cubicBezTo>
                  <a:pt x="2492316" y="1619930"/>
                  <a:pt x="2007337" y="1134951"/>
                  <a:pt x="1409084" y="1134951"/>
                </a:cubicBezTo>
                <a:cubicBezTo>
                  <a:pt x="923004" y="1134951"/>
                  <a:pt x="511702" y="1455113"/>
                  <a:pt x="374552" y="1896063"/>
                </a:cubicBezTo>
                <a:lnTo>
                  <a:pt x="362067" y="1944618"/>
                </a:lnTo>
                <a:lnTo>
                  <a:pt x="520755" y="1962116"/>
                </a:lnTo>
                <a:lnTo>
                  <a:pt x="329117" y="2282824"/>
                </a:lnTo>
                <a:lnTo>
                  <a:pt x="197575" y="2502959"/>
                </a:lnTo>
                <a:lnTo>
                  <a:pt x="129696" y="2297420"/>
                </a:lnTo>
                <a:lnTo>
                  <a:pt x="0" y="1904695"/>
                </a:lnTo>
                <a:lnTo>
                  <a:pt x="161297" y="1922481"/>
                </a:lnTo>
                <a:lnTo>
                  <a:pt x="183394" y="1836542"/>
                </a:lnTo>
                <a:cubicBezTo>
                  <a:pt x="284951" y="1510025"/>
                  <a:pt x="513388" y="1239408"/>
                  <a:pt x="811034" y="1082363"/>
                </a:cubicBezTo>
                <a:lnTo>
                  <a:pt x="914998" y="1037674"/>
                </a:lnTo>
                <a:lnTo>
                  <a:pt x="845279" y="953173"/>
                </a:lnTo>
                <a:cubicBezTo>
                  <a:pt x="779360" y="855599"/>
                  <a:pt x="740868" y="737973"/>
                  <a:pt x="740868" y="611357"/>
                </a:cubicBezTo>
                <a:cubicBezTo>
                  <a:pt x="740868" y="273714"/>
                  <a:pt x="1014582" y="0"/>
                  <a:pt x="1352225" y="0"/>
                </a:cubicBez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2076" name="箭头: 右 2075">
            <a:extLst>
              <a:ext uri="{FF2B5EF4-FFF2-40B4-BE49-F238E27FC236}">
                <a16:creationId xmlns:a16="http://schemas.microsoft.com/office/drawing/2014/main" id="{5A9E423A-5D87-EE68-FE2B-87AA1D1BC6CE}"/>
              </a:ext>
            </a:extLst>
          </p:cNvPr>
          <p:cNvSpPr/>
          <p:nvPr/>
        </p:nvSpPr>
        <p:spPr>
          <a:xfrm>
            <a:off x="2797375" y="5003059"/>
            <a:ext cx="720000" cy="360000"/>
          </a:xfrm>
          <a:prstGeom prst="rightArrow">
            <a:avLst/>
          </a:prstGeom>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2077" name="文本框 2076">
            <a:extLst>
              <a:ext uri="{FF2B5EF4-FFF2-40B4-BE49-F238E27FC236}">
                <a16:creationId xmlns:a16="http://schemas.microsoft.com/office/drawing/2014/main" id="{A3FFB23E-4458-EE53-9B4F-78D23F2375CA}"/>
              </a:ext>
            </a:extLst>
          </p:cNvPr>
          <p:cNvSpPr txBox="1"/>
          <p:nvPr/>
        </p:nvSpPr>
        <p:spPr>
          <a:xfrm>
            <a:off x="6504970" y="2514197"/>
            <a:ext cx="979755" cy="338554"/>
          </a:xfrm>
          <a:prstGeom prst="rect">
            <a:avLst/>
          </a:prstGeom>
          <a:noFill/>
        </p:spPr>
        <p:txBody>
          <a:bodyPr wrap="none" rtlCol="0">
            <a:spAutoFit/>
          </a:bodyPr>
          <a:lstStyle/>
          <a:p>
            <a:pPr algn="ctr"/>
            <a:r>
              <a:rPr lang="en-US" altLang="zh-CN" sz="1600" dirty="0"/>
              <a:t>24 hour</a:t>
            </a:r>
            <a:endParaRPr lang="zh-CN" altLang="en-US" sz="1600" dirty="0"/>
          </a:p>
        </p:txBody>
      </p:sp>
      <p:sp>
        <p:nvSpPr>
          <p:cNvPr id="2078" name="立方体 2077">
            <a:extLst>
              <a:ext uri="{FF2B5EF4-FFF2-40B4-BE49-F238E27FC236}">
                <a16:creationId xmlns:a16="http://schemas.microsoft.com/office/drawing/2014/main" id="{872FED69-AD78-A5FE-3A99-1DFEEBDAED6A}"/>
              </a:ext>
            </a:extLst>
          </p:cNvPr>
          <p:cNvSpPr/>
          <p:nvPr/>
        </p:nvSpPr>
        <p:spPr>
          <a:xfrm>
            <a:off x="9743585" y="5228781"/>
            <a:ext cx="900000" cy="360000"/>
          </a:xfrm>
          <a:prstGeom prst="cube">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980636563"/>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56293B3D-0978-5811-3D68-57DDCC613C9B}"/>
              </a:ext>
            </a:extLst>
          </p:cNvPr>
          <p:cNvSpPr>
            <a:spLocks noGrp="1"/>
          </p:cNvSpPr>
          <p:nvPr>
            <p:ph type="body" sz="quarter" idx="10"/>
          </p:nvPr>
        </p:nvSpPr>
        <p:spPr/>
        <p:txBody>
          <a:bodyPr/>
          <a:lstStyle/>
          <a:p>
            <a:r>
              <a:rPr lang="zh-CN" altLang="en-US" dirty="0"/>
              <a:t>敏捷开发模式强调根据环境和客户的需求变化来调整项目的工作事项。请问敏捷团队在下面哪一项会议上，确定迭代需要完成的工作事项？</a:t>
            </a:r>
            <a:endParaRPr lang="en-US" altLang="zh-CN" dirty="0"/>
          </a:p>
          <a:p>
            <a:endParaRPr lang="zh-CN" altLang="en-US" dirty="0"/>
          </a:p>
          <a:p>
            <a:r>
              <a:rPr lang="en-US" altLang="zh-CN" dirty="0"/>
              <a:t>A. </a:t>
            </a:r>
            <a:r>
              <a:rPr lang="zh-CN" altLang="en-US" dirty="0"/>
              <a:t>迭代规划会议</a:t>
            </a:r>
          </a:p>
          <a:p>
            <a:r>
              <a:rPr lang="en-US" altLang="zh-CN" dirty="0"/>
              <a:t>B. </a:t>
            </a:r>
            <a:r>
              <a:rPr lang="zh-CN" altLang="en-US" dirty="0"/>
              <a:t>迭代评审会议</a:t>
            </a:r>
          </a:p>
          <a:p>
            <a:r>
              <a:rPr lang="en-US" altLang="zh-CN" dirty="0"/>
              <a:t>C. </a:t>
            </a:r>
            <a:r>
              <a:rPr lang="zh-CN" altLang="en-US" dirty="0"/>
              <a:t>迭代回顾会议</a:t>
            </a:r>
          </a:p>
          <a:p>
            <a:r>
              <a:rPr lang="en-US" altLang="zh-CN" dirty="0"/>
              <a:t>D. </a:t>
            </a:r>
            <a:r>
              <a:rPr lang="zh-CN" altLang="en-US" dirty="0"/>
              <a:t>每日站会</a:t>
            </a:r>
          </a:p>
        </p:txBody>
      </p:sp>
    </p:spTree>
    <p:extLst>
      <p:ext uri="{BB962C8B-B14F-4D97-AF65-F5344CB8AC3E}">
        <p14:creationId xmlns:p14="http://schemas.microsoft.com/office/powerpoint/2010/main" val="3787699573"/>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E97D08A6-D555-C0FE-63E6-CAD274AC77DE}"/>
              </a:ext>
            </a:extLst>
          </p:cNvPr>
          <p:cNvSpPr>
            <a:spLocks noGrp="1"/>
          </p:cNvSpPr>
          <p:nvPr>
            <p:ph type="body" sz="quarter" idx="10"/>
          </p:nvPr>
        </p:nvSpPr>
        <p:spPr/>
        <p:txBody>
          <a:bodyPr/>
          <a:lstStyle/>
          <a:p>
            <a:r>
              <a:rPr lang="zh-CN" altLang="en-US" dirty="0"/>
              <a:t>如果迭代周期是 </a:t>
            </a:r>
            <a:r>
              <a:rPr lang="en-US" altLang="zh-CN" dirty="0"/>
              <a:t>2 </a:t>
            </a:r>
            <a:r>
              <a:rPr lang="zh-CN" altLang="en-US" dirty="0"/>
              <a:t>个星期，那么迭代规划会议需要多长时间？</a:t>
            </a:r>
            <a:endParaRPr lang="en-US" altLang="zh-CN" dirty="0"/>
          </a:p>
          <a:p>
            <a:endParaRPr lang="zh-CN" altLang="en-US" dirty="0"/>
          </a:p>
          <a:p>
            <a:r>
              <a:rPr lang="en-US" altLang="zh-CN" dirty="0"/>
              <a:t>A. </a:t>
            </a:r>
            <a:r>
              <a:rPr lang="zh-CN" altLang="en-US" dirty="0"/>
              <a:t>一小时</a:t>
            </a:r>
          </a:p>
          <a:p>
            <a:r>
              <a:rPr lang="en-US" altLang="zh-CN" dirty="0"/>
              <a:t>B. </a:t>
            </a:r>
            <a:r>
              <a:rPr lang="zh-CN" altLang="en-US" dirty="0"/>
              <a:t>半小时</a:t>
            </a:r>
          </a:p>
          <a:p>
            <a:r>
              <a:rPr lang="en-US" altLang="zh-CN" dirty="0"/>
              <a:t>C. </a:t>
            </a:r>
            <a:r>
              <a:rPr lang="zh-CN" altLang="en-US" dirty="0"/>
              <a:t>四个小时</a:t>
            </a:r>
          </a:p>
          <a:p>
            <a:r>
              <a:rPr lang="en-US" altLang="zh-CN" dirty="0"/>
              <a:t>D. </a:t>
            </a:r>
            <a:r>
              <a:rPr lang="zh-CN" altLang="en-US" dirty="0"/>
              <a:t>十五分钟或更少</a:t>
            </a:r>
          </a:p>
        </p:txBody>
      </p:sp>
    </p:spTree>
    <p:extLst>
      <p:ext uri="{BB962C8B-B14F-4D97-AF65-F5344CB8AC3E}">
        <p14:creationId xmlns:p14="http://schemas.microsoft.com/office/powerpoint/2010/main" val="137190497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E2A95CE3-FD36-7B4D-5DBA-CB17D947B530}"/>
              </a:ext>
            </a:extLst>
          </p:cNvPr>
          <p:cNvSpPr>
            <a:spLocks noGrp="1"/>
          </p:cNvSpPr>
          <p:nvPr>
            <p:ph type="body" sz="quarter" idx="10"/>
          </p:nvPr>
        </p:nvSpPr>
        <p:spPr/>
        <p:txBody>
          <a:bodyPr/>
          <a:lstStyle/>
          <a:p>
            <a:r>
              <a:rPr lang="zh-CN" altLang="en-US" dirty="0"/>
              <a:t>由于业务需求，项目的目标和需求发生变化。新的干系人如何能够参与到这些变化中？</a:t>
            </a:r>
            <a:endParaRPr lang="en-US" altLang="zh-CN" dirty="0"/>
          </a:p>
          <a:p>
            <a:endParaRPr lang="zh-CN" altLang="en-US" dirty="0"/>
          </a:p>
          <a:p>
            <a:r>
              <a:rPr lang="en-US" altLang="zh-CN" dirty="0"/>
              <a:t>A. </a:t>
            </a:r>
            <a:r>
              <a:rPr lang="zh-CN" altLang="en-US" dirty="0"/>
              <a:t>要求产品负责人与新的干系人频繁地召开与产品愿景相关的会议。</a:t>
            </a:r>
          </a:p>
          <a:p>
            <a:r>
              <a:rPr lang="en-US" altLang="zh-CN" dirty="0"/>
              <a:t>B. </a:t>
            </a:r>
            <a:r>
              <a:rPr lang="zh-CN" altLang="en-US" dirty="0"/>
              <a:t>持续更新干系人登记册，包含新的干系人并让他们经常参与。</a:t>
            </a:r>
          </a:p>
          <a:p>
            <a:r>
              <a:rPr lang="en-US" altLang="zh-CN" dirty="0"/>
              <a:t>C. </a:t>
            </a:r>
            <a:r>
              <a:rPr lang="zh-CN" altLang="en-US" dirty="0"/>
              <a:t>邀请新的干系人参加迭代规划会议。</a:t>
            </a:r>
          </a:p>
          <a:p>
            <a:r>
              <a:rPr lang="en-US" altLang="zh-CN" dirty="0"/>
              <a:t>D. </a:t>
            </a:r>
            <a:r>
              <a:rPr lang="zh-CN" altLang="en-US" dirty="0"/>
              <a:t>邀请新的干系人参加每日站会。</a:t>
            </a:r>
          </a:p>
        </p:txBody>
      </p:sp>
    </p:spTree>
    <p:extLst>
      <p:ext uri="{BB962C8B-B14F-4D97-AF65-F5344CB8AC3E}">
        <p14:creationId xmlns:p14="http://schemas.microsoft.com/office/powerpoint/2010/main" val="939878681"/>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FFE2394-ECB3-7620-55FD-DE65CCB01B97}"/>
              </a:ext>
            </a:extLst>
          </p:cNvPr>
          <p:cNvSpPr>
            <a:spLocks noGrp="1"/>
          </p:cNvSpPr>
          <p:nvPr>
            <p:ph type="title"/>
          </p:nvPr>
        </p:nvSpPr>
        <p:spPr>
          <a:xfrm>
            <a:off x="695998" y="360000"/>
            <a:ext cx="7200000" cy="424732"/>
          </a:xfrm>
        </p:spPr>
        <p:txBody>
          <a:bodyPr/>
          <a:lstStyle/>
          <a:p>
            <a:r>
              <a:rPr lang="zh-CN" altLang="en-US" dirty="0"/>
              <a:t>敏捷工件 </a:t>
            </a:r>
            <a:r>
              <a:rPr lang="en-US" altLang="zh-CN" dirty="0"/>
              <a:t>Scrum Artifacts</a:t>
            </a:r>
            <a:endParaRPr lang="zh-CN" altLang="en-US" dirty="0"/>
          </a:p>
        </p:txBody>
      </p:sp>
      <p:sp>
        <p:nvSpPr>
          <p:cNvPr id="11" name="内容占位符 10">
            <a:extLst>
              <a:ext uri="{FF2B5EF4-FFF2-40B4-BE49-F238E27FC236}">
                <a16:creationId xmlns:a16="http://schemas.microsoft.com/office/drawing/2014/main" id="{1F129EC0-C5B1-6B10-226D-A777604FF15E}"/>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4EBBFC66-5A08-6FEF-F7CF-0FDBBEC5911A}"/>
              </a:ext>
            </a:extLst>
          </p:cNvPr>
          <p:cNvSpPr>
            <a:spLocks noGrp="1"/>
          </p:cNvSpPr>
          <p:nvPr>
            <p:ph type="body" sz="quarter" idx="10"/>
          </p:nvPr>
        </p:nvSpPr>
        <p:spPr>
          <a:xfrm>
            <a:off x="6702424" y="360001"/>
            <a:ext cx="4793575" cy="424731"/>
          </a:xfrm>
        </p:spPr>
        <p:txBody>
          <a:bodyPr/>
          <a:lstStyle/>
          <a:p>
            <a:r>
              <a:rPr lang="en-US" altLang="zh-CN" dirty="0"/>
              <a:t>Agile</a:t>
            </a:r>
            <a:endParaRPr lang="zh-CN" altLang="en-US" dirty="0"/>
          </a:p>
        </p:txBody>
      </p:sp>
      <p:graphicFrame>
        <p:nvGraphicFramePr>
          <p:cNvPr id="8" name="图示 7">
            <a:extLst>
              <a:ext uri="{FF2B5EF4-FFF2-40B4-BE49-F238E27FC236}">
                <a16:creationId xmlns:a16="http://schemas.microsoft.com/office/drawing/2014/main" id="{FFC84889-F498-3AB3-3F7C-FBC90C200DF6}"/>
              </a:ext>
            </a:extLst>
          </p:cNvPr>
          <p:cNvGraphicFramePr>
            <a:graphicFrameLocks noChangeAspect="1"/>
          </p:cNvGraphicFramePr>
          <p:nvPr>
            <p:extLst>
              <p:ext uri="{D42A27DB-BD31-4B8C-83A1-F6EECF244321}">
                <p14:modId xmlns:p14="http://schemas.microsoft.com/office/powerpoint/2010/main" val="2460247823"/>
              </p:ext>
            </p:extLst>
          </p:nvPr>
        </p:nvGraphicFramePr>
        <p:xfrm>
          <a:off x="3396000" y="16290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591929037"/>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0C68888D-4394-9A1B-3ADF-EE7AE1756993}"/>
              </a:ext>
            </a:extLst>
          </p:cNvPr>
          <p:cNvSpPr>
            <a:spLocks noGrp="1"/>
          </p:cNvSpPr>
          <p:nvPr>
            <p:ph type="body" sz="quarter" idx="10"/>
          </p:nvPr>
        </p:nvSpPr>
        <p:spPr/>
        <p:txBody>
          <a:bodyPr/>
          <a:lstStyle/>
          <a:p>
            <a:r>
              <a:rPr lang="zh-CN" altLang="en-US" dirty="0"/>
              <a:t>敏捷项目的项目经理被要求将预算减少</a:t>
            </a:r>
            <a:r>
              <a:rPr lang="en-US" altLang="zh-CN" dirty="0"/>
              <a:t>30%</a:t>
            </a:r>
            <a:r>
              <a:rPr lang="zh-CN" altLang="en-US" dirty="0"/>
              <a:t>。由于这是一个小型项目团队，因此预算主要分配给资源，项目经理应该使用什么策略才能在受限环境中保持交付价值？</a:t>
            </a:r>
            <a:endParaRPr lang="en-US" altLang="zh-CN" dirty="0"/>
          </a:p>
          <a:p>
            <a:endParaRPr lang="zh-CN" altLang="en-US" dirty="0"/>
          </a:p>
          <a:p>
            <a:r>
              <a:rPr lang="en-US" altLang="zh-CN" dirty="0"/>
              <a:t>A. </a:t>
            </a:r>
            <a:r>
              <a:rPr lang="zh-CN" altLang="en-US" dirty="0"/>
              <a:t>平衡项目团队以适应预算挑战，并提供培训以降低绩效低下的风险</a:t>
            </a:r>
          </a:p>
          <a:p>
            <a:r>
              <a:rPr lang="en-US" altLang="zh-CN" dirty="0"/>
              <a:t>B. </a:t>
            </a:r>
            <a:r>
              <a:rPr lang="zh-CN" altLang="en-US" dirty="0"/>
              <a:t>优先考虑产品待办事项，以寻找高业务价值和低工作量的事项，并调整项目预算和人员配置以完成项目</a:t>
            </a:r>
          </a:p>
          <a:p>
            <a:r>
              <a:rPr lang="en-US" altLang="zh-CN" dirty="0"/>
              <a:t>C. </a:t>
            </a:r>
            <a:r>
              <a:rPr lang="zh-CN" altLang="en-US" dirty="0"/>
              <a:t>将项目范围仅限于基本的关键功能，并以当前人员配置水平运行项目，直到用完所有预算</a:t>
            </a:r>
          </a:p>
          <a:p>
            <a:r>
              <a:rPr lang="en-US" altLang="zh-CN" dirty="0"/>
              <a:t>D. </a:t>
            </a:r>
            <a:r>
              <a:rPr lang="zh-CN" altLang="en-US" dirty="0"/>
              <a:t>减少项目人员，并相应调整范围和时间表以支持预算削减</a:t>
            </a:r>
          </a:p>
          <a:p>
            <a:endParaRPr lang="zh-CN" altLang="en-US" dirty="0"/>
          </a:p>
        </p:txBody>
      </p:sp>
    </p:spTree>
    <p:extLst>
      <p:ext uri="{BB962C8B-B14F-4D97-AF65-F5344CB8AC3E}">
        <p14:creationId xmlns:p14="http://schemas.microsoft.com/office/powerpoint/2010/main" val="80692932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064C5986-936F-A884-1A56-BE880319C9B1}"/>
              </a:ext>
            </a:extLst>
          </p:cNvPr>
          <p:cNvSpPr>
            <a:spLocks noGrp="1"/>
          </p:cNvSpPr>
          <p:nvPr>
            <p:ph type="body" sz="quarter" idx="10"/>
          </p:nvPr>
        </p:nvSpPr>
        <p:spPr/>
        <p:txBody>
          <a:bodyPr/>
          <a:lstStyle/>
          <a:p>
            <a:r>
              <a:rPr lang="zh-CN" altLang="en-US" dirty="0"/>
              <a:t>公司正在进行敏捷开发，新来的公司领导对敏捷并不了解，他询问敏捷项目管理专业人士关于待办列表中的事项。敏捷项目管理专业人士该如何答复他？</a:t>
            </a:r>
            <a:endParaRPr lang="en-US" altLang="zh-CN" dirty="0"/>
          </a:p>
          <a:p>
            <a:endParaRPr lang="zh-CN" altLang="en-US" dirty="0"/>
          </a:p>
          <a:p>
            <a:r>
              <a:rPr lang="en-US" altLang="zh-CN" dirty="0"/>
              <a:t>A. </a:t>
            </a:r>
            <a:r>
              <a:rPr lang="zh-CN" altLang="en-US" dirty="0"/>
              <a:t>应该对事项进行精细化分解，并准确估算</a:t>
            </a:r>
          </a:p>
          <a:p>
            <a:r>
              <a:rPr lang="en-US" altLang="zh-CN" dirty="0"/>
              <a:t>B. </a:t>
            </a:r>
            <a:r>
              <a:rPr lang="zh-CN" altLang="en-US" dirty="0"/>
              <a:t>应该对事项进行精细化分解，并在冲刺计划中估算</a:t>
            </a:r>
          </a:p>
          <a:p>
            <a:r>
              <a:rPr lang="en-US" altLang="zh-CN" dirty="0"/>
              <a:t>C. </a:t>
            </a:r>
            <a:r>
              <a:rPr lang="zh-CN" altLang="en-US" dirty="0"/>
              <a:t>应该对事项进行逐步精细化，并在迭代计划中估算</a:t>
            </a:r>
          </a:p>
          <a:p>
            <a:r>
              <a:rPr lang="en-US" altLang="zh-CN" dirty="0"/>
              <a:t>D. </a:t>
            </a:r>
            <a:r>
              <a:rPr lang="zh-CN" altLang="en-US" dirty="0"/>
              <a:t>应该对事项进行精细化分解，并在列入迭代待办列表之前估算</a:t>
            </a:r>
          </a:p>
        </p:txBody>
      </p:sp>
    </p:spTree>
    <p:extLst>
      <p:ext uri="{BB962C8B-B14F-4D97-AF65-F5344CB8AC3E}">
        <p14:creationId xmlns:p14="http://schemas.microsoft.com/office/powerpoint/2010/main" val="3295666804"/>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2337E66-6F59-A3E2-EA8D-E52582AD0629}"/>
              </a:ext>
            </a:extLst>
          </p:cNvPr>
          <p:cNvSpPr>
            <a:spLocks noGrp="1"/>
          </p:cNvSpPr>
          <p:nvPr>
            <p:ph type="body" sz="quarter" idx="10"/>
          </p:nvPr>
        </p:nvSpPr>
        <p:spPr/>
        <p:txBody>
          <a:bodyPr/>
          <a:lstStyle/>
          <a:p>
            <a:r>
              <a:rPr lang="zh-CN" altLang="en-US" dirty="0"/>
              <a:t>产品负责人正在努力为一个复杂功能编写用户故事，若要处理这个问题，敏捷管理专业人士应该怎么做？</a:t>
            </a:r>
            <a:endParaRPr lang="en-US" altLang="zh-CN" dirty="0"/>
          </a:p>
          <a:p>
            <a:endParaRPr lang="zh-CN" altLang="en-US" dirty="0"/>
          </a:p>
          <a:p>
            <a:r>
              <a:rPr lang="en-US" altLang="zh-CN" dirty="0"/>
              <a:t>A. </a:t>
            </a:r>
            <a:r>
              <a:rPr lang="zh-CN" altLang="en-US" dirty="0"/>
              <a:t>与产品负责人合作，分解故事并专注于其最有价值的部分。</a:t>
            </a:r>
          </a:p>
          <a:p>
            <a:r>
              <a:rPr lang="en-US" altLang="zh-CN" dirty="0"/>
              <a:t>B. </a:t>
            </a:r>
            <a:r>
              <a:rPr lang="zh-CN" altLang="en-US" dirty="0"/>
              <a:t>增加迭代的时间长度，确保满足所有需求。</a:t>
            </a:r>
          </a:p>
          <a:p>
            <a:r>
              <a:rPr lang="en-US" altLang="zh-CN" dirty="0"/>
              <a:t>C. </a:t>
            </a:r>
            <a:r>
              <a:rPr lang="zh-CN" altLang="en-US" dirty="0"/>
              <a:t>将该故事与产品代办列表中的不同故事交换。</a:t>
            </a:r>
          </a:p>
          <a:p>
            <a:r>
              <a:rPr lang="en-US" altLang="zh-CN" dirty="0"/>
              <a:t>D. </a:t>
            </a:r>
            <a:r>
              <a:rPr lang="zh-CN" altLang="en-US" dirty="0"/>
              <a:t>在下一次回顾会议上，与产品负责人一起评审故事内容。</a:t>
            </a:r>
          </a:p>
        </p:txBody>
      </p:sp>
    </p:spTree>
    <p:extLst>
      <p:ext uri="{BB962C8B-B14F-4D97-AF65-F5344CB8AC3E}">
        <p14:creationId xmlns:p14="http://schemas.microsoft.com/office/powerpoint/2010/main" val="1338991550"/>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7BA7E82B-DDE7-A2B6-B15C-AB061F40C272}"/>
              </a:ext>
            </a:extLst>
          </p:cNvPr>
          <p:cNvSpPr>
            <a:spLocks noGrp="1"/>
          </p:cNvSpPr>
          <p:nvPr>
            <p:ph type="body" sz="quarter" idx="10"/>
          </p:nvPr>
        </p:nvSpPr>
        <p:spPr>
          <a:xfrm>
            <a:off x="3219345" y="1629000"/>
            <a:ext cx="8640000" cy="3600000"/>
          </a:xfrm>
        </p:spPr>
        <p:txBody>
          <a:bodyPr/>
          <a:lstStyle/>
          <a:p>
            <a:r>
              <a:rPr lang="zh-CN" altLang="en-US" dirty="0"/>
              <a:t>产品负责人正在对产品待办事项列表中的用户故事进行优先级排序，在排序时重点考虑的因素是？</a:t>
            </a:r>
          </a:p>
          <a:p>
            <a:br>
              <a:rPr lang="zh-CN" altLang="en-US" dirty="0"/>
            </a:br>
            <a:r>
              <a:rPr lang="en-US" altLang="zh-CN" dirty="0"/>
              <a:t>A. </a:t>
            </a:r>
            <a:r>
              <a:rPr lang="zh-CN" altLang="en-US" dirty="0"/>
              <a:t>难度，价值和成本</a:t>
            </a:r>
            <a:br>
              <a:rPr lang="zh-CN" altLang="en-US" dirty="0"/>
            </a:br>
            <a:r>
              <a:rPr lang="en-US" altLang="zh-CN" dirty="0"/>
              <a:t>B. </a:t>
            </a:r>
            <a:r>
              <a:rPr lang="zh-CN" altLang="en-US" dirty="0"/>
              <a:t>价值，风险和难度</a:t>
            </a:r>
            <a:br>
              <a:rPr lang="zh-CN" altLang="en-US" dirty="0"/>
            </a:br>
            <a:r>
              <a:rPr lang="en-US" altLang="zh-CN" dirty="0"/>
              <a:t>C. </a:t>
            </a:r>
            <a:r>
              <a:rPr lang="zh-CN" altLang="en-US" dirty="0"/>
              <a:t>价值，成本和风险</a:t>
            </a:r>
            <a:br>
              <a:rPr lang="zh-CN" altLang="en-US" dirty="0"/>
            </a:br>
            <a:r>
              <a:rPr lang="en-US" altLang="zh-CN" dirty="0"/>
              <a:t>D. </a:t>
            </a:r>
            <a:r>
              <a:rPr lang="zh-CN" altLang="en-US" dirty="0"/>
              <a:t>价值，风险和便利</a:t>
            </a:r>
          </a:p>
          <a:p>
            <a:endParaRPr lang="zh-CN" altLang="en-US" dirty="0"/>
          </a:p>
        </p:txBody>
      </p:sp>
    </p:spTree>
    <p:extLst>
      <p:ext uri="{BB962C8B-B14F-4D97-AF65-F5344CB8AC3E}">
        <p14:creationId xmlns:p14="http://schemas.microsoft.com/office/powerpoint/2010/main" val="1121877618"/>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2F2C8702-FA00-DD7A-9581-48065B4E5361}"/>
              </a:ext>
            </a:extLst>
          </p:cNvPr>
          <p:cNvSpPr>
            <a:spLocks noGrp="1"/>
          </p:cNvSpPr>
          <p:nvPr>
            <p:ph type="body" sz="quarter" idx="10"/>
          </p:nvPr>
        </p:nvSpPr>
        <p:spPr/>
        <p:txBody>
          <a:bodyPr/>
          <a:lstStyle/>
          <a:p>
            <a:r>
              <a:rPr lang="zh-CN" altLang="en-US" dirty="0"/>
              <a:t>一个团队完成了第一版的发布，高层又要开发团队完成第二版的发布，但是这个团队同时又要做第一个版本的运维和支持工作。作为敏捷管理人士，应该怎么办？</a:t>
            </a:r>
            <a:endParaRPr lang="en-US" altLang="zh-CN" dirty="0"/>
          </a:p>
          <a:p>
            <a:endParaRPr lang="zh-CN" altLang="en-US" dirty="0"/>
          </a:p>
          <a:p>
            <a:r>
              <a:rPr lang="en-US" altLang="zh-CN" dirty="0"/>
              <a:t>A. </a:t>
            </a:r>
            <a:r>
              <a:rPr lang="zh-CN" altLang="en-US" dirty="0"/>
              <a:t>团队应该开发新的版本，因为新的版本有高的价值</a:t>
            </a:r>
          </a:p>
          <a:p>
            <a:r>
              <a:rPr lang="en-US" altLang="zh-CN" dirty="0"/>
              <a:t>B. </a:t>
            </a:r>
            <a:r>
              <a:rPr lang="zh-CN" altLang="en-US" dirty="0"/>
              <a:t>满足投资回报率</a:t>
            </a:r>
          </a:p>
          <a:p>
            <a:r>
              <a:rPr lang="en-US" altLang="zh-CN" dirty="0"/>
              <a:t>C. </a:t>
            </a:r>
            <a:r>
              <a:rPr lang="zh-CN" altLang="en-US" dirty="0"/>
              <a:t>计算团队速度时应该考虑维护工作的影响</a:t>
            </a:r>
          </a:p>
          <a:p>
            <a:r>
              <a:rPr lang="en-US" altLang="zh-CN" dirty="0"/>
              <a:t>D. </a:t>
            </a:r>
            <a:r>
              <a:rPr lang="zh-CN" altLang="en-US" dirty="0"/>
              <a:t>团队把维护工作交给其他团队</a:t>
            </a:r>
          </a:p>
        </p:txBody>
      </p:sp>
    </p:spTree>
    <p:extLst>
      <p:ext uri="{BB962C8B-B14F-4D97-AF65-F5344CB8AC3E}">
        <p14:creationId xmlns:p14="http://schemas.microsoft.com/office/powerpoint/2010/main" val="2316305474"/>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616B498-8E6D-0F88-F7F1-3D47DED9DEDC}"/>
              </a:ext>
            </a:extLst>
          </p:cNvPr>
          <p:cNvSpPr>
            <a:spLocks noGrp="1"/>
          </p:cNvSpPr>
          <p:nvPr>
            <p:ph type="body" sz="quarter" idx="10"/>
          </p:nvPr>
        </p:nvSpPr>
        <p:spPr>
          <a:xfrm>
            <a:off x="3219345" y="1629000"/>
            <a:ext cx="8640000" cy="3600000"/>
          </a:xfrm>
        </p:spPr>
        <p:txBody>
          <a:bodyPr/>
          <a:lstStyle/>
          <a:p>
            <a:r>
              <a:rPr lang="zh-CN" altLang="en-US" dirty="0"/>
              <a:t>作为公司某项目敏捷团队的开发人员，马上要开始这个项目的第一次迭代，你充满了干劲，但是不知道应该从哪里开始做起。为此，你所在的团队应该准备一份文件，里面应该包含本次迭代需要开发的功能以及特征，请问这个文件是指的？</a:t>
            </a:r>
            <a:endParaRPr lang="en-US" altLang="zh-CN" dirty="0"/>
          </a:p>
          <a:p>
            <a:endParaRPr lang="zh-CN" altLang="en-US" dirty="0"/>
          </a:p>
          <a:p>
            <a:r>
              <a:rPr lang="en-US" altLang="zh-CN" dirty="0"/>
              <a:t>A. </a:t>
            </a:r>
            <a:r>
              <a:rPr lang="zh-CN" altLang="en-US" dirty="0"/>
              <a:t>产品待办事项列表</a:t>
            </a:r>
          </a:p>
          <a:p>
            <a:r>
              <a:rPr lang="en-US" altLang="zh-CN" dirty="0"/>
              <a:t>B. </a:t>
            </a:r>
            <a:r>
              <a:rPr lang="zh-CN" altLang="en-US" dirty="0"/>
              <a:t>迭代待办事项列表</a:t>
            </a:r>
          </a:p>
          <a:p>
            <a:r>
              <a:rPr lang="en-US" altLang="zh-CN" dirty="0"/>
              <a:t>C. </a:t>
            </a:r>
            <a:r>
              <a:rPr lang="zh-CN" altLang="en-US" dirty="0"/>
              <a:t>每日计划</a:t>
            </a:r>
          </a:p>
          <a:p>
            <a:r>
              <a:rPr lang="en-US" altLang="zh-CN" dirty="0"/>
              <a:t>D. </a:t>
            </a:r>
            <a:r>
              <a:rPr lang="zh-CN" altLang="en-US" dirty="0"/>
              <a:t>项目章程</a:t>
            </a:r>
          </a:p>
        </p:txBody>
      </p:sp>
    </p:spTree>
    <p:extLst>
      <p:ext uri="{BB962C8B-B14F-4D97-AF65-F5344CB8AC3E}">
        <p14:creationId xmlns:p14="http://schemas.microsoft.com/office/powerpoint/2010/main" val="3475968655"/>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9CEABCBD-2C58-9F6E-74A2-2CB1207A652E}"/>
              </a:ext>
            </a:extLst>
          </p:cNvPr>
          <p:cNvSpPr>
            <a:spLocks noGrp="1"/>
          </p:cNvSpPr>
          <p:nvPr>
            <p:ph type="body" sz="quarter" idx="10"/>
          </p:nvPr>
        </p:nvSpPr>
        <p:spPr/>
        <p:txBody>
          <a:bodyPr/>
          <a:lstStyle/>
          <a:p>
            <a:r>
              <a:rPr lang="zh-CN" altLang="en-US" dirty="0"/>
              <a:t>你是一个汽车行业软件团队的 </a:t>
            </a:r>
            <a:r>
              <a:rPr lang="en-US" altLang="zh-CN" dirty="0"/>
              <a:t>Scrum </a:t>
            </a:r>
            <a:r>
              <a:rPr lang="zh-CN" altLang="en-US" dirty="0"/>
              <a:t>敏捷教练，团队正在为一个防抱死制动系统开发固件。你的团队已经写出了团队完成 </a:t>
            </a:r>
            <a:r>
              <a:rPr lang="en-US" altLang="zh-CN" dirty="0"/>
              <a:t>Sprint </a:t>
            </a:r>
            <a:r>
              <a:rPr lang="zh-CN" altLang="en-US" dirty="0"/>
              <a:t>待办项需要满足的目标。</a:t>
            </a:r>
          </a:p>
          <a:p>
            <a:r>
              <a:rPr lang="zh-CN" altLang="en-US" dirty="0"/>
              <a:t>接下来团队应该做什么？</a:t>
            </a:r>
            <a:endParaRPr lang="en-US" altLang="zh-CN" dirty="0"/>
          </a:p>
          <a:p>
            <a:endParaRPr lang="zh-CN" altLang="en-US" dirty="0"/>
          </a:p>
          <a:p>
            <a:r>
              <a:rPr lang="en-US" altLang="zh-CN" dirty="0"/>
              <a:t>A. </a:t>
            </a:r>
            <a:r>
              <a:rPr lang="zh-CN" altLang="en-US" dirty="0"/>
              <a:t>将 </a:t>
            </a:r>
            <a:r>
              <a:rPr lang="en-US" altLang="zh-CN" dirty="0"/>
              <a:t>Sprint </a:t>
            </a:r>
            <a:r>
              <a:rPr lang="zh-CN" altLang="en-US" dirty="0"/>
              <a:t>待办列表分解为任务</a:t>
            </a:r>
          </a:p>
          <a:p>
            <a:r>
              <a:rPr lang="en-US" altLang="zh-CN" dirty="0"/>
              <a:t>B. </a:t>
            </a:r>
            <a:r>
              <a:rPr lang="zh-CN" altLang="en-US" dirty="0"/>
              <a:t>与用户一起评审可用软件</a:t>
            </a:r>
          </a:p>
          <a:p>
            <a:r>
              <a:rPr lang="en-US" altLang="zh-CN" dirty="0"/>
              <a:t>C. </a:t>
            </a:r>
            <a:r>
              <a:rPr lang="zh-CN" altLang="en-US" dirty="0"/>
              <a:t>与业务客户会面</a:t>
            </a:r>
          </a:p>
          <a:p>
            <a:r>
              <a:rPr lang="en-US" altLang="zh-CN" dirty="0"/>
              <a:t>D. </a:t>
            </a:r>
            <a:r>
              <a:rPr lang="zh-CN" altLang="en-US" dirty="0"/>
              <a:t>确定 </a:t>
            </a:r>
            <a:r>
              <a:rPr lang="en-US" altLang="zh-CN" dirty="0"/>
              <a:t>Sprint </a:t>
            </a:r>
            <a:r>
              <a:rPr lang="zh-CN" altLang="en-US" dirty="0"/>
              <a:t>待办列表中要包含哪些项</a:t>
            </a:r>
          </a:p>
        </p:txBody>
      </p:sp>
    </p:spTree>
    <p:extLst>
      <p:ext uri="{BB962C8B-B14F-4D97-AF65-F5344CB8AC3E}">
        <p14:creationId xmlns:p14="http://schemas.microsoft.com/office/powerpoint/2010/main" val="1382294443"/>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FA1FDED7-8481-262A-E366-5DDCF57BAF70}"/>
              </a:ext>
            </a:extLst>
          </p:cNvPr>
          <p:cNvSpPr>
            <a:spLocks noGrp="1"/>
          </p:cNvSpPr>
          <p:nvPr>
            <p:ph type="body" sz="quarter" idx="10"/>
          </p:nvPr>
        </p:nvSpPr>
        <p:spPr/>
        <p:txBody>
          <a:bodyPr/>
          <a:lstStyle/>
          <a:p>
            <a:r>
              <a:rPr lang="zh-CN" altLang="en-US" dirty="0"/>
              <a:t>一个 </a:t>
            </a:r>
            <a:r>
              <a:rPr lang="en-US" altLang="zh-CN" dirty="0"/>
              <a:t>Scrum </a:t>
            </a:r>
            <a:r>
              <a:rPr lang="zh-CN" altLang="en-US" dirty="0"/>
              <a:t>团队的产品负责人发现利益相关者优先级发生变化，他们还没有开始开发的一个可交付产品现在比目前他们正在完成的一个工作项更重要。团队处理这种情况的最佳方法是什么？</a:t>
            </a:r>
            <a:endParaRPr lang="en-US" altLang="zh-CN" dirty="0"/>
          </a:p>
          <a:p>
            <a:endParaRPr lang="zh-CN" altLang="en-US" dirty="0"/>
          </a:p>
          <a:p>
            <a:r>
              <a:rPr lang="en-US" altLang="zh-CN" dirty="0"/>
              <a:t>A. </a:t>
            </a:r>
            <a:r>
              <a:rPr lang="zh-CN" altLang="en-US" dirty="0"/>
              <a:t>完成当前 </a:t>
            </a:r>
            <a:r>
              <a:rPr lang="en-US" altLang="zh-CN" dirty="0"/>
              <a:t>sprint</a:t>
            </a:r>
            <a:r>
              <a:rPr lang="zh-CN" altLang="en-US" dirty="0"/>
              <a:t>，并在下一个 </a:t>
            </a:r>
            <a:r>
              <a:rPr lang="en-US" altLang="zh-CN" dirty="0"/>
              <a:t>sprint </a:t>
            </a:r>
            <a:r>
              <a:rPr lang="zh-CN" altLang="en-US" dirty="0"/>
              <a:t>计划会议上调整计划。</a:t>
            </a:r>
          </a:p>
          <a:p>
            <a:r>
              <a:rPr lang="en-US" altLang="zh-CN" dirty="0"/>
              <a:t>B. </a:t>
            </a:r>
            <a:r>
              <a:rPr lang="zh-CN" altLang="en-US" dirty="0"/>
              <a:t>通过限制在制品减少瓶颈。</a:t>
            </a:r>
          </a:p>
          <a:p>
            <a:r>
              <a:rPr lang="en-US" altLang="zh-CN" dirty="0"/>
              <a:t>C. </a:t>
            </a:r>
            <a:r>
              <a:rPr lang="zh-CN" altLang="en-US" dirty="0"/>
              <a:t>立即取消当前 </a:t>
            </a:r>
            <a:r>
              <a:rPr lang="en-US" altLang="zh-CN" dirty="0"/>
              <a:t>sprint</a:t>
            </a:r>
            <a:r>
              <a:rPr lang="zh-CN" altLang="en-US" dirty="0"/>
              <a:t>，并创建一个新计划来反映这个新的优先级。</a:t>
            </a:r>
          </a:p>
          <a:p>
            <a:r>
              <a:rPr lang="en-US" altLang="zh-CN" dirty="0"/>
              <a:t>D. </a:t>
            </a:r>
            <a:r>
              <a:rPr lang="zh-CN" altLang="en-US" dirty="0"/>
              <a:t>开始重构代码以反映更新后的优先级。</a:t>
            </a:r>
          </a:p>
        </p:txBody>
      </p:sp>
    </p:spTree>
    <p:extLst>
      <p:ext uri="{BB962C8B-B14F-4D97-AF65-F5344CB8AC3E}">
        <p14:creationId xmlns:p14="http://schemas.microsoft.com/office/powerpoint/2010/main" val="92563000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C79F10DF-7B02-29F2-0036-87165FAB7886}"/>
              </a:ext>
            </a:extLst>
          </p:cNvPr>
          <p:cNvSpPr>
            <a:spLocks noGrp="1"/>
          </p:cNvSpPr>
          <p:nvPr>
            <p:ph type="body" sz="quarter" idx="10"/>
          </p:nvPr>
        </p:nvSpPr>
        <p:spPr/>
        <p:txBody>
          <a:bodyPr>
            <a:noAutofit/>
          </a:bodyPr>
          <a:lstStyle/>
          <a:p>
            <a:r>
              <a:rPr lang="en-US" altLang="zh-CN" dirty="0"/>
              <a:t>Sprint </a:t>
            </a:r>
            <a:r>
              <a:rPr lang="zh-CN" altLang="en-US" dirty="0"/>
              <a:t>进行到一半时，产品负责人收到 </a:t>
            </a:r>
            <a:r>
              <a:rPr lang="en-US" altLang="zh-CN" dirty="0"/>
              <a:t>DevOps</a:t>
            </a:r>
            <a:r>
              <a:rPr lang="zh-CN" altLang="en-US" dirty="0"/>
              <a:t>（开发运维）团队的 </a:t>
            </a:r>
            <a:r>
              <a:rPr lang="en-US" altLang="zh-CN" dirty="0"/>
              <a:t>email</a:t>
            </a:r>
            <a:r>
              <a:rPr lang="zh-CN" altLang="en-US" dirty="0"/>
              <a:t>，该 </a:t>
            </a:r>
            <a:r>
              <a:rPr lang="en-US" altLang="zh-CN" dirty="0"/>
              <a:t>DevOps </a:t>
            </a:r>
            <a:r>
              <a:rPr lang="zh-CN" altLang="en-US" dirty="0"/>
              <a:t>团队负责部署这个团队构建的软件。他们提醒说有一个新政策要求安装脚本做一个修改（所有部署中都必须包含这些安装脚本）。部署是召开 </a:t>
            </a:r>
            <a:r>
              <a:rPr lang="en-US" altLang="zh-CN" dirty="0"/>
              <a:t>Sprint </a:t>
            </a:r>
            <a:r>
              <a:rPr lang="zh-CN" altLang="en-US" dirty="0"/>
              <a:t>评审会议的必要条件。</a:t>
            </a:r>
          </a:p>
          <a:p>
            <a:r>
              <a:rPr lang="zh-CN" altLang="en-US" dirty="0"/>
              <a:t>修改这个脚本会让其他工作延迟到这个 </a:t>
            </a:r>
            <a:r>
              <a:rPr lang="en-US" altLang="zh-CN" dirty="0"/>
              <a:t>Sprint </a:t>
            </a:r>
            <a:r>
              <a:rPr lang="zh-CN" altLang="en-US" dirty="0"/>
              <a:t>结束之后。产品负责人接下来应该做什么？</a:t>
            </a:r>
            <a:endParaRPr lang="en-US" altLang="zh-CN" dirty="0"/>
          </a:p>
          <a:p>
            <a:endParaRPr lang="zh-CN" altLang="en-US" dirty="0"/>
          </a:p>
          <a:p>
            <a:r>
              <a:rPr lang="en-US" altLang="zh-CN" dirty="0"/>
              <a:t>A. </a:t>
            </a:r>
            <a:r>
              <a:rPr lang="zh-CN" altLang="en-US" dirty="0"/>
              <a:t>与团队沟通在 </a:t>
            </a:r>
            <a:r>
              <a:rPr lang="en-US" altLang="zh-CN" dirty="0"/>
              <a:t>Sprint </a:t>
            </a:r>
            <a:r>
              <a:rPr lang="zh-CN" altLang="en-US" dirty="0"/>
              <a:t>待办列表中增加这个脚本修改工作，并把最低优先级的工作项移回到产品待办列表。</a:t>
            </a:r>
          </a:p>
          <a:p>
            <a:r>
              <a:rPr lang="en-US" altLang="zh-CN" dirty="0"/>
              <a:t>B. </a:t>
            </a:r>
            <a:r>
              <a:rPr lang="zh-CN" altLang="en-US" dirty="0"/>
              <a:t>将脚本修改工作增加到产品待办列表。</a:t>
            </a:r>
          </a:p>
          <a:p>
            <a:r>
              <a:rPr lang="en-US" altLang="zh-CN" dirty="0"/>
              <a:t>C. </a:t>
            </a:r>
            <a:r>
              <a:rPr lang="zh-CN" altLang="en-US" dirty="0"/>
              <a:t>延长 </a:t>
            </a:r>
            <a:r>
              <a:rPr lang="en-US" altLang="zh-CN" dirty="0"/>
              <a:t>Sprint </a:t>
            </a:r>
            <a:r>
              <a:rPr lang="zh-CN" altLang="en-US" dirty="0"/>
              <a:t>最后期限，以涵盖这个脚本修改工作。</a:t>
            </a:r>
          </a:p>
          <a:p>
            <a:r>
              <a:rPr lang="en-US" altLang="zh-CN" dirty="0"/>
              <a:t>D. </a:t>
            </a:r>
            <a:r>
              <a:rPr lang="zh-CN" altLang="en-US" dirty="0"/>
              <a:t>安排与 </a:t>
            </a:r>
            <a:r>
              <a:rPr lang="en-US" altLang="zh-CN" dirty="0"/>
              <a:t>DevOps </a:t>
            </a:r>
            <a:r>
              <a:rPr lang="zh-CN" altLang="en-US" dirty="0"/>
              <a:t>团队经理的一个面对面会谈。</a:t>
            </a:r>
          </a:p>
        </p:txBody>
      </p:sp>
    </p:spTree>
    <p:extLst>
      <p:ext uri="{BB962C8B-B14F-4D97-AF65-F5344CB8AC3E}">
        <p14:creationId xmlns:p14="http://schemas.microsoft.com/office/powerpoint/2010/main" val="99441272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7976F8C5-7C29-EF61-8E8A-A2734F0B72B2}"/>
              </a:ext>
            </a:extLst>
          </p:cNvPr>
          <p:cNvSpPr>
            <a:spLocks noGrp="1"/>
          </p:cNvSpPr>
          <p:nvPr>
            <p:ph type="body" sz="quarter" idx="10"/>
          </p:nvPr>
        </p:nvSpPr>
        <p:spPr>
          <a:xfrm>
            <a:off x="3219345" y="1629000"/>
            <a:ext cx="8640000" cy="3600000"/>
          </a:xfrm>
        </p:spPr>
        <p:txBody>
          <a:bodyPr/>
          <a:lstStyle/>
          <a:p>
            <a:r>
              <a:rPr lang="zh-CN" altLang="en-US" dirty="0"/>
              <a:t>敏捷团队在进行一次迭代期间，敏捷教练发现正在开发的一项功能已经不需要了。此时敏捷教练最应该做什么？</a:t>
            </a:r>
            <a:endParaRPr lang="en-US" altLang="zh-CN" dirty="0"/>
          </a:p>
          <a:p>
            <a:endParaRPr lang="zh-CN" altLang="en-US" dirty="0"/>
          </a:p>
          <a:p>
            <a:r>
              <a:rPr lang="en-US" altLang="zh-CN" dirty="0"/>
              <a:t>A. </a:t>
            </a:r>
            <a:r>
              <a:rPr lang="zh-CN" altLang="en-US" dirty="0"/>
              <a:t>尽力找出发生这种变化的原因，以便不再做这样的变更</a:t>
            </a:r>
          </a:p>
          <a:p>
            <a:r>
              <a:rPr lang="en-US" altLang="zh-CN" dirty="0"/>
              <a:t>B. </a:t>
            </a:r>
            <a:r>
              <a:rPr lang="zh-CN" altLang="en-US" dirty="0"/>
              <a:t>完成此次迭代工作，并确定下一次迭代待办列表中的优先级</a:t>
            </a:r>
          </a:p>
          <a:p>
            <a:r>
              <a:rPr lang="en-US" altLang="zh-CN" dirty="0"/>
              <a:t>C. </a:t>
            </a:r>
            <a:r>
              <a:rPr lang="zh-CN" altLang="en-US" dirty="0"/>
              <a:t>建议团队重新确定冲刺待办列表的优先级顺序，并让团队尽快开始处理下一个最高优先级的工作</a:t>
            </a:r>
          </a:p>
          <a:p>
            <a:r>
              <a:rPr lang="en-US" altLang="zh-CN" dirty="0"/>
              <a:t>D. A </a:t>
            </a:r>
            <a:r>
              <a:rPr lang="zh-CN" altLang="en-US" dirty="0"/>
              <a:t>和 </a:t>
            </a:r>
            <a:r>
              <a:rPr lang="en-US" altLang="zh-CN" dirty="0"/>
              <a:t>B</a:t>
            </a:r>
            <a:endParaRPr lang="zh-CN" altLang="en-US" dirty="0"/>
          </a:p>
        </p:txBody>
      </p:sp>
    </p:spTree>
    <p:extLst>
      <p:ext uri="{BB962C8B-B14F-4D97-AF65-F5344CB8AC3E}">
        <p14:creationId xmlns:p14="http://schemas.microsoft.com/office/powerpoint/2010/main" val="793389581"/>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04645137-8A4D-6BC8-43A7-98B353FF7075}"/>
              </a:ext>
            </a:extLst>
          </p:cNvPr>
          <p:cNvSpPr>
            <a:spLocks noGrp="1"/>
          </p:cNvSpPr>
          <p:nvPr>
            <p:ph type="body" sz="quarter" idx="10"/>
          </p:nvPr>
        </p:nvSpPr>
        <p:spPr>
          <a:xfrm>
            <a:off x="3219345" y="1629000"/>
            <a:ext cx="8640000" cy="3600000"/>
          </a:xfrm>
        </p:spPr>
        <p:txBody>
          <a:bodyPr/>
          <a:lstStyle/>
          <a:p>
            <a:r>
              <a:rPr lang="zh-CN" altLang="en-US" dirty="0"/>
              <a:t>某公司中标了一个连锁医疗口腔机构公司的电子病历系统建设项目，该系统需要录入快、检索快、存储量大。该系统由公司经验丰富的团队来完成，采用 </a:t>
            </a:r>
            <a:r>
              <a:rPr lang="en-US" altLang="zh-CN" dirty="0"/>
              <a:t>Scrum </a:t>
            </a:r>
            <a:r>
              <a:rPr lang="zh-CN" altLang="en-US" dirty="0"/>
              <a:t>方法，计划</a:t>
            </a:r>
            <a:r>
              <a:rPr lang="en-US" altLang="zh-CN" dirty="0"/>
              <a:t>10</a:t>
            </a:r>
            <a:r>
              <a:rPr lang="zh-CN" altLang="en-US" dirty="0"/>
              <a:t>个迭代完成整个项目。</a:t>
            </a:r>
          </a:p>
          <a:p>
            <a:r>
              <a:rPr lang="zh-CN" altLang="en-US" dirty="0"/>
              <a:t>每个迭代冲刺的产出物应该是什么？</a:t>
            </a:r>
            <a:endParaRPr lang="en-US" altLang="zh-CN" dirty="0"/>
          </a:p>
          <a:p>
            <a:endParaRPr lang="zh-CN" altLang="en-US" dirty="0"/>
          </a:p>
          <a:p>
            <a:r>
              <a:rPr lang="en-US" altLang="zh-CN" dirty="0"/>
              <a:t>A. </a:t>
            </a:r>
            <a:r>
              <a:rPr lang="zh-CN" altLang="en-US" dirty="0"/>
              <a:t>潜在的封装好的一个产品功能增量</a:t>
            </a:r>
            <a:br>
              <a:rPr lang="zh-CN" altLang="en-US" dirty="0"/>
            </a:br>
            <a:r>
              <a:rPr lang="en-US" altLang="zh-CN" dirty="0"/>
              <a:t>B. </a:t>
            </a:r>
            <a:r>
              <a:rPr lang="zh-CN" altLang="en-US" dirty="0"/>
              <a:t>文档化、规范化的产品需求</a:t>
            </a:r>
            <a:br>
              <a:rPr lang="zh-CN" altLang="en-US" dirty="0"/>
            </a:br>
            <a:r>
              <a:rPr lang="en-US" altLang="zh-CN" dirty="0"/>
              <a:t>C. </a:t>
            </a:r>
            <a:r>
              <a:rPr lang="zh-CN" altLang="en-US" dirty="0"/>
              <a:t>可测量和可测试的版本</a:t>
            </a:r>
            <a:br>
              <a:rPr lang="zh-CN" altLang="en-US" dirty="0"/>
            </a:br>
            <a:r>
              <a:rPr lang="en-US" altLang="zh-CN" dirty="0"/>
              <a:t>D. </a:t>
            </a:r>
            <a:r>
              <a:rPr lang="zh-CN" altLang="en-US" dirty="0"/>
              <a:t>具有可测试性的潜在的一个产品功能增量</a:t>
            </a:r>
          </a:p>
          <a:p>
            <a:endParaRPr lang="zh-CN" altLang="en-US" dirty="0"/>
          </a:p>
        </p:txBody>
      </p:sp>
    </p:spTree>
    <p:extLst>
      <p:ext uri="{BB962C8B-B14F-4D97-AF65-F5344CB8AC3E}">
        <p14:creationId xmlns:p14="http://schemas.microsoft.com/office/powerpoint/2010/main" val="90260932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E97AFB7B-F6C2-062B-6401-ACFEA91B1534}"/>
              </a:ext>
            </a:extLst>
          </p:cNvPr>
          <p:cNvSpPr>
            <a:spLocks noGrp="1"/>
          </p:cNvSpPr>
          <p:nvPr>
            <p:ph type="body" sz="quarter" idx="10"/>
          </p:nvPr>
        </p:nvSpPr>
        <p:spPr/>
        <p:txBody>
          <a:bodyPr/>
          <a:lstStyle/>
          <a:p>
            <a:r>
              <a:rPr lang="zh-CN" altLang="en-US" dirty="0"/>
              <a:t>某公司聘请了一位敏捷管理专业人士对公司内的团队进行敏捷培训，其中多次强调了敏捷团队应该注重不断的交付增量。这是因为增量交付可以？</a:t>
            </a:r>
            <a:endParaRPr lang="en-US" altLang="zh-CN" dirty="0"/>
          </a:p>
          <a:p>
            <a:endParaRPr lang="zh-CN" altLang="en-US" dirty="0"/>
          </a:p>
          <a:p>
            <a:r>
              <a:rPr lang="en-US" altLang="zh-CN" dirty="0"/>
              <a:t>A. </a:t>
            </a:r>
            <a:r>
              <a:rPr lang="zh-CN" altLang="en-US" dirty="0"/>
              <a:t>尽早的交付价值，可以更好的应对变化</a:t>
            </a:r>
          </a:p>
          <a:p>
            <a:r>
              <a:rPr lang="en-US" altLang="zh-CN" dirty="0"/>
              <a:t>B. </a:t>
            </a:r>
            <a:r>
              <a:rPr lang="zh-CN" altLang="en-US" dirty="0"/>
              <a:t>捆绑产品特征，让客户感觉到产出，提高满意度</a:t>
            </a:r>
          </a:p>
          <a:p>
            <a:r>
              <a:rPr lang="en-US" altLang="zh-CN" dirty="0"/>
              <a:t>C. </a:t>
            </a:r>
            <a:r>
              <a:rPr lang="zh-CN" altLang="en-US" dirty="0"/>
              <a:t>消除需求变化的可能性</a:t>
            </a:r>
          </a:p>
          <a:p>
            <a:r>
              <a:rPr lang="en-US" altLang="zh-CN" dirty="0"/>
              <a:t>D. </a:t>
            </a:r>
            <a:r>
              <a:rPr lang="zh-CN" altLang="en-US" dirty="0"/>
              <a:t>使团队工作更简便轻松</a:t>
            </a:r>
          </a:p>
        </p:txBody>
      </p:sp>
    </p:spTree>
    <p:extLst>
      <p:ext uri="{BB962C8B-B14F-4D97-AF65-F5344CB8AC3E}">
        <p14:creationId xmlns:p14="http://schemas.microsoft.com/office/powerpoint/2010/main" val="2671533700"/>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71A49-6642-96FF-D3E8-245E268CA1EB}"/>
            </a:ext>
          </a:extLst>
        </p:cNvPr>
        <p:cNvGrpSpPr/>
        <p:nvPr/>
      </p:nvGrpSpPr>
      <p:grpSpPr>
        <a:xfrm>
          <a:off x="0" y="0"/>
          <a:ext cx="0" cy="0"/>
          <a:chOff x="0" y="0"/>
          <a:chExt cx="0" cy="0"/>
        </a:xfrm>
      </p:grpSpPr>
      <p:pic>
        <p:nvPicPr>
          <p:cNvPr id="16" name="图片占位符 15">
            <a:extLst>
              <a:ext uri="{FF2B5EF4-FFF2-40B4-BE49-F238E27FC236}">
                <a16:creationId xmlns:a16="http://schemas.microsoft.com/office/drawing/2014/main" id="{6A778F49-8449-0DBA-2490-A145BA5C2A72}"/>
              </a:ext>
            </a:extLst>
          </p:cNvPr>
          <p:cNvPicPr>
            <a:picLocks noGrp="1" noChangeAspect="1"/>
          </p:cNvPicPr>
          <p:nvPr>
            <p:ph type="pic" sz="quarter" idx="4294967295"/>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183CDE23-4F7C-273E-9402-14A5FA8E90A4}"/>
              </a:ext>
            </a:extLst>
          </p:cNvPr>
          <p:cNvSpPr>
            <a:spLocks noGrp="1"/>
          </p:cNvSpPr>
          <p:nvPr>
            <p:ph type="ctrTitle"/>
          </p:nvPr>
        </p:nvSpPr>
        <p:spPr>
          <a:xfrm>
            <a:off x="4077578" y="3498981"/>
            <a:ext cx="7262228" cy="1440000"/>
          </a:xfrm>
        </p:spPr>
        <p:txBody>
          <a:bodyPr/>
          <a:lstStyle/>
          <a:p>
            <a:r>
              <a:rPr lang="zh-CN" altLang="en-US" dirty="0"/>
              <a:t>项目成本</a:t>
            </a:r>
          </a:p>
        </p:txBody>
      </p:sp>
      <p:sp>
        <p:nvSpPr>
          <p:cNvPr id="3" name="副标题 2">
            <a:extLst>
              <a:ext uri="{FF2B5EF4-FFF2-40B4-BE49-F238E27FC236}">
                <a16:creationId xmlns:a16="http://schemas.microsoft.com/office/drawing/2014/main" id="{FFCF073F-5134-EF70-B114-973586DD9916}"/>
              </a:ext>
            </a:extLst>
          </p:cNvPr>
          <p:cNvSpPr>
            <a:spLocks noGrp="1"/>
          </p:cNvSpPr>
          <p:nvPr>
            <p:ph type="subTitle" idx="1"/>
          </p:nvPr>
        </p:nvSpPr>
        <p:spPr>
          <a:xfrm>
            <a:off x="4077578" y="4938981"/>
            <a:ext cx="7262228" cy="900000"/>
          </a:xfrm>
        </p:spPr>
        <p:txBody>
          <a:bodyPr/>
          <a:lstStyle/>
          <a:p>
            <a:r>
              <a:rPr lang="en-US" altLang="zh-CN" dirty="0"/>
              <a:t>Section 4 Project Cost</a:t>
            </a:r>
            <a:endParaRPr lang="zh-CN" altLang="en-US" dirty="0"/>
          </a:p>
        </p:txBody>
      </p:sp>
    </p:spTree>
    <p:extLst>
      <p:ext uri="{BB962C8B-B14F-4D97-AF65-F5344CB8AC3E}">
        <p14:creationId xmlns:p14="http://schemas.microsoft.com/office/powerpoint/2010/main" val="80631451"/>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A6881-2811-0782-50AE-663BA0BCE514}"/>
            </a:ext>
          </a:extLst>
        </p:cNvPr>
        <p:cNvGrpSpPr/>
        <p:nvPr/>
      </p:nvGrpSpPr>
      <p:grpSpPr>
        <a:xfrm>
          <a:off x="0" y="0"/>
          <a:ext cx="0" cy="0"/>
          <a:chOff x="0" y="0"/>
          <a:chExt cx="0" cy="0"/>
        </a:xfrm>
      </p:grpSpPr>
      <p:pic>
        <p:nvPicPr>
          <p:cNvPr id="13" name="图片占位符 12">
            <a:extLst>
              <a:ext uri="{FF2B5EF4-FFF2-40B4-BE49-F238E27FC236}">
                <a16:creationId xmlns:a16="http://schemas.microsoft.com/office/drawing/2014/main" id="{9729AAAD-AD68-4ACD-B920-46B41E03DA6A}"/>
              </a:ext>
            </a:extLst>
          </p:cNvPr>
          <p:cNvPicPr>
            <a:picLocks noGrp="1" noChangeAspect="1"/>
          </p:cNvPicPr>
          <p:nvPr>
            <p:ph type="pic" sz="quarter" idx="4294967295"/>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1102E6CD-1066-4DCD-924F-C54CF38A52E1}"/>
              </a:ext>
            </a:extLst>
          </p:cNvPr>
          <p:cNvSpPr>
            <a:spLocks noGrp="1"/>
          </p:cNvSpPr>
          <p:nvPr>
            <p:ph type="ctrTitle"/>
          </p:nvPr>
        </p:nvSpPr>
        <p:spPr>
          <a:xfrm>
            <a:off x="4077578" y="3498981"/>
            <a:ext cx="7262228" cy="1440000"/>
          </a:xfrm>
        </p:spPr>
        <p:txBody>
          <a:bodyPr/>
          <a:lstStyle/>
          <a:p>
            <a:r>
              <a:rPr lang="zh-CN" altLang="en-US" dirty="0"/>
              <a:t>项目进度</a:t>
            </a:r>
          </a:p>
        </p:txBody>
      </p:sp>
      <p:sp>
        <p:nvSpPr>
          <p:cNvPr id="3" name="副标题 2">
            <a:extLst>
              <a:ext uri="{FF2B5EF4-FFF2-40B4-BE49-F238E27FC236}">
                <a16:creationId xmlns:a16="http://schemas.microsoft.com/office/drawing/2014/main" id="{9C76596E-07B7-51B8-4002-5D17DE87F8AB}"/>
              </a:ext>
            </a:extLst>
          </p:cNvPr>
          <p:cNvSpPr>
            <a:spLocks noGrp="1"/>
          </p:cNvSpPr>
          <p:nvPr>
            <p:ph type="subTitle" idx="1"/>
          </p:nvPr>
        </p:nvSpPr>
        <p:spPr>
          <a:xfrm>
            <a:off x="4077578" y="4938981"/>
            <a:ext cx="7262228" cy="900000"/>
          </a:xfrm>
        </p:spPr>
        <p:txBody>
          <a:bodyPr/>
          <a:lstStyle/>
          <a:p>
            <a:r>
              <a:rPr lang="en-US" altLang="zh-CN" dirty="0"/>
              <a:t>Section 5 Project Progress</a:t>
            </a:r>
            <a:endParaRPr lang="zh-CN" altLang="en-US" dirty="0"/>
          </a:p>
        </p:txBody>
      </p:sp>
    </p:spTree>
    <p:extLst>
      <p:ext uri="{BB962C8B-B14F-4D97-AF65-F5344CB8AC3E}">
        <p14:creationId xmlns:p14="http://schemas.microsoft.com/office/powerpoint/2010/main" val="257245194"/>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CB949-84E8-8DA1-66F9-E4D9EDA6DD5B}"/>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2EE7E85C-74CD-A4B5-BF70-217737C5115A}"/>
              </a:ext>
            </a:extLst>
          </p:cNvPr>
          <p:cNvPicPr>
            <a:picLocks noGrp="1" noChangeAspect="1"/>
          </p:cNvPicPr>
          <p:nvPr>
            <p:ph type="pic" sz="quarter" idx="4294967295"/>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2E4FF08B-DC21-AB20-B906-964C0598AE54}"/>
              </a:ext>
            </a:extLst>
          </p:cNvPr>
          <p:cNvSpPr>
            <a:spLocks noGrp="1"/>
          </p:cNvSpPr>
          <p:nvPr>
            <p:ph type="ctrTitle"/>
          </p:nvPr>
        </p:nvSpPr>
        <p:spPr>
          <a:xfrm>
            <a:off x="4077578" y="3498981"/>
            <a:ext cx="7262228" cy="1440000"/>
          </a:xfrm>
        </p:spPr>
        <p:txBody>
          <a:bodyPr/>
          <a:lstStyle/>
          <a:p>
            <a:r>
              <a:rPr lang="zh-CN" altLang="en-US" dirty="0"/>
              <a:t>项目质量</a:t>
            </a:r>
          </a:p>
        </p:txBody>
      </p:sp>
      <p:sp>
        <p:nvSpPr>
          <p:cNvPr id="3" name="副标题 2">
            <a:extLst>
              <a:ext uri="{FF2B5EF4-FFF2-40B4-BE49-F238E27FC236}">
                <a16:creationId xmlns:a16="http://schemas.microsoft.com/office/drawing/2014/main" id="{CF173283-8CD8-5341-3326-924D69120130}"/>
              </a:ext>
            </a:extLst>
          </p:cNvPr>
          <p:cNvSpPr>
            <a:spLocks noGrp="1"/>
          </p:cNvSpPr>
          <p:nvPr>
            <p:ph type="subTitle" idx="1"/>
          </p:nvPr>
        </p:nvSpPr>
        <p:spPr>
          <a:xfrm>
            <a:off x="4077578" y="4938981"/>
            <a:ext cx="7262228" cy="900000"/>
          </a:xfrm>
        </p:spPr>
        <p:txBody>
          <a:bodyPr/>
          <a:lstStyle/>
          <a:p>
            <a:r>
              <a:rPr lang="en-US" altLang="zh-CN" dirty="0"/>
              <a:t>Section 6 Project Quality</a:t>
            </a:r>
            <a:endParaRPr lang="zh-CN" altLang="en-US" dirty="0"/>
          </a:p>
        </p:txBody>
      </p:sp>
    </p:spTree>
    <p:extLst>
      <p:ext uri="{BB962C8B-B14F-4D97-AF65-F5344CB8AC3E}">
        <p14:creationId xmlns:p14="http://schemas.microsoft.com/office/powerpoint/2010/main" val="14572968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24303-0E45-6D72-428C-35E14C0ED0D8}"/>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6B3A6406-DFBD-7E0D-C9E6-C327F94EBD5C}"/>
              </a:ext>
            </a:extLst>
          </p:cNvPr>
          <p:cNvPicPr>
            <a:picLocks noGrp="1" noChangeAspect="1"/>
          </p:cNvPicPr>
          <p:nvPr>
            <p:ph type="pic" sz="quarter" idx="4294967295"/>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CA69BC13-D868-0C5E-EA19-9911C0317A53}"/>
              </a:ext>
            </a:extLst>
          </p:cNvPr>
          <p:cNvSpPr>
            <a:spLocks noGrp="1"/>
          </p:cNvSpPr>
          <p:nvPr>
            <p:ph type="ctrTitle"/>
          </p:nvPr>
        </p:nvSpPr>
        <p:spPr>
          <a:xfrm>
            <a:off x="4077578" y="3498981"/>
            <a:ext cx="7262228" cy="1440000"/>
          </a:xfrm>
        </p:spPr>
        <p:txBody>
          <a:bodyPr/>
          <a:lstStyle/>
          <a:p>
            <a:r>
              <a:rPr lang="zh-CN" altLang="en-US" dirty="0"/>
              <a:t>项目配置</a:t>
            </a:r>
          </a:p>
        </p:txBody>
      </p:sp>
      <p:sp>
        <p:nvSpPr>
          <p:cNvPr id="3" name="副标题 2">
            <a:extLst>
              <a:ext uri="{FF2B5EF4-FFF2-40B4-BE49-F238E27FC236}">
                <a16:creationId xmlns:a16="http://schemas.microsoft.com/office/drawing/2014/main" id="{7496C533-BD3D-41DF-66A8-6437270E1F9E}"/>
              </a:ext>
            </a:extLst>
          </p:cNvPr>
          <p:cNvSpPr>
            <a:spLocks noGrp="1"/>
          </p:cNvSpPr>
          <p:nvPr>
            <p:ph type="subTitle" idx="1"/>
          </p:nvPr>
        </p:nvSpPr>
        <p:spPr>
          <a:xfrm>
            <a:off x="4077578" y="4938981"/>
            <a:ext cx="7262228" cy="900000"/>
          </a:xfrm>
        </p:spPr>
        <p:txBody>
          <a:bodyPr/>
          <a:lstStyle/>
          <a:p>
            <a:r>
              <a:rPr lang="en-US" altLang="zh-CN" dirty="0"/>
              <a:t>Section 7 Project Config</a:t>
            </a:r>
            <a:endParaRPr lang="zh-CN" altLang="en-US" dirty="0"/>
          </a:p>
        </p:txBody>
      </p:sp>
    </p:spTree>
    <p:extLst>
      <p:ext uri="{BB962C8B-B14F-4D97-AF65-F5344CB8AC3E}">
        <p14:creationId xmlns:p14="http://schemas.microsoft.com/office/powerpoint/2010/main" val="2693216358"/>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95133-4102-7AF4-8B4B-6B85CA43B57B}"/>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A433D9DE-825E-3B68-2E0B-ACEEA249B341}"/>
              </a:ext>
            </a:extLst>
          </p:cNvPr>
          <p:cNvPicPr>
            <a:picLocks noGrp="1" noChangeAspect="1"/>
          </p:cNvPicPr>
          <p:nvPr>
            <p:ph type="pic" sz="quarter" idx="4294967295"/>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AF6D2CA8-4058-642D-7AB4-6195060DA8C4}"/>
              </a:ext>
            </a:extLst>
          </p:cNvPr>
          <p:cNvSpPr>
            <a:spLocks noGrp="1"/>
          </p:cNvSpPr>
          <p:nvPr>
            <p:ph type="ctrTitle"/>
          </p:nvPr>
        </p:nvSpPr>
        <p:spPr>
          <a:xfrm>
            <a:off x="4077578" y="3498981"/>
            <a:ext cx="7262228" cy="1440000"/>
          </a:xfrm>
        </p:spPr>
        <p:txBody>
          <a:bodyPr/>
          <a:lstStyle/>
          <a:p>
            <a:r>
              <a:rPr lang="zh-CN" altLang="en-US" dirty="0"/>
              <a:t>项目团队</a:t>
            </a:r>
          </a:p>
        </p:txBody>
      </p:sp>
      <p:sp>
        <p:nvSpPr>
          <p:cNvPr id="3" name="副标题 2">
            <a:extLst>
              <a:ext uri="{FF2B5EF4-FFF2-40B4-BE49-F238E27FC236}">
                <a16:creationId xmlns:a16="http://schemas.microsoft.com/office/drawing/2014/main" id="{1AD1E055-DA02-DD1A-AB84-AA031CACB41F}"/>
              </a:ext>
            </a:extLst>
          </p:cNvPr>
          <p:cNvSpPr>
            <a:spLocks noGrp="1"/>
          </p:cNvSpPr>
          <p:nvPr>
            <p:ph type="subTitle" idx="1"/>
          </p:nvPr>
        </p:nvSpPr>
        <p:spPr>
          <a:xfrm>
            <a:off x="4077578" y="4938981"/>
            <a:ext cx="7262228" cy="900000"/>
          </a:xfrm>
        </p:spPr>
        <p:txBody>
          <a:bodyPr/>
          <a:lstStyle/>
          <a:p>
            <a:r>
              <a:rPr lang="en-US" altLang="zh-CN" dirty="0"/>
              <a:t>Section 8 Project Team</a:t>
            </a:r>
            <a:endParaRPr lang="zh-CN" altLang="en-US" dirty="0"/>
          </a:p>
        </p:txBody>
      </p:sp>
    </p:spTree>
    <p:extLst>
      <p:ext uri="{BB962C8B-B14F-4D97-AF65-F5344CB8AC3E}">
        <p14:creationId xmlns:p14="http://schemas.microsoft.com/office/powerpoint/2010/main" val="1657808287"/>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CF6A98E-B257-8F8D-43F4-280E31A276D5}"/>
              </a:ext>
            </a:extLst>
          </p:cNvPr>
          <p:cNvSpPr>
            <a:spLocks noGrp="1"/>
          </p:cNvSpPr>
          <p:nvPr>
            <p:ph type="title"/>
          </p:nvPr>
        </p:nvSpPr>
        <p:spPr>
          <a:xfrm>
            <a:off x="696000" y="360000"/>
            <a:ext cx="10800000" cy="424732"/>
          </a:xfrm>
        </p:spPr>
        <p:txBody>
          <a:bodyPr/>
          <a:lstStyle/>
          <a:p>
            <a:r>
              <a:rPr lang="zh-CN" altLang="en-US" dirty="0"/>
              <a:t>团队发展四阶段</a:t>
            </a:r>
          </a:p>
        </p:txBody>
      </p:sp>
      <p:sp>
        <p:nvSpPr>
          <p:cNvPr id="6" name="内容占位符 5">
            <a:extLst>
              <a:ext uri="{FF2B5EF4-FFF2-40B4-BE49-F238E27FC236}">
                <a16:creationId xmlns:a16="http://schemas.microsoft.com/office/drawing/2014/main" id="{503C520A-0517-88D9-2579-58A7AFF26F11}"/>
              </a:ext>
            </a:extLst>
          </p:cNvPr>
          <p:cNvSpPr>
            <a:spLocks noGrp="1"/>
          </p:cNvSpPr>
          <p:nvPr>
            <p:ph idx="1"/>
          </p:nvPr>
        </p:nvSpPr>
        <p:spPr>
          <a:xfrm>
            <a:off x="695325" y="1079500"/>
            <a:ext cx="10801350" cy="5111750"/>
          </a:xfrm>
        </p:spPr>
        <p:txBody>
          <a:bodyPr/>
          <a:lstStyle/>
          <a:p>
            <a:r>
              <a:rPr lang="en-US" altLang="zh-CN" dirty="0"/>
              <a:t>Bruce Tuckman </a:t>
            </a:r>
            <a:r>
              <a:rPr lang="zh-CN" altLang="en-US" dirty="0"/>
              <a:t>于</a:t>
            </a:r>
            <a:r>
              <a:rPr lang="en-US" altLang="zh-CN" dirty="0"/>
              <a:t>1965</a:t>
            </a:r>
            <a:r>
              <a:rPr lang="zh-CN" altLang="en-US" dirty="0"/>
              <a:t>年提出</a:t>
            </a:r>
          </a:p>
        </p:txBody>
      </p:sp>
      <p:graphicFrame>
        <p:nvGraphicFramePr>
          <p:cNvPr id="7" name="内容占位符 3">
            <a:extLst>
              <a:ext uri="{FF2B5EF4-FFF2-40B4-BE49-F238E27FC236}">
                <a16:creationId xmlns:a16="http://schemas.microsoft.com/office/drawing/2014/main" id="{41ADDA13-5CBF-85AA-451B-87DB06B8AC63}"/>
              </a:ext>
            </a:extLst>
          </p:cNvPr>
          <p:cNvGraphicFramePr>
            <a:graphicFrameLocks/>
          </p:cNvGraphicFramePr>
          <p:nvPr>
            <p:extLst>
              <p:ext uri="{D42A27DB-BD31-4B8C-83A1-F6EECF244321}">
                <p14:modId xmlns:p14="http://schemas.microsoft.com/office/powerpoint/2010/main" val="1673233735"/>
              </p:ext>
            </p:extLst>
          </p:nvPr>
        </p:nvGraphicFramePr>
        <p:xfrm>
          <a:off x="695325" y="4362450"/>
          <a:ext cx="10801350" cy="1828800"/>
        </p:xfrm>
        <a:graphic>
          <a:graphicData uri="http://schemas.openxmlformats.org/drawingml/2006/table">
            <a:tbl>
              <a:tblPr/>
              <a:tblGrid>
                <a:gridCol w="5400675">
                  <a:extLst>
                    <a:ext uri="{9D8B030D-6E8A-4147-A177-3AD203B41FA5}">
                      <a16:colId xmlns:a16="http://schemas.microsoft.com/office/drawing/2014/main" val="98282091"/>
                    </a:ext>
                  </a:extLst>
                </a:gridCol>
                <a:gridCol w="5400675">
                  <a:extLst>
                    <a:ext uri="{9D8B030D-6E8A-4147-A177-3AD203B41FA5}">
                      <a16:colId xmlns:a16="http://schemas.microsoft.com/office/drawing/2014/main" val="3840129698"/>
                    </a:ext>
                  </a:extLst>
                </a:gridCol>
              </a:tblGrid>
              <a:tr h="0">
                <a:tc>
                  <a:txBody>
                    <a:bodyPr/>
                    <a:lstStyle/>
                    <a:p>
                      <a:pPr>
                        <a:buNone/>
                      </a:pPr>
                      <a:r>
                        <a:rPr lang="en-US" altLang="zh-CN" dirty="0">
                          <a:solidFill>
                            <a:schemeClr val="bg1"/>
                          </a:solidFill>
                        </a:rPr>
                        <a:t>Item</a:t>
                      </a:r>
                      <a:endParaRPr lang="zh-CN" altLang="en-US" dirty="0">
                        <a:solidFill>
                          <a:schemeClr val="bg1"/>
                        </a:solidFill>
                      </a:endParaRPr>
                    </a:p>
                  </a:txBody>
                  <a:tcPr anchor="ctr">
                    <a:lnL>
                      <a:noFill/>
                    </a:lnL>
                    <a:lnR>
                      <a:noFill/>
                    </a:lnR>
                    <a:lnT>
                      <a:noFill/>
                    </a:lnT>
                    <a:lnB>
                      <a:noFill/>
                    </a:lnB>
                    <a:solidFill>
                      <a:schemeClr val="accent2"/>
                    </a:solidFill>
                  </a:tcPr>
                </a:tc>
                <a:tc>
                  <a:txBody>
                    <a:bodyPr/>
                    <a:lstStyle/>
                    <a:p>
                      <a:pPr>
                        <a:buNone/>
                      </a:pPr>
                      <a:r>
                        <a:rPr lang="en-US" altLang="zh-CN" dirty="0">
                          <a:solidFill>
                            <a:schemeClr val="bg1"/>
                          </a:solidFill>
                        </a:rPr>
                        <a:t>Description</a:t>
                      </a:r>
                      <a:endParaRPr lang="zh-CN" altLang="en-US" dirty="0">
                        <a:solidFill>
                          <a:schemeClr val="bg1"/>
                        </a:solidFill>
                      </a:endParaRPr>
                    </a:p>
                  </a:txBody>
                  <a:tcPr anchor="ctr">
                    <a:lnL>
                      <a:noFill/>
                    </a:lnL>
                    <a:lnR>
                      <a:noFill/>
                    </a:lnR>
                    <a:lnT>
                      <a:noFill/>
                    </a:lnT>
                    <a:lnB>
                      <a:noFill/>
                    </a:lnB>
                    <a:solidFill>
                      <a:schemeClr val="accent2"/>
                    </a:solidFill>
                  </a:tcPr>
                </a:tc>
                <a:extLst>
                  <a:ext uri="{0D108BD9-81ED-4DB2-BD59-A6C34878D82A}">
                    <a16:rowId xmlns:a16="http://schemas.microsoft.com/office/drawing/2014/main" val="4294107049"/>
                  </a:ext>
                </a:extLst>
              </a:tr>
              <a:tr h="0">
                <a:tc>
                  <a:txBody>
                    <a:bodyPr/>
                    <a:lstStyle/>
                    <a:p>
                      <a:pPr>
                        <a:buNone/>
                      </a:pPr>
                      <a:r>
                        <a:rPr lang="en-US" dirty="0"/>
                        <a:t>Forming</a:t>
                      </a:r>
                    </a:p>
                  </a:txBody>
                  <a:tcPr anchor="ctr">
                    <a:lnL>
                      <a:noFill/>
                    </a:lnL>
                    <a:lnR>
                      <a:noFill/>
                    </a:lnR>
                    <a:lnT>
                      <a:noFill/>
                    </a:lnT>
                    <a:lnB w="6350" cap="flat" cmpd="sng" algn="ctr">
                      <a:solidFill>
                        <a:schemeClr val="accent2"/>
                      </a:solidFill>
                      <a:prstDash val="solid"/>
                      <a:round/>
                      <a:headEnd type="none" w="med" len="med"/>
                      <a:tailEnd type="none" w="med" len="med"/>
                    </a:lnB>
                    <a:noFill/>
                  </a:tcPr>
                </a:tc>
                <a:tc>
                  <a:txBody>
                    <a:bodyPr/>
                    <a:lstStyle/>
                    <a:p>
                      <a:pPr>
                        <a:buNone/>
                      </a:pPr>
                      <a:r>
                        <a:rPr lang="zh-CN" altLang="en-US" dirty="0"/>
                        <a:t>形成期</a:t>
                      </a:r>
                    </a:p>
                  </a:txBody>
                  <a:tcPr anchor="ctr">
                    <a:lnL>
                      <a:noFill/>
                    </a:lnL>
                    <a:lnR>
                      <a:noFill/>
                    </a:lnR>
                    <a:lnT>
                      <a:noFill/>
                    </a:lnT>
                    <a:lnB w="635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2310982016"/>
                  </a:ext>
                </a:extLst>
              </a:tr>
              <a:tr h="0">
                <a:tc>
                  <a:txBody>
                    <a:bodyPr/>
                    <a:lstStyle/>
                    <a:p>
                      <a:pPr>
                        <a:buNone/>
                      </a:pPr>
                      <a:r>
                        <a:rPr lang="en-US" dirty="0"/>
                        <a:t>Storming</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tc>
                  <a:txBody>
                    <a:bodyPr/>
                    <a:lstStyle/>
                    <a:p>
                      <a:pPr>
                        <a:buNone/>
                      </a:pPr>
                      <a:r>
                        <a:rPr lang="zh-CN" altLang="en-US" dirty="0"/>
                        <a:t>震荡期或磨合期</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937801575"/>
                  </a:ext>
                </a:extLst>
              </a:tr>
              <a:tr h="0">
                <a:tc>
                  <a:txBody>
                    <a:bodyPr/>
                    <a:lstStyle/>
                    <a:p>
                      <a:pPr>
                        <a:buNone/>
                      </a:pPr>
                      <a:r>
                        <a:rPr lang="en-US" dirty="0"/>
                        <a:t>Norming</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tc>
                  <a:txBody>
                    <a:bodyPr/>
                    <a:lstStyle/>
                    <a:p>
                      <a:pPr>
                        <a:buNone/>
                      </a:pPr>
                      <a:r>
                        <a:rPr lang="zh-CN" altLang="en-US" dirty="0"/>
                        <a:t>规范期</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380702055"/>
                  </a:ext>
                </a:extLst>
              </a:tr>
              <a:tr h="0">
                <a:tc>
                  <a:txBody>
                    <a:bodyPr/>
                    <a:lstStyle/>
                    <a:p>
                      <a:pPr>
                        <a:buNone/>
                      </a:pPr>
                      <a:r>
                        <a:rPr lang="en-US" dirty="0"/>
                        <a:t>Performing</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tc>
                  <a:txBody>
                    <a:bodyPr/>
                    <a:lstStyle/>
                    <a:p>
                      <a:pPr>
                        <a:buNone/>
                      </a:pPr>
                      <a:r>
                        <a:rPr lang="zh-CN" altLang="en-US" dirty="0"/>
                        <a:t>表现期 </a:t>
                      </a:r>
                      <a:r>
                        <a:rPr lang="en-US" altLang="zh-CN" dirty="0"/>
                        <a:t>/ </a:t>
                      </a:r>
                      <a:r>
                        <a:rPr lang="zh-CN" altLang="en-US" dirty="0"/>
                        <a:t>执行期 </a:t>
                      </a:r>
                      <a:r>
                        <a:rPr lang="en-US" altLang="zh-CN" dirty="0"/>
                        <a:t>/ </a:t>
                      </a:r>
                      <a:r>
                        <a:rPr lang="zh-CN" altLang="en-US" dirty="0"/>
                        <a:t>高绩效期</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437711081"/>
                  </a:ext>
                </a:extLst>
              </a:tr>
            </a:tbl>
          </a:graphicData>
        </a:graphic>
      </p:graphicFrame>
    </p:spTree>
    <p:extLst>
      <p:ext uri="{BB962C8B-B14F-4D97-AF65-F5344CB8AC3E}">
        <p14:creationId xmlns:p14="http://schemas.microsoft.com/office/powerpoint/2010/main" val="1090686238"/>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2E1B-CC01-8AC8-A66B-322CF5D88F17}"/>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27505069-8134-6A7E-341C-2B0F3E9FE1BB}"/>
              </a:ext>
            </a:extLst>
          </p:cNvPr>
          <p:cNvPicPr>
            <a:picLocks noGrp="1" noChangeAspect="1"/>
          </p:cNvPicPr>
          <p:nvPr>
            <p:ph type="pic" sz="quarter" idx="4294967295"/>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2FA2AC6E-2E60-4CC5-C9A6-F5BA80A3D0CA}"/>
              </a:ext>
            </a:extLst>
          </p:cNvPr>
          <p:cNvSpPr>
            <a:spLocks noGrp="1"/>
          </p:cNvSpPr>
          <p:nvPr>
            <p:ph type="ctrTitle"/>
          </p:nvPr>
        </p:nvSpPr>
        <p:spPr>
          <a:xfrm>
            <a:off x="4077578" y="3498981"/>
            <a:ext cx="7262228" cy="1440000"/>
          </a:xfrm>
        </p:spPr>
        <p:txBody>
          <a:bodyPr/>
          <a:lstStyle/>
          <a:p>
            <a:r>
              <a:rPr lang="zh-CN" altLang="en-US" dirty="0"/>
              <a:t>项目风险</a:t>
            </a:r>
          </a:p>
        </p:txBody>
      </p:sp>
      <p:sp>
        <p:nvSpPr>
          <p:cNvPr id="3" name="副标题 2">
            <a:extLst>
              <a:ext uri="{FF2B5EF4-FFF2-40B4-BE49-F238E27FC236}">
                <a16:creationId xmlns:a16="http://schemas.microsoft.com/office/drawing/2014/main" id="{D2E92DC8-52E0-411B-37EA-ADF0C576B182}"/>
              </a:ext>
            </a:extLst>
          </p:cNvPr>
          <p:cNvSpPr>
            <a:spLocks noGrp="1"/>
          </p:cNvSpPr>
          <p:nvPr>
            <p:ph type="subTitle" idx="1"/>
          </p:nvPr>
        </p:nvSpPr>
        <p:spPr>
          <a:xfrm>
            <a:off x="4077578" y="4938981"/>
            <a:ext cx="7262228" cy="900000"/>
          </a:xfrm>
        </p:spPr>
        <p:txBody>
          <a:bodyPr/>
          <a:lstStyle/>
          <a:p>
            <a:r>
              <a:rPr lang="en-US" altLang="zh-CN" dirty="0"/>
              <a:t>Section 9 Project Risk</a:t>
            </a:r>
            <a:endParaRPr lang="zh-CN" altLang="en-US" dirty="0"/>
          </a:p>
        </p:txBody>
      </p:sp>
    </p:spTree>
    <p:extLst>
      <p:ext uri="{BB962C8B-B14F-4D97-AF65-F5344CB8AC3E}">
        <p14:creationId xmlns:p14="http://schemas.microsoft.com/office/powerpoint/2010/main" val="727486452"/>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E864C-DE7A-373C-28CB-06F14EBB7435}"/>
            </a:ext>
          </a:extLst>
        </p:cNvPr>
        <p:cNvGrpSpPr/>
        <p:nvPr/>
      </p:nvGrpSpPr>
      <p:grpSpPr>
        <a:xfrm>
          <a:off x="0" y="0"/>
          <a:ext cx="0" cy="0"/>
          <a:chOff x="0" y="0"/>
          <a:chExt cx="0" cy="0"/>
        </a:xfrm>
      </p:grpSpPr>
      <p:pic>
        <p:nvPicPr>
          <p:cNvPr id="13" name="图片占位符 12">
            <a:extLst>
              <a:ext uri="{FF2B5EF4-FFF2-40B4-BE49-F238E27FC236}">
                <a16:creationId xmlns:a16="http://schemas.microsoft.com/office/drawing/2014/main" id="{8134C41F-B840-F4A9-4C6C-08964B75F661}"/>
              </a:ext>
            </a:extLst>
          </p:cNvPr>
          <p:cNvPicPr>
            <a:picLocks noGrp="1" noChangeAspect="1"/>
          </p:cNvPicPr>
          <p:nvPr>
            <p:ph type="pic" sz="quarter" idx="4294967295"/>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4C0C5531-7387-B661-BFEC-B09C57B0FBAA}"/>
              </a:ext>
            </a:extLst>
          </p:cNvPr>
          <p:cNvSpPr>
            <a:spLocks noGrp="1"/>
          </p:cNvSpPr>
          <p:nvPr>
            <p:ph type="ctrTitle"/>
          </p:nvPr>
        </p:nvSpPr>
        <p:spPr>
          <a:xfrm>
            <a:off x="4077578" y="3498981"/>
            <a:ext cx="7262228" cy="1440000"/>
          </a:xfrm>
        </p:spPr>
        <p:txBody>
          <a:bodyPr/>
          <a:lstStyle/>
          <a:p>
            <a:r>
              <a:rPr lang="zh-CN" altLang="en-US" dirty="0"/>
              <a:t>项目合同</a:t>
            </a:r>
          </a:p>
        </p:txBody>
      </p:sp>
      <p:sp>
        <p:nvSpPr>
          <p:cNvPr id="3" name="副标题 2">
            <a:extLst>
              <a:ext uri="{FF2B5EF4-FFF2-40B4-BE49-F238E27FC236}">
                <a16:creationId xmlns:a16="http://schemas.microsoft.com/office/drawing/2014/main" id="{DDD4B680-CFA0-3545-6F6D-5A5B2BDC2A9E}"/>
              </a:ext>
            </a:extLst>
          </p:cNvPr>
          <p:cNvSpPr>
            <a:spLocks noGrp="1"/>
          </p:cNvSpPr>
          <p:nvPr>
            <p:ph type="subTitle" idx="1"/>
          </p:nvPr>
        </p:nvSpPr>
        <p:spPr>
          <a:xfrm>
            <a:off x="4077578" y="4938981"/>
            <a:ext cx="7262228" cy="900000"/>
          </a:xfrm>
        </p:spPr>
        <p:txBody>
          <a:bodyPr/>
          <a:lstStyle/>
          <a:p>
            <a:r>
              <a:rPr lang="en-US" altLang="zh-CN" dirty="0"/>
              <a:t>Section 10 Project Contract</a:t>
            </a:r>
            <a:endParaRPr lang="zh-CN" altLang="en-US" dirty="0"/>
          </a:p>
        </p:txBody>
      </p:sp>
    </p:spTree>
    <p:extLst>
      <p:ext uri="{BB962C8B-B14F-4D97-AF65-F5344CB8AC3E}">
        <p14:creationId xmlns:p14="http://schemas.microsoft.com/office/powerpoint/2010/main" val="910411400"/>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81CBA1-7920-566D-076A-0C4C93EDAE11}"/>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1CF0E67B-3E77-50D1-C7BC-0C28D3011005}"/>
              </a:ext>
            </a:extLst>
          </p:cNvPr>
          <p:cNvPicPr>
            <a:picLocks noGrp="1" noChangeAspect="1"/>
          </p:cNvPicPr>
          <p:nvPr>
            <p:ph type="pic" sz="quarter" idx="4294967295"/>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1D349DE4-986C-14E7-ACB1-53EDCE907EC5}"/>
              </a:ext>
            </a:extLst>
          </p:cNvPr>
          <p:cNvSpPr>
            <a:spLocks noGrp="1"/>
          </p:cNvSpPr>
          <p:nvPr>
            <p:ph type="ctrTitle"/>
          </p:nvPr>
        </p:nvSpPr>
        <p:spPr>
          <a:xfrm>
            <a:off x="4077578" y="3498981"/>
            <a:ext cx="7262228" cy="1440000"/>
          </a:xfrm>
        </p:spPr>
        <p:txBody>
          <a:bodyPr/>
          <a:lstStyle/>
          <a:p>
            <a:r>
              <a:rPr lang="zh-CN" altLang="en-US" dirty="0"/>
              <a:t>项目执行</a:t>
            </a:r>
          </a:p>
        </p:txBody>
      </p:sp>
      <p:sp>
        <p:nvSpPr>
          <p:cNvPr id="3" name="副标题 2">
            <a:extLst>
              <a:ext uri="{FF2B5EF4-FFF2-40B4-BE49-F238E27FC236}">
                <a16:creationId xmlns:a16="http://schemas.microsoft.com/office/drawing/2014/main" id="{45E81968-EC65-6418-2D93-61134A1A82BB}"/>
              </a:ext>
            </a:extLst>
          </p:cNvPr>
          <p:cNvSpPr>
            <a:spLocks noGrp="1"/>
          </p:cNvSpPr>
          <p:nvPr>
            <p:ph type="subTitle" idx="1"/>
          </p:nvPr>
        </p:nvSpPr>
        <p:spPr>
          <a:xfrm>
            <a:off x="4077578" y="4938981"/>
            <a:ext cx="7262228" cy="900000"/>
          </a:xfrm>
        </p:spPr>
        <p:txBody>
          <a:bodyPr/>
          <a:lstStyle/>
          <a:p>
            <a:r>
              <a:rPr lang="en-US" altLang="zh-CN" dirty="0"/>
              <a:t>Section 11 Project Execution</a:t>
            </a:r>
            <a:endParaRPr lang="zh-CN" altLang="en-US" dirty="0"/>
          </a:p>
        </p:txBody>
      </p:sp>
    </p:spTree>
    <p:extLst>
      <p:ext uri="{BB962C8B-B14F-4D97-AF65-F5344CB8AC3E}">
        <p14:creationId xmlns:p14="http://schemas.microsoft.com/office/powerpoint/2010/main" val="3343414957"/>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CE3AA5-6235-0E22-9AB2-CDC282765F88}"/>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BB551C51-19B0-1DCE-1098-39A95BCD0BB1}"/>
              </a:ext>
            </a:extLst>
          </p:cNvPr>
          <p:cNvPicPr>
            <a:picLocks noGrp="1" noChangeAspect="1"/>
          </p:cNvPicPr>
          <p:nvPr>
            <p:ph type="pic" sz="quarter" idx="4294967295"/>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BBE58437-882C-21E9-813E-164FFBFD2BC0}"/>
              </a:ext>
            </a:extLst>
          </p:cNvPr>
          <p:cNvSpPr>
            <a:spLocks noGrp="1"/>
          </p:cNvSpPr>
          <p:nvPr>
            <p:ph type="ctrTitle"/>
          </p:nvPr>
        </p:nvSpPr>
        <p:spPr>
          <a:xfrm>
            <a:off x="4077578" y="3498981"/>
            <a:ext cx="7262228" cy="1440000"/>
          </a:xfrm>
        </p:spPr>
        <p:txBody>
          <a:bodyPr/>
          <a:lstStyle/>
          <a:p>
            <a:r>
              <a:rPr lang="zh-CN" altLang="en-US" dirty="0"/>
              <a:t>项目结束</a:t>
            </a:r>
          </a:p>
        </p:txBody>
      </p:sp>
      <p:sp>
        <p:nvSpPr>
          <p:cNvPr id="3" name="副标题 2">
            <a:extLst>
              <a:ext uri="{FF2B5EF4-FFF2-40B4-BE49-F238E27FC236}">
                <a16:creationId xmlns:a16="http://schemas.microsoft.com/office/drawing/2014/main" id="{96EDA69B-AE1D-30B4-9A84-9FF3D5640890}"/>
              </a:ext>
            </a:extLst>
          </p:cNvPr>
          <p:cNvSpPr>
            <a:spLocks noGrp="1"/>
          </p:cNvSpPr>
          <p:nvPr>
            <p:ph type="subTitle" idx="1"/>
          </p:nvPr>
        </p:nvSpPr>
        <p:spPr>
          <a:xfrm>
            <a:off x="4077578" y="4938981"/>
            <a:ext cx="7262228" cy="900000"/>
          </a:xfrm>
        </p:spPr>
        <p:txBody>
          <a:bodyPr/>
          <a:lstStyle/>
          <a:p>
            <a:r>
              <a:rPr lang="en-US" altLang="zh-CN" dirty="0"/>
              <a:t>Section 12 Project Closure</a:t>
            </a:r>
            <a:endParaRPr lang="zh-CN" altLang="en-US" dirty="0"/>
          </a:p>
        </p:txBody>
      </p:sp>
    </p:spTree>
    <p:extLst>
      <p:ext uri="{BB962C8B-B14F-4D97-AF65-F5344CB8AC3E}">
        <p14:creationId xmlns:p14="http://schemas.microsoft.com/office/powerpoint/2010/main" val="3481589626"/>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CF79F05-89D9-48F9-55FD-50CA1A2B4146}"/>
              </a:ext>
            </a:extLst>
          </p:cNvPr>
          <p:cNvSpPr>
            <a:spLocks noGrp="1"/>
          </p:cNvSpPr>
          <p:nvPr>
            <p:ph type="title"/>
          </p:nvPr>
        </p:nvSpPr>
        <p:spPr>
          <a:xfrm>
            <a:off x="695998" y="360000"/>
            <a:ext cx="7200000" cy="424732"/>
          </a:xfrm>
        </p:spPr>
        <p:txBody>
          <a:bodyPr/>
          <a:lstStyle/>
          <a:p>
            <a:r>
              <a:rPr lang="en-US" altLang="zh-CN" dirty="0"/>
              <a:t>Tips</a:t>
            </a:r>
            <a:endParaRPr lang="zh-CN" altLang="en-US" dirty="0"/>
          </a:p>
        </p:txBody>
      </p:sp>
      <p:sp>
        <p:nvSpPr>
          <p:cNvPr id="6" name="内容占位符 5">
            <a:extLst>
              <a:ext uri="{FF2B5EF4-FFF2-40B4-BE49-F238E27FC236}">
                <a16:creationId xmlns:a16="http://schemas.microsoft.com/office/drawing/2014/main" id="{D2C08098-8E27-0EF7-1065-36E1A2457E01}"/>
              </a:ext>
            </a:extLst>
          </p:cNvPr>
          <p:cNvSpPr>
            <a:spLocks noGrp="1"/>
          </p:cNvSpPr>
          <p:nvPr>
            <p:ph idx="1"/>
          </p:nvPr>
        </p:nvSpPr>
        <p:spPr>
          <a:xfrm>
            <a:off x="696000" y="1080000"/>
            <a:ext cx="10800000" cy="5112000"/>
          </a:xfrm>
        </p:spPr>
        <p:txBody>
          <a:bodyPr/>
          <a:lstStyle/>
          <a:p>
            <a:r>
              <a:rPr lang="zh-CN" altLang="en-US" dirty="0"/>
              <a:t>聚焦价值</a:t>
            </a:r>
            <a:endParaRPr lang="en-US" altLang="zh-CN" dirty="0"/>
          </a:p>
          <a:p>
            <a:r>
              <a:rPr lang="zh-CN" altLang="en-US" dirty="0"/>
              <a:t>正能量</a:t>
            </a:r>
            <a:endParaRPr lang="en-US" altLang="zh-CN" dirty="0"/>
          </a:p>
          <a:p>
            <a:r>
              <a:rPr lang="zh-CN" altLang="en-US" dirty="0"/>
              <a:t>主动</a:t>
            </a:r>
            <a:endParaRPr lang="en-US" altLang="zh-CN" dirty="0"/>
          </a:p>
          <a:p>
            <a:r>
              <a:rPr lang="zh-CN" altLang="en-US" dirty="0"/>
              <a:t>客观</a:t>
            </a:r>
          </a:p>
        </p:txBody>
      </p:sp>
      <p:sp>
        <p:nvSpPr>
          <p:cNvPr id="10" name="文本占位符 9">
            <a:extLst>
              <a:ext uri="{FF2B5EF4-FFF2-40B4-BE49-F238E27FC236}">
                <a16:creationId xmlns:a16="http://schemas.microsoft.com/office/drawing/2014/main" id="{E92F371C-E9DB-AB69-A81A-CB2A474AB9D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59148447"/>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glpla">
      <a:majorFont>
        <a:latin typeface="Montserrat"/>
        <a:ea typeface="微软雅黑"/>
        <a:cs typeface=""/>
      </a:majorFont>
      <a:minorFont>
        <a:latin typeface="Montserrat"/>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4180</TotalTime>
  <Words>9290</Words>
  <Application>Microsoft Office PowerPoint</Application>
  <PresentationFormat>宽屏</PresentationFormat>
  <Paragraphs>1001</Paragraphs>
  <Slides>129</Slides>
  <Notes>63</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129</vt:i4>
      </vt:variant>
    </vt:vector>
  </HeadingPairs>
  <TitlesOfParts>
    <vt:vector size="135" baseType="lpstr">
      <vt:lpstr>等线</vt:lpstr>
      <vt:lpstr>黑体</vt:lpstr>
      <vt:lpstr>微软雅黑 Light</vt:lpstr>
      <vt:lpstr>Arial</vt:lpstr>
      <vt:lpstr>Montserrat</vt:lpstr>
      <vt:lpstr>Office 主题​​</vt:lpstr>
      <vt:lpstr>PowerPoint 演示文稿</vt:lpstr>
      <vt:lpstr>PowerPoint 演示文稿</vt:lpstr>
      <vt:lpstr>PowerPoint 演示文稿</vt:lpstr>
      <vt:lpstr>PowerPoint 演示文稿</vt:lpstr>
      <vt:lpstr>PowerPoint 演示文稿</vt:lpstr>
      <vt:lpstr>软件项目管理概述</vt:lpstr>
      <vt:lpstr>项目 Project</vt:lpstr>
      <vt:lpstr>项目 Project</vt:lpstr>
      <vt:lpstr>项目集 Program</vt:lpstr>
      <vt:lpstr>项目组合 Portfolio</vt:lpstr>
      <vt:lpstr>软件项目 Software Project</vt:lpstr>
      <vt:lpstr>项目管理 Project Management</vt:lpstr>
      <vt:lpstr>软件项目管理 Software Project Management</vt:lpstr>
      <vt:lpstr>概念解析 Concepts</vt:lpstr>
      <vt:lpstr>五大过程组 Project Management Process Groups</vt:lpstr>
      <vt:lpstr>十大知识领域 Knowledge Areas</vt:lpstr>
      <vt:lpstr>敏捷开发</vt:lpstr>
      <vt:lpstr>Case 1</vt:lpstr>
      <vt:lpstr>Case 2</vt:lpstr>
      <vt:lpstr>Case 3</vt:lpstr>
      <vt:lpstr>Case 4</vt:lpstr>
      <vt:lpstr>Case 5</vt:lpstr>
      <vt:lpstr>Conclusion</vt:lpstr>
      <vt:lpstr>Cases</vt:lpstr>
      <vt:lpstr>敏捷宣言 Manifesto</vt:lpstr>
      <vt:lpstr>4个核心价值 Value</vt:lpstr>
      <vt:lpstr>12个原则 Principle</vt:lpstr>
      <vt:lpstr>The 12 Principles behind the Agile Manifesto</vt:lpstr>
      <vt:lpstr>The 12 Principles behind the Agile Manifesto</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Why</vt:lpstr>
      <vt:lpstr>说明 Tips</vt:lpstr>
      <vt:lpstr>干系人 Stakeholders</vt:lpstr>
      <vt:lpstr>凸显模型 Salience Model</vt:lpstr>
      <vt:lpstr>PowerPoint 演示文稿</vt:lpstr>
      <vt:lpstr>Triple Constraint Diagram</vt:lpstr>
      <vt:lpstr>Construction project Triple Constraint Example</vt:lpstr>
      <vt:lpstr>IT project Triple Constraint Example</vt:lpstr>
      <vt:lpstr>Manufacturing Triple Constraint Example</vt:lpstr>
      <vt:lpstr>甘特图 Gantt Chart</vt:lpstr>
      <vt:lpstr>鱼骨图 Fishbone Diagram</vt:lpstr>
      <vt:lpstr>PERT</vt:lpstr>
      <vt:lpstr>项目启动</vt:lpstr>
      <vt:lpstr>任命项目经理 - Appoint the Project Manager</vt:lpstr>
      <vt:lpstr>批准业务案例 - Approve the business case</vt:lpstr>
      <vt:lpstr>确定项目目标 - Identify Project Objectives</vt:lpstr>
      <vt:lpstr>定义项目范围 - Define Project Scope</vt:lpstr>
      <vt:lpstr>Construction Project Scope Creep Example</vt:lpstr>
      <vt:lpstr>Manufacturing Project Scope Creep Example</vt:lpstr>
      <vt:lpstr>IT Project Scope Creep Example</vt:lpstr>
      <vt:lpstr>定义项目范围 - Define Project Scope</vt:lpstr>
      <vt:lpstr>批准预算 - Approve the Budget</vt:lpstr>
      <vt:lpstr>识别初始项目风险 - Identify Initial Project Risks</vt:lpstr>
      <vt:lpstr>生产交付物清单 - Produce List of Deliverables</vt:lpstr>
      <vt:lpstr>项目经理</vt:lpstr>
      <vt:lpstr>项目生成周期</vt:lpstr>
      <vt:lpstr>项目生命周期类型</vt:lpstr>
      <vt:lpstr>预测型</vt:lpstr>
      <vt:lpstr>迭代型</vt:lpstr>
      <vt:lpstr>增量型</vt:lpstr>
      <vt:lpstr>敏捷型</vt:lpstr>
      <vt:lpstr>Scrum</vt:lpstr>
      <vt:lpstr>敏捷价值观 Scrum Values</vt:lpstr>
      <vt:lpstr>PowerPoint 演示文稿</vt:lpstr>
      <vt:lpstr>敏捷理念 Scrum Theory</vt:lpstr>
      <vt:lpstr>敏捷理念 Scrum Theory/Pillars of Scrum</vt:lpstr>
      <vt:lpstr>敏捷理念 Scrum Theory/Pillars of Scrum</vt:lpstr>
      <vt:lpstr>敏捷理念 Scrum Theory/Pillars of Scrum</vt:lpstr>
      <vt:lpstr>敏捷团队 Scrum Team</vt:lpstr>
      <vt:lpstr>敏捷团队 Scrum Team</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敏捷活动 Scrum Events</vt:lpstr>
      <vt:lpstr>PowerPoint 演示文稿</vt:lpstr>
      <vt:lpstr>PowerPoint 演示文稿</vt:lpstr>
      <vt:lpstr>PowerPoint 演示文稿</vt:lpstr>
      <vt:lpstr>PowerPoint 演示文稿</vt:lpstr>
      <vt:lpstr>敏捷工件 Scrum Artifacts</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项目成本</vt:lpstr>
      <vt:lpstr>项目进度</vt:lpstr>
      <vt:lpstr>项目质量</vt:lpstr>
      <vt:lpstr>项目配置</vt:lpstr>
      <vt:lpstr>项目团队</vt:lpstr>
      <vt:lpstr>团队发展四阶段</vt:lpstr>
      <vt:lpstr>项目风险</vt:lpstr>
      <vt:lpstr>项目合同</vt:lpstr>
      <vt:lpstr>项目执行</vt:lpstr>
      <vt:lpstr>项目结束</vt:lpstr>
      <vt:lpstr>Tips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cn plaman</dc:creator>
  <cp:lastModifiedBy>cn plaman</cp:lastModifiedBy>
  <cp:revision>322</cp:revision>
  <dcterms:created xsi:type="dcterms:W3CDTF">2026-01-24T11:12:04Z</dcterms:created>
  <dcterms:modified xsi:type="dcterms:W3CDTF">2026-01-28T14:23:03Z</dcterms:modified>
</cp:coreProperties>
</file>