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65"/>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456" r:id="rId387"/>
    <p:sldId id="798" r:id="rId388"/>
    <p:sldId id="799" r:id="rId389"/>
    <p:sldId id="800" r:id="rId390"/>
    <p:sldId id="801" r:id="rId391"/>
    <p:sldId id="837" r:id="rId392"/>
    <p:sldId id="838" r:id="rId393"/>
    <p:sldId id="455" r:id="rId394"/>
    <p:sldId id="844" r:id="rId395"/>
    <p:sldId id="843" r:id="rId396"/>
    <p:sldId id="842" r:id="rId397"/>
    <p:sldId id="845" r:id="rId398"/>
    <p:sldId id="847" r:id="rId399"/>
    <p:sldId id="846" r:id="rId400"/>
    <p:sldId id="839" r:id="rId401"/>
    <p:sldId id="841" r:id="rId402"/>
    <p:sldId id="263" r:id="rId403"/>
    <p:sldId id="849" r:id="rId404"/>
    <p:sldId id="264" r:id="rId405"/>
    <p:sldId id="461" r:id="rId406"/>
    <p:sldId id="852" r:id="rId407"/>
    <p:sldId id="848" r:id="rId408"/>
    <p:sldId id="853" r:id="rId409"/>
    <p:sldId id="850" r:id="rId410"/>
    <p:sldId id="851" r:id="rId411"/>
    <p:sldId id="457" r:id="rId412"/>
    <p:sldId id="458" r:id="rId413"/>
    <p:sldId id="459" r:id="rId414"/>
    <p:sldId id="460" r:id="rId415"/>
    <p:sldId id="834" r:id="rId416"/>
    <p:sldId id="833" r:id="rId417"/>
    <p:sldId id="835" r:id="rId418"/>
    <p:sldId id="836" r:id="rId419"/>
    <p:sldId id="828" r:id="rId420"/>
    <p:sldId id="832" r:id="rId421"/>
    <p:sldId id="831" r:id="rId422"/>
    <p:sldId id="829" r:id="rId423"/>
    <p:sldId id="830" r:id="rId424"/>
    <p:sldId id="278" r:id="rId425"/>
    <p:sldId id="531" r:id="rId426"/>
    <p:sldId id="854" r:id="rId427"/>
    <p:sldId id="390" r:id="rId428"/>
    <p:sldId id="435" r:id="rId429"/>
    <p:sldId id="431" r:id="rId430"/>
    <p:sldId id="391" r:id="rId431"/>
    <p:sldId id="388" r:id="rId432"/>
    <p:sldId id="389" r:id="rId433"/>
    <p:sldId id="471" r:id="rId434"/>
    <p:sldId id="279" r:id="rId435"/>
    <p:sldId id="532" r:id="rId436"/>
    <p:sldId id="463" r:id="rId437"/>
    <p:sldId id="393" r:id="rId438"/>
    <p:sldId id="392" r:id="rId439"/>
    <p:sldId id="462" r:id="rId440"/>
    <p:sldId id="394" r:id="rId441"/>
    <p:sldId id="395" r:id="rId442"/>
    <p:sldId id="396" r:id="rId443"/>
    <p:sldId id="397" r:id="rId444"/>
    <p:sldId id="398" r:id="rId445"/>
    <p:sldId id="464" r:id="rId446"/>
    <p:sldId id="465" r:id="rId447"/>
    <p:sldId id="280" r:id="rId448"/>
    <p:sldId id="533" r:id="rId449"/>
    <p:sldId id="399" r:id="rId450"/>
    <p:sldId id="287" r:id="rId451"/>
    <p:sldId id="288" r:id="rId452"/>
    <p:sldId id="289" r:id="rId453"/>
    <p:sldId id="290" r:id="rId454"/>
    <p:sldId id="281" r:id="rId455"/>
    <p:sldId id="534" r:id="rId456"/>
    <p:sldId id="400" r:id="rId457"/>
    <p:sldId id="402" r:id="rId458"/>
    <p:sldId id="401" r:id="rId459"/>
    <p:sldId id="412" r:id="rId460"/>
    <p:sldId id="472" r:id="rId461"/>
    <p:sldId id="473" r:id="rId462"/>
    <p:sldId id="474" r:id="rId463"/>
    <p:sldId id="367" r:id="rId464"/>
  </p:sldIdLst>
  <p:sldSz cx="12192000" cy="6858000"/>
  <p:notesSz cx="6858000" cy="9144000"/>
  <p:embeddedFontLst>
    <p:embeddedFont>
      <p:font typeface="Cambria Math" panose="02040503050406030204" pitchFamily="18" charset="0"/>
      <p:regular r:id="rId466"/>
    </p:embeddedFont>
    <p:embeddedFont>
      <p:font typeface="Montserrat" panose="00000500000000000000" pitchFamily="2" charset="0"/>
      <p:regular r:id="rId467"/>
    </p:embeddedFont>
    <p:embeddedFont>
      <p:font typeface="Roboto Mono" pitchFamily="2" charset="0"/>
      <p:regular r:id="rId468"/>
      <p:bold r:id="rId469"/>
    </p:embeddedFont>
    <p:embeddedFont>
      <p:font typeface="Segoe UI Black" panose="020B0A02040204020203" pitchFamily="34" charset="0"/>
      <p:bold r:id="rId470"/>
      <p:boldItalic r:id="rId471"/>
    </p:embeddedFont>
    <p:embeddedFont>
      <p:font typeface="等线" panose="02010600030101010101" pitchFamily="2" charset="-122"/>
      <p:regular r:id="rId472"/>
      <p:bold r:id="rId473"/>
    </p:embeddedFont>
    <p:embeddedFont>
      <p:font typeface="微软雅黑" panose="020B0503020204020204" pitchFamily="34" charset="-122"/>
      <p:regular r:id="rId474"/>
      <p:bold r:id="rId475"/>
    </p:embeddedFont>
    <p:embeddedFont>
      <p:font typeface="幼圆" panose="02010509060101010101" pitchFamily="49" charset="-122"/>
      <p:regular r:id="rId47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D8BB3"/>
    <a:srgbClr val="1A5076"/>
    <a:srgbClr val="D70036"/>
    <a:srgbClr val="FE863F"/>
    <a:srgbClr val="92D050"/>
    <a:srgbClr val="017CB8"/>
    <a:srgbClr val="00D480"/>
    <a:srgbClr val="8F42C2"/>
    <a:srgbClr val="019259"/>
    <a:srgbClr val="5F2F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48" autoAdjust="0"/>
    <p:restoredTop sz="88166" autoAdjust="0"/>
  </p:normalViewPr>
  <p:slideViewPr>
    <p:cSldViewPr snapToGrid="0">
      <p:cViewPr varScale="1">
        <p:scale>
          <a:sx n="100" d="100"/>
          <a:sy n="100" d="100"/>
        </p:scale>
        <p:origin x="114" y="78"/>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font" Target="fonts/font10.fntdata"/><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font" Target="fonts/font1.fntdata"/><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commentAuthors" Target="commentAuthors.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font" Target="fonts/font3.fntdata"/><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viewProps" Target="viewProps.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font" Target="fonts/font5.fntdata"/><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tableStyles" Target="tableStyles.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font" Target="fonts/font7.fntdata"/><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slide" Target="slides/slide441.xml"/><Relationship Id="rId463" Type="http://schemas.openxmlformats.org/officeDocument/2006/relationships/slide" Target="slides/slide462.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font" Target="fonts/font9.fntdata"/><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notesMaster" Target="notesMasters/notesMaster1.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font" Target="fonts/font11.fntdata"/><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font" Target="fonts/font2.fntdata"/><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presProps" Target="presProps.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font" Target="fonts/font4.fntdata"/><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theme" Target="theme/theme1.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font" Target="fonts/font6.fntdata"/><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font" Target="fonts/font8.fntdata"/><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2026/5/18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4.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7.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388</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394</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399</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404</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407</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416</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429</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439</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gradFill>
            <a:gsLst>
              <a:gs pos="100000">
                <a:srgbClr val="00B0F0"/>
              </a:gs>
              <a:gs pos="0">
                <a:srgbClr val="2E75B6"/>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47.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34.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54.xml"/><Relationship Id="rId5" Type="http://schemas.openxmlformats.org/officeDocument/2006/relationships/slide" Target="slide183.xml"/><Relationship Id="rId10" Type="http://schemas.openxmlformats.org/officeDocument/2006/relationships/slide" Target="slide424.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4.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32.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6.xml.rels><?xml version="1.0" encoding="UTF-8" standalone="yes"?>
<Relationships xmlns="http://schemas.openxmlformats.org/package/2006/relationships"><Relationship Id="rId2" Type="http://schemas.openxmlformats.org/officeDocument/2006/relationships/image" Target="../media/image95.svg"/><Relationship Id="rId1" Type="http://schemas.openxmlformats.org/officeDocument/2006/relationships/slideLayout" Target="../slideLayouts/slideLayout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0.xml.rels><?xml version="1.0" encoding="UTF-8" standalone="yes"?>
<Relationships xmlns="http://schemas.openxmlformats.org/package/2006/relationships"><Relationship Id="rId8" Type="http://schemas.openxmlformats.org/officeDocument/2006/relationships/image" Target="../media/image97.svg"/><Relationship Id="rId3" Type="http://schemas.openxmlformats.org/officeDocument/2006/relationships/diagramLayout" Target="../diagrams/layout13.xml"/><Relationship Id="rId7" Type="http://schemas.openxmlformats.org/officeDocument/2006/relationships/image" Target="../media/image96.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image" Target="../media/image98.svg"/></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dirty="0"/>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77886901"/>
              </p:ext>
            </p:extLst>
          </p:nvPr>
        </p:nvGraphicFramePr>
        <p:xfrm>
          <a:off x="695325" y="863600"/>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sz="2000" dirty="0"/>
              <a:t>6.1.2 </a:t>
            </a:r>
            <a:r>
              <a:rPr lang="zh-CN" altLang="en-US" sz="2000"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sz="1800"/>
              <a:t>工作量</a:t>
            </a:r>
            <a:endParaRPr lang="en-US" altLang="zh-CN" sz="1800" dirty="0"/>
          </a:p>
          <a:p>
            <a:r>
              <a:rPr lang="zh-CN" altLang="en-US" sz="1800"/>
              <a:t>规模</a:t>
            </a:r>
            <a:endParaRPr lang="en-US" altLang="zh-CN" sz="1800" dirty="0"/>
          </a:p>
          <a:p>
            <a:r>
              <a:rPr lang="zh-CN" altLang="en-US" sz="1800"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79296"/>
            <a:ext cx="4424080" cy="307777"/>
          </a:xfrm>
        </p:spPr>
        <p:txBody>
          <a:bodyPr/>
          <a:lstStyle/>
          <a:p>
            <a:r>
              <a:rPr lang="en-US" altLang="zh-CN" sz="1400"/>
              <a:t>Unit</a:t>
            </a:r>
            <a:endParaRPr lang="zh-CN" altLang="en-US" sz="1400"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solidFill>
                  <a:schemeClr val="tx1"/>
                </a:solidFill>
              </a:rPr>
              <a:t>6.2.3 </a:t>
            </a:r>
            <a:r>
              <a:rPr lang="zh-CN" altLang="en-US" dirty="0">
                <a:solidFill>
                  <a:schemeClr val="tx1"/>
                </a:solidFill>
              </a:rPr>
              <a:t>用例点估算</a:t>
            </a:r>
            <a:r>
              <a:rPr lang="en-US" altLang="zh-CN" dirty="0">
                <a:solidFill>
                  <a:schemeClr val="tx1"/>
                </a:solidFill>
              </a:rPr>
              <a:t> </a:t>
            </a:r>
            <a:endParaRPr lang="zh-CN" altLang="en-US" dirty="0">
              <a:solidFill>
                <a:schemeClr val="tx1"/>
              </a:solidFill>
            </a:endParaRPr>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solidFill>
                  <a:schemeClr val="tx1"/>
                </a:solidFill>
              </a:rPr>
              <a:t>6.3.3 </a:t>
            </a:r>
            <a:r>
              <a:rPr lang="zh-CN" altLang="en-US" dirty="0">
                <a:solidFill>
                  <a:schemeClr val="tx1"/>
                </a:solidFill>
              </a:rPr>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2251498397"/>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7" name="内容占位符 6">
            <a:extLst>
              <a:ext uri="{FF2B5EF4-FFF2-40B4-BE49-F238E27FC236}">
                <a16:creationId xmlns:a16="http://schemas.microsoft.com/office/drawing/2014/main" id="{5B7A431B-975A-A9E3-7BA7-283B0F5991A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6" name="文本占位符 5">
            <a:extLst>
              <a:ext uri="{FF2B5EF4-FFF2-40B4-BE49-F238E27FC236}">
                <a16:creationId xmlns:a16="http://schemas.microsoft.com/office/drawing/2014/main" id="{1EEC0DC4-7469-9642-6A65-2587E2B87D73}"/>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a:t>
            </a:r>
            <a:r>
              <a:rPr lang="zh-CN" altLang="en-US" b="1" dirty="0"/>
              <a:t>发布通知</a:t>
            </a:r>
            <a:endParaRPr lang="en-US" altLang="zh-CN" b="1" dirty="0"/>
          </a:p>
          <a:p>
            <a:r>
              <a:rPr lang="zh-CN" altLang="en-US" dirty="0"/>
              <a:t>若拒绝，则通知申请人并归档</a:t>
            </a:r>
          </a:p>
          <a:p>
            <a:r>
              <a:rPr lang="zh-CN" altLang="en-US" dirty="0"/>
              <a:t>更新基线与文档，关闭变更请求，</a:t>
            </a:r>
            <a:r>
              <a:rPr lang="zh-CN" altLang="en-US" b="1" dirty="0"/>
              <a:t>发布通知</a:t>
            </a:r>
          </a:p>
          <a:p>
            <a:endParaRPr lang="zh-CN" altLang="en-US" dirty="0"/>
          </a:p>
        </p:txBody>
      </p:sp>
      <p:sp>
        <p:nvSpPr>
          <p:cNvPr id="21" name="文本占位符 20">
            <a:extLst>
              <a:ext uri="{FF2B5EF4-FFF2-40B4-BE49-F238E27FC236}">
                <a16:creationId xmlns:a16="http://schemas.microsoft.com/office/drawing/2014/main" id="{F1418901-39A9-98ED-1CE4-0F0AD3A846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3DD8E055-E543-B5E3-9C95-CEEAEAEA5A17}"/>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C65F2B98-B297-0C83-B0D6-E30EBE770144}"/>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solidFill>
                  <a:srgbClr val="E05F73"/>
                </a:solidFill>
              </a:rPr>
              <a:t>正确的做</a:t>
            </a:r>
            <a:endParaRPr lang="en-US" altLang="zh-CN" dirty="0">
              <a:solidFill>
                <a:srgbClr val="E05F73"/>
              </a:solidFill>
            </a:endParaRPr>
          </a:p>
          <a:p>
            <a:pPr lvl="1"/>
            <a:r>
              <a:rPr lang="zh-CN" altLang="en-US" dirty="0"/>
              <a:t>基线审计：确保基线的配置项正确的构造并实现，且满足功能要求</a:t>
            </a:r>
            <a:r>
              <a:rPr lang="en-US" altLang="zh-CN" dirty="0"/>
              <a:t>/</a:t>
            </a:r>
            <a:r>
              <a:rPr lang="zh-CN" altLang="en-US" dirty="0">
                <a:solidFill>
                  <a:srgbClr val="E05F73"/>
                </a:solidFill>
              </a:rPr>
              <a:t>做的正确</a:t>
            </a:r>
            <a:endParaRPr lang="en-US" altLang="zh-CN" dirty="0">
              <a:solidFill>
                <a:srgbClr val="E05F73"/>
              </a:solidFill>
            </a:endParaRPr>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a:t>
            </a:r>
            <a:r>
              <a:rPr lang="zh-CN" altLang="en-US" dirty="0">
                <a:solidFill>
                  <a:schemeClr val="accent2"/>
                </a:solidFill>
              </a:rPr>
              <a:t>配置管理者 </a:t>
            </a:r>
            <a:r>
              <a:rPr lang="en-US" altLang="zh-CN" dirty="0">
                <a:solidFill>
                  <a:schemeClr val="accent2"/>
                </a:solidFill>
              </a:rPr>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14" name="文本占位符 13">
            <a:extLst>
              <a:ext uri="{FF2B5EF4-FFF2-40B4-BE49-F238E27FC236}">
                <a16:creationId xmlns:a16="http://schemas.microsoft.com/office/drawing/2014/main" id="{9253FB88-FBBF-A1E7-89CA-84F1F526556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10" name="文本占位符 9">
            <a:extLst>
              <a:ext uri="{FF2B5EF4-FFF2-40B4-BE49-F238E27FC236}">
                <a16:creationId xmlns:a16="http://schemas.microsoft.com/office/drawing/2014/main" id="{9039D8DD-49A1-706F-F289-8129D62D62E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10" name="文本占位符 9">
            <a:extLst>
              <a:ext uri="{FF2B5EF4-FFF2-40B4-BE49-F238E27FC236}">
                <a16:creationId xmlns:a16="http://schemas.microsoft.com/office/drawing/2014/main" id="{99003CDF-0F9B-2CAB-24D6-441496B2BC6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13" name="文本占位符 12">
            <a:extLst>
              <a:ext uri="{FF2B5EF4-FFF2-40B4-BE49-F238E27FC236}">
                <a16:creationId xmlns:a16="http://schemas.microsoft.com/office/drawing/2014/main" id="{5737D91B-080F-AEA3-4C47-3BB2C6A0BE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p:txBody>
          <a:bodyPr/>
          <a:lstStyle/>
          <a:p>
            <a:r>
              <a:rPr lang="zh-CN" altLang="en-US" dirty="0"/>
              <a:t>变更过程小结</a:t>
            </a:r>
          </a:p>
        </p:txBody>
      </p:sp>
      <p:sp>
        <p:nvSpPr>
          <p:cNvPr id="3" name="内容占位符 2">
            <a:extLst>
              <a:ext uri="{FF2B5EF4-FFF2-40B4-BE49-F238E27FC236}">
                <a16:creationId xmlns:a16="http://schemas.microsoft.com/office/drawing/2014/main" id="{E5319B90-F7E3-249E-7E2D-8492B1046DB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7BA1873-786C-343F-B195-44DEF719865C}"/>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695998"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10" name="文本占位符 9">
            <a:extLst>
              <a:ext uri="{FF2B5EF4-FFF2-40B4-BE49-F238E27FC236}">
                <a16:creationId xmlns:a16="http://schemas.microsoft.com/office/drawing/2014/main" id="{7869B37A-4347-C416-9E7F-B93ED4E388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a:t>
            </a:r>
            <a:r>
              <a:rPr lang="zh-CN" altLang="zh-CN" b="1" dirty="0">
                <a:solidFill>
                  <a:srgbClr val="E4745C"/>
                </a:solidFill>
              </a:rPr>
              <a:t>快要</a:t>
            </a:r>
            <a:r>
              <a:rPr lang="zh-CN" altLang="zh-CN" dirty="0"/>
              <a:t>上线时甚至上线后才合并到主干</a:t>
            </a:r>
            <a:endParaRPr lang="en-US" altLang="zh-CN" dirty="0"/>
          </a:p>
          <a:p>
            <a:r>
              <a:rPr lang="zh-CN" altLang="en-US" dirty="0"/>
              <a:t>分支是</a:t>
            </a:r>
            <a:r>
              <a:rPr lang="zh-CN" altLang="en-US" b="1" dirty="0">
                <a:solidFill>
                  <a:srgbClr val="E4745C"/>
                </a:solidFill>
              </a:rPr>
              <a:t>长期</a:t>
            </a:r>
            <a:r>
              <a:rPr lang="zh-CN" altLang="en-US" dirty="0"/>
              <a:t>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a:t>
            </a:r>
            <a:r>
              <a:rPr lang="zh-CN" altLang="en-US" b="1" dirty="0">
                <a:solidFill>
                  <a:srgbClr val="E4745C"/>
                </a:solidFill>
              </a:rPr>
              <a:t>短期</a:t>
            </a:r>
            <a:r>
              <a:rPr lang="zh-CN" altLang="en-US" dirty="0"/>
              <a:t>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695998"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22" name="文本占位符 21">
            <a:extLst>
              <a:ext uri="{FF2B5EF4-FFF2-40B4-BE49-F238E27FC236}">
                <a16:creationId xmlns:a16="http://schemas.microsoft.com/office/drawing/2014/main" id="{B4ACDBBF-C1E9-85E5-C570-370BCE30DD7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p:txBody>
          <a:bodyPr/>
          <a:lstStyle/>
          <a:p>
            <a:r>
              <a:rPr lang="zh-CN" altLang="en-US" dirty="0"/>
              <a:t>每个人的角色和职责</a:t>
            </a:r>
          </a:p>
        </p:txBody>
      </p:sp>
      <p:sp>
        <p:nvSpPr>
          <p:cNvPr id="5" name="文本占位符 4">
            <a:extLst>
              <a:ext uri="{FF2B5EF4-FFF2-40B4-BE49-F238E27FC236}">
                <a16:creationId xmlns:a16="http://schemas.microsoft.com/office/drawing/2014/main" id="{C13FD299-88EE-4CD7-AB71-6686EA483872}"/>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25" name="文本占位符 24">
            <a:extLst>
              <a:ext uri="{FF2B5EF4-FFF2-40B4-BE49-F238E27FC236}">
                <a16:creationId xmlns:a16="http://schemas.microsoft.com/office/drawing/2014/main" id="{8F74A83D-301D-77C4-69E0-8129B21B2294}"/>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695998"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4018861926"/>
              </p:ext>
            </p:extLst>
          </p:nvPr>
        </p:nvGraphicFramePr>
        <p:xfrm>
          <a:off x="3136536" y="2298650"/>
          <a:ext cx="4896392" cy="2855033"/>
        </p:xfrm>
        <a:graphic>
          <a:graphicData uri="http://schemas.openxmlformats.org/drawingml/2006/table">
            <a:tbl>
              <a:tblPr firstRow="1" bandRow="1">
                <a:tableStyleId>{5C22544A-7EE6-4342-B048-85BDC9FD1C3A}</a:tableStyleId>
              </a:tblPr>
              <a:tblGrid>
                <a:gridCol w="2448196">
                  <a:extLst>
                    <a:ext uri="{9D8B030D-6E8A-4147-A177-3AD203B41FA5}">
                      <a16:colId xmlns:a16="http://schemas.microsoft.com/office/drawing/2014/main" val="1578455872"/>
                    </a:ext>
                  </a:extLst>
                </a:gridCol>
                <a:gridCol w="2448196">
                  <a:extLst>
                    <a:ext uri="{9D8B030D-6E8A-4147-A177-3AD203B41FA5}">
                      <a16:colId xmlns:a16="http://schemas.microsoft.com/office/drawing/2014/main" val="1102437032"/>
                    </a:ext>
                  </a:extLst>
                </a:gridCol>
              </a:tblGrid>
              <a:tr h="1438845">
                <a:tc>
                  <a:txBody>
                    <a:bodyPr/>
                    <a:lstStyle/>
                    <a:p>
                      <a:pPr algn="ctr"/>
                      <a:r>
                        <a:rPr lang="en-US" altLang="zh-CN" sz="2000" b="0" dirty="0">
                          <a:solidFill>
                            <a:schemeClr val="bg1"/>
                          </a:solidFill>
                        </a:rPr>
                        <a:t>A</a:t>
                      </a:r>
                    </a:p>
                    <a:p>
                      <a:pPr algn="ctr"/>
                      <a:r>
                        <a:rPr lang="en-US" altLang="zh-CN" sz="1600" b="0" dirty="0">
                          <a:solidFill>
                            <a:schemeClr val="bg1"/>
                          </a:solidFill>
                        </a:rPr>
                        <a:t>Keep satisfied</a:t>
                      </a:r>
                    </a:p>
                    <a:p>
                      <a:pPr algn="ctr"/>
                      <a:r>
                        <a:rPr lang="zh-CN" altLang="en-US" sz="1600" b="0" dirty="0">
                          <a:solidFill>
                            <a:schemeClr val="bg1"/>
                          </a:solidFill>
                        </a:rPr>
                        <a:t>令其满意</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19259"/>
                    </a:solidFill>
                  </a:tcPr>
                </a:tc>
                <a:tc>
                  <a:txBody>
                    <a:bodyPr/>
                    <a:lstStyle/>
                    <a:p>
                      <a:pPr algn="ctr"/>
                      <a:r>
                        <a:rPr lang="en-US" altLang="zh-CN" sz="2000" b="0" dirty="0">
                          <a:solidFill>
                            <a:schemeClr val="bg1"/>
                          </a:solidFill>
                        </a:rPr>
                        <a:t>B</a:t>
                      </a:r>
                    </a:p>
                    <a:p>
                      <a:pPr algn="ctr"/>
                      <a:r>
                        <a:rPr lang="en-US" altLang="zh-CN" sz="1600" b="0" dirty="0">
                          <a:solidFill>
                            <a:schemeClr val="bg1"/>
                          </a:solidFill>
                        </a:rPr>
                        <a:t>Manage closely</a:t>
                      </a:r>
                    </a:p>
                    <a:p>
                      <a:pPr algn="ctr"/>
                      <a:r>
                        <a:rPr lang="zh-CN" altLang="en-US" sz="1600" b="0" dirty="0">
                          <a:solidFill>
                            <a:schemeClr val="bg1"/>
                          </a:solidFill>
                        </a:rPr>
                        <a:t>重点管理</a:t>
                      </a:r>
                      <a:endParaRPr lang="en-US" altLang="zh-CN"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70036"/>
                    </a:solidFill>
                  </a:tcPr>
                </a:tc>
                <a:extLst>
                  <a:ext uri="{0D108BD9-81ED-4DB2-BD59-A6C34878D82A}">
                    <a16:rowId xmlns:a16="http://schemas.microsoft.com/office/drawing/2014/main" val="1739899098"/>
                  </a:ext>
                </a:extLst>
              </a:tr>
              <a:tr h="1416188">
                <a:tc>
                  <a:txBody>
                    <a:bodyPr/>
                    <a:lstStyle/>
                    <a:p>
                      <a:pPr algn="ctr"/>
                      <a:r>
                        <a:rPr lang="en-US" altLang="zh-CN" sz="2000" b="0" dirty="0">
                          <a:solidFill>
                            <a:schemeClr val="tx1"/>
                          </a:solidFill>
                        </a:rPr>
                        <a:t>D</a:t>
                      </a:r>
                    </a:p>
                    <a:p>
                      <a:pPr algn="ctr"/>
                      <a:r>
                        <a:rPr lang="en-US" altLang="zh-CN" sz="1600" b="0" dirty="0">
                          <a:solidFill>
                            <a:schemeClr val="tx1"/>
                          </a:solidFill>
                        </a:rPr>
                        <a:t>Minimal effort</a:t>
                      </a:r>
                    </a:p>
                    <a:p>
                      <a:pPr algn="ctr"/>
                      <a:r>
                        <a:rPr lang="zh-CN" altLang="en-US" sz="1600" b="0" dirty="0">
                          <a:solidFill>
                            <a:schemeClr val="tx1"/>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2000" b="0" dirty="0">
                          <a:solidFill>
                            <a:schemeClr val="bg1"/>
                          </a:solidFill>
                        </a:rPr>
                        <a:t>C</a:t>
                      </a:r>
                    </a:p>
                    <a:p>
                      <a:pPr algn="ctr"/>
                      <a:r>
                        <a:rPr lang="en-US" altLang="zh-CN" sz="1600" b="0" dirty="0">
                          <a:solidFill>
                            <a:schemeClr val="bg1"/>
                          </a:solidFill>
                        </a:rPr>
                        <a:t>Keep informed</a:t>
                      </a:r>
                    </a:p>
                    <a:p>
                      <a:pPr algn="ctr"/>
                      <a:r>
                        <a:rPr lang="zh-CN" altLang="en-US" sz="1600" b="0" dirty="0">
                          <a:solidFill>
                            <a:schemeClr val="bg1"/>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666" y="1213496"/>
            <a:ext cx="543739" cy="307777"/>
          </a:xfrm>
          <a:prstGeom prst="rect">
            <a:avLst/>
          </a:prstGeom>
          <a:noFill/>
        </p:spPr>
        <p:txBody>
          <a:bodyPr vert="horz" wrap="none" rtlCol="0">
            <a:spAutoFit/>
          </a:bodyPr>
          <a:lstStyle/>
          <a:p>
            <a:pPr algn="ctr"/>
            <a:r>
              <a:rPr lang="zh-CN" altLang="en-US" sz="14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8935301" y="5226510"/>
            <a:ext cx="543739" cy="307777"/>
          </a:xfrm>
          <a:prstGeom prst="rect">
            <a:avLst/>
          </a:prstGeom>
          <a:noFill/>
        </p:spPr>
        <p:txBody>
          <a:bodyPr wrap="none" rtlCol="0">
            <a:spAutoFit/>
          </a:bodyPr>
          <a:lstStyle/>
          <a:p>
            <a:pPr algn="ctr"/>
            <a:r>
              <a:rPr lang="zh-CN" altLang="en-US" sz="1400" dirty="0"/>
              <a:t>利益</a:t>
            </a:r>
          </a:p>
        </p:txBody>
      </p:sp>
      <p:sp>
        <p:nvSpPr>
          <p:cNvPr id="17" name="文本框 16">
            <a:extLst>
              <a:ext uri="{FF2B5EF4-FFF2-40B4-BE49-F238E27FC236}">
                <a16:creationId xmlns:a16="http://schemas.microsoft.com/office/drawing/2014/main" id="{51BC813C-B347-A3C1-3180-D228DF21B4F1}"/>
              </a:ext>
            </a:extLst>
          </p:cNvPr>
          <p:cNvSpPr txBox="1"/>
          <p:nvPr/>
        </p:nvSpPr>
        <p:spPr>
          <a:xfrm>
            <a:off x="2760680" y="1432106"/>
            <a:ext cx="763351" cy="307777"/>
          </a:xfrm>
          <a:prstGeom prst="rect">
            <a:avLst/>
          </a:prstGeom>
          <a:noFill/>
        </p:spPr>
        <p:txBody>
          <a:bodyPr wrap="none" rtlCol="0">
            <a:spAutoFit/>
          </a:bodyPr>
          <a:lstStyle/>
          <a:p>
            <a:pPr algn="l"/>
            <a:r>
              <a:rPr lang="en-US" altLang="zh-CN" sz="1400" dirty="0"/>
              <a:t>Power</a:t>
            </a:r>
            <a:endParaRPr lang="zh-CN" altLang="en-US" sz="1400" dirty="0"/>
          </a:p>
        </p:txBody>
      </p:sp>
      <p:sp>
        <p:nvSpPr>
          <p:cNvPr id="18" name="文本框 17">
            <a:extLst>
              <a:ext uri="{FF2B5EF4-FFF2-40B4-BE49-F238E27FC236}">
                <a16:creationId xmlns:a16="http://schemas.microsoft.com/office/drawing/2014/main" id="{5B5FB49D-E348-C9AD-F983-03CF0A80AF9A}"/>
              </a:ext>
            </a:extLst>
          </p:cNvPr>
          <p:cNvSpPr txBox="1"/>
          <p:nvPr/>
        </p:nvSpPr>
        <p:spPr>
          <a:xfrm>
            <a:off x="8765384" y="5031285"/>
            <a:ext cx="883575" cy="307777"/>
          </a:xfrm>
          <a:prstGeom prst="rect">
            <a:avLst/>
          </a:prstGeom>
          <a:noFill/>
        </p:spPr>
        <p:txBody>
          <a:bodyPr wrap="none" rtlCol="0">
            <a:spAutoFit/>
          </a:bodyPr>
          <a:lstStyle/>
          <a:p>
            <a:pPr algn="l"/>
            <a:r>
              <a:rPr lang="en-US" altLang="zh-CN" sz="1400" dirty="0"/>
              <a:t>Interest</a:t>
            </a:r>
            <a:endParaRPr lang="zh-CN" altLang="en-US" sz="1400" dirty="0"/>
          </a:p>
        </p:txBody>
      </p:sp>
      <p:sp>
        <p:nvSpPr>
          <p:cNvPr id="19" name="文本框 18">
            <a:extLst>
              <a:ext uri="{FF2B5EF4-FFF2-40B4-BE49-F238E27FC236}">
                <a16:creationId xmlns:a16="http://schemas.microsoft.com/office/drawing/2014/main" id="{45452086-07FE-56F4-786A-68F2646AEAE6}"/>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2015998502"/>
              </p:ext>
            </p:extLst>
          </p:nvPr>
        </p:nvGraphicFramePr>
        <p:xfrm>
          <a:off x="695325" y="242316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5117436"/>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218308"/>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 name="等腰三角形 14">
            <a:extLst>
              <a:ext uri="{FF2B5EF4-FFF2-40B4-BE49-F238E27FC236}">
                <a16:creationId xmlns:a16="http://schemas.microsoft.com/office/drawing/2014/main" id="{A19F840B-110A-BA60-8EFE-259A80FDC077}"/>
              </a:ext>
            </a:extLst>
          </p:cNvPr>
          <p:cNvSpPr/>
          <p:nvPr/>
        </p:nvSpPr>
        <p:spPr>
          <a:xfrm flipV="1">
            <a:off x="214888" y="4093219"/>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 name="等腰三角形 13">
            <a:extLst>
              <a:ext uri="{FF2B5EF4-FFF2-40B4-BE49-F238E27FC236}">
                <a16:creationId xmlns:a16="http://schemas.microsoft.com/office/drawing/2014/main" id="{1CB40D72-AECF-F5A4-FFD7-7B87AAB06125}"/>
              </a:ext>
            </a:extLst>
          </p:cNvPr>
          <p:cNvSpPr/>
          <p:nvPr/>
        </p:nvSpPr>
        <p:spPr>
          <a:xfrm flipV="1">
            <a:off x="214888" y="3069001"/>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3" name="等腰三角形 12">
            <a:extLst>
              <a:ext uri="{FF2B5EF4-FFF2-40B4-BE49-F238E27FC236}">
                <a16:creationId xmlns:a16="http://schemas.microsoft.com/office/drawing/2014/main" id="{506922B5-0CA4-0FB0-DF56-E0A547B2CA9B}"/>
              </a:ext>
            </a:extLst>
          </p:cNvPr>
          <p:cNvSpPr/>
          <p:nvPr/>
        </p:nvSpPr>
        <p:spPr>
          <a:xfrm flipV="1">
            <a:off x="214888" y="2044783"/>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 name="等腰三角形 10">
            <a:extLst>
              <a:ext uri="{FF2B5EF4-FFF2-40B4-BE49-F238E27FC236}">
                <a16:creationId xmlns:a16="http://schemas.microsoft.com/office/drawing/2014/main" id="{ADD0C9C5-F907-6A66-6943-C5919889ABAC}"/>
              </a:ext>
            </a:extLst>
          </p:cNvPr>
          <p:cNvSpPr/>
          <p:nvPr/>
        </p:nvSpPr>
        <p:spPr>
          <a:xfrm flipV="1">
            <a:off x="214888" y="1020565"/>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108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363965" y="2773010"/>
            <a:ext cx="1011815" cy="615553"/>
          </a:xfrm>
          <a:prstGeom prst="rect">
            <a:avLst/>
          </a:prstGeom>
          <a:noFill/>
        </p:spPr>
        <p:txBody>
          <a:bodyPr wrap="none" rtlCol="0">
            <a:spAutoFit/>
          </a:bodyPr>
          <a:lstStyle/>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98814" y="2773010"/>
            <a:ext cx="1484702" cy="615553"/>
          </a:xfrm>
          <a:prstGeom prst="rect">
            <a:avLst/>
          </a:prstGeom>
          <a:noFill/>
        </p:spPr>
        <p:txBody>
          <a:bodyPr wrap="none" rtlCol="0">
            <a:spAutoFit/>
          </a:bodyPr>
          <a:lstStyle/>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355294" y="2773010"/>
            <a:ext cx="1803699" cy="615553"/>
          </a:xfrm>
          <a:prstGeom prst="rect">
            <a:avLst/>
          </a:prstGeom>
          <a:noFill/>
        </p:spPr>
        <p:txBody>
          <a:bodyPr wrap="none" rtlCol="0">
            <a:spAutoFit/>
          </a:bodyPr>
          <a:lstStyle/>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10" name="文本占位符 9">
            <a:extLst>
              <a:ext uri="{FF2B5EF4-FFF2-40B4-BE49-F238E27FC236}">
                <a16:creationId xmlns:a16="http://schemas.microsoft.com/office/drawing/2014/main" id="{4655292A-1879-5B7B-68E1-3E4DF12C02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9162A08C-2AF3-04E0-3A4B-ABF82FB0ED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6" name="文本占位符 5">
            <a:extLst>
              <a:ext uri="{FF2B5EF4-FFF2-40B4-BE49-F238E27FC236}">
                <a16:creationId xmlns:a16="http://schemas.microsoft.com/office/drawing/2014/main" id="{E5D3CD76-C68A-205B-6662-900B184520C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13" name="文本占位符 12">
            <a:extLst>
              <a:ext uri="{FF2B5EF4-FFF2-40B4-BE49-F238E27FC236}">
                <a16:creationId xmlns:a16="http://schemas.microsoft.com/office/drawing/2014/main" id="{5E04F5B3-A371-4104-4CD5-68A4DA5DBA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13" name="文本占位符 12">
            <a:extLst>
              <a:ext uri="{FF2B5EF4-FFF2-40B4-BE49-F238E27FC236}">
                <a16:creationId xmlns:a16="http://schemas.microsoft.com/office/drawing/2014/main" id="{D652F161-03BF-67CA-7AF3-42364257C54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34005</TotalTime>
  <Words>39852</Words>
  <Application>Microsoft Office PowerPoint</Application>
  <PresentationFormat>宽屏</PresentationFormat>
  <Paragraphs>7496</Paragraphs>
  <Slides>463</Slides>
  <Notes>197</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463</vt:i4>
      </vt:variant>
    </vt:vector>
  </HeadingPairs>
  <TitlesOfParts>
    <vt:vector size="475" baseType="lpstr">
      <vt:lpstr>Montserrat</vt:lpstr>
      <vt:lpstr>Roboto Mono</vt:lpstr>
      <vt:lpstr>幼圆</vt:lpstr>
      <vt:lpstr>Arial</vt:lpstr>
      <vt:lpstr>Wingdings</vt:lpstr>
      <vt:lpstr>Cambria Math</vt:lpstr>
      <vt:lpstr>等线</vt:lpstr>
      <vt:lpstr>微软雅黑</vt:lpstr>
      <vt:lpstr>Calibri</vt:lpstr>
      <vt:lpstr>Segoe UI Black</vt:lpstr>
      <vt:lpstr>Times New Roman</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3192</cp:revision>
  <dcterms:created xsi:type="dcterms:W3CDTF">2026-01-24T11:12:04Z</dcterms:created>
  <dcterms:modified xsi:type="dcterms:W3CDTF">2026-05-18T14:57:18Z</dcterms:modified>
</cp:coreProperties>
</file>