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78"/>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456" r:id="rId387"/>
    <p:sldId id="798" r:id="rId388"/>
    <p:sldId id="799" r:id="rId389"/>
    <p:sldId id="800" r:id="rId390"/>
    <p:sldId id="801" r:id="rId391"/>
    <p:sldId id="837" r:id="rId392"/>
    <p:sldId id="838" r:id="rId393"/>
    <p:sldId id="455" r:id="rId394"/>
    <p:sldId id="844" r:id="rId395"/>
    <p:sldId id="843" r:id="rId396"/>
    <p:sldId id="842" r:id="rId397"/>
    <p:sldId id="845" r:id="rId398"/>
    <p:sldId id="847" r:id="rId399"/>
    <p:sldId id="846" r:id="rId400"/>
    <p:sldId id="839" r:id="rId401"/>
    <p:sldId id="841" r:id="rId402"/>
    <p:sldId id="263" r:id="rId403"/>
    <p:sldId id="849" r:id="rId404"/>
    <p:sldId id="264" r:id="rId405"/>
    <p:sldId id="461" r:id="rId406"/>
    <p:sldId id="852" r:id="rId407"/>
    <p:sldId id="848" r:id="rId408"/>
    <p:sldId id="853" r:id="rId409"/>
    <p:sldId id="850" r:id="rId410"/>
    <p:sldId id="851" r:id="rId411"/>
    <p:sldId id="457" r:id="rId412"/>
    <p:sldId id="458" r:id="rId413"/>
    <p:sldId id="459" r:id="rId414"/>
    <p:sldId id="460" r:id="rId415"/>
    <p:sldId id="834" r:id="rId416"/>
    <p:sldId id="833" r:id="rId417"/>
    <p:sldId id="835" r:id="rId418"/>
    <p:sldId id="836" r:id="rId419"/>
    <p:sldId id="828" r:id="rId420"/>
    <p:sldId id="832" r:id="rId421"/>
    <p:sldId id="831" r:id="rId422"/>
    <p:sldId id="829" r:id="rId423"/>
    <p:sldId id="830" r:id="rId424"/>
    <p:sldId id="278" r:id="rId425"/>
    <p:sldId id="531" r:id="rId426"/>
    <p:sldId id="854" r:id="rId427"/>
    <p:sldId id="431" r:id="rId428"/>
    <p:sldId id="390" r:id="rId429"/>
    <p:sldId id="391" r:id="rId430"/>
    <p:sldId id="855" r:id="rId431"/>
    <p:sldId id="435" r:id="rId432"/>
    <p:sldId id="389" r:id="rId433"/>
    <p:sldId id="866" r:id="rId434"/>
    <p:sldId id="857" r:id="rId435"/>
    <p:sldId id="867" r:id="rId436"/>
    <p:sldId id="864" r:id="rId437"/>
    <p:sldId id="858" r:id="rId438"/>
    <p:sldId id="868" r:id="rId439"/>
    <p:sldId id="865" r:id="rId440"/>
    <p:sldId id="869" r:id="rId441"/>
    <p:sldId id="859" r:id="rId442"/>
    <p:sldId id="863" r:id="rId443"/>
    <p:sldId id="862" r:id="rId444"/>
    <p:sldId id="861" r:id="rId445"/>
    <p:sldId id="856" r:id="rId446"/>
    <p:sldId id="471" r:id="rId447"/>
    <p:sldId id="279" r:id="rId448"/>
    <p:sldId id="532" r:id="rId449"/>
    <p:sldId id="463" r:id="rId450"/>
    <p:sldId id="393" r:id="rId451"/>
    <p:sldId id="392" r:id="rId452"/>
    <p:sldId id="462" r:id="rId453"/>
    <p:sldId id="394" r:id="rId454"/>
    <p:sldId id="395" r:id="rId455"/>
    <p:sldId id="396" r:id="rId456"/>
    <p:sldId id="397" r:id="rId457"/>
    <p:sldId id="398" r:id="rId458"/>
    <p:sldId id="464" r:id="rId459"/>
    <p:sldId id="465" r:id="rId460"/>
    <p:sldId id="280" r:id="rId461"/>
    <p:sldId id="533" r:id="rId462"/>
    <p:sldId id="399" r:id="rId463"/>
    <p:sldId id="287" r:id="rId464"/>
    <p:sldId id="288" r:id="rId465"/>
    <p:sldId id="289" r:id="rId466"/>
    <p:sldId id="290" r:id="rId467"/>
    <p:sldId id="281" r:id="rId468"/>
    <p:sldId id="534" r:id="rId469"/>
    <p:sldId id="400" r:id="rId470"/>
    <p:sldId id="402" r:id="rId471"/>
    <p:sldId id="401" r:id="rId472"/>
    <p:sldId id="412" r:id="rId473"/>
    <p:sldId id="472" r:id="rId474"/>
    <p:sldId id="473" r:id="rId475"/>
    <p:sldId id="474" r:id="rId476"/>
    <p:sldId id="367" r:id="rId477"/>
  </p:sldIdLst>
  <p:sldSz cx="12192000" cy="6858000"/>
  <p:notesSz cx="6858000" cy="9144000"/>
  <p:embeddedFontLst>
    <p:embeddedFont>
      <p:font typeface="Cambria Math" panose="02040503050406030204" pitchFamily="18" charset="0"/>
      <p:regular r:id="rId479"/>
    </p:embeddedFont>
    <p:embeddedFont>
      <p:font typeface="Montserrat" panose="00000500000000000000" pitchFamily="2" charset="0"/>
      <p:regular r:id="rId480"/>
    </p:embeddedFont>
    <p:embeddedFont>
      <p:font typeface="Roboto Mono" pitchFamily="2" charset="0"/>
      <p:regular r:id="rId481"/>
      <p:bold r:id="rId482"/>
    </p:embeddedFont>
    <p:embeddedFont>
      <p:font typeface="Segoe UI Black" panose="020B0A02040204020203" pitchFamily="34" charset="0"/>
      <p:bold r:id="rId483"/>
      <p:boldItalic r:id="rId484"/>
    </p:embeddedFont>
    <p:embeddedFont>
      <p:font typeface="等线" panose="02010600030101010101" pitchFamily="2" charset="-122"/>
      <p:regular r:id="rId485"/>
      <p:bold r:id="rId486"/>
    </p:embeddedFont>
    <p:embeddedFont>
      <p:font typeface="微软雅黑" panose="020B0503020204020204" pitchFamily="34" charset="-122"/>
      <p:regular r:id="rId487"/>
      <p:bold r:id="rId488"/>
    </p:embeddedFont>
    <p:embeddedFont>
      <p:font typeface="幼圆" panose="02010509060101010101" pitchFamily="49" charset="-122"/>
      <p:regular r:id="rId48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B79E"/>
    <a:srgbClr val="3F907A"/>
    <a:srgbClr val="1A5076"/>
    <a:srgbClr val="017CB8"/>
    <a:srgbClr val="92D050"/>
    <a:srgbClr val="0D8BB3"/>
    <a:srgbClr val="D70036"/>
    <a:srgbClr val="FE863F"/>
    <a:srgbClr val="00D480"/>
    <a:srgbClr val="8F42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p:scale>
          <a:sx n="130" d="100"/>
          <a:sy n="130" d="100"/>
        </p:scale>
        <p:origin x="-624" y="-390"/>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86" Type="http://schemas.openxmlformats.org/officeDocument/2006/relationships/font" Target="fonts/font8.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font" Target="fonts/font10.fntdata"/><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font" Target="fonts/font1.fntdata"/><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commentAuthors" Target="commentAuthors.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font" Target="fonts/font3.fntdata"/><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viewProps" Target="viewProps.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font" Target="fonts/font5.fntdata"/><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tableStyles" Target="tableStyles.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slide" Target="slides/slide473.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font" Target="fonts/font7.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font" Target="fonts/font9.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notesMaster" Target="notesMasters/notesMaster1.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font" Target="fonts/font11.fntdata"/><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font" Target="fonts/font2.fntdata"/><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presProps" Target="presProps.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font" Target="fonts/font4.fntdata"/><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theme" Target="theme/theme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font" Target="fonts/font6.fntdata"/><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2026/5/23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7.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2.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388</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394</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399</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404</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407</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427</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430</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432</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452</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48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4800" y="1338697"/>
            <a:ext cx="10800000" cy="4925303"/>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占位符 6">
            <a:extLst>
              <a:ext uri="{FF2B5EF4-FFF2-40B4-BE49-F238E27FC236}">
                <a16:creationId xmlns:a16="http://schemas.microsoft.com/office/drawing/2014/main" id="{60737263-B700-BD99-FCA2-0BA0DEFD8547}"/>
              </a:ext>
            </a:extLst>
          </p:cNvPr>
          <p:cNvSpPr>
            <a:spLocks noGrp="1"/>
          </p:cNvSpPr>
          <p:nvPr>
            <p:ph type="body" sz="quarter" idx="11"/>
          </p:nvPr>
        </p:nvSpPr>
        <p:spPr>
          <a:xfrm>
            <a:off x="694800" y="864000"/>
            <a:ext cx="6203950" cy="400110"/>
          </a:xfrm>
        </p:spPr>
        <p:txBody>
          <a:bodyPr anchor="ctr" anchorCtr="0">
            <a:spAutoFit/>
          </a:bodyPr>
          <a:lstStyle>
            <a:lvl1pPr>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60.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47.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67.xml"/><Relationship Id="rId5" Type="http://schemas.openxmlformats.org/officeDocument/2006/relationships/slide" Target="slide183.xml"/><Relationship Id="rId10" Type="http://schemas.openxmlformats.org/officeDocument/2006/relationships/slide" Target="slide424.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8.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4.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3.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6.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2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2.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3.xml.rels><?xml version="1.0" encoding="UTF-8" standalone="yes"?>
<Relationships xmlns="http://schemas.openxmlformats.org/package/2006/relationships"><Relationship Id="rId3" Type="http://schemas.openxmlformats.org/officeDocument/2006/relationships/image" Target="../media/image100.svg"/><Relationship Id="rId2" Type="http://schemas.openxmlformats.org/officeDocument/2006/relationships/image" Target="../media/image99.svg"/><Relationship Id="rId1" Type="http://schemas.openxmlformats.org/officeDocument/2006/relationships/slideLayout" Target="../slideLayouts/slideLayout6.xml"/><Relationship Id="rId5" Type="http://schemas.openxmlformats.org/officeDocument/2006/relationships/image" Target="../media/image102.svg"/><Relationship Id="rId4" Type="http://schemas.openxmlformats.org/officeDocument/2006/relationships/image" Target="../media/image101.sv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0.xml.rels><?xml version="1.0" encoding="UTF-8" standalone="yes"?>
<Relationships xmlns="http://schemas.openxmlformats.org/package/2006/relationships"><Relationship Id="rId8" Type="http://schemas.openxmlformats.org/officeDocument/2006/relationships/image" Target="../media/image109.svg"/><Relationship Id="rId3" Type="http://schemas.openxmlformats.org/officeDocument/2006/relationships/image" Target="../media/image104.svg"/><Relationship Id="rId7" Type="http://schemas.openxmlformats.org/officeDocument/2006/relationships/image" Target="../media/image108.svg"/><Relationship Id="rId2" Type="http://schemas.openxmlformats.org/officeDocument/2006/relationships/image" Target="../media/image103.svg"/><Relationship Id="rId1" Type="http://schemas.openxmlformats.org/officeDocument/2006/relationships/slideLayout" Target="../slideLayouts/slideLayout6.xml"/><Relationship Id="rId6" Type="http://schemas.openxmlformats.org/officeDocument/2006/relationships/image" Target="../media/image107.svg"/><Relationship Id="rId5" Type="http://schemas.openxmlformats.org/officeDocument/2006/relationships/image" Target="../media/image106.svg"/><Relationship Id="rId4" Type="http://schemas.openxmlformats.org/officeDocument/2006/relationships/image" Target="../media/image105.svg"/><Relationship Id="rId9" Type="http://schemas.openxmlformats.org/officeDocument/2006/relationships/image" Target="../media/image110.sv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9.xml.rels><?xml version="1.0" encoding="UTF-8" standalone="yes"?>
<Relationships xmlns="http://schemas.openxmlformats.org/package/2006/relationships"><Relationship Id="rId2" Type="http://schemas.openxmlformats.org/officeDocument/2006/relationships/image" Target="../media/image111.svg"/><Relationship Id="rId1" Type="http://schemas.openxmlformats.org/officeDocument/2006/relationships/slideLayout" Target="../slideLayouts/slideLayout6.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98.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3.xml.rels><?xml version="1.0" encoding="UTF-8" standalone="yes"?>
<Relationships xmlns="http://schemas.openxmlformats.org/package/2006/relationships"><Relationship Id="rId8" Type="http://schemas.openxmlformats.org/officeDocument/2006/relationships/image" Target="../media/image113.svg"/><Relationship Id="rId3" Type="http://schemas.openxmlformats.org/officeDocument/2006/relationships/diagramLayout" Target="../diagrams/layout13.xml"/><Relationship Id="rId7" Type="http://schemas.openxmlformats.org/officeDocument/2006/relationships/image" Target="../media/image112.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image" Target="../media/image114.sv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295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4800" y="1338697"/>
            <a:ext cx="10800000" cy="4925303"/>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8" name="文本占位符 7">
            <a:extLst>
              <a:ext uri="{FF2B5EF4-FFF2-40B4-BE49-F238E27FC236}">
                <a16:creationId xmlns:a16="http://schemas.microsoft.com/office/drawing/2014/main" id="{4AB400CB-7FED-BFFE-E93E-DC530B5CF352}"/>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风险定义</a:t>
            </a:r>
          </a:p>
        </p:txBody>
      </p:sp>
      <p:graphicFrame>
        <p:nvGraphicFramePr>
          <p:cNvPr id="13" name="图示 12">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3417375189"/>
              </p:ext>
            </p:extLst>
          </p:nvPr>
        </p:nvGraphicFramePr>
        <p:xfrm>
          <a:off x="2386794" y="26482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3615642"/>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4800" y="360000"/>
            <a:ext cx="6375921" cy="429413"/>
          </a:xfrm>
        </p:spPr>
        <p:txBody>
          <a:bodyPr>
            <a:normAutofit/>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C70F1038-E0D2-405D-C4F4-3DB7F45D8BC9}"/>
              </a:ext>
            </a:extLst>
          </p:cNvPr>
          <p:cNvSpPr>
            <a:spLocks noGrp="1"/>
          </p:cNvSpPr>
          <p:nvPr>
            <p:ph idx="1"/>
          </p:nvPr>
        </p:nvSpPr>
        <p:spPr/>
        <p:txBody>
          <a:bodyPr/>
          <a:lstStyle/>
          <a:p>
            <a:endParaRPr lang="zh-CN" altLang="en-US" dirty="0"/>
          </a:p>
        </p:txBody>
      </p:sp>
      <p:sp>
        <p:nvSpPr>
          <p:cNvPr id="20" name="文本占位符 19">
            <a:extLst>
              <a:ext uri="{FF2B5EF4-FFF2-40B4-BE49-F238E27FC236}">
                <a16:creationId xmlns:a16="http://schemas.microsoft.com/office/drawing/2014/main" id="{92B60238-32DB-9196-2DB6-F25268D0FF81}"/>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A0DFD8EC-C550-C2D6-949A-74768A11F924}"/>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9E6DE7DA-FC0F-98D5-6A5C-6F2B715EECA1}"/>
              </a:ext>
            </a:extLst>
          </p:cNvPr>
          <p:cNvSpPr>
            <a:spLocks noGrp="1"/>
          </p:cNvSpPr>
          <p:nvPr>
            <p:ph idx="1"/>
          </p:nvPr>
        </p:nvSpPr>
        <p:spPr/>
        <p:txBody>
          <a:bodyPr/>
          <a:lstStyle/>
          <a:p>
            <a:endParaRPr lang="zh-CN" altLang="en-US"/>
          </a:p>
        </p:txBody>
      </p:sp>
      <p:sp>
        <p:nvSpPr>
          <p:cNvPr id="20" name="文本占位符 19">
            <a:extLst>
              <a:ext uri="{FF2B5EF4-FFF2-40B4-BE49-F238E27FC236}">
                <a16:creationId xmlns:a16="http://schemas.microsoft.com/office/drawing/2014/main" id="{0352EEA6-99C4-AC0B-33A7-816AF650A58C}"/>
              </a:ext>
            </a:extLst>
          </p:cNvPr>
          <p:cNvSpPr>
            <a:spLocks noGrp="1"/>
          </p:cNvSpPr>
          <p:nvPr>
            <p:ph type="body" sz="quarter" idx="10"/>
          </p:nvPr>
        </p:nvSpPr>
        <p:spPr/>
        <p:txBody>
          <a:bodyPr/>
          <a:lstStyle/>
          <a:p>
            <a:endParaRPr lang="zh-CN" altLang="en-US"/>
          </a:p>
        </p:txBody>
      </p:sp>
      <p:sp>
        <p:nvSpPr>
          <p:cNvPr id="9" name="文本占位符 8">
            <a:extLst>
              <a:ext uri="{FF2B5EF4-FFF2-40B4-BE49-F238E27FC236}">
                <a16:creationId xmlns:a16="http://schemas.microsoft.com/office/drawing/2014/main" id="{7780E0B3-5BCA-C224-8460-F298DFC12BA2}"/>
              </a:ext>
            </a:extLst>
          </p:cNvPr>
          <p:cNvSpPr>
            <a:spLocks noGrp="1"/>
          </p:cNvSpPr>
          <p:nvPr>
            <p:ph type="body" sz="quarter" idx="11"/>
          </p:nvPr>
        </p:nvSpPr>
        <p:spPr>
          <a:xfrm>
            <a:off x="694800" y="864000"/>
            <a:ext cx="6203950" cy="400110"/>
          </a:xfrm>
        </p:spPr>
        <p:txBody>
          <a:bodyPr/>
          <a:lstStyle/>
          <a:p>
            <a:r>
              <a:rPr lang="en-US" altLang="zh-CN" dirty="0"/>
              <a:t>3. </a:t>
            </a:r>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31D022EC-E7E2-6992-6BD9-6CAF505CEB65}"/>
              </a:ext>
            </a:extLst>
          </p:cNvPr>
          <p:cNvGrpSpPr/>
          <p:nvPr/>
        </p:nvGrpSpPr>
        <p:grpSpPr>
          <a:xfrm>
            <a:off x="2285915" y="1648469"/>
            <a:ext cx="2512866" cy="2126045"/>
            <a:chOff x="2285915" y="1648469"/>
            <a:chExt cx="2512866" cy="2126045"/>
          </a:xfrm>
        </p:grpSpPr>
        <p:sp>
          <p:nvSpPr>
            <p:cNvPr id="11" name="任意多边形: 形状 10">
              <a:extLst>
                <a:ext uri="{FF2B5EF4-FFF2-40B4-BE49-F238E27FC236}">
                  <a16:creationId xmlns:a16="http://schemas.microsoft.com/office/drawing/2014/main" id="{F3384C8A-8C71-9574-6F09-F8A6938D23D7}"/>
                </a:ext>
              </a:extLst>
            </p:cNvPr>
            <p:cNvSpPr/>
            <p:nvPr/>
          </p:nvSpPr>
          <p:spPr>
            <a:xfrm>
              <a:off x="2800201" y="1974515"/>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800" dirty="0">
                <a:solidFill>
                  <a:schemeClr val="tx1"/>
                </a:solidFill>
              </a:endParaRPr>
            </a:p>
          </p:txBody>
        </p:sp>
        <p:sp>
          <p:nvSpPr>
            <p:cNvPr id="12" name="任意多边形: 形状 11">
              <a:extLst>
                <a:ext uri="{FF2B5EF4-FFF2-40B4-BE49-F238E27FC236}">
                  <a16:creationId xmlns:a16="http://schemas.microsoft.com/office/drawing/2014/main" id="{1131C429-08E8-7BE6-AFCF-0F3DF74478B5}"/>
                </a:ext>
              </a:extLst>
            </p:cNvPr>
            <p:cNvSpPr/>
            <p:nvPr/>
          </p:nvSpPr>
          <p:spPr>
            <a:xfrm rot="5400000">
              <a:off x="3185915" y="2874514"/>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92D05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vert270" wrap="square" rtlCol="0" anchor="ctr">
              <a:noAutofit/>
            </a:bodyPr>
            <a:lstStyle/>
            <a:p>
              <a:pPr algn="ctr"/>
              <a:endParaRPr lang="zh-CN" altLang="en-US" sz="800" dirty="0">
                <a:solidFill>
                  <a:schemeClr val="tx1"/>
                </a:solidFill>
              </a:endParaRPr>
            </a:p>
          </p:txBody>
        </p:sp>
        <p:sp>
          <p:nvSpPr>
            <p:cNvPr id="13" name="任意多边形: 形状 12">
              <a:extLst>
                <a:ext uri="{FF2B5EF4-FFF2-40B4-BE49-F238E27FC236}">
                  <a16:creationId xmlns:a16="http://schemas.microsoft.com/office/drawing/2014/main" id="{8194AC18-5184-CCF3-1D47-8DE125C9CF87}"/>
                </a:ext>
              </a:extLst>
            </p:cNvPr>
            <p:cNvSpPr/>
            <p:nvPr/>
          </p:nvSpPr>
          <p:spPr>
            <a:xfrm flipH="1" flipV="1">
              <a:off x="2285916" y="3260229"/>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D7003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eaVert" wrap="square" rtlCol="0" anchor="ctr">
              <a:noAutofit/>
            </a:bodyPr>
            <a:lstStyle/>
            <a:p>
              <a:pPr algn="ctr"/>
              <a:endParaRPr lang="zh-CN" altLang="en-US" sz="800" dirty="0">
                <a:solidFill>
                  <a:schemeClr val="tx1"/>
                </a:solidFill>
              </a:endParaRPr>
            </a:p>
          </p:txBody>
        </p:sp>
        <p:sp>
          <p:nvSpPr>
            <p:cNvPr id="14" name="任意多边形: 形状 13">
              <a:extLst>
                <a:ext uri="{FF2B5EF4-FFF2-40B4-BE49-F238E27FC236}">
                  <a16:creationId xmlns:a16="http://schemas.microsoft.com/office/drawing/2014/main" id="{DBF5EBAD-9BA2-5A3E-DB7F-5C6529DF8271}"/>
                </a:ext>
              </a:extLst>
            </p:cNvPr>
            <p:cNvSpPr/>
            <p:nvPr/>
          </p:nvSpPr>
          <p:spPr>
            <a:xfrm rot="16200000">
              <a:off x="1900201" y="2360229"/>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0D8BB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800" dirty="0">
                <a:solidFill>
                  <a:schemeClr val="tx1"/>
                </a:solidFill>
              </a:endParaRPr>
            </a:p>
          </p:txBody>
        </p:sp>
        <p:sp>
          <p:nvSpPr>
            <p:cNvPr id="15" name="文本框 14">
              <a:extLst>
                <a:ext uri="{FF2B5EF4-FFF2-40B4-BE49-F238E27FC236}">
                  <a16:creationId xmlns:a16="http://schemas.microsoft.com/office/drawing/2014/main" id="{B5CE070A-6C47-6A70-5019-C988315740BA}"/>
                </a:ext>
              </a:extLst>
            </p:cNvPr>
            <p:cNvSpPr txBox="1"/>
            <p:nvPr/>
          </p:nvSpPr>
          <p:spPr>
            <a:xfrm>
              <a:off x="2923145" y="2039714"/>
              <a:ext cx="415498" cy="392415"/>
            </a:xfrm>
            <a:prstGeom prst="rect">
              <a:avLst/>
            </a:prstGeom>
            <a:noFill/>
            <a:effectLst/>
          </p:spPr>
          <p:txBody>
            <a:bodyPr wrap="none" rtlCol="0">
              <a:spAutoFit/>
            </a:bodyPr>
            <a:lstStyle/>
            <a:p>
              <a:pPr algn="l"/>
              <a:r>
                <a:rPr lang="en-US" altLang="zh-CN" sz="1050" dirty="0">
                  <a:solidFill>
                    <a:schemeClr val="bg1"/>
                  </a:solidFill>
                </a:rPr>
                <a:t>01</a:t>
              </a:r>
            </a:p>
            <a:p>
              <a:pPr algn="l"/>
              <a:r>
                <a:rPr lang="zh-CN" altLang="en-US" sz="900" dirty="0">
                  <a:solidFill>
                    <a:schemeClr val="bg1"/>
                  </a:solidFill>
                </a:rPr>
                <a:t>识别</a:t>
              </a:r>
            </a:p>
          </p:txBody>
        </p:sp>
        <p:sp>
          <p:nvSpPr>
            <p:cNvPr id="16" name="文本框 15">
              <a:extLst>
                <a:ext uri="{FF2B5EF4-FFF2-40B4-BE49-F238E27FC236}">
                  <a16:creationId xmlns:a16="http://schemas.microsoft.com/office/drawing/2014/main" id="{26D8BB4E-6A92-C99E-CC45-31362C27AAB9}"/>
                </a:ext>
              </a:extLst>
            </p:cNvPr>
            <p:cNvSpPr txBox="1"/>
            <p:nvPr/>
          </p:nvSpPr>
          <p:spPr>
            <a:xfrm>
              <a:off x="3044740" y="3308524"/>
              <a:ext cx="415498" cy="392415"/>
            </a:xfrm>
            <a:prstGeom prst="rect">
              <a:avLst/>
            </a:prstGeom>
            <a:noFill/>
            <a:effectLst/>
          </p:spPr>
          <p:txBody>
            <a:bodyPr wrap="none" rtlCol="0">
              <a:spAutoFit/>
            </a:bodyPr>
            <a:lstStyle/>
            <a:p>
              <a:pPr algn="l"/>
              <a:r>
                <a:rPr lang="en-US" altLang="zh-CN" sz="1050" dirty="0">
                  <a:solidFill>
                    <a:schemeClr val="bg1"/>
                  </a:solidFill>
                </a:rPr>
                <a:t>03</a:t>
              </a:r>
            </a:p>
            <a:p>
              <a:pPr algn="l"/>
              <a:r>
                <a:rPr lang="zh-CN" altLang="en-US" sz="900" dirty="0">
                  <a:solidFill>
                    <a:schemeClr val="bg1"/>
                  </a:solidFill>
                </a:rPr>
                <a:t>规划</a:t>
              </a:r>
            </a:p>
          </p:txBody>
        </p:sp>
        <p:sp>
          <p:nvSpPr>
            <p:cNvPr id="17" name="文本框 16">
              <a:extLst>
                <a:ext uri="{FF2B5EF4-FFF2-40B4-BE49-F238E27FC236}">
                  <a16:creationId xmlns:a16="http://schemas.microsoft.com/office/drawing/2014/main" id="{DEC1B381-727B-C880-4AF3-DC84786BA0E0}"/>
                </a:ext>
              </a:extLst>
            </p:cNvPr>
            <p:cNvSpPr txBox="1"/>
            <p:nvPr/>
          </p:nvSpPr>
          <p:spPr>
            <a:xfrm>
              <a:off x="3621024" y="2599442"/>
              <a:ext cx="415498" cy="392415"/>
            </a:xfrm>
            <a:prstGeom prst="rect">
              <a:avLst/>
            </a:prstGeom>
            <a:noFill/>
            <a:effectLst/>
          </p:spPr>
          <p:txBody>
            <a:bodyPr wrap="none" rtlCol="0">
              <a:spAutoFit/>
            </a:bodyPr>
            <a:lstStyle/>
            <a:p>
              <a:pPr algn="ctr"/>
              <a:r>
                <a:rPr lang="en-US" altLang="zh-CN" sz="1050" dirty="0">
                  <a:solidFill>
                    <a:schemeClr val="bg1"/>
                  </a:solidFill>
                </a:rPr>
                <a:t>02</a:t>
              </a:r>
            </a:p>
            <a:p>
              <a:pPr algn="ctr"/>
              <a:r>
                <a:rPr lang="zh-CN" altLang="en-US" sz="900" dirty="0">
                  <a:solidFill>
                    <a:schemeClr val="bg1"/>
                  </a:solidFill>
                </a:rPr>
                <a:t>评估</a:t>
              </a:r>
            </a:p>
          </p:txBody>
        </p:sp>
        <p:sp>
          <p:nvSpPr>
            <p:cNvPr id="18" name="文本框 17">
              <a:extLst>
                <a:ext uri="{FF2B5EF4-FFF2-40B4-BE49-F238E27FC236}">
                  <a16:creationId xmlns:a16="http://schemas.microsoft.com/office/drawing/2014/main" id="{C524EFEA-78F0-63AF-1B05-3CCDBBCCF9CC}"/>
                </a:ext>
              </a:extLst>
            </p:cNvPr>
            <p:cNvSpPr txBox="1"/>
            <p:nvPr/>
          </p:nvSpPr>
          <p:spPr>
            <a:xfrm>
              <a:off x="2335308" y="2776866"/>
              <a:ext cx="415498" cy="392415"/>
            </a:xfrm>
            <a:prstGeom prst="rect">
              <a:avLst/>
            </a:prstGeom>
            <a:noFill/>
            <a:effectLst/>
          </p:spPr>
          <p:txBody>
            <a:bodyPr wrap="none" rtlCol="0">
              <a:spAutoFit/>
            </a:bodyPr>
            <a:lstStyle/>
            <a:p>
              <a:pPr algn="ctr"/>
              <a:r>
                <a:rPr lang="en-US" altLang="zh-CN" sz="1050" dirty="0">
                  <a:solidFill>
                    <a:schemeClr val="bg1"/>
                  </a:solidFill>
                </a:rPr>
                <a:t>04</a:t>
              </a:r>
            </a:p>
            <a:p>
              <a:pPr algn="ctr"/>
              <a:r>
                <a:rPr lang="zh-CN" altLang="en-US" sz="900" dirty="0">
                  <a:solidFill>
                    <a:schemeClr val="bg1"/>
                  </a:solidFill>
                </a:rPr>
                <a:t>控制</a:t>
              </a:r>
            </a:p>
          </p:txBody>
        </p:sp>
        <p:pic>
          <p:nvPicPr>
            <p:cNvPr id="20" name="图形 19" descr="举起的手">
              <a:extLst>
                <a:ext uri="{FF2B5EF4-FFF2-40B4-BE49-F238E27FC236}">
                  <a16:creationId xmlns:a16="http://schemas.microsoft.com/office/drawing/2014/main" id="{7C10EAB1-DE1B-F728-767E-305A6426C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87572" y="2411160"/>
              <a:ext cx="360000" cy="360000"/>
            </a:xfrm>
            <a:prstGeom prst="rect">
              <a:avLst/>
            </a:prstGeom>
            <a:effectLst/>
          </p:spPr>
        </p:pic>
        <p:pic>
          <p:nvPicPr>
            <p:cNvPr id="21" name="图形 20" descr="正义天平">
              <a:extLst>
                <a:ext uri="{FF2B5EF4-FFF2-40B4-BE49-F238E27FC236}">
                  <a16:creationId xmlns:a16="http://schemas.microsoft.com/office/drawing/2014/main" id="{0FED59DF-A0C1-B19F-115A-FEE92BCCF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8772" y="2985653"/>
              <a:ext cx="360000" cy="360000"/>
            </a:xfrm>
            <a:prstGeom prst="rect">
              <a:avLst/>
            </a:prstGeom>
            <a:effectLst/>
          </p:spPr>
        </p:pic>
        <p:pic>
          <p:nvPicPr>
            <p:cNvPr id="22" name="图形 21" descr="研究">
              <a:extLst>
                <a:ext uri="{FF2B5EF4-FFF2-40B4-BE49-F238E27FC236}">
                  <a16:creationId xmlns:a16="http://schemas.microsoft.com/office/drawing/2014/main" id="{F3C1BD8E-003C-7F7F-484A-5BE9C8C2E3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14795" y="2055921"/>
              <a:ext cx="360000" cy="360000"/>
            </a:xfrm>
            <a:prstGeom prst="rect">
              <a:avLst/>
            </a:prstGeom>
            <a:effectLst/>
          </p:spPr>
        </p:pic>
        <p:pic>
          <p:nvPicPr>
            <p:cNvPr id="23" name="图形 22" descr="文档">
              <a:extLst>
                <a:ext uri="{FF2B5EF4-FFF2-40B4-BE49-F238E27FC236}">
                  <a16:creationId xmlns:a16="http://schemas.microsoft.com/office/drawing/2014/main" id="{078367E5-5D1D-06BC-EC1A-ECB94A0FD0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0301" y="3324731"/>
              <a:ext cx="360000" cy="360000"/>
            </a:xfrm>
            <a:prstGeom prst="rect">
              <a:avLst/>
            </a:prstGeom>
            <a:effectLst/>
          </p:spPr>
        </p:pic>
        <p:cxnSp>
          <p:nvCxnSpPr>
            <p:cNvPr id="3" name="直接箭头连接符 2">
              <a:extLst>
                <a:ext uri="{FF2B5EF4-FFF2-40B4-BE49-F238E27FC236}">
                  <a16:creationId xmlns:a16="http://schemas.microsoft.com/office/drawing/2014/main" id="{F3BAB111-C549-F3F0-843D-F26BF9BFC280}"/>
                </a:ext>
              </a:extLst>
            </p:cNvPr>
            <p:cNvCxnSpPr>
              <a:cxnSpLocks/>
              <a:stCxn id="5" idx="3"/>
              <a:endCxn id="4" idx="1"/>
            </p:cNvCxnSpPr>
            <p:nvPr/>
          </p:nvCxnSpPr>
          <p:spPr>
            <a:xfrm>
              <a:off x="3703012" y="1756191"/>
              <a:ext cx="2955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436BB48F-C695-3F1B-4579-41DBDD659B0D}"/>
                </a:ext>
              </a:extLst>
            </p:cNvPr>
            <p:cNvSpPr txBox="1"/>
            <p:nvPr/>
          </p:nvSpPr>
          <p:spPr>
            <a:xfrm>
              <a:off x="3998562" y="1648469"/>
              <a:ext cx="800219" cy="215444"/>
            </a:xfrm>
            <a:prstGeom prst="rect">
              <a:avLst/>
            </a:prstGeom>
            <a:noFill/>
          </p:spPr>
          <p:txBody>
            <a:bodyPr wrap="none" rtlCol="0">
              <a:spAutoFit/>
            </a:bodyPr>
            <a:lstStyle/>
            <a:p>
              <a:pPr algn="l"/>
              <a:r>
                <a:rPr lang="zh-CN" altLang="en-US" sz="800" dirty="0"/>
                <a:t>风险识别列表</a:t>
              </a:r>
            </a:p>
          </p:txBody>
        </p:sp>
        <p:sp>
          <p:nvSpPr>
            <p:cNvPr id="5" name="文本框 4">
              <a:extLst>
                <a:ext uri="{FF2B5EF4-FFF2-40B4-BE49-F238E27FC236}">
                  <a16:creationId xmlns:a16="http://schemas.microsoft.com/office/drawing/2014/main" id="{0659BEE5-6400-6585-4D95-E07AF324D2E9}"/>
                </a:ext>
              </a:extLst>
            </p:cNvPr>
            <p:cNvSpPr txBox="1"/>
            <p:nvPr/>
          </p:nvSpPr>
          <p:spPr>
            <a:xfrm>
              <a:off x="2800201" y="1648469"/>
              <a:ext cx="902811" cy="215444"/>
            </a:xfrm>
            <a:prstGeom prst="rect">
              <a:avLst/>
            </a:prstGeom>
            <a:noFill/>
          </p:spPr>
          <p:txBody>
            <a:bodyPr wrap="none" rtlCol="0">
              <a:spAutoFit/>
            </a:bodyPr>
            <a:lstStyle/>
            <a:p>
              <a:pPr algn="l"/>
              <a:r>
                <a:rPr lang="zh-CN" altLang="en-US" sz="800" dirty="0"/>
                <a:t>风险条目检查表</a:t>
              </a:r>
            </a:p>
          </p:txBody>
        </p:sp>
        <p:sp>
          <p:nvSpPr>
            <p:cNvPr id="9" name="文本框 8">
              <a:extLst>
                <a:ext uri="{FF2B5EF4-FFF2-40B4-BE49-F238E27FC236}">
                  <a16:creationId xmlns:a16="http://schemas.microsoft.com/office/drawing/2014/main" id="{3FA73866-FE10-9C7F-552E-647514251700}"/>
                </a:ext>
              </a:extLst>
            </p:cNvPr>
            <p:cNvSpPr txBox="1"/>
            <p:nvPr/>
          </p:nvSpPr>
          <p:spPr>
            <a:xfrm>
              <a:off x="4244783" y="2488800"/>
              <a:ext cx="307777" cy="605294"/>
            </a:xfrm>
            <a:prstGeom prst="rect">
              <a:avLst/>
            </a:prstGeom>
            <a:noFill/>
          </p:spPr>
          <p:txBody>
            <a:bodyPr vert="eaVert" wrap="none" rtlCol="0">
              <a:spAutoFit/>
            </a:bodyPr>
            <a:lstStyle/>
            <a:p>
              <a:pPr algn="l"/>
              <a:r>
                <a:rPr lang="zh-CN" altLang="en-US" sz="800" dirty="0"/>
                <a:t>风险登记册</a:t>
              </a:r>
            </a:p>
          </p:txBody>
        </p:sp>
        <p:cxnSp>
          <p:nvCxnSpPr>
            <p:cNvPr id="19" name="直接箭头连接符 18">
              <a:extLst>
                <a:ext uri="{FF2B5EF4-FFF2-40B4-BE49-F238E27FC236}">
                  <a16:creationId xmlns:a16="http://schemas.microsoft.com/office/drawing/2014/main" id="{AA086D34-F3CE-51DE-E5D8-08E2D73B5467}"/>
                </a:ext>
              </a:extLst>
            </p:cNvPr>
            <p:cNvCxnSpPr>
              <a:stCxn id="4" idx="2"/>
              <a:endCxn id="9" idx="0"/>
            </p:cNvCxnSpPr>
            <p:nvPr/>
          </p:nvCxnSpPr>
          <p:spPr>
            <a:xfrm>
              <a:off x="4398672" y="1863913"/>
              <a:ext cx="0" cy="6248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439934"/>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4800" y="1338697"/>
            <a:ext cx="10800000" cy="4925303"/>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7" name="文本占位符 16">
            <a:extLst>
              <a:ext uri="{FF2B5EF4-FFF2-40B4-BE49-F238E27FC236}">
                <a16:creationId xmlns:a16="http://schemas.microsoft.com/office/drawing/2014/main" id="{92AF83AC-1F6D-7630-1A42-7737153EE922}"/>
              </a:ext>
            </a:extLst>
          </p:cNvPr>
          <p:cNvSpPr>
            <a:spLocks noGrp="1"/>
          </p:cNvSpPr>
          <p:nvPr>
            <p:ph type="body" sz="quarter" idx="10"/>
          </p:nvPr>
        </p:nvSpPr>
        <p:spPr/>
        <p:txBody>
          <a:bodyPr/>
          <a:lstStyle/>
          <a:p>
            <a:endParaRPr lang="zh-CN" altLang="en-US"/>
          </a:p>
        </p:txBody>
      </p:sp>
      <p:sp>
        <p:nvSpPr>
          <p:cNvPr id="8" name="文本占位符 7">
            <a:extLst>
              <a:ext uri="{FF2B5EF4-FFF2-40B4-BE49-F238E27FC236}">
                <a16:creationId xmlns:a16="http://schemas.microsoft.com/office/drawing/2014/main" id="{4EDF09F4-12B7-0B92-AF7F-747128505191}"/>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方法</a:t>
            </a:r>
          </a:p>
        </p:txBody>
      </p:sp>
    </p:spTree>
    <p:extLst>
      <p:ext uri="{BB962C8B-B14F-4D97-AF65-F5344CB8AC3E}">
        <p14:creationId xmlns:p14="http://schemas.microsoft.com/office/powerpoint/2010/main" val="27018716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70D3BA0-53C4-CF3D-7039-9B1957D2AC81}"/>
              </a:ext>
            </a:extLst>
          </p:cNvPr>
          <p:cNvGraphicFramePr>
            <a:graphicFrameLocks noGrp="1"/>
          </p:cNvGraphicFramePr>
          <p:nvPr>
            <p:extLst>
              <p:ext uri="{D42A27DB-BD31-4B8C-83A1-F6EECF244321}">
                <p14:modId xmlns:p14="http://schemas.microsoft.com/office/powerpoint/2010/main" val="1793780672"/>
              </p:ext>
            </p:extLst>
          </p:nvPr>
        </p:nvGraphicFramePr>
        <p:xfrm>
          <a:off x="695325" y="1689417"/>
          <a:ext cx="10801350" cy="3383280"/>
        </p:xfrm>
        <a:graphic>
          <a:graphicData uri="http://schemas.openxmlformats.org/drawingml/2006/table">
            <a:tbl>
              <a:tblPr/>
              <a:tblGrid>
                <a:gridCol w="1800225">
                  <a:extLst>
                    <a:ext uri="{9D8B030D-6E8A-4147-A177-3AD203B41FA5}">
                      <a16:colId xmlns:a16="http://schemas.microsoft.com/office/drawing/2014/main" val="3028410848"/>
                    </a:ext>
                  </a:extLst>
                </a:gridCol>
                <a:gridCol w="1800225">
                  <a:extLst>
                    <a:ext uri="{9D8B030D-6E8A-4147-A177-3AD203B41FA5}">
                      <a16:colId xmlns:a16="http://schemas.microsoft.com/office/drawing/2014/main" val="576044700"/>
                    </a:ext>
                  </a:extLst>
                </a:gridCol>
                <a:gridCol w="1800225">
                  <a:extLst>
                    <a:ext uri="{9D8B030D-6E8A-4147-A177-3AD203B41FA5}">
                      <a16:colId xmlns:a16="http://schemas.microsoft.com/office/drawing/2014/main" val="373813112"/>
                    </a:ext>
                  </a:extLst>
                </a:gridCol>
                <a:gridCol w="1800225">
                  <a:extLst>
                    <a:ext uri="{9D8B030D-6E8A-4147-A177-3AD203B41FA5}">
                      <a16:colId xmlns:a16="http://schemas.microsoft.com/office/drawing/2014/main" val="1602315988"/>
                    </a:ext>
                  </a:extLst>
                </a:gridCol>
                <a:gridCol w="1800225">
                  <a:extLst>
                    <a:ext uri="{9D8B030D-6E8A-4147-A177-3AD203B41FA5}">
                      <a16:colId xmlns:a16="http://schemas.microsoft.com/office/drawing/2014/main" val="1800082254"/>
                    </a:ext>
                  </a:extLst>
                </a:gridCol>
                <a:gridCol w="1800225">
                  <a:extLst>
                    <a:ext uri="{9D8B030D-6E8A-4147-A177-3AD203B41FA5}">
                      <a16:colId xmlns:a16="http://schemas.microsoft.com/office/drawing/2014/main" val="1545570066"/>
                    </a:ext>
                  </a:extLst>
                </a:gridCol>
              </a:tblGrid>
              <a:tr h="0">
                <a:tc>
                  <a:txBody>
                    <a:bodyPr/>
                    <a:lstStyle/>
                    <a:p>
                      <a:pPr algn="l">
                        <a:buNone/>
                      </a:pPr>
                      <a:r>
                        <a:rPr lang="zh-CN" sz="1600"/>
                        <a:t>序号</a:t>
                      </a:r>
                    </a:p>
                  </a:txBody>
                  <a:tcPr anchor="ctr">
                    <a:lnL>
                      <a:noFill/>
                    </a:lnL>
                    <a:lnR>
                      <a:noFill/>
                    </a:lnR>
                    <a:lnT>
                      <a:noFill/>
                    </a:lnT>
                    <a:lnB>
                      <a:noFill/>
                    </a:lnB>
                    <a:noFill/>
                  </a:tcPr>
                </a:tc>
                <a:tc>
                  <a:txBody>
                    <a:bodyPr/>
                    <a:lstStyle/>
                    <a:p>
                      <a:pPr algn="l">
                        <a:buNone/>
                      </a:pPr>
                      <a:r>
                        <a:rPr lang="zh-CN" sz="1600" dirty="0"/>
                        <a:t>风险类别</a:t>
                      </a:r>
                    </a:p>
                  </a:txBody>
                  <a:tcPr anchor="ctr">
                    <a:lnL>
                      <a:noFill/>
                    </a:lnL>
                    <a:lnR>
                      <a:noFill/>
                    </a:lnR>
                    <a:lnT>
                      <a:noFill/>
                    </a:lnT>
                    <a:lnB>
                      <a:noFill/>
                    </a:lnB>
                    <a:noFill/>
                  </a:tcPr>
                </a:tc>
                <a:tc>
                  <a:txBody>
                    <a:bodyPr/>
                    <a:lstStyle/>
                    <a:p>
                      <a:pPr algn="l">
                        <a:buNone/>
                      </a:pPr>
                      <a:r>
                        <a:rPr lang="zh-CN" sz="1600"/>
                        <a:t>检查条目（问题）</a:t>
                      </a:r>
                    </a:p>
                  </a:txBody>
                  <a:tcPr anchor="ctr">
                    <a:lnL>
                      <a:noFill/>
                    </a:lnL>
                    <a:lnR>
                      <a:noFill/>
                    </a:lnR>
                    <a:lnT>
                      <a:noFill/>
                    </a:lnT>
                    <a:lnB>
                      <a:noFill/>
                    </a:lnB>
                    <a:noFill/>
                  </a:tcPr>
                </a:tc>
                <a:tc>
                  <a:txBody>
                    <a:bodyPr/>
                    <a:lstStyle/>
                    <a:p>
                      <a:pPr algn="l">
                        <a:buNone/>
                      </a:pPr>
                      <a:r>
                        <a:rPr lang="zh-CN" sz="1600"/>
                        <a:t>检查结果</a:t>
                      </a:r>
                    </a:p>
                  </a:txBody>
                  <a:tcPr anchor="ctr">
                    <a:lnL>
                      <a:noFill/>
                    </a:lnL>
                    <a:lnR>
                      <a:noFill/>
                    </a:lnR>
                    <a:lnT>
                      <a:noFill/>
                    </a:lnT>
                    <a:lnB>
                      <a:noFill/>
                    </a:lnB>
                    <a:noFill/>
                  </a:tcPr>
                </a:tc>
                <a:tc>
                  <a:txBody>
                    <a:bodyPr/>
                    <a:lstStyle/>
                    <a:p>
                      <a:pPr algn="l">
                        <a:buNone/>
                      </a:pPr>
                      <a:r>
                        <a:rPr lang="zh-CN" sz="1600"/>
                        <a:t>风险等级</a:t>
                      </a:r>
                    </a:p>
                  </a:txBody>
                  <a:tcPr anchor="ctr">
                    <a:lnL>
                      <a:noFill/>
                    </a:lnL>
                    <a:lnR>
                      <a:noFill/>
                    </a:lnR>
                    <a:lnT>
                      <a:noFill/>
                    </a:lnT>
                    <a:lnB>
                      <a:noFill/>
                    </a:lnB>
                    <a:noFill/>
                  </a:tcPr>
                </a:tc>
                <a:tc>
                  <a:txBody>
                    <a:bodyPr/>
                    <a:lstStyle/>
                    <a:p>
                      <a:pPr algn="l">
                        <a:buNone/>
                      </a:pPr>
                      <a:r>
                        <a:rPr lang="zh-CN" sz="1600"/>
                        <a:t>应对措施/备注</a:t>
                      </a:r>
                    </a:p>
                  </a:txBody>
                  <a:tcPr anchor="ctr">
                    <a:lnL>
                      <a:noFill/>
                    </a:lnL>
                    <a:lnR>
                      <a:noFill/>
                    </a:lnR>
                    <a:lnT>
                      <a:noFill/>
                    </a:lnT>
                    <a:lnB>
                      <a:noFill/>
                    </a:lnB>
                    <a:noFill/>
                  </a:tcPr>
                </a:tc>
                <a:extLst>
                  <a:ext uri="{0D108BD9-81ED-4DB2-BD59-A6C34878D82A}">
                    <a16:rowId xmlns:a16="http://schemas.microsoft.com/office/drawing/2014/main" val="3626170179"/>
                  </a:ext>
                </a:extLst>
              </a:tr>
              <a:tr h="0">
                <a:tc>
                  <a:txBody>
                    <a:bodyPr/>
                    <a:lstStyle/>
                    <a:p>
                      <a:pPr algn="l">
                        <a:buNone/>
                      </a:pPr>
                      <a:r>
                        <a:rPr lang="zh-CN" sz="1600"/>
                        <a:t>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核心需求是否已获客户签字确认？</a:t>
                      </a:r>
                    </a:p>
                  </a:txBody>
                  <a:tcPr anchor="ctr">
                    <a:lnL>
                      <a:noFill/>
                    </a:lnL>
                    <a:lnR>
                      <a:noFill/>
                    </a:lnR>
                    <a:lnT>
                      <a:noFill/>
                    </a:lnT>
                    <a:lnB>
                      <a:noFill/>
                    </a:lnB>
                    <a:noFill/>
                  </a:tcPr>
                </a:tc>
                <a:tc>
                  <a:txBody>
                    <a:bodyPr/>
                    <a:lstStyle/>
                    <a:p>
                      <a:pPr algn="l">
                        <a:buNone/>
                      </a:pPr>
                      <a:r>
                        <a:rPr lang="zh-CN" sz="1600"/>
                        <a:t>❌ 否</a:t>
                      </a:r>
                    </a:p>
                  </a:txBody>
                  <a:tcPr anchor="ctr">
                    <a:lnL>
                      <a:noFill/>
                    </a:lnL>
                    <a:lnR>
                      <a:noFill/>
                    </a:lnR>
                    <a:lnT>
                      <a:noFill/>
                    </a:lnT>
                    <a:lnB>
                      <a:noFill/>
                    </a:lnB>
                    <a:noFill/>
                  </a:tcPr>
                </a:tc>
                <a:tc>
                  <a:txBody>
                    <a:bodyPr/>
                    <a:lstStyle/>
                    <a:p>
                      <a:pPr algn="l">
                        <a:buNone/>
                      </a:pPr>
                      <a:r>
                        <a:rPr lang="zh-CN" sz="1600"/>
                        <a:t>高</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3441088212"/>
                  </a:ext>
                </a:extLst>
              </a:tr>
              <a:tr h="0">
                <a:tc>
                  <a:txBody>
                    <a:bodyPr/>
                    <a:lstStyle/>
                    <a:p>
                      <a:pPr algn="l">
                        <a:buNone/>
                      </a:pPr>
                      <a:r>
                        <a:rPr lang="zh-CN" sz="1600"/>
                        <a:t>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团队是否掌握项目所需的关键技术？</a:t>
                      </a:r>
                    </a:p>
                  </a:txBody>
                  <a:tcPr anchor="ctr">
                    <a:lnL>
                      <a:noFill/>
                    </a:lnL>
                    <a:lnR>
                      <a:noFill/>
                    </a:lnR>
                    <a:lnT>
                      <a:noFill/>
                    </a:lnT>
                    <a:lnB>
                      <a:noFill/>
                    </a:lnB>
                    <a:noFill/>
                  </a:tcPr>
                </a:tc>
                <a:tc>
                  <a:txBody>
                    <a:bodyPr/>
                    <a:lstStyle/>
                    <a:p>
                      <a:pPr algn="l">
                        <a:buNone/>
                      </a:pPr>
                      <a:r>
                        <a:rPr lang="zh-CN" sz="1600"/>
                        <a:t>⚠️ 部分</a:t>
                      </a:r>
                    </a:p>
                  </a:txBody>
                  <a:tcPr anchor="ctr">
                    <a:lnL>
                      <a:noFill/>
                    </a:lnL>
                    <a:lnR>
                      <a:noFill/>
                    </a:lnR>
                    <a:lnT>
                      <a:noFill/>
                    </a:lnT>
                    <a:lnB>
                      <a:noFill/>
                    </a:lnB>
                    <a:noFill/>
                  </a:tcPr>
                </a:tc>
                <a:tc>
                  <a:txBody>
                    <a:bodyPr/>
                    <a:lstStyle/>
                    <a:p>
                      <a:pPr algn="l">
                        <a:buNone/>
                      </a:pPr>
                      <a:r>
                        <a:rPr lang="zh-CN" sz="1600"/>
                        <a:t>中</a:t>
                      </a:r>
                    </a:p>
                  </a:txBody>
                  <a:tcPr anchor="ctr">
                    <a:lnL>
                      <a:noFill/>
                    </a:lnL>
                    <a:lnR>
                      <a:noFill/>
                    </a:lnR>
                    <a:lnT>
                      <a:noFill/>
                    </a:lnT>
                    <a:lnB>
                      <a:noFill/>
                    </a:lnB>
                    <a:noFill/>
                  </a:tcPr>
                </a:tc>
                <a:tc>
                  <a:txBody>
                    <a:bodyPr/>
                    <a:lstStyle/>
                    <a:p>
                      <a:pPr algn="l">
                        <a:buNone/>
                      </a:pPr>
                      <a:r>
                        <a:rPr lang="zh-CN" sz="1600"/>
                        <a:t>2名核心成员不熟悉新框架，需安排3天培训。</a:t>
                      </a:r>
                    </a:p>
                  </a:txBody>
                  <a:tcPr anchor="ctr">
                    <a:lnL>
                      <a:noFill/>
                    </a:lnL>
                    <a:lnR>
                      <a:noFill/>
                    </a:lnR>
                    <a:lnT>
                      <a:noFill/>
                    </a:lnT>
                    <a:lnB>
                      <a:noFill/>
                    </a:lnB>
                    <a:noFill/>
                  </a:tcPr>
                </a:tc>
                <a:extLst>
                  <a:ext uri="{0D108BD9-81ED-4DB2-BD59-A6C34878D82A}">
                    <a16:rowId xmlns:a16="http://schemas.microsoft.com/office/drawing/2014/main" val="3033803444"/>
                  </a:ext>
                </a:extLst>
              </a:tr>
              <a:tr h="0">
                <a:tc>
                  <a:txBody>
                    <a:bodyPr/>
                    <a:lstStyle/>
                    <a:p>
                      <a:pPr algn="l">
                        <a:buNone/>
                      </a:pPr>
                      <a:r>
                        <a:rPr lang="zh-CN" sz="1600"/>
                        <a:t>3</a:t>
                      </a:r>
                    </a:p>
                  </a:txBody>
                  <a:tcPr anchor="ctr">
                    <a:lnL>
                      <a:noFill/>
                    </a:lnL>
                    <a:lnR>
                      <a:noFill/>
                    </a:lnR>
                    <a:lnT>
                      <a:noFill/>
                    </a:lnT>
                    <a:lnB>
                      <a:noFill/>
                    </a:lnB>
                    <a:noFill/>
                  </a:tcPr>
                </a:tc>
                <a:tc>
                  <a:txBody>
                    <a:bodyPr/>
                    <a:lstStyle/>
                    <a:p>
                      <a:pPr algn="l">
                        <a:buNone/>
                      </a:pPr>
                      <a:r>
                        <a:rPr lang="zh-CN" sz="1600"/>
                        <a:t>外部依赖</a:t>
                      </a:r>
                    </a:p>
                  </a:txBody>
                  <a:tcPr anchor="ctr">
                    <a:lnL>
                      <a:noFill/>
                    </a:lnL>
                    <a:lnR>
                      <a:noFill/>
                    </a:lnR>
                    <a:lnT>
                      <a:noFill/>
                    </a:lnT>
                    <a:lnB>
                      <a:noFill/>
                    </a:lnB>
                    <a:noFill/>
                  </a:tcPr>
                </a:tc>
                <a:tc>
                  <a:txBody>
                    <a:bodyPr/>
                    <a:lstStyle/>
                    <a:p>
                      <a:pPr algn="l">
                        <a:buNone/>
                      </a:pPr>
                      <a:r>
                        <a:rPr lang="zh-CN" sz="1600"/>
                        <a:t>第三方API接口文档是否已就绪？</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无</a:t>
                      </a:r>
                    </a:p>
                  </a:txBody>
                  <a:tcPr anchor="ctr">
                    <a:lnL>
                      <a:noFill/>
                    </a:lnL>
                    <a:lnR>
                      <a:noFill/>
                    </a:lnR>
                    <a:lnT>
                      <a:noFill/>
                    </a:lnT>
                    <a:lnB>
                      <a:noFill/>
                    </a:lnB>
                    <a:noFill/>
                  </a:tcPr>
                </a:tc>
                <a:tc>
                  <a:txBody>
                    <a:bodyPr/>
                    <a:lstStyle/>
                    <a:p>
                      <a:pPr algn="l">
                        <a:buNone/>
                      </a:pPr>
                      <a:r>
                        <a:rPr lang="zh-CN" sz="1600"/>
                        <a:t>无需额外操作。</a:t>
                      </a:r>
                    </a:p>
                  </a:txBody>
                  <a:tcPr anchor="ctr">
                    <a:lnL>
                      <a:noFill/>
                    </a:lnL>
                    <a:lnR>
                      <a:noFill/>
                    </a:lnR>
                    <a:lnT>
                      <a:noFill/>
                    </a:lnT>
                    <a:lnB>
                      <a:noFill/>
                    </a:lnB>
                    <a:noFill/>
                  </a:tcPr>
                </a:tc>
                <a:extLst>
                  <a:ext uri="{0D108BD9-81ED-4DB2-BD59-A6C34878D82A}">
                    <a16:rowId xmlns:a16="http://schemas.microsoft.com/office/drawing/2014/main" val="351538451"/>
                  </a:ext>
                </a:extLst>
              </a:tr>
              <a:tr h="0">
                <a:tc>
                  <a:txBody>
                    <a:bodyPr/>
                    <a:lstStyle/>
                    <a:p>
                      <a:pPr algn="l">
                        <a:buNone/>
                      </a:pPr>
                      <a:r>
                        <a:rPr lang="zh-CN" sz="1600"/>
                        <a:t>4</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关键人员（如架构师）近期是否有休假计划？</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低</a:t>
                      </a:r>
                    </a:p>
                  </a:txBody>
                  <a:tcPr anchor="ctr">
                    <a:lnL>
                      <a:noFill/>
                    </a:lnL>
                    <a:lnR>
                      <a:noFill/>
                    </a:lnR>
                    <a:lnT>
                      <a:noFill/>
                    </a:lnT>
                    <a:lnB>
                      <a:noFill/>
                    </a:lnB>
                    <a:noFill/>
                  </a:tcPr>
                </a:tc>
                <a:tc>
                  <a:txBody>
                    <a:bodyPr/>
                    <a:lstStyle/>
                    <a:p>
                      <a:pPr algn="l">
                        <a:buNone/>
                      </a:pPr>
                      <a:r>
                        <a:rPr lang="zh-CN" sz="1600" dirty="0"/>
                        <a:t>已确认休假时间，已安排备份人员。</a:t>
                      </a:r>
                    </a:p>
                  </a:txBody>
                  <a:tcPr anchor="ctr">
                    <a:lnL>
                      <a:noFill/>
                    </a:lnL>
                    <a:lnR>
                      <a:noFill/>
                    </a:lnR>
                    <a:lnT>
                      <a:noFill/>
                    </a:lnT>
                    <a:lnB>
                      <a:noFill/>
                    </a:lnB>
                    <a:noFill/>
                  </a:tcPr>
                </a:tc>
                <a:extLst>
                  <a:ext uri="{0D108BD9-81ED-4DB2-BD59-A6C34878D82A}">
                    <a16:rowId xmlns:a16="http://schemas.microsoft.com/office/drawing/2014/main" val="3032071217"/>
                  </a:ext>
                </a:extLst>
              </a:tr>
            </a:tbl>
          </a:graphicData>
        </a:graphic>
      </p:graphicFrame>
    </p:spTree>
    <p:extLst>
      <p:ext uri="{BB962C8B-B14F-4D97-AF65-F5344CB8AC3E}">
        <p14:creationId xmlns:p14="http://schemas.microsoft.com/office/powerpoint/2010/main" val="91718223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B6F5-B284-5873-B4DB-890A2E9F94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5FCAFB7-9FD6-5FB3-13EE-C002392ED8EE}"/>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9" name="内容占位符 8">
            <a:extLst>
              <a:ext uri="{FF2B5EF4-FFF2-40B4-BE49-F238E27FC236}">
                <a16:creationId xmlns:a16="http://schemas.microsoft.com/office/drawing/2014/main" id="{F37E2B22-EE0B-D5D4-1782-2F6A0E7FB0F5}"/>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961CCFE8-912F-32EA-4291-10F86FF4F61E}"/>
              </a:ext>
            </a:extLst>
          </p:cNvPr>
          <p:cNvSpPr>
            <a:spLocks noGrp="1"/>
          </p:cNvSpPr>
          <p:nvPr>
            <p:ph type="body" sz="quarter" idx="10"/>
          </p:nvPr>
        </p:nvSpPr>
        <p:spPr/>
        <p:txBody>
          <a:bodyPr/>
          <a:lstStyle/>
          <a:p>
            <a:endParaRPr lang="zh-CN" altLang="en-US"/>
          </a:p>
        </p:txBody>
      </p:sp>
      <p:sp>
        <p:nvSpPr>
          <p:cNvPr id="5" name="文本占位符 4">
            <a:extLst>
              <a:ext uri="{FF2B5EF4-FFF2-40B4-BE49-F238E27FC236}">
                <a16:creationId xmlns:a16="http://schemas.microsoft.com/office/drawing/2014/main" id="{3CEF3389-BC55-D915-4831-919C658B7E07}"/>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结果</a:t>
            </a:r>
          </a:p>
        </p:txBody>
      </p:sp>
      <p:graphicFrame>
        <p:nvGraphicFramePr>
          <p:cNvPr id="4" name="表格 3">
            <a:extLst>
              <a:ext uri="{FF2B5EF4-FFF2-40B4-BE49-F238E27FC236}">
                <a16:creationId xmlns:a16="http://schemas.microsoft.com/office/drawing/2014/main" id="{AAF654B2-7489-8700-883E-B34DB2517B3F}"/>
              </a:ext>
            </a:extLst>
          </p:cNvPr>
          <p:cNvGraphicFramePr>
            <a:graphicFrameLocks noGrp="1"/>
          </p:cNvGraphicFramePr>
          <p:nvPr>
            <p:extLst>
              <p:ext uri="{D42A27DB-BD31-4B8C-83A1-F6EECF244321}">
                <p14:modId xmlns:p14="http://schemas.microsoft.com/office/powerpoint/2010/main" val="4263579897"/>
              </p:ext>
            </p:extLst>
          </p:nvPr>
        </p:nvGraphicFramePr>
        <p:xfrm>
          <a:off x="695326" y="2121217"/>
          <a:ext cx="10801348" cy="2804160"/>
        </p:xfrm>
        <a:graphic>
          <a:graphicData uri="http://schemas.openxmlformats.org/drawingml/2006/table">
            <a:tbl>
              <a:tblPr/>
              <a:tblGrid>
                <a:gridCol w="1362074">
                  <a:extLst>
                    <a:ext uri="{9D8B030D-6E8A-4147-A177-3AD203B41FA5}">
                      <a16:colId xmlns:a16="http://schemas.microsoft.com/office/drawing/2014/main" val="143545157"/>
                    </a:ext>
                  </a:extLst>
                </a:gridCol>
                <a:gridCol w="1718733">
                  <a:extLst>
                    <a:ext uri="{9D8B030D-6E8A-4147-A177-3AD203B41FA5}">
                      <a16:colId xmlns:a16="http://schemas.microsoft.com/office/drawing/2014/main" val="298216457"/>
                    </a:ext>
                  </a:extLst>
                </a:gridCol>
                <a:gridCol w="5020204">
                  <a:extLst>
                    <a:ext uri="{9D8B030D-6E8A-4147-A177-3AD203B41FA5}">
                      <a16:colId xmlns:a16="http://schemas.microsoft.com/office/drawing/2014/main" val="2948974028"/>
                    </a:ext>
                  </a:extLst>
                </a:gridCol>
                <a:gridCol w="2700337">
                  <a:extLst>
                    <a:ext uri="{9D8B030D-6E8A-4147-A177-3AD203B41FA5}">
                      <a16:colId xmlns:a16="http://schemas.microsoft.com/office/drawing/2014/main" val="3893355148"/>
                    </a:ext>
                  </a:extLst>
                </a:gridCol>
              </a:tblGrid>
              <a:tr h="197154">
                <a:tc>
                  <a:txBody>
                    <a:bodyPr/>
                    <a:lstStyle/>
                    <a:p>
                      <a:pPr algn="l">
                        <a:buNone/>
                      </a:pPr>
                      <a:r>
                        <a:rPr lang="zh-CN" sz="1600"/>
                        <a:t>风险编号</a:t>
                      </a:r>
                    </a:p>
                  </a:txBody>
                  <a:tcPr anchor="ctr">
                    <a:lnL>
                      <a:noFill/>
                    </a:lnL>
                    <a:lnR>
                      <a:noFill/>
                    </a:lnR>
                    <a:lnT>
                      <a:noFill/>
                    </a:lnT>
                    <a:lnB>
                      <a:noFill/>
                    </a:lnB>
                    <a:noFill/>
                  </a:tcPr>
                </a:tc>
                <a:tc>
                  <a:txBody>
                    <a:bodyPr/>
                    <a:lstStyle/>
                    <a:p>
                      <a:pPr algn="l">
                        <a:buNone/>
                      </a:pPr>
                      <a:r>
                        <a:rPr lang="zh-CN" sz="1600"/>
                        <a:t>风险类别</a:t>
                      </a:r>
                    </a:p>
                  </a:txBody>
                  <a:tcPr anchor="ctr">
                    <a:lnL>
                      <a:noFill/>
                    </a:lnL>
                    <a:lnR>
                      <a:noFill/>
                    </a:lnR>
                    <a:lnT>
                      <a:noFill/>
                    </a:lnT>
                    <a:lnB>
                      <a:noFill/>
                    </a:lnB>
                    <a:noFill/>
                  </a:tcPr>
                </a:tc>
                <a:tc>
                  <a:txBody>
                    <a:bodyPr/>
                    <a:lstStyle/>
                    <a:p>
                      <a:pPr algn="l">
                        <a:buNone/>
                      </a:pPr>
                      <a:r>
                        <a:rPr lang="zh-CN" sz="1600"/>
                        <a:t>风险描述</a:t>
                      </a:r>
                    </a:p>
                  </a:txBody>
                  <a:tcPr anchor="ctr">
                    <a:lnL>
                      <a:noFill/>
                    </a:lnL>
                    <a:lnR>
                      <a:noFill/>
                    </a:lnR>
                    <a:lnT>
                      <a:noFill/>
                    </a:lnT>
                    <a:lnB>
                      <a:noFill/>
                    </a:lnB>
                    <a:noFill/>
                  </a:tcPr>
                </a:tc>
                <a:tc>
                  <a:txBody>
                    <a:bodyPr/>
                    <a:lstStyle/>
                    <a:p>
                      <a:pPr algn="l">
                        <a:buNone/>
                      </a:pPr>
                      <a:r>
                        <a:rPr lang="zh-CN" sz="1600"/>
                        <a:t>潜在应对措施</a:t>
                      </a:r>
                    </a:p>
                  </a:txBody>
                  <a:tcPr anchor="ctr">
                    <a:lnL>
                      <a:noFill/>
                    </a:lnL>
                    <a:lnR>
                      <a:noFill/>
                    </a:lnR>
                    <a:lnT>
                      <a:noFill/>
                    </a:lnT>
                    <a:lnB>
                      <a:noFill/>
                    </a:lnB>
                    <a:noFill/>
                  </a:tcPr>
                </a:tc>
                <a:extLst>
                  <a:ext uri="{0D108BD9-81ED-4DB2-BD59-A6C34878D82A}">
                    <a16:rowId xmlns:a16="http://schemas.microsoft.com/office/drawing/2014/main" val="3512697006"/>
                  </a:ext>
                </a:extLst>
              </a:tr>
              <a:tr h="821356">
                <a:tc>
                  <a:txBody>
                    <a:bodyPr/>
                    <a:lstStyle/>
                    <a:p>
                      <a:pPr algn="l">
                        <a:buNone/>
                      </a:pPr>
                      <a:r>
                        <a:rPr lang="zh-CN" sz="1600" dirty="0"/>
                        <a:t>RISK-001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核心需求尚未获得客户签字确认。</a:t>
                      </a:r>
                      <a:br>
                        <a:rPr lang="zh-CN" sz="1600"/>
                      </a:br>
                      <a:r>
                        <a:rPr lang="zh-CN" sz="1600"/>
                        <a:t>目前项目核心需求处于未锁定状态，若后续需求发生重大变更，可能导致开发返工或进度延误。</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498592807"/>
                  </a:ext>
                </a:extLst>
              </a:tr>
              <a:tr h="691668">
                <a:tc>
                  <a:txBody>
                    <a:bodyPr/>
                    <a:lstStyle/>
                    <a:p>
                      <a:pPr algn="l">
                        <a:buNone/>
                      </a:pPr>
                      <a:r>
                        <a:rPr lang="zh-CN" sz="1600"/>
                        <a:t>RISK-002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团队对关键技术掌握不足。</a:t>
                      </a:r>
                      <a:br>
                        <a:rPr lang="zh-CN" sz="1600"/>
                      </a:br>
                      <a:r>
                        <a:rPr lang="zh-CN" sz="1600"/>
                        <a:t>部分核心成员（2名）不熟悉项目所需的新框架，可能导致开发效率低下或代码质量不达标。</a:t>
                      </a:r>
                    </a:p>
                  </a:txBody>
                  <a:tcPr anchor="ctr">
                    <a:lnL>
                      <a:noFill/>
                    </a:lnL>
                    <a:lnR>
                      <a:noFill/>
                    </a:lnR>
                    <a:lnT>
                      <a:noFill/>
                    </a:lnT>
                    <a:lnB>
                      <a:noFill/>
                    </a:lnB>
                    <a:noFill/>
                  </a:tcPr>
                </a:tc>
                <a:tc>
                  <a:txBody>
                    <a:bodyPr/>
                    <a:lstStyle/>
                    <a:p>
                      <a:pPr algn="l">
                        <a:buNone/>
                      </a:pPr>
                      <a:r>
                        <a:rPr lang="zh-CN" sz="1600"/>
                        <a:t>安排2名核心成员进行为期3天的专项技术培训。</a:t>
                      </a:r>
                    </a:p>
                  </a:txBody>
                  <a:tcPr anchor="ctr">
                    <a:lnL>
                      <a:noFill/>
                    </a:lnL>
                    <a:lnR>
                      <a:noFill/>
                    </a:lnR>
                    <a:lnT>
                      <a:noFill/>
                    </a:lnT>
                    <a:lnB>
                      <a:noFill/>
                    </a:lnB>
                    <a:noFill/>
                  </a:tcPr>
                </a:tc>
                <a:extLst>
                  <a:ext uri="{0D108BD9-81ED-4DB2-BD59-A6C34878D82A}">
                    <a16:rowId xmlns:a16="http://schemas.microsoft.com/office/drawing/2014/main" val="3241152343"/>
                  </a:ext>
                </a:extLst>
              </a:tr>
              <a:tr h="821356">
                <a:tc>
                  <a:txBody>
                    <a:bodyPr/>
                    <a:lstStyle/>
                    <a:p>
                      <a:pPr algn="l">
                        <a:buNone/>
                      </a:pPr>
                      <a:r>
                        <a:rPr lang="zh-CN" sz="1600"/>
                        <a:t>RISK-003</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关键人员（架构师）近期有休假计划。</a:t>
                      </a:r>
                      <a:br>
                        <a:rPr lang="zh-CN" sz="1600"/>
                      </a:br>
                      <a:r>
                        <a:rPr lang="zh-CN" sz="1600"/>
                        <a:t>项目关键路径期间，核心架构师将休假，可能导致技术决策滞后或无人解决关键难题。</a:t>
                      </a:r>
                    </a:p>
                  </a:txBody>
                  <a:tcPr anchor="ctr">
                    <a:lnL>
                      <a:noFill/>
                    </a:lnL>
                    <a:lnR>
                      <a:noFill/>
                    </a:lnR>
                    <a:lnT>
                      <a:noFill/>
                    </a:lnT>
                    <a:lnB>
                      <a:noFill/>
                    </a:lnB>
                    <a:noFill/>
                  </a:tcPr>
                </a:tc>
                <a:tc>
                  <a:txBody>
                    <a:bodyPr/>
                    <a:lstStyle/>
                    <a:p>
                      <a:pPr algn="l">
                        <a:buNone/>
                      </a:pPr>
                      <a:r>
                        <a:rPr lang="zh-CN" sz="1600" dirty="0"/>
                        <a:t>已确认休假时间，并已安排备份人员（接班人）在此期间待命。</a:t>
                      </a:r>
                    </a:p>
                  </a:txBody>
                  <a:tcPr anchor="ctr">
                    <a:lnL>
                      <a:noFill/>
                    </a:lnL>
                    <a:lnR>
                      <a:noFill/>
                    </a:lnR>
                    <a:lnT>
                      <a:noFill/>
                    </a:lnT>
                    <a:lnB>
                      <a:noFill/>
                    </a:lnB>
                    <a:noFill/>
                  </a:tcPr>
                </a:tc>
                <a:extLst>
                  <a:ext uri="{0D108BD9-81ED-4DB2-BD59-A6C34878D82A}">
                    <a16:rowId xmlns:a16="http://schemas.microsoft.com/office/drawing/2014/main" val="2909819151"/>
                  </a:ext>
                </a:extLst>
              </a:tr>
            </a:tbl>
          </a:graphicData>
        </a:graphic>
      </p:graphicFrame>
    </p:spTree>
    <p:extLst>
      <p:ext uri="{BB962C8B-B14F-4D97-AF65-F5344CB8AC3E}">
        <p14:creationId xmlns:p14="http://schemas.microsoft.com/office/powerpoint/2010/main" val="125681602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23" name="内容占位符 22">
            <a:extLst>
              <a:ext uri="{FF2B5EF4-FFF2-40B4-BE49-F238E27FC236}">
                <a16:creationId xmlns:a16="http://schemas.microsoft.com/office/drawing/2014/main" id="{4F622B28-0D8A-8284-1010-B5735CBD372A}"/>
              </a:ext>
            </a:extLst>
          </p:cNvPr>
          <p:cNvSpPr>
            <a:spLocks noGrp="1"/>
          </p:cNvSpPr>
          <p:nvPr>
            <p:ph idx="1"/>
          </p:nvPr>
        </p:nvSpPr>
        <p:spPr/>
        <p:txBody>
          <a:bodyPr/>
          <a:lstStyle/>
          <a:p>
            <a:endParaRPr lang="zh-CN" altLang="en-US"/>
          </a:p>
        </p:txBody>
      </p:sp>
      <p:sp>
        <p:nvSpPr>
          <p:cNvPr id="24" name="文本占位符 23">
            <a:extLst>
              <a:ext uri="{FF2B5EF4-FFF2-40B4-BE49-F238E27FC236}">
                <a16:creationId xmlns:a16="http://schemas.microsoft.com/office/drawing/2014/main" id="{06891459-68F0-89F5-5C59-008BB2050D8C}"/>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定性风险评估方法</a:t>
            </a:r>
            <a:endParaRPr lang="en-US" altLang="zh-CN" dirty="0"/>
          </a:p>
        </p:txBody>
      </p:sp>
    </p:spTree>
    <p:extLst>
      <p:ext uri="{BB962C8B-B14F-4D97-AF65-F5344CB8AC3E}">
        <p14:creationId xmlns:p14="http://schemas.microsoft.com/office/powerpoint/2010/main" val="116075575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08692D15-CA4E-C4E6-4CE3-799333458D32}"/>
              </a:ext>
            </a:extLst>
          </p:cNvPr>
          <p:cNvGraphicFramePr>
            <a:graphicFrameLocks noGrp="1"/>
          </p:cNvGraphicFramePr>
          <p:nvPr>
            <p:extLst>
              <p:ext uri="{D42A27DB-BD31-4B8C-83A1-F6EECF244321}">
                <p14:modId xmlns:p14="http://schemas.microsoft.com/office/powerpoint/2010/main" val="3569611155"/>
              </p:ext>
            </p:extLst>
          </p:nvPr>
        </p:nvGraphicFramePr>
        <p:xfrm>
          <a:off x="1800000" y="1440000"/>
          <a:ext cx="2016000" cy="201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811092762"/>
                    </a:ext>
                  </a:extLst>
                </a:gridCol>
                <a:gridCol w="288000">
                  <a:extLst>
                    <a:ext uri="{9D8B030D-6E8A-4147-A177-3AD203B41FA5}">
                      <a16:colId xmlns:a16="http://schemas.microsoft.com/office/drawing/2014/main" val="3654597066"/>
                    </a:ext>
                  </a:extLst>
                </a:gridCol>
                <a:gridCol w="288000">
                  <a:extLst>
                    <a:ext uri="{9D8B030D-6E8A-4147-A177-3AD203B41FA5}">
                      <a16:colId xmlns:a16="http://schemas.microsoft.com/office/drawing/2014/main" val="1899881899"/>
                    </a:ext>
                  </a:extLst>
                </a:gridCol>
                <a:gridCol w="288000">
                  <a:extLst>
                    <a:ext uri="{9D8B030D-6E8A-4147-A177-3AD203B41FA5}">
                      <a16:colId xmlns:a16="http://schemas.microsoft.com/office/drawing/2014/main" val="2305953698"/>
                    </a:ext>
                  </a:extLst>
                </a:gridCol>
                <a:gridCol w="288000">
                  <a:extLst>
                    <a:ext uri="{9D8B030D-6E8A-4147-A177-3AD203B41FA5}">
                      <a16:colId xmlns:a16="http://schemas.microsoft.com/office/drawing/2014/main" val="2367133706"/>
                    </a:ext>
                  </a:extLst>
                </a:gridCol>
                <a:gridCol w="288000">
                  <a:extLst>
                    <a:ext uri="{9D8B030D-6E8A-4147-A177-3AD203B41FA5}">
                      <a16:colId xmlns:a16="http://schemas.microsoft.com/office/drawing/2014/main" val="2166525395"/>
                    </a:ext>
                  </a:extLst>
                </a:gridCol>
                <a:gridCol w="288000">
                  <a:extLst>
                    <a:ext uri="{9D8B030D-6E8A-4147-A177-3AD203B41FA5}">
                      <a16:colId xmlns:a16="http://schemas.microsoft.com/office/drawing/2014/main" val="1696229339"/>
                    </a:ext>
                  </a:extLst>
                </a:gridCol>
              </a:tblGrid>
              <a:tr h="288000">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091201576"/>
                  </a:ext>
                </a:extLst>
              </a:tr>
              <a:tr h="288000">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399128049"/>
                  </a:ext>
                </a:extLst>
              </a:tr>
              <a:tr h="288000">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56082143"/>
                  </a:ext>
                </a:extLst>
              </a:tr>
              <a:tr h="288000">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24739089"/>
                  </a:ext>
                </a:extLst>
              </a:tr>
              <a:tr h="288000">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2669187467"/>
                  </a:ext>
                </a:extLst>
              </a:tr>
              <a:tr h="288000">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50270692"/>
                  </a:ext>
                </a:extLst>
              </a:tr>
              <a:tr h="288000">
                <a:tc>
                  <a:txBody>
                    <a:bodyPr/>
                    <a:lstStyle/>
                    <a:p>
                      <a:pPr algn="ctr"/>
                      <a:endParaRPr lang="zh-CN" altLang="en-US" sz="800" b="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4079889"/>
                  </a:ext>
                </a:extLst>
              </a:tr>
            </a:tbl>
          </a:graphicData>
        </a:graphic>
      </p:graphicFrame>
      <p:cxnSp>
        <p:nvCxnSpPr>
          <p:cNvPr id="10" name="直接箭头连接符 9">
            <a:extLst>
              <a:ext uri="{FF2B5EF4-FFF2-40B4-BE49-F238E27FC236}">
                <a16:creationId xmlns:a16="http://schemas.microsoft.com/office/drawing/2014/main" id="{9D7D1307-4B2F-ED25-9248-17A702B7348F}"/>
              </a:ext>
            </a:extLst>
          </p:cNvPr>
          <p:cNvCxnSpPr>
            <a:cxnSpLocks/>
          </p:cNvCxnSpPr>
          <p:nvPr/>
        </p:nvCxnSpPr>
        <p:spPr>
          <a:xfrm>
            <a:off x="2088000" y="3157200"/>
            <a:ext cx="208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A52B841-F230-FF90-8631-66A9DBCC152D}"/>
              </a:ext>
            </a:extLst>
          </p:cNvPr>
          <p:cNvCxnSpPr>
            <a:cxnSpLocks/>
          </p:cNvCxnSpPr>
          <p:nvPr/>
        </p:nvCxnSpPr>
        <p:spPr>
          <a:xfrm flipV="1">
            <a:off x="2088000" y="1065600"/>
            <a:ext cx="0" cy="20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5B0FC2A-F244-4AF3-DC91-FE2A8F34C91E}"/>
              </a:ext>
            </a:extLst>
          </p:cNvPr>
          <p:cNvSpPr txBox="1"/>
          <p:nvPr/>
        </p:nvSpPr>
        <p:spPr>
          <a:xfrm>
            <a:off x="3816000" y="3240556"/>
            <a:ext cx="668773" cy="215444"/>
          </a:xfrm>
          <a:prstGeom prst="rect">
            <a:avLst/>
          </a:prstGeom>
          <a:noFill/>
        </p:spPr>
        <p:txBody>
          <a:bodyPr wrap="none" rtlCol="0">
            <a:spAutoFit/>
          </a:bodyPr>
          <a:lstStyle/>
          <a:p>
            <a:pPr algn="l"/>
            <a:r>
              <a:rPr lang="zh-CN" altLang="en-US" sz="800" dirty="0"/>
              <a:t>发生概率</a:t>
            </a:r>
            <a:r>
              <a:rPr lang="en-US" altLang="zh-CN" sz="800" dirty="0"/>
              <a:t>P</a:t>
            </a:r>
            <a:endParaRPr lang="zh-CN" altLang="en-US" sz="800" dirty="0"/>
          </a:p>
        </p:txBody>
      </p:sp>
      <p:sp>
        <p:nvSpPr>
          <p:cNvPr id="14" name="文本框 13">
            <a:extLst>
              <a:ext uri="{FF2B5EF4-FFF2-40B4-BE49-F238E27FC236}">
                <a16:creationId xmlns:a16="http://schemas.microsoft.com/office/drawing/2014/main" id="{5D80C1E0-0008-1817-27AD-EDDBE1493BB1}"/>
              </a:ext>
            </a:extLst>
          </p:cNvPr>
          <p:cNvSpPr txBox="1"/>
          <p:nvPr/>
        </p:nvSpPr>
        <p:spPr>
          <a:xfrm>
            <a:off x="1640442" y="1152001"/>
            <a:ext cx="447558" cy="215444"/>
          </a:xfrm>
          <a:prstGeom prst="rect">
            <a:avLst/>
          </a:prstGeom>
          <a:noFill/>
        </p:spPr>
        <p:txBody>
          <a:bodyPr wrap="none" rtlCol="0">
            <a:spAutoFit/>
          </a:bodyPr>
          <a:lstStyle/>
          <a:p>
            <a:pPr algn="l"/>
            <a:r>
              <a:rPr lang="zh-CN" altLang="en-US" sz="800" dirty="0"/>
              <a:t>影响 </a:t>
            </a:r>
            <a:r>
              <a:rPr lang="en-US" altLang="zh-CN" sz="800" dirty="0"/>
              <a:t>I</a:t>
            </a:r>
            <a:endParaRPr lang="zh-CN" altLang="en-US" sz="800" dirty="0"/>
          </a:p>
        </p:txBody>
      </p:sp>
    </p:spTree>
    <p:extLst>
      <p:ext uri="{BB962C8B-B14F-4D97-AF65-F5344CB8AC3E}">
        <p14:creationId xmlns:p14="http://schemas.microsoft.com/office/powerpoint/2010/main" val="2450753349"/>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9" name="内容占位符 8">
            <a:extLst>
              <a:ext uri="{FF2B5EF4-FFF2-40B4-BE49-F238E27FC236}">
                <a16:creationId xmlns:a16="http://schemas.microsoft.com/office/drawing/2014/main" id="{C9CCFCC9-01D0-50F2-142C-20C83E627BD4}"/>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BB7940D5-F43E-D2AF-0DC7-177BEBEFCD2E}"/>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定量风险评估方法</a:t>
            </a:r>
          </a:p>
        </p:txBody>
      </p:sp>
    </p:spTree>
    <p:extLst>
      <p:ext uri="{BB962C8B-B14F-4D97-AF65-F5344CB8AC3E}">
        <p14:creationId xmlns:p14="http://schemas.microsoft.com/office/powerpoint/2010/main" val="82375882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8370E2E0-791A-0C89-6DB8-AD093A91B82C}"/>
              </a:ext>
            </a:extLst>
          </p:cNvPr>
          <p:cNvSpPr/>
          <p:nvPr/>
        </p:nvSpPr>
        <p:spPr>
          <a:xfrm>
            <a:off x="1350375"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访谈</a:t>
            </a:r>
          </a:p>
        </p:txBody>
      </p:sp>
      <p:sp>
        <p:nvSpPr>
          <p:cNvPr id="30" name="任意多边形: 形状 29">
            <a:extLst>
              <a:ext uri="{FF2B5EF4-FFF2-40B4-BE49-F238E27FC236}">
                <a16:creationId xmlns:a16="http://schemas.microsoft.com/office/drawing/2014/main" id="{FEFF1F3A-E236-9849-339A-6278BCA06416}"/>
              </a:ext>
            </a:extLst>
          </p:cNvPr>
          <p:cNvSpPr/>
          <p:nvPr/>
        </p:nvSpPr>
        <p:spPr>
          <a:xfrm>
            <a:off x="2494409"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2" name="任意多边形: 形状 21">
            <a:extLst>
              <a:ext uri="{FF2B5EF4-FFF2-40B4-BE49-F238E27FC236}">
                <a16:creationId xmlns:a16="http://schemas.microsoft.com/office/drawing/2014/main" id="{8E496D0E-8162-A3C5-5326-3C0C3C42912D}"/>
              </a:ext>
            </a:extLst>
          </p:cNvPr>
          <p:cNvSpPr/>
          <p:nvPr/>
        </p:nvSpPr>
        <p:spPr>
          <a:xfrm flipV="1">
            <a:off x="2494409"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AF4D2F62-7E11-F819-4706-960528FB8ECB}"/>
              </a:ext>
            </a:extLst>
          </p:cNvPr>
          <p:cNvSpPr/>
          <p:nvPr/>
        </p:nvSpPr>
        <p:spPr>
          <a:xfrm>
            <a:off x="1350375"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盈亏平衡分析</a:t>
            </a:r>
          </a:p>
        </p:txBody>
      </p:sp>
      <p:sp>
        <p:nvSpPr>
          <p:cNvPr id="25" name="任意多边形: 形状 24">
            <a:extLst>
              <a:ext uri="{FF2B5EF4-FFF2-40B4-BE49-F238E27FC236}">
                <a16:creationId xmlns:a16="http://schemas.microsoft.com/office/drawing/2014/main" id="{784E39D3-438C-0E20-245E-2B0E26664A2C}"/>
              </a:ext>
            </a:extLst>
          </p:cNvPr>
          <p:cNvSpPr/>
          <p:nvPr/>
        </p:nvSpPr>
        <p:spPr>
          <a:xfrm>
            <a:off x="2494409"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4" name="任意多边形: 形状 33">
            <a:extLst>
              <a:ext uri="{FF2B5EF4-FFF2-40B4-BE49-F238E27FC236}">
                <a16:creationId xmlns:a16="http://schemas.microsoft.com/office/drawing/2014/main" id="{1FC76B2B-0819-E9C2-3D28-E1061B5CA16B}"/>
              </a:ext>
            </a:extLst>
          </p:cNvPr>
          <p:cNvSpPr/>
          <p:nvPr/>
        </p:nvSpPr>
        <p:spPr>
          <a:xfrm flipV="1">
            <a:off x="2494409"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8" name="矩形 37">
            <a:extLst>
              <a:ext uri="{FF2B5EF4-FFF2-40B4-BE49-F238E27FC236}">
                <a16:creationId xmlns:a16="http://schemas.microsoft.com/office/drawing/2014/main" id="{1038D162-1EFB-8D79-946D-26FF5F589D64}"/>
              </a:ext>
            </a:extLst>
          </p:cNvPr>
          <p:cNvSpPr/>
          <p:nvPr/>
        </p:nvSpPr>
        <p:spPr>
          <a:xfrm flipH="1">
            <a:off x="4526341"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敏感性分析</a:t>
            </a:r>
          </a:p>
        </p:txBody>
      </p:sp>
      <p:sp>
        <p:nvSpPr>
          <p:cNvPr id="39" name="任意多边形: 形状 38">
            <a:extLst>
              <a:ext uri="{FF2B5EF4-FFF2-40B4-BE49-F238E27FC236}">
                <a16:creationId xmlns:a16="http://schemas.microsoft.com/office/drawing/2014/main" id="{4234163B-E510-24D7-6332-70A22347441D}"/>
              </a:ext>
            </a:extLst>
          </p:cNvPr>
          <p:cNvSpPr/>
          <p:nvPr/>
        </p:nvSpPr>
        <p:spPr>
          <a:xfrm flipH="1">
            <a:off x="3638443"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890EC898-81D3-D100-1383-6FC39DD89092}"/>
              </a:ext>
            </a:extLst>
          </p:cNvPr>
          <p:cNvSpPr/>
          <p:nvPr/>
        </p:nvSpPr>
        <p:spPr>
          <a:xfrm flipH="1" flipV="1">
            <a:off x="3638443"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4" name="矩形 43">
            <a:extLst>
              <a:ext uri="{FF2B5EF4-FFF2-40B4-BE49-F238E27FC236}">
                <a16:creationId xmlns:a16="http://schemas.microsoft.com/office/drawing/2014/main" id="{2FF39E54-052B-C123-EEAB-E51366B89B26}"/>
              </a:ext>
            </a:extLst>
          </p:cNvPr>
          <p:cNvSpPr/>
          <p:nvPr/>
        </p:nvSpPr>
        <p:spPr>
          <a:xfrm flipH="1">
            <a:off x="4526341"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故障树分析</a:t>
            </a:r>
          </a:p>
        </p:txBody>
      </p:sp>
      <p:sp>
        <p:nvSpPr>
          <p:cNvPr id="45" name="任意多边形: 形状 44">
            <a:extLst>
              <a:ext uri="{FF2B5EF4-FFF2-40B4-BE49-F238E27FC236}">
                <a16:creationId xmlns:a16="http://schemas.microsoft.com/office/drawing/2014/main" id="{7FE53B8F-2448-2309-D269-C2FF8FDFBCB5}"/>
              </a:ext>
            </a:extLst>
          </p:cNvPr>
          <p:cNvSpPr/>
          <p:nvPr/>
        </p:nvSpPr>
        <p:spPr>
          <a:xfrm flipH="1">
            <a:off x="3638443"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8" name="任意多边形: 形状 47">
            <a:extLst>
              <a:ext uri="{FF2B5EF4-FFF2-40B4-BE49-F238E27FC236}">
                <a16:creationId xmlns:a16="http://schemas.microsoft.com/office/drawing/2014/main" id="{EECAA66C-37C5-0DFB-D7F2-A30B9A514495}"/>
              </a:ext>
            </a:extLst>
          </p:cNvPr>
          <p:cNvSpPr/>
          <p:nvPr/>
        </p:nvSpPr>
        <p:spPr>
          <a:xfrm flipH="1" flipV="1">
            <a:off x="3638443"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useBgFill="1">
        <p:nvSpPr>
          <p:cNvPr id="36" name="六边形 35">
            <a:extLst>
              <a:ext uri="{FF2B5EF4-FFF2-40B4-BE49-F238E27FC236}">
                <a16:creationId xmlns:a16="http://schemas.microsoft.com/office/drawing/2014/main" id="{E72420C2-68DB-70A6-99D2-3BF87957B115}"/>
              </a:ext>
            </a:extLst>
          </p:cNvPr>
          <p:cNvSpPr/>
          <p:nvPr/>
        </p:nvSpPr>
        <p:spPr>
          <a:xfrm>
            <a:off x="3129030" y="3167727"/>
            <a:ext cx="762689" cy="610152"/>
          </a:xfrm>
          <a:prstGeom prst="hexagon">
            <a:avLst/>
          </a:prstGeom>
          <a:ln w="381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定量</a:t>
            </a:r>
            <a:endParaRPr lang="en-US" altLang="zh-CN" sz="1000" dirty="0">
              <a:solidFill>
                <a:schemeClr val="tx1"/>
              </a:solidFill>
            </a:endParaRPr>
          </a:p>
          <a:p>
            <a:pPr algn="ctr"/>
            <a:r>
              <a:rPr lang="zh-CN" altLang="en-US" sz="1000" dirty="0">
                <a:solidFill>
                  <a:schemeClr val="tx1"/>
                </a:solidFill>
              </a:rPr>
              <a:t>风险评估</a:t>
            </a:r>
          </a:p>
        </p:txBody>
      </p:sp>
      <p:sp useBgFill="1">
        <p:nvSpPr>
          <p:cNvPr id="51" name="六边形 50">
            <a:extLst>
              <a:ext uri="{FF2B5EF4-FFF2-40B4-BE49-F238E27FC236}">
                <a16:creationId xmlns:a16="http://schemas.microsoft.com/office/drawing/2014/main" id="{F5DE60AF-1955-ED72-3AC3-676EC49A7D11}"/>
              </a:ext>
            </a:extLst>
          </p:cNvPr>
          <p:cNvSpPr>
            <a:spLocks noChangeAspect="1"/>
          </p:cNvSpPr>
          <p:nvPr/>
        </p:nvSpPr>
        <p:spPr>
          <a:xfrm>
            <a:off x="3186232" y="3213488"/>
            <a:ext cx="648286" cy="518629"/>
          </a:xfrm>
          <a:prstGeom prst="hexagon">
            <a:avLst/>
          </a:prstGeom>
          <a:ln w="76200">
            <a:gradFill>
              <a:gsLst>
                <a:gs pos="100000">
                  <a:srgbClr val="3F907A"/>
                </a:gs>
                <a:gs pos="0">
                  <a:srgbClr val="5FB79E"/>
                </a:gs>
              </a:gsLst>
              <a:lin ang="0" scaled="0"/>
            </a:gra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800" dirty="0">
                <a:solidFill>
                  <a:schemeClr val="tx1"/>
                </a:solidFill>
              </a:rPr>
              <a:t>定量</a:t>
            </a:r>
            <a:endParaRPr lang="en-US" altLang="zh-CN" sz="800" dirty="0">
              <a:solidFill>
                <a:schemeClr val="tx1"/>
              </a:solidFill>
            </a:endParaRPr>
          </a:p>
          <a:p>
            <a:pPr algn="ctr"/>
            <a:r>
              <a:rPr lang="zh-CN" altLang="en-US" sz="800" dirty="0">
                <a:solidFill>
                  <a:schemeClr val="tx1"/>
                </a:solidFill>
              </a:rPr>
              <a:t>风险评估</a:t>
            </a:r>
          </a:p>
        </p:txBody>
      </p:sp>
      <p:sp>
        <p:nvSpPr>
          <p:cNvPr id="60" name="任意多边形: 形状 59">
            <a:extLst>
              <a:ext uri="{FF2B5EF4-FFF2-40B4-BE49-F238E27FC236}">
                <a16:creationId xmlns:a16="http://schemas.microsoft.com/office/drawing/2014/main" id="{7AC90A9B-5B66-38F3-DD8B-279C775A81F5}"/>
              </a:ext>
            </a:extLst>
          </p:cNvPr>
          <p:cNvSpPr/>
          <p:nvPr/>
        </p:nvSpPr>
        <p:spPr>
          <a:xfrm>
            <a:off x="4526341"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en-US" altLang="zh-CN" sz="800" dirty="0">
                <a:solidFill>
                  <a:schemeClr val="bg1"/>
                </a:solidFill>
              </a:rPr>
              <a:t>…</a:t>
            </a:r>
            <a:endParaRPr lang="zh-CN" altLang="en-US" sz="800" dirty="0">
              <a:solidFill>
                <a:schemeClr val="bg1"/>
              </a:solidFill>
            </a:endParaRPr>
          </a:p>
        </p:txBody>
      </p:sp>
      <p:sp>
        <p:nvSpPr>
          <p:cNvPr id="58" name="任意多边形: 形状 57">
            <a:extLst>
              <a:ext uri="{FF2B5EF4-FFF2-40B4-BE49-F238E27FC236}">
                <a16:creationId xmlns:a16="http://schemas.microsoft.com/office/drawing/2014/main" id="{CA813EAB-B6B4-BEC8-D996-3FB3FEE5A066}"/>
              </a:ext>
            </a:extLst>
          </p:cNvPr>
          <p:cNvSpPr/>
          <p:nvPr/>
        </p:nvSpPr>
        <p:spPr>
          <a:xfrm>
            <a:off x="4526341"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sz="800" dirty="0">
                <a:solidFill>
                  <a:schemeClr val="bg1"/>
                </a:solidFill>
              </a:rPr>
              <a:t>期望值法</a:t>
            </a:r>
          </a:p>
        </p:txBody>
      </p:sp>
      <p:sp>
        <p:nvSpPr>
          <p:cNvPr id="56" name="任意多边形: 形状 55">
            <a:extLst>
              <a:ext uri="{FF2B5EF4-FFF2-40B4-BE49-F238E27FC236}">
                <a16:creationId xmlns:a16="http://schemas.microsoft.com/office/drawing/2014/main" id="{4868322F-B760-1B3C-4B2D-02AC8715F987}"/>
              </a:ext>
            </a:extLst>
          </p:cNvPr>
          <p:cNvSpPr/>
          <p:nvPr/>
        </p:nvSpPr>
        <p:spPr>
          <a:xfrm>
            <a:off x="1350375"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模拟法</a:t>
            </a:r>
          </a:p>
        </p:txBody>
      </p:sp>
      <p:sp>
        <p:nvSpPr>
          <p:cNvPr id="54" name="任意多边形: 形状 53">
            <a:extLst>
              <a:ext uri="{FF2B5EF4-FFF2-40B4-BE49-F238E27FC236}">
                <a16:creationId xmlns:a16="http://schemas.microsoft.com/office/drawing/2014/main" id="{8DC4C471-25FC-6DE8-BEFC-46DCD1E82141}"/>
              </a:ext>
            </a:extLst>
          </p:cNvPr>
          <p:cNvSpPr/>
          <p:nvPr/>
        </p:nvSpPr>
        <p:spPr>
          <a:xfrm>
            <a:off x="1350375"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决策树分析</a:t>
            </a:r>
          </a:p>
        </p:txBody>
      </p:sp>
      <p:pic>
        <p:nvPicPr>
          <p:cNvPr id="69" name="图形 68">
            <a:extLst>
              <a:ext uri="{FF2B5EF4-FFF2-40B4-BE49-F238E27FC236}">
                <a16:creationId xmlns:a16="http://schemas.microsoft.com/office/drawing/2014/main" id="{D0C720DC-A46D-E9ED-6640-16B7698227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43865" y="2751379"/>
            <a:ext cx="247650" cy="228600"/>
          </a:xfrm>
          <a:prstGeom prst="rect">
            <a:avLst/>
          </a:prstGeom>
        </p:spPr>
      </p:pic>
      <p:pic>
        <p:nvPicPr>
          <p:cNvPr id="71" name="图形 70">
            <a:extLst>
              <a:ext uri="{FF2B5EF4-FFF2-40B4-BE49-F238E27FC236}">
                <a16:creationId xmlns:a16="http://schemas.microsoft.com/office/drawing/2014/main" id="{4A03B449-5741-34DD-4B9E-EA6880F637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3390" y="3147064"/>
            <a:ext cx="228600" cy="228600"/>
          </a:xfrm>
          <a:prstGeom prst="rect">
            <a:avLst/>
          </a:prstGeom>
        </p:spPr>
      </p:pic>
      <p:pic>
        <p:nvPicPr>
          <p:cNvPr id="73" name="图形 72">
            <a:extLst>
              <a:ext uri="{FF2B5EF4-FFF2-40B4-BE49-F238E27FC236}">
                <a16:creationId xmlns:a16="http://schemas.microsoft.com/office/drawing/2014/main" id="{7A68BD1A-E64C-B680-5739-4C73CD97A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53390" y="3541239"/>
            <a:ext cx="228600" cy="228600"/>
          </a:xfrm>
          <a:prstGeom prst="rect">
            <a:avLst/>
          </a:prstGeom>
        </p:spPr>
      </p:pic>
      <p:pic>
        <p:nvPicPr>
          <p:cNvPr id="75" name="图形 74">
            <a:extLst>
              <a:ext uri="{FF2B5EF4-FFF2-40B4-BE49-F238E27FC236}">
                <a16:creationId xmlns:a16="http://schemas.microsoft.com/office/drawing/2014/main" id="{63F8085A-73D3-F76F-5A5C-C0F2049E395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153390" y="3936924"/>
            <a:ext cx="228600" cy="228600"/>
          </a:xfrm>
          <a:prstGeom prst="rect">
            <a:avLst/>
          </a:prstGeom>
        </p:spPr>
      </p:pic>
      <p:pic>
        <p:nvPicPr>
          <p:cNvPr id="77" name="图形 76">
            <a:extLst>
              <a:ext uri="{FF2B5EF4-FFF2-40B4-BE49-F238E27FC236}">
                <a16:creationId xmlns:a16="http://schemas.microsoft.com/office/drawing/2014/main" id="{B759A22E-7A67-11C2-86B6-0DAE3D7B0B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97095" y="2751379"/>
            <a:ext cx="228600" cy="228600"/>
          </a:xfrm>
          <a:prstGeom prst="rect">
            <a:avLst/>
          </a:prstGeom>
        </p:spPr>
      </p:pic>
      <p:pic>
        <p:nvPicPr>
          <p:cNvPr id="79" name="图形 78">
            <a:extLst>
              <a:ext uri="{FF2B5EF4-FFF2-40B4-BE49-F238E27FC236}">
                <a16:creationId xmlns:a16="http://schemas.microsoft.com/office/drawing/2014/main" id="{41BF534C-3AAC-1709-10D0-E7C9B9FE97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7095" y="3147064"/>
            <a:ext cx="228600" cy="228600"/>
          </a:xfrm>
          <a:prstGeom prst="rect">
            <a:avLst/>
          </a:prstGeom>
        </p:spPr>
      </p:pic>
      <p:pic>
        <p:nvPicPr>
          <p:cNvPr id="81" name="图形 80">
            <a:extLst>
              <a:ext uri="{FF2B5EF4-FFF2-40B4-BE49-F238E27FC236}">
                <a16:creationId xmlns:a16="http://schemas.microsoft.com/office/drawing/2014/main" id="{16F5AA44-4B2D-D32A-B33B-4C7BCC3BF59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97095" y="3549279"/>
            <a:ext cx="228600" cy="228600"/>
          </a:xfrm>
          <a:prstGeom prst="rect">
            <a:avLst/>
          </a:prstGeom>
        </p:spPr>
      </p:pic>
      <p:pic>
        <p:nvPicPr>
          <p:cNvPr id="83" name="图形 82">
            <a:extLst>
              <a:ext uri="{FF2B5EF4-FFF2-40B4-BE49-F238E27FC236}">
                <a16:creationId xmlns:a16="http://schemas.microsoft.com/office/drawing/2014/main" id="{BF78352D-319F-2AC6-5B47-E468AF7335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7095" y="3925619"/>
            <a:ext cx="228600" cy="228600"/>
          </a:xfrm>
          <a:prstGeom prst="rect">
            <a:avLst/>
          </a:prstGeom>
        </p:spPr>
      </p:pic>
    </p:spTree>
    <p:extLst>
      <p:ext uri="{BB962C8B-B14F-4D97-AF65-F5344CB8AC3E}">
        <p14:creationId xmlns:p14="http://schemas.microsoft.com/office/powerpoint/2010/main" val="149426285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5E7CC8-845F-5902-9D9E-369D6E857BAC}"/>
              </a:ext>
            </a:extLst>
          </p:cNvPr>
          <p:cNvSpPr>
            <a:spLocks noGrp="1"/>
          </p:cNvSpPr>
          <p:nvPr>
            <p:ph type="title"/>
          </p:nvPr>
        </p:nvSpPr>
        <p:spPr>
          <a:xfrm>
            <a:off x="694800" y="360000"/>
            <a:ext cx="6375921" cy="429413"/>
          </a:xfrm>
        </p:spPr>
        <p:txBody>
          <a:bodyPr/>
          <a:lstStyle/>
          <a:p>
            <a:r>
              <a:rPr lang="en-US" altLang="zh-CN" dirty="0"/>
              <a:t>1 </a:t>
            </a:r>
            <a:r>
              <a:rPr lang="zh-CN" altLang="en-US" dirty="0"/>
              <a:t>访谈</a:t>
            </a:r>
          </a:p>
        </p:txBody>
      </p:sp>
      <p:sp>
        <p:nvSpPr>
          <p:cNvPr id="3" name="内容占位符 2">
            <a:extLst>
              <a:ext uri="{FF2B5EF4-FFF2-40B4-BE49-F238E27FC236}">
                <a16:creationId xmlns:a16="http://schemas.microsoft.com/office/drawing/2014/main" id="{488F31B9-1C78-4429-27A8-4C5F7D5178C9}"/>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23095D8A-4020-BC28-2F42-EBC9FE5E5338}"/>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221332377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9425C-7BED-98D5-B438-1DE52C3C962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416A1E-C2E6-9133-5A9F-CD0E7B77E6DD}"/>
              </a:ext>
            </a:extLst>
          </p:cNvPr>
          <p:cNvSpPr>
            <a:spLocks noGrp="1"/>
          </p:cNvSpPr>
          <p:nvPr>
            <p:ph type="title"/>
          </p:nvPr>
        </p:nvSpPr>
        <p:spPr>
          <a:xfrm>
            <a:off x="694800" y="360000"/>
            <a:ext cx="6375921" cy="429413"/>
          </a:xfrm>
        </p:spPr>
        <p:txBody>
          <a:bodyPr/>
          <a:lstStyle/>
          <a:p>
            <a:r>
              <a:rPr lang="en-US" altLang="zh-CN" dirty="0"/>
              <a:t>2 </a:t>
            </a:r>
            <a:r>
              <a:rPr lang="zh-CN" altLang="en-US" dirty="0"/>
              <a:t>盈亏平衡分析</a:t>
            </a:r>
          </a:p>
        </p:txBody>
      </p:sp>
      <p:sp>
        <p:nvSpPr>
          <p:cNvPr id="3" name="内容占位符 2">
            <a:extLst>
              <a:ext uri="{FF2B5EF4-FFF2-40B4-BE49-F238E27FC236}">
                <a16:creationId xmlns:a16="http://schemas.microsoft.com/office/drawing/2014/main" id="{F0FF739B-0DEA-2DDD-ACF5-9508C0F53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3C1DAD86-0AD9-3139-AE01-CD7C12C8CBBB}"/>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413696345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C14D1-E158-E0FB-C871-0D4E7DD295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32625A-6366-80EB-6857-9A8656B1733D}"/>
              </a:ext>
            </a:extLst>
          </p:cNvPr>
          <p:cNvSpPr>
            <a:spLocks noGrp="1"/>
          </p:cNvSpPr>
          <p:nvPr>
            <p:ph type="title"/>
          </p:nvPr>
        </p:nvSpPr>
        <p:spPr>
          <a:xfrm>
            <a:off x="694800" y="360000"/>
            <a:ext cx="6375921" cy="429413"/>
          </a:xfrm>
        </p:spPr>
        <p:txBody>
          <a:bodyPr/>
          <a:lstStyle/>
          <a:p>
            <a:r>
              <a:rPr lang="en-US" altLang="zh-CN" dirty="0"/>
              <a:t>3 </a:t>
            </a:r>
            <a:r>
              <a:rPr lang="zh-CN" altLang="en-US" dirty="0"/>
              <a:t>决策树</a:t>
            </a:r>
          </a:p>
        </p:txBody>
      </p:sp>
      <p:sp>
        <p:nvSpPr>
          <p:cNvPr id="3" name="内容占位符 2">
            <a:extLst>
              <a:ext uri="{FF2B5EF4-FFF2-40B4-BE49-F238E27FC236}">
                <a16:creationId xmlns:a16="http://schemas.microsoft.com/office/drawing/2014/main" id="{502CF9FC-D8D4-A406-F965-EECC79F30D41}"/>
              </a:ext>
            </a:extLst>
          </p:cNvPr>
          <p:cNvSpPr>
            <a:spLocks noGrp="1"/>
          </p:cNvSpPr>
          <p:nvPr>
            <p:ph idx="1"/>
          </p:nvPr>
        </p:nvSpPr>
        <p:spPr>
          <a:xfrm>
            <a:off x="694800" y="1338697"/>
            <a:ext cx="10800000" cy="4925303"/>
          </a:xfrm>
        </p:spPr>
        <p:txBody>
          <a:bodyPr/>
          <a:lstStyle/>
          <a:p>
            <a:r>
              <a:rPr lang="zh-CN" altLang="en-US" dirty="0"/>
              <a:t>决策树分析是一种图表分析方法</a:t>
            </a:r>
          </a:p>
          <a:p>
            <a:r>
              <a:rPr lang="zh-CN" altLang="en-US" dirty="0"/>
              <a:t>提供项目所有可供选择的行动方案，行动方案之间的关系，行动方案的后果以及发生的概率</a:t>
            </a:r>
          </a:p>
          <a:p>
            <a:r>
              <a:rPr lang="zh-CN" altLang="en-US" dirty="0"/>
              <a:t>提供选择一个最佳的方案的依据</a:t>
            </a:r>
            <a:endParaRPr lang="en-US" altLang="zh-CN" dirty="0"/>
          </a:p>
          <a:p>
            <a:r>
              <a:rPr lang="zh-CN" altLang="en-US" dirty="0"/>
              <a:t>损益期望值 </a:t>
            </a:r>
            <a:r>
              <a:rPr lang="en-US" altLang="zh-CN" dirty="0"/>
              <a:t>Expected Monetary Value</a:t>
            </a:r>
          </a:p>
          <a:p>
            <a:pPr lvl="1"/>
            <a:r>
              <a:rPr lang="zh-CN" altLang="en-US" dirty="0"/>
              <a:t>决策树的一种计算值</a:t>
            </a:r>
          </a:p>
          <a:p>
            <a:pPr lvl="1"/>
            <a:r>
              <a:rPr lang="zh-CN" altLang="en-US" dirty="0"/>
              <a:t>根据预期结果、发生的概率计算出一种期望的损益</a:t>
            </a:r>
          </a:p>
          <a:p>
            <a:endParaRPr lang="zh-CN" altLang="en-US" dirty="0"/>
          </a:p>
          <a:p>
            <a:endParaRPr lang="zh-CN" altLang="en-US" dirty="0"/>
          </a:p>
          <a:p>
            <a:endParaRPr lang="zh-CN" altLang="en-US" dirty="0"/>
          </a:p>
        </p:txBody>
      </p:sp>
      <p:sp>
        <p:nvSpPr>
          <p:cNvPr id="4" name="文本占位符 3">
            <a:extLst>
              <a:ext uri="{FF2B5EF4-FFF2-40B4-BE49-F238E27FC236}">
                <a16:creationId xmlns:a16="http://schemas.microsoft.com/office/drawing/2014/main" id="{75351BC9-3364-C396-8E4A-1AEF38C57BEE}"/>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
        <p:nvSpPr>
          <p:cNvPr id="15" name="文本占位符 14">
            <a:extLst>
              <a:ext uri="{FF2B5EF4-FFF2-40B4-BE49-F238E27FC236}">
                <a16:creationId xmlns:a16="http://schemas.microsoft.com/office/drawing/2014/main" id="{3E5390D8-100A-1BA0-976B-D51928D29E39}"/>
              </a:ext>
            </a:extLst>
          </p:cNvPr>
          <p:cNvSpPr>
            <a:spLocks noGrp="1"/>
          </p:cNvSpPr>
          <p:nvPr>
            <p:ph type="body" sz="quarter" idx="11"/>
          </p:nvPr>
        </p:nvSpPr>
        <p:spPr/>
        <p:txBody>
          <a:bodyPr/>
          <a:lstStyle/>
          <a:p>
            <a:endParaRPr lang="zh-CN" altLang="en-US"/>
          </a:p>
        </p:txBody>
      </p:sp>
      <p:sp>
        <p:nvSpPr>
          <p:cNvPr id="11" name="文本框 10">
            <a:extLst>
              <a:ext uri="{FF2B5EF4-FFF2-40B4-BE49-F238E27FC236}">
                <a16:creationId xmlns:a16="http://schemas.microsoft.com/office/drawing/2014/main" id="{58781758-2143-39C3-91DD-62387596EAB8}"/>
              </a:ext>
            </a:extLst>
          </p:cNvPr>
          <p:cNvSpPr txBox="1"/>
          <p:nvPr/>
        </p:nvSpPr>
        <p:spPr>
          <a:xfrm>
            <a:off x="4148993" y="3824714"/>
            <a:ext cx="3894015" cy="830997"/>
          </a:xfrm>
          <a:prstGeom prst="rect">
            <a:avLst/>
          </a:prstGeom>
          <a:noFill/>
        </p:spPr>
        <p:txBody>
          <a:bodyPr wrap="none" rtlCol="0">
            <a:spAutoFit/>
          </a:bodyPr>
          <a:lstStyle/>
          <a:p>
            <a:pPr algn="l"/>
            <a:r>
              <a:rPr lang="zh-CN" altLang="en-US" sz="1600" dirty="0"/>
              <a:t>某行动方案成功的概率是</a:t>
            </a:r>
            <a:r>
              <a:rPr lang="en-US" altLang="zh-CN" sz="1600" dirty="0"/>
              <a:t>50%</a:t>
            </a:r>
            <a:r>
              <a:rPr lang="zh-CN" altLang="en-US" sz="1600" dirty="0"/>
              <a:t>，收益是</a:t>
            </a:r>
            <a:r>
              <a:rPr lang="en-US" altLang="zh-CN" sz="1600" dirty="0"/>
              <a:t>10</a:t>
            </a:r>
          </a:p>
          <a:p>
            <a:pPr algn="l"/>
            <a:r>
              <a:rPr lang="zh-CN" altLang="en-US" sz="1600" dirty="0"/>
              <a:t>则：</a:t>
            </a:r>
            <a:endParaRPr lang="en-US" altLang="zh-CN" sz="1600" dirty="0"/>
          </a:p>
          <a:p>
            <a:pPr indent="457200" algn="l"/>
            <a:r>
              <a:rPr lang="en-US" altLang="zh-CN" sz="1600" dirty="0"/>
              <a:t>EMV=10*50%=5</a:t>
            </a:r>
            <a:endParaRPr lang="zh-CN" altLang="en-US" sz="1600" dirty="0"/>
          </a:p>
        </p:txBody>
      </p:sp>
    </p:spTree>
    <p:extLst>
      <p:ext uri="{BB962C8B-B14F-4D97-AF65-F5344CB8AC3E}">
        <p14:creationId xmlns:p14="http://schemas.microsoft.com/office/powerpoint/2010/main" val="2770819324"/>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3A534B7-51B0-D557-C3FB-A47755513E8A}"/>
              </a:ext>
            </a:extLst>
          </p:cNvPr>
          <p:cNvSpPr>
            <a:spLocks noGrp="1"/>
          </p:cNvSpPr>
          <p:nvPr>
            <p:ph type="title"/>
          </p:nvPr>
        </p:nvSpPr>
        <p:spPr>
          <a:xfrm>
            <a:off x="696000" y="360000"/>
            <a:ext cx="5400000" cy="429413"/>
          </a:xfrm>
        </p:spPr>
        <p:txBody>
          <a:bodyPr/>
          <a:lstStyle/>
          <a:p>
            <a:r>
              <a:rPr lang="zh-CN" altLang="en-US" dirty="0"/>
              <a:t>例：决策树</a:t>
            </a:r>
          </a:p>
        </p:txBody>
      </p:sp>
      <p:grpSp>
        <p:nvGrpSpPr>
          <p:cNvPr id="3" name="组合 2">
            <a:extLst>
              <a:ext uri="{FF2B5EF4-FFF2-40B4-BE49-F238E27FC236}">
                <a16:creationId xmlns:a16="http://schemas.microsoft.com/office/drawing/2014/main" id="{B5F5C2A4-9337-28CB-1528-6FC639F26271}"/>
              </a:ext>
            </a:extLst>
          </p:cNvPr>
          <p:cNvGrpSpPr/>
          <p:nvPr/>
        </p:nvGrpSpPr>
        <p:grpSpPr>
          <a:xfrm rot="20100000">
            <a:off x="3141084" y="3741096"/>
            <a:ext cx="1661180" cy="364531"/>
            <a:chOff x="3023768" y="2773142"/>
            <a:chExt cx="1661180" cy="364531"/>
          </a:xfrm>
        </p:grpSpPr>
        <p:sp>
          <p:nvSpPr>
            <p:cNvPr id="15" name="Text Box 12">
              <a:extLst>
                <a:ext uri="{FF2B5EF4-FFF2-40B4-BE49-F238E27FC236}">
                  <a16:creationId xmlns:a16="http://schemas.microsoft.com/office/drawing/2014/main" id="{92A6BC36-A86F-0B01-09F6-A0F187D325AE}"/>
                </a:ext>
              </a:extLst>
            </p:cNvPr>
            <p:cNvSpPr txBox="1">
              <a:spLocks noChangeArrowheads="1"/>
            </p:cNvSpPr>
            <p:nvPr/>
          </p:nvSpPr>
          <p:spPr bwMode="auto">
            <a:xfrm>
              <a:off x="3023768" y="2773142"/>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成功：</a:t>
              </a:r>
              <a:r>
                <a:rPr lang="en-US" altLang="zh-CN" sz="800" dirty="0">
                  <a:latin typeface="+mn-lt"/>
                  <a:ea typeface="+mn-ea"/>
                </a:rPr>
                <a:t>P=70%  V=95,000</a:t>
              </a:r>
            </a:p>
          </p:txBody>
        </p:sp>
        <p:sp>
          <p:nvSpPr>
            <p:cNvPr id="18" name="Text Box 15">
              <a:extLst>
                <a:ext uri="{FF2B5EF4-FFF2-40B4-BE49-F238E27FC236}">
                  <a16:creationId xmlns:a16="http://schemas.microsoft.com/office/drawing/2014/main" id="{B0430F43-A534-451D-870D-86BD6D62B768}"/>
                </a:ext>
              </a:extLst>
            </p:cNvPr>
            <p:cNvSpPr txBox="1">
              <a:spLocks noChangeArrowheads="1"/>
            </p:cNvSpPr>
            <p:nvPr/>
          </p:nvSpPr>
          <p:spPr bwMode="auto">
            <a:xfrm>
              <a:off x="3028948" y="292222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EMV=95,000*70%=66500</a:t>
              </a:r>
            </a:p>
          </p:txBody>
        </p:sp>
      </p:grpSp>
      <p:sp>
        <p:nvSpPr>
          <p:cNvPr id="20" name="Text Box 17">
            <a:extLst>
              <a:ext uri="{FF2B5EF4-FFF2-40B4-BE49-F238E27FC236}">
                <a16:creationId xmlns:a16="http://schemas.microsoft.com/office/drawing/2014/main" id="{316EAAF1-A367-A422-7396-CB7A29F14610}"/>
              </a:ext>
            </a:extLst>
          </p:cNvPr>
          <p:cNvSpPr txBox="1">
            <a:spLocks noChangeArrowheads="1"/>
          </p:cNvSpPr>
          <p:nvPr/>
        </p:nvSpPr>
        <p:spPr bwMode="auto">
          <a:xfrm>
            <a:off x="1963686" y="5261700"/>
            <a:ext cx="93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不实施 </a:t>
            </a:r>
            <a:r>
              <a:rPr lang="en-US" altLang="zh-CN" sz="800" dirty="0">
                <a:latin typeface="+mn-lt"/>
                <a:ea typeface="+mn-ea"/>
              </a:rPr>
              <a:t>EMV=0</a:t>
            </a:r>
          </a:p>
        </p:txBody>
      </p:sp>
      <p:sp>
        <p:nvSpPr>
          <p:cNvPr id="14" name="Text Box 11">
            <a:extLst>
              <a:ext uri="{FF2B5EF4-FFF2-40B4-BE49-F238E27FC236}">
                <a16:creationId xmlns:a16="http://schemas.microsoft.com/office/drawing/2014/main" id="{2CA868F8-0A5E-C1F8-ABD4-02C81ECC99DA}"/>
              </a:ext>
            </a:extLst>
          </p:cNvPr>
          <p:cNvSpPr txBox="1">
            <a:spLocks noChangeArrowheads="1"/>
          </p:cNvSpPr>
          <p:nvPr/>
        </p:nvSpPr>
        <p:spPr bwMode="auto">
          <a:xfrm>
            <a:off x="3623613" y="428660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失败：</a:t>
            </a:r>
            <a:r>
              <a:rPr lang="en-US" altLang="zh-CN" sz="800" dirty="0">
                <a:latin typeface="+mn-lt"/>
                <a:ea typeface="+mn-ea"/>
              </a:rPr>
              <a:t>P=30%, V= -200,000 </a:t>
            </a:r>
          </a:p>
        </p:txBody>
      </p:sp>
      <p:sp>
        <p:nvSpPr>
          <p:cNvPr id="21" name="Text Box 18">
            <a:extLst>
              <a:ext uri="{FF2B5EF4-FFF2-40B4-BE49-F238E27FC236}">
                <a16:creationId xmlns:a16="http://schemas.microsoft.com/office/drawing/2014/main" id="{0EFACB59-9940-BD96-01FF-02992CF3EA5F}"/>
              </a:ext>
            </a:extLst>
          </p:cNvPr>
          <p:cNvSpPr txBox="1">
            <a:spLocks noChangeArrowheads="1"/>
          </p:cNvSpPr>
          <p:nvPr/>
        </p:nvSpPr>
        <p:spPr bwMode="auto">
          <a:xfrm>
            <a:off x="3623613" y="450204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EMV=-200,000*30%=-60000</a:t>
            </a:r>
          </a:p>
        </p:txBody>
      </p:sp>
      <p:sp>
        <p:nvSpPr>
          <p:cNvPr id="17" name="Text Box 14">
            <a:extLst>
              <a:ext uri="{FF2B5EF4-FFF2-40B4-BE49-F238E27FC236}">
                <a16:creationId xmlns:a16="http://schemas.microsoft.com/office/drawing/2014/main" id="{A692A5A8-A4C3-E42C-96FC-272237DA9698}"/>
              </a:ext>
            </a:extLst>
          </p:cNvPr>
          <p:cNvSpPr txBox="1">
            <a:spLocks noChangeArrowheads="1"/>
          </p:cNvSpPr>
          <p:nvPr/>
        </p:nvSpPr>
        <p:spPr bwMode="auto">
          <a:xfrm>
            <a:off x="5180224" y="348742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低性能：</a:t>
            </a:r>
            <a:r>
              <a:rPr lang="en-US" altLang="zh-CN" sz="800" dirty="0">
                <a:latin typeface="+mn-lt"/>
                <a:ea typeface="+mn-ea"/>
              </a:rPr>
              <a:t>P=70%, V=- 100,000</a:t>
            </a:r>
          </a:p>
        </p:txBody>
      </p:sp>
      <p:sp>
        <p:nvSpPr>
          <p:cNvPr id="23" name="Text Box 14">
            <a:extLst>
              <a:ext uri="{FF2B5EF4-FFF2-40B4-BE49-F238E27FC236}">
                <a16:creationId xmlns:a16="http://schemas.microsoft.com/office/drawing/2014/main" id="{9F773EEC-A392-09C3-50CA-E3F249071051}"/>
              </a:ext>
            </a:extLst>
          </p:cNvPr>
          <p:cNvSpPr txBox="1">
            <a:spLocks noChangeArrowheads="1"/>
          </p:cNvSpPr>
          <p:nvPr/>
        </p:nvSpPr>
        <p:spPr bwMode="auto">
          <a:xfrm>
            <a:off x="5180224" y="370286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EMV=-100,000* 70%=-70000</a:t>
            </a:r>
          </a:p>
        </p:txBody>
      </p:sp>
      <p:grpSp>
        <p:nvGrpSpPr>
          <p:cNvPr id="4" name="组合 3">
            <a:extLst>
              <a:ext uri="{FF2B5EF4-FFF2-40B4-BE49-F238E27FC236}">
                <a16:creationId xmlns:a16="http://schemas.microsoft.com/office/drawing/2014/main" id="{E47A2D12-B1DC-4CDA-9934-84C24C2EEF45}"/>
              </a:ext>
            </a:extLst>
          </p:cNvPr>
          <p:cNvGrpSpPr/>
          <p:nvPr/>
        </p:nvGrpSpPr>
        <p:grpSpPr>
          <a:xfrm rot="20100000">
            <a:off x="4868368" y="2887298"/>
            <a:ext cx="1658297" cy="378734"/>
            <a:chOff x="6757278" y="1664053"/>
            <a:chExt cx="1658297" cy="378734"/>
          </a:xfrm>
        </p:grpSpPr>
        <p:sp>
          <p:nvSpPr>
            <p:cNvPr id="16" name="Text Box 13">
              <a:extLst>
                <a:ext uri="{FF2B5EF4-FFF2-40B4-BE49-F238E27FC236}">
                  <a16:creationId xmlns:a16="http://schemas.microsoft.com/office/drawing/2014/main" id="{7C2A3E18-02BF-702E-17DC-3EEC86C95D5D}"/>
                </a:ext>
              </a:extLst>
            </p:cNvPr>
            <p:cNvSpPr txBox="1">
              <a:spLocks noChangeArrowheads="1"/>
            </p:cNvSpPr>
            <p:nvPr/>
          </p:nvSpPr>
          <p:spPr bwMode="auto">
            <a:xfrm>
              <a:off x="6757278" y="166405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高性能：</a:t>
              </a:r>
              <a:r>
                <a:rPr lang="en-US" altLang="zh-CN" sz="800" dirty="0">
                  <a:latin typeface="+mn-lt"/>
                  <a:ea typeface="+mn-ea"/>
                </a:rPr>
                <a:t>P=30%, V=550,000</a:t>
              </a:r>
            </a:p>
          </p:txBody>
        </p:sp>
        <p:sp>
          <p:nvSpPr>
            <p:cNvPr id="24" name="Text Box 13">
              <a:extLst>
                <a:ext uri="{FF2B5EF4-FFF2-40B4-BE49-F238E27FC236}">
                  <a16:creationId xmlns:a16="http://schemas.microsoft.com/office/drawing/2014/main" id="{5E94DD34-DAB6-9D07-0FEF-748CE32634EB}"/>
                </a:ext>
              </a:extLst>
            </p:cNvPr>
            <p:cNvSpPr txBox="1">
              <a:spLocks noChangeArrowheads="1"/>
            </p:cNvSpPr>
            <p:nvPr/>
          </p:nvSpPr>
          <p:spPr bwMode="auto">
            <a:xfrm>
              <a:off x="6759575" y="182734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EMV=550,000* 30%=165000</a:t>
              </a:r>
            </a:p>
          </p:txBody>
        </p:sp>
      </p:grpSp>
      <p:grpSp>
        <p:nvGrpSpPr>
          <p:cNvPr id="2" name="组合 1">
            <a:extLst>
              <a:ext uri="{FF2B5EF4-FFF2-40B4-BE49-F238E27FC236}">
                <a16:creationId xmlns:a16="http://schemas.microsoft.com/office/drawing/2014/main" id="{6A4642C8-50A6-ED00-B57C-B64A2349BA73}"/>
              </a:ext>
            </a:extLst>
          </p:cNvPr>
          <p:cNvGrpSpPr/>
          <p:nvPr/>
        </p:nvGrpSpPr>
        <p:grpSpPr>
          <a:xfrm rot="19920000">
            <a:off x="1824691" y="4616903"/>
            <a:ext cx="1511138" cy="217046"/>
            <a:chOff x="1247519" y="4678259"/>
            <a:chExt cx="1511138" cy="217046"/>
          </a:xfrm>
        </p:grpSpPr>
        <p:sp>
          <p:nvSpPr>
            <p:cNvPr id="19" name="Text Box 16">
              <a:extLst>
                <a:ext uri="{FF2B5EF4-FFF2-40B4-BE49-F238E27FC236}">
                  <a16:creationId xmlns:a16="http://schemas.microsoft.com/office/drawing/2014/main" id="{CAE35F3C-74E1-4A30-B7DE-DA0F69901DC8}"/>
                </a:ext>
              </a:extLst>
            </p:cNvPr>
            <p:cNvSpPr txBox="1">
              <a:spLocks noChangeArrowheads="1"/>
            </p:cNvSpPr>
            <p:nvPr/>
          </p:nvSpPr>
          <p:spPr bwMode="auto">
            <a:xfrm>
              <a:off x="1678657" y="4678259"/>
              <a:ext cx="1080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EMV=6,500</a:t>
              </a:r>
            </a:p>
          </p:txBody>
        </p:sp>
        <p:sp>
          <p:nvSpPr>
            <p:cNvPr id="25" name="Text Box 16">
              <a:extLst>
                <a:ext uri="{FF2B5EF4-FFF2-40B4-BE49-F238E27FC236}">
                  <a16:creationId xmlns:a16="http://schemas.microsoft.com/office/drawing/2014/main" id="{72B750C2-F23C-7EEC-A093-465EFB6DFFC4}"/>
                </a:ext>
              </a:extLst>
            </p:cNvPr>
            <p:cNvSpPr txBox="1">
              <a:spLocks noChangeArrowheads="1"/>
            </p:cNvSpPr>
            <p:nvPr/>
          </p:nvSpPr>
          <p:spPr bwMode="auto">
            <a:xfrm>
              <a:off x="1247519" y="4679861"/>
              <a:ext cx="1319212"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实施后</a:t>
              </a:r>
              <a:r>
                <a:rPr lang="en-US" altLang="zh-CN" sz="800" dirty="0">
                  <a:latin typeface="+mn-lt"/>
                  <a:ea typeface="+mn-ea"/>
                </a:rPr>
                <a:t>:</a:t>
              </a:r>
            </a:p>
          </p:txBody>
        </p:sp>
      </p:grpSp>
      <p:sp>
        <p:nvSpPr>
          <p:cNvPr id="6" name="AutoShape 3">
            <a:extLst>
              <a:ext uri="{FF2B5EF4-FFF2-40B4-BE49-F238E27FC236}">
                <a16:creationId xmlns:a16="http://schemas.microsoft.com/office/drawing/2014/main" id="{5CAF705E-B150-56D6-9E62-77C406EEA004}"/>
              </a:ext>
            </a:extLst>
          </p:cNvPr>
          <p:cNvSpPr>
            <a:spLocks noChangeArrowheads="1"/>
          </p:cNvSpPr>
          <p:nvPr/>
        </p:nvSpPr>
        <p:spPr bwMode="auto">
          <a:xfrm>
            <a:off x="1734244" y="5194717"/>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8" name="AutoShape 5">
            <a:extLst>
              <a:ext uri="{FF2B5EF4-FFF2-40B4-BE49-F238E27FC236}">
                <a16:creationId xmlns:a16="http://schemas.microsoft.com/office/drawing/2014/main" id="{3FD6D865-31A3-28DD-3EE3-2BB2C5A4255C}"/>
              </a:ext>
            </a:extLst>
          </p:cNvPr>
          <p:cNvSpPr>
            <a:spLocks noChangeArrowheads="1"/>
          </p:cNvSpPr>
          <p:nvPr/>
        </p:nvSpPr>
        <p:spPr bwMode="auto">
          <a:xfrm>
            <a:off x="3187983" y="445217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9" name="AutoShape 6">
            <a:extLst>
              <a:ext uri="{FF2B5EF4-FFF2-40B4-BE49-F238E27FC236}">
                <a16:creationId xmlns:a16="http://schemas.microsoft.com/office/drawing/2014/main" id="{33C860C0-A7B1-B0EA-D932-F276D8C9D217}"/>
              </a:ext>
            </a:extLst>
          </p:cNvPr>
          <p:cNvSpPr>
            <a:spLocks noChangeArrowheads="1"/>
          </p:cNvSpPr>
          <p:nvPr/>
        </p:nvSpPr>
        <p:spPr bwMode="auto">
          <a:xfrm>
            <a:off x="4801474" y="365299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cxnSp>
        <p:nvCxnSpPr>
          <p:cNvPr id="29" name="直接连接符 28">
            <a:extLst>
              <a:ext uri="{FF2B5EF4-FFF2-40B4-BE49-F238E27FC236}">
                <a16:creationId xmlns:a16="http://schemas.microsoft.com/office/drawing/2014/main" id="{124272F0-E7A1-E0E8-167B-FD06D3844466}"/>
              </a:ext>
            </a:extLst>
          </p:cNvPr>
          <p:cNvCxnSpPr>
            <a:cxnSpLocks/>
            <a:stCxn id="6" idx="7"/>
            <a:endCxn id="8" idx="2"/>
          </p:cNvCxnSpPr>
          <p:nvPr/>
        </p:nvCxnSpPr>
        <p:spPr>
          <a:xfrm flipV="1">
            <a:off x="1795700" y="4488171"/>
            <a:ext cx="1392283" cy="71709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75160B4-12AC-98D8-BFDC-8F2B8B231A47}"/>
              </a:ext>
            </a:extLst>
          </p:cNvPr>
          <p:cNvCxnSpPr>
            <a:cxnSpLocks/>
            <a:stCxn id="8" idx="7"/>
            <a:endCxn id="9" idx="2"/>
          </p:cNvCxnSpPr>
          <p:nvPr/>
        </p:nvCxnSpPr>
        <p:spPr>
          <a:xfrm flipV="1">
            <a:off x="3249439" y="3688991"/>
            <a:ext cx="1552035" cy="773724"/>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3D8E40C-8E50-09C3-86E0-D7521783032D}"/>
              </a:ext>
            </a:extLst>
          </p:cNvPr>
          <p:cNvCxnSpPr>
            <a:cxnSpLocks/>
            <a:stCxn id="9" idx="7"/>
          </p:cNvCxnSpPr>
          <p:nvPr/>
        </p:nvCxnSpPr>
        <p:spPr>
          <a:xfrm flipV="1">
            <a:off x="4862930" y="2789847"/>
            <a:ext cx="1891831" cy="873688"/>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C7A0164-4C7F-9A35-E4B6-00D4070D604B}"/>
              </a:ext>
            </a:extLst>
          </p:cNvPr>
          <p:cNvCxnSpPr>
            <a:cxnSpLocks/>
          </p:cNvCxnSpPr>
          <p:nvPr/>
        </p:nvCxnSpPr>
        <p:spPr>
          <a:xfrm>
            <a:off x="1801458" y="5244595"/>
            <a:ext cx="144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F0449B1-C6C0-01E5-0CF6-8075827828C8}"/>
              </a:ext>
            </a:extLst>
          </p:cNvPr>
          <p:cNvCxnSpPr>
            <a:cxnSpLocks/>
          </p:cNvCxnSpPr>
          <p:nvPr/>
        </p:nvCxnSpPr>
        <p:spPr>
          <a:xfrm>
            <a:off x="3255894" y="450204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A2B1DD8-E6F5-B28E-C306-D0F698E5DCAC}"/>
              </a:ext>
            </a:extLst>
          </p:cNvPr>
          <p:cNvCxnSpPr>
            <a:cxnSpLocks/>
          </p:cNvCxnSpPr>
          <p:nvPr/>
        </p:nvCxnSpPr>
        <p:spPr>
          <a:xfrm>
            <a:off x="4869070" y="370286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283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6" grpId="0" animBg="1"/>
      <p:bldP spid="8" grpId="0" animBg="1"/>
      <p:bldP spid="9" grpId="0" animBg="1"/>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en-US" altLang="zh-CN" dirty="0"/>
              <a:t>11.4 </a:t>
            </a:r>
            <a:r>
              <a:rPr lang="zh-CN" altLang="en-US" dirty="0"/>
              <a:t>风险应对策略</a:t>
            </a:r>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34404</TotalTime>
  <Words>40651</Words>
  <Application>Microsoft Office PowerPoint</Application>
  <PresentationFormat>宽屏</PresentationFormat>
  <Paragraphs>7648</Paragraphs>
  <Slides>476</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476</vt:i4>
      </vt:variant>
    </vt:vector>
  </HeadingPairs>
  <TitlesOfParts>
    <vt:vector size="488" baseType="lpstr">
      <vt:lpstr>等线</vt:lpstr>
      <vt:lpstr>Segoe UI Black</vt:lpstr>
      <vt:lpstr>Arial</vt:lpstr>
      <vt:lpstr>Times New Roman</vt:lpstr>
      <vt:lpstr>Montserrat</vt:lpstr>
      <vt:lpstr>幼圆</vt:lpstr>
      <vt:lpstr>Cambria Math</vt:lpstr>
      <vt:lpstr>Calibri</vt:lpstr>
      <vt:lpstr>Wingdings</vt:lpstr>
      <vt:lpstr>Roboto Mono</vt:lpstr>
      <vt:lpstr>微软雅黑</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11.1 风险管理</vt:lpstr>
      <vt:lpstr>11.1 风险管理</vt:lpstr>
      <vt:lpstr>PowerPoint 演示文稿</vt:lpstr>
      <vt:lpstr>风险曝光度 Risk Exposure</vt:lpstr>
      <vt:lpstr>11.1 风险管理</vt:lpstr>
      <vt:lpstr>PowerPoint 演示文稿</vt:lpstr>
      <vt:lpstr>11.2 风险识别</vt:lpstr>
      <vt:lpstr>PowerPoint 演示文稿</vt:lpstr>
      <vt:lpstr>11.2 风险识别</vt:lpstr>
      <vt:lpstr>11.3 风险评估</vt:lpstr>
      <vt:lpstr>PowerPoint 演示文稿</vt:lpstr>
      <vt:lpstr>11.3 风险评估</vt:lpstr>
      <vt:lpstr>PowerPoint 演示文稿</vt:lpstr>
      <vt:lpstr>1 访谈</vt:lpstr>
      <vt:lpstr>2 盈亏平衡分析</vt:lpstr>
      <vt:lpstr>3 决策树</vt:lpstr>
      <vt:lpstr>例：决策树</vt:lpstr>
      <vt:lpstr>11.4 风险应对策略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3257</cp:revision>
  <dcterms:created xsi:type="dcterms:W3CDTF">2026-01-24T11:12:04Z</dcterms:created>
  <dcterms:modified xsi:type="dcterms:W3CDTF">2026-05-23T14:17:32Z</dcterms:modified>
</cp:coreProperties>
</file>