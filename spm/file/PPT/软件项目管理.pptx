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9.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8.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3"/>
  </p:notesMasterIdLst>
  <p:sldIdLst>
    <p:sldId id="311" r:id="rId2"/>
    <p:sldId id="444" r:id="rId3"/>
    <p:sldId id="256" r:id="rId4"/>
    <p:sldId id="262" r:id="rId5"/>
    <p:sldId id="266" r:id="rId6"/>
    <p:sldId id="488" r:id="rId7"/>
    <p:sldId id="257" r:id="rId8"/>
    <p:sldId id="258" r:id="rId9"/>
    <p:sldId id="479" r:id="rId10"/>
    <p:sldId id="270" r:id="rId11"/>
    <p:sldId id="491" r:id="rId12"/>
    <p:sldId id="489" r:id="rId13"/>
    <p:sldId id="490" r:id="rId14"/>
    <p:sldId id="282" r:id="rId15"/>
    <p:sldId id="283" r:id="rId16"/>
    <p:sldId id="492" r:id="rId17"/>
    <p:sldId id="480" r:id="rId18"/>
    <p:sldId id="494" r:id="rId19"/>
    <p:sldId id="493" r:id="rId20"/>
    <p:sldId id="261" r:id="rId21"/>
    <p:sldId id="260" r:id="rId22"/>
    <p:sldId id="476" r:id="rId23"/>
    <p:sldId id="482" r:id="rId24"/>
    <p:sldId id="484" r:id="rId25"/>
    <p:sldId id="486" r:id="rId26"/>
    <p:sldId id="483" r:id="rId27"/>
    <p:sldId id="487" r:id="rId28"/>
    <p:sldId id="485" r:id="rId29"/>
    <p:sldId id="477" r:id="rId30"/>
    <p:sldId id="303" r:id="rId31"/>
    <p:sldId id="308" r:id="rId32"/>
    <p:sldId id="309" r:id="rId33"/>
    <p:sldId id="314" r:id="rId34"/>
    <p:sldId id="285" r:id="rId35"/>
    <p:sldId id="286" r:id="rId36"/>
    <p:sldId id="317" r:id="rId37"/>
    <p:sldId id="312" r:id="rId38"/>
    <p:sldId id="310" r:id="rId39"/>
    <p:sldId id="268" r:id="rId40"/>
    <p:sldId id="271" r:id="rId41"/>
    <p:sldId id="409" r:id="rId42"/>
    <p:sldId id="408" r:id="rId43"/>
    <p:sldId id="410" r:id="rId44"/>
    <p:sldId id="411" r:id="rId45"/>
    <p:sldId id="291" r:id="rId46"/>
    <p:sldId id="292" r:id="rId47"/>
    <p:sldId id="293" r:id="rId48"/>
    <p:sldId id="294" r:id="rId49"/>
    <p:sldId id="299" r:id="rId50"/>
    <p:sldId id="300" r:id="rId51"/>
    <p:sldId id="301" r:id="rId52"/>
    <p:sldId id="298" r:id="rId53"/>
    <p:sldId id="416" r:id="rId54"/>
    <p:sldId id="295" r:id="rId55"/>
    <p:sldId id="296" r:id="rId56"/>
    <p:sldId id="297" r:id="rId57"/>
    <p:sldId id="413" r:id="rId58"/>
    <p:sldId id="478" r:id="rId59"/>
    <p:sldId id="333" r:id="rId60"/>
    <p:sldId id="334" r:id="rId61"/>
    <p:sldId id="386" r:id="rId62"/>
    <p:sldId id="387" r:id="rId63"/>
    <p:sldId id="405" r:id="rId64"/>
    <p:sldId id="335" r:id="rId65"/>
    <p:sldId id="336" r:id="rId66"/>
    <p:sldId id="337" r:id="rId67"/>
    <p:sldId id="338" r:id="rId68"/>
    <p:sldId id="345" r:id="rId69"/>
    <p:sldId id="340" r:id="rId70"/>
    <p:sldId id="346" r:id="rId71"/>
    <p:sldId id="341" r:id="rId72"/>
    <p:sldId id="342" r:id="rId73"/>
    <p:sldId id="343" r:id="rId74"/>
    <p:sldId id="359" r:id="rId75"/>
    <p:sldId id="403" r:id="rId76"/>
    <p:sldId id="347" r:id="rId77"/>
    <p:sldId id="348" r:id="rId78"/>
    <p:sldId id="349" r:id="rId79"/>
    <p:sldId id="350" r:id="rId80"/>
    <p:sldId id="351" r:id="rId81"/>
    <p:sldId id="352" r:id="rId82"/>
    <p:sldId id="353" r:id="rId83"/>
    <p:sldId id="354" r:id="rId84"/>
    <p:sldId id="355" r:id="rId85"/>
    <p:sldId id="356" r:id="rId86"/>
    <p:sldId id="357" r:id="rId87"/>
    <p:sldId id="358" r:id="rId88"/>
    <p:sldId id="360" r:id="rId89"/>
    <p:sldId id="361" r:id="rId90"/>
    <p:sldId id="362" r:id="rId91"/>
    <p:sldId id="363" r:id="rId92"/>
    <p:sldId id="364" r:id="rId93"/>
    <p:sldId id="344" r:id="rId94"/>
    <p:sldId id="380" r:id="rId95"/>
    <p:sldId id="381" r:id="rId96"/>
    <p:sldId id="382" r:id="rId97"/>
    <p:sldId id="383" r:id="rId98"/>
    <p:sldId id="365" r:id="rId99"/>
    <p:sldId id="366" r:id="rId100"/>
    <p:sldId id="368" r:id="rId101"/>
    <p:sldId id="369" r:id="rId102"/>
    <p:sldId id="370" r:id="rId103"/>
    <p:sldId id="371" r:id="rId104"/>
    <p:sldId id="372" r:id="rId105"/>
    <p:sldId id="374" r:id="rId106"/>
    <p:sldId id="375" r:id="rId107"/>
    <p:sldId id="376" r:id="rId108"/>
    <p:sldId id="377" r:id="rId109"/>
    <p:sldId id="378" r:id="rId110"/>
    <p:sldId id="379" r:id="rId111"/>
    <p:sldId id="273" r:id="rId112"/>
    <p:sldId id="445" r:id="rId113"/>
    <p:sldId id="443" r:id="rId114"/>
    <p:sldId id="446" r:id="rId115"/>
    <p:sldId id="447" r:id="rId116"/>
    <p:sldId id="448" r:id="rId117"/>
    <p:sldId id="449" r:id="rId118"/>
    <p:sldId id="450" r:id="rId119"/>
    <p:sldId id="451" r:id="rId120"/>
    <p:sldId id="274" r:id="rId121"/>
    <p:sldId id="419" r:id="rId122"/>
    <p:sldId id="420" r:id="rId123"/>
    <p:sldId id="421" r:id="rId124"/>
    <p:sldId id="422" r:id="rId125"/>
    <p:sldId id="424" r:id="rId126"/>
    <p:sldId id="423" r:id="rId127"/>
    <p:sldId id="426" r:id="rId128"/>
    <p:sldId id="267" r:id="rId129"/>
    <p:sldId id="425" r:id="rId130"/>
    <p:sldId id="429" r:id="rId131"/>
    <p:sldId id="428" r:id="rId132"/>
    <p:sldId id="430" r:id="rId133"/>
    <p:sldId id="427" r:id="rId134"/>
    <p:sldId id="440" r:id="rId135"/>
    <p:sldId id="441" r:id="rId136"/>
    <p:sldId id="442" r:id="rId137"/>
    <p:sldId id="436" r:id="rId138"/>
    <p:sldId id="437" r:id="rId139"/>
    <p:sldId id="438" r:id="rId140"/>
    <p:sldId id="439" r:id="rId141"/>
    <p:sldId id="275" r:id="rId142"/>
    <p:sldId id="433" r:id="rId143"/>
    <p:sldId id="434" r:id="rId144"/>
    <p:sldId id="432" r:id="rId145"/>
    <p:sldId id="452" r:id="rId146"/>
    <p:sldId id="453" r:id="rId147"/>
    <p:sldId id="276" r:id="rId148"/>
    <p:sldId id="467" r:id="rId149"/>
    <p:sldId id="466" r:id="rId150"/>
    <p:sldId id="468" r:id="rId151"/>
    <p:sldId id="470" r:id="rId152"/>
    <p:sldId id="469" r:id="rId153"/>
    <p:sldId id="277" r:id="rId154"/>
    <p:sldId id="313" r:id="rId155"/>
    <p:sldId id="454" r:id="rId156"/>
    <p:sldId id="455" r:id="rId157"/>
    <p:sldId id="457" r:id="rId158"/>
    <p:sldId id="458" r:id="rId159"/>
    <p:sldId id="459" r:id="rId160"/>
    <p:sldId id="456" r:id="rId161"/>
    <p:sldId id="475" r:id="rId162"/>
    <p:sldId id="460" r:id="rId163"/>
    <p:sldId id="263" r:id="rId164"/>
    <p:sldId id="264" r:id="rId165"/>
    <p:sldId id="265" r:id="rId166"/>
    <p:sldId id="461" r:id="rId167"/>
    <p:sldId id="278" r:id="rId168"/>
    <p:sldId id="390" r:id="rId169"/>
    <p:sldId id="435" r:id="rId170"/>
    <p:sldId id="431" r:id="rId171"/>
    <p:sldId id="391" r:id="rId172"/>
    <p:sldId id="388" r:id="rId173"/>
    <p:sldId id="389" r:id="rId174"/>
    <p:sldId id="471" r:id="rId175"/>
    <p:sldId id="279" r:id="rId176"/>
    <p:sldId id="463" r:id="rId177"/>
    <p:sldId id="393" r:id="rId178"/>
    <p:sldId id="392" r:id="rId179"/>
    <p:sldId id="462" r:id="rId180"/>
    <p:sldId id="394" r:id="rId181"/>
    <p:sldId id="395" r:id="rId182"/>
    <p:sldId id="396" r:id="rId183"/>
    <p:sldId id="397" r:id="rId184"/>
    <p:sldId id="398" r:id="rId185"/>
    <p:sldId id="464" r:id="rId186"/>
    <p:sldId id="465" r:id="rId187"/>
    <p:sldId id="280" r:id="rId188"/>
    <p:sldId id="399" r:id="rId189"/>
    <p:sldId id="287" r:id="rId190"/>
    <p:sldId id="288" r:id="rId191"/>
    <p:sldId id="289" r:id="rId192"/>
    <p:sldId id="290" r:id="rId193"/>
    <p:sldId id="281" r:id="rId194"/>
    <p:sldId id="400" r:id="rId195"/>
    <p:sldId id="402" r:id="rId196"/>
    <p:sldId id="401" r:id="rId197"/>
    <p:sldId id="412" r:id="rId198"/>
    <p:sldId id="472" r:id="rId199"/>
    <p:sldId id="473" r:id="rId200"/>
    <p:sldId id="474" r:id="rId201"/>
    <p:sldId id="367" r:id="rId202"/>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F6F62"/>
    <a:srgbClr val="5CC197"/>
    <a:srgbClr val="F8D070"/>
    <a:srgbClr val="FB8971"/>
    <a:srgbClr val="EE5C69"/>
    <a:srgbClr val="4472C4"/>
    <a:srgbClr val="998675"/>
    <a:srgbClr val="CCBFAE"/>
    <a:srgbClr val="EADAC1"/>
    <a:srgbClr val="4D997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9704" autoAdjust="0"/>
  </p:normalViewPr>
  <p:slideViewPr>
    <p:cSldViewPr snapToGrid="0">
      <p:cViewPr varScale="1">
        <p:scale>
          <a:sx n="102" d="100"/>
          <a:sy n="102" d="100"/>
        </p:scale>
        <p:origin x="192" y="96"/>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viewProps" Target="view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theme" Target="theme/theme1.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tableStyles" Target="tableStyles.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204" Type="http://schemas.openxmlformats.org/officeDocument/2006/relationships/presProps" Target="pres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dPt>
            <c:idx val="0"/>
            <c:bubble3D val="0"/>
            <c:spPr>
              <a:solidFill>
                <a:schemeClr val="accent1"/>
              </a:solidFill>
              <a:ln w="19050">
                <a:solidFill>
                  <a:schemeClr val="lt1"/>
                </a:solid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_rels/data1.xml.rels><?xml version="1.0" encoding="UTF-8" standalone="yes"?>
<Relationships xmlns="http://schemas.openxmlformats.org/package/2006/relationships"><Relationship Id="rId1" Type="http://schemas.openxmlformats.org/officeDocument/2006/relationships/hyperlink" Target="../../img/ppt0.jpg" TargetMode="Externa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AACCFAB-3586-4C89-82F5-30CA64F870D8}" type="doc">
      <dgm:prSet loTypeId="urn:microsoft.com/office/officeart/2008/layout/VerticalCurvedList" loCatId="list" qsTypeId="urn:microsoft.com/office/officeart/2005/8/quickstyle/simple1" qsCatId="simple" csTypeId="urn:microsoft.com/office/officeart/2005/8/colors/colorful5" csCatId="colorful" phldr="1"/>
      <dgm:spPr/>
      <dgm:t>
        <a:bodyPr/>
        <a:lstStyle/>
        <a:p>
          <a:endParaRPr lang="zh-CN" altLang="en-US"/>
        </a:p>
      </dgm:t>
    </dgm:pt>
    <dgm:pt modelId="{8A8A65F4-3297-48D4-BA56-5E009D932CE9}">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目标性 </a:t>
          </a:r>
          <a:r>
            <a:rPr lang="en-US" altLang="zh-CN" sz="1600" dirty="0">
              <a:latin typeface="微软雅黑 Light" panose="020B0502040204020203" pitchFamily="34" charset="-122"/>
              <a:ea typeface="微软雅黑 Light" panose="020B0502040204020203" pitchFamily="34" charset="-122"/>
            </a:rPr>
            <a:t>Target</a:t>
          </a:r>
          <a:endParaRPr lang="zh-CN" altLang="en-US" sz="1600" dirty="0"/>
        </a:p>
      </dgm:t>
    </dgm:pt>
    <dgm:pt modelId="{334A39A2-FF71-4BDD-9616-86C39CE7B69C}" type="parTrans" cxnId="{EA1E26A0-B55A-483C-93D6-CE65C1AE0420}">
      <dgm:prSet/>
      <dgm:spPr/>
      <dgm:t>
        <a:bodyPr/>
        <a:lstStyle/>
        <a:p>
          <a:endParaRPr lang="zh-CN" altLang="en-US"/>
        </a:p>
      </dgm:t>
    </dgm:pt>
    <dgm:pt modelId="{03D3FB13-FD44-4B83-8171-008A3801D643}" type="sibTrans" cxnId="{EA1E26A0-B55A-483C-93D6-CE65C1AE0420}">
      <dgm:prSet/>
      <dgm:spPr/>
      <dgm:t>
        <a:bodyPr/>
        <a:lstStyle/>
        <a:p>
          <a:endParaRPr lang="zh-CN" altLang="en-US"/>
        </a:p>
      </dgm:t>
    </dgm:pt>
    <dgm:pt modelId="{CB5B879A-6E15-4F22-99E7-D93FB8BE0F74}">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相关性 </a:t>
          </a:r>
          <a:r>
            <a:rPr lang="en-US" altLang="zh-CN" sz="1600" dirty="0">
              <a:latin typeface="微软雅黑 Light" panose="020B0502040204020203" pitchFamily="34" charset="-122"/>
              <a:ea typeface="微软雅黑 Light" panose="020B0502040204020203" pitchFamily="34" charset="-122"/>
            </a:rPr>
            <a:t>Relevant</a:t>
          </a:r>
          <a:endParaRPr lang="zh-CN" altLang="en-US" sz="1600" dirty="0"/>
        </a:p>
      </dgm:t>
    </dgm:pt>
    <dgm:pt modelId="{72249B3D-5D25-4798-9643-B2BBCF2D115B}" type="parTrans" cxnId="{48EDB646-ACA0-4910-83EE-0F3C067EEFDA}">
      <dgm:prSet/>
      <dgm:spPr/>
      <dgm:t>
        <a:bodyPr/>
        <a:lstStyle/>
        <a:p>
          <a:endParaRPr lang="zh-CN" altLang="en-US"/>
        </a:p>
      </dgm:t>
    </dgm:pt>
    <dgm:pt modelId="{6CDD844A-482E-4808-9DDF-DA99A5C417F5}" type="sibTrans" cxnId="{48EDB646-ACA0-4910-83EE-0F3C067EEFDA}">
      <dgm:prSet/>
      <dgm:spPr/>
      <dgm:t>
        <a:bodyPr/>
        <a:lstStyle/>
        <a:p>
          <a:endParaRPr lang="zh-CN" altLang="en-US"/>
        </a:p>
      </dgm:t>
    </dgm:pt>
    <dgm:pt modelId="{446430FD-F2F4-476B-98F5-9A925A78FC3A}">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临时性 </a:t>
          </a:r>
          <a:r>
            <a:rPr lang="en-US" altLang="zh-CN" sz="1600" dirty="0">
              <a:latin typeface="微软雅黑 Light" panose="020B0502040204020203" pitchFamily="34" charset="-122"/>
              <a:ea typeface="微软雅黑 Light" panose="020B0502040204020203" pitchFamily="34" charset="-122"/>
            </a:rPr>
            <a:t>Temporary</a:t>
          </a:r>
          <a:endParaRPr lang="zh-CN" altLang="en-US" sz="1600" dirty="0"/>
        </a:p>
      </dgm:t>
    </dgm:pt>
    <dgm:pt modelId="{02E8D32E-D7F0-4144-AD3E-2C1C18F83F1A}" type="parTrans" cxnId="{31AF39F6-3C31-4C06-8BE6-D647A8EC59D0}">
      <dgm:prSet/>
      <dgm:spPr/>
      <dgm:t>
        <a:bodyPr/>
        <a:lstStyle/>
        <a:p>
          <a:endParaRPr lang="zh-CN" altLang="en-US"/>
        </a:p>
      </dgm:t>
    </dgm:pt>
    <dgm:pt modelId="{7D0852B4-8680-47AF-BD9B-F9EB79E56F9F}" type="sibTrans" cxnId="{31AF39F6-3C31-4C06-8BE6-D647A8EC59D0}">
      <dgm:prSet/>
      <dgm:spPr/>
      <dgm:t>
        <a:bodyPr/>
        <a:lstStyle/>
        <a:p>
          <a:endParaRPr lang="zh-CN" altLang="en-US"/>
        </a:p>
      </dgm:t>
    </dgm:pt>
    <dgm:pt modelId="{6FA26B6B-FE4B-41F5-B2A9-9ADC30544D27}">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独特性 </a:t>
          </a:r>
          <a:r>
            <a:rPr lang="en-US" altLang="zh-CN" sz="1600" dirty="0">
              <a:latin typeface="微软雅黑 Light" panose="020B0502040204020203" pitchFamily="34" charset="-122"/>
              <a:ea typeface="微软雅黑 Light" panose="020B0502040204020203" pitchFamily="34" charset="-122"/>
            </a:rPr>
            <a:t>Unique</a:t>
          </a:r>
          <a:endParaRPr lang="zh-CN" altLang="en-US" sz="1600" dirty="0">
            <a:latin typeface="黑体" panose="02010609060101010101" pitchFamily="49" charset="-122"/>
            <a:ea typeface="黑体" panose="02010609060101010101" pitchFamily="49" charset="-122"/>
          </a:endParaRPr>
        </a:p>
      </dgm:t>
    </dgm:pt>
    <dgm:pt modelId="{245EF0CD-4968-48A8-8F70-EDA6261BA5C2}" type="parTrans" cxnId="{694963BB-EB24-47EB-94FB-55D63B6750DF}">
      <dgm:prSet/>
      <dgm:spPr/>
      <dgm:t>
        <a:bodyPr/>
        <a:lstStyle/>
        <a:p>
          <a:endParaRPr lang="zh-CN" altLang="en-US"/>
        </a:p>
      </dgm:t>
    </dgm:pt>
    <dgm:pt modelId="{C27AA268-7724-445B-AE9F-7BBDD4272BB6}" type="sibTrans" cxnId="{694963BB-EB24-47EB-94FB-55D63B6750DF}">
      <dgm:prSet/>
      <dgm:spPr/>
      <dgm:t>
        <a:bodyPr/>
        <a:lstStyle/>
        <a:p>
          <a:endParaRPr lang="zh-CN" altLang="en-US"/>
        </a:p>
      </dgm:t>
    </dgm:pt>
    <dgm:pt modelId="{A3D7627C-3309-4716-B9B9-F2D918728006}">
      <dgm:prSet custT="1"/>
      <dgm:spPr/>
      <dgm:t>
        <a:bodyPr/>
        <a:lstStyle/>
        <a:p>
          <a:r>
            <a:rPr lang="zh-CN" altLang="en-US" sz="1600" dirty="0">
              <a:latin typeface="微软雅黑 Light" panose="020B0502040204020203" pitchFamily="34" charset="-122"/>
              <a:ea typeface="微软雅黑 Light" panose="020B0502040204020203" pitchFamily="34" charset="-122"/>
            </a:rPr>
            <a:t>资源约束性 </a:t>
          </a:r>
          <a:r>
            <a:rPr lang="en-US" altLang="zh-CN" sz="1600" dirty="0">
              <a:latin typeface="微软雅黑 Light" panose="020B0502040204020203" pitchFamily="34" charset="-122"/>
              <a:ea typeface="微软雅黑 Light" panose="020B0502040204020203" pitchFamily="34" charset="-122"/>
            </a:rPr>
            <a:t>Constrain</a:t>
          </a:r>
          <a:endParaRPr lang="zh-CN" altLang="en-US" sz="1600" dirty="0">
            <a:latin typeface="黑体" panose="02010609060101010101" pitchFamily="49" charset="-122"/>
            <a:ea typeface="黑体" panose="02010609060101010101" pitchFamily="49" charset="-122"/>
          </a:endParaRPr>
        </a:p>
      </dgm:t>
    </dgm:pt>
    <dgm:pt modelId="{14A5C181-2E0E-45C8-AF76-F5B9C5488B2E}" type="parTrans" cxnId="{7FAB5738-257D-4EAD-AEED-2D99BB6CFEB3}">
      <dgm:prSet/>
      <dgm:spPr/>
      <dgm:t>
        <a:bodyPr/>
        <a:lstStyle/>
        <a:p>
          <a:endParaRPr lang="zh-CN" altLang="en-US"/>
        </a:p>
      </dgm:t>
    </dgm:pt>
    <dgm:pt modelId="{6679EA37-D4D9-4E66-BF74-08CB3ACD6E47}" type="sibTrans" cxnId="{7FAB5738-257D-4EAD-AEED-2D99BB6CFEB3}">
      <dgm:prSet/>
      <dgm:spPr/>
      <dgm:t>
        <a:bodyPr/>
        <a:lstStyle/>
        <a:p>
          <a:endParaRPr lang="zh-CN" altLang="en-US"/>
        </a:p>
      </dgm:t>
    </dgm:pt>
    <dgm:pt modelId="{71912B78-BC6D-417B-BC7C-5618600615C4}">
      <dgm:prSet custT="1"/>
      <dgm:spPr/>
      <dgm:t>
        <a:bodyPr/>
        <a:lstStyle/>
        <a:p>
          <a:r>
            <a:rPr lang="zh-CN" altLang="en-US" sz="1600" dirty="0">
              <a:latin typeface="微软雅黑 Light" panose="020B0502040204020203" pitchFamily="34" charset="-122"/>
              <a:ea typeface="微软雅黑 Light" panose="020B0502040204020203" pitchFamily="34" charset="-122"/>
            </a:rPr>
            <a:t>不确定性 </a:t>
          </a:r>
          <a:r>
            <a:rPr lang="en-US" altLang="zh-CN" sz="1600" dirty="0">
              <a:latin typeface="微软雅黑 Light" panose="020B0502040204020203" pitchFamily="34" charset="-122"/>
              <a:ea typeface="微软雅黑 Light" panose="020B0502040204020203" pitchFamily="34" charset="-122"/>
            </a:rPr>
            <a:t>Uncertainty</a:t>
          </a:r>
          <a:endParaRPr lang="zh-CN" altLang="en-US" sz="1600" dirty="0">
            <a:latin typeface="黑体" pitchFamily="49" charset="-122"/>
            <a:ea typeface="黑体" pitchFamily="49" charset="-122"/>
          </a:endParaRPr>
        </a:p>
      </dgm:t>
      <dgm:extLst>
        <a:ext uri="{E40237B7-FDA0-4F09-8148-C483321AD2D9}">
          <dgm14:cNvPr xmlns:dgm14="http://schemas.microsoft.com/office/drawing/2010/diagram" id="0" name="">
            <a:hlinkClick xmlns:r="http://schemas.openxmlformats.org/officeDocument/2006/relationships" r:id="rId1" action="ppaction://hlinkfile"/>
          </dgm14:cNvPr>
        </a:ext>
      </dgm:extLst>
    </dgm:pt>
    <dgm:pt modelId="{6872400D-8454-49C4-8E0A-84401AF342E7}" type="parTrans" cxnId="{44857260-1946-4623-98F7-13F272A3C74A}">
      <dgm:prSet/>
      <dgm:spPr/>
      <dgm:t>
        <a:bodyPr/>
        <a:lstStyle/>
        <a:p>
          <a:endParaRPr lang="zh-CN" altLang="en-US"/>
        </a:p>
      </dgm:t>
    </dgm:pt>
    <dgm:pt modelId="{3283CE3E-ADC3-41DA-B8B7-7E600A05C0DA}" type="sibTrans" cxnId="{44857260-1946-4623-98F7-13F272A3C74A}">
      <dgm:prSet/>
      <dgm:spPr/>
      <dgm:t>
        <a:bodyPr/>
        <a:lstStyle/>
        <a:p>
          <a:endParaRPr lang="zh-CN" altLang="en-US"/>
        </a:p>
      </dgm:t>
    </dgm:pt>
    <dgm:pt modelId="{D9AC989D-0392-4E4F-99CD-2C53326A6D27}" type="pres">
      <dgm:prSet presAssocID="{BAACCFAB-3586-4C89-82F5-30CA64F870D8}" presName="Name0" presStyleCnt="0">
        <dgm:presLayoutVars>
          <dgm:chMax val="7"/>
          <dgm:chPref val="7"/>
          <dgm:dir/>
        </dgm:presLayoutVars>
      </dgm:prSet>
      <dgm:spPr/>
    </dgm:pt>
    <dgm:pt modelId="{4326E8B3-941A-4426-AF03-8F04119C7B5E}" type="pres">
      <dgm:prSet presAssocID="{BAACCFAB-3586-4C89-82F5-30CA64F870D8}" presName="Name1" presStyleCnt="0"/>
      <dgm:spPr/>
    </dgm:pt>
    <dgm:pt modelId="{EBF0CB57-1D7C-46E6-8D1C-837FC77CA2DB}" type="pres">
      <dgm:prSet presAssocID="{BAACCFAB-3586-4C89-82F5-30CA64F870D8}" presName="cycle" presStyleCnt="0"/>
      <dgm:spPr/>
    </dgm:pt>
    <dgm:pt modelId="{99C9E886-D521-4426-8B22-767111540D6D}" type="pres">
      <dgm:prSet presAssocID="{BAACCFAB-3586-4C89-82F5-30CA64F870D8}" presName="srcNode" presStyleLbl="node1" presStyleIdx="0" presStyleCnt="6"/>
      <dgm:spPr/>
    </dgm:pt>
    <dgm:pt modelId="{CEC8AA7D-EF4E-4DA8-9550-E2EA63F97D35}" type="pres">
      <dgm:prSet presAssocID="{BAACCFAB-3586-4C89-82F5-30CA64F870D8}" presName="conn" presStyleLbl="parChTrans1D2" presStyleIdx="0" presStyleCnt="1"/>
      <dgm:spPr/>
    </dgm:pt>
    <dgm:pt modelId="{1B055E60-233D-4622-B64D-35F4FB8190BC}" type="pres">
      <dgm:prSet presAssocID="{BAACCFAB-3586-4C89-82F5-30CA64F870D8}" presName="extraNode" presStyleLbl="node1" presStyleIdx="0" presStyleCnt="6"/>
      <dgm:spPr/>
    </dgm:pt>
    <dgm:pt modelId="{AD6EDB53-8DDE-4491-A6D8-441205F3C400}" type="pres">
      <dgm:prSet presAssocID="{BAACCFAB-3586-4C89-82F5-30CA64F870D8}" presName="dstNode" presStyleLbl="node1" presStyleIdx="0" presStyleCnt="6"/>
      <dgm:spPr/>
    </dgm:pt>
    <dgm:pt modelId="{279D66B1-924F-4156-A795-F5AD9EBCE56B}" type="pres">
      <dgm:prSet presAssocID="{8A8A65F4-3297-48D4-BA56-5E009D932CE9}" presName="text_1" presStyleLbl="node1" presStyleIdx="0" presStyleCnt="6">
        <dgm:presLayoutVars>
          <dgm:bulletEnabled val="1"/>
        </dgm:presLayoutVars>
      </dgm:prSet>
      <dgm:spPr/>
    </dgm:pt>
    <dgm:pt modelId="{4B6FCCC4-07BB-41FE-A522-AF3D59937221}" type="pres">
      <dgm:prSet presAssocID="{8A8A65F4-3297-48D4-BA56-5E009D932CE9}" presName="accent_1" presStyleCnt="0"/>
      <dgm:spPr/>
    </dgm:pt>
    <dgm:pt modelId="{A5D8DC03-AC76-4F8B-9095-82230B702966}" type="pres">
      <dgm:prSet presAssocID="{8A8A65F4-3297-48D4-BA56-5E009D932CE9}" presName="accentRepeatNode" presStyleLbl="solidFgAcc1" presStyleIdx="0" presStyleCnt="6"/>
      <dgm:spPr/>
    </dgm:pt>
    <dgm:pt modelId="{8D79543D-0D4F-4D1C-9E04-9B163A8C7FF2}" type="pres">
      <dgm:prSet presAssocID="{CB5B879A-6E15-4F22-99E7-D93FB8BE0F74}" presName="text_2" presStyleLbl="node1" presStyleIdx="1" presStyleCnt="6">
        <dgm:presLayoutVars>
          <dgm:bulletEnabled val="1"/>
        </dgm:presLayoutVars>
      </dgm:prSet>
      <dgm:spPr/>
    </dgm:pt>
    <dgm:pt modelId="{676C91B2-566A-4982-9B9A-9CA8A51BF231}" type="pres">
      <dgm:prSet presAssocID="{CB5B879A-6E15-4F22-99E7-D93FB8BE0F74}" presName="accent_2" presStyleCnt="0"/>
      <dgm:spPr/>
    </dgm:pt>
    <dgm:pt modelId="{A694E9F5-D20F-4CE0-AAEF-A8AF7BCB9440}" type="pres">
      <dgm:prSet presAssocID="{CB5B879A-6E15-4F22-99E7-D93FB8BE0F74}" presName="accentRepeatNode" presStyleLbl="solidFgAcc1" presStyleIdx="1" presStyleCnt="6"/>
      <dgm:spPr/>
    </dgm:pt>
    <dgm:pt modelId="{59B95563-7B5B-4225-831A-29E1EEB39012}" type="pres">
      <dgm:prSet presAssocID="{446430FD-F2F4-476B-98F5-9A925A78FC3A}" presName="text_3" presStyleLbl="node1" presStyleIdx="2" presStyleCnt="6">
        <dgm:presLayoutVars>
          <dgm:bulletEnabled val="1"/>
        </dgm:presLayoutVars>
      </dgm:prSet>
      <dgm:spPr/>
    </dgm:pt>
    <dgm:pt modelId="{BECF69A7-2196-47C3-BE4C-D989FD88B487}" type="pres">
      <dgm:prSet presAssocID="{446430FD-F2F4-476B-98F5-9A925A78FC3A}" presName="accent_3" presStyleCnt="0"/>
      <dgm:spPr/>
    </dgm:pt>
    <dgm:pt modelId="{206E9F62-904C-4E09-965F-8F6A1D50CE99}" type="pres">
      <dgm:prSet presAssocID="{446430FD-F2F4-476B-98F5-9A925A78FC3A}" presName="accentRepeatNode" presStyleLbl="solidFgAcc1" presStyleIdx="2" presStyleCnt="6"/>
      <dgm:spPr/>
    </dgm:pt>
    <dgm:pt modelId="{6361ADEE-DDC8-4B92-A22E-8B90489C3496}" type="pres">
      <dgm:prSet presAssocID="{6FA26B6B-FE4B-41F5-B2A9-9ADC30544D27}" presName="text_4" presStyleLbl="node1" presStyleIdx="3" presStyleCnt="6">
        <dgm:presLayoutVars>
          <dgm:bulletEnabled val="1"/>
        </dgm:presLayoutVars>
      </dgm:prSet>
      <dgm:spPr/>
    </dgm:pt>
    <dgm:pt modelId="{B73B53AD-4868-436B-8E6C-DE9549E1B95D}" type="pres">
      <dgm:prSet presAssocID="{6FA26B6B-FE4B-41F5-B2A9-9ADC30544D27}" presName="accent_4" presStyleCnt="0"/>
      <dgm:spPr/>
    </dgm:pt>
    <dgm:pt modelId="{2701C0E2-42F7-4EF8-915B-95DB5DB722B2}" type="pres">
      <dgm:prSet presAssocID="{6FA26B6B-FE4B-41F5-B2A9-9ADC30544D27}" presName="accentRepeatNode" presStyleLbl="solidFgAcc1" presStyleIdx="3" presStyleCnt="6"/>
      <dgm:spPr/>
    </dgm:pt>
    <dgm:pt modelId="{BD20C5DB-CD08-4AEF-87F2-098846C6D817}" type="pres">
      <dgm:prSet presAssocID="{A3D7627C-3309-4716-B9B9-F2D918728006}" presName="text_5" presStyleLbl="node1" presStyleIdx="4" presStyleCnt="6">
        <dgm:presLayoutVars>
          <dgm:bulletEnabled val="1"/>
        </dgm:presLayoutVars>
      </dgm:prSet>
      <dgm:spPr/>
    </dgm:pt>
    <dgm:pt modelId="{1BB83503-308E-492B-8BF7-EB6AC7849597}" type="pres">
      <dgm:prSet presAssocID="{A3D7627C-3309-4716-B9B9-F2D918728006}" presName="accent_5" presStyleCnt="0"/>
      <dgm:spPr/>
    </dgm:pt>
    <dgm:pt modelId="{B0C54EBB-8ADF-4962-BF7D-1A4063195482}" type="pres">
      <dgm:prSet presAssocID="{A3D7627C-3309-4716-B9B9-F2D918728006}" presName="accentRepeatNode" presStyleLbl="solidFgAcc1" presStyleIdx="4" presStyleCnt="6"/>
      <dgm:spPr/>
    </dgm:pt>
    <dgm:pt modelId="{126B5754-9BAB-4335-8048-CAA059B4AA0E}" type="pres">
      <dgm:prSet presAssocID="{71912B78-BC6D-417B-BC7C-5618600615C4}" presName="text_6" presStyleLbl="node1" presStyleIdx="5" presStyleCnt="6">
        <dgm:presLayoutVars>
          <dgm:bulletEnabled val="1"/>
        </dgm:presLayoutVars>
      </dgm:prSet>
      <dgm:spPr/>
    </dgm:pt>
    <dgm:pt modelId="{89B00F1C-2CBE-49FE-B6D2-CB51C88DE4E0}" type="pres">
      <dgm:prSet presAssocID="{71912B78-BC6D-417B-BC7C-5618600615C4}" presName="accent_6" presStyleCnt="0"/>
      <dgm:spPr/>
    </dgm:pt>
    <dgm:pt modelId="{C2EDE2D4-FAE3-405D-AAC7-232D5860DC6B}" type="pres">
      <dgm:prSet presAssocID="{71912B78-BC6D-417B-BC7C-5618600615C4}" presName="accentRepeatNode" presStyleLbl="solidFgAcc1" presStyleIdx="5" presStyleCnt="6"/>
      <dgm:spPr/>
    </dgm:pt>
  </dgm:ptLst>
  <dgm:cxnLst>
    <dgm:cxn modelId="{D6A5550B-0109-4D84-AD28-906067C0059E}" type="presOf" srcId="{6FA26B6B-FE4B-41F5-B2A9-9ADC30544D27}" destId="{6361ADEE-DDC8-4B92-A22E-8B90489C3496}" srcOrd="0" destOrd="0" presId="urn:microsoft.com/office/officeart/2008/layout/VerticalCurvedList"/>
    <dgm:cxn modelId="{09520928-7CF9-4F30-A744-3D9FCF71043C}" type="presOf" srcId="{BAACCFAB-3586-4C89-82F5-30CA64F870D8}" destId="{D9AC989D-0392-4E4F-99CD-2C53326A6D27}" srcOrd="0" destOrd="0" presId="urn:microsoft.com/office/officeart/2008/layout/VerticalCurvedList"/>
    <dgm:cxn modelId="{7FAB5738-257D-4EAD-AEED-2D99BB6CFEB3}" srcId="{BAACCFAB-3586-4C89-82F5-30CA64F870D8}" destId="{A3D7627C-3309-4716-B9B9-F2D918728006}" srcOrd="4" destOrd="0" parTransId="{14A5C181-2E0E-45C8-AF76-F5B9C5488B2E}" sibTransId="{6679EA37-D4D9-4E66-BF74-08CB3ACD6E47}"/>
    <dgm:cxn modelId="{85608F3F-C375-4A0C-AC92-3A3816EB0448}" type="presOf" srcId="{71912B78-BC6D-417B-BC7C-5618600615C4}" destId="{126B5754-9BAB-4335-8048-CAA059B4AA0E}" srcOrd="0" destOrd="0" presId="urn:microsoft.com/office/officeart/2008/layout/VerticalCurvedList"/>
    <dgm:cxn modelId="{44857260-1946-4623-98F7-13F272A3C74A}" srcId="{BAACCFAB-3586-4C89-82F5-30CA64F870D8}" destId="{71912B78-BC6D-417B-BC7C-5618600615C4}" srcOrd="5" destOrd="0" parTransId="{6872400D-8454-49C4-8E0A-84401AF342E7}" sibTransId="{3283CE3E-ADC3-41DA-B8B7-7E600A05C0DA}"/>
    <dgm:cxn modelId="{48EDB646-ACA0-4910-83EE-0F3C067EEFDA}" srcId="{BAACCFAB-3586-4C89-82F5-30CA64F870D8}" destId="{CB5B879A-6E15-4F22-99E7-D93FB8BE0F74}" srcOrd="1" destOrd="0" parTransId="{72249B3D-5D25-4798-9643-B2BBCF2D115B}" sibTransId="{6CDD844A-482E-4808-9DDF-DA99A5C417F5}"/>
    <dgm:cxn modelId="{85ADAB6C-F822-40DC-AF07-AB0245A0FC4B}" type="presOf" srcId="{CB5B879A-6E15-4F22-99E7-D93FB8BE0F74}" destId="{8D79543D-0D4F-4D1C-9E04-9B163A8C7FF2}" srcOrd="0" destOrd="0" presId="urn:microsoft.com/office/officeart/2008/layout/VerticalCurvedList"/>
    <dgm:cxn modelId="{E8D5086E-3A81-4B0F-8E90-0FB97FF0E577}" type="presOf" srcId="{03D3FB13-FD44-4B83-8171-008A3801D643}" destId="{CEC8AA7D-EF4E-4DA8-9550-E2EA63F97D35}" srcOrd="0" destOrd="0" presId="urn:microsoft.com/office/officeart/2008/layout/VerticalCurvedList"/>
    <dgm:cxn modelId="{BF7D8F70-81C7-4E48-97E8-08399131DE37}" type="presOf" srcId="{8A8A65F4-3297-48D4-BA56-5E009D932CE9}" destId="{279D66B1-924F-4156-A795-F5AD9EBCE56B}" srcOrd="0" destOrd="0" presId="urn:microsoft.com/office/officeart/2008/layout/VerticalCurvedList"/>
    <dgm:cxn modelId="{EA1E26A0-B55A-483C-93D6-CE65C1AE0420}" srcId="{BAACCFAB-3586-4C89-82F5-30CA64F870D8}" destId="{8A8A65F4-3297-48D4-BA56-5E009D932CE9}" srcOrd="0" destOrd="0" parTransId="{334A39A2-FF71-4BDD-9616-86C39CE7B69C}" sibTransId="{03D3FB13-FD44-4B83-8171-008A3801D643}"/>
    <dgm:cxn modelId="{694963BB-EB24-47EB-94FB-55D63B6750DF}" srcId="{BAACCFAB-3586-4C89-82F5-30CA64F870D8}" destId="{6FA26B6B-FE4B-41F5-B2A9-9ADC30544D27}" srcOrd="3" destOrd="0" parTransId="{245EF0CD-4968-48A8-8F70-EDA6261BA5C2}" sibTransId="{C27AA268-7724-445B-AE9F-7BBDD4272BB6}"/>
    <dgm:cxn modelId="{A24D34DD-8B66-4972-81CF-2887B787E5DE}" type="presOf" srcId="{A3D7627C-3309-4716-B9B9-F2D918728006}" destId="{BD20C5DB-CD08-4AEF-87F2-098846C6D817}" srcOrd="0" destOrd="0" presId="urn:microsoft.com/office/officeart/2008/layout/VerticalCurvedList"/>
    <dgm:cxn modelId="{FC7507ED-1855-46BF-8EF6-81B905137BAB}" type="presOf" srcId="{446430FD-F2F4-476B-98F5-9A925A78FC3A}" destId="{59B95563-7B5B-4225-831A-29E1EEB39012}" srcOrd="0" destOrd="0" presId="urn:microsoft.com/office/officeart/2008/layout/VerticalCurvedList"/>
    <dgm:cxn modelId="{31AF39F6-3C31-4C06-8BE6-D647A8EC59D0}" srcId="{BAACCFAB-3586-4C89-82F5-30CA64F870D8}" destId="{446430FD-F2F4-476B-98F5-9A925A78FC3A}" srcOrd="2" destOrd="0" parTransId="{02E8D32E-D7F0-4144-AD3E-2C1C18F83F1A}" sibTransId="{7D0852B4-8680-47AF-BD9B-F9EB79E56F9F}"/>
    <dgm:cxn modelId="{558409AD-A731-448E-B68E-30D5E38E13BE}" type="presParOf" srcId="{D9AC989D-0392-4E4F-99CD-2C53326A6D27}" destId="{4326E8B3-941A-4426-AF03-8F04119C7B5E}" srcOrd="0" destOrd="0" presId="urn:microsoft.com/office/officeart/2008/layout/VerticalCurvedList"/>
    <dgm:cxn modelId="{515EB6E3-496A-4268-AD99-6DEFE35C317A}" type="presParOf" srcId="{4326E8B3-941A-4426-AF03-8F04119C7B5E}" destId="{EBF0CB57-1D7C-46E6-8D1C-837FC77CA2DB}" srcOrd="0" destOrd="0" presId="urn:microsoft.com/office/officeart/2008/layout/VerticalCurvedList"/>
    <dgm:cxn modelId="{509F4B5B-6226-4AE7-8873-89F00A14E64D}" type="presParOf" srcId="{EBF0CB57-1D7C-46E6-8D1C-837FC77CA2DB}" destId="{99C9E886-D521-4426-8B22-767111540D6D}" srcOrd="0" destOrd="0" presId="urn:microsoft.com/office/officeart/2008/layout/VerticalCurvedList"/>
    <dgm:cxn modelId="{B3ED85F0-34C3-43CC-9C63-02B4D9EE0B67}" type="presParOf" srcId="{EBF0CB57-1D7C-46E6-8D1C-837FC77CA2DB}" destId="{CEC8AA7D-EF4E-4DA8-9550-E2EA63F97D35}" srcOrd="1" destOrd="0" presId="urn:microsoft.com/office/officeart/2008/layout/VerticalCurvedList"/>
    <dgm:cxn modelId="{FF41EE68-8AD1-40BD-B80C-2B1F9B903693}" type="presParOf" srcId="{EBF0CB57-1D7C-46E6-8D1C-837FC77CA2DB}" destId="{1B055E60-233D-4622-B64D-35F4FB8190BC}" srcOrd="2" destOrd="0" presId="urn:microsoft.com/office/officeart/2008/layout/VerticalCurvedList"/>
    <dgm:cxn modelId="{C7EAA817-D895-47E6-83F0-44158E886BF2}" type="presParOf" srcId="{EBF0CB57-1D7C-46E6-8D1C-837FC77CA2DB}" destId="{AD6EDB53-8DDE-4491-A6D8-441205F3C400}" srcOrd="3" destOrd="0" presId="urn:microsoft.com/office/officeart/2008/layout/VerticalCurvedList"/>
    <dgm:cxn modelId="{636F86D9-0DB6-43A0-8EE3-6166886FD4E1}" type="presParOf" srcId="{4326E8B3-941A-4426-AF03-8F04119C7B5E}" destId="{279D66B1-924F-4156-A795-F5AD9EBCE56B}" srcOrd="1" destOrd="0" presId="urn:microsoft.com/office/officeart/2008/layout/VerticalCurvedList"/>
    <dgm:cxn modelId="{AFE396AC-6536-42E9-B244-734CCB4C0722}" type="presParOf" srcId="{4326E8B3-941A-4426-AF03-8F04119C7B5E}" destId="{4B6FCCC4-07BB-41FE-A522-AF3D59937221}" srcOrd="2" destOrd="0" presId="urn:microsoft.com/office/officeart/2008/layout/VerticalCurvedList"/>
    <dgm:cxn modelId="{2C4686AD-E2EC-4270-B4F7-D83678AD4523}" type="presParOf" srcId="{4B6FCCC4-07BB-41FE-A522-AF3D59937221}" destId="{A5D8DC03-AC76-4F8B-9095-82230B702966}" srcOrd="0" destOrd="0" presId="urn:microsoft.com/office/officeart/2008/layout/VerticalCurvedList"/>
    <dgm:cxn modelId="{2E6C2334-7D94-44F8-B217-BFA432EA51F1}" type="presParOf" srcId="{4326E8B3-941A-4426-AF03-8F04119C7B5E}" destId="{8D79543D-0D4F-4D1C-9E04-9B163A8C7FF2}" srcOrd="3" destOrd="0" presId="urn:microsoft.com/office/officeart/2008/layout/VerticalCurvedList"/>
    <dgm:cxn modelId="{B79C14DD-6292-4FF9-96B1-7B67E010F2BA}" type="presParOf" srcId="{4326E8B3-941A-4426-AF03-8F04119C7B5E}" destId="{676C91B2-566A-4982-9B9A-9CA8A51BF231}" srcOrd="4" destOrd="0" presId="urn:microsoft.com/office/officeart/2008/layout/VerticalCurvedList"/>
    <dgm:cxn modelId="{902B5732-C413-4F61-A58D-B9D1A88FDD62}" type="presParOf" srcId="{676C91B2-566A-4982-9B9A-9CA8A51BF231}" destId="{A694E9F5-D20F-4CE0-AAEF-A8AF7BCB9440}" srcOrd="0" destOrd="0" presId="urn:microsoft.com/office/officeart/2008/layout/VerticalCurvedList"/>
    <dgm:cxn modelId="{DD92076B-F683-4DA0-AEF5-CC1BAFFA6BCA}" type="presParOf" srcId="{4326E8B3-941A-4426-AF03-8F04119C7B5E}" destId="{59B95563-7B5B-4225-831A-29E1EEB39012}" srcOrd="5" destOrd="0" presId="urn:microsoft.com/office/officeart/2008/layout/VerticalCurvedList"/>
    <dgm:cxn modelId="{71F868BD-867F-421C-A8A0-4CFCF0512CE0}" type="presParOf" srcId="{4326E8B3-941A-4426-AF03-8F04119C7B5E}" destId="{BECF69A7-2196-47C3-BE4C-D989FD88B487}" srcOrd="6" destOrd="0" presId="urn:microsoft.com/office/officeart/2008/layout/VerticalCurvedList"/>
    <dgm:cxn modelId="{4DC9B1D4-F82F-47C7-A500-D780CCA36B3F}" type="presParOf" srcId="{BECF69A7-2196-47C3-BE4C-D989FD88B487}" destId="{206E9F62-904C-4E09-965F-8F6A1D50CE99}" srcOrd="0" destOrd="0" presId="urn:microsoft.com/office/officeart/2008/layout/VerticalCurvedList"/>
    <dgm:cxn modelId="{8FF430CA-93D8-416F-920C-6BFF9C011834}" type="presParOf" srcId="{4326E8B3-941A-4426-AF03-8F04119C7B5E}" destId="{6361ADEE-DDC8-4B92-A22E-8B90489C3496}" srcOrd="7" destOrd="0" presId="urn:microsoft.com/office/officeart/2008/layout/VerticalCurvedList"/>
    <dgm:cxn modelId="{7ECF39A8-F633-45DA-BEB2-9BFFC637141F}" type="presParOf" srcId="{4326E8B3-941A-4426-AF03-8F04119C7B5E}" destId="{B73B53AD-4868-436B-8E6C-DE9549E1B95D}" srcOrd="8" destOrd="0" presId="urn:microsoft.com/office/officeart/2008/layout/VerticalCurvedList"/>
    <dgm:cxn modelId="{B6B73A3E-E29D-45F2-9CEA-DDDBABE8A0A2}" type="presParOf" srcId="{B73B53AD-4868-436B-8E6C-DE9549E1B95D}" destId="{2701C0E2-42F7-4EF8-915B-95DB5DB722B2}" srcOrd="0" destOrd="0" presId="urn:microsoft.com/office/officeart/2008/layout/VerticalCurvedList"/>
    <dgm:cxn modelId="{EFD5AFD0-98C0-436D-B579-4E1F24C990BE}" type="presParOf" srcId="{4326E8B3-941A-4426-AF03-8F04119C7B5E}" destId="{BD20C5DB-CD08-4AEF-87F2-098846C6D817}" srcOrd="9" destOrd="0" presId="urn:microsoft.com/office/officeart/2008/layout/VerticalCurvedList"/>
    <dgm:cxn modelId="{A9E9C6E0-81E4-49CC-8EC9-1BD3281F6093}" type="presParOf" srcId="{4326E8B3-941A-4426-AF03-8F04119C7B5E}" destId="{1BB83503-308E-492B-8BF7-EB6AC7849597}" srcOrd="10" destOrd="0" presId="urn:microsoft.com/office/officeart/2008/layout/VerticalCurvedList"/>
    <dgm:cxn modelId="{022B68BD-A836-49FC-93BD-A39EBEB8F2D9}" type="presParOf" srcId="{1BB83503-308E-492B-8BF7-EB6AC7849597}" destId="{B0C54EBB-8ADF-4962-BF7D-1A4063195482}" srcOrd="0" destOrd="0" presId="urn:microsoft.com/office/officeart/2008/layout/VerticalCurvedList"/>
    <dgm:cxn modelId="{8E7F85A6-8663-44E6-B8A2-A825E79A1279}" type="presParOf" srcId="{4326E8B3-941A-4426-AF03-8F04119C7B5E}" destId="{126B5754-9BAB-4335-8048-CAA059B4AA0E}" srcOrd="11" destOrd="0" presId="urn:microsoft.com/office/officeart/2008/layout/VerticalCurvedList"/>
    <dgm:cxn modelId="{084DA166-2973-4F3E-95CC-BA0E082C046C}" type="presParOf" srcId="{4326E8B3-941A-4426-AF03-8F04119C7B5E}" destId="{89B00F1C-2CBE-49FE-B6D2-CB51C88DE4E0}" srcOrd="12" destOrd="0" presId="urn:microsoft.com/office/officeart/2008/layout/VerticalCurvedList"/>
    <dgm:cxn modelId="{23710884-5BDA-4A50-A4E8-89C275F49CF7}" type="presParOf" srcId="{89B00F1C-2CBE-49FE-B6D2-CB51C88DE4E0}" destId="{C2EDE2D4-FAE3-405D-AAC7-232D5860DC6B}"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dirty="0"/>
            <a:t>时间</a:t>
          </a:r>
          <a:endParaRPr lang="en-US" altLang="zh-CN" dirty="0"/>
        </a:p>
        <a:p>
          <a:pPr>
            <a:lnSpc>
              <a:spcPct val="100000"/>
            </a:lnSpc>
            <a:spcAft>
              <a:spcPts val="0"/>
            </a:spcAft>
          </a:pPr>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dirty="0"/>
            <a:t>成本</a:t>
          </a:r>
          <a:endParaRPr lang="en-US" altLang="zh-CN" dirty="0"/>
        </a:p>
        <a:p>
          <a:pPr>
            <a:lnSpc>
              <a:spcPct val="100000"/>
            </a:lnSpc>
            <a:spcAft>
              <a:spcPts val="0"/>
            </a:spcAft>
          </a:pPr>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84DE132-2077-4703-B7A4-A2AADC558C7E}" type="doc">
      <dgm:prSet loTypeId="urn:microsoft.com/office/officeart/2008/layout/RadialCluster" loCatId="relationship" qsTypeId="urn:microsoft.com/office/officeart/2005/8/quickstyle/3d5" qsCatId="3D" csTypeId="urn:microsoft.com/office/officeart/2005/8/colors/colorful1" csCatId="colorful" phldr="1"/>
      <dgm:spPr/>
      <dgm:t>
        <a:bodyPr/>
        <a:lstStyle/>
        <a:p>
          <a:endParaRPr lang="zh-CN" altLang="en-US"/>
        </a:p>
      </dgm:t>
    </dgm:pt>
    <dgm:pt modelId="{314BF430-32F3-4937-B7A8-CDBC50A28586}">
      <dgm:prSet phldrT="[文本]" custT="1"/>
      <dgm:spPr/>
      <dgm:t>
        <a:bodyPr/>
        <a:lstStyle/>
        <a:p>
          <a:r>
            <a:rPr lang="zh-CN" altLang="en-US" sz="2400" dirty="0"/>
            <a:t>为什么需要敏捷</a:t>
          </a:r>
        </a:p>
      </dgm:t>
    </dgm:pt>
    <dgm:pt modelId="{FFF528F2-CD86-4C30-9CDA-FBA4F0F0AD51}" type="parTrans" cxnId="{7A3587CB-3A67-4010-9066-02B15F2FD936}">
      <dgm:prSet/>
      <dgm:spPr/>
      <dgm:t>
        <a:bodyPr/>
        <a:lstStyle/>
        <a:p>
          <a:endParaRPr lang="zh-CN" altLang="en-US" sz="1600"/>
        </a:p>
      </dgm:t>
    </dgm:pt>
    <dgm:pt modelId="{305F5B84-54DA-40BC-92F0-2D234A72D198}" type="sibTrans" cxnId="{7A3587CB-3A67-4010-9066-02B15F2FD936}">
      <dgm:prSet/>
      <dgm:spPr/>
      <dgm:t>
        <a:bodyPr/>
        <a:lstStyle/>
        <a:p>
          <a:endParaRPr lang="zh-CN" altLang="en-US" sz="1600"/>
        </a:p>
      </dgm:t>
    </dgm:pt>
    <dgm:pt modelId="{324CA685-49BD-4BD5-A8FD-A5710D9AC13B}">
      <dgm:prSet phldrT="[文本]" custT="1"/>
      <dgm:spPr/>
      <dgm:t>
        <a:bodyPr/>
        <a:lstStyle/>
        <a:p>
          <a:r>
            <a:rPr lang="zh-CN" altLang="en-US" sz="1600" dirty="0"/>
            <a:t>更加灵活</a:t>
          </a:r>
        </a:p>
      </dgm:t>
    </dgm:pt>
    <dgm:pt modelId="{7D8C2A10-8A07-4F15-B8A5-39F77B79AFE9}" type="parTrans" cxnId="{73B17A59-9241-4F2B-B6B4-885F888C132A}">
      <dgm:prSet/>
      <dgm:spPr/>
      <dgm:t>
        <a:bodyPr/>
        <a:lstStyle/>
        <a:p>
          <a:endParaRPr lang="zh-CN" altLang="en-US" sz="1600"/>
        </a:p>
      </dgm:t>
    </dgm:pt>
    <dgm:pt modelId="{28D2BF1F-59FB-44D8-8FD5-92B443E44216}" type="sibTrans" cxnId="{73B17A59-9241-4F2B-B6B4-885F888C132A}">
      <dgm:prSet/>
      <dgm:spPr/>
      <dgm:t>
        <a:bodyPr/>
        <a:lstStyle/>
        <a:p>
          <a:endParaRPr lang="zh-CN" altLang="en-US" sz="1600"/>
        </a:p>
      </dgm:t>
    </dgm:pt>
    <dgm:pt modelId="{87606509-C3F9-4238-A894-635D82EAB841}">
      <dgm:prSet phldrT="[文本]" custT="1"/>
      <dgm:spPr/>
      <dgm:t>
        <a:bodyPr/>
        <a:lstStyle/>
        <a:p>
          <a:r>
            <a:rPr lang="zh-CN" altLang="en-US" sz="1600" dirty="0"/>
            <a:t>快速交付</a:t>
          </a:r>
        </a:p>
      </dgm:t>
    </dgm:pt>
    <dgm:pt modelId="{D87EC061-DBBC-46D1-80B0-D3B15C61D5FF}" type="parTrans" cxnId="{1BC08063-DF8E-4682-A997-CCAA4FAB1183}">
      <dgm:prSet/>
      <dgm:spPr/>
      <dgm:t>
        <a:bodyPr/>
        <a:lstStyle/>
        <a:p>
          <a:endParaRPr lang="zh-CN" altLang="en-US" sz="1600"/>
        </a:p>
      </dgm:t>
    </dgm:pt>
    <dgm:pt modelId="{70C0542A-0A11-4E9D-9606-9272B5AF48C0}" type="sibTrans" cxnId="{1BC08063-DF8E-4682-A997-CCAA4FAB1183}">
      <dgm:prSet/>
      <dgm:spPr/>
      <dgm:t>
        <a:bodyPr/>
        <a:lstStyle/>
        <a:p>
          <a:endParaRPr lang="zh-CN" altLang="en-US" sz="1600"/>
        </a:p>
      </dgm:t>
    </dgm:pt>
    <dgm:pt modelId="{D8FE1109-6BE6-4606-AE0B-4682160FB4B6}">
      <dgm:prSet phldrT="[文本]" custT="1"/>
      <dgm:spPr/>
      <dgm:t>
        <a:bodyPr/>
        <a:lstStyle/>
        <a:p>
          <a:r>
            <a:rPr lang="zh-CN" altLang="en-US" sz="1600" dirty="0"/>
            <a:t>持续改进</a:t>
          </a:r>
        </a:p>
      </dgm:t>
    </dgm:pt>
    <dgm:pt modelId="{5662D5C6-378B-4690-BCED-2C584281D3AA}" type="parTrans" cxnId="{4E294A44-DFF9-48D0-A9F0-63F8A415BCD3}">
      <dgm:prSet/>
      <dgm:spPr/>
      <dgm:t>
        <a:bodyPr/>
        <a:lstStyle/>
        <a:p>
          <a:endParaRPr lang="zh-CN" altLang="en-US" sz="1600"/>
        </a:p>
      </dgm:t>
    </dgm:pt>
    <dgm:pt modelId="{EDA8ED59-D48E-4854-BCE5-1B6D47008CE9}" type="sibTrans" cxnId="{4E294A44-DFF9-48D0-A9F0-63F8A415BCD3}">
      <dgm:prSet/>
      <dgm:spPr/>
      <dgm:t>
        <a:bodyPr/>
        <a:lstStyle/>
        <a:p>
          <a:endParaRPr lang="zh-CN" altLang="en-US" sz="1600"/>
        </a:p>
      </dgm:t>
    </dgm:pt>
    <dgm:pt modelId="{39635E2A-0DDE-480A-BDA0-5F9B3A206D03}">
      <dgm:prSet phldrT="[文本]" custT="1"/>
      <dgm:spPr/>
      <dgm:t>
        <a:bodyPr/>
        <a:lstStyle/>
        <a:p>
          <a:r>
            <a:rPr lang="zh-CN" altLang="en-US" sz="1600" dirty="0"/>
            <a:t>更低风险</a:t>
          </a:r>
        </a:p>
      </dgm:t>
    </dgm:pt>
    <dgm:pt modelId="{D8A66E85-A2FA-4154-ACB7-ADCF5F955258}" type="parTrans" cxnId="{9120F8DE-3D09-4BF1-B92A-C934B465E308}">
      <dgm:prSet/>
      <dgm:spPr/>
      <dgm:t>
        <a:bodyPr/>
        <a:lstStyle/>
        <a:p>
          <a:endParaRPr lang="zh-CN" altLang="en-US" sz="1600"/>
        </a:p>
      </dgm:t>
    </dgm:pt>
    <dgm:pt modelId="{EBC4C119-FFAC-44A5-A81A-730732D0306D}" type="sibTrans" cxnId="{9120F8DE-3D09-4BF1-B92A-C934B465E308}">
      <dgm:prSet/>
      <dgm:spPr/>
      <dgm:t>
        <a:bodyPr/>
        <a:lstStyle/>
        <a:p>
          <a:endParaRPr lang="zh-CN" altLang="en-US" sz="1600"/>
        </a:p>
      </dgm:t>
    </dgm:pt>
    <dgm:pt modelId="{824CE0B2-F960-45F2-BCBE-1CD5E253A7F9}" type="pres">
      <dgm:prSet presAssocID="{D84DE132-2077-4703-B7A4-A2AADC558C7E}" presName="Name0" presStyleCnt="0">
        <dgm:presLayoutVars>
          <dgm:chMax val="1"/>
          <dgm:chPref val="1"/>
          <dgm:dir/>
          <dgm:animOne val="branch"/>
          <dgm:animLvl val="lvl"/>
        </dgm:presLayoutVars>
      </dgm:prSet>
      <dgm:spPr/>
    </dgm:pt>
    <dgm:pt modelId="{B54C53F5-4A22-4491-98CE-52D3E8765D02}" type="pres">
      <dgm:prSet presAssocID="{314BF430-32F3-4937-B7A8-CDBC50A28586}" presName="singleCycle" presStyleCnt="0"/>
      <dgm:spPr/>
    </dgm:pt>
    <dgm:pt modelId="{40C8E036-C2EE-4600-A051-491B681C8C8D}" type="pres">
      <dgm:prSet presAssocID="{314BF430-32F3-4937-B7A8-CDBC50A28586}" presName="singleCenter" presStyleLbl="node1" presStyleIdx="0" presStyleCnt="5">
        <dgm:presLayoutVars>
          <dgm:chMax val="7"/>
          <dgm:chPref val="7"/>
        </dgm:presLayoutVars>
      </dgm:prSet>
      <dgm:spPr/>
    </dgm:pt>
    <dgm:pt modelId="{2E08CFCD-6332-40E2-A17E-084ED5E59966}" type="pres">
      <dgm:prSet presAssocID="{7D8C2A10-8A07-4F15-B8A5-39F77B79AFE9}" presName="Name56" presStyleLbl="parChTrans1D2" presStyleIdx="0" presStyleCnt="4"/>
      <dgm:spPr/>
    </dgm:pt>
    <dgm:pt modelId="{A285A515-1A1B-44A4-867B-3B42E36AD233}" type="pres">
      <dgm:prSet presAssocID="{324CA685-49BD-4BD5-A8FD-A5710D9AC13B}" presName="text0" presStyleLbl="node1" presStyleIdx="1" presStyleCnt="5">
        <dgm:presLayoutVars>
          <dgm:bulletEnabled val="1"/>
        </dgm:presLayoutVars>
      </dgm:prSet>
      <dgm:spPr/>
    </dgm:pt>
    <dgm:pt modelId="{98E87A3E-8EDA-4E31-A58E-16C5DE7484A6}" type="pres">
      <dgm:prSet presAssocID="{D87EC061-DBBC-46D1-80B0-D3B15C61D5FF}" presName="Name56" presStyleLbl="parChTrans1D2" presStyleIdx="1" presStyleCnt="4"/>
      <dgm:spPr/>
    </dgm:pt>
    <dgm:pt modelId="{103858DB-0D8A-4A94-A8ED-8B7CB632D64B}" type="pres">
      <dgm:prSet presAssocID="{87606509-C3F9-4238-A894-635D82EAB841}" presName="text0" presStyleLbl="node1" presStyleIdx="2" presStyleCnt="5">
        <dgm:presLayoutVars>
          <dgm:bulletEnabled val="1"/>
        </dgm:presLayoutVars>
      </dgm:prSet>
      <dgm:spPr/>
    </dgm:pt>
    <dgm:pt modelId="{5A634463-5CA1-45DE-9DC2-51CE4525DE68}" type="pres">
      <dgm:prSet presAssocID="{5662D5C6-378B-4690-BCED-2C584281D3AA}" presName="Name56" presStyleLbl="parChTrans1D2" presStyleIdx="2" presStyleCnt="4"/>
      <dgm:spPr/>
    </dgm:pt>
    <dgm:pt modelId="{E5D4D3A5-5361-4E22-BE21-44F88B118BAD}" type="pres">
      <dgm:prSet presAssocID="{D8FE1109-6BE6-4606-AE0B-4682160FB4B6}" presName="text0" presStyleLbl="node1" presStyleIdx="3" presStyleCnt="5">
        <dgm:presLayoutVars>
          <dgm:bulletEnabled val="1"/>
        </dgm:presLayoutVars>
      </dgm:prSet>
      <dgm:spPr/>
    </dgm:pt>
    <dgm:pt modelId="{6917A371-A8D4-46BF-B362-B6BAC5B093F8}" type="pres">
      <dgm:prSet presAssocID="{D8A66E85-A2FA-4154-ACB7-ADCF5F955258}" presName="Name56" presStyleLbl="parChTrans1D2" presStyleIdx="3" presStyleCnt="4"/>
      <dgm:spPr/>
    </dgm:pt>
    <dgm:pt modelId="{F15E34B5-BCBC-4EE4-9EED-6AB235023B27}" type="pres">
      <dgm:prSet presAssocID="{39635E2A-0DDE-480A-BDA0-5F9B3A206D03}" presName="text0" presStyleLbl="node1" presStyleIdx="4" presStyleCnt="5">
        <dgm:presLayoutVars>
          <dgm:bulletEnabled val="1"/>
        </dgm:presLayoutVars>
      </dgm:prSet>
      <dgm:spPr/>
    </dgm:pt>
  </dgm:ptLst>
  <dgm:cxnLst>
    <dgm:cxn modelId="{FC3F7714-C301-4E3D-B22B-A6E2B15F0D19}" type="presOf" srcId="{D8A66E85-A2FA-4154-ACB7-ADCF5F955258}" destId="{6917A371-A8D4-46BF-B362-B6BAC5B093F8}" srcOrd="0" destOrd="0" presId="urn:microsoft.com/office/officeart/2008/layout/RadialCluster"/>
    <dgm:cxn modelId="{5A865718-E565-487D-A6E8-0E5796F0D5EE}" type="presOf" srcId="{87606509-C3F9-4238-A894-635D82EAB841}" destId="{103858DB-0D8A-4A94-A8ED-8B7CB632D64B}" srcOrd="0" destOrd="0" presId="urn:microsoft.com/office/officeart/2008/layout/RadialCluster"/>
    <dgm:cxn modelId="{91A4173A-F907-4179-98AD-44D77052B42E}" type="presOf" srcId="{D84DE132-2077-4703-B7A4-A2AADC558C7E}" destId="{824CE0B2-F960-45F2-BCBE-1CD5E253A7F9}" srcOrd="0" destOrd="0" presId="urn:microsoft.com/office/officeart/2008/layout/RadialCluster"/>
    <dgm:cxn modelId="{BD82F53E-2381-4A90-ABF5-1D4D25795834}" type="presOf" srcId="{D8FE1109-6BE6-4606-AE0B-4682160FB4B6}" destId="{E5D4D3A5-5361-4E22-BE21-44F88B118BAD}" srcOrd="0" destOrd="0" presId="urn:microsoft.com/office/officeart/2008/layout/RadialCluster"/>
    <dgm:cxn modelId="{1BC08063-DF8E-4682-A997-CCAA4FAB1183}" srcId="{314BF430-32F3-4937-B7A8-CDBC50A28586}" destId="{87606509-C3F9-4238-A894-635D82EAB841}" srcOrd="1" destOrd="0" parTransId="{D87EC061-DBBC-46D1-80B0-D3B15C61D5FF}" sibTransId="{70C0542A-0A11-4E9D-9606-9272B5AF48C0}"/>
    <dgm:cxn modelId="{4E294A44-DFF9-48D0-A9F0-63F8A415BCD3}" srcId="{314BF430-32F3-4937-B7A8-CDBC50A28586}" destId="{D8FE1109-6BE6-4606-AE0B-4682160FB4B6}" srcOrd="2" destOrd="0" parTransId="{5662D5C6-378B-4690-BCED-2C584281D3AA}" sibTransId="{EDA8ED59-D48E-4854-BCE5-1B6D47008CE9}"/>
    <dgm:cxn modelId="{BC32EA45-7D9F-4EF1-AF81-38B9B844AC91}" type="presOf" srcId="{7D8C2A10-8A07-4F15-B8A5-39F77B79AFE9}" destId="{2E08CFCD-6332-40E2-A17E-084ED5E59966}" srcOrd="0" destOrd="0" presId="urn:microsoft.com/office/officeart/2008/layout/RadialCluster"/>
    <dgm:cxn modelId="{73B17A59-9241-4F2B-B6B4-885F888C132A}" srcId="{314BF430-32F3-4937-B7A8-CDBC50A28586}" destId="{324CA685-49BD-4BD5-A8FD-A5710D9AC13B}" srcOrd="0" destOrd="0" parTransId="{7D8C2A10-8A07-4F15-B8A5-39F77B79AFE9}" sibTransId="{28D2BF1F-59FB-44D8-8FD5-92B443E44216}"/>
    <dgm:cxn modelId="{CFB060CA-1CDF-4B8E-8529-80E6B3AAF100}" type="presOf" srcId="{5662D5C6-378B-4690-BCED-2C584281D3AA}" destId="{5A634463-5CA1-45DE-9DC2-51CE4525DE68}" srcOrd="0" destOrd="0" presId="urn:microsoft.com/office/officeart/2008/layout/RadialCluster"/>
    <dgm:cxn modelId="{3ECA4DCA-93D3-4E2E-8335-23FA3217E0EA}" type="presOf" srcId="{D87EC061-DBBC-46D1-80B0-D3B15C61D5FF}" destId="{98E87A3E-8EDA-4E31-A58E-16C5DE7484A6}" srcOrd="0" destOrd="0" presId="urn:microsoft.com/office/officeart/2008/layout/RadialCluster"/>
    <dgm:cxn modelId="{7A3587CB-3A67-4010-9066-02B15F2FD936}" srcId="{D84DE132-2077-4703-B7A4-A2AADC558C7E}" destId="{314BF430-32F3-4937-B7A8-CDBC50A28586}" srcOrd="0" destOrd="0" parTransId="{FFF528F2-CD86-4C30-9CDA-FBA4F0F0AD51}" sibTransId="{305F5B84-54DA-40BC-92F0-2D234A72D198}"/>
    <dgm:cxn modelId="{9120F8DE-3D09-4BF1-B92A-C934B465E308}" srcId="{314BF430-32F3-4937-B7A8-CDBC50A28586}" destId="{39635E2A-0DDE-480A-BDA0-5F9B3A206D03}" srcOrd="3" destOrd="0" parTransId="{D8A66E85-A2FA-4154-ACB7-ADCF5F955258}" sibTransId="{EBC4C119-FFAC-44A5-A81A-730732D0306D}"/>
    <dgm:cxn modelId="{8B4E0DE9-02CD-492F-92A6-2509C6C092E5}" type="presOf" srcId="{39635E2A-0DDE-480A-BDA0-5F9B3A206D03}" destId="{F15E34B5-BCBC-4EE4-9EED-6AB235023B27}" srcOrd="0" destOrd="0" presId="urn:microsoft.com/office/officeart/2008/layout/RadialCluster"/>
    <dgm:cxn modelId="{BE615EE9-C165-4423-8441-0A6FB6E80D6D}" type="presOf" srcId="{324CA685-49BD-4BD5-A8FD-A5710D9AC13B}" destId="{A285A515-1A1B-44A4-867B-3B42E36AD233}" srcOrd="0" destOrd="0" presId="urn:microsoft.com/office/officeart/2008/layout/RadialCluster"/>
    <dgm:cxn modelId="{DF39FCF3-F28A-4F54-A978-F2DD934CC6A6}" type="presOf" srcId="{314BF430-32F3-4937-B7A8-CDBC50A28586}" destId="{40C8E036-C2EE-4600-A051-491B681C8C8D}" srcOrd="0" destOrd="0" presId="urn:microsoft.com/office/officeart/2008/layout/RadialCluster"/>
    <dgm:cxn modelId="{F7DB3DD6-9236-4395-814F-4E3A0DB81BF2}" type="presParOf" srcId="{824CE0B2-F960-45F2-BCBE-1CD5E253A7F9}" destId="{B54C53F5-4A22-4491-98CE-52D3E8765D02}" srcOrd="0" destOrd="0" presId="urn:microsoft.com/office/officeart/2008/layout/RadialCluster"/>
    <dgm:cxn modelId="{5FFA1774-5A00-4410-9B50-99E4E37EC1DA}" type="presParOf" srcId="{B54C53F5-4A22-4491-98CE-52D3E8765D02}" destId="{40C8E036-C2EE-4600-A051-491B681C8C8D}" srcOrd="0" destOrd="0" presId="urn:microsoft.com/office/officeart/2008/layout/RadialCluster"/>
    <dgm:cxn modelId="{1A16B853-1EC4-4FBE-B4E0-A1121959ABD5}" type="presParOf" srcId="{B54C53F5-4A22-4491-98CE-52D3E8765D02}" destId="{2E08CFCD-6332-40E2-A17E-084ED5E59966}" srcOrd="1" destOrd="0" presId="urn:microsoft.com/office/officeart/2008/layout/RadialCluster"/>
    <dgm:cxn modelId="{008742E3-02BE-4DDC-9344-1FF903368E18}" type="presParOf" srcId="{B54C53F5-4A22-4491-98CE-52D3E8765D02}" destId="{A285A515-1A1B-44A4-867B-3B42E36AD233}" srcOrd="2" destOrd="0" presId="urn:microsoft.com/office/officeart/2008/layout/RadialCluster"/>
    <dgm:cxn modelId="{ACA181CC-8E47-425C-BE7E-0DE33D6E56EA}" type="presParOf" srcId="{B54C53F5-4A22-4491-98CE-52D3E8765D02}" destId="{98E87A3E-8EDA-4E31-A58E-16C5DE7484A6}" srcOrd="3" destOrd="0" presId="urn:microsoft.com/office/officeart/2008/layout/RadialCluster"/>
    <dgm:cxn modelId="{322B153B-7A15-4CCB-AD50-D6B36B480BED}" type="presParOf" srcId="{B54C53F5-4A22-4491-98CE-52D3E8765D02}" destId="{103858DB-0D8A-4A94-A8ED-8B7CB632D64B}" srcOrd="4" destOrd="0" presId="urn:microsoft.com/office/officeart/2008/layout/RadialCluster"/>
    <dgm:cxn modelId="{F9AED44C-5E3C-4A5A-ADF3-426FAE88A4E4}" type="presParOf" srcId="{B54C53F5-4A22-4491-98CE-52D3E8765D02}" destId="{5A634463-5CA1-45DE-9DC2-51CE4525DE68}" srcOrd="5" destOrd="0" presId="urn:microsoft.com/office/officeart/2008/layout/RadialCluster"/>
    <dgm:cxn modelId="{5F3AF859-507C-4736-80CD-58B1B8A3DE4C}" type="presParOf" srcId="{B54C53F5-4A22-4491-98CE-52D3E8765D02}" destId="{E5D4D3A5-5361-4E22-BE21-44F88B118BAD}" srcOrd="6" destOrd="0" presId="urn:microsoft.com/office/officeart/2008/layout/RadialCluster"/>
    <dgm:cxn modelId="{D1B91DD2-5421-4F0E-8D17-CD5314AC0B56}" type="presParOf" srcId="{B54C53F5-4A22-4491-98CE-52D3E8765D02}" destId="{6917A371-A8D4-46BF-B362-B6BAC5B093F8}" srcOrd="7" destOrd="0" presId="urn:microsoft.com/office/officeart/2008/layout/RadialCluster"/>
    <dgm:cxn modelId="{B1C9F850-0A2D-41A3-9DF0-900266242A46}" type="presParOf" srcId="{B54C53F5-4A22-4491-98CE-52D3E8765D02}" destId="{F15E34B5-BCBC-4EE4-9EED-6AB235023B27}" srcOrd="8" destOrd="0" presId="urn:microsoft.com/office/officeart/2008/layout/RadialCluster"/>
  </dgm:cxnLst>
  <dgm:bg/>
  <dgm:whole>
    <a:ln w="1270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54691F0-94F8-43DE-820A-E282164893BD}" type="doc">
      <dgm:prSet loTypeId="urn:microsoft.com/office/officeart/2005/8/layout/chevron1" loCatId="process" qsTypeId="urn:microsoft.com/office/officeart/2005/8/quickstyle/simple1" qsCatId="simple" csTypeId="urn:microsoft.com/office/officeart/2005/8/colors/colorful5" csCatId="colorful" phldr="1"/>
      <dgm:spPr/>
      <dgm:t>
        <a:bodyPr/>
        <a:lstStyle/>
        <a:p>
          <a:endParaRPr lang="zh-CN" altLang="en-US"/>
        </a:p>
      </dgm:t>
    </dgm:pt>
    <dgm:pt modelId="{184D60CB-27ED-4780-A10E-4CC49C9E76D3}">
      <dgm:prSet phldrT="[文本]" phldr="0"/>
      <dgm:spPr/>
      <dgm:t>
        <a:bodyPr/>
        <a:lstStyle/>
        <a:p>
          <a:r>
            <a:rPr lang="zh-CN" altLang="en-US" dirty="0"/>
            <a:t>项目建议</a:t>
          </a:r>
        </a:p>
      </dgm:t>
    </dgm:pt>
    <dgm:pt modelId="{9C1ADE14-4A7C-4C45-A868-79CA352F05EB}" type="parTrans" cxnId="{8EA1B4EF-69D9-4935-9F40-6A0D97B5F08C}">
      <dgm:prSet/>
      <dgm:spPr/>
      <dgm:t>
        <a:bodyPr/>
        <a:lstStyle/>
        <a:p>
          <a:endParaRPr lang="zh-CN" altLang="en-US"/>
        </a:p>
      </dgm:t>
    </dgm:pt>
    <dgm:pt modelId="{41B6E64C-E9EB-43BD-9C0E-762B52FA6BC7}" type="sibTrans" cxnId="{8EA1B4EF-69D9-4935-9F40-6A0D97B5F08C}">
      <dgm:prSet/>
      <dgm:spPr/>
      <dgm:t>
        <a:bodyPr/>
        <a:lstStyle/>
        <a:p>
          <a:endParaRPr lang="zh-CN" altLang="en-US"/>
        </a:p>
      </dgm:t>
    </dgm:pt>
    <dgm:pt modelId="{2A575AB9-61F1-4AC2-9D05-93C951B08D73}">
      <dgm:prSet phldrT="[文本]"/>
      <dgm:spPr/>
      <dgm:t>
        <a:bodyPr/>
        <a:lstStyle/>
        <a:p>
          <a:r>
            <a:rPr lang="zh-CN" altLang="en-US" dirty="0"/>
            <a:t>项目可行性分析</a:t>
          </a:r>
        </a:p>
      </dgm:t>
    </dgm:pt>
    <dgm:pt modelId="{6DB42CE6-3CB0-4856-BF35-0C90A2451A4E}" type="parTrans" cxnId="{CBB60AEE-5AE0-4834-B8F3-A53F7583A090}">
      <dgm:prSet/>
      <dgm:spPr/>
      <dgm:t>
        <a:bodyPr/>
        <a:lstStyle/>
        <a:p>
          <a:endParaRPr lang="zh-CN" altLang="en-US"/>
        </a:p>
      </dgm:t>
    </dgm:pt>
    <dgm:pt modelId="{956A8CB9-3798-49D8-84BF-B4A09A248CBC}" type="sibTrans" cxnId="{CBB60AEE-5AE0-4834-B8F3-A53F7583A090}">
      <dgm:prSet/>
      <dgm:spPr/>
      <dgm:t>
        <a:bodyPr/>
        <a:lstStyle/>
        <a:p>
          <a:endParaRPr lang="zh-CN" altLang="en-US"/>
        </a:p>
      </dgm:t>
    </dgm:pt>
    <dgm:pt modelId="{F50E392A-E371-45A8-B68D-90001E61108A}">
      <dgm:prSet phldrT="[文本]"/>
      <dgm:spPr/>
      <dgm:t>
        <a:bodyPr/>
        <a:lstStyle/>
        <a:p>
          <a:r>
            <a:rPr lang="zh-CN" altLang="en-US" dirty="0"/>
            <a:t>项目审批</a:t>
          </a:r>
        </a:p>
      </dgm:t>
    </dgm:pt>
    <dgm:pt modelId="{34BC6687-7E0B-4F30-AC64-FB0D6F36AFCF}" type="parTrans" cxnId="{AEB15708-5602-48CC-AA6E-8AA90D1FBB65}">
      <dgm:prSet/>
      <dgm:spPr/>
      <dgm:t>
        <a:bodyPr/>
        <a:lstStyle/>
        <a:p>
          <a:endParaRPr lang="zh-CN" altLang="en-US"/>
        </a:p>
      </dgm:t>
    </dgm:pt>
    <dgm:pt modelId="{8F4DC57A-E897-469E-9DBF-448E70714E8C}" type="sibTrans" cxnId="{AEB15708-5602-48CC-AA6E-8AA90D1FBB65}">
      <dgm:prSet/>
      <dgm:spPr/>
      <dgm:t>
        <a:bodyPr/>
        <a:lstStyle/>
        <a:p>
          <a:endParaRPr lang="zh-CN" altLang="en-US"/>
        </a:p>
      </dgm:t>
    </dgm:pt>
    <dgm:pt modelId="{068F73D6-FD2B-4819-92FF-A1D420338598}">
      <dgm:prSet phldrT="[文本]"/>
      <dgm:spPr/>
      <dgm:t>
        <a:bodyPr/>
        <a:lstStyle/>
        <a:p>
          <a:r>
            <a:rPr lang="zh-CN" altLang="en-US" dirty="0"/>
            <a:t>项目招投标</a:t>
          </a:r>
        </a:p>
      </dgm:t>
    </dgm:pt>
    <dgm:pt modelId="{68FE74F0-0AF2-4FB0-98C4-EC9C2655B818}" type="parTrans" cxnId="{5A8B46E0-DCAC-408B-B419-1EF002BC679A}">
      <dgm:prSet/>
      <dgm:spPr/>
      <dgm:t>
        <a:bodyPr/>
        <a:lstStyle/>
        <a:p>
          <a:endParaRPr lang="zh-CN" altLang="en-US"/>
        </a:p>
      </dgm:t>
    </dgm:pt>
    <dgm:pt modelId="{38CB38AF-D860-4B18-BCBB-91F8D1EE4D6E}" type="sibTrans" cxnId="{5A8B46E0-DCAC-408B-B419-1EF002BC679A}">
      <dgm:prSet/>
      <dgm:spPr/>
      <dgm:t>
        <a:bodyPr/>
        <a:lstStyle/>
        <a:p>
          <a:endParaRPr lang="zh-CN" altLang="en-US"/>
        </a:p>
      </dgm:t>
    </dgm:pt>
    <dgm:pt modelId="{AA46264F-C891-49B9-8E74-1FFD253D616C}">
      <dgm:prSet phldrT="[文本]"/>
      <dgm:spPr/>
      <dgm:t>
        <a:bodyPr/>
        <a:lstStyle/>
        <a:p>
          <a:r>
            <a:rPr lang="zh-CN" altLang="en-US" dirty="0"/>
            <a:t>项目合同谈判和签到</a:t>
          </a:r>
        </a:p>
      </dgm:t>
    </dgm:pt>
    <dgm:pt modelId="{795D5C6C-FC24-4BE6-BAFC-BC7A436374FA}" type="parTrans" cxnId="{0A5C0DF5-DCF1-4B17-A3AB-6BA34FBBCFCC}">
      <dgm:prSet/>
      <dgm:spPr/>
      <dgm:t>
        <a:bodyPr/>
        <a:lstStyle/>
        <a:p>
          <a:endParaRPr lang="zh-CN" altLang="en-US"/>
        </a:p>
      </dgm:t>
    </dgm:pt>
    <dgm:pt modelId="{FE3A84E4-D74C-4FD0-8559-64B047FAF8B4}" type="sibTrans" cxnId="{0A5C0DF5-DCF1-4B17-A3AB-6BA34FBBCFCC}">
      <dgm:prSet/>
      <dgm:spPr/>
      <dgm:t>
        <a:bodyPr/>
        <a:lstStyle/>
        <a:p>
          <a:endParaRPr lang="zh-CN" altLang="en-US"/>
        </a:p>
      </dgm:t>
    </dgm:pt>
    <dgm:pt modelId="{331D744C-3E25-4F72-A3A3-2D171B1FAE4A}" type="pres">
      <dgm:prSet presAssocID="{C54691F0-94F8-43DE-820A-E282164893BD}" presName="Name0" presStyleCnt="0">
        <dgm:presLayoutVars>
          <dgm:dir/>
          <dgm:animLvl val="lvl"/>
          <dgm:resizeHandles val="exact"/>
        </dgm:presLayoutVars>
      </dgm:prSet>
      <dgm:spPr/>
    </dgm:pt>
    <dgm:pt modelId="{BFADCE9A-F623-4A8D-9AE7-8DD25E7A76D8}" type="pres">
      <dgm:prSet presAssocID="{184D60CB-27ED-4780-A10E-4CC49C9E76D3}" presName="parTxOnly" presStyleLbl="node1" presStyleIdx="0" presStyleCnt="5">
        <dgm:presLayoutVars>
          <dgm:chMax val="0"/>
          <dgm:chPref val="0"/>
          <dgm:bulletEnabled val="1"/>
        </dgm:presLayoutVars>
      </dgm:prSet>
      <dgm:spPr/>
    </dgm:pt>
    <dgm:pt modelId="{F4E419B9-A508-4B41-A5AF-63310C5C51D6}" type="pres">
      <dgm:prSet presAssocID="{41B6E64C-E9EB-43BD-9C0E-762B52FA6BC7}" presName="parTxOnlySpace" presStyleCnt="0"/>
      <dgm:spPr/>
    </dgm:pt>
    <dgm:pt modelId="{7A3D29DB-D217-4EDB-96A3-52B1BB0C6283}" type="pres">
      <dgm:prSet presAssocID="{2A575AB9-61F1-4AC2-9D05-93C951B08D73}" presName="parTxOnly" presStyleLbl="node1" presStyleIdx="1" presStyleCnt="5">
        <dgm:presLayoutVars>
          <dgm:chMax val="0"/>
          <dgm:chPref val="0"/>
          <dgm:bulletEnabled val="1"/>
        </dgm:presLayoutVars>
      </dgm:prSet>
      <dgm:spPr/>
    </dgm:pt>
    <dgm:pt modelId="{93753795-0ADE-4AC2-9931-33EF9D0FA0AD}" type="pres">
      <dgm:prSet presAssocID="{956A8CB9-3798-49D8-84BF-B4A09A248CBC}" presName="parTxOnlySpace" presStyleCnt="0"/>
      <dgm:spPr/>
    </dgm:pt>
    <dgm:pt modelId="{4B334B34-EF96-49E0-B66E-133BD48100CA}" type="pres">
      <dgm:prSet presAssocID="{F50E392A-E371-45A8-B68D-90001E61108A}" presName="parTxOnly" presStyleLbl="node1" presStyleIdx="2" presStyleCnt="5">
        <dgm:presLayoutVars>
          <dgm:chMax val="0"/>
          <dgm:chPref val="0"/>
          <dgm:bulletEnabled val="1"/>
        </dgm:presLayoutVars>
      </dgm:prSet>
      <dgm:spPr/>
    </dgm:pt>
    <dgm:pt modelId="{B2AAC982-46E5-4C16-81EB-6037924D60A8}" type="pres">
      <dgm:prSet presAssocID="{8F4DC57A-E897-469E-9DBF-448E70714E8C}" presName="parTxOnlySpace" presStyleCnt="0"/>
      <dgm:spPr/>
    </dgm:pt>
    <dgm:pt modelId="{5BAD45FD-29D7-48E3-8439-87C6F2A3A98B}" type="pres">
      <dgm:prSet presAssocID="{068F73D6-FD2B-4819-92FF-A1D420338598}" presName="parTxOnly" presStyleLbl="node1" presStyleIdx="3" presStyleCnt="5">
        <dgm:presLayoutVars>
          <dgm:chMax val="0"/>
          <dgm:chPref val="0"/>
          <dgm:bulletEnabled val="1"/>
        </dgm:presLayoutVars>
      </dgm:prSet>
      <dgm:spPr/>
    </dgm:pt>
    <dgm:pt modelId="{42954CDD-A8EF-4773-B744-6CF7CAD82C73}" type="pres">
      <dgm:prSet presAssocID="{38CB38AF-D860-4B18-BCBB-91F8D1EE4D6E}" presName="parTxOnlySpace" presStyleCnt="0"/>
      <dgm:spPr/>
    </dgm:pt>
    <dgm:pt modelId="{C1A69100-C77D-4BF6-A329-8693DB5210CB}" type="pres">
      <dgm:prSet presAssocID="{AA46264F-C891-49B9-8E74-1FFD253D616C}" presName="parTxOnly" presStyleLbl="node1" presStyleIdx="4" presStyleCnt="5">
        <dgm:presLayoutVars>
          <dgm:chMax val="0"/>
          <dgm:chPref val="0"/>
          <dgm:bulletEnabled val="1"/>
        </dgm:presLayoutVars>
      </dgm:prSet>
      <dgm:spPr/>
    </dgm:pt>
  </dgm:ptLst>
  <dgm:cxnLst>
    <dgm:cxn modelId="{AEB15708-5602-48CC-AA6E-8AA90D1FBB65}" srcId="{C54691F0-94F8-43DE-820A-E282164893BD}" destId="{F50E392A-E371-45A8-B68D-90001E61108A}" srcOrd="2" destOrd="0" parTransId="{34BC6687-7E0B-4F30-AC64-FB0D6F36AFCF}" sibTransId="{8F4DC57A-E897-469E-9DBF-448E70714E8C}"/>
    <dgm:cxn modelId="{89A8E242-8EAD-4DBE-8FF1-1F4F7D05BDD7}" type="presOf" srcId="{068F73D6-FD2B-4819-92FF-A1D420338598}" destId="{5BAD45FD-29D7-48E3-8439-87C6F2A3A98B}" srcOrd="0" destOrd="0" presId="urn:microsoft.com/office/officeart/2005/8/layout/chevron1"/>
    <dgm:cxn modelId="{4EDA7052-94EC-480B-8242-7C40B83F752F}" type="presOf" srcId="{184D60CB-27ED-4780-A10E-4CC49C9E76D3}" destId="{BFADCE9A-F623-4A8D-9AE7-8DD25E7A76D8}" srcOrd="0" destOrd="0" presId="urn:microsoft.com/office/officeart/2005/8/layout/chevron1"/>
    <dgm:cxn modelId="{2AFFAFB6-FA90-4DC3-82E8-D79BF685A3A9}" type="presOf" srcId="{2A575AB9-61F1-4AC2-9D05-93C951B08D73}" destId="{7A3D29DB-D217-4EDB-96A3-52B1BB0C6283}" srcOrd="0" destOrd="0" presId="urn:microsoft.com/office/officeart/2005/8/layout/chevron1"/>
    <dgm:cxn modelId="{EE8EC5DC-97C5-408A-8F7A-59723FA8A219}" type="presOf" srcId="{C54691F0-94F8-43DE-820A-E282164893BD}" destId="{331D744C-3E25-4F72-A3A3-2D171B1FAE4A}" srcOrd="0" destOrd="0" presId="urn:microsoft.com/office/officeart/2005/8/layout/chevron1"/>
    <dgm:cxn modelId="{5A8B46E0-DCAC-408B-B419-1EF002BC679A}" srcId="{C54691F0-94F8-43DE-820A-E282164893BD}" destId="{068F73D6-FD2B-4819-92FF-A1D420338598}" srcOrd="3" destOrd="0" parTransId="{68FE74F0-0AF2-4FB0-98C4-EC9C2655B818}" sibTransId="{38CB38AF-D860-4B18-BCBB-91F8D1EE4D6E}"/>
    <dgm:cxn modelId="{E1CA65EB-3790-4AF2-994D-1BD2702B9E2E}" type="presOf" srcId="{F50E392A-E371-45A8-B68D-90001E61108A}" destId="{4B334B34-EF96-49E0-B66E-133BD48100CA}" srcOrd="0" destOrd="0" presId="urn:microsoft.com/office/officeart/2005/8/layout/chevron1"/>
    <dgm:cxn modelId="{CBB60AEE-5AE0-4834-B8F3-A53F7583A090}" srcId="{C54691F0-94F8-43DE-820A-E282164893BD}" destId="{2A575AB9-61F1-4AC2-9D05-93C951B08D73}" srcOrd="1" destOrd="0" parTransId="{6DB42CE6-3CB0-4856-BF35-0C90A2451A4E}" sibTransId="{956A8CB9-3798-49D8-84BF-B4A09A248CBC}"/>
    <dgm:cxn modelId="{8EA1B4EF-69D9-4935-9F40-6A0D97B5F08C}" srcId="{C54691F0-94F8-43DE-820A-E282164893BD}" destId="{184D60CB-27ED-4780-A10E-4CC49C9E76D3}" srcOrd="0" destOrd="0" parTransId="{9C1ADE14-4A7C-4C45-A868-79CA352F05EB}" sibTransId="{41B6E64C-E9EB-43BD-9C0E-762B52FA6BC7}"/>
    <dgm:cxn modelId="{8A44F7F2-849D-4F25-A5B9-F4B8D8BB1E69}" type="presOf" srcId="{AA46264F-C891-49B9-8E74-1FFD253D616C}" destId="{C1A69100-C77D-4BF6-A329-8693DB5210CB}" srcOrd="0" destOrd="0" presId="urn:microsoft.com/office/officeart/2005/8/layout/chevron1"/>
    <dgm:cxn modelId="{0A5C0DF5-DCF1-4B17-A3AB-6BA34FBBCFCC}" srcId="{C54691F0-94F8-43DE-820A-E282164893BD}" destId="{AA46264F-C891-49B9-8E74-1FFD253D616C}" srcOrd="4" destOrd="0" parTransId="{795D5C6C-FC24-4BE6-BAFC-BC7A436374FA}" sibTransId="{FE3A84E4-D74C-4FD0-8559-64B047FAF8B4}"/>
    <dgm:cxn modelId="{92BE9480-D164-46F8-BF69-185E7BE3BCE2}" type="presParOf" srcId="{331D744C-3E25-4F72-A3A3-2D171B1FAE4A}" destId="{BFADCE9A-F623-4A8D-9AE7-8DD25E7A76D8}" srcOrd="0" destOrd="0" presId="urn:microsoft.com/office/officeart/2005/8/layout/chevron1"/>
    <dgm:cxn modelId="{06751FBD-65F7-4C7B-9B3F-7CF1208B03ED}" type="presParOf" srcId="{331D744C-3E25-4F72-A3A3-2D171B1FAE4A}" destId="{F4E419B9-A508-4B41-A5AF-63310C5C51D6}" srcOrd="1" destOrd="0" presId="urn:microsoft.com/office/officeart/2005/8/layout/chevron1"/>
    <dgm:cxn modelId="{2DB420D7-4C65-40A5-B8DB-874F2E240F23}" type="presParOf" srcId="{331D744C-3E25-4F72-A3A3-2D171B1FAE4A}" destId="{7A3D29DB-D217-4EDB-96A3-52B1BB0C6283}" srcOrd="2" destOrd="0" presId="urn:microsoft.com/office/officeart/2005/8/layout/chevron1"/>
    <dgm:cxn modelId="{B94DCE4F-06F5-4C49-913A-CB86C0D5B314}" type="presParOf" srcId="{331D744C-3E25-4F72-A3A3-2D171B1FAE4A}" destId="{93753795-0ADE-4AC2-9931-33EF9D0FA0AD}" srcOrd="3" destOrd="0" presId="urn:microsoft.com/office/officeart/2005/8/layout/chevron1"/>
    <dgm:cxn modelId="{A53E31D1-744C-4E05-AC2A-B4C0FCC82966}" type="presParOf" srcId="{331D744C-3E25-4F72-A3A3-2D171B1FAE4A}" destId="{4B334B34-EF96-49E0-B66E-133BD48100CA}" srcOrd="4" destOrd="0" presId="urn:microsoft.com/office/officeart/2005/8/layout/chevron1"/>
    <dgm:cxn modelId="{1FFCA7B4-1079-467B-B3EF-6F37FF17E384}" type="presParOf" srcId="{331D744C-3E25-4F72-A3A3-2D171B1FAE4A}" destId="{B2AAC982-46E5-4C16-81EB-6037924D60A8}" srcOrd="5" destOrd="0" presId="urn:microsoft.com/office/officeart/2005/8/layout/chevron1"/>
    <dgm:cxn modelId="{A88BBE68-4708-4D72-BC09-4EEAEDE847C9}" type="presParOf" srcId="{331D744C-3E25-4F72-A3A3-2D171B1FAE4A}" destId="{5BAD45FD-29D7-48E3-8439-87C6F2A3A98B}" srcOrd="6" destOrd="0" presId="urn:microsoft.com/office/officeart/2005/8/layout/chevron1"/>
    <dgm:cxn modelId="{0625AAB4-C082-47D3-B430-CE85C0DA37CD}" type="presParOf" srcId="{331D744C-3E25-4F72-A3A3-2D171B1FAE4A}" destId="{42954CDD-A8EF-4773-B744-6CF7CAD82C73}" srcOrd="7" destOrd="0" presId="urn:microsoft.com/office/officeart/2005/8/layout/chevron1"/>
    <dgm:cxn modelId="{65555B43-7896-484C-9610-D2C60719B745}" type="presParOf" srcId="{331D744C-3E25-4F72-A3A3-2D171B1FAE4A}" destId="{C1A69100-C77D-4BF6-A329-8693DB5210CB}" srcOrd="8"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1" csCatId="colorful" phldr="1"/>
      <dgm:spPr/>
      <dgm:t>
        <a:bodyPr/>
        <a:lstStyle/>
        <a:p>
          <a:endParaRPr lang="zh-CN" altLang="en-US"/>
        </a:p>
      </dgm:t>
    </dgm:pt>
    <dgm:pt modelId="{CE8EEB70-791E-48FA-8C8F-2E8FADFCC934}">
      <dgm:prSet phldrT="[文本]" custT="1"/>
      <dgm:spPr>
        <a:effectLst>
          <a:outerShdw blurRad="50800" dist="38100" dir="2700000" algn="tl" rotWithShape="0">
            <a:prstClr val="black">
              <a:alpha val="40000"/>
            </a:prstClr>
          </a:outerShdw>
        </a:effectLst>
      </dgm:spPr>
      <dgm:t>
        <a:bodyPr/>
        <a:lstStyle/>
        <a:p>
          <a:pPr>
            <a:lnSpc>
              <a:spcPct val="100000"/>
            </a:lnSpc>
            <a:spcAft>
              <a:spcPts val="0"/>
            </a:spcAft>
          </a:pPr>
          <a:r>
            <a:rPr lang="zh-CN" altLang="en-US" sz="1600" dirty="0"/>
            <a:t>价值观</a:t>
          </a:r>
          <a:endParaRPr lang="en-US" altLang="zh-CN" sz="1600" dirty="0"/>
        </a:p>
        <a:p>
          <a:pPr>
            <a:lnSpc>
              <a:spcPct val="100000"/>
            </a:lnSpc>
            <a:spcAft>
              <a:spcPts val="0"/>
            </a:spcAft>
          </a:pPr>
          <a:r>
            <a:rPr lang="en-US" altLang="zh-CN" sz="1600" dirty="0"/>
            <a:t>Values</a:t>
          </a:r>
          <a:endParaRPr lang="zh-CN" altLang="en-US" sz="1600" dirty="0"/>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承诺</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专注</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623C5F3B-28F6-4B1C-A15C-7168C9F0016F}">
      <dgm:prSet phldrT="[文本]" custT="1"/>
      <dgm:spPr>
        <a:effectLst>
          <a:outerShdw blurRad="50800" dist="38100" dir="2700000" algn="tl" rotWithShape="0">
            <a:prstClr val="black">
              <a:alpha val="40000"/>
            </a:prstClr>
          </a:outerShdw>
        </a:effectLst>
      </dgm:spPr>
      <dgm:t>
        <a:bodyPr/>
        <a:lstStyle/>
        <a:p>
          <a:r>
            <a:rPr lang="zh-CN" altLang="en-US" sz="1800" dirty="0"/>
            <a:t>开放</a:t>
          </a:r>
        </a:p>
      </dgm:t>
    </dgm:pt>
    <dgm:pt modelId="{0025FC4C-8281-478C-92EC-0FE302523F92}" type="parTrans" cxnId="{574AF3FB-D184-469C-9002-1D1B7748635D}">
      <dgm:prSet/>
      <dgm:spPr/>
      <dgm:t>
        <a:bodyPr/>
        <a:lstStyle/>
        <a:p>
          <a:endParaRPr lang="zh-CN" altLang="en-US"/>
        </a:p>
      </dgm:t>
    </dgm:pt>
    <dgm:pt modelId="{D31C1F9B-88D0-4D66-85CB-A0C1D74D83F4}" type="sibTrans" cxnId="{574AF3FB-D184-469C-9002-1D1B7748635D}">
      <dgm:prSet/>
      <dgm:spPr/>
      <dgm:t>
        <a:bodyPr/>
        <a:lstStyle/>
        <a:p>
          <a:endParaRPr lang="zh-CN" altLang="en-US"/>
        </a:p>
      </dgm:t>
    </dgm:pt>
    <dgm:pt modelId="{3B25D58D-6F58-453F-82D4-34D27E172010}">
      <dgm:prSet phldrT="[文本]" custT="1"/>
      <dgm:spPr>
        <a:effectLst>
          <a:outerShdw blurRad="50800" dist="38100" dir="2700000" algn="tl" rotWithShape="0">
            <a:prstClr val="black">
              <a:alpha val="40000"/>
            </a:prstClr>
          </a:outerShdw>
        </a:effectLst>
      </dgm:spPr>
      <dgm:t>
        <a:bodyPr/>
        <a:lstStyle/>
        <a:p>
          <a:r>
            <a:rPr lang="zh-CN" altLang="en-US" sz="1800" dirty="0"/>
            <a:t>尊重</a:t>
          </a:r>
        </a:p>
      </dgm:t>
    </dgm:pt>
    <dgm:pt modelId="{075048E8-485B-4CF2-A313-ECBD44945DD4}" type="parTrans" cxnId="{652C6B38-F41C-47D1-B6BD-4A5871BAA11A}">
      <dgm:prSet/>
      <dgm:spPr/>
      <dgm:t>
        <a:bodyPr/>
        <a:lstStyle/>
        <a:p>
          <a:endParaRPr lang="zh-CN" altLang="en-US"/>
        </a:p>
      </dgm:t>
    </dgm:pt>
    <dgm:pt modelId="{39FBD948-B2D4-4F65-8868-960198B6B3CF}" type="sibTrans" cxnId="{652C6B38-F41C-47D1-B6BD-4A5871BAA11A}">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勇气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112303" custScaleY="112303"/>
      <dgm:spPr/>
    </dgm:pt>
    <dgm:pt modelId="{2697905C-40A9-4D8E-AE89-88ADE6C34F0A}" type="pres">
      <dgm:prSet presAssocID="{41AA5E90-B5B1-4317-8E91-CCB14A726C95}" presName="Name9" presStyleLbl="parChTrans1D2" presStyleIdx="0" presStyleCnt="5"/>
      <dgm:spPr/>
    </dgm:pt>
    <dgm:pt modelId="{C4E0B2F5-7632-485B-B03A-601C1A11F4FC}" type="pres">
      <dgm:prSet presAssocID="{41AA5E90-B5B1-4317-8E91-CCB14A726C95}" presName="connTx" presStyleLbl="parChTrans1D2" presStyleIdx="0" presStyleCnt="5"/>
      <dgm:spPr/>
    </dgm:pt>
    <dgm:pt modelId="{A768ED12-DF85-403F-B898-D6729C70787D}" type="pres">
      <dgm:prSet presAssocID="{16A05B42-C487-4BD1-9030-18BBD9553FCD}" presName="node" presStyleLbl="node1" presStyleIdx="0" presStyleCnt="5" custScaleX="93586" custScaleY="93586">
        <dgm:presLayoutVars>
          <dgm:bulletEnabled val="1"/>
        </dgm:presLayoutVars>
      </dgm:prSet>
      <dgm:spPr/>
    </dgm:pt>
    <dgm:pt modelId="{B58731E0-DBD1-435A-ADD7-B425A898B445}" type="pres">
      <dgm:prSet presAssocID="{9B16A6A3-77F5-4938-AD2E-C5618ABDA282}" presName="Name9" presStyleLbl="parChTrans1D2" presStyleIdx="1" presStyleCnt="5"/>
      <dgm:spPr/>
    </dgm:pt>
    <dgm:pt modelId="{330FBA93-3A1A-47D5-9CC5-B3E47AB9E5DF}" type="pres">
      <dgm:prSet presAssocID="{9B16A6A3-77F5-4938-AD2E-C5618ABDA282}" presName="connTx" presStyleLbl="parChTrans1D2" presStyleIdx="1" presStyleCnt="5"/>
      <dgm:spPr/>
    </dgm:pt>
    <dgm:pt modelId="{A3CECE51-0A63-4775-BBDE-4FA68841EC20}" type="pres">
      <dgm:prSet presAssocID="{0BBA5288-D454-4A5E-8B5F-4581CC5975F5}" presName="node" presStyleLbl="node1" presStyleIdx="1" presStyleCnt="5" custScaleX="93586" custScaleY="93586">
        <dgm:presLayoutVars>
          <dgm:bulletEnabled val="1"/>
        </dgm:presLayoutVars>
      </dgm:prSet>
      <dgm:spPr/>
    </dgm:pt>
    <dgm:pt modelId="{C763681C-8D89-4BC9-887B-1CD1363C9AA1}" type="pres">
      <dgm:prSet presAssocID="{0025FC4C-8281-478C-92EC-0FE302523F92}" presName="Name9" presStyleLbl="parChTrans1D2" presStyleIdx="2" presStyleCnt="5"/>
      <dgm:spPr/>
    </dgm:pt>
    <dgm:pt modelId="{0AA7E569-EFC1-41AE-8E53-7AABDD2D38CF}" type="pres">
      <dgm:prSet presAssocID="{0025FC4C-8281-478C-92EC-0FE302523F92}" presName="connTx" presStyleLbl="parChTrans1D2" presStyleIdx="2" presStyleCnt="5"/>
      <dgm:spPr/>
    </dgm:pt>
    <dgm:pt modelId="{7C396246-E3D5-44E8-B402-F252989E77DB}" type="pres">
      <dgm:prSet presAssocID="{623C5F3B-28F6-4B1C-A15C-7168C9F0016F}" presName="node" presStyleLbl="node1" presStyleIdx="2" presStyleCnt="5" custScaleX="93586" custScaleY="93586">
        <dgm:presLayoutVars>
          <dgm:bulletEnabled val="1"/>
        </dgm:presLayoutVars>
      </dgm:prSet>
      <dgm:spPr/>
    </dgm:pt>
    <dgm:pt modelId="{979B44D0-1574-46A1-BD25-F046F787F5A7}" type="pres">
      <dgm:prSet presAssocID="{075048E8-485B-4CF2-A313-ECBD44945DD4}" presName="Name9" presStyleLbl="parChTrans1D2" presStyleIdx="3" presStyleCnt="5"/>
      <dgm:spPr/>
    </dgm:pt>
    <dgm:pt modelId="{C763AEEF-5F2C-44BA-9E5D-397922963F01}" type="pres">
      <dgm:prSet presAssocID="{075048E8-485B-4CF2-A313-ECBD44945DD4}" presName="connTx" presStyleLbl="parChTrans1D2" presStyleIdx="3" presStyleCnt="5"/>
      <dgm:spPr/>
    </dgm:pt>
    <dgm:pt modelId="{E45FD601-8F42-45A7-A248-D87DB5F9943A}" type="pres">
      <dgm:prSet presAssocID="{3B25D58D-6F58-453F-82D4-34D27E172010}" presName="node" presStyleLbl="node1" presStyleIdx="3" presStyleCnt="5" custScaleX="93586" custScaleY="93586">
        <dgm:presLayoutVars>
          <dgm:bulletEnabled val="1"/>
        </dgm:presLayoutVars>
      </dgm:prSet>
      <dgm:spPr/>
    </dgm:pt>
    <dgm:pt modelId="{B74C3A2B-0533-446F-AE56-FFBBBC35155B}" type="pres">
      <dgm:prSet presAssocID="{B46081CB-D0CA-47FB-9772-1BDBFC236950}" presName="Name9" presStyleLbl="parChTrans1D2" presStyleIdx="4" presStyleCnt="5"/>
      <dgm:spPr/>
    </dgm:pt>
    <dgm:pt modelId="{72A0FF43-5233-4D9B-ADFF-E97C97B46D15}" type="pres">
      <dgm:prSet presAssocID="{B46081CB-D0CA-47FB-9772-1BDBFC236950}" presName="connTx" presStyleLbl="parChTrans1D2" presStyleIdx="4" presStyleCnt="5"/>
      <dgm:spPr/>
    </dgm:pt>
    <dgm:pt modelId="{0ECE6D9B-1A91-4A29-82E7-FADB2EE4F6DC}" type="pres">
      <dgm:prSet presAssocID="{F8A88CB0-C5FA-4968-84AD-9D45338DB00E}" presName="node" presStyleLbl="node1" presStyleIdx="4" presStyleCnt="5" custScaleX="93586" custScaleY="93586">
        <dgm:presLayoutVars>
          <dgm:bulletEnabled val="1"/>
        </dgm:presLayoutVars>
      </dgm:prSet>
      <dgm:spPr/>
    </dgm:pt>
  </dgm:ptLst>
  <dgm:cxnLst>
    <dgm:cxn modelId="{68AA5C02-892F-401C-8640-1C536B1945E7}" type="presOf" srcId="{075048E8-485B-4CF2-A313-ECBD44945DD4}" destId="{979B44D0-1574-46A1-BD25-F046F787F5A7}" srcOrd="0" destOrd="0" presId="urn:microsoft.com/office/officeart/2005/8/layout/radial1"/>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652C6B38-F41C-47D1-B6BD-4A5871BAA11A}" srcId="{CE8EEB70-791E-48FA-8C8F-2E8FADFCC934}" destId="{3B25D58D-6F58-453F-82D4-34D27E172010}" srcOrd="3" destOrd="0" parTransId="{075048E8-485B-4CF2-A313-ECBD44945DD4}" sibTransId="{39FBD948-B2D4-4F65-8868-960198B6B3CF}"/>
    <dgm:cxn modelId="{53D9C23C-A4DC-4E5A-A4EC-816C0887A094}" srcId="{CE8EEB70-791E-48FA-8C8F-2E8FADFCC934}" destId="{F8A88CB0-C5FA-4968-84AD-9D45338DB00E}" srcOrd="4"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D1EED8A3-BA04-47CE-BF60-4E0C59008D19}" type="presOf" srcId="{0025FC4C-8281-478C-92EC-0FE302523F92}" destId="{C763681C-8D89-4BC9-887B-1CD1363C9AA1}"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586E86C4-7123-41FD-8C5B-B7CA8D6FCB66}" type="presOf" srcId="{075048E8-485B-4CF2-A313-ECBD44945DD4}" destId="{C763AEEF-5F2C-44BA-9E5D-397922963F01}" srcOrd="1" destOrd="0" presId="urn:microsoft.com/office/officeart/2005/8/layout/radial1"/>
    <dgm:cxn modelId="{DB3E7ACE-6411-43F2-9EC0-7CB45795605C}" type="presOf" srcId="{0025FC4C-8281-478C-92EC-0FE302523F92}" destId="{0AA7E569-EFC1-41AE-8E53-7AABDD2D38CF}" srcOrd="1" destOrd="0" presId="urn:microsoft.com/office/officeart/2005/8/layout/radial1"/>
    <dgm:cxn modelId="{9F713ECF-8379-47D7-AFE8-A9F71D67462D}" type="presOf" srcId="{3B25D58D-6F58-453F-82D4-34D27E172010}" destId="{E45FD601-8F42-45A7-A248-D87DB5F9943A}" srcOrd="0"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9F7096FA-AF85-4246-BC3C-8B9A2720735E}" type="presOf" srcId="{623C5F3B-28F6-4B1C-A15C-7168C9F0016F}" destId="{7C396246-E3D5-44E8-B402-F252989E77DB}" srcOrd="0" destOrd="0" presId="urn:microsoft.com/office/officeart/2005/8/layout/radial1"/>
    <dgm:cxn modelId="{574AF3FB-D184-469C-9002-1D1B7748635D}" srcId="{CE8EEB70-791E-48FA-8C8F-2E8FADFCC934}" destId="{623C5F3B-28F6-4B1C-A15C-7168C9F0016F}" srcOrd="2" destOrd="0" parTransId="{0025FC4C-8281-478C-92EC-0FE302523F92}" sibTransId="{D31C1F9B-88D0-4D66-85CB-A0C1D74D83F4}"/>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46041276-52F2-4C42-9D9F-F072E90CB244}" type="presParOf" srcId="{B5D3370E-ECE8-4EE3-87F2-C8C5618BCDA0}" destId="{C763681C-8D89-4BC9-887B-1CD1363C9AA1}" srcOrd="5" destOrd="0" presId="urn:microsoft.com/office/officeart/2005/8/layout/radial1"/>
    <dgm:cxn modelId="{29BAA8B5-A711-4B2F-AEAD-4B4A94D46A8E}" type="presParOf" srcId="{C763681C-8D89-4BC9-887B-1CD1363C9AA1}" destId="{0AA7E569-EFC1-41AE-8E53-7AABDD2D38CF}" srcOrd="0" destOrd="0" presId="urn:microsoft.com/office/officeart/2005/8/layout/radial1"/>
    <dgm:cxn modelId="{C314A784-DDCF-4C74-9988-49321F7A6A1E}" type="presParOf" srcId="{B5D3370E-ECE8-4EE3-87F2-C8C5618BCDA0}" destId="{7C396246-E3D5-44E8-B402-F252989E77DB}" srcOrd="6" destOrd="0" presId="urn:microsoft.com/office/officeart/2005/8/layout/radial1"/>
    <dgm:cxn modelId="{AB7CF0F1-F435-405C-BB14-1CA72F694EBB}" type="presParOf" srcId="{B5D3370E-ECE8-4EE3-87F2-C8C5618BCDA0}" destId="{979B44D0-1574-46A1-BD25-F046F787F5A7}" srcOrd="7" destOrd="0" presId="urn:microsoft.com/office/officeart/2005/8/layout/radial1"/>
    <dgm:cxn modelId="{291FD52D-2AE3-4983-88A8-421C97EC1D52}" type="presParOf" srcId="{979B44D0-1574-46A1-BD25-F046F787F5A7}" destId="{C763AEEF-5F2C-44BA-9E5D-397922963F01}" srcOrd="0" destOrd="0" presId="urn:microsoft.com/office/officeart/2005/8/layout/radial1"/>
    <dgm:cxn modelId="{7ED2CBD2-EC95-42FE-82A7-9B08FED21DFA}" type="presParOf" srcId="{B5D3370E-ECE8-4EE3-87F2-C8C5618BCDA0}" destId="{E45FD601-8F42-45A7-A248-D87DB5F9943A}" srcOrd="8" destOrd="0" presId="urn:microsoft.com/office/officeart/2005/8/layout/radial1"/>
    <dgm:cxn modelId="{A3A392A2-4EA7-4D59-BDFA-23A38B187C4F}" type="presParOf" srcId="{B5D3370E-ECE8-4EE3-87F2-C8C5618BCDA0}" destId="{B74C3A2B-0533-446F-AE56-FFBBBC35155B}" srcOrd="9"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10" destOrd="0" presId="urn:microsoft.com/office/officeart/2005/8/layout/radial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5" csCatId="colorful" phldr="1"/>
      <dgm:spPr/>
      <dgm:t>
        <a:bodyPr/>
        <a:lstStyle/>
        <a:p>
          <a:endParaRPr lang="zh-CN" altLang="en-US"/>
        </a:p>
      </dgm:t>
    </dgm:pt>
    <dgm:pt modelId="{CE8EEB70-791E-48FA-8C8F-2E8FADFCC934}">
      <dgm:prSet phldrT="[文本]" custT="1"/>
      <dgm:spPr>
        <a:solidFill>
          <a:schemeClr val="accent2"/>
        </a:solidFill>
        <a:effectLst>
          <a:outerShdw blurRad="50800" dist="38100" dir="2700000" algn="tl" rotWithShape="0">
            <a:prstClr val="black">
              <a:alpha val="40000"/>
            </a:prstClr>
          </a:outerShdw>
        </a:effectLst>
      </dgm:spPr>
      <dgm:t>
        <a:bodyPr/>
        <a:lstStyle/>
        <a:p>
          <a:r>
            <a:rPr lang="zh-CN" altLang="en-US" sz="2400" dirty="0"/>
            <a:t>理念</a:t>
          </a:r>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透明</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监视</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适应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98857" custScaleY="98857"/>
      <dgm:spPr/>
    </dgm:pt>
    <dgm:pt modelId="{2697905C-40A9-4D8E-AE89-88ADE6C34F0A}" type="pres">
      <dgm:prSet presAssocID="{41AA5E90-B5B1-4317-8E91-CCB14A726C95}" presName="Name9" presStyleLbl="parChTrans1D2" presStyleIdx="0" presStyleCnt="3"/>
      <dgm:spPr/>
    </dgm:pt>
    <dgm:pt modelId="{C4E0B2F5-7632-485B-B03A-601C1A11F4FC}" type="pres">
      <dgm:prSet presAssocID="{41AA5E90-B5B1-4317-8E91-CCB14A726C95}" presName="connTx" presStyleLbl="parChTrans1D2" presStyleIdx="0" presStyleCnt="3"/>
      <dgm:spPr/>
    </dgm:pt>
    <dgm:pt modelId="{A768ED12-DF85-403F-B898-D6729C70787D}" type="pres">
      <dgm:prSet presAssocID="{16A05B42-C487-4BD1-9030-18BBD9553FCD}" presName="node" presStyleLbl="node1" presStyleIdx="0" presStyleCnt="3" custScaleX="82381" custScaleY="82381">
        <dgm:presLayoutVars>
          <dgm:bulletEnabled val="1"/>
        </dgm:presLayoutVars>
      </dgm:prSet>
      <dgm:spPr/>
    </dgm:pt>
    <dgm:pt modelId="{B58731E0-DBD1-435A-ADD7-B425A898B445}" type="pres">
      <dgm:prSet presAssocID="{9B16A6A3-77F5-4938-AD2E-C5618ABDA282}" presName="Name9" presStyleLbl="parChTrans1D2" presStyleIdx="1" presStyleCnt="3"/>
      <dgm:spPr/>
    </dgm:pt>
    <dgm:pt modelId="{330FBA93-3A1A-47D5-9CC5-B3E47AB9E5DF}" type="pres">
      <dgm:prSet presAssocID="{9B16A6A3-77F5-4938-AD2E-C5618ABDA282}" presName="connTx" presStyleLbl="parChTrans1D2" presStyleIdx="1" presStyleCnt="3"/>
      <dgm:spPr/>
    </dgm:pt>
    <dgm:pt modelId="{A3CECE51-0A63-4775-BBDE-4FA68841EC20}" type="pres">
      <dgm:prSet presAssocID="{0BBA5288-D454-4A5E-8B5F-4581CC5975F5}" presName="node" presStyleLbl="node1" presStyleIdx="1" presStyleCnt="3" custScaleX="82381" custScaleY="82381">
        <dgm:presLayoutVars>
          <dgm:bulletEnabled val="1"/>
        </dgm:presLayoutVars>
      </dgm:prSet>
      <dgm:spPr/>
    </dgm:pt>
    <dgm:pt modelId="{B74C3A2B-0533-446F-AE56-FFBBBC35155B}" type="pres">
      <dgm:prSet presAssocID="{B46081CB-D0CA-47FB-9772-1BDBFC236950}" presName="Name9" presStyleLbl="parChTrans1D2" presStyleIdx="2" presStyleCnt="3"/>
      <dgm:spPr/>
    </dgm:pt>
    <dgm:pt modelId="{72A0FF43-5233-4D9B-ADFF-E97C97B46D15}" type="pres">
      <dgm:prSet presAssocID="{B46081CB-D0CA-47FB-9772-1BDBFC236950}" presName="connTx" presStyleLbl="parChTrans1D2" presStyleIdx="2" presStyleCnt="3"/>
      <dgm:spPr/>
    </dgm:pt>
    <dgm:pt modelId="{0ECE6D9B-1A91-4A29-82E7-FADB2EE4F6DC}" type="pres">
      <dgm:prSet presAssocID="{F8A88CB0-C5FA-4968-84AD-9D45338DB00E}" presName="node" presStyleLbl="node1" presStyleIdx="2" presStyleCnt="3" custScaleX="82381" custScaleY="82381">
        <dgm:presLayoutVars>
          <dgm:bulletEnabled val="1"/>
        </dgm:presLayoutVars>
      </dgm:prSet>
      <dgm:spPr/>
    </dgm:pt>
  </dgm:ptLst>
  <dgm:cxnLst>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53D9C23C-A4DC-4E5A-A4EC-816C0887A094}" srcId="{CE8EEB70-791E-48FA-8C8F-2E8FADFCC934}" destId="{F8A88CB0-C5FA-4968-84AD-9D45338DB00E}" srcOrd="2"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A3A392A2-4EA7-4D59-BDFA-23A38B187C4F}" type="presParOf" srcId="{B5D3370E-ECE8-4EE3-87F2-C8C5618BCDA0}" destId="{B74C3A2B-0533-446F-AE56-FFBBBC35155B}" srcOrd="5"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6" destOrd="0" presId="urn:microsoft.com/office/officeart/2005/8/layout/radial1"/>
  </dgm:cxnLst>
  <dgm:bg>
    <a:effect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B0DA7E-CBE2-4552-A8A7-5AB34385133B}" type="doc">
      <dgm:prSet loTypeId="urn:microsoft.com/office/officeart/2005/8/layout/orgChart1" loCatId="hierarchy" qsTypeId="urn:microsoft.com/office/officeart/2005/8/quickstyle/simple1" qsCatId="simple" csTypeId="urn:microsoft.com/office/officeart/2005/8/colors/colorful4" csCatId="colorful" phldr="1"/>
      <dgm:spPr/>
      <dgm:t>
        <a:bodyPr/>
        <a:lstStyle/>
        <a:p>
          <a:endParaRPr lang="zh-CN" altLang="en-US"/>
        </a:p>
      </dgm:t>
    </dgm:pt>
    <dgm:pt modelId="{2C63AD44-5545-48ED-B3E1-4923A2AC4FAA}">
      <dgm:prSet phldrT="[文本]" custT="1"/>
      <dgm:spPr>
        <a:solidFill>
          <a:schemeClr val="accent2"/>
        </a:solidFill>
      </dgm:spPr>
      <dgm:t>
        <a:bodyPr/>
        <a:lstStyle/>
        <a:p>
          <a:pPr>
            <a:lnSpc>
              <a:spcPct val="100000"/>
            </a:lnSpc>
            <a:spcAft>
              <a:spcPts val="0"/>
            </a:spcAft>
          </a:pPr>
          <a:r>
            <a:rPr lang="en-US" altLang="zh-CN" sz="1800" dirty="0"/>
            <a:t>Scrum Team</a:t>
          </a:r>
        </a:p>
        <a:p>
          <a:pPr>
            <a:lnSpc>
              <a:spcPct val="100000"/>
            </a:lnSpc>
            <a:spcAft>
              <a:spcPts val="0"/>
            </a:spcAft>
          </a:pPr>
          <a:r>
            <a:rPr lang="zh-CN" altLang="en-US" sz="1800" dirty="0"/>
            <a:t>团队</a:t>
          </a:r>
        </a:p>
      </dgm:t>
    </dgm:pt>
    <dgm:pt modelId="{460988F8-E170-49CF-B05B-898C6D4813EA}" type="parTrans" cxnId="{DCBFF955-EC2E-43F5-ADB9-606A6989915C}">
      <dgm:prSet/>
      <dgm:spPr/>
      <dgm:t>
        <a:bodyPr/>
        <a:lstStyle/>
        <a:p>
          <a:endParaRPr lang="zh-CN" altLang="en-US" sz="1800"/>
        </a:p>
      </dgm:t>
    </dgm:pt>
    <dgm:pt modelId="{F6A5CB87-F37F-4A9E-AB8E-A4C82C593886}" type="sibTrans" cxnId="{DCBFF955-EC2E-43F5-ADB9-606A6989915C}">
      <dgm:prSet/>
      <dgm:spPr/>
      <dgm:t>
        <a:bodyPr/>
        <a:lstStyle/>
        <a:p>
          <a:endParaRPr lang="zh-CN" altLang="en-US" sz="1800"/>
        </a:p>
      </dgm:t>
    </dgm:pt>
    <dgm:pt modelId="{A5B41717-E523-4E36-8FF4-299EFDF0A00C}">
      <dgm:prSet phldrT="[文本]" custT="1"/>
      <dgm:spPr/>
      <dgm:t>
        <a:bodyPr/>
        <a:lstStyle/>
        <a:p>
          <a:pPr>
            <a:lnSpc>
              <a:spcPct val="100000"/>
            </a:lnSpc>
            <a:spcAft>
              <a:spcPts val="0"/>
            </a:spcAft>
          </a:pPr>
          <a:r>
            <a:rPr lang="en-US" altLang="zh-CN" sz="1800" dirty="0"/>
            <a:t>Developer</a:t>
          </a:r>
        </a:p>
        <a:p>
          <a:pPr>
            <a:lnSpc>
              <a:spcPct val="100000"/>
            </a:lnSpc>
            <a:spcAft>
              <a:spcPts val="0"/>
            </a:spcAft>
          </a:pPr>
          <a:r>
            <a:rPr lang="zh-CN" altLang="en-US" sz="1800" dirty="0"/>
            <a:t>开发者</a:t>
          </a:r>
        </a:p>
      </dgm:t>
    </dgm:pt>
    <dgm:pt modelId="{7C2C86E9-6E44-404B-AA36-4D3C6466F1E2}" type="parTrans" cxnId="{C678C83D-1178-44CC-A51D-4FAD772276D1}">
      <dgm:prSet/>
      <dgm:spPr/>
      <dgm:t>
        <a:bodyPr/>
        <a:lstStyle/>
        <a:p>
          <a:endParaRPr lang="zh-CN" altLang="en-US" sz="1800"/>
        </a:p>
      </dgm:t>
    </dgm:pt>
    <dgm:pt modelId="{A11BD8B9-AEA8-4662-B10A-0CEBDAFCC933}" type="sibTrans" cxnId="{C678C83D-1178-44CC-A51D-4FAD772276D1}">
      <dgm:prSet/>
      <dgm:spPr/>
      <dgm:t>
        <a:bodyPr/>
        <a:lstStyle/>
        <a:p>
          <a:endParaRPr lang="zh-CN" altLang="en-US" sz="1800"/>
        </a:p>
      </dgm:t>
    </dgm:pt>
    <dgm:pt modelId="{9928A676-F7EE-4D1A-A698-399B198B9A4C}">
      <dgm:prSet phldrT="[文本]" custT="1"/>
      <dgm:spPr/>
      <dgm:t>
        <a:bodyPr/>
        <a:lstStyle/>
        <a:p>
          <a:pPr>
            <a:lnSpc>
              <a:spcPct val="100000"/>
            </a:lnSpc>
            <a:spcAft>
              <a:spcPts val="0"/>
            </a:spcAft>
          </a:pPr>
          <a:r>
            <a:rPr lang="en-US" altLang="zh-CN" sz="1800" dirty="0"/>
            <a:t>Product Owner</a:t>
          </a:r>
        </a:p>
        <a:p>
          <a:pPr>
            <a:lnSpc>
              <a:spcPct val="100000"/>
            </a:lnSpc>
            <a:spcAft>
              <a:spcPts val="0"/>
            </a:spcAft>
          </a:pPr>
          <a:r>
            <a:rPr lang="zh-CN" altLang="en-US" sz="1800" dirty="0"/>
            <a:t>产品负责人</a:t>
          </a:r>
        </a:p>
      </dgm:t>
    </dgm:pt>
    <dgm:pt modelId="{05AC3703-48EB-43E4-B717-6F19AB9E8B6C}" type="parTrans" cxnId="{9A9C71B0-1DD1-457B-A26D-F580FE3A0600}">
      <dgm:prSet/>
      <dgm:spPr/>
      <dgm:t>
        <a:bodyPr/>
        <a:lstStyle/>
        <a:p>
          <a:endParaRPr lang="zh-CN" altLang="en-US" sz="1800"/>
        </a:p>
      </dgm:t>
    </dgm:pt>
    <dgm:pt modelId="{6E082CE1-FA13-48BB-9FBF-B704C5ADB758}" type="sibTrans" cxnId="{9A9C71B0-1DD1-457B-A26D-F580FE3A0600}">
      <dgm:prSet/>
      <dgm:spPr/>
      <dgm:t>
        <a:bodyPr/>
        <a:lstStyle/>
        <a:p>
          <a:endParaRPr lang="zh-CN" altLang="en-US" sz="1800"/>
        </a:p>
      </dgm:t>
    </dgm:pt>
    <dgm:pt modelId="{7ABC4384-A1A5-42B9-A937-00D575C2EAC4}">
      <dgm:prSet phldrT="[文本]" custT="1"/>
      <dgm:spPr/>
      <dgm:t>
        <a:bodyPr/>
        <a:lstStyle/>
        <a:p>
          <a:pPr>
            <a:lnSpc>
              <a:spcPct val="100000"/>
            </a:lnSpc>
            <a:spcAft>
              <a:spcPts val="0"/>
            </a:spcAft>
          </a:pPr>
          <a:r>
            <a:rPr lang="en-US" altLang="zh-CN" sz="1800" dirty="0"/>
            <a:t>Scrum Master</a:t>
          </a:r>
        </a:p>
        <a:p>
          <a:pPr>
            <a:lnSpc>
              <a:spcPct val="100000"/>
            </a:lnSpc>
            <a:spcAft>
              <a:spcPts val="0"/>
            </a:spcAft>
          </a:pPr>
          <a:r>
            <a:rPr lang="zh-CN" altLang="en-US" sz="1800" dirty="0"/>
            <a:t>敏捷教练</a:t>
          </a:r>
        </a:p>
      </dgm:t>
    </dgm:pt>
    <dgm:pt modelId="{DB6EAF03-585D-46DB-9568-94C8598AB98D}" type="parTrans" cxnId="{5F02DD32-F92A-4224-BA98-E296371D3FB1}">
      <dgm:prSet/>
      <dgm:spPr/>
      <dgm:t>
        <a:bodyPr/>
        <a:lstStyle/>
        <a:p>
          <a:endParaRPr lang="zh-CN" altLang="en-US" sz="1800"/>
        </a:p>
      </dgm:t>
    </dgm:pt>
    <dgm:pt modelId="{043DB222-9121-42E1-8AD0-5AFFFDDCA6F1}" type="sibTrans" cxnId="{5F02DD32-F92A-4224-BA98-E296371D3FB1}">
      <dgm:prSet/>
      <dgm:spPr/>
      <dgm:t>
        <a:bodyPr/>
        <a:lstStyle/>
        <a:p>
          <a:endParaRPr lang="zh-CN" altLang="en-US" sz="1800"/>
        </a:p>
      </dgm:t>
    </dgm:pt>
    <dgm:pt modelId="{9B471BEC-AC44-42AD-B11A-707E30B97E4E}" type="pres">
      <dgm:prSet presAssocID="{D5B0DA7E-CBE2-4552-A8A7-5AB34385133B}" presName="hierChild1" presStyleCnt="0">
        <dgm:presLayoutVars>
          <dgm:orgChart val="1"/>
          <dgm:chPref val="1"/>
          <dgm:dir/>
          <dgm:animOne val="branch"/>
          <dgm:animLvl val="lvl"/>
          <dgm:resizeHandles/>
        </dgm:presLayoutVars>
      </dgm:prSet>
      <dgm:spPr/>
    </dgm:pt>
    <dgm:pt modelId="{AB54A245-4ADF-4D0A-9D90-B92C03DD7DB1}" type="pres">
      <dgm:prSet presAssocID="{2C63AD44-5545-48ED-B3E1-4923A2AC4FAA}" presName="hierRoot1" presStyleCnt="0">
        <dgm:presLayoutVars>
          <dgm:hierBranch val="init"/>
        </dgm:presLayoutVars>
      </dgm:prSet>
      <dgm:spPr/>
    </dgm:pt>
    <dgm:pt modelId="{AED5EF2C-9BEB-44AD-9AEF-B2D465843B54}" type="pres">
      <dgm:prSet presAssocID="{2C63AD44-5545-48ED-B3E1-4923A2AC4FAA}" presName="rootComposite1" presStyleCnt="0"/>
      <dgm:spPr/>
    </dgm:pt>
    <dgm:pt modelId="{4D9CCFF9-BD17-4D75-86B1-78E586639F4F}" type="pres">
      <dgm:prSet presAssocID="{2C63AD44-5545-48ED-B3E1-4923A2AC4FAA}" presName="rootText1" presStyleLbl="node0" presStyleIdx="0" presStyleCnt="1" custScaleY="71251">
        <dgm:presLayoutVars>
          <dgm:chPref val="3"/>
        </dgm:presLayoutVars>
      </dgm:prSet>
      <dgm:spPr/>
    </dgm:pt>
    <dgm:pt modelId="{0387F2FC-E99B-45ED-AA38-20F988FC8BC6}" type="pres">
      <dgm:prSet presAssocID="{2C63AD44-5545-48ED-B3E1-4923A2AC4FAA}" presName="rootConnector1" presStyleLbl="node1" presStyleIdx="0" presStyleCnt="0"/>
      <dgm:spPr/>
    </dgm:pt>
    <dgm:pt modelId="{F48CA8D6-1239-487C-BA02-C79906DBA8D7}" type="pres">
      <dgm:prSet presAssocID="{2C63AD44-5545-48ED-B3E1-4923A2AC4FAA}" presName="hierChild2" presStyleCnt="0"/>
      <dgm:spPr/>
    </dgm:pt>
    <dgm:pt modelId="{77AD3EA0-D08B-44E0-90FF-941318A849A9}" type="pres">
      <dgm:prSet presAssocID="{7C2C86E9-6E44-404B-AA36-4D3C6466F1E2}" presName="Name37" presStyleLbl="parChTrans1D2" presStyleIdx="0" presStyleCnt="3"/>
      <dgm:spPr/>
    </dgm:pt>
    <dgm:pt modelId="{4FBB0E8C-0474-4D2E-A8C2-CC93B425BA5C}" type="pres">
      <dgm:prSet presAssocID="{A5B41717-E523-4E36-8FF4-299EFDF0A00C}" presName="hierRoot2" presStyleCnt="0">
        <dgm:presLayoutVars>
          <dgm:hierBranch val="init"/>
        </dgm:presLayoutVars>
      </dgm:prSet>
      <dgm:spPr/>
    </dgm:pt>
    <dgm:pt modelId="{DC517A7C-C96E-40EB-BE3F-0B25EDB19C79}" type="pres">
      <dgm:prSet presAssocID="{A5B41717-E523-4E36-8FF4-299EFDF0A00C}" presName="rootComposite" presStyleCnt="0"/>
      <dgm:spPr/>
    </dgm:pt>
    <dgm:pt modelId="{E1B194E7-E9A2-4E57-9BB7-20DBBFCA2C24}" type="pres">
      <dgm:prSet presAssocID="{A5B41717-E523-4E36-8FF4-299EFDF0A00C}" presName="rootText" presStyleLbl="node2" presStyleIdx="0" presStyleCnt="3" custScaleY="71251">
        <dgm:presLayoutVars>
          <dgm:chPref val="3"/>
        </dgm:presLayoutVars>
      </dgm:prSet>
      <dgm:spPr/>
    </dgm:pt>
    <dgm:pt modelId="{6C4E8E94-ADAD-493B-83F3-4BB485BD15BA}" type="pres">
      <dgm:prSet presAssocID="{A5B41717-E523-4E36-8FF4-299EFDF0A00C}" presName="rootConnector" presStyleLbl="node2" presStyleIdx="0" presStyleCnt="3"/>
      <dgm:spPr/>
    </dgm:pt>
    <dgm:pt modelId="{1FEB4788-5936-421D-A201-F6308D3C777C}" type="pres">
      <dgm:prSet presAssocID="{A5B41717-E523-4E36-8FF4-299EFDF0A00C}" presName="hierChild4" presStyleCnt="0"/>
      <dgm:spPr/>
    </dgm:pt>
    <dgm:pt modelId="{F26F6516-8AB2-4981-A59F-4B0F381E4CDD}" type="pres">
      <dgm:prSet presAssocID="{A5B41717-E523-4E36-8FF4-299EFDF0A00C}" presName="hierChild5" presStyleCnt="0"/>
      <dgm:spPr/>
    </dgm:pt>
    <dgm:pt modelId="{591147C7-2FCD-4627-B9AE-9C0A7122E164}" type="pres">
      <dgm:prSet presAssocID="{05AC3703-48EB-43E4-B717-6F19AB9E8B6C}" presName="Name37" presStyleLbl="parChTrans1D2" presStyleIdx="1" presStyleCnt="3"/>
      <dgm:spPr/>
    </dgm:pt>
    <dgm:pt modelId="{121AAE99-A0A8-4284-9E01-285F357742EC}" type="pres">
      <dgm:prSet presAssocID="{9928A676-F7EE-4D1A-A698-399B198B9A4C}" presName="hierRoot2" presStyleCnt="0">
        <dgm:presLayoutVars>
          <dgm:hierBranch val="init"/>
        </dgm:presLayoutVars>
      </dgm:prSet>
      <dgm:spPr/>
    </dgm:pt>
    <dgm:pt modelId="{53BA791C-84AB-413C-AE7A-A86DD2AE5983}" type="pres">
      <dgm:prSet presAssocID="{9928A676-F7EE-4D1A-A698-399B198B9A4C}" presName="rootComposite" presStyleCnt="0"/>
      <dgm:spPr/>
    </dgm:pt>
    <dgm:pt modelId="{3BD3742E-89D8-4278-B047-2E690CF46C27}" type="pres">
      <dgm:prSet presAssocID="{9928A676-F7EE-4D1A-A698-399B198B9A4C}" presName="rootText" presStyleLbl="node2" presStyleIdx="1" presStyleCnt="3" custScaleY="71251">
        <dgm:presLayoutVars>
          <dgm:chPref val="3"/>
        </dgm:presLayoutVars>
      </dgm:prSet>
      <dgm:spPr/>
    </dgm:pt>
    <dgm:pt modelId="{1C196A48-6022-498A-9527-F4773465C43B}" type="pres">
      <dgm:prSet presAssocID="{9928A676-F7EE-4D1A-A698-399B198B9A4C}" presName="rootConnector" presStyleLbl="node2" presStyleIdx="1" presStyleCnt="3"/>
      <dgm:spPr/>
    </dgm:pt>
    <dgm:pt modelId="{8B392C00-EA94-478D-AC2F-0982A676C659}" type="pres">
      <dgm:prSet presAssocID="{9928A676-F7EE-4D1A-A698-399B198B9A4C}" presName="hierChild4" presStyleCnt="0"/>
      <dgm:spPr/>
    </dgm:pt>
    <dgm:pt modelId="{7B4FAA56-6C6D-4FA5-A6D0-19C31DC2AFC6}" type="pres">
      <dgm:prSet presAssocID="{9928A676-F7EE-4D1A-A698-399B198B9A4C}" presName="hierChild5" presStyleCnt="0"/>
      <dgm:spPr/>
    </dgm:pt>
    <dgm:pt modelId="{FCC79863-28B7-4641-A9CA-CA81A5866EAD}" type="pres">
      <dgm:prSet presAssocID="{DB6EAF03-585D-46DB-9568-94C8598AB98D}" presName="Name37" presStyleLbl="parChTrans1D2" presStyleIdx="2" presStyleCnt="3"/>
      <dgm:spPr/>
    </dgm:pt>
    <dgm:pt modelId="{CE1207AE-853D-4C2E-83C4-080F2BD63AF0}" type="pres">
      <dgm:prSet presAssocID="{7ABC4384-A1A5-42B9-A937-00D575C2EAC4}" presName="hierRoot2" presStyleCnt="0">
        <dgm:presLayoutVars>
          <dgm:hierBranch val="init"/>
        </dgm:presLayoutVars>
      </dgm:prSet>
      <dgm:spPr/>
    </dgm:pt>
    <dgm:pt modelId="{CB7CFF74-24B9-44BB-A2B5-92109B681CBE}" type="pres">
      <dgm:prSet presAssocID="{7ABC4384-A1A5-42B9-A937-00D575C2EAC4}" presName="rootComposite" presStyleCnt="0"/>
      <dgm:spPr/>
    </dgm:pt>
    <dgm:pt modelId="{E24E934A-6782-4A44-B105-7B83B7DB5B47}" type="pres">
      <dgm:prSet presAssocID="{7ABC4384-A1A5-42B9-A937-00D575C2EAC4}" presName="rootText" presStyleLbl="node2" presStyleIdx="2" presStyleCnt="3" custScaleY="71251">
        <dgm:presLayoutVars>
          <dgm:chPref val="3"/>
        </dgm:presLayoutVars>
      </dgm:prSet>
      <dgm:spPr/>
    </dgm:pt>
    <dgm:pt modelId="{5AA88587-4138-4C96-A469-54661A164102}" type="pres">
      <dgm:prSet presAssocID="{7ABC4384-A1A5-42B9-A937-00D575C2EAC4}" presName="rootConnector" presStyleLbl="node2" presStyleIdx="2" presStyleCnt="3"/>
      <dgm:spPr/>
    </dgm:pt>
    <dgm:pt modelId="{B9543503-0585-40B0-A235-9443F235BCF9}" type="pres">
      <dgm:prSet presAssocID="{7ABC4384-A1A5-42B9-A937-00D575C2EAC4}" presName="hierChild4" presStyleCnt="0"/>
      <dgm:spPr/>
    </dgm:pt>
    <dgm:pt modelId="{D58E9973-4CC6-41F0-9B44-4CB3E7C15DE2}" type="pres">
      <dgm:prSet presAssocID="{7ABC4384-A1A5-42B9-A937-00D575C2EAC4}" presName="hierChild5" presStyleCnt="0"/>
      <dgm:spPr/>
    </dgm:pt>
    <dgm:pt modelId="{593FC476-5F45-4442-B7F5-D6C3520F3D12}" type="pres">
      <dgm:prSet presAssocID="{2C63AD44-5545-48ED-B3E1-4923A2AC4FAA}" presName="hierChild3" presStyleCnt="0"/>
      <dgm:spPr/>
    </dgm:pt>
  </dgm:ptLst>
  <dgm:cxnLst>
    <dgm:cxn modelId="{73129002-6F80-4C66-AF83-B0E63173CB0A}" type="presOf" srcId="{A5B41717-E523-4E36-8FF4-299EFDF0A00C}" destId="{6C4E8E94-ADAD-493B-83F3-4BB485BD15BA}" srcOrd="1" destOrd="0" presId="urn:microsoft.com/office/officeart/2005/8/layout/orgChart1"/>
    <dgm:cxn modelId="{2923C71C-1389-4AC0-BBB7-05F926056FAF}" type="presOf" srcId="{DB6EAF03-585D-46DB-9568-94C8598AB98D}" destId="{FCC79863-28B7-4641-A9CA-CA81A5866EAD}" srcOrd="0" destOrd="0" presId="urn:microsoft.com/office/officeart/2005/8/layout/orgChart1"/>
    <dgm:cxn modelId="{561DBF23-B884-42EB-9FC1-E576492922E4}" type="presOf" srcId="{05AC3703-48EB-43E4-B717-6F19AB9E8B6C}" destId="{591147C7-2FCD-4627-B9AE-9C0A7122E164}" srcOrd="0" destOrd="0" presId="urn:microsoft.com/office/officeart/2005/8/layout/orgChart1"/>
    <dgm:cxn modelId="{A0643524-C065-46DC-8451-C0C94C37D877}" type="presOf" srcId="{D5B0DA7E-CBE2-4552-A8A7-5AB34385133B}" destId="{9B471BEC-AC44-42AD-B11A-707E30B97E4E}" srcOrd="0" destOrd="0" presId="urn:microsoft.com/office/officeart/2005/8/layout/orgChart1"/>
    <dgm:cxn modelId="{5F02DD32-F92A-4224-BA98-E296371D3FB1}" srcId="{2C63AD44-5545-48ED-B3E1-4923A2AC4FAA}" destId="{7ABC4384-A1A5-42B9-A937-00D575C2EAC4}" srcOrd="2" destOrd="0" parTransId="{DB6EAF03-585D-46DB-9568-94C8598AB98D}" sibTransId="{043DB222-9121-42E1-8AD0-5AFFFDDCA6F1}"/>
    <dgm:cxn modelId="{DAEC3D3B-C74D-4359-BFB7-1E81539C158C}" type="presOf" srcId="{7ABC4384-A1A5-42B9-A937-00D575C2EAC4}" destId="{5AA88587-4138-4C96-A469-54661A164102}" srcOrd="1" destOrd="0" presId="urn:microsoft.com/office/officeart/2005/8/layout/orgChart1"/>
    <dgm:cxn modelId="{C678C83D-1178-44CC-A51D-4FAD772276D1}" srcId="{2C63AD44-5545-48ED-B3E1-4923A2AC4FAA}" destId="{A5B41717-E523-4E36-8FF4-299EFDF0A00C}" srcOrd="0" destOrd="0" parTransId="{7C2C86E9-6E44-404B-AA36-4D3C6466F1E2}" sibTransId="{A11BD8B9-AEA8-4662-B10A-0CEBDAFCC933}"/>
    <dgm:cxn modelId="{7413B15F-F93D-485B-8F57-67CDA39374A7}" type="presOf" srcId="{9928A676-F7EE-4D1A-A698-399B198B9A4C}" destId="{1C196A48-6022-498A-9527-F4773465C43B}" srcOrd="1" destOrd="0" presId="urn:microsoft.com/office/officeart/2005/8/layout/orgChart1"/>
    <dgm:cxn modelId="{D921F251-47C9-4F90-8DC5-8BD8480921F1}" type="presOf" srcId="{A5B41717-E523-4E36-8FF4-299EFDF0A00C}" destId="{E1B194E7-E9A2-4E57-9BB7-20DBBFCA2C24}" srcOrd="0" destOrd="0" presId="urn:microsoft.com/office/officeart/2005/8/layout/orgChart1"/>
    <dgm:cxn modelId="{DCBFF955-EC2E-43F5-ADB9-606A6989915C}" srcId="{D5B0DA7E-CBE2-4552-A8A7-5AB34385133B}" destId="{2C63AD44-5545-48ED-B3E1-4923A2AC4FAA}" srcOrd="0" destOrd="0" parTransId="{460988F8-E170-49CF-B05B-898C6D4813EA}" sibTransId="{F6A5CB87-F37F-4A9E-AB8E-A4C82C593886}"/>
    <dgm:cxn modelId="{7D25F684-FE7C-4534-A9F5-7541BD7E9C38}" type="presOf" srcId="{2C63AD44-5545-48ED-B3E1-4923A2AC4FAA}" destId="{0387F2FC-E99B-45ED-AA38-20F988FC8BC6}" srcOrd="1" destOrd="0" presId="urn:microsoft.com/office/officeart/2005/8/layout/orgChart1"/>
    <dgm:cxn modelId="{F638079A-9E37-47B9-9948-E3B5FE5B6ABE}" type="presOf" srcId="{2C63AD44-5545-48ED-B3E1-4923A2AC4FAA}" destId="{4D9CCFF9-BD17-4D75-86B1-78E586639F4F}" srcOrd="0" destOrd="0" presId="urn:microsoft.com/office/officeart/2005/8/layout/orgChart1"/>
    <dgm:cxn modelId="{80F339A9-DE98-490F-9FF3-321DB481DCAE}" type="presOf" srcId="{7C2C86E9-6E44-404B-AA36-4D3C6466F1E2}" destId="{77AD3EA0-D08B-44E0-90FF-941318A849A9}" srcOrd="0" destOrd="0" presId="urn:microsoft.com/office/officeart/2005/8/layout/orgChart1"/>
    <dgm:cxn modelId="{05D9E3AC-1DA2-4DEC-9028-7F123F190FF0}" type="presOf" srcId="{7ABC4384-A1A5-42B9-A937-00D575C2EAC4}" destId="{E24E934A-6782-4A44-B105-7B83B7DB5B47}" srcOrd="0" destOrd="0" presId="urn:microsoft.com/office/officeart/2005/8/layout/orgChart1"/>
    <dgm:cxn modelId="{9A9C71B0-1DD1-457B-A26D-F580FE3A0600}" srcId="{2C63AD44-5545-48ED-B3E1-4923A2AC4FAA}" destId="{9928A676-F7EE-4D1A-A698-399B198B9A4C}" srcOrd="1" destOrd="0" parTransId="{05AC3703-48EB-43E4-B717-6F19AB9E8B6C}" sibTransId="{6E082CE1-FA13-48BB-9FBF-B704C5ADB758}"/>
    <dgm:cxn modelId="{C4E655BE-BCB1-4210-A337-876FCA711285}" type="presOf" srcId="{9928A676-F7EE-4D1A-A698-399B198B9A4C}" destId="{3BD3742E-89D8-4278-B047-2E690CF46C27}" srcOrd="0" destOrd="0" presId="urn:microsoft.com/office/officeart/2005/8/layout/orgChart1"/>
    <dgm:cxn modelId="{6DA87987-777C-4693-8CA7-C891B06E5648}" type="presParOf" srcId="{9B471BEC-AC44-42AD-B11A-707E30B97E4E}" destId="{AB54A245-4ADF-4D0A-9D90-B92C03DD7DB1}" srcOrd="0" destOrd="0" presId="urn:microsoft.com/office/officeart/2005/8/layout/orgChart1"/>
    <dgm:cxn modelId="{3B6A4210-3147-445C-9B37-339C877AC7F8}" type="presParOf" srcId="{AB54A245-4ADF-4D0A-9D90-B92C03DD7DB1}" destId="{AED5EF2C-9BEB-44AD-9AEF-B2D465843B54}" srcOrd="0" destOrd="0" presId="urn:microsoft.com/office/officeart/2005/8/layout/orgChart1"/>
    <dgm:cxn modelId="{82DAA314-0B43-4C0A-ABD7-4E774932FE83}" type="presParOf" srcId="{AED5EF2C-9BEB-44AD-9AEF-B2D465843B54}" destId="{4D9CCFF9-BD17-4D75-86B1-78E586639F4F}" srcOrd="0" destOrd="0" presId="urn:microsoft.com/office/officeart/2005/8/layout/orgChart1"/>
    <dgm:cxn modelId="{D2488730-77DE-4869-A338-267909061CD4}" type="presParOf" srcId="{AED5EF2C-9BEB-44AD-9AEF-B2D465843B54}" destId="{0387F2FC-E99B-45ED-AA38-20F988FC8BC6}" srcOrd="1" destOrd="0" presId="urn:microsoft.com/office/officeart/2005/8/layout/orgChart1"/>
    <dgm:cxn modelId="{98C52BC7-FAE8-4501-8629-5384793E60F4}" type="presParOf" srcId="{AB54A245-4ADF-4D0A-9D90-B92C03DD7DB1}" destId="{F48CA8D6-1239-487C-BA02-C79906DBA8D7}" srcOrd="1" destOrd="0" presId="urn:microsoft.com/office/officeart/2005/8/layout/orgChart1"/>
    <dgm:cxn modelId="{CFAF12A8-ED0B-4F4A-B0E7-664765EE4E1F}" type="presParOf" srcId="{F48CA8D6-1239-487C-BA02-C79906DBA8D7}" destId="{77AD3EA0-D08B-44E0-90FF-941318A849A9}" srcOrd="0" destOrd="0" presId="urn:microsoft.com/office/officeart/2005/8/layout/orgChart1"/>
    <dgm:cxn modelId="{91C1B27A-6B00-484F-9593-48CE02CEACB1}" type="presParOf" srcId="{F48CA8D6-1239-487C-BA02-C79906DBA8D7}" destId="{4FBB0E8C-0474-4D2E-A8C2-CC93B425BA5C}" srcOrd="1" destOrd="0" presId="urn:microsoft.com/office/officeart/2005/8/layout/orgChart1"/>
    <dgm:cxn modelId="{058D2628-7392-4C96-BEFE-F61882B8B5C8}" type="presParOf" srcId="{4FBB0E8C-0474-4D2E-A8C2-CC93B425BA5C}" destId="{DC517A7C-C96E-40EB-BE3F-0B25EDB19C79}" srcOrd="0" destOrd="0" presId="urn:microsoft.com/office/officeart/2005/8/layout/orgChart1"/>
    <dgm:cxn modelId="{B0FE5BB7-4CA0-43E0-B224-A51710773FFF}" type="presParOf" srcId="{DC517A7C-C96E-40EB-BE3F-0B25EDB19C79}" destId="{E1B194E7-E9A2-4E57-9BB7-20DBBFCA2C24}" srcOrd="0" destOrd="0" presId="urn:microsoft.com/office/officeart/2005/8/layout/orgChart1"/>
    <dgm:cxn modelId="{77843084-8C2C-4F19-8045-52E215B83223}" type="presParOf" srcId="{DC517A7C-C96E-40EB-BE3F-0B25EDB19C79}" destId="{6C4E8E94-ADAD-493B-83F3-4BB485BD15BA}" srcOrd="1" destOrd="0" presId="urn:microsoft.com/office/officeart/2005/8/layout/orgChart1"/>
    <dgm:cxn modelId="{7CB555AC-C81F-478C-BD83-72E85EF7EB87}" type="presParOf" srcId="{4FBB0E8C-0474-4D2E-A8C2-CC93B425BA5C}" destId="{1FEB4788-5936-421D-A201-F6308D3C777C}" srcOrd="1" destOrd="0" presId="urn:microsoft.com/office/officeart/2005/8/layout/orgChart1"/>
    <dgm:cxn modelId="{1E473BC0-8C26-4C46-99E3-10E0ADA450FB}" type="presParOf" srcId="{4FBB0E8C-0474-4D2E-A8C2-CC93B425BA5C}" destId="{F26F6516-8AB2-4981-A59F-4B0F381E4CDD}" srcOrd="2" destOrd="0" presId="urn:microsoft.com/office/officeart/2005/8/layout/orgChart1"/>
    <dgm:cxn modelId="{145148D6-4768-4A1C-B4B2-8699751CA7CC}" type="presParOf" srcId="{F48CA8D6-1239-487C-BA02-C79906DBA8D7}" destId="{591147C7-2FCD-4627-B9AE-9C0A7122E164}" srcOrd="2" destOrd="0" presId="urn:microsoft.com/office/officeart/2005/8/layout/orgChart1"/>
    <dgm:cxn modelId="{5DE4F274-1E07-4FD6-B067-35FD1F788C50}" type="presParOf" srcId="{F48CA8D6-1239-487C-BA02-C79906DBA8D7}" destId="{121AAE99-A0A8-4284-9E01-285F357742EC}" srcOrd="3" destOrd="0" presId="urn:microsoft.com/office/officeart/2005/8/layout/orgChart1"/>
    <dgm:cxn modelId="{BA903617-A820-45B0-9F07-D6105EE9378C}" type="presParOf" srcId="{121AAE99-A0A8-4284-9E01-285F357742EC}" destId="{53BA791C-84AB-413C-AE7A-A86DD2AE5983}" srcOrd="0" destOrd="0" presId="urn:microsoft.com/office/officeart/2005/8/layout/orgChart1"/>
    <dgm:cxn modelId="{5C165DE1-599B-4C66-8625-8493A0AFB164}" type="presParOf" srcId="{53BA791C-84AB-413C-AE7A-A86DD2AE5983}" destId="{3BD3742E-89D8-4278-B047-2E690CF46C27}" srcOrd="0" destOrd="0" presId="urn:microsoft.com/office/officeart/2005/8/layout/orgChart1"/>
    <dgm:cxn modelId="{A15E2697-B05A-440B-82ED-511BDB8B072F}" type="presParOf" srcId="{53BA791C-84AB-413C-AE7A-A86DD2AE5983}" destId="{1C196A48-6022-498A-9527-F4773465C43B}" srcOrd="1" destOrd="0" presId="urn:microsoft.com/office/officeart/2005/8/layout/orgChart1"/>
    <dgm:cxn modelId="{42676DEE-AB96-4620-BAF1-04681383992D}" type="presParOf" srcId="{121AAE99-A0A8-4284-9E01-285F357742EC}" destId="{8B392C00-EA94-478D-AC2F-0982A676C659}" srcOrd="1" destOrd="0" presId="urn:microsoft.com/office/officeart/2005/8/layout/orgChart1"/>
    <dgm:cxn modelId="{DDF48116-6D40-453B-85CD-E0B1877F348A}" type="presParOf" srcId="{121AAE99-A0A8-4284-9E01-285F357742EC}" destId="{7B4FAA56-6C6D-4FA5-A6D0-19C31DC2AFC6}" srcOrd="2" destOrd="0" presId="urn:microsoft.com/office/officeart/2005/8/layout/orgChart1"/>
    <dgm:cxn modelId="{7A83F7FB-BE35-4544-983D-0881C1F92106}" type="presParOf" srcId="{F48CA8D6-1239-487C-BA02-C79906DBA8D7}" destId="{FCC79863-28B7-4641-A9CA-CA81A5866EAD}" srcOrd="4" destOrd="0" presId="urn:microsoft.com/office/officeart/2005/8/layout/orgChart1"/>
    <dgm:cxn modelId="{72C06D6B-4CAA-45C9-A51F-1C4AE18D6278}" type="presParOf" srcId="{F48CA8D6-1239-487C-BA02-C79906DBA8D7}" destId="{CE1207AE-853D-4C2E-83C4-080F2BD63AF0}" srcOrd="5" destOrd="0" presId="urn:microsoft.com/office/officeart/2005/8/layout/orgChart1"/>
    <dgm:cxn modelId="{3536A4F2-7498-4079-9C9C-6EF7D8C70FA7}" type="presParOf" srcId="{CE1207AE-853D-4C2E-83C4-080F2BD63AF0}" destId="{CB7CFF74-24B9-44BB-A2B5-92109B681CBE}" srcOrd="0" destOrd="0" presId="urn:microsoft.com/office/officeart/2005/8/layout/orgChart1"/>
    <dgm:cxn modelId="{C446E1EB-1529-43AE-829F-66B4C5B908AF}" type="presParOf" srcId="{CB7CFF74-24B9-44BB-A2B5-92109B681CBE}" destId="{E24E934A-6782-4A44-B105-7B83B7DB5B47}" srcOrd="0" destOrd="0" presId="urn:microsoft.com/office/officeart/2005/8/layout/orgChart1"/>
    <dgm:cxn modelId="{C3B9DEE9-3CE2-4ABF-95D6-F95D96ECE652}" type="presParOf" srcId="{CB7CFF74-24B9-44BB-A2B5-92109B681CBE}" destId="{5AA88587-4138-4C96-A469-54661A164102}" srcOrd="1" destOrd="0" presId="urn:microsoft.com/office/officeart/2005/8/layout/orgChart1"/>
    <dgm:cxn modelId="{803EA1F8-9139-4A3C-9D6C-D9614E15B764}" type="presParOf" srcId="{CE1207AE-853D-4C2E-83C4-080F2BD63AF0}" destId="{B9543503-0585-40B0-A235-9443F235BCF9}" srcOrd="1" destOrd="0" presId="urn:microsoft.com/office/officeart/2005/8/layout/orgChart1"/>
    <dgm:cxn modelId="{87FD65E4-C0BC-4453-8CCB-D85B95CD570D}" type="presParOf" srcId="{CE1207AE-853D-4C2E-83C4-080F2BD63AF0}" destId="{D58E9973-4CC6-41F0-9B44-4CB3E7C15DE2}" srcOrd="2" destOrd="0" presId="urn:microsoft.com/office/officeart/2005/8/layout/orgChart1"/>
    <dgm:cxn modelId="{488C47A9-9688-4F9E-99D6-5A42BA93DB68}" type="presParOf" srcId="{AB54A245-4ADF-4D0A-9D90-B92C03DD7DB1}" destId="{593FC476-5F45-4442-B7F5-D6C3520F3D1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2A8570DF-D6EB-4605-92EC-111A78DD04C8}" type="doc">
      <dgm:prSet loTypeId="urn:microsoft.com/office/officeart/2009/3/layout/IncreasingArrowsProcess" loCatId="process" qsTypeId="urn:microsoft.com/office/officeart/2005/8/quickstyle/simple1" qsCatId="simple" csTypeId="urn:microsoft.com/office/officeart/2005/8/colors/colorful5" csCatId="colorful" phldr="1"/>
      <dgm:spPr/>
      <dgm:t>
        <a:bodyPr/>
        <a:lstStyle/>
        <a:p>
          <a:endParaRPr lang="zh-CN" altLang="en-US"/>
        </a:p>
      </dgm:t>
    </dgm:pt>
    <dgm:pt modelId="{27174115-FD95-4E62-B33A-C2D8FA744ED4}">
      <dgm:prSet phldrT="[文本]" phldr="0"/>
      <dgm:spPr/>
      <dgm:t>
        <a:bodyPr/>
        <a:lstStyle/>
        <a:p>
          <a:r>
            <a:rPr lang="en-US" altLang="zh-CN" dirty="0"/>
            <a:t>Sprint</a:t>
          </a:r>
          <a:endParaRPr lang="zh-CN" altLang="en-US" dirty="0"/>
        </a:p>
      </dgm:t>
    </dgm:pt>
    <dgm:pt modelId="{0272BAA0-E293-418B-8CB7-BCBF7D92DA3B}" type="parTrans" cxnId="{ACF9B48E-162D-4BC9-AF57-38300A3F6243}">
      <dgm:prSet/>
      <dgm:spPr/>
      <dgm:t>
        <a:bodyPr/>
        <a:lstStyle/>
        <a:p>
          <a:endParaRPr lang="zh-CN" altLang="en-US"/>
        </a:p>
      </dgm:t>
    </dgm:pt>
    <dgm:pt modelId="{5BFB1068-2037-493F-A484-A25F7039D8BA}" type="sibTrans" cxnId="{ACF9B48E-162D-4BC9-AF57-38300A3F6243}">
      <dgm:prSet/>
      <dgm:spPr/>
      <dgm:t>
        <a:bodyPr/>
        <a:lstStyle/>
        <a:p>
          <a:endParaRPr lang="zh-CN" altLang="en-US"/>
        </a:p>
      </dgm:t>
    </dgm:pt>
    <dgm:pt modelId="{54A42531-F6CF-4017-96EB-95C8615A3294}">
      <dgm:prSet phldrT="[文本]"/>
      <dgm:spPr/>
      <dgm:t>
        <a:bodyPr/>
        <a:lstStyle/>
        <a:p>
          <a:r>
            <a:rPr lang="zh-CN" altLang="en-US" dirty="0"/>
            <a:t>冲刺</a:t>
          </a:r>
        </a:p>
      </dgm:t>
    </dgm:pt>
    <dgm:pt modelId="{925C0D60-EDFF-4DAA-8C9A-450B1DE40C85}" type="parTrans" cxnId="{BC60CE86-214B-4263-B72A-3154B9B94234}">
      <dgm:prSet/>
      <dgm:spPr/>
      <dgm:t>
        <a:bodyPr/>
        <a:lstStyle/>
        <a:p>
          <a:endParaRPr lang="zh-CN" altLang="en-US"/>
        </a:p>
      </dgm:t>
    </dgm:pt>
    <dgm:pt modelId="{096C92D1-D232-4365-9EF8-408E540F7561}" type="sibTrans" cxnId="{BC60CE86-214B-4263-B72A-3154B9B94234}">
      <dgm:prSet/>
      <dgm:spPr/>
      <dgm:t>
        <a:bodyPr/>
        <a:lstStyle/>
        <a:p>
          <a:endParaRPr lang="zh-CN" altLang="en-US"/>
        </a:p>
      </dgm:t>
    </dgm:pt>
    <dgm:pt modelId="{44B57C55-2B17-4C87-A444-485482BB1579}">
      <dgm:prSet phldrT="[文本]"/>
      <dgm:spPr/>
      <dgm:t>
        <a:bodyPr/>
        <a:lstStyle/>
        <a:p>
          <a:r>
            <a:rPr lang="en-US" altLang="zh-CN" dirty="0"/>
            <a:t>Spring Planning</a:t>
          </a:r>
          <a:endParaRPr lang="zh-CN" altLang="en-US" dirty="0"/>
        </a:p>
      </dgm:t>
    </dgm:pt>
    <dgm:pt modelId="{F287AE56-46E9-4E3A-8FC6-3EB1D2BB58A3}" type="parTrans" cxnId="{062FB0AC-1D74-4DDE-841C-3D9B3F3991A3}">
      <dgm:prSet/>
      <dgm:spPr/>
      <dgm:t>
        <a:bodyPr/>
        <a:lstStyle/>
        <a:p>
          <a:endParaRPr lang="zh-CN" altLang="en-US"/>
        </a:p>
      </dgm:t>
    </dgm:pt>
    <dgm:pt modelId="{13DE7946-9FB2-49CB-9BF7-8401DBD6EDF4}" type="sibTrans" cxnId="{062FB0AC-1D74-4DDE-841C-3D9B3F3991A3}">
      <dgm:prSet/>
      <dgm:spPr/>
      <dgm:t>
        <a:bodyPr/>
        <a:lstStyle/>
        <a:p>
          <a:endParaRPr lang="zh-CN" altLang="en-US"/>
        </a:p>
      </dgm:t>
    </dgm:pt>
    <dgm:pt modelId="{A7F2DD4B-9069-431A-96B2-D35103A66940}">
      <dgm:prSet phldrT="[文本]"/>
      <dgm:spPr/>
      <dgm:t>
        <a:bodyPr/>
        <a:lstStyle/>
        <a:p>
          <a:r>
            <a:rPr lang="zh-CN" altLang="en-US" dirty="0"/>
            <a:t>规划</a:t>
          </a:r>
        </a:p>
      </dgm:t>
    </dgm:pt>
    <dgm:pt modelId="{9E6FADB4-0E10-48E4-A448-80AC9138B5F3}" type="parTrans" cxnId="{25C09A10-1142-4521-886A-B8416008464A}">
      <dgm:prSet/>
      <dgm:spPr/>
      <dgm:t>
        <a:bodyPr/>
        <a:lstStyle/>
        <a:p>
          <a:endParaRPr lang="zh-CN" altLang="en-US"/>
        </a:p>
      </dgm:t>
    </dgm:pt>
    <dgm:pt modelId="{6411CDAA-A48D-44F5-83F1-9229675A04EF}" type="sibTrans" cxnId="{25C09A10-1142-4521-886A-B8416008464A}">
      <dgm:prSet/>
      <dgm:spPr/>
      <dgm:t>
        <a:bodyPr/>
        <a:lstStyle/>
        <a:p>
          <a:endParaRPr lang="zh-CN" altLang="en-US"/>
        </a:p>
      </dgm:t>
    </dgm:pt>
    <dgm:pt modelId="{F7A46958-C503-4AAE-A847-4641297F8D89}">
      <dgm:prSet phldrT="[文本]"/>
      <dgm:spPr/>
      <dgm:t>
        <a:bodyPr/>
        <a:lstStyle/>
        <a:p>
          <a:r>
            <a:rPr lang="en-US" altLang="zh-CN" dirty="0"/>
            <a:t>Daily Scrum</a:t>
          </a:r>
          <a:endParaRPr lang="zh-CN" altLang="en-US" dirty="0"/>
        </a:p>
      </dgm:t>
    </dgm:pt>
    <dgm:pt modelId="{D8A7B5A7-A843-4F1C-979F-141322ADF43B}" type="parTrans" cxnId="{CF1FAF76-0A52-49AA-B793-BBB61493A4AC}">
      <dgm:prSet/>
      <dgm:spPr/>
      <dgm:t>
        <a:bodyPr/>
        <a:lstStyle/>
        <a:p>
          <a:endParaRPr lang="zh-CN" altLang="en-US"/>
        </a:p>
      </dgm:t>
    </dgm:pt>
    <dgm:pt modelId="{7A562CAC-600C-478B-BFD7-FD93B3815C03}" type="sibTrans" cxnId="{CF1FAF76-0A52-49AA-B793-BBB61493A4AC}">
      <dgm:prSet/>
      <dgm:spPr/>
      <dgm:t>
        <a:bodyPr/>
        <a:lstStyle/>
        <a:p>
          <a:endParaRPr lang="zh-CN" altLang="en-US"/>
        </a:p>
      </dgm:t>
    </dgm:pt>
    <dgm:pt modelId="{7BEB3467-3C35-4A0E-A004-15FC82181F10}">
      <dgm:prSet phldrT="[文本]"/>
      <dgm:spPr/>
      <dgm:t>
        <a:bodyPr/>
        <a:lstStyle/>
        <a:p>
          <a:r>
            <a:rPr lang="zh-CN" altLang="en-US" dirty="0"/>
            <a:t>每日站会</a:t>
          </a:r>
        </a:p>
      </dgm:t>
    </dgm:pt>
    <dgm:pt modelId="{05BA3D8D-35FF-4536-9334-4A8F8A93BA8F}" type="parTrans" cxnId="{0A6E8ED2-1FD6-4D46-886C-ED38DE32E94A}">
      <dgm:prSet/>
      <dgm:spPr/>
      <dgm:t>
        <a:bodyPr/>
        <a:lstStyle/>
        <a:p>
          <a:endParaRPr lang="zh-CN" altLang="en-US"/>
        </a:p>
      </dgm:t>
    </dgm:pt>
    <dgm:pt modelId="{D43588C1-6611-4485-9E73-E693916771F7}" type="sibTrans" cxnId="{0A6E8ED2-1FD6-4D46-886C-ED38DE32E94A}">
      <dgm:prSet/>
      <dgm:spPr/>
      <dgm:t>
        <a:bodyPr/>
        <a:lstStyle/>
        <a:p>
          <a:endParaRPr lang="zh-CN" altLang="en-US"/>
        </a:p>
      </dgm:t>
    </dgm:pt>
    <dgm:pt modelId="{2A0230E0-88F0-4F81-BAF8-58E270957BCA}">
      <dgm:prSet phldrT="[文本]"/>
      <dgm:spPr/>
      <dgm:t>
        <a:bodyPr/>
        <a:lstStyle/>
        <a:p>
          <a:r>
            <a:rPr lang="en-US" altLang="zh-CN" dirty="0"/>
            <a:t>Review</a:t>
          </a:r>
          <a:endParaRPr lang="zh-CN" altLang="en-US" dirty="0"/>
        </a:p>
      </dgm:t>
    </dgm:pt>
    <dgm:pt modelId="{F392463D-EF57-40EC-B67C-C427D234A650}" type="parTrans" cxnId="{22B89D49-9562-441A-A3C0-200200FF53F9}">
      <dgm:prSet/>
      <dgm:spPr/>
      <dgm:t>
        <a:bodyPr/>
        <a:lstStyle/>
        <a:p>
          <a:endParaRPr lang="zh-CN" altLang="en-US"/>
        </a:p>
      </dgm:t>
    </dgm:pt>
    <dgm:pt modelId="{1230CFE9-5BEE-4C51-993B-44F31F0578A1}" type="sibTrans" cxnId="{22B89D49-9562-441A-A3C0-200200FF53F9}">
      <dgm:prSet/>
      <dgm:spPr/>
      <dgm:t>
        <a:bodyPr/>
        <a:lstStyle/>
        <a:p>
          <a:endParaRPr lang="zh-CN" altLang="en-US"/>
        </a:p>
      </dgm:t>
    </dgm:pt>
    <dgm:pt modelId="{8E71BD4B-776B-47D4-AA46-165AA34C906F}">
      <dgm:prSet phldrT="[文本]"/>
      <dgm:spPr/>
      <dgm:t>
        <a:bodyPr/>
        <a:lstStyle/>
        <a:p>
          <a:r>
            <a:rPr lang="zh-CN" altLang="en-US" dirty="0"/>
            <a:t>回顾</a:t>
          </a:r>
        </a:p>
      </dgm:t>
    </dgm:pt>
    <dgm:pt modelId="{C925A356-4720-4E67-B167-949855C276AA}" type="parTrans" cxnId="{DC7B6575-D619-40D3-A5CF-88DD0C7AFCE6}">
      <dgm:prSet/>
      <dgm:spPr/>
      <dgm:t>
        <a:bodyPr/>
        <a:lstStyle/>
        <a:p>
          <a:endParaRPr lang="zh-CN" altLang="en-US"/>
        </a:p>
      </dgm:t>
    </dgm:pt>
    <dgm:pt modelId="{2314D5BD-917B-47AB-9FDE-9F9C4C6931B5}" type="sibTrans" cxnId="{DC7B6575-D619-40D3-A5CF-88DD0C7AFCE6}">
      <dgm:prSet/>
      <dgm:spPr/>
      <dgm:t>
        <a:bodyPr/>
        <a:lstStyle/>
        <a:p>
          <a:endParaRPr lang="zh-CN" altLang="en-US"/>
        </a:p>
      </dgm:t>
    </dgm:pt>
    <dgm:pt modelId="{39015ED6-41D0-4554-9CAD-7105BDB878C4}">
      <dgm:prSet phldrT="[文本]"/>
      <dgm:spPr/>
      <dgm:t>
        <a:bodyPr/>
        <a:lstStyle/>
        <a:p>
          <a:r>
            <a:rPr lang="en-US" altLang="zh-CN" dirty="0"/>
            <a:t>Retrospective</a:t>
          </a:r>
          <a:endParaRPr lang="zh-CN" altLang="en-US" dirty="0"/>
        </a:p>
      </dgm:t>
    </dgm:pt>
    <dgm:pt modelId="{6DCD1CAC-583A-4100-9B98-DB6842F3CDB7}" type="parTrans" cxnId="{AE292B29-323D-49C7-99AD-047EF273DC3B}">
      <dgm:prSet/>
      <dgm:spPr/>
      <dgm:t>
        <a:bodyPr/>
        <a:lstStyle/>
        <a:p>
          <a:endParaRPr lang="zh-CN" altLang="en-US"/>
        </a:p>
      </dgm:t>
    </dgm:pt>
    <dgm:pt modelId="{5F328325-9871-47CB-977A-F457C8CDB2CA}" type="sibTrans" cxnId="{AE292B29-323D-49C7-99AD-047EF273DC3B}">
      <dgm:prSet/>
      <dgm:spPr/>
      <dgm:t>
        <a:bodyPr/>
        <a:lstStyle/>
        <a:p>
          <a:endParaRPr lang="zh-CN" altLang="en-US"/>
        </a:p>
      </dgm:t>
    </dgm:pt>
    <dgm:pt modelId="{456063A0-C6C6-447E-84DB-3526F269FD58}">
      <dgm:prSet phldrT="[文本]"/>
      <dgm:spPr/>
      <dgm:t>
        <a:bodyPr/>
        <a:lstStyle/>
        <a:p>
          <a:r>
            <a:rPr lang="zh-CN" altLang="en-US" dirty="0"/>
            <a:t>评审</a:t>
          </a:r>
        </a:p>
      </dgm:t>
    </dgm:pt>
    <dgm:pt modelId="{49298535-35D2-4D69-AA6D-45D615C7DADB}" type="parTrans" cxnId="{5BA08229-F1AD-4AF5-A3FA-A8269B63959C}">
      <dgm:prSet/>
      <dgm:spPr/>
      <dgm:t>
        <a:bodyPr/>
        <a:lstStyle/>
        <a:p>
          <a:endParaRPr lang="zh-CN" altLang="en-US"/>
        </a:p>
      </dgm:t>
    </dgm:pt>
    <dgm:pt modelId="{9EC5BF2E-09EC-4648-B356-2173EF72710F}" type="sibTrans" cxnId="{5BA08229-F1AD-4AF5-A3FA-A8269B63959C}">
      <dgm:prSet/>
      <dgm:spPr/>
      <dgm:t>
        <a:bodyPr/>
        <a:lstStyle/>
        <a:p>
          <a:endParaRPr lang="zh-CN" altLang="en-US"/>
        </a:p>
      </dgm:t>
    </dgm:pt>
    <dgm:pt modelId="{7E98DD0F-2D96-4F62-B946-5235C76F447F}" type="pres">
      <dgm:prSet presAssocID="{2A8570DF-D6EB-4605-92EC-111A78DD04C8}" presName="Name0" presStyleCnt="0">
        <dgm:presLayoutVars>
          <dgm:chMax val="5"/>
          <dgm:chPref val="5"/>
          <dgm:dir/>
          <dgm:animLvl val="lvl"/>
        </dgm:presLayoutVars>
      </dgm:prSet>
      <dgm:spPr/>
    </dgm:pt>
    <dgm:pt modelId="{094F4DF1-37BB-4ECD-9418-D07081488686}" type="pres">
      <dgm:prSet presAssocID="{27174115-FD95-4E62-B33A-C2D8FA744ED4}" presName="parentText1" presStyleLbl="node1" presStyleIdx="0" presStyleCnt="5">
        <dgm:presLayoutVars>
          <dgm:chMax/>
          <dgm:chPref val="3"/>
          <dgm:bulletEnabled val="1"/>
        </dgm:presLayoutVars>
      </dgm:prSet>
      <dgm:spPr/>
    </dgm:pt>
    <dgm:pt modelId="{E86EC7DA-1671-4DAB-B8CD-684A0A10D28B}" type="pres">
      <dgm:prSet presAssocID="{27174115-FD95-4E62-B33A-C2D8FA744ED4}" presName="childText1" presStyleLbl="solidAlignAcc1" presStyleIdx="0" presStyleCnt="5">
        <dgm:presLayoutVars>
          <dgm:chMax val="0"/>
          <dgm:chPref val="0"/>
          <dgm:bulletEnabled val="1"/>
        </dgm:presLayoutVars>
      </dgm:prSet>
      <dgm:spPr/>
    </dgm:pt>
    <dgm:pt modelId="{3377E146-BBE8-4251-922A-3A142A5DB22A}" type="pres">
      <dgm:prSet presAssocID="{44B57C55-2B17-4C87-A444-485482BB1579}" presName="parentText2" presStyleLbl="node1" presStyleIdx="1" presStyleCnt="5">
        <dgm:presLayoutVars>
          <dgm:chMax/>
          <dgm:chPref val="3"/>
          <dgm:bulletEnabled val="1"/>
        </dgm:presLayoutVars>
      </dgm:prSet>
      <dgm:spPr/>
    </dgm:pt>
    <dgm:pt modelId="{3F0F4678-4480-4F65-812F-7188E8E3BA27}" type="pres">
      <dgm:prSet presAssocID="{44B57C55-2B17-4C87-A444-485482BB1579}" presName="childText2" presStyleLbl="solidAlignAcc1" presStyleIdx="1" presStyleCnt="5">
        <dgm:presLayoutVars>
          <dgm:chMax val="0"/>
          <dgm:chPref val="0"/>
          <dgm:bulletEnabled val="1"/>
        </dgm:presLayoutVars>
      </dgm:prSet>
      <dgm:spPr/>
    </dgm:pt>
    <dgm:pt modelId="{962DE86B-57FB-4E57-B9E2-1CDD9869201D}" type="pres">
      <dgm:prSet presAssocID="{F7A46958-C503-4AAE-A847-4641297F8D89}" presName="parentText3" presStyleLbl="node1" presStyleIdx="2" presStyleCnt="5">
        <dgm:presLayoutVars>
          <dgm:chMax/>
          <dgm:chPref val="3"/>
          <dgm:bulletEnabled val="1"/>
        </dgm:presLayoutVars>
      </dgm:prSet>
      <dgm:spPr/>
    </dgm:pt>
    <dgm:pt modelId="{A2FE8EDA-D970-4B0B-BEE7-3C260734EB3F}" type="pres">
      <dgm:prSet presAssocID="{F7A46958-C503-4AAE-A847-4641297F8D89}" presName="childText3" presStyleLbl="solidAlignAcc1" presStyleIdx="2" presStyleCnt="5">
        <dgm:presLayoutVars>
          <dgm:chMax val="0"/>
          <dgm:chPref val="0"/>
          <dgm:bulletEnabled val="1"/>
        </dgm:presLayoutVars>
      </dgm:prSet>
      <dgm:spPr/>
    </dgm:pt>
    <dgm:pt modelId="{C0E91409-81B0-4028-907D-5327B5143ADB}" type="pres">
      <dgm:prSet presAssocID="{2A0230E0-88F0-4F81-BAF8-58E270957BCA}" presName="parentText4" presStyleLbl="node1" presStyleIdx="3" presStyleCnt="5">
        <dgm:presLayoutVars>
          <dgm:chMax/>
          <dgm:chPref val="3"/>
          <dgm:bulletEnabled val="1"/>
        </dgm:presLayoutVars>
      </dgm:prSet>
      <dgm:spPr/>
    </dgm:pt>
    <dgm:pt modelId="{2B2584B2-DDE4-43C5-AC13-F191D54BFA19}" type="pres">
      <dgm:prSet presAssocID="{2A0230E0-88F0-4F81-BAF8-58E270957BCA}" presName="childText4" presStyleLbl="solidAlignAcc1" presStyleIdx="3" presStyleCnt="5">
        <dgm:presLayoutVars>
          <dgm:chMax val="0"/>
          <dgm:chPref val="0"/>
          <dgm:bulletEnabled val="1"/>
        </dgm:presLayoutVars>
      </dgm:prSet>
      <dgm:spPr/>
    </dgm:pt>
    <dgm:pt modelId="{C2F78D87-5BAB-4238-BA32-642972FEF7AA}" type="pres">
      <dgm:prSet presAssocID="{39015ED6-41D0-4554-9CAD-7105BDB878C4}" presName="parentText5" presStyleLbl="node1" presStyleIdx="4" presStyleCnt="5">
        <dgm:presLayoutVars>
          <dgm:chMax/>
          <dgm:chPref val="3"/>
          <dgm:bulletEnabled val="1"/>
        </dgm:presLayoutVars>
      </dgm:prSet>
      <dgm:spPr/>
    </dgm:pt>
    <dgm:pt modelId="{5E52CB30-E02C-40CD-B263-64B93A59E37F}" type="pres">
      <dgm:prSet presAssocID="{39015ED6-41D0-4554-9CAD-7105BDB878C4}" presName="childText5" presStyleLbl="solidAlignAcc1" presStyleIdx="4" presStyleCnt="5">
        <dgm:presLayoutVars>
          <dgm:chMax val="0"/>
          <dgm:chPref val="0"/>
          <dgm:bulletEnabled val="1"/>
        </dgm:presLayoutVars>
      </dgm:prSet>
      <dgm:spPr/>
    </dgm:pt>
  </dgm:ptLst>
  <dgm:cxnLst>
    <dgm:cxn modelId="{A66BED05-8A46-43B2-8A0D-338A0EC4C718}" type="presOf" srcId="{F7A46958-C503-4AAE-A847-4641297F8D89}" destId="{962DE86B-57FB-4E57-B9E2-1CDD9869201D}" srcOrd="0" destOrd="0" presId="urn:microsoft.com/office/officeart/2009/3/layout/IncreasingArrowsProcess"/>
    <dgm:cxn modelId="{25C09A10-1142-4521-886A-B8416008464A}" srcId="{44B57C55-2B17-4C87-A444-485482BB1579}" destId="{A7F2DD4B-9069-431A-96B2-D35103A66940}" srcOrd="0" destOrd="0" parTransId="{9E6FADB4-0E10-48E4-A448-80AC9138B5F3}" sibTransId="{6411CDAA-A48D-44F5-83F1-9229675A04EF}"/>
    <dgm:cxn modelId="{A32E7711-D049-4311-918A-483A71EC6FFC}" type="presOf" srcId="{A7F2DD4B-9069-431A-96B2-D35103A66940}" destId="{3F0F4678-4480-4F65-812F-7188E8E3BA27}" srcOrd="0" destOrd="0" presId="urn:microsoft.com/office/officeart/2009/3/layout/IncreasingArrowsProcess"/>
    <dgm:cxn modelId="{550B8113-A838-4639-A3FB-B533024EDA3F}" type="presOf" srcId="{2A8570DF-D6EB-4605-92EC-111A78DD04C8}" destId="{7E98DD0F-2D96-4F62-B946-5235C76F447F}" srcOrd="0" destOrd="0" presId="urn:microsoft.com/office/officeart/2009/3/layout/IncreasingArrowsProcess"/>
    <dgm:cxn modelId="{60852A27-AC1B-4706-A529-244E8DF4F374}" type="presOf" srcId="{456063A0-C6C6-447E-84DB-3526F269FD58}" destId="{2B2584B2-DDE4-43C5-AC13-F191D54BFA19}" srcOrd="0" destOrd="0" presId="urn:microsoft.com/office/officeart/2009/3/layout/IncreasingArrowsProcess"/>
    <dgm:cxn modelId="{E0530229-B731-4F27-A3D4-98B8289B7B7C}" type="presOf" srcId="{54A42531-F6CF-4017-96EB-95C8615A3294}" destId="{E86EC7DA-1671-4DAB-B8CD-684A0A10D28B}" srcOrd="0" destOrd="0" presId="urn:microsoft.com/office/officeart/2009/3/layout/IncreasingArrowsProcess"/>
    <dgm:cxn modelId="{AE292B29-323D-49C7-99AD-047EF273DC3B}" srcId="{2A8570DF-D6EB-4605-92EC-111A78DD04C8}" destId="{39015ED6-41D0-4554-9CAD-7105BDB878C4}" srcOrd="4" destOrd="0" parTransId="{6DCD1CAC-583A-4100-9B98-DB6842F3CDB7}" sibTransId="{5F328325-9871-47CB-977A-F457C8CDB2CA}"/>
    <dgm:cxn modelId="{5BA08229-F1AD-4AF5-A3FA-A8269B63959C}" srcId="{2A0230E0-88F0-4F81-BAF8-58E270957BCA}" destId="{456063A0-C6C6-447E-84DB-3526F269FD58}" srcOrd="0" destOrd="0" parTransId="{49298535-35D2-4D69-AA6D-45D615C7DADB}" sibTransId="{9EC5BF2E-09EC-4648-B356-2173EF72710F}"/>
    <dgm:cxn modelId="{B4D02142-953A-49C0-B1E4-09C9369F6EF3}" type="presOf" srcId="{8E71BD4B-776B-47D4-AA46-165AA34C906F}" destId="{5E52CB30-E02C-40CD-B263-64B93A59E37F}" srcOrd="0" destOrd="0" presId="urn:microsoft.com/office/officeart/2009/3/layout/IncreasingArrowsProcess"/>
    <dgm:cxn modelId="{22B89D49-9562-441A-A3C0-200200FF53F9}" srcId="{2A8570DF-D6EB-4605-92EC-111A78DD04C8}" destId="{2A0230E0-88F0-4F81-BAF8-58E270957BCA}" srcOrd="3" destOrd="0" parTransId="{F392463D-EF57-40EC-B67C-C427D234A650}" sibTransId="{1230CFE9-5BEE-4C51-993B-44F31F0578A1}"/>
    <dgm:cxn modelId="{DC7B6575-D619-40D3-A5CF-88DD0C7AFCE6}" srcId="{39015ED6-41D0-4554-9CAD-7105BDB878C4}" destId="{8E71BD4B-776B-47D4-AA46-165AA34C906F}" srcOrd="0" destOrd="0" parTransId="{C925A356-4720-4E67-B167-949855C276AA}" sibTransId="{2314D5BD-917B-47AB-9FDE-9F9C4C6931B5}"/>
    <dgm:cxn modelId="{CF1FAF76-0A52-49AA-B793-BBB61493A4AC}" srcId="{2A8570DF-D6EB-4605-92EC-111A78DD04C8}" destId="{F7A46958-C503-4AAE-A847-4641297F8D89}" srcOrd="2" destOrd="0" parTransId="{D8A7B5A7-A843-4F1C-979F-141322ADF43B}" sibTransId="{7A562CAC-600C-478B-BFD7-FD93B3815C03}"/>
    <dgm:cxn modelId="{42F8BC58-3FE0-410C-A9C8-F5AA09461B07}" type="presOf" srcId="{27174115-FD95-4E62-B33A-C2D8FA744ED4}" destId="{094F4DF1-37BB-4ECD-9418-D07081488686}" srcOrd="0" destOrd="0" presId="urn:microsoft.com/office/officeart/2009/3/layout/IncreasingArrowsProcess"/>
    <dgm:cxn modelId="{25C27684-A316-41AC-A75C-48D86CFF029B}" type="presOf" srcId="{2A0230E0-88F0-4F81-BAF8-58E270957BCA}" destId="{C0E91409-81B0-4028-907D-5327B5143ADB}" srcOrd="0" destOrd="0" presId="urn:microsoft.com/office/officeart/2009/3/layout/IncreasingArrowsProcess"/>
    <dgm:cxn modelId="{BC60CE86-214B-4263-B72A-3154B9B94234}" srcId="{27174115-FD95-4E62-B33A-C2D8FA744ED4}" destId="{54A42531-F6CF-4017-96EB-95C8615A3294}" srcOrd="0" destOrd="0" parTransId="{925C0D60-EDFF-4DAA-8C9A-450B1DE40C85}" sibTransId="{096C92D1-D232-4365-9EF8-408E540F7561}"/>
    <dgm:cxn modelId="{ACF9B48E-162D-4BC9-AF57-38300A3F6243}" srcId="{2A8570DF-D6EB-4605-92EC-111A78DD04C8}" destId="{27174115-FD95-4E62-B33A-C2D8FA744ED4}" srcOrd="0" destOrd="0" parTransId="{0272BAA0-E293-418B-8CB7-BCBF7D92DA3B}" sibTransId="{5BFB1068-2037-493F-A484-A25F7039D8BA}"/>
    <dgm:cxn modelId="{05FA468F-6FC3-44D1-B820-A2B22E3BD8DF}" type="presOf" srcId="{39015ED6-41D0-4554-9CAD-7105BDB878C4}" destId="{C2F78D87-5BAB-4238-BA32-642972FEF7AA}" srcOrd="0" destOrd="0" presId="urn:microsoft.com/office/officeart/2009/3/layout/IncreasingArrowsProcess"/>
    <dgm:cxn modelId="{3E34AA92-BB1E-4B6A-B2F3-5D134A67B9E8}" type="presOf" srcId="{44B57C55-2B17-4C87-A444-485482BB1579}" destId="{3377E146-BBE8-4251-922A-3A142A5DB22A}" srcOrd="0" destOrd="0" presId="urn:microsoft.com/office/officeart/2009/3/layout/IncreasingArrowsProcess"/>
    <dgm:cxn modelId="{6C82C39C-88EE-448F-A4C0-36F6F9A23AC9}" type="presOf" srcId="{7BEB3467-3C35-4A0E-A004-15FC82181F10}" destId="{A2FE8EDA-D970-4B0B-BEE7-3C260734EB3F}" srcOrd="0" destOrd="0" presId="urn:microsoft.com/office/officeart/2009/3/layout/IncreasingArrowsProcess"/>
    <dgm:cxn modelId="{062FB0AC-1D74-4DDE-841C-3D9B3F3991A3}" srcId="{2A8570DF-D6EB-4605-92EC-111A78DD04C8}" destId="{44B57C55-2B17-4C87-A444-485482BB1579}" srcOrd="1" destOrd="0" parTransId="{F287AE56-46E9-4E3A-8FC6-3EB1D2BB58A3}" sibTransId="{13DE7946-9FB2-49CB-9BF7-8401DBD6EDF4}"/>
    <dgm:cxn modelId="{0A6E8ED2-1FD6-4D46-886C-ED38DE32E94A}" srcId="{F7A46958-C503-4AAE-A847-4641297F8D89}" destId="{7BEB3467-3C35-4A0E-A004-15FC82181F10}" srcOrd="0" destOrd="0" parTransId="{05BA3D8D-35FF-4536-9334-4A8F8A93BA8F}" sibTransId="{D43588C1-6611-4485-9E73-E693916771F7}"/>
    <dgm:cxn modelId="{A955FB5D-190D-464D-AAC4-85485535903A}" type="presParOf" srcId="{7E98DD0F-2D96-4F62-B946-5235C76F447F}" destId="{094F4DF1-37BB-4ECD-9418-D07081488686}" srcOrd="0" destOrd="0" presId="urn:microsoft.com/office/officeart/2009/3/layout/IncreasingArrowsProcess"/>
    <dgm:cxn modelId="{EB8AAE4C-EB0B-49A6-AC2C-838B300104AF}" type="presParOf" srcId="{7E98DD0F-2D96-4F62-B946-5235C76F447F}" destId="{E86EC7DA-1671-4DAB-B8CD-684A0A10D28B}" srcOrd="1" destOrd="0" presId="urn:microsoft.com/office/officeart/2009/3/layout/IncreasingArrowsProcess"/>
    <dgm:cxn modelId="{2B4D0CD2-FAB0-4749-A215-6B28E53632D0}" type="presParOf" srcId="{7E98DD0F-2D96-4F62-B946-5235C76F447F}" destId="{3377E146-BBE8-4251-922A-3A142A5DB22A}" srcOrd="2" destOrd="0" presId="urn:microsoft.com/office/officeart/2009/3/layout/IncreasingArrowsProcess"/>
    <dgm:cxn modelId="{11F85046-68CC-477F-839F-D0B59DD95964}" type="presParOf" srcId="{7E98DD0F-2D96-4F62-B946-5235C76F447F}" destId="{3F0F4678-4480-4F65-812F-7188E8E3BA27}" srcOrd="3" destOrd="0" presId="urn:microsoft.com/office/officeart/2009/3/layout/IncreasingArrowsProcess"/>
    <dgm:cxn modelId="{8F9C801A-2F3B-4A9F-96E7-18C7FC53A204}" type="presParOf" srcId="{7E98DD0F-2D96-4F62-B946-5235C76F447F}" destId="{962DE86B-57FB-4E57-B9E2-1CDD9869201D}" srcOrd="4" destOrd="0" presId="urn:microsoft.com/office/officeart/2009/3/layout/IncreasingArrowsProcess"/>
    <dgm:cxn modelId="{7CBD9D99-89D7-4ACF-B05F-8F15C9A3EF59}" type="presParOf" srcId="{7E98DD0F-2D96-4F62-B946-5235C76F447F}" destId="{A2FE8EDA-D970-4B0B-BEE7-3C260734EB3F}" srcOrd="5" destOrd="0" presId="urn:microsoft.com/office/officeart/2009/3/layout/IncreasingArrowsProcess"/>
    <dgm:cxn modelId="{072321A2-A90F-4764-AE18-EC5485AFDFB7}" type="presParOf" srcId="{7E98DD0F-2D96-4F62-B946-5235C76F447F}" destId="{C0E91409-81B0-4028-907D-5327B5143ADB}" srcOrd="6" destOrd="0" presId="urn:microsoft.com/office/officeart/2009/3/layout/IncreasingArrowsProcess"/>
    <dgm:cxn modelId="{D0F7A523-68E5-4C2A-8FA7-CB55714F95FC}" type="presParOf" srcId="{7E98DD0F-2D96-4F62-B946-5235C76F447F}" destId="{2B2584B2-DDE4-43C5-AC13-F191D54BFA19}" srcOrd="7" destOrd="0" presId="urn:microsoft.com/office/officeart/2009/3/layout/IncreasingArrowsProcess"/>
    <dgm:cxn modelId="{71EC015C-B832-4515-ADA0-31294DD52490}" type="presParOf" srcId="{7E98DD0F-2D96-4F62-B946-5235C76F447F}" destId="{C2F78D87-5BAB-4238-BA32-642972FEF7AA}" srcOrd="8" destOrd="0" presId="urn:microsoft.com/office/officeart/2009/3/layout/IncreasingArrowsProcess"/>
    <dgm:cxn modelId="{80FF57AF-6FCD-4D97-9366-B300556969B6}" type="presParOf" srcId="{7E98DD0F-2D96-4F62-B946-5235C76F447F}" destId="{5E52CB30-E02C-40CD-B263-64B93A59E37F}" srcOrd="9" destOrd="0" presId="urn:microsoft.com/office/officeart/2009/3/layout/IncreasingArrows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dgm:t>
        <a:bodyPr/>
        <a:lstStyle/>
        <a:p>
          <a:r>
            <a:rPr lang="en-US" altLang="zh-CN" dirty="0"/>
            <a:t>Product Backlog </a:t>
          </a:r>
          <a:r>
            <a:rPr lang="zh-CN" altLang="en-US" dirty="0"/>
            <a:t>产品待办事项 </a:t>
          </a:r>
        </a:p>
      </dgm:t>
    </dgm:pt>
    <dgm:pt modelId="{35B26F15-481E-4980-8B11-9EE0F478DD59}" type="parTrans" cxnId="{D79B505B-9D89-4968-8277-F0D430410105}">
      <dgm:prSet/>
      <dgm:spPr/>
      <dgm:t>
        <a:bodyPr/>
        <a:lstStyle/>
        <a:p>
          <a:endParaRPr lang="zh-CN" altLang="en-US"/>
        </a:p>
      </dgm:t>
    </dgm:pt>
    <dgm:pt modelId="{A94150D4-C492-46EB-B1AC-9F736396AA0D}" type="sibTrans" cxnId="{D79B505B-9D89-4968-8277-F0D430410105}">
      <dgm:prSet/>
      <dgm:spPr/>
      <dgm:t>
        <a:bodyPr/>
        <a:lstStyle/>
        <a:p>
          <a:endParaRPr lang="zh-CN" altLang="en-US"/>
        </a:p>
      </dgm:t>
    </dgm:pt>
    <dgm:pt modelId="{CFB0D99E-28ED-4902-8D61-7ACF91349FF3}">
      <dgm:prSet phldrT="[文本]"/>
      <dgm:spPr/>
      <dgm:t>
        <a:bodyPr/>
        <a:lstStyle/>
        <a:p>
          <a:r>
            <a:rPr lang="en-US" altLang="zh-CN" dirty="0"/>
            <a:t>Sprint Backlog </a:t>
          </a:r>
          <a:r>
            <a:rPr lang="zh-CN" altLang="en-US" dirty="0"/>
            <a:t>冲刺待办事项</a:t>
          </a:r>
        </a:p>
      </dgm:t>
    </dgm:pt>
    <dgm:pt modelId="{99722672-1784-4400-81B7-D0DF21E97805}" type="parTrans" cxnId="{E1AF4824-10A9-4F9E-8664-538DE83A0D90}">
      <dgm:prSet/>
      <dgm:spPr/>
      <dgm:t>
        <a:bodyPr/>
        <a:lstStyle/>
        <a:p>
          <a:endParaRPr lang="zh-CN" altLang="en-US"/>
        </a:p>
      </dgm:t>
    </dgm:pt>
    <dgm:pt modelId="{F3F17E05-AEAE-4D48-8949-759579CCD152}" type="sibTrans" cxnId="{E1AF4824-10A9-4F9E-8664-538DE83A0D90}">
      <dgm:prSet/>
      <dgm:spPr/>
      <dgm:t>
        <a:bodyPr/>
        <a:lstStyle/>
        <a:p>
          <a:endParaRPr lang="zh-CN" altLang="en-US"/>
        </a:p>
      </dgm:t>
    </dgm:pt>
    <dgm:pt modelId="{0BE932A6-6974-4FF5-9D55-B28BE60115AD}">
      <dgm:prSet phldrT="[文本]"/>
      <dgm:spPr/>
      <dgm:t>
        <a:bodyPr/>
        <a:lstStyle/>
        <a:p>
          <a:r>
            <a:rPr lang="en-US" altLang="zh-CN" dirty="0"/>
            <a:t>Increment </a:t>
          </a:r>
          <a:r>
            <a:rPr lang="zh-CN" altLang="en-US" dirty="0"/>
            <a:t>增量</a:t>
          </a:r>
        </a:p>
      </dgm:t>
    </dgm:pt>
    <dgm:pt modelId="{17D82F36-9F94-4776-98C5-AE3B3F0F3E6C}" type="parTrans" cxnId="{A392CC0F-611C-4D9E-BCC9-4711500668CE}">
      <dgm:prSet/>
      <dgm:spPr/>
      <dgm:t>
        <a:bodyPr/>
        <a:lstStyle/>
        <a:p>
          <a:endParaRPr lang="zh-CN" altLang="en-US"/>
        </a:p>
      </dgm:t>
    </dgm:pt>
    <dgm:pt modelId="{AB964673-9E14-4EF3-BC35-34F63573595B}" type="sibTrans" cxnId="{A392CC0F-611C-4D9E-BCC9-4711500668CE}">
      <dgm:prSet/>
      <dgm:spPr/>
      <dgm:t>
        <a:bodyPr/>
        <a:lstStyle/>
        <a:p>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dirty="0"/>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dirty="0"/>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dirty="0"/>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dirty="0"/>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dgm:spPr>
      <dgm:t>
        <a:bodyPr/>
        <a:lstStyle/>
        <a:p>
          <a:r>
            <a:rPr lang="zh-CN" altLang="en-US" dirty="0"/>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dgm:t>
        <a:bodyPr/>
        <a:lstStyle/>
        <a:p>
          <a:r>
            <a:rPr lang="zh-CN" altLang="en-US"/>
            <a:t>事件影响</a:t>
          </a:r>
          <a:endParaRPr lang="zh-CN" altLang="en-US" dirty="0"/>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dgm:t>
        <a:bodyPr/>
        <a:lstStyle/>
        <a:p>
          <a:r>
            <a:rPr lang="zh-CN" altLang="en-US"/>
            <a:t>事件概率</a:t>
          </a:r>
          <a:endParaRPr lang="zh-CN" altLang="en-US" dirty="0"/>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dgm:t>
        <a:bodyPr/>
        <a:lstStyle/>
        <a:p>
          <a:r>
            <a:rPr lang="zh-CN" altLang="en-US" sz="2000" baseline="0" dirty="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dgm:t>
        <a:bodyPr/>
        <a:lstStyle/>
        <a:p>
          <a:r>
            <a:rPr lang="zh-CN" sz="2000" baseline="0" dirty="0">
              <a:latin typeface="Montserrat" panose="00000500000000000000" pitchFamily="2" charset="0"/>
              <a:ea typeface="微软雅黑 Light" panose="020B0502040204020203" pitchFamily="34" charset="-122"/>
            </a:rPr>
            <a:t>工料合同</a:t>
          </a:r>
          <a:r>
            <a:rPr lang="en-US" sz="2000" baseline="0" dirty="0">
              <a:latin typeface="Montserrat" panose="00000500000000000000" pitchFamily="2" charset="0"/>
              <a:ea typeface="微软雅黑 Light" panose="020B0502040204020203" pitchFamily="34" charset="-122"/>
            </a:rPr>
            <a:t> (T&amp;M)</a:t>
          </a:r>
          <a:endParaRPr lang="zh-CN" altLang="en-US" sz="2000" baseline="0" dirty="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dgm:t>
        <a:bodyPr/>
        <a:lstStyle/>
        <a:p>
          <a:r>
            <a:rPr lang="zh-CN" altLang="en-US" sz="2000" baseline="0">
              <a:latin typeface="Montserrat" panose="00000500000000000000" pitchFamily="2" charset="0"/>
              <a:ea typeface="微软雅黑 Light" panose="020B0502040204020203" pitchFamily="34" charset="-122"/>
            </a:rPr>
            <a:t>成本补偿合同</a:t>
          </a:r>
          <a:endParaRPr lang="zh-CN" altLang="en-US" sz="2000" baseline="0" dirty="0">
            <a:latin typeface="Montserrat" panose="00000500000000000000" pitchFamily="2" charset="0"/>
            <a:ea typeface="微软雅黑 Light" panose="020B0502040204020203" pitchFamily="34" charset="-122"/>
          </a:endParaRP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dgm:t>
        <a:bodyPr/>
        <a:lstStyle/>
        <a:p>
          <a:r>
            <a:rPr lang="zh-CN" altLang="en-US" dirty="0"/>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dgm:t>
        <a:bodyPr/>
        <a:lstStyle/>
        <a:p>
          <a:r>
            <a:rPr lang="zh-CN" altLang="en-US" dirty="0"/>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dgm:t>
        <a:bodyPr/>
        <a:lstStyle/>
        <a:p>
          <a:r>
            <a:rPr lang="zh-CN" altLang="en-US" dirty="0"/>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dgm:t>
        <a:bodyPr/>
        <a:lstStyle/>
        <a:p>
          <a:r>
            <a:rPr lang="zh-CN" altLang="en-US" dirty="0"/>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C8AA7D-EF4E-4DA8-9550-E2EA63F97D35}">
      <dsp:nvSpPr>
        <dsp:cNvPr id="0" name=""/>
        <dsp:cNvSpPr/>
      </dsp:nvSpPr>
      <dsp:spPr>
        <a:xfrm>
          <a:off x="-5342809" y="-818195"/>
          <a:ext cx="6361948" cy="6361948"/>
        </a:xfrm>
        <a:prstGeom prst="blockArc">
          <a:avLst>
            <a:gd name="adj1" fmla="val 18900000"/>
            <a:gd name="adj2" fmla="val 2700000"/>
            <a:gd name="adj3" fmla="val 340"/>
          </a:avLst>
        </a:pr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79D66B1-924F-4156-A795-F5AD9EBCE56B}">
      <dsp:nvSpPr>
        <dsp:cNvPr id="0" name=""/>
        <dsp:cNvSpPr/>
      </dsp:nvSpPr>
      <dsp:spPr>
        <a:xfrm>
          <a:off x="379984" y="248847"/>
          <a:ext cx="5698723" cy="497506"/>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目标性 </a:t>
          </a:r>
          <a:r>
            <a:rPr lang="en-US" altLang="zh-CN" sz="1600" kern="1200" dirty="0">
              <a:latin typeface="微软雅黑 Light" panose="020B0502040204020203" pitchFamily="34" charset="-122"/>
              <a:ea typeface="微软雅黑 Light" panose="020B0502040204020203" pitchFamily="34" charset="-122"/>
            </a:rPr>
            <a:t>Target</a:t>
          </a:r>
          <a:endParaRPr lang="zh-CN" altLang="en-US" sz="1600" kern="1200" dirty="0"/>
        </a:p>
      </dsp:txBody>
      <dsp:txXfrm>
        <a:off x="379984" y="248847"/>
        <a:ext cx="5698723" cy="497506"/>
      </dsp:txXfrm>
    </dsp:sp>
    <dsp:sp modelId="{A5D8DC03-AC76-4F8B-9095-82230B702966}">
      <dsp:nvSpPr>
        <dsp:cNvPr id="0" name=""/>
        <dsp:cNvSpPr/>
      </dsp:nvSpPr>
      <dsp:spPr>
        <a:xfrm>
          <a:off x="69043" y="186659"/>
          <a:ext cx="621883" cy="621883"/>
        </a:xfrm>
        <a:prstGeom prst="ellipse">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D79543D-0D4F-4D1C-9E04-9B163A8C7FF2}">
      <dsp:nvSpPr>
        <dsp:cNvPr id="0" name=""/>
        <dsp:cNvSpPr/>
      </dsp:nvSpPr>
      <dsp:spPr>
        <a:xfrm>
          <a:off x="789218" y="995013"/>
          <a:ext cx="5289490" cy="497506"/>
        </a:xfrm>
        <a:prstGeom prst="rect">
          <a:avLst/>
        </a:prstGeom>
        <a:solidFill>
          <a:schemeClr val="accent5">
            <a:hueOff val="-1351709"/>
            <a:satOff val="-3484"/>
            <a:lumOff val="-2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相关性 </a:t>
          </a:r>
          <a:r>
            <a:rPr lang="en-US" altLang="zh-CN" sz="1600" kern="1200" dirty="0">
              <a:latin typeface="微软雅黑 Light" panose="020B0502040204020203" pitchFamily="34" charset="-122"/>
              <a:ea typeface="微软雅黑 Light" panose="020B0502040204020203" pitchFamily="34" charset="-122"/>
            </a:rPr>
            <a:t>Relevant</a:t>
          </a:r>
          <a:endParaRPr lang="zh-CN" altLang="en-US" sz="1600" kern="1200" dirty="0"/>
        </a:p>
      </dsp:txBody>
      <dsp:txXfrm>
        <a:off x="789218" y="995013"/>
        <a:ext cx="5289490" cy="497506"/>
      </dsp:txXfrm>
    </dsp:sp>
    <dsp:sp modelId="{A694E9F5-D20F-4CE0-AAEF-A8AF7BCB9440}">
      <dsp:nvSpPr>
        <dsp:cNvPr id="0" name=""/>
        <dsp:cNvSpPr/>
      </dsp:nvSpPr>
      <dsp:spPr>
        <a:xfrm>
          <a:off x="478276" y="932824"/>
          <a:ext cx="621883" cy="621883"/>
        </a:xfrm>
        <a:prstGeom prst="ellipse">
          <a:avLst/>
        </a:prstGeom>
        <a:solidFill>
          <a:schemeClr val="lt1">
            <a:hueOff val="0"/>
            <a:satOff val="0"/>
            <a:lumOff val="0"/>
            <a:alphaOff val="0"/>
          </a:schemeClr>
        </a:solidFill>
        <a:ln w="12700" cap="flat" cmpd="sng" algn="ctr">
          <a:solidFill>
            <a:schemeClr val="accent5">
              <a:hueOff val="-1351709"/>
              <a:satOff val="-3484"/>
              <a:lumOff val="-2353"/>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B95563-7B5B-4225-831A-29E1EEB39012}">
      <dsp:nvSpPr>
        <dsp:cNvPr id="0" name=""/>
        <dsp:cNvSpPr/>
      </dsp:nvSpPr>
      <dsp:spPr>
        <a:xfrm>
          <a:off x="976350" y="1741178"/>
          <a:ext cx="5102358" cy="497506"/>
        </a:xfrm>
        <a:prstGeom prst="rect">
          <a:avLst/>
        </a:prstGeom>
        <a:solidFill>
          <a:schemeClr val="accent5">
            <a:hueOff val="-2703417"/>
            <a:satOff val="-6968"/>
            <a:lumOff val="-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临时性 </a:t>
          </a:r>
          <a:r>
            <a:rPr lang="en-US" altLang="zh-CN" sz="1600" kern="1200" dirty="0">
              <a:latin typeface="微软雅黑 Light" panose="020B0502040204020203" pitchFamily="34" charset="-122"/>
              <a:ea typeface="微软雅黑 Light" panose="020B0502040204020203" pitchFamily="34" charset="-122"/>
            </a:rPr>
            <a:t>Temporary</a:t>
          </a:r>
          <a:endParaRPr lang="zh-CN" altLang="en-US" sz="1600" kern="1200" dirty="0"/>
        </a:p>
      </dsp:txBody>
      <dsp:txXfrm>
        <a:off x="976350" y="1741178"/>
        <a:ext cx="5102358" cy="497506"/>
      </dsp:txXfrm>
    </dsp:sp>
    <dsp:sp modelId="{206E9F62-904C-4E09-965F-8F6A1D50CE99}">
      <dsp:nvSpPr>
        <dsp:cNvPr id="0" name=""/>
        <dsp:cNvSpPr/>
      </dsp:nvSpPr>
      <dsp:spPr>
        <a:xfrm>
          <a:off x="665408" y="1678990"/>
          <a:ext cx="621883" cy="621883"/>
        </a:xfrm>
        <a:prstGeom prst="ellipse">
          <a:avLst/>
        </a:prstGeom>
        <a:solidFill>
          <a:schemeClr val="lt1">
            <a:hueOff val="0"/>
            <a:satOff val="0"/>
            <a:lumOff val="0"/>
            <a:alphaOff val="0"/>
          </a:schemeClr>
        </a:solidFill>
        <a:ln w="12700" cap="flat" cmpd="sng" algn="ctr">
          <a:solidFill>
            <a:schemeClr val="accent5">
              <a:hueOff val="-2703417"/>
              <a:satOff val="-6968"/>
              <a:lumOff val="-4706"/>
              <a:alphaOff val="0"/>
            </a:schemeClr>
          </a:solidFill>
          <a:prstDash val="solid"/>
          <a:miter lim="800000"/>
        </a:ln>
        <a:effectLst/>
      </dsp:spPr>
      <dsp:style>
        <a:lnRef idx="2">
          <a:scrgbClr r="0" g="0" b="0"/>
        </a:lnRef>
        <a:fillRef idx="1">
          <a:scrgbClr r="0" g="0" b="0"/>
        </a:fillRef>
        <a:effectRef idx="0">
          <a:scrgbClr r="0" g="0" b="0"/>
        </a:effectRef>
        <a:fontRef idx="minor"/>
      </dsp:style>
    </dsp:sp>
    <dsp:sp modelId="{6361ADEE-DDC8-4B92-A22E-8B90489C3496}">
      <dsp:nvSpPr>
        <dsp:cNvPr id="0" name=""/>
        <dsp:cNvSpPr/>
      </dsp:nvSpPr>
      <dsp:spPr>
        <a:xfrm>
          <a:off x="976350" y="2486871"/>
          <a:ext cx="5102358" cy="497506"/>
        </a:xfrm>
        <a:prstGeom prst="rect">
          <a:avLst/>
        </a:prstGeom>
        <a:solidFill>
          <a:schemeClr val="accent5">
            <a:hueOff val="-4055126"/>
            <a:satOff val="-10451"/>
            <a:lumOff val="-705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独特性 </a:t>
          </a:r>
          <a:r>
            <a:rPr lang="en-US" altLang="zh-CN" sz="1600" kern="1200" dirty="0">
              <a:latin typeface="微软雅黑 Light" panose="020B0502040204020203" pitchFamily="34" charset="-122"/>
              <a:ea typeface="微软雅黑 Light" panose="020B0502040204020203" pitchFamily="34" charset="-122"/>
            </a:rPr>
            <a:t>Unique</a:t>
          </a:r>
          <a:endParaRPr lang="zh-CN" altLang="en-US" sz="1600" kern="1200" dirty="0">
            <a:latin typeface="黑体" panose="02010609060101010101" pitchFamily="49" charset="-122"/>
            <a:ea typeface="黑体" panose="02010609060101010101" pitchFamily="49" charset="-122"/>
          </a:endParaRPr>
        </a:p>
      </dsp:txBody>
      <dsp:txXfrm>
        <a:off x="976350" y="2486871"/>
        <a:ext cx="5102358" cy="497506"/>
      </dsp:txXfrm>
    </dsp:sp>
    <dsp:sp modelId="{2701C0E2-42F7-4EF8-915B-95DB5DB722B2}">
      <dsp:nvSpPr>
        <dsp:cNvPr id="0" name=""/>
        <dsp:cNvSpPr/>
      </dsp:nvSpPr>
      <dsp:spPr>
        <a:xfrm>
          <a:off x="665408" y="2424683"/>
          <a:ext cx="621883" cy="621883"/>
        </a:xfrm>
        <a:prstGeom prst="ellipse">
          <a:avLst/>
        </a:prstGeom>
        <a:solidFill>
          <a:schemeClr val="lt1">
            <a:hueOff val="0"/>
            <a:satOff val="0"/>
            <a:lumOff val="0"/>
            <a:alphaOff val="0"/>
          </a:schemeClr>
        </a:solidFill>
        <a:ln w="12700" cap="flat" cmpd="sng" algn="ctr">
          <a:solidFill>
            <a:schemeClr val="accent5">
              <a:hueOff val="-4055126"/>
              <a:satOff val="-10451"/>
              <a:lumOff val="-7059"/>
              <a:alphaOff val="0"/>
            </a:schemeClr>
          </a:solidFill>
          <a:prstDash val="solid"/>
          <a:miter lim="800000"/>
        </a:ln>
        <a:effectLst/>
      </dsp:spPr>
      <dsp:style>
        <a:lnRef idx="2">
          <a:scrgbClr r="0" g="0" b="0"/>
        </a:lnRef>
        <a:fillRef idx="1">
          <a:scrgbClr r="0" g="0" b="0"/>
        </a:fillRef>
        <a:effectRef idx="0">
          <a:scrgbClr r="0" g="0" b="0"/>
        </a:effectRef>
        <a:fontRef idx="minor"/>
      </dsp:style>
    </dsp:sp>
    <dsp:sp modelId="{BD20C5DB-CD08-4AEF-87F2-098846C6D817}">
      <dsp:nvSpPr>
        <dsp:cNvPr id="0" name=""/>
        <dsp:cNvSpPr/>
      </dsp:nvSpPr>
      <dsp:spPr>
        <a:xfrm>
          <a:off x="789218" y="3233037"/>
          <a:ext cx="5289490" cy="497506"/>
        </a:xfrm>
        <a:prstGeom prst="rect">
          <a:avLst/>
        </a:prstGeom>
        <a:solidFill>
          <a:schemeClr val="accent5">
            <a:hueOff val="-5406834"/>
            <a:satOff val="-13935"/>
            <a:lumOff val="-941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资源约束性 </a:t>
          </a:r>
          <a:r>
            <a:rPr lang="en-US" altLang="zh-CN" sz="1600" kern="1200" dirty="0">
              <a:latin typeface="微软雅黑 Light" panose="020B0502040204020203" pitchFamily="34" charset="-122"/>
              <a:ea typeface="微软雅黑 Light" panose="020B0502040204020203" pitchFamily="34" charset="-122"/>
            </a:rPr>
            <a:t>Constrain</a:t>
          </a:r>
          <a:endParaRPr lang="zh-CN" altLang="en-US" sz="1600" kern="1200" dirty="0">
            <a:latin typeface="黑体" panose="02010609060101010101" pitchFamily="49" charset="-122"/>
            <a:ea typeface="黑体" panose="02010609060101010101" pitchFamily="49" charset="-122"/>
          </a:endParaRPr>
        </a:p>
      </dsp:txBody>
      <dsp:txXfrm>
        <a:off x="789218" y="3233037"/>
        <a:ext cx="5289490" cy="497506"/>
      </dsp:txXfrm>
    </dsp:sp>
    <dsp:sp modelId="{B0C54EBB-8ADF-4962-BF7D-1A4063195482}">
      <dsp:nvSpPr>
        <dsp:cNvPr id="0" name=""/>
        <dsp:cNvSpPr/>
      </dsp:nvSpPr>
      <dsp:spPr>
        <a:xfrm>
          <a:off x="478276" y="3170848"/>
          <a:ext cx="621883" cy="621883"/>
        </a:xfrm>
        <a:prstGeom prst="ellipse">
          <a:avLst/>
        </a:prstGeom>
        <a:solidFill>
          <a:schemeClr val="lt1">
            <a:hueOff val="0"/>
            <a:satOff val="0"/>
            <a:lumOff val="0"/>
            <a:alphaOff val="0"/>
          </a:schemeClr>
        </a:solidFill>
        <a:ln w="12700" cap="flat" cmpd="sng" algn="ctr">
          <a:solidFill>
            <a:schemeClr val="accent5">
              <a:hueOff val="-5406834"/>
              <a:satOff val="-13935"/>
              <a:lumOff val="-9412"/>
              <a:alphaOff val="0"/>
            </a:schemeClr>
          </a:solidFill>
          <a:prstDash val="solid"/>
          <a:miter lim="800000"/>
        </a:ln>
        <a:effectLst/>
      </dsp:spPr>
      <dsp:style>
        <a:lnRef idx="2">
          <a:scrgbClr r="0" g="0" b="0"/>
        </a:lnRef>
        <a:fillRef idx="1">
          <a:scrgbClr r="0" g="0" b="0"/>
        </a:fillRef>
        <a:effectRef idx="0">
          <a:scrgbClr r="0" g="0" b="0"/>
        </a:effectRef>
        <a:fontRef idx="minor"/>
      </dsp:style>
    </dsp:sp>
    <dsp:sp modelId="{126B5754-9BAB-4335-8048-CAA059B4AA0E}">
      <dsp:nvSpPr>
        <dsp:cNvPr id="0" name=""/>
        <dsp:cNvSpPr/>
      </dsp:nvSpPr>
      <dsp:spPr>
        <a:xfrm>
          <a:off x="379984" y="3979202"/>
          <a:ext cx="5698723" cy="497506"/>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不确定性 </a:t>
          </a:r>
          <a:r>
            <a:rPr lang="en-US" altLang="zh-CN" sz="1600" kern="1200" dirty="0">
              <a:latin typeface="微软雅黑 Light" panose="020B0502040204020203" pitchFamily="34" charset="-122"/>
              <a:ea typeface="微软雅黑 Light" panose="020B0502040204020203" pitchFamily="34" charset="-122"/>
            </a:rPr>
            <a:t>Uncertainty</a:t>
          </a:r>
          <a:endParaRPr lang="zh-CN" altLang="en-US" sz="1600" kern="1200" dirty="0">
            <a:latin typeface="黑体" pitchFamily="49" charset="-122"/>
            <a:ea typeface="黑体" pitchFamily="49" charset="-122"/>
          </a:endParaRPr>
        </a:p>
      </dsp:txBody>
      <dsp:txXfrm>
        <a:off x="379984" y="3979202"/>
        <a:ext cx="5698723" cy="497506"/>
      </dsp:txXfrm>
    </dsp:sp>
    <dsp:sp modelId="{C2EDE2D4-FAE3-405D-AAC7-232D5860DC6B}">
      <dsp:nvSpPr>
        <dsp:cNvPr id="0" name=""/>
        <dsp:cNvSpPr/>
      </dsp:nvSpPr>
      <dsp:spPr>
        <a:xfrm>
          <a:off x="69043" y="3917014"/>
          <a:ext cx="621883" cy="621883"/>
        </a:xfrm>
        <a:prstGeom prst="ellipse">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时间</a:t>
          </a:r>
          <a:endParaRPr lang="en-US" altLang="zh-CN" sz="2200" kern="1200" dirty="0"/>
        </a:p>
        <a:p>
          <a:pPr marL="0" lvl="0" indent="0" algn="ctr" defTabSz="977900">
            <a:lnSpc>
              <a:spcPct val="100000"/>
            </a:lnSpc>
            <a:spcBef>
              <a:spcPct val="0"/>
            </a:spcBef>
            <a:spcAft>
              <a:spcPts val="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成本</a:t>
          </a:r>
          <a:endParaRPr lang="en-US" altLang="zh-CN" sz="2200" kern="1200" dirty="0"/>
        </a:p>
        <a:p>
          <a:pPr marL="0" lvl="0" indent="0" algn="ctr" defTabSz="977900">
            <a:lnSpc>
              <a:spcPct val="100000"/>
            </a:lnSpc>
            <a:spcBef>
              <a:spcPct val="0"/>
            </a:spcBef>
            <a:spcAft>
              <a:spcPts val="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C8E036-C2EE-4600-A051-491B681C8C8D}">
      <dsp:nvSpPr>
        <dsp:cNvPr id="0" name=""/>
        <dsp:cNvSpPr/>
      </dsp:nvSpPr>
      <dsp:spPr>
        <a:xfrm>
          <a:off x="4633912" y="1789112"/>
          <a:ext cx="1533525" cy="1533525"/>
        </a:xfrm>
        <a:prstGeom prst="roundRect">
          <a:avLst/>
        </a:prstGeom>
        <a:solidFill>
          <a:schemeClr val="accent2">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为什么需要敏捷</a:t>
          </a:r>
        </a:p>
      </dsp:txBody>
      <dsp:txXfrm>
        <a:off x="4708773" y="1863973"/>
        <a:ext cx="1383803" cy="1383803"/>
      </dsp:txXfrm>
    </dsp:sp>
    <dsp:sp modelId="{2E08CFCD-6332-40E2-A17E-084ED5E59966}">
      <dsp:nvSpPr>
        <dsp:cNvPr id="0" name=""/>
        <dsp:cNvSpPr/>
      </dsp:nvSpPr>
      <dsp:spPr>
        <a:xfrm rot="16200000">
          <a:off x="5020069" y="1408506"/>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A285A515-1A1B-44A4-867B-3B42E36AD233}">
      <dsp:nvSpPr>
        <dsp:cNvPr id="0" name=""/>
        <dsp:cNvSpPr/>
      </dsp:nvSpPr>
      <dsp:spPr>
        <a:xfrm>
          <a:off x="4886944" y="439"/>
          <a:ext cx="1027461" cy="1027461"/>
        </a:xfrm>
        <a:prstGeom prst="roundRect">
          <a:avLst/>
        </a:prstGeom>
        <a:solidFill>
          <a:schemeClr val="accent3">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更加灵活</a:t>
          </a:r>
        </a:p>
      </dsp:txBody>
      <dsp:txXfrm>
        <a:off x="4937101" y="50596"/>
        <a:ext cx="927147" cy="927147"/>
      </dsp:txXfrm>
    </dsp:sp>
    <dsp:sp modelId="{98E87A3E-8EDA-4E31-A58E-16C5DE7484A6}">
      <dsp:nvSpPr>
        <dsp:cNvPr id="0" name=""/>
        <dsp:cNvSpPr/>
      </dsp:nvSpPr>
      <dsp:spPr>
        <a:xfrm>
          <a:off x="6167437" y="2555874"/>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103858DB-0D8A-4A94-A8ED-8B7CB632D64B}">
      <dsp:nvSpPr>
        <dsp:cNvPr id="0" name=""/>
        <dsp:cNvSpPr/>
      </dsp:nvSpPr>
      <dsp:spPr>
        <a:xfrm>
          <a:off x="6928648" y="2042144"/>
          <a:ext cx="1027461" cy="1027461"/>
        </a:xfrm>
        <a:prstGeom prst="roundRect">
          <a:avLst/>
        </a:prstGeom>
        <a:solidFill>
          <a:schemeClr val="accent4">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快速交付</a:t>
          </a:r>
        </a:p>
      </dsp:txBody>
      <dsp:txXfrm>
        <a:off x="6978805" y="2092301"/>
        <a:ext cx="927147" cy="927147"/>
      </dsp:txXfrm>
    </dsp:sp>
    <dsp:sp modelId="{5A634463-5CA1-45DE-9DC2-51CE4525DE68}">
      <dsp:nvSpPr>
        <dsp:cNvPr id="0" name=""/>
        <dsp:cNvSpPr/>
      </dsp:nvSpPr>
      <dsp:spPr>
        <a:xfrm rot="5400000">
          <a:off x="5020069" y="3703243"/>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E5D4D3A5-5361-4E22-BE21-44F88B118BAD}">
      <dsp:nvSpPr>
        <dsp:cNvPr id="0" name=""/>
        <dsp:cNvSpPr/>
      </dsp:nvSpPr>
      <dsp:spPr>
        <a:xfrm>
          <a:off x="4886944" y="4083848"/>
          <a:ext cx="1027461" cy="1027461"/>
        </a:xfrm>
        <a:prstGeom prst="roundRect">
          <a:avLst/>
        </a:prstGeom>
        <a:solidFill>
          <a:schemeClr val="accent5">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持续改进</a:t>
          </a:r>
        </a:p>
      </dsp:txBody>
      <dsp:txXfrm>
        <a:off x="4937101" y="4134005"/>
        <a:ext cx="927147" cy="927147"/>
      </dsp:txXfrm>
    </dsp:sp>
    <dsp:sp modelId="{6917A371-A8D4-46BF-B362-B6BAC5B093F8}">
      <dsp:nvSpPr>
        <dsp:cNvPr id="0" name=""/>
        <dsp:cNvSpPr/>
      </dsp:nvSpPr>
      <dsp:spPr>
        <a:xfrm rot="10800000">
          <a:off x="3872701" y="2555874"/>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F15E34B5-BCBC-4EE4-9EED-6AB235023B27}">
      <dsp:nvSpPr>
        <dsp:cNvPr id="0" name=""/>
        <dsp:cNvSpPr/>
      </dsp:nvSpPr>
      <dsp:spPr>
        <a:xfrm>
          <a:off x="2845239" y="2042144"/>
          <a:ext cx="1027461" cy="1027461"/>
        </a:xfrm>
        <a:prstGeom prst="roundRect">
          <a:avLst/>
        </a:prstGeom>
        <a:solidFill>
          <a:schemeClr val="accent6">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更低风险</a:t>
          </a:r>
        </a:p>
      </dsp:txBody>
      <dsp:txXfrm>
        <a:off x="2895396" y="2092301"/>
        <a:ext cx="927147" cy="92714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ADCE9A-F623-4A8D-9AE7-8DD25E7A76D8}">
      <dsp:nvSpPr>
        <dsp:cNvPr id="0" name=""/>
        <dsp:cNvSpPr/>
      </dsp:nvSpPr>
      <dsp:spPr>
        <a:xfrm>
          <a:off x="2637" y="2194430"/>
          <a:ext cx="2346973" cy="938789"/>
        </a:xfrm>
        <a:prstGeom prst="chevron">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项目建议</a:t>
          </a:r>
        </a:p>
      </dsp:txBody>
      <dsp:txXfrm>
        <a:off x="472032" y="2194430"/>
        <a:ext cx="1408184" cy="938789"/>
      </dsp:txXfrm>
    </dsp:sp>
    <dsp:sp modelId="{7A3D29DB-D217-4EDB-96A3-52B1BB0C6283}">
      <dsp:nvSpPr>
        <dsp:cNvPr id="0" name=""/>
        <dsp:cNvSpPr/>
      </dsp:nvSpPr>
      <dsp:spPr>
        <a:xfrm>
          <a:off x="2114912" y="2194430"/>
          <a:ext cx="2346973" cy="938789"/>
        </a:xfrm>
        <a:prstGeom prst="chevron">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项目可行性分析</a:t>
          </a:r>
        </a:p>
      </dsp:txBody>
      <dsp:txXfrm>
        <a:off x="2584307" y="2194430"/>
        <a:ext cx="1408184" cy="938789"/>
      </dsp:txXfrm>
    </dsp:sp>
    <dsp:sp modelId="{4B334B34-EF96-49E0-B66E-133BD48100CA}">
      <dsp:nvSpPr>
        <dsp:cNvPr id="0" name=""/>
        <dsp:cNvSpPr/>
      </dsp:nvSpPr>
      <dsp:spPr>
        <a:xfrm>
          <a:off x="4227188" y="2194430"/>
          <a:ext cx="2346973" cy="938789"/>
        </a:xfrm>
        <a:prstGeom prst="chevron">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项目审批</a:t>
          </a:r>
        </a:p>
      </dsp:txBody>
      <dsp:txXfrm>
        <a:off x="4696583" y="2194430"/>
        <a:ext cx="1408184" cy="938789"/>
      </dsp:txXfrm>
    </dsp:sp>
    <dsp:sp modelId="{5BAD45FD-29D7-48E3-8439-87C6F2A3A98B}">
      <dsp:nvSpPr>
        <dsp:cNvPr id="0" name=""/>
        <dsp:cNvSpPr/>
      </dsp:nvSpPr>
      <dsp:spPr>
        <a:xfrm>
          <a:off x="6339464" y="2194430"/>
          <a:ext cx="2346973" cy="938789"/>
        </a:xfrm>
        <a:prstGeom prst="chevron">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项目招投标</a:t>
          </a:r>
        </a:p>
      </dsp:txBody>
      <dsp:txXfrm>
        <a:off x="6808859" y="2194430"/>
        <a:ext cx="1408184" cy="938789"/>
      </dsp:txXfrm>
    </dsp:sp>
    <dsp:sp modelId="{C1A69100-C77D-4BF6-A329-8693DB5210CB}">
      <dsp:nvSpPr>
        <dsp:cNvPr id="0" name=""/>
        <dsp:cNvSpPr/>
      </dsp:nvSpPr>
      <dsp:spPr>
        <a:xfrm>
          <a:off x="8451739" y="2194430"/>
          <a:ext cx="2346973" cy="938789"/>
        </a:xfrm>
        <a:prstGeom prst="chevron">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项目合同谈判和签到</a:t>
          </a:r>
        </a:p>
      </dsp:txBody>
      <dsp:txXfrm>
        <a:off x="8921134" y="2194430"/>
        <a:ext cx="1408184" cy="9387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9" y="1205152"/>
          <a:ext cx="1080001" cy="1080001"/>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zh-CN" altLang="en-US" sz="1600" kern="1200" dirty="0"/>
            <a:t>价值观</a:t>
          </a:r>
          <a:endParaRPr lang="en-US" altLang="zh-CN" sz="1600" kern="1200" dirty="0"/>
        </a:p>
        <a:p>
          <a:pPr marL="0" lvl="0" indent="0" algn="ctr" defTabSz="711200">
            <a:lnSpc>
              <a:spcPct val="100000"/>
            </a:lnSpc>
            <a:spcBef>
              <a:spcPct val="0"/>
            </a:spcBef>
            <a:spcAft>
              <a:spcPts val="0"/>
            </a:spcAft>
            <a:buNone/>
          </a:pPr>
          <a:r>
            <a:rPr lang="en-US" altLang="zh-CN" sz="1600" kern="1200" dirty="0"/>
            <a:t>Values</a:t>
          </a:r>
          <a:endParaRPr lang="zh-CN" altLang="en-US" sz="1600" kern="1200" dirty="0"/>
        </a:p>
      </dsp:txBody>
      <dsp:txXfrm>
        <a:off x="1778161" y="1363314"/>
        <a:ext cx="763677" cy="763677"/>
      </dsp:txXfrm>
    </dsp:sp>
    <dsp:sp modelId="{2697905C-40A9-4D8E-AE89-88ADE6C34F0A}">
      <dsp:nvSpPr>
        <dsp:cNvPr id="0" name=""/>
        <dsp:cNvSpPr/>
      </dsp:nvSpPr>
      <dsp:spPr>
        <a:xfrm rot="16200000">
          <a:off x="2029012" y="1054130"/>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53450" y="1067615"/>
        <a:ext cx="13098" cy="13098"/>
      </dsp:txXfrm>
    </dsp:sp>
    <dsp:sp modelId="{A768ED12-DF85-403F-B898-D6729C70787D}">
      <dsp:nvSpPr>
        <dsp:cNvPr id="0" name=""/>
        <dsp:cNvSpPr/>
      </dsp:nvSpPr>
      <dsp:spPr>
        <a:xfrm>
          <a:off x="1709998" y="43174"/>
          <a:ext cx="900002" cy="900002"/>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承诺</a:t>
          </a:r>
        </a:p>
      </dsp:txBody>
      <dsp:txXfrm>
        <a:off x="1841800" y="174976"/>
        <a:ext cx="636398" cy="636398"/>
      </dsp:txXfrm>
    </dsp:sp>
    <dsp:sp modelId="{B58731E0-DBD1-435A-ADD7-B425A898B445}">
      <dsp:nvSpPr>
        <dsp:cNvPr id="0" name=""/>
        <dsp:cNvSpPr/>
      </dsp:nvSpPr>
      <dsp:spPr>
        <a:xfrm rot="20520000">
          <a:off x="2667160"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791598" y="1531257"/>
        <a:ext cx="13098" cy="13098"/>
      </dsp:txXfrm>
    </dsp:sp>
    <dsp:sp modelId="{A3CECE51-0A63-4775-BBDE-4FA68841EC20}">
      <dsp:nvSpPr>
        <dsp:cNvPr id="0" name=""/>
        <dsp:cNvSpPr/>
      </dsp:nvSpPr>
      <dsp:spPr>
        <a:xfrm>
          <a:off x="2900699" y="908269"/>
          <a:ext cx="900002" cy="900002"/>
        </a:xfrm>
        <a:prstGeom prst="ellips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专注</a:t>
          </a:r>
        </a:p>
      </dsp:txBody>
      <dsp:txXfrm>
        <a:off x="3032501" y="1040071"/>
        <a:ext cx="636398" cy="636398"/>
      </dsp:txXfrm>
    </dsp:sp>
    <dsp:sp modelId="{C763681C-8D89-4BC9-887B-1CD1363C9AA1}">
      <dsp:nvSpPr>
        <dsp:cNvPr id="0" name=""/>
        <dsp:cNvSpPr/>
      </dsp:nvSpPr>
      <dsp:spPr>
        <a:xfrm rot="3240000">
          <a:off x="2423409"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547847" y="2281444"/>
        <a:ext cx="13098" cy="13098"/>
      </dsp:txXfrm>
    </dsp:sp>
    <dsp:sp modelId="{7C396246-E3D5-44E8-B402-F252989E77DB}">
      <dsp:nvSpPr>
        <dsp:cNvPr id="0" name=""/>
        <dsp:cNvSpPr/>
      </dsp:nvSpPr>
      <dsp:spPr>
        <a:xfrm>
          <a:off x="2445891" y="2308022"/>
          <a:ext cx="900002" cy="900002"/>
        </a:xfrm>
        <a:prstGeom prst="ellips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开放</a:t>
          </a:r>
        </a:p>
      </dsp:txBody>
      <dsp:txXfrm>
        <a:off x="2577693" y="2439824"/>
        <a:ext cx="636398" cy="636398"/>
      </dsp:txXfrm>
    </dsp:sp>
    <dsp:sp modelId="{979B44D0-1574-46A1-BD25-F046F787F5A7}">
      <dsp:nvSpPr>
        <dsp:cNvPr id="0" name=""/>
        <dsp:cNvSpPr/>
      </dsp:nvSpPr>
      <dsp:spPr>
        <a:xfrm rot="7560000">
          <a:off x="1634615"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759053" y="2281444"/>
        <a:ext cx="13098" cy="13098"/>
      </dsp:txXfrm>
    </dsp:sp>
    <dsp:sp modelId="{E45FD601-8F42-45A7-A248-D87DB5F9943A}">
      <dsp:nvSpPr>
        <dsp:cNvPr id="0" name=""/>
        <dsp:cNvSpPr/>
      </dsp:nvSpPr>
      <dsp:spPr>
        <a:xfrm>
          <a:off x="974105" y="2308022"/>
          <a:ext cx="900002" cy="900002"/>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尊重</a:t>
          </a:r>
        </a:p>
      </dsp:txBody>
      <dsp:txXfrm>
        <a:off x="1105907" y="2439824"/>
        <a:ext cx="636398" cy="636398"/>
      </dsp:txXfrm>
    </dsp:sp>
    <dsp:sp modelId="{B74C3A2B-0533-446F-AE56-FFBBBC35155B}">
      <dsp:nvSpPr>
        <dsp:cNvPr id="0" name=""/>
        <dsp:cNvSpPr/>
      </dsp:nvSpPr>
      <dsp:spPr>
        <a:xfrm rot="11880000">
          <a:off x="1390865"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515303" y="1531257"/>
        <a:ext cx="13098" cy="13098"/>
      </dsp:txXfrm>
    </dsp:sp>
    <dsp:sp modelId="{0ECE6D9B-1A91-4A29-82E7-FADB2EE4F6DC}">
      <dsp:nvSpPr>
        <dsp:cNvPr id="0" name=""/>
        <dsp:cNvSpPr/>
      </dsp:nvSpPr>
      <dsp:spPr>
        <a:xfrm>
          <a:off x="519297" y="908269"/>
          <a:ext cx="900002" cy="900002"/>
        </a:xfrm>
        <a:prstGeom prst="ellipse">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勇气</a:t>
          </a:r>
        </a:p>
      </dsp:txBody>
      <dsp:txXfrm>
        <a:off x="651099" y="1040071"/>
        <a:ext cx="636398" cy="63639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7" y="1441185"/>
          <a:ext cx="1080004" cy="1080004"/>
        </a:xfrm>
        <a:prstGeom prst="ellipse">
          <a:avLst/>
        </a:prstGeom>
        <a:solidFill>
          <a:schemeClr val="accent2"/>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理念</a:t>
          </a:r>
        </a:p>
      </dsp:txBody>
      <dsp:txXfrm>
        <a:off x="1778160" y="1599348"/>
        <a:ext cx="763678" cy="763678"/>
      </dsp:txXfrm>
    </dsp:sp>
    <dsp:sp modelId="{2697905C-40A9-4D8E-AE89-88ADE6C34F0A}">
      <dsp:nvSpPr>
        <dsp:cNvPr id="0" name=""/>
        <dsp:cNvSpPr/>
      </dsp:nvSpPr>
      <dsp:spPr>
        <a:xfrm rot="16200000">
          <a:off x="1943827" y="1202252"/>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49191" y="1214204"/>
        <a:ext cx="21617" cy="21617"/>
      </dsp:txXfrm>
    </dsp:sp>
    <dsp:sp modelId="{A768ED12-DF85-403F-B898-D6729C70787D}">
      <dsp:nvSpPr>
        <dsp:cNvPr id="0" name=""/>
        <dsp:cNvSpPr/>
      </dsp:nvSpPr>
      <dsp:spPr>
        <a:xfrm>
          <a:off x="1709997" y="108834"/>
          <a:ext cx="900005" cy="900005"/>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透明</a:t>
          </a:r>
        </a:p>
      </dsp:txBody>
      <dsp:txXfrm>
        <a:off x="1841800" y="240637"/>
        <a:ext cx="636399" cy="636399"/>
      </dsp:txXfrm>
    </dsp:sp>
    <dsp:sp modelId="{B58731E0-DBD1-435A-ADD7-B425A898B445}">
      <dsp:nvSpPr>
        <dsp:cNvPr id="0" name=""/>
        <dsp:cNvSpPr/>
      </dsp:nvSpPr>
      <dsp:spPr>
        <a:xfrm rot="1800000">
          <a:off x="2598693"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804057" y="2348466"/>
        <a:ext cx="21617" cy="21617"/>
      </dsp:txXfrm>
    </dsp:sp>
    <dsp:sp modelId="{A3CECE51-0A63-4775-BBDE-4FA68841EC20}">
      <dsp:nvSpPr>
        <dsp:cNvPr id="0" name=""/>
        <dsp:cNvSpPr/>
      </dsp:nvSpPr>
      <dsp:spPr>
        <a:xfrm>
          <a:off x="2941788" y="2242359"/>
          <a:ext cx="900005" cy="900005"/>
        </a:xfrm>
        <a:prstGeom prst="ellipse">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监视</a:t>
          </a:r>
        </a:p>
      </dsp:txBody>
      <dsp:txXfrm>
        <a:off x="3073591" y="2374162"/>
        <a:ext cx="636399" cy="636399"/>
      </dsp:txXfrm>
    </dsp:sp>
    <dsp:sp modelId="{B74C3A2B-0533-446F-AE56-FFBBBC35155B}">
      <dsp:nvSpPr>
        <dsp:cNvPr id="0" name=""/>
        <dsp:cNvSpPr/>
      </dsp:nvSpPr>
      <dsp:spPr>
        <a:xfrm rot="9000000">
          <a:off x="1288960"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494324" y="2348466"/>
        <a:ext cx="21617" cy="21617"/>
      </dsp:txXfrm>
    </dsp:sp>
    <dsp:sp modelId="{0ECE6D9B-1A91-4A29-82E7-FADB2EE4F6DC}">
      <dsp:nvSpPr>
        <dsp:cNvPr id="0" name=""/>
        <dsp:cNvSpPr/>
      </dsp:nvSpPr>
      <dsp:spPr>
        <a:xfrm>
          <a:off x="478205" y="2242359"/>
          <a:ext cx="900005" cy="900005"/>
        </a:xfrm>
        <a:prstGeom prst="ellipse">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适应</a:t>
          </a:r>
        </a:p>
      </dsp:txBody>
      <dsp:txXfrm>
        <a:off x="610008" y="2374162"/>
        <a:ext cx="636399" cy="63639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C79863-28B7-4641-A9CA-CA81A5866EAD}">
      <dsp:nvSpPr>
        <dsp:cNvPr id="0" name=""/>
        <dsp:cNvSpPr/>
      </dsp:nvSpPr>
      <dsp:spPr>
        <a:xfrm>
          <a:off x="4320540" y="1779439"/>
          <a:ext cx="3056813" cy="530521"/>
        </a:xfrm>
        <a:custGeom>
          <a:avLst/>
          <a:gdLst/>
          <a:ahLst/>
          <a:cxnLst/>
          <a:rect l="0" t="0" r="0" b="0"/>
          <a:pathLst>
            <a:path>
              <a:moveTo>
                <a:pt x="0" y="0"/>
              </a:moveTo>
              <a:lnTo>
                <a:pt x="0" y="265260"/>
              </a:lnTo>
              <a:lnTo>
                <a:pt x="3056813" y="265260"/>
              </a:lnTo>
              <a:lnTo>
                <a:pt x="3056813"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91147C7-2FCD-4627-B9AE-9C0A7122E164}">
      <dsp:nvSpPr>
        <dsp:cNvPr id="0" name=""/>
        <dsp:cNvSpPr/>
      </dsp:nvSpPr>
      <dsp:spPr>
        <a:xfrm>
          <a:off x="4274820" y="1779439"/>
          <a:ext cx="91440" cy="530521"/>
        </a:xfrm>
        <a:custGeom>
          <a:avLst/>
          <a:gdLst/>
          <a:ahLst/>
          <a:cxnLst/>
          <a:rect l="0" t="0" r="0" b="0"/>
          <a:pathLst>
            <a:path>
              <a:moveTo>
                <a:pt x="45720" y="0"/>
              </a:moveTo>
              <a:lnTo>
                <a:pt x="4572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AD3EA0-D08B-44E0-90FF-941318A849A9}">
      <dsp:nvSpPr>
        <dsp:cNvPr id="0" name=""/>
        <dsp:cNvSpPr/>
      </dsp:nvSpPr>
      <dsp:spPr>
        <a:xfrm>
          <a:off x="1263726" y="1779439"/>
          <a:ext cx="3056813" cy="530521"/>
        </a:xfrm>
        <a:custGeom>
          <a:avLst/>
          <a:gdLst/>
          <a:ahLst/>
          <a:cxnLst/>
          <a:rect l="0" t="0" r="0" b="0"/>
          <a:pathLst>
            <a:path>
              <a:moveTo>
                <a:pt x="3056813" y="0"/>
              </a:moveTo>
              <a:lnTo>
                <a:pt x="3056813" y="265260"/>
              </a:lnTo>
              <a:lnTo>
                <a:pt x="0" y="265260"/>
              </a:lnTo>
              <a:lnTo>
                <a:pt x="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D9CCFF9-BD17-4D75-86B1-78E586639F4F}">
      <dsp:nvSpPr>
        <dsp:cNvPr id="0" name=""/>
        <dsp:cNvSpPr/>
      </dsp:nvSpPr>
      <dsp:spPr>
        <a:xfrm>
          <a:off x="3057393" y="879435"/>
          <a:ext cx="2526292" cy="900004"/>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Team</a:t>
          </a:r>
        </a:p>
        <a:p>
          <a:pPr marL="0" lvl="0" indent="0" algn="ctr" defTabSz="800100">
            <a:lnSpc>
              <a:spcPct val="100000"/>
            </a:lnSpc>
            <a:spcBef>
              <a:spcPct val="0"/>
            </a:spcBef>
            <a:spcAft>
              <a:spcPts val="0"/>
            </a:spcAft>
            <a:buNone/>
          </a:pPr>
          <a:r>
            <a:rPr lang="zh-CN" altLang="en-US" sz="1800" kern="1200" dirty="0"/>
            <a:t>团队</a:t>
          </a:r>
        </a:p>
      </dsp:txBody>
      <dsp:txXfrm>
        <a:off x="3057393" y="879435"/>
        <a:ext cx="2526292" cy="900004"/>
      </dsp:txXfrm>
    </dsp:sp>
    <dsp:sp modelId="{E1B194E7-E9A2-4E57-9BB7-20DBBFCA2C24}">
      <dsp:nvSpPr>
        <dsp:cNvPr id="0" name=""/>
        <dsp:cNvSpPr/>
      </dsp:nvSpPr>
      <dsp:spPr>
        <a:xfrm>
          <a:off x="580"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Developer</a:t>
          </a:r>
        </a:p>
        <a:p>
          <a:pPr marL="0" lvl="0" indent="0" algn="ctr" defTabSz="800100">
            <a:lnSpc>
              <a:spcPct val="100000"/>
            </a:lnSpc>
            <a:spcBef>
              <a:spcPct val="0"/>
            </a:spcBef>
            <a:spcAft>
              <a:spcPts val="0"/>
            </a:spcAft>
            <a:buNone/>
          </a:pPr>
          <a:r>
            <a:rPr lang="zh-CN" altLang="en-US" sz="1800" kern="1200" dirty="0"/>
            <a:t>开发者</a:t>
          </a:r>
        </a:p>
      </dsp:txBody>
      <dsp:txXfrm>
        <a:off x="580" y="2309960"/>
        <a:ext cx="2526292" cy="900004"/>
      </dsp:txXfrm>
    </dsp:sp>
    <dsp:sp modelId="{3BD3742E-89D8-4278-B047-2E690CF46C27}">
      <dsp:nvSpPr>
        <dsp:cNvPr id="0" name=""/>
        <dsp:cNvSpPr/>
      </dsp:nvSpPr>
      <dsp:spPr>
        <a:xfrm>
          <a:off x="3057393"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Product Owner</a:t>
          </a:r>
        </a:p>
        <a:p>
          <a:pPr marL="0" lvl="0" indent="0" algn="ctr" defTabSz="800100">
            <a:lnSpc>
              <a:spcPct val="100000"/>
            </a:lnSpc>
            <a:spcBef>
              <a:spcPct val="0"/>
            </a:spcBef>
            <a:spcAft>
              <a:spcPts val="0"/>
            </a:spcAft>
            <a:buNone/>
          </a:pPr>
          <a:r>
            <a:rPr lang="zh-CN" altLang="en-US" sz="1800" kern="1200" dirty="0"/>
            <a:t>产品负责人</a:t>
          </a:r>
        </a:p>
      </dsp:txBody>
      <dsp:txXfrm>
        <a:off x="3057393" y="2309960"/>
        <a:ext cx="2526292" cy="900004"/>
      </dsp:txXfrm>
    </dsp:sp>
    <dsp:sp modelId="{E24E934A-6782-4A44-B105-7B83B7DB5B47}">
      <dsp:nvSpPr>
        <dsp:cNvPr id="0" name=""/>
        <dsp:cNvSpPr/>
      </dsp:nvSpPr>
      <dsp:spPr>
        <a:xfrm>
          <a:off x="6114207"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Master</a:t>
          </a:r>
        </a:p>
        <a:p>
          <a:pPr marL="0" lvl="0" indent="0" algn="ctr" defTabSz="800100">
            <a:lnSpc>
              <a:spcPct val="100000"/>
            </a:lnSpc>
            <a:spcBef>
              <a:spcPct val="0"/>
            </a:spcBef>
            <a:spcAft>
              <a:spcPts val="0"/>
            </a:spcAft>
            <a:buNone/>
          </a:pPr>
          <a:r>
            <a:rPr lang="zh-CN" altLang="en-US" sz="1800" kern="1200" dirty="0"/>
            <a:t>敏捷教练</a:t>
          </a:r>
        </a:p>
      </dsp:txBody>
      <dsp:txXfrm>
        <a:off x="6114207" y="2309960"/>
        <a:ext cx="2526292" cy="90000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F4DF1-37BB-4ECD-9418-D07081488686}">
      <dsp:nvSpPr>
        <dsp:cNvPr id="0" name=""/>
        <dsp:cNvSpPr/>
      </dsp:nvSpPr>
      <dsp:spPr>
        <a:xfrm>
          <a:off x="842595" y="51954"/>
          <a:ext cx="6955889" cy="1011581"/>
        </a:xfrm>
        <a:prstGeom prst="rightArrow">
          <a:avLst>
            <a:gd name="adj1" fmla="val 50000"/>
            <a:gd name="adj2" fmla="val 5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Sprint</a:t>
          </a:r>
          <a:endParaRPr lang="zh-CN" altLang="en-US" sz="1400" kern="1200" dirty="0"/>
        </a:p>
      </dsp:txBody>
      <dsp:txXfrm>
        <a:off x="842595" y="304849"/>
        <a:ext cx="6702994" cy="505791"/>
      </dsp:txXfrm>
    </dsp:sp>
    <dsp:sp modelId="{E86EC7DA-1671-4DAB-B8CD-684A0A10D28B}">
      <dsp:nvSpPr>
        <dsp:cNvPr id="0" name=""/>
        <dsp:cNvSpPr/>
      </dsp:nvSpPr>
      <dsp:spPr>
        <a:xfrm>
          <a:off x="842595" y="830724"/>
          <a:ext cx="1285587" cy="1857425"/>
        </a:xfrm>
        <a:prstGeom prst="rect">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冲刺</a:t>
          </a:r>
        </a:p>
      </dsp:txBody>
      <dsp:txXfrm>
        <a:off x="842595" y="830724"/>
        <a:ext cx="1285587" cy="1857425"/>
      </dsp:txXfrm>
    </dsp:sp>
    <dsp:sp modelId="{3377E146-BBE8-4251-922A-3A142A5DB22A}">
      <dsp:nvSpPr>
        <dsp:cNvPr id="0" name=""/>
        <dsp:cNvSpPr/>
      </dsp:nvSpPr>
      <dsp:spPr>
        <a:xfrm>
          <a:off x="2128043" y="389278"/>
          <a:ext cx="5670441" cy="1011581"/>
        </a:xfrm>
        <a:prstGeom prst="rightArrow">
          <a:avLst>
            <a:gd name="adj1" fmla="val 50000"/>
            <a:gd name="adj2" fmla="val 50000"/>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Spring Planning</a:t>
          </a:r>
          <a:endParaRPr lang="zh-CN" altLang="en-US" sz="1400" kern="1200" dirty="0"/>
        </a:p>
      </dsp:txBody>
      <dsp:txXfrm>
        <a:off x="2128043" y="642173"/>
        <a:ext cx="5417546" cy="505791"/>
      </dsp:txXfrm>
    </dsp:sp>
    <dsp:sp modelId="{3F0F4678-4480-4F65-812F-7188E8E3BA27}">
      <dsp:nvSpPr>
        <dsp:cNvPr id="0" name=""/>
        <dsp:cNvSpPr/>
      </dsp:nvSpPr>
      <dsp:spPr>
        <a:xfrm>
          <a:off x="2128043" y="1168048"/>
          <a:ext cx="1285587" cy="1857425"/>
        </a:xfrm>
        <a:prstGeom prst="rect">
          <a:avLst/>
        </a:prstGeom>
        <a:solidFill>
          <a:schemeClr val="lt1">
            <a:hueOff val="0"/>
            <a:satOff val="0"/>
            <a:lumOff val="0"/>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规划</a:t>
          </a:r>
        </a:p>
      </dsp:txBody>
      <dsp:txXfrm>
        <a:off x="2128043" y="1168048"/>
        <a:ext cx="1285587" cy="1857425"/>
      </dsp:txXfrm>
    </dsp:sp>
    <dsp:sp modelId="{962DE86B-57FB-4E57-B9E2-1CDD9869201D}">
      <dsp:nvSpPr>
        <dsp:cNvPr id="0" name=""/>
        <dsp:cNvSpPr/>
      </dsp:nvSpPr>
      <dsp:spPr>
        <a:xfrm>
          <a:off x="3413491" y="726602"/>
          <a:ext cx="4384993" cy="1011581"/>
        </a:xfrm>
        <a:prstGeom prst="rightArrow">
          <a:avLst>
            <a:gd name="adj1" fmla="val 50000"/>
            <a:gd name="adj2" fmla="val 50000"/>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Daily Scrum</a:t>
          </a:r>
          <a:endParaRPr lang="zh-CN" altLang="en-US" sz="1400" kern="1200" dirty="0"/>
        </a:p>
      </dsp:txBody>
      <dsp:txXfrm>
        <a:off x="3413491" y="979497"/>
        <a:ext cx="4132098" cy="505791"/>
      </dsp:txXfrm>
    </dsp:sp>
    <dsp:sp modelId="{A2FE8EDA-D970-4B0B-BEE7-3C260734EB3F}">
      <dsp:nvSpPr>
        <dsp:cNvPr id="0" name=""/>
        <dsp:cNvSpPr/>
      </dsp:nvSpPr>
      <dsp:spPr>
        <a:xfrm>
          <a:off x="3413491" y="1505371"/>
          <a:ext cx="1285587" cy="1857425"/>
        </a:xfrm>
        <a:prstGeom prst="rect">
          <a:avLst/>
        </a:prstGeom>
        <a:solidFill>
          <a:schemeClr val="lt1">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每日站会</a:t>
          </a:r>
        </a:p>
      </dsp:txBody>
      <dsp:txXfrm>
        <a:off x="3413491" y="1505371"/>
        <a:ext cx="1285587" cy="1857425"/>
      </dsp:txXfrm>
    </dsp:sp>
    <dsp:sp modelId="{C0E91409-81B0-4028-907D-5327B5143ADB}">
      <dsp:nvSpPr>
        <dsp:cNvPr id="0" name=""/>
        <dsp:cNvSpPr/>
      </dsp:nvSpPr>
      <dsp:spPr>
        <a:xfrm>
          <a:off x="4699636" y="1063926"/>
          <a:ext cx="3098848" cy="1011581"/>
        </a:xfrm>
        <a:prstGeom prst="rightArrow">
          <a:avLst>
            <a:gd name="adj1" fmla="val 50000"/>
            <a:gd name="adj2" fmla="val 50000"/>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Review</a:t>
          </a:r>
          <a:endParaRPr lang="zh-CN" altLang="en-US" sz="1400" kern="1200" dirty="0"/>
        </a:p>
      </dsp:txBody>
      <dsp:txXfrm>
        <a:off x="4699636" y="1316821"/>
        <a:ext cx="2845953" cy="505791"/>
      </dsp:txXfrm>
    </dsp:sp>
    <dsp:sp modelId="{2B2584B2-DDE4-43C5-AC13-F191D54BFA19}">
      <dsp:nvSpPr>
        <dsp:cNvPr id="0" name=""/>
        <dsp:cNvSpPr/>
      </dsp:nvSpPr>
      <dsp:spPr>
        <a:xfrm>
          <a:off x="4699636" y="1842695"/>
          <a:ext cx="1285587" cy="1857425"/>
        </a:xfrm>
        <a:prstGeom prst="rect">
          <a:avLst/>
        </a:prstGeom>
        <a:solidFill>
          <a:schemeClr val="lt1">
            <a:hueOff val="0"/>
            <a:satOff val="0"/>
            <a:lumOff val="0"/>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评审</a:t>
          </a:r>
        </a:p>
      </dsp:txBody>
      <dsp:txXfrm>
        <a:off x="4699636" y="1842695"/>
        <a:ext cx="1285587" cy="1857425"/>
      </dsp:txXfrm>
    </dsp:sp>
    <dsp:sp modelId="{C2F78D87-5BAB-4238-BA32-642972FEF7AA}">
      <dsp:nvSpPr>
        <dsp:cNvPr id="0" name=""/>
        <dsp:cNvSpPr/>
      </dsp:nvSpPr>
      <dsp:spPr>
        <a:xfrm>
          <a:off x="5985084" y="1401249"/>
          <a:ext cx="1813400" cy="1011581"/>
        </a:xfrm>
        <a:prstGeom prst="rightArrow">
          <a:avLst>
            <a:gd name="adj1" fmla="val 50000"/>
            <a:gd name="adj2" fmla="val 50000"/>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Retrospective</a:t>
          </a:r>
          <a:endParaRPr lang="zh-CN" altLang="en-US" sz="1400" kern="1200" dirty="0"/>
        </a:p>
      </dsp:txBody>
      <dsp:txXfrm>
        <a:off x="5985084" y="1654144"/>
        <a:ext cx="1560505" cy="505791"/>
      </dsp:txXfrm>
    </dsp:sp>
    <dsp:sp modelId="{5E52CB30-E02C-40CD-B263-64B93A59E37F}">
      <dsp:nvSpPr>
        <dsp:cNvPr id="0" name=""/>
        <dsp:cNvSpPr/>
      </dsp:nvSpPr>
      <dsp:spPr>
        <a:xfrm>
          <a:off x="5985084" y="2180019"/>
          <a:ext cx="1285587" cy="1857425"/>
        </a:xfrm>
        <a:prstGeom prst="rect">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回顾</a:t>
          </a:r>
        </a:p>
      </dsp:txBody>
      <dsp:txXfrm>
        <a:off x="5985084" y="2180019"/>
        <a:ext cx="1285587" cy="1857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Product Backlog </a:t>
          </a:r>
          <a:r>
            <a:rPr lang="zh-CN" altLang="en-US" sz="1800" kern="1200" dirty="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solidFill>
          <a:schemeClr val="lt1">
            <a:alpha val="90000"/>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Sprint Backlog </a:t>
          </a:r>
          <a:r>
            <a:rPr lang="zh-CN" altLang="en-US" sz="1800" kern="1200" dirty="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Increment </a:t>
          </a:r>
          <a:r>
            <a:rPr lang="zh-CN" altLang="en-US" sz="1800" kern="1200" dirty="0"/>
            <a:t>增量</a:t>
          </a:r>
        </a:p>
      </dsp:txBody>
      <dsp:txXfrm>
        <a:off x="295939" y="2282779"/>
        <a:ext cx="3728122" cy="479482"/>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endParaRPr lang="zh-CN" altLang="en-US" sz="1700" kern="1200" dirty="0"/>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endParaRPr lang="zh-CN" altLang="en-US" sz="1700" kern="1200" dirty="0"/>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3.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5.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4.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5">
  <dgm:title val=""/>
  <dgm:desc val=""/>
  <dgm:catLst>
    <dgm:cat type="3D" pri="11500"/>
  </dgm:catLst>
  <dgm:scene3d>
    <a:camera prst="isometricOffAxis2Left" zoom="95000"/>
    <a:lightRig rig="flat" dir="t"/>
  </dgm:scene3d>
  <dgm:styleLbl name="node0">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381000" contourW="38100" prstMaterial="matte">
      <a:contourClr>
        <a:schemeClr val="lt1"/>
      </a:contourClr>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z="5715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dgm:scene3d>
    <dgm:sp3d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dgm:scene3d>
    <dgm:sp3d z="-381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dgm:scene3d>
    <dgm:sp3d z="-52400" extrusionH="1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z="5715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z="-38100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z="52400"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z="52400"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z="60000" prstMaterial="flat">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dgm:scene3d>
    <dgm:sp3d z="60000" prstMaterial="flat">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60000" extrusionH="63500" prstMaterial="matte"/>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z="-60000" extrusionH="63500" prstMaterial="matte"/>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381000" prstMaterial="matte"/>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400500" extrusionH="63500" prstMaterial="matte"/>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150" extrusionH="12700" prstMaterial="flat">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extrusionH="12700" prstMaterial="flat">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dgm:scene3d>
    <dgm:sp3d z="-63500" extrusionH="63500" prstMaterial="matte"/>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z="5715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400500" extrusionH="63500" contourW="12700" prstMaterial="matte">
      <a:contourClr>
        <a:schemeClr val="lt1"/>
      </a:contourClr>
    </dgm:sp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400500" extrusionH="63500" contourW="12700" prstMaterial="matte">
      <a:contourClr>
        <a:schemeClr val="lt1">
          <a:tint val="50000"/>
        </a:schemeClr>
      </a:contourClr>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trBgShp">
    <dgm:scene3d>
      <a:camera prst="orthographicFront"/>
      <a:lightRig rig="threePt" dir="t"/>
    </dgm:scene3d>
    <dgm:sp3d z="-4005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150" extrusionH="63500" contourW="12700" prstMaterial="matte">
      <a:contourClr>
        <a:schemeClr val="lt1">
          <a:tint val="50000"/>
        </a:schemeClr>
      </a:contourClr>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2026/3/1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11</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购买碟片 </a:t>
            </a:r>
            <a:r>
              <a:rPr lang="en-US" altLang="zh-CN" dirty="0"/>
              <a:t>vs </a:t>
            </a:r>
            <a:r>
              <a:rPr lang="zh-CN" altLang="en-US" dirty="0"/>
              <a:t>爱奇艺</a:t>
            </a:r>
            <a:endParaRPr lang="en-US" altLang="zh-CN" dirty="0"/>
          </a:p>
          <a:p>
            <a:r>
              <a:rPr lang="zh-CN" altLang="en-US" dirty="0"/>
              <a:t>买车 </a:t>
            </a:r>
            <a:r>
              <a:rPr lang="en-US" altLang="zh-CN" dirty="0"/>
              <a:t>vs </a:t>
            </a:r>
            <a:r>
              <a:rPr lang="zh-CN" altLang="en-US" dirty="0"/>
              <a:t>网约车</a:t>
            </a:r>
            <a:endParaRPr lang="en-US" altLang="zh-CN" dirty="0"/>
          </a:p>
          <a:p>
            <a:r>
              <a:rPr lang="en-US" altLang="zh-CN" dirty="0"/>
              <a:t>IDE vs </a:t>
            </a:r>
            <a:r>
              <a:rPr lang="zh-CN" altLang="en-US" dirty="0"/>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Do the project right</a:t>
            </a:r>
          </a:p>
          <a:p>
            <a:r>
              <a:rPr lang="en-US" altLang="zh-CN" dirty="0"/>
              <a:t>Do the right project</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18</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第</a:t>
            </a:r>
            <a:r>
              <a:rPr lang="en-US" altLang="zh-CN" dirty="0"/>
              <a:t>7</a:t>
            </a:r>
            <a:r>
              <a:rPr lang="zh-CN" altLang="en-US" dirty="0"/>
              <a:t>版不再像第</a:t>
            </a:r>
            <a:r>
              <a:rPr lang="en-US" altLang="zh-CN" dirty="0"/>
              <a:t>6</a:t>
            </a:r>
            <a:r>
              <a:rPr lang="zh-CN" altLang="en-US" dirty="0"/>
              <a:t>版那样提供详细的“输入</a:t>
            </a:r>
            <a:r>
              <a:rPr lang="en-US" altLang="zh-CN" dirty="0"/>
              <a:t>-</a:t>
            </a:r>
            <a:r>
              <a:rPr lang="zh-CN" altLang="en-US" dirty="0"/>
              <a:t>工具</a:t>
            </a:r>
            <a:r>
              <a:rPr lang="en-US" altLang="zh-CN" dirty="0"/>
              <a:t>-</a:t>
            </a:r>
            <a:r>
              <a:rPr lang="zh-CN" altLang="en-US" dirty="0"/>
              <a:t>输出 </a:t>
            </a:r>
            <a:r>
              <a:rPr lang="en-US" altLang="zh-CN" dirty="0"/>
              <a:t>(ITTO)”</a:t>
            </a:r>
            <a:r>
              <a:rPr lang="zh-CN" altLang="en-US" dirty="0"/>
              <a:t>矩阵，而是期望项目经理基于这</a:t>
            </a:r>
            <a:r>
              <a:rPr lang="en-US" altLang="zh-CN" dirty="0"/>
              <a:t>12</a:t>
            </a:r>
            <a:r>
              <a:rPr lang="zh-CN" altLang="en-US" dirty="0"/>
              <a:t>项原则，在</a:t>
            </a:r>
            <a:r>
              <a:rPr lang="en-US" altLang="zh-CN" dirty="0"/>
              <a:t>8</a:t>
            </a:r>
            <a:r>
              <a:rPr lang="zh-CN" altLang="en-US" dirty="0"/>
              <a:t>大绩效域中灵活运用各种工具和剪裁方法，以实现价值交付</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Be a diligent, respectful, and caring steward.</a:t>
            </a:r>
          </a:p>
          <a:p>
            <a:r>
              <a:rPr lang="en-US" altLang="zh-CN" dirty="0"/>
              <a:t>Create a collaborative project team environment.</a:t>
            </a:r>
          </a:p>
          <a:p>
            <a:r>
              <a:rPr lang="en-US" altLang="zh-CN" dirty="0"/>
              <a:t>Effectively engage with stakeholders.</a:t>
            </a:r>
          </a:p>
          <a:p>
            <a:r>
              <a:rPr lang="en-US" altLang="zh-CN" dirty="0"/>
              <a:t>Focus on value.</a:t>
            </a:r>
          </a:p>
          <a:p>
            <a:r>
              <a:rPr lang="en-US" altLang="zh-CN" dirty="0"/>
              <a:t>Recognize, evaluate, and respond to system interactions.</a:t>
            </a:r>
          </a:p>
          <a:p>
            <a:r>
              <a:rPr lang="en-US" altLang="zh-CN" dirty="0"/>
              <a:t>Demonstrate leadership behaviors</a:t>
            </a:r>
          </a:p>
          <a:p>
            <a:r>
              <a:rPr lang="en-US" altLang="zh-CN" dirty="0"/>
              <a:t>Tailor based on context.</a:t>
            </a:r>
          </a:p>
          <a:p>
            <a:r>
              <a:rPr lang="en-US" altLang="zh-CN" dirty="0"/>
              <a:t>Build quality into processes and deliverables.</a:t>
            </a:r>
          </a:p>
          <a:p>
            <a:r>
              <a:rPr lang="en-US" altLang="zh-CN" dirty="0"/>
              <a:t>Navigate complexity.</a:t>
            </a:r>
          </a:p>
          <a:p>
            <a:r>
              <a:rPr lang="en-US" altLang="zh-CN" dirty="0"/>
              <a:t>Optimize risk responses.</a:t>
            </a:r>
          </a:p>
          <a:p>
            <a:r>
              <a:rPr lang="en-US" altLang="zh-CN" dirty="0"/>
              <a:t>Embrace adaptability and resiliency.</a:t>
            </a:r>
          </a:p>
          <a:p>
            <a:r>
              <a:rPr lang="en-US" altLang="zh-CN" dirty="0"/>
              <a:t>Enable change to achieve the envisioned future state.</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a:t>
            </a:fld>
            <a:endParaRPr lang="zh-CN" altLang="en-US"/>
          </a:p>
        </p:txBody>
      </p:sp>
    </p:spTree>
    <p:extLst>
      <p:ext uri="{BB962C8B-B14F-4D97-AF65-F5344CB8AC3E}">
        <p14:creationId xmlns:p14="http://schemas.microsoft.com/office/powerpoint/2010/main" val="12185171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电视剧 </a:t>
            </a:r>
            <a:r>
              <a:rPr lang="en-US" altLang="zh-CN" dirty="0"/>
              <a:t>– </a:t>
            </a:r>
            <a:r>
              <a:rPr lang="zh-CN" altLang="en-US" dirty="0"/>
              <a:t>美剧，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a:t>
            </a:fld>
            <a:endParaRPr lang="zh-CN" altLang="en-US"/>
          </a:p>
        </p:txBody>
      </p:sp>
    </p:spTree>
    <p:extLst>
      <p:ext uri="{BB962C8B-B14F-4D97-AF65-F5344CB8AC3E}">
        <p14:creationId xmlns:p14="http://schemas.microsoft.com/office/powerpoint/2010/main" val="36759143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以人为本</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以价值为导向</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合作共赢</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拥抱变化</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胜于</a:t>
            </a:r>
            <a:r>
              <a:rPr lang="en-US" altLang="zh-CN" dirty="0"/>
              <a:t>/</a:t>
            </a:r>
            <a:r>
              <a:rPr lang="zh-CN" altLang="en-US" dirty="0"/>
              <a:t>优于</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并没有否定</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自己圈关键词</a:t>
            </a:r>
            <a:endParaRPr lang="en-US" altLang="zh-CN" dirty="0"/>
          </a:p>
          <a:p>
            <a:r>
              <a:rPr lang="zh-CN" altLang="en-US" dirty="0"/>
              <a:t>用人不疑</a:t>
            </a:r>
            <a:endParaRPr lang="en-US" altLang="zh-CN" dirty="0"/>
          </a:p>
          <a:p>
            <a:r>
              <a:rPr lang="zh-CN" altLang="en-US" dirty="0"/>
              <a:t>可工作：应用</a:t>
            </a:r>
            <a:endParaRPr lang="en-US" altLang="zh-CN" dirty="0"/>
          </a:p>
          <a:p>
            <a:r>
              <a:rPr lang="zh-CN" altLang="en-US" dirty="0"/>
              <a:t>团队稳定、不加班</a:t>
            </a:r>
            <a:endParaRPr lang="en-US" altLang="zh-CN" dirty="0"/>
          </a:p>
          <a:p>
            <a:r>
              <a:rPr lang="zh-CN" altLang="en-US" dirty="0"/>
              <a:t>复盘</a:t>
            </a:r>
            <a:endParaRPr lang="en-US" altLang="zh-CN" dirty="0"/>
          </a:p>
          <a:p>
            <a:r>
              <a:rPr lang="en-US" altLang="zh-CN" dirty="0"/>
              <a:t>1 Our highest priority is to satisfy the customer through early and continuous delivery of valuable software.</a:t>
            </a:r>
          </a:p>
          <a:p>
            <a:r>
              <a:rPr lang="en-US" altLang="zh-CN" dirty="0"/>
              <a:t>2 Welcome changing requirements, even late in development. Agile processes harness change for the customer's competitive advantage.</a:t>
            </a:r>
          </a:p>
          <a:p>
            <a:r>
              <a:rPr lang="en-US" altLang="zh-CN" dirty="0"/>
              <a:t>3 Deliver working software frequently, from a couple of weeks to a couple of months, with a preference to the shorter timescale.</a:t>
            </a:r>
          </a:p>
          <a:p>
            <a:r>
              <a:rPr lang="en-US" altLang="zh-CN" dirty="0"/>
              <a:t>4 Business people and developers must work together daily throughout the project.</a:t>
            </a:r>
          </a:p>
          <a:p>
            <a:r>
              <a:rPr lang="en-US" altLang="zh-CN" dirty="0"/>
              <a:t>5 Build projects around motivated individuals. Give them the environment and support they need, and trust them to get the job done.</a:t>
            </a:r>
          </a:p>
          <a:p>
            <a:r>
              <a:rPr lang="en-US" altLang="zh-CN" dirty="0"/>
              <a:t>6 The most efficient and effective method of conveying information to and within a development team is face-to-face conversation.</a:t>
            </a:r>
          </a:p>
          <a:p>
            <a:r>
              <a:rPr lang="en-US" altLang="zh-CN" dirty="0"/>
              <a:t>7 Working software is the primary measure of progress.</a:t>
            </a:r>
          </a:p>
          <a:p>
            <a:r>
              <a:rPr lang="en-US" altLang="zh-CN" dirty="0"/>
              <a:t>8 Agile processes promote sustainable development. The sponsors, developers, and users should be able to maintain a constant pace indefinitely.</a:t>
            </a:r>
          </a:p>
          <a:p>
            <a:r>
              <a:rPr lang="en-US" altLang="zh-CN" dirty="0"/>
              <a:t>9 Continuous attention to technical excellence and good design enhances agility.</a:t>
            </a:r>
          </a:p>
          <a:p>
            <a:r>
              <a:rPr lang="en-US" altLang="zh-CN" dirty="0"/>
              <a:t>10 Simplicity—the art of maximizing the amount of work not done—is essential.</a:t>
            </a:r>
          </a:p>
          <a:p>
            <a:r>
              <a:rPr lang="en-US" altLang="zh-CN" dirty="0"/>
              <a:t>11 The best architectures, requirements, and designs emerge from self-organizing teams.</a:t>
            </a:r>
          </a:p>
          <a:p>
            <a:r>
              <a:rPr lang="en-US" altLang="zh-CN" dirty="0"/>
              <a:t>12 At regular intervals, the team reflects on how to become more effective, then tunes and adjusts its behavior accordingly.</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14363666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以下为“范围外”项目内容：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 </a:t>
            </a:r>
            <a:r>
              <a:rPr lang="zh-CN" altLang="en-US" dirty="0"/>
              <a:t>维护现有系统的升级与更新</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2. </a:t>
            </a:r>
            <a:r>
              <a:rPr lang="zh-CN" altLang="en-US" dirty="0"/>
              <a:t>为项目提供长期的技术支持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3. </a:t>
            </a:r>
            <a:r>
              <a:rPr lang="zh-CN" altLang="en-US" dirty="0"/>
              <a:t>负责项目的市场营销与推广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4. </a:t>
            </a:r>
            <a:r>
              <a:rPr lang="zh-CN" altLang="en-US" dirty="0"/>
              <a:t>完成项目外的任何额外研究或调查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5. </a:t>
            </a:r>
            <a:r>
              <a:rPr lang="zh-CN" altLang="en-US" dirty="0"/>
              <a:t>项目相关的法律、税务咨询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6. </a:t>
            </a:r>
            <a:r>
              <a:rPr lang="zh-CN" altLang="en-US" dirty="0"/>
              <a:t>项目相关的内部培训与指导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7. </a:t>
            </a:r>
            <a:r>
              <a:rPr lang="zh-CN" altLang="en-US" dirty="0"/>
              <a:t>项目的扩展功能开发，除非在合同中特别约定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8. </a:t>
            </a:r>
            <a:r>
              <a:rPr lang="zh-CN" altLang="en-US" dirty="0"/>
              <a:t>任何不在合同明确范围内的工作内容</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2532043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这是不切实际的。这影响了建设预算，承包商的利润空间以及进度表。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28835983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这将影响材料、设计和生产时间，削减预算和时间表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24965439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2664E-0A19-F89A-0C2E-727CEAF340B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08438AE-0AD8-259B-8EE5-02216CBE931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7C37A3-9B26-1C71-6809-EB8217787F86}"/>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Scope Management Plan</a:t>
            </a:r>
          </a:p>
          <a:p>
            <a:r>
              <a:rPr lang="en-US" altLang="zh-CN" sz="1200" b="0" i="0" kern="1200" dirty="0">
                <a:solidFill>
                  <a:schemeClr val="tx1"/>
                </a:solidFill>
                <a:effectLst/>
                <a:latin typeface="+mn-lt"/>
                <a:ea typeface="+mn-ea"/>
                <a:cs typeface="+mn-cs"/>
              </a:rPr>
              <a:t>Requirements Management Plan</a:t>
            </a:r>
          </a:p>
          <a:p>
            <a:r>
              <a:rPr lang="zh-CN" altLang="en-US" sz="1200" b="0" i="0" kern="1200" dirty="0">
                <a:solidFill>
                  <a:schemeClr val="tx1"/>
                </a:solidFill>
                <a:effectLst/>
                <a:latin typeface="+mn-lt"/>
                <a:ea typeface="+mn-ea"/>
                <a:cs typeface="+mn-cs"/>
              </a:rPr>
              <a:t>组织过程资产：经验教训</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事业环境因素：人力管理制度</a:t>
            </a:r>
            <a:endParaRPr lang="zh-CN" altLang="en-US" dirty="0"/>
          </a:p>
        </p:txBody>
      </p:sp>
      <p:sp>
        <p:nvSpPr>
          <p:cNvPr id="4" name="灯片编号占位符 3">
            <a:extLst>
              <a:ext uri="{FF2B5EF4-FFF2-40B4-BE49-F238E27FC236}">
                <a16:creationId xmlns:a16="http://schemas.microsoft.com/office/drawing/2014/main" id="{853AD7A3-A5D3-46E5-A0E2-011047672515}"/>
              </a:ext>
            </a:extLst>
          </p:cNvPr>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2843076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0995062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61</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开发：透明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28767035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42320880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3331575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a:t>
            </a:r>
            <a:r>
              <a:rPr lang="en-US" altLang="zh-CN" dirty="0"/>
              <a:t>PO</a:t>
            </a:r>
            <a:r>
              <a:rPr lang="zh-CN" altLang="en-US" dirty="0"/>
              <a:t>对接客户，收集需求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76</a:t>
            </a:fld>
            <a:endParaRPr lang="zh-CN" altLang="en-US"/>
          </a:p>
        </p:txBody>
      </p:sp>
    </p:spTree>
    <p:extLst>
      <p:ext uri="{BB962C8B-B14F-4D97-AF65-F5344CB8AC3E}">
        <p14:creationId xmlns:p14="http://schemas.microsoft.com/office/powerpoint/2010/main" val="31257009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PO</a:t>
            </a:r>
            <a:r>
              <a:rPr lang="zh-CN" altLang="en-US" dirty="0"/>
              <a:t>关注点偏离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77</a:t>
            </a:fld>
            <a:endParaRPr lang="zh-CN" altLang="en-US"/>
          </a:p>
        </p:txBody>
      </p:sp>
    </p:spTree>
    <p:extLst>
      <p:ext uri="{BB962C8B-B14F-4D97-AF65-F5344CB8AC3E}">
        <p14:creationId xmlns:p14="http://schemas.microsoft.com/office/powerpoint/2010/main" val="24024645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en-US" altLang="zh-CN" dirty="0"/>
              <a:t>PO</a:t>
            </a:r>
            <a:r>
              <a:rPr lang="zh-CN" altLang="en-US" dirty="0"/>
              <a:t>负责定义优先级</a:t>
            </a:r>
            <a:endParaRPr lang="en-US" altLang="zh-CN" dirty="0"/>
          </a:p>
          <a:p>
            <a:r>
              <a:rPr lang="en-US" altLang="zh-CN" dirty="0"/>
              <a:t>B</a:t>
            </a:r>
            <a:r>
              <a:rPr lang="zh-CN" altLang="en-US" dirty="0"/>
              <a:t>排除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78</a:t>
            </a:fld>
            <a:endParaRPr lang="zh-CN" altLang="en-US"/>
          </a:p>
        </p:txBody>
      </p:sp>
    </p:spTree>
    <p:extLst>
      <p:ext uri="{BB962C8B-B14F-4D97-AF65-F5344CB8AC3E}">
        <p14:creationId xmlns:p14="http://schemas.microsoft.com/office/powerpoint/2010/main" val="42073967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79</a:t>
            </a:fld>
            <a:endParaRPr lang="zh-CN" altLang="en-US"/>
          </a:p>
        </p:txBody>
      </p:sp>
    </p:spTree>
    <p:extLst>
      <p:ext uri="{BB962C8B-B14F-4D97-AF65-F5344CB8AC3E}">
        <p14:creationId xmlns:p14="http://schemas.microsoft.com/office/powerpoint/2010/main" val="1768167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典型的 </a:t>
            </a:r>
            <a:r>
              <a:rPr lang="zh-CN" altLang="en-US" sz="1200" b="1" i="0" kern="1200" dirty="0">
                <a:solidFill>
                  <a:schemeClr val="tx1"/>
                </a:solidFill>
                <a:effectLst/>
                <a:latin typeface="+mn-lt"/>
                <a:ea typeface="+mn-ea"/>
                <a:cs typeface="+mn-cs"/>
              </a:rPr>
              <a:t>“变更干扰”场景</a:t>
            </a:r>
            <a:r>
              <a:rPr lang="zh-CN" altLang="en-US" sz="1200" b="0" i="0" kern="1200" dirty="0">
                <a:solidFill>
                  <a:schemeClr val="tx1"/>
                </a:solidFill>
                <a:effectLst/>
                <a:latin typeface="+mn-lt"/>
                <a:ea typeface="+mn-ea"/>
                <a:cs typeface="+mn-cs"/>
              </a:rPr>
              <a:t>，考验 </a:t>
            </a:r>
            <a:r>
              <a:rPr lang="en-US" altLang="zh-CN" sz="1200" b="0" i="0" kern="1200" dirty="0">
                <a:solidFill>
                  <a:schemeClr val="tx1"/>
                </a:solidFill>
                <a:effectLst/>
                <a:latin typeface="+mn-lt"/>
                <a:ea typeface="+mn-ea"/>
                <a:cs typeface="+mn-cs"/>
              </a:rPr>
              <a:t>Scrum Master </a:t>
            </a:r>
            <a:r>
              <a:rPr lang="zh-CN" altLang="en-US" sz="1200" b="0" i="0" kern="1200" dirty="0">
                <a:solidFill>
                  <a:schemeClr val="tx1"/>
                </a:solidFill>
                <a:effectLst/>
                <a:latin typeface="+mn-lt"/>
                <a:ea typeface="+mn-ea"/>
                <a:cs typeface="+mn-cs"/>
              </a:rPr>
              <a:t>是否能坚持原则、保护团队专注力</a:t>
            </a:r>
            <a:endParaRPr lang="en-US" altLang="zh-CN" dirty="0"/>
          </a:p>
          <a:p>
            <a:r>
              <a:rPr lang="zh-CN" altLang="en-US" dirty="0"/>
              <a:t>排除</a:t>
            </a:r>
            <a:r>
              <a:rPr lang="en-US" altLang="zh-CN" dirty="0"/>
              <a:t>ACD</a:t>
            </a:r>
            <a:r>
              <a:rPr lang="zh-CN" altLang="en-US" dirty="0"/>
              <a:t>，</a:t>
            </a:r>
            <a:r>
              <a:rPr lang="en-US" altLang="zh-CN" dirty="0"/>
              <a:t>master </a:t>
            </a:r>
            <a:r>
              <a:rPr lang="zh-CN" altLang="en-US" dirty="0"/>
              <a:t>无权添加</a:t>
            </a:r>
            <a:endParaRPr lang="en-US" altLang="zh-CN" dirty="0"/>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80</a:t>
            </a:fld>
            <a:endParaRPr lang="zh-CN" altLang="en-US"/>
          </a:p>
        </p:txBody>
      </p:sp>
    </p:spTree>
    <p:extLst>
      <p:ext uri="{BB962C8B-B14F-4D97-AF65-F5344CB8AC3E}">
        <p14:creationId xmlns:p14="http://schemas.microsoft.com/office/powerpoint/2010/main" val="254175502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BC</a:t>
            </a:r>
            <a:r>
              <a:rPr lang="zh-CN" altLang="en-US" dirty="0"/>
              <a:t>；相关方没有时间频繁参加每日站会</a:t>
            </a:r>
            <a:endParaRPr lang="en-US" altLang="zh-CN" dirty="0"/>
          </a:p>
          <a:p>
            <a:r>
              <a:rPr lang="en-US" altLang="zh-CN" dirty="0"/>
              <a:t>D</a:t>
            </a:r>
            <a:r>
              <a:rPr lang="zh-CN" altLang="en-US" dirty="0"/>
              <a:t>：做了，但是没有做到位</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81</a:t>
            </a:fld>
            <a:endParaRPr lang="zh-CN" altLang="en-US"/>
          </a:p>
        </p:txBody>
      </p:sp>
    </p:spTree>
    <p:extLst>
      <p:ext uri="{BB962C8B-B14F-4D97-AF65-F5344CB8AC3E}">
        <p14:creationId xmlns:p14="http://schemas.microsoft.com/office/powerpoint/2010/main" val="3168184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35020128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a:t>
            </a:r>
          </a:p>
          <a:p>
            <a:r>
              <a:rPr lang="en-US" altLang="zh-CN" dirty="0"/>
              <a:t>C</a:t>
            </a:r>
            <a:r>
              <a:rPr lang="zh-CN" altLang="en-US" dirty="0"/>
              <a:t>：提醒和辅导；不等于“替团队做事”，而是“移除障碍，让团队能自己做成事”</a:t>
            </a:r>
            <a:r>
              <a:rPr lang="en-US" altLang="zh-CN" dirty="0"/>
              <a:t>——</a:t>
            </a:r>
            <a:r>
              <a:rPr lang="zh-CN" altLang="en-US" dirty="0"/>
              <a:t>这正是最高级的赋能</a:t>
            </a:r>
            <a:endParaRPr lang="en-US" altLang="zh-CN" dirty="0"/>
          </a:p>
          <a:p>
            <a:r>
              <a:rPr lang="en-US" altLang="zh-CN" dirty="0"/>
              <a:t>B</a:t>
            </a:r>
            <a:r>
              <a:rPr lang="zh-CN" altLang="en-US" dirty="0"/>
              <a:t>：存疑；虽然温和，但流于表面，无法解决根本问题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385308620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：技术不归你管</a:t>
            </a:r>
            <a:endParaRPr lang="en-US" altLang="zh-CN" dirty="0"/>
          </a:p>
          <a:p>
            <a:r>
              <a:rPr lang="en-US" altLang="zh-CN" dirty="0"/>
              <a:t>B</a:t>
            </a:r>
            <a:r>
              <a:rPr lang="zh-CN" altLang="en-US" dirty="0"/>
              <a:t>：计划会由</a:t>
            </a:r>
            <a:r>
              <a:rPr lang="en-US" altLang="zh-CN" dirty="0"/>
              <a:t>PO</a:t>
            </a:r>
            <a:r>
              <a:rPr lang="zh-CN" altLang="en-US" dirty="0"/>
              <a:t>主导</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7445031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AC</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05290462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zh-CN" altLang="en-US" sz="1200" b="0" i="0" kern="1200" dirty="0">
                <a:solidFill>
                  <a:schemeClr val="tx1"/>
                </a:solidFill>
                <a:effectLst/>
                <a:latin typeface="+mn-lt"/>
                <a:ea typeface="+mn-ea"/>
                <a:cs typeface="+mn-cs"/>
              </a:rPr>
              <a:t>核心职责之一：移除障碍 </a:t>
            </a:r>
            <a:r>
              <a:rPr lang="en-US" altLang="zh-CN" sz="1200" b="0" i="0" kern="1200" dirty="0">
                <a:solidFill>
                  <a:schemeClr val="tx1"/>
                </a:solidFill>
                <a:effectLst/>
                <a:latin typeface="+mn-lt"/>
                <a:ea typeface="+mn-ea"/>
                <a:cs typeface="+mn-cs"/>
              </a:rPr>
              <a:t>Impediment</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86</a:t>
            </a:fld>
            <a:endParaRPr lang="zh-CN" altLang="en-US"/>
          </a:p>
        </p:txBody>
      </p:sp>
    </p:spTree>
    <p:extLst>
      <p:ext uri="{BB962C8B-B14F-4D97-AF65-F5344CB8AC3E}">
        <p14:creationId xmlns:p14="http://schemas.microsoft.com/office/powerpoint/2010/main" val="21922083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：关键、虚拟</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87</a:t>
            </a:fld>
            <a:endParaRPr lang="zh-CN" altLang="en-US"/>
          </a:p>
        </p:txBody>
      </p:sp>
    </p:spTree>
    <p:extLst>
      <p:ext uri="{BB962C8B-B14F-4D97-AF65-F5344CB8AC3E}">
        <p14:creationId xmlns:p14="http://schemas.microsoft.com/office/powerpoint/2010/main" val="2385354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88</a:t>
            </a:fld>
            <a:endParaRPr lang="zh-CN" altLang="en-US"/>
          </a:p>
        </p:txBody>
      </p:sp>
    </p:spTree>
    <p:extLst>
      <p:ext uri="{BB962C8B-B14F-4D97-AF65-F5344CB8AC3E}">
        <p14:creationId xmlns:p14="http://schemas.microsoft.com/office/powerpoint/2010/main" val="97627132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：人数</a:t>
            </a:r>
            <a:r>
              <a:rPr lang="en-US" altLang="zh-CN" dirty="0"/>
              <a:t>5-9</a:t>
            </a:r>
            <a:r>
              <a:rPr lang="zh-CN" altLang="en-US" dirty="0"/>
              <a:t>人为宜</a:t>
            </a:r>
            <a:endParaRPr lang="en-US" altLang="zh-CN" dirty="0"/>
          </a:p>
          <a:p>
            <a:r>
              <a:rPr lang="en-US" altLang="zh-CN" dirty="0"/>
              <a:t>C</a:t>
            </a:r>
            <a:r>
              <a:rPr lang="zh-CN" altLang="en-US" dirty="0"/>
              <a:t>：</a:t>
            </a:r>
            <a:r>
              <a:rPr lang="en-US" altLang="zh-CN" dirty="0"/>
              <a:t>15</a:t>
            </a:r>
            <a:r>
              <a:rPr lang="zh-CN" altLang="en-US" dirty="0"/>
              <a:t>分钟；避免太长</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89</a:t>
            </a:fld>
            <a:endParaRPr lang="zh-CN" altLang="en-US"/>
          </a:p>
        </p:txBody>
      </p:sp>
    </p:spTree>
    <p:extLst>
      <p:ext uri="{BB962C8B-B14F-4D97-AF65-F5344CB8AC3E}">
        <p14:creationId xmlns:p14="http://schemas.microsoft.com/office/powerpoint/2010/main" val="33908182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p>
          <a:p>
            <a:r>
              <a:rPr lang="en-US" altLang="zh-CN" dirty="0"/>
              <a:t>B</a:t>
            </a:r>
            <a:r>
              <a:rPr lang="zh-CN" altLang="en-US" dirty="0"/>
              <a:t>：错在而不是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90</a:t>
            </a:fld>
            <a:endParaRPr lang="zh-CN" altLang="en-US"/>
          </a:p>
        </p:txBody>
      </p:sp>
    </p:spTree>
    <p:extLst>
      <p:ext uri="{BB962C8B-B14F-4D97-AF65-F5344CB8AC3E}">
        <p14:creationId xmlns:p14="http://schemas.microsoft.com/office/powerpoint/2010/main" val="36786335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r>
              <a:rPr lang="zh-CN" altLang="en-US" dirty="0"/>
              <a:t>：不能代表用户反馈</a:t>
            </a:r>
            <a:endParaRPr lang="en-US" altLang="zh-CN" dirty="0"/>
          </a:p>
          <a:p>
            <a:r>
              <a:rPr lang="en-US" altLang="zh-CN" dirty="0"/>
              <a:t>C</a:t>
            </a:r>
            <a:r>
              <a:rPr lang="zh-CN" altLang="en-US" dirty="0"/>
              <a:t>：在约束条件下创新地获取真实反馈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91</a:t>
            </a:fld>
            <a:endParaRPr lang="zh-CN" altLang="en-US"/>
          </a:p>
        </p:txBody>
      </p:sp>
    </p:spTree>
    <p:extLst>
      <p:ext uri="{BB962C8B-B14F-4D97-AF65-F5344CB8AC3E}">
        <p14:creationId xmlns:p14="http://schemas.microsoft.com/office/powerpoint/2010/main" val="246363700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D</a:t>
            </a:r>
          </a:p>
          <a:p>
            <a:r>
              <a:rPr lang="zh-CN" altLang="en-US" dirty="0"/>
              <a:t>排除</a:t>
            </a:r>
            <a:r>
              <a:rPr lang="en-US" altLang="zh-CN" dirty="0"/>
              <a:t>B</a:t>
            </a:r>
            <a:r>
              <a:rPr lang="zh-CN" altLang="en-US" dirty="0"/>
              <a:t>：技术</a:t>
            </a:r>
            <a:endParaRPr lang="en-US" altLang="zh-CN" dirty="0"/>
          </a:p>
          <a:p>
            <a:r>
              <a:rPr lang="en-US" altLang="zh-CN" dirty="0"/>
              <a:t>C</a:t>
            </a:r>
            <a:r>
              <a:rPr lang="zh-CN" altLang="en-US" dirty="0"/>
              <a:t>：属于参与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78000608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Planing</a:t>
            </a:r>
            <a:r>
              <a:rPr lang="zh-CN" altLang="en-US" dirty="0"/>
              <a:t>：</a:t>
            </a:r>
            <a:r>
              <a:rPr lang="en-US" altLang="zh-CN" dirty="0"/>
              <a:t>eight hours for a one-month Sprint</a:t>
            </a:r>
            <a:r>
              <a:rPr lang="zh-CN" altLang="en-US" dirty="0"/>
              <a:t>；</a:t>
            </a:r>
            <a:r>
              <a:rPr lang="en-US" altLang="zh-CN" dirty="0"/>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Daily</a:t>
            </a:r>
            <a:r>
              <a:rPr lang="zh-CN" altLang="en-US" dirty="0"/>
              <a:t>：</a:t>
            </a:r>
            <a:r>
              <a:rPr lang="en-US" altLang="zh-CN" dirty="0"/>
              <a:t>15min</a:t>
            </a:r>
            <a:r>
              <a:rPr lang="zh-CN" altLang="en-US" dirty="0"/>
              <a:t>；检查进度</a:t>
            </a:r>
            <a:r>
              <a:rPr lang="en-US" altLang="zh-CN" sz="1200" b="0" i="0" kern="1200" dirty="0">
                <a:solidFill>
                  <a:schemeClr val="tx1"/>
                </a:solidFill>
                <a:effectLst/>
                <a:latin typeface="+mn-lt"/>
                <a:ea typeface="+mn-ea"/>
                <a:cs typeface="+mn-cs"/>
              </a:rPr>
              <a:t>inspect </a:t>
            </a:r>
            <a:r>
              <a:rPr lang="zh-CN" altLang="en-US" sz="1200" b="0" i="0" kern="1200" dirty="0">
                <a:solidFill>
                  <a:schemeClr val="tx1"/>
                </a:solidFill>
                <a:effectLst/>
                <a:latin typeface="+mn-lt"/>
                <a:ea typeface="+mn-ea"/>
                <a:cs typeface="+mn-cs"/>
              </a:rPr>
              <a:t>，</a:t>
            </a:r>
            <a:r>
              <a:rPr lang="zh-CN" altLang="en-US" dirty="0"/>
              <a:t>同步信息：完成什么。计划完成什么；什么障碍；但是不解决问题；团队成员都可以主持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冲刺评审：对于一个月的冲刺，时间限制在最多四小时，</a:t>
            </a:r>
            <a:r>
              <a:rPr lang="en-US" altLang="zh-CN" sz="1200" b="0" i="0" kern="1200" dirty="0">
                <a:solidFill>
                  <a:schemeClr val="tx1"/>
                </a:solidFill>
                <a:effectLst/>
                <a:latin typeface="+mn-lt"/>
                <a:ea typeface="+mn-ea"/>
                <a:cs typeface="+mn-cs"/>
              </a:rPr>
              <a:t>1h/week</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295050894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31113504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95</a:t>
            </a:fld>
            <a:endParaRPr lang="zh-CN" altLang="en-US"/>
          </a:p>
        </p:txBody>
      </p:sp>
    </p:spTree>
    <p:extLst>
      <p:ext uri="{BB962C8B-B14F-4D97-AF65-F5344CB8AC3E}">
        <p14:creationId xmlns:p14="http://schemas.microsoft.com/office/powerpoint/2010/main" val="102755439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eight hours for a one-month Sprint</a:t>
            </a:r>
          </a:p>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246214089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：迭代结束后，需要提交价值，应该让干系人了解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358007181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Product Backlog</a:t>
            </a:r>
            <a:r>
              <a:rPr lang="zh-CN" altLang="en-US" dirty="0"/>
              <a:t>：有序列表；每</a:t>
            </a:r>
            <a:r>
              <a:rPr lang="en-US" altLang="zh-CN" dirty="0"/>
              <a:t>2</a:t>
            </a:r>
            <a:r>
              <a:rPr lang="zh-CN" altLang="en-US" dirty="0"/>
              <a:t>周选最重要的几项（</a:t>
            </a:r>
            <a:r>
              <a:rPr lang="en-US" altLang="zh-CN" dirty="0"/>
              <a:t>Sprint Goal</a:t>
            </a:r>
            <a:r>
              <a:rPr lang="zh-CN" altLang="en-US" dirty="0"/>
              <a:t>），再拆成每天任务 </a:t>
            </a:r>
            <a:r>
              <a:rPr lang="en-US" altLang="zh-CN" dirty="0"/>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Increment</a:t>
            </a:r>
            <a:r>
              <a:rPr lang="zh-CN" altLang="en-US" dirty="0"/>
              <a:t>：当前冲刺阶段完成且</a:t>
            </a:r>
            <a:r>
              <a:rPr lang="en-US" altLang="zh-CN" dirty="0"/>
              <a:t>PO</a:t>
            </a:r>
            <a:r>
              <a:rPr lang="zh-CN" altLang="en-US" dirty="0"/>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406858123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p>
          <a:p>
            <a:r>
              <a:rPr lang="en-US" altLang="zh-CN" dirty="0"/>
              <a:t>C</a:t>
            </a:r>
            <a:r>
              <a:rPr lang="zh-CN" altLang="en-US" dirty="0"/>
              <a:t>：被动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237733028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：逐步精细化 </a:t>
            </a:r>
            <a:r>
              <a:rPr lang="en-US" altLang="zh-CN" dirty="0"/>
              <a:t>Progressive Elaboration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46141511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302603070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39716683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：都要做</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114946285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：包括目标和任务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104</a:t>
            </a:fld>
            <a:endParaRPr lang="zh-CN" altLang="en-US"/>
          </a:p>
        </p:txBody>
      </p:sp>
    </p:spTree>
    <p:extLst>
      <p:ext uri="{BB962C8B-B14F-4D97-AF65-F5344CB8AC3E}">
        <p14:creationId xmlns:p14="http://schemas.microsoft.com/office/powerpoint/2010/main" val="4135372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：确定目标→添加到代表事项条目→分解任务→认领任务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412725374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Sprint </a:t>
            </a:r>
            <a:r>
              <a:rPr lang="zh-CN" altLang="en-US" dirty="0"/>
              <a:t>目标和 </a:t>
            </a:r>
            <a:r>
              <a:rPr lang="en-US" altLang="zh-CN" dirty="0"/>
              <a:t>Sprint </a:t>
            </a:r>
            <a:r>
              <a:rPr lang="zh-CN" altLang="en-US" dirty="0"/>
              <a:t>待办列表在 </a:t>
            </a:r>
            <a:r>
              <a:rPr lang="en-US" altLang="zh-CN" dirty="0"/>
              <a:t>Sprint </a:t>
            </a:r>
            <a:r>
              <a:rPr lang="zh-CN" altLang="en-US" dirty="0"/>
              <a:t>期间不得更改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1847619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：产品待办列表（</a:t>
            </a:r>
            <a:r>
              <a:rPr lang="en-US" altLang="zh-CN" dirty="0"/>
              <a:t>Product Backlog</a:t>
            </a:r>
            <a:r>
              <a:rPr lang="zh-CN" altLang="en-US" dirty="0"/>
              <a:t>）是未来工作的集合，不是当前 </a:t>
            </a:r>
            <a:r>
              <a:rPr lang="en-US" altLang="zh-CN" dirty="0"/>
              <a:t>Sprint </a:t>
            </a:r>
            <a:r>
              <a:rPr lang="zh-CN" altLang="en-US" dirty="0"/>
              <a:t>的执行计划</a:t>
            </a:r>
            <a:endParaRPr lang="en-US" altLang="zh-CN" dirty="0"/>
          </a:p>
          <a:p>
            <a:r>
              <a:rPr lang="en-US" altLang="zh-CN" dirty="0"/>
              <a:t>C</a:t>
            </a:r>
            <a:r>
              <a:rPr lang="zh-CN" altLang="en-US" dirty="0"/>
              <a:t>：</a:t>
            </a:r>
            <a:r>
              <a:rPr lang="en-US" altLang="zh-CN" dirty="0"/>
              <a:t>Sprint </a:t>
            </a:r>
            <a:r>
              <a:rPr lang="zh-CN" altLang="en-US" dirty="0"/>
              <a:t>时间盒是固定的，不应改变</a:t>
            </a:r>
            <a:endParaRPr lang="en-US" altLang="zh-CN" dirty="0"/>
          </a:p>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91288987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32250862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21086505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296006306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是否与项目直接相关？是否可分摊？是否已发生？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参数估算：使用数学模型；依赖历史数据；准确性由模型质量和数据可靠性决定的方法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偏差用减法</a:t>
            </a:r>
            <a:endParaRPr lang="en-US" altLang="zh-CN" dirty="0"/>
          </a:p>
          <a:p>
            <a:r>
              <a:rPr lang="zh-CN" altLang="en-US" dirty="0"/>
              <a:t>绩效用除法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296212469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125</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ACDGH</a:t>
            </a:r>
          </a:p>
          <a:p>
            <a:r>
              <a:rPr lang="en-US" altLang="zh-CN" dirty="0"/>
              <a:t>44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140</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不管在哪个阶段，团队增加或减少人员，都从形成阶段开始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Maslow's Hierarchy of Needs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158</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170</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173</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总价：乙方</a:t>
            </a:r>
            <a:r>
              <a:rPr lang="en-US" altLang="zh-CN" dirty="0"/>
              <a:t>/</a:t>
            </a:r>
            <a:r>
              <a:rPr lang="zh-CN" altLang="en-US" dirty="0"/>
              <a:t>承包人风险大</a:t>
            </a:r>
            <a:endParaRPr lang="en-US" altLang="zh-CN" dirty="0"/>
          </a:p>
          <a:p>
            <a:r>
              <a:rPr lang="zh-CN" altLang="en-US" dirty="0"/>
              <a:t>补偿：实报实销；甲方</a:t>
            </a:r>
            <a:r>
              <a:rPr lang="en-US" altLang="zh-CN" dirty="0"/>
              <a:t>/</a:t>
            </a:r>
            <a:r>
              <a:rPr lang="zh-CN" altLang="en-US" dirty="0"/>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标题幻灯片">
    <p:spTree>
      <p:nvGrpSpPr>
        <p:cNvPr id="1" name=""/>
        <p:cNvGrpSpPr/>
        <p:nvPr/>
      </p:nvGrpSpPr>
      <p:grpSpPr>
        <a:xfrm>
          <a:off x="0" y="0"/>
          <a:ext cx="0" cy="0"/>
          <a:chOff x="0" y="0"/>
          <a:chExt cx="0" cy="0"/>
        </a:xfrm>
      </p:grpSpPr>
      <p:sp>
        <p:nvSpPr>
          <p:cNvPr id="8" name="图片占位符 7">
            <a:extLst>
              <a:ext uri="{FF2B5EF4-FFF2-40B4-BE49-F238E27FC236}">
                <a16:creationId xmlns:a16="http://schemas.microsoft.com/office/drawing/2014/main" id="{DD2370AC-1BEE-3E5D-48C7-011775346A5C}"/>
              </a:ext>
            </a:extLst>
          </p:cNvPr>
          <p:cNvSpPr>
            <a:spLocks noGrp="1"/>
          </p:cNvSpPr>
          <p:nvPr>
            <p:ph type="pic" sz="quarter" idx="10"/>
          </p:nvPr>
        </p:nvSpPr>
        <p:spPr>
          <a:xfrm>
            <a:off x="0" y="0"/>
            <a:ext cx="6480000" cy="6858000"/>
          </a:xfrm>
        </p:spPr>
        <p:txBody>
          <a:bodyPr/>
          <a:lstStyle/>
          <a:p>
            <a:endParaRPr lang="zh-CN" altLang="en-US"/>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p:ph type="ctrTitle"/>
          </p:nvPr>
        </p:nvSpPr>
        <p:spPr>
          <a:xfrm>
            <a:off x="4077578" y="3498981"/>
            <a:ext cx="7262228" cy="1440000"/>
          </a:xfrm>
          <a:solidFill>
            <a:schemeClr val="accent2"/>
          </a:solidFill>
        </p:spPr>
        <p:txBody>
          <a:bodyPr wrap="square" lIns="180000" tIns="72000" rIns="180000" bIns="72000" anchor="b" anchorCtr="0">
            <a:noAutofit/>
          </a:bodyPr>
          <a:lstStyle>
            <a:lvl1pPr algn="r">
              <a:defRPr sz="400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p:ph type="subTitle" idx="1"/>
          </p:nvPr>
        </p:nvSpPr>
        <p:spPr>
          <a:xfrm>
            <a:off x="4077578" y="4938981"/>
            <a:ext cx="7262228" cy="900000"/>
          </a:xfrm>
          <a:solidFill>
            <a:schemeClr val="accent2"/>
          </a:solidFill>
        </p:spPr>
        <p:txBody>
          <a:bodyPr wrap="square" lIns="180000" tIns="72000" rIns="180000" bIns="72000">
            <a:noAutofit/>
          </a:bodyPr>
          <a:lstStyle>
            <a:lvl1pPr marL="0" indent="0" algn="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p:ph type="body" sz="quarter" idx="11"/>
          </p:nvPr>
        </p:nvSpPr>
        <p:spPr>
          <a:xfrm>
            <a:off x="6480000" y="1128713"/>
            <a:ext cx="4859513" cy="2300287"/>
          </a:xfrm>
        </p:spPr>
        <p:txBody>
          <a:bodyPr/>
          <a:lstStyle>
            <a:lvl1pPr algn="r">
              <a:buFont typeface="+mj-lt"/>
              <a:buAutoNum type="arabicPeriod"/>
              <a:defRPr sz="1800"/>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hasCustomPrompt="1"/>
          </p:nvPr>
        </p:nvSpPr>
        <p:spPr>
          <a:xfrm>
            <a:off x="695998" y="360000"/>
            <a:ext cx="6375921" cy="429413"/>
          </a:xfrm>
        </p:spPr>
        <p:txBody>
          <a:bodyPr>
            <a:noAutofit/>
          </a:body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328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hasCustomPrompt="1"/>
          </p:nvPr>
        </p:nvSpPr>
        <p:spPr>
          <a:xfrm>
            <a:off x="696000" y="360000"/>
            <a:ext cx="10800000" cy="429413"/>
          </a:xfrm>
        </p:spPr>
        <p:txBody>
          <a:bodyPr>
            <a:noAutofit/>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328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328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dirty="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dirty="0">
                <a:solidFill>
                  <a:schemeClr val="bg1"/>
                </a:solidFill>
              </a:rPr>
              <a:t>Sample</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D638FDA1-5138-E182-FC77-2C92D8B0460C}"/>
              </a:ext>
            </a:extLst>
          </p:cNvPr>
          <p:cNvSpPr>
            <a:spLocks noGrp="1"/>
          </p:cNvSpPr>
          <p:nvPr>
            <p:ph type="dt" sz="half" idx="10"/>
          </p:nvPr>
        </p:nvSpPr>
        <p:spPr>
          <a:xfrm>
            <a:off x="838200" y="6356350"/>
            <a:ext cx="2743200" cy="365125"/>
          </a:xfrm>
          <a:prstGeom prst="rect">
            <a:avLst/>
          </a:prstGeom>
        </p:spPr>
        <p:txBody>
          <a:bodyPr/>
          <a:lstStyle/>
          <a:p>
            <a:fld id="{06850CC8-3A95-415C-AB05-1EF8CDC649BA}" type="datetimeFigureOut">
              <a:rPr lang="zh-CN" altLang="en-US" smtClean="0"/>
              <a:t>2026/3/1</a:t>
            </a:fld>
            <a:endParaRPr lang="zh-CN" altLang="en-US"/>
          </a:p>
        </p:txBody>
      </p:sp>
      <p:sp>
        <p:nvSpPr>
          <p:cNvPr id="3" name="页脚占位符 2">
            <a:extLst>
              <a:ext uri="{FF2B5EF4-FFF2-40B4-BE49-F238E27FC236}">
                <a16:creationId xmlns:a16="http://schemas.microsoft.com/office/drawing/2014/main" id="{B9A74514-8DC7-6C41-4D59-D4CD238E03B9}"/>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a:extLst>
              <a:ext uri="{FF2B5EF4-FFF2-40B4-BE49-F238E27FC236}">
                <a16:creationId xmlns:a16="http://schemas.microsoft.com/office/drawing/2014/main" id="{8DF56264-8C57-DCE4-678B-6884CF5F63AE}"/>
              </a:ext>
            </a:extLst>
          </p:cNvPr>
          <p:cNvSpPr>
            <a:spLocks noGrp="1"/>
          </p:cNvSpPr>
          <p:nvPr>
            <p:ph type="sldNum" sz="quarter" idx="12"/>
          </p:nvPr>
        </p:nvSpPr>
        <p:spPr>
          <a:xfrm>
            <a:off x="8610600" y="6356350"/>
            <a:ext cx="2743200" cy="365125"/>
          </a:xfrm>
          <a:prstGeom prst="rect">
            <a:avLst/>
          </a:prstGeom>
        </p:spPr>
        <p:txBody>
          <a:bodyPr/>
          <a:lstStyle/>
          <a:p>
            <a:fld id="{0DFA34F5-2612-4656-B2AA-94101840898A}" type="slidenum">
              <a:rPr lang="zh-CN" altLang="en-US" smtClean="0"/>
              <a:t>‹#›</a:t>
            </a:fld>
            <a:endParaRPr lang="zh-CN" altLang="en-US"/>
          </a:p>
        </p:txBody>
      </p:sp>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accent2">
                <a:lumMod val="20000"/>
                <a:lumOff val="80000"/>
              </a:schemeClr>
            </a:gs>
            <a:gs pos="0">
              <a:schemeClr val="bg1"/>
            </a:gs>
          </a:gsLst>
          <a:lin ang="2700000" scaled="1"/>
          <a:tileRect/>
        </a:gra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328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26000" y="6250231"/>
            <a:ext cx="540000" cy="540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366343"/>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366343"/>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dirty="0"/>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tx1"/>
          </a:solidFill>
          <a:latin typeface="Roboto Mono" pitchFamily="2" charset="0"/>
          <a:ea typeface="微软雅黑" panose="020B0503020204020204" pitchFamily="34" charset="-122"/>
          <a:cs typeface="+mj-cs"/>
        </a:defRPr>
      </a:lvl1pPr>
    </p:titleStyle>
    <p:bodyStyle>
      <a:lvl1pPr marL="228600" indent="-216000" algn="just"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just"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147.xml"/><Relationship Id="rId13" Type="http://schemas.openxmlformats.org/officeDocument/2006/relationships/slide" Target="slide187.xml"/><Relationship Id="rId3" Type="http://schemas.openxmlformats.org/officeDocument/2006/relationships/slide" Target="slide40.xml"/><Relationship Id="rId7" Type="http://schemas.openxmlformats.org/officeDocument/2006/relationships/slide" Target="slide141.xml"/><Relationship Id="rId12" Type="http://schemas.openxmlformats.org/officeDocument/2006/relationships/slide" Target="slide175.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120.xml"/><Relationship Id="rId11" Type="http://schemas.openxmlformats.org/officeDocument/2006/relationships/slide" Target="slide193.xml"/><Relationship Id="rId5" Type="http://schemas.openxmlformats.org/officeDocument/2006/relationships/slide" Target="slide112.xml"/><Relationship Id="rId10" Type="http://schemas.openxmlformats.org/officeDocument/2006/relationships/slide" Target="slide167.xml"/><Relationship Id="rId4" Type="http://schemas.openxmlformats.org/officeDocument/2006/relationships/slide" Target="slide111.xml"/><Relationship Id="rId9" Type="http://schemas.openxmlformats.org/officeDocument/2006/relationships/slide" Target="slide153.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image" Target="../media/image5.png"/><Relationship Id="rId1" Type="http://schemas.openxmlformats.org/officeDocument/2006/relationships/slideLayout" Target="../slideLayouts/slideLayout5.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png"/></Relationships>
</file>

<file path=ppt/slides/_rels/slide31.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5.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9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image" Target="../media/image19.svg"/></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png"/><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diagramLayout" Target="../diagrams/layout13.xml"/><Relationship Id="rId7" Type="http://schemas.openxmlformats.org/officeDocument/2006/relationships/image" Target="../media/image34.png"/><Relationship Id="rId12" Type="http://schemas.openxmlformats.org/officeDocument/2006/relationships/image" Target="../media/image39.sv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11" Type="http://schemas.openxmlformats.org/officeDocument/2006/relationships/image" Target="../media/image38.png"/><Relationship Id="rId5" Type="http://schemas.openxmlformats.org/officeDocument/2006/relationships/diagramColors" Target="../diagrams/colors13.xml"/><Relationship Id="rId10" Type="http://schemas.openxmlformats.org/officeDocument/2006/relationships/image" Target="../media/image37.svg"/><Relationship Id="rId4" Type="http://schemas.openxmlformats.org/officeDocument/2006/relationships/diagramQuickStyle" Target="../diagrams/quickStyle13.xml"/><Relationship Id="rId9" Type="http://schemas.openxmlformats.org/officeDocument/2006/relationships/image" Target="../media/image36.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9445E614-E647-EB35-3EA8-D8379963D1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571500"/>
            <a:ext cx="7620000" cy="5715000"/>
          </a:xfrm>
          <a:prstGeom prst="rect">
            <a:avLst/>
          </a:prstGeom>
          <a:effectLst>
            <a:innerShdw blurRad="63500" dist="50800" dir="13500000">
              <a:prstClr val="black">
                <a:alpha val="50000"/>
              </a:prstClr>
            </a:inn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dirty="0">
                <a:solidFill>
                  <a:schemeClr val="bg1"/>
                </a:solidFill>
              </a:rPr>
              <a:t>Contents</a:t>
            </a:r>
            <a:endParaRPr lang="zh-CN" altLang="en-US" sz="1600" dirty="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dirty="0"/>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dirty="0"/>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dirty="0"/>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dirty="0"/>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dirty="0"/>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dirty="0"/>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dirty="0"/>
              <a:t>项目配置管理计划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dirty="0"/>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dirty="0"/>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dirty="0"/>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dirty="0"/>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dirty="0"/>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dirty="0"/>
              <a:t>2</a:t>
            </a:r>
            <a:endParaRPr lang="zh-CN" altLang="en-US" dirty="0"/>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dirty="0"/>
              <a:t>3</a:t>
            </a:r>
            <a:endParaRPr lang="zh-CN" altLang="en-US" dirty="0"/>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dirty="0"/>
              <a:t>4</a:t>
            </a:r>
            <a:endParaRPr lang="zh-CN" altLang="en-US" dirty="0"/>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dirty="0"/>
              <a:t>6</a:t>
            </a:r>
            <a:endParaRPr lang="zh-CN" altLang="en-US" dirty="0"/>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dirty="0"/>
              <a:t>2</a:t>
            </a:r>
            <a:endParaRPr lang="zh-CN" altLang="en-US" dirty="0"/>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dirty="0"/>
              <a:t>Section 1</a:t>
            </a:r>
            <a:endParaRPr lang="zh-CN" altLang="en-US" dirty="0"/>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dirty="0"/>
              <a:t>Section 2</a:t>
            </a:r>
            <a:endParaRPr lang="zh-CN" altLang="en-US" dirty="0"/>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dirty="0"/>
              <a:t>Section 3</a:t>
            </a:r>
            <a:endParaRPr lang="zh-CN" altLang="en-US" dirty="0"/>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dirty="0"/>
              <a:t>Section 4</a:t>
            </a:r>
            <a:endParaRPr lang="zh-CN" altLang="en-US" dirty="0"/>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dirty="0"/>
              <a:t>Section 5</a:t>
            </a:r>
            <a:endParaRPr lang="zh-CN" altLang="en-US" dirty="0"/>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dirty="0"/>
              <a:t>Section 6</a:t>
            </a:r>
            <a:endParaRPr lang="zh-CN" altLang="en-US" dirty="0"/>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dirty="0"/>
              <a:t>Section 7</a:t>
            </a:r>
            <a:endParaRPr lang="zh-CN" altLang="en-US" dirty="0"/>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dirty="0"/>
              <a:t>Section 8</a:t>
            </a:r>
            <a:endParaRPr lang="zh-CN" altLang="en-US" dirty="0"/>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dirty="0"/>
              <a:t>Section 9</a:t>
            </a:r>
            <a:endParaRPr lang="zh-CN" altLang="en-US" dirty="0"/>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dirty="0"/>
              <a:t>Section 10</a:t>
            </a:r>
            <a:endParaRPr lang="zh-CN" altLang="en-US" dirty="0"/>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dirty="0"/>
              <a:t>Section 11</a:t>
            </a:r>
            <a:endParaRPr lang="zh-CN" altLang="en-US" dirty="0"/>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dirty="0"/>
              <a:t>Section 12</a:t>
            </a:r>
            <a:endParaRPr lang="zh-CN" altLang="en-US" dirty="0"/>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Placeholder 24">
            <a:extLst>
              <a:ext uri="{FF2B5EF4-FFF2-40B4-BE49-F238E27FC236}">
                <a16:creationId xmlns:a16="http://schemas.microsoft.com/office/drawing/2014/main" id="{0B76303B-5B83-E5C8-3FEF-54959CAE5CF6}"/>
              </a:ext>
            </a:extLst>
          </p:cNvPr>
          <p:cNvPicPr>
            <a:picLocks noGrp="1" noChangeAspect="1"/>
          </p:cNvPicPr>
          <p:nvPr>
            <p:ph type="pic" sz="quarter" idx="10"/>
          </p:nvPr>
        </p:nvPicPr>
        <p:blipFill>
          <a:blip r:embed="rId2"/>
          <a:srcRect t="1" b="1"/>
          <a:stretch/>
        </p:blipFill>
        <p:spPr>
          <a:xfrm>
            <a:off x="0" y="0"/>
            <a:ext cx="6480000" cy="6858000"/>
          </a:xfrm>
        </p:spPr>
      </p:pic>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4077578" y="3498981"/>
            <a:ext cx="7262228" cy="1440000"/>
          </a:xfrm>
        </p:spPr>
        <p:txBody>
          <a:bodyPr/>
          <a:lstStyle/>
          <a:p>
            <a:r>
              <a:rPr lang="zh-CN" altLang="en-US"/>
              <a:t>软件项目管理概述</a:t>
            </a:r>
            <a:endParaRPr lang="zh-CN" altLang="en-US" dirty="0"/>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4077578" y="4938981"/>
            <a:ext cx="7262228" cy="900000"/>
          </a:xfrm>
        </p:spPr>
        <p:txBody>
          <a:bodyPr/>
          <a:lstStyle/>
          <a:p>
            <a:r>
              <a:rPr lang="en-US" altLang="zh-CN"/>
              <a:t>Section 1 Overview</a:t>
            </a:r>
            <a:endParaRPr lang="zh-CN" altLang="en-US" dirty="0"/>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6480000" y="1128713"/>
            <a:ext cx="4859513" cy="2300287"/>
          </a:xfrm>
        </p:spPr>
        <p:txBody>
          <a:bodyPr/>
          <a:lstStyle/>
          <a:p>
            <a:r>
              <a:rPr lang="zh-CN" altLang="en-US" dirty="0"/>
              <a:t>项目与软件项目</a:t>
            </a:r>
          </a:p>
          <a:p>
            <a:r>
              <a:rPr lang="zh-CN" altLang="en-US" dirty="0"/>
              <a:t>项目管理与软件项目管理</a:t>
            </a:r>
          </a:p>
          <a:p>
            <a:r>
              <a:rPr lang="zh-CN" altLang="en-US" dirty="0"/>
              <a:t>传统软件项目管理</a:t>
            </a:r>
          </a:p>
          <a:p>
            <a:r>
              <a:rPr lang="zh-CN" altLang="en-US" dirty="0"/>
              <a:t>敏捷软件项目管理</a:t>
            </a:r>
          </a:p>
          <a:p>
            <a:endParaRPr lang="zh-CN" altLang="en-US" dirty="0"/>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dirty="0"/>
              <a:t>1.1 </a:t>
            </a:r>
            <a:r>
              <a:rPr lang="zh-CN" altLang="en-US" dirty="0"/>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dirty="0"/>
              <a:t>定义 </a:t>
            </a:r>
            <a:r>
              <a:rPr lang="en-US" altLang="zh-CN" dirty="0"/>
              <a:t>Concept</a:t>
            </a:r>
            <a:r>
              <a:rPr lang="zh-CN" altLang="en-US" dirty="0"/>
              <a:t>：为了创造一个唯一的产品或提供一个唯一的服务而进行的临时性的努力</a:t>
            </a:r>
            <a:endParaRPr lang="en-US" altLang="zh-CN" dirty="0"/>
          </a:p>
          <a:p>
            <a:endParaRPr lang="zh-CN" altLang="en-US" dirty="0"/>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dirty="0"/>
              <a:t>Project</a:t>
            </a:r>
            <a:endParaRPr lang="zh-CN" altLang="en-US" dirty="0"/>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dirty="0"/>
              <a:t>1.1 </a:t>
            </a:r>
            <a:r>
              <a:rPr lang="zh-CN" altLang="en-US" dirty="0"/>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328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dirty="0"/>
              <a:t>Project</a:t>
            </a:r>
            <a:endParaRPr lang="zh-CN" altLang="en-US" dirty="0"/>
          </a:p>
        </p:txBody>
      </p:sp>
      <p:graphicFrame>
        <p:nvGraphicFramePr>
          <p:cNvPr id="4" name="Diagram 3">
            <a:extLst>
              <a:ext uri="{FF2B5EF4-FFF2-40B4-BE49-F238E27FC236}">
                <a16:creationId xmlns:a16="http://schemas.microsoft.com/office/drawing/2014/main" id="{25391F4A-3619-B28E-05D6-A8F854D3800E}"/>
              </a:ext>
            </a:extLst>
          </p:cNvPr>
          <p:cNvGraphicFramePr/>
          <p:nvPr>
            <p:extLst>
              <p:ext uri="{D42A27DB-BD31-4B8C-83A1-F6EECF244321}">
                <p14:modId xmlns:p14="http://schemas.microsoft.com/office/powerpoint/2010/main" val="2100120135"/>
              </p:ext>
            </p:extLst>
          </p:nvPr>
        </p:nvGraphicFramePr>
        <p:xfrm>
          <a:off x="3023828" y="1466443"/>
          <a:ext cx="6144344" cy="47255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30553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dirty="0"/>
              <a:t>1.2 </a:t>
            </a:r>
            <a:r>
              <a:rPr lang="zh-CN" altLang="en-US" dirty="0"/>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dirty="0"/>
              <a:t>将项目分解为更小的单位</a:t>
            </a:r>
            <a:endParaRPr lang="en-US" altLang="zh-CN" dirty="0"/>
          </a:p>
          <a:p>
            <a:r>
              <a:rPr lang="zh-CN" altLang="en-US" dirty="0"/>
              <a:t>便于更好的控制项目</a:t>
            </a:r>
            <a:endParaRPr lang="en-US" altLang="zh-CN" dirty="0"/>
          </a:p>
          <a:p>
            <a:r>
              <a:rPr lang="zh-CN" altLang="en-US" dirty="0"/>
              <a:t>划分很灵活</a:t>
            </a:r>
            <a:endParaRPr lang="en-US" altLang="zh-CN" dirty="0"/>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dirty="0"/>
              <a:t>Sub-Program</a:t>
            </a:r>
            <a:endParaRPr lang="zh-CN" altLang="en-US" dirty="0"/>
          </a:p>
        </p:txBody>
      </p:sp>
    </p:spTree>
    <p:extLst>
      <p:ext uri="{BB962C8B-B14F-4D97-AF65-F5344CB8AC3E}">
        <p14:creationId xmlns:p14="http://schemas.microsoft.com/office/powerpoint/2010/main" val="2040197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dirty="0"/>
              <a:t>1.3 </a:t>
            </a:r>
            <a:r>
              <a:rPr lang="zh-CN" altLang="en-US" dirty="0"/>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328000"/>
          </a:xfrm>
        </p:spPr>
        <p:txBody>
          <a:bodyPr>
            <a:normAutofit/>
          </a:bodyPr>
          <a:lstStyle/>
          <a:p>
            <a:r>
              <a:rPr lang="zh-CN" altLang="en-US" dirty="0"/>
              <a:t>一组相互关联的项目、子项目和受控过程的活动</a:t>
            </a:r>
            <a:endParaRPr lang="en-US" altLang="zh-CN" dirty="0"/>
          </a:p>
          <a:p>
            <a:r>
              <a:rPr lang="zh-CN" altLang="en-US" dirty="0"/>
              <a:t>也称为大型项目</a:t>
            </a:r>
          </a:p>
          <a:p>
            <a:r>
              <a:rPr lang="zh-CN" altLang="en-US" dirty="0"/>
              <a:t>目的：通过协同管理获取单独管理各个部分时无法实现的额外效益</a:t>
            </a:r>
          </a:p>
          <a:p>
            <a:r>
              <a:rPr lang="zh-CN" altLang="en-US" dirty="0"/>
              <a:t>相互关联的项目：多个项目之间存在逻辑或目标上的联系</a:t>
            </a:r>
          </a:p>
          <a:p>
            <a:r>
              <a:rPr lang="zh-CN" altLang="en-US" dirty="0"/>
              <a:t>协调管理：统一规划、组织与控制，以确保整体一致性</a:t>
            </a:r>
          </a:p>
          <a:p>
            <a:r>
              <a:rPr lang="zh-CN" altLang="en-US" dirty="0"/>
              <a:t>核心价值：整体大于部分之和</a:t>
            </a:r>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dirty="0"/>
              <a:t>Program</a:t>
            </a:r>
            <a:endParaRPr lang="zh-CN" altLang="en-US" dirty="0"/>
          </a:p>
        </p:txBody>
      </p:sp>
    </p:spTree>
    <p:extLst>
      <p:ext uri="{BB962C8B-B14F-4D97-AF65-F5344CB8AC3E}">
        <p14:creationId xmlns:p14="http://schemas.microsoft.com/office/powerpoint/2010/main" val="2151493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dirty="0"/>
              <a:t>1.4 </a:t>
            </a:r>
            <a:r>
              <a:rPr lang="zh-CN" altLang="en-US" dirty="0"/>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dirty="0"/>
              <a:t>项目组合是为实现战略目标而整合管理的一系列项目、项目集和运营活动的集合</a:t>
            </a:r>
            <a:endParaRPr lang="en-US" altLang="zh-CN" dirty="0"/>
          </a:p>
          <a:p>
            <a:r>
              <a:rPr lang="zh-CN" altLang="en-US" dirty="0"/>
              <a:t>特点</a:t>
            </a:r>
          </a:p>
          <a:p>
            <a:pPr lvl="1"/>
            <a:r>
              <a:rPr lang="zh-CN" altLang="en-US" dirty="0"/>
              <a:t>项目或项目集之间不一定彼此依赖或直接相关</a:t>
            </a:r>
          </a:p>
          <a:p>
            <a:pPr lvl="1"/>
            <a:r>
              <a:rPr lang="zh-CN" altLang="en-US" dirty="0"/>
              <a:t>管理重点在于战略对齐，而非技术或执行上的关联性</a:t>
            </a:r>
            <a:endParaRPr lang="en-US" altLang="zh-CN" dirty="0"/>
          </a:p>
          <a:p>
            <a:r>
              <a:rPr lang="zh-CN" altLang="en-US" dirty="0"/>
              <a:t>战略导向：项目组合的管理是为了达成组织的战略目标</a:t>
            </a:r>
          </a:p>
          <a:p>
            <a:r>
              <a:rPr lang="zh-CN" altLang="en-US" dirty="0"/>
              <a:t>多样化组成：包含项目、项目集、子项目组合及运营工作</a:t>
            </a:r>
          </a:p>
          <a:p>
            <a:r>
              <a:rPr lang="zh-CN" altLang="en-US" dirty="0"/>
              <a:t>非依赖性：组合内的元素可以独立运作，无需相互依赖</a:t>
            </a:r>
          </a:p>
          <a:p>
            <a:r>
              <a:rPr lang="zh-CN" altLang="en-US" dirty="0"/>
              <a:t>统一管理：通过集中管理实现资源优化、优先级排序和战略一致性</a:t>
            </a:r>
            <a:endParaRPr lang="en-US" altLang="zh-CN" dirty="0"/>
          </a:p>
          <a:p>
            <a:r>
              <a:rPr lang="zh-CN" altLang="en-US" dirty="0"/>
              <a:t>强调</a:t>
            </a:r>
            <a:endParaRPr lang="en-US" altLang="zh-CN" dirty="0"/>
          </a:p>
          <a:p>
            <a:pPr lvl="1"/>
            <a:r>
              <a:rPr lang="zh-CN" altLang="en-US" dirty="0"/>
              <a:t>战略价值和整体效益</a:t>
            </a:r>
            <a:endParaRPr lang="en-US" altLang="zh-CN" dirty="0"/>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dirty="0"/>
              <a:t>Portfolio</a:t>
            </a:r>
            <a:endParaRPr lang="zh-CN" altLang="en-US" dirty="0"/>
          </a:p>
        </p:txBody>
      </p:sp>
    </p:spTree>
    <p:extLst>
      <p:ext uri="{BB962C8B-B14F-4D97-AF65-F5344CB8AC3E}">
        <p14:creationId xmlns:p14="http://schemas.microsoft.com/office/powerpoint/2010/main" val="22143100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dirty="0"/>
              <a:t>项目组合 </a:t>
            </a:r>
            <a:r>
              <a:rPr lang="en-US" altLang="zh-CN" sz="1600" dirty="0"/>
              <a:t>Portfolio</a:t>
            </a:r>
            <a:endParaRPr lang="zh-CN" altLang="en-US" sz="16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dirty="0"/>
              <a:t>项目集 </a:t>
            </a:r>
            <a:r>
              <a:rPr lang="en-US" altLang="zh-CN" sz="1600" dirty="0"/>
              <a:t>Program</a:t>
            </a:r>
            <a:endParaRPr lang="zh-CN" altLang="en-US" sz="1600" dirty="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dirty="0"/>
              <a:t>项目 </a:t>
            </a:r>
            <a:r>
              <a:rPr lang="en-US" altLang="zh-CN" sz="1600" dirty="0"/>
              <a:t>Project</a:t>
            </a:r>
            <a:endParaRPr lang="zh-CN" altLang="en-US" sz="1600" dirty="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dirty="0"/>
              <a:t>项目 </a:t>
            </a:r>
            <a:r>
              <a:rPr lang="en-US" altLang="zh-CN" dirty="0"/>
              <a:t>Project</a:t>
            </a:r>
            <a:endParaRPr lang="zh-CN" altLang="en-US" dirty="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cxnSp>
        <p:nvCxnSpPr>
          <p:cNvPr id="13" name="Connector: Elbow 12">
            <a:extLst>
              <a:ext uri="{FF2B5EF4-FFF2-40B4-BE49-F238E27FC236}">
                <a16:creationId xmlns:a16="http://schemas.microsoft.com/office/drawing/2014/main" id="{E2CDE2B9-A78F-F5A8-419E-7CF909E9D3A5}"/>
              </a:ext>
            </a:extLst>
          </p:cNvPr>
          <p:cNvCxnSpPr>
            <a:stCxn id="6" idx="1"/>
            <a:endCxn id="7" idx="1"/>
          </p:cNvCxnSpPr>
          <p:nvPr/>
        </p:nvCxnSpPr>
        <p:spPr>
          <a:xfrm rot="10800000" flipH="1" flipV="1">
            <a:off x="3656582" y="1586555"/>
            <a:ext cx="360000" cy="62516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a:stCxn id="7" idx="1"/>
            <a:endCxn id="8" idx="1"/>
          </p:cNvCxnSpPr>
          <p:nvPr/>
        </p:nvCxnSpPr>
        <p:spPr>
          <a:xfrm rot="10800000" flipH="1" flipV="1">
            <a:off x="4016582" y="2211714"/>
            <a:ext cx="360000" cy="640549"/>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a:stCxn id="7" idx="1"/>
            <a:endCxn id="9" idx="1"/>
          </p:cNvCxnSpPr>
          <p:nvPr/>
        </p:nvCxnSpPr>
        <p:spPr>
          <a:xfrm rot="10800000" flipH="1" flipV="1">
            <a:off x="4016582" y="2211715"/>
            <a:ext cx="360000" cy="1265708"/>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a:stCxn id="10" idx="1"/>
            <a:endCxn id="32" idx="1"/>
          </p:cNvCxnSpPr>
          <p:nvPr/>
        </p:nvCxnSpPr>
        <p:spPr>
          <a:xfrm rot="10800000" flipV="1">
            <a:off x="4736582" y="4117971"/>
            <a:ext cx="12700" cy="1246920"/>
          </a:xfrm>
          <a:prstGeom prst="bentConnector3">
            <a:avLst>
              <a:gd name="adj1" fmla="val 1800000"/>
            </a:avLst>
          </a:prstGeom>
          <a:ln>
            <a:solidFill>
              <a:schemeClr val="tx1">
                <a:lumMod val="50000"/>
                <a:lumOff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dirty="0"/>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dirty="0"/>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dirty="0"/>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dirty="0"/>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dirty="0"/>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dirty="0"/>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a:stCxn id="9" idx="1"/>
            <a:endCxn id="11" idx="1"/>
          </p:cNvCxnSpPr>
          <p:nvPr/>
        </p:nvCxnSpPr>
        <p:spPr>
          <a:xfrm rot="10800000" flipH="1" flipV="1">
            <a:off x="4376582" y="3477423"/>
            <a:ext cx="360000" cy="126571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Tree>
    <p:extLst>
      <p:ext uri="{BB962C8B-B14F-4D97-AF65-F5344CB8AC3E}">
        <p14:creationId xmlns:p14="http://schemas.microsoft.com/office/powerpoint/2010/main" val="25934694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dirty="0"/>
              <a:t>含义 </a:t>
            </a:r>
            <a:r>
              <a:rPr lang="en-US" altLang="zh-CN" dirty="0"/>
              <a:t>Concept</a:t>
            </a:r>
          </a:p>
          <a:p>
            <a:pPr lvl="1"/>
            <a:r>
              <a:rPr lang="zh-CN" altLang="en-US" dirty="0"/>
              <a:t>计算机程序以及说明程序的各种文档</a:t>
            </a:r>
            <a:endParaRPr lang="en-US" altLang="zh-CN" dirty="0"/>
          </a:p>
          <a:p>
            <a:r>
              <a:rPr lang="zh-CN" altLang="en-US" dirty="0"/>
              <a:t>组成要素 </a:t>
            </a:r>
            <a:r>
              <a:rPr lang="en-US" altLang="zh-CN" dirty="0"/>
              <a:t>Component</a:t>
            </a:r>
          </a:p>
          <a:p>
            <a:pPr lvl="1"/>
            <a:r>
              <a:rPr lang="zh-CN" altLang="en-US" dirty="0"/>
              <a:t>程序</a:t>
            </a:r>
            <a:endParaRPr lang="en-US" altLang="zh-CN" dirty="0"/>
          </a:p>
          <a:p>
            <a:pPr lvl="1"/>
            <a:r>
              <a:rPr lang="zh-CN" altLang="en-US" dirty="0"/>
              <a:t>数据</a:t>
            </a:r>
            <a:endParaRPr lang="en-US" altLang="zh-CN" dirty="0"/>
          </a:p>
          <a:p>
            <a:pPr lvl="1"/>
            <a:r>
              <a:rPr lang="zh-CN" altLang="en-US" dirty="0"/>
              <a:t>相关文档</a:t>
            </a:r>
            <a:endParaRPr lang="en-US" altLang="zh-CN" dirty="0"/>
          </a:p>
          <a:p>
            <a:r>
              <a:rPr lang="zh-CN" altLang="en-US" dirty="0"/>
              <a:t>特点 </a:t>
            </a:r>
            <a:r>
              <a:rPr lang="en-US" altLang="zh-CN" dirty="0"/>
              <a:t>Feature</a:t>
            </a:r>
          </a:p>
          <a:p>
            <a:pPr lvl="1"/>
            <a:r>
              <a:rPr lang="zh-CN" altLang="en-US" dirty="0"/>
              <a:t>逻辑实体</a:t>
            </a:r>
            <a:endParaRPr lang="en-US" altLang="zh-CN" dirty="0"/>
          </a:p>
          <a:p>
            <a:pPr lvl="1"/>
            <a:r>
              <a:rPr lang="zh-CN" altLang="en-US" dirty="0"/>
              <a:t>同硬件相比，没有生产、磨损和老化</a:t>
            </a:r>
            <a:endParaRPr lang="en-US" altLang="zh-CN" dirty="0"/>
          </a:p>
          <a:p>
            <a:pPr lvl="1"/>
            <a:r>
              <a:rPr lang="zh-CN" altLang="en-US" dirty="0"/>
              <a:t>开发受计算机系统限制</a:t>
            </a:r>
            <a:endParaRPr lang="en-US" altLang="zh-CN" dirty="0"/>
          </a:p>
          <a:p>
            <a:pPr lvl="1"/>
            <a:r>
              <a:rPr lang="zh-CN" altLang="en-US" dirty="0"/>
              <a:t>在</a:t>
            </a:r>
            <a:r>
              <a:rPr lang="en-US" altLang="zh-CN" dirty="0"/>
              <a:t>AI</a:t>
            </a:r>
            <a:r>
              <a:rPr lang="zh-CN" altLang="en-US" dirty="0"/>
              <a:t>盛行的当下，仍然严重依赖人工</a:t>
            </a:r>
            <a:endParaRPr lang="en-US" altLang="zh-CN" dirty="0"/>
          </a:p>
          <a:p>
            <a:pPr lvl="1"/>
            <a:r>
              <a:rPr lang="zh-CN" altLang="en-US" dirty="0"/>
              <a:t>技术复杂、更新迭代快</a:t>
            </a:r>
            <a:endParaRPr lang="en-US" altLang="zh-CN" dirty="0"/>
          </a:p>
          <a:p>
            <a:pPr lvl="1"/>
            <a:r>
              <a:rPr lang="zh-CN" altLang="en-US" dirty="0"/>
              <a:t>开发成本低和学习成本高</a:t>
            </a:r>
            <a:endParaRPr lang="en-US" altLang="zh-CN" dirty="0"/>
          </a:p>
          <a:p>
            <a:pPr lvl="1"/>
            <a:r>
              <a:rPr lang="zh-CN" altLang="en-US" dirty="0"/>
              <a:t>涉及多方面因素</a:t>
            </a:r>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spTree>
    <p:extLst>
      <p:ext uri="{BB962C8B-B14F-4D97-AF65-F5344CB8AC3E}">
        <p14:creationId xmlns:p14="http://schemas.microsoft.com/office/powerpoint/2010/main" val="491549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dirty="0"/>
              <a:t>制约 </a:t>
            </a:r>
            <a:r>
              <a:rPr lang="en-US" altLang="zh-CN" dirty="0"/>
              <a:t>Constrain</a:t>
            </a:r>
          </a:p>
          <a:p>
            <a:pPr lvl="1"/>
            <a:r>
              <a:rPr lang="zh-CN" altLang="en-US" dirty="0"/>
              <a:t>项目范围 </a:t>
            </a:r>
            <a:r>
              <a:rPr lang="en-US" altLang="zh-CN" dirty="0"/>
              <a:t>Scope</a:t>
            </a:r>
          </a:p>
          <a:p>
            <a:pPr lvl="1"/>
            <a:r>
              <a:rPr lang="zh-CN" altLang="en-US" dirty="0"/>
              <a:t>进度计划 </a:t>
            </a:r>
            <a:r>
              <a:rPr lang="en-US" altLang="zh-CN" dirty="0"/>
              <a:t>Schedule / Time</a:t>
            </a:r>
          </a:p>
          <a:p>
            <a:pPr lvl="1"/>
            <a:r>
              <a:rPr lang="zh-CN" altLang="en-US" dirty="0"/>
              <a:t>成本 </a:t>
            </a:r>
            <a:r>
              <a:rPr lang="en-US" altLang="zh-CN" dirty="0"/>
              <a:t>Cost / Budget</a:t>
            </a:r>
          </a:p>
          <a:p>
            <a:pPr lvl="1"/>
            <a:r>
              <a:rPr lang="zh-CN" altLang="en-US" dirty="0"/>
              <a:t>用户满意度 </a:t>
            </a:r>
            <a:r>
              <a:rPr lang="en-US" altLang="zh-CN" dirty="0"/>
              <a:t>User Satisfaction / Quality</a:t>
            </a:r>
            <a:endParaRPr lang="zh-CN" altLang="en-US" dirty="0"/>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1537592512"/>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dirty="0"/>
              <a:t>趋势 </a:t>
            </a:r>
            <a:r>
              <a:rPr lang="en-US" altLang="zh-CN" dirty="0"/>
              <a:t>Trend</a:t>
            </a:r>
          </a:p>
          <a:p>
            <a:pPr lvl="1"/>
            <a:r>
              <a:rPr lang="zh-CN" altLang="en-US" dirty="0"/>
              <a:t>当前软件项目开发正从“本地部署、一次性交付”转向“云端托管、持续迭代、服务化运营”</a:t>
            </a:r>
            <a:endParaRPr lang="en-US" altLang="zh-CN" dirty="0"/>
          </a:p>
          <a:p>
            <a:pPr lvl="1"/>
            <a:r>
              <a:rPr lang="en-US" altLang="zh-CN" dirty="0"/>
              <a:t>SaaS + Cloud </a:t>
            </a:r>
            <a:r>
              <a:rPr lang="zh-CN" altLang="en-US" dirty="0"/>
              <a:t>已成主流范式，推动软件产业向更灵活、高效、智能的方向演进</a:t>
            </a:r>
            <a:endParaRPr lang="en-US" altLang="zh-CN" dirty="0"/>
          </a:p>
          <a:p>
            <a:pPr lvl="1"/>
            <a:r>
              <a:rPr lang="zh-CN" altLang="en-US" dirty="0"/>
              <a:t>基于云平台构建 </a:t>
            </a:r>
            <a:r>
              <a:rPr lang="en-US" altLang="zh-CN" dirty="0"/>
              <a:t>SaaS </a:t>
            </a:r>
            <a:r>
              <a:rPr lang="zh-CN" altLang="en-US" dirty="0"/>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3209213464"/>
              </p:ext>
            </p:extLst>
          </p:nvPr>
        </p:nvGraphicFramePr>
        <p:xfrm>
          <a:off x="695325" y="3387090"/>
          <a:ext cx="10801350" cy="2804160"/>
        </p:xfrm>
        <a:graphic>
          <a:graphicData uri="http://schemas.openxmlformats.org/drawingml/2006/table">
            <a:tbl>
              <a:tblPr/>
              <a:tblGrid>
                <a:gridCol w="752475">
                  <a:extLst>
                    <a:ext uri="{9D8B030D-6E8A-4147-A177-3AD203B41FA5}">
                      <a16:colId xmlns:a16="http://schemas.microsoft.com/office/drawing/2014/main" val="1501163733"/>
                    </a:ext>
                  </a:extLst>
                </a:gridCol>
                <a:gridCol w="3039533">
                  <a:extLst>
                    <a:ext uri="{9D8B030D-6E8A-4147-A177-3AD203B41FA5}">
                      <a16:colId xmlns:a16="http://schemas.microsoft.com/office/drawing/2014/main" val="2025283877"/>
                    </a:ext>
                  </a:extLst>
                </a:gridCol>
                <a:gridCol w="1778000">
                  <a:extLst>
                    <a:ext uri="{9D8B030D-6E8A-4147-A177-3AD203B41FA5}">
                      <a16:colId xmlns:a16="http://schemas.microsoft.com/office/drawing/2014/main" val="173135749"/>
                    </a:ext>
                  </a:extLst>
                </a:gridCol>
                <a:gridCol w="3071072">
                  <a:extLst>
                    <a:ext uri="{9D8B030D-6E8A-4147-A177-3AD203B41FA5}">
                      <a16:colId xmlns:a16="http://schemas.microsoft.com/office/drawing/2014/main" val="974387085"/>
                    </a:ext>
                  </a:extLst>
                </a:gridCol>
                <a:gridCol w="2160270">
                  <a:extLst>
                    <a:ext uri="{9D8B030D-6E8A-4147-A177-3AD203B41FA5}">
                      <a16:colId xmlns:a16="http://schemas.microsoft.com/office/drawing/2014/main" val="2492545226"/>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sz="1600" dirty="0">
                          <a:solidFill>
                            <a:schemeClr val="bg1"/>
                          </a:solidFill>
                        </a:rPr>
                        <a:t>Relevant</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84947567"/>
                  </a:ext>
                </a:extLst>
              </a:tr>
              <a:tr h="0">
                <a:tc>
                  <a:txBody>
                    <a:bodyPr/>
                    <a:lstStyle/>
                    <a:p>
                      <a:pPr>
                        <a:buNone/>
                      </a:pPr>
                      <a:r>
                        <a:rPr lang="en-US" sz="1600" dirty="0"/>
                        <a:t>IaaS</a:t>
                      </a:r>
                    </a:p>
                  </a:txBody>
                  <a:tcPr anchor="ctr">
                    <a:lnL>
                      <a:noFill/>
                    </a:lnL>
                    <a:lnR>
                      <a:noFill/>
                    </a:lnR>
                    <a:lnT>
                      <a:noFill/>
                    </a:lnT>
                    <a:lnB>
                      <a:noFill/>
                    </a:lnB>
                    <a:noFill/>
                  </a:tcPr>
                </a:tc>
                <a:tc>
                  <a:txBody>
                    <a:bodyPr/>
                    <a:lstStyle/>
                    <a:p>
                      <a:pPr>
                        <a:buNone/>
                      </a:pPr>
                      <a:r>
                        <a:rPr lang="en-US" sz="1600" dirty="0"/>
                        <a:t>Infrastructure as a Service</a:t>
                      </a:r>
                    </a:p>
                  </a:txBody>
                  <a:tcPr anchor="ctr">
                    <a:lnL>
                      <a:noFill/>
                    </a:lnL>
                    <a:lnR>
                      <a:noFill/>
                    </a:lnR>
                    <a:lnT>
                      <a:noFill/>
                    </a:lnT>
                    <a:lnB>
                      <a:noFill/>
                    </a:lnB>
                    <a:noFill/>
                  </a:tcPr>
                </a:tc>
                <a:tc>
                  <a:txBody>
                    <a:bodyPr/>
                    <a:lstStyle/>
                    <a:p>
                      <a:pPr>
                        <a:buNone/>
                      </a:pPr>
                      <a:r>
                        <a:rPr lang="zh-CN" altLang="en-US" sz="1600"/>
                        <a:t>基础设施即服务</a:t>
                      </a:r>
                    </a:p>
                  </a:txBody>
                  <a:tcPr anchor="ctr">
                    <a:lnL>
                      <a:noFill/>
                    </a:lnL>
                    <a:lnR>
                      <a:noFill/>
                    </a:lnR>
                    <a:lnT>
                      <a:noFill/>
                    </a:lnT>
                    <a:lnB>
                      <a:noFill/>
                    </a:lnB>
                    <a:noFill/>
                  </a:tcPr>
                </a:tc>
                <a:tc>
                  <a:txBody>
                    <a:bodyPr/>
                    <a:lstStyle/>
                    <a:p>
                      <a:pPr>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a:noFill/>
                    </a:lnL>
                    <a:lnR>
                      <a:noFill/>
                    </a:lnR>
                    <a:lnT>
                      <a:noFill/>
                    </a:lnT>
                    <a:lnB>
                      <a:noFill/>
                    </a:lnB>
                    <a:noFill/>
                  </a:tcPr>
                </a:tc>
                <a:tc>
                  <a:txBody>
                    <a:bodyPr/>
                    <a:lstStyle/>
                    <a:p>
                      <a:pPr>
                        <a:buNone/>
                      </a:pPr>
                      <a:r>
                        <a:rPr lang="fi-FI" sz="1600" dirty="0"/>
                        <a:t>SaaS 可构建在 IaaS 之上</a:t>
                      </a:r>
                    </a:p>
                  </a:txBody>
                  <a:tcPr anchor="ctr">
                    <a:lnL>
                      <a:noFill/>
                    </a:lnL>
                    <a:lnR>
                      <a:noFill/>
                    </a:lnR>
                    <a:lnT>
                      <a:noFill/>
                    </a:lnT>
                    <a:lnB>
                      <a:noFill/>
                    </a:lnB>
                    <a:noFill/>
                  </a:tcPr>
                </a:tc>
                <a:extLst>
                  <a:ext uri="{0D108BD9-81ED-4DB2-BD59-A6C34878D82A}">
                    <a16:rowId xmlns:a16="http://schemas.microsoft.com/office/drawing/2014/main" val="3189741195"/>
                  </a:ext>
                </a:extLst>
              </a:tr>
              <a:tr h="0">
                <a:tc>
                  <a:txBody>
                    <a:bodyPr/>
                    <a:lstStyle/>
                    <a:p>
                      <a:pPr>
                        <a:buNone/>
                      </a:pPr>
                      <a:r>
                        <a:rPr lang="en-US" sz="1600"/>
                        <a:t>PaaS</a:t>
                      </a:r>
                    </a:p>
                  </a:txBody>
                  <a:tcPr anchor="ctr">
                    <a:lnL>
                      <a:noFill/>
                    </a:lnL>
                    <a:lnR>
                      <a:noFill/>
                    </a:lnR>
                    <a:lnT>
                      <a:noFill/>
                    </a:lnT>
                    <a:lnB>
                      <a:noFill/>
                    </a:lnB>
                    <a:noFill/>
                  </a:tcPr>
                </a:tc>
                <a:tc>
                  <a:txBody>
                    <a:bodyPr/>
                    <a:lstStyle/>
                    <a:p>
                      <a:pPr>
                        <a:buNone/>
                      </a:pPr>
                      <a:r>
                        <a:rPr lang="en-US" sz="1600"/>
                        <a:t>Platform as a Service</a:t>
                      </a:r>
                    </a:p>
                  </a:txBody>
                  <a:tcPr anchor="ctr">
                    <a:lnL>
                      <a:noFill/>
                    </a:lnL>
                    <a:lnR>
                      <a:noFill/>
                    </a:lnR>
                    <a:lnT>
                      <a:noFill/>
                    </a:lnT>
                    <a:lnB>
                      <a:noFill/>
                    </a:lnB>
                    <a:noFill/>
                  </a:tcPr>
                </a:tc>
                <a:tc>
                  <a:txBody>
                    <a:bodyPr/>
                    <a:lstStyle/>
                    <a:p>
                      <a:pPr>
                        <a:buNone/>
                      </a:pPr>
                      <a:r>
                        <a:rPr lang="zh-CN" altLang="en-US" sz="1600"/>
                        <a:t>平台即服务</a:t>
                      </a:r>
                    </a:p>
                  </a:txBody>
                  <a:tcPr anchor="ctr">
                    <a:lnL>
                      <a:noFill/>
                    </a:lnL>
                    <a:lnR>
                      <a:noFill/>
                    </a:lnR>
                    <a:lnT>
                      <a:noFill/>
                    </a:lnT>
                    <a:lnB>
                      <a:noFill/>
                    </a:lnB>
                    <a:noFill/>
                  </a:tcPr>
                </a:tc>
                <a:tc>
                  <a:txBody>
                    <a:bodyPr/>
                    <a:lstStyle/>
                    <a:p>
                      <a:pPr>
                        <a:buNone/>
                      </a:pPr>
                      <a:r>
                        <a:rPr lang="zh-CN" altLang="en-US" sz="1600"/>
                        <a:t>提供开发、部署、运行环境（如 </a:t>
                      </a:r>
                      <a:r>
                        <a:rPr lang="en-US" sz="1600"/>
                        <a:t>Google App Engine、Heroku）</a:t>
                      </a:r>
                    </a:p>
                  </a:txBody>
                  <a:tcPr anchor="ctr">
                    <a:lnL>
                      <a:noFill/>
                    </a:lnL>
                    <a:lnR>
                      <a:noFill/>
                    </a:lnR>
                    <a:lnT>
                      <a:noFill/>
                    </a:lnT>
                    <a:lnB>
                      <a:noFill/>
                    </a:lnB>
                    <a:noFill/>
                  </a:tcPr>
                </a:tc>
                <a:tc>
                  <a:txBody>
                    <a:bodyPr/>
                    <a:lstStyle/>
                    <a:p>
                      <a:pPr>
                        <a:buNone/>
                      </a:pPr>
                      <a:r>
                        <a:rPr lang="en-US" sz="1600"/>
                        <a:t>SaaS </a:t>
                      </a:r>
                      <a:r>
                        <a:rPr lang="zh-CN" altLang="en-US" sz="1600"/>
                        <a:t>开发者常使用 </a:t>
                      </a:r>
                      <a:r>
                        <a:rPr lang="en-US" sz="1600"/>
                        <a:t>PaaS </a:t>
                      </a:r>
                      <a:r>
                        <a:rPr lang="zh-CN" altLang="en-US" sz="1600"/>
                        <a:t>加速开发</a:t>
                      </a:r>
                    </a:p>
                  </a:txBody>
                  <a:tcPr anchor="ctr">
                    <a:lnL>
                      <a:noFill/>
                    </a:lnL>
                    <a:lnR>
                      <a:noFill/>
                    </a:lnR>
                    <a:lnT>
                      <a:noFill/>
                    </a:lnT>
                    <a:lnB>
                      <a:noFill/>
                    </a:lnB>
                    <a:noFill/>
                  </a:tcPr>
                </a:tc>
                <a:extLst>
                  <a:ext uri="{0D108BD9-81ED-4DB2-BD59-A6C34878D82A}">
                    <a16:rowId xmlns:a16="http://schemas.microsoft.com/office/drawing/2014/main" val="2368938405"/>
                  </a:ext>
                </a:extLst>
              </a:tr>
              <a:tr h="0">
                <a:tc>
                  <a:txBody>
                    <a:bodyPr/>
                    <a:lstStyle/>
                    <a:p>
                      <a:pPr>
                        <a:buNone/>
                      </a:pPr>
                      <a:r>
                        <a:rPr lang="en-US" sz="1600"/>
                        <a:t>SaaS</a:t>
                      </a:r>
                    </a:p>
                  </a:txBody>
                  <a:tcPr anchor="ctr">
                    <a:lnL>
                      <a:noFill/>
                    </a:lnL>
                    <a:lnR>
                      <a:noFill/>
                    </a:lnR>
                    <a:lnT>
                      <a:noFill/>
                    </a:lnT>
                    <a:lnB>
                      <a:noFill/>
                    </a:lnB>
                    <a:noFill/>
                  </a:tcPr>
                </a:tc>
                <a:tc>
                  <a:txBody>
                    <a:bodyPr/>
                    <a:lstStyle/>
                    <a:p>
                      <a:pPr>
                        <a:buNone/>
                      </a:pPr>
                      <a:r>
                        <a:rPr lang="en-US" sz="1600"/>
                        <a:t>Software as a Service</a:t>
                      </a:r>
                    </a:p>
                  </a:txBody>
                  <a:tcPr anchor="ctr">
                    <a:lnL>
                      <a:noFill/>
                    </a:lnL>
                    <a:lnR>
                      <a:noFill/>
                    </a:lnR>
                    <a:lnT>
                      <a:noFill/>
                    </a:lnT>
                    <a:lnB>
                      <a:noFill/>
                    </a:lnB>
                    <a:noFill/>
                  </a:tcPr>
                </a:tc>
                <a:tc>
                  <a:txBody>
                    <a:bodyPr/>
                    <a:lstStyle/>
                    <a:p>
                      <a:pPr>
                        <a:buNone/>
                      </a:pPr>
                      <a:r>
                        <a:rPr lang="zh-CN" altLang="en-US" sz="1600"/>
                        <a:t>软件即服务</a:t>
                      </a:r>
                    </a:p>
                  </a:txBody>
                  <a:tcPr anchor="ctr">
                    <a:lnL>
                      <a:noFill/>
                    </a:lnL>
                    <a:lnR>
                      <a:noFill/>
                    </a:lnR>
                    <a:lnT>
                      <a:noFill/>
                    </a:lnT>
                    <a:lnB>
                      <a:noFill/>
                    </a:lnB>
                    <a:noFill/>
                  </a:tcPr>
                </a:tc>
                <a:tc>
                  <a:txBody>
                    <a:bodyPr/>
                    <a:lstStyle/>
                    <a:p>
                      <a:pPr>
                        <a:buNone/>
                      </a:pPr>
                      <a:r>
                        <a:rPr lang="zh-CN" altLang="en-US" sz="1600"/>
                        <a:t>直接面向终端用户的完整应用（如钉钉、</a:t>
                      </a:r>
                      <a:r>
                        <a:rPr lang="en-US" sz="1600"/>
                        <a:t>Salesforce、Notion）</a:t>
                      </a:r>
                    </a:p>
                  </a:txBody>
                  <a:tcPr anchor="ctr">
                    <a:lnL>
                      <a:noFill/>
                    </a:lnL>
                    <a:lnR>
                      <a:noFill/>
                    </a:lnR>
                    <a:lnT>
                      <a:noFill/>
                    </a:lnT>
                    <a:lnB>
                      <a:noFill/>
                    </a:lnB>
                    <a:noFill/>
                  </a:tcPr>
                </a:tc>
                <a:tc>
                  <a:txBody>
                    <a:bodyPr/>
                    <a:lstStyle/>
                    <a:p>
                      <a:pPr>
                        <a:buNone/>
                      </a:pPr>
                      <a:r>
                        <a:rPr lang="zh-CN" altLang="en-US" sz="1600" dirty="0"/>
                        <a:t>最终交付形态</a:t>
                      </a:r>
                    </a:p>
                  </a:txBody>
                  <a:tcPr anchor="ctr">
                    <a:lnL>
                      <a:noFill/>
                    </a:lnL>
                    <a:lnR>
                      <a:noFill/>
                    </a:lnR>
                    <a:lnT>
                      <a:noFill/>
                    </a:lnT>
                    <a:lnB>
                      <a:noFill/>
                    </a:lnB>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normAutofit/>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dirty="0"/>
              <a:t>例子 </a:t>
            </a:r>
            <a:r>
              <a:rPr lang="en-US" altLang="zh-CN" dirty="0"/>
              <a:t>Example</a:t>
            </a:r>
          </a:p>
          <a:p>
            <a:pPr lvl="1"/>
            <a:r>
              <a:rPr lang="zh-CN" altLang="en-US" dirty="0"/>
              <a:t>本地 </a:t>
            </a:r>
            <a:r>
              <a:rPr lang="en-US" altLang="zh-CN" dirty="0"/>
              <a:t>IDE vs </a:t>
            </a:r>
            <a:r>
              <a:rPr lang="zh-CN" altLang="en-US" dirty="0"/>
              <a:t>云开发；</a:t>
            </a:r>
            <a:r>
              <a:rPr lang="en-US" altLang="zh-CN" dirty="0" err="1"/>
              <a:t>CodePen</a:t>
            </a:r>
            <a:endParaRPr lang="en-US" altLang="zh-CN" dirty="0"/>
          </a:p>
          <a:p>
            <a:pPr lvl="1"/>
            <a:r>
              <a:rPr lang="en-US" altLang="zh-CN" dirty="0"/>
              <a:t>DIY </a:t>
            </a:r>
            <a:r>
              <a:rPr lang="zh-CN" altLang="en-US" dirty="0"/>
              <a:t>自建服务器 </a:t>
            </a:r>
            <a:r>
              <a:rPr lang="en-US" altLang="zh-CN" dirty="0"/>
              <a:t>vs </a:t>
            </a:r>
            <a:r>
              <a:rPr lang="zh-CN" altLang="en-US" dirty="0"/>
              <a:t>云服务器；阿里云 </a:t>
            </a:r>
            <a:r>
              <a:rPr lang="en-US" altLang="zh-CN" dirty="0"/>
              <a:t>ECS</a:t>
            </a:r>
            <a:r>
              <a:rPr lang="zh-CN" altLang="en-US" dirty="0"/>
              <a:t>，腾讯云 </a:t>
            </a:r>
            <a:r>
              <a:rPr lang="en-US" altLang="zh-CN" dirty="0"/>
              <a:t>CVM</a:t>
            </a:r>
            <a:r>
              <a:rPr lang="zh-CN" altLang="en-US" dirty="0"/>
              <a:t>，亚马逊 </a:t>
            </a:r>
            <a:r>
              <a:rPr lang="en-US" altLang="zh-CN" dirty="0"/>
              <a:t>AWS</a:t>
            </a:r>
          </a:p>
          <a:p>
            <a:pPr lvl="1"/>
            <a:r>
              <a:rPr lang="zh-CN" altLang="en-US" dirty="0"/>
              <a:t>传统办公</a:t>
            </a:r>
            <a:r>
              <a:rPr lang="en-US" altLang="zh-CN" dirty="0"/>
              <a:t> vs OA</a:t>
            </a:r>
            <a:r>
              <a:rPr lang="zh-CN" altLang="en-US" dirty="0"/>
              <a:t>；腾讯文档、金山文档、钉钉、飞书</a:t>
            </a:r>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没有必要为了喝口奶而养一头牛</a:t>
            </a:r>
            <a:endParaRPr lang="en-US" altLang="zh-CN" dirty="0">
              <a:solidFill>
                <a:schemeClr val="bg1"/>
              </a:solidFill>
            </a:endParaRPr>
          </a:p>
          <a:p>
            <a:pPr>
              <a:lnSpc>
                <a:spcPct val="150000"/>
              </a:lnSpc>
            </a:pPr>
            <a:r>
              <a:rPr lang="en-US" altLang="zh-CN" dirty="0">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4732"/>
          </a:xfrm>
        </p:spPr>
        <p:txBody>
          <a:bodyPr>
            <a:normAutofit/>
          </a:bodyPr>
          <a:lstStyle/>
          <a:p>
            <a:r>
              <a:rPr lang="en-US" altLang="zh-CN" dirty="0"/>
              <a:t>2.1 </a:t>
            </a:r>
            <a:r>
              <a:rPr lang="zh-CN" altLang="en-US" dirty="0"/>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dirty="0"/>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360001"/>
            <a:ext cx="4424080" cy="424731"/>
          </a:xfrm>
        </p:spPr>
        <p:txBody>
          <a:bodyPr/>
          <a:lstStyle/>
          <a:p>
            <a:r>
              <a:rPr lang="en-US" altLang="zh-CN" dirty="0"/>
              <a:t>Project Management</a:t>
            </a:r>
            <a:endParaRPr lang="zh-CN" altLang="en-US" dirty="0"/>
          </a:p>
        </p:txBody>
      </p:sp>
    </p:spTree>
    <p:extLst>
      <p:ext uri="{BB962C8B-B14F-4D97-AF65-F5344CB8AC3E}">
        <p14:creationId xmlns:p14="http://schemas.microsoft.com/office/powerpoint/2010/main" val="4100669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4732"/>
          </a:xfrm>
        </p:spPr>
        <p:txBody>
          <a:bodyPr>
            <a:normAutofit/>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328000"/>
          </a:xfrm>
        </p:spPr>
        <p:txBody>
          <a:bodyPr/>
          <a:lstStyle/>
          <a:p>
            <a:r>
              <a:rPr lang="zh-CN" altLang="en-US" dirty="0"/>
              <a:t>软件工程组成部分</a:t>
            </a:r>
            <a:endParaRPr lang="en-US" altLang="zh-CN" dirty="0"/>
          </a:p>
          <a:p>
            <a:r>
              <a:rPr lang="zh-CN" altLang="en-US" dirty="0"/>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3626235252"/>
              </p:ext>
            </p:extLst>
          </p:nvPr>
        </p:nvGraphicFramePr>
        <p:xfrm>
          <a:off x="2856000" y="1674000"/>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4732"/>
          </a:xfrm>
        </p:spPr>
        <p:txBody>
          <a:bodyPr>
            <a:normAutofit/>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328000"/>
          </a:xfrm>
        </p:spPr>
        <p:txBody>
          <a:bodyPr/>
          <a:lstStyle/>
          <a:p>
            <a:r>
              <a:rPr lang="zh-CN" altLang="en-US" dirty="0"/>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4732"/>
          </a:xfrm>
        </p:spPr>
        <p:txBody>
          <a:bodyPr>
            <a:normAutofit/>
          </a:bodyPr>
          <a:lstStyle/>
          <a:p>
            <a:r>
              <a:rPr lang="en-US" altLang="zh-CN" dirty="0"/>
              <a:t>3 </a:t>
            </a:r>
            <a:r>
              <a:rPr lang="zh-CN" altLang="en-US" dirty="0"/>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328000"/>
          </a:xfrm>
        </p:spPr>
        <p:txBody>
          <a:bodyPr/>
          <a:lstStyle/>
          <a:p>
            <a:r>
              <a:rPr lang="zh-CN" altLang="en-US" dirty="0"/>
              <a:t>基于经验，现在需要系统学习</a:t>
            </a:r>
            <a:endParaRPr lang="en-US" altLang="zh-CN" dirty="0"/>
          </a:p>
          <a:p>
            <a:r>
              <a:rPr lang="en-US" altLang="zh-CN" dirty="0"/>
              <a:t>100</a:t>
            </a:r>
            <a:r>
              <a:rPr lang="zh-CN" altLang="en-US" dirty="0"/>
              <a:t>多个国家认可</a:t>
            </a:r>
            <a:endParaRPr lang="en-US" altLang="zh-CN" dirty="0"/>
          </a:p>
          <a:p>
            <a:r>
              <a:rPr lang="en-US" altLang="zh-CN" dirty="0"/>
              <a:t>PMP </a:t>
            </a:r>
            <a:r>
              <a:rPr lang="zh-CN" altLang="en-US" dirty="0"/>
              <a:t>考试基于 </a:t>
            </a:r>
            <a:r>
              <a:rPr lang="en-US" altLang="zh-CN" dirty="0"/>
              <a:t>PMBOK 7th</a:t>
            </a:r>
            <a:r>
              <a:rPr lang="zh-CN" altLang="en-US" dirty="0"/>
              <a:t>，同时结合了</a:t>
            </a:r>
            <a:r>
              <a:rPr lang="en-US" altLang="zh-CN" dirty="0"/>
              <a:t>《</a:t>
            </a:r>
            <a:r>
              <a:rPr lang="zh-CN" altLang="en-US" dirty="0"/>
              <a:t>敏捷实践指南</a:t>
            </a:r>
            <a:r>
              <a:rPr lang="en-US" altLang="zh-CN" dirty="0"/>
              <a:t>》</a:t>
            </a:r>
            <a:r>
              <a:rPr lang="zh-CN" altLang="en-US" dirty="0"/>
              <a:t>。</a:t>
            </a:r>
          </a:p>
          <a:p>
            <a:pPr lvl="1"/>
            <a:r>
              <a:rPr lang="zh-CN" altLang="en-US" dirty="0"/>
              <a:t>考试中很少再考“某个过程的输入输出是什么”（</a:t>
            </a:r>
            <a:r>
              <a:rPr lang="en-US" altLang="zh-CN" dirty="0"/>
              <a:t>ITTO</a:t>
            </a:r>
            <a:r>
              <a:rPr lang="zh-CN" altLang="en-US" dirty="0"/>
              <a:t>记忆题大幅减少）。</a:t>
            </a:r>
          </a:p>
          <a:p>
            <a:pPr lvl="1"/>
            <a:r>
              <a:rPr lang="zh-CN" altLang="en-US" dirty="0"/>
              <a:t>更多考的是情景题：面对这种情况，项目经理应该秉持什么原则？优先关注哪个绩效域？</a:t>
            </a:r>
          </a:p>
          <a:p>
            <a:pPr lvl="1"/>
            <a:r>
              <a:rPr lang="zh-CN" altLang="en-US" dirty="0"/>
              <a:t>敏捷和混合题型占比高达 </a:t>
            </a:r>
            <a:r>
              <a:rPr lang="en-US" altLang="zh-CN" dirty="0"/>
              <a:t>50%</a:t>
            </a:r>
            <a:endParaRPr lang="zh-CN" altLang="en-US" dirty="0"/>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360001"/>
            <a:ext cx="4424080" cy="424731"/>
          </a:xfrm>
        </p:spPr>
        <p:txBody>
          <a:bodyPr/>
          <a:lstStyle/>
          <a:p>
            <a:r>
              <a:rPr lang="en-US" altLang="zh-CN" dirty="0"/>
              <a:t>PMBOK</a:t>
            </a:r>
            <a:endParaRPr lang="zh-CN" altLang="en-US" dirty="0"/>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3998882862"/>
              </p:ext>
            </p:extLst>
          </p:nvPr>
        </p:nvGraphicFramePr>
        <p:xfrm>
          <a:off x="559766" y="3746741"/>
          <a:ext cx="11072469" cy="2282825"/>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Title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Professional</a:t>
                      </a:r>
                    </a:p>
                  </a:txBody>
                  <a:tcPr anchor="ctr"/>
                </a:tc>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800" dirty="0"/>
                        <a:t>项目管理专业资质认证</a:t>
                      </a:r>
                    </a:p>
                  </a:txBody>
                  <a:tcPr anchor="ctr"/>
                </a:tc>
                <a:extLst>
                  <a:ext uri="{0D108BD9-81ED-4DB2-BD59-A6C34878D82A}">
                    <a16:rowId xmlns:a16="http://schemas.microsoft.com/office/drawing/2014/main" val="426859769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Institute</a:t>
                      </a:r>
                    </a:p>
                  </a:txBody>
                  <a:tcPr anchor="ctr"/>
                </a:tc>
                <a:tc>
                  <a:txBody>
                    <a:bodyPr/>
                    <a:lstStyle/>
                    <a:p>
                      <a:pPr>
                        <a:lnSpc>
                          <a:spcPct val="150000"/>
                        </a:lnSpc>
                        <a:buNone/>
                      </a:pPr>
                      <a:r>
                        <a:rPr lang="zh-CN" altLang="en-US" sz="1800" dirty="0"/>
                        <a:t>项目管理委员会</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nSpc>
                          <a:spcPct val="150000"/>
                        </a:lnSpc>
                        <a:buNone/>
                      </a:pPr>
                      <a:endParaRPr lang="zh-CN" altLang="en-US" sz="1800" b="0" i="0" baseline="3000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6th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6</a:t>
                      </a:r>
                      <a:r>
                        <a:rPr lang="zh-CN" altLang="en-US" sz="1800" dirty="0"/>
                        <a:t>版</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7th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7</a:t>
                      </a:r>
                      <a:r>
                        <a:rPr lang="zh-CN" altLang="en-US" sz="1800" dirty="0"/>
                        <a:t>版</a:t>
                      </a:r>
                      <a:endParaRPr lang="en-US" altLang="zh-CN" sz="1800" dirty="0"/>
                    </a:p>
                  </a:txBody>
                  <a:tcPr anchor="ct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3457575"/>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3451472"/>
            <a:ext cx="1440000" cy="2880000"/>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3869448418"/>
              </p:ext>
            </p:extLst>
          </p:nvPr>
        </p:nvGraphicFramePr>
        <p:xfrm>
          <a:off x="672888" y="3743671"/>
          <a:ext cx="1621409" cy="2282825"/>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Item</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50000"/>
                        </a:lnSpc>
                        <a:buNone/>
                      </a:pPr>
                      <a:r>
                        <a:rPr lang="en-US" altLang="zh-CN" sz="1800" baseline="0" dirty="0">
                          <a:solidFill>
                            <a:schemeClr val="bg1"/>
                          </a:solidFill>
                        </a:rPr>
                        <a:t>PMP</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PMI</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6</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3000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7</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3443008773"/>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lgn="l">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1658896584"/>
                  </a:ext>
                </a:extLst>
              </a:tr>
              <a:tr h="0">
                <a:tc>
                  <a:txBody>
                    <a:bodyPr/>
                    <a:lstStyle/>
                    <a:p>
                      <a:pPr algn="l">
                        <a:buNone/>
                      </a:pPr>
                      <a:r>
                        <a:rPr lang="en-US" altLang="zh-CN" sz="1600" dirty="0"/>
                        <a:t>Philosophy</a:t>
                      </a:r>
                      <a:endParaRPr lang="zh-CN" altLang="en-US" sz="1600" dirty="0"/>
                    </a:p>
                  </a:txBody>
                  <a:tcPr anchor="ctr">
                    <a:lnL>
                      <a:noFill/>
                    </a:lnL>
                    <a:lnR>
                      <a:noFill/>
                    </a:lnR>
                    <a:lnT>
                      <a:noFill/>
                    </a:lnT>
                    <a:lnB>
                      <a:noFill/>
                    </a:lnB>
                    <a:noFill/>
                  </a:tcPr>
                </a:tc>
                <a:tc>
                  <a:txBody>
                    <a:bodyPr/>
                    <a:lstStyle/>
                    <a:p>
                      <a:pPr algn="l">
                        <a:buNone/>
                      </a:pPr>
                      <a:r>
                        <a:rPr lang="zh-CN" altLang="en-US" sz="1600" dirty="0"/>
                        <a:t>基于过程 </a:t>
                      </a:r>
                      <a:r>
                        <a:rPr lang="en-US" sz="1600" dirty="0"/>
                        <a:t>Process-Based</a:t>
                      </a:r>
                    </a:p>
                  </a:txBody>
                  <a:tcPr anchor="ctr">
                    <a:lnL>
                      <a:noFill/>
                    </a:lnL>
                    <a:lnR>
                      <a:noFill/>
                    </a:lnR>
                    <a:lnT>
                      <a:noFill/>
                    </a:lnT>
                    <a:lnB>
                      <a:noFill/>
                    </a:lnB>
                    <a:noFill/>
                  </a:tcPr>
                </a:tc>
                <a:tc>
                  <a:txBody>
                    <a:bodyPr/>
                    <a:lstStyle/>
                    <a:p>
                      <a:pPr algn="l">
                        <a:buNone/>
                      </a:pPr>
                      <a:r>
                        <a:rPr lang="zh-CN" altLang="en-US" sz="1600" dirty="0"/>
                        <a:t>基于原则 </a:t>
                      </a:r>
                      <a:r>
                        <a:rPr lang="en-US" sz="1600" dirty="0"/>
                        <a:t>Principle-Based</a:t>
                      </a:r>
                    </a:p>
                  </a:txBody>
                  <a:tcPr anchor="ctr">
                    <a:lnL>
                      <a:noFill/>
                    </a:lnL>
                    <a:lnR>
                      <a:noFill/>
                    </a:lnR>
                    <a:lnT>
                      <a:noFill/>
                    </a:lnT>
                    <a:lnB>
                      <a:noFill/>
                    </a:lnB>
                    <a:noFill/>
                  </a:tcPr>
                </a:tc>
                <a:extLst>
                  <a:ext uri="{0D108BD9-81ED-4DB2-BD59-A6C34878D82A}">
                    <a16:rowId xmlns:a16="http://schemas.microsoft.com/office/drawing/2014/main" val="4662044"/>
                  </a:ext>
                </a:extLst>
              </a:tr>
              <a:tr h="0">
                <a:tc>
                  <a:txBody>
                    <a:bodyPr/>
                    <a:lstStyle/>
                    <a:p>
                      <a:pPr algn="l">
                        <a:buNone/>
                      </a:pPr>
                      <a:r>
                        <a:rPr lang="en-US" altLang="zh-CN" sz="1600" dirty="0"/>
                        <a:t>Structure</a:t>
                      </a:r>
                      <a:endParaRPr lang="zh-CN" altLang="en-US" sz="1600" dirty="0"/>
                    </a:p>
                  </a:txBody>
                  <a:tcPr anchor="ctr">
                    <a:lnL>
                      <a:noFill/>
                    </a:lnL>
                    <a:lnR>
                      <a:noFill/>
                    </a:lnR>
                    <a:lnT>
                      <a:noFill/>
                    </a:lnT>
                    <a:lnB>
                      <a:noFill/>
                    </a:lnB>
                    <a:noFill/>
                  </a:tcPr>
                </a:tc>
                <a:tc>
                  <a:txBody>
                    <a:bodyPr/>
                    <a:lstStyle/>
                    <a:p>
                      <a:pPr algn="l">
                        <a:buNone/>
                      </a:pPr>
                      <a:r>
                        <a:rPr lang="en-US" altLang="zh-CN" sz="1600"/>
                        <a:t>5</a:t>
                      </a:r>
                      <a:r>
                        <a:rPr lang="zh-CN" altLang="en-US" sz="1600"/>
                        <a:t>大过程组 </a:t>
                      </a:r>
                      <a:r>
                        <a:rPr lang="en-US" altLang="zh-CN" sz="1600"/>
                        <a:t>+ 10</a:t>
                      </a:r>
                      <a:r>
                        <a:rPr lang="zh-CN" altLang="en-US" sz="1600"/>
                        <a:t>大知识领域</a:t>
                      </a:r>
                    </a:p>
                  </a:txBody>
                  <a:tcPr anchor="ctr">
                    <a:lnL>
                      <a:noFill/>
                    </a:lnL>
                    <a:lnR>
                      <a:noFill/>
                    </a:lnR>
                    <a:lnT>
                      <a:noFill/>
                    </a:lnT>
                    <a:lnB>
                      <a:noFill/>
                    </a:lnB>
                    <a:noFill/>
                  </a:tcPr>
                </a:tc>
                <a:tc>
                  <a:txBody>
                    <a:bodyPr/>
                    <a:lstStyle/>
                    <a:p>
                      <a:pPr algn="l">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a:noFill/>
                    </a:lnT>
                    <a:lnB>
                      <a:noFill/>
                    </a:lnB>
                    <a:noFill/>
                  </a:tcPr>
                </a:tc>
                <a:extLst>
                  <a:ext uri="{0D108BD9-81ED-4DB2-BD59-A6C34878D82A}">
                    <a16:rowId xmlns:a16="http://schemas.microsoft.com/office/drawing/2014/main" val="1512076787"/>
                  </a:ext>
                </a:extLst>
              </a:tr>
              <a:tr h="0">
                <a:tc>
                  <a:txBody>
                    <a:bodyPr/>
                    <a:lstStyle/>
                    <a:p>
                      <a:pPr algn="l">
                        <a:buNone/>
                      </a:pPr>
                      <a:r>
                        <a:rPr lang="en-US" altLang="zh-CN" sz="1600" dirty="0"/>
                        <a:t>Focus</a:t>
                      </a:r>
                      <a:endParaRPr lang="zh-CN" altLang="en-US" sz="1600" dirty="0"/>
                    </a:p>
                  </a:txBody>
                  <a:tcPr anchor="ctr">
                    <a:lnL>
                      <a:noFill/>
                    </a:lnL>
                    <a:lnR>
                      <a:noFill/>
                    </a:lnR>
                    <a:lnT>
                      <a:noFill/>
                    </a:lnT>
                    <a:lnB>
                      <a:noFill/>
                    </a:lnB>
                    <a:noFill/>
                  </a:tcPr>
                </a:tc>
                <a:tc>
                  <a:txBody>
                    <a:bodyPr/>
                    <a:lstStyle/>
                    <a:p>
                      <a:pPr algn="l">
                        <a:buNone/>
                      </a:pPr>
                      <a:r>
                        <a:rPr lang="zh-CN" altLang="en-US" sz="1600" dirty="0"/>
                        <a:t>产出 </a:t>
                      </a:r>
                      <a:r>
                        <a:rPr lang="en-US" sz="1600" dirty="0"/>
                        <a:t>Outputs</a:t>
                      </a:r>
                      <a:endParaRPr lang="en-US" altLang="zh-CN" sz="1600" dirty="0"/>
                    </a:p>
                    <a:p>
                      <a:pPr algn="l">
                        <a:buNone/>
                      </a:pPr>
                      <a:r>
                        <a:rPr lang="zh-CN" altLang="en-US" sz="1600" dirty="0"/>
                        <a:t>交付了什么文件</a:t>
                      </a:r>
                      <a:r>
                        <a:rPr lang="en-US" altLang="zh-CN" sz="1600" dirty="0"/>
                        <a:t>/</a:t>
                      </a:r>
                      <a:r>
                        <a:rPr lang="zh-CN" altLang="en-US" sz="1600" dirty="0"/>
                        <a:t>产品？</a:t>
                      </a:r>
                    </a:p>
                  </a:txBody>
                  <a:tcPr anchor="ctr">
                    <a:lnL>
                      <a:noFill/>
                    </a:lnL>
                    <a:lnR>
                      <a:noFill/>
                    </a:lnR>
                    <a:lnT>
                      <a:noFill/>
                    </a:lnT>
                    <a:lnB>
                      <a:noFill/>
                    </a:lnB>
                    <a:noFill/>
                  </a:tcPr>
                </a:tc>
                <a:tc>
                  <a:txBody>
                    <a:bodyPr/>
                    <a:lstStyle/>
                    <a:p>
                      <a:pPr algn="l">
                        <a:buNone/>
                      </a:pPr>
                      <a:r>
                        <a:rPr lang="zh-CN" altLang="en-US" sz="1600" dirty="0"/>
                        <a:t>成果 </a:t>
                      </a:r>
                      <a:r>
                        <a:rPr lang="en-US" sz="1600" dirty="0"/>
                        <a:t>Outcomes &amp; </a:t>
                      </a:r>
                      <a:r>
                        <a:rPr lang="zh-CN" altLang="en-US" sz="1600" dirty="0"/>
                        <a:t>价值 </a:t>
                      </a:r>
                      <a:r>
                        <a:rPr lang="en-US" sz="1600" dirty="0"/>
                        <a:t>Value </a:t>
                      </a:r>
                      <a:br>
                        <a:rPr lang="en-US" sz="1600" dirty="0"/>
                      </a:br>
                      <a:r>
                        <a:rPr lang="zh-CN" altLang="en-US" sz="1600" dirty="0"/>
                        <a:t>实现了什么业务目标？</a:t>
                      </a:r>
                    </a:p>
                  </a:txBody>
                  <a:tcPr anchor="ctr">
                    <a:lnL>
                      <a:noFill/>
                    </a:lnL>
                    <a:lnR>
                      <a:noFill/>
                    </a:lnR>
                    <a:lnT>
                      <a:noFill/>
                    </a:lnT>
                    <a:lnB>
                      <a:noFill/>
                    </a:lnB>
                    <a:noFill/>
                  </a:tcPr>
                </a:tc>
                <a:extLst>
                  <a:ext uri="{0D108BD9-81ED-4DB2-BD59-A6C34878D82A}">
                    <a16:rowId xmlns:a16="http://schemas.microsoft.com/office/drawing/2014/main" val="1434473040"/>
                  </a:ext>
                </a:extLst>
              </a:tr>
              <a:tr h="0">
                <a:tc>
                  <a:txBody>
                    <a:bodyPr/>
                    <a:lstStyle/>
                    <a:p>
                      <a:pPr algn="l">
                        <a:buNone/>
                      </a:pPr>
                      <a:r>
                        <a:rPr lang="en-US" altLang="zh-CN" sz="1600" dirty="0"/>
                        <a:t>Methodology Scope</a:t>
                      </a:r>
                      <a:endParaRPr lang="zh-CN" altLang="en-US" sz="1600" dirty="0"/>
                    </a:p>
                  </a:txBody>
                  <a:tcPr anchor="ctr">
                    <a:lnL>
                      <a:noFill/>
                    </a:lnL>
                    <a:lnR>
                      <a:noFill/>
                    </a:lnR>
                    <a:lnT>
                      <a:noFill/>
                    </a:lnT>
                    <a:lnB>
                      <a:noFill/>
                    </a:lnB>
                    <a:noFill/>
                  </a:tcPr>
                </a:tc>
                <a:tc>
                  <a:txBody>
                    <a:bodyPr/>
                    <a:lstStyle/>
                    <a:p>
                      <a:pPr algn="l">
                        <a:buNone/>
                      </a:pPr>
                      <a:r>
                        <a:rPr lang="zh-CN" altLang="en-US" sz="1600" dirty="0"/>
                        <a:t>偏向预测型 </a:t>
                      </a:r>
                      <a:r>
                        <a:rPr lang="en-US" altLang="zh-CN" sz="1600" dirty="0"/>
                        <a:t>(</a:t>
                      </a:r>
                      <a:r>
                        <a:rPr lang="zh-CN" altLang="en-US" sz="1600" dirty="0"/>
                        <a:t>瀑布式</a:t>
                      </a:r>
                      <a:r>
                        <a:rPr lang="en-US" altLang="zh-CN" sz="1600" dirty="0"/>
                        <a:t>)</a:t>
                      </a:r>
                      <a:endParaRPr lang="zh-CN" altLang="en-US" sz="1600" dirty="0"/>
                    </a:p>
                  </a:txBody>
                  <a:tcPr anchor="ctr">
                    <a:lnL>
                      <a:noFill/>
                    </a:lnL>
                    <a:lnR>
                      <a:noFill/>
                    </a:lnR>
                    <a:lnT>
                      <a:noFill/>
                    </a:lnT>
                    <a:lnB>
                      <a:noFill/>
                    </a:lnB>
                    <a:noFill/>
                  </a:tcPr>
                </a:tc>
                <a:tc>
                  <a:txBody>
                    <a:bodyPr/>
                    <a:lstStyle/>
                    <a:p>
                      <a:pPr algn="l">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314180528"/>
                  </a:ext>
                </a:extLst>
              </a:tr>
              <a:tr h="0">
                <a:tc>
                  <a:txBody>
                    <a:bodyPr/>
                    <a:lstStyle/>
                    <a:p>
                      <a:pPr algn="l">
                        <a:buNone/>
                      </a:pPr>
                      <a:r>
                        <a:rPr lang="en-US" altLang="zh-CN" sz="1600" dirty="0"/>
                        <a:t>PM</a:t>
                      </a:r>
                      <a:r>
                        <a:rPr lang="zh-CN" altLang="en-US" sz="1600" dirty="0"/>
                        <a:t> </a:t>
                      </a:r>
                      <a:r>
                        <a:rPr lang="en-US" altLang="zh-CN" sz="1600" dirty="0"/>
                        <a:t>role</a:t>
                      </a:r>
                      <a:endParaRPr lang="zh-CN" altLang="en-US" sz="1600" dirty="0"/>
                    </a:p>
                  </a:txBody>
                  <a:tcPr anchor="ctr">
                    <a:lnL>
                      <a:noFill/>
                    </a:lnL>
                    <a:lnR>
                      <a:noFill/>
                    </a:lnR>
                    <a:lnT>
                      <a:noFill/>
                    </a:lnT>
                    <a:lnB>
                      <a:noFill/>
                    </a:lnB>
                    <a:noFill/>
                  </a:tcPr>
                </a:tc>
                <a:tc>
                  <a:txBody>
                    <a:bodyPr/>
                    <a:lstStyle/>
                    <a:p>
                      <a:pPr algn="l">
                        <a:buNone/>
                      </a:pPr>
                      <a:r>
                        <a:rPr lang="zh-CN" altLang="en-US" sz="1600" dirty="0"/>
                        <a:t>执行者、控制者、流程管理者</a:t>
                      </a:r>
                    </a:p>
                  </a:txBody>
                  <a:tcPr anchor="ctr">
                    <a:lnL>
                      <a:noFill/>
                    </a:lnL>
                    <a:lnR>
                      <a:noFill/>
                    </a:lnR>
                    <a:lnT>
                      <a:noFill/>
                    </a:lnT>
                    <a:lnB>
                      <a:noFill/>
                    </a:lnB>
                    <a:noFill/>
                  </a:tcPr>
                </a:tc>
                <a:tc>
                  <a:txBody>
                    <a:bodyPr/>
                    <a:lstStyle/>
                    <a:p>
                      <a:pPr algn="l">
                        <a:buNone/>
                      </a:pPr>
                      <a:r>
                        <a:rPr lang="zh-CN" altLang="en-US" sz="1600"/>
                        <a:t>服务型领导、变革推动者、价值交付者</a:t>
                      </a:r>
                    </a:p>
                  </a:txBody>
                  <a:tcPr anchor="ctr">
                    <a:lnL>
                      <a:noFill/>
                    </a:lnL>
                    <a:lnR>
                      <a:noFill/>
                    </a:lnR>
                    <a:lnT>
                      <a:noFill/>
                    </a:lnT>
                    <a:lnB>
                      <a:noFill/>
                    </a:lnB>
                    <a:noFill/>
                  </a:tcPr>
                </a:tc>
                <a:extLst>
                  <a:ext uri="{0D108BD9-81ED-4DB2-BD59-A6C34878D82A}">
                    <a16:rowId xmlns:a16="http://schemas.microsoft.com/office/drawing/2014/main" val="1520392344"/>
                  </a:ext>
                </a:extLst>
              </a:tr>
              <a:tr h="0">
                <a:tc>
                  <a:txBody>
                    <a:bodyPr/>
                    <a:lstStyle/>
                    <a:p>
                      <a:pPr algn="l">
                        <a:buNone/>
                      </a:pPr>
                      <a:r>
                        <a:rPr lang="en-US" altLang="zh-CN" sz="1600" dirty="0"/>
                        <a:t>Tailoring</a:t>
                      </a:r>
                      <a:endParaRPr lang="zh-CN" altLang="en-US" sz="1600" dirty="0"/>
                    </a:p>
                  </a:txBody>
                  <a:tcPr anchor="ctr">
                    <a:lnL>
                      <a:noFill/>
                    </a:lnL>
                    <a:lnR>
                      <a:noFill/>
                    </a:lnR>
                    <a:lnT>
                      <a:noFill/>
                    </a:lnT>
                    <a:lnB>
                      <a:noFill/>
                    </a:lnB>
                    <a:noFill/>
                  </a:tcPr>
                </a:tc>
                <a:tc>
                  <a:txBody>
                    <a:bodyPr/>
                    <a:lstStyle/>
                    <a:p>
                      <a:pPr algn="l">
                        <a:buNone/>
                      </a:pPr>
                      <a:r>
                        <a:rPr lang="zh-CN" altLang="en-US" sz="1600"/>
                        <a:t>较僵化，强调遵循标准流程</a:t>
                      </a:r>
                    </a:p>
                  </a:txBody>
                  <a:tcPr anchor="ctr">
                    <a:lnL>
                      <a:noFill/>
                    </a:lnL>
                    <a:lnR>
                      <a:noFill/>
                    </a:lnR>
                    <a:lnT>
                      <a:noFill/>
                    </a:lnT>
                    <a:lnB>
                      <a:noFill/>
                    </a:lnB>
                    <a:noFill/>
                  </a:tcPr>
                </a:tc>
                <a:tc>
                  <a:txBody>
                    <a:bodyPr/>
                    <a:lstStyle/>
                    <a:p>
                      <a:pPr algn="l">
                        <a:buNone/>
                      </a:pPr>
                      <a:r>
                        <a:rPr lang="zh-CN" altLang="en-US" sz="1600" dirty="0"/>
                        <a:t>高度灵活，强调根据环境裁剪 </a:t>
                      </a:r>
                      <a:r>
                        <a:rPr lang="en-US" altLang="zh-CN" sz="1600" dirty="0"/>
                        <a:t>(Tailoring)</a:t>
                      </a:r>
                    </a:p>
                  </a:txBody>
                  <a:tcPr anchor="ctr">
                    <a:lnL>
                      <a:noFill/>
                    </a:lnL>
                    <a:lnR>
                      <a:noFill/>
                    </a:lnR>
                    <a:lnT>
                      <a:noFill/>
                    </a:lnT>
                    <a:lnB>
                      <a:noFill/>
                    </a:lnB>
                    <a:noFill/>
                  </a:tcPr>
                </a:tc>
                <a:extLst>
                  <a:ext uri="{0D108BD9-81ED-4DB2-BD59-A6C34878D82A}">
                    <a16:rowId xmlns:a16="http://schemas.microsoft.com/office/drawing/2014/main" val="306997171"/>
                  </a:ext>
                </a:extLst>
              </a:tr>
              <a:tr h="0">
                <a:tc>
                  <a:txBody>
                    <a:bodyPr/>
                    <a:lstStyle/>
                    <a:p>
                      <a:pPr algn="l">
                        <a:buNone/>
                      </a:pPr>
                      <a:r>
                        <a:rPr lang="en-US" altLang="zh-CN" sz="1600" dirty="0"/>
                        <a:t>Definition of Success</a:t>
                      </a:r>
                      <a:endParaRPr lang="zh-CN" altLang="en-US" sz="1600" dirty="0"/>
                    </a:p>
                  </a:txBody>
                  <a:tcPr anchor="ctr">
                    <a:lnL>
                      <a:noFill/>
                    </a:lnL>
                    <a:lnR>
                      <a:noFill/>
                    </a:lnR>
                    <a:lnT>
                      <a:noFill/>
                    </a:lnT>
                    <a:lnB>
                      <a:noFill/>
                    </a:lnB>
                    <a:noFill/>
                  </a:tcPr>
                </a:tc>
                <a:tc>
                  <a:txBody>
                    <a:bodyPr/>
                    <a:lstStyle/>
                    <a:p>
                      <a:pPr algn="l">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a:noFill/>
                    </a:lnT>
                    <a:lnB>
                      <a:noFill/>
                    </a:lnB>
                    <a:noFill/>
                  </a:tcPr>
                </a:tc>
                <a:tc>
                  <a:txBody>
                    <a:bodyPr/>
                    <a:lstStyle/>
                    <a:p>
                      <a:pPr algn="l">
                        <a:buNone/>
                      </a:pPr>
                      <a:r>
                        <a:rPr lang="zh-CN" altLang="en-US" sz="1600"/>
                        <a:t>交付价值、满足干系人期望、实现战略目标</a:t>
                      </a:r>
                    </a:p>
                  </a:txBody>
                  <a:tcPr anchor="ctr">
                    <a:lnL>
                      <a:noFill/>
                    </a:lnL>
                    <a:lnR>
                      <a:noFill/>
                    </a:lnR>
                    <a:lnT>
                      <a:noFill/>
                    </a:lnT>
                    <a:lnB>
                      <a:noFill/>
                    </a:lnB>
                    <a:noFill/>
                  </a:tcPr>
                </a:tc>
                <a:extLst>
                  <a:ext uri="{0D108BD9-81ED-4DB2-BD59-A6C34878D82A}">
                    <a16:rowId xmlns:a16="http://schemas.microsoft.com/office/drawing/2014/main" val="3440767506"/>
                  </a:ext>
                </a:extLst>
              </a:tr>
              <a:tr h="0">
                <a:tc>
                  <a:txBody>
                    <a:bodyPr/>
                    <a:lstStyle/>
                    <a:p>
                      <a:pPr algn="l">
                        <a:buNone/>
                      </a:pPr>
                      <a:r>
                        <a:rPr lang="en-US" altLang="zh-CN" sz="1600" dirty="0"/>
                        <a:t>Format &amp; Length</a:t>
                      </a:r>
                      <a:endParaRPr lang="zh-CN" altLang="en-US" sz="1600" dirty="0"/>
                    </a:p>
                  </a:txBody>
                  <a:tcPr anchor="ctr">
                    <a:lnL>
                      <a:noFill/>
                    </a:lnL>
                    <a:lnR>
                      <a:noFill/>
                    </a:lnR>
                    <a:lnT>
                      <a:noFill/>
                    </a:lnT>
                    <a:lnB>
                      <a:noFill/>
                    </a:lnB>
                    <a:noFill/>
                  </a:tcPr>
                </a:tc>
                <a:tc>
                  <a:txBody>
                    <a:bodyPr/>
                    <a:lstStyle/>
                    <a:p>
                      <a:pPr algn="l">
                        <a:buNone/>
                      </a:pPr>
                      <a:r>
                        <a:rPr lang="zh-CN" altLang="en-US" sz="1600" dirty="0"/>
                        <a:t>厚书，充满</a:t>
                      </a:r>
                      <a:r>
                        <a:rPr lang="en-US" altLang="zh-CN" sz="1600" dirty="0"/>
                        <a:t>ITTO (</a:t>
                      </a:r>
                      <a:r>
                        <a:rPr lang="zh-CN" altLang="en-US" sz="1600" dirty="0"/>
                        <a:t>输入</a:t>
                      </a:r>
                      <a:r>
                        <a:rPr lang="en-US" altLang="zh-CN" sz="1600" dirty="0"/>
                        <a:t>/</a:t>
                      </a:r>
                      <a:r>
                        <a:rPr lang="zh-CN" altLang="en-US" sz="1600" dirty="0"/>
                        <a:t>工具</a:t>
                      </a:r>
                      <a:r>
                        <a:rPr lang="en-US" altLang="zh-CN" sz="1600" dirty="0"/>
                        <a:t>/</a:t>
                      </a:r>
                      <a:r>
                        <a:rPr lang="zh-CN" altLang="en-US" sz="1600" dirty="0"/>
                        <a:t>输出</a:t>
                      </a:r>
                      <a:r>
                        <a:rPr lang="en-US" altLang="zh-CN" sz="1600" dirty="0"/>
                        <a:t>) </a:t>
                      </a:r>
                      <a:r>
                        <a:rPr lang="zh-CN" altLang="en-US" sz="1600" dirty="0"/>
                        <a:t>表格</a:t>
                      </a:r>
                    </a:p>
                  </a:txBody>
                  <a:tcPr anchor="ctr">
                    <a:lnL>
                      <a:noFill/>
                    </a:lnL>
                    <a:lnR>
                      <a:noFill/>
                    </a:lnR>
                    <a:lnT>
                      <a:noFill/>
                    </a:lnT>
                    <a:lnB>
                      <a:noFill/>
                    </a:lnB>
                    <a:noFill/>
                  </a:tcPr>
                </a:tc>
                <a:tc>
                  <a:txBody>
                    <a:bodyPr/>
                    <a:lstStyle/>
                    <a:p>
                      <a:pPr algn="l">
                        <a:buNone/>
                      </a:pPr>
                      <a:r>
                        <a:rPr lang="zh-CN" altLang="en-US" sz="1600" dirty="0"/>
                        <a:t>更薄，更像指导手册，去除了大量</a:t>
                      </a:r>
                      <a:r>
                        <a:rPr lang="en-US" altLang="zh-CN" sz="1600" dirty="0"/>
                        <a:t>ITTO</a:t>
                      </a:r>
                      <a:r>
                        <a:rPr lang="zh-CN" altLang="en-US" sz="1600" dirty="0"/>
                        <a:t>细节</a:t>
                      </a:r>
                    </a:p>
                  </a:txBody>
                  <a:tcPr anchor="ctr">
                    <a:lnL>
                      <a:noFill/>
                    </a:lnL>
                    <a:lnR>
                      <a:noFill/>
                    </a:lnR>
                    <a:lnT>
                      <a:noFill/>
                    </a:lnT>
                    <a:lnB>
                      <a:noFill/>
                    </a:lnB>
                    <a:noFill/>
                  </a:tcPr>
                </a:tc>
                <a:extLst>
                  <a:ext uri="{0D108BD9-81ED-4DB2-BD59-A6C34878D82A}">
                    <a16:rowId xmlns:a16="http://schemas.microsoft.com/office/drawing/2014/main" val="1998364373"/>
                  </a:ext>
                </a:extLst>
              </a:tr>
              <a:tr h="0">
                <a:tc>
                  <a:txBody>
                    <a:bodyPr/>
                    <a:lstStyle/>
                    <a:p>
                      <a:pPr algn="l">
                        <a:buNone/>
                      </a:pPr>
                      <a:r>
                        <a:rPr lang="en-US" altLang="zh-CN" sz="1600" dirty="0"/>
                        <a:t>In a word</a:t>
                      </a:r>
                      <a:endParaRPr lang="zh-CN" altLang="en-US" sz="1600" dirty="0"/>
                    </a:p>
                  </a:txBody>
                  <a:tcPr anchor="ctr">
                    <a:lnL>
                      <a:noFill/>
                    </a:lnL>
                    <a:lnR>
                      <a:noFill/>
                    </a:lnR>
                    <a:lnT>
                      <a:noFill/>
                    </a:lnT>
                    <a:lnB>
                      <a:noFill/>
                    </a:lnB>
                    <a:solidFill>
                      <a:schemeClr val="accent2">
                        <a:lumMod val="20000"/>
                        <a:lumOff val="80000"/>
                      </a:schemeClr>
                    </a:solidFill>
                  </a:tcPr>
                </a:tc>
                <a:tc>
                  <a:txBody>
                    <a:bodyPr/>
                    <a:lstStyle/>
                    <a:p>
                      <a:pPr algn="l">
                        <a:buNone/>
                      </a:pPr>
                      <a:r>
                        <a:rPr lang="en-US" altLang="zh-CN" sz="1600" dirty="0"/>
                        <a:t>Do the project right</a:t>
                      </a:r>
                      <a:endParaRPr lang="zh-CN" altLang="en-US" sz="1600" dirty="0"/>
                    </a:p>
                  </a:txBody>
                  <a:tcPr anchor="ctr">
                    <a:lnL>
                      <a:noFill/>
                    </a:lnL>
                    <a:lnR>
                      <a:noFill/>
                    </a:lnR>
                    <a:lnT>
                      <a:noFill/>
                    </a:lnT>
                    <a:lnB>
                      <a:noFill/>
                    </a:lnB>
                    <a:solidFill>
                      <a:schemeClr val="accent2">
                        <a:lumMod val="20000"/>
                        <a:lumOff val="80000"/>
                      </a:schemeClr>
                    </a:solidFill>
                  </a:tcPr>
                </a:tc>
                <a:tc>
                  <a:txBody>
                    <a:bodyPr/>
                    <a:lstStyle/>
                    <a:p>
                      <a:pPr algn="l">
                        <a:buNone/>
                      </a:pPr>
                      <a:r>
                        <a:rPr lang="en-US" altLang="zh-CN" sz="1600" dirty="0"/>
                        <a:t>Do the right project</a:t>
                      </a:r>
                      <a:endParaRPr lang="zh-CN" altLang="en-US" sz="1600" dirty="0"/>
                    </a:p>
                  </a:txBody>
                  <a:tcPr anchor="ctr">
                    <a:lnL>
                      <a:noFill/>
                    </a:lnL>
                    <a:lnR>
                      <a:noFill/>
                    </a:lnR>
                    <a:lnT>
                      <a:noFill/>
                    </a:lnT>
                    <a:lnB>
                      <a:noFill/>
                    </a:lnB>
                    <a:solidFill>
                      <a:schemeClr val="accent2">
                        <a:lumMod val="20000"/>
                        <a:lumOff val="80000"/>
                      </a:schemeClr>
                    </a:solid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4732"/>
          </a:xfrm>
        </p:spPr>
        <p:txBody>
          <a:bodyPr>
            <a:normAutofit/>
          </a:bodyPr>
          <a:lstStyle/>
          <a:p>
            <a:r>
              <a:rPr lang="en-US" altLang="zh-CN" dirty="0"/>
              <a:t>3.1 PMBOK </a:t>
            </a:r>
            <a:r>
              <a:rPr lang="zh-CN" altLang="zh-CN" dirty="0"/>
              <a:t>第</a:t>
            </a:r>
            <a:r>
              <a:rPr lang="en-US" altLang="zh-CN" dirty="0"/>
              <a:t>6</a:t>
            </a:r>
            <a:r>
              <a:rPr lang="zh-CN" altLang="zh-CN" dirty="0"/>
              <a:t>版</a:t>
            </a:r>
            <a:endParaRPr lang="zh-CN" altLang="en-US" dirty="0"/>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328000"/>
          </a:xfrm>
        </p:spPr>
        <p:txBody>
          <a:bodyPr/>
          <a:lstStyle/>
          <a:p>
            <a:r>
              <a:rPr lang="en-US" altLang="zh-CN" dirty="0"/>
              <a:t>2017</a:t>
            </a:r>
            <a:r>
              <a:rPr lang="zh-CN" altLang="en-US" dirty="0"/>
              <a:t>年发布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pPr lvl="1"/>
            <a:r>
              <a:rPr lang="zh-CN" altLang="en-US" dirty="0"/>
              <a:t>每个过程都有详细的 </a:t>
            </a:r>
            <a:r>
              <a:rPr lang="en-US" altLang="zh-CN" dirty="0"/>
              <a:t>ITTO (</a:t>
            </a:r>
            <a:r>
              <a:rPr lang="zh-CN" altLang="en-US" dirty="0"/>
              <a:t>输入 </a:t>
            </a:r>
            <a:r>
              <a:rPr lang="en-US" altLang="zh-CN" dirty="0"/>
              <a:t>Input</a:t>
            </a:r>
            <a:r>
              <a:rPr lang="zh-CN" altLang="en-US" dirty="0"/>
              <a:t>、工具 </a:t>
            </a:r>
            <a:r>
              <a:rPr lang="en-US" altLang="zh-CN" dirty="0"/>
              <a:t>Tools </a:t>
            </a:r>
            <a:r>
              <a:rPr lang="zh-CN" altLang="en-US" dirty="0"/>
              <a:t>与技术 </a:t>
            </a:r>
            <a:r>
              <a:rPr lang="en-US" altLang="zh-CN" dirty="0"/>
              <a:t>Techniques</a:t>
            </a:r>
            <a:r>
              <a:rPr lang="zh-CN" altLang="en-US" dirty="0"/>
              <a:t>、输出 </a:t>
            </a:r>
            <a:r>
              <a:rPr lang="en-US" altLang="zh-CN" dirty="0"/>
              <a:t>Output)</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endParaRPr lang="en-US" altLang="zh-CN" dirty="0"/>
          </a:p>
          <a:p>
            <a:endParaRPr lang="zh-CN" altLang="en-US" dirty="0"/>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360001"/>
            <a:ext cx="4424080" cy="424731"/>
          </a:xfrm>
        </p:spPr>
        <p:txBody>
          <a:bodyPr/>
          <a:lstStyle/>
          <a:p>
            <a:r>
              <a:rPr lang="en-US" altLang="zh-CN" dirty="0"/>
              <a:t>PMBOK 6th</a:t>
            </a:r>
            <a:endParaRPr lang="zh-CN" altLang="en-US" dirty="0"/>
          </a:p>
        </p:txBody>
      </p:sp>
    </p:spTree>
    <p:extLst>
      <p:ext uri="{BB962C8B-B14F-4D97-AF65-F5344CB8AC3E}">
        <p14:creationId xmlns:p14="http://schemas.microsoft.com/office/powerpoint/2010/main" val="38396815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4732"/>
          </a:xfrm>
        </p:spPr>
        <p:txBody>
          <a:bodyPr>
            <a:normAutofit/>
          </a:bodyPr>
          <a:lstStyle/>
          <a:p>
            <a:r>
              <a:rPr lang="en-US" altLang="zh-CN" dirty="0"/>
              <a:t>3.1.1 </a:t>
            </a:r>
            <a:r>
              <a:rPr lang="zh-CN" altLang="en-US" dirty="0"/>
              <a:t>五大过程组</a:t>
            </a:r>
          </a:p>
        </p:txBody>
      </p:sp>
      <p:sp>
        <p:nvSpPr>
          <p:cNvPr id="11" name="Content Placeholder 10">
            <a:extLst>
              <a:ext uri="{FF2B5EF4-FFF2-40B4-BE49-F238E27FC236}">
                <a16:creationId xmlns:a16="http://schemas.microsoft.com/office/drawing/2014/main" id="{E82082D6-EBB1-6FAA-DEFE-4B302608C2F6}"/>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360001"/>
            <a:ext cx="4424080" cy="424731"/>
          </a:xfrm>
        </p:spPr>
        <p:txBody>
          <a:bodyPr>
            <a:normAutofit/>
          </a:bodyPr>
          <a:lstStyle/>
          <a:p>
            <a:r>
              <a:rPr lang="en-US" altLang="zh-CN" dirty="0"/>
              <a:t>5 Process Groups/PMBOK 6th</a:t>
            </a:r>
            <a:endParaRPr lang="zh-CN" altLang="en-US" dirty="0"/>
          </a:p>
        </p:txBody>
      </p:sp>
      <p:graphicFrame>
        <p:nvGraphicFramePr>
          <p:cNvPr id="10" name="内容占位符 3">
            <a:extLst>
              <a:ext uri="{FF2B5EF4-FFF2-40B4-BE49-F238E27FC236}">
                <a16:creationId xmlns:a16="http://schemas.microsoft.com/office/drawing/2014/main" id="{1B3CC294-7520-BBD9-FCB2-67410199AEB4}"/>
              </a:ext>
            </a:extLst>
          </p:cNvPr>
          <p:cNvGraphicFramePr>
            <a:graphicFrameLocks/>
          </p:cNvGraphicFramePr>
          <p:nvPr>
            <p:extLst>
              <p:ext uri="{D42A27DB-BD31-4B8C-83A1-F6EECF244321}">
                <p14:modId xmlns:p14="http://schemas.microsoft.com/office/powerpoint/2010/main" val="2590015810"/>
              </p:ext>
            </p:extLst>
          </p:nvPr>
        </p:nvGraphicFramePr>
        <p:xfrm>
          <a:off x="695325" y="1395525"/>
          <a:ext cx="10801350" cy="4796475"/>
        </p:xfrm>
        <a:graphic>
          <a:graphicData uri="http://schemas.openxmlformats.org/drawingml/2006/table">
            <a:tbl>
              <a:tblPr firstRow="1" bandRow="1">
                <a:tableStyleId>{72833802-FEF1-4C79-8D5D-14CF1EAF98D9}</a:tableStyleId>
              </a:tblPr>
              <a:tblGrid>
                <a:gridCol w="720832">
                  <a:extLst>
                    <a:ext uri="{9D8B030D-6E8A-4147-A177-3AD203B41FA5}">
                      <a16:colId xmlns:a16="http://schemas.microsoft.com/office/drawing/2014/main" val="784792021"/>
                    </a:ext>
                  </a:extLst>
                </a:gridCol>
                <a:gridCol w="3710025">
                  <a:extLst>
                    <a:ext uri="{9D8B030D-6E8A-4147-A177-3AD203B41FA5}">
                      <a16:colId xmlns:a16="http://schemas.microsoft.com/office/drawing/2014/main" val="3401312939"/>
                    </a:ext>
                  </a:extLst>
                </a:gridCol>
                <a:gridCol w="6370493">
                  <a:extLst>
                    <a:ext uri="{9D8B030D-6E8A-4147-A177-3AD203B41FA5}">
                      <a16:colId xmlns:a16="http://schemas.microsoft.com/office/drawing/2014/main" val="370412264"/>
                    </a:ext>
                  </a:extLst>
                </a:gridCol>
              </a:tblGrid>
              <a:tr h="120025">
                <a:tc>
                  <a:txBody>
                    <a:bodyPr/>
                    <a:lstStyle/>
                    <a:p>
                      <a:pPr algn="l">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Process</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1</a:t>
                      </a:r>
                    </a:p>
                  </a:txBody>
                  <a:tcPr anchor="ctr"/>
                </a:tc>
                <a:tc>
                  <a:txBody>
                    <a:bodyPr/>
                    <a:lstStyle/>
                    <a:p>
                      <a:pPr algn="l">
                        <a:lnSpc>
                          <a:spcPct val="150000"/>
                        </a:lnSpc>
                        <a:buNone/>
                      </a:pPr>
                      <a:r>
                        <a:rPr lang="zh-CN" altLang="en-US" sz="1800" b="0" baseline="0" dirty="0"/>
                        <a:t>启动 </a:t>
                      </a:r>
                      <a:r>
                        <a:rPr lang="en-US" altLang="zh-CN" sz="1800" b="0" baseline="0" dirty="0"/>
                        <a:t>Initiating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定义新项目或阶段，获得授权</a:t>
                      </a:r>
                    </a:p>
                    <a:p>
                      <a:pPr>
                        <a:lnSpc>
                          <a:spcPct val="150000"/>
                        </a:lnSpc>
                        <a:buNone/>
                      </a:pPr>
                      <a:r>
                        <a:rPr lang="zh-CN" altLang="en-US" sz="1800" b="0" baseline="0" dirty="0"/>
                        <a:t>关键输出：项目章程、识别干系人</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2</a:t>
                      </a:r>
                    </a:p>
                  </a:txBody>
                  <a:tcPr anchor="ctr"/>
                </a:tc>
                <a:tc>
                  <a:txBody>
                    <a:bodyPr/>
                    <a:lstStyle/>
                    <a:p>
                      <a:pPr algn="l">
                        <a:lnSpc>
                          <a:spcPct val="150000"/>
                        </a:lnSpc>
                        <a:buNone/>
                      </a:pPr>
                      <a:r>
                        <a:rPr lang="zh-CN" altLang="en-US" sz="1800" b="0" baseline="0" dirty="0"/>
                        <a:t>规划 </a:t>
                      </a:r>
                      <a:r>
                        <a:rPr lang="en-US" altLang="zh-CN" sz="1800" b="0" baseline="0" dirty="0"/>
                        <a:t>Planning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制定范围、成本、进度、质量、风险等计划</a:t>
                      </a:r>
                    </a:p>
                    <a:p>
                      <a:pPr>
                        <a:lnSpc>
                          <a:spcPct val="150000"/>
                        </a:lnSpc>
                        <a:buNone/>
                      </a:pPr>
                      <a:r>
                        <a:rPr lang="zh-CN" altLang="en-US" sz="1800" b="0" baseline="0" dirty="0"/>
                        <a:t>占比最大（</a:t>
                      </a:r>
                      <a:r>
                        <a:rPr lang="en-US" altLang="zh-CN" sz="1800" b="0" baseline="0" dirty="0"/>
                        <a:t>24</a:t>
                      </a:r>
                      <a:r>
                        <a:rPr lang="zh-CN" altLang="en-US" sz="1800" b="0" baseline="0" dirty="0"/>
                        <a:t>个过程），强调滚动式规划</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3</a:t>
                      </a:r>
                    </a:p>
                  </a:txBody>
                  <a:tcPr anchor="ctr"/>
                </a:tc>
                <a:tc>
                  <a:txBody>
                    <a:bodyPr/>
                    <a:lstStyle/>
                    <a:p>
                      <a:pPr algn="l">
                        <a:lnSpc>
                          <a:spcPct val="150000"/>
                        </a:lnSpc>
                        <a:buNone/>
                      </a:pPr>
                      <a:r>
                        <a:rPr lang="zh-CN" altLang="en-US" sz="1800" b="0" baseline="0" dirty="0"/>
                        <a:t>执行 </a:t>
                      </a:r>
                      <a:r>
                        <a:rPr lang="en-US" altLang="zh-CN" sz="1800" b="0" baseline="0" dirty="0"/>
                        <a:t>Executing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完成项目工作，满足范围说明书要求</a:t>
                      </a:r>
                    </a:p>
                    <a:p>
                      <a:pPr>
                        <a:lnSpc>
                          <a:spcPct val="150000"/>
                        </a:lnSpc>
                        <a:buNone/>
                      </a:pPr>
                      <a:r>
                        <a:rPr lang="zh-CN" altLang="en-US" sz="1800" b="0" baseline="0" dirty="0"/>
                        <a:t>包括团队建设、质量保证、采购实施等</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4</a:t>
                      </a:r>
                    </a:p>
                  </a:txBody>
                  <a:tcPr anchor="ctr"/>
                </a:tc>
                <a:tc>
                  <a:txBody>
                    <a:bodyPr/>
                    <a:lstStyle/>
                    <a:p>
                      <a:pPr algn="l">
                        <a:lnSpc>
                          <a:spcPct val="150000"/>
                        </a:lnSpc>
                        <a:buNone/>
                      </a:pPr>
                      <a:r>
                        <a:rPr lang="zh-CN" altLang="en-US" sz="1800" b="0" baseline="0" dirty="0"/>
                        <a:t>监控 </a:t>
                      </a:r>
                      <a:r>
                        <a:rPr lang="en-US" altLang="zh-CN" sz="1800" b="0" baseline="0" dirty="0"/>
                        <a:t>Monitoring &amp; Controlling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跟踪、审查和调整项目进展与绩效</a:t>
                      </a:r>
                    </a:p>
                    <a:p>
                      <a:pPr>
                        <a:lnSpc>
                          <a:spcPct val="150000"/>
                        </a:lnSpc>
                        <a:buNone/>
                      </a:pPr>
                      <a:r>
                        <a:rPr lang="zh-CN" altLang="en-US" sz="1800" b="0" baseline="0" dirty="0"/>
                        <a:t>核心：变更控制和偏差分析</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zh-CN" altLang="en-US" sz="1800" b="0" baseline="0" dirty="0"/>
                        <a:t>收尾 </a:t>
                      </a:r>
                      <a:r>
                        <a:rPr lang="en-US" altLang="zh-CN" sz="1800" b="0" baseline="0" dirty="0"/>
                        <a:t>Closing</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正式结束项目或阶段</a:t>
                      </a:r>
                      <a:endParaRPr lang="en-US" altLang="zh-CN" sz="1800" b="0" baseline="0" dirty="0"/>
                    </a:p>
                    <a:p>
                      <a:pPr>
                        <a:lnSpc>
                          <a:spcPct val="150000"/>
                        </a:lnSpc>
                        <a:buNone/>
                      </a:pPr>
                      <a:r>
                        <a:rPr lang="zh-CN" altLang="en-US" sz="1800" b="0" baseline="0" dirty="0"/>
                        <a:t>移交成果，总结经验</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40163973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4732"/>
          </a:xfrm>
        </p:spPr>
        <p:txBody>
          <a:bodyPr>
            <a:normAutofit/>
          </a:bodyPr>
          <a:lstStyle/>
          <a:p>
            <a:r>
              <a:rPr lang="en-US" altLang="zh-CN" dirty="0"/>
              <a:t>3.1.2 </a:t>
            </a:r>
            <a:r>
              <a:rPr lang="zh-CN" altLang="en-US" dirty="0"/>
              <a:t>十大知识领域</a:t>
            </a:r>
          </a:p>
        </p:txBody>
      </p:sp>
      <p:sp>
        <p:nvSpPr>
          <p:cNvPr id="17" name="Content Placeholder 16">
            <a:extLst>
              <a:ext uri="{FF2B5EF4-FFF2-40B4-BE49-F238E27FC236}">
                <a16:creationId xmlns:a16="http://schemas.microsoft.com/office/drawing/2014/main" id="{DA1EBA74-62F0-B646-5C3C-BB43D7457806}"/>
              </a:ext>
            </a:extLst>
          </p:cNvPr>
          <p:cNvSpPr>
            <a:spLocks noGrp="1"/>
          </p:cNvSpPr>
          <p:nvPr>
            <p:ph idx="1"/>
          </p:nvPr>
        </p:nvSpPr>
        <p:spPr>
          <a:xfrm>
            <a:off x="696000" y="864000"/>
            <a:ext cx="10800000" cy="5328000"/>
          </a:xfrm>
        </p:spPr>
        <p:txBody>
          <a:bodyPr/>
          <a:lstStyle/>
          <a:p>
            <a:endParaRPr lang="zh-CN" altLang="en-US"/>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360001"/>
            <a:ext cx="4424080" cy="424731"/>
          </a:xfrm>
        </p:spPr>
        <p:txBody>
          <a:bodyPr>
            <a:normAutofit/>
          </a:bodyPr>
          <a:lstStyle/>
          <a:p>
            <a:r>
              <a:rPr lang="en-US" altLang="zh-CN" dirty="0"/>
              <a:t>10 Knowledge Areas/PMBOK 6th</a:t>
            </a:r>
            <a:endParaRPr lang="zh-CN" altLang="en-US" dirty="0"/>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288131203"/>
              </p:ext>
            </p:extLst>
          </p:nvPr>
        </p:nvGraphicFramePr>
        <p:xfrm>
          <a:off x="695325" y="1169785"/>
          <a:ext cx="10800001" cy="5022215"/>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Areas</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1</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项目整合管理 </a:t>
                      </a:r>
                      <a:r>
                        <a:rPr lang="en-US" altLang="zh-CN" sz="1800" baseline="0" dirty="0"/>
                        <a:t>Integration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统一协调各过程，如制定章程、项目管理计划、变更控制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2</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项目范围管理 </a:t>
                      </a:r>
                      <a:r>
                        <a:rPr lang="en-US" altLang="zh-CN" sz="1800" baseline="0" dirty="0"/>
                        <a:t>Scope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定义和控制做哪些工作，防止范围蔓延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3</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项目进度管理 </a:t>
                      </a:r>
                      <a:r>
                        <a:rPr lang="en-US" altLang="zh-CN" sz="1800" baseline="0" dirty="0"/>
                        <a:t>Schedule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活动定义、排序、估算、制定进度计划</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4</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项目成本管理 </a:t>
                      </a:r>
                      <a:r>
                        <a:rPr lang="en-US" altLang="zh-CN" sz="1800" baseline="0" dirty="0"/>
                        <a:t>Cost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估算、预算、控制成本</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项目质量管理 </a:t>
                      </a:r>
                      <a:r>
                        <a:rPr lang="en-US" altLang="zh-CN" sz="1800" baseline="0" dirty="0"/>
                        <a:t>Quality</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a:t>规划质量、管理质量、控制质量</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6</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项目资源管理 </a:t>
                      </a:r>
                      <a:r>
                        <a:rPr lang="en-US" altLang="zh-CN" sz="1800" baseline="0" dirty="0"/>
                        <a:t>Resource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a:t>获取、发展、管理团队及实物资源</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43909409"/>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7</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项目沟通管理 </a:t>
                      </a:r>
                      <a:r>
                        <a:rPr lang="en-US" altLang="zh-CN" sz="1800" baseline="0" dirty="0"/>
                        <a:t>Communication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a:t>规划、管理、监督沟通</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773125882"/>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8</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项目风险管理 </a:t>
                      </a:r>
                      <a:r>
                        <a:rPr lang="en-US" altLang="zh-CN" sz="1800" baseline="0" dirty="0"/>
                        <a:t>Risk</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识别、分析、应对不确定性</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104933583"/>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9</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项目采购管理 </a:t>
                      </a:r>
                      <a:r>
                        <a:rPr lang="en-US" altLang="zh-CN" sz="1800" baseline="0" dirty="0"/>
                        <a:t>Procurement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a:t>从外部获取产品</a:t>
                      </a:r>
                      <a:r>
                        <a:rPr lang="en-US" altLang="zh-CN" sz="1800" baseline="0"/>
                        <a:t>/</a:t>
                      </a:r>
                      <a:r>
                        <a:rPr lang="zh-CN" altLang="en-US" sz="1800" baseline="0"/>
                        <a:t>服务</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55479412"/>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10</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项目干系人管理 </a:t>
                      </a:r>
                      <a:r>
                        <a:rPr lang="en-US" altLang="zh-CN" sz="1800" baseline="0" dirty="0"/>
                        <a:t>Stakeholder</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识别干系人、制定参与策略、管理期望</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4732"/>
          </a:xfrm>
        </p:spPr>
        <p:txBody>
          <a:bodyPr>
            <a:normAutofit/>
          </a:bodyPr>
          <a:lstStyle/>
          <a:p>
            <a:r>
              <a:rPr lang="en-US" altLang="zh-CN" dirty="0"/>
              <a:t>3.2 PMBOK</a:t>
            </a:r>
            <a:r>
              <a:rPr lang="zh-CN" altLang="zh-CN" dirty="0"/>
              <a:t>第</a:t>
            </a:r>
            <a:r>
              <a:rPr lang="en-US" altLang="zh-CN" dirty="0"/>
              <a:t>7</a:t>
            </a:r>
            <a:r>
              <a:rPr lang="zh-CN" altLang="zh-CN" dirty="0"/>
              <a:t>版</a:t>
            </a:r>
            <a:endParaRPr lang="zh-CN" altLang="en-US" dirty="0"/>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328000"/>
          </a:xfrm>
        </p:spPr>
        <p:txBody>
          <a:bodyPr>
            <a:normAutofit/>
          </a:bodyPr>
          <a:lstStyle/>
          <a:p>
            <a:r>
              <a:rPr lang="en-US" altLang="zh-CN" dirty="0"/>
              <a:t>2021</a:t>
            </a:r>
            <a:r>
              <a:rPr lang="zh-CN" altLang="en-US" dirty="0"/>
              <a:t>年发布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360001"/>
            <a:ext cx="4424080" cy="424731"/>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73502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4732"/>
          </a:xfrm>
        </p:spPr>
        <p:txBody>
          <a:bodyPr>
            <a:normAutofit/>
          </a:bodyPr>
          <a:lstStyle/>
          <a:p>
            <a:r>
              <a:rPr lang="en-US" altLang="zh-CN" dirty="0"/>
              <a:t>3.2 PMBOK</a:t>
            </a:r>
            <a:r>
              <a:rPr lang="zh-CN" altLang="zh-CN" dirty="0"/>
              <a:t>第</a:t>
            </a:r>
            <a:r>
              <a:rPr lang="en-US" altLang="zh-CN" dirty="0"/>
              <a:t>7</a:t>
            </a:r>
            <a:r>
              <a:rPr lang="zh-CN" altLang="zh-CN" dirty="0"/>
              <a:t>版</a:t>
            </a:r>
            <a:endParaRPr lang="zh-CN" altLang="en-US" dirty="0"/>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328000"/>
          </a:xfrm>
        </p:spPr>
        <p:txBody>
          <a:bodyPr wrap="square">
            <a:normAutofit/>
          </a:bodyPr>
          <a:lstStyle/>
          <a:p>
            <a:r>
              <a:rPr lang="zh-CN" altLang="en-US" dirty="0"/>
              <a:t>注重价值交付和适应性</a:t>
            </a:r>
            <a:endParaRPr lang="en-US" altLang="zh-CN" dirty="0"/>
          </a:p>
          <a:p>
            <a:r>
              <a:rPr lang="zh-CN" altLang="zh-CN" dirty="0"/>
              <a:t>不是对第</a:t>
            </a:r>
            <a:r>
              <a:rPr lang="en-US" altLang="zh-CN" dirty="0"/>
              <a:t>6</a:t>
            </a:r>
            <a:r>
              <a:rPr lang="zh-CN" altLang="zh-CN" dirty="0"/>
              <a:t>版推翻、不是替代第</a:t>
            </a:r>
            <a:r>
              <a:rPr lang="en-US" altLang="zh-CN" dirty="0"/>
              <a:t>6</a:t>
            </a:r>
            <a:r>
              <a:rPr lang="zh-CN" altLang="zh-CN" dirty="0"/>
              <a:t>版</a:t>
            </a:r>
            <a:endParaRPr lang="en-US" altLang="zh-CN" dirty="0"/>
          </a:p>
          <a:p>
            <a:r>
              <a:rPr lang="zh-CN" altLang="zh-CN" dirty="0"/>
              <a:t>而是对第</a:t>
            </a:r>
            <a:r>
              <a:rPr lang="en-US" altLang="zh-CN" dirty="0"/>
              <a:t>6</a:t>
            </a:r>
            <a:r>
              <a:rPr lang="zh-CN" altLang="zh-CN" dirty="0"/>
              <a:t>版中项目管理核心精髓的延伸，是对第</a:t>
            </a:r>
            <a:r>
              <a:rPr lang="en-US" altLang="zh-CN" dirty="0"/>
              <a:t>6</a:t>
            </a:r>
            <a:r>
              <a:rPr lang="zh-CN" altLang="zh-CN" dirty="0"/>
              <a:t>版知识领域与过程组高层次、高维度的承接，再度续写下个项目管理标准构架的辉煌</a:t>
            </a:r>
            <a:endParaRPr lang="zh-CN" altLang="en-US" dirty="0"/>
          </a:p>
          <a:p>
            <a:r>
              <a:rPr lang="zh-CN" altLang="zh-CN" dirty="0"/>
              <a:t>与第</a:t>
            </a:r>
            <a:r>
              <a:rPr lang="en-US" altLang="zh-CN" dirty="0"/>
              <a:t>6</a:t>
            </a:r>
            <a:r>
              <a:rPr lang="zh-CN" altLang="zh-CN" dirty="0"/>
              <a:t>版</a:t>
            </a:r>
            <a:r>
              <a:rPr lang="zh-CN" altLang="en-US" dirty="0"/>
              <a:t>长期</a:t>
            </a:r>
            <a:r>
              <a:rPr lang="zh-CN" altLang="zh-CN" dirty="0"/>
              <a:t>共存</a:t>
            </a:r>
            <a:endParaRPr lang="en-US" altLang="zh-CN" dirty="0"/>
          </a:p>
          <a:p>
            <a:endParaRPr lang="zh-CN" altLang="en-US" dirty="0"/>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360001"/>
            <a:ext cx="4424080" cy="424731"/>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4744696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4732"/>
          </a:xfrm>
        </p:spPr>
        <p:txBody>
          <a:bodyPr>
            <a:normAutofit/>
          </a:bodyPr>
          <a:lstStyle/>
          <a:p>
            <a:r>
              <a:rPr lang="en-US" altLang="zh-CN" dirty="0"/>
              <a:t>3.2.1 </a:t>
            </a:r>
            <a:r>
              <a:rPr lang="zh-CN" altLang="en-US" dirty="0"/>
              <a:t>十二项原则</a:t>
            </a:r>
          </a:p>
        </p:txBody>
      </p:sp>
      <p:sp>
        <p:nvSpPr>
          <p:cNvPr id="3" name="Content Placeholder 2">
            <a:extLst>
              <a:ext uri="{FF2B5EF4-FFF2-40B4-BE49-F238E27FC236}">
                <a16:creationId xmlns:a16="http://schemas.microsoft.com/office/drawing/2014/main" id="{5864824E-CCB8-0517-41B7-D6F903A18BC3}"/>
              </a:ext>
            </a:extLst>
          </p:cNvPr>
          <p:cNvSpPr>
            <a:spLocks noGrp="1"/>
          </p:cNvSpPr>
          <p:nvPr>
            <p:ph idx="1"/>
          </p:nvPr>
        </p:nvSpPr>
        <p:spPr>
          <a:xfrm>
            <a:off x="696000" y="864000"/>
            <a:ext cx="10800000" cy="5328000"/>
          </a:xfrm>
        </p:spPr>
        <p:txBody>
          <a:bodyPr/>
          <a:lstStyle/>
          <a:p>
            <a:r>
              <a:rPr lang="zh-CN" altLang="en-US" dirty="0"/>
              <a:t>尽职、尊重和关心 </a:t>
            </a:r>
            <a:r>
              <a:rPr lang="en-US" altLang="zh-CN" dirty="0"/>
              <a:t>Stewardship</a:t>
            </a:r>
          </a:p>
          <a:p>
            <a:r>
              <a:rPr lang="zh-CN" altLang="en-US" dirty="0"/>
              <a:t>营造协作的项目团队环境 </a:t>
            </a:r>
            <a:r>
              <a:rPr lang="en-US" altLang="zh-CN" dirty="0"/>
              <a:t>Team</a:t>
            </a:r>
          </a:p>
          <a:p>
            <a:r>
              <a:rPr lang="zh-CN" altLang="en-US" dirty="0"/>
              <a:t>有效参与相关方 </a:t>
            </a:r>
            <a:r>
              <a:rPr lang="en-US" altLang="zh-CN" dirty="0"/>
              <a:t>Stakeholders</a:t>
            </a:r>
          </a:p>
          <a:p>
            <a:r>
              <a:rPr lang="zh-CN" altLang="en-US" dirty="0"/>
              <a:t>聚焦于价值 </a:t>
            </a:r>
            <a:r>
              <a:rPr lang="en-US" altLang="zh-CN" dirty="0"/>
              <a:t>Value</a:t>
            </a:r>
          </a:p>
          <a:p>
            <a:r>
              <a:rPr lang="zh-CN" altLang="en-US" dirty="0"/>
              <a:t>识别、评估和响应系统交互 </a:t>
            </a:r>
            <a:r>
              <a:rPr lang="en-US" altLang="zh-CN" dirty="0"/>
              <a:t>System Interaction</a:t>
            </a:r>
          </a:p>
          <a:p>
            <a:r>
              <a:rPr lang="zh-CN" altLang="en-US" dirty="0"/>
              <a:t>展现领导力行为 </a:t>
            </a:r>
            <a:r>
              <a:rPr lang="en-US" altLang="zh-CN" dirty="0"/>
              <a:t>Leadership</a:t>
            </a:r>
          </a:p>
          <a:p>
            <a:r>
              <a:rPr lang="zh-CN" altLang="en-US" dirty="0"/>
              <a:t>根据情境进行裁剪 </a:t>
            </a:r>
            <a:r>
              <a:rPr lang="en-US" altLang="zh-CN" dirty="0"/>
              <a:t>Tailoring</a:t>
            </a:r>
          </a:p>
          <a:p>
            <a:r>
              <a:rPr lang="zh-CN" altLang="en-US" dirty="0"/>
              <a:t>将质量融入过程和可交付成果 </a:t>
            </a:r>
            <a:r>
              <a:rPr lang="en-US" altLang="zh-CN" dirty="0"/>
              <a:t>Quality</a:t>
            </a:r>
          </a:p>
          <a:p>
            <a:r>
              <a:rPr lang="zh-CN" altLang="en-US" dirty="0"/>
              <a:t>驾驭复杂性 </a:t>
            </a:r>
            <a:r>
              <a:rPr lang="en-US" altLang="zh-CN" dirty="0"/>
              <a:t>Complexity</a:t>
            </a:r>
          </a:p>
          <a:p>
            <a:r>
              <a:rPr lang="zh-CN" altLang="en-US" dirty="0"/>
              <a:t>优化风险应对 </a:t>
            </a:r>
            <a:r>
              <a:rPr lang="en-US" altLang="zh-CN" dirty="0"/>
              <a:t>Risk</a:t>
            </a:r>
          </a:p>
          <a:p>
            <a:r>
              <a:rPr lang="zh-CN" altLang="en-US" dirty="0"/>
              <a:t>拥抱适应性和韧性 </a:t>
            </a:r>
            <a:r>
              <a:rPr lang="en-US" altLang="zh-CN" dirty="0"/>
              <a:t>Adaptability &amp; Resiliency</a:t>
            </a:r>
          </a:p>
          <a:p>
            <a:r>
              <a:rPr lang="zh-CN" altLang="en-US" dirty="0"/>
              <a:t>为实现目标而驱动变革 </a:t>
            </a:r>
            <a:r>
              <a:rPr lang="en-US" altLang="zh-CN" dirty="0"/>
              <a:t>Change</a:t>
            </a:r>
          </a:p>
          <a:p>
            <a:endParaRPr lang="zh-CN" altLang="en-US" dirty="0"/>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360001"/>
            <a:ext cx="4424080" cy="424731"/>
          </a:xfrm>
        </p:spPr>
        <p:txBody>
          <a:bodyPr/>
          <a:lstStyle/>
          <a:p>
            <a:r>
              <a:rPr lang="en-US" altLang="zh-CN" dirty="0"/>
              <a:t>12 Principles/PMBOK 7th</a:t>
            </a:r>
            <a:endParaRPr lang="zh-CN" altLang="en-US" dirty="0"/>
          </a:p>
        </p:txBody>
      </p:sp>
    </p:spTree>
    <p:extLst>
      <p:ext uri="{BB962C8B-B14F-4D97-AF65-F5344CB8AC3E}">
        <p14:creationId xmlns:p14="http://schemas.microsoft.com/office/powerpoint/2010/main" val="10006041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6692A73-90A8-90A7-5588-75572825511F}"/>
              </a:ext>
            </a:extLst>
          </p:cNvPr>
          <p:cNvGraphicFramePr>
            <a:graphicFrameLocks noGrp="1"/>
          </p:cNvGraphicFramePr>
          <p:nvPr>
            <p:extLst>
              <p:ext uri="{D42A27DB-BD31-4B8C-83A1-F6EECF244321}">
                <p14:modId xmlns:p14="http://schemas.microsoft.com/office/powerpoint/2010/main" val="1564157274"/>
              </p:ext>
            </p:extLst>
          </p:nvPr>
        </p:nvGraphicFramePr>
        <p:xfrm>
          <a:off x="696000" y="499562"/>
          <a:ext cx="10800000" cy="5858877"/>
        </p:xfrm>
        <a:graphic>
          <a:graphicData uri="http://schemas.openxmlformats.org/drawingml/2006/table">
            <a:tbl>
              <a:tblPr/>
              <a:tblGrid>
                <a:gridCol w="614329">
                  <a:extLst>
                    <a:ext uri="{9D8B030D-6E8A-4147-A177-3AD203B41FA5}">
                      <a16:colId xmlns:a16="http://schemas.microsoft.com/office/drawing/2014/main" val="925299126"/>
                    </a:ext>
                  </a:extLst>
                </a:gridCol>
                <a:gridCol w="3827282">
                  <a:extLst>
                    <a:ext uri="{9D8B030D-6E8A-4147-A177-3AD203B41FA5}">
                      <a16:colId xmlns:a16="http://schemas.microsoft.com/office/drawing/2014/main" val="2868495705"/>
                    </a:ext>
                  </a:extLst>
                </a:gridCol>
                <a:gridCol w="3271101">
                  <a:extLst>
                    <a:ext uri="{9D8B030D-6E8A-4147-A177-3AD203B41FA5}">
                      <a16:colId xmlns:a16="http://schemas.microsoft.com/office/drawing/2014/main" val="3988260063"/>
                    </a:ext>
                  </a:extLst>
                </a:gridCol>
                <a:gridCol w="3087288">
                  <a:extLst>
                    <a:ext uri="{9D8B030D-6E8A-4147-A177-3AD203B41FA5}">
                      <a16:colId xmlns:a16="http://schemas.microsoft.com/office/drawing/2014/main" val="3623922994"/>
                    </a:ext>
                  </a:extLst>
                </a:gridCol>
              </a:tblGrid>
              <a:tr h="360000">
                <a:tc>
                  <a:txBody>
                    <a:bodyPr/>
                    <a:lstStyle/>
                    <a:p>
                      <a:pPr algn="ctr">
                        <a:buNone/>
                      </a:pP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777749652"/>
                  </a:ext>
                </a:extLst>
              </a:tr>
              <a:tr h="477651">
                <a:tc>
                  <a:txBody>
                    <a:bodyPr/>
                    <a:lstStyle/>
                    <a:p>
                      <a:pPr algn="ctr">
                        <a:buNone/>
                      </a:pPr>
                      <a:r>
                        <a:rPr lang="en-US" altLang="zh-CN" sz="1200" dirty="0"/>
                        <a:t>1</a:t>
                      </a:r>
                    </a:p>
                  </a:txBody>
                  <a:tcPr marL="36742" marR="36742" marT="18371" marB="18371" anchor="ctr">
                    <a:lnL>
                      <a:noFill/>
                    </a:lnL>
                    <a:lnR>
                      <a:noFill/>
                    </a:lnR>
                    <a:lnT>
                      <a:noFill/>
                    </a:lnT>
                    <a:lnB>
                      <a:noFill/>
                    </a:lnB>
                    <a:noFill/>
                  </a:tcPr>
                </a:tc>
                <a:tc>
                  <a:txBody>
                    <a:bodyPr/>
                    <a:lstStyle/>
                    <a:p>
                      <a:pPr algn="l">
                        <a:buNone/>
                      </a:pPr>
                      <a:r>
                        <a:rPr lang="en-US" sz="1200" dirty="0"/>
                        <a:t>Stewardship</a:t>
                      </a:r>
                      <a:br>
                        <a:rPr lang="en-US" sz="1200" dirty="0"/>
                      </a:br>
                      <a:r>
                        <a:rPr lang="en-US" sz="1200" dirty="0"/>
                        <a:t>Be a diligent, respectful, and caring steward.</a:t>
                      </a:r>
                    </a:p>
                  </a:txBody>
                  <a:tcPr marL="36742" marR="36742" marT="18371" marB="18371" anchor="ctr">
                    <a:lnL>
                      <a:noFill/>
                    </a:lnL>
                    <a:lnR>
                      <a:noFill/>
                    </a:lnR>
                    <a:lnT>
                      <a:noFill/>
                    </a:lnT>
                    <a:lnB>
                      <a:noFill/>
                    </a:lnB>
                    <a:noFill/>
                  </a:tcPr>
                </a:tc>
                <a:tc>
                  <a:txBody>
                    <a:bodyPr/>
                    <a:lstStyle/>
                    <a:p>
                      <a:pPr algn="l">
                        <a:buNone/>
                      </a:pPr>
                      <a:r>
                        <a:rPr lang="zh-CN" altLang="en-US" sz="1200" dirty="0"/>
                        <a:t>尽职管理</a:t>
                      </a:r>
                      <a:br>
                        <a:rPr lang="zh-CN" altLang="en-US" sz="1200" dirty="0"/>
                      </a:br>
                      <a:r>
                        <a:rPr lang="zh-CN" altLang="en-US" sz="1200" dirty="0"/>
                        <a:t>做一位勤勉、尊重且关心的管家。</a:t>
                      </a:r>
                    </a:p>
                  </a:txBody>
                  <a:tcPr marL="36742" marR="36742" marT="18371" marB="18371" anchor="ctr">
                    <a:lnL>
                      <a:noFill/>
                    </a:lnL>
                    <a:lnR>
                      <a:noFill/>
                    </a:lnR>
                    <a:lnT>
                      <a:noFill/>
                    </a:lnT>
                    <a:lnB>
                      <a:noFill/>
                    </a:lnB>
                    <a:noFill/>
                  </a:tcPr>
                </a:tc>
                <a:tc>
                  <a:txBody>
                    <a:bodyPr/>
                    <a:lstStyle/>
                    <a:p>
                      <a:pPr algn="l">
                        <a:buNone/>
                      </a:pPr>
                      <a:r>
                        <a:rPr lang="zh-CN" altLang="en-US" sz="1200" dirty="0"/>
                        <a:t>以诚信、关怀和信任为基础管理资源，对结果负责。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82072623"/>
                  </a:ext>
                </a:extLst>
              </a:tr>
              <a:tr h="477651">
                <a:tc>
                  <a:txBody>
                    <a:bodyPr/>
                    <a:lstStyle/>
                    <a:p>
                      <a:pPr algn="ctr">
                        <a:buNone/>
                      </a:pPr>
                      <a:r>
                        <a:rPr lang="en-US" altLang="zh-CN" sz="1200"/>
                        <a:t>2</a:t>
                      </a:r>
                    </a:p>
                  </a:txBody>
                  <a:tcPr marL="36742" marR="36742" marT="18371" marB="18371" anchor="ctr">
                    <a:lnL>
                      <a:noFill/>
                    </a:lnL>
                    <a:lnR>
                      <a:noFill/>
                    </a:lnR>
                    <a:lnT>
                      <a:noFill/>
                    </a:lnT>
                    <a:lnB>
                      <a:noFill/>
                    </a:lnB>
                    <a:noFill/>
                  </a:tcPr>
                </a:tc>
                <a:tc>
                  <a:txBody>
                    <a:bodyPr/>
                    <a:lstStyle/>
                    <a:p>
                      <a:pPr algn="l">
                        <a:buNone/>
                      </a:pPr>
                      <a:r>
                        <a:rPr lang="en-US" sz="1200"/>
                        <a:t>Team</a:t>
                      </a:r>
                      <a:br>
                        <a:rPr lang="en-US" sz="1200"/>
                      </a:br>
                      <a:r>
                        <a:rPr lang="en-US" sz="1200"/>
                        <a:t>Create a collaborative project team environment.</a:t>
                      </a:r>
                    </a:p>
                  </a:txBody>
                  <a:tcPr marL="36742" marR="36742" marT="18371" marB="18371" anchor="ctr">
                    <a:lnL>
                      <a:noFill/>
                    </a:lnL>
                    <a:lnR>
                      <a:noFill/>
                    </a:lnR>
                    <a:lnT>
                      <a:noFill/>
                    </a:lnT>
                    <a:lnB>
                      <a:noFill/>
                    </a:lnB>
                    <a:noFill/>
                  </a:tcPr>
                </a:tc>
                <a:tc>
                  <a:txBody>
                    <a:bodyPr/>
                    <a:lstStyle/>
                    <a:p>
                      <a:pPr algn="l">
                        <a:buNone/>
                      </a:pPr>
                      <a:r>
                        <a:rPr lang="zh-CN" altLang="en-US" sz="1200"/>
                        <a:t>团队</a:t>
                      </a:r>
                      <a:br>
                        <a:rPr lang="zh-CN" altLang="en-US" sz="1200"/>
                      </a:br>
                      <a:r>
                        <a:rPr lang="zh-CN" altLang="en-US" sz="1200"/>
                        <a:t>营造协作的项目团队环境。</a:t>
                      </a:r>
                    </a:p>
                  </a:txBody>
                  <a:tcPr marL="36742" marR="36742" marT="18371" marB="18371" anchor="ctr">
                    <a:lnL>
                      <a:noFill/>
                    </a:lnL>
                    <a:lnR>
                      <a:noFill/>
                    </a:lnR>
                    <a:lnT>
                      <a:noFill/>
                    </a:lnT>
                    <a:lnB>
                      <a:noFill/>
                    </a:lnB>
                    <a:noFill/>
                  </a:tcPr>
                </a:tc>
                <a:tc>
                  <a:txBody>
                    <a:bodyPr/>
                    <a:lstStyle/>
                    <a:p>
                      <a:pPr algn="l">
                        <a:buNone/>
                      </a:pPr>
                      <a:r>
                        <a:rPr lang="zh-CN" altLang="en-US" sz="1200"/>
                        <a:t>建立包容、开放的环境，促进团队高效协作和共同成长。</a:t>
                      </a:r>
                    </a:p>
                  </a:txBody>
                  <a:tcPr marL="36742" marR="36742" marT="18371" marB="18371" anchor="ctr">
                    <a:lnL>
                      <a:noFill/>
                    </a:lnL>
                    <a:lnR>
                      <a:noFill/>
                    </a:lnR>
                    <a:lnT>
                      <a:noFill/>
                    </a:lnT>
                    <a:lnB>
                      <a:noFill/>
                    </a:lnB>
                    <a:noFill/>
                  </a:tcPr>
                </a:tc>
                <a:extLst>
                  <a:ext uri="{0D108BD9-81ED-4DB2-BD59-A6C34878D82A}">
                    <a16:rowId xmlns:a16="http://schemas.microsoft.com/office/drawing/2014/main" val="1013838864"/>
                  </a:ext>
                </a:extLst>
              </a:tr>
              <a:tr h="367424">
                <a:tc>
                  <a:txBody>
                    <a:bodyPr/>
                    <a:lstStyle/>
                    <a:p>
                      <a:pPr algn="ctr">
                        <a:buNone/>
                      </a:pPr>
                      <a:r>
                        <a:rPr lang="en-US" altLang="zh-CN" sz="1200"/>
                        <a:t>3</a:t>
                      </a:r>
                    </a:p>
                  </a:txBody>
                  <a:tcPr marL="36742" marR="36742" marT="18371" marB="18371" anchor="ctr">
                    <a:lnL>
                      <a:noFill/>
                    </a:lnL>
                    <a:lnR>
                      <a:noFill/>
                    </a:lnR>
                    <a:lnT>
                      <a:noFill/>
                    </a:lnT>
                    <a:lnB>
                      <a:noFill/>
                    </a:lnB>
                    <a:noFill/>
                  </a:tcPr>
                </a:tc>
                <a:tc>
                  <a:txBody>
                    <a:bodyPr/>
                    <a:lstStyle/>
                    <a:p>
                      <a:pPr algn="l">
                        <a:buNone/>
                      </a:pPr>
                      <a:r>
                        <a:rPr lang="en-US" sz="1200" dirty="0"/>
                        <a:t>Stakeholders</a:t>
                      </a:r>
                      <a:br>
                        <a:rPr lang="en-US" sz="1200" dirty="0"/>
                      </a:br>
                      <a:r>
                        <a:rPr lang="en-US" sz="1200" dirty="0"/>
                        <a:t>Effectively engage with stakeholders.</a:t>
                      </a:r>
                    </a:p>
                  </a:txBody>
                  <a:tcPr marL="36742" marR="36742" marT="18371" marB="18371" anchor="ctr">
                    <a:lnL>
                      <a:noFill/>
                    </a:lnL>
                    <a:lnR>
                      <a:noFill/>
                    </a:lnR>
                    <a:lnT>
                      <a:noFill/>
                    </a:lnT>
                    <a:lnB>
                      <a:noFill/>
                    </a:lnB>
                    <a:noFill/>
                  </a:tcPr>
                </a:tc>
                <a:tc>
                  <a:txBody>
                    <a:bodyPr/>
                    <a:lstStyle/>
                    <a:p>
                      <a:pPr algn="l">
                        <a:buNone/>
                      </a:pPr>
                      <a:r>
                        <a:rPr lang="zh-CN" altLang="en-US" sz="1200"/>
                        <a:t>相关方</a:t>
                      </a:r>
                      <a:br>
                        <a:rPr lang="zh-CN" altLang="en-US" sz="1200"/>
                      </a:br>
                      <a:r>
                        <a:rPr lang="zh-CN" altLang="en-US" sz="1200"/>
                        <a:t>有效地让相关方参与。</a:t>
                      </a:r>
                    </a:p>
                  </a:txBody>
                  <a:tcPr marL="36742" marR="36742" marT="18371" marB="18371" anchor="ctr">
                    <a:lnL>
                      <a:noFill/>
                    </a:lnL>
                    <a:lnR>
                      <a:noFill/>
                    </a:lnR>
                    <a:lnT>
                      <a:noFill/>
                    </a:lnT>
                    <a:lnB>
                      <a:noFill/>
                    </a:lnB>
                    <a:noFill/>
                  </a:tcPr>
                </a:tc>
                <a:tc>
                  <a:txBody>
                    <a:bodyPr/>
                    <a:lstStyle/>
                    <a:p>
                      <a:pPr algn="l">
                        <a:buNone/>
                      </a:pPr>
                      <a:r>
                        <a:rPr lang="zh-CN" altLang="en-US" sz="1200"/>
                        <a:t>识别并持续与相关方沟通，理解其需求，建立互信关系。</a:t>
                      </a:r>
                    </a:p>
                  </a:txBody>
                  <a:tcPr marL="36742" marR="36742" marT="18371" marB="18371" anchor="ctr">
                    <a:lnL>
                      <a:noFill/>
                    </a:lnL>
                    <a:lnR>
                      <a:noFill/>
                    </a:lnR>
                    <a:lnT>
                      <a:noFill/>
                    </a:lnT>
                    <a:lnB>
                      <a:noFill/>
                    </a:lnB>
                    <a:noFill/>
                  </a:tcPr>
                </a:tc>
                <a:extLst>
                  <a:ext uri="{0D108BD9-81ED-4DB2-BD59-A6C34878D82A}">
                    <a16:rowId xmlns:a16="http://schemas.microsoft.com/office/drawing/2014/main" val="1531040684"/>
                  </a:ext>
                </a:extLst>
              </a:tr>
              <a:tr h="367424">
                <a:tc>
                  <a:txBody>
                    <a:bodyPr/>
                    <a:lstStyle/>
                    <a:p>
                      <a:pPr algn="ctr">
                        <a:buNone/>
                      </a:pPr>
                      <a:r>
                        <a:rPr lang="en-US" altLang="zh-CN" sz="1200"/>
                        <a:t>4</a:t>
                      </a:r>
                    </a:p>
                  </a:txBody>
                  <a:tcPr marL="36742" marR="36742" marT="18371" marB="18371" anchor="ctr">
                    <a:lnL>
                      <a:noFill/>
                    </a:lnL>
                    <a:lnR>
                      <a:noFill/>
                    </a:lnR>
                    <a:lnT>
                      <a:noFill/>
                    </a:lnT>
                    <a:lnB>
                      <a:noFill/>
                    </a:lnB>
                    <a:noFill/>
                  </a:tcPr>
                </a:tc>
                <a:tc>
                  <a:txBody>
                    <a:bodyPr/>
                    <a:lstStyle/>
                    <a:p>
                      <a:pPr algn="l">
                        <a:buNone/>
                      </a:pPr>
                      <a:r>
                        <a:rPr lang="en-US" sz="1200"/>
                        <a:t>Value</a:t>
                      </a:r>
                      <a:br>
                        <a:rPr lang="en-US" sz="1200"/>
                      </a:br>
                      <a:r>
                        <a:rPr lang="en-US" sz="1200"/>
                        <a:t>Focus on value.</a:t>
                      </a:r>
                    </a:p>
                  </a:txBody>
                  <a:tcPr marL="36742" marR="36742" marT="18371" marB="18371" anchor="ctr">
                    <a:lnL>
                      <a:noFill/>
                    </a:lnL>
                    <a:lnR>
                      <a:noFill/>
                    </a:lnR>
                    <a:lnT>
                      <a:noFill/>
                    </a:lnT>
                    <a:lnB>
                      <a:noFill/>
                    </a:lnB>
                    <a:noFill/>
                  </a:tcPr>
                </a:tc>
                <a:tc>
                  <a:txBody>
                    <a:bodyPr/>
                    <a:lstStyle/>
                    <a:p>
                      <a:pPr algn="l">
                        <a:buNone/>
                      </a:pPr>
                      <a:r>
                        <a:rPr lang="zh-CN" altLang="en-US" sz="1200"/>
                        <a:t>价值</a:t>
                      </a:r>
                      <a:br>
                        <a:rPr lang="zh-CN" altLang="en-US" sz="1200"/>
                      </a:br>
                      <a:r>
                        <a:rPr lang="zh-CN" altLang="en-US" sz="1200"/>
                        <a:t>聚焦于价值。</a:t>
                      </a:r>
                    </a:p>
                  </a:txBody>
                  <a:tcPr marL="36742" marR="36742" marT="18371" marB="18371" anchor="ctr">
                    <a:lnL>
                      <a:noFill/>
                    </a:lnL>
                    <a:lnR>
                      <a:noFill/>
                    </a:lnR>
                    <a:lnT>
                      <a:noFill/>
                    </a:lnT>
                    <a:lnB>
                      <a:noFill/>
                    </a:lnB>
                    <a:noFill/>
                  </a:tcPr>
                </a:tc>
                <a:tc>
                  <a:txBody>
                    <a:bodyPr/>
                    <a:lstStyle/>
                    <a:p>
                      <a:pPr algn="l">
                        <a:buNone/>
                      </a:pPr>
                      <a:r>
                        <a:rPr lang="zh-CN" altLang="en-US" sz="1200"/>
                        <a:t>始终关注项目交付的商业价值和成果，而不仅仅是产出物。</a:t>
                      </a:r>
                    </a:p>
                  </a:txBody>
                  <a:tcPr marL="36742" marR="36742" marT="18371" marB="18371" anchor="ctr">
                    <a:lnL>
                      <a:noFill/>
                    </a:lnL>
                    <a:lnR>
                      <a:noFill/>
                    </a:lnR>
                    <a:lnT>
                      <a:noFill/>
                    </a:lnT>
                    <a:lnB>
                      <a:noFill/>
                    </a:lnB>
                    <a:noFill/>
                  </a:tcPr>
                </a:tc>
                <a:extLst>
                  <a:ext uri="{0D108BD9-81ED-4DB2-BD59-A6C34878D82A}">
                    <a16:rowId xmlns:a16="http://schemas.microsoft.com/office/drawing/2014/main" val="3991160183"/>
                  </a:ext>
                </a:extLst>
              </a:tr>
              <a:tr h="477651">
                <a:tc>
                  <a:txBody>
                    <a:bodyPr/>
                    <a:lstStyle/>
                    <a:p>
                      <a:pPr algn="ctr">
                        <a:buNone/>
                      </a:pPr>
                      <a:r>
                        <a:rPr lang="en-US" altLang="zh-CN" sz="1200"/>
                        <a:t>5</a:t>
                      </a:r>
                    </a:p>
                  </a:txBody>
                  <a:tcPr marL="36742" marR="36742" marT="18371" marB="18371" anchor="ctr">
                    <a:lnL>
                      <a:noFill/>
                    </a:lnL>
                    <a:lnR>
                      <a:noFill/>
                    </a:lnR>
                    <a:lnT>
                      <a:noFill/>
                    </a:lnT>
                    <a:lnB>
                      <a:noFill/>
                    </a:lnB>
                    <a:noFill/>
                  </a:tcPr>
                </a:tc>
                <a:tc>
                  <a:txBody>
                    <a:bodyPr/>
                    <a:lstStyle/>
                    <a:p>
                      <a:pPr algn="l">
                        <a:buNone/>
                      </a:pPr>
                      <a:r>
                        <a:rPr lang="en-US" sz="1200"/>
                        <a:t>Systems Thinking</a:t>
                      </a:r>
                      <a:br>
                        <a:rPr lang="en-US" sz="1200"/>
                      </a:br>
                      <a:r>
                        <a:rPr lang="en-US" sz="1200"/>
                        <a:t>Recognize, evaluate, and respond to system interactions.</a:t>
                      </a:r>
                    </a:p>
                  </a:txBody>
                  <a:tcPr marL="36742" marR="36742" marT="18371" marB="18371" anchor="ctr">
                    <a:lnL>
                      <a:noFill/>
                    </a:lnL>
                    <a:lnR>
                      <a:noFill/>
                    </a:lnR>
                    <a:lnT>
                      <a:noFill/>
                    </a:lnT>
                    <a:lnB>
                      <a:noFill/>
                    </a:lnB>
                    <a:noFill/>
                  </a:tcPr>
                </a:tc>
                <a:tc>
                  <a:txBody>
                    <a:bodyPr/>
                    <a:lstStyle/>
                    <a:p>
                      <a:pPr algn="l">
                        <a:buNone/>
                      </a:pPr>
                      <a:r>
                        <a:rPr lang="zh-CN" altLang="en-US" sz="1200"/>
                        <a:t>系统思考</a:t>
                      </a:r>
                      <a:br>
                        <a:rPr lang="zh-CN" altLang="en-US" sz="1200"/>
                      </a:br>
                      <a:r>
                        <a:rPr lang="zh-CN" altLang="en-US" sz="1200"/>
                        <a:t>识别、评估并响应系统交互。</a:t>
                      </a:r>
                    </a:p>
                  </a:txBody>
                  <a:tcPr marL="36742" marR="36742" marT="18371" marB="18371" anchor="ctr">
                    <a:lnL>
                      <a:noFill/>
                    </a:lnL>
                    <a:lnR>
                      <a:noFill/>
                    </a:lnR>
                    <a:lnT>
                      <a:noFill/>
                    </a:lnT>
                    <a:lnB>
                      <a:noFill/>
                    </a:lnB>
                    <a:noFill/>
                  </a:tcPr>
                </a:tc>
                <a:tc>
                  <a:txBody>
                    <a:bodyPr/>
                    <a:lstStyle/>
                    <a:p>
                      <a:pPr algn="l">
                        <a:buNone/>
                      </a:pPr>
                      <a:r>
                        <a:rPr lang="zh-CN" altLang="en-US" sz="1200"/>
                        <a:t>将项目视为复杂系统的一部分，理解各要素间的相互影响。</a:t>
                      </a:r>
                    </a:p>
                  </a:txBody>
                  <a:tcPr marL="36742" marR="36742" marT="18371" marB="18371" anchor="ctr">
                    <a:lnL>
                      <a:noFill/>
                    </a:lnL>
                    <a:lnR>
                      <a:noFill/>
                    </a:lnR>
                    <a:lnT>
                      <a:noFill/>
                    </a:lnT>
                    <a:lnB>
                      <a:noFill/>
                    </a:lnB>
                    <a:noFill/>
                  </a:tcPr>
                </a:tc>
                <a:extLst>
                  <a:ext uri="{0D108BD9-81ED-4DB2-BD59-A6C34878D82A}">
                    <a16:rowId xmlns:a16="http://schemas.microsoft.com/office/drawing/2014/main" val="1432136980"/>
                  </a:ext>
                </a:extLst>
              </a:tr>
              <a:tr h="367424">
                <a:tc>
                  <a:txBody>
                    <a:bodyPr/>
                    <a:lstStyle/>
                    <a:p>
                      <a:pPr algn="ctr">
                        <a:buNone/>
                      </a:pPr>
                      <a:r>
                        <a:rPr lang="en-US" altLang="zh-CN" sz="1200"/>
                        <a:t>6</a:t>
                      </a:r>
                    </a:p>
                  </a:txBody>
                  <a:tcPr marL="36742" marR="36742" marT="18371" marB="18371" anchor="ctr">
                    <a:lnL>
                      <a:noFill/>
                    </a:lnL>
                    <a:lnR>
                      <a:noFill/>
                    </a:lnR>
                    <a:lnT>
                      <a:noFill/>
                    </a:lnT>
                    <a:lnB>
                      <a:noFill/>
                    </a:lnB>
                    <a:noFill/>
                  </a:tcPr>
                </a:tc>
                <a:tc>
                  <a:txBody>
                    <a:bodyPr/>
                    <a:lstStyle/>
                    <a:p>
                      <a:pPr algn="l">
                        <a:buNone/>
                      </a:pPr>
                      <a:r>
                        <a:rPr lang="en-US" sz="1200"/>
                        <a:t>Leadership</a:t>
                      </a:r>
                      <a:br>
                        <a:rPr lang="en-US" sz="1200"/>
                      </a:br>
                      <a:r>
                        <a:rPr lang="en-US" sz="1200"/>
                        <a:t>Demonstrate leadership behaviors.</a:t>
                      </a:r>
                    </a:p>
                  </a:txBody>
                  <a:tcPr marL="36742" marR="36742" marT="18371" marB="18371" anchor="ctr">
                    <a:lnL>
                      <a:noFill/>
                    </a:lnL>
                    <a:lnR>
                      <a:noFill/>
                    </a:lnR>
                    <a:lnT>
                      <a:noFill/>
                    </a:lnT>
                    <a:lnB>
                      <a:noFill/>
                    </a:lnB>
                    <a:noFill/>
                  </a:tcPr>
                </a:tc>
                <a:tc>
                  <a:txBody>
                    <a:bodyPr/>
                    <a:lstStyle/>
                    <a:p>
                      <a:pPr algn="l">
                        <a:buNone/>
                      </a:pPr>
                      <a:r>
                        <a:rPr lang="zh-CN" altLang="en-US" sz="1200"/>
                        <a:t>领导力</a:t>
                      </a:r>
                      <a:br>
                        <a:rPr lang="zh-CN" altLang="en-US" sz="1200"/>
                      </a:br>
                      <a:r>
                        <a:rPr lang="zh-CN" altLang="en-US" sz="1200"/>
                        <a:t>展现领导力行为。</a:t>
                      </a:r>
                    </a:p>
                  </a:txBody>
                  <a:tcPr marL="36742" marR="36742" marT="18371" marB="18371" anchor="ctr">
                    <a:lnL>
                      <a:noFill/>
                    </a:lnL>
                    <a:lnR>
                      <a:noFill/>
                    </a:lnR>
                    <a:lnT>
                      <a:noFill/>
                    </a:lnT>
                    <a:lnB>
                      <a:noFill/>
                    </a:lnB>
                    <a:noFill/>
                  </a:tcPr>
                </a:tc>
                <a:tc>
                  <a:txBody>
                    <a:bodyPr/>
                    <a:lstStyle/>
                    <a:p>
                      <a:pPr algn="l">
                        <a:buNone/>
                      </a:pPr>
                      <a:r>
                        <a:rPr lang="zh-CN" altLang="en-US" sz="1200"/>
                        <a:t>无论职位高低，每个人都应展现激励、指导和推动变革的领导力。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3419528014"/>
                  </a:ext>
                </a:extLst>
              </a:tr>
              <a:tr h="367424">
                <a:tc>
                  <a:txBody>
                    <a:bodyPr/>
                    <a:lstStyle/>
                    <a:p>
                      <a:pPr algn="ctr">
                        <a:buNone/>
                      </a:pPr>
                      <a:r>
                        <a:rPr lang="en-US" altLang="zh-CN" sz="1200"/>
                        <a:t>7</a:t>
                      </a:r>
                    </a:p>
                  </a:txBody>
                  <a:tcPr marL="36742" marR="36742" marT="18371" marB="18371" anchor="ctr">
                    <a:lnL>
                      <a:noFill/>
                    </a:lnL>
                    <a:lnR>
                      <a:noFill/>
                    </a:lnR>
                    <a:lnT>
                      <a:noFill/>
                    </a:lnT>
                    <a:lnB>
                      <a:noFill/>
                    </a:lnB>
                    <a:noFill/>
                  </a:tcPr>
                </a:tc>
                <a:tc>
                  <a:txBody>
                    <a:bodyPr/>
                    <a:lstStyle/>
                    <a:p>
                      <a:pPr algn="l">
                        <a:buNone/>
                      </a:pPr>
                      <a:r>
                        <a:rPr lang="en-US" sz="1200"/>
                        <a:t>Tailoring</a:t>
                      </a:r>
                      <a:br>
                        <a:rPr lang="en-US" sz="1200"/>
                      </a:br>
                      <a:r>
                        <a:rPr lang="en-US" sz="1200"/>
                        <a:t>Tailor based on context.</a:t>
                      </a:r>
                    </a:p>
                  </a:txBody>
                  <a:tcPr marL="36742" marR="36742" marT="18371" marB="18371" anchor="ctr">
                    <a:lnL>
                      <a:noFill/>
                    </a:lnL>
                    <a:lnR>
                      <a:noFill/>
                    </a:lnR>
                    <a:lnT>
                      <a:noFill/>
                    </a:lnT>
                    <a:lnB>
                      <a:noFill/>
                    </a:lnB>
                    <a:noFill/>
                  </a:tcPr>
                </a:tc>
                <a:tc>
                  <a:txBody>
                    <a:bodyPr/>
                    <a:lstStyle/>
                    <a:p>
                      <a:pPr algn="l">
                        <a:buNone/>
                      </a:pPr>
                      <a:r>
                        <a:rPr lang="zh-CN" altLang="en-US" sz="1200"/>
                        <a:t>裁剪</a:t>
                      </a:r>
                      <a:br>
                        <a:rPr lang="zh-CN" altLang="en-US" sz="1200"/>
                      </a:br>
                      <a:r>
                        <a:rPr lang="zh-CN" altLang="en-US" sz="1200"/>
                        <a:t>根据情境进行裁剪。</a:t>
                      </a:r>
                    </a:p>
                  </a:txBody>
                  <a:tcPr marL="36742" marR="36742" marT="18371" marB="18371" anchor="ctr">
                    <a:lnL>
                      <a:noFill/>
                    </a:lnL>
                    <a:lnR>
                      <a:noFill/>
                    </a:lnR>
                    <a:lnT>
                      <a:noFill/>
                    </a:lnT>
                    <a:lnB>
                      <a:noFill/>
                    </a:lnB>
                    <a:noFill/>
                  </a:tcPr>
                </a:tc>
                <a:tc>
                  <a:txBody>
                    <a:bodyPr/>
                    <a:lstStyle/>
                    <a:p>
                      <a:pPr algn="l">
                        <a:buNone/>
                      </a:pPr>
                      <a:r>
                        <a:rPr lang="zh-CN" altLang="en-US" sz="1200"/>
                        <a:t>没有万能的方法，需根据项目具体环境调整方法、流程和工件。</a:t>
                      </a:r>
                    </a:p>
                  </a:txBody>
                  <a:tcPr marL="36742" marR="36742" marT="18371" marB="18371" anchor="ctr">
                    <a:lnL>
                      <a:noFill/>
                    </a:lnL>
                    <a:lnR>
                      <a:noFill/>
                    </a:lnR>
                    <a:lnT>
                      <a:noFill/>
                    </a:lnT>
                    <a:lnB>
                      <a:noFill/>
                    </a:lnB>
                    <a:noFill/>
                  </a:tcPr>
                </a:tc>
                <a:extLst>
                  <a:ext uri="{0D108BD9-81ED-4DB2-BD59-A6C34878D82A}">
                    <a16:rowId xmlns:a16="http://schemas.microsoft.com/office/drawing/2014/main" val="243581718"/>
                  </a:ext>
                </a:extLst>
              </a:tr>
              <a:tr h="477651">
                <a:tc>
                  <a:txBody>
                    <a:bodyPr/>
                    <a:lstStyle/>
                    <a:p>
                      <a:pPr algn="ctr">
                        <a:buNone/>
                      </a:pPr>
                      <a:r>
                        <a:rPr lang="en-US" altLang="zh-CN" sz="1200"/>
                        <a:t>8</a:t>
                      </a:r>
                    </a:p>
                  </a:txBody>
                  <a:tcPr marL="36742" marR="36742" marT="18371" marB="18371" anchor="ctr">
                    <a:lnL>
                      <a:noFill/>
                    </a:lnL>
                    <a:lnR>
                      <a:noFill/>
                    </a:lnR>
                    <a:lnT>
                      <a:noFill/>
                    </a:lnT>
                    <a:lnB>
                      <a:noFill/>
                    </a:lnB>
                    <a:noFill/>
                  </a:tcPr>
                </a:tc>
                <a:tc>
                  <a:txBody>
                    <a:bodyPr/>
                    <a:lstStyle/>
                    <a:p>
                      <a:pPr algn="l">
                        <a:buNone/>
                      </a:pPr>
                      <a:r>
                        <a:rPr lang="en-US" sz="1200"/>
                        <a:t>Quality</a:t>
                      </a:r>
                      <a:br>
                        <a:rPr lang="en-US" sz="1200"/>
                      </a:br>
                      <a:r>
                        <a:rPr lang="en-US" sz="1200"/>
                        <a:t>Build quality into processes and deliverables.</a:t>
                      </a:r>
                    </a:p>
                  </a:txBody>
                  <a:tcPr marL="36742" marR="36742" marT="18371" marB="18371" anchor="ctr">
                    <a:lnL>
                      <a:noFill/>
                    </a:lnL>
                    <a:lnR>
                      <a:noFill/>
                    </a:lnR>
                    <a:lnT>
                      <a:noFill/>
                    </a:lnT>
                    <a:lnB>
                      <a:noFill/>
                    </a:lnB>
                    <a:noFill/>
                  </a:tcPr>
                </a:tc>
                <a:tc>
                  <a:txBody>
                    <a:bodyPr/>
                    <a:lstStyle/>
                    <a:p>
                      <a:pPr algn="l">
                        <a:buNone/>
                      </a:pPr>
                      <a:r>
                        <a:rPr lang="zh-CN" altLang="en-US" sz="1200"/>
                        <a:t>质量</a:t>
                      </a:r>
                      <a:br>
                        <a:rPr lang="zh-CN" altLang="en-US" sz="1200"/>
                      </a:br>
                      <a:r>
                        <a:rPr lang="zh-CN" altLang="en-US" sz="1200"/>
                        <a:t>将质量融入过程和可交付成果。</a:t>
                      </a:r>
                    </a:p>
                  </a:txBody>
                  <a:tcPr marL="36742" marR="36742" marT="18371" marB="18371" anchor="ctr">
                    <a:lnL>
                      <a:noFill/>
                    </a:lnL>
                    <a:lnR>
                      <a:noFill/>
                    </a:lnR>
                    <a:lnT>
                      <a:noFill/>
                    </a:lnT>
                    <a:lnB>
                      <a:noFill/>
                    </a:lnB>
                    <a:noFill/>
                  </a:tcPr>
                </a:tc>
                <a:tc>
                  <a:txBody>
                    <a:bodyPr/>
                    <a:lstStyle/>
                    <a:p>
                      <a:pPr algn="l">
                        <a:buNone/>
                      </a:pPr>
                      <a:r>
                        <a:rPr lang="zh-CN" altLang="en-US" sz="1200"/>
                        <a:t>质量是规划出来的，不是检查出来的；需贯穿全过程。</a:t>
                      </a:r>
                    </a:p>
                  </a:txBody>
                  <a:tcPr marL="36742" marR="36742" marT="18371" marB="18371" anchor="ctr">
                    <a:lnL>
                      <a:noFill/>
                    </a:lnL>
                    <a:lnR>
                      <a:noFill/>
                    </a:lnR>
                    <a:lnT>
                      <a:noFill/>
                    </a:lnT>
                    <a:lnB>
                      <a:noFill/>
                    </a:lnB>
                    <a:noFill/>
                  </a:tcPr>
                </a:tc>
                <a:extLst>
                  <a:ext uri="{0D108BD9-81ED-4DB2-BD59-A6C34878D82A}">
                    <a16:rowId xmlns:a16="http://schemas.microsoft.com/office/drawing/2014/main" val="3133752140"/>
                  </a:ext>
                </a:extLst>
              </a:tr>
              <a:tr h="367424">
                <a:tc>
                  <a:txBody>
                    <a:bodyPr/>
                    <a:lstStyle/>
                    <a:p>
                      <a:pPr algn="ctr">
                        <a:buNone/>
                      </a:pPr>
                      <a:r>
                        <a:rPr lang="en-US" altLang="zh-CN" sz="1200"/>
                        <a:t>9</a:t>
                      </a:r>
                    </a:p>
                  </a:txBody>
                  <a:tcPr marL="36742" marR="36742" marT="18371" marB="18371" anchor="ctr">
                    <a:lnL>
                      <a:noFill/>
                    </a:lnL>
                    <a:lnR>
                      <a:noFill/>
                    </a:lnR>
                    <a:lnT>
                      <a:noFill/>
                    </a:lnT>
                    <a:lnB>
                      <a:noFill/>
                    </a:lnB>
                    <a:noFill/>
                  </a:tcPr>
                </a:tc>
                <a:tc>
                  <a:txBody>
                    <a:bodyPr/>
                    <a:lstStyle/>
                    <a:p>
                      <a:pPr algn="l">
                        <a:buNone/>
                      </a:pPr>
                      <a:r>
                        <a:rPr lang="en-US" sz="1200"/>
                        <a:t>Complexity</a:t>
                      </a:r>
                      <a:br>
                        <a:rPr lang="en-US" sz="1200"/>
                      </a:br>
                      <a:r>
                        <a:rPr lang="en-US" sz="1200"/>
                        <a:t>Navigate complexity.</a:t>
                      </a:r>
                    </a:p>
                  </a:txBody>
                  <a:tcPr marL="36742" marR="36742" marT="18371" marB="18371" anchor="ctr">
                    <a:lnL>
                      <a:noFill/>
                    </a:lnL>
                    <a:lnR>
                      <a:noFill/>
                    </a:lnR>
                    <a:lnT>
                      <a:noFill/>
                    </a:lnT>
                    <a:lnB>
                      <a:noFill/>
                    </a:lnB>
                    <a:noFill/>
                  </a:tcPr>
                </a:tc>
                <a:tc>
                  <a:txBody>
                    <a:bodyPr/>
                    <a:lstStyle/>
                    <a:p>
                      <a:pPr algn="l">
                        <a:buNone/>
                      </a:pPr>
                      <a:r>
                        <a:rPr lang="zh-CN" altLang="en-US" sz="1200"/>
                        <a:t>复杂性</a:t>
                      </a:r>
                      <a:br>
                        <a:rPr lang="zh-CN" altLang="en-US" sz="1200"/>
                      </a:br>
                      <a:r>
                        <a:rPr lang="zh-CN" altLang="en-US" sz="1200"/>
                        <a:t>驾驭复杂性。</a:t>
                      </a:r>
                    </a:p>
                  </a:txBody>
                  <a:tcPr marL="36742" marR="36742" marT="18371" marB="18371" anchor="ctr">
                    <a:lnL>
                      <a:noFill/>
                    </a:lnL>
                    <a:lnR>
                      <a:noFill/>
                    </a:lnR>
                    <a:lnT>
                      <a:noFill/>
                    </a:lnT>
                    <a:lnB>
                      <a:noFill/>
                    </a:lnB>
                    <a:noFill/>
                  </a:tcPr>
                </a:tc>
                <a:tc>
                  <a:txBody>
                    <a:bodyPr/>
                    <a:lstStyle/>
                    <a:p>
                      <a:pPr algn="l">
                        <a:buNone/>
                      </a:pPr>
                      <a:r>
                        <a:rPr lang="zh-CN" altLang="en-US" sz="1200"/>
                        <a:t>识别并应对由人类行为、系统交互和模糊性带来的复杂性。</a:t>
                      </a:r>
                    </a:p>
                  </a:txBody>
                  <a:tcPr marL="36742" marR="36742" marT="18371" marB="18371" anchor="ctr">
                    <a:lnL>
                      <a:noFill/>
                    </a:lnL>
                    <a:lnR>
                      <a:noFill/>
                    </a:lnR>
                    <a:lnT>
                      <a:noFill/>
                    </a:lnT>
                    <a:lnB>
                      <a:noFill/>
                    </a:lnB>
                    <a:noFill/>
                  </a:tcPr>
                </a:tc>
                <a:extLst>
                  <a:ext uri="{0D108BD9-81ED-4DB2-BD59-A6C34878D82A}">
                    <a16:rowId xmlns:a16="http://schemas.microsoft.com/office/drawing/2014/main" val="1805972127"/>
                  </a:ext>
                </a:extLst>
              </a:tr>
              <a:tr h="367424">
                <a:tc>
                  <a:txBody>
                    <a:bodyPr/>
                    <a:lstStyle/>
                    <a:p>
                      <a:pPr algn="ctr">
                        <a:buNone/>
                      </a:pPr>
                      <a:r>
                        <a:rPr lang="en-US" altLang="zh-CN" sz="1200"/>
                        <a:t>10</a:t>
                      </a:r>
                    </a:p>
                  </a:txBody>
                  <a:tcPr marL="36742" marR="36742" marT="18371" marB="18371" anchor="ctr">
                    <a:lnL>
                      <a:noFill/>
                    </a:lnL>
                    <a:lnR>
                      <a:noFill/>
                    </a:lnR>
                    <a:lnT>
                      <a:noFill/>
                    </a:lnT>
                    <a:lnB>
                      <a:noFill/>
                    </a:lnB>
                    <a:noFill/>
                  </a:tcPr>
                </a:tc>
                <a:tc>
                  <a:txBody>
                    <a:bodyPr/>
                    <a:lstStyle/>
                    <a:p>
                      <a:pPr algn="l">
                        <a:buNone/>
                      </a:pPr>
                      <a:r>
                        <a:rPr lang="en-US" sz="1200"/>
                        <a:t>Risk</a:t>
                      </a:r>
                      <a:br>
                        <a:rPr lang="en-US" sz="1200"/>
                      </a:br>
                      <a:r>
                        <a:rPr lang="en-US" sz="1200"/>
                        <a:t>Optimize risk responses.</a:t>
                      </a:r>
                    </a:p>
                  </a:txBody>
                  <a:tcPr marL="36742" marR="36742" marT="18371" marB="18371" anchor="ctr">
                    <a:lnL>
                      <a:noFill/>
                    </a:lnL>
                    <a:lnR>
                      <a:noFill/>
                    </a:lnR>
                    <a:lnT>
                      <a:noFill/>
                    </a:lnT>
                    <a:lnB>
                      <a:noFill/>
                    </a:lnB>
                    <a:noFill/>
                  </a:tcPr>
                </a:tc>
                <a:tc>
                  <a:txBody>
                    <a:bodyPr/>
                    <a:lstStyle/>
                    <a:p>
                      <a:pPr algn="l">
                        <a:buNone/>
                      </a:pPr>
                      <a:r>
                        <a:rPr lang="zh-CN" altLang="en-US" sz="1200"/>
                        <a:t>风险</a:t>
                      </a:r>
                      <a:br>
                        <a:rPr lang="zh-CN" altLang="en-US" sz="1200"/>
                      </a:br>
                      <a:r>
                        <a:rPr lang="zh-CN" altLang="en-US" sz="1200"/>
                        <a:t>优化风险应对。</a:t>
                      </a:r>
                    </a:p>
                  </a:txBody>
                  <a:tcPr marL="36742" marR="36742" marT="18371" marB="18371" anchor="ctr">
                    <a:lnL>
                      <a:noFill/>
                    </a:lnL>
                    <a:lnR>
                      <a:noFill/>
                    </a:lnR>
                    <a:lnT>
                      <a:noFill/>
                    </a:lnT>
                    <a:lnB>
                      <a:noFill/>
                    </a:lnB>
                    <a:noFill/>
                  </a:tcPr>
                </a:tc>
                <a:tc>
                  <a:txBody>
                    <a:bodyPr/>
                    <a:lstStyle/>
                    <a:p>
                      <a:pPr algn="l">
                        <a:buNone/>
                      </a:pPr>
                      <a:r>
                        <a:rPr lang="zh-CN" altLang="en-US" sz="1200"/>
                        <a:t>主动识别威胁和机会，采取整体策略优化风险敞口。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62410625"/>
                  </a:ext>
                </a:extLst>
              </a:tr>
              <a:tr h="477651">
                <a:tc>
                  <a:txBody>
                    <a:bodyPr/>
                    <a:lstStyle/>
                    <a:p>
                      <a:pPr algn="ctr">
                        <a:buNone/>
                      </a:pPr>
                      <a:r>
                        <a:rPr lang="en-US" altLang="zh-CN" sz="1200"/>
                        <a:t>11</a:t>
                      </a:r>
                    </a:p>
                  </a:txBody>
                  <a:tcPr marL="36742" marR="36742" marT="18371" marB="18371" anchor="ctr">
                    <a:lnL>
                      <a:noFill/>
                    </a:lnL>
                    <a:lnR>
                      <a:noFill/>
                    </a:lnR>
                    <a:lnT>
                      <a:noFill/>
                    </a:lnT>
                    <a:lnB>
                      <a:noFill/>
                    </a:lnB>
                    <a:noFill/>
                  </a:tcPr>
                </a:tc>
                <a:tc>
                  <a:txBody>
                    <a:bodyPr/>
                    <a:lstStyle/>
                    <a:p>
                      <a:pPr algn="l">
                        <a:buNone/>
                      </a:pPr>
                      <a:r>
                        <a:rPr lang="en-US" sz="1200"/>
                        <a:t>Adaptability &amp; Resiliency</a:t>
                      </a:r>
                      <a:br>
                        <a:rPr lang="en-US" sz="1200"/>
                      </a:br>
                      <a:r>
                        <a:rPr lang="en-US" sz="1200"/>
                        <a:t>Embrace adaptability and resiliency.</a:t>
                      </a:r>
                    </a:p>
                  </a:txBody>
                  <a:tcPr marL="36742" marR="36742" marT="18371" marB="18371" anchor="ctr">
                    <a:lnL>
                      <a:noFill/>
                    </a:lnL>
                    <a:lnR>
                      <a:noFill/>
                    </a:lnR>
                    <a:lnT>
                      <a:noFill/>
                    </a:lnT>
                    <a:lnB>
                      <a:noFill/>
                    </a:lnB>
                    <a:noFill/>
                  </a:tcPr>
                </a:tc>
                <a:tc>
                  <a:txBody>
                    <a:bodyPr/>
                    <a:lstStyle/>
                    <a:p>
                      <a:pPr algn="l">
                        <a:buNone/>
                      </a:pPr>
                      <a:r>
                        <a:rPr lang="zh-CN" altLang="en-US" sz="1200"/>
                        <a:t>适应性与韧性</a:t>
                      </a:r>
                      <a:br>
                        <a:rPr lang="zh-CN" altLang="en-US" sz="1200"/>
                      </a:br>
                      <a:r>
                        <a:rPr lang="zh-CN" altLang="en-US" sz="1200"/>
                        <a:t>拥抱适应性和韧性。</a:t>
                      </a:r>
                    </a:p>
                  </a:txBody>
                  <a:tcPr marL="36742" marR="36742" marT="18371" marB="18371" anchor="ctr">
                    <a:lnL>
                      <a:noFill/>
                    </a:lnL>
                    <a:lnR>
                      <a:noFill/>
                    </a:lnR>
                    <a:lnT>
                      <a:noFill/>
                    </a:lnT>
                    <a:lnB>
                      <a:noFill/>
                    </a:lnB>
                    <a:noFill/>
                  </a:tcPr>
                </a:tc>
                <a:tc>
                  <a:txBody>
                    <a:bodyPr/>
                    <a:lstStyle/>
                    <a:p>
                      <a:pPr algn="l">
                        <a:buNone/>
                      </a:pPr>
                      <a:r>
                        <a:rPr lang="zh-CN" altLang="en-US" sz="1200"/>
                        <a:t>在变化中保持灵活，具备从挫折中恢复并适应新环境的能力。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2904882128"/>
                  </a:ext>
                </a:extLst>
              </a:tr>
              <a:tr h="587879">
                <a:tc>
                  <a:txBody>
                    <a:bodyPr/>
                    <a:lstStyle/>
                    <a:p>
                      <a:pPr algn="ctr">
                        <a:buNone/>
                      </a:pPr>
                      <a:r>
                        <a:rPr lang="en-US" altLang="zh-CN" sz="1200" dirty="0"/>
                        <a:t>12</a:t>
                      </a:r>
                    </a:p>
                  </a:txBody>
                  <a:tcPr marL="36742" marR="36742" marT="18371" marB="18371" anchor="ctr">
                    <a:lnL>
                      <a:noFill/>
                    </a:lnL>
                    <a:lnR>
                      <a:noFill/>
                    </a:lnR>
                    <a:lnT>
                      <a:noFill/>
                    </a:lnT>
                    <a:lnB>
                      <a:noFill/>
                    </a:lnB>
                    <a:noFill/>
                  </a:tcPr>
                </a:tc>
                <a:tc>
                  <a:txBody>
                    <a:bodyPr/>
                    <a:lstStyle/>
                    <a:p>
                      <a:pPr algn="l">
                        <a:buNone/>
                      </a:pPr>
                      <a:r>
                        <a:rPr lang="en-US" sz="1200"/>
                        <a:t>Change</a:t>
                      </a:r>
                      <a:br>
                        <a:rPr lang="en-US" sz="1200"/>
                      </a:br>
                      <a:r>
                        <a:rPr lang="en-US" sz="1200"/>
                        <a:t>Enable change to achieve the envisioned future state.</a:t>
                      </a:r>
                    </a:p>
                  </a:txBody>
                  <a:tcPr marL="36742" marR="36742" marT="18371" marB="18371" anchor="ctr">
                    <a:lnL>
                      <a:noFill/>
                    </a:lnL>
                    <a:lnR>
                      <a:noFill/>
                    </a:lnR>
                    <a:lnT>
                      <a:noFill/>
                    </a:lnT>
                    <a:lnB>
                      <a:noFill/>
                    </a:lnB>
                    <a:noFill/>
                  </a:tcPr>
                </a:tc>
                <a:tc>
                  <a:txBody>
                    <a:bodyPr/>
                    <a:lstStyle/>
                    <a:p>
                      <a:pPr algn="l">
                        <a:buNone/>
                      </a:pPr>
                      <a:r>
                        <a:rPr lang="zh-CN" altLang="en-US" sz="1200"/>
                        <a:t>变革</a:t>
                      </a:r>
                      <a:br>
                        <a:rPr lang="zh-CN" altLang="en-US" sz="1200"/>
                      </a:br>
                      <a:r>
                        <a:rPr lang="zh-CN" altLang="en-US" sz="1200"/>
                        <a:t>为实现目标而驱动变革。</a:t>
                      </a:r>
                    </a:p>
                  </a:txBody>
                  <a:tcPr marL="36742" marR="36742" marT="18371" marB="18371" anchor="ctr">
                    <a:lnL>
                      <a:noFill/>
                    </a:lnL>
                    <a:lnR>
                      <a:noFill/>
                    </a:lnR>
                    <a:lnT>
                      <a:noFill/>
                    </a:lnT>
                    <a:lnB>
                      <a:noFill/>
                    </a:lnB>
                    <a:noFill/>
                  </a:tcPr>
                </a:tc>
                <a:tc>
                  <a:txBody>
                    <a:bodyPr/>
                    <a:lstStyle/>
                    <a:p>
                      <a:pPr algn="l">
                        <a:buNone/>
                      </a:pPr>
                      <a:r>
                        <a:rPr lang="zh-CN" altLang="en-US" sz="1200" dirty="0"/>
                        <a:t>管理组织变革，帮助相关方顺利过渡到新的未来状态。</a:t>
                      </a:r>
                    </a:p>
                  </a:txBody>
                  <a:tcPr marL="36742" marR="36742" marT="18371" marB="18371" anchor="ctr">
                    <a:lnL>
                      <a:noFill/>
                    </a:lnL>
                    <a:lnR>
                      <a:noFill/>
                    </a:lnR>
                    <a:lnT>
                      <a:noFill/>
                    </a:lnT>
                    <a:lnB>
                      <a:noFill/>
                    </a:lnB>
                    <a:noFill/>
                  </a:tcPr>
                </a:tc>
                <a:extLst>
                  <a:ext uri="{0D108BD9-81ED-4DB2-BD59-A6C34878D82A}">
                    <a16:rowId xmlns:a16="http://schemas.microsoft.com/office/drawing/2014/main" val="2815916767"/>
                  </a:ext>
                </a:extLst>
              </a:tr>
            </a:tbl>
          </a:graphicData>
        </a:graphic>
      </p:graphicFrame>
    </p:spTree>
    <p:extLst>
      <p:ext uri="{BB962C8B-B14F-4D97-AF65-F5344CB8AC3E}">
        <p14:creationId xmlns:p14="http://schemas.microsoft.com/office/powerpoint/2010/main" val="8998492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4732"/>
          </a:xfrm>
        </p:spPr>
        <p:txBody>
          <a:bodyPr>
            <a:normAutofit/>
          </a:bodyPr>
          <a:lstStyle/>
          <a:p>
            <a:r>
              <a:rPr lang="en-US" altLang="zh-CN"/>
              <a:t>3.2.2 </a:t>
            </a:r>
            <a:r>
              <a:rPr lang="zh-CN" altLang="en-US"/>
              <a:t>八大绩效域</a:t>
            </a:r>
            <a:endParaRPr lang="zh-CN" altLang="en-US" dirty="0"/>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328000"/>
          </a:xfrm>
        </p:spPr>
        <p:txBody>
          <a:bodyPr/>
          <a:lstStyle/>
          <a:p>
            <a:r>
              <a:rPr lang="zh-CN" altLang="en-US" dirty="0"/>
              <a:t>绩效域是一组相互关联的项目活动，对于有效交付项目成果至关重要</a:t>
            </a:r>
            <a:endParaRPr lang="en-US" altLang="zh-CN" dirty="0"/>
          </a:p>
          <a:p>
            <a:r>
              <a:rPr lang="zh-CN" altLang="en-US" dirty="0"/>
              <a:t>与第</a:t>
            </a:r>
            <a:r>
              <a:rPr lang="en-US" altLang="zh-CN" dirty="0"/>
              <a:t>6</a:t>
            </a:r>
            <a:r>
              <a:rPr lang="zh-CN" altLang="en-US" dirty="0"/>
              <a:t>版的“知识领域”不同，绩效域不是按时间顺序执行的，而是同时发生、相互交织的</a:t>
            </a:r>
            <a:endParaRPr lang="en-US" altLang="zh-CN" dirty="0"/>
          </a:p>
          <a:p>
            <a:r>
              <a:rPr lang="zh-CN" altLang="en-US" dirty="0"/>
              <a:t>绩效域 </a:t>
            </a:r>
            <a:r>
              <a:rPr lang="en-US" altLang="zh-CN" dirty="0"/>
              <a:t>Domains </a:t>
            </a:r>
            <a:r>
              <a:rPr lang="zh-CN" altLang="en-US" dirty="0"/>
              <a:t>是雷达图：告诉你需要同时关注哪些关键领域，这些领域之间是动态平衡的；例如：在关注交付的同时，不能忽视团队或不确定性</a:t>
            </a:r>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360001"/>
            <a:ext cx="4424080" cy="424731"/>
          </a:xfrm>
        </p:spPr>
        <p:txBody>
          <a:bodyPr/>
          <a:lstStyle/>
          <a:p>
            <a:r>
              <a:rPr lang="en-US" altLang="zh-CN"/>
              <a:t>8 Performance Domains/PMBOK 7th</a:t>
            </a:r>
            <a:endParaRPr lang="zh-CN" altLang="en-US" dirty="0"/>
          </a:p>
        </p:txBody>
      </p:sp>
      <p:graphicFrame>
        <p:nvGraphicFramePr>
          <p:cNvPr id="21" name="Table 20">
            <a:extLst>
              <a:ext uri="{FF2B5EF4-FFF2-40B4-BE49-F238E27FC236}">
                <a16:creationId xmlns:a16="http://schemas.microsoft.com/office/drawing/2014/main" id="{E6F49607-49FC-507C-B082-A022968765C6}"/>
              </a:ext>
            </a:extLst>
          </p:cNvPr>
          <p:cNvGraphicFramePr>
            <a:graphicFrameLocks noGrp="1"/>
          </p:cNvGraphicFramePr>
          <p:nvPr>
            <p:extLst>
              <p:ext uri="{D42A27DB-BD31-4B8C-83A1-F6EECF244321}">
                <p14:modId xmlns:p14="http://schemas.microsoft.com/office/powerpoint/2010/main" val="3328600599"/>
              </p:ext>
            </p:extLst>
          </p:nvPr>
        </p:nvGraphicFramePr>
        <p:xfrm>
          <a:off x="695325" y="2853690"/>
          <a:ext cx="10800000" cy="3337560"/>
        </p:xfrm>
        <a:graphic>
          <a:graphicData uri="http://schemas.openxmlformats.org/drawingml/2006/table">
            <a:tbl>
              <a:tblPr firstRow="1" bandRow="1">
                <a:tableStyleId>{2D5ABB26-0587-4C30-8999-92F81FD0307C}</a:tableStyleId>
              </a:tblPr>
              <a:tblGrid>
                <a:gridCol w="1117197">
                  <a:extLst>
                    <a:ext uri="{9D8B030D-6E8A-4147-A177-3AD203B41FA5}">
                      <a16:colId xmlns:a16="http://schemas.microsoft.com/office/drawing/2014/main" val="4203097000"/>
                    </a:ext>
                  </a:extLst>
                </a:gridCol>
                <a:gridCol w="9682803">
                  <a:extLst>
                    <a:ext uri="{9D8B030D-6E8A-4147-A177-3AD203B41FA5}">
                      <a16:colId xmlns:a16="http://schemas.microsoft.com/office/drawing/2014/main" val="2697708679"/>
                    </a:ext>
                  </a:extLst>
                </a:gridCol>
              </a:tblGrid>
              <a:tr h="370840">
                <a:tc>
                  <a:txBody>
                    <a:bodyPr/>
                    <a:lstStyle/>
                    <a:p>
                      <a:pPr algn="ctr"/>
                      <a:endParaRPr lang="zh-CN" altLang="en-US" sz="1600" dirty="0">
                        <a:solidFill>
                          <a:schemeClr val="bg1"/>
                        </a:solidFill>
                      </a:endParaRPr>
                    </a:p>
                  </a:txBody>
                  <a:tcPr anchor="ctr">
                    <a:solidFill>
                      <a:schemeClr val="accent2"/>
                    </a:solidFill>
                  </a:tcPr>
                </a:tc>
                <a:tc>
                  <a:txBody>
                    <a:bodyPr/>
                    <a:lstStyle/>
                    <a:p>
                      <a:pPr algn="l"/>
                      <a:r>
                        <a:rPr lang="en-US" altLang="zh-CN" sz="1600" dirty="0">
                          <a:solidFill>
                            <a:schemeClr val="bg1"/>
                          </a:solidFill>
                        </a:rPr>
                        <a:t>Domains</a:t>
                      </a:r>
                      <a:endParaRPr lang="zh-CN" altLang="en-US" sz="1600" dirty="0">
                        <a:solidFill>
                          <a:schemeClr val="bg1"/>
                        </a:solidFill>
                      </a:endParaRPr>
                    </a:p>
                  </a:txBody>
                  <a:tcPr anchor="ctr">
                    <a:solidFill>
                      <a:schemeClr val="accent2"/>
                    </a:solidFill>
                  </a:tcPr>
                </a:tc>
                <a:extLst>
                  <a:ext uri="{0D108BD9-81ED-4DB2-BD59-A6C34878D82A}">
                    <a16:rowId xmlns:a16="http://schemas.microsoft.com/office/drawing/2014/main" val="642055771"/>
                  </a:ext>
                </a:extLst>
              </a:tr>
              <a:tr h="370840">
                <a:tc>
                  <a:txBody>
                    <a:bodyPr/>
                    <a:lstStyle/>
                    <a:p>
                      <a:pPr algn="ctr"/>
                      <a:r>
                        <a:rPr lang="en-US" altLang="zh-CN" sz="1600" dirty="0"/>
                        <a:t>1</a:t>
                      </a:r>
                      <a:endParaRPr lang="zh-CN" altLang="en-US" sz="1600" dirty="0"/>
                    </a:p>
                  </a:txBody>
                  <a:tcPr anchor="ctr"/>
                </a:tc>
                <a:tc>
                  <a:txBody>
                    <a:bodyPr/>
                    <a:lstStyle/>
                    <a:p>
                      <a:pPr algn="l"/>
                      <a:r>
                        <a:rPr lang="zh-CN" altLang="en-US" sz="1600" dirty="0"/>
                        <a:t>干系人绩效域 </a:t>
                      </a:r>
                      <a:r>
                        <a:rPr lang="en-US" altLang="zh-CN" sz="1600" dirty="0"/>
                        <a:t>Stakeholder</a:t>
                      </a:r>
                      <a:endParaRPr lang="zh-CN" altLang="en-US" sz="1600" dirty="0"/>
                    </a:p>
                  </a:txBody>
                  <a:tcPr anchor="ctr"/>
                </a:tc>
                <a:extLst>
                  <a:ext uri="{0D108BD9-81ED-4DB2-BD59-A6C34878D82A}">
                    <a16:rowId xmlns:a16="http://schemas.microsoft.com/office/drawing/2014/main" val="1979289800"/>
                  </a:ext>
                </a:extLst>
              </a:tr>
              <a:tr h="370840">
                <a:tc>
                  <a:txBody>
                    <a:bodyPr/>
                    <a:lstStyle/>
                    <a:p>
                      <a:pPr algn="ctr"/>
                      <a:r>
                        <a:rPr lang="en-US" altLang="zh-CN" sz="1600" dirty="0"/>
                        <a:t>2</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团队绩效域 </a:t>
                      </a:r>
                      <a:r>
                        <a:rPr lang="en-US" altLang="zh-CN" sz="1600" dirty="0"/>
                        <a:t>Team</a:t>
                      </a:r>
                      <a:endParaRPr lang="zh-CN" altLang="en-US" sz="1600" dirty="0"/>
                    </a:p>
                  </a:txBody>
                  <a:tcPr anchor="ctr"/>
                </a:tc>
                <a:extLst>
                  <a:ext uri="{0D108BD9-81ED-4DB2-BD59-A6C34878D82A}">
                    <a16:rowId xmlns:a16="http://schemas.microsoft.com/office/drawing/2014/main" val="2517229787"/>
                  </a:ext>
                </a:extLst>
              </a:tr>
              <a:tr h="370840">
                <a:tc>
                  <a:txBody>
                    <a:bodyPr/>
                    <a:lstStyle/>
                    <a:p>
                      <a:pPr algn="ctr"/>
                      <a:r>
                        <a:rPr lang="en-US" altLang="zh-CN" sz="1600" dirty="0"/>
                        <a:t>3</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开发方法和生命周期绩效域 </a:t>
                      </a:r>
                      <a:r>
                        <a:rPr lang="en-US" altLang="zh-CN" sz="1600" dirty="0"/>
                        <a:t>Development Approach and Life Cycle</a:t>
                      </a:r>
                      <a:endParaRPr lang="zh-CN" altLang="en-US" sz="1600" dirty="0"/>
                    </a:p>
                  </a:txBody>
                  <a:tcPr anchor="ctr"/>
                </a:tc>
                <a:extLst>
                  <a:ext uri="{0D108BD9-81ED-4DB2-BD59-A6C34878D82A}">
                    <a16:rowId xmlns:a16="http://schemas.microsoft.com/office/drawing/2014/main" val="3373539977"/>
                  </a:ext>
                </a:extLst>
              </a:tr>
              <a:tr h="370840">
                <a:tc>
                  <a:txBody>
                    <a:bodyPr/>
                    <a:lstStyle/>
                    <a:p>
                      <a:pPr algn="ctr"/>
                      <a:r>
                        <a:rPr lang="en-US" altLang="zh-CN" sz="1600" dirty="0"/>
                        <a:t>4</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规划绩效域 </a:t>
                      </a:r>
                      <a:r>
                        <a:rPr lang="en-US" altLang="zh-CN" sz="1600" dirty="0"/>
                        <a:t>Planning </a:t>
                      </a:r>
                      <a:endParaRPr lang="zh-CN" altLang="en-US" sz="1600" dirty="0"/>
                    </a:p>
                  </a:txBody>
                  <a:tcPr anchor="ctr"/>
                </a:tc>
                <a:extLst>
                  <a:ext uri="{0D108BD9-81ED-4DB2-BD59-A6C34878D82A}">
                    <a16:rowId xmlns:a16="http://schemas.microsoft.com/office/drawing/2014/main" val="3294401549"/>
                  </a:ext>
                </a:extLst>
              </a:tr>
              <a:tr h="370840">
                <a:tc>
                  <a:txBody>
                    <a:bodyPr/>
                    <a:lstStyle/>
                    <a:p>
                      <a:pPr algn="ctr"/>
                      <a:r>
                        <a:rPr lang="en-US" altLang="zh-CN" sz="1600" dirty="0"/>
                        <a:t>5</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项目工作绩效域 </a:t>
                      </a:r>
                      <a:r>
                        <a:rPr lang="en-US" altLang="zh-CN" sz="1600" dirty="0"/>
                        <a:t>Project Work</a:t>
                      </a:r>
                      <a:endParaRPr lang="zh-CN" altLang="en-US" sz="1600" dirty="0"/>
                    </a:p>
                  </a:txBody>
                  <a:tcPr anchor="ctr"/>
                </a:tc>
                <a:extLst>
                  <a:ext uri="{0D108BD9-81ED-4DB2-BD59-A6C34878D82A}">
                    <a16:rowId xmlns:a16="http://schemas.microsoft.com/office/drawing/2014/main" val="3558217318"/>
                  </a:ext>
                </a:extLst>
              </a:tr>
              <a:tr h="370840">
                <a:tc>
                  <a:txBody>
                    <a:bodyPr/>
                    <a:lstStyle/>
                    <a:p>
                      <a:pPr algn="ctr"/>
                      <a:r>
                        <a:rPr lang="en-US" altLang="zh-CN" sz="1600" dirty="0"/>
                        <a:t>6</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交付绩效域 </a:t>
                      </a:r>
                      <a:r>
                        <a:rPr lang="en-US" altLang="zh-CN" sz="1600" dirty="0"/>
                        <a:t>Delivery </a:t>
                      </a:r>
                      <a:endParaRPr lang="zh-CN" altLang="en-US" sz="1600" dirty="0"/>
                    </a:p>
                  </a:txBody>
                  <a:tcPr anchor="ctr"/>
                </a:tc>
                <a:extLst>
                  <a:ext uri="{0D108BD9-81ED-4DB2-BD59-A6C34878D82A}">
                    <a16:rowId xmlns:a16="http://schemas.microsoft.com/office/drawing/2014/main" val="125829328"/>
                  </a:ext>
                </a:extLst>
              </a:tr>
              <a:tr h="370840">
                <a:tc>
                  <a:txBody>
                    <a:bodyPr/>
                    <a:lstStyle/>
                    <a:p>
                      <a:pPr algn="ctr"/>
                      <a:r>
                        <a:rPr lang="en-US" altLang="zh-CN" sz="1600" dirty="0"/>
                        <a:t>7</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测量绩效域 </a:t>
                      </a:r>
                      <a:r>
                        <a:rPr lang="en-US" altLang="zh-CN" sz="1600" dirty="0"/>
                        <a:t>Measurement </a:t>
                      </a:r>
                      <a:endParaRPr lang="zh-CN" altLang="en-US" sz="1600" dirty="0"/>
                    </a:p>
                  </a:txBody>
                  <a:tcPr anchor="ctr"/>
                </a:tc>
                <a:extLst>
                  <a:ext uri="{0D108BD9-81ED-4DB2-BD59-A6C34878D82A}">
                    <a16:rowId xmlns:a16="http://schemas.microsoft.com/office/drawing/2014/main" val="832207355"/>
                  </a:ext>
                </a:extLst>
              </a:tr>
              <a:tr h="370840">
                <a:tc>
                  <a:txBody>
                    <a:bodyPr/>
                    <a:lstStyle/>
                    <a:p>
                      <a:pPr algn="ctr"/>
                      <a:r>
                        <a:rPr lang="en-US" altLang="zh-CN" sz="1600" dirty="0"/>
                        <a:t>8</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不确定性绩效域 </a:t>
                      </a:r>
                      <a:r>
                        <a:rPr lang="en-US" altLang="zh-CN" sz="1600" dirty="0"/>
                        <a:t>Uncertainty </a:t>
                      </a:r>
                      <a:endParaRPr lang="zh-CN" altLang="en-US" sz="1600" dirty="0"/>
                    </a:p>
                  </a:txBody>
                  <a:tcPr anchor="ctr"/>
                </a:tc>
                <a:extLst>
                  <a:ext uri="{0D108BD9-81ED-4DB2-BD59-A6C34878D82A}">
                    <a16:rowId xmlns:a16="http://schemas.microsoft.com/office/drawing/2014/main" val="1086756678"/>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488168251"/>
              </p:ext>
            </p:extLst>
          </p:nvPr>
        </p:nvGraphicFramePr>
        <p:xfrm>
          <a:off x="696000" y="712024"/>
          <a:ext cx="10800000" cy="5433952"/>
        </p:xfrm>
        <a:graphic>
          <a:graphicData uri="http://schemas.openxmlformats.org/drawingml/2006/table">
            <a:tbl>
              <a:tblPr/>
              <a:tblGrid>
                <a:gridCol w="746301">
                  <a:extLst>
                    <a:ext uri="{9D8B030D-6E8A-4147-A177-3AD203B41FA5}">
                      <a16:colId xmlns:a16="http://schemas.microsoft.com/office/drawing/2014/main" val="197264077"/>
                    </a:ext>
                  </a:extLst>
                </a:gridCol>
                <a:gridCol w="4911365">
                  <a:extLst>
                    <a:ext uri="{9D8B030D-6E8A-4147-A177-3AD203B41FA5}">
                      <a16:colId xmlns:a16="http://schemas.microsoft.com/office/drawing/2014/main" val="4210001443"/>
                    </a:ext>
                  </a:extLst>
                </a:gridCol>
                <a:gridCol w="2442334">
                  <a:extLst>
                    <a:ext uri="{9D8B030D-6E8A-4147-A177-3AD203B41FA5}">
                      <a16:colId xmlns:a16="http://schemas.microsoft.com/office/drawing/2014/main" val="543007001"/>
                    </a:ext>
                  </a:extLst>
                </a:gridCol>
                <a:gridCol w="2700000">
                  <a:extLst>
                    <a:ext uri="{9D8B030D-6E8A-4147-A177-3AD203B41FA5}">
                      <a16:colId xmlns:a16="http://schemas.microsoft.com/office/drawing/2014/main" val="1459750022"/>
                    </a:ext>
                  </a:extLst>
                </a:gridCol>
              </a:tblGrid>
              <a:tr h="360000">
                <a:tc>
                  <a:txBody>
                    <a:bodyPr/>
                    <a:lstStyle/>
                    <a:p>
                      <a:pPr algn="ctr">
                        <a:buNone/>
                      </a:pPr>
                      <a:endParaRPr lang="zh-CN" altLang="en-US" sz="1200" dirty="0">
                        <a:solidFill>
                          <a:schemeClr val="bg1"/>
                        </a:solidFill>
                      </a:endParaRPr>
                    </a:p>
                  </a:txBody>
                  <a:tcPr marL="63424" marR="63424" marT="31712" marB="31712"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644523495"/>
                  </a:ext>
                </a:extLst>
              </a:tr>
              <a:tr h="634244">
                <a:tc>
                  <a:txBody>
                    <a:bodyPr/>
                    <a:lstStyle/>
                    <a:p>
                      <a:pPr algn="ctr">
                        <a:buNone/>
                      </a:pPr>
                      <a:r>
                        <a:rPr lang="en-US" altLang="zh-CN" sz="1200" dirty="0"/>
                        <a:t>1</a:t>
                      </a:r>
                    </a:p>
                  </a:txBody>
                  <a:tcPr marL="63424" marR="63424" marT="31712" marB="31712" anchor="ctr">
                    <a:lnL>
                      <a:noFill/>
                    </a:lnL>
                    <a:lnR>
                      <a:noFill/>
                    </a:lnR>
                    <a:lnT>
                      <a:noFill/>
                    </a:lnT>
                    <a:lnB>
                      <a:noFill/>
                    </a:lnB>
                    <a:noFill/>
                  </a:tcPr>
                </a:tc>
                <a:tc>
                  <a:txBody>
                    <a:bodyPr/>
                    <a:lstStyle/>
                    <a:p>
                      <a:pPr algn="l">
                        <a:buNone/>
                      </a:pPr>
                      <a:r>
                        <a:rPr lang="en-US" sz="1200" dirty="0"/>
                        <a:t>Stakeholder Performance Domain</a:t>
                      </a:r>
                    </a:p>
                  </a:txBody>
                  <a:tcPr marL="63424" marR="63424" marT="31712" marB="31712" anchor="ctr">
                    <a:lnL>
                      <a:noFill/>
                    </a:lnL>
                    <a:lnR>
                      <a:noFill/>
                    </a:lnR>
                    <a:lnT>
                      <a:noFill/>
                    </a:lnT>
                    <a:lnB>
                      <a:noFill/>
                    </a:lnB>
                    <a:noFill/>
                  </a:tcPr>
                </a:tc>
                <a:tc>
                  <a:txBody>
                    <a:bodyPr/>
                    <a:lstStyle/>
                    <a:p>
                      <a:pPr algn="l">
                        <a:buNone/>
                      </a:pPr>
                      <a:r>
                        <a:rPr lang="zh-CN" altLang="en-US" sz="1200"/>
                        <a:t>相关方绩效域</a:t>
                      </a:r>
                    </a:p>
                  </a:txBody>
                  <a:tcPr marL="63424" marR="63424" marT="31712" marB="31712" anchor="ctr">
                    <a:lnL>
                      <a:noFill/>
                    </a:lnL>
                    <a:lnR>
                      <a:noFill/>
                    </a:lnR>
                    <a:lnT>
                      <a:noFill/>
                    </a:lnT>
                    <a:lnB>
                      <a:noFill/>
                    </a:lnB>
                    <a:noFill/>
                  </a:tcPr>
                </a:tc>
                <a:tc>
                  <a:txBody>
                    <a:bodyPr/>
                    <a:lstStyle/>
                    <a:p>
                      <a:pPr algn="l">
                        <a:buNone/>
                      </a:pPr>
                      <a:r>
                        <a:rPr lang="zh-CN" altLang="en-US" sz="1200"/>
                        <a:t>管理与相关方的互动，建立共识，确保持续参与和支持。</a:t>
                      </a:r>
                    </a:p>
                  </a:txBody>
                  <a:tcPr marL="63424" marR="63424" marT="31712" marB="31712" anchor="ctr">
                    <a:lnL>
                      <a:noFill/>
                    </a:lnL>
                    <a:lnR>
                      <a:noFill/>
                    </a:lnR>
                    <a:lnT>
                      <a:noFill/>
                    </a:lnT>
                    <a:lnB>
                      <a:noFill/>
                    </a:lnB>
                    <a:noFill/>
                  </a:tcPr>
                </a:tc>
                <a:extLst>
                  <a:ext uri="{0D108BD9-81ED-4DB2-BD59-A6C34878D82A}">
                    <a16:rowId xmlns:a16="http://schemas.microsoft.com/office/drawing/2014/main" val="753655787"/>
                  </a:ext>
                </a:extLst>
              </a:tr>
              <a:tr h="443971">
                <a:tc>
                  <a:txBody>
                    <a:bodyPr/>
                    <a:lstStyle/>
                    <a:p>
                      <a:pPr algn="ctr">
                        <a:buNone/>
                      </a:pPr>
                      <a:r>
                        <a:rPr lang="en-US" altLang="zh-CN" sz="1200" dirty="0"/>
                        <a:t>2</a:t>
                      </a:r>
                    </a:p>
                  </a:txBody>
                  <a:tcPr marL="63424" marR="63424" marT="31712" marB="31712" anchor="ctr">
                    <a:lnL>
                      <a:noFill/>
                    </a:lnL>
                    <a:lnR>
                      <a:noFill/>
                    </a:lnR>
                    <a:lnT>
                      <a:noFill/>
                    </a:lnT>
                    <a:lnB>
                      <a:noFill/>
                    </a:lnB>
                    <a:noFill/>
                  </a:tcPr>
                </a:tc>
                <a:tc>
                  <a:txBody>
                    <a:bodyPr/>
                    <a:lstStyle/>
                    <a:p>
                      <a:pPr algn="l">
                        <a:buNone/>
                      </a:pPr>
                      <a:r>
                        <a:rPr lang="en-US" sz="1200"/>
                        <a:t>Team Performance Domain</a:t>
                      </a:r>
                    </a:p>
                  </a:txBody>
                  <a:tcPr marL="63424" marR="63424" marT="31712" marB="31712" anchor="ctr">
                    <a:lnL>
                      <a:noFill/>
                    </a:lnL>
                    <a:lnR>
                      <a:noFill/>
                    </a:lnR>
                    <a:lnT>
                      <a:noFill/>
                    </a:lnT>
                    <a:lnB>
                      <a:noFill/>
                    </a:lnB>
                    <a:noFill/>
                  </a:tcPr>
                </a:tc>
                <a:tc>
                  <a:txBody>
                    <a:bodyPr/>
                    <a:lstStyle/>
                    <a:p>
                      <a:pPr algn="l">
                        <a:buNone/>
                      </a:pPr>
                      <a:r>
                        <a:rPr lang="zh-CN" altLang="en-US" sz="1200"/>
                        <a:t>团队绩效域</a:t>
                      </a:r>
                    </a:p>
                  </a:txBody>
                  <a:tcPr marL="63424" marR="63424" marT="31712" marB="31712" anchor="ctr">
                    <a:lnL>
                      <a:noFill/>
                    </a:lnL>
                    <a:lnR>
                      <a:noFill/>
                    </a:lnR>
                    <a:lnT>
                      <a:noFill/>
                    </a:lnT>
                    <a:lnB>
                      <a:noFill/>
                    </a:lnB>
                    <a:noFill/>
                  </a:tcPr>
                </a:tc>
                <a:tc>
                  <a:txBody>
                    <a:bodyPr/>
                    <a:lstStyle/>
                    <a:p>
                      <a:pPr algn="l">
                        <a:buNone/>
                      </a:pPr>
                      <a:r>
                        <a:rPr lang="zh-CN" altLang="en-US" sz="1200"/>
                        <a:t>发展团队技能，促进协作，解决冲突，提升团队绩效。</a:t>
                      </a:r>
                    </a:p>
                  </a:txBody>
                  <a:tcPr marL="63424" marR="63424" marT="31712" marB="31712" anchor="ctr">
                    <a:lnL>
                      <a:noFill/>
                    </a:lnL>
                    <a:lnR>
                      <a:noFill/>
                    </a:lnR>
                    <a:lnT>
                      <a:noFill/>
                    </a:lnT>
                    <a:lnB>
                      <a:noFill/>
                    </a:lnB>
                    <a:noFill/>
                  </a:tcPr>
                </a:tc>
                <a:extLst>
                  <a:ext uri="{0D108BD9-81ED-4DB2-BD59-A6C34878D82A}">
                    <a16:rowId xmlns:a16="http://schemas.microsoft.com/office/drawing/2014/main" val="1152831730"/>
                  </a:ext>
                </a:extLst>
              </a:tr>
              <a:tr h="824517">
                <a:tc>
                  <a:txBody>
                    <a:bodyPr/>
                    <a:lstStyle/>
                    <a:p>
                      <a:pPr algn="ctr">
                        <a:buNone/>
                      </a:pPr>
                      <a:r>
                        <a:rPr lang="en-US" altLang="zh-CN" sz="1200" dirty="0"/>
                        <a:t>3</a:t>
                      </a:r>
                    </a:p>
                  </a:txBody>
                  <a:tcPr marL="63424" marR="63424" marT="31712" marB="31712" anchor="ctr">
                    <a:lnL>
                      <a:noFill/>
                    </a:lnL>
                    <a:lnR>
                      <a:noFill/>
                    </a:lnR>
                    <a:lnT>
                      <a:noFill/>
                    </a:lnT>
                    <a:lnB>
                      <a:noFill/>
                    </a:lnB>
                    <a:noFill/>
                  </a:tcPr>
                </a:tc>
                <a:tc>
                  <a:txBody>
                    <a:bodyPr/>
                    <a:lstStyle/>
                    <a:p>
                      <a:pPr algn="l">
                        <a:buNone/>
                      </a:pPr>
                      <a:r>
                        <a:rPr lang="en-US" sz="1200" dirty="0"/>
                        <a:t>Development Approach and Life Cycle Performance Domain</a:t>
                      </a:r>
                    </a:p>
                  </a:txBody>
                  <a:tcPr marL="63424" marR="63424" marT="31712" marB="31712" anchor="ctr">
                    <a:lnL>
                      <a:noFill/>
                    </a:lnL>
                    <a:lnR>
                      <a:noFill/>
                    </a:lnR>
                    <a:lnT>
                      <a:noFill/>
                    </a:lnT>
                    <a:lnB>
                      <a:noFill/>
                    </a:lnB>
                    <a:noFill/>
                  </a:tcPr>
                </a:tc>
                <a:tc>
                  <a:txBody>
                    <a:bodyPr/>
                    <a:lstStyle/>
                    <a:p>
                      <a:pPr algn="l">
                        <a:buNone/>
                      </a:pPr>
                      <a:r>
                        <a:rPr lang="zh-CN" altLang="en-US" sz="1200"/>
                        <a:t>开发方法和生命周期绩效域</a:t>
                      </a:r>
                    </a:p>
                  </a:txBody>
                  <a:tcPr marL="63424" marR="63424" marT="31712" marB="31712" anchor="ctr">
                    <a:lnL>
                      <a:noFill/>
                    </a:lnL>
                    <a:lnR>
                      <a:noFill/>
                    </a:lnR>
                    <a:lnT>
                      <a:noFill/>
                    </a:lnT>
                    <a:lnB>
                      <a:noFill/>
                    </a:lnB>
                    <a:noFill/>
                  </a:tcPr>
                </a:tc>
                <a:tc>
                  <a:txBody>
                    <a:bodyPr/>
                    <a:lstStyle/>
                    <a:p>
                      <a:pPr algn="l">
                        <a:buNone/>
                      </a:pPr>
                      <a:r>
                        <a:rPr lang="zh-CN" altLang="en-US" sz="1200"/>
                        <a:t>选择适合项目的开发方法（预测、迭代、增量、敏捷或混合）及生命周期阶段。</a:t>
                      </a:r>
                    </a:p>
                  </a:txBody>
                  <a:tcPr marL="63424" marR="63424" marT="31712" marB="31712" anchor="ctr">
                    <a:lnL>
                      <a:noFill/>
                    </a:lnL>
                    <a:lnR>
                      <a:noFill/>
                    </a:lnR>
                    <a:lnT>
                      <a:noFill/>
                    </a:lnT>
                    <a:lnB>
                      <a:noFill/>
                    </a:lnB>
                    <a:noFill/>
                  </a:tcPr>
                </a:tc>
                <a:extLst>
                  <a:ext uri="{0D108BD9-81ED-4DB2-BD59-A6C34878D82A}">
                    <a16:rowId xmlns:a16="http://schemas.microsoft.com/office/drawing/2014/main" val="1501778776"/>
                  </a:ext>
                </a:extLst>
              </a:tr>
              <a:tr h="634244">
                <a:tc>
                  <a:txBody>
                    <a:bodyPr/>
                    <a:lstStyle/>
                    <a:p>
                      <a:pPr algn="ctr">
                        <a:buNone/>
                      </a:pPr>
                      <a:r>
                        <a:rPr lang="en-US" altLang="zh-CN" sz="1200" dirty="0"/>
                        <a:t>4</a:t>
                      </a:r>
                    </a:p>
                  </a:txBody>
                  <a:tcPr marL="63424" marR="63424" marT="31712" marB="31712" anchor="ctr">
                    <a:lnL>
                      <a:noFill/>
                    </a:lnL>
                    <a:lnR>
                      <a:noFill/>
                    </a:lnR>
                    <a:lnT>
                      <a:noFill/>
                    </a:lnT>
                    <a:lnB>
                      <a:noFill/>
                    </a:lnB>
                    <a:noFill/>
                  </a:tcPr>
                </a:tc>
                <a:tc>
                  <a:txBody>
                    <a:bodyPr/>
                    <a:lstStyle/>
                    <a:p>
                      <a:pPr algn="l">
                        <a:buNone/>
                      </a:pPr>
                      <a:r>
                        <a:rPr lang="en-US" sz="1200"/>
                        <a:t>Planning Performance Domain</a:t>
                      </a:r>
                    </a:p>
                  </a:txBody>
                  <a:tcPr marL="63424" marR="63424" marT="31712" marB="31712" anchor="ctr">
                    <a:lnL>
                      <a:noFill/>
                    </a:lnL>
                    <a:lnR>
                      <a:noFill/>
                    </a:lnR>
                    <a:lnT>
                      <a:noFill/>
                    </a:lnT>
                    <a:lnB>
                      <a:noFill/>
                    </a:lnB>
                    <a:noFill/>
                  </a:tcPr>
                </a:tc>
                <a:tc>
                  <a:txBody>
                    <a:bodyPr/>
                    <a:lstStyle/>
                    <a:p>
                      <a:pPr algn="l">
                        <a:buNone/>
                      </a:pPr>
                      <a:r>
                        <a:rPr lang="zh-CN" altLang="en-US" sz="1200"/>
                        <a:t>规划绩效域</a:t>
                      </a:r>
                    </a:p>
                  </a:txBody>
                  <a:tcPr marL="63424" marR="63424" marT="31712" marB="31712" anchor="ctr">
                    <a:lnL>
                      <a:noFill/>
                    </a:lnL>
                    <a:lnR>
                      <a:noFill/>
                    </a:lnR>
                    <a:lnT>
                      <a:noFill/>
                    </a:lnT>
                    <a:lnB>
                      <a:noFill/>
                    </a:lnB>
                    <a:noFill/>
                  </a:tcPr>
                </a:tc>
                <a:tc>
                  <a:txBody>
                    <a:bodyPr/>
                    <a:lstStyle/>
                    <a:p>
                      <a:pPr algn="l">
                        <a:buNone/>
                      </a:pPr>
                      <a:r>
                        <a:rPr lang="zh-CN" altLang="en-US" sz="1200"/>
                        <a:t>制定初始及持续的计划，协调范围、进度、成本等，以指导项目执行。</a:t>
                      </a:r>
                    </a:p>
                  </a:txBody>
                  <a:tcPr marL="63424" marR="63424" marT="31712" marB="31712" anchor="ctr">
                    <a:lnL>
                      <a:noFill/>
                    </a:lnL>
                    <a:lnR>
                      <a:noFill/>
                    </a:lnR>
                    <a:lnT>
                      <a:noFill/>
                    </a:lnT>
                    <a:lnB>
                      <a:noFill/>
                    </a:lnB>
                    <a:noFill/>
                  </a:tcPr>
                </a:tc>
                <a:extLst>
                  <a:ext uri="{0D108BD9-81ED-4DB2-BD59-A6C34878D82A}">
                    <a16:rowId xmlns:a16="http://schemas.microsoft.com/office/drawing/2014/main" val="2700953972"/>
                  </a:ext>
                </a:extLst>
              </a:tr>
              <a:tr h="634244">
                <a:tc>
                  <a:txBody>
                    <a:bodyPr/>
                    <a:lstStyle/>
                    <a:p>
                      <a:pPr algn="ctr">
                        <a:buNone/>
                      </a:pPr>
                      <a:r>
                        <a:rPr lang="en-US" altLang="zh-CN" sz="1200" dirty="0"/>
                        <a:t>5</a:t>
                      </a:r>
                    </a:p>
                  </a:txBody>
                  <a:tcPr marL="63424" marR="63424" marT="31712" marB="31712" anchor="ctr">
                    <a:lnL>
                      <a:noFill/>
                    </a:lnL>
                    <a:lnR>
                      <a:noFill/>
                    </a:lnR>
                    <a:lnT>
                      <a:noFill/>
                    </a:lnT>
                    <a:lnB>
                      <a:noFill/>
                    </a:lnB>
                    <a:noFill/>
                  </a:tcPr>
                </a:tc>
                <a:tc>
                  <a:txBody>
                    <a:bodyPr/>
                    <a:lstStyle/>
                    <a:p>
                      <a:pPr algn="l">
                        <a:buNone/>
                      </a:pPr>
                      <a:r>
                        <a:rPr lang="en-US" sz="1200"/>
                        <a:t>Project Work Performance Domain</a:t>
                      </a:r>
                    </a:p>
                  </a:txBody>
                  <a:tcPr marL="63424" marR="63424" marT="31712" marB="31712" anchor="ctr">
                    <a:lnL>
                      <a:noFill/>
                    </a:lnL>
                    <a:lnR>
                      <a:noFill/>
                    </a:lnR>
                    <a:lnT>
                      <a:noFill/>
                    </a:lnT>
                    <a:lnB>
                      <a:noFill/>
                    </a:lnB>
                    <a:noFill/>
                  </a:tcPr>
                </a:tc>
                <a:tc>
                  <a:txBody>
                    <a:bodyPr/>
                    <a:lstStyle/>
                    <a:p>
                      <a:pPr algn="l">
                        <a:buNone/>
                      </a:pPr>
                      <a:r>
                        <a:rPr lang="zh-CN" altLang="en-US" sz="1200"/>
                        <a:t>项目工作绩效域</a:t>
                      </a:r>
                    </a:p>
                  </a:txBody>
                  <a:tcPr marL="63424" marR="63424" marT="31712" marB="31712" anchor="ctr">
                    <a:lnL>
                      <a:noFill/>
                    </a:lnL>
                    <a:lnR>
                      <a:noFill/>
                    </a:lnR>
                    <a:lnT>
                      <a:noFill/>
                    </a:lnT>
                    <a:lnB>
                      <a:noFill/>
                    </a:lnB>
                    <a:noFill/>
                  </a:tcPr>
                </a:tc>
                <a:tc>
                  <a:txBody>
                    <a:bodyPr/>
                    <a:lstStyle/>
                    <a:p>
                      <a:pPr algn="l">
                        <a:buNone/>
                      </a:pPr>
                      <a:r>
                        <a:rPr lang="zh-CN" altLang="en-US" sz="1200"/>
                        <a:t>管理实际的项目执行工作，包括资源分配、沟通、问题解决和知识管理。</a:t>
                      </a:r>
                    </a:p>
                  </a:txBody>
                  <a:tcPr marL="63424" marR="63424" marT="31712" marB="31712" anchor="ctr">
                    <a:lnL>
                      <a:noFill/>
                    </a:lnL>
                    <a:lnR>
                      <a:noFill/>
                    </a:lnR>
                    <a:lnT>
                      <a:noFill/>
                    </a:lnT>
                    <a:lnB>
                      <a:noFill/>
                    </a:lnB>
                    <a:noFill/>
                  </a:tcPr>
                </a:tc>
                <a:extLst>
                  <a:ext uri="{0D108BD9-81ED-4DB2-BD59-A6C34878D82A}">
                    <a16:rowId xmlns:a16="http://schemas.microsoft.com/office/drawing/2014/main" val="1436638779"/>
                  </a:ext>
                </a:extLst>
              </a:tr>
              <a:tr h="634244">
                <a:tc>
                  <a:txBody>
                    <a:bodyPr/>
                    <a:lstStyle/>
                    <a:p>
                      <a:pPr algn="ctr">
                        <a:buNone/>
                      </a:pPr>
                      <a:r>
                        <a:rPr lang="en-US" altLang="zh-CN" sz="1200" dirty="0"/>
                        <a:t>6</a:t>
                      </a:r>
                    </a:p>
                  </a:txBody>
                  <a:tcPr marL="63424" marR="63424" marT="31712" marB="31712" anchor="ctr">
                    <a:lnL>
                      <a:noFill/>
                    </a:lnL>
                    <a:lnR>
                      <a:noFill/>
                    </a:lnR>
                    <a:lnT>
                      <a:noFill/>
                    </a:lnT>
                    <a:lnB>
                      <a:noFill/>
                    </a:lnB>
                    <a:noFill/>
                  </a:tcPr>
                </a:tc>
                <a:tc>
                  <a:txBody>
                    <a:bodyPr/>
                    <a:lstStyle/>
                    <a:p>
                      <a:pPr algn="l">
                        <a:buNone/>
                      </a:pPr>
                      <a:r>
                        <a:rPr lang="en-US" sz="1200"/>
                        <a:t>Delivery Performance Domain</a:t>
                      </a:r>
                    </a:p>
                  </a:txBody>
                  <a:tcPr marL="63424" marR="63424" marT="31712" marB="31712" anchor="ctr">
                    <a:lnL>
                      <a:noFill/>
                    </a:lnL>
                    <a:lnR>
                      <a:noFill/>
                    </a:lnR>
                    <a:lnT>
                      <a:noFill/>
                    </a:lnT>
                    <a:lnB>
                      <a:noFill/>
                    </a:lnB>
                    <a:noFill/>
                  </a:tcPr>
                </a:tc>
                <a:tc>
                  <a:txBody>
                    <a:bodyPr/>
                    <a:lstStyle/>
                    <a:p>
                      <a:pPr algn="l">
                        <a:buNone/>
                      </a:pPr>
                      <a:r>
                        <a:rPr lang="zh-CN" altLang="en-US" sz="1200"/>
                        <a:t>交付绩效域</a:t>
                      </a:r>
                    </a:p>
                  </a:txBody>
                  <a:tcPr marL="63424" marR="63424" marT="31712" marB="31712" anchor="ctr">
                    <a:lnL>
                      <a:noFill/>
                    </a:lnL>
                    <a:lnR>
                      <a:noFill/>
                    </a:lnR>
                    <a:lnT>
                      <a:noFill/>
                    </a:lnT>
                    <a:lnB>
                      <a:noFill/>
                    </a:lnB>
                    <a:noFill/>
                  </a:tcPr>
                </a:tc>
                <a:tc>
                  <a:txBody>
                    <a:bodyPr/>
                    <a:lstStyle/>
                    <a:p>
                      <a:pPr algn="l">
                        <a:buNone/>
                      </a:pPr>
                      <a:r>
                        <a:rPr lang="zh-CN" altLang="en-US" sz="1200"/>
                        <a:t>确保项目产出符合预期，满足质量要求，并最终实现预期的商业价值。</a:t>
                      </a:r>
                    </a:p>
                  </a:txBody>
                  <a:tcPr marL="63424" marR="63424" marT="31712" marB="31712" anchor="ctr">
                    <a:lnL>
                      <a:noFill/>
                    </a:lnL>
                    <a:lnR>
                      <a:noFill/>
                    </a:lnR>
                    <a:lnT>
                      <a:noFill/>
                    </a:lnT>
                    <a:lnB>
                      <a:noFill/>
                    </a:lnB>
                    <a:noFill/>
                  </a:tcPr>
                </a:tc>
                <a:extLst>
                  <a:ext uri="{0D108BD9-81ED-4DB2-BD59-A6C34878D82A}">
                    <a16:rowId xmlns:a16="http://schemas.microsoft.com/office/drawing/2014/main" val="2348436765"/>
                  </a:ext>
                </a:extLst>
              </a:tr>
              <a:tr h="634244">
                <a:tc>
                  <a:txBody>
                    <a:bodyPr/>
                    <a:lstStyle/>
                    <a:p>
                      <a:pPr algn="ctr">
                        <a:buNone/>
                      </a:pPr>
                      <a:r>
                        <a:rPr lang="en-US" altLang="zh-CN" sz="1200" dirty="0"/>
                        <a:t>7</a:t>
                      </a:r>
                    </a:p>
                  </a:txBody>
                  <a:tcPr marL="63424" marR="63424" marT="31712" marB="31712" anchor="ctr">
                    <a:lnL>
                      <a:noFill/>
                    </a:lnL>
                    <a:lnR>
                      <a:noFill/>
                    </a:lnR>
                    <a:lnT>
                      <a:noFill/>
                    </a:lnT>
                    <a:lnB>
                      <a:noFill/>
                    </a:lnB>
                    <a:noFill/>
                  </a:tcPr>
                </a:tc>
                <a:tc>
                  <a:txBody>
                    <a:bodyPr/>
                    <a:lstStyle/>
                    <a:p>
                      <a:pPr algn="l">
                        <a:buNone/>
                      </a:pPr>
                      <a:r>
                        <a:rPr lang="en-US" sz="1200"/>
                        <a:t>Measurement Performance Domain</a:t>
                      </a:r>
                    </a:p>
                  </a:txBody>
                  <a:tcPr marL="63424" marR="63424" marT="31712" marB="31712" anchor="ctr">
                    <a:lnL>
                      <a:noFill/>
                    </a:lnL>
                    <a:lnR>
                      <a:noFill/>
                    </a:lnR>
                    <a:lnT>
                      <a:noFill/>
                    </a:lnT>
                    <a:lnB>
                      <a:noFill/>
                    </a:lnB>
                    <a:noFill/>
                  </a:tcPr>
                </a:tc>
                <a:tc>
                  <a:txBody>
                    <a:bodyPr/>
                    <a:lstStyle/>
                    <a:p>
                      <a:pPr algn="l">
                        <a:buNone/>
                      </a:pPr>
                      <a:r>
                        <a:rPr lang="zh-CN" altLang="en-US" sz="1200"/>
                        <a:t>测量绩效域</a:t>
                      </a:r>
                    </a:p>
                  </a:txBody>
                  <a:tcPr marL="63424" marR="63424" marT="31712" marB="31712" anchor="ctr">
                    <a:lnL>
                      <a:noFill/>
                    </a:lnL>
                    <a:lnR>
                      <a:noFill/>
                    </a:lnR>
                    <a:lnT>
                      <a:noFill/>
                    </a:lnT>
                    <a:lnB>
                      <a:noFill/>
                    </a:lnB>
                    <a:noFill/>
                  </a:tcPr>
                </a:tc>
                <a:tc>
                  <a:txBody>
                    <a:bodyPr/>
                    <a:lstStyle/>
                    <a:p>
                      <a:pPr algn="l">
                        <a:buNone/>
                      </a:pPr>
                      <a:r>
                        <a:rPr lang="zh-CN" altLang="en-US" sz="1200"/>
                        <a:t>评估项目绩效，通过指标和数据了解项目健康状况，支持决策。</a:t>
                      </a:r>
                    </a:p>
                  </a:txBody>
                  <a:tcPr marL="63424" marR="63424" marT="31712" marB="31712" anchor="ctr">
                    <a:lnL>
                      <a:noFill/>
                    </a:lnL>
                    <a:lnR>
                      <a:noFill/>
                    </a:lnR>
                    <a:lnT>
                      <a:noFill/>
                    </a:lnT>
                    <a:lnB>
                      <a:noFill/>
                    </a:lnB>
                    <a:noFill/>
                  </a:tcPr>
                </a:tc>
                <a:extLst>
                  <a:ext uri="{0D108BD9-81ED-4DB2-BD59-A6C34878D82A}">
                    <a16:rowId xmlns:a16="http://schemas.microsoft.com/office/drawing/2014/main" val="339444266"/>
                  </a:ext>
                </a:extLst>
              </a:tr>
              <a:tr h="634244">
                <a:tc>
                  <a:txBody>
                    <a:bodyPr/>
                    <a:lstStyle/>
                    <a:p>
                      <a:pPr algn="ctr">
                        <a:buNone/>
                      </a:pPr>
                      <a:r>
                        <a:rPr lang="en-US" altLang="zh-CN" sz="1200" dirty="0"/>
                        <a:t>8</a:t>
                      </a:r>
                    </a:p>
                  </a:txBody>
                  <a:tcPr marL="63424" marR="63424" marT="31712" marB="31712" anchor="ctr">
                    <a:lnL>
                      <a:noFill/>
                    </a:lnL>
                    <a:lnR>
                      <a:noFill/>
                    </a:lnR>
                    <a:lnT>
                      <a:noFill/>
                    </a:lnT>
                    <a:lnB>
                      <a:noFill/>
                    </a:lnB>
                    <a:noFill/>
                  </a:tcPr>
                </a:tc>
                <a:tc>
                  <a:txBody>
                    <a:bodyPr/>
                    <a:lstStyle/>
                    <a:p>
                      <a:pPr algn="l">
                        <a:buNone/>
                      </a:pPr>
                      <a:r>
                        <a:rPr lang="en-US" sz="1200"/>
                        <a:t>Uncertainty Performance Domain</a:t>
                      </a:r>
                    </a:p>
                  </a:txBody>
                  <a:tcPr marL="63424" marR="63424" marT="31712" marB="31712" anchor="ctr">
                    <a:lnL>
                      <a:noFill/>
                    </a:lnL>
                    <a:lnR>
                      <a:noFill/>
                    </a:lnR>
                    <a:lnT>
                      <a:noFill/>
                    </a:lnT>
                    <a:lnB>
                      <a:noFill/>
                    </a:lnB>
                    <a:noFill/>
                  </a:tcPr>
                </a:tc>
                <a:tc>
                  <a:txBody>
                    <a:bodyPr/>
                    <a:lstStyle/>
                    <a:p>
                      <a:pPr algn="l">
                        <a:buNone/>
                      </a:pPr>
                      <a:r>
                        <a:rPr lang="zh-CN" altLang="en-US" sz="1200"/>
                        <a:t>不确定性绩效域</a:t>
                      </a:r>
                    </a:p>
                  </a:txBody>
                  <a:tcPr marL="63424" marR="63424" marT="31712" marB="31712" anchor="ctr">
                    <a:lnL>
                      <a:noFill/>
                    </a:lnL>
                    <a:lnR>
                      <a:noFill/>
                    </a:lnR>
                    <a:lnT>
                      <a:noFill/>
                    </a:lnT>
                    <a:lnB>
                      <a:noFill/>
                    </a:lnB>
                    <a:noFill/>
                  </a:tcPr>
                </a:tc>
                <a:tc>
                  <a:txBody>
                    <a:bodyPr/>
                    <a:lstStyle/>
                    <a:p>
                      <a:pPr algn="l">
                        <a:buNone/>
                      </a:pPr>
                      <a:r>
                        <a:rPr lang="zh-CN" altLang="en-US" sz="1200" dirty="0"/>
                        <a:t>应对风险、模糊性、复杂性和易变性（</a:t>
                      </a:r>
                      <a:r>
                        <a:rPr lang="en-US" altLang="zh-CN" sz="1200" dirty="0"/>
                        <a:t>VUCA</a:t>
                      </a:r>
                      <a:r>
                        <a:rPr lang="zh-CN" altLang="en-US" sz="1200" dirty="0"/>
                        <a:t>），制定应对策略。</a:t>
                      </a:r>
                    </a:p>
                  </a:txBody>
                  <a:tcPr marL="63424" marR="63424" marT="31712" marB="31712" anchor="ctr">
                    <a:lnL>
                      <a:noFill/>
                    </a:lnL>
                    <a:lnR>
                      <a:noFill/>
                    </a:lnR>
                    <a:lnT>
                      <a:noFill/>
                    </a:lnT>
                    <a:lnB>
                      <a:noFill/>
                    </a:lnB>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4289065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4732"/>
          </a:xfrm>
        </p:spPr>
        <p:txBody>
          <a:bodyPr>
            <a:normAutofit/>
          </a:bodyPr>
          <a:lstStyle/>
          <a:p>
            <a:r>
              <a:rPr lang="en-US" altLang="zh-CN"/>
              <a:t>3.2.2 </a:t>
            </a:r>
            <a:r>
              <a:rPr lang="zh-CN" altLang="en-US"/>
              <a:t>八大绩效域</a:t>
            </a:r>
            <a:endParaRPr lang="zh-CN" altLang="en-US" dirty="0"/>
          </a:p>
        </p:txBody>
      </p:sp>
      <p:sp>
        <p:nvSpPr>
          <p:cNvPr id="26" name="Content Placeholder 25">
            <a:extLst>
              <a:ext uri="{FF2B5EF4-FFF2-40B4-BE49-F238E27FC236}">
                <a16:creationId xmlns:a16="http://schemas.microsoft.com/office/drawing/2014/main" id="{C6CAC7C4-B467-6CE1-3936-2196339B5A2D}"/>
              </a:ext>
            </a:extLst>
          </p:cNvPr>
          <p:cNvSpPr>
            <a:spLocks noGrp="1"/>
          </p:cNvSpPr>
          <p:nvPr>
            <p:ph idx="1"/>
          </p:nvPr>
        </p:nvSpPr>
        <p:spPr/>
        <p:txBody>
          <a:bodyPr/>
          <a:lstStyle/>
          <a:p>
            <a:endParaRPr lang="zh-CN" altLang="en-US" dirty="0"/>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360001"/>
            <a:ext cx="4424080" cy="424731"/>
          </a:xfrm>
        </p:spPr>
        <p:txBody>
          <a:bodyPr/>
          <a:lstStyle/>
          <a:p>
            <a:r>
              <a:rPr lang="en-US" altLang="zh-CN"/>
              <a:t>8 Performance Domains/PMBOK 7th</a:t>
            </a:r>
            <a:endParaRPr lang="zh-CN" altLang="en-US" dirty="0"/>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600" dirty="0"/>
              <a:t>干系人绩效域</a:t>
            </a:r>
            <a:endParaRPr lang="en-US" altLang="zh-CN" sz="1600" dirty="0"/>
          </a:p>
          <a:p>
            <a:pPr algn="ctr"/>
            <a:r>
              <a:rPr lang="en-US" altLang="zh-CN" sz="1600" dirty="0"/>
              <a:t>Stakeholder</a:t>
            </a:r>
            <a:endParaRPr lang="zh-CN" altLang="en-US" sz="1600" dirty="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600" dirty="0"/>
              <a:t>团队绩效域</a:t>
            </a:r>
            <a:endParaRPr lang="en-US" altLang="zh-CN" sz="1600" dirty="0"/>
          </a:p>
          <a:p>
            <a:pPr algn="ctr"/>
            <a:r>
              <a:rPr lang="en-US" altLang="zh-CN" sz="1600" dirty="0"/>
              <a:t>Team</a:t>
            </a:r>
            <a:endParaRPr lang="zh-CN" altLang="en-US" sz="1600" dirty="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600" dirty="0"/>
              <a:t>开发方法和生命周期绩效域</a:t>
            </a:r>
            <a:endParaRPr lang="en-US" altLang="zh-CN" sz="1600" dirty="0"/>
          </a:p>
          <a:p>
            <a:pPr algn="ctr"/>
            <a:r>
              <a:rPr lang="en-US" altLang="zh-CN" sz="1600" dirty="0"/>
              <a:t>Development Approach and Life Cycle</a:t>
            </a:r>
            <a:endParaRPr lang="zh-CN" altLang="en-US" sz="1600" dirty="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规划绩效域</a:t>
            </a:r>
            <a:endParaRPr lang="en-US" altLang="zh-CN" sz="1600" dirty="0"/>
          </a:p>
          <a:p>
            <a:pPr algn="ctr"/>
            <a:r>
              <a:rPr lang="en-US" altLang="zh-CN" sz="1600" dirty="0"/>
              <a:t>Planning </a:t>
            </a:r>
            <a:endParaRPr lang="zh-CN" altLang="en-US" sz="1600" dirty="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项目工作绩效域</a:t>
            </a:r>
            <a:endParaRPr lang="en-US" altLang="zh-CN" sz="1600" dirty="0"/>
          </a:p>
          <a:p>
            <a:pPr algn="ctr"/>
            <a:r>
              <a:rPr lang="en-US" altLang="zh-CN" sz="1600" dirty="0"/>
              <a:t>Project Work</a:t>
            </a:r>
            <a:endParaRPr lang="zh-CN" altLang="en-US" sz="1600" dirty="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交付绩效域</a:t>
            </a:r>
            <a:endParaRPr lang="en-US" altLang="zh-CN" sz="1600" dirty="0"/>
          </a:p>
          <a:p>
            <a:pPr algn="ctr"/>
            <a:r>
              <a:rPr lang="en-US" altLang="zh-CN" sz="1600" dirty="0"/>
              <a:t>Delivery </a:t>
            </a:r>
            <a:endParaRPr lang="zh-CN" altLang="en-US" sz="1600" dirty="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测量绩效域</a:t>
            </a:r>
            <a:endParaRPr lang="en-US" altLang="zh-CN" sz="1600" dirty="0"/>
          </a:p>
          <a:p>
            <a:pPr algn="ctr"/>
            <a:r>
              <a:rPr lang="en-US" altLang="zh-CN" sz="1600" dirty="0"/>
              <a:t>Measurement</a:t>
            </a:r>
            <a:endParaRPr lang="zh-CN" altLang="en-US" sz="1600" dirty="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600" dirty="0"/>
              <a:t>不确定性绩效域</a:t>
            </a:r>
            <a:endParaRPr lang="en-US" altLang="zh-CN" sz="1600" dirty="0"/>
          </a:p>
          <a:p>
            <a:pPr algn="ctr"/>
            <a:r>
              <a:rPr lang="en-US" altLang="zh-CN" sz="1600" dirty="0"/>
              <a:t>Uncertainty </a:t>
            </a:r>
            <a:endParaRPr lang="zh-CN" altLang="en-US" sz="1600" dirty="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4732"/>
          </a:xfrm>
        </p:spPr>
        <p:txBody>
          <a:bodyPr>
            <a:normAutofit/>
          </a:bodyPr>
          <a:lstStyle/>
          <a:p>
            <a:r>
              <a:rPr lang="en-US" altLang="zh-CN" dirty="0"/>
              <a:t>4.1 </a:t>
            </a:r>
            <a:r>
              <a:rPr lang="zh-CN" altLang="en-US" dirty="0"/>
              <a:t>敏捷开发</a:t>
            </a:r>
          </a:p>
        </p:txBody>
      </p:sp>
      <p:sp>
        <p:nvSpPr>
          <p:cNvPr id="7" name="Content Placeholder 6">
            <a:extLst>
              <a:ext uri="{FF2B5EF4-FFF2-40B4-BE49-F238E27FC236}">
                <a16:creationId xmlns:a16="http://schemas.microsoft.com/office/drawing/2014/main" id="{D96278FF-7273-4593-C378-9785A2A76303}"/>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360001"/>
            <a:ext cx="4424080" cy="424731"/>
          </a:xfrm>
        </p:spPr>
        <p:txBody>
          <a:bodyPr/>
          <a:lstStyle/>
          <a:p>
            <a:r>
              <a:rPr lang="en-US" altLang="zh-CN" dirty="0"/>
              <a:t>Agile Development</a:t>
            </a:r>
            <a:endParaRPr lang="zh-CN" altLang="en-US" dirty="0"/>
          </a:p>
        </p:txBody>
      </p:sp>
    </p:spTree>
    <p:extLst>
      <p:ext uri="{BB962C8B-B14F-4D97-AF65-F5344CB8AC3E}">
        <p14:creationId xmlns:p14="http://schemas.microsoft.com/office/powerpoint/2010/main" val="38879719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dirty="0"/>
              <a:t>Case 1 Client </a:t>
            </a:r>
            <a:r>
              <a:rPr lang="zh-CN" altLang="en-US" sz="1400" dirty="0"/>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B</a:t>
            </a:r>
            <a:endParaRPr lang="zh-CN" altLang="en-US" sz="1200" dirty="0">
              <a:solidFill>
                <a:schemeClr val="tx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dirty="0"/>
              <a:t>Case 2 Client </a:t>
            </a:r>
            <a:r>
              <a:rPr lang="zh-CN" altLang="en-US" sz="1400" dirty="0"/>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 </a:t>
            </a:r>
            <a:r>
              <a:rPr lang="zh-CN" altLang="en-US" sz="1200" dirty="0">
                <a:solidFill>
                  <a:schemeClr val="tx1"/>
                </a:solidFill>
              </a:rPr>
              <a:t>→ </a:t>
            </a:r>
            <a:r>
              <a:rPr lang="en-US" altLang="zh-CN" sz="1200" dirty="0">
                <a:solidFill>
                  <a:schemeClr val="tx1"/>
                </a:solidFill>
              </a:rPr>
              <a:t>B</a:t>
            </a:r>
            <a:endParaRPr lang="zh-CN" altLang="en-US" sz="1200" dirty="0">
              <a:solidFill>
                <a:schemeClr val="tx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dirty="0"/>
              <a:t>Case 3 Client </a:t>
            </a:r>
            <a:r>
              <a:rPr lang="zh-CN" altLang="en-US" sz="1400" dirty="0"/>
              <a:t>知道并清晰传达需求</a:t>
            </a:r>
            <a:endParaRPr lang="en-US" altLang="zh-CN" sz="1400" dirty="0"/>
          </a:p>
          <a:p>
            <a:r>
              <a:rPr lang="zh-CN" altLang="en-US" sz="1400" dirty="0"/>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r>
              <a:rPr lang="en-US" altLang="zh-CN" sz="1200" dirty="0">
                <a:solidFill>
                  <a:schemeClr val="tx1"/>
                </a:solidFill>
              </a:rPr>
              <a:t>/ B</a:t>
            </a:r>
            <a:endParaRPr lang="zh-CN" altLang="en-US" sz="1200" dirty="0">
              <a:solidFill>
                <a:schemeClr val="tx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dirty="0"/>
              <a:t>Case 4 </a:t>
            </a:r>
            <a:r>
              <a:rPr lang="zh-CN" altLang="en-US" sz="1400" dirty="0"/>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dirty="0"/>
              <a:t>Case 5 </a:t>
            </a:r>
            <a:r>
              <a:rPr lang="zh-CN" altLang="en-US" sz="1400" dirty="0"/>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6853873A-4ECE-0298-B534-CDCF4B322A13}"/>
              </a:ext>
            </a:extLst>
          </p:cNvPr>
          <p:cNvGrpSpPr/>
          <p:nvPr/>
        </p:nvGrpSpPr>
        <p:grpSpPr>
          <a:xfrm>
            <a:off x="4198800" y="2643991"/>
            <a:ext cx="3794400" cy="1570018"/>
            <a:chOff x="4348800" y="3196800"/>
            <a:chExt cx="3794400" cy="1570018"/>
          </a:xfrm>
        </p:grpSpPr>
        <p:sp>
          <p:nvSpPr>
            <p:cNvPr id="3" name="TextBox 2">
              <a:extLst>
                <a:ext uri="{FF2B5EF4-FFF2-40B4-BE49-F238E27FC236}">
                  <a16:creationId xmlns:a16="http://schemas.microsoft.com/office/drawing/2014/main" id="{05E072B6-9CB3-A2E6-15B6-BA84920AAC08}"/>
                </a:ext>
              </a:extLst>
            </p:cNvPr>
            <p:cNvSpPr txBox="1"/>
            <p:nvPr/>
          </p:nvSpPr>
          <p:spPr>
            <a:xfrm>
              <a:off x="4444362" y="4455484"/>
              <a:ext cx="723275" cy="307777"/>
            </a:xfrm>
            <a:prstGeom prst="rect">
              <a:avLst/>
            </a:prstGeom>
            <a:noFill/>
          </p:spPr>
          <p:txBody>
            <a:bodyPr wrap="none" rtlCol="0">
              <a:spAutoFit/>
            </a:bodyPr>
            <a:lstStyle/>
            <a:p>
              <a:r>
                <a:rPr lang="zh-CN" altLang="en-US" sz="1400" dirty="0"/>
                <a:t>门难进</a:t>
              </a:r>
              <a:endParaRPr lang="en-US" altLang="zh-CN" sz="1400" dirty="0"/>
            </a:p>
          </p:txBody>
        </p:sp>
        <p:sp>
          <p:nvSpPr>
            <p:cNvPr id="4" name="TextBox 3">
              <a:extLst>
                <a:ext uri="{FF2B5EF4-FFF2-40B4-BE49-F238E27FC236}">
                  <a16:creationId xmlns:a16="http://schemas.microsoft.com/office/drawing/2014/main" id="{A9DA9BD9-D1A4-CB50-6B7B-C0157882CF17}"/>
                </a:ext>
              </a:extLst>
            </p:cNvPr>
            <p:cNvSpPr txBox="1"/>
            <p:nvPr/>
          </p:nvSpPr>
          <p:spPr>
            <a:xfrm>
              <a:off x="5884362" y="4459041"/>
              <a:ext cx="723275" cy="307777"/>
            </a:xfrm>
            <a:prstGeom prst="rect">
              <a:avLst/>
            </a:prstGeom>
            <a:noFill/>
          </p:spPr>
          <p:txBody>
            <a:bodyPr wrap="none" rtlCol="0">
              <a:spAutoFit/>
            </a:bodyPr>
            <a:lstStyle/>
            <a:p>
              <a:r>
                <a:rPr lang="zh-CN" altLang="en-US" sz="1400" dirty="0"/>
                <a:t>脸难看</a:t>
              </a:r>
              <a:endParaRPr lang="en-US" altLang="zh-CN" sz="1400" dirty="0"/>
            </a:p>
          </p:txBody>
        </p:sp>
        <p:sp>
          <p:nvSpPr>
            <p:cNvPr id="5" name="TextBox 4">
              <a:extLst>
                <a:ext uri="{FF2B5EF4-FFF2-40B4-BE49-F238E27FC236}">
                  <a16:creationId xmlns:a16="http://schemas.microsoft.com/office/drawing/2014/main" id="{43302F6E-20B2-7BCF-F6F3-3E71572863C9}"/>
                </a:ext>
              </a:extLst>
            </p:cNvPr>
            <p:cNvSpPr txBox="1"/>
            <p:nvPr/>
          </p:nvSpPr>
          <p:spPr>
            <a:xfrm>
              <a:off x="7324362" y="4455484"/>
              <a:ext cx="723275" cy="307777"/>
            </a:xfrm>
            <a:prstGeom prst="rect">
              <a:avLst/>
            </a:prstGeom>
            <a:noFill/>
          </p:spPr>
          <p:txBody>
            <a:bodyPr wrap="none" rtlCol="0">
              <a:spAutoFit/>
            </a:bodyPr>
            <a:lstStyle/>
            <a:p>
              <a:r>
                <a:rPr lang="zh-CN" altLang="en-US" sz="1400" dirty="0"/>
                <a:t>事难办</a:t>
              </a:r>
            </a:p>
          </p:txBody>
        </p:sp>
        <p:pic>
          <p:nvPicPr>
            <p:cNvPr id="6" name="图形 21" descr="实心填充的悲伤表情">
              <a:extLst>
                <a:ext uri="{FF2B5EF4-FFF2-40B4-BE49-F238E27FC236}">
                  <a16:creationId xmlns:a16="http://schemas.microsoft.com/office/drawing/2014/main" id="{C9CC4B4F-81BD-2DB3-B2AF-2A79A5710E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788800" y="3196800"/>
              <a:ext cx="914400" cy="914400"/>
            </a:xfrm>
            <a:prstGeom prst="rect">
              <a:avLst/>
            </a:prstGeom>
          </p:spPr>
        </p:pic>
        <p:pic>
          <p:nvPicPr>
            <p:cNvPr id="7" name="图形 23" descr="清单">
              <a:extLst>
                <a:ext uri="{FF2B5EF4-FFF2-40B4-BE49-F238E27FC236}">
                  <a16:creationId xmlns:a16="http://schemas.microsoft.com/office/drawing/2014/main" id="{AD72BE5B-0F0D-9E99-914F-2BC132AAAC7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228800" y="3196800"/>
              <a:ext cx="914400" cy="914400"/>
            </a:xfrm>
            <a:prstGeom prst="rect">
              <a:avLst/>
            </a:prstGeom>
          </p:spPr>
        </p:pic>
        <p:pic>
          <p:nvPicPr>
            <p:cNvPr id="8" name="内容占位符 19" descr="居家">
              <a:extLst>
                <a:ext uri="{FF2B5EF4-FFF2-40B4-BE49-F238E27FC236}">
                  <a16:creationId xmlns:a16="http://schemas.microsoft.com/office/drawing/2014/main" id="{5E1DEA80-994A-A0AA-95B2-4E9EB03B535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348800" y="3196800"/>
              <a:ext cx="914400" cy="914400"/>
            </a:xfrm>
            <a:prstGeom prst="rect">
              <a:avLst/>
            </a:prstGeom>
          </p:spPr>
        </p:pic>
      </p:grpSp>
    </p:spTree>
    <p:extLst>
      <p:ext uri="{BB962C8B-B14F-4D97-AF65-F5344CB8AC3E}">
        <p14:creationId xmlns:p14="http://schemas.microsoft.com/office/powerpoint/2010/main" val="6652189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DE250D-6EB2-9770-26EA-3883317C1CB1}"/>
              </a:ext>
            </a:extLst>
          </p:cNvPr>
          <p:cNvSpPr>
            <a:spLocks noGrp="1"/>
          </p:cNvSpPr>
          <p:nvPr>
            <p:ph type="title"/>
          </p:nvPr>
        </p:nvSpPr>
        <p:spPr>
          <a:xfrm>
            <a:off x="695998" y="360000"/>
            <a:ext cx="6375921" cy="424732"/>
          </a:xfrm>
        </p:spPr>
        <p:txBody>
          <a:bodyPr>
            <a:normAutofit/>
          </a:bodyPr>
          <a:lstStyle/>
          <a:p>
            <a:r>
              <a:rPr lang="en-US" altLang="zh-CN" dirty="0"/>
              <a:t>4.2 </a:t>
            </a:r>
            <a:r>
              <a:rPr lang="zh-CN" altLang="en-US" dirty="0"/>
              <a:t>适用</a:t>
            </a:r>
          </a:p>
        </p:txBody>
      </p:sp>
      <p:sp>
        <p:nvSpPr>
          <p:cNvPr id="3" name="内容占位符 2">
            <a:extLst>
              <a:ext uri="{FF2B5EF4-FFF2-40B4-BE49-F238E27FC236}">
                <a16:creationId xmlns:a16="http://schemas.microsoft.com/office/drawing/2014/main" id="{A2584458-8F52-9896-AC0B-F971AF737472}"/>
              </a:ext>
            </a:extLst>
          </p:cNvPr>
          <p:cNvSpPr>
            <a:spLocks noGrp="1"/>
          </p:cNvSpPr>
          <p:nvPr>
            <p:ph idx="1"/>
          </p:nvPr>
        </p:nvSpPr>
        <p:spPr>
          <a:xfrm>
            <a:off x="696000" y="864000"/>
            <a:ext cx="10800000" cy="5328000"/>
          </a:xfrm>
        </p:spPr>
        <p:txBody>
          <a:bodyPr/>
          <a:lstStyle/>
          <a:p>
            <a:r>
              <a:rPr lang="zh-CN" altLang="en-US" dirty="0"/>
              <a:t>部分可用、阶段可用、多次交付</a:t>
            </a:r>
            <a:endParaRPr lang="en-US" altLang="zh-CN" dirty="0"/>
          </a:p>
          <a:p>
            <a:r>
              <a:rPr lang="zh-CN" altLang="en-US" dirty="0"/>
              <a:t>试水</a:t>
            </a:r>
            <a:endParaRPr lang="en-US" altLang="zh-CN" dirty="0"/>
          </a:p>
          <a:p>
            <a:r>
              <a:rPr lang="zh-CN" altLang="en-US" dirty="0"/>
              <a:t>看市场反映</a:t>
            </a:r>
            <a:endParaRPr lang="en-US" altLang="zh-CN" dirty="0"/>
          </a:p>
          <a:p>
            <a:r>
              <a:rPr lang="zh-CN" altLang="en-US" dirty="0"/>
              <a:t>及时止损</a:t>
            </a:r>
          </a:p>
        </p:txBody>
      </p:sp>
      <p:sp>
        <p:nvSpPr>
          <p:cNvPr id="6" name="Text Placeholder 5">
            <a:extLst>
              <a:ext uri="{FF2B5EF4-FFF2-40B4-BE49-F238E27FC236}">
                <a16:creationId xmlns:a16="http://schemas.microsoft.com/office/drawing/2014/main" id="{EC4BB527-BCB3-E3A4-D77E-3CC93D7EB5BA}"/>
              </a:ext>
            </a:extLst>
          </p:cNvPr>
          <p:cNvSpPr>
            <a:spLocks noGrp="1"/>
          </p:cNvSpPr>
          <p:nvPr>
            <p:ph type="body" sz="quarter" idx="10"/>
          </p:nvPr>
        </p:nvSpPr>
        <p:spPr>
          <a:xfrm>
            <a:off x="7071919" y="360001"/>
            <a:ext cx="4424080" cy="424731"/>
          </a:xfrm>
        </p:spPr>
        <p:txBody>
          <a:bodyPr/>
          <a:lstStyle/>
          <a:p>
            <a:r>
              <a:rPr lang="en-US" altLang="zh-CN" dirty="0"/>
              <a:t>Cases</a:t>
            </a:r>
            <a:endParaRPr lang="zh-CN" altLang="en-US" dirty="0"/>
          </a:p>
        </p:txBody>
      </p:sp>
    </p:spTree>
    <p:extLst>
      <p:ext uri="{BB962C8B-B14F-4D97-AF65-F5344CB8AC3E}">
        <p14:creationId xmlns:p14="http://schemas.microsoft.com/office/powerpoint/2010/main" val="25354748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4732"/>
          </a:xfrm>
        </p:spPr>
        <p:txBody>
          <a:bodyPr>
            <a:normAutofit/>
          </a:bodyPr>
          <a:lstStyle/>
          <a:p>
            <a:r>
              <a:rPr lang="en-US" altLang="zh-CN" dirty="0"/>
              <a:t>4.3 </a:t>
            </a:r>
            <a:r>
              <a:rPr lang="zh-CN" altLang="en-US" dirty="0"/>
              <a:t>敏捷宣言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328000"/>
          </a:xfrm>
        </p:spPr>
        <p:txBody>
          <a:bodyPr/>
          <a:lstStyle/>
          <a:p>
            <a:r>
              <a:rPr lang="zh-CN" altLang="en-US" dirty="0"/>
              <a:t>敏捷软件开发宣言，简称敏捷宣言 </a:t>
            </a:r>
            <a:endParaRPr lang="en-US" altLang="zh-CN" dirty="0"/>
          </a:p>
          <a:p>
            <a:r>
              <a:rPr lang="en-US" altLang="zh-CN" dirty="0"/>
              <a:t>Manifesto for Agile Software Development</a:t>
            </a:r>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敏捷是一种思维模式</a:t>
            </a:r>
            <a:endParaRPr lang="en-US" altLang="zh-CN" dirty="0"/>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360001"/>
            <a:ext cx="4424080" cy="424731"/>
          </a:xfrm>
        </p:spPr>
        <p:txBody>
          <a:bodyPr/>
          <a:lstStyle/>
          <a:p>
            <a:r>
              <a:rPr lang="en-US" altLang="zh-CN" dirty="0"/>
              <a:t>Agile Manifesto</a:t>
            </a:r>
            <a:endParaRPr lang="zh-CN" altLang="en-US" dirty="0"/>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敏捷是创造并响应变化，从而在动荡的商业环境中创造利润的能力。敏捷是平衡灵活性和稳定性的能力。</a:t>
            </a:r>
            <a:endParaRPr lang="en-US" altLang="zh-CN" dirty="0">
              <a:solidFill>
                <a:schemeClr val="bg1"/>
              </a:solidFill>
            </a:endParaRPr>
          </a:p>
          <a:p>
            <a:pPr algn="r">
              <a:lnSpc>
                <a:spcPct val="150000"/>
              </a:lnSpc>
            </a:pPr>
            <a:r>
              <a:rPr lang="en-US" altLang="zh-CN" dirty="0">
                <a:solidFill>
                  <a:schemeClr val="bg1"/>
                </a:solidFill>
              </a:rPr>
              <a:t>——</a:t>
            </a:r>
            <a:r>
              <a:rPr lang="zh-CN" altLang="en-US" dirty="0">
                <a:solidFill>
                  <a:schemeClr val="bg1"/>
                </a:solidFill>
              </a:rPr>
              <a:t>吉姆</a:t>
            </a:r>
            <a:r>
              <a:rPr lang="en-US" altLang="zh-CN" dirty="0">
                <a:solidFill>
                  <a:schemeClr val="bg1"/>
                </a:solidFill>
              </a:rPr>
              <a:t>·</a:t>
            </a:r>
            <a:r>
              <a:rPr lang="zh-CN" altLang="en-US" dirty="0">
                <a:solidFill>
                  <a:schemeClr val="bg1"/>
                </a:solidFill>
              </a:rPr>
              <a:t>海斯密斯，</a:t>
            </a:r>
            <a:r>
              <a:rPr lang="en-US" altLang="zh-CN" dirty="0">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4732"/>
          </a:xfrm>
        </p:spPr>
        <p:txBody>
          <a:bodyPr>
            <a:normAutofit/>
          </a:bodyPr>
          <a:lstStyle/>
          <a:p>
            <a:r>
              <a:rPr lang="en-US" altLang="zh-CN" dirty="0"/>
              <a:t>4.4 </a:t>
            </a:r>
            <a:r>
              <a:rPr lang="zh-CN" altLang="en-US" dirty="0"/>
              <a:t>四个核心价值</a:t>
            </a:r>
            <a:endParaRPr lang="en-US" altLang="zh-CN" dirty="0"/>
          </a:p>
        </p:txBody>
      </p:sp>
      <p:sp>
        <p:nvSpPr>
          <p:cNvPr id="3" name="内容占位符 2">
            <a:extLst>
              <a:ext uri="{FF2B5EF4-FFF2-40B4-BE49-F238E27FC236}">
                <a16:creationId xmlns:a16="http://schemas.microsoft.com/office/drawing/2014/main" id="{B40B7C42-97D7-2E4E-9E6A-0F2A600FCD28}"/>
              </a:ext>
            </a:extLst>
          </p:cNvPr>
          <p:cNvSpPr>
            <a:spLocks noGrp="1"/>
          </p:cNvSpPr>
          <p:nvPr>
            <p:ph idx="1"/>
          </p:nvPr>
        </p:nvSpPr>
        <p:spPr>
          <a:xfrm>
            <a:off x="696000" y="864000"/>
            <a:ext cx="10800000" cy="5328000"/>
          </a:xfrm>
        </p:spPr>
        <p:txBody>
          <a:bodyPr>
            <a:normAutofit/>
          </a:bodyPr>
          <a:lstStyle/>
          <a:p>
            <a:r>
              <a:rPr lang="en-US" altLang="zh-CN" dirty="0"/>
              <a:t>Individuals and interactions over processes and tools</a:t>
            </a:r>
          </a:p>
          <a:p>
            <a:r>
              <a:rPr lang="en-US" altLang="zh-CN" dirty="0"/>
              <a:t>Working software over comprehensive documentation</a:t>
            </a:r>
          </a:p>
          <a:p>
            <a:r>
              <a:rPr lang="en-US" altLang="zh-CN" dirty="0"/>
              <a:t>Customer collaboration over contract negotiation</a:t>
            </a:r>
          </a:p>
          <a:p>
            <a:r>
              <a:rPr lang="en-US" altLang="zh-CN" dirty="0"/>
              <a:t>Responding to change over following a plan</a:t>
            </a:r>
            <a:endParaRPr lang="zh-CN" altLang="en-US" dirty="0"/>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360001"/>
            <a:ext cx="4424080" cy="424731"/>
          </a:xfrm>
        </p:spPr>
        <p:txBody>
          <a:bodyPr/>
          <a:lstStyle/>
          <a:p>
            <a:r>
              <a:rPr lang="en-US" altLang="zh-CN" dirty="0"/>
              <a:t>4 Values</a:t>
            </a:r>
            <a:endParaRPr lang="zh-CN" altLang="en-US" dirty="0"/>
          </a:p>
        </p:txBody>
      </p:sp>
      <p:sp>
        <p:nvSpPr>
          <p:cNvPr id="5" name="椭圆 4">
            <a:extLst>
              <a:ext uri="{FF2B5EF4-FFF2-40B4-BE49-F238E27FC236}">
                <a16:creationId xmlns:a16="http://schemas.microsoft.com/office/drawing/2014/main" id="{DE3AEB75-F575-0B94-5645-AB22AFCBB6E2}"/>
              </a:ext>
            </a:extLst>
          </p:cNvPr>
          <p:cNvSpPr/>
          <p:nvPr/>
        </p:nvSpPr>
        <p:spPr>
          <a:xfrm>
            <a:off x="5772000" y="3958255"/>
            <a:ext cx="648000" cy="648000"/>
          </a:xfrm>
          <a:prstGeom prst="ellips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772000" y="3203512"/>
            <a:ext cx="648000" cy="648000"/>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dirty="0"/>
          </a:p>
        </p:txBody>
      </p:sp>
      <p:sp>
        <p:nvSpPr>
          <p:cNvPr id="7" name="椭圆 6">
            <a:extLst>
              <a:ext uri="{FF2B5EF4-FFF2-40B4-BE49-F238E27FC236}">
                <a16:creationId xmlns:a16="http://schemas.microsoft.com/office/drawing/2014/main" id="{DA023A71-64A8-65B7-D208-F51499E3C351}"/>
              </a:ext>
            </a:extLst>
          </p:cNvPr>
          <p:cNvSpPr/>
          <p:nvPr/>
        </p:nvSpPr>
        <p:spPr>
          <a:xfrm>
            <a:off x="5772000" y="4712998"/>
            <a:ext cx="648000" cy="648000"/>
          </a:xfrm>
          <a:prstGeom prst="ellipse">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772000" y="5467741"/>
            <a:ext cx="648000" cy="648000"/>
          </a:xfrm>
          <a:prstGeom prst="ellipse">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3342846"/>
            <a:ext cx="1338828" cy="369332"/>
          </a:xfrm>
          <a:prstGeom prst="rect">
            <a:avLst/>
          </a:prstGeom>
          <a:noFill/>
        </p:spPr>
        <p:txBody>
          <a:bodyPr wrap="none" rtlCol="0">
            <a:spAutoFit/>
          </a:bodyPr>
          <a:lstStyle/>
          <a:p>
            <a:pPr algn="r"/>
            <a:r>
              <a:rPr lang="zh-CN" altLang="en-US" dirty="0"/>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3342846"/>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4097589"/>
            <a:ext cx="1569660" cy="369332"/>
          </a:xfrm>
          <a:prstGeom prst="rect">
            <a:avLst/>
          </a:prstGeom>
          <a:noFill/>
        </p:spPr>
        <p:txBody>
          <a:bodyPr wrap="none" rtlCol="0">
            <a:spAutoFit/>
          </a:bodyPr>
          <a:lstStyle/>
          <a:p>
            <a:pPr algn="r"/>
            <a:r>
              <a:rPr lang="zh-CN" altLang="en-US" dirty="0"/>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4097589"/>
            <a:ext cx="1338828" cy="369332"/>
          </a:xfrm>
          <a:prstGeom prst="rect">
            <a:avLst/>
          </a:prstGeom>
          <a:noFill/>
        </p:spPr>
        <p:txBody>
          <a:bodyPr wrap="none" rtlCol="0">
            <a:spAutoFit/>
          </a:bodyPr>
          <a:lstStyle/>
          <a:p>
            <a:r>
              <a:rPr lang="zh-CN" altLang="en-US" dirty="0"/>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4852332"/>
            <a:ext cx="1107996" cy="369332"/>
          </a:xfrm>
          <a:prstGeom prst="rect">
            <a:avLst/>
          </a:prstGeom>
          <a:noFill/>
        </p:spPr>
        <p:txBody>
          <a:bodyPr wrap="none" rtlCol="0">
            <a:spAutoFit/>
          </a:bodyPr>
          <a:lstStyle/>
          <a:p>
            <a:pPr algn="r"/>
            <a:r>
              <a:rPr lang="zh-CN" altLang="en-US" dirty="0"/>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4852332"/>
            <a:ext cx="1107996" cy="369332"/>
          </a:xfrm>
          <a:prstGeom prst="rect">
            <a:avLst/>
          </a:prstGeom>
          <a:noFill/>
        </p:spPr>
        <p:txBody>
          <a:bodyPr wrap="none" rtlCol="0">
            <a:spAutoFit/>
          </a:bodyPr>
          <a:lstStyle/>
          <a:p>
            <a:r>
              <a:rPr lang="zh-CN" altLang="en-US" dirty="0"/>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5607075"/>
            <a:ext cx="1107996" cy="369332"/>
          </a:xfrm>
          <a:prstGeom prst="rect">
            <a:avLst/>
          </a:prstGeom>
          <a:noFill/>
        </p:spPr>
        <p:txBody>
          <a:bodyPr wrap="none" rtlCol="0">
            <a:spAutoFit/>
          </a:bodyPr>
          <a:lstStyle/>
          <a:p>
            <a:pPr algn="r"/>
            <a:r>
              <a:rPr lang="zh-CN" altLang="en-US" dirty="0"/>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5607075"/>
            <a:ext cx="1107996" cy="369332"/>
          </a:xfrm>
          <a:prstGeom prst="rect">
            <a:avLst/>
          </a:prstGeom>
          <a:noFill/>
        </p:spPr>
        <p:txBody>
          <a:bodyPr wrap="none" rtlCol="0">
            <a:spAutoFit/>
          </a:bodyPr>
          <a:lstStyle/>
          <a:p>
            <a:r>
              <a:rPr lang="zh-CN" altLang="en-US" dirty="0"/>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445956" y="3431873"/>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456795" y="3431873"/>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445956" y="4186616"/>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456795" y="4186616"/>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445956" y="4941359"/>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456795" y="4941359"/>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445956" y="5696102"/>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456795" y="5696102"/>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0140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4732"/>
          </a:xfrm>
        </p:spPr>
        <p:txBody>
          <a:bodyPr>
            <a:normAutofit/>
          </a:bodyPr>
          <a:lstStyle/>
          <a:p>
            <a:r>
              <a:rPr lang="en-US" altLang="zh-CN" dirty="0"/>
              <a:t>4.5 </a:t>
            </a:r>
            <a:r>
              <a:rPr lang="zh-CN" altLang="en-US" dirty="0"/>
              <a:t>十二项原则</a:t>
            </a:r>
            <a:endParaRPr lang="en-US" altLang="zh-CN" dirty="0"/>
          </a:p>
        </p:txBody>
      </p:sp>
      <p:sp>
        <p:nvSpPr>
          <p:cNvPr id="3" name="内容占位符 2">
            <a:extLst>
              <a:ext uri="{FF2B5EF4-FFF2-40B4-BE49-F238E27FC236}">
                <a16:creationId xmlns:a16="http://schemas.microsoft.com/office/drawing/2014/main" id="{77EC6E35-91B5-299A-68FA-147D2BD512FA}"/>
              </a:ext>
            </a:extLst>
          </p:cNvPr>
          <p:cNvSpPr>
            <a:spLocks noGrp="1"/>
          </p:cNvSpPr>
          <p:nvPr>
            <p:ph idx="1"/>
          </p:nvPr>
        </p:nvSpPr>
        <p:spPr>
          <a:xfrm>
            <a:off x="696000" y="864000"/>
            <a:ext cx="10800000" cy="5328000"/>
          </a:xfrm>
        </p:spPr>
        <p:txBody>
          <a:bodyPr>
            <a:normAutofit/>
          </a:bodyPr>
          <a:lstStyle/>
          <a:p>
            <a:r>
              <a:rPr lang="zh-CN" altLang="en-US" dirty="0"/>
              <a:t>我们的最高目标，是通过尽早并持续交付有价值的软件来满足客户</a:t>
            </a:r>
          </a:p>
          <a:p>
            <a:r>
              <a:rPr lang="zh-CN" altLang="en-US" dirty="0"/>
              <a:t>欢迎需求变化，即使是在开发后期。敏捷过程善于利用变化来为客户创造竞争优势</a:t>
            </a:r>
          </a:p>
          <a:p>
            <a:r>
              <a:rPr lang="zh-CN" altLang="en-US" dirty="0"/>
              <a:t>频繁地交付可工作的软件，周期可以从几周到几个月，倾向于更短的周期</a:t>
            </a:r>
          </a:p>
          <a:p>
            <a:r>
              <a:rPr lang="zh-CN" altLang="en-US" dirty="0"/>
              <a:t>业务人员和开发人员必须在整个项目期间每天一起工作</a:t>
            </a:r>
          </a:p>
          <a:p>
            <a:r>
              <a:rPr lang="zh-CN" altLang="en-US" dirty="0"/>
              <a:t>围绕有积极性的个体构建项目。给予他们所需的环境和支持，并信任他们能够完成工作</a:t>
            </a:r>
          </a:p>
          <a:p>
            <a:r>
              <a:rPr lang="zh-CN" altLang="en-US" dirty="0"/>
              <a:t>面对面交谈是团队内部传递信息的最有效方式</a:t>
            </a:r>
          </a:p>
          <a:p>
            <a:r>
              <a:rPr lang="zh-CN" altLang="en-US" dirty="0"/>
              <a:t>可工作的软件是衡量进展的首要标准</a:t>
            </a:r>
          </a:p>
          <a:p>
            <a:r>
              <a:rPr lang="zh-CN" altLang="en-US" dirty="0"/>
              <a:t>敏捷过程提倡可持续的开发节奏。赞助者、开发者和用户应该能够长期保持恒定的速度</a:t>
            </a:r>
          </a:p>
          <a:p>
            <a:r>
              <a:rPr lang="zh-CN" altLang="en-US" dirty="0"/>
              <a:t>持续关注技术卓越和良好设计，以增强敏捷能力</a:t>
            </a:r>
          </a:p>
          <a:p>
            <a:r>
              <a:rPr lang="zh-CN" altLang="en-US" dirty="0"/>
              <a:t>简洁</a:t>
            </a:r>
            <a:r>
              <a:rPr lang="en-US" altLang="zh-CN" dirty="0"/>
              <a:t> - </a:t>
            </a:r>
            <a:r>
              <a:rPr lang="zh-CN" altLang="en-US" dirty="0"/>
              <a:t>最大化未完成工作量的艺术 </a:t>
            </a:r>
            <a:r>
              <a:rPr lang="en-US" altLang="zh-CN" dirty="0"/>
              <a:t>- </a:t>
            </a:r>
            <a:r>
              <a:rPr lang="zh-CN" altLang="en-US" dirty="0"/>
              <a:t>是根本的</a:t>
            </a:r>
          </a:p>
          <a:p>
            <a:r>
              <a:rPr lang="zh-CN" altLang="en-US" dirty="0"/>
              <a:t>最好的架构、需求和设计出自自组织团队</a:t>
            </a:r>
          </a:p>
          <a:p>
            <a:r>
              <a:rPr lang="zh-CN" altLang="en-US" dirty="0"/>
              <a:t>团队定期反思如何变得更高效，并相应地调整自身行为</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360001"/>
            <a:ext cx="4424080" cy="424731"/>
          </a:xfrm>
        </p:spPr>
        <p:txBody>
          <a:bodyPr/>
          <a:lstStyle/>
          <a:p>
            <a:r>
              <a:rPr lang="en-US" altLang="zh-CN" dirty="0"/>
              <a:t>12 Principles</a:t>
            </a:r>
            <a:endParaRPr lang="zh-CN" altLang="en-US" dirty="0"/>
          </a:p>
        </p:txBody>
      </p:sp>
    </p:spTree>
    <p:extLst>
      <p:ext uri="{BB962C8B-B14F-4D97-AF65-F5344CB8AC3E}">
        <p14:creationId xmlns:p14="http://schemas.microsoft.com/office/powerpoint/2010/main" val="193864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E64D18D6-72D6-A32D-816B-531A8E0EE854}"/>
              </a:ext>
            </a:extLst>
          </p:cNvPr>
          <p:cNvSpPr>
            <a:spLocks noGrp="1"/>
          </p:cNvSpPr>
          <p:nvPr>
            <p:ph type="body" sz="quarter" idx="10"/>
          </p:nvPr>
        </p:nvSpPr>
        <p:spPr>
          <a:xfrm>
            <a:off x="3219345" y="1629000"/>
            <a:ext cx="8640000" cy="3600000"/>
          </a:xfrm>
        </p:spPr>
        <p:txBody>
          <a:bodyPr/>
          <a:lstStyle/>
          <a:p>
            <a:r>
              <a:rPr lang="en-US" altLang="zh-CN" dirty="0"/>
              <a:t>Drill time</a:t>
            </a:r>
            <a:endParaRPr lang="zh-CN" altLang="en-US" dirty="0"/>
          </a:p>
        </p:txBody>
      </p:sp>
    </p:spTree>
    <p:extLst>
      <p:ext uri="{BB962C8B-B14F-4D97-AF65-F5344CB8AC3E}">
        <p14:creationId xmlns:p14="http://schemas.microsoft.com/office/powerpoint/2010/main" val="7145869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4A54B-9660-D284-8044-7F5214261DF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27200D4-339F-36C7-A39A-BD843D4E3CFF}"/>
              </a:ext>
            </a:extLst>
          </p:cNvPr>
          <p:cNvSpPr>
            <a:spLocks noGrp="1"/>
          </p:cNvSpPr>
          <p:nvPr>
            <p:ph type="title"/>
          </p:nvPr>
        </p:nvSpPr>
        <p:spPr/>
        <p:txBody>
          <a:bodyPr>
            <a:normAutofit/>
          </a:bodyPr>
          <a:lstStyle/>
          <a:p>
            <a:r>
              <a:rPr lang="en-US" altLang="zh-CN" dirty="0"/>
              <a:t>Why</a:t>
            </a:r>
            <a:endParaRPr lang="zh-CN" altLang="en-US" dirty="0"/>
          </a:p>
        </p:txBody>
      </p:sp>
      <p:graphicFrame>
        <p:nvGraphicFramePr>
          <p:cNvPr id="4" name="内容占位符 3">
            <a:extLst>
              <a:ext uri="{FF2B5EF4-FFF2-40B4-BE49-F238E27FC236}">
                <a16:creationId xmlns:a16="http://schemas.microsoft.com/office/drawing/2014/main" id="{50B29EFD-80F3-C708-D8FC-5228496CACD3}"/>
              </a:ext>
            </a:extLst>
          </p:cNvPr>
          <p:cNvGraphicFramePr>
            <a:graphicFrameLocks noGrp="1"/>
          </p:cNvGraphicFramePr>
          <p:nvPr>
            <p:ph idx="1"/>
            <p:extLst>
              <p:ext uri="{D42A27DB-BD31-4B8C-83A1-F6EECF244321}">
                <p14:modId xmlns:p14="http://schemas.microsoft.com/office/powerpoint/2010/main" val="3826695095"/>
              </p:ext>
            </p:extLst>
          </p:nvPr>
        </p:nvGraphicFramePr>
        <p:xfrm>
          <a:off x="695325" y="1079500"/>
          <a:ext cx="10801350" cy="51117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070070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A9DC62-21FF-F519-85C9-A37C079EBACB}"/>
              </a:ext>
            </a:extLst>
          </p:cNvPr>
          <p:cNvSpPr>
            <a:spLocks noGrp="1"/>
          </p:cNvSpPr>
          <p:nvPr>
            <p:ph type="title"/>
          </p:nvPr>
        </p:nvSpPr>
        <p:spPr/>
        <p:txBody>
          <a:bodyPr/>
          <a:lstStyle/>
          <a:p>
            <a:r>
              <a:rPr lang="zh-CN" altLang="en-US" dirty="0"/>
              <a:t>说明 </a:t>
            </a:r>
            <a:r>
              <a:rPr lang="en-US" altLang="zh-CN" dirty="0"/>
              <a:t>Tips</a:t>
            </a:r>
            <a:endParaRPr lang="zh-CN" altLang="en-US" dirty="0"/>
          </a:p>
        </p:txBody>
      </p:sp>
      <p:sp>
        <p:nvSpPr>
          <p:cNvPr id="3" name="内容占位符 2">
            <a:extLst>
              <a:ext uri="{FF2B5EF4-FFF2-40B4-BE49-F238E27FC236}">
                <a16:creationId xmlns:a16="http://schemas.microsoft.com/office/drawing/2014/main" id="{2D45C9DF-8123-5E2E-3F6D-859FF846E852}"/>
              </a:ext>
            </a:extLst>
          </p:cNvPr>
          <p:cNvSpPr>
            <a:spLocks noGrp="1"/>
          </p:cNvSpPr>
          <p:nvPr>
            <p:ph idx="1"/>
          </p:nvPr>
        </p:nvSpPr>
        <p:spPr/>
        <p:txBody>
          <a:bodyPr/>
          <a:lstStyle/>
          <a:p>
            <a:r>
              <a:rPr lang="zh-CN" altLang="en-US" dirty="0"/>
              <a:t>不太适合确定性工作</a:t>
            </a:r>
            <a:endParaRPr lang="en-US" altLang="zh-CN" dirty="0"/>
          </a:p>
          <a:p>
            <a:pPr lvl="1"/>
            <a:r>
              <a:rPr lang="zh-CN" altLang="en-US" dirty="0"/>
              <a:t>基建</a:t>
            </a:r>
          </a:p>
        </p:txBody>
      </p:sp>
    </p:spTree>
    <p:extLst>
      <p:ext uri="{BB962C8B-B14F-4D97-AF65-F5344CB8AC3E}">
        <p14:creationId xmlns:p14="http://schemas.microsoft.com/office/powerpoint/2010/main" val="33124861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376403-9490-E546-9A60-15472BC68971}"/>
              </a:ext>
            </a:extLst>
          </p:cNvPr>
          <p:cNvSpPr>
            <a:spLocks noGrp="1"/>
          </p:cNvSpPr>
          <p:nvPr>
            <p:ph type="title"/>
          </p:nvPr>
        </p:nvSpPr>
        <p:spPr>
          <a:xfrm>
            <a:off x="696000" y="360000"/>
            <a:ext cx="10800000" cy="424732"/>
          </a:xfrm>
        </p:spPr>
        <p:txBody>
          <a:bodyPr>
            <a:normAutofit/>
          </a:bodyPr>
          <a:lstStyle/>
          <a:p>
            <a:r>
              <a:rPr lang="zh-CN" altLang="en-US" dirty="0"/>
              <a:t>鱼骨图 </a:t>
            </a:r>
            <a:r>
              <a:rPr lang="en-US" altLang="zh-CN" dirty="0"/>
              <a:t>Fishbone Diagram</a:t>
            </a:r>
            <a:endParaRPr lang="zh-CN" altLang="en-US" dirty="0"/>
          </a:p>
        </p:txBody>
      </p:sp>
      <p:sp>
        <p:nvSpPr>
          <p:cNvPr id="3" name="内容占位符 2">
            <a:extLst>
              <a:ext uri="{FF2B5EF4-FFF2-40B4-BE49-F238E27FC236}">
                <a16:creationId xmlns:a16="http://schemas.microsoft.com/office/drawing/2014/main" id="{41920068-70E0-6FFB-2FD8-C740C5268823}"/>
              </a:ext>
            </a:extLst>
          </p:cNvPr>
          <p:cNvSpPr>
            <a:spLocks noGrp="1"/>
          </p:cNvSpPr>
          <p:nvPr>
            <p:ph idx="1"/>
          </p:nvPr>
        </p:nvSpPr>
        <p:spPr>
          <a:xfrm>
            <a:off x="696000" y="1080000"/>
            <a:ext cx="10800000" cy="5112000"/>
          </a:xfrm>
        </p:spPr>
        <p:txBody>
          <a:bodyPr/>
          <a:lstStyle/>
          <a:p>
            <a:r>
              <a:rPr lang="zh-CN" altLang="en-US" dirty="0"/>
              <a:t>发明者 </a:t>
            </a:r>
            <a:r>
              <a:rPr lang="en-US" altLang="zh-CN" dirty="0"/>
              <a:t>Kaoru Ishikawa</a:t>
            </a:r>
            <a:endParaRPr lang="zh-CN" altLang="en-US" dirty="0"/>
          </a:p>
          <a:p>
            <a:r>
              <a:rPr lang="zh-CN" altLang="en-US" dirty="0"/>
              <a:t>也称因果图、石川图</a:t>
            </a:r>
            <a:endParaRPr lang="en-US" altLang="zh-CN" dirty="0"/>
          </a:p>
          <a:p>
            <a:r>
              <a:rPr lang="zh-CN" altLang="en-US" dirty="0"/>
              <a:t>主要用于分析问题的根本原因、缺陷，进而推动质量改进</a:t>
            </a:r>
            <a:endParaRPr lang="en-US" altLang="zh-CN" dirty="0"/>
          </a:p>
          <a:p>
            <a:r>
              <a:rPr lang="zh-CN" altLang="en-US" dirty="0"/>
              <a:t>通过图形化的方式展示可能导致特定结果的各种因素，有助于识别问题的核心所在</a:t>
            </a:r>
            <a:endParaRPr lang="en-US" altLang="zh-CN" dirty="0"/>
          </a:p>
          <a:p>
            <a:r>
              <a:rPr lang="zh-CN" altLang="en-US" dirty="0"/>
              <a:t>特点：</a:t>
            </a:r>
          </a:p>
          <a:p>
            <a:pPr lvl="1" algn="l"/>
            <a:r>
              <a:rPr lang="zh-CN" altLang="en-US" dirty="0"/>
              <a:t>图形呈现为鱼骨形状，问题或效果放在“鱼头”位置，“鱼骨”代表主要类别原因</a:t>
            </a:r>
          </a:p>
          <a:p>
            <a:pPr lvl="1"/>
            <a:r>
              <a:rPr lang="zh-CN" altLang="en-US" dirty="0"/>
              <a:t>每个主要原因下还可以细分出多个子原因</a:t>
            </a:r>
          </a:p>
          <a:p>
            <a:pPr lvl="1"/>
            <a:r>
              <a:rPr lang="zh-CN" altLang="en-US" dirty="0"/>
              <a:t>帮助团队系统性思考，避免遗漏重要因素</a:t>
            </a:r>
          </a:p>
          <a:p>
            <a:endParaRPr lang="zh-CN" altLang="en-US" dirty="0"/>
          </a:p>
        </p:txBody>
      </p:sp>
    </p:spTree>
    <p:extLst>
      <p:ext uri="{BB962C8B-B14F-4D97-AF65-F5344CB8AC3E}">
        <p14:creationId xmlns:p14="http://schemas.microsoft.com/office/powerpoint/2010/main" val="15522873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8BE83240-F34C-EE8D-6ED2-9835BC2A70C2}"/>
              </a:ext>
            </a:extLst>
          </p:cNvPr>
          <p:cNvPicPr>
            <a:picLocks noGrp="1" noChangeAspect="1"/>
          </p:cNvPicPr>
          <p:nvPr>
            <p:ph type="pic" sz="quarter" idx="10"/>
          </p:nvPr>
        </p:nvPicPr>
        <p:blipFill>
          <a:blip r:embed="rId2"/>
          <a:srcRect l="23424" r="23424"/>
          <a:stretch/>
        </p:blipFill>
        <p:spPr>
          <a:xfrm>
            <a:off x="0" y="0"/>
            <a:ext cx="6480000" cy="6858000"/>
          </a:xfrm>
        </p:spPr>
      </p:pic>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4077578" y="3498981"/>
            <a:ext cx="7262228" cy="1440000"/>
          </a:xfrm>
        </p:spPr>
        <p:txBody>
          <a:bodyPr/>
          <a:lstStyle/>
          <a:p>
            <a:r>
              <a:rPr lang="zh-CN" altLang="en-US" dirty="0"/>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4077578" y="4938981"/>
            <a:ext cx="7262228" cy="900000"/>
          </a:xfrm>
        </p:spPr>
        <p:txBody>
          <a:bodyPr/>
          <a:lstStyle/>
          <a:p>
            <a:r>
              <a:rPr lang="en-US" altLang="zh-CN"/>
              <a:t>Section 2 Project Initial</a:t>
            </a:r>
            <a:endParaRPr lang="zh-CN" altLang="en-US" dirty="0"/>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6480000" y="1128713"/>
            <a:ext cx="4859513" cy="2300287"/>
          </a:xfrm>
        </p:spPr>
        <p:txBody>
          <a:bodyPr>
            <a:normAutofit/>
          </a:bodyPr>
          <a:lstStyle/>
          <a:p>
            <a:pPr lvl="0"/>
            <a:r>
              <a:rPr lang="zh-CN" altLang="zh-CN" dirty="0"/>
              <a:t>项目评估工作</a:t>
            </a:r>
          </a:p>
          <a:p>
            <a:pPr lvl="0"/>
            <a:r>
              <a:rPr lang="zh-CN" altLang="zh-CN" dirty="0"/>
              <a:t>项目立项过程</a:t>
            </a:r>
          </a:p>
          <a:p>
            <a:pPr lvl="0"/>
            <a:r>
              <a:rPr lang="zh-CN" altLang="zh-CN" dirty="0"/>
              <a:t>项目招投标过程</a:t>
            </a:r>
          </a:p>
          <a:p>
            <a:pPr lvl="0"/>
            <a:r>
              <a:rPr lang="zh-CN" altLang="zh-CN" dirty="0"/>
              <a:t>项目章程</a:t>
            </a:r>
          </a:p>
          <a:p>
            <a:pPr lvl="0"/>
            <a:r>
              <a:rPr lang="zh-CN" altLang="zh-CN" dirty="0"/>
              <a:t>软件项目生存期</a:t>
            </a:r>
          </a:p>
          <a:p>
            <a:pPr lvl="0"/>
            <a:r>
              <a:rPr lang="zh-CN" altLang="zh-CN" dirty="0"/>
              <a:t>项目生存期常用模型</a:t>
            </a:r>
          </a:p>
        </p:txBody>
      </p:sp>
    </p:spTree>
    <p:extLst>
      <p:ext uri="{BB962C8B-B14F-4D97-AF65-F5344CB8AC3E}">
        <p14:creationId xmlns:p14="http://schemas.microsoft.com/office/powerpoint/2010/main" val="30637871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4732"/>
          </a:xfrm>
        </p:spPr>
        <p:txBody>
          <a:bodyPr>
            <a:normAutofit/>
          </a:bodyPr>
          <a:lstStyle/>
          <a:p>
            <a:r>
              <a:rPr lang="zh-CN" altLang="en-US" dirty="0"/>
              <a:t>项目立项</a:t>
            </a:r>
          </a:p>
        </p:txBody>
      </p:sp>
      <p:graphicFrame>
        <p:nvGraphicFramePr>
          <p:cNvPr id="5" name="内容占位符 4">
            <a:extLst>
              <a:ext uri="{FF2B5EF4-FFF2-40B4-BE49-F238E27FC236}">
                <a16:creationId xmlns:a16="http://schemas.microsoft.com/office/drawing/2014/main" id="{12C36420-A424-77D6-621A-D04A292ACD78}"/>
              </a:ext>
            </a:extLst>
          </p:cNvPr>
          <p:cNvGraphicFramePr>
            <a:graphicFrameLocks noGrp="1"/>
          </p:cNvGraphicFramePr>
          <p:nvPr>
            <p:ph idx="1"/>
            <p:extLst>
              <p:ext uri="{D42A27DB-BD31-4B8C-83A1-F6EECF244321}">
                <p14:modId xmlns:p14="http://schemas.microsoft.com/office/powerpoint/2010/main" val="4283582900"/>
              </p:ext>
            </p:extLst>
          </p:nvPr>
        </p:nvGraphicFramePr>
        <p:xfrm>
          <a:off x="695325" y="863600"/>
          <a:ext cx="10801350" cy="5327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 Placeholder 6">
            <a:extLst>
              <a:ext uri="{FF2B5EF4-FFF2-40B4-BE49-F238E27FC236}">
                <a16:creationId xmlns:a16="http://schemas.microsoft.com/office/drawing/2014/main" id="{2B541BFA-97EF-7E8F-F013-BEA20E60A4C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808066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B7F240-D09C-F38F-0212-5644545CFE9C}"/>
              </a:ext>
            </a:extLst>
          </p:cNvPr>
          <p:cNvSpPr>
            <a:spLocks noGrp="1"/>
          </p:cNvSpPr>
          <p:nvPr>
            <p:ph type="title"/>
          </p:nvPr>
        </p:nvSpPr>
        <p:spPr>
          <a:xfrm>
            <a:off x="695998" y="360000"/>
            <a:ext cx="6375921" cy="424732"/>
          </a:xfrm>
        </p:spPr>
        <p:txBody>
          <a:bodyPr>
            <a:normAutofit/>
          </a:bodyPr>
          <a:lstStyle/>
          <a:p>
            <a:r>
              <a:rPr lang="zh-CN" altLang="en-US" dirty="0"/>
              <a:t>项目立项</a:t>
            </a:r>
          </a:p>
        </p:txBody>
      </p:sp>
      <p:sp>
        <p:nvSpPr>
          <p:cNvPr id="3" name="内容占位符 2">
            <a:extLst>
              <a:ext uri="{FF2B5EF4-FFF2-40B4-BE49-F238E27FC236}">
                <a16:creationId xmlns:a16="http://schemas.microsoft.com/office/drawing/2014/main" id="{F94F7075-1E32-86B3-5040-DBDB86A6F1A6}"/>
              </a:ext>
            </a:extLst>
          </p:cNvPr>
          <p:cNvSpPr>
            <a:spLocks noGrp="1"/>
          </p:cNvSpPr>
          <p:nvPr>
            <p:ph idx="1"/>
          </p:nvPr>
        </p:nvSpPr>
        <p:spPr>
          <a:xfrm>
            <a:off x="696000" y="864000"/>
            <a:ext cx="10800000" cy="5328000"/>
          </a:xfrm>
        </p:spPr>
        <p:txBody>
          <a:bodyPr/>
          <a:lstStyle/>
          <a:p>
            <a:r>
              <a:rPr lang="zh-CN" altLang="en-US" dirty="0"/>
              <a:t>项目建议</a:t>
            </a:r>
            <a:endParaRPr lang="en-US" altLang="zh-CN" dirty="0"/>
          </a:p>
          <a:p>
            <a:pPr lvl="1"/>
            <a:r>
              <a:rPr lang="zh-CN" altLang="en-US" dirty="0"/>
              <a:t>非必须</a:t>
            </a:r>
            <a:endParaRPr lang="en-US" altLang="zh-CN" dirty="0"/>
          </a:p>
          <a:p>
            <a:r>
              <a:rPr lang="zh-CN" altLang="en-US" dirty="0"/>
              <a:t>项目可行性分析</a:t>
            </a:r>
            <a:endParaRPr lang="en-US" altLang="zh-CN" dirty="0"/>
          </a:p>
          <a:p>
            <a:pPr lvl="1"/>
            <a:r>
              <a:rPr lang="zh-CN" altLang="en-US" dirty="0"/>
              <a:t>投资</a:t>
            </a:r>
            <a:endParaRPr lang="en-US" altLang="zh-CN" dirty="0"/>
          </a:p>
          <a:p>
            <a:pPr lvl="1"/>
            <a:r>
              <a:rPr lang="zh-CN" altLang="en-US" dirty="0"/>
              <a:t>技术</a:t>
            </a:r>
            <a:endParaRPr lang="en-US" altLang="zh-CN" dirty="0"/>
          </a:p>
          <a:p>
            <a:pPr lvl="1"/>
            <a:r>
              <a:rPr lang="zh-CN" altLang="en-US" dirty="0"/>
              <a:t>财务</a:t>
            </a:r>
            <a:endParaRPr lang="en-US" altLang="zh-CN" dirty="0"/>
          </a:p>
          <a:p>
            <a:pPr lvl="1"/>
            <a:r>
              <a:rPr lang="zh-CN" altLang="en-US" dirty="0"/>
              <a:t>组织</a:t>
            </a:r>
            <a:endParaRPr lang="en-US" altLang="zh-CN" dirty="0"/>
          </a:p>
          <a:p>
            <a:pPr lvl="1"/>
            <a:r>
              <a:rPr lang="zh-CN" altLang="en-US" dirty="0"/>
              <a:t>经济</a:t>
            </a:r>
            <a:endParaRPr lang="en-US" altLang="zh-CN" dirty="0"/>
          </a:p>
          <a:p>
            <a:pPr lvl="1"/>
            <a:r>
              <a:rPr lang="zh-CN" altLang="en-US" dirty="0"/>
              <a:t>社会</a:t>
            </a:r>
            <a:endParaRPr lang="en-US" altLang="zh-CN" dirty="0"/>
          </a:p>
          <a:p>
            <a:pPr lvl="1"/>
            <a:r>
              <a:rPr lang="zh-CN" altLang="en-US" dirty="0"/>
              <a:t>风险因素及对策</a:t>
            </a:r>
            <a:endParaRPr lang="en-US" altLang="zh-CN" dirty="0"/>
          </a:p>
          <a:p>
            <a:r>
              <a:rPr lang="zh-CN" altLang="en-US" dirty="0"/>
              <a:t>项目审批</a:t>
            </a:r>
            <a:endParaRPr lang="en-US" altLang="zh-CN" dirty="0"/>
          </a:p>
          <a:p>
            <a:r>
              <a:rPr lang="zh-CN" altLang="en-US" dirty="0"/>
              <a:t>项目招投标</a:t>
            </a:r>
            <a:endParaRPr lang="en-US" altLang="zh-CN" dirty="0"/>
          </a:p>
          <a:p>
            <a:r>
              <a:rPr lang="zh-CN" altLang="en-US" dirty="0"/>
              <a:t>项目合同谈判与签订</a:t>
            </a:r>
          </a:p>
        </p:txBody>
      </p:sp>
      <p:sp>
        <p:nvSpPr>
          <p:cNvPr id="7" name="Text Placeholder 6">
            <a:extLst>
              <a:ext uri="{FF2B5EF4-FFF2-40B4-BE49-F238E27FC236}">
                <a16:creationId xmlns:a16="http://schemas.microsoft.com/office/drawing/2014/main" id="{5EB5B1BD-1F61-CF2F-E32E-63CAECBECA3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6632291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4732"/>
          </a:xfrm>
        </p:spPr>
        <p:txBody>
          <a:bodyPr>
            <a:normAutofit/>
          </a:bodyPr>
          <a:lstStyle/>
          <a:p>
            <a:r>
              <a:rPr lang="en-US" altLang="zh-CN" dirty="0"/>
              <a:t>4. </a:t>
            </a:r>
            <a:r>
              <a:rPr lang="zh-CN" altLang="en-US" dirty="0"/>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328000"/>
          </a:xfrm>
        </p:spPr>
        <p:txBody>
          <a:bodyPr/>
          <a:lstStyle/>
          <a:p>
            <a:r>
              <a:rPr lang="zh-CN" altLang="en-US" dirty="0"/>
              <a:t>正式批准项目启动</a:t>
            </a:r>
          </a:p>
          <a:p>
            <a:r>
              <a:rPr lang="zh-CN" altLang="en-US" dirty="0"/>
              <a:t>授权项目经理执行</a:t>
            </a:r>
          </a:p>
          <a:p>
            <a:r>
              <a:rPr lang="zh-CN" altLang="en-US" dirty="0"/>
              <a:t>明确项目目标与范围</a:t>
            </a:r>
          </a:p>
          <a:p>
            <a:r>
              <a:rPr lang="zh-CN" altLang="en-US" dirty="0"/>
              <a:t>为项目提供合法性基础</a:t>
            </a:r>
            <a:endParaRPr lang="en-US" altLang="zh-CN" dirty="0"/>
          </a:p>
          <a:p>
            <a:r>
              <a:rPr lang="zh-CN" altLang="en-US" dirty="0"/>
              <a:t>由高层签发及修改</a:t>
            </a:r>
            <a:endParaRPr lang="en-US" altLang="zh-CN" dirty="0"/>
          </a:p>
          <a:p>
            <a:pPr lvl="1"/>
            <a:r>
              <a:rPr lang="zh-CN" altLang="en-US" dirty="0"/>
              <a:t>谁签发谁修改</a:t>
            </a:r>
            <a:endParaRPr lang="en-US" altLang="zh-CN" dirty="0"/>
          </a:p>
          <a:p>
            <a:pPr lvl="1"/>
            <a:r>
              <a:rPr lang="zh-CN" altLang="en-US" dirty="0"/>
              <a:t>不是频繁修改</a:t>
            </a:r>
            <a:endParaRPr lang="en-US" altLang="zh-CN" dirty="0"/>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360001"/>
            <a:ext cx="4424080" cy="424731"/>
          </a:xfrm>
        </p:spPr>
        <p:txBody>
          <a:bodyPr/>
          <a:lstStyle/>
          <a:p>
            <a:r>
              <a:rPr lang="en-US" altLang="zh-CN" dirty="0"/>
              <a:t>Charter</a:t>
            </a:r>
            <a:endParaRPr lang="zh-CN" altLang="en-US" dirty="0"/>
          </a:p>
        </p:txBody>
      </p:sp>
    </p:spTree>
    <p:extLst>
      <p:ext uri="{BB962C8B-B14F-4D97-AF65-F5344CB8AC3E}">
        <p14:creationId xmlns:p14="http://schemas.microsoft.com/office/powerpoint/2010/main" val="25477817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DFC3EDA-9768-DDBE-9C6A-8D7269605BCF}"/>
              </a:ext>
            </a:extLst>
          </p:cNvPr>
          <p:cNvSpPr>
            <a:spLocks noGrp="1"/>
          </p:cNvSpPr>
          <p:nvPr>
            <p:ph type="title"/>
          </p:nvPr>
        </p:nvSpPr>
        <p:spPr>
          <a:xfrm>
            <a:off x="695998" y="360000"/>
            <a:ext cx="7200000" cy="424732"/>
          </a:xfrm>
        </p:spPr>
        <p:txBody>
          <a:bodyPr>
            <a:normAutofit/>
          </a:bodyPr>
          <a:lstStyle/>
          <a:p>
            <a:r>
              <a:rPr lang="zh-CN" altLang="en-US" dirty="0"/>
              <a:t>项目管理计划 </a:t>
            </a:r>
            <a:r>
              <a:rPr lang="en-US" altLang="zh-CN" dirty="0"/>
              <a:t>Project Management Plan</a:t>
            </a:r>
            <a:endParaRPr lang="zh-CN" altLang="en-US" dirty="0"/>
          </a:p>
        </p:txBody>
      </p:sp>
      <p:sp>
        <p:nvSpPr>
          <p:cNvPr id="3" name="内容占位符 2">
            <a:extLst>
              <a:ext uri="{FF2B5EF4-FFF2-40B4-BE49-F238E27FC236}">
                <a16:creationId xmlns:a16="http://schemas.microsoft.com/office/drawing/2014/main" id="{2F866C10-7204-6D46-CED9-05867F119F6A}"/>
              </a:ext>
            </a:extLst>
          </p:cNvPr>
          <p:cNvSpPr>
            <a:spLocks noGrp="1"/>
          </p:cNvSpPr>
          <p:nvPr>
            <p:ph idx="1"/>
          </p:nvPr>
        </p:nvSpPr>
        <p:spPr>
          <a:xfrm>
            <a:off x="696000" y="1080000"/>
            <a:ext cx="10800000" cy="5112000"/>
          </a:xfrm>
        </p:spPr>
        <p:txBody>
          <a:bodyPr/>
          <a:lstStyle/>
          <a:p>
            <a:r>
              <a:rPr lang="zh-CN" altLang="en-US" dirty="0"/>
              <a:t>项目管理计划是整合所有子计划和基准的综合性文件，用于指导项目执行、监控与收尾</a:t>
            </a:r>
            <a:endParaRPr lang="en-US" altLang="zh-CN" dirty="0"/>
          </a:p>
          <a:p>
            <a:r>
              <a:rPr lang="zh-CN" altLang="en-US" dirty="0"/>
              <a:t>不是所有项目文件都属于项目管理计划本身</a:t>
            </a:r>
          </a:p>
          <a:p>
            <a:r>
              <a:rPr lang="zh-CN" altLang="en-US" dirty="0"/>
              <a:t>包括</a:t>
            </a:r>
            <a:endParaRPr lang="en-US" altLang="zh-CN" dirty="0"/>
          </a:p>
          <a:p>
            <a:pPr lvl="1"/>
            <a:r>
              <a:rPr lang="zh-CN" altLang="en-US" dirty="0"/>
              <a:t>范围管理计划</a:t>
            </a:r>
          </a:p>
          <a:p>
            <a:pPr lvl="1"/>
            <a:r>
              <a:rPr lang="zh-CN" altLang="en-US" dirty="0"/>
              <a:t>进度管理计划</a:t>
            </a:r>
          </a:p>
          <a:p>
            <a:pPr lvl="1"/>
            <a:r>
              <a:rPr lang="zh-CN" altLang="en-US" dirty="0"/>
              <a:t>成本管理计划</a:t>
            </a:r>
          </a:p>
          <a:p>
            <a:pPr lvl="1"/>
            <a:r>
              <a:rPr lang="zh-CN" altLang="en-US" dirty="0"/>
              <a:t>风险管理计划</a:t>
            </a:r>
          </a:p>
          <a:p>
            <a:pPr lvl="1"/>
            <a:r>
              <a:rPr lang="zh-CN" altLang="en-US" dirty="0"/>
              <a:t>沟通管理计划</a:t>
            </a:r>
          </a:p>
          <a:p>
            <a:pPr lvl="1"/>
            <a:r>
              <a:rPr lang="zh-CN" altLang="en-US" dirty="0"/>
              <a:t>变更管理计划</a:t>
            </a:r>
            <a:endParaRPr lang="en-US" altLang="zh-CN" dirty="0"/>
          </a:p>
        </p:txBody>
      </p:sp>
      <p:sp>
        <p:nvSpPr>
          <p:cNvPr id="7" name="文本占位符 6">
            <a:extLst>
              <a:ext uri="{FF2B5EF4-FFF2-40B4-BE49-F238E27FC236}">
                <a16:creationId xmlns:a16="http://schemas.microsoft.com/office/drawing/2014/main" id="{2F8A4FC0-7D9F-FE82-5FFA-1CE245CEDB7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959605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BCBF9C-99ED-69D6-03B1-A635704FD0CD}"/>
              </a:ext>
            </a:extLst>
          </p:cNvPr>
          <p:cNvSpPr>
            <a:spLocks noGrp="1"/>
          </p:cNvSpPr>
          <p:nvPr>
            <p:ph type="title"/>
          </p:nvPr>
        </p:nvSpPr>
        <p:spPr>
          <a:xfrm>
            <a:off x="696000" y="360000"/>
            <a:ext cx="10800000" cy="424732"/>
          </a:xfrm>
        </p:spPr>
        <p:txBody>
          <a:bodyPr>
            <a:normAutofit/>
          </a:bodyPr>
          <a:lstStyle/>
          <a:p>
            <a:r>
              <a:rPr lang="zh-CN" altLang="en-US" dirty="0"/>
              <a:t>任命项目经理 </a:t>
            </a:r>
            <a:r>
              <a:rPr lang="en-US" altLang="zh-CN" dirty="0"/>
              <a:t>- Appoint the Project Manager</a:t>
            </a:r>
            <a:endParaRPr lang="zh-CN" altLang="en-US" dirty="0"/>
          </a:p>
        </p:txBody>
      </p:sp>
      <p:sp>
        <p:nvSpPr>
          <p:cNvPr id="7" name="内容占位符 6">
            <a:extLst>
              <a:ext uri="{FF2B5EF4-FFF2-40B4-BE49-F238E27FC236}">
                <a16:creationId xmlns:a16="http://schemas.microsoft.com/office/drawing/2014/main" id="{52E20CE5-D971-5461-DEEA-328F661565E4}"/>
              </a:ext>
            </a:extLst>
          </p:cNvPr>
          <p:cNvSpPr>
            <a:spLocks noGrp="1"/>
          </p:cNvSpPr>
          <p:nvPr>
            <p:ph idx="1"/>
          </p:nvPr>
        </p:nvSpPr>
        <p:spPr/>
        <p:txBody>
          <a:bodyPr/>
          <a:lstStyle/>
          <a:p>
            <a:r>
              <a:rPr lang="zh-CN" altLang="en-US" dirty="0"/>
              <a:t>可以参与章程起草</a:t>
            </a:r>
            <a:endParaRPr lang="en-US" altLang="zh-CN" dirty="0"/>
          </a:p>
          <a:p>
            <a:r>
              <a:rPr lang="zh-CN" altLang="en-US" dirty="0"/>
              <a:t>是章程的实施者</a:t>
            </a:r>
          </a:p>
        </p:txBody>
      </p:sp>
    </p:spTree>
    <p:extLst>
      <p:ext uri="{BB962C8B-B14F-4D97-AF65-F5344CB8AC3E}">
        <p14:creationId xmlns:p14="http://schemas.microsoft.com/office/powerpoint/2010/main" val="15368580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2505AD-8CA3-EF0E-8186-DB86D75691EF}"/>
              </a:ext>
            </a:extLst>
          </p:cNvPr>
          <p:cNvSpPr>
            <a:spLocks noGrp="1"/>
          </p:cNvSpPr>
          <p:nvPr>
            <p:ph type="title"/>
          </p:nvPr>
        </p:nvSpPr>
        <p:spPr>
          <a:xfrm>
            <a:off x="696000" y="360000"/>
            <a:ext cx="10800000" cy="424732"/>
          </a:xfrm>
        </p:spPr>
        <p:txBody>
          <a:bodyPr>
            <a:normAutofit/>
          </a:bodyPr>
          <a:lstStyle/>
          <a:p>
            <a:r>
              <a:rPr lang="zh-CN" altLang="en-US" dirty="0"/>
              <a:t>批准业务案例 </a:t>
            </a:r>
            <a:r>
              <a:rPr lang="en-US" altLang="zh-CN" dirty="0"/>
              <a:t>- Approve the business case</a:t>
            </a:r>
            <a:endParaRPr lang="zh-CN" altLang="en-US" dirty="0"/>
          </a:p>
        </p:txBody>
      </p:sp>
      <p:sp>
        <p:nvSpPr>
          <p:cNvPr id="5" name="内容占位符 4">
            <a:extLst>
              <a:ext uri="{FF2B5EF4-FFF2-40B4-BE49-F238E27FC236}">
                <a16:creationId xmlns:a16="http://schemas.microsoft.com/office/drawing/2014/main" id="{E0A6EF37-AC6D-50F8-1949-0270CD25BF0A}"/>
              </a:ext>
            </a:extLst>
          </p:cNvPr>
          <p:cNvSpPr>
            <a:spLocks noGrp="1"/>
          </p:cNvSpPr>
          <p:nvPr>
            <p:ph idx="1"/>
          </p:nvPr>
        </p:nvSpPr>
        <p:spPr/>
        <p:txBody>
          <a:bodyPr/>
          <a:lstStyle/>
          <a:p>
            <a:r>
              <a:rPr lang="zh-CN" altLang="en-US" dirty="0"/>
              <a:t>项目章程 </a:t>
            </a:r>
            <a:r>
              <a:rPr lang="en-US" altLang="zh-CN" dirty="0"/>
              <a:t>Charter</a:t>
            </a:r>
            <a:r>
              <a:rPr lang="zh-CN" altLang="en-US" dirty="0"/>
              <a:t>：提交和批准业务案例的流程</a:t>
            </a:r>
          </a:p>
        </p:txBody>
      </p:sp>
    </p:spTree>
    <p:extLst>
      <p:ext uri="{BB962C8B-B14F-4D97-AF65-F5344CB8AC3E}">
        <p14:creationId xmlns:p14="http://schemas.microsoft.com/office/powerpoint/2010/main" val="96408595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738D6D-36C5-51F0-4BC1-CBE2733EDB51}"/>
              </a:ext>
            </a:extLst>
          </p:cNvPr>
          <p:cNvSpPr>
            <a:spLocks noGrp="1"/>
          </p:cNvSpPr>
          <p:nvPr>
            <p:ph type="title"/>
          </p:nvPr>
        </p:nvSpPr>
        <p:spPr>
          <a:xfrm>
            <a:off x="696000" y="360000"/>
            <a:ext cx="10800000" cy="424732"/>
          </a:xfrm>
        </p:spPr>
        <p:txBody>
          <a:bodyPr>
            <a:normAutofit/>
          </a:bodyPr>
          <a:lstStyle/>
          <a:p>
            <a:r>
              <a:rPr lang="zh-CN" altLang="en-US" dirty="0"/>
              <a:t>确定项目目标 </a:t>
            </a:r>
            <a:r>
              <a:rPr lang="en-US" altLang="zh-CN" dirty="0"/>
              <a:t>- Identify Project Objectives</a:t>
            </a:r>
            <a:endParaRPr lang="zh-CN" altLang="en-US" dirty="0"/>
          </a:p>
        </p:txBody>
      </p:sp>
      <p:sp>
        <p:nvSpPr>
          <p:cNvPr id="7" name="内容占位符 6">
            <a:extLst>
              <a:ext uri="{FF2B5EF4-FFF2-40B4-BE49-F238E27FC236}">
                <a16:creationId xmlns:a16="http://schemas.microsoft.com/office/drawing/2014/main" id="{152E305E-7D2D-324D-CAD1-D078E7A0A30F}"/>
              </a:ext>
            </a:extLst>
          </p:cNvPr>
          <p:cNvSpPr>
            <a:spLocks noGrp="1"/>
          </p:cNvSpPr>
          <p:nvPr>
            <p:ph idx="1"/>
          </p:nvPr>
        </p:nvSpPr>
        <p:spPr/>
        <p:txBody>
          <a:bodyPr/>
          <a:lstStyle/>
          <a:p>
            <a:r>
              <a:rPr lang="zh-CN" altLang="en-US" dirty="0"/>
              <a:t>确定项目目标，明确项目预期成果</a:t>
            </a:r>
            <a:endParaRPr lang="en-US" altLang="zh-CN" dirty="0"/>
          </a:p>
          <a:p>
            <a:r>
              <a:rPr lang="zh-CN" altLang="en-US" dirty="0"/>
              <a:t>分析项目背景，理解项目对于公司的价值</a:t>
            </a:r>
            <a:endParaRPr lang="en-US" altLang="zh-CN" dirty="0"/>
          </a:p>
          <a:p>
            <a:r>
              <a:rPr lang="zh-CN" altLang="en-US" dirty="0"/>
              <a:t>明确项目解决的问题，评估其对公司的影响</a:t>
            </a:r>
            <a:endParaRPr lang="en-US" altLang="zh-CN" dirty="0"/>
          </a:p>
          <a:p>
            <a:r>
              <a:rPr lang="zh-CN" altLang="en-US" dirty="0"/>
              <a:t>制定项目计划，确保项目顺利进行</a:t>
            </a:r>
            <a:endParaRPr lang="en-US" altLang="zh-CN" dirty="0"/>
          </a:p>
          <a:p>
            <a:r>
              <a:rPr lang="zh-CN" altLang="en-US" dirty="0"/>
              <a:t>通过项目实施，提升公司运营效率和市场竞争力</a:t>
            </a:r>
          </a:p>
        </p:txBody>
      </p:sp>
    </p:spTree>
    <p:extLst>
      <p:ext uri="{BB962C8B-B14F-4D97-AF65-F5344CB8AC3E}">
        <p14:creationId xmlns:p14="http://schemas.microsoft.com/office/powerpoint/2010/main" val="9338446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6000" y="360000"/>
            <a:ext cx="10800000" cy="424732"/>
          </a:xfrm>
        </p:spPr>
        <p:txBody>
          <a:bodyPr>
            <a:normAutofit/>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1080000"/>
            <a:ext cx="10800000" cy="5112000"/>
          </a:xfrm>
        </p:spPr>
        <p:txBody>
          <a:bodyPr>
            <a:normAutofit/>
          </a:bodyPr>
          <a:lstStyle/>
          <a:p>
            <a:r>
              <a:rPr lang="zh-CN" altLang="en-US" dirty="0"/>
              <a:t>工作范围 </a:t>
            </a:r>
            <a:r>
              <a:rPr lang="en-US" altLang="zh-CN" dirty="0"/>
              <a:t>SOW</a:t>
            </a:r>
          </a:p>
          <a:p>
            <a:pPr lvl="1"/>
            <a:r>
              <a:rPr lang="en-US" altLang="zh-CN" dirty="0"/>
              <a:t>Scope Of Work</a:t>
            </a:r>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当出现疑问或变更请求时，团队可以回顾工作范围，以确定请求是否在范围之内。这有助于防止范围蔓延 </a:t>
            </a:r>
            <a:r>
              <a:rPr lang="en-US" altLang="zh-CN" dirty="0"/>
              <a:t>- 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Tree>
    <p:extLst>
      <p:ext uri="{BB962C8B-B14F-4D97-AF65-F5344CB8AC3E}">
        <p14:creationId xmlns:p14="http://schemas.microsoft.com/office/powerpoint/2010/main" val="33342757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19326237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dirty="0"/>
              <a:t>Manufacturing Project Scope Creep Example</a:t>
            </a:r>
          </a:p>
          <a:p>
            <a:endParaRPr lang="en-US" altLang="zh-CN" dirty="0"/>
          </a:p>
          <a:p>
            <a:r>
              <a:rPr lang="en-US" altLang="zh-CN" dirty="0"/>
              <a:t>A</a:t>
            </a:r>
            <a:r>
              <a:rPr lang="zh-CN" altLang="en-US" dirty="0"/>
              <a:t>到</a:t>
            </a:r>
            <a:r>
              <a:rPr lang="en-US" altLang="zh-CN" dirty="0"/>
              <a:t>B</a:t>
            </a:r>
            <a:r>
              <a:rPr lang="zh-CN" altLang="en-US" dirty="0"/>
              <a:t>制造商正准备为新产品投入生产，他们已经设计并采购了手机壳的材料</a:t>
            </a:r>
            <a:endParaRPr lang="en-US" altLang="zh-CN" dirty="0"/>
          </a:p>
          <a:p>
            <a:r>
              <a:rPr lang="zh-CN" altLang="en-US" dirty="0"/>
              <a:t>执行团队未经监督地更改了设计，想添加一个夹子，让手机壳能够挂在用户的腰带上</a:t>
            </a:r>
            <a:endParaRPr lang="en-US" altLang="zh-CN" dirty="0"/>
          </a:p>
        </p:txBody>
      </p:sp>
    </p:spTree>
    <p:extLst>
      <p:ext uri="{BB962C8B-B14F-4D97-AF65-F5344CB8AC3E}">
        <p14:creationId xmlns:p14="http://schemas.microsoft.com/office/powerpoint/2010/main" val="34110604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35679245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4E05D-698E-FFBC-5554-20FA6B56AD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8D9686-463E-E42A-A976-71CDEDC177D1}"/>
              </a:ext>
            </a:extLst>
          </p:cNvPr>
          <p:cNvSpPr>
            <a:spLocks noGrp="1"/>
          </p:cNvSpPr>
          <p:nvPr>
            <p:ph type="title"/>
          </p:nvPr>
        </p:nvSpPr>
        <p:spPr>
          <a:xfrm>
            <a:off x="696000" y="360000"/>
            <a:ext cx="10800000" cy="424732"/>
          </a:xfrm>
        </p:spPr>
        <p:txBody>
          <a:bodyPr>
            <a:normAutofit/>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3BF29426-0EE6-FA22-E26A-892CDD5990CB}"/>
              </a:ext>
            </a:extLst>
          </p:cNvPr>
          <p:cNvSpPr>
            <a:spLocks noGrp="1"/>
          </p:cNvSpPr>
          <p:nvPr>
            <p:ph idx="1"/>
          </p:nvPr>
        </p:nvSpPr>
        <p:spPr>
          <a:xfrm>
            <a:off x="696000" y="1080000"/>
            <a:ext cx="10800000" cy="5112000"/>
          </a:xfrm>
        </p:spPr>
        <p:txBody>
          <a:bodyPr>
            <a:normAutofit/>
          </a:bodyPr>
          <a:lstStyle/>
          <a:p>
            <a:r>
              <a:rPr lang="zh-CN" altLang="en-US" dirty="0"/>
              <a:t>编写项目需求文档</a:t>
            </a:r>
            <a:endParaRPr lang="en-US" altLang="zh-CN" dirty="0"/>
          </a:p>
          <a:p>
            <a:r>
              <a:rPr lang="zh-CN" altLang="en-US" dirty="0"/>
              <a:t>设计系统架构</a:t>
            </a:r>
            <a:endParaRPr lang="en-US" altLang="zh-CN" dirty="0"/>
          </a:p>
          <a:p>
            <a:r>
              <a:rPr lang="zh-CN" altLang="en-US" dirty="0"/>
              <a:t>开发前端界面</a:t>
            </a:r>
            <a:endParaRPr lang="en-US" altLang="zh-CN" dirty="0"/>
          </a:p>
          <a:p>
            <a:r>
              <a:rPr lang="zh-CN" altLang="en-US" dirty="0"/>
              <a:t>实现后端逻辑</a:t>
            </a:r>
            <a:endParaRPr lang="en-US" altLang="zh-CN" dirty="0"/>
          </a:p>
          <a:p>
            <a:r>
              <a:rPr lang="zh-CN" altLang="en-US" dirty="0"/>
              <a:t>数据库设计与优化</a:t>
            </a:r>
            <a:endParaRPr lang="en-US" altLang="zh-CN" dirty="0"/>
          </a:p>
          <a:p>
            <a:r>
              <a:rPr lang="zh-CN" altLang="en-US" dirty="0"/>
              <a:t>编写单元测试</a:t>
            </a:r>
            <a:endParaRPr lang="en-US" altLang="zh-CN" dirty="0"/>
          </a:p>
          <a:p>
            <a:r>
              <a:rPr lang="zh-CN" altLang="en-US" dirty="0"/>
              <a:t>集成第三方服务</a:t>
            </a:r>
            <a:endParaRPr lang="en-US" altLang="zh-CN" dirty="0"/>
          </a:p>
          <a:p>
            <a:r>
              <a:rPr lang="zh-CN" altLang="en-US" dirty="0"/>
              <a:t>用户手册编写</a:t>
            </a:r>
            <a:endParaRPr lang="en-US" altLang="zh-CN" dirty="0"/>
          </a:p>
          <a:p>
            <a:r>
              <a:rPr lang="zh-CN" altLang="en-US" dirty="0"/>
              <a:t>代码审查与重构</a:t>
            </a:r>
            <a:endParaRPr lang="en-US" altLang="zh-CN" dirty="0"/>
          </a:p>
          <a:p>
            <a:r>
              <a:rPr lang="zh-CN" altLang="en-US" dirty="0"/>
              <a:t>项目的部署与上线支持</a:t>
            </a:r>
            <a:endParaRPr lang="en-US" altLang="zh-CN" dirty="0"/>
          </a:p>
        </p:txBody>
      </p:sp>
      <p:sp>
        <p:nvSpPr>
          <p:cNvPr id="4" name="矩形: 圆角 3">
            <a:extLst>
              <a:ext uri="{FF2B5EF4-FFF2-40B4-BE49-F238E27FC236}">
                <a16:creationId xmlns:a16="http://schemas.microsoft.com/office/drawing/2014/main" id="{C1F13F80-BD52-CD8F-6FB6-312AA130CF10}"/>
              </a:ext>
            </a:extLst>
          </p:cNvPr>
          <p:cNvSpPr/>
          <p:nvPr/>
        </p:nvSpPr>
        <p:spPr>
          <a:xfrm>
            <a:off x="5657849" y="26860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项目管理计划</a:t>
            </a:r>
          </a:p>
        </p:txBody>
      </p:sp>
      <p:sp>
        <p:nvSpPr>
          <p:cNvPr id="5" name="矩形: 圆角 4">
            <a:extLst>
              <a:ext uri="{FF2B5EF4-FFF2-40B4-BE49-F238E27FC236}">
                <a16:creationId xmlns:a16="http://schemas.microsoft.com/office/drawing/2014/main" id="{35264D85-161C-A14D-ABC5-ED9A132694B3}"/>
              </a:ext>
            </a:extLst>
          </p:cNvPr>
          <p:cNvSpPr/>
          <p:nvPr/>
        </p:nvSpPr>
        <p:spPr>
          <a:xfrm>
            <a:off x="5657849" y="32704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项目章程</a:t>
            </a:r>
          </a:p>
        </p:txBody>
      </p:sp>
      <p:sp>
        <p:nvSpPr>
          <p:cNvPr id="6" name="矩形: 圆角 5">
            <a:extLst>
              <a:ext uri="{FF2B5EF4-FFF2-40B4-BE49-F238E27FC236}">
                <a16:creationId xmlns:a16="http://schemas.microsoft.com/office/drawing/2014/main" id="{14ED2225-9527-2A38-A53C-614ED7D64AE5}"/>
              </a:ext>
            </a:extLst>
          </p:cNvPr>
          <p:cNvSpPr/>
          <p:nvPr/>
        </p:nvSpPr>
        <p:spPr>
          <a:xfrm>
            <a:off x="5657849" y="38548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组织过程资产</a:t>
            </a:r>
          </a:p>
        </p:txBody>
      </p:sp>
      <p:sp>
        <p:nvSpPr>
          <p:cNvPr id="7" name="矩形: 圆角 6">
            <a:extLst>
              <a:ext uri="{FF2B5EF4-FFF2-40B4-BE49-F238E27FC236}">
                <a16:creationId xmlns:a16="http://schemas.microsoft.com/office/drawing/2014/main" id="{88F42267-32FB-0DBB-A7CD-B868645ED728}"/>
              </a:ext>
            </a:extLst>
          </p:cNvPr>
          <p:cNvSpPr/>
          <p:nvPr/>
        </p:nvSpPr>
        <p:spPr>
          <a:xfrm>
            <a:off x="5682750" y="44392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事业环境因素</a:t>
            </a:r>
          </a:p>
        </p:txBody>
      </p:sp>
      <p:sp>
        <p:nvSpPr>
          <p:cNvPr id="8" name="矩形: 圆角 7">
            <a:extLst>
              <a:ext uri="{FF2B5EF4-FFF2-40B4-BE49-F238E27FC236}">
                <a16:creationId xmlns:a16="http://schemas.microsoft.com/office/drawing/2014/main" id="{06107906-4706-1C3A-06CA-8479513D42B4}"/>
              </a:ext>
            </a:extLst>
          </p:cNvPr>
          <p:cNvSpPr/>
          <p:nvPr/>
        </p:nvSpPr>
        <p:spPr>
          <a:xfrm>
            <a:off x="8262599" y="3562650"/>
            <a:ext cx="2160000" cy="432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范围管理计划</a:t>
            </a:r>
          </a:p>
        </p:txBody>
      </p:sp>
      <p:cxnSp>
        <p:nvCxnSpPr>
          <p:cNvPr id="10" name="连接符: 曲线 9">
            <a:extLst>
              <a:ext uri="{FF2B5EF4-FFF2-40B4-BE49-F238E27FC236}">
                <a16:creationId xmlns:a16="http://schemas.microsoft.com/office/drawing/2014/main" id="{853B0B05-9AF1-EDAD-C4C0-8D0A6B2D7FBD}"/>
              </a:ext>
            </a:extLst>
          </p:cNvPr>
          <p:cNvCxnSpPr>
            <a:stCxn id="4" idx="3"/>
            <a:endCxn id="8" idx="1"/>
          </p:cNvCxnSpPr>
          <p:nvPr/>
        </p:nvCxnSpPr>
        <p:spPr>
          <a:xfrm>
            <a:off x="7817849" y="2902050"/>
            <a:ext cx="444750"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2" name="连接符: 曲线 11">
            <a:extLst>
              <a:ext uri="{FF2B5EF4-FFF2-40B4-BE49-F238E27FC236}">
                <a16:creationId xmlns:a16="http://schemas.microsoft.com/office/drawing/2014/main" id="{2F1F21C0-FA7A-B0AE-E004-88ACD5390923}"/>
              </a:ext>
            </a:extLst>
          </p:cNvPr>
          <p:cNvCxnSpPr>
            <a:stCxn id="7" idx="3"/>
            <a:endCxn id="8" idx="1"/>
          </p:cNvCxnSpPr>
          <p:nvPr/>
        </p:nvCxnSpPr>
        <p:spPr>
          <a:xfrm flipV="1">
            <a:off x="7842750" y="3778650"/>
            <a:ext cx="419849"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574C1BD7-F42E-3148-A353-958093AF3B91}"/>
              </a:ext>
            </a:extLst>
          </p:cNvPr>
          <p:cNvSpPr/>
          <p:nvPr/>
        </p:nvSpPr>
        <p:spPr>
          <a:xfrm>
            <a:off x="8262599" y="4070850"/>
            <a:ext cx="2160000" cy="432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dirty="0"/>
              <a:t>需求管理计划</a:t>
            </a:r>
          </a:p>
        </p:txBody>
      </p:sp>
    </p:spTree>
    <p:extLst>
      <p:ext uri="{BB962C8B-B14F-4D97-AF65-F5344CB8AC3E}">
        <p14:creationId xmlns:p14="http://schemas.microsoft.com/office/powerpoint/2010/main" val="17199820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DE1EE08-E582-C13F-B487-2DC74823548F}"/>
              </a:ext>
            </a:extLst>
          </p:cNvPr>
          <p:cNvSpPr>
            <a:spLocks noGrp="1"/>
          </p:cNvSpPr>
          <p:nvPr>
            <p:ph type="body" sz="quarter" idx="10"/>
          </p:nvPr>
        </p:nvSpPr>
        <p:spPr/>
        <p:txBody>
          <a:bodyPr/>
          <a:lstStyle/>
          <a:p>
            <a:r>
              <a:rPr lang="en-US" altLang="zh-CN" dirty="0"/>
              <a:t>Drill time</a:t>
            </a:r>
            <a:endParaRPr lang="zh-CN" altLang="en-US" dirty="0"/>
          </a:p>
        </p:txBody>
      </p:sp>
    </p:spTree>
    <p:extLst>
      <p:ext uri="{BB962C8B-B14F-4D97-AF65-F5344CB8AC3E}">
        <p14:creationId xmlns:p14="http://schemas.microsoft.com/office/powerpoint/2010/main" val="13125962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98FC6D-463B-EEDC-458F-9D9963D653DF}"/>
              </a:ext>
            </a:extLst>
          </p:cNvPr>
          <p:cNvSpPr>
            <a:spLocks noGrp="1"/>
          </p:cNvSpPr>
          <p:nvPr>
            <p:ph type="title"/>
          </p:nvPr>
        </p:nvSpPr>
        <p:spPr>
          <a:xfrm>
            <a:off x="696000" y="360000"/>
            <a:ext cx="10800000" cy="424732"/>
          </a:xfrm>
        </p:spPr>
        <p:txBody>
          <a:bodyPr>
            <a:normAutofit/>
          </a:bodyPr>
          <a:lstStyle/>
          <a:p>
            <a:r>
              <a:rPr lang="zh-CN" altLang="en-US" dirty="0"/>
              <a:t>批准预算 </a:t>
            </a:r>
            <a:r>
              <a:rPr lang="en-US" altLang="zh-CN" dirty="0"/>
              <a:t>- Approve the Budget</a:t>
            </a:r>
            <a:endParaRPr lang="zh-CN" altLang="en-US" dirty="0"/>
          </a:p>
        </p:txBody>
      </p:sp>
      <p:sp>
        <p:nvSpPr>
          <p:cNvPr id="7" name="内容占位符 6">
            <a:extLst>
              <a:ext uri="{FF2B5EF4-FFF2-40B4-BE49-F238E27FC236}">
                <a16:creationId xmlns:a16="http://schemas.microsoft.com/office/drawing/2014/main" id="{6D7837F6-9899-FE85-B3C0-43A253ABBA5B}"/>
              </a:ext>
            </a:extLst>
          </p:cNvPr>
          <p:cNvSpPr>
            <a:spLocks noGrp="1"/>
          </p:cNvSpPr>
          <p:nvPr>
            <p:ph idx="1"/>
          </p:nvPr>
        </p:nvSpPr>
        <p:spPr>
          <a:xfrm>
            <a:off x="696000" y="1080000"/>
            <a:ext cx="10800000" cy="5112000"/>
          </a:xfrm>
        </p:spPr>
        <p:txBody>
          <a:bodyPr/>
          <a:lstStyle/>
          <a:p>
            <a:r>
              <a:rPr lang="zh-CN" altLang="en-US" dirty="0"/>
              <a:t>检查你是否已经获得资金批准</a:t>
            </a:r>
            <a:endParaRPr lang="en-US" altLang="zh-CN" dirty="0"/>
          </a:p>
          <a:p>
            <a:r>
              <a:rPr lang="zh-CN" altLang="en-US" dirty="0"/>
              <a:t>任何其他所需资源</a:t>
            </a:r>
            <a:endParaRPr lang="en-US" altLang="zh-CN" dirty="0"/>
          </a:p>
          <a:p>
            <a:r>
              <a:rPr lang="zh-CN" altLang="en-US" dirty="0"/>
              <a:t>询问如何获取这些资源，并整理出使用这些资金的流程</a:t>
            </a:r>
          </a:p>
        </p:txBody>
      </p:sp>
    </p:spTree>
    <p:extLst>
      <p:ext uri="{BB962C8B-B14F-4D97-AF65-F5344CB8AC3E}">
        <p14:creationId xmlns:p14="http://schemas.microsoft.com/office/powerpoint/2010/main" val="22650515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206CD6-DA14-175A-5205-47406F816224}"/>
              </a:ext>
            </a:extLst>
          </p:cNvPr>
          <p:cNvSpPr>
            <a:spLocks noGrp="1"/>
          </p:cNvSpPr>
          <p:nvPr>
            <p:ph type="title"/>
          </p:nvPr>
        </p:nvSpPr>
        <p:spPr>
          <a:xfrm>
            <a:off x="696000" y="360000"/>
            <a:ext cx="10800000" cy="424732"/>
          </a:xfrm>
        </p:spPr>
        <p:txBody>
          <a:bodyPr>
            <a:normAutofit/>
          </a:bodyPr>
          <a:lstStyle/>
          <a:p>
            <a:r>
              <a:rPr lang="zh-CN" altLang="en-US" dirty="0"/>
              <a:t>识别初始项目风险 </a:t>
            </a:r>
            <a:r>
              <a:rPr lang="en-US" altLang="zh-CN" dirty="0"/>
              <a:t>- Identify Initial Project Risks</a:t>
            </a:r>
            <a:endParaRPr lang="zh-CN" altLang="en-US" dirty="0"/>
          </a:p>
        </p:txBody>
      </p:sp>
      <p:sp>
        <p:nvSpPr>
          <p:cNvPr id="5" name="内容占位符 4">
            <a:extLst>
              <a:ext uri="{FF2B5EF4-FFF2-40B4-BE49-F238E27FC236}">
                <a16:creationId xmlns:a16="http://schemas.microsoft.com/office/drawing/2014/main" id="{604D04A8-596E-A4F4-598C-73A5737AC9A3}"/>
              </a:ext>
            </a:extLst>
          </p:cNvPr>
          <p:cNvSpPr>
            <a:spLocks noGrp="1"/>
          </p:cNvSpPr>
          <p:nvPr>
            <p:ph idx="1"/>
          </p:nvPr>
        </p:nvSpPr>
        <p:spPr>
          <a:xfrm>
            <a:off x="696000" y="1080000"/>
            <a:ext cx="10800000" cy="5112000"/>
          </a:xfrm>
        </p:spPr>
        <p:txBody>
          <a:bodyPr/>
          <a:lstStyle/>
          <a:p>
            <a:r>
              <a:rPr lang="zh-CN" altLang="en-US" dirty="0"/>
              <a:t>风险是可能影响你完成项目指定内容的事情</a:t>
            </a:r>
            <a:endParaRPr lang="en-US" altLang="zh-CN" dirty="0"/>
          </a:p>
          <a:p>
            <a:pPr lvl="1"/>
            <a:r>
              <a:rPr lang="zh-CN" altLang="en-US" dirty="0"/>
              <a:t>如供应商让你失望</a:t>
            </a:r>
            <a:endParaRPr lang="en-US" altLang="zh-CN" dirty="0"/>
          </a:p>
          <a:p>
            <a:pPr lvl="1"/>
            <a:r>
              <a:rPr lang="zh-CN" altLang="en-US" dirty="0"/>
              <a:t>在你需要时没有拥有合适技能的资源</a:t>
            </a:r>
            <a:endParaRPr lang="en-US" altLang="zh-CN" dirty="0"/>
          </a:p>
          <a:p>
            <a:r>
              <a:rPr lang="zh-CN" altLang="en-US" dirty="0"/>
              <a:t>在开始进行太多项目工作之前，分析任何可能出错的风险</a:t>
            </a:r>
            <a:endParaRPr lang="en-US" altLang="zh-CN" dirty="0"/>
          </a:p>
          <a:p>
            <a:r>
              <a:rPr lang="zh-CN" altLang="en-US" dirty="0"/>
              <a:t>准备你的</a:t>
            </a:r>
            <a:r>
              <a:rPr lang="en-US" altLang="zh-CN" dirty="0"/>
              <a:t>B</a:t>
            </a:r>
            <a:r>
              <a:rPr lang="zh-CN" altLang="en-US" dirty="0"/>
              <a:t>计划，以防清单上的任何事情发生</a:t>
            </a:r>
            <a:endParaRPr lang="en-US" altLang="zh-CN" dirty="0"/>
          </a:p>
          <a:p>
            <a:r>
              <a:rPr lang="zh-CN" altLang="en-US" dirty="0"/>
              <a:t>风险分析包括使用工具和技术来确定先前已识别的项目风险的可能性和影响</a:t>
            </a:r>
          </a:p>
        </p:txBody>
      </p:sp>
    </p:spTree>
    <p:extLst>
      <p:ext uri="{BB962C8B-B14F-4D97-AF65-F5344CB8AC3E}">
        <p14:creationId xmlns:p14="http://schemas.microsoft.com/office/powerpoint/2010/main" val="7181900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16AF74-A279-5E8E-04DB-6CAAA6528771}"/>
              </a:ext>
            </a:extLst>
          </p:cNvPr>
          <p:cNvSpPr>
            <a:spLocks noGrp="1"/>
          </p:cNvSpPr>
          <p:nvPr>
            <p:ph type="title"/>
          </p:nvPr>
        </p:nvSpPr>
        <p:spPr>
          <a:xfrm>
            <a:off x="696000" y="360000"/>
            <a:ext cx="10800000" cy="424732"/>
          </a:xfrm>
        </p:spPr>
        <p:txBody>
          <a:bodyPr>
            <a:normAutofit/>
          </a:bodyPr>
          <a:lstStyle/>
          <a:p>
            <a:r>
              <a:rPr lang="zh-CN" altLang="en-US" dirty="0"/>
              <a:t>生产交付物清单 </a:t>
            </a:r>
            <a:r>
              <a:rPr lang="en-US" altLang="zh-CN" dirty="0"/>
              <a:t>- Produce List of Deliverables</a:t>
            </a:r>
            <a:endParaRPr lang="zh-CN" altLang="en-US" dirty="0"/>
          </a:p>
        </p:txBody>
      </p:sp>
      <p:sp>
        <p:nvSpPr>
          <p:cNvPr id="7" name="内容占位符 6">
            <a:extLst>
              <a:ext uri="{FF2B5EF4-FFF2-40B4-BE49-F238E27FC236}">
                <a16:creationId xmlns:a16="http://schemas.microsoft.com/office/drawing/2014/main" id="{7485708C-1458-0F01-E4A9-5A5411907CFA}"/>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144179190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EBB2E2D-A13F-81D3-005D-58B95F866F3C}"/>
              </a:ext>
            </a:extLst>
          </p:cNvPr>
          <p:cNvSpPr>
            <a:spLocks noGrp="1"/>
          </p:cNvSpPr>
          <p:nvPr>
            <p:ph type="title"/>
          </p:nvPr>
        </p:nvSpPr>
        <p:spPr/>
        <p:txBody>
          <a:bodyPr/>
          <a:lstStyle/>
          <a:p>
            <a:r>
              <a:rPr lang="zh-CN" altLang="en-US" dirty="0"/>
              <a:t>产出 </a:t>
            </a:r>
            <a:r>
              <a:rPr lang="en-US" altLang="zh-CN" dirty="0"/>
              <a:t>output</a:t>
            </a:r>
            <a:endParaRPr lang="zh-CN" altLang="en-US" dirty="0"/>
          </a:p>
        </p:txBody>
      </p:sp>
      <p:sp>
        <p:nvSpPr>
          <p:cNvPr id="3" name="内容占位符 2">
            <a:extLst>
              <a:ext uri="{FF2B5EF4-FFF2-40B4-BE49-F238E27FC236}">
                <a16:creationId xmlns:a16="http://schemas.microsoft.com/office/drawing/2014/main" id="{D2ED4E94-7750-D1EF-D638-4D71A22F45CA}"/>
              </a:ext>
            </a:extLst>
          </p:cNvPr>
          <p:cNvSpPr>
            <a:spLocks noGrp="1"/>
          </p:cNvSpPr>
          <p:nvPr>
            <p:ph idx="1"/>
          </p:nvPr>
        </p:nvSpPr>
        <p:spPr/>
        <p:txBody>
          <a:bodyPr/>
          <a:lstStyle/>
          <a:p>
            <a:r>
              <a:rPr lang="zh-CN" altLang="en-US" dirty="0"/>
              <a:t>项目章程</a:t>
            </a:r>
            <a:endParaRPr lang="en-US" altLang="zh-CN" dirty="0"/>
          </a:p>
          <a:p>
            <a:r>
              <a:rPr lang="zh-CN" altLang="en-US" dirty="0"/>
              <a:t>项目管理计划 </a:t>
            </a:r>
            <a:r>
              <a:rPr lang="en-US" altLang="zh-CN" dirty="0"/>
              <a:t>– </a:t>
            </a:r>
            <a:r>
              <a:rPr lang="zh-CN" altLang="en-US" dirty="0"/>
              <a:t>项目</a:t>
            </a:r>
            <a:endParaRPr lang="en-US" altLang="zh-CN" dirty="0"/>
          </a:p>
          <a:p>
            <a:r>
              <a:rPr lang="zh-CN" altLang="en-US" dirty="0"/>
              <a:t>范围管理计划 </a:t>
            </a:r>
            <a:r>
              <a:rPr lang="en-US" altLang="zh-CN" dirty="0"/>
              <a:t>– </a:t>
            </a:r>
            <a:r>
              <a:rPr lang="zh-CN" altLang="en-US" dirty="0"/>
              <a:t>范围</a:t>
            </a:r>
            <a:endParaRPr lang="en-US" altLang="zh-CN" dirty="0"/>
          </a:p>
          <a:p>
            <a:r>
              <a:rPr lang="zh-CN" altLang="en-US" dirty="0"/>
              <a:t>需求管理计划 </a:t>
            </a:r>
            <a:r>
              <a:rPr lang="en-US" altLang="zh-CN" dirty="0"/>
              <a:t>– </a:t>
            </a:r>
            <a:r>
              <a:rPr lang="zh-CN" altLang="en-US" dirty="0"/>
              <a:t>需求</a:t>
            </a:r>
            <a:endParaRPr lang="en-US" altLang="zh-CN" dirty="0"/>
          </a:p>
          <a:p>
            <a:r>
              <a:rPr lang="zh-CN" altLang="en-US" dirty="0"/>
              <a:t>项目范围说明书</a:t>
            </a:r>
          </a:p>
        </p:txBody>
      </p:sp>
      <p:sp>
        <p:nvSpPr>
          <p:cNvPr id="4" name="文本占位符 3">
            <a:extLst>
              <a:ext uri="{FF2B5EF4-FFF2-40B4-BE49-F238E27FC236}">
                <a16:creationId xmlns:a16="http://schemas.microsoft.com/office/drawing/2014/main" id="{895A7765-D993-789E-8086-68647FCB1C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85706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4FB02-C265-6E93-123F-9FE4BD849A70}"/>
              </a:ext>
            </a:extLst>
          </p:cNvPr>
          <p:cNvSpPr>
            <a:spLocks noGrp="1"/>
          </p:cNvSpPr>
          <p:nvPr>
            <p:ph type="title"/>
          </p:nvPr>
        </p:nvSpPr>
        <p:spPr>
          <a:xfrm>
            <a:off x="695998" y="360000"/>
            <a:ext cx="6375921" cy="424732"/>
          </a:xfrm>
        </p:spPr>
        <p:txBody>
          <a:bodyPr>
            <a:normAutofit/>
          </a:bodyPr>
          <a:lstStyle/>
          <a:p>
            <a:r>
              <a:rPr lang="en-US" altLang="zh-CN" dirty="0"/>
              <a:t>5. </a:t>
            </a:r>
            <a:r>
              <a:rPr lang="zh-CN" altLang="en-US" dirty="0"/>
              <a:t>项目生命周期</a:t>
            </a:r>
          </a:p>
        </p:txBody>
      </p:sp>
      <p:sp>
        <p:nvSpPr>
          <p:cNvPr id="22" name="Content Placeholder 21">
            <a:extLst>
              <a:ext uri="{FF2B5EF4-FFF2-40B4-BE49-F238E27FC236}">
                <a16:creationId xmlns:a16="http://schemas.microsoft.com/office/drawing/2014/main" id="{48F5F186-3304-1AB2-930A-9FFCE1DE14A6}"/>
              </a:ext>
            </a:extLst>
          </p:cNvPr>
          <p:cNvSpPr>
            <a:spLocks noGrp="1"/>
          </p:cNvSpPr>
          <p:nvPr>
            <p:ph idx="1"/>
          </p:nvPr>
        </p:nvSpPr>
        <p:spPr/>
        <p:txBody>
          <a:bodyPr/>
          <a:lstStyle/>
          <a:p>
            <a:endParaRPr lang="zh-CN" altLang="en-US"/>
          </a:p>
        </p:txBody>
      </p:sp>
      <p:sp>
        <p:nvSpPr>
          <p:cNvPr id="7" name="Text Placeholder 6">
            <a:extLst>
              <a:ext uri="{FF2B5EF4-FFF2-40B4-BE49-F238E27FC236}">
                <a16:creationId xmlns:a16="http://schemas.microsoft.com/office/drawing/2014/main" id="{4AA1C95E-D3EF-E194-85B2-DBFC6F5604AE}"/>
              </a:ext>
            </a:extLst>
          </p:cNvPr>
          <p:cNvSpPr>
            <a:spLocks noGrp="1"/>
          </p:cNvSpPr>
          <p:nvPr>
            <p:ph type="body" sz="quarter" idx="10"/>
          </p:nvPr>
        </p:nvSpPr>
        <p:spPr>
          <a:xfrm>
            <a:off x="7071919" y="360001"/>
            <a:ext cx="4424080" cy="424731"/>
          </a:xfrm>
        </p:spPr>
        <p:txBody>
          <a:bodyPr/>
          <a:lstStyle/>
          <a:p>
            <a:r>
              <a:rPr lang="en-US" altLang="zh-CN" dirty="0"/>
              <a:t>Project Life Cycle Types</a:t>
            </a:r>
            <a:endParaRPr lang="zh-CN" altLang="en-US" dirty="0"/>
          </a:p>
        </p:txBody>
      </p:sp>
    </p:spTree>
    <p:extLst>
      <p:ext uri="{BB962C8B-B14F-4D97-AF65-F5344CB8AC3E}">
        <p14:creationId xmlns:p14="http://schemas.microsoft.com/office/powerpoint/2010/main" val="2478756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4732"/>
          </a:xfrm>
        </p:spPr>
        <p:txBody>
          <a:bodyPr>
            <a:normAutofit/>
          </a:bodyPr>
          <a:lstStyle/>
          <a:p>
            <a:r>
              <a:rPr lang="en-US" altLang="zh-CN" dirty="0"/>
              <a:t>6. </a:t>
            </a:r>
            <a:r>
              <a:rPr lang="zh-CN" altLang="en-US" dirty="0"/>
              <a:t>项目生命周期类型</a:t>
            </a:r>
          </a:p>
        </p:txBody>
      </p:sp>
      <p:sp>
        <p:nvSpPr>
          <p:cNvPr id="20" name="Content Placeholder 19">
            <a:extLst>
              <a:ext uri="{FF2B5EF4-FFF2-40B4-BE49-F238E27FC236}">
                <a16:creationId xmlns:a16="http://schemas.microsoft.com/office/drawing/2014/main" id="{1D9D296E-42F1-2DB1-7888-4605D405F12B}"/>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360001"/>
            <a:ext cx="4424080" cy="424731"/>
          </a:xfrm>
        </p:spPr>
        <p:txBody>
          <a:bodyPr/>
          <a:lstStyle/>
          <a:p>
            <a:r>
              <a:rPr lang="en-US" altLang="zh-CN" dirty="0"/>
              <a:t>Project Life Cycle Types</a:t>
            </a:r>
            <a:endParaRPr lang="zh-CN" altLang="en-US" dirty="0"/>
          </a:p>
        </p:txBody>
      </p:sp>
      <p:graphicFrame>
        <p:nvGraphicFramePr>
          <p:cNvPr id="5" name="表格 4">
            <a:extLst>
              <a:ext uri="{FF2B5EF4-FFF2-40B4-BE49-F238E27FC236}">
                <a16:creationId xmlns:a16="http://schemas.microsoft.com/office/drawing/2014/main" id="{98D226DE-68E5-AAE6-D80D-877EA0AF650C}"/>
              </a:ext>
            </a:extLst>
          </p:cNvPr>
          <p:cNvGraphicFramePr>
            <a:graphicFrameLocks noGrp="1"/>
          </p:cNvGraphicFramePr>
          <p:nvPr>
            <p:extLst>
              <p:ext uri="{D42A27DB-BD31-4B8C-83A1-F6EECF244321}">
                <p14:modId xmlns:p14="http://schemas.microsoft.com/office/powerpoint/2010/main" val="3990358674"/>
              </p:ext>
            </p:extLst>
          </p:nvPr>
        </p:nvGraphicFramePr>
        <p:xfrm>
          <a:off x="695997" y="2991600"/>
          <a:ext cx="10785129" cy="3200400"/>
        </p:xfrm>
        <a:graphic>
          <a:graphicData uri="http://schemas.openxmlformats.org/drawingml/2006/table">
            <a:tbl>
              <a:tblPr/>
              <a:tblGrid>
                <a:gridCol w="720000">
                  <a:extLst>
                    <a:ext uri="{9D8B030D-6E8A-4147-A177-3AD203B41FA5}">
                      <a16:colId xmlns:a16="http://schemas.microsoft.com/office/drawing/2014/main" val="219718840"/>
                    </a:ext>
                  </a:extLst>
                </a:gridCol>
                <a:gridCol w="4411699">
                  <a:extLst>
                    <a:ext uri="{9D8B030D-6E8A-4147-A177-3AD203B41FA5}">
                      <a16:colId xmlns:a16="http://schemas.microsoft.com/office/drawing/2014/main" val="4038817863"/>
                    </a:ext>
                  </a:extLst>
                </a:gridCol>
                <a:gridCol w="5653430">
                  <a:extLst>
                    <a:ext uri="{9D8B030D-6E8A-4147-A177-3AD203B41FA5}">
                      <a16:colId xmlns:a16="http://schemas.microsoft.com/office/drawing/2014/main" val="1686519469"/>
                    </a:ext>
                  </a:extLst>
                </a:gridCol>
              </a:tblGrid>
              <a:tr h="0">
                <a:tc>
                  <a:txBody>
                    <a:bodyPr/>
                    <a:lstStyle/>
                    <a:p>
                      <a:pPr algn="ctr">
                        <a:buNone/>
                      </a:pP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dirty="0">
                          <a:solidFill>
                            <a:schemeClr val="bg1"/>
                          </a:solidFill>
                        </a:rPr>
                        <a:t>Life Cycle Type</a:t>
                      </a: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a:solidFill>
                            <a:schemeClr val="bg1"/>
                          </a:solidFill>
                        </a:rPr>
                        <a:t>Key Characteristics</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8606623"/>
                  </a:ext>
                </a:extLst>
              </a:tr>
              <a:tr h="0">
                <a:tc>
                  <a:txBody>
                    <a:bodyPr/>
                    <a:lstStyle/>
                    <a:p>
                      <a:pPr algn="ctr">
                        <a:buNone/>
                      </a:pPr>
                      <a:r>
                        <a:rPr lang="en-US" dirty="0"/>
                        <a:t>1</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预测型 </a:t>
                      </a:r>
                      <a:r>
                        <a:rPr lang="en-US" dirty="0"/>
                        <a:t>Predictive</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Scope, schedule, and cost defined early; </a:t>
                      </a:r>
                    </a:p>
                    <a:p>
                      <a:pPr>
                        <a:buNone/>
                      </a:pPr>
                      <a:r>
                        <a:rPr lang="en-US"/>
                        <a:t>low tolerance for change</a:t>
                      </a:r>
                      <a:endParaRPr lang="en-US" dirty="0"/>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2919921"/>
                  </a:ext>
                </a:extLst>
              </a:tr>
              <a:tr h="0">
                <a:tc>
                  <a:txBody>
                    <a:bodyPr/>
                    <a:lstStyle/>
                    <a:p>
                      <a:pPr algn="ctr">
                        <a:buNone/>
                      </a:pPr>
                      <a:r>
                        <a:rPr lang="en-US" dirty="0"/>
                        <a:t>2</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迭代型 </a:t>
                      </a:r>
                      <a:r>
                        <a:rPr lang="en-US" dirty="0"/>
                        <a:t>Iterative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refined over cycles; </a:t>
                      </a:r>
                    </a:p>
                    <a:p>
                      <a:pPr>
                        <a:buNone/>
                      </a:pPr>
                      <a:r>
                        <a:rPr lang="en-US" dirty="0"/>
                        <a:t>each iteration improves design/understanding</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34103914"/>
                  </a:ext>
                </a:extLst>
              </a:tr>
              <a:tr h="0">
                <a:tc>
                  <a:txBody>
                    <a:bodyPr/>
                    <a:lstStyle/>
                    <a:p>
                      <a:pPr algn="ctr">
                        <a:buNone/>
                      </a:pPr>
                      <a:r>
                        <a:rPr lang="en-US" dirty="0"/>
                        <a:t>3</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增量型 </a:t>
                      </a:r>
                      <a:r>
                        <a:rPr lang="en-US" dirty="0"/>
                        <a:t>Incremental</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delivered in usable chunks; </a:t>
                      </a:r>
                    </a:p>
                    <a:p>
                      <a:pPr>
                        <a:buNone/>
                      </a:pPr>
                      <a:r>
                        <a:rPr lang="en-US" dirty="0"/>
                        <a:t>each increment adds functionality</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746955"/>
                  </a:ext>
                </a:extLst>
              </a:tr>
              <a:tr h="0">
                <a:tc>
                  <a:txBody>
                    <a:bodyPr/>
                    <a:lstStyle/>
                    <a:p>
                      <a:pPr algn="ctr">
                        <a:buNone/>
                      </a:pPr>
                      <a:r>
                        <a:rPr lang="en-US" dirty="0"/>
                        <a:t>4</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dirty="0"/>
                        <a:t>适应型 </a:t>
                      </a:r>
                      <a:r>
                        <a:rPr lang="en-US" altLang="zh-CN" dirty="0"/>
                        <a:t>/ </a:t>
                      </a:r>
                      <a:r>
                        <a:rPr lang="zh-CN" altLang="en-US" dirty="0"/>
                        <a:t>敏捷型 </a:t>
                      </a:r>
                      <a:r>
                        <a:rPr lang="en-US" dirty="0"/>
                        <a:t>Adaptive (Agile)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Combines iterative + incremental; </a:t>
                      </a:r>
                    </a:p>
                    <a:p>
                      <a:pPr>
                        <a:buNone/>
                      </a:pPr>
                      <a:r>
                        <a:rPr lang="en-US" dirty="0"/>
                        <a:t>high responsiveness to change; </a:t>
                      </a:r>
                    </a:p>
                    <a:p>
                      <a:pPr>
                        <a:buNone/>
                      </a:pPr>
                      <a:r>
                        <a:rPr lang="en-US" dirty="0"/>
                        <a:t>stakeholder feedback</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40491"/>
                  </a:ext>
                </a:extLst>
              </a:tr>
            </a:tbl>
          </a:graphicData>
        </a:graphic>
      </p:graphicFrame>
    </p:spTree>
    <p:extLst>
      <p:ext uri="{BB962C8B-B14F-4D97-AF65-F5344CB8AC3E}">
        <p14:creationId xmlns:p14="http://schemas.microsoft.com/office/powerpoint/2010/main" val="213186457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7200000" cy="424732"/>
          </a:xfrm>
        </p:spPr>
        <p:txBody>
          <a:bodyPr>
            <a:normAutofit/>
          </a:bodyPr>
          <a:lstStyle/>
          <a:p>
            <a:r>
              <a:rPr lang="en-US" altLang="zh-CN" dirty="0"/>
              <a:t>6.1 </a:t>
            </a:r>
            <a:r>
              <a:rPr lang="zh-CN" altLang="en-US" dirty="0"/>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1080000"/>
            <a:ext cx="10800000" cy="5112000"/>
          </a:xfrm>
        </p:spPr>
        <p:txBody>
          <a:bodyPr/>
          <a:lstStyle/>
          <a:p>
            <a:r>
              <a:rPr lang="zh-CN" altLang="en-US" dirty="0"/>
              <a:t>瀑布模型</a:t>
            </a:r>
            <a:endParaRPr lang="en-US" altLang="zh-CN" dirty="0"/>
          </a:p>
          <a:p>
            <a:r>
              <a:rPr lang="en-US" altLang="zh-CN" dirty="0"/>
              <a:t>V</a:t>
            </a:r>
            <a:r>
              <a:rPr lang="zh-CN" altLang="en-US" dirty="0"/>
              <a:t>模型</a:t>
            </a:r>
            <a:endParaRPr lang="en-US" altLang="zh-CN" dirty="0"/>
          </a:p>
          <a:p>
            <a:r>
              <a:rPr lang="zh-CN" altLang="en-US" dirty="0"/>
              <a:t>特点：</a:t>
            </a:r>
            <a:endParaRPr lang="en-US" altLang="zh-CN" dirty="0"/>
          </a:p>
          <a:p>
            <a:pPr lvl="1"/>
            <a:r>
              <a:rPr lang="zh-CN" altLang="en-US" dirty="0"/>
              <a:t>需求清晰</a:t>
            </a:r>
            <a:endParaRPr lang="en-US" altLang="zh-CN" dirty="0"/>
          </a:p>
          <a:p>
            <a:pPr lvl="1"/>
            <a:r>
              <a:rPr lang="zh-CN" altLang="en-US" dirty="0"/>
              <a:t>结构化</a:t>
            </a:r>
            <a:endParaRPr lang="en-US" altLang="zh-CN" dirty="0"/>
          </a:p>
          <a:p>
            <a:pPr lvl="1"/>
            <a:r>
              <a:rPr lang="zh-CN" altLang="en-US" dirty="0"/>
              <a:t>前期确定</a:t>
            </a:r>
          </a:p>
          <a:p>
            <a:endParaRPr lang="zh-CN" altLang="en-US" dirty="0"/>
          </a:p>
          <a:p>
            <a:endParaRPr lang="zh-CN" altLang="en-US" dirty="0"/>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6702424" y="360001"/>
            <a:ext cx="4793575" cy="424731"/>
          </a:xfrm>
        </p:spPr>
        <p:txBody>
          <a:bodyPr/>
          <a:lstStyle/>
          <a:p>
            <a:r>
              <a:rPr lang="en-US" altLang="zh-CN" dirty="0"/>
              <a:t>Predictive</a:t>
            </a:r>
          </a:p>
        </p:txBody>
      </p:sp>
    </p:spTree>
    <p:extLst>
      <p:ext uri="{BB962C8B-B14F-4D97-AF65-F5344CB8AC3E}">
        <p14:creationId xmlns:p14="http://schemas.microsoft.com/office/powerpoint/2010/main" val="39882504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4732"/>
          </a:xfrm>
        </p:spPr>
        <p:txBody>
          <a:bodyPr>
            <a:normAutofit/>
          </a:bodyPr>
          <a:lstStyle/>
          <a:p>
            <a:r>
              <a:rPr lang="en-US" altLang="zh-CN" dirty="0"/>
              <a:t>6.1.1 </a:t>
            </a:r>
            <a:r>
              <a:rPr lang="zh-CN" altLang="en-US" dirty="0"/>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328000"/>
          </a:xfrm>
        </p:spPr>
        <p:txBody>
          <a:bodyPr/>
          <a:lstStyle/>
          <a:p>
            <a:r>
              <a:rPr lang="en-US" altLang="zh-CN" dirty="0"/>
              <a:t>Waterfall Model</a:t>
            </a:r>
          </a:p>
          <a:p>
            <a:r>
              <a:rPr lang="zh-CN" altLang="en-US" dirty="0"/>
              <a:t> </a:t>
            </a:r>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a:t>
            </a:r>
          </a:p>
          <a:p>
            <a:r>
              <a:rPr lang="zh-CN" altLang="en-US" dirty="0"/>
              <a:t>典型阶段如右图</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360001"/>
            <a:ext cx="4424080" cy="424731"/>
          </a:xfrm>
        </p:spPr>
        <p:txBody>
          <a:bodyPr/>
          <a:lstStyle/>
          <a:p>
            <a:r>
              <a:rPr lang="en-US" altLang="zh-CN" dirty="0"/>
              <a:t>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dirty="0"/>
                <a:t>System design</a:t>
              </a:r>
              <a:endParaRPr lang="zh-CN" altLang="en-US" dirty="0"/>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dirty="0"/>
                <a:t>Implementation</a:t>
              </a:r>
              <a:endParaRPr lang="zh-CN" altLang="en-US" dirty="0"/>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1039067" cy="369332"/>
            </a:xfrm>
            <a:prstGeom prst="rect">
              <a:avLst/>
            </a:prstGeom>
            <a:noFill/>
          </p:spPr>
          <p:txBody>
            <a:bodyPr wrap="none" rtlCol="0">
              <a:spAutoFit/>
            </a:bodyPr>
            <a:lstStyle/>
            <a:p>
              <a:r>
                <a:rPr lang="en-US" altLang="zh-CN" dirty="0"/>
                <a:t>Testing</a:t>
              </a:r>
              <a:endParaRPr lang="zh-CN" altLang="en-US" dirty="0"/>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837362" cy="369332"/>
            </a:xfrm>
            <a:prstGeom prst="rect">
              <a:avLst/>
            </a:prstGeom>
            <a:noFill/>
          </p:spPr>
          <p:txBody>
            <a:bodyPr wrap="none" rtlCol="0">
              <a:spAutoFit/>
            </a:bodyPr>
            <a:lstStyle/>
            <a:p>
              <a:r>
                <a:rPr lang="en-US" altLang="zh-CN" dirty="0"/>
                <a:t>Development</a:t>
              </a:r>
              <a:endParaRPr lang="zh-CN" altLang="en-US" dirty="0"/>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dirty="0"/>
                <a:t>Maintenance</a:t>
              </a:r>
              <a:endParaRPr lang="zh-CN" altLang="en-US" dirty="0"/>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grpSp>
    </p:spTree>
    <p:extLst>
      <p:ext uri="{BB962C8B-B14F-4D97-AF65-F5344CB8AC3E}">
        <p14:creationId xmlns:p14="http://schemas.microsoft.com/office/powerpoint/2010/main" val="243107213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4732"/>
          </a:xfrm>
        </p:spPr>
        <p:txBody>
          <a:bodyPr>
            <a:normAutofit/>
          </a:bodyPr>
          <a:lstStyle/>
          <a:p>
            <a:r>
              <a:rPr lang="en-US" altLang="zh-CN" dirty="0"/>
              <a:t>6.1.2 V</a:t>
            </a:r>
            <a:r>
              <a:rPr lang="zh-CN" altLang="en-US" dirty="0"/>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328000"/>
          </a:xfrm>
        </p:spPr>
        <p:txBody>
          <a:bodyPr>
            <a:normAutofit/>
          </a:bodyPr>
          <a:lstStyle/>
          <a:p>
            <a:r>
              <a:rPr lang="en-US" altLang="zh-CN" dirty="0"/>
              <a:t>Verification and Validation Model</a:t>
            </a:r>
          </a:p>
          <a:p>
            <a:r>
              <a:rPr lang="zh-CN" altLang="en-US" dirty="0"/>
              <a:t>瀑布模型的扩展和改进版本，强调测试与开发阶段的对应关系</a:t>
            </a:r>
            <a:endParaRPr lang="en-US" altLang="zh-CN" dirty="0"/>
          </a:p>
          <a:p>
            <a:r>
              <a:rPr lang="zh-CN" altLang="en-US" dirty="0"/>
              <a:t>其名称来源于图形呈现为</a:t>
            </a:r>
            <a:r>
              <a:rPr lang="en-US" altLang="zh-CN" dirty="0"/>
              <a:t>V</a:t>
            </a:r>
            <a:r>
              <a:rPr lang="zh-CN" altLang="en-US" dirty="0"/>
              <a:t>字形</a:t>
            </a:r>
            <a:endParaRPr lang="en-US" altLang="zh-CN" dirty="0"/>
          </a:p>
          <a:p>
            <a:pPr lvl="1"/>
            <a:r>
              <a:rPr lang="zh-CN" altLang="en-US" dirty="0"/>
              <a:t>左侧是开发阶段</a:t>
            </a:r>
            <a:endParaRPr lang="en-US" altLang="zh-CN" dirty="0"/>
          </a:p>
          <a:p>
            <a:pPr lvl="1"/>
            <a:r>
              <a:rPr lang="zh-CN" altLang="en-US" dirty="0"/>
              <a:t>右侧是对应的测试</a:t>
            </a:r>
            <a:r>
              <a:rPr lang="en-US" altLang="zh-CN" dirty="0"/>
              <a:t>/</a:t>
            </a:r>
            <a:r>
              <a:rPr lang="zh-CN" altLang="en-US" dirty="0"/>
              <a:t>验证阶段</a:t>
            </a:r>
          </a:p>
          <a:p>
            <a:r>
              <a:rPr lang="zh-CN" altLang="en-US" dirty="0"/>
              <a:t>测试计划在开发早期就制定</a:t>
            </a:r>
          </a:p>
          <a:p>
            <a:r>
              <a:rPr lang="zh-CN" altLang="en-US" dirty="0"/>
              <a:t>强调尽早测试理念</a:t>
            </a:r>
          </a:p>
          <a:p>
            <a:r>
              <a:rPr lang="zh-CN" altLang="en-US" dirty="0"/>
              <a:t>仍为线性模型，灵活性有限</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360001"/>
            <a:ext cx="4424080" cy="424731"/>
          </a:xfrm>
        </p:spPr>
        <p:txBody>
          <a:bodyPr/>
          <a:lstStyle/>
          <a:p>
            <a:r>
              <a:rPr lang="en-US" altLang="zh-CN" dirty="0"/>
              <a:t>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Acceptance</a:t>
            </a:r>
          </a:p>
          <a:p>
            <a:pPr algn="ctr"/>
            <a:r>
              <a:rPr lang="en-US" altLang="zh-CN" sz="1600" dirty="0"/>
              <a:t>test</a:t>
            </a:r>
            <a:endParaRPr lang="zh-CN" altLang="en-US" sz="1600" dirty="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design</a:t>
            </a:r>
            <a:endParaRPr lang="zh-CN" altLang="en-US" sz="1600" dirty="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test</a:t>
            </a:r>
            <a:endParaRPr lang="zh-CN" altLang="en-US" sz="1600" dirty="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Architecture design</a:t>
            </a:r>
            <a:endParaRPr lang="zh-CN" altLang="en-US" sz="1600" dirty="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Integration</a:t>
            </a:r>
          </a:p>
          <a:p>
            <a:pPr algn="ctr"/>
            <a:r>
              <a:rPr lang="en-US" altLang="zh-CN" sz="1600" dirty="0"/>
              <a:t>test</a:t>
            </a:r>
            <a:endParaRPr lang="zh-CN" altLang="en-US" sz="1600" dirty="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Modular</a:t>
            </a:r>
          </a:p>
          <a:p>
            <a:pPr algn="ctr"/>
            <a:r>
              <a:rPr lang="en-US" altLang="zh-CN" sz="1600" dirty="0"/>
              <a:t>design</a:t>
            </a:r>
            <a:endParaRPr lang="zh-CN" altLang="en-US" sz="1600" dirty="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Unit</a:t>
            </a:r>
          </a:p>
          <a:p>
            <a:pPr algn="ctr"/>
            <a:r>
              <a:rPr lang="zh-CN" altLang="en-US" sz="1600" dirty="0"/>
              <a:t> </a:t>
            </a:r>
            <a:r>
              <a:rPr lang="en-US" altLang="zh-CN" sz="1600" dirty="0"/>
              <a:t>test</a:t>
            </a:r>
            <a:endParaRPr lang="zh-CN" altLang="en-US" sz="1600" dirty="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Coding</a:t>
            </a:r>
            <a:endParaRPr lang="zh-CN" altLang="en-US" sz="1600" dirty="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83423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F52CEF-164B-70C6-9B8A-3CF809E857AE}"/>
              </a:ext>
            </a:extLst>
          </p:cNvPr>
          <p:cNvSpPr>
            <a:spLocks noGrp="1"/>
          </p:cNvSpPr>
          <p:nvPr>
            <p:ph type="title"/>
          </p:nvPr>
        </p:nvSpPr>
        <p:spPr/>
        <p:txBody>
          <a:bodyPr/>
          <a:lstStyle/>
          <a:p>
            <a:r>
              <a:rPr lang="zh-CN" altLang="en-US" dirty="0"/>
              <a:t>原型化模型 </a:t>
            </a:r>
            <a:r>
              <a:rPr lang="en-US" altLang="zh-CN" dirty="0"/>
              <a:t>Prototype</a:t>
            </a:r>
            <a:endParaRPr lang="zh-CN" altLang="en-US" dirty="0"/>
          </a:p>
        </p:txBody>
      </p:sp>
      <p:sp>
        <p:nvSpPr>
          <p:cNvPr id="3" name="内容占位符 2">
            <a:extLst>
              <a:ext uri="{FF2B5EF4-FFF2-40B4-BE49-F238E27FC236}">
                <a16:creationId xmlns:a16="http://schemas.microsoft.com/office/drawing/2014/main" id="{9C43B219-F514-B8BE-02AC-57499B086C3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6634C18-9731-B8BA-9503-D8EFAE00CB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907858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4732"/>
          </a:xfrm>
        </p:spPr>
        <p:txBody>
          <a:bodyPr>
            <a:normAutofit/>
          </a:bodyPr>
          <a:lstStyle/>
          <a:p>
            <a:r>
              <a:rPr lang="en-US" altLang="zh-CN" dirty="0"/>
              <a:t>6.2 </a:t>
            </a:r>
            <a:r>
              <a:rPr lang="zh-CN" altLang="en-US" dirty="0"/>
              <a:t>迭代型</a:t>
            </a:r>
          </a:p>
        </p:txBody>
      </p:sp>
      <p:sp>
        <p:nvSpPr>
          <p:cNvPr id="7" name="Content Placeholder 6">
            <a:extLst>
              <a:ext uri="{FF2B5EF4-FFF2-40B4-BE49-F238E27FC236}">
                <a16:creationId xmlns:a16="http://schemas.microsoft.com/office/drawing/2014/main" id="{A06E4BE1-015F-8D83-82FF-166505560E9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360001"/>
            <a:ext cx="4424080" cy="424731"/>
          </a:xfrm>
        </p:spPr>
        <p:txBody>
          <a:bodyPr/>
          <a:lstStyle/>
          <a:p>
            <a:r>
              <a:rPr lang="en-US" altLang="zh-CN" dirty="0"/>
              <a:t>Iterative</a:t>
            </a:r>
          </a:p>
        </p:txBody>
      </p:sp>
    </p:spTree>
    <p:extLst>
      <p:ext uri="{BB962C8B-B14F-4D97-AF65-F5344CB8AC3E}">
        <p14:creationId xmlns:p14="http://schemas.microsoft.com/office/powerpoint/2010/main" val="26077800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4732"/>
          </a:xfrm>
        </p:spPr>
        <p:txBody>
          <a:bodyPr>
            <a:normAutofit/>
          </a:bodyPr>
          <a:lstStyle/>
          <a:p>
            <a:r>
              <a:rPr lang="en-US" altLang="zh-CN" dirty="0"/>
              <a:t>6.3 </a:t>
            </a:r>
            <a:r>
              <a:rPr lang="zh-CN" altLang="en-US" dirty="0"/>
              <a:t>增量型</a:t>
            </a:r>
          </a:p>
        </p:txBody>
      </p:sp>
      <p:sp>
        <p:nvSpPr>
          <p:cNvPr id="7" name="Content Placeholder 6">
            <a:extLst>
              <a:ext uri="{FF2B5EF4-FFF2-40B4-BE49-F238E27FC236}">
                <a16:creationId xmlns:a16="http://schemas.microsoft.com/office/drawing/2014/main" id="{98F17D6F-5488-032C-1F32-7839C0B5DCEB}"/>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360001"/>
            <a:ext cx="4424080" cy="424731"/>
          </a:xfrm>
        </p:spPr>
        <p:txBody>
          <a:bodyPr/>
          <a:lstStyle/>
          <a:p>
            <a:r>
              <a:rPr lang="en-US" altLang="zh-CN" dirty="0"/>
              <a:t>Incremental</a:t>
            </a:r>
            <a:endParaRPr lang="zh-CN" altLang="en-US" dirty="0"/>
          </a:p>
        </p:txBody>
      </p:sp>
    </p:spTree>
    <p:extLst>
      <p:ext uri="{BB962C8B-B14F-4D97-AF65-F5344CB8AC3E}">
        <p14:creationId xmlns:p14="http://schemas.microsoft.com/office/powerpoint/2010/main" val="34772131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4732"/>
          </a:xfrm>
        </p:spPr>
        <p:txBody>
          <a:bodyPr>
            <a:normAutofit/>
          </a:bodyPr>
          <a:lstStyle/>
          <a:p>
            <a:r>
              <a:rPr lang="en-US" altLang="zh-CN" dirty="0"/>
              <a:t>6.4 </a:t>
            </a:r>
            <a:r>
              <a:rPr lang="zh-CN" altLang="en-US" dirty="0"/>
              <a:t>敏捷型</a:t>
            </a:r>
          </a:p>
        </p:txBody>
      </p:sp>
      <p:sp>
        <p:nvSpPr>
          <p:cNvPr id="7" name="Content Placeholder 6">
            <a:extLst>
              <a:ext uri="{FF2B5EF4-FFF2-40B4-BE49-F238E27FC236}">
                <a16:creationId xmlns:a16="http://schemas.microsoft.com/office/drawing/2014/main" id="{01B4D3EE-C569-7457-9086-D285A422B9B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45241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5998" y="360000"/>
            <a:ext cx="6375921" cy="424732"/>
          </a:xfrm>
        </p:spPr>
        <p:txBody>
          <a:bodyPr>
            <a:normAutofit/>
          </a:bodyPr>
          <a:lstStyle/>
          <a:p>
            <a:r>
              <a:rPr lang="en-US" altLang="zh-CN" dirty="0"/>
              <a:t>Scrum</a:t>
            </a:r>
            <a:endParaRPr lang="zh-CN" altLang="en-US" dirty="0"/>
          </a:p>
        </p:txBody>
      </p:sp>
      <p:sp>
        <p:nvSpPr>
          <p:cNvPr id="3" name="内容占位符 2">
            <a:extLst>
              <a:ext uri="{FF2B5EF4-FFF2-40B4-BE49-F238E27FC236}">
                <a16:creationId xmlns:a16="http://schemas.microsoft.com/office/drawing/2014/main" id="{15780787-8DE9-A954-129B-C9315F9232A7}"/>
              </a:ext>
            </a:extLst>
          </p:cNvPr>
          <p:cNvSpPr>
            <a:spLocks noGrp="1"/>
          </p:cNvSpPr>
          <p:nvPr>
            <p:ph idx="1"/>
          </p:nvPr>
        </p:nvSpPr>
        <p:spPr>
          <a:xfrm>
            <a:off x="696000" y="864000"/>
            <a:ext cx="10800000" cy="5328000"/>
          </a:xfrm>
        </p:spPr>
        <p:txBody>
          <a:bodyPr>
            <a:normAutofit/>
          </a:bodyPr>
          <a:lstStyle/>
          <a:p>
            <a:r>
              <a:rPr lang="en-US" altLang="zh-CN" dirty="0"/>
              <a:t>Scrum is a lightweight framework that helps people, teams and organizations generate value through adaptive solutions for complex problems.</a:t>
            </a:r>
          </a:p>
          <a:p>
            <a:endParaRPr lang="en-US" altLang="zh-CN" dirty="0"/>
          </a:p>
          <a:p>
            <a:r>
              <a:rPr lang="en-US" altLang="zh-CN" dirty="0"/>
              <a:t>Scrum requires a Scrum Master to foster an environment where:</a:t>
            </a:r>
          </a:p>
          <a:p>
            <a:pPr lvl="1"/>
            <a:r>
              <a:rPr lang="en-US" altLang="zh-CN" dirty="0"/>
              <a:t>A Product Owner orders the work for a complex problem into a Product Backlog.</a:t>
            </a:r>
          </a:p>
          <a:p>
            <a:pPr lvl="1"/>
            <a:r>
              <a:rPr lang="zh-CN" altLang="en-US" dirty="0"/>
              <a:t>产品负责人将复杂问题的工作订单放入产品待办事项列表中。</a:t>
            </a:r>
          </a:p>
          <a:p>
            <a:pPr lvl="1"/>
            <a:r>
              <a:rPr lang="en-US" altLang="zh-CN" dirty="0"/>
              <a:t>The Scrum Team turns a selection of the work into an Increment of value during a Sprint.</a:t>
            </a:r>
          </a:p>
          <a:p>
            <a:pPr lvl="1"/>
            <a:r>
              <a:rPr lang="zh-CN" altLang="en-US" dirty="0"/>
              <a:t>敏捷团队在冲刺期间将一部分工作转化为价值增量。</a:t>
            </a:r>
          </a:p>
          <a:p>
            <a:pPr lvl="1"/>
            <a:r>
              <a:rPr lang="en-US" altLang="zh-CN" dirty="0"/>
              <a:t>The Scrum Team and its stakeholders inspect the results and adjust for the next Sprint.</a:t>
            </a:r>
          </a:p>
          <a:p>
            <a:pPr lvl="1"/>
            <a:r>
              <a:rPr lang="zh-CN" altLang="en-US" dirty="0"/>
              <a:t>敏捷团队及其利益相关者检查结果并调整以备下一轮迭代。</a:t>
            </a:r>
          </a:p>
          <a:p>
            <a:pPr lvl="1"/>
            <a:r>
              <a:rPr lang="en-US" altLang="zh-CN" dirty="0"/>
              <a:t>Repeat.</a:t>
            </a:r>
          </a:p>
          <a:p>
            <a:r>
              <a:rPr lang="en-US" altLang="zh-CN" dirty="0"/>
              <a:t>3-3-5-5</a:t>
            </a:r>
          </a:p>
        </p:txBody>
      </p:sp>
      <p:sp>
        <p:nvSpPr>
          <p:cNvPr id="4" name="文本占位符 3">
            <a:extLst>
              <a:ext uri="{FF2B5EF4-FFF2-40B4-BE49-F238E27FC236}">
                <a16:creationId xmlns:a16="http://schemas.microsoft.com/office/drawing/2014/main" id="{1803B349-5414-1E1D-2271-2D1608E0B179}"/>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08939448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4732"/>
          </a:xfrm>
        </p:spPr>
        <p:txBody>
          <a:bodyPr>
            <a:normAutofit/>
          </a:bodyPr>
          <a:lstStyle/>
          <a:p>
            <a:r>
              <a:rPr lang="en-US" altLang="zh-CN" dirty="0"/>
              <a:t>6.4.1 </a:t>
            </a:r>
            <a:r>
              <a:rPr lang="zh-CN" altLang="en-US" dirty="0"/>
              <a:t>敏捷价值观 </a:t>
            </a:r>
            <a:r>
              <a:rPr lang="en-US" altLang="zh-CN" dirty="0"/>
              <a:t>Scrum Values</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328000"/>
          </a:xfrm>
        </p:spPr>
        <p:txBody>
          <a:bodyPr>
            <a:normAutofit/>
          </a:bodyPr>
          <a:lstStyle/>
          <a:p>
            <a:r>
              <a:rPr lang="en-US" altLang="zh-CN" dirty="0"/>
              <a:t>5</a:t>
            </a:r>
            <a:r>
              <a:rPr lang="zh-CN" altLang="en-US" dirty="0"/>
              <a:t>个价值观</a:t>
            </a:r>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360001"/>
            <a:ext cx="4424080" cy="424731"/>
          </a:xfrm>
        </p:spPr>
        <p:txBody>
          <a:bodyPr/>
          <a:lstStyle/>
          <a:p>
            <a:r>
              <a:rPr lang="en-US" altLang="zh-CN"/>
              <a:t>Agile</a:t>
            </a:r>
            <a:endParaRPr lang="zh-CN" altLang="en-US" dirty="0"/>
          </a:p>
        </p:txBody>
      </p:sp>
      <p:graphicFrame>
        <p:nvGraphicFramePr>
          <p:cNvPr id="5" name="图示 4">
            <a:extLst>
              <a:ext uri="{FF2B5EF4-FFF2-40B4-BE49-F238E27FC236}">
                <a16:creationId xmlns:a16="http://schemas.microsoft.com/office/drawing/2014/main" id="{4FE710AB-0FDC-FE60-6BBC-ED504CCE5A13}"/>
              </a:ext>
            </a:extLst>
          </p:cNvPr>
          <p:cNvGraphicFramePr>
            <a:graphicFrameLocks noChangeAspect="1"/>
          </p:cNvGraphicFramePr>
          <p:nvPr>
            <p:extLst>
              <p:ext uri="{D42A27DB-BD31-4B8C-83A1-F6EECF244321}">
                <p14:modId xmlns:p14="http://schemas.microsoft.com/office/powerpoint/2010/main" val="1722025490"/>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文本框 20">
            <a:extLst>
              <a:ext uri="{FF2B5EF4-FFF2-40B4-BE49-F238E27FC236}">
                <a16:creationId xmlns:a16="http://schemas.microsoft.com/office/drawing/2014/main" id="{DCF03C1D-5E51-CF36-4DCA-6EBB50B1AE80}"/>
              </a:ext>
            </a:extLst>
          </p:cNvPr>
          <p:cNvSpPr txBox="1"/>
          <p:nvPr/>
        </p:nvSpPr>
        <p:spPr>
          <a:xfrm>
            <a:off x="5208577" y="1434068"/>
            <a:ext cx="1774845" cy="369332"/>
          </a:xfrm>
          <a:prstGeom prst="rect">
            <a:avLst/>
          </a:prstGeom>
          <a:noFill/>
        </p:spPr>
        <p:txBody>
          <a:bodyPr wrap="none" rtlCol="0">
            <a:spAutoFit/>
          </a:bodyPr>
          <a:lstStyle/>
          <a:p>
            <a:pPr algn="ctr"/>
            <a:r>
              <a:rPr lang="en-US" altLang="zh-CN" dirty="0"/>
              <a:t>Commitment</a:t>
            </a:r>
            <a:endParaRPr lang="zh-CN" altLang="en-US" dirty="0"/>
          </a:p>
        </p:txBody>
      </p:sp>
      <p:sp>
        <p:nvSpPr>
          <p:cNvPr id="22" name="文本框 21">
            <a:extLst>
              <a:ext uri="{FF2B5EF4-FFF2-40B4-BE49-F238E27FC236}">
                <a16:creationId xmlns:a16="http://schemas.microsoft.com/office/drawing/2014/main" id="{38BFF154-81A5-7FD3-2466-D58F9BE7095E}"/>
              </a:ext>
            </a:extLst>
          </p:cNvPr>
          <p:cNvSpPr txBox="1"/>
          <p:nvPr/>
        </p:nvSpPr>
        <p:spPr>
          <a:xfrm>
            <a:off x="7768643" y="3007755"/>
            <a:ext cx="872355" cy="369332"/>
          </a:xfrm>
          <a:prstGeom prst="rect">
            <a:avLst/>
          </a:prstGeom>
          <a:noFill/>
        </p:spPr>
        <p:txBody>
          <a:bodyPr wrap="none" rtlCol="0">
            <a:spAutoFit/>
          </a:bodyPr>
          <a:lstStyle/>
          <a:p>
            <a:pPr algn="ctr"/>
            <a:r>
              <a:rPr lang="en-US" altLang="zh-CN" dirty="0"/>
              <a:t>Focus</a:t>
            </a:r>
            <a:endParaRPr lang="zh-CN" altLang="en-US" dirty="0"/>
          </a:p>
        </p:txBody>
      </p:sp>
      <p:sp>
        <p:nvSpPr>
          <p:cNvPr id="23" name="文本框 22">
            <a:extLst>
              <a:ext uri="{FF2B5EF4-FFF2-40B4-BE49-F238E27FC236}">
                <a16:creationId xmlns:a16="http://schemas.microsoft.com/office/drawing/2014/main" id="{34AEB695-845E-E57B-AC3B-ECBE4B8AB4FA}"/>
              </a:ext>
            </a:extLst>
          </p:cNvPr>
          <p:cNvSpPr txBox="1"/>
          <p:nvPr/>
        </p:nvSpPr>
        <p:spPr>
          <a:xfrm>
            <a:off x="7337389" y="4334481"/>
            <a:ext cx="1350049" cy="369332"/>
          </a:xfrm>
          <a:prstGeom prst="rect">
            <a:avLst/>
          </a:prstGeom>
          <a:noFill/>
        </p:spPr>
        <p:txBody>
          <a:bodyPr wrap="none" rtlCol="0">
            <a:spAutoFit/>
          </a:bodyPr>
          <a:lstStyle/>
          <a:p>
            <a:pPr algn="ctr"/>
            <a:r>
              <a:rPr lang="en-US" altLang="zh-CN" dirty="0"/>
              <a:t>Openness</a:t>
            </a:r>
            <a:endParaRPr lang="zh-CN" altLang="en-US" dirty="0"/>
          </a:p>
        </p:txBody>
      </p:sp>
      <p:sp>
        <p:nvSpPr>
          <p:cNvPr id="24" name="文本框 23">
            <a:extLst>
              <a:ext uri="{FF2B5EF4-FFF2-40B4-BE49-F238E27FC236}">
                <a16:creationId xmlns:a16="http://schemas.microsoft.com/office/drawing/2014/main" id="{821585AB-AD17-A67D-A9A5-D9853766B7A7}"/>
              </a:ext>
            </a:extLst>
          </p:cNvPr>
          <p:cNvSpPr txBox="1"/>
          <p:nvPr/>
        </p:nvSpPr>
        <p:spPr>
          <a:xfrm>
            <a:off x="3732190" y="4334481"/>
            <a:ext cx="1122423" cy="369332"/>
          </a:xfrm>
          <a:prstGeom prst="rect">
            <a:avLst/>
          </a:prstGeom>
          <a:noFill/>
        </p:spPr>
        <p:txBody>
          <a:bodyPr wrap="none" rtlCol="0">
            <a:spAutoFit/>
          </a:bodyPr>
          <a:lstStyle/>
          <a:p>
            <a:pPr algn="ctr"/>
            <a:r>
              <a:rPr lang="en-US" altLang="zh-CN" dirty="0"/>
              <a:t>Respect</a:t>
            </a:r>
            <a:endParaRPr lang="zh-CN" altLang="en-US" dirty="0"/>
          </a:p>
        </p:txBody>
      </p:sp>
      <p:sp>
        <p:nvSpPr>
          <p:cNvPr id="25" name="文本框 24">
            <a:extLst>
              <a:ext uri="{FF2B5EF4-FFF2-40B4-BE49-F238E27FC236}">
                <a16:creationId xmlns:a16="http://schemas.microsoft.com/office/drawing/2014/main" id="{53FB7CB7-0B5D-9C26-5EC0-4D6E26A4772F}"/>
              </a:ext>
            </a:extLst>
          </p:cNvPr>
          <p:cNvSpPr txBox="1"/>
          <p:nvPr/>
        </p:nvSpPr>
        <p:spPr>
          <a:xfrm>
            <a:off x="3244831" y="3013165"/>
            <a:ext cx="1178528" cy="369332"/>
          </a:xfrm>
          <a:prstGeom prst="rect">
            <a:avLst/>
          </a:prstGeom>
          <a:noFill/>
        </p:spPr>
        <p:txBody>
          <a:bodyPr wrap="none" rtlCol="0">
            <a:spAutoFit/>
          </a:bodyPr>
          <a:lstStyle/>
          <a:p>
            <a:pPr algn="ctr"/>
            <a:r>
              <a:rPr lang="en-US" altLang="zh-CN" dirty="0"/>
              <a:t>Courage</a:t>
            </a:r>
            <a:endParaRPr lang="zh-CN" altLang="en-US" dirty="0"/>
          </a:p>
        </p:txBody>
      </p:sp>
    </p:spTree>
    <p:extLst>
      <p:ext uri="{BB962C8B-B14F-4D97-AF65-F5344CB8AC3E}">
        <p14:creationId xmlns:p14="http://schemas.microsoft.com/office/powerpoint/2010/main" val="66200774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4732"/>
          </a:xfrm>
        </p:spPr>
        <p:txBody>
          <a:bodyPr>
            <a:normAutofit/>
          </a:bodyPr>
          <a:lstStyle/>
          <a:p>
            <a:r>
              <a:rPr lang="en-US" altLang="zh-CN" dirty="0"/>
              <a:t>6.4.2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864000"/>
            <a:ext cx="10800000" cy="5328000"/>
          </a:xfrm>
        </p:spPr>
        <p:txBody>
          <a:bodyPr>
            <a:normAutofit/>
          </a:bodyPr>
          <a:lstStyle/>
          <a:p>
            <a:r>
              <a:rPr lang="en-US" altLang="zh-CN" dirty="0"/>
              <a:t>Pillars of Scrum</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5" name="图示 4">
            <a:extLst>
              <a:ext uri="{FF2B5EF4-FFF2-40B4-BE49-F238E27FC236}">
                <a16:creationId xmlns:a16="http://schemas.microsoft.com/office/drawing/2014/main" id="{E253287A-1B3A-FBEC-CB16-ADD31DF1DB24}"/>
              </a:ext>
            </a:extLst>
          </p:cNvPr>
          <p:cNvGraphicFramePr>
            <a:graphicFrameLocks noChangeAspect="1"/>
          </p:cNvGraphicFramePr>
          <p:nvPr>
            <p:extLst>
              <p:ext uri="{D42A27DB-BD31-4B8C-83A1-F6EECF244321}">
                <p14:modId xmlns:p14="http://schemas.microsoft.com/office/powerpoint/2010/main" val="536970553"/>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9541315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4732"/>
          </a:xfrm>
        </p:spPr>
        <p:txBody>
          <a:bodyPr>
            <a:normAutofit/>
          </a:bodyPr>
          <a:lstStyle/>
          <a:p>
            <a:r>
              <a:rPr lang="en-US" altLang="zh-CN" dirty="0"/>
              <a:t>6.4.2.1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864000"/>
            <a:ext cx="10800000" cy="5328000"/>
          </a:xfrm>
        </p:spPr>
        <p:txBody>
          <a:bodyPr>
            <a:normAutofit/>
          </a:bodyPr>
          <a:lstStyle/>
          <a:p>
            <a:r>
              <a:rPr lang="zh-CN" altLang="en-US" dirty="0"/>
              <a:t>透明性 </a:t>
            </a:r>
            <a:r>
              <a:rPr lang="en-US" altLang="zh-CN" dirty="0"/>
              <a:t>Transparency</a:t>
            </a:r>
            <a:endParaRPr lang="zh-CN" altLang="en-US" dirty="0"/>
          </a:p>
          <a:p>
            <a:pPr lvl="1"/>
            <a:r>
              <a:rPr lang="zh-CN" altLang="en-US" dirty="0"/>
              <a:t>所有与过程、工作、进展和挑战相关的信息必须对团队和干系人清晰可见。</a:t>
            </a:r>
          </a:p>
          <a:p>
            <a:pPr lvl="1"/>
            <a:r>
              <a:rPr lang="zh-CN" altLang="en-US" dirty="0"/>
              <a:t>工作项（如 </a:t>
            </a:r>
            <a:r>
              <a:rPr lang="en-US" altLang="zh-CN" dirty="0"/>
              <a:t>Product Backlog</a:t>
            </a:r>
            <a:r>
              <a:rPr lang="zh-CN" altLang="en-US" dirty="0"/>
              <a:t>）的内容、状态和优先级必须公开。</a:t>
            </a:r>
          </a:p>
          <a:p>
            <a:pPr lvl="1"/>
            <a:r>
              <a:rPr lang="zh-CN" altLang="en-US" dirty="0"/>
              <a:t>团队使用统一的术语（如“完成”需有明确定义</a:t>
            </a:r>
            <a:r>
              <a:rPr lang="en-US" altLang="zh-CN" dirty="0"/>
              <a:t>——Definition of Done</a:t>
            </a:r>
            <a:r>
              <a:rPr lang="zh-CN" altLang="en-US" dirty="0"/>
              <a:t>）。</a:t>
            </a:r>
          </a:p>
          <a:p>
            <a:pPr lvl="1"/>
            <a:r>
              <a:rPr lang="zh-CN" altLang="en-US" dirty="0"/>
              <a:t>进度通过可视化工具（如 </a:t>
            </a:r>
            <a:r>
              <a:rPr lang="en-US" altLang="zh-CN" dirty="0"/>
              <a:t>Sprint Burndown Chart</a:t>
            </a:r>
            <a:r>
              <a:rPr lang="zh-CN" altLang="en-US" dirty="0"/>
              <a:t>、看板）展示。</a:t>
            </a:r>
          </a:p>
          <a:p>
            <a:pPr lvl="1"/>
            <a:r>
              <a:rPr lang="zh-CN" altLang="en-US" dirty="0"/>
              <a:t>目的：确保所有人基于相同事实做决策，避免误解和隐藏问题。</a:t>
            </a:r>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3226501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B9B9C-FE7C-43FA-6074-450CA725C4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1B2DBA-EB28-86E9-708A-E7263B31E26C}"/>
              </a:ext>
            </a:extLst>
          </p:cNvPr>
          <p:cNvSpPr>
            <a:spLocks noGrp="1"/>
          </p:cNvSpPr>
          <p:nvPr>
            <p:ph type="title"/>
          </p:nvPr>
        </p:nvSpPr>
        <p:spPr>
          <a:xfrm>
            <a:off x="695998" y="360000"/>
            <a:ext cx="6375921" cy="424732"/>
          </a:xfrm>
        </p:spPr>
        <p:txBody>
          <a:bodyPr>
            <a:normAutofit/>
          </a:bodyPr>
          <a:lstStyle/>
          <a:p>
            <a:r>
              <a:rPr lang="en-US" altLang="zh-CN" dirty="0"/>
              <a:t>6.4.2.2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CA2C378-9EC1-86B4-F634-8E82F80F4D31}"/>
              </a:ext>
            </a:extLst>
          </p:cNvPr>
          <p:cNvSpPr>
            <a:spLocks noGrp="1"/>
          </p:cNvSpPr>
          <p:nvPr>
            <p:ph idx="1"/>
          </p:nvPr>
        </p:nvSpPr>
        <p:spPr>
          <a:xfrm>
            <a:off x="696000" y="864000"/>
            <a:ext cx="10800000" cy="5328000"/>
          </a:xfrm>
        </p:spPr>
        <p:txBody>
          <a:bodyPr>
            <a:normAutofit/>
          </a:bodyPr>
          <a:lstStyle/>
          <a:p>
            <a:r>
              <a:rPr lang="zh-CN" altLang="en-US" dirty="0"/>
              <a:t>检视 </a:t>
            </a:r>
            <a:r>
              <a:rPr lang="en-US" altLang="zh-CN" dirty="0"/>
              <a:t>Inspection</a:t>
            </a:r>
            <a:endParaRPr lang="zh-CN" altLang="en-US" dirty="0"/>
          </a:p>
          <a:p>
            <a:pPr lvl="1"/>
            <a:r>
              <a:rPr lang="en-US" altLang="zh-CN" dirty="0"/>
              <a:t>Scrum </a:t>
            </a:r>
            <a:r>
              <a:rPr lang="zh-CN" altLang="en-US" dirty="0"/>
              <a:t>团队定期检查产品、过程和计划，以识别偏差或改进机会。</a:t>
            </a:r>
          </a:p>
          <a:p>
            <a:pPr lvl="1"/>
            <a:r>
              <a:rPr lang="zh-CN" altLang="en-US" dirty="0"/>
              <a:t>在固定时间点进行：</a:t>
            </a:r>
          </a:p>
          <a:p>
            <a:pPr lvl="1"/>
            <a:r>
              <a:rPr lang="en-US" altLang="zh-CN" dirty="0"/>
              <a:t>Daily Scrum</a:t>
            </a:r>
            <a:r>
              <a:rPr lang="zh-CN" altLang="en-US" dirty="0"/>
              <a:t>：每日检视进度与障碍</a:t>
            </a:r>
          </a:p>
          <a:p>
            <a:pPr lvl="1"/>
            <a:r>
              <a:rPr lang="en-US" altLang="zh-CN" dirty="0"/>
              <a:t>Sprint Review</a:t>
            </a:r>
            <a:r>
              <a:rPr lang="zh-CN" altLang="en-US" dirty="0"/>
              <a:t>：检视可交付成果是否满足目标</a:t>
            </a:r>
          </a:p>
          <a:p>
            <a:pPr lvl="1"/>
            <a:r>
              <a:rPr lang="en-US" altLang="zh-CN" dirty="0"/>
              <a:t>Sprint Retrospective</a:t>
            </a:r>
            <a:r>
              <a:rPr lang="zh-CN" altLang="en-US" dirty="0"/>
              <a:t>：检视流程与协作方式</a:t>
            </a:r>
          </a:p>
          <a:p>
            <a:pPr lvl="1"/>
            <a:r>
              <a:rPr lang="zh-CN" altLang="en-US" dirty="0"/>
              <a:t>检视必须及时（不能等到项目结束），且不影响正常工作流。</a:t>
            </a:r>
          </a:p>
          <a:p>
            <a:pPr lvl="1"/>
            <a:r>
              <a:rPr lang="zh-CN" altLang="en-US" dirty="0"/>
              <a:t>目的：尽早发现问题，防止小偏差演变成大风险。</a:t>
            </a:r>
          </a:p>
        </p:txBody>
      </p:sp>
      <p:sp>
        <p:nvSpPr>
          <p:cNvPr id="4" name="文本占位符 3">
            <a:extLst>
              <a:ext uri="{FF2B5EF4-FFF2-40B4-BE49-F238E27FC236}">
                <a16:creationId xmlns:a16="http://schemas.microsoft.com/office/drawing/2014/main" id="{D8D92919-39A9-E1A8-D096-6AB6F0081756}"/>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35677342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1D866-D0D6-17FC-5CAF-7C2DFFF7732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7F18F71-78FC-0508-C5A4-F215D710E704}"/>
              </a:ext>
            </a:extLst>
          </p:cNvPr>
          <p:cNvSpPr>
            <a:spLocks noGrp="1"/>
          </p:cNvSpPr>
          <p:nvPr>
            <p:ph type="title"/>
          </p:nvPr>
        </p:nvSpPr>
        <p:spPr>
          <a:xfrm>
            <a:off x="695998" y="360000"/>
            <a:ext cx="6375921" cy="424732"/>
          </a:xfrm>
        </p:spPr>
        <p:txBody>
          <a:bodyPr>
            <a:normAutofit/>
          </a:bodyPr>
          <a:lstStyle/>
          <a:p>
            <a:r>
              <a:rPr lang="en-US" altLang="zh-CN" dirty="0"/>
              <a:t>6.4.2.3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2BB11921-90F9-E334-41D4-BC2D0F24AF77}"/>
              </a:ext>
            </a:extLst>
          </p:cNvPr>
          <p:cNvSpPr>
            <a:spLocks noGrp="1"/>
          </p:cNvSpPr>
          <p:nvPr>
            <p:ph idx="1"/>
          </p:nvPr>
        </p:nvSpPr>
        <p:spPr>
          <a:xfrm>
            <a:off x="696000" y="864000"/>
            <a:ext cx="10800000" cy="5328000"/>
          </a:xfrm>
        </p:spPr>
        <p:txBody>
          <a:bodyPr>
            <a:normAutofit/>
          </a:bodyPr>
          <a:lstStyle/>
          <a:p>
            <a:r>
              <a:rPr lang="zh-CN" altLang="en-US" dirty="0"/>
              <a:t>适应 </a:t>
            </a:r>
            <a:r>
              <a:rPr lang="en-US" altLang="zh-CN" dirty="0"/>
              <a:t>Adaptation</a:t>
            </a:r>
            <a:endParaRPr lang="zh-CN" altLang="en-US" dirty="0"/>
          </a:p>
          <a:p>
            <a:pPr lvl="1"/>
            <a:r>
              <a:rPr lang="zh-CN" altLang="en-US" dirty="0"/>
              <a:t>基于检视结果，团队必须迅速调整行为、计划或方法。</a:t>
            </a:r>
          </a:p>
          <a:p>
            <a:pPr lvl="1"/>
            <a:r>
              <a:rPr lang="zh-CN" altLang="en-US" dirty="0"/>
              <a:t>如果发现产品方向偏离，可在下个 </a:t>
            </a:r>
            <a:r>
              <a:rPr lang="en-US" altLang="zh-CN" dirty="0"/>
              <a:t>Sprint </a:t>
            </a:r>
            <a:r>
              <a:rPr lang="zh-CN" altLang="en-US" dirty="0"/>
              <a:t>调整 </a:t>
            </a:r>
            <a:r>
              <a:rPr lang="en-US" altLang="zh-CN" dirty="0"/>
              <a:t>Backlog</a:t>
            </a:r>
            <a:r>
              <a:rPr lang="zh-CN" altLang="en-US" dirty="0"/>
              <a:t>。</a:t>
            </a:r>
          </a:p>
          <a:p>
            <a:pPr lvl="1"/>
            <a:r>
              <a:rPr lang="zh-CN" altLang="en-US" dirty="0"/>
              <a:t>如果流程效率低，可在 </a:t>
            </a:r>
            <a:r>
              <a:rPr lang="en-US" altLang="zh-CN" dirty="0"/>
              <a:t>Retrospective </a:t>
            </a:r>
            <a:r>
              <a:rPr lang="zh-CN" altLang="en-US" dirty="0"/>
              <a:t>后改进工作方式。</a:t>
            </a:r>
          </a:p>
          <a:p>
            <a:pPr lvl="1"/>
            <a:r>
              <a:rPr lang="zh-CN" altLang="en-US" dirty="0"/>
              <a:t>适应必须在“可接受的时间窗口”内发生（通常在下一个 </a:t>
            </a:r>
            <a:r>
              <a:rPr lang="en-US" altLang="zh-CN" dirty="0"/>
              <a:t>Sprint </a:t>
            </a:r>
            <a:r>
              <a:rPr lang="zh-CN" altLang="en-US" dirty="0"/>
              <a:t>开始前）。</a:t>
            </a:r>
          </a:p>
          <a:p>
            <a:pPr lvl="1"/>
            <a:r>
              <a:rPr lang="zh-CN" altLang="en-US" dirty="0"/>
              <a:t>目的：持续优化交付价值的能力和团队效能。</a:t>
            </a:r>
          </a:p>
        </p:txBody>
      </p:sp>
      <p:sp>
        <p:nvSpPr>
          <p:cNvPr id="4" name="文本占位符 3">
            <a:extLst>
              <a:ext uri="{FF2B5EF4-FFF2-40B4-BE49-F238E27FC236}">
                <a16:creationId xmlns:a16="http://schemas.microsoft.com/office/drawing/2014/main" id="{DA61DE41-8EB2-C890-486D-5257116D616C}"/>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627219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4732"/>
          </a:xfrm>
        </p:spPr>
        <p:txBody>
          <a:bodyPr>
            <a:normAutofit/>
          </a:bodyPr>
          <a:lstStyle/>
          <a:p>
            <a:r>
              <a:rPr lang="en-US" altLang="zh-CN" dirty="0"/>
              <a:t>6.4.3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328000"/>
          </a:xfrm>
        </p:spPr>
        <p:txBody>
          <a:bodyPr>
            <a:normAutofit/>
          </a:bodyPr>
          <a:lstStyle/>
          <a:p>
            <a:r>
              <a:rPr lang="en-US" altLang="zh-CN" dirty="0"/>
              <a:t>3</a:t>
            </a:r>
            <a:r>
              <a:rPr lang="zh-CN" altLang="en-US" dirty="0"/>
              <a:t>个角色 </a:t>
            </a:r>
            <a:r>
              <a:rPr lang="en-US" altLang="zh-CN" dirty="0"/>
              <a:t>Role</a:t>
            </a:r>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9" name="图示 8">
            <a:extLst>
              <a:ext uri="{FF2B5EF4-FFF2-40B4-BE49-F238E27FC236}">
                <a16:creationId xmlns:a16="http://schemas.microsoft.com/office/drawing/2014/main" id="{5CD635B7-D2B1-DA09-8D52-9879F640C15F}"/>
              </a:ext>
            </a:extLst>
          </p:cNvPr>
          <p:cNvGraphicFramePr>
            <a:graphicFrameLocks noChangeAspect="1"/>
          </p:cNvGraphicFramePr>
          <p:nvPr>
            <p:extLst>
              <p:ext uri="{D42A27DB-BD31-4B8C-83A1-F6EECF244321}">
                <p14:modId xmlns:p14="http://schemas.microsoft.com/office/powerpoint/2010/main" val="4077878185"/>
              </p:ext>
            </p:extLst>
          </p:nvPr>
        </p:nvGraphicFramePr>
        <p:xfrm>
          <a:off x="1775460" y="1932941"/>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6966989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C7046B2-D89F-1BCB-6C54-62EAA198E2C5}"/>
              </a:ext>
            </a:extLst>
          </p:cNvPr>
          <p:cNvSpPr>
            <a:spLocks noGrp="1"/>
          </p:cNvSpPr>
          <p:nvPr>
            <p:ph type="title"/>
          </p:nvPr>
        </p:nvSpPr>
        <p:spPr>
          <a:xfrm>
            <a:off x="695998" y="360000"/>
            <a:ext cx="6375921" cy="424732"/>
          </a:xfrm>
        </p:spPr>
        <p:txBody>
          <a:bodyPr>
            <a:normAutofit/>
          </a:bodyPr>
          <a:lstStyle/>
          <a:p>
            <a:r>
              <a:rPr lang="en-US" altLang="zh-CN" dirty="0"/>
              <a:t>6.4.3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06AB2D2A-7F6F-8EA9-E3DA-17D607C4AE14}"/>
              </a:ext>
            </a:extLst>
          </p:cNvPr>
          <p:cNvSpPr>
            <a:spLocks noGrp="1"/>
          </p:cNvSpPr>
          <p:nvPr>
            <p:ph idx="1"/>
          </p:nvPr>
        </p:nvSpPr>
        <p:spPr>
          <a:xfrm>
            <a:off x="696000" y="864000"/>
            <a:ext cx="10800000" cy="5328000"/>
          </a:xfrm>
        </p:spPr>
        <p:txBody>
          <a:bodyPr>
            <a:normAutofit/>
          </a:bodyPr>
          <a:lstStyle/>
          <a:p>
            <a:r>
              <a:rPr lang="zh-CN" altLang="en-US" dirty="0"/>
              <a:t>形成阶段和管理</a:t>
            </a:r>
          </a:p>
        </p:txBody>
      </p:sp>
      <p:sp>
        <p:nvSpPr>
          <p:cNvPr id="4" name="文本占位符 3">
            <a:extLst>
              <a:ext uri="{FF2B5EF4-FFF2-40B4-BE49-F238E27FC236}">
                <a16:creationId xmlns:a16="http://schemas.microsoft.com/office/drawing/2014/main" id="{B5C5C35D-A8E2-A285-EE6C-8B05877B62B1}"/>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pSp>
        <p:nvGrpSpPr>
          <p:cNvPr id="10" name="组合 9">
            <a:extLst>
              <a:ext uri="{FF2B5EF4-FFF2-40B4-BE49-F238E27FC236}">
                <a16:creationId xmlns:a16="http://schemas.microsoft.com/office/drawing/2014/main" id="{25A96D12-8B50-0E0D-37CA-530BC85C45C3}"/>
              </a:ext>
            </a:extLst>
          </p:cNvPr>
          <p:cNvGrpSpPr/>
          <p:nvPr/>
        </p:nvGrpSpPr>
        <p:grpSpPr>
          <a:xfrm>
            <a:off x="4348444" y="2128642"/>
            <a:ext cx="3495112" cy="369332"/>
            <a:chOff x="4348444" y="2757292"/>
            <a:chExt cx="3495112" cy="369332"/>
          </a:xfrm>
        </p:grpSpPr>
        <p:sp>
          <p:nvSpPr>
            <p:cNvPr id="6" name="箭头: 左右 5">
              <a:extLst>
                <a:ext uri="{FF2B5EF4-FFF2-40B4-BE49-F238E27FC236}">
                  <a16:creationId xmlns:a16="http://schemas.microsoft.com/office/drawing/2014/main" id="{3D100740-5285-689D-8421-779A655C838A}"/>
                </a:ext>
              </a:extLst>
            </p:cNvPr>
            <p:cNvSpPr/>
            <p:nvPr/>
          </p:nvSpPr>
          <p:spPr>
            <a:xfrm>
              <a:off x="5016000" y="2761958"/>
              <a:ext cx="2160000" cy="360000"/>
            </a:xfrm>
            <a:prstGeom prst="leftRight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4348444" y="2757292"/>
              <a:ext cx="646331" cy="369332"/>
            </a:xfrm>
            <a:prstGeom prst="rect">
              <a:avLst/>
            </a:prstGeom>
            <a:noFill/>
          </p:spPr>
          <p:txBody>
            <a:bodyPr wrap="none" rtlCol="0">
              <a:spAutoFit/>
            </a:bodyPr>
            <a:lstStyle/>
            <a:p>
              <a:r>
                <a:rPr lang="zh-CN" altLang="en-US" dirty="0"/>
                <a:t>形成</a:t>
              </a:r>
            </a:p>
          </p:txBody>
        </p:sp>
        <p:sp>
          <p:nvSpPr>
            <p:cNvPr id="8" name="文本框 7">
              <a:extLst>
                <a:ext uri="{FF2B5EF4-FFF2-40B4-BE49-F238E27FC236}">
                  <a16:creationId xmlns:a16="http://schemas.microsoft.com/office/drawing/2014/main" id="{1DB84078-9392-CEAC-1DC1-79A9C4AC5BAE}"/>
                </a:ext>
              </a:extLst>
            </p:cNvPr>
            <p:cNvSpPr txBox="1"/>
            <p:nvPr/>
          </p:nvSpPr>
          <p:spPr>
            <a:xfrm>
              <a:off x="7197225" y="2757292"/>
              <a:ext cx="646331" cy="369332"/>
            </a:xfrm>
            <a:prstGeom prst="rect">
              <a:avLst/>
            </a:prstGeom>
            <a:noFill/>
          </p:spPr>
          <p:txBody>
            <a:bodyPr wrap="none" rtlCol="0">
              <a:spAutoFit/>
            </a:bodyPr>
            <a:lstStyle/>
            <a:p>
              <a:r>
                <a:rPr lang="zh-CN" altLang="en-US" dirty="0"/>
                <a:t>指导</a:t>
              </a:r>
            </a:p>
          </p:txBody>
        </p:sp>
      </p:grpSp>
      <p:grpSp>
        <p:nvGrpSpPr>
          <p:cNvPr id="11" name="组合 10">
            <a:extLst>
              <a:ext uri="{FF2B5EF4-FFF2-40B4-BE49-F238E27FC236}">
                <a16:creationId xmlns:a16="http://schemas.microsoft.com/office/drawing/2014/main" id="{E6AFF645-D906-B164-8ABC-D637283A730B}"/>
              </a:ext>
            </a:extLst>
          </p:cNvPr>
          <p:cNvGrpSpPr/>
          <p:nvPr/>
        </p:nvGrpSpPr>
        <p:grpSpPr>
          <a:xfrm>
            <a:off x="4348444" y="2802536"/>
            <a:ext cx="3495112" cy="369332"/>
            <a:chOff x="4348444" y="2757292"/>
            <a:chExt cx="3495112" cy="369332"/>
          </a:xfrm>
        </p:grpSpPr>
        <p:sp>
          <p:nvSpPr>
            <p:cNvPr id="12" name="箭头: 左右 11">
              <a:extLst>
                <a:ext uri="{FF2B5EF4-FFF2-40B4-BE49-F238E27FC236}">
                  <a16:creationId xmlns:a16="http://schemas.microsoft.com/office/drawing/2014/main" id="{6987D6CC-913D-E929-73AD-50153F602CE9}"/>
                </a:ext>
              </a:extLst>
            </p:cNvPr>
            <p:cNvSpPr/>
            <p:nvPr/>
          </p:nvSpPr>
          <p:spPr>
            <a:xfrm>
              <a:off x="5016000" y="2761958"/>
              <a:ext cx="2160000" cy="360000"/>
            </a:xfrm>
            <a:prstGeom prst="leftRightArrow">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348444" y="2757292"/>
              <a:ext cx="646331" cy="369332"/>
            </a:xfrm>
            <a:prstGeom prst="rect">
              <a:avLst/>
            </a:prstGeom>
            <a:noFill/>
          </p:spPr>
          <p:txBody>
            <a:bodyPr wrap="none" rtlCol="0">
              <a:spAutoFit/>
            </a:bodyPr>
            <a:lstStyle/>
            <a:p>
              <a:r>
                <a:rPr lang="zh-CN" altLang="en-US" dirty="0"/>
                <a:t>震荡</a:t>
              </a:r>
            </a:p>
          </p:txBody>
        </p:sp>
        <p:sp>
          <p:nvSpPr>
            <p:cNvPr id="14" name="文本框 13">
              <a:extLst>
                <a:ext uri="{FF2B5EF4-FFF2-40B4-BE49-F238E27FC236}">
                  <a16:creationId xmlns:a16="http://schemas.microsoft.com/office/drawing/2014/main" id="{56DB0103-73F7-5CB0-6DF5-D6B269CF630C}"/>
                </a:ext>
              </a:extLst>
            </p:cNvPr>
            <p:cNvSpPr txBox="1"/>
            <p:nvPr/>
          </p:nvSpPr>
          <p:spPr>
            <a:xfrm>
              <a:off x="7197225" y="2757292"/>
              <a:ext cx="646331" cy="369332"/>
            </a:xfrm>
            <a:prstGeom prst="rect">
              <a:avLst/>
            </a:prstGeom>
            <a:noFill/>
          </p:spPr>
          <p:txBody>
            <a:bodyPr wrap="none" rtlCol="0">
              <a:spAutoFit/>
            </a:bodyPr>
            <a:lstStyle/>
            <a:p>
              <a:r>
                <a:rPr lang="zh-CN" altLang="en-US" dirty="0"/>
                <a:t>教练</a:t>
              </a:r>
            </a:p>
          </p:txBody>
        </p:sp>
      </p:grpSp>
      <p:grpSp>
        <p:nvGrpSpPr>
          <p:cNvPr id="15" name="组合 14">
            <a:extLst>
              <a:ext uri="{FF2B5EF4-FFF2-40B4-BE49-F238E27FC236}">
                <a16:creationId xmlns:a16="http://schemas.microsoft.com/office/drawing/2014/main" id="{AFE20FB1-045A-A879-7CFA-CEFA81F0CB53}"/>
              </a:ext>
            </a:extLst>
          </p:cNvPr>
          <p:cNvGrpSpPr/>
          <p:nvPr/>
        </p:nvGrpSpPr>
        <p:grpSpPr>
          <a:xfrm>
            <a:off x="4348444" y="3476430"/>
            <a:ext cx="3495112" cy="369332"/>
            <a:chOff x="4348444" y="2757292"/>
            <a:chExt cx="3495112" cy="369332"/>
          </a:xfrm>
        </p:grpSpPr>
        <p:sp>
          <p:nvSpPr>
            <p:cNvPr id="16" name="箭头: 左右 15">
              <a:extLst>
                <a:ext uri="{FF2B5EF4-FFF2-40B4-BE49-F238E27FC236}">
                  <a16:creationId xmlns:a16="http://schemas.microsoft.com/office/drawing/2014/main" id="{AD310A36-B61C-AE4F-6B68-2D0B4F9513E0}"/>
                </a:ext>
              </a:extLst>
            </p:cNvPr>
            <p:cNvSpPr/>
            <p:nvPr/>
          </p:nvSpPr>
          <p:spPr>
            <a:xfrm>
              <a:off x="5016000" y="2761958"/>
              <a:ext cx="2160000" cy="360000"/>
            </a:xfrm>
            <a:prstGeom prst="leftRightArrow">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4348444" y="2757292"/>
              <a:ext cx="646331" cy="369332"/>
            </a:xfrm>
            <a:prstGeom prst="rect">
              <a:avLst/>
            </a:prstGeom>
            <a:noFill/>
          </p:spPr>
          <p:txBody>
            <a:bodyPr wrap="none" rtlCol="0">
              <a:spAutoFit/>
            </a:bodyPr>
            <a:lstStyle/>
            <a:p>
              <a:r>
                <a:rPr lang="zh-CN" altLang="en-US" dirty="0"/>
                <a:t>规范</a:t>
              </a:r>
            </a:p>
          </p:txBody>
        </p:sp>
        <p:sp>
          <p:nvSpPr>
            <p:cNvPr id="18" name="文本框 17">
              <a:extLst>
                <a:ext uri="{FF2B5EF4-FFF2-40B4-BE49-F238E27FC236}">
                  <a16:creationId xmlns:a16="http://schemas.microsoft.com/office/drawing/2014/main" id="{C2EF03C7-4501-9849-E7EF-BC0B547D5E4F}"/>
                </a:ext>
              </a:extLst>
            </p:cNvPr>
            <p:cNvSpPr txBox="1"/>
            <p:nvPr/>
          </p:nvSpPr>
          <p:spPr>
            <a:xfrm>
              <a:off x="7197225" y="2757292"/>
              <a:ext cx="646331" cy="369332"/>
            </a:xfrm>
            <a:prstGeom prst="rect">
              <a:avLst/>
            </a:prstGeom>
            <a:noFill/>
          </p:spPr>
          <p:txBody>
            <a:bodyPr wrap="none" rtlCol="0">
              <a:spAutoFit/>
            </a:bodyPr>
            <a:lstStyle/>
            <a:p>
              <a:r>
                <a:rPr lang="zh-CN" altLang="en-US" dirty="0"/>
                <a:t>参与</a:t>
              </a:r>
            </a:p>
          </p:txBody>
        </p:sp>
      </p:grpSp>
      <p:grpSp>
        <p:nvGrpSpPr>
          <p:cNvPr id="19" name="组合 18">
            <a:extLst>
              <a:ext uri="{FF2B5EF4-FFF2-40B4-BE49-F238E27FC236}">
                <a16:creationId xmlns:a16="http://schemas.microsoft.com/office/drawing/2014/main" id="{509884F0-B2C8-1623-8484-2500070B5A7C}"/>
              </a:ext>
            </a:extLst>
          </p:cNvPr>
          <p:cNvGrpSpPr/>
          <p:nvPr/>
        </p:nvGrpSpPr>
        <p:grpSpPr>
          <a:xfrm>
            <a:off x="4348444" y="4150324"/>
            <a:ext cx="3495112" cy="369332"/>
            <a:chOff x="4348444" y="2757292"/>
            <a:chExt cx="3495112" cy="369332"/>
          </a:xfrm>
        </p:grpSpPr>
        <p:sp>
          <p:nvSpPr>
            <p:cNvPr id="20" name="箭头: 左右 19">
              <a:extLst>
                <a:ext uri="{FF2B5EF4-FFF2-40B4-BE49-F238E27FC236}">
                  <a16:creationId xmlns:a16="http://schemas.microsoft.com/office/drawing/2014/main" id="{E52F6EB0-555C-F9FA-3EB1-641A68EE7731}"/>
                </a:ext>
              </a:extLst>
            </p:cNvPr>
            <p:cNvSpPr/>
            <p:nvPr/>
          </p:nvSpPr>
          <p:spPr>
            <a:xfrm>
              <a:off x="5016000" y="2761958"/>
              <a:ext cx="2160000" cy="360000"/>
            </a:xfrm>
            <a:prstGeom prst="lef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4348444" y="2757292"/>
              <a:ext cx="646331" cy="369332"/>
            </a:xfrm>
            <a:prstGeom prst="rect">
              <a:avLst/>
            </a:prstGeom>
            <a:noFill/>
          </p:spPr>
          <p:txBody>
            <a:bodyPr wrap="none" rtlCol="0">
              <a:spAutoFit/>
            </a:bodyPr>
            <a:lstStyle/>
            <a:p>
              <a:r>
                <a:rPr lang="zh-CN" altLang="en-US" dirty="0"/>
                <a:t>成熟</a:t>
              </a:r>
            </a:p>
          </p:txBody>
        </p:sp>
        <p:sp>
          <p:nvSpPr>
            <p:cNvPr id="22" name="文本框 21">
              <a:extLst>
                <a:ext uri="{FF2B5EF4-FFF2-40B4-BE49-F238E27FC236}">
                  <a16:creationId xmlns:a16="http://schemas.microsoft.com/office/drawing/2014/main" id="{53D15627-CC8C-65A6-D2F5-3EB58FC125D7}"/>
                </a:ext>
              </a:extLst>
            </p:cNvPr>
            <p:cNvSpPr txBox="1"/>
            <p:nvPr/>
          </p:nvSpPr>
          <p:spPr>
            <a:xfrm>
              <a:off x="7197225" y="2757292"/>
              <a:ext cx="646331" cy="369332"/>
            </a:xfrm>
            <a:prstGeom prst="rect">
              <a:avLst/>
            </a:prstGeom>
            <a:noFill/>
          </p:spPr>
          <p:txBody>
            <a:bodyPr wrap="none" rtlCol="0">
              <a:spAutoFit/>
            </a:bodyPr>
            <a:lstStyle/>
            <a:p>
              <a:r>
                <a:rPr lang="zh-CN" altLang="en-US" dirty="0"/>
                <a:t>授权</a:t>
              </a:r>
            </a:p>
          </p:txBody>
        </p:sp>
      </p:grpSp>
      <p:grpSp>
        <p:nvGrpSpPr>
          <p:cNvPr id="23" name="组合 22">
            <a:extLst>
              <a:ext uri="{FF2B5EF4-FFF2-40B4-BE49-F238E27FC236}">
                <a16:creationId xmlns:a16="http://schemas.microsoft.com/office/drawing/2014/main" id="{90EA23AC-2102-E627-24E0-9C089CBB6CF6}"/>
              </a:ext>
            </a:extLst>
          </p:cNvPr>
          <p:cNvGrpSpPr/>
          <p:nvPr/>
        </p:nvGrpSpPr>
        <p:grpSpPr>
          <a:xfrm>
            <a:off x="4348444" y="4824217"/>
            <a:ext cx="3495112" cy="369332"/>
            <a:chOff x="4348444" y="2757292"/>
            <a:chExt cx="3495112" cy="369332"/>
          </a:xfrm>
        </p:grpSpPr>
        <p:sp>
          <p:nvSpPr>
            <p:cNvPr id="24" name="箭头: 左右 23">
              <a:extLst>
                <a:ext uri="{FF2B5EF4-FFF2-40B4-BE49-F238E27FC236}">
                  <a16:creationId xmlns:a16="http://schemas.microsoft.com/office/drawing/2014/main" id="{D1FFFF04-8F85-0959-EEB0-400407E5F5F6}"/>
                </a:ext>
              </a:extLst>
            </p:cNvPr>
            <p:cNvSpPr/>
            <p:nvPr/>
          </p:nvSpPr>
          <p:spPr>
            <a:xfrm>
              <a:off x="5016000" y="2761958"/>
              <a:ext cx="2160000" cy="360000"/>
            </a:xfrm>
            <a:prstGeom prst="leftRightArrow">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4348444" y="2757292"/>
              <a:ext cx="646331" cy="369332"/>
            </a:xfrm>
            <a:prstGeom prst="rect">
              <a:avLst/>
            </a:prstGeom>
            <a:noFill/>
          </p:spPr>
          <p:txBody>
            <a:bodyPr wrap="none" rtlCol="0">
              <a:spAutoFit/>
            </a:bodyPr>
            <a:lstStyle/>
            <a:p>
              <a:r>
                <a:rPr lang="zh-CN" altLang="en-US" dirty="0"/>
                <a:t>解散</a:t>
              </a:r>
            </a:p>
          </p:txBody>
        </p:sp>
        <p:sp>
          <p:nvSpPr>
            <p:cNvPr id="26" name="文本框 25">
              <a:extLst>
                <a:ext uri="{FF2B5EF4-FFF2-40B4-BE49-F238E27FC236}">
                  <a16:creationId xmlns:a16="http://schemas.microsoft.com/office/drawing/2014/main" id="{5B81B0CC-0828-6A16-7B1F-A5750C49E63B}"/>
                </a:ext>
              </a:extLst>
            </p:cNvPr>
            <p:cNvSpPr txBox="1"/>
            <p:nvPr/>
          </p:nvSpPr>
          <p:spPr>
            <a:xfrm>
              <a:off x="7197225" y="2757292"/>
              <a:ext cx="646331" cy="369332"/>
            </a:xfrm>
            <a:prstGeom prst="rect">
              <a:avLst/>
            </a:prstGeom>
            <a:noFill/>
          </p:spPr>
          <p:txBody>
            <a:bodyPr wrap="none" rtlCol="0">
              <a:spAutoFit/>
            </a:bodyPr>
            <a:lstStyle/>
            <a:p>
              <a:r>
                <a:rPr lang="zh-CN" altLang="en-US" dirty="0">
                  <a:solidFill>
                    <a:schemeClr val="bg1"/>
                  </a:solidFill>
                </a:rPr>
                <a:t>指导</a:t>
              </a:r>
            </a:p>
          </p:txBody>
        </p:sp>
      </p:grpSp>
    </p:spTree>
    <p:extLst>
      <p:ext uri="{BB962C8B-B14F-4D97-AF65-F5344CB8AC3E}">
        <p14:creationId xmlns:p14="http://schemas.microsoft.com/office/powerpoint/2010/main" val="68110562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9F20CF-6E7B-3D2C-69B0-A4C501C8D95C}"/>
              </a:ext>
            </a:extLst>
          </p:cNvPr>
          <p:cNvSpPr>
            <a:spLocks noGrp="1"/>
          </p:cNvSpPr>
          <p:nvPr>
            <p:ph type="title"/>
          </p:nvPr>
        </p:nvSpPr>
        <p:spPr>
          <a:xfrm>
            <a:off x="695998" y="360000"/>
            <a:ext cx="6375921" cy="424732"/>
          </a:xfrm>
        </p:spPr>
        <p:txBody>
          <a:bodyPr>
            <a:normAutofit/>
          </a:bodyPr>
          <a:lstStyle/>
          <a:p>
            <a:r>
              <a:rPr lang="en-US" altLang="zh-CN" dirty="0"/>
              <a:t>6.4.3 </a:t>
            </a:r>
            <a:r>
              <a:rPr lang="zh-CN" altLang="en-US" dirty="0"/>
              <a:t>项目经理</a:t>
            </a:r>
          </a:p>
        </p:txBody>
      </p:sp>
      <p:sp>
        <p:nvSpPr>
          <p:cNvPr id="3" name="内容占位符 2">
            <a:extLst>
              <a:ext uri="{FF2B5EF4-FFF2-40B4-BE49-F238E27FC236}">
                <a16:creationId xmlns:a16="http://schemas.microsoft.com/office/drawing/2014/main" id="{D2A6549B-0648-CA36-3A90-E1C1A9FF80A8}"/>
              </a:ext>
            </a:extLst>
          </p:cNvPr>
          <p:cNvSpPr>
            <a:spLocks noGrp="1"/>
          </p:cNvSpPr>
          <p:nvPr>
            <p:ph idx="1"/>
          </p:nvPr>
        </p:nvSpPr>
        <p:spPr>
          <a:xfrm>
            <a:off x="696000" y="864000"/>
            <a:ext cx="10800000" cy="5328000"/>
          </a:xfrm>
        </p:spPr>
        <p:txBody>
          <a:bodyPr/>
          <a:lstStyle/>
          <a:p>
            <a:r>
              <a:rPr lang="zh-CN" altLang="en-US" dirty="0"/>
              <a:t>足够的知识</a:t>
            </a:r>
            <a:endParaRPr lang="en-US" altLang="zh-CN" dirty="0"/>
          </a:p>
          <a:p>
            <a:r>
              <a:rPr lang="zh-CN" altLang="en-US" dirty="0"/>
              <a:t>丰富的项目管理经验</a:t>
            </a:r>
            <a:endParaRPr lang="en-US" altLang="zh-CN" dirty="0"/>
          </a:p>
          <a:p>
            <a:r>
              <a:rPr lang="zh-CN" altLang="en-US" dirty="0"/>
              <a:t>良好的协调和沟通能力</a:t>
            </a:r>
            <a:endParaRPr lang="en-US" altLang="zh-CN" dirty="0"/>
          </a:p>
          <a:p>
            <a:r>
              <a:rPr lang="zh-CN" altLang="en-US" dirty="0"/>
              <a:t>良好的职业道德</a:t>
            </a:r>
            <a:endParaRPr lang="en-US" altLang="zh-CN" dirty="0"/>
          </a:p>
          <a:p>
            <a:r>
              <a:rPr lang="zh-CN" altLang="en-US" dirty="0"/>
              <a:t>一定的领导和管理能力</a:t>
            </a:r>
          </a:p>
        </p:txBody>
      </p:sp>
      <p:sp>
        <p:nvSpPr>
          <p:cNvPr id="4" name="文本占位符 3">
            <a:extLst>
              <a:ext uri="{FF2B5EF4-FFF2-40B4-BE49-F238E27FC236}">
                <a16:creationId xmlns:a16="http://schemas.microsoft.com/office/drawing/2014/main" id="{6F4CF1D4-6294-43D0-85CF-136F1720BBD3}"/>
              </a:ext>
            </a:extLst>
          </p:cNvPr>
          <p:cNvSpPr>
            <a:spLocks noGrp="1"/>
          </p:cNvSpPr>
          <p:nvPr>
            <p:ph type="body" sz="quarter" idx="10"/>
          </p:nvPr>
        </p:nvSpPr>
        <p:spPr>
          <a:xfrm>
            <a:off x="7071919" y="360001"/>
            <a:ext cx="4424080" cy="424731"/>
          </a:xfrm>
        </p:spPr>
        <p:txBody>
          <a:bodyPr/>
          <a:lstStyle/>
          <a:p>
            <a:r>
              <a:rPr lang="en-US" altLang="zh-CN" dirty="0"/>
              <a:t>Team</a:t>
            </a:r>
            <a:endParaRPr lang="zh-CN" altLang="en-US" dirty="0"/>
          </a:p>
        </p:txBody>
      </p:sp>
    </p:spTree>
    <p:extLst>
      <p:ext uri="{BB962C8B-B14F-4D97-AF65-F5344CB8AC3E}">
        <p14:creationId xmlns:p14="http://schemas.microsoft.com/office/powerpoint/2010/main" val="266880223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148F0534-31AD-BC3A-7C5A-74BAD1F7BC85}"/>
              </a:ext>
            </a:extLst>
          </p:cNvPr>
          <p:cNvSpPr>
            <a:spLocks noGrp="1"/>
          </p:cNvSpPr>
          <p:nvPr>
            <p:ph type="body" sz="quarter" idx="10"/>
          </p:nvPr>
        </p:nvSpPr>
        <p:spPr>
          <a:xfrm>
            <a:off x="3219345" y="1629000"/>
            <a:ext cx="8640000" cy="3600000"/>
          </a:xfrm>
        </p:spPr>
        <p:txBody>
          <a:bodyPr>
            <a:normAutofit/>
          </a:bodyPr>
          <a:lstStyle/>
          <a:p>
            <a:r>
              <a:rPr lang="zh-CN" altLang="en-US" dirty="0"/>
              <a:t>敏捷团队正在开发一个有价值的软件功能。在每日站会上，某重要相关方邀请团队参加具有类似功能的竞争对手软件演示。敏捷团队领导应该怎么做？</a:t>
            </a:r>
            <a:endParaRPr lang="en-US" altLang="zh-CN" dirty="0"/>
          </a:p>
          <a:p>
            <a:endParaRPr lang="zh-CN" altLang="en-US" dirty="0"/>
          </a:p>
          <a:p>
            <a:r>
              <a:rPr lang="en-US" altLang="zh-CN" dirty="0"/>
              <a:t>A. </a:t>
            </a:r>
            <a:r>
              <a:rPr lang="zh-CN" altLang="en-US" dirty="0"/>
              <a:t>派团队参加演示，以获得有关如何更好地开发功能以产生更高投资回报率的更多见解</a:t>
            </a:r>
          </a:p>
          <a:p>
            <a:r>
              <a:rPr lang="en-US" altLang="zh-CN" dirty="0"/>
              <a:t>B. </a:t>
            </a:r>
            <a:r>
              <a:rPr lang="zh-CN" altLang="en-US" dirty="0"/>
              <a:t>派产品负责人参加演示，以获得有关市场趋势的更多知识，并让团队继续专注于计划的工作</a:t>
            </a:r>
          </a:p>
          <a:p>
            <a:r>
              <a:rPr lang="en-US" altLang="zh-CN" dirty="0"/>
              <a:t>C. </a:t>
            </a:r>
            <a:r>
              <a:rPr lang="zh-CN" altLang="en-US" dirty="0"/>
              <a:t>派一名开发人员参加演示，让其他开发人员可以专注于计划的工作</a:t>
            </a:r>
          </a:p>
          <a:p>
            <a:r>
              <a:rPr lang="en-US" altLang="zh-CN" dirty="0"/>
              <a:t>D. </a:t>
            </a:r>
            <a:r>
              <a:rPr lang="zh-CN" altLang="en-US" dirty="0"/>
              <a:t>派一名团队测试人员参加演示，开发人员可以专注于计划的工作</a:t>
            </a:r>
          </a:p>
        </p:txBody>
      </p:sp>
    </p:spTree>
    <p:extLst>
      <p:ext uri="{BB962C8B-B14F-4D97-AF65-F5344CB8AC3E}">
        <p14:creationId xmlns:p14="http://schemas.microsoft.com/office/powerpoint/2010/main" val="303126605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5F3CDA0C-6B7C-9AF5-C0A1-408F42A4C15F}"/>
              </a:ext>
            </a:extLst>
          </p:cNvPr>
          <p:cNvSpPr>
            <a:spLocks noGrp="1"/>
          </p:cNvSpPr>
          <p:nvPr>
            <p:ph type="body" sz="quarter" idx="10"/>
          </p:nvPr>
        </p:nvSpPr>
        <p:spPr>
          <a:xfrm>
            <a:off x="3219345" y="1629000"/>
            <a:ext cx="8640000" cy="3600000"/>
          </a:xfrm>
        </p:spPr>
        <p:txBody>
          <a:bodyPr/>
          <a:lstStyle/>
          <a:p>
            <a:r>
              <a:rPr lang="zh-CN" altLang="en-US" dirty="0"/>
              <a:t>自项目开始以来，产品负责人在规划期间不断询问每次产品迭代的预算。产品负责人似乎对成本更感兴趣，而不是产品本身。项目经理应该更早做什么来改变产品负责人的行为？</a:t>
            </a:r>
            <a:endParaRPr lang="en-US" altLang="zh-CN" dirty="0"/>
          </a:p>
          <a:p>
            <a:endParaRPr lang="zh-CN" altLang="en-US" dirty="0"/>
          </a:p>
          <a:p>
            <a:r>
              <a:rPr lang="en-US" altLang="zh-CN" dirty="0"/>
              <a:t>A. </a:t>
            </a:r>
            <a:r>
              <a:rPr lang="zh-CN" altLang="en-US" dirty="0"/>
              <a:t>与产品负责人一起明确他们在敏捷项目中的角色以及敏捷规划的范围</a:t>
            </a:r>
          </a:p>
          <a:p>
            <a:r>
              <a:rPr lang="en-US" altLang="zh-CN" dirty="0"/>
              <a:t>B. </a:t>
            </a:r>
            <a:r>
              <a:rPr lang="zh-CN" altLang="en-US" dirty="0"/>
              <a:t>制定沟通管理计划，报告每次迭代中花费的预算与计划在规划期间避免这些讨论</a:t>
            </a:r>
          </a:p>
          <a:p>
            <a:r>
              <a:rPr lang="en-US" altLang="zh-CN" dirty="0"/>
              <a:t>C. </a:t>
            </a:r>
            <a:r>
              <a:rPr lang="zh-CN" altLang="en-US" dirty="0"/>
              <a:t>制定固定价格合同，将产品所有者的注意力转移到价值而不是金钱上</a:t>
            </a:r>
          </a:p>
          <a:p>
            <a:r>
              <a:rPr lang="en-US" altLang="zh-CN" dirty="0"/>
              <a:t>D. </a:t>
            </a:r>
            <a:r>
              <a:rPr lang="zh-CN" altLang="en-US" dirty="0"/>
              <a:t>采用不同的估算方法来确定每个产品增量所花费的成本</a:t>
            </a:r>
          </a:p>
        </p:txBody>
      </p:sp>
    </p:spTree>
    <p:extLst>
      <p:ext uri="{BB962C8B-B14F-4D97-AF65-F5344CB8AC3E}">
        <p14:creationId xmlns:p14="http://schemas.microsoft.com/office/powerpoint/2010/main" val="274998641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42C675B-B747-42FC-682B-07635A79B7A7}"/>
              </a:ext>
            </a:extLst>
          </p:cNvPr>
          <p:cNvSpPr>
            <a:spLocks noGrp="1"/>
          </p:cNvSpPr>
          <p:nvPr>
            <p:ph type="body" sz="quarter" idx="10"/>
          </p:nvPr>
        </p:nvSpPr>
        <p:spPr/>
        <p:txBody>
          <a:bodyPr/>
          <a:lstStyle/>
          <a:p>
            <a:r>
              <a:rPr lang="zh-CN" altLang="en-US" dirty="0"/>
              <a:t>产品负责人认为某个用户故事对于迭代至关重要，但是一名团队的主题专家（</a:t>
            </a:r>
            <a:r>
              <a:rPr lang="en-US" altLang="zh-CN" dirty="0"/>
              <a:t>SME</a:t>
            </a:r>
            <a:r>
              <a:rPr lang="zh-CN" altLang="en-US" dirty="0"/>
              <a:t>）却不同意。该冲突影响到团队士气。敏捷教练应该怎么做？</a:t>
            </a:r>
            <a:endParaRPr lang="en-US" altLang="zh-CN" dirty="0"/>
          </a:p>
          <a:p>
            <a:endParaRPr lang="zh-CN" altLang="en-US" dirty="0"/>
          </a:p>
          <a:p>
            <a:r>
              <a:rPr lang="en-US" altLang="zh-CN" dirty="0"/>
              <a:t>A. </a:t>
            </a:r>
            <a:r>
              <a:rPr lang="zh-CN" altLang="en-US" dirty="0"/>
              <a:t>在回顾会议中陈述该问题，并要求团队确定用户故事是否应该保留或修改。</a:t>
            </a:r>
          </a:p>
          <a:p>
            <a:r>
              <a:rPr lang="en-US" altLang="zh-CN" dirty="0"/>
              <a:t>B. </a:t>
            </a:r>
            <a:r>
              <a:rPr lang="zh-CN" altLang="en-US" dirty="0"/>
              <a:t>询问产品负责人的意见，但解释说该主题专家将做出最终决定。</a:t>
            </a:r>
          </a:p>
          <a:p>
            <a:r>
              <a:rPr lang="en-US" altLang="zh-CN" dirty="0"/>
              <a:t>C. </a:t>
            </a:r>
            <a:r>
              <a:rPr lang="zh-CN" altLang="en-US" dirty="0"/>
              <a:t>与该主题专家和产品负责人单独开会，以减轻分歧。</a:t>
            </a:r>
          </a:p>
          <a:p>
            <a:r>
              <a:rPr lang="en-US" altLang="zh-CN" dirty="0"/>
              <a:t>D. </a:t>
            </a:r>
            <a:r>
              <a:rPr lang="zh-CN" altLang="en-US" dirty="0"/>
              <a:t>询问该主题专家的意见，但解释说产品负责人负责定义待办列表优先级。</a:t>
            </a:r>
          </a:p>
          <a:p>
            <a:endParaRPr lang="zh-CN" altLang="en-US" dirty="0"/>
          </a:p>
        </p:txBody>
      </p:sp>
    </p:spTree>
    <p:extLst>
      <p:ext uri="{BB962C8B-B14F-4D97-AF65-F5344CB8AC3E}">
        <p14:creationId xmlns:p14="http://schemas.microsoft.com/office/powerpoint/2010/main" val="83334208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5387D10-6AC2-FA1E-F494-755C5092647A}"/>
              </a:ext>
            </a:extLst>
          </p:cNvPr>
          <p:cNvSpPr>
            <a:spLocks noGrp="1"/>
          </p:cNvSpPr>
          <p:nvPr>
            <p:ph type="body" sz="quarter" idx="10"/>
          </p:nvPr>
        </p:nvSpPr>
        <p:spPr/>
        <p:txBody>
          <a:bodyPr/>
          <a:lstStyle/>
          <a:p>
            <a:r>
              <a:rPr lang="zh-CN" altLang="en-US" dirty="0"/>
              <a:t>因为最终产品的交付已经发生了第三次延迟，所以一位关键相关方很沮丧。项目经理与该相关方会面，并且发现如果一项新功能在一个月内没有被发布的话，将面临影响收入的风险。项目经理应该做什么？</a:t>
            </a:r>
            <a:endParaRPr lang="en-US" altLang="zh-CN" dirty="0"/>
          </a:p>
          <a:p>
            <a:endParaRPr lang="zh-CN" altLang="en-US" dirty="0"/>
          </a:p>
          <a:p>
            <a:r>
              <a:rPr lang="en-US" altLang="zh-CN" dirty="0"/>
              <a:t>A. </a:t>
            </a:r>
            <a:r>
              <a:rPr lang="zh-CN" altLang="en-US" dirty="0"/>
              <a:t>告知该相关方将会在下一次发布计划会议中考虑新需求</a:t>
            </a:r>
          </a:p>
          <a:p>
            <a:r>
              <a:rPr lang="en-US" altLang="zh-CN" dirty="0"/>
              <a:t>B. </a:t>
            </a:r>
            <a:r>
              <a:rPr lang="zh-CN" altLang="en-US" dirty="0"/>
              <a:t>请产品负责人确定是否需要将此要求视为最高优先级</a:t>
            </a:r>
          </a:p>
          <a:p>
            <a:r>
              <a:rPr lang="en-US" altLang="zh-CN" dirty="0"/>
              <a:t>C. </a:t>
            </a:r>
            <a:r>
              <a:rPr lang="zh-CN" altLang="en-US" dirty="0"/>
              <a:t>通知发起人最新的更改，并要求发起人对功能进行优先排序</a:t>
            </a:r>
          </a:p>
          <a:p>
            <a:r>
              <a:rPr lang="en-US" altLang="zh-CN" dirty="0"/>
              <a:t>D. </a:t>
            </a:r>
            <a:r>
              <a:rPr lang="zh-CN" altLang="en-US" dirty="0"/>
              <a:t>立即指导开发团队处理此需求</a:t>
            </a:r>
          </a:p>
        </p:txBody>
      </p:sp>
    </p:spTree>
    <p:extLst>
      <p:ext uri="{BB962C8B-B14F-4D97-AF65-F5344CB8AC3E}">
        <p14:creationId xmlns:p14="http://schemas.microsoft.com/office/powerpoint/2010/main" val="381275041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B9FD4C2-7666-4684-38F5-360F739775C9}"/>
              </a:ext>
            </a:extLst>
          </p:cNvPr>
          <p:cNvSpPr>
            <a:spLocks noGrp="1"/>
          </p:cNvSpPr>
          <p:nvPr>
            <p:ph type="body" sz="quarter" idx="10"/>
          </p:nvPr>
        </p:nvSpPr>
        <p:spPr>
          <a:xfrm>
            <a:off x="3219345" y="1629000"/>
            <a:ext cx="8640000" cy="3600000"/>
          </a:xfrm>
        </p:spPr>
        <p:txBody>
          <a:bodyPr/>
          <a:lstStyle/>
          <a:p>
            <a:r>
              <a:rPr lang="zh-CN" altLang="en-US" dirty="0"/>
              <a:t>一名资深业务经理要求团队在当前的迭代周期中添加一项“非常重要”的需求。作为该敏捷团队的 </a:t>
            </a:r>
            <a:r>
              <a:rPr lang="en-US" altLang="zh-CN" dirty="0"/>
              <a:t>Scrum Master</a:t>
            </a:r>
            <a:r>
              <a:rPr lang="zh-CN" altLang="en-US" dirty="0"/>
              <a:t>，你应该怎么做？</a:t>
            </a:r>
            <a:endParaRPr lang="en-US" altLang="zh-CN" dirty="0"/>
          </a:p>
          <a:p>
            <a:endParaRPr lang="zh-CN" altLang="en-US" dirty="0"/>
          </a:p>
          <a:p>
            <a:r>
              <a:rPr lang="en-US" altLang="zh-CN" dirty="0"/>
              <a:t>A. </a:t>
            </a:r>
            <a:r>
              <a:rPr lang="zh-CN" altLang="en-US" dirty="0"/>
              <a:t>把该项添加进来，因为资深业务经理是关键利益相关方之一</a:t>
            </a:r>
            <a:br>
              <a:rPr lang="zh-CN" altLang="en-US" dirty="0"/>
            </a:br>
            <a:r>
              <a:rPr lang="en-US" altLang="zh-CN" dirty="0"/>
              <a:t>B. </a:t>
            </a:r>
            <a:r>
              <a:rPr lang="zh-CN" altLang="en-US" dirty="0"/>
              <a:t>告知产品负责人，让产品负责人和资深业务经理可以一起工作</a:t>
            </a:r>
            <a:br>
              <a:rPr lang="zh-CN" altLang="en-US" dirty="0"/>
            </a:br>
            <a:r>
              <a:rPr lang="en-US" altLang="zh-CN" dirty="0"/>
              <a:t>C. </a:t>
            </a:r>
            <a:r>
              <a:rPr lang="zh-CN" altLang="en-US" dirty="0"/>
              <a:t>把该项添加到下一个迭代周期中</a:t>
            </a:r>
            <a:br>
              <a:rPr lang="zh-CN" altLang="en-US" dirty="0"/>
            </a:br>
            <a:r>
              <a:rPr lang="en-US" altLang="zh-CN" dirty="0"/>
              <a:t>D. </a:t>
            </a:r>
            <a:r>
              <a:rPr lang="zh-CN" altLang="en-US" dirty="0"/>
              <a:t>把该项添加进来，但是和产品负责人及团队共同决定把哪项剔除，以满足承诺</a:t>
            </a:r>
          </a:p>
          <a:p>
            <a:endParaRPr lang="zh-CN" altLang="en-US" dirty="0"/>
          </a:p>
        </p:txBody>
      </p:sp>
    </p:spTree>
    <p:extLst>
      <p:ext uri="{BB962C8B-B14F-4D97-AF65-F5344CB8AC3E}">
        <p14:creationId xmlns:p14="http://schemas.microsoft.com/office/powerpoint/2010/main" val="327066644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B8E0827-4A91-7B7A-3B8F-4C9B99DC1732}"/>
              </a:ext>
            </a:extLst>
          </p:cNvPr>
          <p:cNvSpPr>
            <a:spLocks noGrp="1"/>
          </p:cNvSpPr>
          <p:nvPr>
            <p:ph type="body" sz="quarter" idx="10"/>
          </p:nvPr>
        </p:nvSpPr>
        <p:spPr/>
        <p:txBody>
          <a:bodyPr/>
          <a:lstStyle/>
          <a:p>
            <a:r>
              <a:rPr lang="zh-CN" altLang="en-US" dirty="0"/>
              <a:t>在回顾会议中，项目经理听到相关方在迭代演示中不断抱怨产品特性没有按照要求交付。项目经理应该给产品负责人什么建议，以确保产品特性总是按要求交付？</a:t>
            </a:r>
          </a:p>
          <a:p>
            <a:r>
              <a:rPr lang="en-US" altLang="zh-CN" dirty="0"/>
              <a:t>A. </a:t>
            </a:r>
            <a:r>
              <a:rPr lang="zh-CN" altLang="en-US" dirty="0"/>
              <a:t>在细化待办事项之前，与相关方一起验证验收标准</a:t>
            </a:r>
          </a:p>
          <a:p>
            <a:r>
              <a:rPr lang="en-US" altLang="zh-CN" dirty="0"/>
              <a:t>B. </a:t>
            </a:r>
            <a:r>
              <a:rPr lang="zh-CN" altLang="en-US" dirty="0"/>
              <a:t>在每日站会中包括相关方，以监测进展情况</a:t>
            </a:r>
          </a:p>
          <a:p>
            <a:r>
              <a:rPr lang="en-US" altLang="zh-CN" dirty="0"/>
              <a:t>C. </a:t>
            </a:r>
            <a:r>
              <a:rPr lang="zh-CN" altLang="en-US" dirty="0"/>
              <a:t>避免在迭代评审中包括相关方</a:t>
            </a:r>
          </a:p>
          <a:p>
            <a:r>
              <a:rPr lang="en-US" altLang="zh-CN" dirty="0"/>
              <a:t>D. </a:t>
            </a:r>
            <a:r>
              <a:rPr lang="zh-CN" altLang="en-US" dirty="0"/>
              <a:t>创建一个需求跟踪矩阵并相应地分配它</a:t>
            </a:r>
          </a:p>
        </p:txBody>
      </p:sp>
    </p:spTree>
    <p:extLst>
      <p:ext uri="{BB962C8B-B14F-4D97-AF65-F5344CB8AC3E}">
        <p14:creationId xmlns:p14="http://schemas.microsoft.com/office/powerpoint/2010/main" val="53551929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83BC343-1291-0701-7970-2E3AD7D0B200}"/>
              </a:ext>
            </a:extLst>
          </p:cNvPr>
          <p:cNvSpPr>
            <a:spLocks noGrp="1"/>
          </p:cNvSpPr>
          <p:nvPr>
            <p:ph type="body" sz="quarter" idx="10"/>
          </p:nvPr>
        </p:nvSpPr>
        <p:spPr/>
        <p:txBody>
          <a:bodyPr/>
          <a:lstStyle/>
          <a:p>
            <a:r>
              <a:rPr lang="zh-CN" altLang="en-US" dirty="0"/>
              <a:t>作为敏捷团队的一员，你发现敏捷项目管理专业人士和以往的领导风格不太一样，他并没有很强制地做出决定，而是支持团队讨论，为团队提供指导。同时用信息发射源来公开项目的进展情况，让团队不需要经常性地汇报项目状态报告。当团队遇到障碍时，会帮团队清除。敏捷项目领导正在做什么？</a:t>
            </a:r>
            <a:endParaRPr lang="en-US" altLang="zh-CN" dirty="0"/>
          </a:p>
          <a:p>
            <a:endParaRPr lang="zh-CN" altLang="en-US" dirty="0"/>
          </a:p>
          <a:p>
            <a:r>
              <a:rPr lang="en-US" altLang="zh-CN" dirty="0"/>
              <a:t>A. </a:t>
            </a:r>
            <a:r>
              <a:rPr lang="zh-CN" altLang="en-US" dirty="0"/>
              <a:t>遵循参与式决策模型</a:t>
            </a:r>
          </a:p>
          <a:p>
            <a:r>
              <a:rPr lang="en-US" altLang="zh-CN" dirty="0"/>
              <a:t>B. </a:t>
            </a:r>
            <a:r>
              <a:rPr lang="zh-CN" altLang="en-US" dirty="0"/>
              <a:t>采用接受反馈的做法，促进团队改进</a:t>
            </a:r>
          </a:p>
          <a:p>
            <a:r>
              <a:rPr lang="en-US" altLang="zh-CN" dirty="0"/>
              <a:t>C. </a:t>
            </a:r>
            <a:r>
              <a:rPr lang="zh-CN" altLang="en-US" dirty="0"/>
              <a:t>实行与敏捷团队合作的仆人式领导风格</a:t>
            </a:r>
          </a:p>
          <a:p>
            <a:r>
              <a:rPr lang="en-US" altLang="zh-CN" dirty="0"/>
              <a:t>D. </a:t>
            </a:r>
            <a:r>
              <a:rPr lang="zh-CN" altLang="en-US" dirty="0"/>
              <a:t>建立互相协作的团队工作文化</a:t>
            </a:r>
          </a:p>
        </p:txBody>
      </p:sp>
    </p:spTree>
    <p:extLst>
      <p:ext uri="{BB962C8B-B14F-4D97-AF65-F5344CB8AC3E}">
        <p14:creationId xmlns:p14="http://schemas.microsoft.com/office/powerpoint/2010/main" val="96048354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355DEF1-3C9F-9F68-F567-AF749D60A350}"/>
              </a:ext>
            </a:extLst>
          </p:cNvPr>
          <p:cNvSpPr>
            <a:spLocks noGrp="1"/>
          </p:cNvSpPr>
          <p:nvPr>
            <p:ph type="body" sz="quarter" idx="10"/>
          </p:nvPr>
        </p:nvSpPr>
        <p:spPr/>
        <p:txBody>
          <a:bodyPr/>
          <a:lstStyle/>
          <a:p>
            <a:r>
              <a:rPr lang="zh-CN" altLang="en-US" dirty="0"/>
              <a:t>回顾会议未能按敏捷团队领导的预期改进效率。若要确保回顾会议为团队和项目带来价值，该团队领导应该怎么做？</a:t>
            </a:r>
            <a:endParaRPr lang="en-US" altLang="zh-CN" dirty="0"/>
          </a:p>
          <a:p>
            <a:endParaRPr lang="zh-CN" altLang="en-US" dirty="0"/>
          </a:p>
          <a:p>
            <a:r>
              <a:rPr lang="en-US" altLang="zh-CN" dirty="0"/>
              <a:t>A. </a:t>
            </a:r>
            <a:r>
              <a:rPr lang="zh-CN" altLang="en-US" dirty="0"/>
              <a:t>实行更紧凑的回顾会议时间表</a:t>
            </a:r>
          </a:p>
          <a:p>
            <a:r>
              <a:rPr lang="en-US" altLang="zh-CN" dirty="0"/>
              <a:t>B. </a:t>
            </a:r>
            <a:r>
              <a:rPr lang="zh-CN" altLang="en-US" dirty="0"/>
              <a:t>确定妨碍回顾会议结果得到实施的问题，并立即解决</a:t>
            </a:r>
          </a:p>
          <a:p>
            <a:r>
              <a:rPr lang="en-US" altLang="zh-CN" dirty="0"/>
              <a:t>C. </a:t>
            </a:r>
            <a:r>
              <a:rPr lang="zh-CN" altLang="en-US" dirty="0"/>
              <a:t>辅导并提醒团队聚焦回顾会议行动项</a:t>
            </a:r>
          </a:p>
          <a:p>
            <a:r>
              <a:rPr lang="en-US" altLang="zh-CN" dirty="0"/>
              <a:t>D. </a:t>
            </a:r>
            <a:r>
              <a:rPr lang="zh-CN" altLang="en-US" dirty="0"/>
              <a:t>确保产品负责人在下一次规划会上对改进进行优先级排序</a:t>
            </a:r>
          </a:p>
        </p:txBody>
      </p:sp>
    </p:spTree>
    <p:extLst>
      <p:ext uri="{BB962C8B-B14F-4D97-AF65-F5344CB8AC3E}">
        <p14:creationId xmlns:p14="http://schemas.microsoft.com/office/powerpoint/2010/main" val="148624211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32E8FD6-2F02-A716-2216-AE5E9851DE69}"/>
              </a:ext>
            </a:extLst>
          </p:cNvPr>
          <p:cNvSpPr>
            <a:spLocks noGrp="1"/>
          </p:cNvSpPr>
          <p:nvPr>
            <p:ph type="body" sz="quarter" idx="10"/>
          </p:nvPr>
        </p:nvSpPr>
        <p:spPr/>
        <p:txBody>
          <a:bodyPr/>
          <a:lstStyle/>
          <a:p>
            <a:r>
              <a:rPr lang="zh-CN" altLang="en-US" dirty="0"/>
              <a:t>作为团队教练，你应该什么时候专注于对团队成员个体进行教练（</a:t>
            </a:r>
            <a:r>
              <a:rPr lang="en-US" altLang="zh-CN" dirty="0"/>
              <a:t>coaching</a:t>
            </a:r>
            <a:r>
              <a:rPr lang="zh-CN" altLang="en-US" dirty="0"/>
              <a:t>）？</a:t>
            </a:r>
            <a:endParaRPr lang="en-US" altLang="zh-CN" dirty="0"/>
          </a:p>
          <a:p>
            <a:endParaRPr lang="zh-CN" altLang="en-US" dirty="0"/>
          </a:p>
          <a:p>
            <a:r>
              <a:rPr lang="en-US" altLang="zh-CN" dirty="0"/>
              <a:t>A. </a:t>
            </a:r>
            <a:r>
              <a:rPr lang="zh-CN" altLang="en-US" dirty="0"/>
              <a:t>当有人向你求助或寻求建议的时候。</a:t>
            </a:r>
          </a:p>
          <a:p>
            <a:r>
              <a:rPr lang="en-US" altLang="zh-CN" dirty="0"/>
              <a:t>B. </a:t>
            </a:r>
            <a:r>
              <a:rPr lang="zh-CN" altLang="en-US" dirty="0"/>
              <a:t>在计划会和回顾会中。</a:t>
            </a:r>
          </a:p>
          <a:p>
            <a:r>
              <a:rPr lang="en-US" altLang="zh-CN" dirty="0"/>
              <a:t>C. </a:t>
            </a:r>
            <a:r>
              <a:rPr lang="zh-CN" altLang="en-US" dirty="0"/>
              <a:t>有外部阻碍出现的时候。</a:t>
            </a:r>
          </a:p>
          <a:p>
            <a:r>
              <a:rPr lang="en-US" altLang="zh-CN" dirty="0"/>
              <a:t>D. </a:t>
            </a:r>
            <a:r>
              <a:rPr lang="zh-CN" altLang="en-US" dirty="0"/>
              <a:t>当有人遇到了技术问题，并且他们自己解决不了的时候。</a:t>
            </a:r>
          </a:p>
        </p:txBody>
      </p:sp>
    </p:spTree>
    <p:extLst>
      <p:ext uri="{BB962C8B-B14F-4D97-AF65-F5344CB8AC3E}">
        <p14:creationId xmlns:p14="http://schemas.microsoft.com/office/powerpoint/2010/main" val="302858664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95CC9C1-CCC4-5EBA-B406-CD38369DA1FB}"/>
              </a:ext>
            </a:extLst>
          </p:cNvPr>
          <p:cNvSpPr>
            <a:spLocks noGrp="1"/>
          </p:cNvSpPr>
          <p:nvPr>
            <p:ph type="body" sz="quarter" idx="10"/>
          </p:nvPr>
        </p:nvSpPr>
        <p:spPr/>
        <p:txBody>
          <a:bodyPr/>
          <a:lstStyle/>
          <a:p>
            <a:r>
              <a:rPr lang="zh-CN" altLang="en-US" dirty="0"/>
              <a:t>敏捷团队负责一款智能手机的研发项目，在第三次迭代中，一名开发人员由于使用了新的技术导致另一名开发成员的工作出现了一些问题，由此产生了冲突。开发人员经过努力还是无法独自解决冲突，敏捷教练应该怎么办？</a:t>
            </a:r>
            <a:endParaRPr lang="en-US" altLang="zh-CN" dirty="0"/>
          </a:p>
          <a:p>
            <a:endParaRPr lang="zh-CN" altLang="en-US" dirty="0"/>
          </a:p>
          <a:p>
            <a:r>
              <a:rPr lang="en-US" altLang="zh-CN" dirty="0"/>
              <a:t>A. </a:t>
            </a:r>
            <a:r>
              <a:rPr lang="zh-CN" altLang="en-US" dirty="0"/>
              <a:t>要求产品负责人帮助解决问题</a:t>
            </a:r>
          </a:p>
          <a:p>
            <a:r>
              <a:rPr lang="en-US" altLang="zh-CN" dirty="0"/>
              <a:t>B. </a:t>
            </a:r>
            <a:r>
              <a:rPr lang="zh-CN" altLang="en-US" dirty="0"/>
              <a:t>和开发人员沟通，并协助他们解决问题</a:t>
            </a:r>
          </a:p>
          <a:p>
            <a:r>
              <a:rPr lang="en-US" altLang="zh-CN" dirty="0"/>
              <a:t>C. </a:t>
            </a:r>
            <a:r>
              <a:rPr lang="zh-CN" altLang="en-US" dirty="0"/>
              <a:t>利用职权进行干预并对冲突进行影响评估</a:t>
            </a:r>
          </a:p>
          <a:p>
            <a:r>
              <a:rPr lang="en-US" altLang="zh-CN" dirty="0"/>
              <a:t>D. </a:t>
            </a:r>
            <a:r>
              <a:rPr lang="zh-CN" altLang="en-US" dirty="0"/>
              <a:t>举行团队会议讨论这个问题，并重构构建沟通规则</a:t>
            </a:r>
          </a:p>
        </p:txBody>
      </p:sp>
    </p:spTree>
    <p:extLst>
      <p:ext uri="{BB962C8B-B14F-4D97-AF65-F5344CB8AC3E}">
        <p14:creationId xmlns:p14="http://schemas.microsoft.com/office/powerpoint/2010/main" val="3632960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5C827-306D-8A41-35EE-F6C421765890}"/>
              </a:ext>
            </a:extLst>
          </p:cNvPr>
          <p:cNvSpPr>
            <a:spLocks noGrp="1"/>
          </p:cNvSpPr>
          <p:nvPr>
            <p:ph type="body" sz="quarter" idx="10"/>
          </p:nvPr>
        </p:nvSpPr>
        <p:spPr>
          <a:xfrm>
            <a:off x="3219345" y="1629000"/>
            <a:ext cx="8640000" cy="3600000"/>
          </a:xfrm>
        </p:spPr>
        <p:txBody>
          <a:bodyPr/>
          <a:lstStyle/>
          <a:p>
            <a:r>
              <a:rPr lang="zh-CN" altLang="en-US" dirty="0"/>
              <a:t>一个团队成员向 </a:t>
            </a:r>
            <a:r>
              <a:rPr lang="en-US" altLang="zh-CN" dirty="0"/>
              <a:t>Scrum </a:t>
            </a:r>
            <a:r>
              <a:rPr lang="zh-CN" altLang="en-US" dirty="0"/>
              <a:t>教练抱怨，他们的经理每个星期都要开好几次会，提供更新情况，但那些更新与他们的项目并没有关系。团队成员很不满，因为这些中断导致工作慢下来。</a:t>
            </a:r>
            <a:r>
              <a:rPr lang="en-US" altLang="zh-CN" dirty="0"/>
              <a:t>Scrum </a:t>
            </a:r>
            <a:r>
              <a:rPr lang="zh-CN" altLang="en-US" dirty="0"/>
              <a:t>教练应该做什么？</a:t>
            </a:r>
            <a:endParaRPr lang="en-US" altLang="zh-CN" dirty="0"/>
          </a:p>
          <a:p>
            <a:endParaRPr lang="zh-CN" altLang="en-US" dirty="0"/>
          </a:p>
          <a:p>
            <a:r>
              <a:rPr lang="en-US" altLang="zh-CN" dirty="0"/>
              <a:t>A. </a:t>
            </a:r>
            <a:r>
              <a:rPr lang="zh-CN" altLang="en-US" dirty="0"/>
              <a:t>授权团队成员可以不参加这些会议，而专注于工作</a:t>
            </a:r>
          </a:p>
          <a:p>
            <a:r>
              <a:rPr lang="en-US" altLang="zh-CN" dirty="0"/>
              <a:t>B. </a:t>
            </a:r>
            <a:r>
              <a:rPr lang="zh-CN" altLang="en-US" dirty="0"/>
              <a:t>向产品负责人提出这个问题</a:t>
            </a:r>
          </a:p>
          <a:p>
            <a:r>
              <a:rPr lang="en-US" altLang="zh-CN" dirty="0"/>
              <a:t>C. </a:t>
            </a:r>
            <a:r>
              <a:rPr lang="zh-CN" altLang="en-US" dirty="0"/>
              <a:t>准备一个报告，说明这些会议对工作的的影响</a:t>
            </a:r>
          </a:p>
          <a:p>
            <a:r>
              <a:rPr lang="en-US" altLang="zh-CN" dirty="0"/>
              <a:t>D. </a:t>
            </a:r>
            <a:r>
              <a:rPr lang="zh-CN" altLang="en-US" dirty="0"/>
              <a:t>找这位经理讨论其他方法而不中断团队的工作</a:t>
            </a:r>
          </a:p>
        </p:txBody>
      </p:sp>
    </p:spTree>
    <p:extLst>
      <p:ext uri="{BB962C8B-B14F-4D97-AF65-F5344CB8AC3E}">
        <p14:creationId xmlns:p14="http://schemas.microsoft.com/office/powerpoint/2010/main" val="146439565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840EE-E737-C70E-CE0A-48B1483ED343}"/>
              </a:ext>
            </a:extLst>
          </p:cNvPr>
          <p:cNvSpPr>
            <a:spLocks noGrp="1"/>
          </p:cNvSpPr>
          <p:nvPr>
            <p:ph type="body" sz="quarter" idx="10"/>
          </p:nvPr>
        </p:nvSpPr>
        <p:spPr/>
        <p:txBody>
          <a:bodyPr/>
          <a:lstStyle/>
          <a:p>
            <a:r>
              <a:rPr lang="zh-CN" altLang="en-US" dirty="0"/>
              <a:t>敏捷团队最近接到一项政府部门的开发工作，经过接触，项目负责人发现这个项目的需求变动很多，而且范围并不明确，因此团队讨论决定使用敏捷的方式开发。公司为其匹配了一位敏捷教练，面对这个没有敏捷经验、也缺乏敏捷知识培训的团队，敏捷教练该如何应对？</a:t>
            </a:r>
            <a:endParaRPr lang="en-US" altLang="zh-CN" dirty="0"/>
          </a:p>
          <a:p>
            <a:endParaRPr lang="zh-CN" altLang="en-US" dirty="0"/>
          </a:p>
          <a:p>
            <a:r>
              <a:rPr lang="en-US" altLang="zh-CN" dirty="0"/>
              <a:t>A. </a:t>
            </a:r>
            <a:r>
              <a:rPr lang="zh-CN" altLang="en-US" dirty="0"/>
              <a:t>为团队成员确定并实施最具成本效益的敏捷培训</a:t>
            </a:r>
          </a:p>
          <a:p>
            <a:r>
              <a:rPr lang="en-US" altLang="zh-CN" dirty="0"/>
              <a:t>B. </a:t>
            </a:r>
            <a:r>
              <a:rPr lang="zh-CN" altLang="en-US" dirty="0"/>
              <a:t>申请一个变更请求为团队成员进行敏捷培训</a:t>
            </a:r>
          </a:p>
          <a:p>
            <a:r>
              <a:rPr lang="en-US" altLang="zh-CN" dirty="0"/>
              <a:t>C. </a:t>
            </a:r>
            <a:r>
              <a:rPr lang="zh-CN" altLang="en-US" dirty="0"/>
              <a:t>确保项目的应急储备可以覆盖所有团队成员的敏捷培训</a:t>
            </a:r>
          </a:p>
          <a:p>
            <a:r>
              <a:rPr lang="en-US" altLang="zh-CN" dirty="0"/>
              <a:t>D. </a:t>
            </a:r>
            <a:r>
              <a:rPr lang="zh-CN" altLang="en-US" dirty="0"/>
              <a:t>为关键团队成员安排虚拟培训课程，涵盖敏捷课题</a:t>
            </a:r>
          </a:p>
        </p:txBody>
      </p:sp>
    </p:spTree>
    <p:extLst>
      <p:ext uri="{BB962C8B-B14F-4D97-AF65-F5344CB8AC3E}">
        <p14:creationId xmlns:p14="http://schemas.microsoft.com/office/powerpoint/2010/main" val="243083887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9FE333D-382F-A157-A207-509AD75636E4}"/>
              </a:ext>
            </a:extLst>
          </p:cNvPr>
          <p:cNvSpPr>
            <a:spLocks noGrp="1"/>
          </p:cNvSpPr>
          <p:nvPr>
            <p:ph type="body" sz="quarter" idx="10"/>
          </p:nvPr>
        </p:nvSpPr>
        <p:spPr/>
        <p:txBody>
          <a:bodyPr/>
          <a:lstStyle/>
          <a:p>
            <a:r>
              <a:rPr lang="zh-CN" altLang="en-US" dirty="0"/>
              <a:t>组织正在转型敏捷，这是以往都没有过的新尝试。为此，组织聘请了具有专业敏捷知识的专家作为敏捷教练。作为敏捷管理专业人士，你明确地知道一点：关于敏捷团队必须是被授权的，这是因为？</a:t>
            </a:r>
            <a:endParaRPr lang="en-US" altLang="zh-CN" dirty="0"/>
          </a:p>
          <a:p>
            <a:endParaRPr lang="zh-CN" altLang="en-US" dirty="0"/>
          </a:p>
          <a:p>
            <a:r>
              <a:rPr lang="en-US" altLang="zh-CN" dirty="0"/>
              <a:t>A. </a:t>
            </a:r>
            <a:r>
              <a:rPr lang="zh-CN" altLang="en-US" dirty="0"/>
              <a:t>团队被授权后可以减少范围蔓延的情况，因为团队的适应是缓慢的</a:t>
            </a:r>
          </a:p>
          <a:p>
            <a:r>
              <a:rPr lang="en-US" altLang="zh-CN" dirty="0"/>
              <a:t>B. </a:t>
            </a:r>
            <a:r>
              <a:rPr lang="zh-CN" altLang="en-US" dirty="0"/>
              <a:t>团队被授权后可以直接与客户沟通，以获取具体且不变的需求</a:t>
            </a:r>
          </a:p>
          <a:p>
            <a:r>
              <a:rPr lang="en-US" altLang="zh-CN" dirty="0"/>
              <a:t>C. </a:t>
            </a:r>
            <a:r>
              <a:rPr lang="zh-CN" altLang="en-US" dirty="0"/>
              <a:t>团队被授权后能够更加适应需求变更，从而创造更多价值</a:t>
            </a:r>
          </a:p>
          <a:p>
            <a:r>
              <a:rPr lang="en-US" altLang="zh-CN" dirty="0"/>
              <a:t>D. </a:t>
            </a:r>
            <a:r>
              <a:rPr lang="zh-CN" altLang="en-US" dirty="0"/>
              <a:t>队伍被授权后可以承担相关责任，尽量减少组织风险</a:t>
            </a:r>
          </a:p>
        </p:txBody>
      </p:sp>
    </p:spTree>
    <p:extLst>
      <p:ext uri="{BB962C8B-B14F-4D97-AF65-F5344CB8AC3E}">
        <p14:creationId xmlns:p14="http://schemas.microsoft.com/office/powerpoint/2010/main" val="26605603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DE30E7-3DC3-5791-4C77-E52508CE3966}"/>
              </a:ext>
            </a:extLst>
          </p:cNvPr>
          <p:cNvSpPr>
            <a:spLocks noGrp="1"/>
          </p:cNvSpPr>
          <p:nvPr>
            <p:ph type="body" sz="quarter" idx="10"/>
          </p:nvPr>
        </p:nvSpPr>
        <p:spPr/>
        <p:txBody>
          <a:bodyPr/>
          <a:lstStyle/>
          <a:p>
            <a:r>
              <a:rPr lang="zh-CN" altLang="en-US" dirty="0"/>
              <a:t>一支敏捷团队组建来执行一个大型项目，为确保成功，管理层为项目分配了</a:t>
            </a:r>
            <a:r>
              <a:rPr lang="en-US" altLang="zh-CN" dirty="0"/>
              <a:t>14</a:t>
            </a:r>
            <a:r>
              <a:rPr lang="zh-CN" altLang="en-US" dirty="0"/>
              <a:t>名人员。团队领导注意到经常发生沟通不畅、会议晚开始，以及某些团队成员不积极参与等问题。团队领导应该怎么做？</a:t>
            </a:r>
            <a:endParaRPr lang="en-US" altLang="zh-CN" dirty="0"/>
          </a:p>
          <a:p>
            <a:endParaRPr lang="zh-CN" altLang="en-US" dirty="0"/>
          </a:p>
          <a:p>
            <a:r>
              <a:rPr lang="en-US" altLang="zh-CN" dirty="0"/>
              <a:t>A. </a:t>
            </a:r>
            <a:r>
              <a:rPr lang="zh-CN" altLang="en-US" dirty="0"/>
              <a:t>将团队分成更小的团队</a:t>
            </a:r>
          </a:p>
          <a:p>
            <a:r>
              <a:rPr lang="en-US" altLang="zh-CN" dirty="0"/>
              <a:t>B. </a:t>
            </a:r>
            <a:r>
              <a:rPr lang="zh-CN" altLang="en-US" dirty="0"/>
              <a:t>与每个团队成员开展个别辅导课程</a:t>
            </a:r>
          </a:p>
          <a:p>
            <a:r>
              <a:rPr lang="en-US" altLang="zh-CN" dirty="0"/>
              <a:t>C. </a:t>
            </a:r>
            <a:r>
              <a:rPr lang="zh-CN" altLang="en-US" dirty="0"/>
              <a:t>为每日站会增加团队交流时间</a:t>
            </a:r>
          </a:p>
          <a:p>
            <a:r>
              <a:rPr lang="en-US" altLang="zh-CN" dirty="0"/>
              <a:t>D. </a:t>
            </a:r>
            <a:r>
              <a:rPr lang="zh-CN" altLang="en-US" dirty="0"/>
              <a:t>使用</a:t>
            </a:r>
            <a:r>
              <a:rPr lang="en-US" altLang="zh-CN" dirty="0" err="1"/>
              <a:t>WiFi</a:t>
            </a:r>
            <a:r>
              <a:rPr lang="zh-CN" altLang="en-US" dirty="0"/>
              <a:t>，综合文档和对话</a:t>
            </a:r>
          </a:p>
        </p:txBody>
      </p:sp>
    </p:spTree>
    <p:extLst>
      <p:ext uri="{BB962C8B-B14F-4D97-AF65-F5344CB8AC3E}">
        <p14:creationId xmlns:p14="http://schemas.microsoft.com/office/powerpoint/2010/main" val="306374304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63899A-868B-7999-B659-E5345D73B798}"/>
              </a:ext>
            </a:extLst>
          </p:cNvPr>
          <p:cNvSpPr>
            <a:spLocks noGrp="1"/>
          </p:cNvSpPr>
          <p:nvPr>
            <p:ph type="body" sz="quarter" idx="10"/>
          </p:nvPr>
        </p:nvSpPr>
        <p:spPr/>
        <p:txBody>
          <a:bodyPr/>
          <a:lstStyle/>
          <a:p>
            <a:r>
              <a:rPr lang="zh-CN" altLang="en-US" dirty="0"/>
              <a:t>一家公司聘请敏捷教练帮助解决孤岛</a:t>
            </a:r>
            <a:r>
              <a:rPr lang="en-US" altLang="zh-CN" dirty="0"/>
              <a:t>/</a:t>
            </a:r>
            <a:r>
              <a:rPr lang="zh-CN" altLang="en-US" dirty="0"/>
              <a:t>竖井（</a:t>
            </a:r>
            <a:r>
              <a:rPr lang="en-US" altLang="zh-CN" dirty="0"/>
              <a:t>silos</a:t>
            </a:r>
            <a:r>
              <a:rPr lang="zh-CN" altLang="en-US" dirty="0"/>
              <a:t>） 和人员损耗（</a:t>
            </a:r>
            <a:r>
              <a:rPr lang="en-US" altLang="zh-CN" dirty="0"/>
              <a:t>attrition</a:t>
            </a:r>
            <a:r>
              <a:rPr lang="zh-CN" altLang="en-US" dirty="0"/>
              <a:t>） 问题。敏捷教练应提供什么建议？</a:t>
            </a:r>
            <a:endParaRPr lang="en-US" altLang="zh-CN" dirty="0"/>
          </a:p>
          <a:p>
            <a:endParaRPr lang="zh-CN" altLang="en-US" dirty="0"/>
          </a:p>
          <a:p>
            <a:r>
              <a:rPr lang="en-US" altLang="zh-CN" dirty="0"/>
              <a:t>A. </a:t>
            </a:r>
            <a:r>
              <a:rPr lang="zh-CN" altLang="en-US" dirty="0"/>
              <a:t>创建由主题专家</a:t>
            </a:r>
            <a:r>
              <a:rPr lang="en-US" altLang="zh-CN" dirty="0"/>
              <a:t>(SMEs)</a:t>
            </a:r>
            <a:r>
              <a:rPr lang="zh-CN" altLang="en-US" dirty="0"/>
              <a:t>组成的团队，并不断利用其专业知识</a:t>
            </a:r>
          </a:p>
          <a:p>
            <a:r>
              <a:rPr lang="en-US" altLang="zh-CN" dirty="0"/>
              <a:t>B. </a:t>
            </a:r>
            <a:r>
              <a:rPr lang="zh-CN" altLang="en-US" dirty="0"/>
              <a:t>鼓励学习团队成长而不是个人发展</a:t>
            </a:r>
          </a:p>
          <a:p>
            <a:r>
              <a:rPr lang="en-US" altLang="zh-CN" dirty="0"/>
              <a:t>C. </a:t>
            </a:r>
            <a:r>
              <a:rPr lang="zh-CN" altLang="en-US" dirty="0"/>
              <a:t>培养由通才专家组成的团队，并鼓励个人学习新的技能</a:t>
            </a:r>
          </a:p>
          <a:p>
            <a:r>
              <a:rPr lang="en-US" altLang="zh-CN" dirty="0"/>
              <a:t>D. </a:t>
            </a:r>
            <a:r>
              <a:rPr lang="zh-CN" altLang="en-US" dirty="0"/>
              <a:t>向所有团队成员提供平等的培训，无论他们的经验如何</a:t>
            </a:r>
          </a:p>
        </p:txBody>
      </p:sp>
    </p:spTree>
    <p:extLst>
      <p:ext uri="{BB962C8B-B14F-4D97-AF65-F5344CB8AC3E}">
        <p14:creationId xmlns:p14="http://schemas.microsoft.com/office/powerpoint/2010/main" val="187156375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3E67BAB-754E-FAB0-3392-34AADAF1E0AE}"/>
              </a:ext>
            </a:extLst>
          </p:cNvPr>
          <p:cNvSpPr>
            <a:spLocks noGrp="1"/>
          </p:cNvSpPr>
          <p:nvPr>
            <p:ph type="body" sz="quarter" idx="10"/>
          </p:nvPr>
        </p:nvSpPr>
        <p:spPr/>
        <p:txBody>
          <a:bodyPr/>
          <a:lstStyle/>
          <a:p>
            <a:r>
              <a:rPr lang="zh-CN" altLang="en-US" dirty="0"/>
              <a:t>一个跨国项目团队正在进行一项手机软件的研发项目，产品经理认为软件的易操作性有助于产品成功，这需要用户体验专家与公测用户群开展可用性研讨会以尽早改进。但很快遭到关键干系人的反对，因为项目预算无法支付差旅费。若要保证产品成功，应该怎么做？</a:t>
            </a:r>
            <a:endParaRPr lang="en-US" altLang="zh-CN" dirty="0"/>
          </a:p>
          <a:p>
            <a:endParaRPr lang="zh-CN" altLang="en-US" dirty="0"/>
          </a:p>
          <a:p>
            <a:r>
              <a:rPr lang="en-US" altLang="zh-CN" dirty="0"/>
              <a:t>A. </a:t>
            </a:r>
            <a:r>
              <a:rPr lang="zh-CN" altLang="en-US" dirty="0"/>
              <a:t>要求团队成员提升工作效率以预留差旅费</a:t>
            </a:r>
          </a:p>
          <a:p>
            <a:r>
              <a:rPr lang="en-US" altLang="zh-CN" dirty="0"/>
              <a:t>B. </a:t>
            </a:r>
            <a:r>
              <a:rPr lang="zh-CN" altLang="en-US" dirty="0"/>
              <a:t>采用产品经理的反馈作为用户反馈代表</a:t>
            </a:r>
          </a:p>
          <a:p>
            <a:r>
              <a:rPr lang="en-US" altLang="zh-CN" dirty="0"/>
              <a:t>C. </a:t>
            </a:r>
            <a:r>
              <a:rPr lang="zh-CN" altLang="en-US" dirty="0"/>
              <a:t>在视频会议期间使用屏幕共享工具进行测试，获得用户反馈</a:t>
            </a:r>
          </a:p>
          <a:p>
            <a:r>
              <a:rPr lang="en-US" altLang="zh-CN" dirty="0"/>
              <a:t>D. </a:t>
            </a:r>
            <a:r>
              <a:rPr lang="zh-CN" altLang="en-US" dirty="0"/>
              <a:t>与产品经理协商以减少项目范围预留差旅费</a:t>
            </a:r>
          </a:p>
        </p:txBody>
      </p:sp>
    </p:spTree>
    <p:extLst>
      <p:ext uri="{BB962C8B-B14F-4D97-AF65-F5344CB8AC3E}">
        <p14:creationId xmlns:p14="http://schemas.microsoft.com/office/powerpoint/2010/main" val="15491703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FB01AD2-E0BB-E298-728D-A90AC6B7A142}"/>
              </a:ext>
            </a:extLst>
          </p:cNvPr>
          <p:cNvSpPr>
            <a:spLocks noGrp="1"/>
          </p:cNvSpPr>
          <p:nvPr>
            <p:ph type="body" sz="quarter" idx="10"/>
          </p:nvPr>
        </p:nvSpPr>
        <p:spPr>
          <a:xfrm>
            <a:off x="3219345" y="1629000"/>
            <a:ext cx="8640000" cy="3600000"/>
          </a:xfrm>
        </p:spPr>
        <p:txBody>
          <a:bodyPr/>
          <a:lstStyle/>
          <a:p>
            <a:r>
              <a:rPr lang="zh-CN" altLang="en-US" dirty="0"/>
              <a:t>在经历过团队的震荡阶段后，目前团队成员已经不会再为一点小问题而产生争执了，开发工作也正式步入规范阶段。在这个阶段，敏捷教练需要为团队成员提供什么帮助？</a:t>
            </a:r>
            <a:endParaRPr lang="en-US" altLang="zh-CN" dirty="0"/>
          </a:p>
          <a:p>
            <a:endParaRPr lang="zh-CN" altLang="en-US" dirty="0"/>
          </a:p>
          <a:p>
            <a:r>
              <a:rPr lang="en-US" altLang="zh-CN" dirty="0"/>
              <a:t>A. </a:t>
            </a:r>
            <a:r>
              <a:rPr lang="zh-CN" altLang="en-US" dirty="0"/>
              <a:t>指导成员如何完成工作，保持高绩效水平</a:t>
            </a:r>
            <a:br>
              <a:rPr lang="zh-CN" altLang="en-US" dirty="0"/>
            </a:br>
            <a:r>
              <a:rPr lang="en-US" altLang="zh-CN" dirty="0"/>
              <a:t>B. </a:t>
            </a:r>
            <a:r>
              <a:rPr lang="zh-CN" altLang="en-US" dirty="0"/>
              <a:t>帮助成员一起解决技术问题，确保成员专注完成目标</a:t>
            </a:r>
            <a:br>
              <a:rPr lang="zh-CN" altLang="en-US" dirty="0"/>
            </a:br>
            <a:r>
              <a:rPr lang="en-US" altLang="zh-CN" dirty="0"/>
              <a:t>C. </a:t>
            </a:r>
            <a:r>
              <a:rPr lang="zh-CN" altLang="en-US" dirty="0"/>
              <a:t>不需要提供太多指导，在他们单独请求帮助时再给予支持</a:t>
            </a:r>
            <a:br>
              <a:rPr lang="zh-CN" altLang="en-US" dirty="0"/>
            </a:br>
            <a:r>
              <a:rPr lang="en-US" altLang="zh-CN" dirty="0"/>
              <a:t>D. </a:t>
            </a:r>
            <a:r>
              <a:rPr lang="zh-CN" altLang="en-US" dirty="0"/>
              <a:t>不提供帮助，因为团队是自组织团队可以自我解决问题</a:t>
            </a:r>
          </a:p>
          <a:p>
            <a:endParaRPr lang="zh-CN" altLang="en-US" dirty="0"/>
          </a:p>
        </p:txBody>
      </p:sp>
    </p:spTree>
    <p:extLst>
      <p:ext uri="{BB962C8B-B14F-4D97-AF65-F5344CB8AC3E}">
        <p14:creationId xmlns:p14="http://schemas.microsoft.com/office/powerpoint/2010/main" val="226537670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4732"/>
          </a:xfrm>
        </p:spPr>
        <p:txBody>
          <a:bodyPr>
            <a:normAutofit/>
          </a:bodyPr>
          <a:lstStyle/>
          <a:p>
            <a:r>
              <a:rPr lang="en-US" altLang="zh-CN" dirty="0"/>
              <a:t>6.4.4 </a:t>
            </a:r>
            <a:r>
              <a:rPr lang="zh-CN" altLang="en-US" dirty="0"/>
              <a:t>敏捷活动 </a:t>
            </a:r>
            <a:r>
              <a:rPr lang="en-US" altLang="zh-CN" dirty="0"/>
              <a:t>Scrum Events</a:t>
            </a:r>
            <a:endParaRPr lang="zh-CN" altLang="en-US" dirty="0"/>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328000"/>
          </a:xfrm>
        </p:spPr>
        <p:txBody>
          <a:bodyPr/>
          <a:lstStyle/>
          <a:p>
            <a:r>
              <a:rPr lang="en-US" altLang="zh-CN" dirty="0"/>
              <a:t>5</a:t>
            </a:r>
            <a:r>
              <a:rPr lang="zh-CN" altLang="en-US" dirty="0"/>
              <a:t>个事件</a:t>
            </a:r>
            <a:endParaRPr lang="en-US" altLang="zh-CN" dirty="0"/>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12" name="图示 11">
            <a:extLst>
              <a:ext uri="{FF2B5EF4-FFF2-40B4-BE49-F238E27FC236}">
                <a16:creationId xmlns:a16="http://schemas.microsoft.com/office/drawing/2014/main" id="{2F59913E-9152-614D-80D9-103E7E331BE2}"/>
              </a:ext>
            </a:extLst>
          </p:cNvPr>
          <p:cNvGraphicFramePr>
            <a:graphicFrameLocks noChangeAspect="1"/>
          </p:cNvGraphicFramePr>
          <p:nvPr>
            <p:extLst>
              <p:ext uri="{D42A27DB-BD31-4B8C-83A1-F6EECF244321}">
                <p14:modId xmlns:p14="http://schemas.microsoft.com/office/powerpoint/2010/main" val="606119711"/>
              </p:ext>
            </p:extLst>
          </p:nvPr>
        </p:nvGraphicFramePr>
        <p:xfrm>
          <a:off x="1775460" y="1846314"/>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9431483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785974" y="44115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784079"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784079"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8" name="矩形: 圆角 7">
            <a:extLst>
              <a:ext uri="{FF2B5EF4-FFF2-40B4-BE49-F238E27FC236}">
                <a16:creationId xmlns:a16="http://schemas.microsoft.com/office/drawing/2014/main" id="{85623A42-16A6-602C-83C3-3C8F7B600D53}"/>
              </a:ext>
            </a:extLst>
          </p:cNvPr>
          <p:cNvSpPr/>
          <p:nvPr/>
        </p:nvSpPr>
        <p:spPr>
          <a:xfrm>
            <a:off x="1548415"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9" name="矩形: 圆角 8">
            <a:extLst>
              <a:ext uri="{FF2B5EF4-FFF2-40B4-BE49-F238E27FC236}">
                <a16:creationId xmlns:a16="http://schemas.microsoft.com/office/drawing/2014/main" id="{F8E0EAAF-6528-B828-3CAE-6F3CABA14ACA}"/>
              </a:ext>
            </a:extLst>
          </p:cNvPr>
          <p:cNvSpPr/>
          <p:nvPr/>
        </p:nvSpPr>
        <p:spPr>
          <a:xfrm>
            <a:off x="1548415"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4096763" y="44115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4094868" y="46608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4094868" y="51594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4094868" y="49101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4094868" y="54087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83860" y="5825192"/>
            <a:ext cx="2129109" cy="369332"/>
          </a:xfrm>
          <a:prstGeom prst="rect">
            <a:avLst/>
          </a:prstGeom>
          <a:noFill/>
        </p:spPr>
        <p:txBody>
          <a:bodyPr wrap="none" rtlCol="0">
            <a:spAutoFit/>
          </a:bodyPr>
          <a:lstStyle/>
          <a:p>
            <a:pPr algn="ctr"/>
            <a:r>
              <a:rPr lang="en-US" altLang="zh-CN" dirty="0"/>
              <a:t>Product Backlog</a:t>
            </a:r>
            <a:endParaRPr lang="zh-CN" altLang="en-US" dirty="0"/>
          </a:p>
        </p:txBody>
      </p:sp>
      <p:sp>
        <p:nvSpPr>
          <p:cNvPr id="16" name="文本框 15">
            <a:extLst>
              <a:ext uri="{FF2B5EF4-FFF2-40B4-BE49-F238E27FC236}">
                <a16:creationId xmlns:a16="http://schemas.microsoft.com/office/drawing/2014/main" id="{4262DDDD-FE14-AFB9-5B56-9B47A1F90D75}"/>
              </a:ext>
            </a:extLst>
          </p:cNvPr>
          <p:cNvSpPr txBox="1"/>
          <p:nvPr/>
        </p:nvSpPr>
        <p:spPr>
          <a:xfrm>
            <a:off x="3476875" y="5825192"/>
            <a:ext cx="1955985" cy="369332"/>
          </a:xfrm>
          <a:prstGeom prst="rect">
            <a:avLst/>
          </a:prstGeom>
          <a:noFill/>
        </p:spPr>
        <p:txBody>
          <a:bodyPr wrap="none" rtlCol="0">
            <a:spAutoFit/>
          </a:bodyPr>
          <a:lstStyle/>
          <a:p>
            <a:pPr algn="ctr"/>
            <a:r>
              <a:rPr lang="en-US" altLang="zh-CN" dirty="0"/>
              <a:t>Sprint Backlog</a:t>
            </a:r>
            <a:endParaRPr lang="zh-CN" altLang="en-US" dirty="0"/>
          </a:p>
        </p:txBody>
      </p:sp>
      <p:sp>
        <p:nvSpPr>
          <p:cNvPr id="19" name="文本框 18">
            <a:extLst>
              <a:ext uri="{FF2B5EF4-FFF2-40B4-BE49-F238E27FC236}">
                <a16:creationId xmlns:a16="http://schemas.microsoft.com/office/drawing/2014/main" id="{51C05E4B-16AF-EB18-51CD-5143A0C4944C}"/>
              </a:ext>
            </a:extLst>
          </p:cNvPr>
          <p:cNvSpPr txBox="1"/>
          <p:nvPr/>
        </p:nvSpPr>
        <p:spPr>
          <a:xfrm>
            <a:off x="9458581" y="5825192"/>
            <a:ext cx="1459054" cy="369332"/>
          </a:xfrm>
          <a:prstGeom prst="rect">
            <a:avLst/>
          </a:prstGeom>
          <a:noFill/>
        </p:spPr>
        <p:txBody>
          <a:bodyPr wrap="none" rtlCol="0">
            <a:spAutoFit/>
          </a:bodyPr>
          <a:lstStyle/>
          <a:p>
            <a:pPr algn="ctr"/>
            <a:r>
              <a:rPr lang="en-US" altLang="zh-CN" dirty="0"/>
              <a:t>Increment</a:t>
            </a:r>
            <a:endParaRPr lang="zh-CN" altLang="en-US" dirty="0"/>
          </a:p>
        </p:txBody>
      </p:sp>
      <p:grpSp>
        <p:nvGrpSpPr>
          <p:cNvPr id="24" name="组合 23">
            <a:extLst>
              <a:ext uri="{FF2B5EF4-FFF2-40B4-BE49-F238E27FC236}">
                <a16:creationId xmlns:a16="http://schemas.microsoft.com/office/drawing/2014/main" id="{CD92B576-D6F3-A678-7038-4ECEED11C852}"/>
              </a:ext>
            </a:extLst>
          </p:cNvPr>
          <p:cNvGrpSpPr/>
          <p:nvPr/>
        </p:nvGrpSpPr>
        <p:grpSpPr>
          <a:xfrm>
            <a:off x="2429688" y="1504950"/>
            <a:ext cx="1455375" cy="1455375"/>
            <a:chOff x="3153586" y="1504950"/>
            <a:chExt cx="1455375" cy="1455375"/>
          </a:xfrm>
        </p:grpSpPr>
        <p:sp>
          <p:nvSpPr>
            <p:cNvPr id="23" name="椭圆 22">
              <a:extLst>
                <a:ext uri="{FF2B5EF4-FFF2-40B4-BE49-F238E27FC236}">
                  <a16:creationId xmlns:a16="http://schemas.microsoft.com/office/drawing/2014/main" id="{7FCA4C26-6C76-5498-6301-373EADA1C481}"/>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1" name="图形 20" descr="人群">
              <a:extLst>
                <a:ext uri="{FF2B5EF4-FFF2-40B4-BE49-F238E27FC236}">
                  <a16:creationId xmlns:a16="http://schemas.microsoft.com/office/drawing/2014/main" id="{07EF8178-A701-AF3F-CF35-038AD2E82CF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grpSp>
        <p:nvGrpSpPr>
          <p:cNvPr id="25" name="组合 24">
            <a:extLst>
              <a:ext uri="{FF2B5EF4-FFF2-40B4-BE49-F238E27FC236}">
                <a16:creationId xmlns:a16="http://schemas.microsoft.com/office/drawing/2014/main" id="{AB9D6BBD-8EB7-023F-EEDF-42196F56DF46}"/>
              </a:ext>
            </a:extLst>
          </p:cNvPr>
          <p:cNvGrpSpPr/>
          <p:nvPr/>
        </p:nvGrpSpPr>
        <p:grpSpPr>
          <a:xfrm>
            <a:off x="8646861" y="1504950"/>
            <a:ext cx="1455375" cy="1455375"/>
            <a:chOff x="3153586" y="1504950"/>
            <a:chExt cx="1455375" cy="1455375"/>
          </a:xfrm>
        </p:grpSpPr>
        <p:sp>
          <p:nvSpPr>
            <p:cNvPr id="26" name="椭圆 25">
              <a:extLst>
                <a:ext uri="{FF2B5EF4-FFF2-40B4-BE49-F238E27FC236}">
                  <a16:creationId xmlns:a16="http://schemas.microsoft.com/office/drawing/2014/main" id="{9471551D-6BA1-BFCA-572B-67E1375C6774}"/>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7" name="图形 26" descr="人群">
              <a:extLst>
                <a:ext uri="{FF2B5EF4-FFF2-40B4-BE49-F238E27FC236}">
                  <a16:creationId xmlns:a16="http://schemas.microsoft.com/office/drawing/2014/main" id="{6DDA19B8-1CA0-EE92-D395-17E7F6C9B7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sp>
        <p:nvSpPr>
          <p:cNvPr id="28" name="文本框 27">
            <a:extLst>
              <a:ext uri="{FF2B5EF4-FFF2-40B4-BE49-F238E27FC236}">
                <a16:creationId xmlns:a16="http://schemas.microsoft.com/office/drawing/2014/main" id="{5EA054E3-2D8B-30EB-1FB9-D427AB4834B5}"/>
              </a:ext>
            </a:extLst>
          </p:cNvPr>
          <p:cNvSpPr txBox="1"/>
          <p:nvPr/>
        </p:nvSpPr>
        <p:spPr>
          <a:xfrm>
            <a:off x="1847561" y="3023132"/>
            <a:ext cx="2619628" cy="369332"/>
          </a:xfrm>
          <a:prstGeom prst="rect">
            <a:avLst/>
          </a:prstGeom>
          <a:noFill/>
        </p:spPr>
        <p:txBody>
          <a:bodyPr wrap="none" rtlCol="0">
            <a:spAutoFit/>
          </a:bodyPr>
          <a:lstStyle/>
          <a:p>
            <a:pPr algn="ctr"/>
            <a:r>
              <a:rPr lang="en-US" altLang="zh-CN" dirty="0"/>
              <a:t>Daily Scrum Meeting</a:t>
            </a:r>
            <a:endParaRPr lang="zh-CN" altLang="en-US" dirty="0"/>
          </a:p>
        </p:txBody>
      </p:sp>
      <p:sp>
        <p:nvSpPr>
          <p:cNvPr id="29" name="文本框 28">
            <a:extLst>
              <a:ext uri="{FF2B5EF4-FFF2-40B4-BE49-F238E27FC236}">
                <a16:creationId xmlns:a16="http://schemas.microsoft.com/office/drawing/2014/main" id="{A99EDA19-CDB9-E837-B15A-D53478C112FE}"/>
              </a:ext>
            </a:extLst>
          </p:cNvPr>
          <p:cNvSpPr txBox="1"/>
          <p:nvPr/>
        </p:nvSpPr>
        <p:spPr>
          <a:xfrm>
            <a:off x="8454264" y="3023132"/>
            <a:ext cx="1840568" cy="369332"/>
          </a:xfrm>
          <a:prstGeom prst="rect">
            <a:avLst/>
          </a:prstGeom>
          <a:noFill/>
        </p:spPr>
        <p:txBody>
          <a:bodyPr wrap="none" rtlCol="0">
            <a:spAutoFit/>
          </a:bodyPr>
          <a:lstStyle/>
          <a:p>
            <a:pPr algn="ctr"/>
            <a:r>
              <a:rPr lang="en-US" altLang="zh-CN" dirty="0"/>
              <a:t>Retrospective</a:t>
            </a:r>
            <a:endParaRPr lang="zh-CN" altLang="en-US" dirty="0"/>
          </a:p>
        </p:txBody>
      </p:sp>
      <p:sp>
        <p:nvSpPr>
          <p:cNvPr id="54" name="文本框 53">
            <a:extLst>
              <a:ext uri="{FF2B5EF4-FFF2-40B4-BE49-F238E27FC236}">
                <a16:creationId xmlns:a16="http://schemas.microsoft.com/office/drawing/2014/main" id="{8CB15623-04C7-DD26-E5DC-1D79846BF18D}"/>
              </a:ext>
            </a:extLst>
          </p:cNvPr>
          <p:cNvSpPr txBox="1"/>
          <p:nvPr/>
        </p:nvSpPr>
        <p:spPr>
          <a:xfrm>
            <a:off x="6291701" y="3999511"/>
            <a:ext cx="1669047" cy="646331"/>
          </a:xfrm>
          <a:prstGeom prst="rect">
            <a:avLst/>
          </a:prstGeom>
          <a:noFill/>
        </p:spPr>
        <p:txBody>
          <a:bodyPr wrap="none" rtlCol="0">
            <a:spAutoFit/>
          </a:bodyPr>
          <a:lstStyle/>
          <a:p>
            <a:pPr algn="ctr"/>
            <a:r>
              <a:rPr lang="en-US" altLang="zh-CN" dirty="0"/>
              <a:t>Sprint</a:t>
            </a:r>
          </a:p>
          <a:p>
            <a:pPr algn="ctr"/>
            <a:r>
              <a:rPr lang="en-US" altLang="zh-CN" dirty="0"/>
              <a:t>2 to 4 weeks</a:t>
            </a:r>
            <a:endParaRPr lang="zh-CN" altLang="en-US" dirty="0"/>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5648688"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797375" y="5003059"/>
            <a:ext cx="720000" cy="360000"/>
          </a:xfrm>
          <a:prstGeom prst="rightArrow">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6504970" y="2514197"/>
            <a:ext cx="979755" cy="338554"/>
          </a:xfrm>
          <a:prstGeom prst="rect">
            <a:avLst/>
          </a:prstGeom>
          <a:noFill/>
        </p:spPr>
        <p:txBody>
          <a:bodyPr wrap="none" rtlCol="0">
            <a:spAutoFit/>
          </a:bodyPr>
          <a:lstStyle/>
          <a:p>
            <a:pPr algn="ctr"/>
            <a:r>
              <a:rPr lang="en-US" altLang="zh-CN" sz="1600" dirty="0"/>
              <a:t>24 hour</a:t>
            </a:r>
            <a:endParaRPr lang="zh-CN" altLang="en-US" sz="1600" dirty="0"/>
          </a:p>
        </p:txBody>
      </p:sp>
      <p:sp>
        <p:nvSpPr>
          <p:cNvPr id="2078" name="立方体 2077">
            <a:extLst>
              <a:ext uri="{FF2B5EF4-FFF2-40B4-BE49-F238E27FC236}">
                <a16:creationId xmlns:a16="http://schemas.microsoft.com/office/drawing/2014/main" id="{872FED69-AD78-A5FE-3A99-1DFEEBDAED6A}"/>
              </a:ext>
            </a:extLst>
          </p:cNvPr>
          <p:cNvSpPr/>
          <p:nvPr/>
        </p:nvSpPr>
        <p:spPr>
          <a:xfrm>
            <a:off x="9743585" y="5228781"/>
            <a:ext cx="900000" cy="360000"/>
          </a:xfrm>
          <a:prstGeom prst="cub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8063656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56293B3D-0978-5811-3D68-57DDCC613C9B}"/>
              </a:ext>
            </a:extLst>
          </p:cNvPr>
          <p:cNvSpPr>
            <a:spLocks noGrp="1"/>
          </p:cNvSpPr>
          <p:nvPr>
            <p:ph type="body" sz="quarter" idx="10"/>
          </p:nvPr>
        </p:nvSpPr>
        <p:spPr/>
        <p:txBody>
          <a:bodyPr/>
          <a:lstStyle/>
          <a:p>
            <a:r>
              <a:rPr lang="zh-CN" altLang="en-US" dirty="0"/>
              <a:t>敏捷开发模式强调根据环境和客户的需求变化来调整项目的工作事项。请问敏捷团队在下面哪一项会议上，确定迭代需要完成的工作事项？</a:t>
            </a:r>
            <a:endParaRPr lang="en-US" altLang="zh-CN" dirty="0"/>
          </a:p>
          <a:p>
            <a:endParaRPr lang="zh-CN" altLang="en-US" dirty="0"/>
          </a:p>
          <a:p>
            <a:r>
              <a:rPr lang="en-US" altLang="zh-CN" dirty="0"/>
              <a:t>A. </a:t>
            </a:r>
            <a:r>
              <a:rPr lang="zh-CN" altLang="en-US" dirty="0"/>
              <a:t>迭代规划会议</a:t>
            </a:r>
          </a:p>
          <a:p>
            <a:r>
              <a:rPr lang="en-US" altLang="zh-CN" dirty="0"/>
              <a:t>B. </a:t>
            </a:r>
            <a:r>
              <a:rPr lang="zh-CN" altLang="en-US" dirty="0"/>
              <a:t>迭代评审会议</a:t>
            </a:r>
          </a:p>
          <a:p>
            <a:r>
              <a:rPr lang="en-US" altLang="zh-CN" dirty="0"/>
              <a:t>C. </a:t>
            </a:r>
            <a:r>
              <a:rPr lang="zh-CN" altLang="en-US" dirty="0"/>
              <a:t>迭代回顾会议</a:t>
            </a:r>
          </a:p>
          <a:p>
            <a:r>
              <a:rPr lang="en-US" altLang="zh-CN" dirty="0"/>
              <a:t>D. </a:t>
            </a:r>
            <a:r>
              <a:rPr lang="zh-CN" altLang="en-US" dirty="0"/>
              <a:t>每日站会</a:t>
            </a:r>
          </a:p>
        </p:txBody>
      </p:sp>
    </p:spTree>
    <p:extLst>
      <p:ext uri="{BB962C8B-B14F-4D97-AF65-F5344CB8AC3E}">
        <p14:creationId xmlns:p14="http://schemas.microsoft.com/office/powerpoint/2010/main" val="37876995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D08A6-D555-C0FE-63E6-CAD274AC77DE}"/>
              </a:ext>
            </a:extLst>
          </p:cNvPr>
          <p:cNvSpPr>
            <a:spLocks noGrp="1"/>
          </p:cNvSpPr>
          <p:nvPr>
            <p:ph type="body" sz="quarter" idx="10"/>
          </p:nvPr>
        </p:nvSpPr>
        <p:spPr/>
        <p:txBody>
          <a:bodyPr/>
          <a:lstStyle/>
          <a:p>
            <a:r>
              <a:rPr lang="zh-CN" altLang="en-US" dirty="0"/>
              <a:t>如果迭代周期是 </a:t>
            </a:r>
            <a:r>
              <a:rPr lang="en-US" altLang="zh-CN" dirty="0"/>
              <a:t>2 </a:t>
            </a:r>
            <a:r>
              <a:rPr lang="zh-CN" altLang="en-US" dirty="0"/>
              <a:t>个星期，那么迭代规划会议需要多长时间？</a:t>
            </a:r>
            <a:endParaRPr lang="en-US" altLang="zh-CN" dirty="0"/>
          </a:p>
          <a:p>
            <a:endParaRPr lang="zh-CN" altLang="en-US" dirty="0"/>
          </a:p>
          <a:p>
            <a:r>
              <a:rPr lang="en-US" altLang="zh-CN" dirty="0"/>
              <a:t>A. </a:t>
            </a:r>
            <a:r>
              <a:rPr lang="zh-CN" altLang="en-US" dirty="0"/>
              <a:t>一小时</a:t>
            </a:r>
          </a:p>
          <a:p>
            <a:r>
              <a:rPr lang="en-US" altLang="zh-CN" dirty="0"/>
              <a:t>B. </a:t>
            </a:r>
            <a:r>
              <a:rPr lang="zh-CN" altLang="en-US" dirty="0"/>
              <a:t>半小时</a:t>
            </a:r>
          </a:p>
          <a:p>
            <a:r>
              <a:rPr lang="en-US" altLang="zh-CN" dirty="0"/>
              <a:t>C. </a:t>
            </a:r>
            <a:r>
              <a:rPr lang="zh-CN" altLang="en-US" dirty="0"/>
              <a:t>四个小时</a:t>
            </a:r>
          </a:p>
          <a:p>
            <a:r>
              <a:rPr lang="en-US" altLang="zh-CN" dirty="0"/>
              <a:t>D. </a:t>
            </a:r>
            <a:r>
              <a:rPr lang="zh-CN" altLang="en-US" dirty="0"/>
              <a:t>十五分钟或更少</a:t>
            </a:r>
          </a:p>
        </p:txBody>
      </p:sp>
    </p:spTree>
    <p:extLst>
      <p:ext uri="{BB962C8B-B14F-4D97-AF65-F5344CB8AC3E}">
        <p14:creationId xmlns:p14="http://schemas.microsoft.com/office/powerpoint/2010/main" val="137190497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2A95CE3-FD36-7B4D-5DBA-CB17D947B530}"/>
              </a:ext>
            </a:extLst>
          </p:cNvPr>
          <p:cNvSpPr>
            <a:spLocks noGrp="1"/>
          </p:cNvSpPr>
          <p:nvPr>
            <p:ph type="body" sz="quarter" idx="10"/>
          </p:nvPr>
        </p:nvSpPr>
        <p:spPr/>
        <p:txBody>
          <a:bodyPr/>
          <a:lstStyle/>
          <a:p>
            <a:r>
              <a:rPr lang="zh-CN" altLang="en-US" dirty="0"/>
              <a:t>由于业务需求，项目的目标和需求发生变化。新的干系人如何能够参与到这些变化中？</a:t>
            </a:r>
            <a:endParaRPr lang="en-US" altLang="zh-CN" dirty="0"/>
          </a:p>
          <a:p>
            <a:endParaRPr lang="zh-CN" altLang="en-US" dirty="0"/>
          </a:p>
          <a:p>
            <a:r>
              <a:rPr lang="en-US" altLang="zh-CN" dirty="0"/>
              <a:t>A. </a:t>
            </a:r>
            <a:r>
              <a:rPr lang="zh-CN" altLang="en-US" dirty="0"/>
              <a:t>要求产品负责人与新的干系人频繁地召开与产品愿景相关的会议。</a:t>
            </a:r>
          </a:p>
          <a:p>
            <a:r>
              <a:rPr lang="en-US" altLang="zh-CN" dirty="0"/>
              <a:t>B. </a:t>
            </a:r>
            <a:r>
              <a:rPr lang="zh-CN" altLang="en-US" dirty="0"/>
              <a:t>持续更新干系人登记册，包含新的干系人并让他们经常参与。</a:t>
            </a:r>
          </a:p>
          <a:p>
            <a:r>
              <a:rPr lang="en-US" altLang="zh-CN" dirty="0"/>
              <a:t>C. </a:t>
            </a:r>
            <a:r>
              <a:rPr lang="zh-CN" altLang="en-US" dirty="0"/>
              <a:t>邀请新的干系人参加迭代规划会议。</a:t>
            </a:r>
          </a:p>
          <a:p>
            <a:r>
              <a:rPr lang="en-US" altLang="zh-CN" dirty="0"/>
              <a:t>D. </a:t>
            </a:r>
            <a:r>
              <a:rPr lang="zh-CN" altLang="en-US" dirty="0"/>
              <a:t>邀请新的干系人参加每日站会。</a:t>
            </a:r>
          </a:p>
        </p:txBody>
      </p:sp>
    </p:spTree>
    <p:extLst>
      <p:ext uri="{BB962C8B-B14F-4D97-AF65-F5344CB8AC3E}">
        <p14:creationId xmlns:p14="http://schemas.microsoft.com/office/powerpoint/2010/main" val="93987868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4732"/>
          </a:xfrm>
        </p:spPr>
        <p:txBody>
          <a:bodyPr>
            <a:normAutofit/>
          </a:bodyPr>
          <a:lstStyle/>
          <a:p>
            <a:r>
              <a:rPr lang="en-US" altLang="zh-CN" dirty="0"/>
              <a:t>6.5.5 </a:t>
            </a:r>
            <a:r>
              <a:rPr lang="zh-CN" altLang="en-US" dirty="0"/>
              <a:t>敏捷工件 </a:t>
            </a:r>
            <a:r>
              <a:rPr lang="en-US" altLang="zh-CN" dirty="0"/>
              <a:t>Scrum Artifacts</a:t>
            </a:r>
            <a:endParaRPr lang="zh-CN" altLang="en-US" dirty="0"/>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328000"/>
          </a:xfrm>
        </p:spPr>
        <p:txBody>
          <a:bodyPr/>
          <a:lstStyle/>
          <a:p>
            <a:r>
              <a:rPr lang="en-US" altLang="zh-CN" dirty="0"/>
              <a:t>3</a:t>
            </a:r>
            <a:r>
              <a:rPr lang="zh-CN" altLang="en-US" dirty="0"/>
              <a:t>个工件</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2460247823"/>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9192903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0C68888D-4394-9A1B-3ADF-EE7AE1756993}"/>
              </a:ext>
            </a:extLst>
          </p:cNvPr>
          <p:cNvSpPr>
            <a:spLocks noGrp="1"/>
          </p:cNvSpPr>
          <p:nvPr>
            <p:ph type="body" sz="quarter" idx="10"/>
          </p:nvPr>
        </p:nvSpPr>
        <p:spPr/>
        <p:txBody>
          <a:bodyPr/>
          <a:lstStyle/>
          <a:p>
            <a:r>
              <a:rPr lang="zh-CN" altLang="en-US" dirty="0"/>
              <a:t>敏捷项目的项目经理被要求将预算减少</a:t>
            </a:r>
            <a:r>
              <a:rPr lang="en-US" altLang="zh-CN" dirty="0"/>
              <a:t>30%</a:t>
            </a:r>
            <a:r>
              <a:rPr lang="zh-CN" altLang="en-US" dirty="0"/>
              <a:t>。由于这是一个小型项目团队，因此预算主要分配给资源，项目经理应该使用什么策略才能在受限环境中保持交付价值？</a:t>
            </a:r>
            <a:endParaRPr lang="en-US" altLang="zh-CN" dirty="0"/>
          </a:p>
          <a:p>
            <a:endParaRPr lang="zh-CN" altLang="en-US" dirty="0"/>
          </a:p>
          <a:p>
            <a:r>
              <a:rPr lang="en-US" altLang="zh-CN" dirty="0"/>
              <a:t>A. </a:t>
            </a:r>
            <a:r>
              <a:rPr lang="zh-CN" altLang="en-US" dirty="0"/>
              <a:t>平衡项目团队以适应预算挑战，并提供培训以降低绩效低下的风险</a:t>
            </a:r>
          </a:p>
          <a:p>
            <a:r>
              <a:rPr lang="en-US" altLang="zh-CN" dirty="0"/>
              <a:t>B. </a:t>
            </a:r>
            <a:r>
              <a:rPr lang="zh-CN" altLang="en-US" dirty="0"/>
              <a:t>优先考虑产品待办事项，以寻找高业务价值和低工作量的事项，并调整项目预算和人员配置以完成项目</a:t>
            </a:r>
          </a:p>
          <a:p>
            <a:r>
              <a:rPr lang="en-US" altLang="zh-CN" dirty="0"/>
              <a:t>C. </a:t>
            </a:r>
            <a:r>
              <a:rPr lang="zh-CN" altLang="en-US" dirty="0"/>
              <a:t>将项目范围仅限于基本的关键功能，并以当前人员配置水平运行项目，直到用完所有预算</a:t>
            </a:r>
          </a:p>
          <a:p>
            <a:r>
              <a:rPr lang="en-US" altLang="zh-CN" dirty="0"/>
              <a:t>D. </a:t>
            </a:r>
            <a:r>
              <a:rPr lang="zh-CN" altLang="en-US" dirty="0"/>
              <a:t>减少项目人员，并相应调整范围和时间表以支持预算削减</a:t>
            </a:r>
          </a:p>
          <a:p>
            <a:endParaRPr lang="zh-CN" altLang="en-US" dirty="0"/>
          </a:p>
        </p:txBody>
      </p:sp>
    </p:spTree>
    <p:extLst>
      <p:ext uri="{BB962C8B-B14F-4D97-AF65-F5344CB8AC3E}">
        <p14:creationId xmlns:p14="http://schemas.microsoft.com/office/powerpoint/2010/main" val="80692932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4C5986-936F-A884-1A56-BE880319C9B1}"/>
              </a:ext>
            </a:extLst>
          </p:cNvPr>
          <p:cNvSpPr>
            <a:spLocks noGrp="1"/>
          </p:cNvSpPr>
          <p:nvPr>
            <p:ph type="body" sz="quarter" idx="10"/>
          </p:nvPr>
        </p:nvSpPr>
        <p:spPr/>
        <p:txBody>
          <a:bodyPr/>
          <a:lstStyle/>
          <a:p>
            <a:r>
              <a:rPr lang="zh-CN" altLang="en-US" dirty="0"/>
              <a:t>公司正在进行敏捷开发，新来的公司领导对敏捷并不了解，他询问敏捷项目管理专业人士关于待办列表中的事项。敏捷项目管理专业人士该如何答复他？</a:t>
            </a:r>
            <a:endParaRPr lang="en-US" altLang="zh-CN" dirty="0"/>
          </a:p>
          <a:p>
            <a:endParaRPr lang="zh-CN" altLang="en-US" dirty="0"/>
          </a:p>
          <a:p>
            <a:r>
              <a:rPr lang="en-US" altLang="zh-CN" dirty="0"/>
              <a:t>A. </a:t>
            </a:r>
            <a:r>
              <a:rPr lang="zh-CN" altLang="en-US" dirty="0"/>
              <a:t>应该对事项进行精细化分解，并准确估算</a:t>
            </a:r>
          </a:p>
          <a:p>
            <a:r>
              <a:rPr lang="en-US" altLang="zh-CN" dirty="0"/>
              <a:t>B. </a:t>
            </a:r>
            <a:r>
              <a:rPr lang="zh-CN" altLang="en-US" dirty="0"/>
              <a:t>应该对事项进行精细化分解，并在冲刺计划中估算</a:t>
            </a:r>
          </a:p>
          <a:p>
            <a:r>
              <a:rPr lang="en-US" altLang="zh-CN" dirty="0"/>
              <a:t>C. </a:t>
            </a:r>
            <a:r>
              <a:rPr lang="zh-CN" altLang="en-US" dirty="0"/>
              <a:t>应该对事项进行逐步精细化，并在迭代计划中估算</a:t>
            </a:r>
          </a:p>
          <a:p>
            <a:r>
              <a:rPr lang="en-US" altLang="zh-CN" dirty="0"/>
              <a:t>D. </a:t>
            </a:r>
            <a:r>
              <a:rPr lang="zh-CN" altLang="en-US" dirty="0"/>
              <a:t>应该对事项进行精细化分解，并在列入迭代待办列表之前估算</a:t>
            </a:r>
          </a:p>
        </p:txBody>
      </p:sp>
    </p:spTree>
    <p:extLst>
      <p:ext uri="{BB962C8B-B14F-4D97-AF65-F5344CB8AC3E}">
        <p14:creationId xmlns:p14="http://schemas.microsoft.com/office/powerpoint/2010/main" val="329566680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2337E66-6F59-A3E2-EA8D-E52582AD0629}"/>
              </a:ext>
            </a:extLst>
          </p:cNvPr>
          <p:cNvSpPr>
            <a:spLocks noGrp="1"/>
          </p:cNvSpPr>
          <p:nvPr>
            <p:ph type="body" sz="quarter" idx="10"/>
          </p:nvPr>
        </p:nvSpPr>
        <p:spPr/>
        <p:txBody>
          <a:bodyPr/>
          <a:lstStyle/>
          <a:p>
            <a:r>
              <a:rPr lang="zh-CN" altLang="en-US" dirty="0"/>
              <a:t>产品负责人正在努力为一个复杂功能编写用户故事，若要处理这个问题，敏捷管理专业人士应该怎么做？</a:t>
            </a:r>
            <a:endParaRPr lang="en-US" altLang="zh-CN" dirty="0"/>
          </a:p>
          <a:p>
            <a:endParaRPr lang="zh-CN" altLang="en-US" dirty="0"/>
          </a:p>
          <a:p>
            <a:r>
              <a:rPr lang="en-US" altLang="zh-CN" dirty="0"/>
              <a:t>A. </a:t>
            </a:r>
            <a:r>
              <a:rPr lang="zh-CN" altLang="en-US" dirty="0"/>
              <a:t>与产品负责人合作，分解故事并专注于其最有价值的部分。</a:t>
            </a:r>
          </a:p>
          <a:p>
            <a:r>
              <a:rPr lang="en-US" altLang="zh-CN" dirty="0"/>
              <a:t>B. </a:t>
            </a:r>
            <a:r>
              <a:rPr lang="zh-CN" altLang="en-US" dirty="0"/>
              <a:t>增加迭代的时间长度，确保满足所有需求。</a:t>
            </a:r>
          </a:p>
          <a:p>
            <a:r>
              <a:rPr lang="en-US" altLang="zh-CN" dirty="0"/>
              <a:t>C. </a:t>
            </a:r>
            <a:r>
              <a:rPr lang="zh-CN" altLang="en-US" dirty="0"/>
              <a:t>将该故事与产品代办列表中的不同故事交换。</a:t>
            </a:r>
          </a:p>
          <a:p>
            <a:r>
              <a:rPr lang="en-US" altLang="zh-CN" dirty="0"/>
              <a:t>D. </a:t>
            </a:r>
            <a:r>
              <a:rPr lang="zh-CN" altLang="en-US" dirty="0"/>
              <a:t>在下一次回顾会议上，与产品负责人一起评审故事内容。</a:t>
            </a:r>
          </a:p>
        </p:txBody>
      </p:sp>
    </p:spTree>
    <p:extLst>
      <p:ext uri="{BB962C8B-B14F-4D97-AF65-F5344CB8AC3E}">
        <p14:creationId xmlns:p14="http://schemas.microsoft.com/office/powerpoint/2010/main" val="133899155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BA7E82B-DDE7-A2B6-B15C-AB061F40C272}"/>
              </a:ext>
            </a:extLst>
          </p:cNvPr>
          <p:cNvSpPr>
            <a:spLocks noGrp="1"/>
          </p:cNvSpPr>
          <p:nvPr>
            <p:ph type="body" sz="quarter" idx="10"/>
          </p:nvPr>
        </p:nvSpPr>
        <p:spPr>
          <a:xfrm>
            <a:off x="3219345" y="1629000"/>
            <a:ext cx="8640000" cy="3600000"/>
          </a:xfrm>
        </p:spPr>
        <p:txBody>
          <a:bodyPr/>
          <a:lstStyle/>
          <a:p>
            <a:r>
              <a:rPr lang="zh-CN" altLang="en-US" dirty="0"/>
              <a:t>产品负责人正在对产品待办事项列表中的用户故事进行优先级排序，在排序时重点考虑的因素是？</a:t>
            </a:r>
          </a:p>
          <a:p>
            <a:br>
              <a:rPr lang="zh-CN" altLang="en-US" dirty="0"/>
            </a:br>
            <a:r>
              <a:rPr lang="en-US" altLang="zh-CN" dirty="0"/>
              <a:t>A. </a:t>
            </a:r>
            <a:r>
              <a:rPr lang="zh-CN" altLang="en-US" dirty="0"/>
              <a:t>难度，价值和成本</a:t>
            </a:r>
            <a:br>
              <a:rPr lang="zh-CN" altLang="en-US" dirty="0"/>
            </a:br>
            <a:r>
              <a:rPr lang="en-US" altLang="zh-CN" dirty="0"/>
              <a:t>B. </a:t>
            </a:r>
            <a:r>
              <a:rPr lang="zh-CN" altLang="en-US" dirty="0"/>
              <a:t>价值，风险和难度</a:t>
            </a:r>
            <a:br>
              <a:rPr lang="zh-CN" altLang="en-US" dirty="0"/>
            </a:br>
            <a:r>
              <a:rPr lang="en-US" altLang="zh-CN" dirty="0"/>
              <a:t>C. </a:t>
            </a:r>
            <a:r>
              <a:rPr lang="zh-CN" altLang="en-US" dirty="0"/>
              <a:t>价值，成本和风险</a:t>
            </a:r>
            <a:br>
              <a:rPr lang="zh-CN" altLang="en-US" dirty="0"/>
            </a:br>
            <a:r>
              <a:rPr lang="en-US" altLang="zh-CN" dirty="0"/>
              <a:t>D. </a:t>
            </a:r>
            <a:r>
              <a:rPr lang="zh-CN" altLang="en-US" dirty="0"/>
              <a:t>价值，风险和便利</a:t>
            </a:r>
          </a:p>
          <a:p>
            <a:endParaRPr lang="zh-CN" altLang="en-US" dirty="0"/>
          </a:p>
        </p:txBody>
      </p:sp>
    </p:spTree>
    <p:extLst>
      <p:ext uri="{BB962C8B-B14F-4D97-AF65-F5344CB8AC3E}">
        <p14:creationId xmlns:p14="http://schemas.microsoft.com/office/powerpoint/2010/main" val="112187761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2F2C8702-FA00-DD7A-9581-48065B4E5361}"/>
              </a:ext>
            </a:extLst>
          </p:cNvPr>
          <p:cNvSpPr>
            <a:spLocks noGrp="1"/>
          </p:cNvSpPr>
          <p:nvPr>
            <p:ph type="body" sz="quarter" idx="10"/>
          </p:nvPr>
        </p:nvSpPr>
        <p:spPr/>
        <p:txBody>
          <a:bodyPr/>
          <a:lstStyle/>
          <a:p>
            <a:r>
              <a:rPr lang="zh-CN" altLang="en-US" dirty="0"/>
              <a:t>一个团队完成了第一版的发布，高层又要开发团队完成第二版的发布，但是这个团队同时又要做第一个版本的运维和支持工作。作为敏捷管理人士，应该怎么办？</a:t>
            </a:r>
            <a:endParaRPr lang="en-US" altLang="zh-CN" dirty="0"/>
          </a:p>
          <a:p>
            <a:endParaRPr lang="zh-CN" altLang="en-US" dirty="0"/>
          </a:p>
          <a:p>
            <a:r>
              <a:rPr lang="en-US" altLang="zh-CN" dirty="0"/>
              <a:t>A. </a:t>
            </a:r>
            <a:r>
              <a:rPr lang="zh-CN" altLang="en-US" dirty="0"/>
              <a:t>团队应该开发新的版本，因为新的版本有高的价值</a:t>
            </a:r>
          </a:p>
          <a:p>
            <a:r>
              <a:rPr lang="en-US" altLang="zh-CN" dirty="0"/>
              <a:t>B. </a:t>
            </a:r>
            <a:r>
              <a:rPr lang="zh-CN" altLang="en-US" dirty="0"/>
              <a:t>满足投资回报率</a:t>
            </a:r>
          </a:p>
          <a:p>
            <a:r>
              <a:rPr lang="en-US" altLang="zh-CN" dirty="0"/>
              <a:t>C. </a:t>
            </a:r>
            <a:r>
              <a:rPr lang="zh-CN" altLang="en-US" dirty="0"/>
              <a:t>计算团队速度时应该考虑维护工作的影响</a:t>
            </a:r>
          </a:p>
          <a:p>
            <a:r>
              <a:rPr lang="en-US" altLang="zh-CN" dirty="0"/>
              <a:t>D. </a:t>
            </a:r>
            <a:r>
              <a:rPr lang="zh-CN" altLang="en-US" dirty="0"/>
              <a:t>团队把维护工作交给其他团队</a:t>
            </a:r>
          </a:p>
        </p:txBody>
      </p:sp>
    </p:spTree>
    <p:extLst>
      <p:ext uri="{BB962C8B-B14F-4D97-AF65-F5344CB8AC3E}">
        <p14:creationId xmlns:p14="http://schemas.microsoft.com/office/powerpoint/2010/main" val="23163054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616B498-8E6D-0F88-F7F1-3D47DED9DEDC}"/>
              </a:ext>
            </a:extLst>
          </p:cNvPr>
          <p:cNvSpPr>
            <a:spLocks noGrp="1"/>
          </p:cNvSpPr>
          <p:nvPr>
            <p:ph type="body" sz="quarter" idx="10"/>
          </p:nvPr>
        </p:nvSpPr>
        <p:spPr>
          <a:xfrm>
            <a:off x="3219345" y="1629000"/>
            <a:ext cx="8640000" cy="3600000"/>
          </a:xfrm>
        </p:spPr>
        <p:txBody>
          <a:bodyPr/>
          <a:lstStyle/>
          <a:p>
            <a:r>
              <a:rPr lang="zh-CN" altLang="en-US" dirty="0"/>
              <a:t>作为公司某项目敏捷团队的开发人员，马上要开始这个项目的第一次迭代，你充满了干劲，但是不知道应该从哪里开始做起。为此，你所在的团队应该准备一份文件，里面应该包含本次迭代需要开发的功能以及特征，请问这个文件是指的？</a:t>
            </a:r>
            <a:endParaRPr lang="en-US" altLang="zh-CN" dirty="0"/>
          </a:p>
          <a:p>
            <a:endParaRPr lang="zh-CN" altLang="en-US" dirty="0"/>
          </a:p>
          <a:p>
            <a:r>
              <a:rPr lang="en-US" altLang="zh-CN" dirty="0"/>
              <a:t>A. </a:t>
            </a:r>
            <a:r>
              <a:rPr lang="zh-CN" altLang="en-US" dirty="0"/>
              <a:t>产品待办事项列表</a:t>
            </a:r>
          </a:p>
          <a:p>
            <a:r>
              <a:rPr lang="en-US" altLang="zh-CN" dirty="0"/>
              <a:t>B. </a:t>
            </a:r>
            <a:r>
              <a:rPr lang="zh-CN" altLang="en-US" dirty="0"/>
              <a:t>迭代待办事项列表</a:t>
            </a:r>
          </a:p>
          <a:p>
            <a:r>
              <a:rPr lang="en-US" altLang="zh-CN" dirty="0"/>
              <a:t>C. </a:t>
            </a:r>
            <a:r>
              <a:rPr lang="zh-CN" altLang="en-US" dirty="0"/>
              <a:t>每日计划</a:t>
            </a:r>
          </a:p>
          <a:p>
            <a:r>
              <a:rPr lang="en-US" altLang="zh-CN" dirty="0"/>
              <a:t>D. </a:t>
            </a:r>
            <a:r>
              <a:rPr lang="zh-CN" altLang="en-US" dirty="0"/>
              <a:t>项目章程</a:t>
            </a:r>
          </a:p>
        </p:txBody>
      </p:sp>
    </p:spTree>
    <p:extLst>
      <p:ext uri="{BB962C8B-B14F-4D97-AF65-F5344CB8AC3E}">
        <p14:creationId xmlns:p14="http://schemas.microsoft.com/office/powerpoint/2010/main" val="347596865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CEABCBD-2C58-9F6E-74A2-2CB1207A652E}"/>
              </a:ext>
            </a:extLst>
          </p:cNvPr>
          <p:cNvSpPr>
            <a:spLocks noGrp="1"/>
          </p:cNvSpPr>
          <p:nvPr>
            <p:ph type="body" sz="quarter" idx="10"/>
          </p:nvPr>
        </p:nvSpPr>
        <p:spPr/>
        <p:txBody>
          <a:bodyPr/>
          <a:lstStyle/>
          <a:p>
            <a:r>
              <a:rPr lang="zh-CN" altLang="en-US" dirty="0"/>
              <a:t>你是一个汽车行业软件团队的 </a:t>
            </a:r>
            <a:r>
              <a:rPr lang="en-US" altLang="zh-CN" dirty="0"/>
              <a:t>Scrum </a:t>
            </a:r>
            <a:r>
              <a:rPr lang="zh-CN" altLang="en-US" dirty="0"/>
              <a:t>敏捷教练，团队正在为一个防抱死制动系统开发固件。你的团队已经写出了团队完成 </a:t>
            </a:r>
            <a:r>
              <a:rPr lang="en-US" altLang="zh-CN" dirty="0"/>
              <a:t>Sprint </a:t>
            </a:r>
            <a:r>
              <a:rPr lang="zh-CN" altLang="en-US" dirty="0"/>
              <a:t>待办项需要满足的目标。</a:t>
            </a:r>
          </a:p>
          <a:p>
            <a:r>
              <a:rPr lang="zh-CN" altLang="en-US" dirty="0"/>
              <a:t>接下来团队应该做什么？</a:t>
            </a:r>
            <a:endParaRPr lang="en-US" altLang="zh-CN" dirty="0"/>
          </a:p>
          <a:p>
            <a:endParaRPr lang="zh-CN" altLang="en-US" dirty="0"/>
          </a:p>
          <a:p>
            <a:r>
              <a:rPr lang="en-US" altLang="zh-CN" dirty="0"/>
              <a:t>A. </a:t>
            </a:r>
            <a:r>
              <a:rPr lang="zh-CN" altLang="en-US" dirty="0"/>
              <a:t>将 </a:t>
            </a:r>
            <a:r>
              <a:rPr lang="en-US" altLang="zh-CN" dirty="0"/>
              <a:t>Sprint </a:t>
            </a:r>
            <a:r>
              <a:rPr lang="zh-CN" altLang="en-US" dirty="0"/>
              <a:t>待办列表分解为任务</a:t>
            </a:r>
          </a:p>
          <a:p>
            <a:r>
              <a:rPr lang="en-US" altLang="zh-CN" dirty="0"/>
              <a:t>B. </a:t>
            </a:r>
            <a:r>
              <a:rPr lang="zh-CN" altLang="en-US" dirty="0"/>
              <a:t>与用户一起评审可用软件</a:t>
            </a:r>
          </a:p>
          <a:p>
            <a:r>
              <a:rPr lang="en-US" altLang="zh-CN" dirty="0"/>
              <a:t>C. </a:t>
            </a:r>
            <a:r>
              <a:rPr lang="zh-CN" altLang="en-US" dirty="0"/>
              <a:t>与业务客户会面</a:t>
            </a:r>
          </a:p>
          <a:p>
            <a:r>
              <a:rPr lang="en-US" altLang="zh-CN" dirty="0"/>
              <a:t>D. </a:t>
            </a:r>
            <a:r>
              <a:rPr lang="zh-CN" altLang="en-US" dirty="0"/>
              <a:t>确定 </a:t>
            </a:r>
            <a:r>
              <a:rPr lang="en-US" altLang="zh-CN" dirty="0"/>
              <a:t>Sprint </a:t>
            </a:r>
            <a:r>
              <a:rPr lang="zh-CN" altLang="en-US" dirty="0"/>
              <a:t>待办列表中要包含哪些项</a:t>
            </a:r>
          </a:p>
        </p:txBody>
      </p:sp>
    </p:spTree>
    <p:extLst>
      <p:ext uri="{BB962C8B-B14F-4D97-AF65-F5344CB8AC3E}">
        <p14:creationId xmlns:p14="http://schemas.microsoft.com/office/powerpoint/2010/main" val="138229444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A1FDED7-8481-262A-E366-5DDCF57BAF70}"/>
              </a:ext>
            </a:extLst>
          </p:cNvPr>
          <p:cNvSpPr>
            <a:spLocks noGrp="1"/>
          </p:cNvSpPr>
          <p:nvPr>
            <p:ph type="body" sz="quarter" idx="10"/>
          </p:nvPr>
        </p:nvSpPr>
        <p:spPr/>
        <p:txBody>
          <a:bodyPr/>
          <a:lstStyle/>
          <a:p>
            <a:r>
              <a:rPr lang="zh-CN" altLang="en-US" dirty="0"/>
              <a:t>一个 </a:t>
            </a:r>
            <a:r>
              <a:rPr lang="en-US" altLang="zh-CN" dirty="0"/>
              <a:t>Scrum </a:t>
            </a:r>
            <a:r>
              <a:rPr lang="zh-CN" altLang="en-US" dirty="0"/>
              <a:t>团队的产品负责人发现利益相关者优先级发生变化，他们还没有开始开发的一个可交付产品现在比目前他们正在完成的一个工作项更重要。团队处理这种情况的最佳方法是什么？</a:t>
            </a:r>
            <a:endParaRPr lang="en-US" altLang="zh-CN" dirty="0"/>
          </a:p>
          <a:p>
            <a:endParaRPr lang="zh-CN" altLang="en-US" dirty="0"/>
          </a:p>
          <a:p>
            <a:r>
              <a:rPr lang="en-US" altLang="zh-CN" dirty="0"/>
              <a:t>A. </a:t>
            </a:r>
            <a:r>
              <a:rPr lang="zh-CN" altLang="en-US" dirty="0"/>
              <a:t>完成当前 </a:t>
            </a:r>
            <a:r>
              <a:rPr lang="en-US" altLang="zh-CN" dirty="0"/>
              <a:t>sprint</a:t>
            </a:r>
            <a:r>
              <a:rPr lang="zh-CN" altLang="en-US" dirty="0"/>
              <a:t>，并在下一个 </a:t>
            </a:r>
            <a:r>
              <a:rPr lang="en-US" altLang="zh-CN" dirty="0"/>
              <a:t>sprint </a:t>
            </a:r>
            <a:r>
              <a:rPr lang="zh-CN" altLang="en-US" dirty="0"/>
              <a:t>计划会议上调整计划。</a:t>
            </a:r>
          </a:p>
          <a:p>
            <a:r>
              <a:rPr lang="en-US" altLang="zh-CN" dirty="0"/>
              <a:t>B. </a:t>
            </a:r>
            <a:r>
              <a:rPr lang="zh-CN" altLang="en-US" dirty="0"/>
              <a:t>通过限制在制品减少瓶颈。</a:t>
            </a:r>
          </a:p>
          <a:p>
            <a:r>
              <a:rPr lang="en-US" altLang="zh-CN" dirty="0"/>
              <a:t>C. </a:t>
            </a:r>
            <a:r>
              <a:rPr lang="zh-CN" altLang="en-US" dirty="0"/>
              <a:t>立即取消当前 </a:t>
            </a:r>
            <a:r>
              <a:rPr lang="en-US" altLang="zh-CN" dirty="0"/>
              <a:t>sprint</a:t>
            </a:r>
            <a:r>
              <a:rPr lang="zh-CN" altLang="en-US" dirty="0"/>
              <a:t>，并创建一个新计划来反映这个新的优先级。</a:t>
            </a:r>
          </a:p>
          <a:p>
            <a:r>
              <a:rPr lang="en-US" altLang="zh-CN" dirty="0"/>
              <a:t>D. </a:t>
            </a:r>
            <a:r>
              <a:rPr lang="zh-CN" altLang="en-US" dirty="0"/>
              <a:t>开始重构代码以反映更新后的优先级。</a:t>
            </a:r>
          </a:p>
        </p:txBody>
      </p:sp>
    </p:spTree>
    <p:extLst>
      <p:ext uri="{BB962C8B-B14F-4D97-AF65-F5344CB8AC3E}">
        <p14:creationId xmlns:p14="http://schemas.microsoft.com/office/powerpoint/2010/main" val="92563000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79F10DF-7B02-29F2-0036-87165FAB7886}"/>
              </a:ext>
            </a:extLst>
          </p:cNvPr>
          <p:cNvSpPr>
            <a:spLocks noGrp="1"/>
          </p:cNvSpPr>
          <p:nvPr>
            <p:ph type="body" sz="quarter" idx="10"/>
          </p:nvPr>
        </p:nvSpPr>
        <p:spPr/>
        <p:txBody>
          <a:bodyPr>
            <a:noAutofit/>
          </a:bodyPr>
          <a:lstStyle/>
          <a:p>
            <a:r>
              <a:rPr lang="en-US" altLang="zh-CN" dirty="0"/>
              <a:t>Sprint </a:t>
            </a:r>
            <a:r>
              <a:rPr lang="zh-CN" altLang="en-US" dirty="0"/>
              <a:t>进行到一半时，产品负责人收到 </a:t>
            </a:r>
            <a:r>
              <a:rPr lang="en-US" altLang="zh-CN" dirty="0"/>
              <a:t>DevOps</a:t>
            </a:r>
            <a:r>
              <a:rPr lang="zh-CN" altLang="en-US" dirty="0"/>
              <a:t>（开发运维）团队的 </a:t>
            </a:r>
            <a:r>
              <a:rPr lang="en-US" altLang="zh-CN" dirty="0"/>
              <a:t>email</a:t>
            </a:r>
            <a:r>
              <a:rPr lang="zh-CN" altLang="en-US" dirty="0"/>
              <a:t>，该 </a:t>
            </a:r>
            <a:r>
              <a:rPr lang="en-US" altLang="zh-CN" dirty="0"/>
              <a:t>DevOps </a:t>
            </a:r>
            <a:r>
              <a:rPr lang="zh-CN" altLang="en-US" dirty="0"/>
              <a:t>团队负责部署这个团队构建的软件。他们提醒说有一个新政策要求安装脚本做一个修改（所有部署中都必须包含这些安装脚本）。部署是召开 </a:t>
            </a:r>
            <a:r>
              <a:rPr lang="en-US" altLang="zh-CN" dirty="0"/>
              <a:t>Sprint </a:t>
            </a:r>
            <a:r>
              <a:rPr lang="zh-CN" altLang="en-US" dirty="0"/>
              <a:t>评审会议的必要条件。</a:t>
            </a:r>
          </a:p>
          <a:p>
            <a:r>
              <a:rPr lang="zh-CN" altLang="en-US" dirty="0"/>
              <a:t>修改这个脚本会让其他工作延迟到这个 </a:t>
            </a:r>
            <a:r>
              <a:rPr lang="en-US" altLang="zh-CN" dirty="0"/>
              <a:t>Sprint </a:t>
            </a:r>
            <a:r>
              <a:rPr lang="zh-CN" altLang="en-US" dirty="0"/>
              <a:t>结束之后。产品负责人接下来应该做什么？</a:t>
            </a:r>
            <a:endParaRPr lang="en-US" altLang="zh-CN" dirty="0"/>
          </a:p>
          <a:p>
            <a:endParaRPr lang="zh-CN" altLang="en-US" dirty="0"/>
          </a:p>
          <a:p>
            <a:r>
              <a:rPr lang="en-US" altLang="zh-CN" dirty="0"/>
              <a:t>A. </a:t>
            </a:r>
            <a:r>
              <a:rPr lang="zh-CN" altLang="en-US" dirty="0"/>
              <a:t>与团队沟通在 </a:t>
            </a:r>
            <a:r>
              <a:rPr lang="en-US" altLang="zh-CN" dirty="0"/>
              <a:t>Sprint </a:t>
            </a:r>
            <a:r>
              <a:rPr lang="zh-CN" altLang="en-US" dirty="0"/>
              <a:t>待办列表中增加这个脚本修改工作，并把最低优先级的工作项移回到产品待办列表。</a:t>
            </a:r>
          </a:p>
          <a:p>
            <a:r>
              <a:rPr lang="en-US" altLang="zh-CN" dirty="0"/>
              <a:t>B. </a:t>
            </a:r>
            <a:r>
              <a:rPr lang="zh-CN" altLang="en-US" dirty="0"/>
              <a:t>将脚本修改工作增加到产品待办列表。</a:t>
            </a:r>
          </a:p>
          <a:p>
            <a:r>
              <a:rPr lang="en-US" altLang="zh-CN" dirty="0"/>
              <a:t>C. </a:t>
            </a:r>
            <a:r>
              <a:rPr lang="zh-CN" altLang="en-US" dirty="0"/>
              <a:t>延长 </a:t>
            </a:r>
            <a:r>
              <a:rPr lang="en-US" altLang="zh-CN" dirty="0"/>
              <a:t>Sprint </a:t>
            </a:r>
            <a:r>
              <a:rPr lang="zh-CN" altLang="en-US" dirty="0"/>
              <a:t>最后期限，以涵盖这个脚本修改工作。</a:t>
            </a:r>
          </a:p>
          <a:p>
            <a:r>
              <a:rPr lang="en-US" altLang="zh-CN" dirty="0"/>
              <a:t>D. </a:t>
            </a:r>
            <a:r>
              <a:rPr lang="zh-CN" altLang="en-US" dirty="0"/>
              <a:t>安排与 </a:t>
            </a:r>
            <a:r>
              <a:rPr lang="en-US" altLang="zh-CN" dirty="0"/>
              <a:t>DevOps </a:t>
            </a:r>
            <a:r>
              <a:rPr lang="zh-CN" altLang="en-US" dirty="0"/>
              <a:t>团队经理的一个面对面会谈。</a:t>
            </a:r>
          </a:p>
        </p:txBody>
      </p:sp>
    </p:spTree>
    <p:extLst>
      <p:ext uri="{BB962C8B-B14F-4D97-AF65-F5344CB8AC3E}">
        <p14:creationId xmlns:p14="http://schemas.microsoft.com/office/powerpoint/2010/main" val="99441272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976F8C5-7C29-EF61-8E8A-A2734F0B72B2}"/>
              </a:ext>
            </a:extLst>
          </p:cNvPr>
          <p:cNvSpPr>
            <a:spLocks noGrp="1"/>
          </p:cNvSpPr>
          <p:nvPr>
            <p:ph type="body" sz="quarter" idx="10"/>
          </p:nvPr>
        </p:nvSpPr>
        <p:spPr>
          <a:xfrm>
            <a:off x="3219345" y="1629000"/>
            <a:ext cx="8640000" cy="3600000"/>
          </a:xfrm>
        </p:spPr>
        <p:txBody>
          <a:bodyPr/>
          <a:lstStyle/>
          <a:p>
            <a:r>
              <a:rPr lang="zh-CN" altLang="en-US" dirty="0"/>
              <a:t>敏捷团队在进行一次迭代期间，敏捷教练发现正在开发的一项功能已经不需要了。此时敏捷教练最应该做什么？</a:t>
            </a:r>
            <a:endParaRPr lang="en-US" altLang="zh-CN" dirty="0"/>
          </a:p>
          <a:p>
            <a:endParaRPr lang="zh-CN" altLang="en-US" dirty="0"/>
          </a:p>
          <a:p>
            <a:r>
              <a:rPr lang="en-US" altLang="zh-CN" dirty="0"/>
              <a:t>A. </a:t>
            </a:r>
            <a:r>
              <a:rPr lang="zh-CN" altLang="en-US" dirty="0"/>
              <a:t>尽力找出发生这种变化的原因，以便不再做这样的变更</a:t>
            </a:r>
          </a:p>
          <a:p>
            <a:r>
              <a:rPr lang="en-US" altLang="zh-CN" dirty="0"/>
              <a:t>B. </a:t>
            </a:r>
            <a:r>
              <a:rPr lang="zh-CN" altLang="en-US" dirty="0"/>
              <a:t>完成此次迭代工作，并确定下一次迭代待办列表中的优先级</a:t>
            </a:r>
          </a:p>
          <a:p>
            <a:r>
              <a:rPr lang="en-US" altLang="zh-CN" dirty="0"/>
              <a:t>C. </a:t>
            </a:r>
            <a:r>
              <a:rPr lang="zh-CN" altLang="en-US" dirty="0"/>
              <a:t>建议团队重新确定冲刺待办列表的优先级顺序，并让团队尽快开始处理下一个最高优先级的工作</a:t>
            </a:r>
          </a:p>
          <a:p>
            <a:r>
              <a:rPr lang="en-US" altLang="zh-CN" dirty="0"/>
              <a:t>D. A </a:t>
            </a:r>
            <a:r>
              <a:rPr lang="zh-CN" altLang="en-US" dirty="0"/>
              <a:t>和 </a:t>
            </a:r>
            <a:r>
              <a:rPr lang="en-US" altLang="zh-CN" dirty="0"/>
              <a:t>B</a:t>
            </a:r>
            <a:endParaRPr lang="zh-CN" altLang="en-US" dirty="0"/>
          </a:p>
        </p:txBody>
      </p:sp>
    </p:spTree>
    <p:extLst>
      <p:ext uri="{BB962C8B-B14F-4D97-AF65-F5344CB8AC3E}">
        <p14:creationId xmlns:p14="http://schemas.microsoft.com/office/powerpoint/2010/main" val="79338958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4645137-8A4D-6BC8-43A7-98B353FF7075}"/>
              </a:ext>
            </a:extLst>
          </p:cNvPr>
          <p:cNvSpPr>
            <a:spLocks noGrp="1"/>
          </p:cNvSpPr>
          <p:nvPr>
            <p:ph type="body" sz="quarter" idx="10"/>
          </p:nvPr>
        </p:nvSpPr>
        <p:spPr>
          <a:xfrm>
            <a:off x="3219345" y="1629000"/>
            <a:ext cx="8640000" cy="3600000"/>
          </a:xfrm>
        </p:spPr>
        <p:txBody>
          <a:bodyPr/>
          <a:lstStyle/>
          <a:p>
            <a:r>
              <a:rPr lang="zh-CN" altLang="en-US" dirty="0"/>
              <a:t>某公司中标了一个连锁医疗口腔机构公司的电子病历系统建设项目，该系统需要录入快、检索快、存储量大。该系统由公司经验丰富的团队来完成，采用 </a:t>
            </a:r>
            <a:r>
              <a:rPr lang="en-US" altLang="zh-CN" dirty="0"/>
              <a:t>Scrum </a:t>
            </a:r>
            <a:r>
              <a:rPr lang="zh-CN" altLang="en-US" dirty="0"/>
              <a:t>方法，计划</a:t>
            </a:r>
            <a:r>
              <a:rPr lang="en-US" altLang="zh-CN" dirty="0"/>
              <a:t>10</a:t>
            </a:r>
            <a:r>
              <a:rPr lang="zh-CN" altLang="en-US" dirty="0"/>
              <a:t>个迭代完成整个项目。</a:t>
            </a:r>
          </a:p>
          <a:p>
            <a:r>
              <a:rPr lang="zh-CN" altLang="en-US" dirty="0"/>
              <a:t>每个迭代冲刺的产出物应该是什么？</a:t>
            </a:r>
            <a:endParaRPr lang="en-US" altLang="zh-CN" dirty="0"/>
          </a:p>
          <a:p>
            <a:endParaRPr lang="zh-CN" altLang="en-US" dirty="0"/>
          </a:p>
          <a:p>
            <a:r>
              <a:rPr lang="en-US" altLang="zh-CN" dirty="0"/>
              <a:t>A. </a:t>
            </a:r>
            <a:r>
              <a:rPr lang="zh-CN" altLang="en-US" dirty="0"/>
              <a:t>潜在的封装好的一个产品功能增量</a:t>
            </a:r>
            <a:br>
              <a:rPr lang="zh-CN" altLang="en-US" dirty="0"/>
            </a:br>
            <a:r>
              <a:rPr lang="en-US" altLang="zh-CN" dirty="0"/>
              <a:t>B. </a:t>
            </a:r>
            <a:r>
              <a:rPr lang="zh-CN" altLang="en-US" dirty="0"/>
              <a:t>文档化、规范化的产品需求</a:t>
            </a:r>
            <a:br>
              <a:rPr lang="zh-CN" altLang="en-US" dirty="0"/>
            </a:br>
            <a:r>
              <a:rPr lang="en-US" altLang="zh-CN" dirty="0"/>
              <a:t>C. </a:t>
            </a:r>
            <a:r>
              <a:rPr lang="zh-CN" altLang="en-US" dirty="0"/>
              <a:t>可测量和可测试的版本</a:t>
            </a:r>
            <a:br>
              <a:rPr lang="zh-CN" altLang="en-US" dirty="0"/>
            </a:br>
            <a:r>
              <a:rPr lang="en-US" altLang="zh-CN" dirty="0"/>
              <a:t>D. </a:t>
            </a:r>
            <a:r>
              <a:rPr lang="zh-CN" altLang="en-US" dirty="0"/>
              <a:t>具有可测试性的潜在的一个产品功能增量</a:t>
            </a:r>
          </a:p>
          <a:p>
            <a:endParaRPr lang="zh-CN" altLang="en-US" dirty="0"/>
          </a:p>
        </p:txBody>
      </p:sp>
    </p:spTree>
    <p:extLst>
      <p:ext uri="{BB962C8B-B14F-4D97-AF65-F5344CB8AC3E}">
        <p14:creationId xmlns:p14="http://schemas.microsoft.com/office/powerpoint/2010/main" val="90260932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AFB7B-F6C2-062B-6401-ACFEA91B1534}"/>
              </a:ext>
            </a:extLst>
          </p:cNvPr>
          <p:cNvSpPr>
            <a:spLocks noGrp="1"/>
          </p:cNvSpPr>
          <p:nvPr>
            <p:ph type="body" sz="quarter" idx="10"/>
          </p:nvPr>
        </p:nvSpPr>
        <p:spPr/>
        <p:txBody>
          <a:bodyPr/>
          <a:lstStyle/>
          <a:p>
            <a:r>
              <a:rPr lang="zh-CN" altLang="en-US" dirty="0"/>
              <a:t>某公司聘请了一位敏捷管理专业人士对公司内的团队进行敏捷培训，其中多次强调了敏捷团队应该注重不断的交付增量。这是因为增量交付可以？</a:t>
            </a:r>
            <a:endParaRPr lang="en-US" altLang="zh-CN" dirty="0"/>
          </a:p>
          <a:p>
            <a:endParaRPr lang="zh-CN" altLang="en-US" dirty="0"/>
          </a:p>
          <a:p>
            <a:r>
              <a:rPr lang="en-US" altLang="zh-CN" dirty="0"/>
              <a:t>A. </a:t>
            </a:r>
            <a:r>
              <a:rPr lang="zh-CN" altLang="en-US" dirty="0"/>
              <a:t>尽早的交付价值，可以更好的应对变化</a:t>
            </a:r>
          </a:p>
          <a:p>
            <a:r>
              <a:rPr lang="en-US" altLang="zh-CN" dirty="0"/>
              <a:t>B. </a:t>
            </a:r>
            <a:r>
              <a:rPr lang="zh-CN" altLang="en-US" dirty="0"/>
              <a:t>捆绑产品特征，让客户感觉到产出，提高满意度</a:t>
            </a:r>
          </a:p>
          <a:p>
            <a:r>
              <a:rPr lang="en-US" altLang="zh-CN" dirty="0"/>
              <a:t>C. </a:t>
            </a:r>
            <a:r>
              <a:rPr lang="zh-CN" altLang="en-US" dirty="0"/>
              <a:t>消除需求变化的可能性</a:t>
            </a:r>
          </a:p>
          <a:p>
            <a:r>
              <a:rPr lang="en-US" altLang="zh-CN" dirty="0"/>
              <a:t>D. </a:t>
            </a:r>
            <a:r>
              <a:rPr lang="zh-CN" altLang="en-US" dirty="0"/>
              <a:t>使团队工作更简便轻松</a:t>
            </a:r>
          </a:p>
        </p:txBody>
      </p:sp>
    </p:spTree>
    <p:extLst>
      <p:ext uri="{BB962C8B-B14F-4D97-AF65-F5344CB8AC3E}">
        <p14:creationId xmlns:p14="http://schemas.microsoft.com/office/powerpoint/2010/main" val="267153370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pic>
        <p:nvPicPr>
          <p:cNvPr id="16" name="图片占位符 15">
            <a:extLst>
              <a:ext uri="{FF2B5EF4-FFF2-40B4-BE49-F238E27FC236}">
                <a16:creationId xmlns:a16="http://schemas.microsoft.com/office/drawing/2014/main" id="{6A778F49-8449-0DBA-2490-A145BA5C2A72}"/>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4077578" y="3498981"/>
            <a:ext cx="7262228" cy="1440000"/>
          </a:xfrm>
        </p:spPr>
        <p:txBody>
          <a:bodyPr/>
          <a:lstStyle/>
          <a:p>
            <a:r>
              <a:rPr lang="zh-CN" altLang="en-US" dirty="0"/>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4077578" y="4938981"/>
            <a:ext cx="7262228" cy="900000"/>
          </a:xfrm>
        </p:spPr>
        <p:txBody>
          <a:bodyPr/>
          <a:lstStyle/>
          <a:p>
            <a:r>
              <a:rPr lang="en-US" altLang="zh-CN" dirty="0"/>
              <a:t>Section 3 Project Scope</a:t>
            </a:r>
            <a:endParaRPr lang="zh-CN" altLang="en-US" dirty="0"/>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7912100" y="1128713"/>
            <a:ext cx="3427413" cy="2300287"/>
          </a:xfrm>
        </p:spPr>
        <p:txBody>
          <a:bodyPr/>
          <a:lstStyle/>
          <a:p>
            <a:endParaRPr lang="zh-CN" altLang="en-US" dirty="0"/>
          </a:p>
        </p:txBody>
      </p:sp>
    </p:spTree>
    <p:extLst>
      <p:ext uri="{BB962C8B-B14F-4D97-AF65-F5344CB8AC3E}">
        <p14:creationId xmlns:p14="http://schemas.microsoft.com/office/powerpoint/2010/main" val="8063145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pic>
        <p:nvPicPr>
          <p:cNvPr id="10" name="Picture Placeholder 9">
            <a:extLst>
              <a:ext uri="{FF2B5EF4-FFF2-40B4-BE49-F238E27FC236}">
                <a16:creationId xmlns:a16="http://schemas.microsoft.com/office/drawing/2014/main" id="{6A62A984-682F-2610-3D00-E57B86F6D214}"/>
              </a:ext>
            </a:extLst>
          </p:cNvPr>
          <p:cNvPicPr>
            <a:picLocks noGrp="1" noChangeAspect="1"/>
          </p:cNvPicPr>
          <p:nvPr>
            <p:ph type="pic" sz="quarter" idx="10"/>
          </p:nvPr>
        </p:nvPicPr>
        <p:blipFill>
          <a:blip r:embed="rId2"/>
          <a:srcRect l="9052" r="9052"/>
          <a:stretch/>
        </p:blipFill>
        <p:spPr>
          <a:xfrm>
            <a:off x="0" y="0"/>
            <a:ext cx="6480000" cy="6858000"/>
          </a:xfrm>
        </p:spPr>
      </p:pic>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4077578" y="3498981"/>
            <a:ext cx="7262228" cy="1440000"/>
          </a:xfrm>
        </p:spPr>
        <p:txBody>
          <a:bodyPr/>
          <a:lstStyle/>
          <a:p>
            <a:r>
              <a:rPr lang="zh-CN" altLang="en-US" dirty="0"/>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4077578" y="4938981"/>
            <a:ext cx="7262228" cy="900000"/>
          </a:xfrm>
        </p:spPr>
        <p:txBody>
          <a:bodyPr/>
          <a:lstStyle/>
          <a:p>
            <a:r>
              <a:rPr lang="en-US" altLang="zh-CN" dirty="0"/>
              <a:t>Section 4 Project Cost</a:t>
            </a:r>
            <a:endParaRPr lang="zh-CN" altLang="en-US" dirty="0"/>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6480000" y="1128713"/>
            <a:ext cx="4859513" cy="2300287"/>
          </a:xfrm>
        </p:spPr>
        <p:txBody>
          <a:bodyPr/>
          <a:lstStyle/>
          <a:p>
            <a:r>
              <a:rPr lang="zh-CN" altLang="en-US" dirty="0"/>
              <a:t>概念和术语</a:t>
            </a:r>
            <a:endParaRPr lang="en-US" altLang="zh-CN" dirty="0"/>
          </a:p>
          <a:p>
            <a:r>
              <a:rPr lang="zh-CN" altLang="en-US" dirty="0"/>
              <a:t>成本管理计划</a:t>
            </a:r>
            <a:endParaRPr lang="en-US" altLang="zh-CN" dirty="0"/>
          </a:p>
          <a:p>
            <a:r>
              <a:rPr lang="zh-CN" altLang="en-US" dirty="0"/>
              <a:t>成本估算</a:t>
            </a:r>
            <a:endParaRPr lang="en-US" altLang="zh-CN" dirty="0"/>
          </a:p>
          <a:p>
            <a:r>
              <a:rPr lang="zh-CN" altLang="en-US" dirty="0"/>
              <a:t>成本预算</a:t>
            </a:r>
            <a:endParaRPr lang="en-US" altLang="zh-CN" dirty="0"/>
          </a:p>
          <a:p>
            <a:r>
              <a:rPr lang="zh-CN" altLang="en-US" dirty="0"/>
              <a:t>成本控制</a:t>
            </a:r>
          </a:p>
        </p:txBody>
      </p:sp>
    </p:spTree>
    <p:extLst>
      <p:ext uri="{BB962C8B-B14F-4D97-AF65-F5344CB8AC3E}">
        <p14:creationId xmlns:p14="http://schemas.microsoft.com/office/powerpoint/2010/main" val="182269939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dirty="0"/>
              <a:t>1. </a:t>
            </a:r>
            <a:r>
              <a:rPr lang="zh-CN" altLang="en-US" dirty="0"/>
              <a:t>概念和术语 </a:t>
            </a:r>
            <a:r>
              <a:rPr lang="en-US" altLang="zh-CN" dirty="0"/>
              <a:t>– </a:t>
            </a:r>
            <a:r>
              <a:rPr lang="zh-CN" altLang="en-US" dirty="0"/>
              <a:t>成本类型</a:t>
            </a:r>
          </a:p>
        </p:txBody>
      </p:sp>
      <p:sp>
        <p:nvSpPr>
          <p:cNvPr id="3" name="内容占位符 2">
            <a:extLst>
              <a:ext uri="{FF2B5EF4-FFF2-40B4-BE49-F238E27FC236}">
                <a16:creationId xmlns:a16="http://schemas.microsoft.com/office/drawing/2014/main" id="{1833A5F5-064F-4B72-CDDF-29B0CC6FB770}"/>
              </a:ext>
            </a:extLst>
          </p:cNvPr>
          <p:cNvSpPr>
            <a:spLocks noGrp="1"/>
          </p:cNvSpPr>
          <p:nvPr>
            <p:ph idx="1"/>
          </p:nvPr>
        </p:nvSpPr>
        <p:spPr>
          <a:xfrm>
            <a:off x="696000" y="1080000"/>
            <a:ext cx="10800000" cy="5112000"/>
          </a:xfrm>
        </p:spPr>
        <p:txBody>
          <a:bodyPr>
            <a:normAutofit fontScale="92500" lnSpcReduction="20000"/>
          </a:bodyPr>
          <a:lstStyle/>
          <a:p>
            <a:r>
              <a:rPr lang="zh-CN" altLang="en-US" dirty="0"/>
              <a:t>可变成本 </a:t>
            </a:r>
            <a:r>
              <a:rPr lang="en-US" altLang="zh-CN" dirty="0"/>
              <a:t>Variable Costs</a:t>
            </a:r>
          </a:p>
          <a:p>
            <a:r>
              <a:rPr lang="zh-CN" altLang="en-US" dirty="0"/>
              <a:t>固定成本 </a:t>
            </a:r>
            <a:r>
              <a:rPr lang="en-US" altLang="zh-CN" dirty="0"/>
              <a:t>Fixed Costs</a:t>
            </a:r>
          </a:p>
          <a:p>
            <a:r>
              <a:rPr lang="zh-CN" altLang="en-US" dirty="0"/>
              <a:t>直接成本 </a:t>
            </a:r>
            <a:r>
              <a:rPr lang="en-US" altLang="zh-CN" dirty="0"/>
              <a:t>Direct Costs</a:t>
            </a:r>
          </a:p>
          <a:p>
            <a:pPr lvl="1"/>
            <a:r>
              <a:rPr lang="zh-CN" altLang="en-US" dirty="0"/>
              <a:t>人工费、工资</a:t>
            </a:r>
            <a:endParaRPr lang="en-US" altLang="zh-CN" dirty="0"/>
          </a:p>
          <a:p>
            <a:pPr lvl="1"/>
            <a:r>
              <a:rPr lang="zh-CN" altLang="en-US" dirty="0"/>
              <a:t>差旅费（项目相关人员）</a:t>
            </a:r>
            <a:endParaRPr lang="en-US" altLang="zh-CN" dirty="0"/>
          </a:p>
          <a:p>
            <a:pPr lvl="1"/>
            <a:r>
              <a:rPr lang="zh-CN" altLang="en-US" dirty="0"/>
              <a:t>材料费</a:t>
            </a:r>
            <a:endParaRPr lang="en-US" altLang="zh-CN" dirty="0"/>
          </a:p>
          <a:p>
            <a:pPr lvl="1"/>
            <a:r>
              <a:rPr lang="zh-CN" altLang="en-US" dirty="0"/>
              <a:t>专用设备费</a:t>
            </a:r>
            <a:endParaRPr lang="en-US" altLang="zh-CN" dirty="0"/>
          </a:p>
          <a:p>
            <a:pPr lvl="1"/>
            <a:r>
              <a:rPr lang="zh-CN" altLang="en-US" dirty="0"/>
              <a:t>特定工具</a:t>
            </a:r>
            <a:endParaRPr lang="en-US" altLang="zh-CN" dirty="0"/>
          </a:p>
          <a:p>
            <a:r>
              <a:rPr lang="zh-CN" altLang="en-US" dirty="0"/>
              <a:t>间接成本 </a:t>
            </a:r>
            <a:r>
              <a:rPr lang="en-US" altLang="zh-CN" dirty="0"/>
              <a:t>Indirect Costs</a:t>
            </a:r>
          </a:p>
          <a:p>
            <a:pPr lvl="1"/>
            <a:r>
              <a:rPr lang="zh-CN" altLang="en-US" dirty="0"/>
              <a:t>管理费</a:t>
            </a:r>
            <a:endParaRPr lang="en-US" altLang="zh-CN" dirty="0"/>
          </a:p>
          <a:p>
            <a:pPr lvl="1"/>
            <a:r>
              <a:rPr lang="zh-CN" altLang="en-US" dirty="0"/>
              <a:t>办公租金、安保</a:t>
            </a:r>
            <a:endParaRPr lang="en-US" altLang="zh-CN" dirty="0"/>
          </a:p>
          <a:p>
            <a:pPr lvl="1"/>
            <a:r>
              <a:rPr lang="zh-CN" altLang="en-US" dirty="0"/>
              <a:t>行政人员工资</a:t>
            </a:r>
            <a:endParaRPr lang="en-US" altLang="zh-CN" dirty="0"/>
          </a:p>
          <a:p>
            <a:pPr lvl="1"/>
            <a:r>
              <a:rPr lang="zh-CN" altLang="en-US" dirty="0"/>
              <a:t>公司级税金</a:t>
            </a:r>
            <a:endParaRPr lang="en-US" altLang="zh-CN" dirty="0"/>
          </a:p>
          <a:p>
            <a:pPr lvl="1"/>
            <a:r>
              <a:rPr lang="zh-CN" altLang="en-US" dirty="0"/>
              <a:t>通用设备租赁</a:t>
            </a:r>
            <a:endParaRPr lang="en-US" altLang="zh-CN" dirty="0"/>
          </a:p>
          <a:p>
            <a:r>
              <a:rPr lang="zh-CN" altLang="en-US" dirty="0"/>
              <a:t>机会成本 </a:t>
            </a:r>
            <a:endParaRPr lang="en-US" altLang="zh-CN" dirty="0"/>
          </a:p>
          <a:p>
            <a:r>
              <a:rPr lang="zh-CN" altLang="en-US" dirty="0"/>
              <a:t>沉默成本</a:t>
            </a:r>
            <a:endParaRPr lang="en-US" altLang="zh-CN" dirty="0"/>
          </a:p>
          <a:p>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35682652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normAutofit/>
          </a:bodyPr>
          <a:lstStyle/>
          <a:p>
            <a:r>
              <a:rPr lang="en-US" altLang="zh-CN" dirty="0"/>
              <a:t>1. </a:t>
            </a:r>
            <a:r>
              <a:rPr lang="zh-CN" altLang="en-US" dirty="0"/>
              <a:t>概念和术语 </a:t>
            </a:r>
            <a:r>
              <a:rPr lang="en-US" altLang="zh-CN" dirty="0"/>
              <a:t>- </a:t>
            </a:r>
            <a:r>
              <a:rPr lang="zh-CN" altLang="en-US" dirty="0"/>
              <a:t>应急储备</a:t>
            </a:r>
          </a:p>
        </p:txBody>
      </p:sp>
      <p:sp>
        <p:nvSpPr>
          <p:cNvPr id="10" name="内容占位符 9">
            <a:extLst>
              <a:ext uri="{FF2B5EF4-FFF2-40B4-BE49-F238E27FC236}">
                <a16:creationId xmlns:a16="http://schemas.microsoft.com/office/drawing/2014/main" id="{6B5DF25B-349D-3AAC-9877-296B591DE623}"/>
              </a:ext>
            </a:extLst>
          </p:cNvPr>
          <p:cNvSpPr>
            <a:spLocks noGrp="1"/>
          </p:cNvSpPr>
          <p:nvPr>
            <p:ph idx="1"/>
          </p:nvPr>
        </p:nvSpPr>
        <p:spPr>
          <a:xfrm>
            <a:off x="696000" y="1080000"/>
            <a:ext cx="10800000" cy="5112000"/>
          </a:xfrm>
        </p:spPr>
        <p:txBody>
          <a:bodyPr/>
          <a:lstStyle/>
          <a:p>
            <a:r>
              <a:rPr lang="en-US" altLang="zh-CN" dirty="0"/>
              <a:t>Contingency Reserve</a:t>
            </a:r>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54008525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7200000" cy="424732"/>
          </a:xfrm>
        </p:spPr>
        <p:txBody>
          <a:bodyPr>
            <a:normAutofit/>
          </a:bodyPr>
          <a:lstStyle/>
          <a:p>
            <a:r>
              <a:rPr lang="en-US" altLang="zh-CN" dirty="0"/>
              <a:t>3. </a:t>
            </a:r>
            <a:r>
              <a:rPr lang="zh-CN" altLang="en-US" dirty="0"/>
              <a:t>成本估算</a:t>
            </a:r>
          </a:p>
        </p:txBody>
      </p:sp>
      <p:sp>
        <p:nvSpPr>
          <p:cNvPr id="26" name="内容占位符 25">
            <a:extLst>
              <a:ext uri="{FF2B5EF4-FFF2-40B4-BE49-F238E27FC236}">
                <a16:creationId xmlns:a16="http://schemas.microsoft.com/office/drawing/2014/main" id="{C366CF28-2151-509C-E60F-FED9786FD4E6}"/>
              </a:ext>
            </a:extLst>
          </p:cNvPr>
          <p:cNvSpPr>
            <a:spLocks noGrp="1"/>
          </p:cNvSpPr>
          <p:nvPr>
            <p:ph idx="1"/>
          </p:nvPr>
        </p:nvSpPr>
        <p:spPr>
          <a:xfrm>
            <a:off x="696000" y="1080000"/>
            <a:ext cx="10800000" cy="5112000"/>
          </a:xfrm>
        </p:spPr>
        <p:txBody>
          <a:bodyPr/>
          <a:lstStyle/>
          <a:p>
            <a:endParaRPr lang="zh-CN" altLang="en-US"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40370057"/>
              </p:ext>
            </p:extLst>
          </p:nvPr>
        </p:nvGraphicFramePr>
        <p:xfrm>
          <a:off x="695325" y="2442960"/>
          <a:ext cx="10801350" cy="3749040"/>
        </p:xfrm>
        <a:graphic>
          <a:graphicData uri="http://schemas.openxmlformats.org/drawingml/2006/table">
            <a:tbl>
              <a:tblPr/>
              <a:tblGrid>
                <a:gridCol w="2076450">
                  <a:extLst>
                    <a:ext uri="{9D8B030D-6E8A-4147-A177-3AD203B41FA5}">
                      <a16:colId xmlns:a16="http://schemas.microsoft.com/office/drawing/2014/main" val="3085145783"/>
                    </a:ext>
                  </a:extLst>
                </a:gridCol>
                <a:gridCol w="4514850">
                  <a:extLst>
                    <a:ext uri="{9D8B030D-6E8A-4147-A177-3AD203B41FA5}">
                      <a16:colId xmlns:a16="http://schemas.microsoft.com/office/drawing/2014/main" val="1127026529"/>
                    </a:ext>
                  </a:extLst>
                </a:gridCol>
                <a:gridCol w="4210050">
                  <a:extLst>
                    <a:ext uri="{9D8B030D-6E8A-4147-A177-3AD203B41FA5}">
                      <a16:colId xmlns:a16="http://schemas.microsoft.com/office/drawing/2014/main" val="177439978"/>
                    </a:ext>
                  </a:extLst>
                </a:gridCol>
              </a:tblGrid>
              <a:tr h="0">
                <a:tc>
                  <a:txBody>
                    <a:bodyPr/>
                    <a:lstStyle/>
                    <a:p>
                      <a:pPr>
                        <a:buNone/>
                      </a:pPr>
                      <a:r>
                        <a:rPr lang="zh-CN" altLang="en-US" dirty="0"/>
                        <a:t>方法</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定义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79677568"/>
                  </a:ext>
                </a:extLst>
              </a:tr>
              <a:tr h="0">
                <a:tc>
                  <a:txBody>
                    <a:bodyPr/>
                    <a:lstStyle/>
                    <a:p>
                      <a:pPr>
                        <a:buNone/>
                      </a:pPr>
                      <a:r>
                        <a:rPr lang="zh-CN" altLang="en-US"/>
                        <a:t>类比估算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使用类似项目的实际数据进行估算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快速但精度低</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513466589"/>
                  </a:ext>
                </a:extLst>
              </a:tr>
              <a:tr h="0">
                <a:tc>
                  <a:txBody>
                    <a:bodyPr/>
                    <a:lstStyle/>
                    <a:p>
                      <a:pPr>
                        <a:buNone/>
                      </a:pPr>
                      <a:r>
                        <a:rPr lang="zh-CN" altLang="en-US"/>
                        <a:t>自上而下估算</a:t>
                      </a:r>
                    </a:p>
                  </a:txBody>
                  <a:tcPr anchor="ctr">
                    <a:lnL>
                      <a:noFill/>
                    </a:lnL>
                    <a:lnR>
                      <a:noFill/>
                    </a:lnR>
                    <a:lnT>
                      <a:noFill/>
                    </a:lnT>
                    <a:lnB>
                      <a:noFill/>
                    </a:lnB>
                    <a:noFill/>
                  </a:tcPr>
                </a:tc>
                <a:tc>
                  <a:txBody>
                    <a:bodyPr/>
                    <a:lstStyle/>
                    <a:p>
                      <a:pPr>
                        <a:buNone/>
                      </a:pPr>
                      <a:r>
                        <a:rPr lang="zh-CN" altLang="en-US"/>
                        <a:t>从整体项目开始，分解并分配资源</a:t>
                      </a:r>
                    </a:p>
                  </a:txBody>
                  <a:tcPr anchor="ctr">
                    <a:lnL>
                      <a:noFill/>
                    </a:lnL>
                    <a:lnR>
                      <a:noFill/>
                    </a:lnR>
                    <a:lnT>
                      <a:noFill/>
                    </a:lnT>
                    <a:lnB>
                      <a:noFill/>
                    </a:lnB>
                    <a:noFill/>
                  </a:tcPr>
                </a:tc>
                <a:tc>
                  <a:txBody>
                    <a:bodyPr/>
                    <a:lstStyle/>
                    <a:p>
                      <a:pPr>
                        <a:buNone/>
                      </a:pPr>
                      <a:r>
                        <a:rPr lang="zh-CN" altLang="en-US" dirty="0"/>
                        <a:t>通常用于初步估算，由高层向下分配</a:t>
                      </a:r>
                    </a:p>
                  </a:txBody>
                  <a:tcPr anchor="ctr">
                    <a:lnL>
                      <a:noFill/>
                    </a:lnL>
                    <a:lnR>
                      <a:noFill/>
                    </a:lnR>
                    <a:lnT>
                      <a:noFill/>
                    </a:lnT>
                    <a:lnB>
                      <a:noFill/>
                    </a:lnB>
                    <a:noFill/>
                  </a:tcPr>
                </a:tc>
                <a:extLst>
                  <a:ext uri="{0D108BD9-81ED-4DB2-BD59-A6C34878D82A}">
                    <a16:rowId xmlns:a16="http://schemas.microsoft.com/office/drawing/2014/main" val="1286852194"/>
                  </a:ext>
                </a:extLst>
              </a:tr>
              <a:tr h="0">
                <a:tc>
                  <a:txBody>
                    <a:bodyPr/>
                    <a:lstStyle/>
                    <a:p>
                      <a:pPr>
                        <a:buNone/>
                      </a:pPr>
                      <a:r>
                        <a:rPr lang="zh-CN" altLang="en-US"/>
                        <a:t>自下而上估算</a:t>
                      </a:r>
                    </a:p>
                  </a:txBody>
                  <a:tcPr anchor="ctr">
                    <a:lnL>
                      <a:noFill/>
                    </a:lnL>
                    <a:lnR>
                      <a:noFill/>
                    </a:lnR>
                    <a:lnT>
                      <a:noFill/>
                    </a:lnT>
                    <a:lnB>
                      <a:noFill/>
                    </a:lnB>
                    <a:noFill/>
                  </a:tcPr>
                </a:tc>
                <a:tc>
                  <a:txBody>
                    <a:bodyPr/>
                    <a:lstStyle/>
                    <a:p>
                      <a:pPr>
                        <a:buNone/>
                      </a:pPr>
                      <a:r>
                        <a:rPr lang="zh-CN" altLang="en-US" dirty="0"/>
                        <a:t>先估算每个工作包或活动的成本</a:t>
                      </a:r>
                      <a:r>
                        <a:rPr lang="en-US" altLang="zh-CN" dirty="0"/>
                        <a:t>/</a:t>
                      </a:r>
                      <a:r>
                        <a:rPr lang="zh-CN" altLang="en-US" dirty="0"/>
                        <a:t>工期，再</a:t>
                      </a:r>
                      <a:r>
                        <a:rPr lang="zh-CN" altLang="en-US" dirty="0">
                          <a:solidFill>
                            <a:srgbClr val="FF0000"/>
                          </a:solidFill>
                        </a:rPr>
                        <a:t>汇总</a:t>
                      </a:r>
                      <a:r>
                        <a:rPr lang="zh-CN" altLang="en-US" dirty="0"/>
                        <a:t>到更高层级</a:t>
                      </a:r>
                    </a:p>
                  </a:txBody>
                  <a:tcPr anchor="ctr">
                    <a:lnL>
                      <a:noFill/>
                    </a:lnL>
                    <a:lnR>
                      <a:noFill/>
                    </a:lnR>
                    <a:lnT>
                      <a:noFill/>
                    </a:lnT>
                    <a:lnB>
                      <a:noFill/>
                    </a:lnB>
                    <a:noFill/>
                  </a:tcPr>
                </a:tc>
                <a:tc>
                  <a:txBody>
                    <a:bodyPr/>
                    <a:lstStyle/>
                    <a:p>
                      <a:pPr>
                        <a:buNone/>
                      </a:pPr>
                      <a:r>
                        <a:rPr lang="zh-CN" altLang="en-US" dirty="0"/>
                        <a:t>精度高，基于详细信息</a:t>
                      </a:r>
                    </a:p>
                  </a:txBody>
                  <a:tcPr anchor="ctr">
                    <a:lnL>
                      <a:noFill/>
                    </a:lnL>
                    <a:lnR>
                      <a:noFill/>
                    </a:lnR>
                    <a:lnT>
                      <a:noFill/>
                    </a:lnT>
                    <a:lnB>
                      <a:noFill/>
                    </a:lnB>
                    <a:noFill/>
                  </a:tcPr>
                </a:tc>
                <a:extLst>
                  <a:ext uri="{0D108BD9-81ED-4DB2-BD59-A6C34878D82A}">
                    <a16:rowId xmlns:a16="http://schemas.microsoft.com/office/drawing/2014/main" val="2270663309"/>
                  </a:ext>
                </a:extLst>
              </a:tr>
              <a:tr h="0">
                <a:tc>
                  <a:txBody>
                    <a:bodyPr/>
                    <a:lstStyle/>
                    <a:p>
                      <a:pPr>
                        <a:buNone/>
                      </a:pPr>
                      <a:r>
                        <a:rPr lang="zh-CN" altLang="en-US"/>
                        <a:t>多方案分析估算</a:t>
                      </a:r>
                    </a:p>
                  </a:txBody>
                  <a:tcPr anchor="ctr">
                    <a:lnL>
                      <a:noFill/>
                    </a:lnL>
                    <a:lnR>
                      <a:noFill/>
                    </a:lnR>
                    <a:lnT>
                      <a:noFill/>
                    </a:lnT>
                    <a:lnB>
                      <a:noFill/>
                    </a:lnB>
                    <a:noFill/>
                  </a:tcPr>
                </a:tc>
                <a:tc>
                  <a:txBody>
                    <a:bodyPr/>
                    <a:lstStyle/>
                    <a:p>
                      <a:pPr>
                        <a:buNone/>
                      </a:pPr>
                      <a:r>
                        <a:rPr lang="zh-CN" altLang="en-US" dirty="0"/>
                        <a:t>比较多种技术或方案的成本</a:t>
                      </a:r>
                      <a:r>
                        <a:rPr lang="en-US" altLang="zh-CN" dirty="0"/>
                        <a:t>/</a:t>
                      </a:r>
                      <a:r>
                        <a:rPr lang="zh-CN" altLang="en-US" dirty="0"/>
                        <a:t>收益</a:t>
                      </a:r>
                    </a:p>
                  </a:txBody>
                  <a:tcPr anchor="ctr">
                    <a:lnL>
                      <a:noFill/>
                    </a:lnL>
                    <a:lnR>
                      <a:noFill/>
                    </a:lnR>
                    <a:lnT>
                      <a:noFill/>
                    </a:lnT>
                    <a:lnB>
                      <a:noFill/>
                    </a:lnB>
                    <a:noFill/>
                  </a:tcPr>
                </a:tc>
                <a:tc>
                  <a:txBody>
                    <a:bodyPr/>
                    <a:lstStyle/>
                    <a:p>
                      <a:pPr>
                        <a:buNone/>
                      </a:pPr>
                      <a:r>
                        <a:rPr lang="zh-CN" altLang="en-US" dirty="0"/>
                        <a:t>用于决策支持</a:t>
                      </a:r>
                    </a:p>
                  </a:txBody>
                  <a:tcPr anchor="ctr">
                    <a:lnL>
                      <a:noFill/>
                    </a:lnL>
                    <a:lnR>
                      <a:noFill/>
                    </a:lnR>
                    <a:lnT>
                      <a:noFill/>
                    </a:lnT>
                    <a:lnB>
                      <a:noFill/>
                    </a:lnB>
                    <a:noFill/>
                  </a:tcPr>
                </a:tc>
                <a:extLst>
                  <a:ext uri="{0D108BD9-81ED-4DB2-BD59-A6C34878D82A}">
                    <a16:rowId xmlns:a16="http://schemas.microsoft.com/office/drawing/2014/main" val="3820496958"/>
                  </a:ext>
                </a:extLst>
              </a:tr>
              <a:tr h="0">
                <a:tc>
                  <a:txBody>
                    <a:bodyPr/>
                    <a:lstStyle/>
                    <a:p>
                      <a:pPr>
                        <a:buNone/>
                      </a:pPr>
                      <a:r>
                        <a:rPr lang="zh-CN" altLang="en-US" dirty="0"/>
                        <a:t>参数估算</a:t>
                      </a:r>
                    </a:p>
                  </a:txBody>
                  <a:tcPr anchor="ctr">
                    <a:lnL>
                      <a:noFill/>
                    </a:lnL>
                    <a:lnR>
                      <a:noFill/>
                    </a:lnR>
                    <a:lnT>
                      <a:noFill/>
                    </a:lnT>
                    <a:lnB>
                      <a:noFill/>
                    </a:lnB>
                    <a:noFill/>
                  </a:tcPr>
                </a:tc>
                <a:tc>
                  <a:txBody>
                    <a:bodyPr/>
                    <a:lstStyle/>
                    <a:p>
                      <a:pPr>
                        <a:buNone/>
                      </a:pPr>
                      <a:r>
                        <a:rPr lang="zh-CN" altLang="en-US" dirty="0"/>
                        <a:t>基于数学模型和历史数据（如每米成本）进行估算</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4161272037"/>
                  </a:ext>
                </a:extLst>
              </a:tr>
              <a:tr h="0">
                <a:tc>
                  <a:txBody>
                    <a:bodyPr/>
                    <a:lstStyle/>
                    <a:p>
                      <a:pPr>
                        <a:buNone/>
                      </a:pPr>
                      <a:r>
                        <a:rPr lang="zh-CN" altLang="en-US" dirty="0"/>
                        <a:t>专家判断</a:t>
                      </a:r>
                    </a:p>
                  </a:txBody>
                  <a:tcPr anchor="ctr">
                    <a:lnL>
                      <a:noFill/>
                    </a:lnL>
                    <a:lnR>
                      <a:noFill/>
                    </a:lnR>
                    <a:lnT>
                      <a:noFill/>
                    </a:lnT>
                    <a:lnB>
                      <a:noFill/>
                    </a:lnB>
                    <a:noFill/>
                  </a:tcPr>
                </a:tc>
                <a:tc>
                  <a:txBody>
                    <a:bodyPr/>
                    <a:lstStyle/>
                    <a:p>
                      <a:pPr>
                        <a:buNone/>
                      </a:pPr>
                      <a:r>
                        <a:rPr lang="zh-CN" altLang="en-US"/>
                        <a:t>依靠专家经验进行判断</a:t>
                      </a:r>
                    </a:p>
                  </a:txBody>
                  <a:tcPr anchor="ctr">
                    <a:lnL>
                      <a:noFill/>
                    </a:lnL>
                    <a:lnR>
                      <a:noFill/>
                    </a:lnR>
                    <a:lnT>
                      <a:noFill/>
                    </a:lnT>
                    <a:lnB>
                      <a:noFill/>
                    </a:lnB>
                    <a:noFill/>
                  </a:tcPr>
                </a:tc>
                <a:tc>
                  <a:txBody>
                    <a:bodyPr/>
                    <a:lstStyle/>
                    <a:p>
                      <a:pPr>
                        <a:buNone/>
                      </a:pPr>
                      <a:r>
                        <a:rPr lang="zh-CN" altLang="en-US" dirty="0"/>
                        <a:t>主观，不依赖数值区间</a:t>
                      </a:r>
                    </a:p>
                  </a:txBody>
                  <a:tcPr anchor="ctr">
                    <a:lnL>
                      <a:noFill/>
                    </a:lnL>
                    <a:lnR>
                      <a:noFill/>
                    </a:lnR>
                    <a:lnT>
                      <a:noFill/>
                    </a:lnT>
                    <a:lnB>
                      <a:noFill/>
                    </a:lnB>
                    <a:noFill/>
                  </a:tcPr>
                </a:tc>
                <a:extLst>
                  <a:ext uri="{0D108BD9-81ED-4DB2-BD59-A6C34878D82A}">
                    <a16:rowId xmlns:a16="http://schemas.microsoft.com/office/drawing/2014/main" val="3542723542"/>
                  </a:ext>
                </a:extLst>
              </a:tr>
              <a:tr h="0">
                <a:tc>
                  <a:txBody>
                    <a:bodyPr/>
                    <a:lstStyle/>
                    <a:p>
                      <a:pPr>
                        <a:buNone/>
                      </a:pPr>
                      <a:r>
                        <a:rPr lang="zh-CN" altLang="en-US" dirty="0"/>
                        <a:t>三点估算</a:t>
                      </a:r>
                    </a:p>
                  </a:txBody>
                  <a:tcPr anchor="ctr">
                    <a:lnL>
                      <a:noFill/>
                    </a:lnL>
                    <a:lnR>
                      <a:noFill/>
                    </a:lnR>
                    <a:lnT>
                      <a:noFill/>
                    </a:lnT>
                    <a:lnB>
                      <a:noFill/>
                    </a:lnB>
                    <a:noFill/>
                  </a:tcPr>
                </a:tc>
                <a:tc>
                  <a:txBody>
                    <a:bodyPr/>
                    <a:lstStyle/>
                    <a:p>
                      <a:pPr>
                        <a:buNone/>
                      </a:pPr>
                      <a:r>
                        <a:rPr lang="zh-CN" altLang="en-US" dirty="0"/>
                        <a:t>使用乐观（</a:t>
                      </a:r>
                      <a:r>
                        <a:rPr lang="en-US" altLang="zh-CN" dirty="0"/>
                        <a:t>O</a:t>
                      </a:r>
                      <a:r>
                        <a:rPr lang="zh-CN" altLang="en-US" dirty="0"/>
                        <a:t>）、最可能（</a:t>
                      </a:r>
                      <a:r>
                        <a:rPr lang="en-US" altLang="zh-CN" dirty="0"/>
                        <a:t>M</a:t>
                      </a:r>
                      <a:r>
                        <a:rPr lang="zh-CN" altLang="en-US" dirty="0"/>
                        <a:t>）、悲观（</a:t>
                      </a:r>
                      <a:r>
                        <a:rPr lang="en-US" altLang="zh-CN" dirty="0"/>
                        <a:t>P</a:t>
                      </a:r>
                      <a:r>
                        <a:rPr lang="zh-CN" altLang="en-US" dirty="0"/>
                        <a:t>）三个值，计算期望工期或成本</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98383615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p:txBody>
          <a:bodyPr/>
          <a:lstStyle/>
          <a:p>
            <a:r>
              <a:rPr lang="en-US" altLang="zh-CN" dirty="0"/>
              <a:t>4.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1080000"/>
            <a:ext cx="10800000" cy="5112000"/>
          </a:xfrm>
        </p:spPr>
        <p:txBody>
          <a:bodyPr/>
          <a:lstStyle/>
          <a:p>
            <a:r>
              <a:rPr lang="zh-CN" altLang="en-US" dirty="0"/>
              <a:t>总成本分摊到各个工作包</a:t>
            </a:r>
            <a:endParaRPr lang="en-US" altLang="zh-CN" dirty="0"/>
          </a:p>
          <a:p>
            <a:r>
              <a:rPr lang="zh-CN" altLang="en-US" dirty="0"/>
              <a:t>各个工作包分解到各个活动</a:t>
            </a:r>
            <a:endParaRPr lang="en-US" altLang="zh-CN" dirty="0"/>
          </a:p>
          <a:p>
            <a:r>
              <a:rPr lang="zh-CN" altLang="en-US" dirty="0"/>
              <a:t>成本基线：时间计划和成本预算计划</a:t>
            </a:r>
          </a:p>
        </p:txBody>
      </p:sp>
      <p:sp>
        <p:nvSpPr>
          <p:cNvPr id="4" name="文本占位符 3">
            <a:extLst>
              <a:ext uri="{FF2B5EF4-FFF2-40B4-BE49-F238E27FC236}">
                <a16:creationId xmlns:a16="http://schemas.microsoft.com/office/drawing/2014/main" id="{00824E52-CBB0-3D36-4347-9CD6A2D73613}"/>
              </a:ext>
            </a:extLst>
          </p:cNvPr>
          <p:cNvSpPr>
            <a:spLocks noGrp="1"/>
          </p:cNvSpPr>
          <p:nvPr>
            <p:ph type="body" sz="quarter" idx="10"/>
          </p:nvPr>
        </p:nvSpPr>
        <p:spPr/>
        <p:txBody>
          <a:bodyPr/>
          <a:lstStyle/>
          <a:p>
            <a:endParaRPr lang="zh-CN" altLang="en-US"/>
          </a:p>
        </p:txBody>
      </p:sp>
      <p:graphicFrame>
        <p:nvGraphicFramePr>
          <p:cNvPr id="7" name="表格 6">
            <a:extLst>
              <a:ext uri="{FF2B5EF4-FFF2-40B4-BE49-F238E27FC236}">
                <a16:creationId xmlns:a16="http://schemas.microsoft.com/office/drawing/2014/main" id="{B83F3A9F-04B7-6915-36F2-C9069495F755}"/>
              </a:ext>
            </a:extLst>
          </p:cNvPr>
          <p:cNvGraphicFramePr>
            <a:graphicFrameLocks noGrp="1"/>
          </p:cNvGraphicFramePr>
          <p:nvPr>
            <p:extLst>
              <p:ext uri="{D42A27DB-BD31-4B8C-83A1-F6EECF244321}">
                <p14:modId xmlns:p14="http://schemas.microsoft.com/office/powerpoint/2010/main" val="3814384083"/>
              </p:ext>
            </p:extLst>
          </p:nvPr>
        </p:nvGraphicFramePr>
        <p:xfrm>
          <a:off x="1604963" y="3966960"/>
          <a:ext cx="8982075" cy="2225040"/>
        </p:xfrm>
        <a:graphic>
          <a:graphicData uri="http://schemas.openxmlformats.org/drawingml/2006/table">
            <a:tbl>
              <a:tblPr firstRow="1" bandRow="1">
                <a:tableStyleId>{2D5ABB26-0587-4C30-8999-92F81FD0307C}</a:tableStyleId>
              </a:tblPr>
              <a:tblGrid>
                <a:gridCol w="1796415">
                  <a:extLst>
                    <a:ext uri="{9D8B030D-6E8A-4147-A177-3AD203B41FA5}">
                      <a16:colId xmlns:a16="http://schemas.microsoft.com/office/drawing/2014/main" val="3486061816"/>
                    </a:ext>
                  </a:extLst>
                </a:gridCol>
                <a:gridCol w="1796415">
                  <a:extLst>
                    <a:ext uri="{9D8B030D-6E8A-4147-A177-3AD203B41FA5}">
                      <a16:colId xmlns:a16="http://schemas.microsoft.com/office/drawing/2014/main" val="668923197"/>
                    </a:ext>
                  </a:extLst>
                </a:gridCol>
                <a:gridCol w="1796415">
                  <a:extLst>
                    <a:ext uri="{9D8B030D-6E8A-4147-A177-3AD203B41FA5}">
                      <a16:colId xmlns:a16="http://schemas.microsoft.com/office/drawing/2014/main" val="2455732577"/>
                    </a:ext>
                  </a:extLst>
                </a:gridCol>
                <a:gridCol w="1796415">
                  <a:extLst>
                    <a:ext uri="{9D8B030D-6E8A-4147-A177-3AD203B41FA5}">
                      <a16:colId xmlns:a16="http://schemas.microsoft.com/office/drawing/2014/main" val="2364344996"/>
                    </a:ext>
                  </a:extLst>
                </a:gridCol>
                <a:gridCol w="1796415">
                  <a:extLst>
                    <a:ext uri="{9D8B030D-6E8A-4147-A177-3AD203B41FA5}">
                      <a16:colId xmlns:a16="http://schemas.microsoft.com/office/drawing/2014/main" val="3211725333"/>
                    </a:ext>
                  </a:extLst>
                </a:gridCol>
              </a:tblGrid>
              <a:tr h="370840">
                <a:tc>
                  <a:txBody>
                    <a:bodyPr/>
                    <a:lstStyle/>
                    <a:p>
                      <a:pPr algn="ctr"/>
                      <a:r>
                        <a:rPr lang="zh-CN" altLang="en-US" dirty="0"/>
                        <a:t>项目预算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管理储备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217903"/>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成本基准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控制账户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1242691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工作包成本估算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708933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2283650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012417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5445719"/>
                  </a:ext>
                </a:extLst>
              </a:tr>
            </a:tbl>
          </a:graphicData>
        </a:graphic>
      </p:graphicFrame>
    </p:spTree>
    <p:extLst>
      <p:ext uri="{BB962C8B-B14F-4D97-AF65-F5344CB8AC3E}">
        <p14:creationId xmlns:p14="http://schemas.microsoft.com/office/powerpoint/2010/main" val="428351657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p:txBody>
          <a:bodyPr/>
          <a:lstStyle/>
          <a:p>
            <a:r>
              <a:rPr lang="en-US" altLang="zh-CN" dirty="0"/>
              <a:t>5. </a:t>
            </a:r>
            <a:r>
              <a:rPr lang="zh-CN" altLang="en-US" dirty="0"/>
              <a:t>成本控制</a:t>
            </a:r>
          </a:p>
        </p:txBody>
      </p:sp>
      <p:sp>
        <p:nvSpPr>
          <p:cNvPr id="3" name="内容占位符 2">
            <a:extLst>
              <a:ext uri="{FF2B5EF4-FFF2-40B4-BE49-F238E27FC236}">
                <a16:creationId xmlns:a16="http://schemas.microsoft.com/office/drawing/2014/main" id="{98AF83AD-794F-1D12-14C9-F042E1F27FFD}"/>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78B3EE8A-796D-BA78-313D-5276CD09082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FEE3-B0D7-4BBF-CECC-7C8F5191B6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2BF864-4B34-AA13-FAD8-7A9F2E861C80}"/>
              </a:ext>
            </a:extLst>
          </p:cNvPr>
          <p:cNvSpPr>
            <a:spLocks noGrp="1"/>
          </p:cNvSpPr>
          <p:nvPr>
            <p:ph type="title"/>
          </p:nvPr>
        </p:nvSpPr>
        <p:spPr>
          <a:xfrm>
            <a:off x="695998" y="360000"/>
            <a:ext cx="7200000" cy="424732"/>
          </a:xfrm>
        </p:spPr>
        <p:txBody>
          <a:bodyPr>
            <a:normAutofit/>
          </a:bodyPr>
          <a:lstStyle/>
          <a:p>
            <a:r>
              <a:rPr lang="en-US" altLang="zh-CN" dirty="0"/>
              <a:t>5. </a:t>
            </a:r>
            <a:r>
              <a:rPr lang="zh-CN" altLang="en-US" dirty="0"/>
              <a:t>成本控制 </a:t>
            </a:r>
            <a:r>
              <a:rPr lang="en-US" altLang="zh-CN" dirty="0"/>
              <a:t>– </a:t>
            </a:r>
            <a:r>
              <a:rPr lang="zh-CN" altLang="en-US" dirty="0"/>
              <a:t>挣值分析</a:t>
            </a:r>
          </a:p>
        </p:txBody>
      </p:sp>
      <p:sp>
        <p:nvSpPr>
          <p:cNvPr id="3" name="内容占位符 2">
            <a:extLst>
              <a:ext uri="{FF2B5EF4-FFF2-40B4-BE49-F238E27FC236}">
                <a16:creationId xmlns:a16="http://schemas.microsoft.com/office/drawing/2014/main" id="{1AAB1C94-FFE2-4D5D-30C4-39C80B7FA231}"/>
              </a:ext>
            </a:extLst>
          </p:cNvPr>
          <p:cNvSpPr>
            <a:spLocks noGrp="1"/>
          </p:cNvSpPr>
          <p:nvPr>
            <p:ph idx="1"/>
          </p:nvPr>
        </p:nvSpPr>
        <p:spPr>
          <a:xfrm>
            <a:off x="696000" y="1080000"/>
            <a:ext cx="10800000" cy="5112000"/>
          </a:xfrm>
        </p:spPr>
        <p:txBody>
          <a:bodyPr/>
          <a:lstStyle/>
          <a:p>
            <a:r>
              <a:rPr lang="en-US" altLang="zh-CN" dirty="0"/>
              <a:t>Earned Value Management</a:t>
            </a:r>
          </a:p>
          <a:p>
            <a:r>
              <a:rPr lang="zh-CN" altLang="en-US" dirty="0"/>
              <a:t>要素</a:t>
            </a:r>
            <a:endParaRPr lang="en-US" altLang="zh-CN" dirty="0"/>
          </a:p>
          <a:p>
            <a:pPr lvl="1"/>
            <a:r>
              <a:rPr lang="zh-CN" altLang="en-US" dirty="0"/>
              <a:t>计划价值 </a:t>
            </a:r>
            <a:r>
              <a:rPr lang="en-US" altLang="zh-CN" dirty="0"/>
              <a:t>PV</a:t>
            </a:r>
          </a:p>
          <a:p>
            <a:pPr lvl="1"/>
            <a:r>
              <a:rPr lang="zh-CN" altLang="en-US" dirty="0"/>
              <a:t>挣值 </a:t>
            </a:r>
            <a:r>
              <a:rPr lang="en-US" altLang="zh-CN" dirty="0"/>
              <a:t>EV</a:t>
            </a:r>
          </a:p>
          <a:p>
            <a:pPr lvl="1"/>
            <a:r>
              <a:rPr lang="zh-CN" altLang="en-US" dirty="0"/>
              <a:t>实际成本 </a:t>
            </a:r>
            <a:r>
              <a:rPr lang="en-US" altLang="zh-CN" dirty="0"/>
              <a:t>AC</a:t>
            </a:r>
          </a:p>
          <a:p>
            <a:endParaRPr lang="zh-CN" altLang="en-US" dirty="0"/>
          </a:p>
        </p:txBody>
      </p:sp>
      <p:sp>
        <p:nvSpPr>
          <p:cNvPr id="31" name="文本占位符 30">
            <a:extLst>
              <a:ext uri="{FF2B5EF4-FFF2-40B4-BE49-F238E27FC236}">
                <a16:creationId xmlns:a16="http://schemas.microsoft.com/office/drawing/2014/main" id="{8D67D229-8FEF-25A9-4452-D25167B0B87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0301232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77F2D-14E4-F927-14EB-BAC5AE8A1E3D}"/>
              </a:ext>
            </a:extLst>
          </p:cNvPr>
          <p:cNvSpPr>
            <a:spLocks noGrp="1"/>
          </p:cNvSpPr>
          <p:nvPr>
            <p:ph type="title"/>
          </p:nvPr>
        </p:nvSpPr>
        <p:spPr>
          <a:xfrm>
            <a:off x="695998" y="360000"/>
            <a:ext cx="7200000" cy="424732"/>
          </a:xfrm>
        </p:spPr>
        <p:txBody>
          <a:bodyPr>
            <a:normAutofit/>
          </a:bodyPr>
          <a:lstStyle/>
          <a:p>
            <a:r>
              <a:rPr lang="en-US" altLang="zh-CN" dirty="0"/>
              <a:t>5. </a:t>
            </a:r>
            <a:r>
              <a:rPr lang="zh-CN" altLang="en-US" dirty="0"/>
              <a:t>成本控制 </a:t>
            </a:r>
            <a:r>
              <a:rPr lang="en-US" altLang="zh-CN" dirty="0"/>
              <a:t>– </a:t>
            </a:r>
            <a:r>
              <a:rPr lang="zh-CN" altLang="en-US" dirty="0"/>
              <a:t>挣值分析</a:t>
            </a:r>
          </a:p>
        </p:txBody>
      </p:sp>
      <p:graphicFrame>
        <p:nvGraphicFramePr>
          <p:cNvPr id="8" name="内容占位符 7">
            <a:extLst>
              <a:ext uri="{FF2B5EF4-FFF2-40B4-BE49-F238E27FC236}">
                <a16:creationId xmlns:a16="http://schemas.microsoft.com/office/drawing/2014/main" id="{EA9D3C0A-2B36-DA67-DB4D-28808E0A3314}"/>
              </a:ext>
            </a:extLst>
          </p:cNvPr>
          <p:cNvGraphicFramePr>
            <a:graphicFrameLocks noGrp="1"/>
          </p:cNvGraphicFramePr>
          <p:nvPr>
            <p:ph idx="1"/>
            <p:extLst>
              <p:ext uri="{D42A27DB-BD31-4B8C-83A1-F6EECF244321}">
                <p14:modId xmlns:p14="http://schemas.microsoft.com/office/powerpoint/2010/main" val="948536512"/>
              </p:ext>
            </p:extLst>
          </p:nvPr>
        </p:nvGraphicFramePr>
        <p:xfrm>
          <a:off x="695325" y="1079500"/>
          <a:ext cx="10801350" cy="4937760"/>
        </p:xfrm>
        <a:graphic>
          <a:graphicData uri="http://schemas.openxmlformats.org/drawingml/2006/table">
            <a:tbl>
              <a:tblPr/>
              <a:tblGrid>
                <a:gridCol w="4543425">
                  <a:extLst>
                    <a:ext uri="{9D8B030D-6E8A-4147-A177-3AD203B41FA5}">
                      <a16:colId xmlns:a16="http://schemas.microsoft.com/office/drawing/2014/main" val="1896201931"/>
                    </a:ext>
                  </a:extLst>
                </a:gridCol>
                <a:gridCol w="6257925">
                  <a:extLst>
                    <a:ext uri="{9D8B030D-6E8A-4147-A177-3AD203B41FA5}">
                      <a16:colId xmlns:a16="http://schemas.microsoft.com/office/drawing/2014/main" val="2273142588"/>
                    </a:ext>
                  </a:extLst>
                </a:gridCol>
              </a:tblGrid>
              <a:tr h="0">
                <a:tc>
                  <a:txBody>
                    <a:bodyPr/>
                    <a:lstStyle/>
                    <a:p>
                      <a:pPr>
                        <a:buNone/>
                      </a:pPr>
                      <a:r>
                        <a:rPr lang="en-US" altLang="zh-CN" dirty="0"/>
                        <a:t>Item</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en-US" altLang="zh-CN" dirty="0"/>
                        <a:t>Description</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69827951"/>
                  </a:ext>
                </a:extLst>
              </a:tr>
              <a:tr h="0">
                <a:tc>
                  <a:txBody>
                    <a:bodyPr/>
                    <a:lstStyle/>
                    <a:p>
                      <a:pPr>
                        <a:buNone/>
                      </a:pPr>
                      <a:r>
                        <a:rPr lang="en-US" dirty="0"/>
                        <a:t>PV</a:t>
                      </a:r>
                      <a:r>
                        <a:rPr lang="zh-CN" altLang="en-US" dirty="0"/>
                        <a:t>，</a:t>
                      </a:r>
                      <a:r>
                        <a:rPr lang="en-US" altLang="zh-CN" dirty="0"/>
                        <a:t>Planned Value</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计划工作量的预算费用，应该花多少</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212169119"/>
                  </a:ext>
                </a:extLst>
              </a:tr>
              <a:tr h="0">
                <a:tc>
                  <a:txBody>
                    <a:bodyPr/>
                    <a:lstStyle/>
                    <a:p>
                      <a:pPr>
                        <a:buNone/>
                      </a:pPr>
                      <a:r>
                        <a:rPr lang="en-US" dirty="0"/>
                        <a:t>EV</a:t>
                      </a:r>
                      <a:r>
                        <a:rPr lang="zh-CN" altLang="en-US" dirty="0"/>
                        <a:t>，</a:t>
                      </a:r>
                      <a:r>
                        <a:rPr lang="en-US" altLang="zh-CN" dirty="0"/>
                        <a:t>Earned Value</a:t>
                      </a:r>
                      <a:endParaRPr lang="en-US" dirty="0"/>
                    </a:p>
                  </a:txBody>
                  <a:tcPr anchor="ctr">
                    <a:lnL>
                      <a:noFill/>
                    </a:lnL>
                    <a:lnR>
                      <a:noFill/>
                    </a:lnR>
                    <a:lnT>
                      <a:noFill/>
                    </a:lnT>
                    <a:lnB>
                      <a:noFill/>
                    </a:lnB>
                    <a:noFill/>
                  </a:tcPr>
                </a:tc>
                <a:tc>
                  <a:txBody>
                    <a:bodyPr/>
                    <a:lstStyle/>
                    <a:p>
                      <a:pPr>
                        <a:buNone/>
                      </a:pPr>
                      <a:r>
                        <a:rPr lang="zh-CN" altLang="en-US" dirty="0"/>
                        <a:t>已完成的实际工作量预算费用</a:t>
                      </a:r>
                      <a:r>
                        <a:rPr lang="en-US" altLang="zh-CN" dirty="0"/>
                        <a:t>/</a:t>
                      </a:r>
                      <a:r>
                        <a:rPr lang="zh-CN" altLang="en-US" dirty="0"/>
                        <a:t>价值</a:t>
                      </a:r>
                    </a:p>
                  </a:txBody>
                  <a:tcPr anchor="ctr">
                    <a:lnL>
                      <a:noFill/>
                    </a:lnL>
                    <a:lnR>
                      <a:noFill/>
                    </a:lnR>
                    <a:lnT>
                      <a:noFill/>
                    </a:lnT>
                    <a:lnB>
                      <a:noFill/>
                    </a:lnB>
                    <a:noFill/>
                  </a:tcPr>
                </a:tc>
                <a:extLst>
                  <a:ext uri="{0D108BD9-81ED-4DB2-BD59-A6C34878D82A}">
                    <a16:rowId xmlns:a16="http://schemas.microsoft.com/office/drawing/2014/main" val="1536192706"/>
                  </a:ext>
                </a:extLst>
              </a:tr>
              <a:tr h="0">
                <a:tc>
                  <a:txBody>
                    <a:bodyPr/>
                    <a:lstStyle/>
                    <a:p>
                      <a:pPr>
                        <a:buNone/>
                      </a:pPr>
                      <a:r>
                        <a:rPr lang="en-US" dirty="0"/>
                        <a:t>AC</a:t>
                      </a:r>
                      <a:r>
                        <a:rPr lang="zh-CN" altLang="en-US" dirty="0"/>
                        <a:t>，</a:t>
                      </a:r>
                      <a:r>
                        <a:rPr lang="en-US" altLang="zh-CN" dirty="0"/>
                        <a:t>Actual Cost</a:t>
                      </a:r>
                      <a:endParaRPr lang="en-US" dirty="0"/>
                    </a:p>
                  </a:txBody>
                  <a:tcPr anchor="ctr">
                    <a:lnL>
                      <a:noFill/>
                    </a:lnL>
                    <a:lnR>
                      <a:noFill/>
                    </a:lnR>
                    <a:lnT>
                      <a:noFill/>
                    </a:lnT>
                    <a:lnB>
                      <a:noFill/>
                    </a:lnB>
                    <a:noFill/>
                  </a:tcPr>
                </a:tc>
                <a:tc>
                  <a:txBody>
                    <a:bodyPr/>
                    <a:lstStyle/>
                    <a:p>
                      <a:pPr>
                        <a:buNone/>
                      </a:pPr>
                      <a:r>
                        <a:rPr lang="zh-CN" altLang="en-US" dirty="0"/>
                        <a:t>已完成工作量的实际费用，实际花了多少</a:t>
                      </a:r>
                    </a:p>
                  </a:txBody>
                  <a:tcPr anchor="ctr">
                    <a:lnL>
                      <a:noFill/>
                    </a:lnL>
                    <a:lnR>
                      <a:noFill/>
                    </a:lnR>
                    <a:lnT>
                      <a:noFill/>
                    </a:lnT>
                    <a:lnB>
                      <a:noFill/>
                    </a:lnB>
                    <a:noFill/>
                  </a:tcPr>
                </a:tc>
                <a:extLst>
                  <a:ext uri="{0D108BD9-81ED-4DB2-BD59-A6C34878D82A}">
                    <a16:rowId xmlns:a16="http://schemas.microsoft.com/office/drawing/2014/main" val="482583307"/>
                  </a:ext>
                </a:extLst>
              </a:tr>
              <a:tr h="0">
                <a:tc>
                  <a:txBody>
                    <a:bodyPr/>
                    <a:lstStyle/>
                    <a:p>
                      <a:pPr>
                        <a:buNone/>
                      </a:pPr>
                      <a:r>
                        <a:rPr lang="en-US" dirty="0"/>
                        <a:t>CV</a:t>
                      </a:r>
                      <a:r>
                        <a:rPr lang="zh-CN" altLang="en-US" dirty="0"/>
                        <a:t>，</a:t>
                      </a:r>
                      <a:r>
                        <a:rPr lang="en-US" altLang="zh-CN" dirty="0"/>
                        <a:t>Cost Variance</a:t>
                      </a:r>
                      <a:endParaRPr lang="en-US" dirty="0"/>
                    </a:p>
                  </a:txBody>
                  <a:tcPr anchor="ctr">
                    <a:lnL>
                      <a:noFill/>
                    </a:lnL>
                    <a:lnR>
                      <a:noFill/>
                    </a:lnR>
                    <a:lnT>
                      <a:noFill/>
                    </a:lnT>
                    <a:lnB>
                      <a:noFill/>
                    </a:lnB>
                    <a:noFill/>
                  </a:tcPr>
                </a:tc>
                <a:tc>
                  <a:txBody>
                    <a:bodyPr/>
                    <a:lstStyle/>
                    <a:p>
                      <a:pPr>
                        <a:buNone/>
                      </a:pPr>
                      <a:r>
                        <a:rPr lang="zh-CN" altLang="en-US"/>
                        <a:t>成本偏差 </a:t>
                      </a:r>
                      <a:r>
                        <a:rPr lang="en-US"/>
                        <a:t>CV = EV - AC</a:t>
                      </a:r>
                    </a:p>
                  </a:txBody>
                  <a:tcPr anchor="ctr">
                    <a:lnL>
                      <a:noFill/>
                    </a:lnL>
                    <a:lnR>
                      <a:noFill/>
                    </a:lnR>
                    <a:lnT>
                      <a:noFill/>
                    </a:lnT>
                    <a:lnB>
                      <a:noFill/>
                    </a:lnB>
                    <a:noFill/>
                  </a:tcPr>
                </a:tc>
                <a:extLst>
                  <a:ext uri="{0D108BD9-81ED-4DB2-BD59-A6C34878D82A}">
                    <a16:rowId xmlns:a16="http://schemas.microsoft.com/office/drawing/2014/main" val="1288217352"/>
                  </a:ext>
                </a:extLst>
              </a:tr>
              <a:tr h="0">
                <a:tc>
                  <a:txBody>
                    <a:bodyPr/>
                    <a:lstStyle/>
                    <a:p>
                      <a:pPr>
                        <a:buNone/>
                      </a:pPr>
                      <a:r>
                        <a:rPr lang="en-US" dirty="0"/>
                        <a:t>SV</a:t>
                      </a:r>
                      <a:r>
                        <a:rPr lang="zh-CN" altLang="en-US" dirty="0"/>
                        <a:t>，</a:t>
                      </a:r>
                      <a:r>
                        <a:rPr lang="en-US" altLang="zh-CN" dirty="0"/>
                        <a:t>Schedule Variance</a:t>
                      </a:r>
                      <a:endParaRPr lang="en-US" dirty="0"/>
                    </a:p>
                  </a:txBody>
                  <a:tcPr anchor="ctr">
                    <a:lnL>
                      <a:noFill/>
                    </a:lnL>
                    <a:lnR>
                      <a:noFill/>
                    </a:lnR>
                    <a:lnT>
                      <a:noFill/>
                    </a:lnT>
                    <a:lnB>
                      <a:noFill/>
                    </a:lnB>
                    <a:noFill/>
                  </a:tcPr>
                </a:tc>
                <a:tc>
                  <a:txBody>
                    <a:bodyPr/>
                    <a:lstStyle/>
                    <a:p>
                      <a:pPr>
                        <a:buNone/>
                      </a:pPr>
                      <a:r>
                        <a:rPr lang="zh-CN" altLang="en-US"/>
                        <a:t>进度偏差 </a:t>
                      </a:r>
                      <a:r>
                        <a:rPr lang="en-US"/>
                        <a:t>SV = EV - PV</a:t>
                      </a:r>
                    </a:p>
                  </a:txBody>
                  <a:tcPr anchor="ctr">
                    <a:lnL>
                      <a:noFill/>
                    </a:lnL>
                    <a:lnR>
                      <a:noFill/>
                    </a:lnR>
                    <a:lnT>
                      <a:noFill/>
                    </a:lnT>
                    <a:lnB>
                      <a:noFill/>
                    </a:lnB>
                    <a:noFill/>
                  </a:tcPr>
                </a:tc>
                <a:extLst>
                  <a:ext uri="{0D108BD9-81ED-4DB2-BD59-A6C34878D82A}">
                    <a16:rowId xmlns:a16="http://schemas.microsoft.com/office/drawing/2014/main" val="2443196004"/>
                  </a:ext>
                </a:extLst>
              </a:tr>
              <a:tr h="0">
                <a:tc>
                  <a:txBody>
                    <a:bodyPr/>
                    <a:lstStyle/>
                    <a:p>
                      <a:pPr>
                        <a:buNone/>
                      </a:pPr>
                      <a:r>
                        <a:rPr lang="en-US" dirty="0"/>
                        <a:t>CPI</a:t>
                      </a:r>
                      <a:r>
                        <a:rPr lang="zh-CN" altLang="en-US" dirty="0"/>
                        <a:t>，</a:t>
                      </a:r>
                      <a:r>
                        <a:rPr lang="en-US" altLang="zh-CN" dirty="0"/>
                        <a:t>Cost Performance Index</a:t>
                      </a:r>
                      <a:endParaRPr lang="en-US" dirty="0"/>
                    </a:p>
                  </a:txBody>
                  <a:tcPr anchor="ctr">
                    <a:lnL>
                      <a:noFill/>
                    </a:lnL>
                    <a:lnR>
                      <a:noFill/>
                    </a:lnR>
                    <a:lnT>
                      <a:noFill/>
                    </a:lnT>
                    <a:lnB>
                      <a:noFill/>
                    </a:lnB>
                    <a:noFill/>
                  </a:tcPr>
                </a:tc>
                <a:tc>
                  <a:txBody>
                    <a:bodyPr/>
                    <a:lstStyle/>
                    <a:p>
                      <a:pPr>
                        <a:buNone/>
                      </a:pPr>
                      <a:r>
                        <a:rPr lang="zh-CN" altLang="en-US" dirty="0"/>
                        <a:t>成本绩效指数 </a:t>
                      </a:r>
                      <a:r>
                        <a:rPr lang="en-US" altLang="zh-CN" dirty="0"/>
                        <a:t>CPI = EV / AC</a:t>
                      </a:r>
                    </a:p>
                  </a:txBody>
                  <a:tcPr anchor="ctr">
                    <a:lnL>
                      <a:noFill/>
                    </a:lnL>
                    <a:lnR>
                      <a:noFill/>
                    </a:lnR>
                    <a:lnT>
                      <a:noFill/>
                    </a:lnT>
                    <a:lnB>
                      <a:noFill/>
                    </a:lnB>
                    <a:noFill/>
                  </a:tcPr>
                </a:tc>
                <a:extLst>
                  <a:ext uri="{0D108BD9-81ED-4DB2-BD59-A6C34878D82A}">
                    <a16:rowId xmlns:a16="http://schemas.microsoft.com/office/drawing/2014/main" val="1813460754"/>
                  </a:ext>
                </a:extLst>
              </a:tr>
              <a:tr h="0">
                <a:tc>
                  <a:txBody>
                    <a:bodyPr/>
                    <a:lstStyle/>
                    <a:p>
                      <a:pPr>
                        <a:buNone/>
                      </a:pPr>
                      <a:r>
                        <a:rPr lang="en-US" dirty="0"/>
                        <a:t>SPI</a:t>
                      </a:r>
                      <a:r>
                        <a:rPr lang="zh-CN" altLang="en-US" dirty="0"/>
                        <a:t>，</a:t>
                      </a:r>
                      <a:r>
                        <a:rPr lang="en-US" altLang="zh-CN" dirty="0"/>
                        <a:t>Schedule Performance Index</a:t>
                      </a:r>
                      <a:endParaRPr lang="en-US" dirty="0"/>
                    </a:p>
                  </a:txBody>
                  <a:tcPr anchor="ctr">
                    <a:lnL>
                      <a:noFill/>
                    </a:lnL>
                    <a:lnR>
                      <a:noFill/>
                    </a:lnR>
                    <a:lnT>
                      <a:noFill/>
                    </a:lnT>
                    <a:lnB>
                      <a:noFill/>
                    </a:lnB>
                    <a:noFill/>
                  </a:tcPr>
                </a:tc>
                <a:tc>
                  <a:txBody>
                    <a:bodyPr/>
                    <a:lstStyle/>
                    <a:p>
                      <a:pPr>
                        <a:buNone/>
                      </a:pPr>
                      <a:r>
                        <a:rPr lang="zh-CN" altLang="en-US"/>
                        <a:t>进度绩效指数 </a:t>
                      </a:r>
                      <a:r>
                        <a:rPr lang="en-US"/>
                        <a:t>SPI = EV / PV</a:t>
                      </a:r>
                    </a:p>
                  </a:txBody>
                  <a:tcPr anchor="ctr">
                    <a:lnL>
                      <a:noFill/>
                    </a:lnL>
                    <a:lnR>
                      <a:noFill/>
                    </a:lnR>
                    <a:lnT>
                      <a:noFill/>
                    </a:lnT>
                    <a:lnB>
                      <a:noFill/>
                    </a:lnB>
                    <a:noFill/>
                  </a:tcPr>
                </a:tc>
                <a:extLst>
                  <a:ext uri="{0D108BD9-81ED-4DB2-BD59-A6C34878D82A}">
                    <a16:rowId xmlns:a16="http://schemas.microsoft.com/office/drawing/2014/main" val="3578365379"/>
                  </a:ext>
                </a:extLst>
              </a:tr>
              <a:tr h="0">
                <a:tc>
                  <a:txBody>
                    <a:bodyPr/>
                    <a:lstStyle/>
                    <a:p>
                      <a:pPr>
                        <a:buNone/>
                      </a:pPr>
                      <a:r>
                        <a:rPr lang="en-US" dirty="0"/>
                        <a:t>BAC</a:t>
                      </a:r>
                      <a:r>
                        <a:rPr lang="zh-CN" altLang="en-US" dirty="0"/>
                        <a:t>，</a:t>
                      </a:r>
                      <a:r>
                        <a:rPr lang="en-US" altLang="zh-CN" dirty="0"/>
                        <a:t>Budget at Completion</a:t>
                      </a:r>
                      <a:endParaRPr lang="en-US" dirty="0"/>
                    </a:p>
                  </a:txBody>
                  <a:tcPr anchor="ctr">
                    <a:lnL>
                      <a:noFill/>
                    </a:lnL>
                    <a:lnR>
                      <a:noFill/>
                    </a:lnR>
                    <a:lnT>
                      <a:noFill/>
                    </a:lnT>
                    <a:lnB>
                      <a:noFill/>
                    </a:lnB>
                    <a:noFill/>
                  </a:tcPr>
                </a:tc>
                <a:tc>
                  <a:txBody>
                    <a:bodyPr/>
                    <a:lstStyle/>
                    <a:p>
                      <a:pPr>
                        <a:buNone/>
                      </a:pPr>
                      <a:r>
                        <a:rPr lang="zh-CN" altLang="en-US" dirty="0"/>
                        <a:t>总预算即全部的 </a:t>
                      </a:r>
                      <a:r>
                        <a:rPr lang="en-US" altLang="zh-CN" dirty="0"/>
                        <a:t>PV</a:t>
                      </a:r>
                    </a:p>
                  </a:txBody>
                  <a:tcPr anchor="ctr">
                    <a:lnL>
                      <a:noFill/>
                    </a:lnL>
                    <a:lnR>
                      <a:noFill/>
                    </a:lnR>
                    <a:lnT>
                      <a:noFill/>
                    </a:lnT>
                    <a:lnB>
                      <a:noFill/>
                    </a:lnB>
                    <a:noFill/>
                  </a:tcPr>
                </a:tc>
                <a:extLst>
                  <a:ext uri="{0D108BD9-81ED-4DB2-BD59-A6C34878D82A}">
                    <a16:rowId xmlns:a16="http://schemas.microsoft.com/office/drawing/2014/main" val="3327084754"/>
                  </a:ext>
                </a:extLst>
              </a:tr>
              <a:tr h="0">
                <a:tc>
                  <a:txBody>
                    <a:bodyPr/>
                    <a:lstStyle/>
                    <a:p>
                      <a:pPr>
                        <a:buNone/>
                      </a:pPr>
                      <a:r>
                        <a:rPr lang="en-US" dirty="0"/>
                        <a:t>ETC</a:t>
                      </a:r>
                      <a:r>
                        <a:rPr lang="zh-CN" altLang="en-US" dirty="0"/>
                        <a:t>，</a:t>
                      </a:r>
                      <a:r>
                        <a:rPr lang="en-US" altLang="zh-CN" dirty="0"/>
                        <a:t>Estimate to Complete</a:t>
                      </a:r>
                      <a:endParaRPr lang="en-US" dirty="0"/>
                    </a:p>
                  </a:txBody>
                  <a:tcPr anchor="ctr">
                    <a:lnL>
                      <a:noFill/>
                    </a:lnL>
                    <a:lnR>
                      <a:noFill/>
                    </a:lnR>
                    <a:lnT>
                      <a:noFill/>
                    </a:lnT>
                    <a:lnB>
                      <a:noFill/>
                    </a:lnB>
                    <a:noFill/>
                  </a:tcPr>
                </a:tc>
                <a:tc>
                  <a:txBody>
                    <a:bodyPr/>
                    <a:lstStyle/>
                    <a:p>
                      <a:pPr>
                        <a:buNone/>
                      </a:pPr>
                      <a:r>
                        <a:rPr lang="fr-FR"/>
                        <a:t>完工尚需估算 ETC = EAC - AC</a:t>
                      </a:r>
                    </a:p>
                  </a:txBody>
                  <a:tcPr anchor="ctr">
                    <a:lnL>
                      <a:noFill/>
                    </a:lnL>
                    <a:lnR>
                      <a:noFill/>
                    </a:lnR>
                    <a:lnT>
                      <a:noFill/>
                    </a:lnT>
                    <a:lnB>
                      <a:noFill/>
                    </a:lnB>
                    <a:noFill/>
                  </a:tcPr>
                </a:tc>
                <a:extLst>
                  <a:ext uri="{0D108BD9-81ED-4DB2-BD59-A6C34878D82A}">
                    <a16:rowId xmlns:a16="http://schemas.microsoft.com/office/drawing/2014/main" val="3888247586"/>
                  </a:ext>
                </a:extLst>
              </a:tr>
              <a:tr h="0">
                <a:tc>
                  <a:txBody>
                    <a:bodyPr/>
                    <a:lstStyle/>
                    <a:p>
                      <a:pPr>
                        <a:buNone/>
                      </a:pPr>
                      <a:r>
                        <a:rPr lang="en-US" dirty="0"/>
                        <a:t>EAC</a:t>
                      </a:r>
                      <a:r>
                        <a:rPr lang="zh-CN" altLang="en-US" dirty="0"/>
                        <a:t>，</a:t>
                      </a:r>
                      <a:r>
                        <a:rPr lang="en-US" altLang="zh-CN" dirty="0"/>
                        <a:t>Estimate at Completion</a:t>
                      </a:r>
                      <a:endParaRPr lang="en-US" dirty="0"/>
                    </a:p>
                  </a:txBody>
                  <a:tcPr anchor="ctr">
                    <a:lnL>
                      <a:noFill/>
                    </a:lnL>
                    <a:lnR>
                      <a:noFill/>
                    </a:lnR>
                    <a:lnT>
                      <a:noFill/>
                    </a:lnT>
                    <a:lnB>
                      <a:noFill/>
                    </a:lnB>
                    <a:noFill/>
                  </a:tcPr>
                </a:tc>
                <a:tc>
                  <a:txBody>
                    <a:bodyPr/>
                    <a:lstStyle/>
                    <a:p>
                      <a:pPr>
                        <a:buNone/>
                      </a:pPr>
                      <a:r>
                        <a:rPr lang="zh-CN" altLang="en-US" dirty="0"/>
                        <a:t>完工估算：</a:t>
                      </a:r>
                      <a:endParaRPr lang="en-US" altLang="zh-CN" dirty="0"/>
                    </a:p>
                    <a:p>
                      <a:pPr>
                        <a:buNone/>
                      </a:pPr>
                      <a:r>
                        <a:rPr lang="zh-CN" altLang="en-US" dirty="0"/>
                        <a:t>非典型偏差 </a:t>
                      </a:r>
                      <a:r>
                        <a:rPr lang="en-US" dirty="0"/>
                        <a:t>EAC = AC + (BAC - EV)</a:t>
                      </a:r>
                    </a:p>
                    <a:p>
                      <a:pPr>
                        <a:buNone/>
                      </a:pPr>
                      <a:r>
                        <a:rPr lang="zh-CN" altLang="en-US" dirty="0"/>
                        <a:t>典型偏差 </a:t>
                      </a:r>
                      <a:r>
                        <a:rPr lang="en-US" dirty="0"/>
                        <a:t>EAC = AC + (BAC - EV)/CPI</a:t>
                      </a:r>
                    </a:p>
                  </a:txBody>
                  <a:tcPr anchor="ctr">
                    <a:lnL>
                      <a:noFill/>
                    </a:lnL>
                    <a:lnR>
                      <a:noFill/>
                    </a:lnR>
                    <a:lnT>
                      <a:noFill/>
                    </a:lnT>
                    <a:lnB>
                      <a:noFill/>
                    </a:lnB>
                    <a:noFill/>
                  </a:tcPr>
                </a:tc>
                <a:extLst>
                  <a:ext uri="{0D108BD9-81ED-4DB2-BD59-A6C34878D82A}">
                    <a16:rowId xmlns:a16="http://schemas.microsoft.com/office/drawing/2014/main" val="574668408"/>
                  </a:ext>
                </a:extLst>
              </a:tr>
              <a:tr h="0">
                <a:tc>
                  <a:txBody>
                    <a:bodyPr/>
                    <a:lstStyle/>
                    <a:p>
                      <a:pPr>
                        <a:buNone/>
                      </a:pPr>
                      <a:r>
                        <a:rPr lang="en-US" dirty="0"/>
                        <a:t>VAC</a:t>
                      </a:r>
                      <a:r>
                        <a:rPr lang="zh-CN" altLang="en-US" dirty="0"/>
                        <a:t>，</a:t>
                      </a:r>
                      <a:r>
                        <a:rPr lang="en-US" altLang="zh-CN" dirty="0"/>
                        <a:t>Variance at Completion</a:t>
                      </a:r>
                      <a:endParaRPr lang="en-US" dirty="0"/>
                    </a:p>
                  </a:txBody>
                  <a:tcPr anchor="ctr">
                    <a:lnL>
                      <a:noFill/>
                    </a:lnL>
                    <a:lnR>
                      <a:noFill/>
                    </a:lnR>
                    <a:lnT>
                      <a:noFill/>
                    </a:lnT>
                    <a:lnB>
                      <a:noFill/>
                    </a:lnB>
                    <a:noFill/>
                  </a:tcPr>
                </a:tc>
                <a:tc>
                  <a:txBody>
                    <a:bodyPr/>
                    <a:lstStyle/>
                    <a:p>
                      <a:pPr>
                        <a:buNone/>
                      </a:pPr>
                      <a:r>
                        <a:rPr lang="zh-CN" altLang="en-US" dirty="0"/>
                        <a:t>完工偏差 </a:t>
                      </a:r>
                      <a:r>
                        <a:rPr lang="en-US" dirty="0"/>
                        <a:t>VAC = BAC - EAC</a:t>
                      </a:r>
                    </a:p>
                  </a:txBody>
                  <a:tcPr anchor="ctr">
                    <a:lnL>
                      <a:noFill/>
                    </a:lnL>
                    <a:lnR>
                      <a:noFill/>
                    </a:lnR>
                    <a:lnT>
                      <a:noFill/>
                    </a:lnT>
                    <a:lnB>
                      <a:noFill/>
                    </a:lnB>
                    <a:noFill/>
                  </a:tcPr>
                </a:tc>
                <a:extLst>
                  <a:ext uri="{0D108BD9-81ED-4DB2-BD59-A6C34878D82A}">
                    <a16:rowId xmlns:a16="http://schemas.microsoft.com/office/drawing/2014/main" val="398661105"/>
                  </a:ext>
                </a:extLst>
              </a:tr>
            </a:tbl>
          </a:graphicData>
        </a:graphic>
      </p:graphicFrame>
      <p:sp>
        <p:nvSpPr>
          <p:cNvPr id="23" name="文本占位符 22">
            <a:extLst>
              <a:ext uri="{FF2B5EF4-FFF2-40B4-BE49-F238E27FC236}">
                <a16:creationId xmlns:a16="http://schemas.microsoft.com/office/drawing/2014/main" id="{0020E367-452A-4D45-30EF-2D4EE7BDC8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34831968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9729AAAD-AD68-4ACD-B920-46B41E03DA6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4077578" y="3498981"/>
            <a:ext cx="7262228" cy="1440000"/>
          </a:xfrm>
        </p:spPr>
        <p:txBody>
          <a:bodyPr/>
          <a:lstStyle/>
          <a:p>
            <a:r>
              <a:rPr lang="zh-CN" altLang="en-US" dirty="0"/>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4077578" y="4938981"/>
            <a:ext cx="7262228" cy="900000"/>
          </a:xfrm>
        </p:spPr>
        <p:txBody>
          <a:bodyPr/>
          <a:lstStyle/>
          <a:p>
            <a:r>
              <a:rPr lang="en-US" altLang="zh-CN" dirty="0"/>
              <a:t>Section 5 Project Progress</a:t>
            </a:r>
            <a:endParaRPr lang="zh-CN" altLang="en-US" dirty="0"/>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p:txBody>
          <a:bodyPr>
            <a:normAutofit fontScale="92500" lnSpcReduction="10000"/>
          </a:bodyPr>
          <a:lstStyle/>
          <a:p>
            <a:pPr marL="360000" indent="-180000">
              <a:buFont typeface="+mj-lt"/>
              <a:buAutoNum type="arabicPeriod"/>
            </a:pPr>
            <a:r>
              <a:rPr lang="zh-CN" altLang="en-US" dirty="0"/>
              <a:t>规划进度</a:t>
            </a:r>
          </a:p>
          <a:p>
            <a:pPr marL="360000" indent="-180000">
              <a:buFont typeface="+mj-lt"/>
              <a:buAutoNum type="arabicPeriod"/>
            </a:pPr>
            <a:r>
              <a:rPr lang="zh-CN" altLang="en-US" dirty="0"/>
              <a:t>定义活动</a:t>
            </a:r>
          </a:p>
          <a:p>
            <a:pPr marL="360000" indent="-180000">
              <a:buFont typeface="+mj-lt"/>
              <a:buAutoNum type="arabicPeriod"/>
            </a:pPr>
            <a:r>
              <a:rPr lang="zh-CN" altLang="en-US" dirty="0"/>
              <a:t>排列活动顺序</a:t>
            </a:r>
          </a:p>
          <a:p>
            <a:pPr marL="360000" indent="-180000">
              <a:buFont typeface="+mj-lt"/>
              <a:buAutoNum type="arabicPeriod"/>
            </a:pPr>
            <a:r>
              <a:rPr lang="zh-CN" altLang="en-US" dirty="0"/>
              <a:t>估算活动资源</a:t>
            </a:r>
          </a:p>
          <a:p>
            <a:pPr marL="360000" indent="-180000">
              <a:buFont typeface="+mj-lt"/>
              <a:buAutoNum type="arabicPeriod"/>
            </a:pPr>
            <a:r>
              <a:rPr lang="zh-CN" altLang="en-US" dirty="0"/>
              <a:t>估算活动持续时间</a:t>
            </a:r>
          </a:p>
          <a:p>
            <a:pPr marL="360000" indent="-180000">
              <a:buFont typeface="+mj-lt"/>
              <a:buAutoNum type="arabicPeriod"/>
            </a:pPr>
            <a:r>
              <a:rPr lang="zh-CN" altLang="en-US" dirty="0"/>
              <a:t>制定进度计划</a:t>
            </a:r>
          </a:p>
          <a:p>
            <a:pPr marL="360000" indent="-180000">
              <a:buFont typeface="+mj-lt"/>
              <a:buAutoNum type="arabicPeriod"/>
            </a:pPr>
            <a:r>
              <a:rPr lang="zh-CN" altLang="en-US" dirty="0"/>
              <a:t>控制进度过程</a:t>
            </a:r>
          </a:p>
          <a:p>
            <a:endParaRPr lang="zh-CN" altLang="en-US" dirty="0"/>
          </a:p>
        </p:txBody>
      </p:sp>
    </p:spTree>
    <p:extLst>
      <p:ext uri="{BB962C8B-B14F-4D97-AF65-F5344CB8AC3E}">
        <p14:creationId xmlns:p14="http://schemas.microsoft.com/office/powerpoint/2010/main" val="25724519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dirty="0"/>
              <a:t>7</a:t>
            </a:r>
            <a:r>
              <a:rPr lang="zh-CN" altLang="en-US" dirty="0"/>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dirty="0"/>
              <a:t>规划进度</a:t>
            </a:r>
            <a:endParaRPr lang="en-US" altLang="zh-CN" dirty="0"/>
          </a:p>
          <a:p>
            <a:r>
              <a:rPr lang="zh-CN" altLang="en-US" dirty="0"/>
              <a:t>定义活动</a:t>
            </a:r>
            <a:endParaRPr lang="en-US" altLang="zh-CN" dirty="0"/>
          </a:p>
          <a:p>
            <a:r>
              <a:rPr lang="zh-CN" altLang="en-US" dirty="0"/>
              <a:t>排列活动顺序</a:t>
            </a:r>
            <a:endParaRPr lang="en-US" altLang="zh-CN" dirty="0"/>
          </a:p>
          <a:p>
            <a:r>
              <a:rPr lang="zh-CN" altLang="en-US" dirty="0"/>
              <a:t>估算活动资源</a:t>
            </a:r>
            <a:endParaRPr lang="en-US" altLang="zh-CN" dirty="0"/>
          </a:p>
          <a:p>
            <a:r>
              <a:rPr lang="zh-CN" altLang="en-US" dirty="0"/>
              <a:t>估算活动持续时间</a:t>
            </a:r>
            <a:endParaRPr lang="en-US" altLang="zh-CN" dirty="0"/>
          </a:p>
          <a:p>
            <a:r>
              <a:rPr lang="zh-CN" altLang="en-US" dirty="0"/>
              <a:t>制定进度计划</a:t>
            </a:r>
            <a:endParaRPr lang="en-US" altLang="zh-CN" dirty="0"/>
          </a:p>
          <a:p>
            <a:r>
              <a:rPr lang="zh-CN" altLang="en-US" dirty="0"/>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254675968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normAutofit/>
          </a:bodyPr>
          <a:lstStyle/>
          <a:p>
            <a:r>
              <a:rPr lang="zh-CN" altLang="en-US" dirty="0"/>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dirty="0"/>
              <a:t>要求</a:t>
            </a:r>
            <a:endParaRPr lang="en-US" altLang="zh-CN" dirty="0"/>
          </a:p>
          <a:p>
            <a:pPr lvl="1"/>
            <a:r>
              <a:rPr lang="zh-CN" altLang="en-US" dirty="0"/>
              <a:t>正式或非正式</a:t>
            </a:r>
            <a:endParaRPr lang="en-US" altLang="zh-CN" dirty="0"/>
          </a:p>
          <a:p>
            <a:pPr lvl="1"/>
            <a:r>
              <a:rPr lang="zh-CN" altLang="en-US" dirty="0"/>
              <a:t>详细或概括</a:t>
            </a:r>
            <a:endParaRPr lang="en-US" altLang="zh-CN" dirty="0"/>
          </a:p>
          <a:p>
            <a:r>
              <a:rPr lang="zh-CN" altLang="en-US" dirty="0"/>
              <a:t>产出</a:t>
            </a:r>
            <a:endParaRPr lang="en-US" altLang="zh-CN" dirty="0"/>
          </a:p>
          <a:p>
            <a:pPr lvl="1"/>
            <a:r>
              <a:rPr lang="zh-CN" altLang="en-US" dirty="0"/>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10000954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dirty="0"/>
              <a:t>活动 </a:t>
            </a:r>
            <a:r>
              <a:rPr lang="en-US" altLang="zh-CN" dirty="0"/>
              <a:t>Activity</a:t>
            </a:r>
            <a:endParaRPr lang="zh-CN" altLang="en-US" dirty="0"/>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dirty="0"/>
              <a:t>完成工作包所进行的工作</a:t>
            </a:r>
            <a:endParaRPr lang="en-US" altLang="zh-CN" dirty="0"/>
          </a:p>
          <a:p>
            <a:r>
              <a:rPr lang="zh-CN" altLang="en-US" dirty="0"/>
              <a:t>与工作包</a:t>
            </a:r>
            <a:endParaRPr lang="en-US" altLang="zh-CN" dirty="0"/>
          </a:p>
          <a:p>
            <a:pPr lvl="1"/>
            <a:r>
              <a:rPr lang="en-US" altLang="zh-CN" dirty="0"/>
              <a:t>1</a:t>
            </a:r>
            <a:r>
              <a:rPr lang="zh-CN" altLang="en-US" dirty="0"/>
              <a:t> </a:t>
            </a:r>
            <a:r>
              <a:rPr lang="en-US" altLang="zh-CN" dirty="0"/>
              <a:t>vs 1</a:t>
            </a:r>
          </a:p>
          <a:p>
            <a:pPr lvl="1"/>
            <a:r>
              <a:rPr lang="en-US" altLang="zh-CN" dirty="0"/>
              <a:t>M vs 1</a:t>
            </a:r>
          </a:p>
          <a:p>
            <a:r>
              <a:rPr lang="zh-CN" altLang="en-US" dirty="0"/>
              <a:t>排列活动的工具</a:t>
            </a:r>
            <a:endParaRPr lang="en-US" altLang="zh-CN" dirty="0"/>
          </a:p>
          <a:p>
            <a:pPr lvl="1"/>
            <a:r>
              <a:rPr lang="zh-CN" altLang="en-US" dirty="0"/>
              <a:t>前导图 </a:t>
            </a:r>
            <a:r>
              <a:rPr lang="en-US" altLang="zh-CN" dirty="0"/>
              <a:t>PDM</a:t>
            </a:r>
            <a:r>
              <a:rPr lang="zh-CN" altLang="en-US" dirty="0"/>
              <a:t>，</a:t>
            </a:r>
            <a:r>
              <a:rPr lang="en-US" altLang="zh-CN" dirty="0"/>
              <a:t>Precedence Diagramming Method</a:t>
            </a:r>
            <a:r>
              <a:rPr lang="zh-CN" altLang="en-US" dirty="0"/>
              <a:t>，也叫单代号网络图</a:t>
            </a:r>
            <a:endParaRPr lang="en-US" altLang="zh-CN" dirty="0"/>
          </a:p>
          <a:p>
            <a:pPr lvl="1"/>
            <a:r>
              <a:rPr lang="zh-CN" altLang="en-US" dirty="0"/>
              <a:t>箭线图 </a:t>
            </a:r>
            <a:r>
              <a:rPr lang="en-US" altLang="zh-CN" dirty="0"/>
              <a:t>ADM</a:t>
            </a:r>
            <a:r>
              <a:rPr lang="zh-CN" altLang="en-US" dirty="0"/>
              <a:t>，</a:t>
            </a:r>
            <a:r>
              <a:rPr lang="en-US" altLang="zh-CN" dirty="0"/>
              <a:t>Arrow Diagramming Method,</a:t>
            </a:r>
            <a:r>
              <a:rPr lang="zh-CN" altLang="en-US" dirty="0"/>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4732"/>
          </a:xfrm>
        </p:spPr>
        <p:txBody>
          <a:bodyPr>
            <a:normAutofit/>
          </a:bodyPr>
          <a:lstStyle/>
          <a:p>
            <a:r>
              <a:rPr lang="zh-CN" altLang="en-US"/>
              <a:t>前导图 </a:t>
            </a:r>
            <a:r>
              <a:rPr lang="en-US" altLang="zh-CN"/>
              <a:t>PDM</a:t>
            </a:r>
            <a:endParaRPr lang="zh-CN" altLang="en-US" dirty="0"/>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1079999"/>
            <a:ext cx="5040000" cy="5112000"/>
          </a:xfrm>
        </p:spPr>
        <p:txBody>
          <a:bodyPr>
            <a:normAutofit/>
          </a:bodyPr>
          <a:lstStyle/>
          <a:p>
            <a:r>
              <a:rPr lang="zh-CN" altLang="en-US" dirty="0"/>
              <a:t>活动：方块表示</a:t>
            </a:r>
            <a:endParaRPr lang="en-US" altLang="zh-CN" dirty="0"/>
          </a:p>
          <a:p>
            <a:r>
              <a:rPr lang="zh-CN" altLang="en-US" dirty="0"/>
              <a:t>紧前活动</a:t>
            </a:r>
            <a:endParaRPr lang="en-US" altLang="zh-CN" dirty="0"/>
          </a:p>
          <a:p>
            <a:pPr lvl="1"/>
            <a:r>
              <a:rPr lang="en-US" altLang="zh-CN" dirty="0"/>
              <a:t>H</a:t>
            </a:r>
            <a:r>
              <a:rPr lang="zh-CN" altLang="en-US" dirty="0"/>
              <a:t>是</a:t>
            </a:r>
            <a:r>
              <a:rPr lang="en-US" altLang="zh-CN" dirty="0"/>
              <a:t>I</a:t>
            </a:r>
            <a:r>
              <a:rPr lang="zh-CN" altLang="en-US" dirty="0"/>
              <a:t>的紧前活动</a:t>
            </a:r>
            <a:endParaRPr lang="en-US" altLang="zh-CN" dirty="0"/>
          </a:p>
          <a:p>
            <a:r>
              <a:rPr lang="zh-CN" altLang="en-US" dirty="0"/>
              <a:t>紧后活动</a:t>
            </a:r>
            <a:endParaRPr lang="en-US" altLang="zh-CN" dirty="0"/>
          </a:p>
          <a:p>
            <a:pPr lvl="1"/>
            <a:r>
              <a:rPr lang="en-US" altLang="zh-CN" dirty="0"/>
              <a:t>I</a:t>
            </a:r>
            <a:r>
              <a:rPr lang="zh-CN" altLang="en-US" dirty="0"/>
              <a:t>是</a:t>
            </a:r>
            <a:r>
              <a:rPr lang="en-US" altLang="zh-CN" dirty="0"/>
              <a:t>H</a:t>
            </a:r>
            <a:r>
              <a:rPr lang="zh-CN" altLang="en-US" dirty="0"/>
              <a:t>的紧后活动</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1079998"/>
            <a:ext cx="5400675" cy="5040000"/>
          </a:xfrm>
        </p:spPr>
        <p:txBody>
          <a:bodyPr/>
          <a:lstStyle/>
          <a:p>
            <a:r>
              <a:rPr lang="zh-CN" altLang="en-US" dirty="0"/>
              <a:t>结束 </a:t>
            </a:r>
            <a:r>
              <a:rPr lang="en-US" altLang="zh-CN" dirty="0"/>
              <a:t>Finish </a:t>
            </a:r>
            <a:r>
              <a:rPr lang="zh-CN" altLang="en-US" dirty="0"/>
              <a:t>→ 开始 </a:t>
            </a:r>
            <a:r>
              <a:rPr lang="en-US" altLang="zh-CN" dirty="0"/>
              <a:t>Start</a:t>
            </a:r>
            <a:endParaRPr lang="zh-CN" altLang="en-US" dirty="0"/>
          </a:p>
          <a:p>
            <a:pPr lvl="1"/>
            <a:r>
              <a:rPr lang="en-US" altLang="zh-CN" dirty="0"/>
              <a:t>FS</a:t>
            </a:r>
            <a:r>
              <a:rPr lang="zh-CN" altLang="en-US" dirty="0"/>
              <a:t>：</a:t>
            </a:r>
            <a:r>
              <a:rPr lang="en-US" altLang="zh-CN" dirty="0"/>
              <a:t>H</a:t>
            </a:r>
            <a:r>
              <a:rPr lang="zh-CN" altLang="en-US" dirty="0"/>
              <a:t>结束了，</a:t>
            </a:r>
            <a:r>
              <a:rPr lang="en-US" altLang="zh-CN" dirty="0"/>
              <a:t>I</a:t>
            </a:r>
            <a:r>
              <a:rPr lang="zh-CN" altLang="en-US" dirty="0"/>
              <a:t>才可以开始</a:t>
            </a:r>
            <a:endParaRPr lang="en-US" altLang="zh-CN" dirty="0"/>
          </a:p>
          <a:p>
            <a:r>
              <a:rPr lang="zh-CN" altLang="en-US" dirty="0"/>
              <a:t>开始 </a:t>
            </a:r>
            <a:r>
              <a:rPr lang="en-US" altLang="zh-CN" dirty="0"/>
              <a:t>Start</a:t>
            </a:r>
            <a:r>
              <a:rPr lang="zh-CN" altLang="en-US" dirty="0"/>
              <a:t> → 开始 </a:t>
            </a:r>
            <a:r>
              <a:rPr lang="en-US" altLang="zh-CN" dirty="0"/>
              <a:t>Start</a:t>
            </a:r>
          </a:p>
          <a:p>
            <a:pPr lvl="1"/>
            <a:r>
              <a:rPr lang="en-US" altLang="zh-CN" dirty="0"/>
              <a:t>SS</a:t>
            </a:r>
            <a:r>
              <a:rPr lang="zh-CN" altLang="en-US" dirty="0"/>
              <a:t>：</a:t>
            </a:r>
            <a:r>
              <a:rPr lang="en-US" altLang="zh-CN" dirty="0"/>
              <a:t>A</a:t>
            </a:r>
            <a:r>
              <a:rPr lang="zh-CN" altLang="en-US" dirty="0"/>
              <a:t>开始，</a:t>
            </a:r>
            <a:r>
              <a:rPr lang="en-US" altLang="zh-CN" dirty="0"/>
              <a:t>C</a:t>
            </a:r>
            <a:r>
              <a:rPr lang="zh-CN" altLang="en-US" dirty="0"/>
              <a:t>也开始</a:t>
            </a:r>
            <a:endParaRPr lang="en-US" altLang="zh-CN" dirty="0"/>
          </a:p>
          <a:p>
            <a:r>
              <a:rPr lang="zh-CN" altLang="en-US" dirty="0"/>
              <a:t>开始 </a:t>
            </a:r>
            <a:r>
              <a:rPr lang="en-US" altLang="zh-CN" dirty="0"/>
              <a:t>Start</a:t>
            </a:r>
            <a:r>
              <a:rPr lang="zh-CN" altLang="en-US" dirty="0"/>
              <a:t> → 结束 </a:t>
            </a:r>
            <a:r>
              <a:rPr lang="en-US" altLang="zh-CN" dirty="0"/>
              <a:t>Finish</a:t>
            </a:r>
          </a:p>
          <a:p>
            <a:r>
              <a:rPr lang="zh-CN" altLang="en-US" dirty="0"/>
              <a:t>结束 </a:t>
            </a:r>
            <a:r>
              <a:rPr lang="en-US" altLang="zh-CN" dirty="0"/>
              <a:t>Finish</a:t>
            </a:r>
            <a:r>
              <a:rPr lang="zh-CN" altLang="en-US" dirty="0"/>
              <a:t> → 结束 </a:t>
            </a:r>
            <a:r>
              <a:rPr lang="en-US" altLang="zh-CN" dirty="0"/>
              <a:t>Finish</a:t>
            </a:r>
            <a:endParaRPr lang="zh-CN" altLang="en-US" dirty="0"/>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I</a:t>
            </a:r>
            <a:endParaRPr lang="zh-CN" altLang="en-US" sz="1600" dirty="0">
              <a:solidFill>
                <a:schemeClr val="tx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H</a:t>
            </a:r>
            <a:endParaRPr lang="zh-CN" altLang="en-US" sz="1600" dirty="0">
              <a:solidFill>
                <a:schemeClr val="tx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4732"/>
          </a:xfrm>
        </p:spPr>
        <p:txBody>
          <a:bodyPr>
            <a:normAutofit/>
          </a:bodyPr>
          <a:lstStyle/>
          <a:p>
            <a:r>
              <a:rPr lang="zh-CN" altLang="en-US" dirty="0"/>
              <a:t>前导图 </a:t>
            </a:r>
            <a:r>
              <a:rPr lang="en-US" altLang="zh-CN" dirty="0"/>
              <a:t>PDM</a:t>
            </a:r>
            <a:endParaRPr lang="zh-CN" altLang="en-US" dirty="0"/>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1079999"/>
            <a:ext cx="5040000" cy="5112000"/>
          </a:xfrm>
        </p:spPr>
        <p:txBody>
          <a:bodyPr>
            <a:normAutofit/>
          </a:bodyPr>
          <a:lstStyle/>
          <a:p>
            <a:r>
              <a:rPr lang="zh-CN" altLang="en-US" dirty="0"/>
              <a:t>提前量 </a:t>
            </a:r>
            <a:r>
              <a:rPr lang="en-US" altLang="zh-CN" dirty="0"/>
              <a:t>Lead</a:t>
            </a:r>
          </a:p>
          <a:p>
            <a:pPr lvl="1"/>
            <a:r>
              <a:rPr lang="zh-CN" altLang="en-US" dirty="0"/>
              <a:t>紧前活动还没有完成时，紧后活动可以提前开始的时间量</a:t>
            </a:r>
            <a:endParaRPr lang="en-US" altLang="zh-CN" dirty="0"/>
          </a:p>
          <a:p>
            <a:pPr lvl="1"/>
            <a:r>
              <a:rPr lang="zh-CN" altLang="en-US" dirty="0"/>
              <a:t>负值表示</a:t>
            </a:r>
            <a:endParaRPr lang="en-US" altLang="zh-CN" dirty="0"/>
          </a:p>
          <a:p>
            <a:pPr lvl="1"/>
            <a:r>
              <a:rPr lang="en-US" altLang="zh-CN" dirty="0"/>
              <a:t>FS-2</a:t>
            </a:r>
            <a:r>
              <a:rPr lang="zh-CN" altLang="en-US" dirty="0"/>
              <a:t>：完成到开始，提前</a:t>
            </a:r>
            <a:r>
              <a:rPr lang="en-US" altLang="zh-CN" dirty="0"/>
              <a:t>2</a:t>
            </a:r>
            <a:r>
              <a:rPr lang="zh-CN" altLang="en-US" dirty="0"/>
              <a:t>天，表示紧后活动可以在紧前活动完成前</a:t>
            </a:r>
            <a:r>
              <a:rPr lang="en-US" altLang="zh-CN" dirty="0"/>
              <a:t>2</a:t>
            </a:r>
            <a:r>
              <a:rPr lang="zh-CN" altLang="en-US" dirty="0"/>
              <a:t>天开始</a:t>
            </a:r>
            <a:endParaRPr lang="en-US" altLang="zh-CN" dirty="0"/>
          </a:p>
          <a:p>
            <a:pPr lvl="1"/>
            <a:r>
              <a:rPr lang="zh-CN" altLang="en-US" dirty="0"/>
              <a:t>谨慎使用</a:t>
            </a:r>
            <a:endParaRPr lang="en-US" altLang="zh-CN" dirty="0"/>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1079998"/>
            <a:ext cx="5400675" cy="5040000"/>
          </a:xfrm>
        </p:spPr>
        <p:txBody>
          <a:bodyPr/>
          <a:lstStyle/>
          <a:p>
            <a:r>
              <a:rPr lang="zh-CN" altLang="en-US" dirty="0"/>
              <a:t>滞后量 </a:t>
            </a:r>
            <a:r>
              <a:rPr lang="en-US" altLang="zh-CN" dirty="0"/>
              <a:t>Lag</a:t>
            </a:r>
          </a:p>
          <a:p>
            <a:pPr lvl="1"/>
            <a:r>
              <a:rPr lang="zh-CN" altLang="en-US" dirty="0"/>
              <a:t>紧前活动完成时，紧后活动需要推迟开始的时间量</a:t>
            </a:r>
            <a:endParaRPr lang="en-US" altLang="zh-CN" dirty="0"/>
          </a:p>
          <a:p>
            <a:pPr lvl="1"/>
            <a:r>
              <a:rPr lang="zh-CN" altLang="en-US" dirty="0"/>
              <a:t>正值表示</a:t>
            </a:r>
            <a:endParaRPr lang="en-US" altLang="zh-CN" dirty="0"/>
          </a:p>
          <a:p>
            <a:pPr lvl="1"/>
            <a:r>
              <a:rPr lang="en-US" altLang="zh-CN" dirty="0"/>
              <a:t>FS+3</a:t>
            </a:r>
            <a:r>
              <a:rPr lang="zh-CN" altLang="en-US" dirty="0"/>
              <a:t>：完成到开始，滞后</a:t>
            </a:r>
            <a:r>
              <a:rPr lang="en-US" altLang="zh-CN" dirty="0"/>
              <a:t>3</a:t>
            </a:r>
            <a:r>
              <a:rPr lang="zh-CN" altLang="en-US" dirty="0"/>
              <a:t>天，表示紧后活动必须在紧前活动完成后</a:t>
            </a:r>
            <a:r>
              <a:rPr lang="en-US" altLang="zh-CN" dirty="0"/>
              <a:t>3</a:t>
            </a:r>
            <a:r>
              <a:rPr lang="zh-CN" altLang="en-US" dirty="0"/>
              <a:t>天才开始</a:t>
            </a:r>
            <a:endParaRPr lang="en-US" altLang="zh-CN" dirty="0"/>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F</a:t>
            </a:r>
            <a:endParaRPr lang="zh-CN" altLang="en-US" sz="1600" dirty="0">
              <a:solidFill>
                <a:schemeClr val="tx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p:spPr>
        <p:txBody>
          <a:bodyPr wrap="none" rtlCol="0">
            <a:spAutoFit/>
          </a:bodyPr>
          <a:lstStyle/>
          <a:p>
            <a:r>
              <a:rPr lang="en-US" altLang="zh-CN" dirty="0"/>
              <a:t>FS+3</a:t>
            </a:r>
            <a:endParaRPr lang="zh-CN" altLang="en-US" dirty="0"/>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p:spPr>
        <p:txBody>
          <a:bodyPr wrap="none" rtlCol="0">
            <a:spAutoFit/>
          </a:bodyPr>
          <a:lstStyle/>
          <a:p>
            <a:r>
              <a:rPr lang="en-US" altLang="zh-CN" dirty="0"/>
              <a:t>FS-2</a:t>
            </a:r>
            <a:endParaRPr lang="zh-CN" altLang="en-US" dirty="0"/>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p:spPr>
        <p:txBody>
          <a:bodyPr wrap="none" rtlCol="0">
            <a:spAutoFit/>
          </a:bodyPr>
          <a:lstStyle/>
          <a:p>
            <a:r>
              <a:rPr lang="en-US" altLang="zh-CN" dirty="0"/>
              <a:t>SS+2</a:t>
            </a:r>
            <a:endParaRPr lang="zh-CN" altLang="en-US" dirty="0"/>
          </a:p>
        </p:txBody>
      </p:sp>
    </p:spTree>
    <p:extLst>
      <p:ext uri="{BB962C8B-B14F-4D97-AF65-F5344CB8AC3E}">
        <p14:creationId xmlns:p14="http://schemas.microsoft.com/office/powerpoint/2010/main" val="393700264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7200000" cy="424732"/>
          </a:xfrm>
        </p:spPr>
        <p:txBody>
          <a:bodyPr>
            <a:normAutofit/>
          </a:bodyPr>
          <a:lstStyle/>
          <a:p>
            <a:r>
              <a:rPr lang="zh-CN" altLang="en-US" dirty="0"/>
              <a:t>箭线图 </a:t>
            </a:r>
            <a:r>
              <a:rPr lang="en-US" altLang="zh-CN" dirty="0"/>
              <a:t>ADM</a:t>
            </a:r>
            <a:endParaRPr lang="zh-CN" altLang="en-US" dirty="0"/>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p:txBody>
          <a:bodyPr/>
          <a:lstStyle/>
          <a:p>
            <a:r>
              <a:rPr lang="zh-CN" altLang="en-US" dirty="0"/>
              <a:t>活动：以字母表示</a:t>
            </a:r>
          </a:p>
          <a:p>
            <a:r>
              <a:rPr lang="zh-CN" altLang="en-US" dirty="0"/>
              <a:t>圆圈：序号，以数值表示</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p:txBody>
          <a:bodyPr/>
          <a:lstStyle/>
          <a:p>
            <a:r>
              <a:rPr lang="en-US" altLang="zh-CN" dirty="0"/>
              <a:t>Project Progress</a:t>
            </a:r>
            <a:endParaRPr lang="zh-CN" altLang="en-US" dirty="0"/>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dirty="0"/>
              <a:t>A</a:t>
            </a:r>
            <a:endParaRPr lang="zh-CN" altLang="en-US" dirty="0"/>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dirty="0"/>
              <a:t>B</a:t>
            </a:r>
            <a:endParaRPr lang="zh-CN" altLang="en-US" dirty="0"/>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dirty="0"/>
              <a:t>C</a:t>
            </a:r>
            <a:endParaRPr lang="zh-CN" altLang="en-US" dirty="0"/>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dirty="0"/>
              <a:t>D</a:t>
            </a:r>
            <a:endParaRPr lang="zh-CN" altLang="en-US" dirty="0"/>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dirty="0"/>
              <a:t>E</a:t>
            </a:r>
            <a:endParaRPr lang="zh-CN" altLang="en-US" dirty="0"/>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dirty="0"/>
              <a:t>G</a:t>
            </a:r>
            <a:endParaRPr lang="zh-CN" altLang="en-US" dirty="0"/>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dirty="0"/>
              <a:t>H</a:t>
            </a:r>
            <a:endParaRPr lang="zh-CN" altLang="en-US" dirty="0"/>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dirty="0"/>
              <a:t>I</a:t>
            </a:r>
            <a:endParaRPr lang="zh-CN" altLang="en-US" dirty="0"/>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dirty="0"/>
              <a:t>J</a:t>
            </a:r>
            <a:endParaRPr lang="zh-CN" altLang="en-US" dirty="0"/>
          </a:p>
        </p:txBody>
      </p:sp>
    </p:spTree>
    <p:extLst>
      <p:ext uri="{BB962C8B-B14F-4D97-AF65-F5344CB8AC3E}">
        <p14:creationId xmlns:p14="http://schemas.microsoft.com/office/powerpoint/2010/main" val="26563608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dirty="0"/>
              <a:t>5. </a:t>
            </a:r>
            <a:r>
              <a:rPr lang="zh-CN" altLang="en-US" dirty="0"/>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dirty="0"/>
              <a:t>类比估算</a:t>
            </a:r>
            <a:endParaRPr lang="en-US" altLang="zh-CN" dirty="0"/>
          </a:p>
          <a:p>
            <a:r>
              <a:rPr lang="zh-CN" altLang="en-US" dirty="0"/>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311709463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normAutofit/>
          </a:bodyPr>
          <a:lstStyle/>
          <a:p>
            <a:r>
              <a:rPr lang="zh-CN" altLang="en-US" dirty="0"/>
              <a:t>甘特图 </a:t>
            </a:r>
            <a:r>
              <a:rPr lang="en-US" altLang="zh-CN" dirty="0"/>
              <a:t>Gantt Chart</a:t>
            </a:r>
            <a:endParaRPr lang="zh-CN" altLang="en-US" dirty="0"/>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dirty="0"/>
              <a:t>Program Evaluation and Review Technique</a:t>
            </a:r>
          </a:p>
          <a:p>
            <a:r>
              <a:rPr lang="zh-CN" altLang="en-US" dirty="0"/>
              <a:t>在项目时间估算中的应用用于估算活动持续时间的统计工具，适用于不确定性较高的项目</a:t>
            </a:r>
            <a:endParaRPr lang="en-US" altLang="zh-CN" dirty="0"/>
          </a:p>
          <a:p>
            <a:r>
              <a:rPr lang="zh-CN" altLang="en-US" dirty="0"/>
              <a:t>组成：任务开始时间、结束时间、完成所需时间、任务之间的先后关系</a:t>
            </a:r>
          </a:p>
          <a:p>
            <a:r>
              <a:rPr lang="zh-CN" altLang="en-US" dirty="0"/>
              <a:t>特点：不能反映任务之间的并行关系</a:t>
            </a:r>
          </a:p>
          <a:p>
            <a:r>
              <a:rPr lang="zh-CN" altLang="en-US" dirty="0"/>
              <a:t>基于三个时间估计值 </a:t>
            </a:r>
            <a:r>
              <a:rPr lang="en-US" altLang="zh-CN" dirty="0"/>
              <a:t>- </a:t>
            </a:r>
            <a:r>
              <a:rPr lang="zh-CN" altLang="en-US" dirty="0"/>
              <a:t>三点估算：</a:t>
            </a:r>
            <a:endParaRPr lang="en-US" altLang="zh-CN" dirty="0"/>
          </a:p>
          <a:p>
            <a:pPr lvl="1"/>
            <a:r>
              <a:rPr lang="zh-CN" altLang="en-US" dirty="0"/>
              <a:t>乐观时间（</a:t>
            </a:r>
            <a:r>
              <a:rPr lang="en-US" altLang="zh-CN" dirty="0"/>
              <a:t>O</a:t>
            </a:r>
            <a:r>
              <a:rPr lang="zh-CN" altLang="en-US" dirty="0"/>
              <a:t>）：最理想情况下的时间</a:t>
            </a:r>
            <a:endParaRPr lang="en-US" altLang="zh-CN" dirty="0"/>
          </a:p>
          <a:p>
            <a:pPr lvl="1"/>
            <a:r>
              <a:rPr lang="zh-CN" altLang="en-US" dirty="0"/>
              <a:t>悲观时间（</a:t>
            </a:r>
            <a:r>
              <a:rPr lang="en-US" altLang="zh-CN" dirty="0"/>
              <a:t>P</a:t>
            </a:r>
            <a:r>
              <a:rPr lang="zh-CN" altLang="en-US" dirty="0"/>
              <a:t>）：最坏情况下的时间</a:t>
            </a:r>
            <a:endParaRPr lang="en-US" altLang="zh-CN" dirty="0"/>
          </a:p>
          <a:p>
            <a:pPr lvl="1"/>
            <a:r>
              <a:rPr lang="zh-CN" altLang="en-US" dirty="0"/>
              <a:t>最可能时间（</a:t>
            </a:r>
            <a:r>
              <a:rPr lang="en-US" altLang="zh-CN" dirty="0"/>
              <a:t>M</a:t>
            </a:r>
            <a:r>
              <a:rPr lang="zh-CN" altLang="en-US" dirty="0"/>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dirty="0"/>
              <a:t>Project Progress</a:t>
            </a:r>
            <a:endParaRPr lang="zh-CN" altLang="en-US" dirty="0"/>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𝑂</m:t>
                          </m:r>
                          <m:r>
                            <a:rPr lang="en-US" altLang="zh-CN" b="0" i="1" smtClean="0">
                              <a:latin typeface="Cambria Math" panose="02040503050406030204" pitchFamily="18" charset="0"/>
                            </a:rPr>
                            <m:t>+</m:t>
                          </m:r>
                          <m:r>
                            <a:rPr lang="en-US" altLang="zh-CN" b="0" i="1" smtClean="0">
                              <a:latin typeface="Cambria Math" panose="02040503050406030204" pitchFamily="18" charset="0"/>
                            </a:rPr>
                            <m:t>𝑃</m:t>
                          </m:r>
                          <m:r>
                            <a:rPr lang="en-US" altLang="zh-CN" b="0" i="1" smtClean="0">
                              <a:latin typeface="Cambria Math" panose="02040503050406030204" pitchFamily="18" charset="0"/>
                            </a:rPr>
                            <m:t>+4</m:t>
                          </m:r>
                          <m:r>
                            <a:rPr lang="en-US" altLang="zh-CN" b="0" i="1" smtClean="0">
                              <a:latin typeface="Cambria Math" panose="02040503050406030204" pitchFamily="18" charset="0"/>
                            </a:rPr>
                            <m:t>𝑀</m:t>
                          </m:r>
                        </m:num>
                        <m:den>
                          <m:r>
                            <a:rPr lang="en-US" altLang="zh-CN" b="0" i="1" smtClean="0">
                              <a:latin typeface="Cambria Math" panose="02040503050406030204" pitchFamily="18" charset="0"/>
                            </a:rPr>
                            <m:t>6</m:t>
                          </m:r>
                        </m:den>
                      </m:f>
                    </m:oMath>
                  </m:oMathPara>
                </a14:m>
                <a:endParaRPr lang="zh-CN" altLang="en-US" dirty="0"/>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dirty="0"/>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5" name="组合 4">
            <a:extLst>
              <a:ext uri="{FF2B5EF4-FFF2-40B4-BE49-F238E27FC236}">
                <a16:creationId xmlns:a16="http://schemas.microsoft.com/office/drawing/2014/main" id="{27B11B4B-4CD7-4DFC-311A-4A130A48F7D0}"/>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243AFF04-9967-3886-CA4B-F989416C6C5A}"/>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5111025" y="4313249"/>
                <a:ext cx="1516204"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C3E871AC-4854-2B8D-7B77-75430DAD77FC}"/>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6B495EA3-8356-E9DC-4B0C-EB9ED5EB352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93B9C64E-64A0-C911-11CB-2577813449B3}"/>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4D134F61-2B67-B5DC-3A81-CE2896264B58}"/>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DCB89C8F-8245-ACB5-6752-2EE69794FBAE}"/>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BE349338-EF80-5953-3000-8E9AB1A5915F}"/>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A13D22B1-56BB-0540-012D-D9BC4A6E0C22}"/>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8D7C9612-EB22-4735-63DB-62CC7B65AC0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3" name="文本框 2">
              <a:extLst>
                <a:ext uri="{FF2B5EF4-FFF2-40B4-BE49-F238E27FC236}">
                  <a16:creationId xmlns:a16="http://schemas.microsoft.com/office/drawing/2014/main" id="{55911ACE-2549-386C-656B-331816F8F87D}"/>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Tree>
    <p:extLst>
      <p:ext uri="{BB962C8B-B14F-4D97-AF65-F5344CB8AC3E}">
        <p14:creationId xmlns:p14="http://schemas.microsoft.com/office/powerpoint/2010/main" val="254080062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dirty="0"/>
              <a:t>根据各事件持续时间，推算最早开始时间</a:t>
            </a:r>
            <a:endParaRPr lang="en-US" altLang="zh-CN" dirty="0"/>
          </a:p>
          <a:p>
            <a:r>
              <a:rPr lang="zh-CN" altLang="en-US" dirty="0"/>
              <a:t>汇总事件取最大值</a:t>
            </a:r>
            <a:endParaRPr lang="en-US" altLang="zh-CN" dirty="0"/>
          </a:p>
          <a:p>
            <a:r>
              <a:rPr lang="zh-CN" altLang="en-US" dirty="0"/>
              <a:t>总工期 </a:t>
            </a:r>
            <a:r>
              <a:rPr lang="en-US" altLang="zh-CN" dirty="0"/>
              <a:t>15</a:t>
            </a:r>
          </a:p>
          <a:p>
            <a:r>
              <a:rPr lang="zh-CN" altLang="en-US" dirty="0"/>
              <a:t>最长路径 </a:t>
            </a:r>
            <a:r>
              <a:rPr lang="en-US" altLang="zh-CN" dirty="0"/>
              <a:t>1 </a:t>
            </a:r>
            <a:r>
              <a:rPr lang="zh-CN" altLang="en-US" dirty="0"/>
              <a:t>→ </a:t>
            </a:r>
            <a:r>
              <a:rPr lang="en-US" altLang="zh-CN" dirty="0"/>
              <a:t>2 </a:t>
            </a:r>
            <a:r>
              <a:rPr lang="zh-CN" altLang="en-US" dirty="0"/>
              <a:t>→ </a:t>
            </a:r>
            <a:r>
              <a:rPr lang="en-US" altLang="zh-CN" dirty="0"/>
              <a:t>5 </a:t>
            </a:r>
            <a:r>
              <a:rPr lang="zh-CN" altLang="en-US" dirty="0"/>
              <a:t>→ </a:t>
            </a:r>
            <a:r>
              <a:rPr lang="en-US" altLang="zh-CN" dirty="0"/>
              <a:t>7 </a:t>
            </a:r>
            <a:r>
              <a:rPr lang="zh-CN" altLang="en-US" dirty="0"/>
              <a:t>→ </a:t>
            </a:r>
            <a:r>
              <a:rPr lang="en-US" altLang="zh-CN" dirty="0"/>
              <a:t>9</a:t>
            </a:r>
            <a:endParaRPr lang="zh-CN" altLang="en-US" dirty="0"/>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57595FB2-1906-EA77-F914-2324512627A1}"/>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56BFA625-00FD-A7E8-2186-D7AF2CF10720}"/>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9</a:t>
                  </a:r>
                  <a:endParaRPr lang="zh-CN" altLang="en-US" sz="1400" dirty="0">
                    <a:solidFill>
                      <a:srgbClr val="FF00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5111B45B-D956-5E20-6214-2D8B839B6B4F}"/>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15</a:t>
                  </a:r>
                  <a:endParaRPr lang="zh-CN" altLang="en-US" sz="1400" dirty="0">
                    <a:solidFill>
                      <a:srgbClr val="FF00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0783AF57-B8B4-37AA-C586-43CCD1F78D01}"/>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CE2D7036-8FAD-78A0-58D2-96618871119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B02E1FC4-6729-3E38-065F-81788FB79822}"/>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9D23F614-05DB-2441-655A-52B91CCF1592}"/>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5DC1F4A2-0CAB-1581-7C02-D73077359BE0}"/>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0920D500-3A7F-D81A-106C-02DAA8584515}"/>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DACC29F8-4A83-D7E2-6F5D-A72578FCC15E}"/>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6543425A-7FF4-F1F6-8BD8-2F687E6EAE39}"/>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4A05FE09-E975-C10D-56EE-E0A31E7C21C5}"/>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3747932"/>
              <a:ext cx="303288" cy="738664"/>
            </a:xfrm>
            <a:prstGeom prst="rect">
              <a:avLst/>
            </a:prstGeom>
            <a:noFill/>
          </p:spPr>
          <p:txBody>
            <a:bodyPr wrap="none" rtlCol="0">
              <a:spAutoFit/>
            </a:bodyPr>
            <a:lstStyle/>
            <a:p>
              <a:r>
                <a:rPr lang="en-US" altLang="zh-CN" sz="1400" dirty="0">
                  <a:solidFill>
                    <a:srgbClr val="FF0000"/>
                  </a:solidFill>
                </a:rPr>
                <a:t>3</a:t>
              </a:r>
            </a:p>
            <a:p>
              <a:endParaRPr lang="en-US" altLang="zh-CN" sz="1400" dirty="0">
                <a:solidFill>
                  <a:srgbClr val="FF0000"/>
                </a:solidFill>
              </a:endParaRPr>
            </a:p>
            <a:p>
              <a:r>
                <a:rPr lang="en-US" altLang="zh-CN" sz="1400" dirty="0">
                  <a:solidFill>
                    <a:srgbClr val="FF0000"/>
                  </a:solidFill>
                </a:rPr>
                <a:t>4</a:t>
              </a:r>
              <a:endParaRPr lang="zh-CN" altLang="en-US" sz="1400" dirty="0">
                <a:solidFill>
                  <a:srgbClr val="FF00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3344192"/>
              <a:ext cx="293670" cy="738664"/>
            </a:xfrm>
            <a:prstGeom prst="rect">
              <a:avLst/>
            </a:prstGeom>
            <a:noFill/>
          </p:spPr>
          <p:txBody>
            <a:bodyPr wrap="none" rtlCol="0">
              <a:spAutoFit/>
            </a:bodyPr>
            <a:lstStyle/>
            <a:p>
              <a:r>
                <a:rPr lang="en-US" altLang="zh-CN" sz="1400" dirty="0">
                  <a:solidFill>
                    <a:srgbClr val="FF0000"/>
                  </a:solidFill>
                </a:rPr>
                <a:t>9</a:t>
              </a:r>
            </a:p>
            <a:p>
              <a:endParaRPr lang="en-US" altLang="zh-CN" sz="1400" dirty="0">
                <a:solidFill>
                  <a:srgbClr val="FF0000"/>
                </a:solidFill>
              </a:endParaRPr>
            </a:p>
            <a:p>
              <a:r>
                <a:rPr lang="en-US" altLang="zh-CN" sz="1400" dirty="0">
                  <a:solidFill>
                    <a:srgbClr val="FF0000"/>
                  </a:solidFill>
                </a:rPr>
                <a:t>5</a:t>
              </a:r>
              <a:endParaRPr lang="zh-CN" altLang="en-US" sz="1400" dirty="0">
                <a:solidFill>
                  <a:srgbClr val="FF00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2364470"/>
              <a:ext cx="349776" cy="738664"/>
            </a:xfrm>
            <a:prstGeom prst="rect">
              <a:avLst/>
            </a:prstGeom>
            <a:noFill/>
          </p:spPr>
          <p:txBody>
            <a:bodyPr wrap="none" rtlCol="0">
              <a:spAutoFit/>
            </a:bodyPr>
            <a:lstStyle/>
            <a:p>
              <a:r>
                <a:rPr lang="en-US" altLang="zh-CN" sz="1400" dirty="0">
                  <a:solidFill>
                    <a:srgbClr val="FF0000"/>
                  </a:solidFill>
                </a:rPr>
                <a:t>15</a:t>
              </a:r>
            </a:p>
            <a:p>
              <a:endParaRPr lang="en-US" altLang="zh-CN" sz="1400" dirty="0">
                <a:solidFill>
                  <a:srgbClr val="FF0000"/>
                </a:solidFill>
              </a:endParaRPr>
            </a:p>
            <a:p>
              <a:r>
                <a:rPr lang="en-US" altLang="zh-CN" sz="1400" dirty="0">
                  <a:solidFill>
                    <a:srgbClr val="FF0000"/>
                  </a:solidFill>
                </a:rPr>
                <a:t>13</a:t>
              </a:r>
              <a:endParaRPr lang="zh-CN" altLang="en-US" sz="1400" dirty="0">
                <a:solidFill>
                  <a:srgbClr val="FF0000"/>
                </a:solidFill>
              </a:endParaRPr>
            </a:p>
          </p:txBody>
        </p:sp>
      </p:grpSp>
    </p:spTree>
    <p:extLst>
      <p:ext uri="{BB962C8B-B14F-4D97-AF65-F5344CB8AC3E}">
        <p14:creationId xmlns:p14="http://schemas.microsoft.com/office/powerpoint/2010/main" val="252544875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normAutofit/>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dirty="0"/>
              <a:t>根据总工期 </a:t>
            </a:r>
            <a:r>
              <a:rPr lang="en-US" altLang="zh-CN" dirty="0"/>
              <a:t>15</a:t>
            </a:r>
            <a:r>
              <a:rPr lang="zh-CN" altLang="en-US" dirty="0"/>
              <a:t>，反推各事件最晚开始时间</a:t>
            </a:r>
            <a:endParaRPr lang="en-US" altLang="zh-CN" dirty="0"/>
          </a:p>
          <a:p>
            <a:r>
              <a:rPr lang="zh-CN" altLang="en-US" dirty="0"/>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2</a:t>
                  </a:r>
                  <a:endParaRPr lang="zh-CN" altLang="en-US" sz="1400" dirty="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6</a:t>
                  </a:r>
                  <a:endParaRPr lang="zh-CN" altLang="en-US" sz="1400" dirty="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10</a:t>
                  </a:r>
                  <a:endParaRPr lang="zh-CN" altLang="en-US" sz="1400" dirty="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11</a:t>
                  </a:r>
                  <a:endParaRPr lang="zh-CN" altLang="en-US" sz="1400" dirty="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15</a:t>
                  </a:r>
                  <a:endParaRPr lang="zh-CN" altLang="en-US" sz="1400" dirty="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rgbClr val="FF0000"/>
                </a:solidFill>
              </a:rPr>
              <a:t>4</a:t>
            </a:r>
          </a:p>
          <a:p>
            <a:endParaRPr lang="en-US" altLang="zh-CN" sz="1400" dirty="0">
              <a:solidFill>
                <a:srgbClr val="FF0000"/>
              </a:solidFill>
            </a:endParaRPr>
          </a:p>
          <a:p>
            <a:r>
              <a:rPr lang="en-US" altLang="zh-CN" sz="1400" dirty="0">
                <a:solidFill>
                  <a:srgbClr val="FF0000"/>
                </a:solidFill>
              </a:rPr>
              <a:t>6</a:t>
            </a:r>
            <a:endParaRPr lang="zh-CN" altLang="en-US" sz="1400" dirty="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rgbClr val="FF0000"/>
                </a:solidFill>
              </a:rPr>
              <a:t>2</a:t>
            </a:r>
          </a:p>
          <a:p>
            <a:endParaRPr lang="en-US" altLang="zh-CN" sz="1400" dirty="0">
              <a:solidFill>
                <a:srgbClr val="FF0000"/>
              </a:solidFill>
            </a:endParaRPr>
          </a:p>
          <a:p>
            <a:r>
              <a:rPr lang="en-US" altLang="zh-CN" sz="1400" dirty="0">
                <a:solidFill>
                  <a:srgbClr val="FF0000"/>
                </a:solidFill>
              </a:rPr>
              <a:t>7</a:t>
            </a:r>
            <a:endParaRPr lang="zh-CN" altLang="en-US" sz="1400" dirty="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dirty="0"/>
              <a:t>6. </a:t>
            </a:r>
            <a:r>
              <a:rPr lang="zh-CN" altLang="en-US" dirty="0"/>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dirty="0"/>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normAutofit/>
          </a:bodyPr>
          <a:lstStyle/>
          <a:p>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dirty="0"/>
              <a:t>可能不止一条</a:t>
            </a:r>
            <a:endParaRPr lang="en-US" altLang="zh-CN" dirty="0"/>
          </a:p>
          <a:p>
            <a:r>
              <a:rPr lang="zh-CN" altLang="en-US" dirty="0"/>
              <a:t>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最晚开始时间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最晚完成时间 </a:t>
            </a:r>
            <a:r>
              <a:rPr lang="en-US" altLang="zh-CN" dirty="0"/>
              <a:t>LF - Latest Finish Time</a:t>
            </a:r>
            <a:endParaRPr lang="zh-CN" altLang="en-US" dirty="0"/>
          </a:p>
          <a:p>
            <a:r>
              <a:rPr lang="zh-CN" altLang="en-US" dirty="0"/>
              <a:t>浮动时间 </a:t>
            </a:r>
            <a:r>
              <a:rPr lang="en-US" altLang="zh-CN" dirty="0"/>
              <a:t>Total Float</a:t>
            </a:r>
          </a:p>
          <a:p>
            <a:pPr lvl="1"/>
            <a:r>
              <a:rPr lang="zh-CN" altLang="en-US" dirty="0"/>
              <a:t>总时差</a:t>
            </a:r>
            <a:endParaRPr lang="en-US" altLang="zh-CN" dirty="0"/>
          </a:p>
          <a:p>
            <a:pPr lvl="1"/>
            <a:r>
              <a:rPr lang="en-US" altLang="zh-CN" dirty="0"/>
              <a:t>LS – ES = LF - EF</a:t>
            </a:r>
            <a:endParaRPr lang="zh-CN" altLang="en-US" dirty="0"/>
          </a:p>
          <a:p>
            <a:pPr lvl="1"/>
            <a:r>
              <a:rPr lang="zh-CN" altLang="en-US" dirty="0"/>
              <a:t>关键路径上的任务总浮动时间为 </a:t>
            </a:r>
            <a:r>
              <a:rPr lang="en-US" altLang="zh-CN" dirty="0"/>
              <a:t>0</a:t>
            </a:r>
            <a:endParaRPr lang="zh-CN" altLang="en-US" dirty="0"/>
          </a:p>
          <a:p>
            <a:endParaRPr lang="zh-CN" altLang="en-US" dirty="0"/>
          </a:p>
          <a:p>
            <a:endParaRPr lang="zh-CN" altLang="en-US" dirty="0"/>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958660448"/>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dirty="0"/>
                        <a:t>ES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Duration</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Event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dirty="0"/>
                        <a:t>LS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Total float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LF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79298571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dirty="0"/>
                        <a:t>工作代号</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紧前工作</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计划工作历时</a:t>
                      </a:r>
                      <a:r>
                        <a:rPr lang="en-US" altLang="zh-CN" dirty="0"/>
                        <a:t>/</a:t>
                      </a:r>
                      <a:r>
                        <a:rPr lang="zh-CN" altLang="en-US" dirty="0"/>
                        <a:t>天</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t>A</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5</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852081910"/>
                  </a:ext>
                </a:extLst>
              </a:tr>
              <a:tr h="323550">
                <a:tc>
                  <a:txBody>
                    <a:bodyPr/>
                    <a:lstStyle/>
                    <a:p>
                      <a:pPr>
                        <a:buNone/>
                      </a:pPr>
                      <a:r>
                        <a:rPr lang="en-US" dirty="0"/>
                        <a:t>B</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2</a:t>
                      </a:r>
                    </a:p>
                  </a:txBody>
                  <a:tcPr anchor="ctr">
                    <a:lnL>
                      <a:noFill/>
                    </a:lnL>
                    <a:lnR>
                      <a:noFill/>
                    </a:lnR>
                    <a:lnT>
                      <a:noFill/>
                    </a:lnT>
                    <a:lnB>
                      <a:noFill/>
                    </a:lnB>
                    <a:noFill/>
                  </a:tcPr>
                </a:tc>
                <a:extLst>
                  <a:ext uri="{0D108BD9-81ED-4DB2-BD59-A6C34878D82A}">
                    <a16:rowId xmlns:a16="http://schemas.microsoft.com/office/drawing/2014/main" val="1043277927"/>
                  </a:ext>
                </a:extLst>
              </a:tr>
              <a:tr h="323550">
                <a:tc>
                  <a:txBody>
                    <a:bodyPr/>
                    <a:lstStyle/>
                    <a:p>
                      <a:pPr>
                        <a:buNone/>
                      </a:pPr>
                      <a:r>
                        <a:rPr lang="en-US"/>
                        <a:t>C</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8</a:t>
                      </a:r>
                    </a:p>
                  </a:txBody>
                  <a:tcPr anchor="ctr">
                    <a:lnL>
                      <a:noFill/>
                    </a:lnL>
                    <a:lnR>
                      <a:noFill/>
                    </a:lnR>
                    <a:lnT>
                      <a:noFill/>
                    </a:lnT>
                    <a:lnB>
                      <a:noFill/>
                    </a:lnB>
                    <a:noFill/>
                  </a:tcPr>
                </a:tc>
                <a:extLst>
                  <a:ext uri="{0D108BD9-81ED-4DB2-BD59-A6C34878D82A}">
                    <a16:rowId xmlns:a16="http://schemas.microsoft.com/office/drawing/2014/main" val="461868069"/>
                  </a:ext>
                </a:extLst>
              </a:tr>
              <a:tr h="323550">
                <a:tc>
                  <a:txBody>
                    <a:bodyPr/>
                    <a:lstStyle/>
                    <a:p>
                      <a:pPr>
                        <a:buNone/>
                      </a:pPr>
                      <a:r>
                        <a:rPr lang="en-US"/>
                        <a:t>D</a:t>
                      </a:r>
                    </a:p>
                  </a:txBody>
                  <a:tcPr anchor="ctr">
                    <a:lnL>
                      <a:noFill/>
                    </a:lnL>
                    <a:lnR>
                      <a:noFill/>
                    </a:lnR>
                    <a:lnT>
                      <a:noFill/>
                    </a:lnT>
                    <a:lnB>
                      <a:noFill/>
                    </a:lnB>
                    <a:noFill/>
                  </a:tcPr>
                </a:tc>
                <a:tc>
                  <a:txBody>
                    <a:bodyPr/>
                    <a:lstStyle/>
                    <a:p>
                      <a:pPr>
                        <a:buNone/>
                      </a:pPr>
                      <a:r>
                        <a:rPr lang="en-US" dirty="0"/>
                        <a:t>B, C</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153292863"/>
                  </a:ext>
                </a:extLst>
              </a:tr>
              <a:tr h="323550">
                <a:tc>
                  <a:txBody>
                    <a:bodyPr/>
                    <a:lstStyle/>
                    <a:p>
                      <a:pPr>
                        <a:buNone/>
                      </a:pPr>
                      <a:r>
                        <a:rPr lang="en-US"/>
                        <a:t>E</a:t>
                      </a:r>
                    </a:p>
                  </a:txBody>
                  <a:tcPr anchor="ctr">
                    <a:lnL>
                      <a:noFill/>
                    </a:lnL>
                    <a:lnR>
                      <a:noFill/>
                    </a:lnR>
                    <a:lnT>
                      <a:noFill/>
                    </a:lnT>
                    <a:lnB>
                      <a:noFill/>
                    </a:lnB>
                    <a:noFill/>
                  </a:tcPr>
                </a:tc>
                <a:tc>
                  <a:txBody>
                    <a:bodyPr/>
                    <a:lstStyle/>
                    <a:p>
                      <a:pPr>
                        <a:buNone/>
                      </a:pPr>
                      <a:r>
                        <a:rPr lang="en-US"/>
                        <a:t>C</a:t>
                      </a:r>
                    </a:p>
                  </a:txBody>
                  <a:tcPr anchor="ctr">
                    <a:lnL>
                      <a:noFill/>
                    </a:lnL>
                    <a:lnR>
                      <a:noFill/>
                    </a:lnR>
                    <a:lnT>
                      <a:noFill/>
                    </a:lnT>
                    <a:lnB>
                      <a:noFill/>
                    </a:lnB>
                    <a:noFill/>
                  </a:tcPr>
                </a:tc>
                <a:tc>
                  <a:txBody>
                    <a:bodyPr/>
                    <a:lstStyle/>
                    <a:p>
                      <a:pPr>
                        <a:buNone/>
                      </a:pPr>
                      <a:r>
                        <a:rPr lang="en-US" altLang="zh-CN"/>
                        <a:t>5</a:t>
                      </a:r>
                    </a:p>
                  </a:txBody>
                  <a:tcPr anchor="ctr">
                    <a:lnL>
                      <a:noFill/>
                    </a:lnL>
                    <a:lnR>
                      <a:noFill/>
                    </a:lnR>
                    <a:lnT>
                      <a:noFill/>
                    </a:lnT>
                    <a:lnB>
                      <a:noFill/>
                    </a:lnB>
                    <a:noFill/>
                  </a:tcPr>
                </a:tc>
                <a:extLst>
                  <a:ext uri="{0D108BD9-81ED-4DB2-BD59-A6C34878D82A}">
                    <a16:rowId xmlns:a16="http://schemas.microsoft.com/office/drawing/2014/main" val="1348767259"/>
                  </a:ext>
                </a:extLst>
              </a:tr>
              <a:tr h="323550">
                <a:tc>
                  <a:txBody>
                    <a:bodyPr/>
                    <a:lstStyle/>
                    <a:p>
                      <a:pPr>
                        <a:buNone/>
                      </a:pPr>
                      <a:r>
                        <a:rPr lang="en-US"/>
                        <a:t>F</a:t>
                      </a:r>
                    </a:p>
                  </a:txBody>
                  <a:tcPr anchor="ctr">
                    <a:lnL>
                      <a:noFill/>
                    </a:lnL>
                    <a:lnR>
                      <a:noFill/>
                    </a:lnR>
                    <a:lnT>
                      <a:noFill/>
                    </a:lnT>
                    <a:lnB>
                      <a:noFill/>
                    </a:lnB>
                    <a:noFill/>
                  </a:tcPr>
                </a:tc>
                <a:tc>
                  <a:txBody>
                    <a:bodyPr/>
                    <a:lstStyle/>
                    <a:p>
                      <a:pPr>
                        <a:buNone/>
                      </a:pPr>
                      <a:r>
                        <a:rPr lang="en-US"/>
                        <a:t>D</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2542228622"/>
                  </a:ext>
                </a:extLst>
              </a:tr>
              <a:tr h="323550">
                <a:tc>
                  <a:txBody>
                    <a:bodyPr/>
                    <a:lstStyle/>
                    <a:p>
                      <a:pPr>
                        <a:buNone/>
                      </a:pPr>
                      <a:r>
                        <a:rPr lang="en-US"/>
                        <a:t>G</a:t>
                      </a:r>
                    </a:p>
                  </a:txBody>
                  <a:tcPr anchor="ctr">
                    <a:lnL>
                      <a:noFill/>
                    </a:lnL>
                    <a:lnR>
                      <a:noFill/>
                    </a:lnR>
                    <a:lnT>
                      <a:noFill/>
                    </a:lnT>
                    <a:lnB>
                      <a:noFill/>
                    </a:lnB>
                    <a:noFill/>
                  </a:tcPr>
                </a:tc>
                <a:tc>
                  <a:txBody>
                    <a:bodyPr/>
                    <a:lstStyle/>
                    <a:p>
                      <a:pPr>
                        <a:buNone/>
                      </a:pPr>
                      <a:r>
                        <a:rPr lang="en-US"/>
                        <a:t>D, E</a:t>
                      </a:r>
                    </a:p>
                  </a:txBody>
                  <a:tcPr anchor="ctr">
                    <a:lnL>
                      <a:noFill/>
                    </a:lnL>
                    <a:lnR>
                      <a:noFill/>
                    </a:lnR>
                    <a:lnT>
                      <a:noFill/>
                    </a:lnT>
                    <a:lnB>
                      <a:noFill/>
                    </a:lnB>
                    <a:noFill/>
                  </a:tcPr>
                </a:tc>
                <a:tc>
                  <a:txBody>
                    <a:bodyPr/>
                    <a:lstStyle/>
                    <a:p>
                      <a:pPr>
                        <a:buNone/>
                      </a:pPr>
                      <a:r>
                        <a:rPr lang="en-US" altLang="zh-CN"/>
                        <a:t>11</a:t>
                      </a:r>
                    </a:p>
                  </a:txBody>
                  <a:tcPr anchor="ctr">
                    <a:lnL>
                      <a:noFill/>
                    </a:lnL>
                    <a:lnR>
                      <a:noFill/>
                    </a:lnR>
                    <a:lnT>
                      <a:noFill/>
                    </a:lnT>
                    <a:lnB>
                      <a:noFill/>
                    </a:lnB>
                    <a:noFill/>
                  </a:tcPr>
                </a:tc>
                <a:extLst>
                  <a:ext uri="{0D108BD9-81ED-4DB2-BD59-A6C34878D82A}">
                    <a16:rowId xmlns:a16="http://schemas.microsoft.com/office/drawing/2014/main" val="2525273505"/>
                  </a:ext>
                </a:extLst>
              </a:tr>
              <a:tr h="323550">
                <a:tc>
                  <a:txBody>
                    <a:bodyPr/>
                    <a:lstStyle/>
                    <a:p>
                      <a:pPr>
                        <a:buNone/>
                      </a:pPr>
                      <a:r>
                        <a:rPr lang="en-US"/>
                        <a:t>H</a:t>
                      </a:r>
                    </a:p>
                  </a:txBody>
                  <a:tcPr anchor="ctr">
                    <a:lnL>
                      <a:noFill/>
                    </a:lnL>
                    <a:lnR>
                      <a:noFill/>
                    </a:lnR>
                    <a:lnT>
                      <a:noFill/>
                    </a:lnT>
                    <a:lnB>
                      <a:noFill/>
                    </a:lnB>
                    <a:noFill/>
                  </a:tcPr>
                </a:tc>
                <a:tc>
                  <a:txBody>
                    <a:bodyPr/>
                    <a:lstStyle/>
                    <a:p>
                      <a:pPr>
                        <a:buNone/>
                      </a:pPr>
                      <a:r>
                        <a:rPr lang="en-US"/>
                        <a:t>F, G</a:t>
                      </a:r>
                    </a:p>
                  </a:txBody>
                  <a:tcPr anchor="ctr">
                    <a:lnL>
                      <a:noFill/>
                    </a:lnL>
                    <a:lnR>
                      <a:noFill/>
                    </a:lnR>
                    <a:lnT>
                      <a:noFill/>
                    </a:lnT>
                    <a:lnB>
                      <a:noFill/>
                    </a:lnB>
                    <a:noFill/>
                  </a:tcPr>
                </a:tc>
                <a:tc>
                  <a:txBody>
                    <a:bodyPr/>
                    <a:lstStyle/>
                    <a:p>
                      <a:pPr>
                        <a:buNone/>
                      </a:pPr>
                      <a:r>
                        <a:rPr lang="en-US" altLang="zh-CN" dirty="0"/>
                        <a:t>10</a:t>
                      </a:r>
                    </a:p>
                  </a:txBody>
                  <a:tcPr anchor="ctr">
                    <a:lnL>
                      <a:noFill/>
                    </a:lnL>
                    <a:lnR>
                      <a:noFill/>
                    </a:lnR>
                    <a:lnT>
                      <a:noFill/>
                    </a:lnT>
                    <a:lnB>
                      <a:noFill/>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27954796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dirty="0"/>
              <a:t>A</a:t>
            </a:r>
            <a:endParaRPr lang="zh-CN" altLang="en-US" dirty="0"/>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dirty="0"/>
              <a:t>B</a:t>
            </a:r>
            <a:endParaRPr lang="zh-CN" altLang="en-US" dirty="0"/>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dirty="0"/>
              <a:t>C</a:t>
            </a:r>
            <a:endParaRPr lang="zh-CN" altLang="en-US" dirty="0"/>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dirty="0"/>
              <a:t>5</a:t>
            </a:r>
            <a:endParaRPr lang="zh-CN" altLang="en-US" dirty="0"/>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dirty="0"/>
              <a:t>D</a:t>
            </a:r>
            <a:endParaRPr lang="zh-CN" altLang="en-US" dirty="0"/>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dirty="0"/>
              <a:t>2</a:t>
            </a:r>
            <a:endParaRPr lang="zh-CN" altLang="en-US" dirty="0"/>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dirty="0"/>
              <a:t>8</a:t>
            </a:r>
            <a:endParaRPr lang="zh-CN" altLang="en-US" dirty="0"/>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dirty="0"/>
              <a:t>E</a:t>
            </a:r>
            <a:endParaRPr lang="zh-CN" altLang="en-US" dirty="0"/>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dirty="0"/>
              <a:t>F</a:t>
            </a:r>
            <a:endParaRPr lang="zh-CN" altLang="en-US" dirty="0"/>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dirty="0"/>
              <a:t>10</a:t>
            </a:r>
            <a:endParaRPr lang="zh-CN" altLang="en-US" dirty="0"/>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dirty="0"/>
              <a:t>5</a:t>
            </a:r>
            <a:endParaRPr lang="zh-CN" altLang="en-US" dirty="0"/>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dirty="0"/>
              <a:t>G</a:t>
            </a:r>
            <a:endParaRPr lang="zh-CN" altLang="en-US" dirty="0"/>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dirty="0"/>
              <a:t>H</a:t>
            </a:r>
            <a:endParaRPr lang="zh-CN" altLang="en-US" dirty="0"/>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dirty="0"/>
              <a:t>10</a:t>
            </a:r>
            <a:endParaRPr lang="zh-CN" altLang="en-US" dirty="0"/>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dirty="0"/>
              <a:t>11</a:t>
            </a:r>
            <a:endParaRPr lang="zh-CN" altLang="en-US" dirty="0"/>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dirty="0"/>
              <a:t>10</a:t>
            </a:r>
            <a:endParaRPr lang="zh-CN" altLang="en-US" dirty="0"/>
          </a:p>
        </p:txBody>
      </p:sp>
    </p:spTree>
    <p:extLst>
      <p:ext uri="{BB962C8B-B14F-4D97-AF65-F5344CB8AC3E}">
        <p14:creationId xmlns:p14="http://schemas.microsoft.com/office/powerpoint/2010/main" val="275894016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dirty="0"/>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dirty="0"/>
              <a:t>资源平衡</a:t>
            </a:r>
            <a:endParaRPr lang="en-US" altLang="zh-CN" dirty="0"/>
          </a:p>
          <a:p>
            <a:pPr lvl="1"/>
            <a:r>
              <a:rPr lang="zh-CN" altLang="en-US" dirty="0"/>
              <a:t>改变关键路径，通常是延长</a:t>
            </a:r>
            <a:endParaRPr lang="en-US" altLang="zh-CN" dirty="0"/>
          </a:p>
          <a:p>
            <a:r>
              <a:rPr lang="zh-CN" altLang="en-US" dirty="0"/>
              <a:t>资源平滑</a:t>
            </a:r>
            <a:endParaRPr lang="en-US" altLang="zh-CN" dirty="0"/>
          </a:p>
          <a:p>
            <a:pPr lvl="1"/>
            <a:r>
              <a:rPr lang="zh-CN" altLang="en-US" dirty="0"/>
              <a:t>不会改变关键路径</a:t>
            </a:r>
            <a:endParaRPr lang="en-US" altLang="zh-CN" dirty="0"/>
          </a:p>
          <a:p>
            <a:pPr lvl="1"/>
            <a:r>
              <a:rPr lang="zh-CN" altLang="en-US" dirty="0"/>
              <a:t>无法实现所有资源优化</a:t>
            </a:r>
            <a:endParaRPr lang="en-US" altLang="zh-CN" dirty="0"/>
          </a:p>
          <a:p>
            <a:endParaRPr lang="zh-CN" altLang="en-US" dirty="0"/>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dirty="0"/>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dirty="0"/>
              <a:t>赶工 </a:t>
            </a:r>
            <a:r>
              <a:rPr lang="en-US" altLang="zh-CN" dirty="0"/>
              <a:t>Crashing</a:t>
            </a:r>
          </a:p>
          <a:p>
            <a:pPr lvl="1"/>
            <a:r>
              <a:rPr lang="zh-CN" altLang="en-US" dirty="0"/>
              <a:t>加班</a:t>
            </a:r>
            <a:endParaRPr lang="en-US" altLang="zh-CN" dirty="0"/>
          </a:p>
          <a:p>
            <a:r>
              <a:rPr lang="zh-CN" altLang="en-US" dirty="0"/>
              <a:t>快速跟进 </a:t>
            </a:r>
            <a:r>
              <a:rPr lang="en-US" altLang="zh-CN" dirty="0"/>
              <a:t>Fast Tracking</a:t>
            </a:r>
          </a:p>
          <a:p>
            <a:pPr lvl="1"/>
            <a:r>
              <a:rPr lang="zh-CN" altLang="en-US" dirty="0"/>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dirty="0"/>
              <a:t>7. </a:t>
            </a:r>
            <a:r>
              <a:rPr lang="zh-CN" altLang="en-US" dirty="0"/>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dirty="0"/>
              <a:t>39</a:t>
            </a:r>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EE7E85C-74CD-A4B5-BF70-217737C5115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4077578" y="3498981"/>
            <a:ext cx="7262228" cy="1440000"/>
          </a:xfrm>
        </p:spPr>
        <p:txBody>
          <a:bodyPr/>
          <a:lstStyle/>
          <a:p>
            <a:r>
              <a:rPr lang="zh-CN" altLang="en-US" dirty="0"/>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4077578" y="4938981"/>
            <a:ext cx="7262228" cy="900000"/>
          </a:xfrm>
        </p:spPr>
        <p:txBody>
          <a:bodyPr/>
          <a:lstStyle/>
          <a:p>
            <a:r>
              <a:rPr lang="en-US" altLang="zh-CN" dirty="0"/>
              <a:t>Section 6 Project Quality</a:t>
            </a:r>
            <a:endParaRPr lang="zh-CN" altLang="en-US" dirty="0"/>
          </a:p>
        </p:txBody>
      </p:sp>
      <p:sp>
        <p:nvSpPr>
          <p:cNvPr id="8" name="文本占位符 7">
            <a:extLst>
              <a:ext uri="{FF2B5EF4-FFF2-40B4-BE49-F238E27FC236}">
                <a16:creationId xmlns:a16="http://schemas.microsoft.com/office/drawing/2014/main" id="{7A5670C3-A74D-648E-93FA-A816B5AC4EB3}"/>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normAutofit/>
          </a:bodyPr>
          <a:lstStyle/>
          <a:p>
            <a:r>
              <a:rPr lang="zh-CN" altLang="en-US" dirty="0"/>
              <a:t>六大质量特性 </a:t>
            </a:r>
            <a:r>
              <a:rPr lang="en-US" altLang="zh-CN" dirty="0"/>
              <a:t>Quality Characteristics</a:t>
            </a:r>
            <a:endParaRPr lang="zh-CN" altLang="en-US" dirty="0"/>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dirty="0"/>
              <a:t>功能性 </a:t>
            </a:r>
            <a:r>
              <a:rPr lang="en-US" altLang="zh-CN" dirty="0"/>
              <a:t>Functionality</a:t>
            </a:r>
            <a:endParaRPr lang="zh-CN" altLang="en-US" dirty="0"/>
          </a:p>
          <a:p>
            <a:r>
              <a:rPr lang="zh-CN" altLang="en-US" dirty="0"/>
              <a:t>可靠性 </a:t>
            </a:r>
            <a:r>
              <a:rPr lang="en-US" altLang="zh-CN" dirty="0"/>
              <a:t>Reliability</a:t>
            </a:r>
            <a:endParaRPr lang="zh-CN" altLang="en-US" dirty="0"/>
          </a:p>
          <a:p>
            <a:r>
              <a:rPr lang="zh-CN" altLang="en-US" dirty="0"/>
              <a:t>易用性 </a:t>
            </a:r>
            <a:r>
              <a:rPr lang="en-US" altLang="zh-CN" dirty="0"/>
              <a:t>Usability</a:t>
            </a:r>
            <a:endParaRPr lang="zh-CN" altLang="en-US" dirty="0"/>
          </a:p>
          <a:p>
            <a:r>
              <a:rPr lang="zh-CN" altLang="en-US" dirty="0"/>
              <a:t>效率 </a:t>
            </a:r>
            <a:r>
              <a:rPr lang="en-US" altLang="zh-CN" dirty="0"/>
              <a:t>Efficiency</a:t>
            </a:r>
            <a:endParaRPr lang="zh-CN" altLang="en-US" dirty="0"/>
          </a:p>
          <a:p>
            <a:r>
              <a:rPr lang="zh-CN" altLang="en-US" dirty="0"/>
              <a:t>可维护性 </a:t>
            </a:r>
            <a:r>
              <a:rPr lang="en-US" altLang="zh-CN" dirty="0"/>
              <a:t>Maintainability</a:t>
            </a:r>
            <a:endParaRPr lang="zh-CN" altLang="en-US" dirty="0"/>
          </a:p>
          <a:p>
            <a:r>
              <a:rPr lang="zh-CN" altLang="en-US" dirty="0"/>
              <a:t>可移植性 </a:t>
            </a:r>
            <a:r>
              <a:rPr lang="en-US" altLang="zh-CN" dirty="0"/>
              <a:t>Portability</a:t>
            </a:r>
            <a:endParaRPr lang="zh-CN" altLang="en-US" dirty="0"/>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normAutofit/>
          </a:bodyPr>
          <a:lstStyle/>
          <a:p>
            <a:r>
              <a:rPr lang="zh-CN" altLang="en-US" dirty="0"/>
              <a:t>可靠性 </a:t>
            </a:r>
            <a:r>
              <a:rPr lang="en-US" altLang="zh-CN" dirty="0"/>
              <a:t>Reliability</a:t>
            </a:r>
            <a:endParaRPr lang="zh-CN" altLang="en-US" dirty="0"/>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689186405"/>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dirty="0"/>
                        <a:t>子特性</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dirty="0"/>
                        <a:t>成熟性 </a:t>
                      </a:r>
                      <a:r>
                        <a:rPr lang="en-US" dirty="0"/>
                        <a:t>Maturity</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软件避免由于错误而导致失效的能力。即软件运行稳定，不崩溃</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072620879"/>
                  </a:ext>
                </a:extLst>
              </a:tr>
              <a:tr h="0">
                <a:tc>
                  <a:txBody>
                    <a:bodyPr/>
                    <a:lstStyle/>
                    <a:p>
                      <a:pPr>
                        <a:buNone/>
                      </a:pPr>
                      <a:r>
                        <a:rPr lang="zh-CN" altLang="en-US" dirty="0"/>
                        <a:t>容错性 </a:t>
                      </a:r>
                      <a:r>
                        <a:rPr lang="en-US" dirty="0"/>
                        <a:t>Fault Tolerance</a:t>
                      </a:r>
                    </a:p>
                  </a:txBody>
                  <a:tcPr anchor="ctr">
                    <a:lnL>
                      <a:noFill/>
                    </a:lnL>
                    <a:lnR>
                      <a:noFill/>
                    </a:lnR>
                    <a:lnT>
                      <a:noFill/>
                    </a:lnT>
                    <a:lnB>
                      <a:noFill/>
                    </a:lnB>
                    <a:noFill/>
                  </a:tcPr>
                </a:tc>
                <a:tc>
                  <a:txBody>
                    <a:bodyPr/>
                    <a:lstStyle/>
                    <a:p>
                      <a:pPr>
                        <a:buNone/>
                      </a:pPr>
                      <a:r>
                        <a:rPr lang="zh-CN" altLang="en-US" dirty="0"/>
                        <a:t>软件在发生故障时，仍能保持功能或自动恢复的能力</a:t>
                      </a:r>
                    </a:p>
                  </a:txBody>
                  <a:tcPr anchor="ctr">
                    <a:lnL>
                      <a:noFill/>
                    </a:lnL>
                    <a:lnR>
                      <a:noFill/>
                    </a:lnR>
                    <a:lnT>
                      <a:noFill/>
                    </a:lnT>
                    <a:lnB>
                      <a:noFill/>
                    </a:lnB>
                    <a:noFill/>
                  </a:tcPr>
                </a:tc>
                <a:extLst>
                  <a:ext uri="{0D108BD9-81ED-4DB2-BD59-A6C34878D82A}">
                    <a16:rowId xmlns:a16="http://schemas.microsoft.com/office/drawing/2014/main" val="3110707642"/>
                  </a:ext>
                </a:extLst>
              </a:tr>
              <a:tr h="0">
                <a:tc>
                  <a:txBody>
                    <a:bodyPr/>
                    <a:lstStyle/>
                    <a:p>
                      <a:pPr>
                        <a:buNone/>
                      </a:pPr>
                      <a:r>
                        <a:rPr lang="en-US" dirty="0" err="1"/>
                        <a:t>易恢复性</a:t>
                      </a:r>
                      <a:r>
                        <a:rPr lang="en-US" dirty="0"/>
                        <a:t> Recoverability</a:t>
                      </a:r>
                    </a:p>
                  </a:txBody>
                  <a:tcPr anchor="ctr">
                    <a:lnL>
                      <a:noFill/>
                    </a:lnL>
                    <a:lnR>
                      <a:noFill/>
                    </a:lnR>
                    <a:lnT>
                      <a:noFill/>
                    </a:lnT>
                    <a:lnB>
                      <a:noFill/>
                    </a:lnB>
                    <a:noFill/>
                  </a:tcPr>
                </a:tc>
                <a:tc>
                  <a:txBody>
                    <a:bodyPr/>
                    <a:lstStyle/>
                    <a:p>
                      <a:pPr>
                        <a:buNone/>
                      </a:pPr>
                      <a:r>
                        <a:rPr lang="zh-CN" altLang="en-US" dirty="0"/>
                        <a:t>软件在发生故障后，能够快速恢复到正常状态的能力</a:t>
                      </a:r>
                    </a:p>
                  </a:txBody>
                  <a:tcPr anchor="ctr">
                    <a:lnL>
                      <a:noFill/>
                    </a:lnL>
                    <a:lnR>
                      <a:noFill/>
                    </a:lnR>
                    <a:lnT>
                      <a:noFill/>
                    </a:lnT>
                    <a:lnB>
                      <a:noFill/>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dirty="0"/>
              <a:t>在</a:t>
            </a:r>
            <a:r>
              <a:rPr lang="en-US" altLang="zh-CN" dirty="0"/>
              <a:t>ISO/IEC 9126</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normAutofit/>
          </a:bodyPr>
          <a:lstStyle/>
          <a:p>
            <a:r>
              <a:rPr lang="zh-CN" altLang="en-US" dirty="0"/>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3494637641"/>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dirty="0"/>
                        <a:t>核心过程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dirty="0"/>
                        <a:t>质量规划 </a:t>
                      </a:r>
                      <a:r>
                        <a:rPr lang="en-US" dirty="0"/>
                        <a:t>Quality Planning</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确定项目质量标准，制定如何满足这些标准的策略</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61995517"/>
                  </a:ext>
                </a:extLst>
              </a:tr>
              <a:tr h="0">
                <a:tc>
                  <a:txBody>
                    <a:bodyPr/>
                    <a:lstStyle/>
                    <a:p>
                      <a:pPr>
                        <a:buNone/>
                      </a:pPr>
                      <a:r>
                        <a:rPr lang="zh-CN" altLang="en-US" dirty="0"/>
                        <a:t>质量保证 </a:t>
                      </a:r>
                      <a:r>
                        <a:rPr lang="en-US" dirty="0"/>
                        <a:t>Quality Assurance, QA</a:t>
                      </a:r>
                    </a:p>
                  </a:txBody>
                  <a:tcPr anchor="ctr">
                    <a:lnL>
                      <a:noFill/>
                    </a:lnL>
                    <a:lnR>
                      <a:noFill/>
                    </a:lnR>
                    <a:lnT>
                      <a:noFill/>
                    </a:lnT>
                    <a:lnB>
                      <a:noFill/>
                    </a:lnB>
                    <a:noFill/>
                  </a:tcPr>
                </a:tc>
                <a:tc>
                  <a:txBody>
                    <a:bodyPr/>
                    <a:lstStyle/>
                    <a:p>
                      <a:pPr>
                        <a:buNone/>
                      </a:pPr>
                      <a:r>
                        <a:rPr lang="zh-CN" altLang="en-US"/>
                        <a:t>通过审计、流程改进等手段确保质量体系有效运行</a:t>
                      </a:r>
                    </a:p>
                  </a:txBody>
                  <a:tcPr anchor="ctr">
                    <a:lnL>
                      <a:noFill/>
                    </a:lnL>
                    <a:lnR>
                      <a:noFill/>
                    </a:lnR>
                    <a:lnT>
                      <a:noFill/>
                    </a:lnT>
                    <a:lnB>
                      <a:noFill/>
                    </a:lnB>
                    <a:noFill/>
                  </a:tcPr>
                </a:tc>
                <a:extLst>
                  <a:ext uri="{0D108BD9-81ED-4DB2-BD59-A6C34878D82A}">
                    <a16:rowId xmlns:a16="http://schemas.microsoft.com/office/drawing/2014/main" val="2620162338"/>
                  </a:ext>
                </a:extLst>
              </a:tr>
              <a:tr h="0">
                <a:tc>
                  <a:txBody>
                    <a:bodyPr/>
                    <a:lstStyle/>
                    <a:p>
                      <a:pPr>
                        <a:buNone/>
                      </a:pPr>
                      <a:r>
                        <a:rPr lang="zh-CN" altLang="en-US" dirty="0"/>
                        <a:t>质量控制 </a:t>
                      </a:r>
                      <a:r>
                        <a:rPr lang="en-US" dirty="0"/>
                        <a:t>Quality Control, QC</a:t>
                      </a:r>
                    </a:p>
                  </a:txBody>
                  <a:tcPr anchor="ctr">
                    <a:lnL>
                      <a:noFill/>
                    </a:lnL>
                    <a:lnR>
                      <a:noFill/>
                    </a:lnR>
                    <a:lnT>
                      <a:noFill/>
                    </a:lnT>
                    <a:lnB>
                      <a:noFill/>
                    </a:lnB>
                    <a:noFill/>
                  </a:tcPr>
                </a:tc>
                <a:tc>
                  <a:txBody>
                    <a:bodyPr/>
                    <a:lstStyle/>
                    <a:p>
                      <a:pPr>
                        <a:buNone/>
                      </a:pPr>
                      <a:r>
                        <a:rPr lang="zh-CN" altLang="en-US"/>
                        <a:t>监控具体成果是否符合质量标准，识别缺陷并纠正</a:t>
                      </a:r>
                    </a:p>
                  </a:txBody>
                  <a:tcPr anchor="ctr">
                    <a:lnL>
                      <a:noFill/>
                    </a:lnL>
                    <a:lnR>
                      <a:noFill/>
                    </a:lnR>
                    <a:lnT>
                      <a:noFill/>
                    </a:lnT>
                    <a:lnB>
                      <a:noFill/>
                    </a:lnB>
                    <a:noFill/>
                  </a:tcPr>
                </a:tc>
                <a:extLst>
                  <a:ext uri="{0D108BD9-81ED-4DB2-BD59-A6C34878D82A}">
                    <a16:rowId xmlns:a16="http://schemas.microsoft.com/office/drawing/2014/main" val="3528719874"/>
                  </a:ext>
                </a:extLst>
              </a:tr>
              <a:tr h="0">
                <a:tc>
                  <a:txBody>
                    <a:bodyPr/>
                    <a:lstStyle/>
                    <a:p>
                      <a:pPr>
                        <a:buNone/>
                      </a:pPr>
                      <a:r>
                        <a:rPr lang="zh-CN" altLang="en-US" dirty="0"/>
                        <a:t>质量改进 </a:t>
                      </a:r>
                      <a:r>
                        <a:rPr lang="en-US" dirty="0"/>
                        <a:t>Quality Improvement</a:t>
                      </a:r>
                    </a:p>
                  </a:txBody>
                  <a:tcPr anchor="ctr">
                    <a:lnL>
                      <a:noFill/>
                    </a:lnL>
                    <a:lnR>
                      <a:noFill/>
                    </a:lnR>
                    <a:lnT>
                      <a:noFill/>
                    </a:lnT>
                    <a:lnB>
                      <a:noFill/>
                    </a:lnB>
                    <a:noFill/>
                  </a:tcPr>
                </a:tc>
                <a:tc>
                  <a:txBody>
                    <a:bodyPr/>
                    <a:lstStyle/>
                    <a:p>
                      <a:pPr>
                        <a:buNone/>
                      </a:pPr>
                      <a:r>
                        <a:rPr lang="zh-CN" altLang="en-US" dirty="0"/>
                        <a:t>持续优化流程，提高效率和质量</a:t>
                      </a:r>
                    </a:p>
                  </a:txBody>
                  <a:tcPr anchor="ctr">
                    <a:lnL>
                      <a:noFill/>
                    </a:lnL>
                    <a:lnR>
                      <a:noFill/>
                    </a:lnR>
                    <a:lnT>
                      <a:noFill/>
                    </a:lnT>
                    <a:lnB>
                      <a:noFill/>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dirty="0"/>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dirty="0"/>
              <a:t>流</a:t>
            </a:r>
            <a:endParaRPr lang="en-US" altLang="zh-CN" dirty="0"/>
          </a:p>
          <a:p>
            <a:r>
              <a:rPr lang="zh-CN" altLang="en-US" dirty="0"/>
              <a:t>因果图</a:t>
            </a:r>
            <a:endParaRPr lang="en-US" altLang="zh-CN" dirty="0"/>
          </a:p>
          <a:p>
            <a:r>
              <a:rPr lang="zh-CN" altLang="en-US" dirty="0"/>
              <a:t>直方图 </a:t>
            </a:r>
            <a:r>
              <a:rPr lang="en-US" altLang="zh-CN" dirty="0"/>
              <a:t>Histogram</a:t>
            </a:r>
          </a:p>
          <a:p>
            <a:pPr lvl="1"/>
            <a:r>
              <a:rPr lang="zh-CN" altLang="en-US" dirty="0"/>
              <a:t>数据在不同数值区间内出现的频率或次数</a:t>
            </a:r>
            <a:endParaRPr lang="en-US" altLang="zh-CN" dirty="0"/>
          </a:p>
          <a:p>
            <a:r>
              <a:rPr lang="zh-CN" altLang="en-US" dirty="0"/>
              <a:t>散点图</a:t>
            </a:r>
            <a:endParaRPr lang="en-US" altLang="zh-CN" dirty="0"/>
          </a:p>
          <a:p>
            <a:r>
              <a:rPr lang="zh-CN" altLang="en-US" dirty="0"/>
              <a:t>帕累托定律 </a:t>
            </a:r>
            <a:r>
              <a:rPr lang="en-US" altLang="zh-CN" dirty="0"/>
              <a:t>Pareto Principle</a:t>
            </a:r>
          </a:p>
          <a:p>
            <a:pPr lvl="1"/>
            <a:r>
              <a:rPr lang="zh-CN" altLang="en-US" dirty="0"/>
              <a:t>又称 </a:t>
            </a:r>
            <a:r>
              <a:rPr lang="en-US" altLang="zh-CN" dirty="0"/>
              <a:t>80/20 </a:t>
            </a:r>
            <a:r>
              <a:rPr lang="zh-CN" altLang="en-US" dirty="0"/>
              <a:t>法则：大约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控制图</a:t>
            </a:r>
            <a:endParaRPr lang="en-US" altLang="zh-CN" dirty="0"/>
          </a:p>
          <a:p>
            <a:r>
              <a:rPr lang="zh-CN" altLang="en-US" dirty="0"/>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6B3A6406-DFBD-7E0D-C9E6-C327F94EBD5C}"/>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4077578" y="3498981"/>
            <a:ext cx="7262228" cy="1440000"/>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4077578" y="4938981"/>
            <a:ext cx="7262228" cy="900000"/>
          </a:xfrm>
        </p:spPr>
        <p:txBody>
          <a:bodyPr/>
          <a:lstStyle/>
          <a:p>
            <a:r>
              <a:rPr lang="en-US" altLang="zh-CN" dirty="0"/>
              <a:t>Section 7 Project Config</a:t>
            </a:r>
            <a:endParaRPr lang="zh-CN" altLang="en-US" dirty="0"/>
          </a:p>
        </p:txBody>
      </p:sp>
    </p:spTree>
    <p:extLst>
      <p:ext uri="{BB962C8B-B14F-4D97-AF65-F5344CB8AC3E}">
        <p14:creationId xmlns:p14="http://schemas.microsoft.com/office/powerpoint/2010/main" val="269321635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p:txBody>
          <a:bodyPr/>
          <a:lstStyle/>
          <a:p>
            <a:r>
              <a:rPr lang="zh-CN" altLang="en-US" dirty="0"/>
              <a:t>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1080000"/>
            <a:ext cx="10800000" cy="5112000"/>
          </a:xfrm>
        </p:spPr>
        <p:txBody>
          <a:bodyPr/>
          <a:lstStyle/>
          <a:p>
            <a:r>
              <a:rPr lang="en-US" altLang="zh-CN" dirty="0"/>
              <a:t>Configuration Management - CM</a:t>
            </a:r>
          </a:p>
          <a:p>
            <a:r>
              <a:rPr lang="zh-CN" altLang="en-US" dirty="0"/>
              <a:t>是项目管理、系统工程和软件工程中的一个关键过程</a:t>
            </a:r>
            <a:endParaRPr lang="en-US" altLang="zh-CN" dirty="0"/>
          </a:p>
          <a:p>
            <a:r>
              <a:rPr lang="zh-CN" altLang="en-US" dirty="0"/>
              <a:t>旨在系统化地识别、控制、记录和审计产品、服务或系统在其生命周期内的功能特性和物理特性，以确保其性能、功能和实体属性与需求、设计和操作信息保持一致</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p:txBody>
          <a:bodyPr/>
          <a:lstStyle/>
          <a:p>
            <a:r>
              <a:rPr lang="zh-CN" altLang="en-US" dirty="0"/>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p:txBody>
          <a:bodyPr/>
          <a:lstStyle/>
          <a:p>
            <a:r>
              <a:rPr lang="zh-CN" altLang="en-US" dirty="0"/>
              <a:t>制定配置管理计划</a:t>
            </a:r>
            <a:endParaRPr lang="en-US" altLang="zh-CN" dirty="0"/>
          </a:p>
          <a:p>
            <a:r>
              <a:rPr lang="zh-CN" altLang="en-US" dirty="0"/>
              <a:t>配置标识</a:t>
            </a:r>
            <a:endParaRPr lang="en-US" altLang="zh-CN" dirty="0"/>
          </a:p>
          <a:p>
            <a:r>
              <a:rPr lang="zh-CN" altLang="en-US" dirty="0"/>
              <a:t>配置控制</a:t>
            </a:r>
            <a:endParaRPr lang="en-US" altLang="zh-CN" dirty="0"/>
          </a:p>
          <a:p>
            <a:r>
              <a:rPr lang="zh-CN" altLang="en-US" dirty="0"/>
              <a:t>配置状态报告</a:t>
            </a:r>
            <a:endParaRPr lang="en-US" altLang="zh-CN" dirty="0"/>
          </a:p>
          <a:p>
            <a:r>
              <a:rPr lang="zh-CN" altLang="en-US" dirty="0"/>
              <a:t>配置审计</a:t>
            </a:r>
            <a:endParaRPr lang="en-US" altLang="zh-CN" dirty="0"/>
          </a:p>
          <a:p>
            <a:r>
              <a:rPr lang="zh-CN" altLang="en-US" dirty="0"/>
              <a:t>发布管理和交付</a:t>
            </a:r>
          </a:p>
        </p:txBody>
      </p:sp>
      <p:sp>
        <p:nvSpPr>
          <p:cNvPr id="4" name="文本占位符 3">
            <a:extLst>
              <a:ext uri="{FF2B5EF4-FFF2-40B4-BE49-F238E27FC236}">
                <a16:creationId xmlns:a16="http://schemas.microsoft.com/office/drawing/2014/main" id="{94810505-0417-82E5-3B0F-CFF53A7B60E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810062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p:txBody>
          <a:bodyPr/>
          <a:lstStyle/>
          <a:p>
            <a:r>
              <a:rPr lang="zh-CN" altLang="en-US" dirty="0"/>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1080000"/>
            <a:ext cx="10800000" cy="5112000"/>
          </a:xfrm>
        </p:spPr>
        <p:txBody>
          <a:bodyPr/>
          <a:lstStyle/>
          <a:p>
            <a:r>
              <a:rPr lang="zh-CN" altLang="en-US" dirty="0"/>
              <a:t>主版本号 </a:t>
            </a:r>
            <a:r>
              <a:rPr lang="en-US" altLang="zh-CN" dirty="0"/>
              <a:t>Major</a:t>
            </a:r>
            <a:r>
              <a:rPr lang="zh-CN" altLang="en-US" dirty="0"/>
              <a:t>：重大变更、架构调整、不兼容升级</a:t>
            </a:r>
          </a:p>
          <a:p>
            <a:r>
              <a:rPr lang="zh-CN" altLang="en-US" dirty="0"/>
              <a:t>次版本号 </a:t>
            </a:r>
            <a:r>
              <a:rPr lang="en-US" altLang="zh-CN" dirty="0"/>
              <a:t>Minor</a:t>
            </a:r>
            <a:r>
              <a:rPr lang="zh-CN" altLang="en-US" dirty="0"/>
              <a:t>：新增功能、小幅改进</a:t>
            </a:r>
          </a:p>
          <a:p>
            <a:r>
              <a:rPr lang="zh-CN" altLang="en-US" dirty="0"/>
              <a:t>修订号 </a:t>
            </a:r>
            <a:r>
              <a:rPr lang="en-US" altLang="zh-CN" dirty="0"/>
              <a:t>Patch</a:t>
            </a:r>
            <a:r>
              <a:rPr lang="zh-CN" altLang="en-US" dirty="0"/>
              <a:t>：</a:t>
            </a:r>
            <a:r>
              <a:rPr lang="en-US" altLang="zh-CN" dirty="0"/>
              <a:t>Bug</a:t>
            </a:r>
            <a:r>
              <a:rPr lang="zh-CN" altLang="en-US" dirty="0"/>
              <a:t>修复、小调整</a:t>
            </a:r>
            <a:endParaRPr lang="en-US" altLang="zh-CN" dirty="0"/>
          </a:p>
          <a:p>
            <a:endParaRPr lang="en-US" altLang="zh-CN" dirty="0"/>
          </a:p>
        </p:txBody>
      </p:sp>
      <p:sp>
        <p:nvSpPr>
          <p:cNvPr id="4" name="文本占位符 3">
            <a:extLst>
              <a:ext uri="{FF2B5EF4-FFF2-40B4-BE49-F238E27FC236}">
                <a16:creationId xmlns:a16="http://schemas.microsoft.com/office/drawing/2014/main" id="{6D85B44E-8E15-FDA7-E070-2DCFFCC2D44C}"/>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1419129082"/>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t>状态</a:t>
                      </a:r>
                    </a:p>
                  </a:txBody>
                  <a:tcPr anchor="ctr">
                    <a:lnL>
                      <a:noFill/>
                    </a:lnL>
                    <a:lnR>
                      <a:noFill/>
                    </a:lnR>
                    <a:lnT>
                      <a:noFill/>
                    </a:lnT>
                    <a:lnB>
                      <a:noFill/>
                    </a:lnB>
                    <a:noFill/>
                  </a:tcPr>
                </a:tc>
                <a:tc>
                  <a:txBody>
                    <a:bodyPr/>
                    <a:lstStyle/>
                    <a:p>
                      <a:pPr>
                        <a:buNone/>
                      </a:pPr>
                      <a:r>
                        <a:rPr lang="zh-CN" altLang="en-US"/>
                        <a:t>版本号格式</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1316052283"/>
                  </a:ext>
                </a:extLst>
              </a:tr>
              <a:tr h="0">
                <a:tc>
                  <a:txBody>
                    <a:bodyPr/>
                    <a:lstStyle/>
                    <a:p>
                      <a:pPr>
                        <a:buNone/>
                      </a:pPr>
                      <a:r>
                        <a:rPr lang="zh-CN" altLang="en-US" dirty="0"/>
                        <a:t>草稿 </a:t>
                      </a:r>
                      <a:r>
                        <a:rPr lang="en-US" dirty="0"/>
                        <a:t>Draft</a:t>
                      </a:r>
                    </a:p>
                  </a:txBody>
                  <a:tcPr anchor="ctr">
                    <a:lnL>
                      <a:noFill/>
                    </a:lnL>
                    <a:lnR>
                      <a:noFill/>
                    </a:lnR>
                    <a:lnT>
                      <a:noFill/>
                    </a:lnT>
                    <a:lnB>
                      <a:noFill/>
                    </a:lnB>
                    <a:noFill/>
                  </a:tcPr>
                </a:tc>
                <a:tc>
                  <a:txBody>
                    <a:bodyPr/>
                    <a:lstStyle/>
                    <a:p>
                      <a:pPr>
                        <a:buNone/>
                      </a:pPr>
                      <a:r>
                        <a:rPr lang="es-ES">
                          <a:latin typeface="Courier New" panose="02070309020205020404" pitchFamily="49" charset="0"/>
                        </a:rPr>
                        <a:t>0.Y</a:t>
                      </a:r>
                      <a:r>
                        <a:rPr lang="es-ES"/>
                        <a:t> 或 </a:t>
                      </a:r>
                      <a:r>
                        <a:rPr lang="es-ES">
                          <a:latin typeface="Courier New" panose="02070309020205020404" pitchFamily="49" charset="0"/>
                        </a:rPr>
                        <a:t>0.YZ</a:t>
                      </a:r>
                      <a:endParaRPr lang="es-ES"/>
                    </a:p>
                  </a:txBody>
                  <a:tcPr anchor="ctr">
                    <a:lnL>
                      <a:noFill/>
                    </a:lnL>
                    <a:lnR>
                      <a:noFill/>
                    </a:lnR>
                    <a:lnT>
                      <a:noFill/>
                    </a:lnT>
                    <a:lnB>
                      <a:noFill/>
                    </a:lnB>
                    <a:noFill/>
                  </a:tcPr>
                </a:tc>
                <a:tc>
                  <a:txBody>
                    <a:bodyPr/>
                    <a:lstStyle/>
                    <a:p>
                      <a:pPr>
                        <a:buNone/>
                      </a:pPr>
                      <a:r>
                        <a:rPr lang="zh-CN" altLang="en-US"/>
                        <a:t>初始编写阶段，尚未评审通过</a:t>
                      </a:r>
                    </a:p>
                  </a:txBody>
                  <a:tcPr anchor="ctr">
                    <a:lnL>
                      <a:noFill/>
                    </a:lnL>
                    <a:lnR>
                      <a:noFill/>
                    </a:lnR>
                    <a:lnT>
                      <a:noFill/>
                    </a:lnT>
                    <a:lnB>
                      <a:noFill/>
                    </a:lnB>
                    <a:noFill/>
                  </a:tcPr>
                </a:tc>
                <a:extLst>
                  <a:ext uri="{0D108BD9-81ED-4DB2-BD59-A6C34878D82A}">
                    <a16:rowId xmlns:a16="http://schemas.microsoft.com/office/drawing/2014/main" val="426911041"/>
                  </a:ext>
                </a:extLst>
              </a:tr>
              <a:tr h="0">
                <a:tc>
                  <a:txBody>
                    <a:bodyPr/>
                    <a:lstStyle/>
                    <a:p>
                      <a:pPr>
                        <a:buNone/>
                      </a:pPr>
                      <a:r>
                        <a:rPr lang="zh-CN" altLang="en-US" dirty="0"/>
                        <a:t>正式 </a:t>
                      </a:r>
                      <a:r>
                        <a:rPr lang="en-US" dirty="0"/>
                        <a:t>Formal</a:t>
                      </a:r>
                    </a:p>
                  </a:txBody>
                  <a:tcPr anchor="ctr">
                    <a:lnL>
                      <a:noFill/>
                    </a:lnL>
                    <a:lnR>
                      <a:noFill/>
                    </a:lnR>
                    <a:lnT>
                      <a:noFill/>
                    </a:lnT>
                    <a:lnB>
                      <a:noFill/>
                    </a:lnB>
                    <a:noFill/>
                  </a:tcPr>
                </a:tc>
                <a:tc>
                  <a:txBody>
                    <a:bodyPr/>
                    <a:lstStyle/>
                    <a:p>
                      <a:pPr>
                        <a:buNone/>
                      </a:pPr>
                      <a:r>
                        <a:rPr lang="fr-FR">
                          <a:latin typeface="Courier New" panose="02070309020205020404" pitchFamily="49" charset="0"/>
                        </a:rPr>
                        <a:t>1.X</a:t>
                      </a:r>
                      <a:r>
                        <a:rPr lang="fr-FR"/>
                        <a:t> 或 </a:t>
                      </a:r>
                      <a:r>
                        <a:rPr lang="fr-FR">
                          <a:latin typeface="Courier New" panose="02070309020205020404" pitchFamily="49" charset="0"/>
                        </a:rPr>
                        <a:t>X.Y</a:t>
                      </a:r>
                      <a:endParaRPr lang="fr-FR"/>
                    </a:p>
                  </a:txBody>
                  <a:tcPr anchor="ctr">
                    <a:lnL>
                      <a:noFill/>
                    </a:lnL>
                    <a:lnR>
                      <a:noFill/>
                    </a:lnR>
                    <a:lnT>
                      <a:noFill/>
                    </a:lnT>
                    <a:lnB>
                      <a:noFill/>
                    </a:lnB>
                    <a:noFill/>
                  </a:tcPr>
                </a:tc>
                <a:tc>
                  <a:txBody>
                    <a:bodyPr/>
                    <a:lstStyle/>
                    <a:p>
                      <a:pPr>
                        <a:buNone/>
                      </a:pPr>
                      <a:r>
                        <a:rPr lang="zh-CN" altLang="en-US"/>
                        <a:t>经过评审、批准后发布</a:t>
                      </a:r>
                    </a:p>
                  </a:txBody>
                  <a:tcPr anchor="ctr">
                    <a:lnL>
                      <a:noFill/>
                    </a:lnL>
                    <a:lnR>
                      <a:noFill/>
                    </a:lnR>
                    <a:lnT>
                      <a:noFill/>
                    </a:lnT>
                    <a:lnB>
                      <a:noFill/>
                    </a:lnB>
                    <a:noFill/>
                  </a:tcPr>
                </a:tc>
                <a:extLst>
                  <a:ext uri="{0D108BD9-81ED-4DB2-BD59-A6C34878D82A}">
                    <a16:rowId xmlns:a16="http://schemas.microsoft.com/office/drawing/2014/main" val="610376463"/>
                  </a:ext>
                </a:extLst>
              </a:tr>
              <a:tr h="0">
                <a:tc>
                  <a:txBody>
                    <a:bodyPr/>
                    <a:lstStyle/>
                    <a:p>
                      <a:pPr>
                        <a:buNone/>
                      </a:pPr>
                      <a:r>
                        <a:rPr lang="zh-CN" altLang="en-US" dirty="0"/>
                        <a:t>修改 </a:t>
                      </a:r>
                      <a:r>
                        <a:rPr lang="en-US" dirty="0"/>
                        <a:t>Modified</a:t>
                      </a:r>
                    </a:p>
                  </a:txBody>
                  <a:tcPr anchor="ctr">
                    <a:lnL>
                      <a:noFill/>
                    </a:lnL>
                    <a:lnR>
                      <a:noFill/>
                    </a:lnR>
                    <a:lnT>
                      <a:noFill/>
                    </a:lnT>
                    <a:lnB>
                      <a:noFill/>
                    </a:lnB>
                    <a:noFill/>
                  </a:tcPr>
                </a:tc>
                <a:tc>
                  <a:txBody>
                    <a:bodyPr/>
                    <a:lstStyle/>
                    <a:p>
                      <a:pPr>
                        <a:buNone/>
                      </a:pPr>
                      <a:r>
                        <a:rPr lang="zh-CN" altLang="en-US"/>
                        <a:t>在原基础上递增</a:t>
                      </a:r>
                    </a:p>
                  </a:txBody>
                  <a:tcPr anchor="ctr">
                    <a:lnL>
                      <a:noFill/>
                    </a:lnL>
                    <a:lnR>
                      <a:noFill/>
                    </a:lnR>
                    <a:lnT>
                      <a:noFill/>
                    </a:lnT>
                    <a:lnB>
                      <a:noFill/>
                    </a:lnB>
                    <a:noFill/>
                  </a:tcPr>
                </a:tc>
                <a:tc>
                  <a:txBody>
                    <a:bodyPr/>
                    <a:lstStyle/>
                    <a:p>
                      <a:pPr>
                        <a:buNone/>
                      </a:pPr>
                      <a:r>
                        <a:rPr lang="zh-CN" altLang="en-US" dirty="0"/>
                        <a:t>如从 </a:t>
                      </a:r>
                      <a:r>
                        <a:rPr lang="en-US" altLang="zh-CN" dirty="0"/>
                        <a:t>1.0 → 1.1</a:t>
                      </a:r>
                    </a:p>
                  </a:txBody>
                  <a:tcPr anchor="ctr">
                    <a:lnL>
                      <a:noFill/>
                    </a:lnL>
                    <a:lnR>
                      <a:noFill/>
                    </a:lnR>
                    <a:lnT>
                      <a:noFill/>
                    </a:lnT>
                    <a:lnB>
                      <a:noFill/>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7200000" cy="424732"/>
          </a:xfrm>
        </p:spPr>
        <p:txBody>
          <a:bodyPr>
            <a:normAutofit/>
          </a:bodyPr>
          <a:lstStyle/>
          <a:p>
            <a:r>
              <a:rPr lang="zh-CN" altLang="en-US" dirty="0"/>
              <a:t>配置库</a:t>
            </a:r>
          </a:p>
        </p:txBody>
      </p:sp>
      <p:sp>
        <p:nvSpPr>
          <p:cNvPr id="10" name="内容占位符 9">
            <a:extLst>
              <a:ext uri="{FF2B5EF4-FFF2-40B4-BE49-F238E27FC236}">
                <a16:creationId xmlns:a16="http://schemas.microsoft.com/office/drawing/2014/main" id="{3DCD1D8E-B27C-A1B7-7B1A-1D1374A13BA8}"/>
              </a:ext>
            </a:extLst>
          </p:cNvPr>
          <p:cNvSpPr>
            <a:spLocks noGrp="1"/>
          </p:cNvSpPr>
          <p:nvPr>
            <p:ph idx="1"/>
          </p:nvPr>
        </p:nvSpPr>
        <p:spPr/>
        <p:txBody>
          <a:bodyPr/>
          <a:lstStyle/>
          <a:p>
            <a:endParaRPr lang="zh-CN" altLang="en-US"/>
          </a:p>
        </p:txBody>
      </p:sp>
      <p:sp>
        <p:nvSpPr>
          <p:cNvPr id="11" name="文本占位符 10">
            <a:extLst>
              <a:ext uri="{FF2B5EF4-FFF2-40B4-BE49-F238E27FC236}">
                <a16:creationId xmlns:a16="http://schemas.microsoft.com/office/drawing/2014/main" id="{96A439B1-72D3-A74A-30B5-4C598C02D24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4201298460"/>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t>库类型</a:t>
                      </a:r>
                    </a:p>
                  </a:txBody>
                  <a:tcPr anchor="ctr">
                    <a:lnL>
                      <a:noFill/>
                    </a:lnL>
                    <a:lnR>
                      <a:noFill/>
                    </a:lnR>
                    <a:lnT>
                      <a:noFill/>
                    </a:lnT>
                    <a:lnB>
                      <a:noFill/>
                    </a:lnB>
                    <a:noFill/>
                  </a:tcPr>
                </a:tc>
                <a:tc>
                  <a:txBody>
                    <a:bodyPr/>
                    <a:lstStyle/>
                    <a:p>
                      <a:pPr>
                        <a:buNone/>
                      </a:pPr>
                      <a:r>
                        <a:rPr lang="zh-CN" altLang="en-US"/>
                        <a:t>用途</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2198119768"/>
                  </a:ext>
                </a:extLst>
              </a:tr>
              <a:tr h="0">
                <a:tc>
                  <a:txBody>
                    <a:bodyPr/>
                    <a:lstStyle/>
                    <a:p>
                      <a:pPr>
                        <a:buNone/>
                      </a:pPr>
                      <a:r>
                        <a:rPr lang="zh-CN" altLang="en-US"/>
                        <a:t>开发库（</a:t>
                      </a:r>
                      <a:r>
                        <a:rPr lang="en-US"/>
                        <a:t>Development Library）</a:t>
                      </a:r>
                    </a:p>
                  </a:txBody>
                  <a:tcPr anchor="ctr">
                    <a:lnL>
                      <a:noFill/>
                    </a:lnL>
                    <a:lnR>
                      <a:noFill/>
                    </a:lnR>
                    <a:lnT>
                      <a:noFill/>
                    </a:lnT>
                    <a:lnB>
                      <a:noFill/>
                    </a:lnB>
                    <a:noFill/>
                  </a:tcPr>
                </a:tc>
                <a:tc>
                  <a:txBody>
                    <a:bodyPr/>
                    <a:lstStyle/>
                    <a:p>
                      <a:pPr>
                        <a:buNone/>
                      </a:pPr>
                      <a:r>
                        <a:rPr lang="zh-CN" altLang="en-US"/>
                        <a:t>存放开发人员正在工作的文件</a:t>
                      </a:r>
                    </a:p>
                  </a:txBody>
                  <a:tcPr anchor="ctr">
                    <a:lnL>
                      <a:noFill/>
                    </a:lnL>
                    <a:lnR>
                      <a:noFill/>
                    </a:lnR>
                    <a:lnT>
                      <a:noFill/>
                    </a:lnT>
                    <a:lnB>
                      <a:noFill/>
                    </a:lnB>
                    <a:noFill/>
                  </a:tcPr>
                </a:tc>
                <a:tc>
                  <a:txBody>
                    <a:bodyPr/>
                    <a:lstStyle/>
                    <a:p>
                      <a:pPr>
                        <a:buNone/>
                      </a:pPr>
                      <a:r>
                        <a:rPr lang="en-US" altLang="zh-CN"/>
                        <a:t>- </a:t>
                      </a:r>
                      <a:r>
                        <a:rPr lang="zh-CN" altLang="en-US"/>
                        <a:t>个人或团队工作空间</a:t>
                      </a:r>
                      <a:br>
                        <a:rPr lang="zh-CN" altLang="en-US"/>
                      </a:br>
                      <a:r>
                        <a:rPr lang="en-US" altLang="zh-CN"/>
                        <a:t>- </a:t>
                      </a:r>
                      <a:r>
                        <a:rPr lang="zh-CN" altLang="en-US"/>
                        <a:t>无严格版本控制</a:t>
                      </a:r>
                      <a:br>
                        <a:rPr lang="zh-CN" altLang="en-US"/>
                      </a:br>
                      <a:r>
                        <a:rPr lang="en-US" altLang="zh-CN"/>
                        <a:t>- </a:t>
                      </a:r>
                      <a:r>
                        <a:rPr lang="zh-CN" altLang="en-US"/>
                        <a:t>可自由修改</a:t>
                      </a:r>
                    </a:p>
                  </a:txBody>
                  <a:tcPr anchor="ctr">
                    <a:lnL>
                      <a:noFill/>
                    </a:lnL>
                    <a:lnR>
                      <a:noFill/>
                    </a:lnR>
                    <a:lnT>
                      <a:noFill/>
                    </a:lnT>
                    <a:lnB>
                      <a:noFill/>
                    </a:lnB>
                    <a:noFill/>
                  </a:tcPr>
                </a:tc>
                <a:extLst>
                  <a:ext uri="{0D108BD9-81ED-4DB2-BD59-A6C34878D82A}">
                    <a16:rowId xmlns:a16="http://schemas.microsoft.com/office/drawing/2014/main" val="2574645017"/>
                  </a:ext>
                </a:extLst>
              </a:tr>
              <a:tr h="0">
                <a:tc>
                  <a:txBody>
                    <a:bodyPr/>
                    <a:lstStyle/>
                    <a:p>
                      <a:pPr>
                        <a:buNone/>
                      </a:pPr>
                      <a:r>
                        <a:rPr lang="zh-CN" altLang="en-US"/>
                        <a:t>受控库（</a:t>
                      </a:r>
                      <a:r>
                        <a:rPr lang="en-US"/>
                        <a:t>Controlled Library）</a:t>
                      </a:r>
                    </a:p>
                  </a:txBody>
                  <a:tcPr anchor="ctr">
                    <a:lnL>
                      <a:noFill/>
                    </a:lnL>
                    <a:lnR>
                      <a:noFill/>
                    </a:lnR>
                    <a:lnT>
                      <a:noFill/>
                    </a:lnT>
                    <a:lnB>
                      <a:noFill/>
                    </a:lnB>
                    <a:noFill/>
                  </a:tcPr>
                </a:tc>
                <a:tc>
                  <a:txBody>
                    <a:bodyPr/>
                    <a:lstStyle/>
                    <a:p>
                      <a:pPr>
                        <a:buNone/>
                      </a:pPr>
                      <a:r>
                        <a:rPr lang="zh-CN" altLang="en-US"/>
                        <a:t>存放已提交、需变更控制的配置项</a:t>
                      </a:r>
                    </a:p>
                  </a:txBody>
                  <a:tcPr anchor="ctr">
                    <a:lnL>
                      <a:noFill/>
                    </a:lnL>
                    <a:lnR>
                      <a:noFill/>
                    </a:lnR>
                    <a:lnT>
                      <a:noFill/>
                    </a:lnT>
                    <a:lnB>
                      <a:noFill/>
                    </a:lnB>
                    <a:noFill/>
                  </a:tcPr>
                </a:tc>
                <a:tc>
                  <a:txBody>
                    <a:bodyPr/>
                    <a:lstStyle/>
                    <a:p>
                      <a:pPr>
                        <a:buNone/>
                      </a:pPr>
                      <a:r>
                        <a:rPr lang="en-US" altLang="zh-CN"/>
                        <a:t>- </a:t>
                      </a:r>
                      <a:r>
                        <a:rPr lang="zh-CN" altLang="en-US"/>
                        <a:t>经审批后才能修改</a:t>
                      </a:r>
                      <a:br>
                        <a:rPr lang="zh-CN" altLang="en-US"/>
                      </a:br>
                      <a:r>
                        <a:rPr lang="en-US" altLang="zh-CN"/>
                        <a:t>- </a:t>
                      </a:r>
                      <a:r>
                        <a:rPr lang="zh-CN" altLang="en-US"/>
                        <a:t>用于集成、测试</a:t>
                      </a:r>
                      <a:br>
                        <a:rPr lang="zh-CN" altLang="en-US"/>
                      </a:br>
                      <a:r>
                        <a:rPr lang="en-US" altLang="zh-CN"/>
                        <a:t>- </a:t>
                      </a:r>
                      <a:r>
                        <a:rPr lang="zh-CN" altLang="en-US"/>
                        <a:t>实现版本控制</a:t>
                      </a:r>
                    </a:p>
                  </a:txBody>
                  <a:tcPr anchor="ctr">
                    <a:lnL>
                      <a:noFill/>
                    </a:lnL>
                    <a:lnR>
                      <a:noFill/>
                    </a:lnR>
                    <a:lnT>
                      <a:noFill/>
                    </a:lnT>
                    <a:lnB>
                      <a:noFill/>
                    </a:lnB>
                    <a:noFill/>
                  </a:tcPr>
                </a:tc>
                <a:extLst>
                  <a:ext uri="{0D108BD9-81ED-4DB2-BD59-A6C34878D82A}">
                    <a16:rowId xmlns:a16="http://schemas.microsoft.com/office/drawing/2014/main" val="2738728833"/>
                  </a:ext>
                </a:extLst>
              </a:tr>
              <a:tr h="0">
                <a:tc>
                  <a:txBody>
                    <a:bodyPr/>
                    <a:lstStyle/>
                    <a:p>
                      <a:pPr>
                        <a:buNone/>
                      </a:pPr>
                      <a:r>
                        <a:rPr lang="zh-CN" altLang="en-US"/>
                        <a:t>产品库（</a:t>
                      </a:r>
                      <a:r>
                        <a:rPr lang="en-US"/>
                        <a:t>Product Library）</a:t>
                      </a:r>
                    </a:p>
                  </a:txBody>
                  <a:tcPr anchor="ctr">
                    <a:lnL>
                      <a:noFill/>
                    </a:lnL>
                    <a:lnR>
                      <a:noFill/>
                    </a:lnR>
                    <a:lnT>
                      <a:noFill/>
                    </a:lnT>
                    <a:lnB>
                      <a:noFill/>
                    </a:lnB>
                    <a:noFill/>
                  </a:tcPr>
                </a:tc>
                <a:tc>
                  <a:txBody>
                    <a:bodyPr/>
                    <a:lstStyle/>
                    <a:p>
                      <a:pPr>
                        <a:buNone/>
                      </a:pPr>
                      <a:r>
                        <a:rPr lang="zh-CN" altLang="en-US"/>
                        <a:t>存放已发布、正式交付的产品版本</a:t>
                      </a:r>
                    </a:p>
                  </a:txBody>
                  <a:tcPr anchor="ctr">
                    <a:lnL>
                      <a:noFill/>
                    </a:lnL>
                    <a:lnR>
                      <a:noFill/>
                    </a:lnR>
                    <a:lnT>
                      <a:noFill/>
                    </a:lnT>
                    <a:lnB>
                      <a:noFill/>
                    </a:lnB>
                    <a:noFill/>
                  </a:tcPr>
                </a:tc>
                <a:tc>
                  <a:txBody>
                    <a:bodyPr/>
                    <a:lstStyle/>
                    <a:p>
                      <a:pPr>
                        <a:buNone/>
                      </a:pPr>
                      <a:r>
                        <a:rPr lang="en-US" altLang="zh-CN" dirty="0"/>
                        <a:t>- </a:t>
                      </a:r>
                      <a:r>
                        <a:rPr lang="zh-CN" altLang="en-US" dirty="0"/>
                        <a:t>最终版本</a:t>
                      </a:r>
                      <a:br>
                        <a:rPr lang="zh-CN" altLang="en-US" dirty="0"/>
                      </a:br>
                      <a:r>
                        <a:rPr lang="en-US" altLang="zh-CN" dirty="0"/>
                        <a:t>- </a:t>
                      </a:r>
                      <a:r>
                        <a:rPr lang="zh-CN" altLang="en-US" dirty="0"/>
                        <a:t>不可随意修改</a:t>
                      </a:r>
                      <a:br>
                        <a:rPr lang="zh-CN" altLang="en-US" dirty="0"/>
                      </a:br>
                      <a:r>
                        <a:rPr lang="en-US" altLang="zh-CN" dirty="0"/>
                        <a:t>- </a:t>
                      </a:r>
                      <a:r>
                        <a:rPr lang="zh-CN" altLang="en-US" dirty="0"/>
                        <a:t>供发布和交付使用</a:t>
                      </a:r>
                    </a:p>
                  </a:txBody>
                  <a:tcPr anchor="ctr">
                    <a:lnL>
                      <a:noFill/>
                    </a:lnL>
                    <a:lnR>
                      <a:noFill/>
                    </a:lnR>
                    <a:lnT>
                      <a:noFill/>
                    </a:lnT>
                    <a:lnB>
                      <a:noFill/>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7200000" cy="424732"/>
          </a:xfrm>
        </p:spPr>
        <p:txBody>
          <a:bodyPr>
            <a:normAutofit/>
          </a:bodyPr>
          <a:lstStyle/>
          <a:p>
            <a:r>
              <a:rPr lang="zh-CN" altLang="en-US" dirty="0"/>
              <a:t>发布管理和交付</a:t>
            </a:r>
          </a:p>
        </p:txBody>
      </p:sp>
      <p:sp>
        <p:nvSpPr>
          <p:cNvPr id="7" name="内容占位符 6">
            <a:extLst>
              <a:ext uri="{FF2B5EF4-FFF2-40B4-BE49-F238E27FC236}">
                <a16:creationId xmlns:a16="http://schemas.microsoft.com/office/drawing/2014/main" id="{D892140F-B850-4693-A64C-E54A18855B5E}"/>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0452B3B2-C907-0D96-A11E-32EBF2F96739}"/>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4285379649"/>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t>活动</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3254290677"/>
                  </a:ext>
                </a:extLst>
              </a:tr>
              <a:tr h="0">
                <a:tc>
                  <a:txBody>
                    <a:bodyPr/>
                    <a:lstStyle/>
                    <a:p>
                      <a:pPr>
                        <a:buNone/>
                      </a:pPr>
                      <a:r>
                        <a:rPr lang="zh-CN" altLang="en-US" dirty="0"/>
                        <a:t>打包 </a:t>
                      </a:r>
                      <a:r>
                        <a:rPr lang="en-US" dirty="0"/>
                        <a:t>Packaging</a:t>
                      </a:r>
                    </a:p>
                  </a:txBody>
                  <a:tcPr anchor="ctr">
                    <a:lnL>
                      <a:noFill/>
                    </a:lnL>
                    <a:lnR>
                      <a:noFill/>
                    </a:lnR>
                    <a:lnT>
                      <a:noFill/>
                    </a:lnT>
                    <a:lnB>
                      <a:noFill/>
                    </a:lnB>
                    <a:noFill/>
                  </a:tcPr>
                </a:tc>
                <a:tc>
                  <a:txBody>
                    <a:bodyPr/>
                    <a:lstStyle/>
                    <a:p>
                      <a:pPr>
                        <a:buNone/>
                      </a:pPr>
                      <a:r>
                        <a:rPr lang="zh-CN" altLang="en-US"/>
                        <a:t>将多个配置项（如代码、文档、配置文件）组合成一个可发布的单元（如安装包、镜像）</a:t>
                      </a:r>
                    </a:p>
                  </a:txBody>
                  <a:tcPr anchor="ctr">
                    <a:lnL>
                      <a:noFill/>
                    </a:lnL>
                    <a:lnR>
                      <a:noFill/>
                    </a:lnR>
                    <a:lnT>
                      <a:noFill/>
                    </a:lnT>
                    <a:lnB>
                      <a:noFill/>
                    </a:lnB>
                    <a:noFill/>
                  </a:tcPr>
                </a:tc>
                <a:extLst>
                  <a:ext uri="{0D108BD9-81ED-4DB2-BD59-A6C34878D82A}">
                    <a16:rowId xmlns:a16="http://schemas.microsoft.com/office/drawing/2014/main" val="2836428169"/>
                  </a:ext>
                </a:extLst>
              </a:tr>
              <a:tr h="0">
                <a:tc>
                  <a:txBody>
                    <a:bodyPr/>
                    <a:lstStyle/>
                    <a:p>
                      <a:pPr>
                        <a:buNone/>
                      </a:pPr>
                      <a:r>
                        <a:rPr lang="zh-CN" altLang="en-US" dirty="0"/>
                        <a:t>复制 </a:t>
                      </a:r>
                      <a:r>
                        <a:rPr lang="en-US" dirty="0"/>
                        <a:t>Replication</a:t>
                      </a:r>
                    </a:p>
                  </a:txBody>
                  <a:tcPr anchor="ctr">
                    <a:lnL>
                      <a:noFill/>
                    </a:lnL>
                    <a:lnR>
                      <a:noFill/>
                    </a:lnR>
                    <a:lnT>
                      <a:noFill/>
                    </a:lnT>
                    <a:lnB>
                      <a:noFill/>
                    </a:lnB>
                    <a:noFill/>
                  </a:tcPr>
                </a:tc>
                <a:tc>
                  <a:txBody>
                    <a:bodyPr/>
                    <a:lstStyle/>
                    <a:p>
                      <a:pPr>
                        <a:buNone/>
                      </a:pPr>
                      <a:r>
                        <a:rPr lang="zh-CN" altLang="en-US"/>
                        <a:t>将发布版本复制到目标环境（如测试、生产、客户）</a:t>
                      </a:r>
                    </a:p>
                  </a:txBody>
                  <a:tcPr anchor="ctr">
                    <a:lnL>
                      <a:noFill/>
                    </a:lnL>
                    <a:lnR>
                      <a:noFill/>
                    </a:lnR>
                    <a:lnT>
                      <a:noFill/>
                    </a:lnT>
                    <a:lnB>
                      <a:noFill/>
                    </a:lnB>
                    <a:noFill/>
                  </a:tcPr>
                </a:tc>
                <a:extLst>
                  <a:ext uri="{0D108BD9-81ED-4DB2-BD59-A6C34878D82A}">
                    <a16:rowId xmlns:a16="http://schemas.microsoft.com/office/drawing/2014/main" val="781879113"/>
                  </a:ext>
                </a:extLst>
              </a:tr>
              <a:tr h="0">
                <a:tc>
                  <a:txBody>
                    <a:bodyPr/>
                    <a:lstStyle/>
                    <a:p>
                      <a:pPr>
                        <a:buNone/>
                      </a:pPr>
                      <a:r>
                        <a:rPr lang="zh-CN" altLang="en-US" dirty="0"/>
                        <a:t>存储 </a:t>
                      </a:r>
                      <a:r>
                        <a:rPr lang="en-US" dirty="0"/>
                        <a:t>Storage</a:t>
                      </a:r>
                    </a:p>
                  </a:txBody>
                  <a:tcPr anchor="ctr">
                    <a:lnL>
                      <a:noFill/>
                    </a:lnL>
                    <a:lnR>
                      <a:noFill/>
                    </a:lnR>
                    <a:lnT>
                      <a:noFill/>
                    </a:lnT>
                    <a:lnB>
                      <a:noFill/>
                    </a:lnB>
                    <a:noFill/>
                  </a:tcPr>
                </a:tc>
                <a:tc>
                  <a:txBody>
                    <a:bodyPr/>
                    <a:lstStyle/>
                    <a:p>
                      <a:pPr>
                        <a:buNone/>
                      </a:pPr>
                      <a:r>
                        <a:rPr lang="zh-CN" altLang="en-US"/>
                        <a:t>将发布版本存放在产品库或发布服务器中，供后续使用或回滚</a:t>
                      </a:r>
                    </a:p>
                  </a:txBody>
                  <a:tcPr anchor="ctr">
                    <a:lnL>
                      <a:noFill/>
                    </a:lnL>
                    <a:lnR>
                      <a:noFill/>
                    </a:lnR>
                    <a:lnT>
                      <a:noFill/>
                    </a:lnT>
                    <a:lnB>
                      <a:noFill/>
                    </a:lnB>
                    <a:noFill/>
                  </a:tcPr>
                </a:tc>
                <a:extLst>
                  <a:ext uri="{0D108BD9-81ED-4DB2-BD59-A6C34878D82A}">
                    <a16:rowId xmlns:a16="http://schemas.microsoft.com/office/drawing/2014/main" val="3735302203"/>
                  </a:ext>
                </a:extLst>
              </a:tr>
              <a:tr h="0">
                <a:tc>
                  <a:txBody>
                    <a:bodyPr/>
                    <a:lstStyle/>
                    <a:p>
                      <a:pPr>
                        <a:buNone/>
                      </a:pPr>
                      <a:r>
                        <a:rPr lang="zh-CN" altLang="en-US" dirty="0"/>
                        <a:t>分发 </a:t>
                      </a:r>
                      <a:r>
                        <a:rPr lang="en-US" dirty="0"/>
                        <a:t>Distribution</a:t>
                      </a:r>
                    </a:p>
                  </a:txBody>
                  <a:tcPr anchor="ctr">
                    <a:lnL>
                      <a:noFill/>
                    </a:lnL>
                    <a:lnR>
                      <a:noFill/>
                    </a:lnR>
                    <a:lnT>
                      <a:noFill/>
                    </a:lnT>
                    <a:lnB>
                      <a:noFill/>
                    </a:lnB>
                    <a:noFill/>
                  </a:tcPr>
                </a:tc>
                <a:tc>
                  <a:txBody>
                    <a:bodyPr/>
                    <a:lstStyle/>
                    <a:p>
                      <a:pPr>
                        <a:buNone/>
                      </a:pPr>
                      <a:r>
                        <a:rPr lang="zh-CN" altLang="en-US"/>
                        <a:t>向用户或运维团队提供发布包</a:t>
                      </a:r>
                    </a:p>
                  </a:txBody>
                  <a:tcPr anchor="ctr">
                    <a:lnL>
                      <a:noFill/>
                    </a:lnL>
                    <a:lnR>
                      <a:noFill/>
                    </a:lnR>
                    <a:lnT>
                      <a:noFill/>
                    </a:lnT>
                    <a:lnB>
                      <a:noFill/>
                    </a:lnB>
                    <a:noFill/>
                  </a:tcPr>
                </a:tc>
                <a:extLst>
                  <a:ext uri="{0D108BD9-81ED-4DB2-BD59-A6C34878D82A}">
                    <a16:rowId xmlns:a16="http://schemas.microsoft.com/office/drawing/2014/main" val="360829072"/>
                  </a:ext>
                </a:extLst>
              </a:tr>
              <a:tr h="0">
                <a:tc>
                  <a:txBody>
                    <a:bodyPr/>
                    <a:lstStyle/>
                    <a:p>
                      <a:pPr>
                        <a:buNone/>
                      </a:pPr>
                      <a:r>
                        <a:rPr lang="zh-CN" altLang="en-US" dirty="0"/>
                        <a:t>部署 </a:t>
                      </a:r>
                      <a:r>
                        <a:rPr lang="en-US" dirty="0"/>
                        <a:t>Deployment</a:t>
                      </a:r>
                    </a:p>
                  </a:txBody>
                  <a:tcPr anchor="ctr">
                    <a:lnL>
                      <a:noFill/>
                    </a:lnL>
                    <a:lnR>
                      <a:noFill/>
                    </a:lnR>
                    <a:lnT>
                      <a:noFill/>
                    </a:lnT>
                    <a:lnB>
                      <a:noFill/>
                    </a:lnB>
                    <a:noFill/>
                  </a:tcPr>
                </a:tc>
                <a:tc>
                  <a:txBody>
                    <a:bodyPr/>
                    <a:lstStyle/>
                    <a:p>
                      <a:pPr>
                        <a:buNone/>
                      </a:pPr>
                      <a:r>
                        <a:rPr lang="zh-CN" altLang="en-US" dirty="0"/>
                        <a:t>在目标环境中安装和运行发布包</a:t>
                      </a:r>
                    </a:p>
                  </a:txBody>
                  <a:tcPr anchor="ctr">
                    <a:lnL>
                      <a:noFill/>
                    </a:lnL>
                    <a:lnR>
                      <a:noFill/>
                    </a:lnR>
                    <a:lnT>
                      <a:noFill/>
                    </a:lnT>
                    <a:lnB>
                      <a:noFill/>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A433D9DE-825E-3B68-2E0B-ACEEA249B341}"/>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4077578" y="3498981"/>
            <a:ext cx="7262228" cy="1440000"/>
          </a:xfrm>
        </p:spPr>
        <p:txBody>
          <a:bodyPr/>
          <a:lstStyle/>
          <a:p>
            <a:r>
              <a:rPr lang="zh-CN" altLang="en-US" dirty="0"/>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4077578" y="4938981"/>
            <a:ext cx="7262228" cy="900000"/>
          </a:xfrm>
        </p:spPr>
        <p:txBody>
          <a:bodyPr/>
          <a:lstStyle/>
          <a:p>
            <a:r>
              <a:rPr lang="en-US" altLang="zh-CN" dirty="0"/>
              <a:t>Section 8 Project Team</a:t>
            </a:r>
            <a:endParaRPr lang="zh-CN" altLang="en-US" dirty="0"/>
          </a:p>
        </p:txBody>
      </p:sp>
    </p:spTree>
    <p:extLst>
      <p:ext uri="{BB962C8B-B14F-4D97-AF65-F5344CB8AC3E}">
        <p14:creationId xmlns:p14="http://schemas.microsoft.com/office/powerpoint/2010/main" val="165780828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6000" y="360000"/>
            <a:ext cx="10800000" cy="424732"/>
          </a:xfrm>
        </p:spPr>
        <p:txBody>
          <a:bodyPr>
            <a:normAutofit/>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5325" y="1079500"/>
            <a:ext cx="10801350" cy="511175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597332294"/>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4294107049"/>
                  </a:ext>
                </a:extLst>
              </a:tr>
              <a:tr h="0">
                <a:tc>
                  <a:txBody>
                    <a:bodyPr/>
                    <a:lstStyle/>
                    <a:p>
                      <a:pPr>
                        <a:buNone/>
                      </a:pPr>
                      <a:r>
                        <a:rPr lang="en-US" dirty="0"/>
                        <a:t>Forming</a:t>
                      </a:r>
                    </a:p>
                  </a:txBody>
                  <a:tcPr anchor="ctr">
                    <a:lnL>
                      <a:noFill/>
                    </a:lnL>
                    <a:lnR>
                      <a:noFill/>
                    </a:lnR>
                    <a:lnT>
                      <a:noFill/>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形成期</a:t>
                      </a:r>
                    </a:p>
                  </a:txBody>
                  <a:tcPr anchor="ctr">
                    <a:lnL>
                      <a:noFill/>
                    </a:lnL>
                    <a:lnR>
                      <a:noFill/>
                    </a:lnR>
                    <a:lnT>
                      <a:noFill/>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dirty="0"/>
                        <a:t>Storming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震荡期或磨合期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dirty="0"/>
                        <a:t>Norming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规范期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dirty="0"/>
                        <a:t>Performing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表现期 </a:t>
                      </a:r>
                      <a:r>
                        <a:rPr lang="en-US" altLang="zh-CN" dirty="0"/>
                        <a:t>/ </a:t>
                      </a:r>
                      <a:r>
                        <a:rPr lang="zh-CN" altLang="en-US" dirty="0"/>
                        <a:t>执行期 </a:t>
                      </a:r>
                      <a:r>
                        <a:rPr lang="en-US" altLang="zh-CN" dirty="0"/>
                        <a:t>/ </a:t>
                      </a:r>
                      <a:r>
                        <a:rPr lang="zh-CN" altLang="en-US" dirty="0"/>
                        <a:t>高绩效期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dirty="0"/>
                        <a:t>Adjourning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结束期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7200000" cy="424732"/>
          </a:xfrm>
        </p:spPr>
        <p:txBody>
          <a:bodyPr>
            <a:normAutofit/>
          </a:bodyPr>
          <a:lstStyle/>
          <a:p>
            <a:r>
              <a:rPr lang="zh-CN" altLang="en-US" dirty="0"/>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1080000"/>
            <a:ext cx="10800000" cy="5112000"/>
          </a:xfrm>
        </p:spPr>
        <p:txBody>
          <a:bodyPr/>
          <a:lstStyle/>
          <a:p>
            <a:r>
              <a:rPr lang="zh-CN" altLang="en-US" dirty="0"/>
              <a:t>编制</a:t>
            </a:r>
            <a:endParaRPr lang="en-US" altLang="zh-CN" dirty="0"/>
          </a:p>
          <a:p>
            <a:r>
              <a:rPr lang="zh-CN" altLang="en-US" dirty="0"/>
              <a:t>组建</a:t>
            </a:r>
            <a:endParaRPr lang="en-US" altLang="zh-CN" dirty="0"/>
          </a:p>
          <a:p>
            <a:r>
              <a:rPr lang="zh-CN" altLang="en-US" dirty="0"/>
              <a:t>建设</a:t>
            </a:r>
            <a:endParaRPr lang="en-US" altLang="zh-CN" dirty="0"/>
          </a:p>
          <a:p>
            <a:r>
              <a:rPr lang="zh-CN" altLang="en-US" dirty="0"/>
              <a:t>管理</a:t>
            </a:r>
          </a:p>
        </p:txBody>
      </p:sp>
      <p:sp>
        <p:nvSpPr>
          <p:cNvPr id="7" name="文本占位符 6">
            <a:extLst>
              <a:ext uri="{FF2B5EF4-FFF2-40B4-BE49-F238E27FC236}">
                <a16:creationId xmlns:a16="http://schemas.microsoft.com/office/drawing/2014/main" id="{E4D80183-5D5C-9F96-1EAD-FA430280F9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7200000" cy="424732"/>
          </a:xfrm>
        </p:spPr>
        <p:txBody>
          <a:bodyPr>
            <a:normAutofit/>
          </a:bodyPr>
          <a:lstStyle/>
          <a:p>
            <a:r>
              <a:rPr lang="zh-CN" altLang="en-US" dirty="0"/>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1690111738"/>
              </p:ext>
            </p:extLst>
          </p:nvPr>
        </p:nvGraphicFramePr>
        <p:xfrm>
          <a:off x="695325" y="10795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dirty="0">
                          <a:latin typeface="Montserrat" panose="00000500000000000000" pitchFamily="2" charset="0"/>
                          <a:ea typeface="微软雅黑 Light" panose="020B0502040204020203" pitchFamily="34" charset="-122"/>
                        </a:rPr>
                        <a:t>人员</a:t>
                      </a: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需求定义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张三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李四</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王五</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赵六</a:t>
                      </a:r>
                    </a:p>
                  </a:txBody>
                  <a:tcPr anchor="ctr"/>
                </a:tc>
                <a:extLst>
                  <a:ext uri="{0D108BD9-81ED-4DB2-BD59-A6C34878D82A}">
                    <a16:rowId xmlns:a16="http://schemas.microsoft.com/office/drawing/2014/main" val="3178040689"/>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系统设计</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787288823"/>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系统开发</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58659324"/>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测试</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086058177"/>
                  </a:ext>
                </a:extLst>
              </a:tr>
            </a:tbl>
          </a:graphicData>
        </a:graphic>
      </p:graphicFrame>
      <p:sp>
        <p:nvSpPr>
          <p:cNvPr id="8" name="文本占位符 7">
            <a:extLst>
              <a:ext uri="{FF2B5EF4-FFF2-40B4-BE49-F238E27FC236}">
                <a16:creationId xmlns:a16="http://schemas.microsoft.com/office/drawing/2014/main" id="{0ECC5807-08BD-2855-4C2B-1ECB4E862F2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7200000" cy="424732"/>
          </a:xfrm>
        </p:spPr>
        <p:txBody>
          <a:bodyPr>
            <a:normAutofit/>
          </a:bodyPr>
          <a:lstStyle/>
          <a:p>
            <a:r>
              <a:rPr lang="zh-CN" altLang="en-US" dirty="0"/>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448555077"/>
              </p:ext>
            </p:extLst>
          </p:nvPr>
        </p:nvGraphicFramePr>
        <p:xfrm>
          <a:off x="695325" y="10795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dirty="0"/>
                        <a:t>技术</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dirty="0"/>
                        <a:t>回避</a:t>
                      </a:r>
                      <a:r>
                        <a:rPr lang="en-US" altLang="zh-CN" dirty="0"/>
                        <a:t>/</a:t>
                      </a:r>
                      <a:r>
                        <a:rPr lang="zh-CN" altLang="en-US" dirty="0"/>
                        <a:t>撤退 </a:t>
                      </a:r>
                      <a:r>
                        <a:rPr lang="en-US" dirty="0"/>
                        <a:t>Avoiding/Withdrawal</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回避问题，不处理</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临时回避，或问题不重要时</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523555536"/>
                  </a:ext>
                </a:extLst>
              </a:tr>
              <a:tr h="0">
                <a:tc>
                  <a:txBody>
                    <a:bodyPr/>
                    <a:lstStyle/>
                    <a:p>
                      <a:pPr>
                        <a:buNone/>
                      </a:pPr>
                      <a:r>
                        <a:rPr lang="zh-CN" altLang="en-US" dirty="0"/>
                        <a:t>安抚</a:t>
                      </a:r>
                      <a:r>
                        <a:rPr lang="en-US" altLang="zh-CN" dirty="0"/>
                        <a:t>/</a:t>
                      </a:r>
                      <a:r>
                        <a:rPr lang="zh-CN" altLang="en-US" dirty="0"/>
                        <a:t>迁就 </a:t>
                      </a:r>
                      <a:r>
                        <a:rPr lang="en-US" dirty="0"/>
                        <a:t>Accommodating</a:t>
                      </a:r>
                    </a:p>
                  </a:txBody>
                  <a:tcPr anchor="ctr">
                    <a:lnL>
                      <a:noFill/>
                    </a:lnL>
                    <a:lnR>
                      <a:noFill/>
                    </a:lnR>
                    <a:lnT>
                      <a:noFill/>
                    </a:lnT>
                    <a:lnB>
                      <a:noFill/>
                    </a:lnB>
                    <a:noFill/>
                  </a:tcPr>
                </a:tc>
                <a:tc>
                  <a:txBody>
                    <a:bodyPr/>
                    <a:lstStyle/>
                    <a:p>
                      <a:pPr>
                        <a:buNone/>
                      </a:pPr>
                      <a:r>
                        <a:rPr lang="zh-CN" altLang="en-US"/>
                        <a:t>优先考虑他人需求，牺牲自己</a:t>
                      </a:r>
                    </a:p>
                  </a:txBody>
                  <a:tcPr anchor="ctr">
                    <a:lnL>
                      <a:noFill/>
                    </a:lnL>
                    <a:lnR>
                      <a:noFill/>
                    </a:lnR>
                    <a:lnT>
                      <a:noFill/>
                    </a:lnT>
                    <a:lnB>
                      <a:noFill/>
                    </a:lnB>
                    <a:noFill/>
                  </a:tcPr>
                </a:tc>
                <a:tc>
                  <a:txBody>
                    <a:bodyPr/>
                    <a:lstStyle/>
                    <a:p>
                      <a:pPr>
                        <a:buNone/>
                      </a:pPr>
                      <a:r>
                        <a:rPr lang="zh-CN" altLang="en-US"/>
                        <a:t>维护关系，暂时让步</a:t>
                      </a:r>
                    </a:p>
                  </a:txBody>
                  <a:tcPr anchor="ctr">
                    <a:lnL>
                      <a:noFill/>
                    </a:lnL>
                    <a:lnR>
                      <a:noFill/>
                    </a:lnR>
                    <a:lnT>
                      <a:noFill/>
                    </a:lnT>
                    <a:lnB>
                      <a:noFill/>
                    </a:lnB>
                    <a:noFill/>
                  </a:tcPr>
                </a:tc>
                <a:extLst>
                  <a:ext uri="{0D108BD9-81ED-4DB2-BD59-A6C34878D82A}">
                    <a16:rowId xmlns:a16="http://schemas.microsoft.com/office/drawing/2014/main" val="410821334"/>
                  </a:ext>
                </a:extLst>
              </a:tr>
              <a:tr h="0">
                <a:tc>
                  <a:txBody>
                    <a:bodyPr/>
                    <a:lstStyle/>
                    <a:p>
                      <a:pPr>
                        <a:buNone/>
                      </a:pPr>
                      <a:r>
                        <a:rPr lang="zh-CN" altLang="en-US" dirty="0"/>
                        <a:t>妥协 </a:t>
                      </a:r>
                      <a:r>
                        <a:rPr lang="en-US" dirty="0"/>
                        <a:t>Compromising</a:t>
                      </a:r>
                    </a:p>
                  </a:txBody>
                  <a:tcPr anchor="ctr">
                    <a:lnL>
                      <a:noFill/>
                    </a:lnL>
                    <a:lnR>
                      <a:noFill/>
                    </a:lnR>
                    <a:lnT>
                      <a:noFill/>
                    </a:lnT>
                    <a:lnB>
                      <a:noFill/>
                    </a:lnB>
                    <a:noFill/>
                  </a:tcPr>
                </a:tc>
                <a:tc>
                  <a:txBody>
                    <a:bodyPr/>
                    <a:lstStyle/>
                    <a:p>
                      <a:pPr>
                        <a:buNone/>
                      </a:pPr>
                      <a:r>
                        <a:rPr lang="zh-CN" altLang="en-US"/>
                        <a:t>双方各让一步，达成折中</a:t>
                      </a:r>
                    </a:p>
                  </a:txBody>
                  <a:tcPr anchor="ctr">
                    <a:lnL>
                      <a:noFill/>
                    </a:lnL>
                    <a:lnR>
                      <a:noFill/>
                    </a:lnR>
                    <a:lnT>
                      <a:noFill/>
                    </a:lnT>
                    <a:lnB>
                      <a:noFill/>
                    </a:lnB>
                    <a:noFill/>
                  </a:tcPr>
                </a:tc>
                <a:tc>
                  <a:txBody>
                    <a:bodyPr/>
                    <a:lstStyle/>
                    <a:p>
                      <a:pPr>
                        <a:buNone/>
                      </a:pPr>
                      <a:r>
                        <a:rPr lang="zh-CN" altLang="en-US"/>
                        <a:t>时间紧迫，双方都有利害</a:t>
                      </a:r>
                    </a:p>
                  </a:txBody>
                  <a:tcPr anchor="ctr">
                    <a:lnL>
                      <a:noFill/>
                    </a:lnL>
                    <a:lnR>
                      <a:noFill/>
                    </a:lnR>
                    <a:lnT>
                      <a:noFill/>
                    </a:lnT>
                    <a:lnB>
                      <a:noFill/>
                    </a:lnB>
                    <a:noFill/>
                  </a:tcPr>
                </a:tc>
                <a:extLst>
                  <a:ext uri="{0D108BD9-81ED-4DB2-BD59-A6C34878D82A}">
                    <a16:rowId xmlns:a16="http://schemas.microsoft.com/office/drawing/2014/main" val="1933499686"/>
                  </a:ext>
                </a:extLst>
              </a:tr>
              <a:tr h="0">
                <a:tc>
                  <a:txBody>
                    <a:bodyPr/>
                    <a:lstStyle/>
                    <a:p>
                      <a:pPr>
                        <a:buNone/>
                      </a:pPr>
                      <a:r>
                        <a:rPr lang="zh-CN" altLang="en-US" dirty="0"/>
                        <a:t>强制 </a:t>
                      </a:r>
                      <a:r>
                        <a:rPr lang="en-US" dirty="0"/>
                        <a:t>Forcing</a:t>
                      </a:r>
                    </a:p>
                  </a:txBody>
                  <a:tcPr anchor="ctr">
                    <a:lnL>
                      <a:noFill/>
                    </a:lnL>
                    <a:lnR>
                      <a:noFill/>
                    </a:lnR>
                    <a:lnT>
                      <a:noFill/>
                    </a:lnT>
                    <a:lnB>
                      <a:noFill/>
                    </a:lnB>
                    <a:noFill/>
                  </a:tcPr>
                </a:tc>
                <a:tc>
                  <a:txBody>
                    <a:bodyPr/>
                    <a:lstStyle/>
                    <a:p>
                      <a:pPr>
                        <a:buNone/>
                      </a:pPr>
                      <a:r>
                        <a:rPr lang="zh-CN" altLang="en-US"/>
                        <a:t>强行推动自己的观点</a:t>
                      </a:r>
                    </a:p>
                  </a:txBody>
                  <a:tcPr anchor="ctr">
                    <a:lnL>
                      <a:noFill/>
                    </a:lnL>
                    <a:lnR>
                      <a:noFill/>
                    </a:lnR>
                    <a:lnT>
                      <a:noFill/>
                    </a:lnT>
                    <a:lnB>
                      <a:noFill/>
                    </a:lnB>
                    <a:noFill/>
                  </a:tcPr>
                </a:tc>
                <a:tc>
                  <a:txBody>
                    <a:bodyPr/>
                    <a:lstStyle/>
                    <a:p>
                      <a:pPr>
                        <a:buNone/>
                      </a:pPr>
                      <a:r>
                        <a:rPr lang="zh-CN" altLang="en-US"/>
                        <a:t>权力大、必须决策时</a:t>
                      </a:r>
                    </a:p>
                  </a:txBody>
                  <a:tcPr anchor="ctr">
                    <a:lnL>
                      <a:noFill/>
                    </a:lnL>
                    <a:lnR>
                      <a:noFill/>
                    </a:lnR>
                    <a:lnT>
                      <a:noFill/>
                    </a:lnT>
                    <a:lnB>
                      <a:noFill/>
                    </a:lnB>
                    <a:noFill/>
                  </a:tcPr>
                </a:tc>
                <a:extLst>
                  <a:ext uri="{0D108BD9-81ED-4DB2-BD59-A6C34878D82A}">
                    <a16:rowId xmlns:a16="http://schemas.microsoft.com/office/drawing/2014/main" val="600407737"/>
                  </a:ext>
                </a:extLst>
              </a:tr>
              <a:tr h="0">
                <a:tc>
                  <a:txBody>
                    <a:bodyPr/>
                    <a:lstStyle/>
                    <a:p>
                      <a:pPr>
                        <a:buNone/>
                      </a:pPr>
                      <a:r>
                        <a:rPr lang="zh-CN" altLang="en-US" dirty="0"/>
                        <a:t>合作</a:t>
                      </a:r>
                      <a:r>
                        <a:rPr lang="en-US" altLang="zh-CN" dirty="0"/>
                        <a:t>/</a:t>
                      </a:r>
                      <a:r>
                        <a:rPr lang="zh-CN" altLang="en-US" dirty="0"/>
                        <a:t>解决问题 </a:t>
                      </a:r>
                      <a:r>
                        <a:rPr lang="en-US" dirty="0"/>
                        <a:t>Collaborating</a:t>
                      </a:r>
                    </a:p>
                  </a:txBody>
                  <a:tcPr anchor="ctr">
                    <a:lnL>
                      <a:noFill/>
                    </a:lnL>
                    <a:lnR>
                      <a:noFill/>
                    </a:lnR>
                    <a:lnT>
                      <a:noFill/>
                    </a:lnT>
                    <a:lnB>
                      <a:noFill/>
                    </a:lnB>
                    <a:noFill/>
                  </a:tcPr>
                </a:tc>
                <a:tc>
                  <a:txBody>
                    <a:bodyPr/>
                    <a:lstStyle/>
                    <a:p>
                      <a:pPr>
                        <a:buNone/>
                      </a:pPr>
                      <a:r>
                        <a:rPr lang="zh-CN" altLang="en-US" dirty="0"/>
                        <a:t>共同探讨，寻找双赢方案</a:t>
                      </a:r>
                    </a:p>
                  </a:txBody>
                  <a:tcPr anchor="ctr">
                    <a:lnL>
                      <a:noFill/>
                    </a:lnL>
                    <a:lnR>
                      <a:noFill/>
                    </a:lnR>
                    <a:lnT>
                      <a:noFill/>
                    </a:lnT>
                    <a:lnB>
                      <a:noFill/>
                    </a:lnB>
                    <a:noFill/>
                  </a:tcPr>
                </a:tc>
                <a:tc>
                  <a:txBody>
                    <a:bodyPr/>
                    <a:lstStyle/>
                    <a:p>
                      <a:pPr>
                        <a:buNone/>
                      </a:pPr>
                      <a:r>
                        <a:rPr lang="zh-CN" altLang="en-US" dirty="0"/>
                        <a:t>复杂问题，需要共识</a:t>
                      </a:r>
                    </a:p>
                  </a:txBody>
                  <a:tcPr anchor="ctr">
                    <a:lnL>
                      <a:noFill/>
                    </a:lnL>
                    <a:lnR>
                      <a:noFill/>
                    </a:lnR>
                    <a:lnT>
                      <a:noFill/>
                    </a:lnT>
                    <a:lnB>
                      <a:noFill/>
                    </a:lnB>
                    <a:noFill/>
                  </a:tcPr>
                </a:tc>
                <a:extLst>
                  <a:ext uri="{0D108BD9-81ED-4DB2-BD59-A6C34878D82A}">
                    <a16:rowId xmlns:a16="http://schemas.microsoft.com/office/drawing/2014/main" val="2418812145"/>
                  </a:ext>
                </a:extLst>
              </a:tr>
            </a:tbl>
          </a:graphicData>
        </a:graphic>
      </p:graphicFrame>
      <p:sp>
        <p:nvSpPr>
          <p:cNvPr id="10" name="文本占位符 9">
            <a:extLst>
              <a:ext uri="{FF2B5EF4-FFF2-40B4-BE49-F238E27FC236}">
                <a16:creationId xmlns:a16="http://schemas.microsoft.com/office/drawing/2014/main" id="{2D686AD8-7AB5-0C0F-8F5E-DEEE1EEDDDE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7200000" cy="424732"/>
          </a:xfrm>
        </p:spPr>
        <p:txBody>
          <a:bodyPr>
            <a:normAutofit/>
          </a:bodyPr>
          <a:lstStyle/>
          <a:p>
            <a:r>
              <a:rPr lang="zh-CN" altLang="en-US" dirty="0"/>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2241920159"/>
              </p:ext>
            </p:extLst>
          </p:nvPr>
        </p:nvGraphicFramePr>
        <p:xfrm>
          <a:off x="695325" y="10795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t>层次</a:t>
                      </a:r>
                    </a:p>
                  </a:txBody>
                  <a:tcPr anchor="ctr">
                    <a:lnL>
                      <a:noFill/>
                    </a:lnL>
                    <a:lnR>
                      <a:noFill/>
                    </a:lnR>
                    <a:lnT>
                      <a:noFill/>
                    </a:lnT>
                    <a:lnB>
                      <a:noFill/>
                    </a:lnB>
                    <a:noFill/>
                  </a:tcPr>
                </a:tc>
                <a:tc>
                  <a:txBody>
                    <a:bodyPr/>
                    <a:lstStyle/>
                    <a:p>
                      <a:pPr>
                        <a:buNone/>
                      </a:pPr>
                      <a:r>
                        <a:rPr lang="zh-CN" altLang="en-US"/>
                        <a:t>名称</a:t>
                      </a:r>
                    </a:p>
                  </a:txBody>
                  <a:tcPr anchor="ctr">
                    <a:lnL>
                      <a:noFill/>
                    </a:lnL>
                    <a:lnR>
                      <a:noFill/>
                    </a:lnR>
                    <a:lnT>
                      <a:noFill/>
                    </a:lnT>
                    <a:lnB>
                      <a:noFill/>
                    </a:lnB>
                    <a:noFill/>
                  </a:tcPr>
                </a:tc>
                <a:tc>
                  <a:txBody>
                    <a:bodyPr/>
                    <a:lstStyle/>
                    <a:p>
                      <a:pPr>
                        <a:buNone/>
                      </a:pPr>
                      <a:r>
                        <a:rPr lang="zh-CN" altLang="en-US"/>
                        <a:t>典型表现</a:t>
                      </a:r>
                    </a:p>
                  </a:txBody>
                  <a:tcPr anchor="ctr">
                    <a:lnL>
                      <a:noFill/>
                    </a:lnL>
                    <a:lnR>
                      <a:noFill/>
                    </a:lnR>
                    <a:lnT>
                      <a:noFill/>
                    </a:lnT>
                    <a:lnB>
                      <a:noFill/>
                    </a:lnB>
                    <a:noFill/>
                  </a:tcPr>
                </a:tc>
                <a:extLst>
                  <a:ext uri="{0D108BD9-81ED-4DB2-BD59-A6C34878D82A}">
                    <a16:rowId xmlns:a16="http://schemas.microsoft.com/office/drawing/2014/main" val="1201168794"/>
                  </a:ext>
                </a:extLst>
              </a:tr>
              <a:tr h="0">
                <a:tc>
                  <a:txBody>
                    <a:bodyPr/>
                    <a:lstStyle/>
                    <a:p>
                      <a:pPr>
                        <a:buNone/>
                      </a:pPr>
                      <a:r>
                        <a:rPr lang="en-US" altLang="zh-CN"/>
                        <a:t>1</a:t>
                      </a:r>
                    </a:p>
                  </a:txBody>
                  <a:tcPr anchor="ctr">
                    <a:lnL>
                      <a:noFill/>
                    </a:lnL>
                    <a:lnR>
                      <a:noFill/>
                    </a:lnR>
                    <a:lnT>
                      <a:noFill/>
                    </a:lnT>
                    <a:lnB>
                      <a:noFill/>
                    </a:lnB>
                    <a:noFill/>
                  </a:tcPr>
                </a:tc>
                <a:tc>
                  <a:txBody>
                    <a:bodyPr/>
                    <a:lstStyle/>
                    <a:p>
                      <a:pPr>
                        <a:buNone/>
                      </a:pPr>
                      <a:r>
                        <a:rPr lang="zh-CN" altLang="en-US" dirty="0"/>
                        <a:t>生理需求（</a:t>
                      </a:r>
                      <a:r>
                        <a:rPr lang="en-US" altLang="zh-CN" dirty="0"/>
                        <a:t>Physiological</a:t>
                      </a:r>
                      <a:r>
                        <a:rPr lang="en-US" dirty="0"/>
                        <a:t>）</a:t>
                      </a:r>
                    </a:p>
                  </a:txBody>
                  <a:tcPr anchor="ctr">
                    <a:lnL>
                      <a:noFill/>
                    </a:lnL>
                    <a:lnR>
                      <a:noFill/>
                    </a:lnR>
                    <a:lnT>
                      <a:noFill/>
                    </a:lnT>
                    <a:lnB>
                      <a:noFill/>
                    </a:lnB>
                    <a:noFill/>
                  </a:tcPr>
                </a:tc>
                <a:tc>
                  <a:txBody>
                    <a:bodyPr/>
                    <a:lstStyle/>
                    <a:p>
                      <a:pPr>
                        <a:buNone/>
                      </a:pPr>
                      <a:r>
                        <a:rPr lang="zh-CN" altLang="en-US" dirty="0"/>
                        <a:t>饮食、睡眠、休息等基本生存需求</a:t>
                      </a:r>
                    </a:p>
                  </a:txBody>
                  <a:tcPr anchor="ctr">
                    <a:lnL>
                      <a:noFill/>
                    </a:lnL>
                    <a:lnR>
                      <a:noFill/>
                    </a:lnR>
                    <a:lnT>
                      <a:noFill/>
                    </a:lnT>
                    <a:lnB>
                      <a:noFill/>
                    </a:lnB>
                    <a:noFill/>
                  </a:tcPr>
                </a:tc>
                <a:extLst>
                  <a:ext uri="{0D108BD9-81ED-4DB2-BD59-A6C34878D82A}">
                    <a16:rowId xmlns:a16="http://schemas.microsoft.com/office/drawing/2014/main" val="3990555722"/>
                  </a:ext>
                </a:extLst>
              </a:tr>
              <a:tr h="0">
                <a:tc>
                  <a:txBody>
                    <a:bodyPr/>
                    <a:lstStyle/>
                    <a:p>
                      <a:pPr>
                        <a:buNone/>
                      </a:pPr>
                      <a:r>
                        <a:rPr lang="en-US" altLang="zh-CN"/>
                        <a:t>2</a:t>
                      </a:r>
                    </a:p>
                  </a:txBody>
                  <a:tcPr anchor="ctr">
                    <a:lnL>
                      <a:noFill/>
                    </a:lnL>
                    <a:lnR>
                      <a:noFill/>
                    </a:lnR>
                    <a:lnT>
                      <a:noFill/>
                    </a:lnT>
                    <a:lnB>
                      <a:noFill/>
                    </a:lnB>
                    <a:noFill/>
                  </a:tcPr>
                </a:tc>
                <a:tc>
                  <a:txBody>
                    <a:bodyPr/>
                    <a:lstStyle/>
                    <a:p>
                      <a:pPr>
                        <a:buNone/>
                      </a:pPr>
                      <a:r>
                        <a:rPr lang="zh-CN" altLang="en-US" dirty="0"/>
                        <a:t>安全需求（</a:t>
                      </a:r>
                      <a:r>
                        <a:rPr lang="en-US" altLang="zh-CN" dirty="0"/>
                        <a:t>Safety</a:t>
                      </a:r>
                      <a:r>
                        <a:rPr lang="en-US" dirty="0"/>
                        <a:t>）</a:t>
                      </a:r>
                    </a:p>
                  </a:txBody>
                  <a:tcPr anchor="ctr">
                    <a:lnL>
                      <a:noFill/>
                    </a:lnL>
                    <a:lnR>
                      <a:noFill/>
                    </a:lnR>
                    <a:lnT>
                      <a:noFill/>
                    </a:lnT>
                    <a:lnB>
                      <a:noFill/>
                    </a:lnB>
                    <a:noFill/>
                  </a:tcPr>
                </a:tc>
                <a:tc>
                  <a:txBody>
                    <a:bodyPr/>
                    <a:lstStyle/>
                    <a:p>
                      <a:pPr>
                        <a:buNone/>
                      </a:pPr>
                      <a:r>
                        <a:rPr lang="zh-CN" altLang="en-US"/>
                        <a:t>工作稳定、健康保障、职业安全等</a:t>
                      </a:r>
                    </a:p>
                  </a:txBody>
                  <a:tcPr anchor="ctr">
                    <a:lnL>
                      <a:noFill/>
                    </a:lnL>
                    <a:lnR>
                      <a:noFill/>
                    </a:lnR>
                    <a:lnT>
                      <a:noFill/>
                    </a:lnT>
                    <a:lnB>
                      <a:noFill/>
                    </a:lnB>
                    <a:noFill/>
                  </a:tcPr>
                </a:tc>
                <a:extLst>
                  <a:ext uri="{0D108BD9-81ED-4DB2-BD59-A6C34878D82A}">
                    <a16:rowId xmlns:a16="http://schemas.microsoft.com/office/drawing/2014/main" val="931442999"/>
                  </a:ext>
                </a:extLst>
              </a:tr>
              <a:tr h="0">
                <a:tc>
                  <a:txBody>
                    <a:bodyPr/>
                    <a:lstStyle/>
                    <a:p>
                      <a:pPr>
                        <a:buNone/>
                      </a:pPr>
                      <a:r>
                        <a:rPr lang="en-US" altLang="zh-CN"/>
                        <a:t>3</a:t>
                      </a:r>
                    </a:p>
                  </a:txBody>
                  <a:tcPr anchor="ctr">
                    <a:lnL>
                      <a:noFill/>
                    </a:lnL>
                    <a:lnR>
                      <a:noFill/>
                    </a:lnR>
                    <a:lnT>
                      <a:noFill/>
                    </a:lnT>
                    <a:lnB>
                      <a:noFill/>
                    </a:lnB>
                    <a:noFill/>
                  </a:tcPr>
                </a:tc>
                <a:tc>
                  <a:txBody>
                    <a:bodyPr/>
                    <a:lstStyle/>
                    <a:p>
                      <a:pPr>
                        <a:buNone/>
                      </a:pPr>
                      <a:r>
                        <a:rPr lang="zh-CN" altLang="en-US" dirty="0"/>
                        <a:t>社会交往需求（</a:t>
                      </a:r>
                      <a:r>
                        <a:rPr lang="en-US" dirty="0"/>
                        <a:t>Love/Belonging）</a:t>
                      </a:r>
                    </a:p>
                  </a:txBody>
                  <a:tcPr anchor="ctr">
                    <a:lnL>
                      <a:noFill/>
                    </a:lnL>
                    <a:lnR>
                      <a:noFill/>
                    </a:lnR>
                    <a:lnT>
                      <a:noFill/>
                    </a:lnT>
                    <a:lnB>
                      <a:noFill/>
                    </a:lnB>
                    <a:noFill/>
                  </a:tcPr>
                </a:tc>
                <a:tc>
                  <a:txBody>
                    <a:bodyPr/>
                    <a:lstStyle/>
                    <a:p>
                      <a:pPr>
                        <a:buNone/>
                      </a:pPr>
                      <a:r>
                        <a:rPr lang="zh-CN" altLang="en-US"/>
                        <a:t>友谊、爱情、团队归属、被接纳</a:t>
                      </a:r>
                    </a:p>
                  </a:txBody>
                  <a:tcPr anchor="ctr">
                    <a:lnL>
                      <a:noFill/>
                    </a:lnL>
                    <a:lnR>
                      <a:noFill/>
                    </a:lnR>
                    <a:lnT>
                      <a:noFill/>
                    </a:lnT>
                    <a:lnB>
                      <a:noFill/>
                    </a:lnB>
                    <a:noFill/>
                  </a:tcPr>
                </a:tc>
                <a:extLst>
                  <a:ext uri="{0D108BD9-81ED-4DB2-BD59-A6C34878D82A}">
                    <a16:rowId xmlns:a16="http://schemas.microsoft.com/office/drawing/2014/main" val="703633182"/>
                  </a:ext>
                </a:extLst>
              </a:tr>
              <a:tr h="0">
                <a:tc>
                  <a:txBody>
                    <a:bodyPr/>
                    <a:lstStyle/>
                    <a:p>
                      <a:pPr>
                        <a:buNone/>
                      </a:pPr>
                      <a:r>
                        <a:rPr lang="en-US" altLang="zh-CN"/>
                        <a:t>4</a:t>
                      </a:r>
                    </a:p>
                  </a:txBody>
                  <a:tcPr anchor="ctr">
                    <a:lnL>
                      <a:noFill/>
                    </a:lnL>
                    <a:lnR>
                      <a:noFill/>
                    </a:lnR>
                    <a:lnT>
                      <a:noFill/>
                    </a:lnT>
                    <a:lnB>
                      <a:noFill/>
                    </a:lnB>
                    <a:noFill/>
                  </a:tcPr>
                </a:tc>
                <a:tc>
                  <a:txBody>
                    <a:bodyPr/>
                    <a:lstStyle/>
                    <a:p>
                      <a:pPr>
                        <a:buNone/>
                      </a:pPr>
                      <a:r>
                        <a:rPr lang="zh-CN" altLang="en-US" dirty="0"/>
                        <a:t>自尊需求（</a:t>
                      </a:r>
                      <a:r>
                        <a:rPr lang="en-US" dirty="0"/>
                        <a:t>Esteem）</a:t>
                      </a:r>
                    </a:p>
                  </a:txBody>
                  <a:tcPr anchor="ctr">
                    <a:lnL>
                      <a:noFill/>
                    </a:lnL>
                    <a:lnR>
                      <a:noFill/>
                    </a:lnR>
                    <a:lnT>
                      <a:noFill/>
                    </a:lnT>
                    <a:lnB>
                      <a:noFill/>
                    </a:lnB>
                    <a:noFill/>
                  </a:tcPr>
                </a:tc>
                <a:tc>
                  <a:txBody>
                    <a:bodyPr/>
                    <a:lstStyle/>
                    <a:p>
                      <a:pPr>
                        <a:buNone/>
                      </a:pPr>
                      <a:r>
                        <a:rPr lang="zh-CN" altLang="en-US"/>
                        <a:t>获得尊重、认可、成就感、地位</a:t>
                      </a:r>
                    </a:p>
                  </a:txBody>
                  <a:tcPr anchor="ctr">
                    <a:lnL>
                      <a:noFill/>
                    </a:lnL>
                    <a:lnR>
                      <a:noFill/>
                    </a:lnR>
                    <a:lnT>
                      <a:noFill/>
                    </a:lnT>
                    <a:lnB>
                      <a:noFill/>
                    </a:lnB>
                    <a:noFill/>
                  </a:tcPr>
                </a:tc>
                <a:extLst>
                  <a:ext uri="{0D108BD9-81ED-4DB2-BD59-A6C34878D82A}">
                    <a16:rowId xmlns:a16="http://schemas.microsoft.com/office/drawing/2014/main" val="1437657656"/>
                  </a:ext>
                </a:extLst>
              </a:tr>
              <a:tr h="0">
                <a:tc>
                  <a:txBody>
                    <a:bodyPr/>
                    <a:lstStyle/>
                    <a:p>
                      <a:pPr>
                        <a:buNone/>
                      </a:pPr>
                      <a:r>
                        <a:rPr lang="en-US" altLang="zh-CN"/>
                        <a:t>5</a:t>
                      </a:r>
                    </a:p>
                  </a:txBody>
                  <a:tcPr anchor="ctr">
                    <a:lnL>
                      <a:noFill/>
                    </a:lnL>
                    <a:lnR>
                      <a:noFill/>
                    </a:lnR>
                    <a:lnT>
                      <a:noFill/>
                    </a:lnT>
                    <a:lnB>
                      <a:noFill/>
                    </a:lnB>
                    <a:noFill/>
                  </a:tcPr>
                </a:tc>
                <a:tc>
                  <a:txBody>
                    <a:bodyPr/>
                    <a:lstStyle/>
                    <a:p>
                      <a:pPr>
                        <a:buNone/>
                      </a:pPr>
                      <a:r>
                        <a:rPr lang="zh-CN" altLang="en-US" dirty="0"/>
                        <a:t>自我实现（</a:t>
                      </a:r>
                      <a:r>
                        <a:rPr lang="en-US" dirty="0"/>
                        <a:t>Self-actualization）</a:t>
                      </a:r>
                    </a:p>
                  </a:txBody>
                  <a:tcPr anchor="ctr">
                    <a:lnL>
                      <a:noFill/>
                    </a:lnL>
                    <a:lnR>
                      <a:noFill/>
                    </a:lnR>
                    <a:lnT>
                      <a:noFill/>
                    </a:lnT>
                    <a:lnB>
                      <a:noFill/>
                    </a:lnB>
                    <a:noFill/>
                  </a:tcPr>
                </a:tc>
                <a:tc>
                  <a:txBody>
                    <a:bodyPr/>
                    <a:lstStyle/>
                    <a:p>
                      <a:pPr>
                        <a:buNone/>
                      </a:pPr>
                      <a:r>
                        <a:rPr lang="zh-CN" altLang="en-US" dirty="0"/>
                        <a:t>实现潜能、追求理想、创造性发挥</a:t>
                      </a:r>
                    </a:p>
                  </a:txBody>
                  <a:tcPr anchor="ctr">
                    <a:lnL>
                      <a:noFill/>
                    </a:lnL>
                    <a:lnR>
                      <a:noFill/>
                    </a:lnR>
                    <a:lnT>
                      <a:noFill/>
                    </a:lnT>
                    <a:lnB>
                      <a:noFill/>
                    </a:lnB>
                    <a:noFill/>
                  </a:tcPr>
                </a:tc>
                <a:extLst>
                  <a:ext uri="{0D108BD9-81ED-4DB2-BD59-A6C34878D82A}">
                    <a16:rowId xmlns:a16="http://schemas.microsoft.com/office/drawing/2014/main" val="1790960172"/>
                  </a:ext>
                </a:extLst>
              </a:tr>
            </a:tbl>
          </a:graphicData>
        </a:graphic>
      </p:graphicFrame>
      <p:sp>
        <p:nvSpPr>
          <p:cNvPr id="18" name="文本占位符 17">
            <a:extLst>
              <a:ext uri="{FF2B5EF4-FFF2-40B4-BE49-F238E27FC236}">
                <a16:creationId xmlns:a16="http://schemas.microsoft.com/office/drawing/2014/main" id="{FE8B8999-0759-901C-8C72-D99F7A6B13E8}"/>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7200000" cy="424732"/>
          </a:xfrm>
        </p:spPr>
        <p:txBody>
          <a:bodyPr>
            <a:normAutofit/>
          </a:bodyPr>
          <a:lstStyle/>
          <a:p>
            <a:r>
              <a:rPr lang="zh-CN" altLang="en-US" dirty="0"/>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1080000"/>
            <a:ext cx="10800000" cy="5112000"/>
          </a:xfrm>
        </p:spPr>
        <p:txBody>
          <a:bodyPr>
            <a:normAutofit fontScale="85000" lnSpcReduction="20000"/>
          </a:bodyPr>
          <a:lstStyle/>
          <a:p>
            <a:r>
              <a:rPr lang="en-US" altLang="zh-CN" dirty="0"/>
              <a:t>Herzberg's Motivation-Hygiene Theory</a:t>
            </a:r>
          </a:p>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solidFill>
                  <a:srgbClr val="FF0000"/>
                </a:solidFill>
              </a:rPr>
              <a:t>20</a:t>
            </a:r>
            <a:r>
              <a:rPr lang="zh-CN" altLang="en-US" dirty="0">
                <a:solidFill>
                  <a:srgbClr val="FF0000"/>
                </a:solidFill>
              </a:rPr>
              <a:t>世纪</a:t>
            </a:r>
            <a:r>
              <a:rPr lang="en-US" altLang="zh-CN" dirty="0">
                <a:solidFill>
                  <a:srgbClr val="FF0000"/>
                </a:solidFill>
              </a:rPr>
              <a:t>50</a:t>
            </a:r>
            <a:r>
              <a:rPr lang="zh-CN" altLang="en-US" dirty="0">
                <a:solidFill>
                  <a:srgbClr val="FF0000"/>
                </a:solidFill>
              </a:rPr>
              <a:t>年代末</a:t>
            </a:r>
            <a:r>
              <a:rPr lang="zh-CN" altLang="en-US" dirty="0"/>
              <a:t>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8683764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dirty="0"/>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p:txBody>
          <a:bodyPr/>
          <a:lstStyle/>
          <a:p>
            <a:r>
              <a:rPr lang="zh-CN" altLang="en-US" dirty="0"/>
              <a:t>沟通管理 </a:t>
            </a:r>
            <a:r>
              <a:rPr lang="en-US" altLang="zh-CN" dirty="0"/>
              <a:t>Communication Mgt</a:t>
            </a:r>
            <a:endParaRPr lang="zh-CN" altLang="en-US" dirty="0"/>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1080000"/>
            <a:ext cx="10800000" cy="5112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p:txBody>
          <a:bodyPr/>
          <a:lstStyle/>
          <a:p>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130552118"/>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t>类型</a:t>
                      </a:r>
                    </a:p>
                  </a:txBody>
                  <a:tcPr anchor="ctr">
                    <a:lnL>
                      <a:noFill/>
                    </a:lnL>
                    <a:lnR>
                      <a:noFill/>
                    </a:lnR>
                    <a:lnT>
                      <a:noFill/>
                    </a:lnT>
                    <a:lnB>
                      <a:noFill/>
                    </a:lnB>
                    <a:noFill/>
                  </a:tcPr>
                </a:tc>
                <a:tc>
                  <a:txBody>
                    <a:bodyPr/>
                    <a:lstStyle/>
                    <a:p>
                      <a:pPr>
                        <a:buNone/>
                      </a:pPr>
                      <a:r>
                        <a:rPr lang="zh-CN" altLang="en-US"/>
                        <a:t>定义</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894886506"/>
                  </a:ext>
                </a:extLst>
              </a:tr>
              <a:tr h="0">
                <a:tc>
                  <a:txBody>
                    <a:bodyPr/>
                    <a:lstStyle/>
                    <a:p>
                      <a:pPr>
                        <a:buNone/>
                      </a:pPr>
                      <a:r>
                        <a:rPr lang="en-US"/>
                        <a:t>A. </a:t>
                      </a:r>
                      <a:r>
                        <a:rPr lang="zh-CN" altLang="en-US"/>
                        <a:t>正式沟通</a:t>
                      </a:r>
                    </a:p>
                  </a:txBody>
                  <a:tcPr anchor="ctr">
                    <a:lnL>
                      <a:noFill/>
                    </a:lnL>
                    <a:lnR>
                      <a:noFill/>
                    </a:lnR>
                    <a:lnT>
                      <a:noFill/>
                    </a:lnT>
                    <a:lnB>
                      <a:noFill/>
                    </a:lnB>
                    <a:noFill/>
                  </a:tcPr>
                </a:tc>
                <a:tc>
                  <a:txBody>
                    <a:bodyPr/>
                    <a:lstStyle/>
                    <a:p>
                      <a:pPr>
                        <a:buNone/>
                      </a:pPr>
                      <a:r>
                        <a:rPr lang="zh-CN" altLang="en-US"/>
                        <a:t>通过组织结构、书面文件、会议等正规渠道进行</a:t>
                      </a:r>
                    </a:p>
                  </a:txBody>
                  <a:tcPr anchor="ctr">
                    <a:lnL>
                      <a:noFill/>
                    </a:lnL>
                    <a:lnR>
                      <a:noFill/>
                    </a:lnR>
                    <a:lnT>
                      <a:noFill/>
                    </a:lnT>
                    <a:lnB>
                      <a:noFill/>
                    </a:lnB>
                    <a:noFill/>
                  </a:tcPr>
                </a:tc>
                <a:tc>
                  <a:txBody>
                    <a:bodyPr/>
                    <a:lstStyle/>
                    <a:p>
                      <a:pPr>
                        <a:buNone/>
                      </a:pPr>
                      <a:r>
                        <a:rPr lang="zh-CN" altLang="en-US"/>
                        <a:t>规范、有记录、可控性强</a:t>
                      </a:r>
                    </a:p>
                  </a:txBody>
                  <a:tcPr anchor="ctr">
                    <a:lnL>
                      <a:noFill/>
                    </a:lnL>
                    <a:lnR>
                      <a:noFill/>
                    </a:lnR>
                    <a:lnT>
                      <a:noFill/>
                    </a:lnT>
                    <a:lnB>
                      <a:noFill/>
                    </a:lnB>
                    <a:noFill/>
                  </a:tcPr>
                </a:tc>
                <a:extLst>
                  <a:ext uri="{0D108BD9-81ED-4DB2-BD59-A6C34878D82A}">
                    <a16:rowId xmlns:a16="http://schemas.microsoft.com/office/drawing/2014/main" val="4195844813"/>
                  </a:ext>
                </a:extLst>
              </a:tr>
              <a:tr h="0">
                <a:tc>
                  <a:txBody>
                    <a:bodyPr/>
                    <a:lstStyle/>
                    <a:p>
                      <a:pPr>
                        <a:buNone/>
                      </a:pPr>
                      <a:r>
                        <a:rPr lang="en-US"/>
                        <a:t>B. </a:t>
                      </a:r>
                      <a:r>
                        <a:rPr lang="zh-CN" altLang="en-US"/>
                        <a:t>非正式沟通</a:t>
                      </a:r>
                    </a:p>
                  </a:txBody>
                  <a:tcPr anchor="ctr">
                    <a:lnL>
                      <a:noFill/>
                    </a:lnL>
                    <a:lnR>
                      <a:noFill/>
                    </a:lnR>
                    <a:lnT>
                      <a:noFill/>
                    </a:lnT>
                    <a:lnB>
                      <a:noFill/>
                    </a:lnB>
                    <a:noFill/>
                  </a:tcPr>
                </a:tc>
                <a:tc>
                  <a:txBody>
                    <a:bodyPr/>
                    <a:lstStyle/>
                    <a:p>
                      <a:pPr>
                        <a:buNone/>
                      </a:pPr>
                      <a:r>
                        <a:rPr lang="zh-CN" altLang="en-US"/>
                        <a:t>口头交流、闲聊、社交互动等非官方形式</a:t>
                      </a:r>
                    </a:p>
                  </a:txBody>
                  <a:tcPr anchor="ctr">
                    <a:lnL>
                      <a:noFill/>
                    </a:lnL>
                    <a:lnR>
                      <a:noFill/>
                    </a:lnR>
                    <a:lnT>
                      <a:noFill/>
                    </a:lnT>
                    <a:lnB>
                      <a:noFill/>
                    </a:lnB>
                    <a:noFill/>
                  </a:tcPr>
                </a:tc>
                <a:tc>
                  <a:txBody>
                    <a:bodyPr/>
                    <a:lstStyle/>
                    <a:p>
                      <a:pPr>
                        <a:buNone/>
                      </a:pPr>
                      <a:r>
                        <a:rPr lang="zh-CN" altLang="en-US"/>
                        <a:t>灵活、快速、但可能失真</a:t>
                      </a:r>
                    </a:p>
                  </a:txBody>
                  <a:tcPr anchor="ctr">
                    <a:lnL>
                      <a:noFill/>
                    </a:lnL>
                    <a:lnR>
                      <a:noFill/>
                    </a:lnR>
                    <a:lnT>
                      <a:noFill/>
                    </a:lnT>
                    <a:lnB>
                      <a:noFill/>
                    </a:lnB>
                    <a:noFill/>
                  </a:tcPr>
                </a:tc>
                <a:extLst>
                  <a:ext uri="{0D108BD9-81ED-4DB2-BD59-A6C34878D82A}">
                    <a16:rowId xmlns:a16="http://schemas.microsoft.com/office/drawing/2014/main" val="3965573547"/>
                  </a:ext>
                </a:extLst>
              </a:tr>
              <a:tr h="0">
                <a:tc>
                  <a:txBody>
                    <a:bodyPr/>
                    <a:lstStyle/>
                    <a:p>
                      <a:pPr>
                        <a:buNone/>
                      </a:pPr>
                      <a:r>
                        <a:rPr lang="en-US"/>
                        <a:t>C. </a:t>
                      </a:r>
                      <a:r>
                        <a:rPr lang="zh-CN" altLang="en-US"/>
                        <a:t>垂直沟通</a:t>
                      </a:r>
                    </a:p>
                  </a:txBody>
                  <a:tcPr anchor="ctr">
                    <a:lnL>
                      <a:noFill/>
                    </a:lnL>
                    <a:lnR>
                      <a:noFill/>
                    </a:lnR>
                    <a:lnT>
                      <a:noFill/>
                    </a:lnT>
                    <a:lnB>
                      <a:noFill/>
                    </a:lnB>
                    <a:noFill/>
                  </a:tcPr>
                </a:tc>
                <a:tc>
                  <a:txBody>
                    <a:bodyPr/>
                    <a:lstStyle/>
                    <a:p>
                      <a:pPr>
                        <a:buNone/>
                      </a:pPr>
                      <a:r>
                        <a:rPr lang="zh-CN" altLang="en-US"/>
                        <a:t>上下级之间的沟通（如项目经理与下属）</a:t>
                      </a:r>
                    </a:p>
                  </a:txBody>
                  <a:tcPr anchor="ctr">
                    <a:lnL>
                      <a:noFill/>
                    </a:lnL>
                    <a:lnR>
                      <a:noFill/>
                    </a:lnR>
                    <a:lnT>
                      <a:noFill/>
                    </a:lnT>
                    <a:lnB>
                      <a:noFill/>
                    </a:lnB>
                    <a:noFill/>
                  </a:tcPr>
                </a:tc>
                <a:tc>
                  <a:txBody>
                    <a:bodyPr/>
                    <a:lstStyle/>
                    <a:p>
                      <a:pPr>
                        <a:buNone/>
                      </a:pPr>
                      <a:r>
                        <a:rPr lang="zh-CN" altLang="en-US"/>
                        <a:t>权责明确，流程清晰</a:t>
                      </a:r>
                    </a:p>
                  </a:txBody>
                  <a:tcPr anchor="ctr">
                    <a:lnL>
                      <a:noFill/>
                    </a:lnL>
                    <a:lnR>
                      <a:noFill/>
                    </a:lnR>
                    <a:lnT>
                      <a:noFill/>
                    </a:lnT>
                    <a:lnB>
                      <a:noFill/>
                    </a:lnB>
                    <a:noFill/>
                  </a:tcPr>
                </a:tc>
                <a:extLst>
                  <a:ext uri="{0D108BD9-81ED-4DB2-BD59-A6C34878D82A}">
                    <a16:rowId xmlns:a16="http://schemas.microsoft.com/office/drawing/2014/main" val="67305166"/>
                  </a:ext>
                </a:extLst>
              </a:tr>
              <a:tr h="0">
                <a:tc>
                  <a:txBody>
                    <a:bodyPr/>
                    <a:lstStyle/>
                    <a:p>
                      <a:pPr>
                        <a:buNone/>
                      </a:pPr>
                      <a:r>
                        <a:rPr lang="en-US"/>
                        <a:t>D. </a:t>
                      </a:r>
                      <a:r>
                        <a:rPr lang="zh-CN" altLang="en-US"/>
                        <a:t>水平沟通</a:t>
                      </a:r>
                    </a:p>
                  </a:txBody>
                  <a:tcPr anchor="ctr">
                    <a:lnL>
                      <a:noFill/>
                    </a:lnL>
                    <a:lnR>
                      <a:noFill/>
                    </a:lnR>
                    <a:lnT>
                      <a:noFill/>
                    </a:lnT>
                    <a:lnB>
                      <a:noFill/>
                    </a:lnB>
                    <a:noFill/>
                  </a:tcPr>
                </a:tc>
                <a:tc>
                  <a:txBody>
                    <a:bodyPr/>
                    <a:lstStyle/>
                    <a:p>
                      <a:pPr>
                        <a:buNone/>
                      </a:pPr>
                      <a:r>
                        <a:rPr lang="zh-CN" altLang="en-US"/>
                        <a:t>同级之间或跨部门之间的沟通</a:t>
                      </a:r>
                    </a:p>
                  </a:txBody>
                  <a:tcPr anchor="ctr">
                    <a:lnL>
                      <a:noFill/>
                    </a:lnL>
                    <a:lnR>
                      <a:noFill/>
                    </a:lnR>
                    <a:lnT>
                      <a:noFill/>
                    </a:lnT>
                    <a:lnB>
                      <a:noFill/>
                    </a:lnB>
                    <a:noFill/>
                  </a:tcPr>
                </a:tc>
                <a:tc>
                  <a:txBody>
                    <a:bodyPr/>
                    <a:lstStyle/>
                    <a:p>
                      <a:pPr>
                        <a:buNone/>
                      </a:pPr>
                      <a:r>
                        <a:rPr lang="zh-CN" altLang="en-US" dirty="0"/>
                        <a:t>协调难度大，易受多方影响</a:t>
                      </a:r>
                    </a:p>
                  </a:txBody>
                  <a:tcPr anchor="ctr">
                    <a:lnL>
                      <a:noFill/>
                    </a:lnL>
                    <a:lnR>
                      <a:noFill/>
                    </a:lnR>
                    <a:lnT>
                      <a:noFill/>
                    </a:lnT>
                    <a:lnB>
                      <a:noFill/>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7200000" cy="424732"/>
          </a:xfrm>
        </p:spPr>
        <p:txBody>
          <a:bodyPr>
            <a:normAutofit/>
          </a:bodyPr>
          <a:lstStyle/>
          <a:p>
            <a:r>
              <a:rPr lang="zh-CN" altLang="en-US" dirty="0"/>
              <a:t>干系人管理 </a:t>
            </a:r>
            <a:r>
              <a:rPr lang="en-US" altLang="zh-CN" dirty="0"/>
              <a:t>Stakeholders Mgt</a:t>
            </a:r>
            <a:endParaRPr lang="zh-CN" altLang="en-US" dirty="0"/>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1080000"/>
            <a:ext cx="10800000" cy="5112000"/>
          </a:xfrm>
        </p:spPr>
        <p:txBody>
          <a:bodyPr/>
          <a:lstStyle/>
          <a:p>
            <a:r>
              <a:rPr lang="zh-CN" altLang="en-US" dirty="0"/>
              <a:t>典型流程：</a:t>
            </a:r>
          </a:p>
          <a:p>
            <a:pPr lvl="1"/>
            <a:r>
              <a:rPr lang="zh-CN" altLang="en-US" dirty="0"/>
              <a:t>识别干系人 </a:t>
            </a:r>
            <a:r>
              <a:rPr lang="en-US" altLang="zh-CN" dirty="0"/>
              <a:t>Identify Stakeholders</a:t>
            </a:r>
            <a:r>
              <a:rPr lang="zh-CN" altLang="en-US" dirty="0"/>
              <a:t> </a:t>
            </a:r>
            <a:r>
              <a:rPr lang="en-US" altLang="zh-CN" dirty="0"/>
              <a:t>-</a:t>
            </a:r>
            <a:r>
              <a:rPr lang="zh-CN" altLang="en-US" dirty="0"/>
              <a:t> 找出谁是干系人，并收集基本信息（如姓名、角色、部门）</a:t>
            </a:r>
          </a:p>
          <a:p>
            <a:pPr lvl="1"/>
            <a:r>
              <a:rPr lang="zh-CN" altLang="en-US" dirty="0"/>
              <a:t>评估干系人 </a:t>
            </a:r>
            <a:r>
              <a:rPr lang="en-US" altLang="zh-CN" dirty="0"/>
              <a:t>Analyze Stakeholders</a:t>
            </a:r>
            <a:r>
              <a:rPr lang="zh-CN" altLang="en-US" dirty="0"/>
              <a:t> </a:t>
            </a:r>
            <a:r>
              <a:rPr lang="en-US" altLang="zh-CN" dirty="0"/>
              <a:t>-</a:t>
            </a:r>
            <a:r>
              <a:rPr lang="zh-CN" altLang="en-US" dirty="0"/>
              <a:t> 分析他们的诉求、期望、影响力、权力等</a:t>
            </a:r>
          </a:p>
          <a:p>
            <a:pPr lvl="1"/>
            <a:r>
              <a:rPr lang="zh-CN" altLang="en-US" dirty="0"/>
              <a:t>对干系人分类 </a:t>
            </a:r>
            <a:r>
              <a:rPr lang="en-US" altLang="zh-CN" dirty="0"/>
              <a:t>Categorize Stakeholders</a:t>
            </a:r>
            <a:r>
              <a:rPr lang="zh-CN" altLang="en-US" dirty="0"/>
              <a:t> </a:t>
            </a:r>
            <a:r>
              <a:rPr lang="en-US" altLang="zh-CN" dirty="0"/>
              <a:t>-</a:t>
            </a:r>
            <a:r>
              <a:rPr lang="zh-CN" altLang="en-US" dirty="0"/>
              <a:t> 使用方格模型（如权利</a:t>
            </a:r>
            <a:r>
              <a:rPr lang="en-US" altLang="zh-CN" dirty="0"/>
              <a:t>/</a:t>
            </a:r>
            <a:r>
              <a:rPr lang="zh-CN" altLang="en-US" dirty="0"/>
              <a:t>利益方格）进行归类</a:t>
            </a:r>
          </a:p>
          <a:p>
            <a:pPr lvl="1"/>
            <a:r>
              <a:rPr lang="zh-CN" altLang="en-US" dirty="0"/>
              <a:t>制定干系人管理计划 </a:t>
            </a:r>
            <a:r>
              <a:rPr lang="en-US" altLang="zh-CN" dirty="0"/>
              <a:t>Develop Stakeholder Management Plan</a:t>
            </a:r>
            <a:r>
              <a:rPr lang="zh-CN" altLang="en-US" dirty="0"/>
              <a:t> </a:t>
            </a:r>
            <a:r>
              <a:rPr lang="en-US" altLang="zh-CN" dirty="0"/>
              <a:t>-</a:t>
            </a:r>
            <a:r>
              <a:rPr lang="zh-CN" altLang="en-US" dirty="0"/>
              <a:t> 根据分类结果，制定沟通策略、管理方式等</a:t>
            </a:r>
          </a:p>
          <a:p>
            <a:pPr lvl="1"/>
            <a:endParaRPr lang="zh-CN" altLang="en-US" dirty="0"/>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269176232"/>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dirty="0"/>
                        <a:t>输入</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说明</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dirty="0"/>
                        <a:t>项目章程</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包含高层级干系人信息，如发起人、客户等</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3299531260"/>
                  </a:ext>
                </a:extLst>
              </a:tr>
              <a:tr h="0">
                <a:tc>
                  <a:txBody>
                    <a:bodyPr/>
                    <a:lstStyle/>
                    <a:p>
                      <a:pPr>
                        <a:buNone/>
                      </a:pPr>
                      <a:r>
                        <a:rPr lang="zh-CN" altLang="en-US" dirty="0"/>
                        <a:t>采购文件</a:t>
                      </a:r>
                    </a:p>
                  </a:txBody>
                  <a:tcPr anchor="ctr">
                    <a:lnL>
                      <a:noFill/>
                    </a:lnL>
                    <a:lnR>
                      <a:noFill/>
                    </a:lnR>
                    <a:lnT>
                      <a:noFill/>
                    </a:lnT>
                    <a:lnB>
                      <a:noFill/>
                    </a:lnB>
                    <a:noFill/>
                  </a:tcPr>
                </a:tc>
                <a:tc>
                  <a:txBody>
                    <a:bodyPr/>
                    <a:lstStyle/>
                    <a:p>
                      <a:pPr>
                        <a:buNone/>
                      </a:pPr>
                      <a:r>
                        <a:rPr lang="zh-CN" altLang="en-US" dirty="0"/>
                        <a:t>如合同、招标书，涉及供应商、承包商等外部干系人</a:t>
                      </a:r>
                    </a:p>
                  </a:txBody>
                  <a:tcPr anchor="ctr">
                    <a:lnL>
                      <a:noFill/>
                    </a:lnL>
                    <a:lnR>
                      <a:noFill/>
                    </a:lnR>
                    <a:lnT>
                      <a:noFill/>
                    </a:lnT>
                    <a:lnB>
                      <a:noFill/>
                    </a:lnB>
                    <a:noFill/>
                  </a:tcPr>
                </a:tc>
                <a:extLst>
                  <a:ext uri="{0D108BD9-81ED-4DB2-BD59-A6C34878D82A}">
                    <a16:rowId xmlns:a16="http://schemas.microsoft.com/office/drawing/2014/main" val="549295670"/>
                  </a:ext>
                </a:extLst>
              </a:tr>
              <a:tr h="0">
                <a:tc>
                  <a:txBody>
                    <a:bodyPr/>
                    <a:lstStyle/>
                    <a:p>
                      <a:pPr>
                        <a:buNone/>
                      </a:pPr>
                      <a:r>
                        <a:rPr lang="zh-CN" altLang="en-US" dirty="0"/>
                        <a:t>干系人记录模板</a:t>
                      </a:r>
                    </a:p>
                  </a:txBody>
                  <a:tcPr anchor="ctr">
                    <a:lnL>
                      <a:noFill/>
                    </a:lnL>
                    <a:lnR>
                      <a:noFill/>
                    </a:lnR>
                    <a:lnT>
                      <a:noFill/>
                    </a:lnT>
                    <a:lnB>
                      <a:noFill/>
                    </a:lnB>
                    <a:noFill/>
                  </a:tcPr>
                </a:tc>
                <a:tc>
                  <a:txBody>
                    <a:bodyPr/>
                    <a:lstStyle/>
                    <a:p>
                      <a:pPr>
                        <a:buNone/>
                      </a:pPr>
                      <a:r>
                        <a:rPr lang="zh-CN" altLang="en-US"/>
                        <a:t>组织内部使用的标准化表格，用于记录干系人信息</a:t>
                      </a:r>
                    </a:p>
                  </a:txBody>
                  <a:tcPr anchor="ctr">
                    <a:lnL>
                      <a:noFill/>
                    </a:lnL>
                    <a:lnR>
                      <a:noFill/>
                    </a:lnR>
                    <a:lnT>
                      <a:noFill/>
                    </a:lnT>
                    <a:lnB>
                      <a:noFill/>
                    </a:lnB>
                    <a:noFill/>
                  </a:tcPr>
                </a:tc>
                <a:extLst>
                  <a:ext uri="{0D108BD9-81ED-4DB2-BD59-A6C34878D82A}">
                    <a16:rowId xmlns:a16="http://schemas.microsoft.com/office/drawing/2014/main" val="1774221116"/>
                  </a:ext>
                </a:extLst>
              </a:tr>
              <a:tr h="0">
                <a:tc>
                  <a:txBody>
                    <a:bodyPr/>
                    <a:lstStyle/>
                    <a:p>
                      <a:pPr>
                        <a:buNone/>
                      </a:pPr>
                      <a:r>
                        <a:rPr lang="zh-CN" altLang="en-US" dirty="0"/>
                        <a:t>组织过程资产</a:t>
                      </a:r>
                    </a:p>
                  </a:txBody>
                  <a:tcPr anchor="ctr">
                    <a:lnL>
                      <a:noFill/>
                    </a:lnL>
                    <a:lnR>
                      <a:noFill/>
                    </a:lnR>
                    <a:lnT>
                      <a:noFill/>
                    </a:lnT>
                    <a:lnB>
                      <a:noFill/>
                    </a:lnB>
                    <a:noFill/>
                  </a:tcPr>
                </a:tc>
                <a:tc>
                  <a:txBody>
                    <a:bodyPr/>
                    <a:lstStyle/>
                    <a:p>
                      <a:pPr>
                        <a:buNone/>
                      </a:pPr>
                      <a:r>
                        <a:rPr lang="zh-CN" altLang="en-US" dirty="0"/>
                        <a:t>包括以往项目的干系人清单、模板、经验教训等</a:t>
                      </a:r>
                    </a:p>
                  </a:txBody>
                  <a:tcPr anchor="ctr">
                    <a:lnL>
                      <a:noFill/>
                    </a:lnL>
                    <a:lnR>
                      <a:noFill/>
                    </a:lnR>
                    <a:lnT>
                      <a:noFill/>
                    </a:lnT>
                    <a:lnB>
                      <a:noFill/>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7200000" cy="424732"/>
          </a:xfrm>
        </p:spPr>
        <p:txBody>
          <a:bodyPr>
            <a:normAutofit/>
          </a:bodyPr>
          <a:lstStyle/>
          <a:p>
            <a:r>
              <a:rPr lang="zh-CN" altLang="en-US" dirty="0"/>
              <a:t>凸显模型 </a:t>
            </a:r>
            <a:r>
              <a:rPr lang="en-US" altLang="zh-CN" dirty="0"/>
              <a:t>Salience Model</a:t>
            </a:r>
            <a:endParaRPr lang="zh-CN" altLang="en-US" dirty="0"/>
          </a:p>
        </p:txBody>
      </p:sp>
      <p:sp>
        <p:nvSpPr>
          <p:cNvPr id="7" name="内容占位符 6">
            <a:extLst>
              <a:ext uri="{FF2B5EF4-FFF2-40B4-BE49-F238E27FC236}">
                <a16:creationId xmlns:a16="http://schemas.microsoft.com/office/drawing/2014/main" id="{D5DEF375-EABB-C052-1129-394C77F256CA}"/>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p:txBody>
          <a:bodyPr/>
          <a:lstStyle/>
          <a:p>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含义</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dirty="0"/>
                        <a:t>合法性 </a:t>
                      </a:r>
                      <a:r>
                        <a:rPr lang="en-US" sz="1600" dirty="0"/>
                        <a:t>Legitimacy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其参与是否符合规则、道德或社会期望？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dirty="0"/>
                        <a:t>紧迫性 </a:t>
                      </a:r>
                      <a:r>
                        <a:rPr lang="en-US" sz="1600" dirty="0"/>
                        <a:t>Urgency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7200000" cy="424732"/>
          </a:xfrm>
        </p:spPr>
        <p:txBody>
          <a:bodyPr>
            <a:normAutofit/>
          </a:bodyPr>
          <a:lstStyle/>
          <a:p>
            <a:r>
              <a:rPr lang="zh-CN" altLang="en-US" dirty="0"/>
              <a:t>干系人 </a:t>
            </a:r>
            <a:r>
              <a:rPr lang="en-US" altLang="zh-CN" dirty="0"/>
              <a:t>Stakeholders</a:t>
            </a:r>
            <a:endParaRPr lang="zh-CN" altLang="en-US" dirty="0"/>
          </a:p>
        </p:txBody>
      </p:sp>
      <p:sp>
        <p:nvSpPr>
          <p:cNvPr id="3" name="内容占位符 2">
            <a:extLst>
              <a:ext uri="{FF2B5EF4-FFF2-40B4-BE49-F238E27FC236}">
                <a16:creationId xmlns:a16="http://schemas.microsoft.com/office/drawing/2014/main" id="{0AFE9DF8-165F-8ADF-4AA7-3991D9C773F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p:txBody>
          <a:bodyPr/>
          <a:lstStyle/>
          <a:p>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dirty="0"/>
                        <a:t>1</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Dormant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潜伏型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有权力但不主动，合法且非紧急。可暂时忽略，但需监控</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dirty="0"/>
                        <a:t>2</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Discretionary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随意型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dirty="0"/>
                        <a:t>3</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Demanding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娇情型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有权、合法但不紧急。喜欢提要求，但不会立刻施压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dirty="0"/>
                        <a:t>4</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Dominant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权贵型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dirty="0"/>
                        <a:t>5</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Dangerous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危险型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有权、不合法、但紧急。可能违法或破坏项目，需警惕</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dirty="0"/>
                        <a:t>6</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Dependent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从众型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无权、不合法、也不紧急。依赖他人支持，影响力小</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dirty="0"/>
                        <a:t>7</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Definitive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统治型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normAutofit/>
          </a:bodyPr>
          <a:lstStyle/>
          <a:p>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dirty="0"/>
              <a:t>利益方格 </a:t>
            </a:r>
            <a:r>
              <a:rPr lang="en-US" altLang="zh-CN" dirty="0"/>
              <a:t>Power/Interest Grid</a:t>
            </a:r>
          </a:p>
          <a:p>
            <a:pPr lvl="1"/>
            <a:r>
              <a:rPr lang="en-US" altLang="zh-CN" dirty="0"/>
              <a:t>Manage closely</a:t>
            </a:r>
            <a:endParaRPr lang="zh-CN" altLang="en-US" dirty="0"/>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3462938410"/>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dirty="0"/>
                        <a:t>权力 </a:t>
                      </a:r>
                      <a:r>
                        <a:rPr lang="en-US" dirty="0"/>
                        <a:t>Power</a:t>
                      </a:r>
                    </a:p>
                  </a:txBody>
                  <a:tcPr anchor="ctr">
                    <a:lnL>
                      <a:noFill/>
                    </a:lnL>
                    <a:lnR>
                      <a:noFill/>
                    </a:lnR>
                    <a:lnT>
                      <a:noFill/>
                    </a:lnT>
                    <a:lnB>
                      <a:noFill/>
                    </a:lnB>
                    <a:noFill/>
                  </a:tcPr>
                </a:tc>
                <a:tc>
                  <a:txBody>
                    <a:bodyPr/>
                    <a:lstStyle/>
                    <a:p>
                      <a:pPr>
                        <a:buNone/>
                      </a:pPr>
                      <a:r>
                        <a:rPr lang="zh-CN" altLang="en-US" dirty="0"/>
                        <a:t>利益 </a:t>
                      </a:r>
                      <a:r>
                        <a:rPr lang="en-US" dirty="0"/>
                        <a:t>Interest</a:t>
                      </a:r>
                    </a:p>
                  </a:txBody>
                  <a:tcPr anchor="ctr">
                    <a:lnL>
                      <a:noFill/>
                    </a:lnL>
                    <a:lnR>
                      <a:noFill/>
                    </a:lnR>
                    <a:lnT>
                      <a:noFill/>
                    </a:lnT>
                    <a:lnB>
                      <a:noFill/>
                    </a:lnB>
                    <a:noFill/>
                  </a:tcPr>
                </a:tc>
                <a:tc>
                  <a:txBody>
                    <a:bodyPr/>
                    <a:lstStyle/>
                    <a:p>
                      <a:pPr>
                        <a:buNone/>
                      </a:pPr>
                      <a:r>
                        <a:rPr lang="zh-CN" altLang="en-US" dirty="0"/>
                        <a:t>管理策略</a:t>
                      </a:r>
                    </a:p>
                  </a:txBody>
                  <a:tcPr anchor="ctr">
                    <a:lnL>
                      <a:noFill/>
                    </a:lnL>
                    <a:lnR>
                      <a:noFill/>
                    </a:lnR>
                    <a:lnT>
                      <a:noFill/>
                    </a:lnT>
                    <a:lnB>
                      <a:noFill/>
                    </a:lnB>
                    <a:noFill/>
                  </a:tcPr>
                </a:tc>
                <a:extLst>
                  <a:ext uri="{0D108BD9-81ED-4DB2-BD59-A6C34878D82A}">
                    <a16:rowId xmlns:a16="http://schemas.microsoft.com/office/drawing/2014/main" val="809978989"/>
                  </a:ext>
                </a:extLst>
              </a:tr>
              <a:tr h="0">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重点管理 </a:t>
                      </a:r>
                      <a:r>
                        <a:rPr lang="en-US" dirty="0"/>
                        <a:t>Manage closely</a:t>
                      </a:r>
                    </a:p>
                  </a:txBody>
                  <a:tcPr anchor="ctr">
                    <a:lnL>
                      <a:noFill/>
                    </a:lnL>
                    <a:lnR>
                      <a:noFill/>
                    </a:lnR>
                    <a:lnT>
                      <a:noFill/>
                    </a:lnT>
                    <a:lnB>
                      <a:noFill/>
                    </a:lnB>
                    <a:noFill/>
                  </a:tcPr>
                </a:tc>
                <a:extLst>
                  <a:ext uri="{0D108BD9-81ED-4DB2-BD59-A6C34878D82A}">
                    <a16:rowId xmlns:a16="http://schemas.microsoft.com/office/drawing/2014/main" val="1266278497"/>
                  </a:ext>
                </a:extLst>
              </a:tr>
              <a:tr h="0">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监督 </a:t>
                      </a:r>
                      <a:r>
                        <a:rPr lang="en-US" dirty="0"/>
                        <a:t>Keep satisfied</a:t>
                      </a:r>
                    </a:p>
                  </a:txBody>
                  <a:tcPr anchor="ctr">
                    <a:lnL>
                      <a:noFill/>
                    </a:lnL>
                    <a:lnR>
                      <a:noFill/>
                    </a:lnR>
                    <a:lnT>
                      <a:noFill/>
                    </a:lnT>
                    <a:lnB>
                      <a:noFill/>
                    </a:lnB>
                    <a:noFill/>
                  </a:tcPr>
                </a:tc>
                <a:extLst>
                  <a:ext uri="{0D108BD9-81ED-4DB2-BD59-A6C34878D82A}">
                    <a16:rowId xmlns:a16="http://schemas.microsoft.com/office/drawing/2014/main" val="2112310039"/>
                  </a:ext>
                </a:extLst>
              </a:tr>
              <a:tr h="0">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dirty="0"/>
                        <a:t>随时告知 </a:t>
                      </a:r>
                      <a:r>
                        <a:rPr lang="en-US" dirty="0"/>
                        <a:t>Keep informed</a:t>
                      </a:r>
                    </a:p>
                  </a:txBody>
                  <a:tcPr anchor="ctr">
                    <a:lnL>
                      <a:noFill/>
                    </a:lnL>
                    <a:lnR>
                      <a:noFill/>
                    </a:lnR>
                    <a:lnT>
                      <a:noFill/>
                    </a:lnT>
                    <a:lnB>
                      <a:noFill/>
                    </a:lnB>
                    <a:noFill/>
                  </a:tcPr>
                </a:tc>
                <a:extLst>
                  <a:ext uri="{0D108BD9-81ED-4DB2-BD59-A6C34878D82A}">
                    <a16:rowId xmlns:a16="http://schemas.microsoft.com/office/drawing/2014/main" val="2996962581"/>
                  </a:ext>
                </a:extLst>
              </a:tr>
              <a:tr h="0">
                <a:tc>
                  <a:txBody>
                    <a:bodyPr/>
                    <a:lstStyle/>
                    <a:p>
                      <a:pPr>
                        <a:buNone/>
                      </a:pPr>
                      <a:r>
                        <a:rPr lang="zh-CN" altLang="en-US" dirty="0"/>
                        <a:t>低</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令其满意 </a:t>
                      </a:r>
                      <a:r>
                        <a:rPr lang="en-US" dirty="0"/>
                        <a:t>Minimal effort</a:t>
                      </a:r>
                    </a:p>
                  </a:txBody>
                  <a:tcPr anchor="ctr">
                    <a:lnL>
                      <a:noFill/>
                    </a:lnL>
                    <a:lnR>
                      <a:noFill/>
                    </a:lnR>
                    <a:lnT>
                      <a:noFill/>
                    </a:lnT>
                    <a:lnB>
                      <a:noFill/>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7505069-8134-6A7E-341C-2B0F3E9FE1BB}"/>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4077578" y="3498981"/>
            <a:ext cx="7262228" cy="1440000"/>
          </a:xfrm>
        </p:spPr>
        <p:txBody>
          <a:bodyPr/>
          <a:lstStyle/>
          <a:p>
            <a:r>
              <a:rPr lang="zh-CN" altLang="en-US" dirty="0"/>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4077578" y="4938981"/>
            <a:ext cx="7262228" cy="900000"/>
          </a:xfrm>
        </p:spPr>
        <p:txBody>
          <a:bodyPr/>
          <a:lstStyle/>
          <a:p>
            <a:r>
              <a:rPr lang="en-US" altLang="zh-CN" dirty="0"/>
              <a:t>Section 9 Project Risk</a:t>
            </a:r>
            <a:endParaRPr lang="zh-CN" altLang="en-US" dirty="0"/>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p:txBody>
          <a:bodyPr/>
          <a:lstStyle/>
          <a:p>
            <a:r>
              <a:rPr lang="zh-CN" altLang="en-US" dirty="0"/>
              <a:t>类型</a:t>
            </a:r>
            <a:endParaRPr lang="en-US" altLang="zh-CN" dirty="0"/>
          </a:p>
          <a:p>
            <a:r>
              <a:rPr lang="en-US" altLang="zh-CN" dirty="0"/>
              <a:t>3</a:t>
            </a:r>
            <a:r>
              <a:rPr lang="zh-CN" altLang="en-US" dirty="0"/>
              <a:t>要素</a:t>
            </a:r>
            <a:endParaRPr lang="en-US" altLang="zh-CN" dirty="0"/>
          </a:p>
          <a:p>
            <a:r>
              <a:rPr lang="en-US" altLang="zh-CN" dirty="0"/>
              <a:t>4</a:t>
            </a:r>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dirty="0"/>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dirty="0"/>
              <a:t>Risk</a:t>
            </a:r>
            <a:endParaRPr lang="zh-CN" altLang="en-US" dirty="0"/>
          </a:p>
        </p:txBody>
      </p:sp>
    </p:spTree>
    <p:extLst>
      <p:ext uri="{BB962C8B-B14F-4D97-AF65-F5344CB8AC3E}">
        <p14:creationId xmlns:p14="http://schemas.microsoft.com/office/powerpoint/2010/main" val="287361564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normAutofit/>
          </a:bodyPr>
          <a:lstStyle/>
          <a:p>
            <a:r>
              <a:rPr lang="zh-CN" altLang="en-US" dirty="0"/>
              <a:t>风险曝光度 </a:t>
            </a:r>
            <a:r>
              <a:rPr lang="en-US" altLang="zh-CN" dirty="0"/>
              <a:t>Risk Exposure</a:t>
            </a:r>
            <a:endParaRPr lang="zh-CN" altLang="en-US" dirty="0"/>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dirty="0"/>
              <a:t>风险概率*可能的损失</a:t>
            </a:r>
          </a:p>
          <a:p>
            <a:r>
              <a:rPr lang="zh-CN" altLang="en-US" dirty="0"/>
              <a:t>管理风险可能会带来新的风险</a:t>
            </a:r>
          </a:p>
          <a:p>
            <a:r>
              <a:rPr lang="zh-CN" altLang="en-US" dirty="0"/>
              <a:t>风险是客观存在的，不可能完全避免</a:t>
            </a:r>
          </a:p>
          <a:p>
            <a:r>
              <a:rPr lang="zh-CN" altLang="en-US" dirty="0"/>
              <a:t>风险管理应贯穿整个项目管理过程</a:t>
            </a:r>
          </a:p>
          <a:p>
            <a:endParaRPr lang="zh-CN" altLang="en-US" dirty="0"/>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dirty="0"/>
              <a:t>在风险管理中，通常需要进行风险监测，其目的不包括（ ）。</a:t>
            </a:r>
            <a:endParaRPr lang="en-US" altLang="zh-CN" dirty="0"/>
          </a:p>
          <a:p>
            <a:endParaRPr lang="zh-CN" altLang="en-US" dirty="0"/>
          </a:p>
          <a:p>
            <a:r>
              <a:rPr lang="en-US" altLang="zh-CN" dirty="0"/>
              <a:t>A. </a:t>
            </a:r>
            <a:r>
              <a:rPr lang="zh-CN" altLang="en-US" dirty="0"/>
              <a:t>消除风险</a:t>
            </a:r>
          </a:p>
          <a:p>
            <a:r>
              <a:rPr lang="en-US" altLang="zh-CN" dirty="0"/>
              <a:t>B. </a:t>
            </a:r>
            <a:r>
              <a:rPr lang="zh-CN" altLang="en-US" dirty="0"/>
              <a:t>评估所预测的风险是否发生</a:t>
            </a:r>
          </a:p>
          <a:p>
            <a:r>
              <a:rPr lang="en-US" altLang="zh-CN" dirty="0"/>
              <a:t>C. </a:t>
            </a:r>
            <a:r>
              <a:rPr lang="zh-CN" altLang="en-US" dirty="0"/>
              <a:t>保证正确实施了风险缓解步骤</a:t>
            </a:r>
          </a:p>
          <a:p>
            <a:r>
              <a:rPr lang="en-US" altLang="zh-CN" dirty="0"/>
              <a:t>D. </a:t>
            </a:r>
            <a:r>
              <a:rPr lang="zh-CN" altLang="en-US" dirty="0"/>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dirty="0"/>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normAutofit/>
          </a:bodyPr>
          <a:lstStyle/>
          <a:p>
            <a:r>
              <a:rPr lang="zh-CN" altLang="en-US" dirty="0"/>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dirty="0"/>
              <a:t>Risk</a:t>
            </a:r>
            <a:endParaRPr lang="zh-CN" altLang="en-US" dirty="0"/>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已知风险 </a:t>
            </a:r>
            <a:r>
              <a:rPr lang="en-US" altLang="zh-CN" dirty="0">
                <a:solidFill>
                  <a:schemeClr val="tx1"/>
                </a:solidFill>
              </a:rPr>
              <a:t>Known known</a:t>
            </a:r>
          </a:p>
          <a:p>
            <a:r>
              <a:rPr lang="zh-CN" altLang="en-US" dirty="0">
                <a:solidFill>
                  <a:schemeClr val="tx1"/>
                </a:solidFill>
              </a:rPr>
              <a:t>可预测风险 </a:t>
            </a:r>
            <a:r>
              <a:rPr lang="en-US" altLang="zh-CN" dirty="0">
                <a:solidFill>
                  <a:schemeClr val="tx1"/>
                </a:solidFill>
              </a:rPr>
              <a:t>Known unknown </a:t>
            </a:r>
          </a:p>
          <a:p>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范围角度</a:t>
            </a:r>
          </a:p>
        </p:txBody>
      </p:sp>
    </p:spTree>
    <p:extLst>
      <p:ext uri="{BB962C8B-B14F-4D97-AF65-F5344CB8AC3E}">
        <p14:creationId xmlns:p14="http://schemas.microsoft.com/office/powerpoint/2010/main" val="306918126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dirty="0"/>
              <a:t>风险</a:t>
            </a:r>
            <a:r>
              <a:rPr lang="en-US" altLang="zh-CN" dirty="0"/>
              <a:t>3</a:t>
            </a:r>
            <a:r>
              <a:rPr lang="zh-CN" altLang="en-US" dirty="0"/>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dirty="0"/>
              <a:t>Risk</a:t>
            </a:r>
            <a:endParaRPr lang="zh-CN" altLang="en-US" dirty="0"/>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2367306395"/>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dirty="0"/>
              <a:t>风险</a:t>
            </a:r>
            <a:r>
              <a:rPr lang="en-US" altLang="zh-CN" dirty="0"/>
              <a:t>4</a:t>
            </a:r>
            <a:r>
              <a:rPr lang="zh-CN" altLang="en-US" dirty="0"/>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525886"/>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525886"/>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525886"/>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525886"/>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987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988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989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normAutofit/>
          </a:bodyPr>
          <a:lstStyle/>
          <a:p>
            <a:r>
              <a:rPr lang="en-US" altLang="zh-CN" dirty="0"/>
              <a:t>SWOT</a:t>
            </a:r>
            <a:endParaRPr lang="zh-CN" altLang="en-US" dirty="0"/>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t>字母</a:t>
                      </a:r>
                    </a:p>
                  </a:txBody>
                  <a:tcPr anchor="ctr">
                    <a:lnL>
                      <a:noFill/>
                    </a:lnL>
                    <a:lnR>
                      <a:noFill/>
                    </a:lnR>
                    <a:lnT>
                      <a:noFill/>
                    </a:lnT>
                    <a:lnB>
                      <a:noFill/>
                    </a:lnB>
                    <a:noFill/>
                  </a:tcPr>
                </a:tc>
                <a:tc>
                  <a:txBody>
                    <a:bodyPr/>
                    <a:lstStyle/>
                    <a:p>
                      <a:pPr>
                        <a:buNone/>
                      </a:pPr>
                      <a:r>
                        <a:rPr lang="zh-CN" altLang="en-US"/>
                        <a:t>含义</a:t>
                      </a:r>
                    </a:p>
                  </a:txBody>
                  <a:tcPr anchor="ctr">
                    <a:lnL>
                      <a:noFill/>
                    </a:lnL>
                    <a:lnR>
                      <a:noFill/>
                    </a:lnR>
                    <a:lnT>
                      <a:noFill/>
                    </a:lnT>
                    <a:lnB>
                      <a:noFill/>
                    </a:lnB>
                    <a:noFill/>
                  </a:tcPr>
                </a:tc>
                <a:tc>
                  <a:txBody>
                    <a:bodyPr/>
                    <a:lstStyle/>
                    <a:p>
                      <a:pPr>
                        <a:buNone/>
                      </a:pPr>
                      <a:r>
                        <a:rPr lang="zh-CN" altLang="en-US"/>
                        <a:t>内容</a:t>
                      </a:r>
                    </a:p>
                  </a:txBody>
                  <a:tcPr anchor="ctr">
                    <a:lnL>
                      <a:noFill/>
                    </a:lnL>
                    <a:lnR>
                      <a:noFill/>
                    </a:lnR>
                    <a:lnT>
                      <a:noFill/>
                    </a:lnT>
                    <a:lnB>
                      <a:noFill/>
                    </a:lnB>
                    <a:noFill/>
                  </a:tcPr>
                </a:tc>
                <a:extLst>
                  <a:ext uri="{0D108BD9-81ED-4DB2-BD59-A6C34878D82A}">
                    <a16:rowId xmlns:a16="http://schemas.microsoft.com/office/drawing/2014/main" val="1578355106"/>
                  </a:ext>
                </a:extLst>
              </a:tr>
              <a:tr h="0">
                <a:tc>
                  <a:txBody>
                    <a:bodyPr/>
                    <a:lstStyle/>
                    <a:p>
                      <a:pPr>
                        <a:buNone/>
                      </a:pPr>
                      <a:r>
                        <a:rPr lang="en-US"/>
                        <a:t>S</a:t>
                      </a:r>
                    </a:p>
                  </a:txBody>
                  <a:tcPr anchor="ctr">
                    <a:lnL>
                      <a:noFill/>
                    </a:lnL>
                    <a:lnR>
                      <a:noFill/>
                    </a:lnR>
                    <a:lnT>
                      <a:noFill/>
                    </a:lnT>
                    <a:lnB>
                      <a:noFill/>
                    </a:lnB>
                    <a:noFill/>
                  </a:tcPr>
                </a:tc>
                <a:tc>
                  <a:txBody>
                    <a:bodyPr/>
                    <a:lstStyle/>
                    <a:p>
                      <a:pPr>
                        <a:buNone/>
                      </a:pPr>
                      <a:r>
                        <a:rPr lang="en-US"/>
                        <a:t>Strengths（</a:t>
                      </a:r>
                      <a:r>
                        <a:rPr lang="zh-CN" altLang="en-US"/>
                        <a:t>优势）</a:t>
                      </a:r>
                    </a:p>
                  </a:txBody>
                  <a:tcPr anchor="ctr">
                    <a:lnL>
                      <a:noFill/>
                    </a:lnL>
                    <a:lnR>
                      <a:noFill/>
                    </a:lnR>
                    <a:lnT>
                      <a:noFill/>
                    </a:lnT>
                    <a:lnB>
                      <a:noFill/>
                    </a:lnB>
                    <a:noFill/>
                  </a:tcPr>
                </a:tc>
                <a:tc>
                  <a:txBody>
                    <a:bodyPr/>
                    <a:lstStyle/>
                    <a:p>
                      <a:pPr>
                        <a:buNone/>
                      </a:pPr>
                      <a:r>
                        <a:rPr lang="zh-CN" altLang="en-US"/>
                        <a:t>组织内部的积极因素（如技术强、团队经验丰富）</a:t>
                      </a:r>
                    </a:p>
                  </a:txBody>
                  <a:tcPr anchor="ctr">
                    <a:lnL>
                      <a:noFill/>
                    </a:lnL>
                    <a:lnR>
                      <a:noFill/>
                    </a:lnR>
                    <a:lnT>
                      <a:noFill/>
                    </a:lnT>
                    <a:lnB>
                      <a:noFill/>
                    </a:lnB>
                    <a:noFill/>
                  </a:tcPr>
                </a:tc>
                <a:extLst>
                  <a:ext uri="{0D108BD9-81ED-4DB2-BD59-A6C34878D82A}">
                    <a16:rowId xmlns:a16="http://schemas.microsoft.com/office/drawing/2014/main" val="3466432399"/>
                  </a:ext>
                </a:extLst>
              </a:tr>
              <a:tr h="0">
                <a:tc>
                  <a:txBody>
                    <a:bodyPr/>
                    <a:lstStyle/>
                    <a:p>
                      <a:pPr>
                        <a:buNone/>
                      </a:pPr>
                      <a:r>
                        <a:rPr lang="en-US"/>
                        <a:t>W</a:t>
                      </a:r>
                    </a:p>
                  </a:txBody>
                  <a:tcPr anchor="ctr">
                    <a:lnL>
                      <a:noFill/>
                    </a:lnL>
                    <a:lnR>
                      <a:noFill/>
                    </a:lnR>
                    <a:lnT>
                      <a:noFill/>
                    </a:lnT>
                    <a:lnB>
                      <a:noFill/>
                    </a:lnB>
                    <a:noFill/>
                  </a:tcPr>
                </a:tc>
                <a:tc>
                  <a:txBody>
                    <a:bodyPr/>
                    <a:lstStyle/>
                    <a:p>
                      <a:pPr>
                        <a:buNone/>
                      </a:pPr>
                      <a:r>
                        <a:rPr lang="en-US"/>
                        <a:t>Weaknesses（</a:t>
                      </a:r>
                      <a:r>
                        <a:rPr lang="zh-CN" altLang="en-US"/>
                        <a:t>劣势）</a:t>
                      </a:r>
                    </a:p>
                  </a:txBody>
                  <a:tcPr anchor="ctr">
                    <a:lnL>
                      <a:noFill/>
                    </a:lnL>
                    <a:lnR>
                      <a:noFill/>
                    </a:lnR>
                    <a:lnT>
                      <a:noFill/>
                    </a:lnT>
                    <a:lnB>
                      <a:noFill/>
                    </a:lnB>
                    <a:noFill/>
                  </a:tcPr>
                </a:tc>
                <a:tc>
                  <a:txBody>
                    <a:bodyPr/>
                    <a:lstStyle/>
                    <a:p>
                      <a:pPr>
                        <a:buNone/>
                      </a:pPr>
                      <a:r>
                        <a:rPr lang="zh-CN" altLang="en-US"/>
                        <a:t>组织内部的消极因素（如资源不足、流程混乱）</a:t>
                      </a:r>
                    </a:p>
                  </a:txBody>
                  <a:tcPr anchor="ctr">
                    <a:lnL>
                      <a:noFill/>
                    </a:lnL>
                    <a:lnR>
                      <a:noFill/>
                    </a:lnR>
                    <a:lnT>
                      <a:noFill/>
                    </a:lnT>
                    <a:lnB>
                      <a:noFill/>
                    </a:lnB>
                    <a:noFill/>
                  </a:tcPr>
                </a:tc>
                <a:extLst>
                  <a:ext uri="{0D108BD9-81ED-4DB2-BD59-A6C34878D82A}">
                    <a16:rowId xmlns:a16="http://schemas.microsoft.com/office/drawing/2014/main" val="1920212666"/>
                  </a:ext>
                </a:extLst>
              </a:tr>
              <a:tr h="0">
                <a:tc>
                  <a:txBody>
                    <a:bodyPr/>
                    <a:lstStyle/>
                    <a:p>
                      <a:pPr>
                        <a:buNone/>
                      </a:pPr>
                      <a:r>
                        <a:rPr lang="en-US"/>
                        <a:t>O</a:t>
                      </a:r>
                    </a:p>
                  </a:txBody>
                  <a:tcPr anchor="ctr">
                    <a:lnL>
                      <a:noFill/>
                    </a:lnL>
                    <a:lnR>
                      <a:noFill/>
                    </a:lnR>
                    <a:lnT>
                      <a:noFill/>
                    </a:lnT>
                    <a:lnB>
                      <a:noFill/>
                    </a:lnB>
                    <a:noFill/>
                  </a:tcPr>
                </a:tc>
                <a:tc>
                  <a:txBody>
                    <a:bodyPr/>
                    <a:lstStyle/>
                    <a:p>
                      <a:pPr>
                        <a:buNone/>
                      </a:pPr>
                      <a:r>
                        <a:rPr lang="en-US"/>
                        <a:t>Opportunities（</a:t>
                      </a:r>
                      <a:r>
                        <a:rPr lang="zh-CN" altLang="en-US"/>
                        <a:t>机会）</a:t>
                      </a:r>
                    </a:p>
                  </a:txBody>
                  <a:tcPr anchor="ctr">
                    <a:lnL>
                      <a:noFill/>
                    </a:lnL>
                    <a:lnR>
                      <a:noFill/>
                    </a:lnR>
                    <a:lnT>
                      <a:noFill/>
                    </a:lnT>
                    <a:lnB>
                      <a:noFill/>
                    </a:lnB>
                    <a:noFill/>
                  </a:tcPr>
                </a:tc>
                <a:tc>
                  <a:txBody>
                    <a:bodyPr/>
                    <a:lstStyle/>
                    <a:p>
                      <a:pPr>
                        <a:buNone/>
                      </a:pPr>
                      <a:r>
                        <a:rPr lang="zh-CN" altLang="en-US"/>
                        <a:t>外部环境中的有利条件（如政策支持、市场需求增长）</a:t>
                      </a:r>
                    </a:p>
                  </a:txBody>
                  <a:tcPr anchor="ctr">
                    <a:lnL>
                      <a:noFill/>
                    </a:lnL>
                    <a:lnR>
                      <a:noFill/>
                    </a:lnR>
                    <a:lnT>
                      <a:noFill/>
                    </a:lnT>
                    <a:lnB>
                      <a:noFill/>
                    </a:lnB>
                    <a:noFill/>
                  </a:tcPr>
                </a:tc>
                <a:extLst>
                  <a:ext uri="{0D108BD9-81ED-4DB2-BD59-A6C34878D82A}">
                    <a16:rowId xmlns:a16="http://schemas.microsoft.com/office/drawing/2014/main" val="2296084666"/>
                  </a:ext>
                </a:extLst>
              </a:tr>
              <a:tr h="0">
                <a:tc>
                  <a:txBody>
                    <a:bodyPr/>
                    <a:lstStyle/>
                    <a:p>
                      <a:pPr>
                        <a:buNone/>
                      </a:pPr>
                      <a:r>
                        <a:rPr lang="en-US"/>
                        <a:t>T</a:t>
                      </a:r>
                    </a:p>
                  </a:txBody>
                  <a:tcPr anchor="ctr">
                    <a:lnL>
                      <a:noFill/>
                    </a:lnL>
                    <a:lnR>
                      <a:noFill/>
                    </a:lnR>
                    <a:lnT>
                      <a:noFill/>
                    </a:lnT>
                    <a:lnB>
                      <a:noFill/>
                    </a:lnB>
                    <a:noFill/>
                  </a:tcPr>
                </a:tc>
                <a:tc>
                  <a:txBody>
                    <a:bodyPr/>
                    <a:lstStyle/>
                    <a:p>
                      <a:pPr>
                        <a:buNone/>
                      </a:pPr>
                      <a:r>
                        <a:rPr lang="en-US"/>
                        <a:t>Threats（</a:t>
                      </a:r>
                      <a:r>
                        <a:rPr lang="zh-CN" altLang="en-US"/>
                        <a:t>威胁）</a:t>
                      </a:r>
                    </a:p>
                  </a:txBody>
                  <a:tcPr anchor="ctr">
                    <a:lnL>
                      <a:noFill/>
                    </a:lnL>
                    <a:lnR>
                      <a:noFill/>
                    </a:lnR>
                    <a:lnT>
                      <a:noFill/>
                    </a:lnT>
                    <a:lnB>
                      <a:noFill/>
                    </a:lnB>
                    <a:noFill/>
                  </a:tcPr>
                </a:tc>
                <a:tc>
                  <a:txBody>
                    <a:bodyPr/>
                    <a:lstStyle/>
                    <a:p>
                      <a:pPr>
                        <a:buNone/>
                      </a:pPr>
                      <a:r>
                        <a:rPr lang="zh-CN" altLang="en-US" dirty="0"/>
                        <a:t>外部环境中的不利因素（如竞争加剧、法规变化）</a:t>
                      </a:r>
                    </a:p>
                  </a:txBody>
                  <a:tcPr anchor="ctr">
                    <a:lnL>
                      <a:noFill/>
                    </a:lnL>
                    <a:lnR>
                      <a:noFill/>
                    </a:lnR>
                    <a:lnT>
                      <a:noFill/>
                    </a:lnT>
                    <a:lnB>
                      <a:noFill/>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8134C41F-B840-F4A9-4C6C-08964B75F66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4077578" y="3498981"/>
            <a:ext cx="7262228" cy="1440000"/>
          </a:xfrm>
        </p:spPr>
        <p:txBody>
          <a:bodyPr/>
          <a:lstStyle/>
          <a:p>
            <a:r>
              <a:rPr lang="zh-CN" altLang="en-US" dirty="0"/>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4077578" y="4938981"/>
            <a:ext cx="7262228" cy="900000"/>
          </a:xfrm>
        </p:spPr>
        <p:txBody>
          <a:bodyPr/>
          <a:lstStyle/>
          <a:p>
            <a:r>
              <a:rPr lang="en-US" altLang="zh-CN" dirty="0"/>
              <a:t>Section 10 Project Contract</a:t>
            </a:r>
            <a:endParaRPr lang="zh-CN" altLang="en-US" dirty="0"/>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7912100" y="1128713"/>
            <a:ext cx="3427413" cy="2300287"/>
          </a:xfrm>
        </p:spPr>
        <p:txBody>
          <a:bodyPr/>
          <a:lstStyle/>
          <a:p>
            <a:r>
              <a:rPr lang="zh-CN" altLang="en-US" dirty="0"/>
              <a:t>类型</a:t>
            </a:r>
          </a:p>
          <a:p>
            <a:r>
              <a:rPr lang="zh-CN" altLang="en-US" dirty="0"/>
              <a:t>签订</a:t>
            </a:r>
          </a:p>
          <a:p>
            <a:r>
              <a:rPr lang="zh-CN" altLang="en-US" dirty="0"/>
              <a:t>管理</a:t>
            </a:r>
          </a:p>
        </p:txBody>
      </p:sp>
    </p:spTree>
    <p:extLst>
      <p:ext uri="{BB962C8B-B14F-4D97-AF65-F5344CB8AC3E}">
        <p14:creationId xmlns:p14="http://schemas.microsoft.com/office/powerpoint/2010/main" val="910411400"/>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normAutofit/>
          </a:bodyPr>
          <a:lstStyle/>
          <a:p>
            <a:r>
              <a:rPr lang="zh-CN" altLang="en-US" dirty="0"/>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dirty="0"/>
              <a:t>合同是具有法律</a:t>
            </a:r>
            <a:r>
              <a:rPr lang="zh-CN" altLang="zh-CN" dirty="0"/>
              <a:t>效力</a:t>
            </a:r>
            <a:r>
              <a:rPr lang="zh-CN" altLang="en-US" dirty="0"/>
              <a:t>的协议</a:t>
            </a:r>
            <a:endParaRPr lang="en-US" altLang="zh-CN" dirty="0"/>
          </a:p>
          <a:p>
            <a:r>
              <a:rPr lang="zh-CN" altLang="en-US" dirty="0"/>
              <a:t>双方自愿达成的协议</a:t>
            </a:r>
            <a:endParaRPr lang="en-US" altLang="zh-CN" dirty="0"/>
          </a:p>
          <a:p>
            <a:r>
              <a:rPr lang="zh-CN" altLang="en-US" dirty="0"/>
              <a:t>签订者具有相应的法律能力</a:t>
            </a:r>
          </a:p>
          <a:p>
            <a:r>
              <a:rPr lang="zh-CN" altLang="en-US" dirty="0"/>
              <a:t>有充分的签约理由</a:t>
            </a:r>
          </a:p>
          <a:p>
            <a:r>
              <a:rPr lang="zh-CN" altLang="en-US" dirty="0"/>
              <a:t>具有合法的目的</a:t>
            </a:r>
          </a:p>
          <a:p>
            <a:endParaRPr lang="en-US" altLang="zh-CN" dirty="0"/>
          </a:p>
          <a:p>
            <a:endParaRPr lang="zh-CN" altLang="en-US" dirty="0"/>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227858008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normAutofit/>
          </a:bodyPr>
          <a:lstStyle/>
          <a:p>
            <a:r>
              <a:rPr lang="zh-CN" altLang="en-US" dirty="0"/>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dirty="0"/>
              <a:t>按范围方式</a:t>
            </a:r>
            <a:endParaRPr lang="en-US" altLang="zh-CN" dirty="0"/>
          </a:p>
          <a:p>
            <a:pPr lvl="1"/>
            <a:r>
              <a:rPr lang="zh-CN" altLang="en-US" dirty="0"/>
              <a:t>总承包合同</a:t>
            </a:r>
            <a:endParaRPr lang="en-US" altLang="zh-CN" dirty="0"/>
          </a:p>
          <a:p>
            <a:pPr lvl="1"/>
            <a:r>
              <a:rPr lang="zh-CN" altLang="en-US" dirty="0"/>
              <a:t>单项工程承包合同</a:t>
            </a:r>
            <a:endParaRPr lang="en-US" altLang="zh-CN" dirty="0"/>
          </a:p>
          <a:p>
            <a:pPr lvl="1"/>
            <a:r>
              <a:rPr lang="zh-CN" altLang="en-US" dirty="0"/>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66351607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normAutofit/>
          </a:bodyPr>
          <a:lstStyle/>
          <a:p>
            <a:r>
              <a:rPr lang="zh-CN" altLang="en-US" dirty="0"/>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dirty="0"/>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dirty="0"/>
              <a:t>Contract</a:t>
            </a:r>
            <a:endParaRPr lang="zh-CN" altLang="en-US" dirty="0"/>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873720391"/>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zh-CN" dirty="0"/>
              <a:t>总价合同</a:t>
            </a:r>
            <a:endParaRPr lang="zh-CN" altLang="en-US" dirty="0"/>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dirty="0"/>
              <a:t>Fixed Price</a:t>
            </a:r>
          </a:p>
          <a:p>
            <a:r>
              <a:rPr lang="zh-CN" altLang="zh-CN" dirty="0"/>
              <a:t>总价合同为既定产品、服务或成果的采购设定一个总价</a:t>
            </a:r>
            <a:endParaRPr lang="en-US" altLang="zh-CN" dirty="0"/>
          </a:p>
          <a:p>
            <a:r>
              <a:rPr lang="zh-CN" altLang="en-US" dirty="0"/>
              <a:t>预算固定、成本可控</a:t>
            </a:r>
            <a:endParaRPr lang="en-US" altLang="zh-CN" dirty="0"/>
          </a:p>
          <a:p>
            <a:r>
              <a:rPr lang="zh-CN" altLang="en-US" dirty="0"/>
              <a:t>适用：需求明确，且不会出现重大范围变更。</a:t>
            </a:r>
          </a:p>
          <a:p>
            <a:endParaRPr lang="zh-CN" altLang="en-US" dirty="0"/>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67746977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en-US" dirty="0"/>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dirty="0"/>
              <a:t>Cost Reimbursable</a:t>
            </a:r>
          </a:p>
          <a:p>
            <a:r>
              <a:rPr lang="zh-CN" altLang="zh-CN" dirty="0"/>
              <a:t>向卖方支付为完成工作而发生的全部合法实际成本，外加一笔费用作为卖方的利润。</a:t>
            </a:r>
            <a:endParaRPr lang="en-US" altLang="zh-CN" dirty="0"/>
          </a:p>
          <a:p>
            <a:r>
              <a:rPr lang="zh-CN" altLang="en-US" dirty="0"/>
              <a:t>组成：实际成本</a:t>
            </a:r>
            <a:r>
              <a:rPr lang="en-US" altLang="zh-CN" dirty="0"/>
              <a:t>+</a:t>
            </a:r>
            <a:r>
              <a:rPr lang="zh-CN" altLang="en-US" dirty="0"/>
              <a:t>酬金</a:t>
            </a:r>
            <a:r>
              <a:rPr lang="en-US" altLang="zh-CN" dirty="0"/>
              <a:t>/</a:t>
            </a:r>
            <a:r>
              <a:rPr lang="zh-CN" altLang="en-US" dirty="0"/>
              <a:t>利润</a:t>
            </a:r>
            <a:endParaRPr lang="en-US" altLang="zh-CN" dirty="0"/>
          </a:p>
          <a:p>
            <a:r>
              <a:rPr lang="zh-CN" altLang="zh-CN" dirty="0"/>
              <a:t>适用：工作范围预计会在合同执行期间发生重大变更</a:t>
            </a:r>
            <a:endParaRPr lang="zh-CN" altLang="en-US" dirty="0"/>
          </a:p>
          <a:p>
            <a:endParaRPr lang="zh-CN" altLang="en-US" dirty="0"/>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925197643"/>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normAutofit/>
          </a:bodyPr>
          <a:lstStyle/>
          <a:p>
            <a:r>
              <a:rPr lang="zh-CN" altLang="en-US" dirty="0"/>
              <a:t>合同类型 </a:t>
            </a:r>
            <a:r>
              <a:rPr lang="en-US" altLang="zh-CN" dirty="0"/>
              <a:t>- </a:t>
            </a:r>
            <a:r>
              <a:rPr lang="zh-CN" altLang="zh-CN" dirty="0"/>
              <a:t>工料合同</a:t>
            </a:r>
            <a:r>
              <a:rPr lang="en-US" altLang="zh-CN" dirty="0"/>
              <a:t> T&amp;M</a:t>
            </a:r>
            <a:endParaRPr lang="zh-CN" altLang="en-US" dirty="0"/>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dirty="0"/>
              <a:t>Time &amp; Material</a:t>
            </a:r>
            <a:r>
              <a:rPr lang="zh-CN" altLang="en-US" dirty="0"/>
              <a:t>，</a:t>
            </a:r>
            <a:r>
              <a:rPr lang="en-US" altLang="zh-CN" dirty="0"/>
              <a:t>T&amp;M</a:t>
            </a:r>
          </a:p>
          <a:p>
            <a:r>
              <a:rPr lang="zh-CN" altLang="en-US" dirty="0"/>
              <a:t>兼具：成本补偿合同和总价合同的特点</a:t>
            </a:r>
            <a:endParaRPr lang="en-US" altLang="zh-CN" dirty="0"/>
          </a:p>
          <a:p>
            <a:r>
              <a:rPr lang="zh-CN" altLang="en-US" dirty="0"/>
              <a:t>组成：实际成本</a:t>
            </a:r>
            <a:r>
              <a:rPr lang="en-US" altLang="zh-CN" dirty="0"/>
              <a:t>+</a:t>
            </a:r>
            <a:r>
              <a:rPr lang="zh-CN" altLang="en-US" dirty="0"/>
              <a:t>管理</a:t>
            </a:r>
            <a:endParaRPr lang="en-US" altLang="zh-CN" dirty="0"/>
          </a:p>
          <a:p>
            <a:r>
              <a:rPr lang="zh-CN" altLang="zh-CN" dirty="0"/>
              <a:t>必须为每一个单位的工作量付出一定的报酬</a:t>
            </a:r>
            <a:endParaRPr lang="en-US" altLang="zh-CN" dirty="0"/>
          </a:p>
          <a:p>
            <a:r>
              <a:rPr lang="zh-CN" altLang="en-US" dirty="0"/>
              <a:t>适用范围：宽</a:t>
            </a:r>
            <a:endParaRPr lang="en-US" altLang="zh-CN" dirty="0"/>
          </a:p>
          <a:p>
            <a:endParaRPr lang="en-US" altLang="zh-CN" dirty="0"/>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57045550"/>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dirty="0"/>
                        <a:t>合同类型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dirty="0"/>
                        <a:t>总价合同</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单价或总价固定，风险由卖方承担</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范围明确、需求清晰</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756097127"/>
                  </a:ext>
                </a:extLst>
              </a:tr>
              <a:tr h="0">
                <a:tc>
                  <a:txBody>
                    <a:bodyPr/>
                    <a:lstStyle/>
                    <a:p>
                      <a:pPr>
                        <a:buNone/>
                      </a:pPr>
                      <a:r>
                        <a:rPr lang="zh-CN" altLang="en-US" dirty="0"/>
                        <a:t>成本补偿合同</a:t>
                      </a:r>
                      <a:endParaRPr lang="en-US" dirty="0"/>
                    </a:p>
                  </a:txBody>
                  <a:tcPr anchor="ctr">
                    <a:lnL>
                      <a:noFill/>
                    </a:lnL>
                    <a:lnR>
                      <a:noFill/>
                    </a:lnR>
                    <a:lnT>
                      <a:noFill/>
                    </a:lnT>
                    <a:lnB>
                      <a:noFill/>
                    </a:lnB>
                    <a:noFill/>
                  </a:tcPr>
                </a:tc>
                <a:tc>
                  <a:txBody>
                    <a:bodyPr/>
                    <a:lstStyle/>
                    <a:p>
                      <a:pPr>
                        <a:buNone/>
                      </a:pPr>
                      <a:r>
                        <a:rPr lang="zh-CN" altLang="en-US"/>
                        <a:t>支付实际成本</a:t>
                      </a:r>
                      <a:r>
                        <a:rPr lang="en-US" altLang="zh-CN"/>
                        <a:t>+</a:t>
                      </a:r>
                      <a:r>
                        <a:rPr lang="zh-CN" altLang="en-US"/>
                        <a:t>酬金，买方承担大部分风险</a:t>
                      </a:r>
                    </a:p>
                  </a:txBody>
                  <a:tcPr anchor="ctr">
                    <a:lnL>
                      <a:noFill/>
                    </a:lnL>
                    <a:lnR>
                      <a:noFill/>
                    </a:lnR>
                    <a:lnT>
                      <a:noFill/>
                    </a:lnT>
                    <a:lnB>
                      <a:noFill/>
                    </a:lnB>
                    <a:noFill/>
                  </a:tcPr>
                </a:tc>
                <a:tc>
                  <a:txBody>
                    <a:bodyPr/>
                    <a:lstStyle/>
                    <a:p>
                      <a:pPr>
                        <a:buNone/>
                      </a:pPr>
                      <a:r>
                        <a:rPr lang="zh-CN" altLang="en-US" dirty="0"/>
                        <a:t>范围不确定、需灵活调整</a:t>
                      </a:r>
                    </a:p>
                  </a:txBody>
                  <a:tcPr anchor="ctr">
                    <a:lnL>
                      <a:noFill/>
                    </a:lnL>
                    <a:lnR>
                      <a:noFill/>
                    </a:lnR>
                    <a:lnT>
                      <a:noFill/>
                    </a:lnT>
                    <a:lnB>
                      <a:noFill/>
                    </a:lnB>
                    <a:noFill/>
                  </a:tcPr>
                </a:tc>
                <a:extLst>
                  <a:ext uri="{0D108BD9-81ED-4DB2-BD59-A6C34878D82A}">
                    <a16:rowId xmlns:a16="http://schemas.microsoft.com/office/drawing/2014/main" val="594792854"/>
                  </a:ext>
                </a:extLst>
              </a:tr>
              <a:tr h="0">
                <a:tc>
                  <a:txBody>
                    <a:bodyPr/>
                    <a:lstStyle/>
                    <a:p>
                      <a:pPr>
                        <a:buNone/>
                      </a:pPr>
                      <a:r>
                        <a:rPr lang="zh-CN" altLang="en-US" dirty="0"/>
                        <a:t>工料合同</a:t>
                      </a:r>
                      <a:endParaRPr lang="en-US" dirty="0"/>
                    </a:p>
                  </a:txBody>
                  <a:tcPr anchor="ctr">
                    <a:lnL>
                      <a:noFill/>
                    </a:lnL>
                    <a:lnR>
                      <a:noFill/>
                    </a:lnR>
                    <a:lnT>
                      <a:noFill/>
                    </a:lnT>
                    <a:lnB>
                      <a:noFill/>
                    </a:lnB>
                    <a:noFill/>
                  </a:tcPr>
                </a:tc>
                <a:tc>
                  <a:txBody>
                    <a:bodyPr/>
                    <a:lstStyle/>
                    <a:p>
                      <a:pPr>
                        <a:buNone/>
                      </a:pPr>
                      <a:r>
                        <a:rPr lang="zh-CN" altLang="en-US"/>
                        <a:t>按工时和材料计费，单价固定，总量不固定</a:t>
                      </a:r>
                    </a:p>
                  </a:txBody>
                  <a:tcPr anchor="ctr">
                    <a:lnL>
                      <a:noFill/>
                    </a:lnL>
                    <a:lnR>
                      <a:noFill/>
                    </a:lnR>
                    <a:lnT>
                      <a:noFill/>
                    </a:lnT>
                    <a:lnB>
                      <a:noFill/>
                    </a:lnB>
                    <a:noFill/>
                  </a:tcPr>
                </a:tc>
                <a:tc>
                  <a:txBody>
                    <a:bodyPr/>
                    <a:lstStyle/>
                    <a:p>
                      <a:pPr>
                        <a:buNone/>
                      </a:pPr>
                      <a:r>
                        <a:rPr lang="zh-CN" altLang="en-US" dirty="0"/>
                        <a:t>范围不清但可定义工作单元</a:t>
                      </a:r>
                    </a:p>
                  </a:txBody>
                  <a:tcPr anchor="ctr">
                    <a:lnL>
                      <a:noFill/>
                    </a:lnL>
                    <a:lnR>
                      <a:noFill/>
                    </a:lnR>
                    <a:lnT>
                      <a:noFill/>
                    </a:lnT>
                    <a:lnB>
                      <a:noFill/>
                    </a:lnB>
                    <a:noFill/>
                  </a:tcPr>
                </a:tc>
                <a:extLst>
                  <a:ext uri="{0D108BD9-81ED-4DB2-BD59-A6C34878D82A}">
                    <a16:rowId xmlns:a16="http://schemas.microsoft.com/office/drawing/2014/main" val="49766670"/>
                  </a:ext>
                </a:extLst>
              </a:tr>
              <a:tr h="0">
                <a:tc>
                  <a:txBody>
                    <a:bodyPr/>
                    <a:lstStyle/>
                    <a:p>
                      <a:pPr>
                        <a:buNone/>
                      </a:pPr>
                      <a:r>
                        <a:rPr lang="zh-CN" altLang="en-US" dirty="0"/>
                        <a:t>采购单合同 </a:t>
                      </a:r>
                      <a:r>
                        <a:rPr lang="en-US" dirty="0"/>
                        <a:t>Purchase Order</a:t>
                      </a:r>
                    </a:p>
                  </a:txBody>
                  <a:tcPr anchor="ctr">
                    <a:lnL>
                      <a:noFill/>
                    </a:lnL>
                    <a:lnR>
                      <a:noFill/>
                    </a:lnR>
                    <a:lnT>
                      <a:noFill/>
                    </a:lnT>
                    <a:lnB>
                      <a:noFill/>
                    </a:lnB>
                    <a:noFill/>
                  </a:tcPr>
                </a:tc>
                <a:tc>
                  <a:txBody>
                    <a:bodyPr/>
                    <a:lstStyle/>
                    <a:p>
                      <a:pPr>
                        <a:buNone/>
                      </a:pPr>
                      <a:r>
                        <a:rPr lang="zh-CN" altLang="en-US"/>
                        <a:t>简单采购订单，用于一次性商品</a:t>
                      </a:r>
                      <a:r>
                        <a:rPr lang="en-US" altLang="zh-CN"/>
                        <a:t>/</a:t>
                      </a:r>
                      <a:r>
                        <a:rPr lang="zh-CN" altLang="en-US"/>
                        <a:t>服务</a:t>
                      </a:r>
                    </a:p>
                  </a:txBody>
                  <a:tcPr anchor="ctr">
                    <a:lnL>
                      <a:noFill/>
                    </a:lnL>
                    <a:lnR>
                      <a:noFill/>
                    </a:lnR>
                    <a:lnT>
                      <a:noFill/>
                    </a:lnT>
                    <a:lnB>
                      <a:noFill/>
                    </a:lnB>
                    <a:noFill/>
                  </a:tcPr>
                </a:tc>
                <a:tc>
                  <a:txBody>
                    <a:bodyPr/>
                    <a:lstStyle/>
                    <a:p>
                      <a:pPr>
                        <a:buNone/>
                      </a:pPr>
                      <a:r>
                        <a:rPr lang="zh-CN" altLang="en-US" dirty="0"/>
                        <a:t>小额、标准品、非复杂项目</a:t>
                      </a:r>
                    </a:p>
                  </a:txBody>
                  <a:tcPr anchor="ctr">
                    <a:lnL>
                      <a:noFill/>
                    </a:lnL>
                    <a:lnR>
                      <a:noFill/>
                    </a:lnR>
                    <a:lnT>
                      <a:noFill/>
                    </a:lnT>
                    <a:lnB>
                      <a:noFill/>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dirty="0"/>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dirty="0"/>
              <a:t>明确如何进行委托、委托什么项目、何时进行、费用如何等</a:t>
            </a:r>
            <a:endParaRPr lang="en-US" altLang="zh-CN" dirty="0"/>
          </a:p>
          <a:p>
            <a:r>
              <a:rPr lang="zh-CN" altLang="en-US" dirty="0"/>
              <a:t>选择需要的合同类型，采用的招标方式、合同形式等</a:t>
            </a:r>
            <a:endParaRPr lang="en-US" altLang="zh-CN" dirty="0"/>
          </a:p>
          <a:p>
            <a:r>
              <a:rPr lang="zh-CN" altLang="en-US" dirty="0"/>
              <a:t>输出</a:t>
            </a:r>
            <a:endParaRPr lang="en-US" altLang="zh-CN" dirty="0"/>
          </a:p>
          <a:p>
            <a:pPr lvl="1"/>
            <a:r>
              <a:rPr lang="zh-CN" altLang="en-US" dirty="0"/>
              <a:t>招标书或者类似招标书的形式体现的   </a:t>
            </a:r>
          </a:p>
          <a:p>
            <a:endParaRPr lang="zh-CN" altLang="en-US" dirty="0"/>
          </a:p>
          <a:p>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398420800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normAutofit/>
          </a:bodyPr>
          <a:lstStyle/>
          <a:p>
            <a:r>
              <a:rPr lang="zh-CN" altLang="en-US" dirty="0"/>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dirty="0"/>
              <a:t>多层</a:t>
            </a:r>
            <a:r>
              <a:rPr lang="zh-CN" altLang="en-US" dirty="0"/>
              <a:t>协议</a:t>
            </a:r>
            <a:r>
              <a:rPr lang="zh-CN" altLang="zh-CN" dirty="0"/>
              <a:t>结构</a:t>
            </a:r>
            <a:endParaRPr lang="en-US" altLang="zh-CN" dirty="0"/>
          </a:p>
          <a:p>
            <a:r>
              <a:rPr lang="zh-CN" altLang="zh-CN" dirty="0"/>
              <a:t>价值交付</a:t>
            </a:r>
            <a:r>
              <a:rPr lang="zh-CN" altLang="en-US" dirty="0"/>
              <a:t>（例如迭代付费）</a:t>
            </a:r>
            <a:endParaRPr lang="en-US" altLang="zh-CN" dirty="0"/>
          </a:p>
          <a:p>
            <a:r>
              <a:rPr lang="zh-CN" altLang="zh-CN" dirty="0"/>
              <a:t>总价增量</a:t>
            </a:r>
            <a:r>
              <a:rPr lang="en-US" altLang="zh-CN" dirty="0"/>
              <a:t> </a:t>
            </a:r>
            <a:r>
              <a:rPr lang="zh-CN" altLang="en-US" dirty="0"/>
              <a:t>（例如基于</a:t>
            </a:r>
            <a:r>
              <a:rPr lang="en-US" altLang="zh-CN" dirty="0"/>
              <a:t>Story</a:t>
            </a:r>
            <a:r>
              <a:rPr lang="zh-CN" altLang="en-US" dirty="0"/>
              <a:t>付费）</a:t>
            </a:r>
            <a:endParaRPr lang="en-US" altLang="zh-CN" dirty="0"/>
          </a:p>
          <a:p>
            <a:r>
              <a:rPr lang="zh-CN" altLang="en-US" dirty="0"/>
              <a:t>灵活总价</a:t>
            </a:r>
            <a:r>
              <a:rPr lang="zh-CN" altLang="zh-CN" dirty="0"/>
              <a:t>方案</a:t>
            </a:r>
            <a:endParaRPr lang="en-US" altLang="zh-CN" dirty="0"/>
          </a:p>
          <a:p>
            <a:r>
              <a:rPr lang="zh-CN" altLang="zh-CN" dirty="0"/>
              <a:t>动态范围方案</a:t>
            </a:r>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87901474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dirty="0"/>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dirty="0"/>
              <a:t>经济补偿，不是处罚</a:t>
            </a:r>
            <a:endParaRPr lang="en-US" altLang="zh-CN" dirty="0"/>
          </a:p>
          <a:p>
            <a:r>
              <a:rPr lang="zh-CN" altLang="en-US" dirty="0"/>
              <a:t>分类：</a:t>
            </a:r>
            <a:endParaRPr lang="en-US" altLang="zh-CN" dirty="0"/>
          </a:p>
          <a:p>
            <a:pPr lvl="1"/>
            <a:r>
              <a:rPr lang="zh-CN" altLang="en-US" dirty="0"/>
              <a:t>工期索赔</a:t>
            </a:r>
            <a:endParaRPr lang="en-US" altLang="zh-CN" dirty="0"/>
          </a:p>
          <a:p>
            <a:pPr lvl="1"/>
            <a:r>
              <a:rPr lang="zh-CN" altLang="en-US" dirty="0"/>
              <a:t>费用索赔</a:t>
            </a:r>
            <a:endParaRPr lang="en-US" altLang="zh-CN" dirty="0"/>
          </a:p>
          <a:p>
            <a:r>
              <a:rPr lang="zh-CN" altLang="en-US" dirty="0"/>
              <a:t>期限：每个阶段均为</a:t>
            </a:r>
            <a:r>
              <a:rPr lang="en-US" altLang="zh-CN" dirty="0"/>
              <a:t>28</a:t>
            </a:r>
            <a:r>
              <a:rPr lang="zh-CN" altLang="en-US" dirty="0"/>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dirty="0"/>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dirty="0"/>
              <a:t>合同变更是一个管理闭环过程，通常遵循以下顺序：</a:t>
            </a:r>
          </a:p>
          <a:p>
            <a:pPr lvl="1"/>
            <a:r>
              <a:rPr lang="zh-CN" altLang="en-US" dirty="0"/>
              <a:t>变更提出 </a:t>
            </a:r>
            <a:r>
              <a:rPr lang="en-US" altLang="zh-CN" dirty="0"/>
              <a:t>Change Request Submitted</a:t>
            </a:r>
            <a:r>
              <a:rPr lang="zh-CN" altLang="en-US" dirty="0"/>
              <a:t>：一方（如业主、承包商）提出变更需求</a:t>
            </a:r>
          </a:p>
          <a:p>
            <a:pPr lvl="1"/>
            <a:r>
              <a:rPr lang="zh-CN" altLang="en-US" dirty="0"/>
              <a:t>变更请求审查 </a:t>
            </a:r>
            <a:r>
              <a:rPr lang="en-US" altLang="zh-CN" dirty="0"/>
              <a:t>Review of Change Request</a:t>
            </a:r>
            <a:r>
              <a:rPr lang="zh-CN" altLang="en-US" dirty="0"/>
              <a:t>：对变更的影响进行评估（成本、工期、质量等）</a:t>
            </a:r>
          </a:p>
          <a:p>
            <a:pPr lvl="1"/>
            <a:r>
              <a:rPr lang="zh-CN" altLang="en-US" dirty="0"/>
              <a:t>变更批准 </a:t>
            </a:r>
            <a:r>
              <a:rPr lang="en-US" altLang="zh-CN" dirty="0"/>
              <a:t>Approval of Change</a:t>
            </a:r>
            <a:r>
              <a:rPr lang="zh-CN" altLang="en-US" dirty="0"/>
              <a:t>：经审批后决定是否接受变更</a:t>
            </a:r>
          </a:p>
          <a:p>
            <a:pPr lvl="1"/>
            <a:r>
              <a:rPr lang="zh-CN" altLang="en-US" dirty="0"/>
              <a:t>变更实施 </a:t>
            </a:r>
            <a:r>
              <a:rPr lang="en-US" altLang="zh-CN" dirty="0"/>
              <a:t>Implementation of Change</a:t>
            </a:r>
            <a:r>
              <a:rPr lang="zh-CN" altLang="en-US" dirty="0"/>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1CF0E67B-3E77-50D1-C7BC-0C28D3011005}"/>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4077578" y="3498981"/>
            <a:ext cx="7262228" cy="1440000"/>
          </a:xfrm>
        </p:spPr>
        <p:txBody>
          <a:bodyPr/>
          <a:lstStyle/>
          <a:p>
            <a:r>
              <a:rPr lang="zh-CN" altLang="en-US" dirty="0"/>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4077578" y="4938981"/>
            <a:ext cx="7262228" cy="900000"/>
          </a:xfrm>
        </p:spPr>
        <p:txBody>
          <a:bodyPr/>
          <a:lstStyle/>
          <a:p>
            <a:r>
              <a:rPr lang="en-US" altLang="zh-CN" dirty="0"/>
              <a:t>Section 11 Project Execution &amp; Control</a:t>
            </a:r>
            <a:endParaRPr lang="zh-CN" altLang="en-US" dirty="0"/>
          </a:p>
        </p:txBody>
      </p:sp>
    </p:spTree>
    <p:extLst>
      <p:ext uri="{BB962C8B-B14F-4D97-AF65-F5344CB8AC3E}">
        <p14:creationId xmlns:p14="http://schemas.microsoft.com/office/powerpoint/2010/main" val="3343414957"/>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ADB7F772-A5F9-D03C-DAAA-E86D13AE54A7}"/>
              </a:ext>
            </a:extLst>
          </p:cNvPr>
          <p:cNvSpPr>
            <a:spLocks noGrp="1"/>
          </p:cNvSpPr>
          <p:nvPr>
            <p:ph type="title"/>
          </p:nvPr>
        </p:nvSpPr>
        <p:spPr/>
        <p:txBody>
          <a:bodyPr>
            <a:normAutofit/>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1080000"/>
            <a:ext cx="10800000" cy="5112000"/>
          </a:xfrm>
        </p:spPr>
        <p:txBody>
          <a:bodyPr/>
          <a:lstStyle/>
          <a:p>
            <a:r>
              <a:rPr lang="zh-CN" altLang="en-US" dirty="0"/>
              <a:t>马云和比尔盖茨都表达过类似的观点：“一流的战略、三流的执行”不如“三流的战略、一流的执行”。一流的战略和一流的执行，似乎就像鱼与熊掌一样不可兼得。</a:t>
            </a:r>
          </a:p>
          <a:p>
            <a:endParaRPr lang="zh-CN" altLang="en-US" dirty="0"/>
          </a:p>
        </p:txBody>
      </p:sp>
      <p:sp>
        <p:nvSpPr>
          <p:cNvPr id="7" name="文本占位符 6">
            <a:extLst>
              <a:ext uri="{FF2B5EF4-FFF2-40B4-BE49-F238E27FC236}">
                <a16:creationId xmlns:a16="http://schemas.microsoft.com/office/drawing/2014/main" id="{845A5F07-788A-C31A-362F-674C5F9659D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6000" y="360000"/>
            <a:ext cx="10800000" cy="424732"/>
          </a:xfrm>
        </p:spPr>
        <p:txBody>
          <a:bodyPr>
            <a:normAutofit/>
          </a:bodyPr>
          <a:lstStyle/>
          <a:p>
            <a:r>
              <a:rPr lang="en-US" altLang="zh-CN" dirty="0"/>
              <a:t>Triple Constraint Diagram</a:t>
            </a:r>
            <a:endParaRPr lang="zh-CN" altLang="en-US" dirty="0"/>
          </a:p>
        </p:txBody>
      </p:sp>
      <p:pic>
        <p:nvPicPr>
          <p:cNvPr id="27" name="内容占位符 26" descr="时钟">
            <a:extLst>
              <a:ext uri="{FF2B5EF4-FFF2-40B4-BE49-F238E27FC236}">
                <a16:creationId xmlns:a16="http://schemas.microsoft.com/office/drawing/2014/main" id="{2FA749CD-DA96-5D61-98F9-DDE1A6EA1D16}"/>
              </a:ext>
            </a:extLst>
          </p:cNvPr>
          <p:cNvPicPr>
            <a:picLocks noGrp="1" noChangeAspect="1"/>
          </p:cNvPicPr>
          <p:nvPr>
            <p:ph idx="1"/>
          </p:nvPr>
        </p:nvPicPr>
        <p:blipFill>
          <a:blip r:embed="rId7">
            <a:extLst>
              <a:ext uri="{96DAC541-7B7A-43D3-8B79-37D633B846F1}">
                <asvg:svgBlip xmlns:asvg="http://schemas.microsoft.com/office/drawing/2016/SVG/main" r:embed="rId8"/>
              </a:ext>
            </a:extLst>
          </a:blip>
          <a:stretch>
            <a:fillRect/>
          </a:stretch>
        </p:blipFill>
        <p:spPr>
          <a:xfrm>
            <a:off x="6834378" y="4198978"/>
            <a:ext cx="540000" cy="540000"/>
          </a:xfrm>
        </p:spPr>
      </p:pic>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dirty="0"/>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dirty="0"/>
              <a:t>The schedule</a:t>
            </a:r>
          </a:p>
          <a:p>
            <a:r>
              <a:rPr lang="en-US" altLang="zh-CN" dirty="0"/>
              <a:t>for the project to reach completion</a:t>
            </a:r>
            <a:endParaRPr lang="zh-CN" altLang="en-US" dirty="0"/>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826000" y="2466725"/>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6000" y="360000"/>
            <a:ext cx="10800000" cy="424732"/>
          </a:xfrm>
        </p:spPr>
        <p:txBody>
          <a:bodyPr>
            <a:normAutofit/>
          </a:bodyPr>
          <a:lstStyle/>
          <a:p>
            <a:r>
              <a:rPr lang="en-US" altLang="zh-CN" dirty="0"/>
              <a:t>Construction project Triple Constraint Example</a:t>
            </a:r>
            <a:endParaRPr lang="zh-CN" altLang="en-US" dirty="0"/>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1080000"/>
            <a:ext cx="10800000" cy="5112000"/>
          </a:xfrm>
        </p:spPr>
        <p:txBody>
          <a:bodyPr/>
          <a:lstStyle/>
          <a:p>
            <a:r>
              <a:rPr lang="zh-CN" altLang="en-US" dirty="0"/>
              <a:t>假设正在建设一个小型零售店，大约</a:t>
            </a:r>
            <a:r>
              <a:rPr lang="en-US" altLang="zh-CN" dirty="0"/>
              <a:t>2,000</a:t>
            </a:r>
            <a:r>
              <a:rPr lang="zh-CN" altLang="en-US" dirty="0"/>
              <a:t>平方英尺。项目时间为</a:t>
            </a:r>
            <a:r>
              <a:rPr lang="en-US" altLang="zh-CN" dirty="0"/>
              <a:t>6</a:t>
            </a:r>
            <a:r>
              <a:rPr lang="zh-CN" altLang="en-US" dirty="0"/>
              <a:t>个月，预算为</a:t>
            </a:r>
            <a:r>
              <a:rPr lang="en-US" altLang="zh-CN" dirty="0"/>
              <a:t>30</a:t>
            </a:r>
            <a:r>
              <a:rPr lang="zh-CN" altLang="en-US" dirty="0"/>
              <a:t>万美元</a:t>
            </a:r>
            <a:endParaRPr lang="en-US" altLang="zh-CN" dirty="0"/>
          </a:p>
          <a:p>
            <a:r>
              <a:rPr lang="zh-CN" altLang="en-US" dirty="0"/>
              <a:t>如果客户在最后一刻提出增加</a:t>
            </a:r>
            <a:r>
              <a:rPr lang="en-US" altLang="zh-CN" dirty="0"/>
              <a:t>500</a:t>
            </a:r>
            <a:r>
              <a:rPr lang="zh-CN" altLang="en-US" dirty="0"/>
              <a:t>平方英尺的要求：</a:t>
            </a:r>
            <a:endParaRPr lang="en-US" altLang="zh-CN" dirty="0"/>
          </a:p>
          <a:p>
            <a:pPr lvl="1"/>
            <a:r>
              <a:rPr lang="zh-CN" altLang="en-US" dirty="0"/>
              <a:t>扩大项目范围</a:t>
            </a:r>
            <a:endParaRPr lang="en-US" altLang="zh-CN" dirty="0"/>
          </a:p>
          <a:p>
            <a:pPr lvl="1"/>
            <a:r>
              <a:rPr lang="zh-CN" altLang="en-US" dirty="0"/>
              <a:t>要么时间表必须推迟，要么预算增加</a:t>
            </a:r>
          </a:p>
        </p:txBody>
      </p:sp>
    </p:spTree>
    <p:extLst>
      <p:ext uri="{BB962C8B-B14F-4D97-AF65-F5344CB8AC3E}">
        <p14:creationId xmlns:p14="http://schemas.microsoft.com/office/powerpoint/2010/main" val="100991124"/>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6000" y="360000"/>
            <a:ext cx="10800000" cy="424732"/>
          </a:xfrm>
        </p:spPr>
        <p:txBody>
          <a:bodyPr>
            <a:normAutofit/>
          </a:bodyPr>
          <a:lstStyle/>
          <a:p>
            <a:r>
              <a:rPr lang="en-US" altLang="zh-CN" dirty="0"/>
              <a:t>IT project Triple Constraint Example</a:t>
            </a:r>
            <a:endParaRPr lang="zh-CN" altLang="en-US" dirty="0"/>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1080000"/>
            <a:ext cx="10800000" cy="5112000"/>
          </a:xfrm>
        </p:spPr>
        <p:txBody>
          <a:bodyPr/>
          <a:lstStyle/>
          <a:p>
            <a:r>
              <a:rPr lang="zh-CN" altLang="en-US" dirty="0"/>
              <a:t>如果一个销售团队需要建立一个新的客户关系管理系统</a:t>
            </a:r>
            <a:r>
              <a:rPr lang="en-US" altLang="zh-CN" dirty="0"/>
              <a:t>CRM</a:t>
            </a:r>
            <a:r>
              <a:rPr lang="zh-CN" altLang="en-US" dirty="0"/>
              <a:t>，他们可能有</a:t>
            </a:r>
            <a:r>
              <a:rPr lang="en-US" altLang="zh-CN" dirty="0"/>
              <a:t>9</a:t>
            </a:r>
            <a:r>
              <a:rPr lang="zh-CN" altLang="en-US" dirty="0"/>
              <a:t>个月的时间框架和</a:t>
            </a:r>
            <a:r>
              <a:rPr lang="en-US" altLang="zh-CN" dirty="0"/>
              <a:t>25</a:t>
            </a:r>
            <a:r>
              <a:rPr lang="zh-CN" altLang="en-US" dirty="0"/>
              <a:t>万美元的预算。在范围方面，</a:t>
            </a:r>
            <a:r>
              <a:rPr lang="en-US" altLang="zh-CN" dirty="0"/>
              <a:t>CRM</a:t>
            </a:r>
            <a:r>
              <a:rPr lang="zh-CN" altLang="en-US" dirty="0"/>
              <a:t>需要包括潜在客户管理、销售报告和联系跟踪</a:t>
            </a:r>
            <a:endParaRPr lang="en-US" altLang="zh-CN" dirty="0"/>
          </a:p>
          <a:p>
            <a:r>
              <a:rPr lang="zh-CN" altLang="en-US" dirty="0"/>
              <a:t>如果销售团队要求系统在</a:t>
            </a:r>
            <a:r>
              <a:rPr lang="en-US" altLang="zh-CN" dirty="0"/>
              <a:t>6</a:t>
            </a:r>
            <a:r>
              <a:rPr lang="zh-CN" altLang="en-US" dirty="0"/>
              <a:t>个月内准备就绪：</a:t>
            </a:r>
            <a:endParaRPr lang="en-US" altLang="zh-CN" dirty="0"/>
          </a:p>
          <a:p>
            <a:pPr lvl="1"/>
            <a:r>
              <a:rPr lang="zh-CN" altLang="en-US" dirty="0"/>
              <a:t>减少范围</a:t>
            </a:r>
            <a:endParaRPr lang="en-US" altLang="zh-CN" dirty="0"/>
          </a:p>
          <a:p>
            <a:pPr lvl="1"/>
            <a:r>
              <a:rPr lang="zh-CN" altLang="en-US" dirty="0"/>
              <a:t>增加预算</a:t>
            </a:r>
          </a:p>
        </p:txBody>
      </p:sp>
    </p:spTree>
    <p:extLst>
      <p:ext uri="{BB962C8B-B14F-4D97-AF65-F5344CB8AC3E}">
        <p14:creationId xmlns:p14="http://schemas.microsoft.com/office/powerpoint/2010/main" val="338979811"/>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6000" y="360000"/>
            <a:ext cx="10800000" cy="424732"/>
          </a:xfrm>
        </p:spPr>
        <p:txBody>
          <a:bodyPr>
            <a:normAutofit/>
          </a:bodyPr>
          <a:lstStyle/>
          <a:p>
            <a:r>
              <a:rPr lang="en-US" altLang="zh-CN" dirty="0"/>
              <a:t>Manufacturing Triple Constraint Example</a:t>
            </a:r>
            <a:endParaRPr lang="zh-CN" altLang="en-US" dirty="0"/>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p:txBody>
          <a:bodyPr/>
          <a:lstStyle/>
          <a:p>
            <a:r>
              <a:rPr lang="zh-CN" altLang="en-US" dirty="0"/>
              <a:t>假设一家制造公司正在生产</a:t>
            </a:r>
            <a:r>
              <a:rPr lang="en-US" altLang="zh-CN" dirty="0"/>
              <a:t>5,000</a:t>
            </a:r>
            <a:r>
              <a:rPr lang="zh-CN" altLang="en-US" dirty="0"/>
              <a:t>台新型智能家居设备。它需要包含应用程序集成和语音控制，每台设备的制造成本不能超过</a:t>
            </a:r>
            <a:r>
              <a:rPr lang="en-US" altLang="zh-CN" dirty="0"/>
              <a:t>50</a:t>
            </a:r>
            <a:r>
              <a:rPr lang="zh-CN" altLang="en-US" dirty="0"/>
              <a:t>美元，并且所有设备必须在</a:t>
            </a:r>
            <a:r>
              <a:rPr lang="en-US" altLang="zh-CN" dirty="0"/>
              <a:t>3</a:t>
            </a:r>
            <a:r>
              <a:rPr lang="zh-CN" altLang="en-US" dirty="0"/>
              <a:t>个月内生产完成</a:t>
            </a:r>
            <a:endParaRPr lang="en-US" altLang="zh-CN" dirty="0"/>
          </a:p>
          <a:p>
            <a:r>
              <a:rPr lang="zh-CN" altLang="en-US" dirty="0"/>
              <a:t>如果预算中突然出现成本变化，并且每台设备的制造成本不能超过</a:t>
            </a:r>
            <a:r>
              <a:rPr lang="en-US" altLang="zh-CN" dirty="0"/>
              <a:t>40</a:t>
            </a:r>
            <a:r>
              <a:rPr lang="zh-CN" altLang="en-US" dirty="0"/>
              <a:t>美元：</a:t>
            </a:r>
            <a:endParaRPr lang="en-US" altLang="zh-CN" dirty="0"/>
          </a:p>
          <a:p>
            <a:pPr lvl="1"/>
            <a:r>
              <a:rPr lang="zh-CN" altLang="en-US" dirty="0"/>
              <a:t>要么需要放慢速度，这将延长预算</a:t>
            </a:r>
            <a:endParaRPr lang="en-US" altLang="zh-CN" dirty="0"/>
          </a:p>
          <a:p>
            <a:pPr lvl="1"/>
            <a:r>
              <a:rPr lang="zh-CN" altLang="en-US" dirty="0"/>
              <a:t>要么范围将需要缩减</a:t>
            </a:r>
          </a:p>
        </p:txBody>
      </p:sp>
    </p:spTree>
    <p:extLst>
      <p:ext uri="{BB962C8B-B14F-4D97-AF65-F5344CB8AC3E}">
        <p14:creationId xmlns:p14="http://schemas.microsoft.com/office/powerpoint/2010/main" val="36426272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BB551C51-19B0-1DCE-1098-39A95BCD0BB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4077578" y="3498981"/>
            <a:ext cx="7262228" cy="1440000"/>
          </a:xfrm>
        </p:spPr>
        <p:txBody>
          <a:bodyPr/>
          <a:lstStyle/>
          <a:p>
            <a:r>
              <a:rPr lang="zh-CN" altLang="en-US" dirty="0"/>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4077578" y="4938981"/>
            <a:ext cx="7262228" cy="900000"/>
          </a:xfrm>
        </p:spPr>
        <p:txBody>
          <a:bodyPr/>
          <a:lstStyle/>
          <a:p>
            <a:r>
              <a:rPr lang="en-US" altLang="zh-CN" dirty="0"/>
              <a:t>Section 12 Project Closure</a:t>
            </a:r>
            <a:endParaRPr lang="zh-CN" altLang="en-US" dirty="0"/>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7912100" y="1128713"/>
            <a:ext cx="3427413" cy="2300287"/>
          </a:xfrm>
        </p:spPr>
        <p:txBody>
          <a:bodyPr/>
          <a:lstStyle/>
          <a:p>
            <a:r>
              <a:rPr lang="zh-CN" altLang="en-US" dirty="0"/>
              <a:t>项目终止</a:t>
            </a:r>
            <a:endParaRPr lang="en-US" altLang="zh-CN" dirty="0"/>
          </a:p>
          <a:p>
            <a:r>
              <a:rPr lang="zh-CN" altLang="en-US" dirty="0"/>
              <a:t>项目结束</a:t>
            </a:r>
          </a:p>
        </p:txBody>
      </p:sp>
    </p:spTree>
    <p:extLst>
      <p:ext uri="{BB962C8B-B14F-4D97-AF65-F5344CB8AC3E}">
        <p14:creationId xmlns:p14="http://schemas.microsoft.com/office/powerpoint/2010/main" val="3481589626"/>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normAutofit/>
          </a:bodyPr>
          <a:lstStyle/>
          <a:p>
            <a:r>
              <a:rPr lang="zh-CN" altLang="en-US" dirty="0"/>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dirty="0"/>
              <a:t>项目计划中确定的可交付成果已经出现</a:t>
            </a:r>
            <a:endParaRPr lang="en-US" altLang="zh-CN" dirty="0"/>
          </a:p>
          <a:p>
            <a:pPr lvl="1"/>
            <a:r>
              <a:rPr lang="zh-CN" altLang="en-US" dirty="0"/>
              <a:t>项目的目标已经成功实现</a:t>
            </a:r>
            <a:endParaRPr lang="en-US" altLang="zh-CN" dirty="0"/>
          </a:p>
          <a:p>
            <a:r>
              <a:rPr lang="zh-CN" altLang="en-US" dirty="0"/>
              <a:t>由于相关原因</a:t>
            </a:r>
            <a:r>
              <a:rPr lang="en-US" altLang="zh-CN" dirty="0"/>
              <a:t>,</a:t>
            </a:r>
            <a:r>
              <a:rPr lang="zh-CN" altLang="en-US" dirty="0"/>
              <a:t>项目无法继续进行</a:t>
            </a:r>
            <a:endParaRPr lang="en-US" altLang="zh-CN" dirty="0"/>
          </a:p>
          <a:p>
            <a:pPr lvl="1"/>
            <a:r>
              <a:rPr lang="zh-CN" altLang="en-US" dirty="0"/>
              <a:t>项目已经不具备实用价值</a:t>
            </a:r>
            <a:endParaRPr lang="en-US" altLang="zh-CN" dirty="0"/>
          </a:p>
          <a:p>
            <a:pPr lvl="1"/>
            <a:r>
              <a:rPr lang="zh-CN" altLang="en-US" dirty="0"/>
              <a:t>项目无竞争力，难以生存</a:t>
            </a:r>
            <a:endParaRPr lang="en-US" altLang="zh-CN" dirty="0"/>
          </a:p>
          <a:p>
            <a:pPr lvl="1"/>
            <a:r>
              <a:rPr lang="en-US" altLang="zh-CN" dirty="0"/>
              <a:t>……</a:t>
            </a:r>
          </a:p>
          <a:p>
            <a:endParaRPr lang="zh-CN" altLang="en-US" dirty="0"/>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normAutofit/>
          </a:bodyPr>
          <a:lstStyle/>
          <a:p>
            <a:r>
              <a:rPr lang="zh-CN" altLang="en-US" dirty="0"/>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dirty="0"/>
              <a:t>达到项目的完工或退出标准</a:t>
            </a:r>
            <a:endParaRPr lang="en-US" altLang="zh-CN" dirty="0"/>
          </a:p>
          <a:p>
            <a:r>
              <a:rPr lang="zh-CN" altLang="en-US" dirty="0"/>
              <a:t>完成项目合同协议</a:t>
            </a:r>
            <a:endParaRPr lang="en-US" altLang="zh-CN" dirty="0"/>
          </a:p>
          <a:p>
            <a:r>
              <a:rPr lang="zh-CN" altLang="en-US" dirty="0"/>
              <a:t>完成项目信息报告</a:t>
            </a:r>
          </a:p>
          <a:p>
            <a:endParaRPr lang="en-US" altLang="zh-CN" dirty="0"/>
          </a:p>
          <a:p>
            <a:endParaRPr lang="zh-CN" altLang="en-US" dirty="0"/>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2046638863"/>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p:txBody>
          <a:bodyPr/>
          <a:lstStyle/>
          <a:p>
            <a:r>
              <a:rPr lang="zh-CN" altLang="en-US" dirty="0"/>
              <a:t>合同结束</a:t>
            </a:r>
            <a:endParaRPr lang="en-US" altLang="zh-CN" dirty="0"/>
          </a:p>
          <a:p>
            <a:r>
              <a:rPr lang="zh-CN" altLang="en-US" dirty="0"/>
              <a:t>行政结束</a:t>
            </a:r>
          </a:p>
        </p:txBody>
      </p:sp>
      <p:sp>
        <p:nvSpPr>
          <p:cNvPr id="4" name="文本占位符 3">
            <a:extLst>
              <a:ext uri="{FF2B5EF4-FFF2-40B4-BE49-F238E27FC236}">
                <a16:creationId xmlns:a16="http://schemas.microsoft.com/office/drawing/2014/main" id="{DA169B07-CA99-56AD-8094-9051474C696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p:txBody>
          <a:bodyPr/>
          <a:lstStyle/>
          <a:p>
            <a:r>
              <a:rPr lang="zh-CN" altLang="en-US" dirty="0"/>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r>
              <a:rPr lang="zh-CN" altLang="en-US" dirty="0"/>
              <a:t>项目终验</a:t>
            </a:r>
          </a:p>
        </p:txBody>
      </p:sp>
      <p:sp>
        <p:nvSpPr>
          <p:cNvPr id="4" name="文本占位符 3">
            <a:extLst>
              <a:ext uri="{FF2B5EF4-FFF2-40B4-BE49-F238E27FC236}">
                <a16:creationId xmlns:a16="http://schemas.microsoft.com/office/drawing/2014/main" id="{5F8E5D5D-B57B-F0B4-CF4C-BB4E70140CA9}"/>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p:txBody>
          <a:bodyPr/>
          <a:lstStyle/>
          <a:p>
            <a:r>
              <a:rPr lang="zh-CN" altLang="en-US" dirty="0"/>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p:txBody>
          <a:bodyPr/>
          <a:lstStyle/>
          <a:p>
            <a:r>
              <a:rPr lang="zh-CN" altLang="en-US" dirty="0"/>
              <a:t>管理收尾</a:t>
            </a:r>
            <a:r>
              <a:rPr lang="en-US" altLang="zh-CN" dirty="0"/>
              <a:t>/</a:t>
            </a:r>
            <a:r>
              <a:rPr lang="zh-CN" altLang="en-US" dirty="0"/>
              <a:t>行政收尾</a:t>
            </a:r>
          </a:p>
        </p:txBody>
      </p:sp>
      <p:sp>
        <p:nvSpPr>
          <p:cNvPr id="4" name="文本占位符 3">
            <a:extLst>
              <a:ext uri="{FF2B5EF4-FFF2-40B4-BE49-F238E27FC236}">
                <a16:creationId xmlns:a16="http://schemas.microsoft.com/office/drawing/2014/main" id="{0724531D-9286-546E-F696-3E036E572F5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p:txBody>
          <a:bodyPr/>
          <a:lstStyle/>
          <a:p>
            <a:r>
              <a:rPr lang="zh-CN" altLang="en-US" dirty="0"/>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p>
        </p:txBody>
      </p:sp>
      <p:sp>
        <p:nvSpPr>
          <p:cNvPr id="4" name="文本占位符 3">
            <a:extLst>
              <a:ext uri="{FF2B5EF4-FFF2-40B4-BE49-F238E27FC236}">
                <a16:creationId xmlns:a16="http://schemas.microsoft.com/office/drawing/2014/main" id="{4D8851A0-F65F-B533-1545-2CD63F6F6DD4}"/>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7200000" cy="424732"/>
          </a:xfrm>
        </p:spPr>
        <p:txBody>
          <a:bodyPr>
            <a:normAutofit/>
          </a:bodyPr>
          <a:lstStyle/>
          <a:p>
            <a:r>
              <a:rPr lang="en-US" altLang="zh-CN" dirty="0"/>
              <a:t>Tips</a:t>
            </a:r>
            <a:endParaRPr lang="zh-CN" altLang="en-US" dirty="0"/>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1080000"/>
            <a:ext cx="10800000" cy="5112000"/>
          </a:xfrm>
        </p:spPr>
        <p:txBody>
          <a:bodyPr/>
          <a:lstStyle/>
          <a:p>
            <a:r>
              <a:rPr lang="zh-CN" altLang="en-US" dirty="0"/>
              <a:t>聚焦价值</a:t>
            </a:r>
            <a:endParaRPr lang="en-US" altLang="zh-CN" dirty="0"/>
          </a:p>
          <a:p>
            <a:r>
              <a:rPr lang="zh-CN" altLang="en-US" dirty="0"/>
              <a:t>正能量</a:t>
            </a:r>
            <a:endParaRPr lang="en-US" altLang="zh-CN" dirty="0"/>
          </a:p>
          <a:p>
            <a:r>
              <a:rPr lang="zh-CN" altLang="en-US" dirty="0"/>
              <a:t>主动</a:t>
            </a:r>
            <a:endParaRPr lang="en-US" altLang="zh-CN" dirty="0"/>
          </a:p>
          <a:p>
            <a:r>
              <a:rPr lang="zh-CN" altLang="en-US" dirty="0"/>
              <a:t>客观</a:t>
            </a:r>
          </a:p>
        </p:txBody>
      </p:sp>
      <p:sp>
        <p:nvSpPr>
          <p:cNvPr id="10" name="文本占位符 9">
            <a:extLst>
              <a:ext uri="{FF2B5EF4-FFF2-40B4-BE49-F238E27FC236}">
                <a16:creationId xmlns:a16="http://schemas.microsoft.com/office/drawing/2014/main" id="{E92F371C-E9DB-AB69-A81A-CB2A474AB9D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15646</TotalTime>
  <Words>13478</Words>
  <Application>Microsoft Office PowerPoint</Application>
  <PresentationFormat>Widescreen</PresentationFormat>
  <Paragraphs>2183</Paragraphs>
  <Slides>201</Slides>
  <Notes>70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201</vt:i4>
      </vt:variant>
    </vt:vector>
  </HeadingPairs>
  <TitlesOfParts>
    <vt:vector size="210" baseType="lpstr">
      <vt:lpstr>等线</vt:lpstr>
      <vt:lpstr>黑体</vt:lpstr>
      <vt:lpstr>微软雅黑 Light</vt:lpstr>
      <vt:lpstr>Arial</vt:lpstr>
      <vt:lpstr>Cambria Math</vt:lpstr>
      <vt:lpstr>Courier New</vt:lpstr>
      <vt:lpstr>Montserrat</vt:lpstr>
      <vt:lpstr>Roboto Mono</vt:lpstr>
      <vt:lpstr>Office 主题​​</vt:lpstr>
      <vt:lpstr>PowerPoint Presentation</vt:lpstr>
      <vt:lpstr>PowerPoint Presentation</vt:lpstr>
      <vt:lpstr>软件项目管理概述</vt:lpstr>
      <vt:lpstr>1.1 项目</vt:lpstr>
      <vt:lpstr>1.1 项目</vt:lpstr>
      <vt:lpstr>1.2 子项目</vt:lpstr>
      <vt:lpstr>1.3 项目集</vt:lpstr>
      <vt:lpstr>1.4 项目组合</vt:lpstr>
      <vt:lpstr>PowerPoint Presentation</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Presentation</vt:lpstr>
      <vt:lpstr>3.1 PMBOK 第6版</vt:lpstr>
      <vt:lpstr>3.1.1 五大过程组</vt:lpstr>
      <vt:lpstr>3.1.2 十大知识领域</vt:lpstr>
      <vt:lpstr>3.2 PMBOK第7版</vt:lpstr>
      <vt:lpstr>3.2 PMBOK第7版</vt:lpstr>
      <vt:lpstr>3.2.1 十二项原则</vt:lpstr>
      <vt:lpstr>PowerPoint Presentation</vt:lpstr>
      <vt:lpstr>3.2.2 八大绩效域</vt:lpstr>
      <vt:lpstr>PowerPoint Presentation</vt:lpstr>
      <vt:lpstr>3.2.2 八大绩效域</vt:lpstr>
      <vt:lpstr>4.1 敏捷开发</vt:lpstr>
      <vt:lpstr>PowerPoint Presentation</vt:lpstr>
      <vt:lpstr>PowerPoint Presentation</vt:lpstr>
      <vt:lpstr>4.2 适用</vt:lpstr>
      <vt:lpstr>4.3 敏捷宣言</vt:lpstr>
      <vt:lpstr>4.4 四个核心价值</vt:lpstr>
      <vt:lpstr>4.5 十二项原则</vt:lpstr>
      <vt:lpstr>PowerPoint Presentation</vt:lpstr>
      <vt:lpstr>Why</vt:lpstr>
      <vt:lpstr>说明 Tips</vt:lpstr>
      <vt:lpstr>鱼骨图 Fishbone Diagram</vt:lpstr>
      <vt:lpstr>项目初始</vt:lpstr>
      <vt:lpstr>项目立项</vt:lpstr>
      <vt:lpstr>项目立项</vt:lpstr>
      <vt:lpstr>4. 项目章程</vt:lpstr>
      <vt:lpstr>项目管理计划 Project Management Plan</vt:lpstr>
      <vt:lpstr>任命项目经理 - Appoint the Project Manager</vt:lpstr>
      <vt:lpstr>批准业务案例 - Approve the business case</vt:lpstr>
      <vt:lpstr>确定项目目标 - Identify Project Objectives</vt:lpstr>
      <vt:lpstr>定义项目范围 - Define Project Scope</vt:lpstr>
      <vt:lpstr>PowerPoint Presentation</vt:lpstr>
      <vt:lpstr>PowerPoint Presentation</vt:lpstr>
      <vt:lpstr>PowerPoint Presentation</vt:lpstr>
      <vt:lpstr>定义项目范围 - Define Project Scope</vt:lpstr>
      <vt:lpstr>PowerPoint Presentation</vt:lpstr>
      <vt:lpstr>批准预算 - Approve the Budget</vt:lpstr>
      <vt:lpstr>识别初始项目风险 - Identify Initial Project Risks</vt:lpstr>
      <vt:lpstr>生产交付物清单 - Produce List of Deliverables</vt:lpstr>
      <vt:lpstr>产出 output</vt:lpstr>
      <vt:lpstr>5. 项目生命周期</vt:lpstr>
      <vt:lpstr>6. 项目生命周期类型</vt:lpstr>
      <vt:lpstr>6.1 预测型</vt:lpstr>
      <vt:lpstr>6.1.1 瀑布模型</vt:lpstr>
      <vt:lpstr>6.1.2 V模型</vt:lpstr>
      <vt:lpstr>原型化模型 Prototype</vt:lpstr>
      <vt:lpstr>6.2 迭代型</vt:lpstr>
      <vt:lpstr>6.3 增量型</vt:lpstr>
      <vt:lpstr>6.4 敏捷型</vt:lpstr>
      <vt:lpstr>Scrum</vt:lpstr>
      <vt:lpstr>6.4.1 敏捷价值观 Scrum Values</vt:lpstr>
      <vt:lpstr>6.4.2 敏捷理念 Scrum Theory</vt:lpstr>
      <vt:lpstr>6.4.2.1 敏捷理念 Scrum Theory</vt:lpstr>
      <vt:lpstr>6.4.2.2 敏捷理念 Scrum Theory</vt:lpstr>
      <vt:lpstr>6.4.2.3 敏捷理念 Scrum Theory</vt:lpstr>
      <vt:lpstr>6.4.3 敏捷团队 Scrum Team</vt:lpstr>
      <vt:lpstr>6.4.3 敏捷团队 Scrum Team</vt:lpstr>
      <vt:lpstr>6.4.3 项目经理</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6.4.4 敏捷活动 Scrum Events</vt:lpstr>
      <vt:lpstr>PowerPoint Presentation</vt:lpstr>
      <vt:lpstr>PowerPoint Presentation</vt:lpstr>
      <vt:lpstr>PowerPoint Presentation</vt:lpstr>
      <vt:lpstr>PowerPoint Presentation</vt:lpstr>
      <vt:lpstr>6.5.5 敏捷工件 Scrum Artifacts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软件项目范围计划</vt:lpstr>
      <vt:lpstr>软件项目成本计划</vt:lpstr>
      <vt:lpstr>1. 概念和术语 – 成本类型</vt:lpstr>
      <vt:lpstr>1. 概念和术语 - 应急储备</vt:lpstr>
      <vt:lpstr>3. 成本估算</vt:lpstr>
      <vt:lpstr>4. 成本预算</vt:lpstr>
      <vt:lpstr>5. 成本控制</vt:lpstr>
      <vt:lpstr>5. 成本控制 – 挣值分析</vt:lpstr>
      <vt:lpstr>5. 成本控制 – 挣值分析</vt:lpstr>
      <vt:lpstr>软件项目进度计划</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Presentation</vt:lpstr>
      <vt:lpstr>PowerPoint Presentation</vt:lpstr>
      <vt:lpstr>资源优化</vt:lpstr>
      <vt:lpstr>资源压缩</vt:lpstr>
      <vt:lpstr>7. 进度控制</vt:lpstr>
      <vt:lpstr>PowerPoint Presentation</vt:lpstr>
      <vt:lpstr>软件项目质量计划</vt:lpstr>
      <vt:lpstr>六大质量特性 Quality Characteristics</vt:lpstr>
      <vt:lpstr>可靠性 Reliability</vt:lpstr>
      <vt:lpstr>PowerPoint Presentation</vt:lpstr>
      <vt:lpstr>质量管理</vt:lpstr>
      <vt:lpstr>七大质量管理工具</vt:lpstr>
      <vt:lpstr>软件配置管理计划</vt:lpstr>
      <vt:lpstr>配置管理</vt:lpstr>
      <vt:lpstr>六个活动</vt:lpstr>
      <vt:lpstr>配置项版本管理</vt:lpstr>
      <vt:lpstr>配置库</vt:lpstr>
      <vt:lpstr>发布管理和交付</vt:lpstr>
      <vt:lpstr>软件项目团队计划</vt:lpstr>
      <vt:lpstr>团队发展四阶段</vt:lpstr>
      <vt:lpstr>人力资源管理</vt:lpstr>
      <vt:lpstr>责任分配矩阵</vt:lpstr>
      <vt:lpstr>冲突解决</vt:lpstr>
      <vt:lpstr>马斯洛需要层次理论</vt:lpstr>
      <vt:lpstr>赫茨伯格双因素激励理论</vt:lpstr>
      <vt:lpstr>虚拟团队</vt:lpstr>
      <vt:lpstr>PowerPoint Presentation</vt:lpstr>
      <vt:lpstr>沟通管理 Communication Mgt</vt:lpstr>
      <vt:lpstr>干系人管理 Stakeholders Mgt</vt:lpstr>
      <vt:lpstr>凸显模型 Salience Model</vt:lpstr>
      <vt:lpstr>干系人 Stakeholders</vt:lpstr>
      <vt:lpstr>干系人 Stakeholders</vt:lpstr>
      <vt:lpstr>软件项目风险计划</vt:lpstr>
      <vt:lpstr>风险定义</vt:lpstr>
      <vt:lpstr>风险曝光度 Risk Exposure</vt:lpstr>
      <vt:lpstr>PowerPoint Presentation</vt:lpstr>
      <vt:lpstr>风险类型</vt:lpstr>
      <vt:lpstr>风险3个要素</vt:lpstr>
      <vt:lpstr>风险4个过程</vt:lpstr>
      <vt:lpstr>SWOT</vt:lpstr>
      <vt:lpstr>软件项目合同计划</vt:lpstr>
      <vt:lpstr>PowerPoint Presentation</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Presentation</vt:lpstr>
      <vt:lpstr>Triple Constraint Diagram</vt:lpstr>
      <vt:lpstr>Construction project Triple Constraint Example</vt:lpstr>
      <vt:lpstr>IT project Triple Constraint Example</vt:lpstr>
      <vt:lpstr>Manufacturing Triple Constraint Example</vt:lpstr>
      <vt:lpstr>项目结束</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849</cp:revision>
  <dcterms:created xsi:type="dcterms:W3CDTF">2026-01-24T11:12:04Z</dcterms:created>
  <dcterms:modified xsi:type="dcterms:W3CDTF">2026-03-01T03:35:13Z</dcterms:modified>
</cp:coreProperties>
</file>