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35.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4"/>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486" r:id="rId28"/>
    <p:sldId id="483" r:id="rId29"/>
    <p:sldId id="487" r:id="rId30"/>
    <p:sldId id="485" r:id="rId31"/>
    <p:sldId id="498" r:id="rId32"/>
    <p:sldId id="477" r:id="rId33"/>
    <p:sldId id="303" r:id="rId34"/>
    <p:sldId id="500" r:id="rId35"/>
    <p:sldId id="314" r:id="rId36"/>
    <p:sldId id="285" r:id="rId37"/>
    <p:sldId id="286" r:id="rId38"/>
    <p:sldId id="495" r:id="rId39"/>
    <p:sldId id="499" r:id="rId40"/>
    <p:sldId id="501" r:id="rId41"/>
    <p:sldId id="271" r:id="rId42"/>
    <p:sldId id="502" r:id="rId43"/>
    <p:sldId id="409" r:id="rId44"/>
    <p:sldId id="408" r:id="rId45"/>
    <p:sldId id="503" r:id="rId46"/>
    <p:sldId id="410" r:id="rId47"/>
    <p:sldId id="411" r:id="rId48"/>
    <p:sldId id="291" r:id="rId49"/>
    <p:sldId id="292" r:id="rId50"/>
    <p:sldId id="293" r:id="rId51"/>
    <p:sldId id="294" r:id="rId52"/>
    <p:sldId id="299" r:id="rId53"/>
    <p:sldId id="300" r:id="rId54"/>
    <p:sldId id="301" r:id="rId55"/>
    <p:sldId id="298" r:id="rId56"/>
    <p:sldId id="416" r:id="rId57"/>
    <p:sldId id="295" r:id="rId58"/>
    <p:sldId id="296" r:id="rId59"/>
    <p:sldId id="297" r:id="rId60"/>
    <p:sldId id="413" r:id="rId61"/>
    <p:sldId id="333" r:id="rId62"/>
    <p:sldId id="334" r:id="rId63"/>
    <p:sldId id="386" r:id="rId64"/>
    <p:sldId id="387" r:id="rId65"/>
    <p:sldId id="405" r:id="rId66"/>
    <p:sldId id="335" r:id="rId67"/>
    <p:sldId id="336" r:id="rId68"/>
    <p:sldId id="337" r:id="rId69"/>
    <p:sldId id="338" r:id="rId70"/>
    <p:sldId id="340" r:id="rId71"/>
    <p:sldId id="504" r:id="rId72"/>
    <p:sldId id="345" r:id="rId73"/>
    <p:sldId id="343" r:id="rId74"/>
    <p:sldId id="403" r:id="rId75"/>
    <p:sldId id="506" r:id="rId76"/>
    <p:sldId id="505" r:id="rId77"/>
    <p:sldId id="359" r:id="rId78"/>
    <p:sldId id="344" r:id="rId79"/>
    <p:sldId id="380" r:id="rId80"/>
    <p:sldId id="365" r:id="rId81"/>
    <p:sldId id="268" r:id="rId82"/>
    <p:sldId id="273" r:id="rId83"/>
    <p:sldId id="445" r:id="rId84"/>
    <p:sldId id="443" r:id="rId85"/>
    <p:sldId id="446" r:id="rId86"/>
    <p:sldId id="447" r:id="rId87"/>
    <p:sldId id="448" r:id="rId88"/>
    <p:sldId id="449" r:id="rId89"/>
    <p:sldId id="450" r:id="rId90"/>
    <p:sldId id="451" r:id="rId91"/>
    <p:sldId id="274" r:id="rId92"/>
    <p:sldId id="419" r:id="rId93"/>
    <p:sldId id="420" r:id="rId94"/>
    <p:sldId id="421" r:id="rId95"/>
    <p:sldId id="422" r:id="rId96"/>
    <p:sldId id="424" r:id="rId97"/>
    <p:sldId id="423" r:id="rId98"/>
    <p:sldId id="426" r:id="rId99"/>
    <p:sldId id="267" r:id="rId100"/>
    <p:sldId id="425" r:id="rId101"/>
    <p:sldId id="429" r:id="rId102"/>
    <p:sldId id="428" r:id="rId103"/>
    <p:sldId id="430" r:id="rId104"/>
    <p:sldId id="427" r:id="rId105"/>
    <p:sldId id="440" r:id="rId106"/>
    <p:sldId id="441" r:id="rId107"/>
    <p:sldId id="442" r:id="rId108"/>
    <p:sldId id="436" r:id="rId109"/>
    <p:sldId id="437" r:id="rId110"/>
    <p:sldId id="438" r:id="rId111"/>
    <p:sldId id="439" r:id="rId112"/>
    <p:sldId id="275" r:id="rId113"/>
    <p:sldId id="433" r:id="rId114"/>
    <p:sldId id="434" r:id="rId115"/>
    <p:sldId id="432" r:id="rId116"/>
    <p:sldId id="452" r:id="rId117"/>
    <p:sldId id="453" r:id="rId118"/>
    <p:sldId id="276" r:id="rId119"/>
    <p:sldId id="467" r:id="rId120"/>
    <p:sldId id="466" r:id="rId121"/>
    <p:sldId id="468" r:id="rId122"/>
    <p:sldId id="470" r:id="rId123"/>
    <p:sldId id="469" r:id="rId124"/>
    <p:sldId id="277" r:id="rId125"/>
    <p:sldId id="313" r:id="rId126"/>
    <p:sldId id="454" r:id="rId127"/>
    <p:sldId id="455" r:id="rId128"/>
    <p:sldId id="457" r:id="rId129"/>
    <p:sldId id="458" r:id="rId130"/>
    <p:sldId id="459" r:id="rId131"/>
    <p:sldId id="456" r:id="rId132"/>
    <p:sldId id="475" r:id="rId133"/>
    <p:sldId id="460" r:id="rId134"/>
    <p:sldId id="263" r:id="rId135"/>
    <p:sldId id="264" r:id="rId136"/>
    <p:sldId id="265" r:id="rId137"/>
    <p:sldId id="461" r:id="rId138"/>
    <p:sldId id="278" r:id="rId139"/>
    <p:sldId id="390" r:id="rId140"/>
    <p:sldId id="435" r:id="rId141"/>
    <p:sldId id="431" r:id="rId142"/>
    <p:sldId id="391" r:id="rId143"/>
    <p:sldId id="388" r:id="rId144"/>
    <p:sldId id="389" r:id="rId145"/>
    <p:sldId id="471" r:id="rId146"/>
    <p:sldId id="279" r:id="rId147"/>
    <p:sldId id="463" r:id="rId148"/>
    <p:sldId id="393" r:id="rId149"/>
    <p:sldId id="392" r:id="rId150"/>
    <p:sldId id="462" r:id="rId151"/>
    <p:sldId id="394" r:id="rId152"/>
    <p:sldId id="395" r:id="rId153"/>
    <p:sldId id="396" r:id="rId154"/>
    <p:sldId id="397" r:id="rId155"/>
    <p:sldId id="398" r:id="rId156"/>
    <p:sldId id="464" r:id="rId157"/>
    <p:sldId id="465" r:id="rId158"/>
    <p:sldId id="280" r:id="rId159"/>
    <p:sldId id="399" r:id="rId160"/>
    <p:sldId id="287" r:id="rId161"/>
    <p:sldId id="288" r:id="rId162"/>
    <p:sldId id="289" r:id="rId163"/>
    <p:sldId id="290" r:id="rId164"/>
    <p:sldId id="281" r:id="rId165"/>
    <p:sldId id="400" r:id="rId166"/>
    <p:sldId id="402" r:id="rId167"/>
    <p:sldId id="401" r:id="rId168"/>
    <p:sldId id="412" r:id="rId169"/>
    <p:sldId id="472" r:id="rId170"/>
    <p:sldId id="473" r:id="rId171"/>
    <p:sldId id="474" r:id="rId172"/>
    <p:sldId id="367" r:id="rId17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DED"/>
    <a:srgbClr val="7F6F62"/>
    <a:srgbClr val="5CC197"/>
    <a:srgbClr val="F8D070"/>
    <a:srgbClr val="FB8971"/>
    <a:srgbClr val="EE5C69"/>
    <a:srgbClr val="4472C4"/>
    <a:srgbClr val="998675"/>
    <a:srgbClr val="CCBFAE"/>
    <a:srgbClr val="EADAC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9704" autoAdjust="0"/>
  </p:normalViewPr>
  <p:slideViewPr>
    <p:cSldViewPr snapToGrid="0">
      <p:cViewPr varScale="1">
        <p:scale>
          <a:sx n="102" d="100"/>
          <a:sy n="102" d="100"/>
        </p:scale>
        <p:origin x="912" y="96"/>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theme" Target="theme/theme1.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viewProps" Target="view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1" Type="http://schemas.openxmlformats.org/officeDocument/2006/relationships/hyperlink" Target="../../img/ppt0.jpg" TargetMode="Externa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目标性 </a:t>
          </a:r>
          <a:r>
            <a:rPr lang="en-US" altLang="zh-CN" sz="1600" dirty="0">
              <a:latin typeface="微软雅黑 Light" panose="020B0502040204020203" pitchFamily="34" charset="-122"/>
              <a:ea typeface="微软雅黑 Light" panose="020B0502040204020203" pitchFamily="34" charset="-122"/>
            </a:rPr>
            <a:t>Target</a:t>
          </a:r>
          <a:endParaRPr lang="zh-CN" altLang="en-US" sz="1600"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相关性 </a:t>
          </a:r>
          <a:r>
            <a:rPr lang="en-US" altLang="zh-CN" sz="1600" dirty="0">
              <a:latin typeface="微软雅黑 Light" panose="020B0502040204020203" pitchFamily="34" charset="-122"/>
              <a:ea typeface="微软雅黑 Light" panose="020B0502040204020203" pitchFamily="34" charset="-122"/>
            </a:rPr>
            <a:t>Relevant</a:t>
          </a:r>
          <a:endParaRPr lang="zh-CN" altLang="en-US" sz="1600"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临时性 </a:t>
          </a:r>
          <a:r>
            <a:rPr lang="en-US" altLang="zh-CN" sz="1600" dirty="0">
              <a:latin typeface="微软雅黑 Light" panose="020B0502040204020203" pitchFamily="34" charset="-122"/>
              <a:ea typeface="微软雅黑 Light" panose="020B0502040204020203" pitchFamily="34" charset="-122"/>
            </a:rPr>
            <a:t>Temporary</a:t>
          </a:r>
          <a:endParaRPr lang="zh-CN" altLang="en-US" sz="1600"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独特性 </a:t>
          </a:r>
          <a:r>
            <a:rPr lang="en-US" altLang="zh-CN" sz="1600" dirty="0">
              <a:latin typeface="微软雅黑 Light" panose="020B0502040204020203" pitchFamily="34" charset="-122"/>
              <a:ea typeface="微软雅黑 Light" panose="020B0502040204020203" pitchFamily="34" charset="-122"/>
            </a:rPr>
            <a:t>Unique</a:t>
          </a:r>
          <a:endParaRPr lang="zh-CN" altLang="en-US" sz="1600"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custT="1"/>
      <dgm:spPr/>
      <dgm:t>
        <a:bodyPr/>
        <a:lstStyle/>
        <a:p>
          <a:r>
            <a:rPr lang="zh-CN" altLang="en-US" sz="1600" dirty="0">
              <a:latin typeface="微软雅黑 Light" panose="020B0502040204020203" pitchFamily="34" charset="-122"/>
              <a:ea typeface="微软雅黑 Light" panose="020B0502040204020203" pitchFamily="34" charset="-122"/>
            </a:rPr>
            <a:t>资源约束性 </a:t>
          </a:r>
          <a:r>
            <a:rPr lang="en-US" altLang="zh-CN" sz="1600" dirty="0">
              <a:latin typeface="微软雅黑 Light" panose="020B0502040204020203" pitchFamily="34" charset="-122"/>
              <a:ea typeface="微软雅黑 Light" panose="020B0502040204020203" pitchFamily="34" charset="-122"/>
            </a:rPr>
            <a:t>Constrain</a:t>
          </a:r>
          <a:endParaRPr lang="zh-CN" altLang="en-US" sz="1600"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custT="1"/>
      <dgm:spPr/>
      <dgm:t>
        <a:bodyPr/>
        <a:lstStyle/>
        <a:p>
          <a:r>
            <a:rPr lang="zh-CN" altLang="en-US" sz="1600" dirty="0">
              <a:latin typeface="微软雅黑 Light" panose="020B0502040204020203" pitchFamily="34" charset="-122"/>
              <a:ea typeface="微软雅黑 Light" panose="020B0502040204020203" pitchFamily="34" charset="-122"/>
            </a:rPr>
            <a:t>不确定性 </a:t>
          </a:r>
          <a:r>
            <a:rPr lang="en-US" altLang="zh-CN" sz="1600" dirty="0">
              <a:latin typeface="微软雅黑 Light" panose="020B0502040204020203" pitchFamily="34" charset="-122"/>
              <a:ea typeface="微软雅黑 Light" panose="020B0502040204020203" pitchFamily="34" charset="-122"/>
            </a:rPr>
            <a:t>Uncertainty</a:t>
          </a:r>
          <a:endParaRPr lang="zh-CN" altLang="en-US" sz="1600" dirty="0">
            <a:latin typeface="黑体" pitchFamily="49" charset="-122"/>
            <a:ea typeface="黑体" pitchFamily="49" charset="-122"/>
          </a:endParaRPr>
        </a:p>
      </dgm:t>
      <dgm:extLst>
        <a:ext uri="{E40237B7-FDA0-4F09-8148-C483321AD2D9}">
          <dgm14:cNvPr xmlns:dgm14="http://schemas.microsoft.com/office/drawing/2010/diagram" id="0" name="">
            <a:hlinkClick xmlns:r="http://schemas.openxmlformats.org/officeDocument/2006/relationships" r:id="rId1" action="ppaction://hlinkfile"/>
          </dgm14:cNvPr>
        </a:ext>
      </dgm:extLs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dirty="0"/>
            <a:t>时间</a:t>
          </a:r>
          <a:endParaRPr lang="en-US" altLang="zh-CN" dirty="0"/>
        </a:p>
        <a:p>
          <a:pPr>
            <a:lnSpc>
              <a:spcPct val="100000"/>
            </a:lnSpc>
            <a:spcAft>
              <a:spcPts val="0"/>
            </a:spcAft>
          </a:pPr>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dirty="0"/>
            <a:t>成本</a:t>
          </a:r>
          <a:endParaRPr lang="en-US" altLang="zh-CN" dirty="0"/>
        </a:p>
        <a:p>
          <a:pPr>
            <a:lnSpc>
              <a:spcPct val="100000"/>
            </a:lnSpc>
            <a:spcAft>
              <a:spcPts val="0"/>
            </a:spcAft>
          </a:pPr>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84DE132-2077-4703-B7A4-A2AADC558C7E}" type="doc">
      <dgm:prSet loTypeId="urn:microsoft.com/office/officeart/2005/8/layout/radial1" loCatId="relationship" qsTypeId="urn:microsoft.com/office/officeart/2005/8/quickstyle/simple4" qsCatId="simple" csTypeId="urn:microsoft.com/office/officeart/2005/8/colors/colorful4" csCatId="colorful" phldr="1"/>
      <dgm:spPr/>
      <dgm:t>
        <a:bodyPr/>
        <a:lstStyle/>
        <a:p>
          <a:endParaRPr lang="zh-CN" altLang="en-US"/>
        </a:p>
      </dgm:t>
    </dgm:pt>
    <dgm:pt modelId="{314BF430-32F3-4937-B7A8-CDBC50A28586}">
      <dgm:prSet phldrT="[文本]" custT="1"/>
      <dgm:spPr>
        <a:solidFill>
          <a:schemeClr val="accent2"/>
        </a:solidFill>
      </dgm:spPr>
      <dgm:t>
        <a:bodyPr/>
        <a:lstStyle/>
        <a:p>
          <a:r>
            <a:rPr lang="en-US" altLang="zh-CN" sz="1600" dirty="0"/>
            <a:t>Why</a:t>
          </a:r>
          <a:endParaRPr lang="zh-CN" altLang="en-US" sz="1600" dirty="0"/>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custT="1"/>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custT="1"/>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custT="1"/>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custT="1"/>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8DF8FA3-2CAD-4DF7-B7B1-753EA1DB78DE}" type="pres">
      <dgm:prSet presAssocID="{D84DE132-2077-4703-B7A4-A2AADC558C7E}" presName="cycle" presStyleCnt="0">
        <dgm:presLayoutVars>
          <dgm:chMax val="1"/>
          <dgm:dir/>
          <dgm:animLvl val="ctr"/>
          <dgm:resizeHandles val="exact"/>
        </dgm:presLayoutVars>
      </dgm:prSet>
      <dgm:spPr/>
    </dgm:pt>
    <dgm:pt modelId="{464B45C3-0AF6-47BB-9A22-CE67FAB0AA3E}" type="pres">
      <dgm:prSet presAssocID="{314BF430-32F3-4937-B7A8-CDBC50A28586}" presName="centerShape" presStyleLbl="node0" presStyleIdx="0" presStyleCnt="1" custScaleX="85025" custScaleY="85025"/>
      <dgm:spPr/>
    </dgm:pt>
    <dgm:pt modelId="{975E2179-5B44-4C7C-8365-360AE9BC57CE}" type="pres">
      <dgm:prSet presAssocID="{7D8C2A10-8A07-4F15-B8A5-39F77B79AFE9}" presName="Name9" presStyleLbl="parChTrans1D2" presStyleIdx="0" presStyleCnt="4"/>
      <dgm:spPr/>
    </dgm:pt>
    <dgm:pt modelId="{E33FB390-C904-4FD8-A15E-3800D56F84E7}" type="pres">
      <dgm:prSet presAssocID="{7D8C2A10-8A07-4F15-B8A5-39F77B79AFE9}" presName="connTx" presStyleLbl="parChTrans1D2" presStyleIdx="0" presStyleCnt="4"/>
      <dgm:spPr/>
    </dgm:pt>
    <dgm:pt modelId="{97A1FBD0-355A-40F0-A5B5-0CB7D9F517E7}" type="pres">
      <dgm:prSet presAssocID="{324CA685-49BD-4BD5-A8FD-A5710D9AC13B}" presName="node" presStyleLbl="node1" presStyleIdx="0" presStyleCnt="4" custScaleY="62352" custRadScaleRad="84105">
        <dgm:presLayoutVars>
          <dgm:bulletEnabled val="1"/>
        </dgm:presLayoutVars>
      </dgm:prSet>
      <dgm:spPr/>
    </dgm:pt>
    <dgm:pt modelId="{6F0F21AE-4F5E-4AF8-B30B-6A1BD7B4CC6B}" type="pres">
      <dgm:prSet presAssocID="{D87EC061-DBBC-46D1-80B0-D3B15C61D5FF}" presName="Name9" presStyleLbl="parChTrans1D2" presStyleIdx="1" presStyleCnt="4"/>
      <dgm:spPr/>
    </dgm:pt>
    <dgm:pt modelId="{2F4D718C-E597-49BE-8061-06D5428541D3}" type="pres">
      <dgm:prSet presAssocID="{D87EC061-DBBC-46D1-80B0-D3B15C61D5FF}" presName="connTx" presStyleLbl="parChTrans1D2" presStyleIdx="1" presStyleCnt="4"/>
      <dgm:spPr/>
    </dgm:pt>
    <dgm:pt modelId="{590766A8-5808-4CA5-BBD8-D66F69DB632D}" type="pres">
      <dgm:prSet presAssocID="{87606509-C3F9-4238-A894-635D82EAB841}" presName="node" presStyleLbl="node1" presStyleIdx="1" presStyleCnt="4" custScaleY="62352">
        <dgm:presLayoutVars>
          <dgm:bulletEnabled val="1"/>
        </dgm:presLayoutVars>
      </dgm:prSet>
      <dgm:spPr/>
    </dgm:pt>
    <dgm:pt modelId="{EE77998E-46B7-4462-AF32-3B24A8CD2A18}" type="pres">
      <dgm:prSet presAssocID="{5662D5C6-378B-4690-BCED-2C584281D3AA}" presName="Name9" presStyleLbl="parChTrans1D2" presStyleIdx="2" presStyleCnt="4"/>
      <dgm:spPr/>
    </dgm:pt>
    <dgm:pt modelId="{DF0D23E6-ADB9-4155-A3F6-CF3B91C014DD}" type="pres">
      <dgm:prSet presAssocID="{5662D5C6-378B-4690-BCED-2C584281D3AA}" presName="connTx" presStyleLbl="parChTrans1D2" presStyleIdx="2" presStyleCnt="4"/>
      <dgm:spPr/>
    </dgm:pt>
    <dgm:pt modelId="{3961F623-076B-4CC9-BB2C-A128E1E293BD}" type="pres">
      <dgm:prSet presAssocID="{D8FE1109-6BE6-4606-AE0B-4682160FB4B6}" presName="node" presStyleLbl="node1" presStyleIdx="2" presStyleCnt="4" custScaleY="62352" custRadScaleRad="85845">
        <dgm:presLayoutVars>
          <dgm:bulletEnabled val="1"/>
        </dgm:presLayoutVars>
      </dgm:prSet>
      <dgm:spPr/>
    </dgm:pt>
    <dgm:pt modelId="{F5A83192-EC13-45DF-8F80-0F453486ADA6}" type="pres">
      <dgm:prSet presAssocID="{D8A66E85-A2FA-4154-ACB7-ADCF5F955258}" presName="Name9" presStyleLbl="parChTrans1D2" presStyleIdx="3" presStyleCnt="4"/>
      <dgm:spPr/>
    </dgm:pt>
    <dgm:pt modelId="{C2F68321-5CAA-4758-98AF-DABF07EA9C37}" type="pres">
      <dgm:prSet presAssocID="{D8A66E85-A2FA-4154-ACB7-ADCF5F955258}" presName="connTx" presStyleLbl="parChTrans1D2" presStyleIdx="3" presStyleCnt="4"/>
      <dgm:spPr/>
    </dgm:pt>
    <dgm:pt modelId="{666E3B4D-4F33-4F33-A864-E84BB2C5C61B}" type="pres">
      <dgm:prSet presAssocID="{39635E2A-0DDE-480A-BDA0-5F9B3A206D03}" presName="node" presStyleLbl="node1" presStyleIdx="3" presStyleCnt="4" custScaleY="62352">
        <dgm:presLayoutVars>
          <dgm:bulletEnabled val="1"/>
        </dgm:presLayoutVars>
      </dgm:prSet>
      <dgm:spPr/>
    </dgm:pt>
  </dgm:ptLst>
  <dgm:cxnLst>
    <dgm:cxn modelId="{3D475907-57F0-465C-B5C0-6F2520440C26}" type="presOf" srcId="{D84DE132-2077-4703-B7A4-A2AADC558C7E}" destId="{88DF8FA3-2CAD-4DF7-B7B1-753EA1DB78DE}" srcOrd="0" destOrd="0" presId="urn:microsoft.com/office/officeart/2005/8/layout/radial1"/>
    <dgm:cxn modelId="{ED01BA13-D853-4441-BC38-55EF94DE5F2D}" type="presOf" srcId="{D8A66E85-A2FA-4154-ACB7-ADCF5F955258}" destId="{C2F68321-5CAA-4758-98AF-DABF07EA9C37}" srcOrd="1" destOrd="0" presId="urn:microsoft.com/office/officeart/2005/8/layout/radial1"/>
    <dgm:cxn modelId="{24457825-D76D-476F-8D6D-FABF36CDA4F4}" type="presOf" srcId="{5662D5C6-378B-4690-BCED-2C584281D3AA}" destId="{EE77998E-46B7-4462-AF32-3B24A8CD2A18}" srcOrd="0" destOrd="0" presId="urn:microsoft.com/office/officeart/2005/8/layout/radial1"/>
    <dgm:cxn modelId="{79600243-0B64-41DD-8403-ECF2CCB28CC7}" type="presOf" srcId="{87606509-C3F9-4238-A894-635D82EAB841}" destId="{590766A8-5808-4CA5-BBD8-D66F69DB632D}" srcOrd="0" destOrd="0" presId="urn:microsoft.com/office/officeart/2005/8/layout/radial1"/>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D1D6C46-F528-4940-B3DA-F4C29C68881A}" type="presOf" srcId="{39635E2A-0DDE-480A-BDA0-5F9B3A206D03}" destId="{666E3B4D-4F33-4F33-A864-E84BB2C5C61B}" srcOrd="0" destOrd="0" presId="urn:microsoft.com/office/officeart/2005/8/layout/radial1"/>
    <dgm:cxn modelId="{58EA3D55-5EEF-4232-9F84-2D0F7A01DD15}" type="presOf" srcId="{7D8C2A10-8A07-4F15-B8A5-39F77B79AFE9}" destId="{E33FB390-C904-4FD8-A15E-3800D56F84E7}" srcOrd="1" destOrd="0" presId="urn:microsoft.com/office/officeart/2005/8/layout/radial1"/>
    <dgm:cxn modelId="{C3148755-3C03-446E-998C-DFBFEE98AB23}" type="presOf" srcId="{D8A66E85-A2FA-4154-ACB7-ADCF5F955258}" destId="{F5A83192-EC13-45DF-8F80-0F453486ADA6}" srcOrd="0" destOrd="0" presId="urn:microsoft.com/office/officeart/2005/8/layout/radial1"/>
    <dgm:cxn modelId="{73B17A59-9241-4F2B-B6B4-885F888C132A}" srcId="{314BF430-32F3-4937-B7A8-CDBC50A28586}" destId="{324CA685-49BD-4BD5-A8FD-A5710D9AC13B}" srcOrd="0" destOrd="0" parTransId="{7D8C2A10-8A07-4F15-B8A5-39F77B79AFE9}" sibTransId="{28D2BF1F-59FB-44D8-8FD5-92B443E44216}"/>
    <dgm:cxn modelId="{6FB6C07C-9817-49D2-B1E0-812569C63254}" type="presOf" srcId="{7D8C2A10-8A07-4F15-B8A5-39F77B79AFE9}" destId="{975E2179-5B44-4C7C-8365-360AE9BC57CE}" srcOrd="0" destOrd="0" presId="urn:microsoft.com/office/officeart/2005/8/layout/radial1"/>
    <dgm:cxn modelId="{8C0AAD96-BD91-4C8E-BE54-E5952379068D}" type="presOf" srcId="{D8FE1109-6BE6-4606-AE0B-4682160FB4B6}" destId="{3961F623-076B-4CC9-BB2C-A128E1E293BD}" srcOrd="0" destOrd="0" presId="urn:microsoft.com/office/officeart/2005/8/layout/radial1"/>
    <dgm:cxn modelId="{713EFA97-CA8D-44C0-8E5B-A66DDA8A81E3}" type="presOf" srcId="{5662D5C6-378B-4690-BCED-2C584281D3AA}" destId="{DF0D23E6-ADB9-4155-A3F6-CF3B91C014DD}" srcOrd="1" destOrd="0" presId="urn:microsoft.com/office/officeart/2005/8/layout/radial1"/>
    <dgm:cxn modelId="{7C3D6DBC-61B3-4E5A-A679-DDAEE14624BD}" type="presOf" srcId="{D87EC061-DBBC-46D1-80B0-D3B15C61D5FF}" destId="{2F4D718C-E597-49BE-8061-06D5428541D3}" srcOrd="1" destOrd="0" presId="urn:microsoft.com/office/officeart/2005/8/layout/radial1"/>
    <dgm:cxn modelId="{7A3587CB-3A67-4010-9066-02B15F2FD936}" srcId="{D84DE132-2077-4703-B7A4-A2AADC558C7E}" destId="{314BF430-32F3-4937-B7A8-CDBC50A28586}" srcOrd="0" destOrd="0" parTransId="{FFF528F2-CD86-4C30-9CDA-FBA4F0F0AD51}" sibTransId="{305F5B84-54DA-40BC-92F0-2D234A72D198}"/>
    <dgm:cxn modelId="{7E7627D2-2A5A-4546-A8F3-145580E00247}" type="presOf" srcId="{324CA685-49BD-4BD5-A8FD-A5710D9AC13B}" destId="{97A1FBD0-355A-40F0-A5B5-0CB7D9F517E7}" srcOrd="0" destOrd="0" presId="urn:microsoft.com/office/officeart/2005/8/layout/radial1"/>
    <dgm:cxn modelId="{9120F8DE-3D09-4BF1-B92A-C934B465E308}" srcId="{314BF430-32F3-4937-B7A8-CDBC50A28586}" destId="{39635E2A-0DDE-480A-BDA0-5F9B3A206D03}" srcOrd="3" destOrd="0" parTransId="{D8A66E85-A2FA-4154-ACB7-ADCF5F955258}" sibTransId="{EBC4C119-FFAC-44A5-A81A-730732D0306D}"/>
    <dgm:cxn modelId="{8E6882ED-45AF-4164-A43B-9EEED4A017C6}" type="presOf" srcId="{D87EC061-DBBC-46D1-80B0-D3B15C61D5FF}" destId="{6F0F21AE-4F5E-4AF8-B30B-6A1BD7B4CC6B}" srcOrd="0" destOrd="0" presId="urn:microsoft.com/office/officeart/2005/8/layout/radial1"/>
    <dgm:cxn modelId="{1C7EBDF3-B7FA-4E6B-BB4C-0849E8D3D769}" type="presOf" srcId="{314BF430-32F3-4937-B7A8-CDBC50A28586}" destId="{464B45C3-0AF6-47BB-9A22-CE67FAB0AA3E}" srcOrd="0" destOrd="0" presId="urn:microsoft.com/office/officeart/2005/8/layout/radial1"/>
    <dgm:cxn modelId="{D4FC0F3F-071D-4993-82C2-156DAF06E61A}" type="presParOf" srcId="{88DF8FA3-2CAD-4DF7-B7B1-753EA1DB78DE}" destId="{464B45C3-0AF6-47BB-9A22-CE67FAB0AA3E}" srcOrd="0" destOrd="0" presId="urn:microsoft.com/office/officeart/2005/8/layout/radial1"/>
    <dgm:cxn modelId="{71B93FB0-8A03-47D9-8AC8-F428BEB74064}" type="presParOf" srcId="{88DF8FA3-2CAD-4DF7-B7B1-753EA1DB78DE}" destId="{975E2179-5B44-4C7C-8365-360AE9BC57CE}" srcOrd="1" destOrd="0" presId="urn:microsoft.com/office/officeart/2005/8/layout/radial1"/>
    <dgm:cxn modelId="{88DDCAE5-0C67-406E-8EC7-16DDA64F7CDA}" type="presParOf" srcId="{975E2179-5B44-4C7C-8365-360AE9BC57CE}" destId="{E33FB390-C904-4FD8-A15E-3800D56F84E7}" srcOrd="0" destOrd="0" presId="urn:microsoft.com/office/officeart/2005/8/layout/radial1"/>
    <dgm:cxn modelId="{A25CA61A-1FC7-4F9B-AF2C-36C2A703EC22}" type="presParOf" srcId="{88DF8FA3-2CAD-4DF7-B7B1-753EA1DB78DE}" destId="{97A1FBD0-355A-40F0-A5B5-0CB7D9F517E7}" srcOrd="2" destOrd="0" presId="urn:microsoft.com/office/officeart/2005/8/layout/radial1"/>
    <dgm:cxn modelId="{1029B324-A1E0-4DBC-9F11-CD16F34FAD37}" type="presParOf" srcId="{88DF8FA3-2CAD-4DF7-B7B1-753EA1DB78DE}" destId="{6F0F21AE-4F5E-4AF8-B30B-6A1BD7B4CC6B}" srcOrd="3" destOrd="0" presId="urn:microsoft.com/office/officeart/2005/8/layout/radial1"/>
    <dgm:cxn modelId="{CA1BE2A6-BE2C-4537-948E-F9A8F4286BC1}" type="presParOf" srcId="{6F0F21AE-4F5E-4AF8-B30B-6A1BD7B4CC6B}" destId="{2F4D718C-E597-49BE-8061-06D5428541D3}" srcOrd="0" destOrd="0" presId="urn:microsoft.com/office/officeart/2005/8/layout/radial1"/>
    <dgm:cxn modelId="{E108594B-3137-4D2E-83FF-EA5F4B6C4397}" type="presParOf" srcId="{88DF8FA3-2CAD-4DF7-B7B1-753EA1DB78DE}" destId="{590766A8-5808-4CA5-BBD8-D66F69DB632D}" srcOrd="4" destOrd="0" presId="urn:microsoft.com/office/officeart/2005/8/layout/radial1"/>
    <dgm:cxn modelId="{B36FA580-3FBB-4ABA-8A6E-D7FB7BE2AE9D}" type="presParOf" srcId="{88DF8FA3-2CAD-4DF7-B7B1-753EA1DB78DE}" destId="{EE77998E-46B7-4462-AF32-3B24A8CD2A18}" srcOrd="5" destOrd="0" presId="urn:microsoft.com/office/officeart/2005/8/layout/radial1"/>
    <dgm:cxn modelId="{550B1620-856B-49BC-A72B-7C54FF50F1F0}" type="presParOf" srcId="{EE77998E-46B7-4462-AF32-3B24A8CD2A18}" destId="{DF0D23E6-ADB9-4155-A3F6-CF3B91C014DD}" srcOrd="0" destOrd="0" presId="urn:microsoft.com/office/officeart/2005/8/layout/radial1"/>
    <dgm:cxn modelId="{DF3B8AD8-D81B-4C58-880B-6536C6A82BBD}" type="presParOf" srcId="{88DF8FA3-2CAD-4DF7-B7B1-753EA1DB78DE}" destId="{3961F623-076B-4CC9-BB2C-A128E1E293BD}" srcOrd="6" destOrd="0" presId="urn:microsoft.com/office/officeart/2005/8/layout/radial1"/>
    <dgm:cxn modelId="{D7A561C7-72A3-4DC8-9F7C-99C579C23DCB}" type="presParOf" srcId="{88DF8FA3-2CAD-4DF7-B7B1-753EA1DB78DE}" destId="{F5A83192-EC13-45DF-8F80-0F453486ADA6}" srcOrd="7" destOrd="0" presId="urn:microsoft.com/office/officeart/2005/8/layout/radial1"/>
    <dgm:cxn modelId="{CCE320B3-DEEE-4863-B7AF-0914C210567A}" type="presParOf" srcId="{F5A83192-EC13-45DF-8F80-0F453486ADA6}" destId="{C2F68321-5CAA-4758-98AF-DABF07EA9C37}" srcOrd="0" destOrd="0" presId="urn:microsoft.com/office/officeart/2005/8/layout/radial1"/>
    <dgm:cxn modelId="{FD34D34D-288D-4489-91A3-4B2E0B023D7A}" type="presParOf" srcId="{88DF8FA3-2CAD-4DF7-B7B1-753EA1DB78DE}" destId="{666E3B4D-4F33-4F33-A864-E84BB2C5C61B}" srcOrd="8" destOrd="0" presId="urn:microsoft.com/office/officeart/2005/8/layout/radial1"/>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54691F0-94F8-43DE-820A-E282164893BD}" type="doc">
      <dgm:prSet loTypeId="urn:microsoft.com/office/officeart/2005/8/layout/chevron1" loCatId="process" qsTypeId="urn:microsoft.com/office/officeart/2005/8/quickstyle/simple1" qsCatId="simple" csTypeId="urn:microsoft.com/office/officeart/2005/8/colors/colorful5" csCatId="colorful" phldr="1"/>
      <dgm:spPr/>
      <dgm:t>
        <a:bodyPr/>
        <a:lstStyle/>
        <a:p>
          <a:endParaRPr lang="zh-CN" altLang="en-US"/>
        </a:p>
      </dgm:t>
    </dgm:pt>
    <dgm:pt modelId="{184D60CB-27ED-4780-A10E-4CC49C9E76D3}">
      <dgm:prSet phldrT="[文本]" phldr="0"/>
      <dgm:spPr/>
      <dgm:t>
        <a:bodyPr/>
        <a:lstStyle/>
        <a:p>
          <a:r>
            <a:rPr lang="zh-CN" altLang="en-US" dirty="0"/>
            <a:t>项目建议</a:t>
          </a:r>
        </a:p>
      </dgm:t>
    </dgm:pt>
    <dgm:pt modelId="{9C1ADE14-4A7C-4C45-A868-79CA352F05EB}" type="parTrans" cxnId="{8EA1B4EF-69D9-4935-9F40-6A0D97B5F08C}">
      <dgm:prSet/>
      <dgm:spPr/>
      <dgm:t>
        <a:bodyPr/>
        <a:lstStyle/>
        <a:p>
          <a:endParaRPr lang="zh-CN" altLang="en-US"/>
        </a:p>
      </dgm:t>
    </dgm:pt>
    <dgm:pt modelId="{41B6E64C-E9EB-43BD-9C0E-762B52FA6BC7}" type="sibTrans" cxnId="{8EA1B4EF-69D9-4935-9F40-6A0D97B5F08C}">
      <dgm:prSet/>
      <dgm:spPr/>
      <dgm:t>
        <a:bodyPr/>
        <a:lstStyle/>
        <a:p>
          <a:endParaRPr lang="zh-CN" altLang="en-US"/>
        </a:p>
      </dgm:t>
    </dgm:pt>
    <dgm:pt modelId="{2A575AB9-61F1-4AC2-9D05-93C951B08D73}">
      <dgm:prSet phldrT="[文本]"/>
      <dgm:spPr/>
      <dgm:t>
        <a:bodyPr/>
        <a:lstStyle/>
        <a:p>
          <a:r>
            <a:rPr lang="zh-CN" altLang="en-US" dirty="0"/>
            <a:t>项目可行性分析</a:t>
          </a:r>
        </a:p>
      </dgm:t>
    </dgm:pt>
    <dgm:pt modelId="{6DB42CE6-3CB0-4856-BF35-0C90A2451A4E}" type="parTrans" cxnId="{CBB60AEE-5AE0-4834-B8F3-A53F7583A090}">
      <dgm:prSet/>
      <dgm:spPr/>
      <dgm:t>
        <a:bodyPr/>
        <a:lstStyle/>
        <a:p>
          <a:endParaRPr lang="zh-CN" altLang="en-US"/>
        </a:p>
      </dgm:t>
    </dgm:pt>
    <dgm:pt modelId="{956A8CB9-3798-49D8-84BF-B4A09A248CBC}" type="sibTrans" cxnId="{CBB60AEE-5AE0-4834-B8F3-A53F7583A090}">
      <dgm:prSet/>
      <dgm:spPr/>
      <dgm:t>
        <a:bodyPr/>
        <a:lstStyle/>
        <a:p>
          <a:endParaRPr lang="zh-CN" altLang="en-US"/>
        </a:p>
      </dgm:t>
    </dgm:pt>
    <dgm:pt modelId="{F50E392A-E371-45A8-B68D-90001E61108A}">
      <dgm:prSet phldrT="[文本]"/>
      <dgm:spPr/>
      <dgm:t>
        <a:bodyPr/>
        <a:lstStyle/>
        <a:p>
          <a:r>
            <a:rPr lang="zh-CN" altLang="en-US" dirty="0"/>
            <a:t>项目审批</a:t>
          </a:r>
        </a:p>
      </dgm:t>
    </dgm:pt>
    <dgm:pt modelId="{34BC6687-7E0B-4F30-AC64-FB0D6F36AFCF}" type="parTrans" cxnId="{AEB15708-5602-48CC-AA6E-8AA90D1FBB65}">
      <dgm:prSet/>
      <dgm:spPr/>
      <dgm:t>
        <a:bodyPr/>
        <a:lstStyle/>
        <a:p>
          <a:endParaRPr lang="zh-CN" altLang="en-US"/>
        </a:p>
      </dgm:t>
    </dgm:pt>
    <dgm:pt modelId="{8F4DC57A-E897-469E-9DBF-448E70714E8C}" type="sibTrans" cxnId="{AEB15708-5602-48CC-AA6E-8AA90D1FBB65}">
      <dgm:prSet/>
      <dgm:spPr/>
      <dgm:t>
        <a:bodyPr/>
        <a:lstStyle/>
        <a:p>
          <a:endParaRPr lang="zh-CN" altLang="en-US"/>
        </a:p>
      </dgm:t>
    </dgm:pt>
    <dgm:pt modelId="{068F73D6-FD2B-4819-92FF-A1D420338598}">
      <dgm:prSet phldrT="[文本]"/>
      <dgm:spPr/>
      <dgm:t>
        <a:bodyPr/>
        <a:lstStyle/>
        <a:p>
          <a:r>
            <a:rPr lang="zh-CN" altLang="en-US" dirty="0"/>
            <a:t>项目招投标</a:t>
          </a:r>
        </a:p>
      </dgm:t>
    </dgm:pt>
    <dgm:pt modelId="{68FE74F0-0AF2-4FB0-98C4-EC9C2655B818}" type="parTrans" cxnId="{5A8B46E0-DCAC-408B-B419-1EF002BC679A}">
      <dgm:prSet/>
      <dgm:spPr/>
      <dgm:t>
        <a:bodyPr/>
        <a:lstStyle/>
        <a:p>
          <a:endParaRPr lang="zh-CN" altLang="en-US"/>
        </a:p>
      </dgm:t>
    </dgm:pt>
    <dgm:pt modelId="{38CB38AF-D860-4B18-BCBB-91F8D1EE4D6E}" type="sibTrans" cxnId="{5A8B46E0-DCAC-408B-B419-1EF002BC679A}">
      <dgm:prSet/>
      <dgm:spPr/>
      <dgm:t>
        <a:bodyPr/>
        <a:lstStyle/>
        <a:p>
          <a:endParaRPr lang="zh-CN" altLang="en-US"/>
        </a:p>
      </dgm:t>
    </dgm:pt>
    <dgm:pt modelId="{AA46264F-C891-49B9-8E74-1FFD253D616C}">
      <dgm:prSet phldrT="[文本]"/>
      <dgm:spPr/>
      <dgm:t>
        <a:bodyPr/>
        <a:lstStyle/>
        <a:p>
          <a:r>
            <a:rPr lang="zh-CN" altLang="en-US" dirty="0"/>
            <a:t>项目合同谈判和签到</a:t>
          </a:r>
        </a:p>
      </dgm:t>
    </dgm:pt>
    <dgm:pt modelId="{795D5C6C-FC24-4BE6-BAFC-BC7A436374FA}" type="parTrans" cxnId="{0A5C0DF5-DCF1-4B17-A3AB-6BA34FBBCFCC}">
      <dgm:prSet/>
      <dgm:spPr/>
      <dgm:t>
        <a:bodyPr/>
        <a:lstStyle/>
        <a:p>
          <a:endParaRPr lang="zh-CN" altLang="en-US"/>
        </a:p>
      </dgm:t>
    </dgm:pt>
    <dgm:pt modelId="{FE3A84E4-D74C-4FD0-8559-64B047FAF8B4}" type="sibTrans" cxnId="{0A5C0DF5-DCF1-4B17-A3AB-6BA34FBBCFCC}">
      <dgm:prSet/>
      <dgm:spPr/>
      <dgm:t>
        <a:bodyPr/>
        <a:lstStyle/>
        <a:p>
          <a:endParaRPr lang="zh-CN" altLang="en-US"/>
        </a:p>
      </dgm:t>
    </dgm:pt>
    <dgm:pt modelId="{331D744C-3E25-4F72-A3A3-2D171B1FAE4A}" type="pres">
      <dgm:prSet presAssocID="{C54691F0-94F8-43DE-820A-E282164893BD}" presName="Name0" presStyleCnt="0">
        <dgm:presLayoutVars>
          <dgm:dir/>
          <dgm:animLvl val="lvl"/>
          <dgm:resizeHandles val="exact"/>
        </dgm:presLayoutVars>
      </dgm:prSet>
      <dgm:spPr/>
    </dgm:pt>
    <dgm:pt modelId="{BFADCE9A-F623-4A8D-9AE7-8DD25E7A76D8}" type="pres">
      <dgm:prSet presAssocID="{184D60CB-27ED-4780-A10E-4CC49C9E76D3}" presName="parTxOnly" presStyleLbl="node1" presStyleIdx="0" presStyleCnt="5">
        <dgm:presLayoutVars>
          <dgm:chMax val="0"/>
          <dgm:chPref val="0"/>
          <dgm:bulletEnabled val="1"/>
        </dgm:presLayoutVars>
      </dgm:prSet>
      <dgm:spPr/>
    </dgm:pt>
    <dgm:pt modelId="{F4E419B9-A508-4B41-A5AF-63310C5C51D6}" type="pres">
      <dgm:prSet presAssocID="{41B6E64C-E9EB-43BD-9C0E-762B52FA6BC7}" presName="parTxOnlySpace" presStyleCnt="0"/>
      <dgm:spPr/>
    </dgm:pt>
    <dgm:pt modelId="{7A3D29DB-D217-4EDB-96A3-52B1BB0C6283}" type="pres">
      <dgm:prSet presAssocID="{2A575AB9-61F1-4AC2-9D05-93C951B08D73}" presName="parTxOnly" presStyleLbl="node1" presStyleIdx="1" presStyleCnt="5">
        <dgm:presLayoutVars>
          <dgm:chMax val="0"/>
          <dgm:chPref val="0"/>
          <dgm:bulletEnabled val="1"/>
        </dgm:presLayoutVars>
      </dgm:prSet>
      <dgm:spPr/>
    </dgm:pt>
    <dgm:pt modelId="{93753795-0ADE-4AC2-9931-33EF9D0FA0AD}" type="pres">
      <dgm:prSet presAssocID="{956A8CB9-3798-49D8-84BF-B4A09A248CBC}" presName="parTxOnlySpace" presStyleCnt="0"/>
      <dgm:spPr/>
    </dgm:pt>
    <dgm:pt modelId="{4B334B34-EF96-49E0-B66E-133BD48100CA}" type="pres">
      <dgm:prSet presAssocID="{F50E392A-E371-45A8-B68D-90001E61108A}" presName="parTxOnly" presStyleLbl="node1" presStyleIdx="2" presStyleCnt="5">
        <dgm:presLayoutVars>
          <dgm:chMax val="0"/>
          <dgm:chPref val="0"/>
          <dgm:bulletEnabled val="1"/>
        </dgm:presLayoutVars>
      </dgm:prSet>
      <dgm:spPr/>
    </dgm:pt>
    <dgm:pt modelId="{B2AAC982-46E5-4C16-81EB-6037924D60A8}" type="pres">
      <dgm:prSet presAssocID="{8F4DC57A-E897-469E-9DBF-448E70714E8C}" presName="parTxOnlySpace" presStyleCnt="0"/>
      <dgm:spPr/>
    </dgm:pt>
    <dgm:pt modelId="{5BAD45FD-29D7-48E3-8439-87C6F2A3A98B}" type="pres">
      <dgm:prSet presAssocID="{068F73D6-FD2B-4819-92FF-A1D420338598}" presName="parTxOnly" presStyleLbl="node1" presStyleIdx="3" presStyleCnt="5">
        <dgm:presLayoutVars>
          <dgm:chMax val="0"/>
          <dgm:chPref val="0"/>
          <dgm:bulletEnabled val="1"/>
        </dgm:presLayoutVars>
      </dgm:prSet>
      <dgm:spPr/>
    </dgm:pt>
    <dgm:pt modelId="{42954CDD-A8EF-4773-B744-6CF7CAD82C73}" type="pres">
      <dgm:prSet presAssocID="{38CB38AF-D860-4B18-BCBB-91F8D1EE4D6E}" presName="parTxOnlySpace" presStyleCnt="0"/>
      <dgm:spPr/>
    </dgm:pt>
    <dgm:pt modelId="{C1A69100-C77D-4BF6-A329-8693DB5210CB}" type="pres">
      <dgm:prSet presAssocID="{AA46264F-C891-49B9-8E74-1FFD253D616C}" presName="parTxOnly" presStyleLbl="node1" presStyleIdx="4" presStyleCnt="5">
        <dgm:presLayoutVars>
          <dgm:chMax val="0"/>
          <dgm:chPref val="0"/>
          <dgm:bulletEnabled val="1"/>
        </dgm:presLayoutVars>
      </dgm:prSet>
      <dgm:spPr/>
    </dgm:pt>
  </dgm:ptLst>
  <dgm:cxnLst>
    <dgm:cxn modelId="{AEB15708-5602-48CC-AA6E-8AA90D1FBB65}" srcId="{C54691F0-94F8-43DE-820A-E282164893BD}" destId="{F50E392A-E371-45A8-B68D-90001E61108A}" srcOrd="2" destOrd="0" parTransId="{34BC6687-7E0B-4F30-AC64-FB0D6F36AFCF}" sibTransId="{8F4DC57A-E897-469E-9DBF-448E70714E8C}"/>
    <dgm:cxn modelId="{89A8E242-8EAD-4DBE-8FF1-1F4F7D05BDD7}" type="presOf" srcId="{068F73D6-FD2B-4819-92FF-A1D420338598}" destId="{5BAD45FD-29D7-48E3-8439-87C6F2A3A98B}" srcOrd="0" destOrd="0" presId="urn:microsoft.com/office/officeart/2005/8/layout/chevron1"/>
    <dgm:cxn modelId="{4EDA7052-94EC-480B-8242-7C40B83F752F}" type="presOf" srcId="{184D60CB-27ED-4780-A10E-4CC49C9E76D3}" destId="{BFADCE9A-F623-4A8D-9AE7-8DD25E7A76D8}" srcOrd="0" destOrd="0" presId="urn:microsoft.com/office/officeart/2005/8/layout/chevron1"/>
    <dgm:cxn modelId="{2AFFAFB6-FA90-4DC3-82E8-D79BF685A3A9}" type="presOf" srcId="{2A575AB9-61F1-4AC2-9D05-93C951B08D73}" destId="{7A3D29DB-D217-4EDB-96A3-52B1BB0C6283}" srcOrd="0" destOrd="0" presId="urn:microsoft.com/office/officeart/2005/8/layout/chevron1"/>
    <dgm:cxn modelId="{EE8EC5DC-97C5-408A-8F7A-59723FA8A219}" type="presOf" srcId="{C54691F0-94F8-43DE-820A-E282164893BD}" destId="{331D744C-3E25-4F72-A3A3-2D171B1FAE4A}" srcOrd="0" destOrd="0" presId="urn:microsoft.com/office/officeart/2005/8/layout/chevron1"/>
    <dgm:cxn modelId="{5A8B46E0-DCAC-408B-B419-1EF002BC679A}" srcId="{C54691F0-94F8-43DE-820A-E282164893BD}" destId="{068F73D6-FD2B-4819-92FF-A1D420338598}" srcOrd="3" destOrd="0" parTransId="{68FE74F0-0AF2-4FB0-98C4-EC9C2655B818}" sibTransId="{38CB38AF-D860-4B18-BCBB-91F8D1EE4D6E}"/>
    <dgm:cxn modelId="{E1CA65EB-3790-4AF2-994D-1BD2702B9E2E}" type="presOf" srcId="{F50E392A-E371-45A8-B68D-90001E61108A}" destId="{4B334B34-EF96-49E0-B66E-133BD48100CA}" srcOrd="0" destOrd="0" presId="urn:microsoft.com/office/officeart/2005/8/layout/chevron1"/>
    <dgm:cxn modelId="{CBB60AEE-5AE0-4834-B8F3-A53F7583A090}" srcId="{C54691F0-94F8-43DE-820A-E282164893BD}" destId="{2A575AB9-61F1-4AC2-9D05-93C951B08D73}" srcOrd="1" destOrd="0" parTransId="{6DB42CE6-3CB0-4856-BF35-0C90A2451A4E}" sibTransId="{956A8CB9-3798-49D8-84BF-B4A09A248CBC}"/>
    <dgm:cxn modelId="{8EA1B4EF-69D9-4935-9F40-6A0D97B5F08C}" srcId="{C54691F0-94F8-43DE-820A-E282164893BD}" destId="{184D60CB-27ED-4780-A10E-4CC49C9E76D3}" srcOrd="0" destOrd="0" parTransId="{9C1ADE14-4A7C-4C45-A868-79CA352F05EB}" sibTransId="{41B6E64C-E9EB-43BD-9C0E-762B52FA6BC7}"/>
    <dgm:cxn modelId="{8A44F7F2-849D-4F25-A5B9-F4B8D8BB1E69}" type="presOf" srcId="{AA46264F-C891-49B9-8E74-1FFD253D616C}" destId="{C1A69100-C77D-4BF6-A329-8693DB5210CB}" srcOrd="0" destOrd="0" presId="urn:microsoft.com/office/officeart/2005/8/layout/chevron1"/>
    <dgm:cxn modelId="{0A5C0DF5-DCF1-4B17-A3AB-6BA34FBBCFCC}" srcId="{C54691F0-94F8-43DE-820A-E282164893BD}" destId="{AA46264F-C891-49B9-8E74-1FFD253D616C}" srcOrd="4" destOrd="0" parTransId="{795D5C6C-FC24-4BE6-BAFC-BC7A436374FA}" sibTransId="{FE3A84E4-D74C-4FD0-8559-64B047FAF8B4}"/>
    <dgm:cxn modelId="{92BE9480-D164-46F8-BF69-185E7BE3BCE2}" type="presParOf" srcId="{331D744C-3E25-4F72-A3A3-2D171B1FAE4A}" destId="{BFADCE9A-F623-4A8D-9AE7-8DD25E7A76D8}" srcOrd="0" destOrd="0" presId="urn:microsoft.com/office/officeart/2005/8/layout/chevron1"/>
    <dgm:cxn modelId="{06751FBD-65F7-4C7B-9B3F-7CF1208B03ED}" type="presParOf" srcId="{331D744C-3E25-4F72-A3A3-2D171B1FAE4A}" destId="{F4E419B9-A508-4B41-A5AF-63310C5C51D6}" srcOrd="1" destOrd="0" presId="urn:microsoft.com/office/officeart/2005/8/layout/chevron1"/>
    <dgm:cxn modelId="{2DB420D7-4C65-40A5-B8DB-874F2E240F23}" type="presParOf" srcId="{331D744C-3E25-4F72-A3A3-2D171B1FAE4A}" destId="{7A3D29DB-D217-4EDB-96A3-52B1BB0C6283}" srcOrd="2" destOrd="0" presId="urn:microsoft.com/office/officeart/2005/8/layout/chevron1"/>
    <dgm:cxn modelId="{B94DCE4F-06F5-4C49-913A-CB86C0D5B314}" type="presParOf" srcId="{331D744C-3E25-4F72-A3A3-2D171B1FAE4A}" destId="{93753795-0ADE-4AC2-9931-33EF9D0FA0AD}" srcOrd="3" destOrd="0" presId="urn:microsoft.com/office/officeart/2005/8/layout/chevron1"/>
    <dgm:cxn modelId="{A53E31D1-744C-4E05-AC2A-B4C0FCC82966}" type="presParOf" srcId="{331D744C-3E25-4F72-A3A3-2D171B1FAE4A}" destId="{4B334B34-EF96-49E0-B66E-133BD48100CA}" srcOrd="4" destOrd="0" presId="urn:microsoft.com/office/officeart/2005/8/layout/chevron1"/>
    <dgm:cxn modelId="{1FFCA7B4-1079-467B-B3EF-6F37FF17E384}" type="presParOf" srcId="{331D744C-3E25-4F72-A3A3-2D171B1FAE4A}" destId="{B2AAC982-46E5-4C16-81EB-6037924D60A8}" srcOrd="5" destOrd="0" presId="urn:microsoft.com/office/officeart/2005/8/layout/chevron1"/>
    <dgm:cxn modelId="{A88BBE68-4708-4D72-BC09-4EEAEDE847C9}" type="presParOf" srcId="{331D744C-3E25-4F72-A3A3-2D171B1FAE4A}" destId="{5BAD45FD-29D7-48E3-8439-87C6F2A3A98B}" srcOrd="6" destOrd="0" presId="urn:microsoft.com/office/officeart/2005/8/layout/chevron1"/>
    <dgm:cxn modelId="{0625AAB4-C082-47D3-B430-CE85C0DA37CD}" type="presParOf" srcId="{331D744C-3E25-4F72-A3A3-2D171B1FAE4A}" destId="{42954CDD-A8EF-4773-B744-6CF7CAD82C73}" srcOrd="7" destOrd="0" presId="urn:microsoft.com/office/officeart/2005/8/layout/chevron1"/>
    <dgm:cxn modelId="{65555B43-7896-484C-9610-D2C60719B745}" type="presParOf" srcId="{331D744C-3E25-4F72-A3A3-2D171B1FAE4A}" destId="{C1A69100-C77D-4BF6-A329-8693DB5210CB}"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dirty="0"/>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dirty="0"/>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dirty="0"/>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dirty="0"/>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dgm:t>
        <a:bodyPr/>
        <a:lstStyle/>
        <a:p>
          <a:r>
            <a:rPr lang="zh-CN" altLang="en-US" sz="2000" baseline="0">
              <a:latin typeface="Montserrat" panose="00000500000000000000" pitchFamily="2" charset="0"/>
              <a:ea typeface="微软雅黑 Light" panose="020B0502040204020203" pitchFamily="34" charset="-122"/>
            </a:rPr>
            <a:t>成本补偿合同</a:t>
          </a:r>
          <a:endParaRPr lang="zh-CN" altLang="en-US" sz="2000" baseline="0" dirty="0">
            <a:latin typeface="Montserrat" panose="00000500000000000000" pitchFamily="2" charset="0"/>
            <a:ea typeface="微软雅黑 Light" panose="020B0502040204020203" pitchFamily="34" charset="-122"/>
          </a:endParaRP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目标性 </a:t>
          </a:r>
          <a:r>
            <a:rPr lang="en-US" altLang="zh-CN" sz="1600" kern="1200" dirty="0">
              <a:latin typeface="微软雅黑 Light" panose="020B0502040204020203" pitchFamily="34" charset="-122"/>
              <a:ea typeface="微软雅黑 Light" panose="020B0502040204020203" pitchFamily="34" charset="-122"/>
            </a:rPr>
            <a:t>Target</a:t>
          </a:r>
          <a:endParaRPr lang="zh-CN" altLang="en-US" sz="16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相关性 </a:t>
          </a:r>
          <a:r>
            <a:rPr lang="en-US" altLang="zh-CN" sz="1600" kern="1200" dirty="0">
              <a:latin typeface="微软雅黑 Light" panose="020B0502040204020203" pitchFamily="34" charset="-122"/>
              <a:ea typeface="微软雅黑 Light" panose="020B0502040204020203" pitchFamily="34" charset="-122"/>
            </a:rPr>
            <a:t>Relevant</a:t>
          </a:r>
          <a:endParaRPr lang="zh-CN" altLang="en-US" sz="16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临时性 </a:t>
          </a:r>
          <a:r>
            <a:rPr lang="en-US" altLang="zh-CN" sz="1600" kern="1200" dirty="0">
              <a:latin typeface="微软雅黑 Light" panose="020B0502040204020203" pitchFamily="34" charset="-122"/>
              <a:ea typeface="微软雅黑 Light" panose="020B0502040204020203" pitchFamily="34" charset="-122"/>
            </a:rPr>
            <a:t>Temporary</a:t>
          </a:r>
          <a:endParaRPr lang="zh-CN" altLang="en-US" sz="16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独特性 </a:t>
          </a:r>
          <a:r>
            <a:rPr lang="en-US" altLang="zh-CN" sz="1600" kern="1200" dirty="0">
              <a:latin typeface="微软雅黑 Light" panose="020B0502040204020203" pitchFamily="34" charset="-122"/>
              <a:ea typeface="微软雅黑 Light" panose="020B0502040204020203" pitchFamily="34" charset="-122"/>
            </a:rPr>
            <a:t>Unique</a:t>
          </a:r>
          <a:endParaRPr lang="zh-CN" altLang="en-US" sz="16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资源约束性 </a:t>
          </a:r>
          <a:r>
            <a:rPr lang="en-US" altLang="zh-CN" sz="1600" kern="1200" dirty="0">
              <a:latin typeface="微软雅黑 Light" panose="020B0502040204020203" pitchFamily="34" charset="-122"/>
              <a:ea typeface="微软雅黑 Light" panose="020B0502040204020203" pitchFamily="34" charset="-122"/>
            </a:rPr>
            <a:t>Constrain</a:t>
          </a:r>
          <a:endParaRPr lang="zh-CN" altLang="en-US" sz="16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不确定性 </a:t>
          </a:r>
          <a:r>
            <a:rPr lang="en-US" altLang="zh-CN" sz="1600" kern="1200" dirty="0">
              <a:latin typeface="微软雅黑 Light" panose="020B0502040204020203" pitchFamily="34" charset="-122"/>
              <a:ea typeface="微软雅黑 Light" panose="020B0502040204020203" pitchFamily="34" charset="-122"/>
            </a:rPr>
            <a:t>Uncertainty</a:t>
          </a:r>
          <a:endParaRPr lang="zh-CN" altLang="en-US" sz="16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时间</a:t>
          </a:r>
          <a:endParaRPr lang="en-US" altLang="zh-CN" sz="2200" kern="1200" dirty="0"/>
        </a:p>
        <a:p>
          <a:pPr marL="0" lvl="0" indent="0" algn="ctr" defTabSz="977900">
            <a:lnSpc>
              <a:spcPct val="100000"/>
            </a:lnSpc>
            <a:spcBef>
              <a:spcPct val="0"/>
            </a:spcBef>
            <a:spcAft>
              <a:spcPts val="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成本</a:t>
          </a:r>
          <a:endParaRPr lang="en-US" altLang="zh-CN" sz="2200" kern="1200" dirty="0"/>
        </a:p>
        <a:p>
          <a:pPr marL="0" lvl="0" indent="0" algn="ctr" defTabSz="977900">
            <a:lnSpc>
              <a:spcPct val="100000"/>
            </a:lnSpc>
            <a:spcBef>
              <a:spcPct val="0"/>
            </a:spcBef>
            <a:spcAft>
              <a:spcPts val="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4B45C3-0AF6-47BB-9A22-CE67FAB0AA3E}">
      <dsp:nvSpPr>
        <dsp:cNvPr id="0" name=""/>
        <dsp:cNvSpPr/>
      </dsp:nvSpPr>
      <dsp:spPr>
        <a:xfrm>
          <a:off x="4725999" y="1749632"/>
          <a:ext cx="1080001" cy="1080001"/>
        </a:xfrm>
        <a:prstGeom prst="ellipse">
          <a:avLst/>
        </a:prstGeom>
        <a:solidFill>
          <a:schemeClr val="accent2"/>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Why</a:t>
          </a:r>
          <a:endParaRPr lang="zh-CN" altLang="en-US" sz="1600" kern="1200" dirty="0"/>
        </a:p>
      </dsp:txBody>
      <dsp:txXfrm>
        <a:off x="4884161" y="1907794"/>
        <a:ext cx="763677" cy="763677"/>
      </dsp:txXfrm>
    </dsp:sp>
    <dsp:sp modelId="{975E2179-5B44-4C7C-8365-360AE9BC57CE}">
      <dsp:nvSpPr>
        <dsp:cNvPr id="0" name=""/>
        <dsp:cNvSpPr/>
      </dsp:nvSpPr>
      <dsp:spPr>
        <a:xfrm rot="16200000">
          <a:off x="5039187" y="1511965"/>
          <a:ext cx="453624" cy="21708"/>
        </a:xfrm>
        <a:custGeom>
          <a:avLst/>
          <a:gdLst/>
          <a:ahLst/>
          <a:cxnLst/>
          <a:rect l="0" t="0" r="0" b="0"/>
          <a:pathLst>
            <a:path>
              <a:moveTo>
                <a:pt x="0" y="10854"/>
              </a:moveTo>
              <a:lnTo>
                <a:pt x="45362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5254659" y="1511479"/>
        <a:ext cx="22681" cy="22681"/>
      </dsp:txXfrm>
    </dsp:sp>
    <dsp:sp modelId="{97A1FBD0-355A-40F0-A5B5-0CB7D9F517E7}">
      <dsp:nvSpPr>
        <dsp:cNvPr id="0" name=""/>
        <dsp:cNvSpPr/>
      </dsp:nvSpPr>
      <dsp:spPr>
        <a:xfrm>
          <a:off x="4630891" y="504002"/>
          <a:ext cx="1270216" cy="792005"/>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816910" y="619988"/>
        <a:ext cx="898178" cy="560033"/>
      </dsp:txXfrm>
    </dsp:sp>
    <dsp:sp modelId="{6F0F21AE-4F5E-4AF8-B30B-6A1BD7B4CC6B}">
      <dsp:nvSpPr>
        <dsp:cNvPr id="0" name=""/>
        <dsp:cNvSpPr/>
      </dsp:nvSpPr>
      <dsp:spPr>
        <a:xfrm>
          <a:off x="5806000" y="2278778"/>
          <a:ext cx="477144" cy="21708"/>
        </a:xfrm>
        <a:custGeom>
          <a:avLst/>
          <a:gdLst/>
          <a:ahLst/>
          <a:cxnLst/>
          <a:rect l="0" t="0" r="0" b="0"/>
          <a:pathLst>
            <a:path>
              <a:moveTo>
                <a:pt x="0" y="10854"/>
              </a:moveTo>
              <a:lnTo>
                <a:pt x="47714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032644" y="2277704"/>
        <a:ext cx="23857" cy="23857"/>
      </dsp:txXfrm>
    </dsp:sp>
    <dsp:sp modelId="{590766A8-5808-4CA5-BBD8-D66F69DB632D}">
      <dsp:nvSpPr>
        <dsp:cNvPr id="0" name=""/>
        <dsp:cNvSpPr/>
      </dsp:nvSpPr>
      <dsp:spPr>
        <a:xfrm>
          <a:off x="6283145" y="1893630"/>
          <a:ext cx="1270216" cy="792005"/>
        </a:xfrm>
        <a:prstGeom prst="ellipse">
          <a:avLst/>
        </a:prstGeom>
        <a:gradFill rotWithShape="0">
          <a:gsLst>
            <a:gs pos="0">
              <a:schemeClr val="accent4">
                <a:hueOff val="3266964"/>
                <a:satOff val="-13592"/>
                <a:lumOff val="3203"/>
                <a:alphaOff val="0"/>
                <a:satMod val="103000"/>
                <a:lumMod val="102000"/>
                <a:tint val="94000"/>
              </a:schemeClr>
            </a:gs>
            <a:gs pos="50000">
              <a:schemeClr val="accent4">
                <a:hueOff val="3266964"/>
                <a:satOff val="-13592"/>
                <a:lumOff val="3203"/>
                <a:alphaOff val="0"/>
                <a:satMod val="110000"/>
                <a:lumMod val="100000"/>
                <a:shade val="100000"/>
              </a:schemeClr>
            </a:gs>
            <a:gs pos="100000">
              <a:schemeClr val="accent4">
                <a:hueOff val="3266964"/>
                <a:satOff val="-13592"/>
                <a:lumOff val="320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469164" y="2009616"/>
        <a:ext cx="898178" cy="560033"/>
      </dsp:txXfrm>
    </dsp:sp>
    <dsp:sp modelId="{EE77998E-46B7-4462-AF32-3B24A8CD2A18}">
      <dsp:nvSpPr>
        <dsp:cNvPr id="0" name=""/>
        <dsp:cNvSpPr/>
      </dsp:nvSpPr>
      <dsp:spPr>
        <a:xfrm rot="5400000">
          <a:off x="5024813" y="3059966"/>
          <a:ext cx="482373" cy="21708"/>
        </a:xfrm>
        <a:custGeom>
          <a:avLst/>
          <a:gdLst/>
          <a:ahLst/>
          <a:cxnLst/>
          <a:rect l="0" t="0" r="0" b="0"/>
          <a:pathLst>
            <a:path>
              <a:moveTo>
                <a:pt x="0" y="10854"/>
              </a:moveTo>
              <a:lnTo>
                <a:pt x="482373"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5253940" y="3058761"/>
        <a:ext cx="24118" cy="24118"/>
      </dsp:txXfrm>
    </dsp:sp>
    <dsp:sp modelId="{3961F623-076B-4CC9-BB2C-A128E1E293BD}">
      <dsp:nvSpPr>
        <dsp:cNvPr id="0" name=""/>
        <dsp:cNvSpPr/>
      </dsp:nvSpPr>
      <dsp:spPr>
        <a:xfrm>
          <a:off x="4630891" y="3312007"/>
          <a:ext cx="1270216" cy="792005"/>
        </a:xfrm>
        <a:prstGeom prst="ellipse">
          <a:avLst/>
        </a:prstGeom>
        <a:gradFill rotWithShape="0">
          <a:gsLst>
            <a:gs pos="0">
              <a:schemeClr val="accent4">
                <a:hueOff val="6533927"/>
                <a:satOff val="-27185"/>
                <a:lumOff val="6405"/>
                <a:alphaOff val="0"/>
                <a:satMod val="103000"/>
                <a:lumMod val="102000"/>
                <a:tint val="94000"/>
              </a:schemeClr>
            </a:gs>
            <a:gs pos="50000">
              <a:schemeClr val="accent4">
                <a:hueOff val="6533927"/>
                <a:satOff val="-27185"/>
                <a:lumOff val="6405"/>
                <a:alphaOff val="0"/>
                <a:satMod val="110000"/>
                <a:lumMod val="100000"/>
                <a:shade val="100000"/>
              </a:schemeClr>
            </a:gs>
            <a:gs pos="100000">
              <a:schemeClr val="accent4">
                <a:hueOff val="6533927"/>
                <a:satOff val="-27185"/>
                <a:lumOff val="640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816910" y="3427993"/>
        <a:ext cx="898178" cy="560033"/>
      </dsp:txXfrm>
    </dsp:sp>
    <dsp:sp modelId="{F5A83192-EC13-45DF-8F80-0F453486ADA6}">
      <dsp:nvSpPr>
        <dsp:cNvPr id="0" name=""/>
        <dsp:cNvSpPr/>
      </dsp:nvSpPr>
      <dsp:spPr>
        <a:xfrm rot="10800000">
          <a:off x="4248854" y="2278778"/>
          <a:ext cx="477144" cy="21708"/>
        </a:xfrm>
        <a:custGeom>
          <a:avLst/>
          <a:gdLst/>
          <a:ahLst/>
          <a:cxnLst/>
          <a:rect l="0" t="0" r="0" b="0"/>
          <a:pathLst>
            <a:path>
              <a:moveTo>
                <a:pt x="0" y="10854"/>
              </a:moveTo>
              <a:lnTo>
                <a:pt x="47714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rot="10800000">
        <a:off x="4475498" y="2277704"/>
        <a:ext cx="23857" cy="23857"/>
      </dsp:txXfrm>
    </dsp:sp>
    <dsp:sp modelId="{666E3B4D-4F33-4F33-A864-E84BB2C5C61B}">
      <dsp:nvSpPr>
        <dsp:cNvPr id="0" name=""/>
        <dsp:cNvSpPr/>
      </dsp:nvSpPr>
      <dsp:spPr>
        <a:xfrm>
          <a:off x="2978637" y="1893630"/>
          <a:ext cx="1270216" cy="792005"/>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3164656" y="2009616"/>
        <a:ext cx="898178" cy="56003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ADCE9A-F623-4A8D-9AE7-8DD25E7A76D8}">
      <dsp:nvSpPr>
        <dsp:cNvPr id="0" name=""/>
        <dsp:cNvSpPr/>
      </dsp:nvSpPr>
      <dsp:spPr>
        <a:xfrm>
          <a:off x="2637" y="2194430"/>
          <a:ext cx="2346973" cy="938789"/>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项目建议</a:t>
          </a:r>
        </a:p>
      </dsp:txBody>
      <dsp:txXfrm>
        <a:off x="472032" y="2194430"/>
        <a:ext cx="1408184" cy="938789"/>
      </dsp:txXfrm>
    </dsp:sp>
    <dsp:sp modelId="{7A3D29DB-D217-4EDB-96A3-52B1BB0C6283}">
      <dsp:nvSpPr>
        <dsp:cNvPr id="0" name=""/>
        <dsp:cNvSpPr/>
      </dsp:nvSpPr>
      <dsp:spPr>
        <a:xfrm>
          <a:off x="2114912" y="2194430"/>
          <a:ext cx="2346973" cy="938789"/>
        </a:xfrm>
        <a:prstGeom prst="chevron">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项目可行性分析</a:t>
          </a:r>
        </a:p>
      </dsp:txBody>
      <dsp:txXfrm>
        <a:off x="2584307" y="2194430"/>
        <a:ext cx="1408184" cy="938789"/>
      </dsp:txXfrm>
    </dsp:sp>
    <dsp:sp modelId="{4B334B34-EF96-49E0-B66E-133BD48100CA}">
      <dsp:nvSpPr>
        <dsp:cNvPr id="0" name=""/>
        <dsp:cNvSpPr/>
      </dsp:nvSpPr>
      <dsp:spPr>
        <a:xfrm>
          <a:off x="4227188" y="2194430"/>
          <a:ext cx="2346973" cy="938789"/>
        </a:xfrm>
        <a:prstGeom prst="chevron">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项目审批</a:t>
          </a:r>
        </a:p>
      </dsp:txBody>
      <dsp:txXfrm>
        <a:off x="4696583" y="2194430"/>
        <a:ext cx="1408184" cy="938789"/>
      </dsp:txXfrm>
    </dsp:sp>
    <dsp:sp modelId="{5BAD45FD-29D7-48E3-8439-87C6F2A3A98B}">
      <dsp:nvSpPr>
        <dsp:cNvPr id="0" name=""/>
        <dsp:cNvSpPr/>
      </dsp:nvSpPr>
      <dsp:spPr>
        <a:xfrm>
          <a:off x="6339464" y="2194430"/>
          <a:ext cx="2346973" cy="938789"/>
        </a:xfrm>
        <a:prstGeom prst="chevron">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项目招投标</a:t>
          </a:r>
        </a:p>
      </dsp:txBody>
      <dsp:txXfrm>
        <a:off x="6808859" y="2194430"/>
        <a:ext cx="1408184" cy="938789"/>
      </dsp:txXfrm>
    </dsp:sp>
    <dsp:sp modelId="{C1A69100-C77D-4BF6-A329-8693DB5210CB}">
      <dsp:nvSpPr>
        <dsp:cNvPr id="0" name=""/>
        <dsp:cNvSpPr/>
      </dsp:nvSpPr>
      <dsp:spPr>
        <a:xfrm>
          <a:off x="8451739" y="2194430"/>
          <a:ext cx="2346973" cy="938789"/>
        </a:xfrm>
        <a:prstGeom prst="chevron">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项目合同谈判和签到</a:t>
          </a:r>
        </a:p>
      </dsp:txBody>
      <dsp:txXfrm>
        <a:off x="8921134" y="2194430"/>
        <a:ext cx="1408184" cy="9387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2.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2026/3/4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购买碟片 </a:t>
            </a:r>
            <a:r>
              <a:rPr lang="en-US" altLang="zh-CN" dirty="0"/>
              <a:t>vs </a:t>
            </a:r>
            <a:r>
              <a:rPr lang="zh-CN" altLang="en-US" dirty="0"/>
              <a:t>爱奇艺</a:t>
            </a:r>
            <a:endParaRPr lang="en-US" altLang="zh-CN" dirty="0"/>
          </a:p>
          <a:p>
            <a:r>
              <a:rPr lang="zh-CN" altLang="en-US" dirty="0"/>
              <a:t>买车 </a:t>
            </a:r>
            <a:r>
              <a:rPr lang="en-US" altLang="zh-CN" dirty="0"/>
              <a:t>vs </a:t>
            </a:r>
            <a:r>
              <a:rPr lang="zh-CN" altLang="en-US" dirty="0"/>
              <a:t>网约车</a:t>
            </a:r>
            <a:endParaRPr lang="en-US" altLang="zh-CN" dirty="0"/>
          </a:p>
          <a:p>
            <a:r>
              <a:rPr lang="en-US" altLang="zh-CN" dirty="0"/>
              <a:t>IDE vs </a:t>
            </a:r>
            <a:r>
              <a:rPr lang="zh-CN" altLang="en-US" dirty="0"/>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Do the project right</a:t>
            </a:r>
          </a:p>
          <a:p>
            <a:r>
              <a:rPr lang="en-US" altLang="zh-CN" dirty="0"/>
              <a:t>Do the right project</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第</a:t>
            </a:r>
            <a:r>
              <a:rPr lang="en-US" altLang="zh-CN" dirty="0"/>
              <a:t>7</a:t>
            </a:r>
            <a:r>
              <a:rPr lang="zh-CN" altLang="en-US" dirty="0"/>
              <a:t>版不再像第</a:t>
            </a:r>
            <a:r>
              <a:rPr lang="en-US" altLang="zh-CN" dirty="0"/>
              <a:t>6</a:t>
            </a:r>
            <a:r>
              <a:rPr lang="zh-CN" altLang="en-US" dirty="0"/>
              <a:t>版那样提供详细的“输入</a:t>
            </a:r>
            <a:r>
              <a:rPr lang="en-US" altLang="zh-CN" dirty="0"/>
              <a:t>-</a:t>
            </a:r>
            <a:r>
              <a:rPr lang="zh-CN" altLang="en-US" dirty="0"/>
              <a:t>工具</a:t>
            </a:r>
            <a:r>
              <a:rPr lang="en-US" altLang="zh-CN" dirty="0"/>
              <a:t>-</a:t>
            </a:r>
            <a:r>
              <a:rPr lang="zh-CN" altLang="en-US" dirty="0"/>
              <a:t>输出 </a:t>
            </a:r>
            <a:r>
              <a:rPr lang="en-US" altLang="zh-CN" dirty="0"/>
              <a:t>(ITTO)”</a:t>
            </a:r>
            <a:r>
              <a:rPr lang="zh-CN" altLang="en-US" dirty="0"/>
              <a:t>矩阵，而是期望项目经理基于这</a:t>
            </a:r>
            <a:r>
              <a:rPr lang="en-US" altLang="zh-CN" dirty="0"/>
              <a:t>12</a:t>
            </a:r>
            <a:r>
              <a:rPr lang="zh-CN" altLang="en-US" dirty="0"/>
              <a:t>项原则，在</a:t>
            </a:r>
            <a:r>
              <a:rPr lang="en-US" altLang="zh-CN" dirty="0"/>
              <a:t>8</a:t>
            </a:r>
            <a:r>
              <a:rPr lang="zh-CN" altLang="en-US" dirty="0"/>
              <a:t>大绩效域中灵活运用各种工具和剪裁方法，以实现价值交付</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Be a diligent, respectful, and caring steward.</a:t>
            </a:r>
          </a:p>
          <a:p>
            <a:r>
              <a:rPr lang="en-US" altLang="zh-CN" dirty="0"/>
              <a:t>Create a collaborative project team environment.</a:t>
            </a:r>
          </a:p>
          <a:p>
            <a:r>
              <a:rPr lang="en-US" altLang="zh-CN" dirty="0"/>
              <a:t>Effectively engage with stakeholders.</a:t>
            </a:r>
          </a:p>
          <a:p>
            <a:r>
              <a:rPr lang="en-US" altLang="zh-CN" dirty="0"/>
              <a:t>Focus on value.</a:t>
            </a:r>
          </a:p>
          <a:p>
            <a:r>
              <a:rPr lang="en-US" altLang="zh-CN" dirty="0"/>
              <a:t>Recognize, evaluate, and respond to system interactions.</a:t>
            </a:r>
          </a:p>
          <a:p>
            <a:r>
              <a:rPr lang="en-US" altLang="zh-CN" dirty="0"/>
              <a:t>Demonstrate leadership behaviors</a:t>
            </a:r>
          </a:p>
          <a:p>
            <a:r>
              <a:rPr lang="en-US" altLang="zh-CN" dirty="0"/>
              <a:t>Tailor based on context.</a:t>
            </a:r>
          </a:p>
          <a:p>
            <a:r>
              <a:rPr lang="en-US" altLang="zh-CN" dirty="0"/>
              <a:t>Build quality into processes and deliverables.</a:t>
            </a:r>
          </a:p>
          <a:p>
            <a:r>
              <a:rPr lang="en-US" altLang="zh-CN" dirty="0"/>
              <a:t>Navigate complexity.</a:t>
            </a:r>
          </a:p>
          <a:p>
            <a:r>
              <a:rPr lang="en-US" altLang="zh-CN" dirty="0"/>
              <a:t>Optimize risk responses.</a:t>
            </a:r>
          </a:p>
          <a:p>
            <a:r>
              <a:rPr lang="en-US" altLang="zh-CN" dirty="0"/>
              <a:t>Embrace adaptability and resiliency.</a:t>
            </a:r>
          </a:p>
          <a:p>
            <a:r>
              <a:rPr lang="en-US" altLang="zh-CN" dirty="0"/>
              <a:t>Enable change to achieve the envisioned future state.</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endParaRPr lang="en-US" altLang="zh-CN" dirty="0"/>
          </a:p>
          <a:p>
            <a:r>
              <a:rPr lang="en-US" altLang="zh-CN" dirty="0"/>
              <a:t>1 Our highest priority is to satisfy the customer through early and continuous delivery of valuable software.</a:t>
            </a:r>
          </a:p>
          <a:p>
            <a:r>
              <a:rPr lang="en-US" altLang="zh-CN" dirty="0"/>
              <a:t>2 Welcome changing requirements, even late in development. Agile processes harness change for the customer's competitive advantage.</a:t>
            </a:r>
          </a:p>
          <a:p>
            <a:r>
              <a:rPr lang="en-US" altLang="zh-CN" dirty="0"/>
              <a:t>3 Deliver working software frequently, from a couple of weeks to a couple of months, with a preference to the shorter timescale.</a:t>
            </a:r>
          </a:p>
          <a:p>
            <a:r>
              <a:rPr lang="en-US" altLang="zh-CN" dirty="0"/>
              <a:t>4 Business people and developers must work together daily throughout the project.</a:t>
            </a:r>
          </a:p>
          <a:p>
            <a:r>
              <a:rPr lang="en-US" altLang="zh-CN" dirty="0"/>
              <a:t>5 Build projects around motivated individuals. Give them the environment and support they need, and trust them to get the job done.</a:t>
            </a:r>
          </a:p>
          <a:p>
            <a:r>
              <a:rPr lang="en-US" altLang="zh-CN" dirty="0"/>
              <a:t>6 The most efficient and effective method of conveying information to and within a development team is face-to-face conversation.</a:t>
            </a:r>
          </a:p>
          <a:p>
            <a:r>
              <a:rPr lang="en-US" altLang="zh-CN" dirty="0"/>
              <a:t>7 Working software is the primary measure of progress.</a:t>
            </a:r>
          </a:p>
          <a:p>
            <a:r>
              <a:rPr lang="en-US" altLang="zh-CN" dirty="0"/>
              <a:t>8 Agile processes promote sustainable development. The sponsors, developers, and users should be able to maintain a constant pace indefinitely.</a:t>
            </a:r>
          </a:p>
          <a:p>
            <a:r>
              <a:rPr lang="en-US" altLang="zh-CN" dirty="0"/>
              <a:t>9 Continuous attention to technical excellence and good design enhances agility.</a:t>
            </a:r>
          </a:p>
          <a:p>
            <a:r>
              <a:rPr lang="en-US" altLang="zh-CN" dirty="0"/>
              <a:t>10 Simplicity—the art of maximizing the amount of work not done—is essential.</a:t>
            </a:r>
          </a:p>
          <a:p>
            <a:r>
              <a:rPr lang="en-US" altLang="zh-CN" dirty="0"/>
              <a:t>11 The best architectures, requirements, and designs emerge from self-organizing teams.</a:t>
            </a:r>
          </a:p>
          <a:p>
            <a:r>
              <a:rPr lang="en-US" altLang="zh-CN" dirty="0"/>
              <a:t>12 At regular intervals, the team reflects on how to become more effective, then tunes and adjusts its behavior accordingly.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这是不切实际的。这影响了建设预算，承包商的利润空间以及进度表。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28835983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这将影响材料、设计和生产时间，削减预算和时间表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4965439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Scope Management Plan</a:t>
            </a:r>
          </a:p>
          <a:p>
            <a:r>
              <a:rPr lang="en-US" altLang="zh-CN" sz="1200" b="0" i="0" kern="1200" dirty="0">
                <a:solidFill>
                  <a:schemeClr val="tx1"/>
                </a:solidFill>
                <a:effectLst/>
                <a:latin typeface="+mn-lt"/>
                <a:ea typeface="+mn-ea"/>
                <a:cs typeface="+mn-cs"/>
              </a:rPr>
              <a:t>Requirements Management Plan</a:t>
            </a:r>
          </a:p>
          <a:p>
            <a:r>
              <a:rPr lang="zh-CN" altLang="en-US" sz="1200" b="0" i="0" kern="1200" dirty="0">
                <a:solidFill>
                  <a:schemeClr val="tx1"/>
                </a:solidFill>
                <a:effectLst/>
                <a:latin typeface="+mn-lt"/>
                <a:ea typeface="+mn-ea"/>
                <a:cs typeface="+mn-cs"/>
              </a:rPr>
              <a:t>组织过程资产：经验教训</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事业环境因素：人力管理制度</a:t>
            </a:r>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55</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099506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63</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72</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79</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80</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偏差用减法</a:t>
            </a:r>
            <a:endParaRPr lang="en-US" altLang="zh-CN" dirty="0"/>
          </a:p>
          <a:p>
            <a:r>
              <a:rPr lang="zh-CN" altLang="en-US" dirty="0"/>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ACDGH</a:t>
            </a:r>
          </a:p>
          <a:p>
            <a:r>
              <a:rPr lang="en-US" altLang="zh-CN" dirty="0"/>
              <a:t>44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不管在哪个阶段，团队增加或减少人员，都从形成阶段开始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Maslow's Hierarchy of Needs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144</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总价：乙方</a:t>
            </a:r>
            <a:r>
              <a:rPr lang="en-US" altLang="zh-CN" dirty="0"/>
              <a:t>/</a:t>
            </a:r>
            <a:r>
              <a:rPr lang="zh-CN" altLang="en-US" dirty="0"/>
              <a:t>承包人风险大</a:t>
            </a:r>
            <a:endParaRPr lang="en-US" altLang="zh-CN" dirty="0"/>
          </a:p>
          <a:p>
            <a:r>
              <a:rPr lang="zh-CN" altLang="en-US" dirty="0"/>
              <a:t>补偿：实报实销；甲方</a:t>
            </a:r>
            <a:r>
              <a:rPr lang="en-US" altLang="zh-CN" dirty="0"/>
              <a:t>/</a:t>
            </a:r>
            <a:r>
              <a:rPr lang="zh-CN" altLang="en-US" dirty="0"/>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150</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6480000"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6480000" y="1128713"/>
            <a:ext cx="4859513" cy="2300287"/>
          </a:xfrm>
        </p:spPr>
        <p:txBody>
          <a:bodyPr/>
          <a:lstStyle>
            <a:lvl1pPr algn="r">
              <a:buFont typeface="+mj-lt"/>
              <a:buAutoNum type="arabicPeriod"/>
              <a:defRPr sz="1800"/>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2026/3/4</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tx1"/>
          </a:solidFill>
          <a:latin typeface="Roboto Mono"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just"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118.xml"/><Relationship Id="rId13" Type="http://schemas.openxmlformats.org/officeDocument/2006/relationships/slide" Target="slide158.xml"/><Relationship Id="rId3" Type="http://schemas.openxmlformats.org/officeDocument/2006/relationships/slide" Target="slide41.xml"/><Relationship Id="rId7" Type="http://schemas.openxmlformats.org/officeDocument/2006/relationships/slide" Target="slide112.xml"/><Relationship Id="rId12" Type="http://schemas.openxmlformats.org/officeDocument/2006/relationships/slide" Target="slide146.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91.xml"/><Relationship Id="rId11" Type="http://schemas.openxmlformats.org/officeDocument/2006/relationships/slide" Target="slide164.xml"/><Relationship Id="rId5" Type="http://schemas.openxmlformats.org/officeDocument/2006/relationships/slide" Target="slide83.xml"/><Relationship Id="rId10" Type="http://schemas.openxmlformats.org/officeDocument/2006/relationships/slide" Target="slide138.xml"/><Relationship Id="rId4" Type="http://schemas.openxmlformats.org/officeDocument/2006/relationships/slide" Target="slide82.xml"/><Relationship Id="rId9" Type="http://schemas.openxmlformats.org/officeDocument/2006/relationships/slide" Target="slide124.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supabase.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3.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12.jpg"/><Relationship Id="rId1" Type="http://schemas.openxmlformats.org/officeDocument/2006/relationships/slideLayout" Target="../slideLayouts/slideLayout5.xml"/><Relationship Id="rId4" Type="http://schemas.openxmlformats.org/officeDocument/2006/relationships/image" Target="../media/image1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hyperlink" Target="https://scrumguides.org/" TargetMode="Externa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17.svg"/></Relationships>
</file>

<file path=ppt/slides/_rels/slide80.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png"/><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diagramLayout" Target="../diagrams/layout11.xml"/><Relationship Id="rId7" Type="http://schemas.openxmlformats.org/officeDocument/2006/relationships/image" Target="../media/image32.png"/><Relationship Id="rId12" Type="http://schemas.openxmlformats.org/officeDocument/2006/relationships/image" Target="../media/image37.sv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11" Type="http://schemas.openxmlformats.org/officeDocument/2006/relationships/image" Target="../media/image36.png"/><Relationship Id="rId5" Type="http://schemas.openxmlformats.org/officeDocument/2006/relationships/diagramColors" Target="../diagrams/colors11.xml"/><Relationship Id="rId10" Type="http://schemas.openxmlformats.org/officeDocument/2006/relationships/image" Target="../media/image35.svg"/><Relationship Id="rId4" Type="http://schemas.openxmlformats.org/officeDocument/2006/relationships/diagramQuickStyle" Target="../diagrams/quickStyle11.xml"/><Relationship Id="rId9" Type="http://schemas.openxmlformats.org/officeDocument/2006/relationships/image" Target="../media/image34.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dirty="0">
                <a:solidFill>
                  <a:schemeClr val="bg1"/>
                </a:solidFill>
              </a:rPr>
              <a:t>Contents</a:t>
            </a:r>
            <a:endParaRPr lang="zh-CN" altLang="en-US" sz="1600" dirty="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dirty="0"/>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dirty="0"/>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dirty="0"/>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dirty="0"/>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dirty="0"/>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dirty="0"/>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dirty="0"/>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dirty="0"/>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dirty="0"/>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dirty="0"/>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dirty="0"/>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dirty="0"/>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dirty="0"/>
              <a:t>2</a:t>
            </a:r>
            <a:endParaRPr lang="zh-CN" altLang="en-US" dirty="0"/>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dirty="0"/>
              <a:t>3</a:t>
            </a:r>
            <a:endParaRPr lang="zh-CN" altLang="en-US" dirty="0"/>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dirty="0"/>
              <a:t>4</a:t>
            </a:r>
            <a:endParaRPr lang="zh-CN" altLang="en-US" dirty="0"/>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dirty="0"/>
              <a:t>6</a:t>
            </a:r>
            <a:endParaRPr lang="zh-CN" altLang="en-US" dirty="0"/>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dirty="0"/>
              <a:t>2</a:t>
            </a:r>
            <a:endParaRPr lang="zh-CN" altLang="en-US" dirty="0"/>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dirty="0"/>
              <a:t>Section 1</a:t>
            </a:r>
            <a:endParaRPr lang="zh-CN" altLang="en-US" dirty="0"/>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dirty="0"/>
              <a:t>Section 2</a:t>
            </a:r>
            <a:endParaRPr lang="zh-CN" altLang="en-US" dirty="0"/>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dirty="0"/>
              <a:t>Section 3</a:t>
            </a:r>
            <a:endParaRPr lang="zh-CN" altLang="en-US" dirty="0"/>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dirty="0"/>
              <a:t>Section 4</a:t>
            </a:r>
            <a:endParaRPr lang="zh-CN" altLang="en-US" dirty="0"/>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dirty="0"/>
              <a:t>Section 5</a:t>
            </a:r>
            <a:endParaRPr lang="zh-CN" altLang="en-US" dirty="0"/>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dirty="0"/>
              <a:t>Section 6</a:t>
            </a:r>
            <a:endParaRPr lang="zh-CN" altLang="en-US" dirty="0"/>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dirty="0"/>
              <a:t>Section 7</a:t>
            </a:r>
            <a:endParaRPr lang="zh-CN" altLang="en-US" dirty="0"/>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dirty="0"/>
              <a:t>Section 8</a:t>
            </a:r>
            <a:endParaRPr lang="zh-CN" altLang="en-US" dirty="0"/>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dirty="0"/>
              <a:t>Section 9</a:t>
            </a:r>
            <a:endParaRPr lang="zh-CN" altLang="en-US" dirty="0"/>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dirty="0"/>
              <a:t>Section 10</a:t>
            </a:r>
            <a:endParaRPr lang="zh-CN" altLang="en-US" dirty="0"/>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dirty="0"/>
              <a:t>Section 11</a:t>
            </a:r>
            <a:endParaRPr lang="zh-CN" altLang="en-US" dirty="0"/>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dirty="0"/>
              <a:t>Section 12</a:t>
            </a:r>
            <a:endParaRPr lang="zh-CN" altLang="en-US" dirty="0"/>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Placeholder 24">
            <a:extLst>
              <a:ext uri="{FF2B5EF4-FFF2-40B4-BE49-F238E27FC236}">
                <a16:creationId xmlns:a16="http://schemas.microsoft.com/office/drawing/2014/main" id="{0B76303B-5B83-E5C8-3FEF-54959CAE5CF6}"/>
              </a:ext>
            </a:extLst>
          </p:cNvPr>
          <p:cNvPicPr>
            <a:picLocks noGrp="1" noChangeAspect="1"/>
          </p:cNvPicPr>
          <p:nvPr>
            <p:ph type="pic" sz="quarter" idx="10"/>
          </p:nvPr>
        </p:nvPicPr>
        <p:blipFill>
          <a:blip r:embed="rId2"/>
          <a:srcRect t="1" b="1"/>
          <a:stretch/>
        </p:blipFill>
        <p:spPr>
          <a:xfrm>
            <a:off x="0" y="0"/>
            <a:ext cx="6480000"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6480000" y="1128713"/>
            <a:ext cx="4859513" cy="2300287"/>
          </a:xfrm>
        </p:spPr>
        <p:txBody>
          <a:bodyPr/>
          <a:lstStyle/>
          <a:p>
            <a:r>
              <a:rPr lang="zh-CN" altLang="en-US" dirty="0"/>
              <a:t>项目与软件项目</a:t>
            </a:r>
          </a:p>
          <a:p>
            <a:r>
              <a:rPr lang="zh-CN" altLang="en-US" dirty="0"/>
              <a:t>项目管理与软件项目管理</a:t>
            </a:r>
          </a:p>
          <a:p>
            <a:r>
              <a:rPr lang="zh-CN" altLang="en-US" dirty="0"/>
              <a:t>传统软件项目管理</a:t>
            </a:r>
          </a:p>
          <a:p>
            <a:r>
              <a:rPr lang="zh-CN" altLang="en-US" dirty="0"/>
              <a:t>敏捷软件项目管理</a:t>
            </a:r>
          </a:p>
          <a:p>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dirty="0"/>
              <a:t>定义 </a:t>
            </a:r>
            <a:r>
              <a:rPr lang="en-US" altLang="zh-CN" dirty="0"/>
              <a:t>Concept</a:t>
            </a:r>
            <a:r>
              <a:rPr lang="zh-CN" altLang="en-US" dirty="0"/>
              <a:t>：</a:t>
            </a:r>
            <a:endParaRPr lang="en-US" altLang="zh-CN" dirty="0"/>
          </a:p>
          <a:p>
            <a:pPr lvl="1"/>
            <a:r>
              <a:rPr lang="zh-CN" altLang="en-US" dirty="0"/>
              <a:t>为了创造一个唯一的产品或提供一个唯一的服务而进行的临时性的努力</a:t>
            </a:r>
            <a:endParaRPr lang="en-US" altLang="zh-CN" dirty="0"/>
          </a:p>
          <a:p>
            <a:pPr lvl="1"/>
            <a:r>
              <a:rPr lang="en-US" altLang="zh-CN" dirty="0"/>
              <a:t>A project is a temporary endeavor undertaken to create a unique product, service, or </a:t>
            </a:r>
            <a:r>
              <a:rPr lang="en-US" altLang="zh-CN" dirty="0">
                <a:solidFill>
                  <a:schemeClr val="accent2"/>
                </a:solidFill>
              </a:rPr>
              <a:t>result</a:t>
            </a:r>
            <a:r>
              <a:rPr lang="en-US" altLang="zh-CN" dirty="0"/>
              <a:t>.</a:t>
            </a:r>
          </a:p>
          <a:p>
            <a:endParaRPr lang="zh-CN" altLang="en-US" dirty="0"/>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dirty="0">
                <a:solidFill>
                  <a:schemeClr val="tx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dirty="0">
                <a:solidFill>
                  <a:schemeClr val="tx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dirty="0">
                <a:sym typeface="Wingdings" panose="05000000000000000000" pitchFamily="2" charset="2"/>
              </a:rPr>
              <a:t> </a:t>
            </a:r>
            <a:r>
              <a:rPr lang="zh-CN" altLang="en-US" dirty="0"/>
              <a:t>保洁</a:t>
            </a:r>
            <a:endParaRPr lang="en-US" altLang="zh-CN" dirty="0"/>
          </a:p>
          <a:p>
            <a:r>
              <a:rPr lang="zh-CN" altLang="en-US" dirty="0">
                <a:sym typeface="Wingdings" panose="05000000000000000000" pitchFamily="2" charset="2"/>
              </a:rPr>
              <a:t> </a:t>
            </a:r>
            <a:r>
              <a:rPr lang="zh-CN" altLang="en-US" dirty="0"/>
              <a:t>安保</a:t>
            </a:r>
            <a:endParaRPr lang="en-US" altLang="zh-CN" dirty="0"/>
          </a:p>
          <a:p>
            <a:endParaRPr lang="en-US" altLang="zh-CN" dirty="0"/>
          </a:p>
          <a:p>
            <a:r>
              <a:rPr lang="zh-CN" altLang="en-US" dirty="0">
                <a:sym typeface="Wingdings" panose="05000000000000000000" pitchFamily="2" charset="2"/>
              </a:rPr>
              <a:t> </a:t>
            </a:r>
            <a:r>
              <a:rPr lang="zh-CN" altLang="en-US" dirty="0"/>
              <a:t>上课</a:t>
            </a:r>
            <a:endParaRPr lang="en-US" altLang="zh-CN" dirty="0"/>
          </a:p>
          <a:p>
            <a:r>
              <a:rPr lang="zh-CN" altLang="en-US" dirty="0">
                <a:sym typeface="Wingdings" panose="05000000000000000000" pitchFamily="2" charset="2"/>
              </a:rPr>
              <a:t> 党团日</a:t>
            </a:r>
            <a:endParaRPr lang="en-US" altLang="zh-CN" dirty="0">
              <a:sym typeface="Wingdings" panose="05000000000000000000" pitchFamily="2" charset="2"/>
            </a:endParaRPr>
          </a:p>
          <a:p>
            <a:r>
              <a:rPr lang="zh-CN" altLang="en-US" dirty="0">
                <a:sym typeface="Wingdings" panose="05000000000000000000" pitchFamily="2" charset="2"/>
              </a:rPr>
              <a:t> 班会</a:t>
            </a:r>
            <a:endParaRPr lang="en-US" altLang="zh-CN" dirty="0"/>
          </a:p>
          <a:p>
            <a:r>
              <a:rPr lang="zh-CN" altLang="en-US" dirty="0"/>
              <a:t> </a:t>
            </a:r>
            <a:endParaRPr lang="en-US" altLang="zh-CN" dirty="0"/>
          </a:p>
          <a:p>
            <a:r>
              <a:rPr lang="zh-CN" altLang="en-US" dirty="0">
                <a:sym typeface="Wingdings" panose="05000000000000000000" pitchFamily="2" charset="2"/>
              </a:rPr>
              <a:t> 电商客服</a:t>
            </a:r>
            <a:endParaRPr lang="en-US" altLang="zh-CN" dirty="0">
              <a:sym typeface="Wingdings" panose="05000000000000000000" pitchFamily="2" charset="2"/>
            </a:endParaRPr>
          </a:p>
          <a:p>
            <a:r>
              <a:rPr lang="zh-CN" altLang="en-US" dirty="0">
                <a:sym typeface="Wingdings" panose="05000000000000000000" pitchFamily="2" charset="2"/>
              </a:rPr>
              <a:t> </a:t>
            </a:r>
            <a:r>
              <a:rPr lang="zh-CN" altLang="en-US" dirty="0"/>
              <a:t>系统运维</a:t>
            </a:r>
            <a:endParaRPr lang="en-US" altLang="zh-CN" dirty="0"/>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dirty="0">
                <a:solidFill>
                  <a:schemeClr val="tx1"/>
                </a:solidFill>
              </a:rPr>
              <a:t>Project</a:t>
            </a:r>
            <a:endParaRPr lang="zh-CN" altLang="en-US" sz="1600"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dirty="0">
                <a:solidFill>
                  <a:schemeClr val="tx1"/>
                </a:solidFill>
              </a:rPr>
              <a:t>Operation</a:t>
            </a:r>
            <a:endParaRPr lang="zh-CN" altLang="en-US" sz="1600" dirty="0">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328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2100120135"/>
              </p:ext>
            </p:extLst>
          </p:nvPr>
        </p:nvGraphicFramePr>
        <p:xfrm>
          <a:off x="3023828" y="1466443"/>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dirty="0"/>
              <a:t>1.2 </a:t>
            </a:r>
            <a:r>
              <a:rPr lang="zh-CN" altLang="en-US" dirty="0"/>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dirty="0"/>
              <a:t>将项目分解为更小的单位</a:t>
            </a:r>
            <a:endParaRPr lang="en-US" altLang="zh-CN" dirty="0"/>
          </a:p>
          <a:p>
            <a:r>
              <a:rPr lang="zh-CN" altLang="en-US" dirty="0"/>
              <a:t>便于更好的控制项目</a:t>
            </a:r>
            <a:endParaRPr lang="en-US" altLang="zh-CN" dirty="0"/>
          </a:p>
          <a:p>
            <a:r>
              <a:rPr lang="zh-CN" altLang="en-US" dirty="0"/>
              <a:t>划分很灵活</a:t>
            </a:r>
            <a:endParaRPr lang="en-US" altLang="zh-CN" dirty="0"/>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dirty="0"/>
              <a:t>Sub-Program</a:t>
            </a:r>
            <a:endParaRPr lang="zh-CN" altLang="en-US" dirty="0"/>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dirty="0"/>
              <a:t>1.3 </a:t>
            </a:r>
            <a:r>
              <a:rPr lang="zh-CN" altLang="en-US" dirty="0"/>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328000"/>
          </a:xfrm>
        </p:spPr>
        <p:txBody>
          <a:bodyPr>
            <a:normAutofit/>
          </a:bodyPr>
          <a:lstStyle/>
          <a:p>
            <a:r>
              <a:rPr lang="zh-CN" altLang="en-US" dirty="0"/>
              <a:t>一组相互关联的项目、子项目和受控过程的活动</a:t>
            </a:r>
            <a:endParaRPr lang="en-US" altLang="zh-CN" dirty="0"/>
          </a:p>
          <a:p>
            <a:r>
              <a:rPr lang="zh-CN" altLang="en-US" dirty="0"/>
              <a:t>也称为大型项目</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核心价值：整体大于部分之和</a:t>
            </a:r>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dirty="0"/>
              <a:t>Program</a:t>
            </a:r>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dirty="0"/>
              <a:t>1.4 </a:t>
            </a:r>
            <a:r>
              <a:rPr lang="zh-CN" altLang="en-US" dirty="0"/>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r>
              <a:rPr lang="zh-CN" altLang="en-US" dirty="0"/>
              <a:t>强调</a:t>
            </a:r>
            <a:endParaRPr lang="en-US" altLang="zh-CN" dirty="0"/>
          </a:p>
          <a:p>
            <a:pPr lvl="1"/>
            <a:r>
              <a:rPr lang="zh-CN" altLang="en-US" dirty="0"/>
              <a:t>战略价值和整体效益</a:t>
            </a:r>
            <a:endParaRPr lang="en-US" altLang="zh-CN" dirty="0"/>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dirty="0"/>
              <a:t>Portfolio</a:t>
            </a:r>
            <a:endParaRPr lang="zh-CN" altLang="en-US" dirty="0"/>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dirty="0"/>
              <a:t>项目组合 </a:t>
            </a:r>
            <a:r>
              <a:rPr lang="en-US" altLang="zh-CN" sz="1600" dirty="0"/>
              <a:t>Portfolio</a:t>
            </a:r>
            <a:endParaRPr lang="zh-CN" altLang="en-US" sz="16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dirty="0"/>
              <a:t>项目集 </a:t>
            </a:r>
            <a:r>
              <a:rPr lang="en-US" altLang="zh-CN" sz="1600" dirty="0"/>
              <a:t>Program</a:t>
            </a:r>
            <a:endParaRPr lang="zh-CN" altLang="en-US" sz="1600" dirty="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dirty="0"/>
              <a:t>项目 </a:t>
            </a:r>
            <a:r>
              <a:rPr lang="en-US" altLang="zh-CN" sz="1600" dirty="0"/>
              <a:t>Project</a:t>
            </a:r>
            <a:endParaRPr lang="zh-CN" altLang="en-US" sz="1600" dirty="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dirty="0"/>
              <a:t>项目 </a:t>
            </a:r>
            <a:r>
              <a:rPr lang="en-US" altLang="zh-CN" dirty="0"/>
              <a:t>Project</a:t>
            </a:r>
            <a:endParaRPr lang="zh-CN" altLang="en-US" dirty="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cxnSp>
        <p:nvCxnSpPr>
          <p:cNvPr id="13" name="Connector: Elbow 12">
            <a:extLst>
              <a:ext uri="{FF2B5EF4-FFF2-40B4-BE49-F238E27FC236}">
                <a16:creationId xmlns:a16="http://schemas.microsoft.com/office/drawing/2014/main" id="{E2CDE2B9-A78F-F5A8-419E-7CF909E9D3A5}"/>
              </a:ext>
            </a:extLst>
          </p:cNvPr>
          <p:cNvCxnSpPr>
            <a:stCxn id="6" idx="1"/>
            <a:endCxn id="7" idx="1"/>
          </p:cNvCxnSpPr>
          <p:nvPr/>
        </p:nvCxnSpPr>
        <p:spPr>
          <a:xfrm rot="10800000" flipH="1" flipV="1">
            <a:off x="3656582" y="1586555"/>
            <a:ext cx="360000" cy="62516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a:stCxn id="7" idx="1"/>
            <a:endCxn id="8" idx="1"/>
          </p:cNvCxnSpPr>
          <p:nvPr/>
        </p:nvCxnSpPr>
        <p:spPr>
          <a:xfrm rot="10800000" flipH="1" flipV="1">
            <a:off x="4016582" y="2211714"/>
            <a:ext cx="360000" cy="640549"/>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a:stCxn id="7" idx="1"/>
            <a:endCxn id="9" idx="1"/>
          </p:cNvCxnSpPr>
          <p:nvPr/>
        </p:nvCxnSpPr>
        <p:spPr>
          <a:xfrm rot="10800000" flipH="1" flipV="1">
            <a:off x="4016582" y="2211715"/>
            <a:ext cx="360000" cy="1265708"/>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a:stCxn id="10" idx="1"/>
            <a:endCxn id="32" idx="1"/>
          </p:cNvCxnSpPr>
          <p:nvPr/>
        </p:nvCxnSpPr>
        <p:spPr>
          <a:xfrm rot="10800000" flipV="1">
            <a:off x="4736582" y="4117971"/>
            <a:ext cx="12700" cy="1246920"/>
          </a:xfrm>
          <a:prstGeom prst="bentConnector3">
            <a:avLst>
              <a:gd name="adj1" fmla="val 1800000"/>
            </a:avLst>
          </a:prstGeom>
          <a:ln>
            <a:solidFill>
              <a:schemeClr val="tx1">
                <a:lumMod val="50000"/>
                <a:lumOff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dirty="0"/>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dirty="0"/>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dirty="0"/>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dirty="0"/>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dirty="0"/>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dirty="0"/>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a:stCxn id="9" idx="1"/>
            <a:endCxn id="11" idx="1"/>
          </p:cNvCxnSpPr>
          <p:nvPr/>
        </p:nvCxnSpPr>
        <p:spPr>
          <a:xfrm rot="10800000" flipH="1" flipV="1">
            <a:off x="4376582" y="3477423"/>
            <a:ext cx="360000" cy="126571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dirty="0"/>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dirty="0"/>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dirty="0"/>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dirty="0"/>
              <a:t>含义 </a:t>
            </a:r>
            <a:r>
              <a:rPr lang="en-US" altLang="zh-CN" dirty="0"/>
              <a:t>Concept</a:t>
            </a:r>
          </a:p>
          <a:p>
            <a:pPr lvl="1"/>
            <a:r>
              <a:rPr lang="zh-CN" altLang="en-US" dirty="0"/>
              <a:t>计算机程序以及说明程序的各种文档</a:t>
            </a:r>
            <a:endParaRPr lang="en-US" altLang="zh-CN" dirty="0"/>
          </a:p>
          <a:p>
            <a:r>
              <a:rPr lang="zh-CN" altLang="en-US" dirty="0"/>
              <a:t>组成要素 </a:t>
            </a:r>
            <a:r>
              <a:rPr lang="en-US" altLang="zh-CN" dirty="0"/>
              <a:t>Component</a:t>
            </a:r>
          </a:p>
          <a:p>
            <a:pPr lvl="1"/>
            <a:r>
              <a:rPr lang="zh-CN" altLang="en-US" dirty="0"/>
              <a:t>程序</a:t>
            </a:r>
            <a:endParaRPr lang="en-US" altLang="zh-CN" dirty="0"/>
          </a:p>
          <a:p>
            <a:pPr lvl="1"/>
            <a:r>
              <a:rPr lang="zh-CN" altLang="en-US" dirty="0"/>
              <a:t>数据</a:t>
            </a:r>
            <a:endParaRPr lang="en-US" altLang="zh-CN" dirty="0"/>
          </a:p>
          <a:p>
            <a:pPr lvl="1"/>
            <a:r>
              <a:rPr lang="zh-CN" altLang="en-US" dirty="0"/>
              <a:t>相关文档</a:t>
            </a:r>
            <a:endParaRPr lang="en-US" altLang="zh-CN" dirty="0"/>
          </a:p>
          <a:p>
            <a:r>
              <a:rPr lang="zh-CN" altLang="en-US" dirty="0"/>
              <a:t>特点 </a:t>
            </a:r>
            <a:r>
              <a:rPr lang="en-US" altLang="zh-CN" dirty="0"/>
              <a:t>Feature</a:t>
            </a:r>
          </a:p>
          <a:p>
            <a:pPr lvl="1"/>
            <a:r>
              <a:rPr lang="zh-CN" altLang="en-US" dirty="0"/>
              <a:t>逻辑实体</a:t>
            </a:r>
            <a:endParaRPr lang="en-US" altLang="zh-CN" dirty="0"/>
          </a:p>
          <a:p>
            <a:pPr lvl="1"/>
            <a:r>
              <a:rPr lang="zh-CN" altLang="en-US" dirty="0"/>
              <a:t>同硬件相比，没有生产、磨损和老化</a:t>
            </a:r>
            <a:endParaRPr lang="en-US" altLang="zh-CN" dirty="0"/>
          </a:p>
          <a:p>
            <a:pPr lvl="1"/>
            <a:r>
              <a:rPr lang="zh-CN" altLang="en-US" dirty="0"/>
              <a:t>开发受计算机系统限制</a:t>
            </a:r>
            <a:endParaRPr lang="en-US" altLang="zh-CN" dirty="0"/>
          </a:p>
          <a:p>
            <a:pPr lvl="1"/>
            <a:r>
              <a:rPr lang="zh-CN" altLang="en-US" dirty="0"/>
              <a:t>技术复杂、更新迭代快</a:t>
            </a:r>
            <a:endParaRPr lang="en-US" altLang="zh-CN" dirty="0"/>
          </a:p>
          <a:p>
            <a:pPr lvl="1"/>
            <a:r>
              <a:rPr lang="zh-CN" altLang="en-US" dirty="0"/>
              <a:t>开发成本低和学习成本高</a:t>
            </a:r>
            <a:endParaRPr lang="en-US" altLang="zh-CN" dirty="0"/>
          </a:p>
          <a:p>
            <a:pPr lvl="1"/>
            <a:r>
              <a:rPr lang="zh-CN" altLang="en-US" dirty="0"/>
              <a:t>涉及多方面因素</a:t>
            </a:r>
            <a:endParaRPr lang="en-US" altLang="zh-CN" dirty="0"/>
          </a:p>
          <a:p>
            <a:pPr lvl="1"/>
            <a:r>
              <a:rPr lang="zh-CN" altLang="en-US" dirty="0"/>
              <a:t>在</a:t>
            </a:r>
            <a:r>
              <a:rPr lang="en-US" altLang="zh-CN" dirty="0"/>
              <a:t>AI</a:t>
            </a:r>
            <a:r>
              <a:rPr lang="zh-CN" altLang="en-US" dirty="0"/>
              <a:t>盛行的当下，仍然严重依赖人工</a:t>
            </a:r>
            <a:endParaRPr lang="en-US" altLang="zh-CN" dirty="0"/>
          </a:p>
          <a:p>
            <a:pPr lvl="1"/>
            <a:endParaRPr lang="zh-CN" altLang="en-US" dirty="0"/>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a:t>
            </a:r>
            <a:endParaRPr lang="zh-CN" altLang="en-US" dirty="0"/>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dirty="0"/>
              <a:t>制约 </a:t>
            </a:r>
            <a:r>
              <a:rPr lang="en-US" altLang="zh-CN" dirty="0"/>
              <a:t>Constrain</a:t>
            </a:r>
          </a:p>
          <a:p>
            <a:pPr lvl="1"/>
            <a:r>
              <a:rPr lang="zh-CN" altLang="en-US" dirty="0"/>
              <a:t>项目范围 </a:t>
            </a:r>
            <a:r>
              <a:rPr lang="en-US" altLang="zh-CN" dirty="0"/>
              <a:t>Scope</a:t>
            </a:r>
          </a:p>
          <a:p>
            <a:pPr lvl="1"/>
            <a:r>
              <a:rPr lang="zh-CN" altLang="en-US" dirty="0"/>
              <a:t>进度计划 </a:t>
            </a:r>
            <a:r>
              <a:rPr lang="en-US" altLang="zh-CN" dirty="0"/>
              <a:t>Schedule / Time</a:t>
            </a:r>
          </a:p>
          <a:p>
            <a:pPr lvl="1"/>
            <a:r>
              <a:rPr lang="zh-CN" altLang="en-US" dirty="0"/>
              <a:t>成本 </a:t>
            </a:r>
            <a:r>
              <a:rPr lang="en-US" altLang="zh-CN" dirty="0"/>
              <a:t>Cost / Budget</a:t>
            </a:r>
          </a:p>
          <a:p>
            <a:pPr lvl="1"/>
            <a:r>
              <a:rPr lang="zh-CN" altLang="en-US" dirty="0"/>
              <a:t>用户满意度 </a:t>
            </a:r>
            <a:r>
              <a:rPr lang="en-US" altLang="zh-CN" dirty="0"/>
              <a:t>User Satisfaction / Quality</a:t>
            </a:r>
            <a:endParaRPr lang="zh-CN" altLang="en-US" dirty="0"/>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1537592512"/>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dirty="0"/>
              <a:t>趋势 </a:t>
            </a:r>
            <a:r>
              <a:rPr lang="en-US" altLang="zh-CN" dirty="0"/>
              <a:t>Trend</a:t>
            </a:r>
          </a:p>
          <a:p>
            <a:pPr lvl="1"/>
            <a:r>
              <a:rPr lang="zh-CN" altLang="en-US" dirty="0"/>
              <a:t>当前软件项目开发正从“本地部署、一次性交付”转向“云端托管、持续迭代、服务化运营”</a:t>
            </a:r>
            <a:endParaRPr lang="en-US" altLang="zh-CN" dirty="0"/>
          </a:p>
          <a:p>
            <a:pPr lvl="1"/>
            <a:r>
              <a:rPr lang="en-US" altLang="zh-CN" dirty="0"/>
              <a:t>SaaS + Cloud </a:t>
            </a:r>
            <a:r>
              <a:rPr lang="zh-CN" altLang="en-US" dirty="0"/>
              <a:t>已成主流范式，推动软件产业向更灵活、高效、智能的方向演进</a:t>
            </a:r>
            <a:endParaRPr lang="en-US" altLang="zh-CN" dirty="0"/>
          </a:p>
          <a:p>
            <a:pPr lvl="1"/>
            <a:r>
              <a:rPr lang="zh-CN" altLang="en-US" dirty="0"/>
              <a:t>基于云平台构建 </a:t>
            </a:r>
            <a:r>
              <a:rPr lang="en-US" altLang="zh-CN" dirty="0"/>
              <a:t>SaaS </a:t>
            </a:r>
            <a:r>
              <a:rPr lang="zh-CN" altLang="en-US" dirty="0"/>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992054774"/>
              </p:ext>
            </p:extLst>
          </p:nvPr>
        </p:nvGraphicFramePr>
        <p:xfrm>
          <a:off x="695325" y="3431209"/>
          <a:ext cx="10801350" cy="2760791"/>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50000"/>
                        </a:lnSpc>
                        <a:buNone/>
                      </a:pPr>
                      <a:r>
                        <a:rPr lang="en-US" altLang="zh-CN" sz="1600" dirty="0">
                          <a:solidFill>
                            <a:schemeClr val="bg1"/>
                          </a:solidFill>
                        </a:rPr>
                        <a:t>Item</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English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Chinese</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Relevant</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84947567"/>
                  </a:ext>
                </a:extLst>
              </a:tr>
              <a:tr h="0">
                <a:tc>
                  <a:txBody>
                    <a:bodyPr/>
                    <a:lstStyle/>
                    <a:p>
                      <a:pPr algn="l">
                        <a:lnSpc>
                          <a:spcPct val="150000"/>
                        </a:lnSpc>
                        <a:buNone/>
                      </a:pPr>
                      <a:r>
                        <a:rPr lang="en-US" sz="1600" dirty="0"/>
                        <a:t>IaaS</a:t>
                      </a:r>
                    </a:p>
                  </a:txBody>
                  <a:tcPr anchor="ctr">
                    <a:lnL>
                      <a:noFill/>
                    </a:lnL>
                    <a:lnR>
                      <a:noFill/>
                    </a:lnR>
                    <a:lnT>
                      <a:noFill/>
                    </a:lnT>
                    <a:lnB>
                      <a:noFill/>
                    </a:lnB>
                    <a:noFill/>
                  </a:tcPr>
                </a:tc>
                <a:tc>
                  <a:txBody>
                    <a:bodyPr/>
                    <a:lstStyle/>
                    <a:p>
                      <a:pPr algn="l">
                        <a:lnSpc>
                          <a:spcPct val="150000"/>
                        </a:lnSpc>
                        <a:buNone/>
                      </a:pPr>
                      <a:r>
                        <a:rPr lang="en-US" sz="1600" dirty="0"/>
                        <a:t>Infrastructure as a Service</a:t>
                      </a:r>
                    </a:p>
                  </a:txBody>
                  <a:tcPr anchor="ctr">
                    <a:lnL>
                      <a:noFill/>
                    </a:lnL>
                    <a:lnR>
                      <a:noFill/>
                    </a:lnR>
                    <a:lnT>
                      <a:noFill/>
                    </a:lnT>
                    <a:lnB>
                      <a:noFill/>
                    </a:lnB>
                    <a:noFill/>
                  </a:tcPr>
                </a:tc>
                <a:tc>
                  <a:txBody>
                    <a:bodyPr/>
                    <a:lstStyle/>
                    <a:p>
                      <a:pPr algn="l">
                        <a:lnSpc>
                          <a:spcPct val="150000"/>
                        </a:lnSpc>
                        <a:buNone/>
                      </a:pPr>
                      <a:r>
                        <a:rPr lang="zh-CN" altLang="en-US" sz="1600"/>
                        <a:t>基础设施即服务</a:t>
                      </a:r>
                    </a:p>
                  </a:txBody>
                  <a:tcPr anchor="ctr">
                    <a:lnL>
                      <a:noFill/>
                    </a:lnL>
                    <a:lnR>
                      <a:noFill/>
                    </a:lnR>
                    <a:lnT>
                      <a:noFill/>
                    </a:lnT>
                    <a:lnB>
                      <a:noFill/>
                    </a:lnB>
                    <a:noFill/>
                  </a:tcPr>
                </a:tc>
                <a:tc>
                  <a:txBody>
                    <a:bodyPr/>
                    <a:lstStyle/>
                    <a:p>
                      <a:pPr algn="l">
                        <a:lnSpc>
                          <a:spcPct val="15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a:noFill/>
                    </a:lnL>
                    <a:lnR>
                      <a:noFill/>
                    </a:lnR>
                    <a:lnT>
                      <a:noFill/>
                    </a:lnT>
                    <a:lnB>
                      <a:noFill/>
                    </a:lnB>
                    <a:noFill/>
                  </a:tcPr>
                </a:tc>
                <a:tc>
                  <a:txBody>
                    <a:bodyPr/>
                    <a:lstStyle/>
                    <a:p>
                      <a:pPr algn="l">
                        <a:lnSpc>
                          <a:spcPct val="150000"/>
                        </a:lnSpc>
                        <a:buNone/>
                      </a:pPr>
                      <a:r>
                        <a:rPr lang="fi-FI" sz="1600" dirty="0"/>
                        <a:t>SaaS 可构建在 IaaS 之上</a:t>
                      </a:r>
                    </a:p>
                  </a:txBody>
                  <a:tcPr anchor="ctr">
                    <a:lnL>
                      <a:noFill/>
                    </a:lnL>
                    <a:lnR>
                      <a:noFill/>
                    </a:lnR>
                    <a:lnT>
                      <a:noFill/>
                    </a:lnT>
                    <a:lnB>
                      <a:noFill/>
                    </a:lnB>
                    <a:noFill/>
                  </a:tcPr>
                </a:tc>
                <a:extLst>
                  <a:ext uri="{0D108BD9-81ED-4DB2-BD59-A6C34878D82A}">
                    <a16:rowId xmlns:a16="http://schemas.microsoft.com/office/drawing/2014/main" val="3189741195"/>
                  </a:ext>
                </a:extLst>
              </a:tr>
              <a:tr h="0">
                <a:tc>
                  <a:txBody>
                    <a:bodyPr/>
                    <a:lstStyle/>
                    <a:p>
                      <a:pPr algn="l">
                        <a:lnSpc>
                          <a:spcPct val="150000"/>
                        </a:lnSpc>
                        <a:buNone/>
                      </a:pPr>
                      <a:r>
                        <a:rPr lang="en-US" sz="1600"/>
                        <a:t>PaaS</a:t>
                      </a:r>
                    </a:p>
                  </a:txBody>
                  <a:tcPr anchor="ctr">
                    <a:lnL>
                      <a:noFill/>
                    </a:lnL>
                    <a:lnR>
                      <a:noFill/>
                    </a:lnR>
                    <a:lnT>
                      <a:noFill/>
                    </a:lnT>
                    <a:lnB>
                      <a:noFill/>
                    </a:lnB>
                    <a:noFill/>
                  </a:tcPr>
                </a:tc>
                <a:tc>
                  <a:txBody>
                    <a:bodyPr/>
                    <a:lstStyle/>
                    <a:p>
                      <a:pPr algn="l">
                        <a:lnSpc>
                          <a:spcPct val="150000"/>
                        </a:lnSpc>
                        <a:buNone/>
                      </a:pPr>
                      <a:r>
                        <a:rPr lang="en-US" sz="1600"/>
                        <a:t>Platform as a Service</a:t>
                      </a:r>
                    </a:p>
                  </a:txBody>
                  <a:tcPr anchor="ctr">
                    <a:lnL>
                      <a:noFill/>
                    </a:lnL>
                    <a:lnR>
                      <a:noFill/>
                    </a:lnR>
                    <a:lnT>
                      <a:noFill/>
                    </a:lnT>
                    <a:lnB>
                      <a:noFill/>
                    </a:lnB>
                    <a:noFill/>
                  </a:tcPr>
                </a:tc>
                <a:tc>
                  <a:txBody>
                    <a:bodyPr/>
                    <a:lstStyle/>
                    <a:p>
                      <a:pPr algn="l">
                        <a:lnSpc>
                          <a:spcPct val="150000"/>
                        </a:lnSpc>
                        <a:buNone/>
                      </a:pPr>
                      <a:r>
                        <a:rPr lang="zh-CN" altLang="en-US" sz="1600"/>
                        <a:t>平台即服务</a:t>
                      </a:r>
                    </a:p>
                  </a:txBody>
                  <a:tcPr anchor="ctr">
                    <a:lnL>
                      <a:noFill/>
                    </a:lnL>
                    <a:lnR>
                      <a:noFill/>
                    </a:lnR>
                    <a:lnT>
                      <a:noFill/>
                    </a:lnT>
                    <a:lnB>
                      <a:noFill/>
                    </a:lnB>
                    <a:noFill/>
                  </a:tcPr>
                </a:tc>
                <a:tc>
                  <a:txBody>
                    <a:bodyPr/>
                    <a:lstStyle/>
                    <a:p>
                      <a:pPr algn="l">
                        <a:lnSpc>
                          <a:spcPct val="150000"/>
                        </a:lnSpc>
                        <a:buNone/>
                      </a:pPr>
                      <a:r>
                        <a:rPr lang="zh-CN" altLang="en-US" sz="1600" dirty="0"/>
                        <a:t>提供开发、部署、运行环境（如 </a:t>
                      </a:r>
                      <a:r>
                        <a:rPr lang="en-US" sz="1600" dirty="0"/>
                        <a:t>Google App </a:t>
                      </a:r>
                      <a:r>
                        <a:rPr lang="en-US" sz="1600" dirty="0" err="1"/>
                        <a:t>Engine、Heroku</a:t>
                      </a:r>
                      <a:r>
                        <a:rPr lang="en-US" sz="1600" dirty="0"/>
                        <a:t>）</a:t>
                      </a:r>
                    </a:p>
                  </a:txBody>
                  <a:tcPr anchor="ctr">
                    <a:lnL>
                      <a:noFill/>
                    </a:lnL>
                    <a:lnR>
                      <a:noFill/>
                    </a:lnR>
                    <a:lnT>
                      <a:noFill/>
                    </a:lnT>
                    <a:lnB>
                      <a:noFill/>
                    </a:lnB>
                    <a:noFill/>
                  </a:tcPr>
                </a:tc>
                <a:tc>
                  <a:txBody>
                    <a:bodyPr/>
                    <a:lstStyle/>
                    <a:p>
                      <a:pPr algn="l">
                        <a:lnSpc>
                          <a:spcPct val="150000"/>
                        </a:lnSpc>
                        <a:buNone/>
                      </a:pPr>
                      <a:r>
                        <a:rPr lang="en-US" sz="1600"/>
                        <a:t>SaaS </a:t>
                      </a:r>
                      <a:r>
                        <a:rPr lang="zh-CN" altLang="en-US" sz="1600"/>
                        <a:t>开发者常使用 </a:t>
                      </a:r>
                      <a:r>
                        <a:rPr lang="en-US" sz="1600"/>
                        <a:t>PaaS </a:t>
                      </a:r>
                      <a:r>
                        <a:rPr lang="zh-CN" altLang="en-US" sz="1600"/>
                        <a:t>加速开发</a:t>
                      </a:r>
                    </a:p>
                  </a:txBody>
                  <a:tcPr anchor="ctr">
                    <a:lnL>
                      <a:noFill/>
                    </a:lnL>
                    <a:lnR>
                      <a:noFill/>
                    </a:lnR>
                    <a:lnT>
                      <a:noFill/>
                    </a:lnT>
                    <a:lnB>
                      <a:noFill/>
                    </a:lnB>
                    <a:noFill/>
                  </a:tcPr>
                </a:tc>
                <a:extLst>
                  <a:ext uri="{0D108BD9-81ED-4DB2-BD59-A6C34878D82A}">
                    <a16:rowId xmlns:a16="http://schemas.microsoft.com/office/drawing/2014/main" val="2368938405"/>
                  </a:ext>
                </a:extLst>
              </a:tr>
              <a:tr h="0">
                <a:tc>
                  <a:txBody>
                    <a:bodyPr/>
                    <a:lstStyle/>
                    <a:p>
                      <a:pPr algn="l">
                        <a:lnSpc>
                          <a:spcPct val="150000"/>
                        </a:lnSpc>
                        <a:buNone/>
                      </a:pPr>
                      <a:r>
                        <a:rPr lang="en-US" sz="1600"/>
                        <a:t>SaaS</a:t>
                      </a:r>
                    </a:p>
                  </a:txBody>
                  <a:tcPr anchor="ctr">
                    <a:lnL>
                      <a:noFill/>
                    </a:lnL>
                    <a:lnR>
                      <a:noFill/>
                    </a:lnR>
                    <a:lnT>
                      <a:noFill/>
                    </a:lnT>
                    <a:lnB>
                      <a:noFill/>
                    </a:lnB>
                    <a:noFill/>
                  </a:tcPr>
                </a:tc>
                <a:tc>
                  <a:txBody>
                    <a:bodyPr/>
                    <a:lstStyle/>
                    <a:p>
                      <a:pPr algn="l">
                        <a:lnSpc>
                          <a:spcPct val="150000"/>
                        </a:lnSpc>
                        <a:buNone/>
                      </a:pPr>
                      <a:r>
                        <a:rPr lang="en-US" sz="1600"/>
                        <a:t>Software as a Service</a:t>
                      </a:r>
                    </a:p>
                  </a:txBody>
                  <a:tcPr anchor="ctr">
                    <a:lnL>
                      <a:noFill/>
                    </a:lnL>
                    <a:lnR>
                      <a:noFill/>
                    </a:lnR>
                    <a:lnT>
                      <a:noFill/>
                    </a:lnT>
                    <a:lnB>
                      <a:noFill/>
                    </a:lnB>
                    <a:noFill/>
                  </a:tcPr>
                </a:tc>
                <a:tc>
                  <a:txBody>
                    <a:bodyPr/>
                    <a:lstStyle/>
                    <a:p>
                      <a:pPr algn="l">
                        <a:lnSpc>
                          <a:spcPct val="150000"/>
                        </a:lnSpc>
                        <a:buNone/>
                      </a:pPr>
                      <a:r>
                        <a:rPr lang="zh-CN" altLang="en-US" sz="1600"/>
                        <a:t>软件即服务</a:t>
                      </a:r>
                    </a:p>
                  </a:txBody>
                  <a:tcPr anchor="ctr">
                    <a:lnL>
                      <a:noFill/>
                    </a:lnL>
                    <a:lnR>
                      <a:noFill/>
                    </a:lnR>
                    <a:lnT>
                      <a:noFill/>
                    </a:lnT>
                    <a:lnB>
                      <a:noFill/>
                    </a:lnB>
                    <a:noFill/>
                  </a:tcPr>
                </a:tc>
                <a:tc>
                  <a:txBody>
                    <a:bodyPr/>
                    <a:lstStyle/>
                    <a:p>
                      <a:pPr algn="l">
                        <a:lnSpc>
                          <a:spcPct val="150000"/>
                        </a:lnSpc>
                        <a:buNone/>
                      </a:pPr>
                      <a:r>
                        <a:rPr lang="zh-CN" altLang="en-US" sz="1600"/>
                        <a:t>直接面向终端用户的完整应用（如钉钉、</a:t>
                      </a:r>
                      <a:r>
                        <a:rPr lang="en-US" sz="1600"/>
                        <a:t>Salesforce、Notion）</a:t>
                      </a:r>
                    </a:p>
                  </a:txBody>
                  <a:tcPr anchor="ctr">
                    <a:lnL>
                      <a:noFill/>
                    </a:lnL>
                    <a:lnR>
                      <a:noFill/>
                    </a:lnR>
                    <a:lnT>
                      <a:noFill/>
                    </a:lnT>
                    <a:lnB>
                      <a:noFill/>
                    </a:lnB>
                    <a:noFill/>
                  </a:tcPr>
                </a:tc>
                <a:tc>
                  <a:txBody>
                    <a:bodyPr/>
                    <a:lstStyle/>
                    <a:p>
                      <a:pPr algn="l">
                        <a:lnSpc>
                          <a:spcPct val="150000"/>
                        </a:lnSpc>
                        <a:buNone/>
                      </a:pPr>
                      <a:r>
                        <a:rPr lang="zh-CN" altLang="en-US" sz="1600" dirty="0"/>
                        <a:t>最终交付形态</a:t>
                      </a:r>
                    </a:p>
                  </a:txBody>
                  <a:tcPr anchor="ctr">
                    <a:lnL>
                      <a:noFill/>
                    </a:lnL>
                    <a:lnR>
                      <a:noFill/>
                    </a:lnR>
                    <a:lnT>
                      <a:noFill/>
                    </a:lnT>
                    <a:lnB>
                      <a:noFill/>
                    </a:lnB>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dirty="0"/>
              <a:t>例子 </a:t>
            </a:r>
            <a:r>
              <a:rPr lang="en-US" altLang="zh-CN" dirty="0"/>
              <a:t>Example</a:t>
            </a:r>
          </a:p>
          <a:p>
            <a:pPr lvl="1"/>
            <a:r>
              <a:rPr lang="zh-CN" altLang="en-US" dirty="0"/>
              <a:t>本地 </a:t>
            </a:r>
            <a:r>
              <a:rPr lang="en-US" altLang="zh-CN" dirty="0"/>
              <a:t>IDE vs </a:t>
            </a:r>
            <a:r>
              <a:rPr lang="zh-CN" altLang="en-US" dirty="0"/>
              <a:t>云开发；</a:t>
            </a:r>
            <a:r>
              <a:rPr lang="en-US" altLang="zh-CN" dirty="0" err="1"/>
              <a:t>CodePen</a:t>
            </a:r>
            <a:endParaRPr lang="en-US" altLang="zh-CN" dirty="0"/>
          </a:p>
          <a:p>
            <a:pPr lvl="1"/>
            <a:r>
              <a:rPr lang="en-US" altLang="zh-CN" dirty="0"/>
              <a:t>DIY </a:t>
            </a:r>
            <a:r>
              <a:rPr lang="zh-CN" altLang="en-US" dirty="0"/>
              <a:t>自建服务器 </a:t>
            </a:r>
            <a:r>
              <a:rPr lang="en-US" altLang="zh-CN" dirty="0"/>
              <a:t>vs </a:t>
            </a:r>
            <a:r>
              <a:rPr lang="zh-CN" altLang="en-US" dirty="0"/>
              <a:t>云服务器；阿里云 </a:t>
            </a:r>
            <a:r>
              <a:rPr lang="en-US" altLang="zh-CN" dirty="0"/>
              <a:t>ECS</a:t>
            </a:r>
            <a:r>
              <a:rPr lang="zh-CN" altLang="en-US" dirty="0"/>
              <a:t>，腾讯云 </a:t>
            </a:r>
            <a:r>
              <a:rPr lang="en-US" altLang="zh-CN" dirty="0"/>
              <a:t>CVM</a:t>
            </a:r>
            <a:r>
              <a:rPr lang="zh-CN" altLang="en-US" dirty="0"/>
              <a:t>，亚马逊 </a:t>
            </a:r>
            <a:r>
              <a:rPr lang="en-US" altLang="zh-CN" dirty="0"/>
              <a:t>AWS</a:t>
            </a:r>
          </a:p>
          <a:p>
            <a:pPr lvl="1"/>
            <a:r>
              <a:rPr lang="zh-CN" altLang="en-US" dirty="0"/>
              <a:t>传统办公</a:t>
            </a:r>
            <a:r>
              <a:rPr lang="en-US" altLang="zh-CN" dirty="0"/>
              <a:t> vs OA</a:t>
            </a:r>
            <a:r>
              <a:rPr lang="zh-CN" altLang="en-US" dirty="0"/>
              <a:t>；腾讯文档、金山文档、钉钉、飞书</a:t>
            </a:r>
            <a:endParaRPr lang="en-US" altLang="zh-CN" dirty="0"/>
          </a:p>
          <a:p>
            <a:pPr lvl="1"/>
            <a:r>
              <a:rPr lang="zh-CN" altLang="en-US" dirty="0"/>
              <a:t>其它：</a:t>
            </a:r>
            <a:r>
              <a:rPr lang="en-US" altLang="zh-CN" dirty="0">
                <a:hlinkClick r:id="rId3"/>
              </a:rPr>
              <a:t> https://supabase.com/</a:t>
            </a:r>
            <a:r>
              <a:rPr lang="zh-CN" altLang="en-US" dirty="0"/>
              <a:t>、</a:t>
            </a:r>
            <a:r>
              <a:rPr lang="en-US" altLang="zh-CN" dirty="0"/>
              <a:t>GitHub page</a:t>
            </a:r>
            <a:endParaRPr lang="zh-CN" altLang="en-US" dirty="0"/>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没有必要为了喝口奶而养一头牛</a:t>
            </a:r>
            <a:endParaRPr lang="en-US" altLang="zh-CN" dirty="0">
              <a:solidFill>
                <a:schemeClr val="bg1"/>
              </a:solidFill>
            </a:endParaRPr>
          </a:p>
          <a:p>
            <a:pPr>
              <a:lnSpc>
                <a:spcPct val="150000"/>
              </a:lnSpc>
            </a:pPr>
            <a:r>
              <a:rPr lang="en-US" altLang="zh-CN" dirty="0">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dirty="0"/>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dirty="0"/>
              <a:t>Project Management</a:t>
            </a:r>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dirty="0"/>
              <a:t>软件工程组成部分</a:t>
            </a:r>
            <a:endParaRPr lang="en-US" altLang="zh-CN" dirty="0"/>
          </a:p>
          <a:p>
            <a:r>
              <a:rPr lang="zh-CN" altLang="en-US" dirty="0"/>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2051753188"/>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dirty="0"/>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dirty="0"/>
              <a:t>基于经验，现在需要系统学习</a:t>
            </a:r>
            <a:endParaRPr lang="en-US" altLang="zh-CN" dirty="0"/>
          </a:p>
          <a:p>
            <a:r>
              <a:rPr lang="en-US" altLang="zh-CN" dirty="0"/>
              <a:t>PMP</a:t>
            </a:r>
          </a:p>
          <a:p>
            <a:pPr lvl="1"/>
            <a:r>
              <a:rPr lang="en-US" altLang="zh-CN" dirty="0"/>
              <a:t>100</a:t>
            </a:r>
            <a:r>
              <a:rPr lang="zh-CN" altLang="en-US" dirty="0"/>
              <a:t>多个国家认可</a:t>
            </a:r>
            <a:endParaRPr lang="en-US" altLang="zh-CN" dirty="0"/>
          </a:p>
          <a:p>
            <a:pPr lvl="1"/>
            <a:r>
              <a:rPr lang="zh-CN" altLang="en-US" dirty="0"/>
              <a:t>基于 </a:t>
            </a:r>
            <a:r>
              <a:rPr lang="en-US" altLang="zh-CN" dirty="0"/>
              <a:t>PMBOK 7th</a:t>
            </a:r>
            <a:r>
              <a:rPr lang="zh-CN" altLang="en-US" dirty="0"/>
              <a:t>，同时结合了</a:t>
            </a:r>
            <a:r>
              <a:rPr lang="en-US" altLang="zh-CN" dirty="0"/>
              <a:t>《</a:t>
            </a:r>
            <a:r>
              <a:rPr lang="zh-CN" altLang="en-US" dirty="0"/>
              <a:t>敏捷实践指南</a:t>
            </a:r>
            <a:r>
              <a:rPr lang="en-US" altLang="zh-CN" dirty="0"/>
              <a:t>》</a:t>
            </a:r>
            <a:r>
              <a:rPr lang="zh-CN" altLang="en-US" dirty="0"/>
              <a:t>。</a:t>
            </a:r>
          </a:p>
          <a:p>
            <a:pPr lvl="1"/>
            <a:r>
              <a:rPr lang="zh-CN" altLang="en-US" dirty="0"/>
              <a:t>考试中很少再考某个过程的输入输出是什么（</a:t>
            </a:r>
            <a:r>
              <a:rPr lang="en-US" altLang="zh-CN" dirty="0"/>
              <a:t>ITTO</a:t>
            </a:r>
            <a:r>
              <a:rPr lang="zh-CN" altLang="en-US" dirty="0"/>
              <a:t>记忆题大幅减少）</a:t>
            </a:r>
          </a:p>
          <a:p>
            <a:pPr lvl="1"/>
            <a:r>
              <a:rPr lang="zh-CN" altLang="en-US" dirty="0"/>
              <a:t>更多考的是情景题：面对这种情况，项目经理应该秉持什么原则？优先关注哪个绩效域？</a:t>
            </a:r>
          </a:p>
          <a:p>
            <a:pPr lvl="1"/>
            <a:r>
              <a:rPr lang="zh-CN" altLang="en-US" dirty="0"/>
              <a:t>敏捷和混合题型占比高达 </a:t>
            </a:r>
            <a:r>
              <a:rPr lang="en-US" altLang="zh-CN" dirty="0"/>
              <a:t>50%</a:t>
            </a:r>
            <a:endParaRPr lang="zh-CN" altLang="en-US" dirty="0"/>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dirty="0"/>
              <a:t>PMBOK</a:t>
            </a:r>
            <a:endParaRPr lang="zh-CN" altLang="en-US" dirty="0"/>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71299471"/>
              </p:ext>
            </p:extLst>
          </p:nvPr>
        </p:nvGraphicFramePr>
        <p:xfrm>
          <a:off x="559766" y="3981450"/>
          <a:ext cx="11072469" cy="2282825"/>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Title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Institute</a:t>
                      </a:r>
                    </a:p>
                  </a:txBody>
                  <a:tcPr anchor="ctr"/>
                </a:tc>
                <a:tc>
                  <a:txBody>
                    <a:bodyPr/>
                    <a:lstStyle/>
                    <a:p>
                      <a:pPr>
                        <a:lnSpc>
                          <a:spcPct val="150000"/>
                        </a:lnSpc>
                        <a:buNone/>
                      </a:pPr>
                      <a:r>
                        <a:rPr lang="zh-CN" altLang="en-US" sz="1800" dirty="0"/>
                        <a:t>项目管理委员会</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endParaRPr lang="zh-CN" altLang="en-US" sz="18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6th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6</a:t>
                      </a:r>
                      <a:r>
                        <a:rPr lang="zh-CN" altLang="en-US" sz="1800" dirty="0"/>
                        <a:t>版</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7th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7</a:t>
                      </a:r>
                      <a:r>
                        <a:rPr lang="zh-CN" altLang="en-US" sz="1800" dirty="0"/>
                        <a:t>版</a:t>
                      </a:r>
                      <a:endParaRPr lang="en-US" altLang="zh-CN" sz="1800" dirty="0"/>
                    </a:p>
                  </a:txBody>
                  <a:tcPr anchor="ct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369324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3687143"/>
            <a:ext cx="1440000" cy="2880000"/>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096216813"/>
              </p:ext>
            </p:extLst>
          </p:nvPr>
        </p:nvGraphicFramePr>
        <p:xfrm>
          <a:off x="672888" y="3979342"/>
          <a:ext cx="1621409" cy="2282825"/>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Item</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800" baseline="0" dirty="0">
                          <a:solidFill>
                            <a:schemeClr val="bg1"/>
                          </a:solidFill>
                        </a:rPr>
                        <a:t>PMP</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PMI</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6</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7</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012356734"/>
              </p:ext>
            </p:extLst>
          </p:nvPr>
        </p:nvGraphicFramePr>
        <p:xfrm>
          <a:off x="695325" y="1166527"/>
          <a:ext cx="10801350" cy="4524947"/>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5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50000"/>
                        </a:lnSpc>
                        <a:buNone/>
                      </a:pPr>
                      <a:r>
                        <a:rPr lang="en-US" altLang="zh-CN" sz="1600" dirty="0"/>
                        <a:t>Philosophy</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基于过程 </a:t>
                      </a:r>
                      <a:r>
                        <a:rPr lang="en-US" sz="1600" dirty="0"/>
                        <a:t>Process-Based</a:t>
                      </a:r>
                    </a:p>
                  </a:txBody>
                  <a:tcPr anchor="ctr">
                    <a:lnL>
                      <a:noFill/>
                    </a:lnL>
                    <a:lnR>
                      <a:noFill/>
                    </a:lnR>
                    <a:lnT>
                      <a:noFill/>
                    </a:lnT>
                    <a:lnB>
                      <a:noFill/>
                    </a:lnB>
                    <a:noFill/>
                  </a:tcPr>
                </a:tc>
                <a:tc>
                  <a:txBody>
                    <a:bodyPr/>
                    <a:lstStyle/>
                    <a:p>
                      <a:pPr algn="l">
                        <a:lnSpc>
                          <a:spcPct val="150000"/>
                        </a:lnSpc>
                        <a:buNone/>
                      </a:pPr>
                      <a:r>
                        <a:rPr lang="zh-CN" altLang="en-US" sz="1600" dirty="0"/>
                        <a:t>基于原则 </a:t>
                      </a:r>
                      <a:r>
                        <a:rPr lang="en-US" sz="1600" dirty="0"/>
                        <a:t>Principle-Based</a:t>
                      </a:r>
                    </a:p>
                  </a:txBody>
                  <a:tcPr anchor="ctr">
                    <a:lnL>
                      <a:noFill/>
                    </a:lnL>
                    <a:lnR>
                      <a:noFill/>
                    </a:lnR>
                    <a:lnT>
                      <a:noFill/>
                    </a:lnT>
                    <a:lnB>
                      <a:noFill/>
                    </a:lnB>
                    <a:noFill/>
                  </a:tcPr>
                </a:tc>
                <a:extLst>
                  <a:ext uri="{0D108BD9-81ED-4DB2-BD59-A6C34878D82A}">
                    <a16:rowId xmlns:a16="http://schemas.microsoft.com/office/drawing/2014/main" val="4662044"/>
                  </a:ext>
                </a:extLst>
              </a:tr>
              <a:tr h="0">
                <a:tc>
                  <a:txBody>
                    <a:bodyPr/>
                    <a:lstStyle/>
                    <a:p>
                      <a:pPr algn="l">
                        <a:lnSpc>
                          <a:spcPct val="150000"/>
                        </a:lnSpc>
                        <a:buNone/>
                      </a:pPr>
                      <a:r>
                        <a:rPr lang="en-US" altLang="zh-CN" sz="1600" dirty="0"/>
                        <a:t>Structure</a:t>
                      </a:r>
                      <a:endParaRPr lang="zh-CN" altLang="en-US" sz="1600" dirty="0"/>
                    </a:p>
                  </a:txBody>
                  <a:tcPr anchor="ctr">
                    <a:lnL>
                      <a:noFill/>
                    </a:lnL>
                    <a:lnR>
                      <a:noFill/>
                    </a:lnR>
                    <a:lnT>
                      <a:noFill/>
                    </a:lnT>
                    <a:lnB>
                      <a:noFill/>
                    </a:lnB>
                    <a:noFill/>
                  </a:tcPr>
                </a:tc>
                <a:tc>
                  <a:txBody>
                    <a:bodyPr/>
                    <a:lstStyle/>
                    <a:p>
                      <a:pPr algn="l">
                        <a:lnSpc>
                          <a:spcPct val="150000"/>
                        </a:lnSpc>
                        <a:buNone/>
                      </a:pPr>
                      <a:r>
                        <a:rPr lang="en-US" altLang="zh-CN" sz="1600"/>
                        <a:t>5</a:t>
                      </a:r>
                      <a:r>
                        <a:rPr lang="zh-CN" altLang="en-US" sz="1600"/>
                        <a:t>大过程组 </a:t>
                      </a:r>
                      <a:r>
                        <a:rPr lang="en-US" altLang="zh-CN" sz="1600"/>
                        <a:t>+ 10</a:t>
                      </a:r>
                      <a:r>
                        <a:rPr lang="zh-CN" altLang="en-US" sz="1600"/>
                        <a:t>大知识领域</a:t>
                      </a:r>
                    </a:p>
                  </a:txBody>
                  <a:tcPr anchor="ctr">
                    <a:lnL>
                      <a:noFill/>
                    </a:lnL>
                    <a:lnR>
                      <a:noFill/>
                    </a:lnR>
                    <a:lnT>
                      <a:noFill/>
                    </a:lnT>
                    <a:lnB>
                      <a:noFill/>
                    </a:lnB>
                    <a:noFill/>
                  </a:tcPr>
                </a:tc>
                <a:tc>
                  <a:txBody>
                    <a:bodyPr/>
                    <a:lstStyle/>
                    <a:p>
                      <a:pPr algn="l">
                        <a:lnSpc>
                          <a:spcPct val="15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a:noFill/>
                    </a:lnT>
                    <a:lnB>
                      <a:noFill/>
                    </a:lnB>
                    <a:noFill/>
                  </a:tcPr>
                </a:tc>
                <a:extLst>
                  <a:ext uri="{0D108BD9-81ED-4DB2-BD59-A6C34878D82A}">
                    <a16:rowId xmlns:a16="http://schemas.microsoft.com/office/drawing/2014/main" val="1512076787"/>
                  </a:ext>
                </a:extLst>
              </a:tr>
              <a:tr h="0">
                <a:tc>
                  <a:txBody>
                    <a:bodyPr/>
                    <a:lstStyle/>
                    <a:p>
                      <a:pPr algn="l">
                        <a:lnSpc>
                          <a:spcPct val="150000"/>
                        </a:lnSpc>
                        <a:buNone/>
                      </a:pPr>
                      <a:r>
                        <a:rPr lang="en-US" altLang="zh-CN" sz="1600" dirty="0"/>
                        <a:t>Focus</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产出 </a:t>
                      </a:r>
                      <a:r>
                        <a:rPr lang="en-US" sz="1600" dirty="0"/>
                        <a:t>Outputs</a:t>
                      </a:r>
                      <a:endParaRPr lang="en-US" altLang="zh-CN" sz="1600" dirty="0"/>
                    </a:p>
                    <a:p>
                      <a:pPr algn="l">
                        <a:lnSpc>
                          <a:spcPct val="150000"/>
                        </a:lnSpc>
                        <a:buNone/>
                      </a:pPr>
                      <a:r>
                        <a:rPr lang="zh-CN" altLang="en-US" sz="1600" dirty="0"/>
                        <a:t>交付了什么文件</a:t>
                      </a:r>
                      <a:r>
                        <a:rPr lang="en-US" altLang="zh-CN" sz="1600" dirty="0"/>
                        <a:t>/</a:t>
                      </a:r>
                      <a:r>
                        <a:rPr lang="zh-CN" altLang="en-US" sz="1600" dirty="0"/>
                        <a:t>产品？</a:t>
                      </a:r>
                    </a:p>
                  </a:txBody>
                  <a:tcPr anchor="ctr">
                    <a:lnL>
                      <a:noFill/>
                    </a:lnL>
                    <a:lnR>
                      <a:noFill/>
                    </a:lnR>
                    <a:lnT>
                      <a:noFill/>
                    </a:lnT>
                    <a:lnB>
                      <a:noFill/>
                    </a:lnB>
                    <a:noFill/>
                  </a:tcPr>
                </a:tc>
                <a:tc>
                  <a:txBody>
                    <a:bodyPr/>
                    <a:lstStyle/>
                    <a:p>
                      <a:pPr algn="l">
                        <a:lnSpc>
                          <a:spcPct val="150000"/>
                        </a:lnSpc>
                        <a:buNone/>
                      </a:pPr>
                      <a:r>
                        <a:rPr lang="zh-CN" altLang="en-US" sz="1600" dirty="0"/>
                        <a:t>成果 </a:t>
                      </a:r>
                      <a:r>
                        <a:rPr lang="en-US" sz="1600" dirty="0"/>
                        <a:t>Outcomes &amp; </a:t>
                      </a:r>
                      <a:r>
                        <a:rPr lang="zh-CN" altLang="en-US" sz="1600" dirty="0"/>
                        <a:t>价值 </a:t>
                      </a:r>
                      <a:r>
                        <a:rPr lang="en-US" sz="1600" dirty="0"/>
                        <a:t>Value </a:t>
                      </a:r>
                      <a:br>
                        <a:rPr lang="en-US" sz="1600" dirty="0"/>
                      </a:br>
                      <a:r>
                        <a:rPr lang="zh-CN" altLang="en-US" sz="1600" dirty="0"/>
                        <a:t>实现了什么业务目标？</a:t>
                      </a:r>
                    </a:p>
                  </a:txBody>
                  <a:tcPr anchor="ctr">
                    <a:lnL>
                      <a:noFill/>
                    </a:lnL>
                    <a:lnR>
                      <a:noFill/>
                    </a:lnR>
                    <a:lnT>
                      <a:noFill/>
                    </a:lnT>
                    <a:lnB>
                      <a:noFill/>
                    </a:lnB>
                    <a:noFill/>
                  </a:tcPr>
                </a:tc>
                <a:extLst>
                  <a:ext uri="{0D108BD9-81ED-4DB2-BD59-A6C34878D82A}">
                    <a16:rowId xmlns:a16="http://schemas.microsoft.com/office/drawing/2014/main" val="1434473040"/>
                  </a:ext>
                </a:extLst>
              </a:tr>
              <a:tr h="0">
                <a:tc>
                  <a:txBody>
                    <a:bodyPr/>
                    <a:lstStyle/>
                    <a:p>
                      <a:pPr algn="l">
                        <a:lnSpc>
                          <a:spcPct val="150000"/>
                        </a:lnSpc>
                        <a:buNone/>
                      </a:pPr>
                      <a:r>
                        <a:rPr lang="en-US" altLang="zh-CN" sz="1600" dirty="0"/>
                        <a:t>Methodology Scope</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偏向预测型 </a:t>
                      </a:r>
                      <a:r>
                        <a:rPr lang="en-US" altLang="zh-CN" sz="1600" dirty="0"/>
                        <a:t>(</a:t>
                      </a:r>
                      <a:r>
                        <a:rPr lang="zh-CN" altLang="en-US" sz="1600" dirty="0"/>
                        <a:t>瀑布式</a:t>
                      </a:r>
                      <a:r>
                        <a:rPr lang="en-US" altLang="zh-CN" sz="1600" dirty="0"/>
                        <a:t>)</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314180528"/>
                  </a:ext>
                </a:extLst>
              </a:tr>
              <a:tr h="0">
                <a:tc>
                  <a:txBody>
                    <a:bodyPr/>
                    <a:lstStyle/>
                    <a:p>
                      <a:pPr algn="l">
                        <a:lnSpc>
                          <a:spcPct val="150000"/>
                        </a:lnSpc>
                        <a:buNone/>
                      </a:pPr>
                      <a:r>
                        <a:rPr lang="en-US" altLang="zh-CN" sz="1600" dirty="0"/>
                        <a:t>PM</a:t>
                      </a:r>
                      <a:r>
                        <a:rPr lang="zh-CN" altLang="en-US" sz="1600" dirty="0"/>
                        <a:t> </a:t>
                      </a:r>
                      <a:r>
                        <a:rPr lang="en-US" altLang="zh-CN" sz="1600" dirty="0"/>
                        <a:t>role</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执行者、控制者、流程管理者</a:t>
                      </a:r>
                    </a:p>
                  </a:txBody>
                  <a:tcPr anchor="ctr">
                    <a:lnL>
                      <a:noFill/>
                    </a:lnL>
                    <a:lnR>
                      <a:noFill/>
                    </a:lnR>
                    <a:lnT>
                      <a:noFill/>
                    </a:lnT>
                    <a:lnB>
                      <a:noFill/>
                    </a:lnB>
                    <a:noFill/>
                  </a:tcPr>
                </a:tc>
                <a:tc>
                  <a:txBody>
                    <a:bodyPr/>
                    <a:lstStyle/>
                    <a:p>
                      <a:pPr algn="l">
                        <a:lnSpc>
                          <a:spcPct val="150000"/>
                        </a:lnSpc>
                        <a:buNone/>
                      </a:pPr>
                      <a:r>
                        <a:rPr lang="zh-CN" altLang="en-US" sz="1600"/>
                        <a:t>服务型领导、变革推动者、价值交付者</a:t>
                      </a:r>
                    </a:p>
                  </a:txBody>
                  <a:tcPr anchor="ctr">
                    <a:lnL>
                      <a:noFill/>
                    </a:lnL>
                    <a:lnR>
                      <a:noFill/>
                    </a:lnR>
                    <a:lnT>
                      <a:noFill/>
                    </a:lnT>
                    <a:lnB>
                      <a:noFill/>
                    </a:lnB>
                    <a:noFill/>
                  </a:tcPr>
                </a:tc>
                <a:extLst>
                  <a:ext uri="{0D108BD9-81ED-4DB2-BD59-A6C34878D82A}">
                    <a16:rowId xmlns:a16="http://schemas.microsoft.com/office/drawing/2014/main" val="1520392344"/>
                  </a:ext>
                </a:extLst>
              </a:tr>
              <a:tr h="0">
                <a:tc>
                  <a:txBody>
                    <a:bodyPr/>
                    <a:lstStyle/>
                    <a:p>
                      <a:pPr algn="l">
                        <a:lnSpc>
                          <a:spcPct val="150000"/>
                        </a:lnSpc>
                        <a:buNone/>
                      </a:pPr>
                      <a:r>
                        <a:rPr lang="en-US" altLang="zh-CN" sz="1600" dirty="0"/>
                        <a:t>Tailoring</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较僵化，强调遵循标准流程</a:t>
                      </a:r>
                    </a:p>
                  </a:txBody>
                  <a:tcPr anchor="ctr">
                    <a:lnL>
                      <a:noFill/>
                    </a:lnL>
                    <a:lnR>
                      <a:noFill/>
                    </a:lnR>
                    <a:lnT>
                      <a:noFill/>
                    </a:lnT>
                    <a:lnB>
                      <a:noFill/>
                    </a:lnB>
                    <a:noFill/>
                  </a:tcPr>
                </a:tc>
                <a:tc>
                  <a:txBody>
                    <a:bodyPr/>
                    <a:lstStyle/>
                    <a:p>
                      <a:pPr algn="l">
                        <a:lnSpc>
                          <a:spcPct val="150000"/>
                        </a:lnSpc>
                        <a:buNone/>
                      </a:pPr>
                      <a:r>
                        <a:rPr lang="zh-CN" altLang="en-US" sz="1600" dirty="0"/>
                        <a:t>高度灵活，强调根据环境裁剪 </a:t>
                      </a:r>
                      <a:r>
                        <a:rPr lang="en-US" altLang="zh-CN" sz="1600" dirty="0"/>
                        <a:t>(Tailoring)</a:t>
                      </a:r>
                    </a:p>
                  </a:txBody>
                  <a:tcPr anchor="ctr">
                    <a:lnL>
                      <a:noFill/>
                    </a:lnL>
                    <a:lnR>
                      <a:noFill/>
                    </a:lnR>
                    <a:lnT>
                      <a:noFill/>
                    </a:lnT>
                    <a:lnB>
                      <a:noFill/>
                    </a:lnB>
                    <a:noFill/>
                  </a:tcPr>
                </a:tc>
                <a:extLst>
                  <a:ext uri="{0D108BD9-81ED-4DB2-BD59-A6C34878D82A}">
                    <a16:rowId xmlns:a16="http://schemas.microsoft.com/office/drawing/2014/main" val="306997171"/>
                  </a:ext>
                </a:extLst>
              </a:tr>
              <a:tr h="0">
                <a:tc>
                  <a:txBody>
                    <a:bodyPr/>
                    <a:lstStyle/>
                    <a:p>
                      <a:pPr algn="l">
                        <a:lnSpc>
                          <a:spcPct val="150000"/>
                        </a:lnSpc>
                        <a:buNone/>
                      </a:pPr>
                      <a:r>
                        <a:rPr lang="en-US" altLang="zh-CN" sz="1600" dirty="0"/>
                        <a:t>Definition of Success</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a:noFill/>
                    </a:lnT>
                    <a:lnB>
                      <a:noFill/>
                    </a:lnB>
                    <a:noFill/>
                  </a:tcPr>
                </a:tc>
                <a:tc>
                  <a:txBody>
                    <a:bodyPr/>
                    <a:lstStyle/>
                    <a:p>
                      <a:pPr algn="l">
                        <a:lnSpc>
                          <a:spcPct val="150000"/>
                        </a:lnSpc>
                        <a:buNone/>
                      </a:pPr>
                      <a:r>
                        <a:rPr lang="zh-CN" altLang="en-US" sz="1600"/>
                        <a:t>交付价值、满足干系人期望、实现战略目标</a:t>
                      </a:r>
                    </a:p>
                  </a:txBody>
                  <a:tcPr anchor="ctr">
                    <a:lnL>
                      <a:noFill/>
                    </a:lnL>
                    <a:lnR>
                      <a:noFill/>
                    </a:lnR>
                    <a:lnT>
                      <a:noFill/>
                    </a:lnT>
                    <a:lnB>
                      <a:noFill/>
                    </a:lnB>
                    <a:noFill/>
                  </a:tcPr>
                </a:tc>
                <a:extLst>
                  <a:ext uri="{0D108BD9-81ED-4DB2-BD59-A6C34878D82A}">
                    <a16:rowId xmlns:a16="http://schemas.microsoft.com/office/drawing/2014/main" val="3440767506"/>
                  </a:ext>
                </a:extLst>
              </a:tr>
              <a:tr h="0">
                <a:tc>
                  <a:txBody>
                    <a:bodyPr/>
                    <a:lstStyle/>
                    <a:p>
                      <a:pPr algn="l">
                        <a:lnSpc>
                          <a:spcPct val="150000"/>
                        </a:lnSpc>
                        <a:buNone/>
                      </a:pPr>
                      <a:r>
                        <a:rPr lang="en-US" altLang="zh-CN" sz="1600" dirty="0"/>
                        <a:t>Format &amp; Length</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厚书，充满</a:t>
                      </a:r>
                      <a:r>
                        <a:rPr lang="en-US" altLang="zh-CN" sz="1600" dirty="0"/>
                        <a:t>ITTO (</a:t>
                      </a:r>
                      <a:r>
                        <a:rPr lang="zh-CN" altLang="en-US" sz="1600" dirty="0"/>
                        <a:t>输入</a:t>
                      </a:r>
                      <a:r>
                        <a:rPr lang="en-US" altLang="zh-CN" sz="1600" dirty="0"/>
                        <a:t>/</a:t>
                      </a:r>
                      <a:r>
                        <a:rPr lang="zh-CN" altLang="en-US" sz="1600" dirty="0"/>
                        <a:t>工具</a:t>
                      </a:r>
                      <a:r>
                        <a:rPr lang="en-US" altLang="zh-CN" sz="1600" dirty="0"/>
                        <a:t>/</a:t>
                      </a:r>
                      <a:r>
                        <a:rPr lang="zh-CN" altLang="en-US" sz="1600" dirty="0"/>
                        <a:t>输出</a:t>
                      </a:r>
                      <a:r>
                        <a:rPr lang="en-US" altLang="zh-CN" sz="1600" dirty="0"/>
                        <a:t>) </a:t>
                      </a:r>
                      <a:r>
                        <a:rPr lang="zh-CN" altLang="en-US" sz="1600" dirty="0"/>
                        <a:t>表格</a:t>
                      </a:r>
                    </a:p>
                  </a:txBody>
                  <a:tcPr anchor="ctr">
                    <a:lnL>
                      <a:noFill/>
                    </a:lnL>
                    <a:lnR>
                      <a:noFill/>
                    </a:lnR>
                    <a:lnT>
                      <a:noFill/>
                    </a:lnT>
                    <a:lnB>
                      <a:noFill/>
                    </a:lnB>
                    <a:noFill/>
                  </a:tcPr>
                </a:tc>
                <a:tc>
                  <a:txBody>
                    <a:bodyPr/>
                    <a:lstStyle/>
                    <a:p>
                      <a:pPr algn="l">
                        <a:lnSpc>
                          <a:spcPct val="150000"/>
                        </a:lnSpc>
                        <a:buNone/>
                      </a:pPr>
                      <a:r>
                        <a:rPr lang="zh-CN" altLang="en-US" sz="1600" dirty="0"/>
                        <a:t>更薄，更像指导手册，去除了大量</a:t>
                      </a:r>
                      <a:r>
                        <a:rPr lang="en-US" altLang="zh-CN" sz="1600" dirty="0"/>
                        <a:t>ITTO</a:t>
                      </a:r>
                      <a:r>
                        <a:rPr lang="zh-CN" altLang="en-US" sz="1600" dirty="0"/>
                        <a:t>细节</a:t>
                      </a:r>
                    </a:p>
                  </a:txBody>
                  <a:tcPr anchor="ctr">
                    <a:lnL>
                      <a:noFill/>
                    </a:lnL>
                    <a:lnR>
                      <a:noFill/>
                    </a:lnR>
                    <a:lnT>
                      <a:noFill/>
                    </a:lnT>
                    <a:lnB>
                      <a:noFill/>
                    </a:lnB>
                    <a:noFill/>
                  </a:tcPr>
                </a:tc>
                <a:extLst>
                  <a:ext uri="{0D108BD9-81ED-4DB2-BD59-A6C34878D82A}">
                    <a16:rowId xmlns:a16="http://schemas.microsoft.com/office/drawing/2014/main" val="1998364373"/>
                  </a:ext>
                </a:extLst>
              </a:tr>
              <a:tr h="0">
                <a:tc>
                  <a:txBody>
                    <a:bodyPr/>
                    <a:lstStyle/>
                    <a:p>
                      <a:pPr algn="l">
                        <a:lnSpc>
                          <a:spcPct val="150000"/>
                        </a:lnSpc>
                        <a:buNone/>
                      </a:pPr>
                      <a:r>
                        <a:rPr lang="en-US" altLang="zh-CN" sz="1600" dirty="0"/>
                        <a:t>In a word</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lnSpc>
                          <a:spcPct val="150000"/>
                        </a:lnSpc>
                        <a:buNone/>
                      </a:pPr>
                      <a:r>
                        <a:rPr lang="en-US" altLang="zh-CN" sz="1600" dirty="0"/>
                        <a:t>Do the project right</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lnSpc>
                          <a:spcPct val="150000"/>
                        </a:lnSpc>
                        <a:buNone/>
                      </a:pPr>
                      <a:r>
                        <a:rPr lang="en-US" altLang="zh-CN" sz="1600" dirty="0"/>
                        <a:t>Do the right project</a:t>
                      </a:r>
                      <a:endParaRPr lang="zh-CN" altLang="en-US" sz="1600" dirty="0"/>
                    </a:p>
                  </a:txBody>
                  <a:tcPr anchor="ctr">
                    <a:lnL>
                      <a:noFill/>
                    </a:lnL>
                    <a:lnR>
                      <a:noFill/>
                    </a:lnR>
                    <a:lnT>
                      <a:noFill/>
                    </a:lnT>
                    <a:lnB>
                      <a:noFill/>
                    </a:lnB>
                    <a:solidFill>
                      <a:schemeClr val="accent2">
                        <a:lumMod val="20000"/>
                        <a:lumOff val="80000"/>
                      </a:schemeClr>
                    </a:solid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dirty="0"/>
              <a:t>3.1 PMBOK </a:t>
            </a:r>
            <a:r>
              <a:rPr lang="zh-CN" altLang="zh-CN" dirty="0"/>
              <a:t>第</a:t>
            </a:r>
            <a:r>
              <a:rPr lang="en-US" altLang="zh-CN" dirty="0"/>
              <a:t>6</a:t>
            </a:r>
            <a:r>
              <a:rPr lang="zh-CN" altLang="zh-CN" dirty="0"/>
              <a:t>版</a:t>
            </a:r>
            <a:endParaRPr lang="zh-CN" altLang="en-US" dirty="0"/>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endParaRPr lang="en-US" altLang="zh-CN" dirty="0"/>
          </a:p>
          <a:p>
            <a:endParaRPr lang="zh-CN" altLang="en-US" dirty="0"/>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dirty="0"/>
              <a:t>PMBOK 6th</a:t>
            </a:r>
            <a:endParaRPr lang="zh-CN" altLang="en-US" dirty="0"/>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Initiating</a:t>
            </a:r>
            <a:endParaRPr lang="zh-CN" altLang="en-US" sz="1400" dirty="0">
              <a:solidFill>
                <a:schemeClr val="tx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Planning</a:t>
            </a:r>
            <a:endParaRPr lang="zh-CN" altLang="en-US" sz="1400" dirty="0">
              <a:solidFill>
                <a:schemeClr val="tx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Monitoring &amp; Control </a:t>
            </a:r>
            <a:r>
              <a:rPr lang="en-US" altLang="zh-CN" sz="1400" dirty="0" err="1">
                <a:solidFill>
                  <a:schemeClr val="tx1"/>
                </a:solidFill>
              </a:rPr>
              <a:t>ing</a:t>
            </a:r>
            <a:endParaRPr lang="zh-CN" altLang="en-US" sz="1400" dirty="0">
              <a:solidFill>
                <a:schemeClr val="tx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Executing</a:t>
            </a:r>
            <a:endParaRPr lang="zh-CN" altLang="en-US" sz="1400" dirty="0">
              <a:solidFill>
                <a:schemeClr val="tx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Closing</a:t>
            </a:r>
            <a:endParaRPr lang="zh-CN" altLang="en-US" sz="1400" dirty="0">
              <a:solidFill>
                <a:schemeClr val="tx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dirty="0"/>
              <a:t>含</a:t>
            </a:r>
            <a:r>
              <a:rPr lang="en-US" altLang="zh-CN" dirty="0"/>
              <a:t>49</a:t>
            </a:r>
            <a:r>
              <a:rPr lang="zh-CN" altLang="en-US" dirty="0"/>
              <a:t>个过程（表</a:t>
            </a:r>
            <a:r>
              <a:rPr lang="en-US" altLang="zh-CN" dirty="0"/>
              <a:t>1-1</a:t>
            </a:r>
            <a:r>
              <a:rPr lang="zh-CN" altLang="en-US" dirty="0"/>
              <a:t>，</a:t>
            </a:r>
            <a:r>
              <a:rPr lang="en-US" altLang="zh-CN" dirty="0"/>
              <a:t>P19</a:t>
            </a:r>
            <a:r>
              <a:rPr lang="zh-CN" altLang="en-US" dirty="0"/>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nvGraphicFramePr>
        <p:xfrm>
          <a:off x="695325" y="1467525"/>
          <a:ext cx="10801350" cy="4796475"/>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 Group</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p>
                  </a:txBody>
                  <a:tcPr anchor="ctr"/>
                </a:tc>
                <a:tc>
                  <a:txBody>
                    <a:bodyPr/>
                    <a:lstStyle/>
                    <a:p>
                      <a:pPr algn="l">
                        <a:lnSpc>
                          <a:spcPct val="150000"/>
                        </a:lnSpc>
                        <a:buNone/>
                      </a:pPr>
                      <a:r>
                        <a:rPr lang="zh-CN" altLang="en-US" sz="1800" b="0" baseline="0" dirty="0"/>
                        <a:t>启动 </a:t>
                      </a:r>
                      <a:r>
                        <a:rPr lang="en-US" altLang="zh-CN" sz="1800" b="0" baseline="0" dirty="0"/>
                        <a:t>Initiating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定义新项目或阶段，获得授权</a:t>
                      </a:r>
                    </a:p>
                    <a:p>
                      <a:pPr>
                        <a:lnSpc>
                          <a:spcPct val="150000"/>
                        </a:lnSpc>
                        <a:buNone/>
                      </a:pPr>
                      <a:r>
                        <a:rPr lang="zh-CN" altLang="en-US" sz="1800" b="0" baseline="0" dirty="0"/>
                        <a:t>关键输出：项目章程、识别干系人</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p>
                  </a:txBody>
                  <a:tcPr anchor="ctr"/>
                </a:tc>
                <a:tc>
                  <a:txBody>
                    <a:bodyPr/>
                    <a:lstStyle/>
                    <a:p>
                      <a:pPr algn="l">
                        <a:lnSpc>
                          <a:spcPct val="150000"/>
                        </a:lnSpc>
                        <a:buNone/>
                      </a:pPr>
                      <a:r>
                        <a:rPr lang="zh-CN" altLang="en-US" sz="1800" b="0" baseline="0" dirty="0"/>
                        <a:t>规划 </a:t>
                      </a:r>
                      <a:r>
                        <a:rPr lang="en-US" altLang="zh-CN" sz="1800" b="0" baseline="0" dirty="0"/>
                        <a:t>Planning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制定范围、成本、进度、质量、风险等计划</a:t>
                      </a:r>
                    </a:p>
                    <a:p>
                      <a:pPr>
                        <a:lnSpc>
                          <a:spcPct val="150000"/>
                        </a:lnSpc>
                        <a:buNone/>
                      </a:pPr>
                      <a:r>
                        <a:rPr lang="zh-CN" altLang="en-US" sz="1800" b="0" baseline="0" dirty="0"/>
                        <a:t>占比最大（</a:t>
                      </a:r>
                      <a:r>
                        <a:rPr lang="en-US" altLang="zh-CN" sz="1800" b="0" baseline="0" dirty="0"/>
                        <a:t>24</a:t>
                      </a:r>
                      <a:r>
                        <a:rPr lang="zh-CN" altLang="en-US" sz="1800" b="0" baseline="0" dirty="0"/>
                        <a:t>个过程），强调滚动式规划</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24</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p>
                  </a:txBody>
                  <a:tcPr anchor="ctr"/>
                </a:tc>
                <a:tc>
                  <a:txBody>
                    <a:bodyPr/>
                    <a:lstStyle/>
                    <a:p>
                      <a:pPr algn="l">
                        <a:lnSpc>
                          <a:spcPct val="150000"/>
                        </a:lnSpc>
                        <a:buNone/>
                      </a:pPr>
                      <a:r>
                        <a:rPr lang="zh-CN" altLang="en-US" sz="1800" b="0" baseline="0" dirty="0"/>
                        <a:t>执行 </a:t>
                      </a:r>
                      <a:r>
                        <a:rPr lang="en-US" altLang="zh-CN" sz="1800" b="0" baseline="0" dirty="0"/>
                        <a:t>Executing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完成项目工作，满足范围说明书要求</a:t>
                      </a:r>
                    </a:p>
                    <a:p>
                      <a:pPr>
                        <a:lnSpc>
                          <a:spcPct val="150000"/>
                        </a:lnSpc>
                        <a:buNone/>
                      </a:pPr>
                      <a:r>
                        <a:rPr lang="zh-CN" altLang="en-US" sz="1800" b="0" baseline="0" dirty="0"/>
                        <a:t>包括团队建设、质量保证、采购实施等</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p>
                  </a:txBody>
                  <a:tcPr anchor="ctr"/>
                </a:tc>
                <a:tc>
                  <a:txBody>
                    <a:bodyPr/>
                    <a:lstStyle/>
                    <a:p>
                      <a:pPr algn="l">
                        <a:lnSpc>
                          <a:spcPct val="150000"/>
                        </a:lnSpc>
                        <a:buNone/>
                      </a:pPr>
                      <a:r>
                        <a:rPr lang="zh-CN" altLang="en-US" sz="1800" b="0" baseline="0" dirty="0"/>
                        <a:t>监控 </a:t>
                      </a:r>
                      <a:r>
                        <a:rPr lang="en-US" altLang="zh-CN" sz="1800" b="0" baseline="0" dirty="0"/>
                        <a:t>Monitoring &amp; Controlling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跟踪、审查和调整项目进展与绩效</a:t>
                      </a:r>
                    </a:p>
                    <a:p>
                      <a:pPr>
                        <a:lnSpc>
                          <a:spcPct val="150000"/>
                        </a:lnSpc>
                        <a:buNone/>
                      </a:pPr>
                      <a:r>
                        <a:rPr lang="zh-CN" altLang="en-US" sz="1800" b="0" baseline="0" dirty="0"/>
                        <a:t>核心：变更控制和偏差分析</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12</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zh-CN" altLang="en-US" sz="1800" b="0" baseline="0" dirty="0"/>
                        <a:t>结束 </a:t>
                      </a:r>
                      <a:r>
                        <a:rPr lang="en-US" altLang="zh-CN" sz="1800" b="0" baseline="0" dirty="0"/>
                        <a:t>Closing</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正式结束项目或阶段</a:t>
                      </a:r>
                      <a:endParaRPr lang="en-US" altLang="zh-CN" sz="1800" b="0" baseline="0" dirty="0"/>
                    </a:p>
                    <a:p>
                      <a:pPr>
                        <a:lnSpc>
                          <a:spcPct val="150000"/>
                        </a:lnSpc>
                        <a:buNone/>
                      </a:pPr>
                      <a:r>
                        <a:rPr lang="zh-CN" altLang="en-US" sz="1800" b="0" baseline="0" dirty="0"/>
                        <a:t>移交成果，总结经验</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dirty="0"/>
              <a:t>3.1.2 </a:t>
            </a:r>
            <a:r>
              <a:rPr lang="zh-CN" altLang="en-US" dirty="0"/>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dirty="0"/>
              <a:t>每个领域涉及诺干过程</a:t>
            </a:r>
            <a:endParaRPr lang="en-US" altLang="zh-CN" dirty="0"/>
          </a:p>
          <a:p>
            <a:r>
              <a:rPr lang="zh-CN" altLang="en-US" dirty="0"/>
              <a:t>每个过程都有详细的 </a:t>
            </a:r>
            <a:r>
              <a:rPr lang="en-US" altLang="zh-CN" dirty="0"/>
              <a:t>ITTO (</a:t>
            </a:r>
            <a:r>
              <a:rPr lang="zh-CN" altLang="en-US" dirty="0"/>
              <a:t>输入 </a:t>
            </a:r>
            <a:r>
              <a:rPr lang="en-US" altLang="zh-CN" dirty="0"/>
              <a:t>Input</a:t>
            </a:r>
            <a:r>
              <a:rPr lang="zh-CN" altLang="en-US" dirty="0"/>
              <a:t>、工具 </a:t>
            </a:r>
            <a:r>
              <a:rPr lang="en-US" altLang="zh-CN" dirty="0"/>
              <a:t>Tools </a:t>
            </a:r>
            <a:r>
              <a:rPr lang="zh-CN" altLang="en-US" dirty="0"/>
              <a:t>与技术 </a:t>
            </a:r>
            <a:r>
              <a:rPr lang="en-US" altLang="zh-CN" dirty="0"/>
              <a:t>Techniques</a:t>
            </a:r>
            <a:r>
              <a:rPr lang="zh-CN" altLang="en-US" dirty="0"/>
              <a:t>、输出 </a:t>
            </a:r>
            <a:r>
              <a:rPr lang="en-US" altLang="zh-CN" dirty="0"/>
              <a:t>Output)</a:t>
            </a:r>
          </a:p>
          <a:p>
            <a:pPr lvl="1"/>
            <a:r>
              <a:rPr lang="zh-CN" altLang="en-US" dirty="0"/>
              <a:t>如成本管理（图</a:t>
            </a:r>
            <a:r>
              <a:rPr lang="en-US" altLang="zh-CN" dirty="0"/>
              <a:t>1-8</a:t>
            </a:r>
            <a:r>
              <a:rPr lang="zh-CN" altLang="en-US" dirty="0"/>
              <a:t>，</a:t>
            </a:r>
            <a:r>
              <a:rPr lang="en-US" altLang="zh-CN" dirty="0"/>
              <a:t>P14</a:t>
            </a:r>
            <a:r>
              <a:rPr lang="zh-CN" altLang="en-US" dirty="0"/>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dirty="0"/>
              <a:t>10 Knowledge Areas/PMBOK 6th</a:t>
            </a:r>
            <a:endParaRPr lang="zh-CN" altLang="en-US" dirty="0"/>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89815468"/>
              </p:ext>
            </p:extLst>
          </p:nvPr>
        </p:nvGraphicFramePr>
        <p:xfrm>
          <a:off x="695325" y="2240640"/>
          <a:ext cx="10800001" cy="402336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en-US" altLang="zh-CN" sz="1800" b="0" i="0" baseline="0" dirty="0">
                          <a:latin typeface="Montserrat" panose="00000500000000000000" pitchFamily="2" charset="0"/>
                          <a:ea typeface="微软雅黑 Light" panose="020B0502040204020203" pitchFamily="34" charset="-122"/>
                        </a:rPr>
                        <a:t>Areas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项目集成管理 </a:t>
                      </a:r>
                      <a:r>
                        <a:rPr lang="en-US" altLang="zh-CN" sz="1800" baseline="0" dirty="0"/>
                        <a:t>Integration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统一协调各过程，如制定章程、项目管理计划、变更控制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项目范围管理 </a:t>
                      </a:r>
                      <a:r>
                        <a:rPr lang="en-US" altLang="zh-CN" sz="1800" baseline="0" dirty="0"/>
                        <a:t>Scope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定义和控制做哪些工作，防止范围蔓延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3</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项目进度管理 </a:t>
                      </a:r>
                      <a:r>
                        <a:rPr lang="en-US" altLang="zh-CN" sz="1800" baseline="0" dirty="0"/>
                        <a:t>Schedule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活动定义、排序、估算、制定进度计划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4</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项目成本管理 </a:t>
                      </a:r>
                      <a:r>
                        <a:rPr lang="en-US" altLang="zh-CN" sz="1800" baseline="0" dirty="0"/>
                        <a:t>Cost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估算、预算、控制成本</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项目质量管理 </a:t>
                      </a:r>
                      <a:r>
                        <a:rPr lang="en-US" altLang="zh-CN" sz="1800" baseline="0" dirty="0"/>
                        <a:t>Quality</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规划质量、管理质量、控制质量</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6</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项目资源管理 </a:t>
                      </a:r>
                      <a:r>
                        <a:rPr lang="en-US" altLang="zh-CN" sz="1800" baseline="0" dirty="0"/>
                        <a:t>Resource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获取、发展、管理团队及实物资源</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7</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项目沟通管理 </a:t>
                      </a:r>
                      <a:r>
                        <a:rPr lang="en-US" altLang="zh-CN" sz="1800" baseline="0" dirty="0"/>
                        <a:t>Communication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规划、管理、监督沟通</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8</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项目风险管理 </a:t>
                      </a:r>
                      <a:r>
                        <a:rPr lang="en-US" altLang="zh-CN" sz="1800" baseline="0" dirty="0"/>
                        <a:t>Risk</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识别、分析、应对不确定性</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9</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项目采购管理 </a:t>
                      </a:r>
                      <a:r>
                        <a:rPr lang="en-US" altLang="zh-CN" sz="1800" baseline="0" dirty="0"/>
                        <a:t>Procurement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从外部获取产品</a:t>
                      </a:r>
                      <a:r>
                        <a:rPr lang="en-US" altLang="zh-CN" sz="1800" baseline="0"/>
                        <a:t>/</a:t>
                      </a:r>
                      <a:r>
                        <a:rPr lang="zh-CN" altLang="en-US" sz="1800" baseline="0"/>
                        <a:t>服务</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项目干系人管理 </a:t>
                      </a:r>
                      <a:r>
                        <a:rPr lang="en-US" altLang="zh-CN" sz="1800" baseline="0" dirty="0"/>
                        <a:t>Stakeholder</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识别干系人、制定参与策略、管理期望</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dirty="0"/>
              <a:t>注重价值交付和适应性</a:t>
            </a:r>
            <a:endParaRPr lang="en-US" altLang="zh-CN" dirty="0"/>
          </a:p>
          <a:p>
            <a:r>
              <a:rPr lang="zh-CN" altLang="zh-CN" dirty="0"/>
              <a:t>不是对第</a:t>
            </a:r>
            <a:r>
              <a:rPr lang="en-US" altLang="zh-CN" dirty="0"/>
              <a:t>6</a:t>
            </a:r>
            <a:r>
              <a:rPr lang="zh-CN" altLang="zh-CN" dirty="0"/>
              <a:t>版推翻、不是替代第</a:t>
            </a:r>
            <a:r>
              <a:rPr lang="en-US" altLang="zh-CN" dirty="0"/>
              <a:t>6</a:t>
            </a:r>
            <a:r>
              <a:rPr lang="zh-CN" altLang="zh-CN" dirty="0"/>
              <a:t>版</a:t>
            </a:r>
            <a:endParaRPr lang="en-US" altLang="zh-CN" dirty="0"/>
          </a:p>
          <a:p>
            <a:r>
              <a:rPr lang="zh-CN" altLang="zh-CN" dirty="0"/>
              <a:t>而是对第</a:t>
            </a:r>
            <a:r>
              <a:rPr lang="en-US" altLang="zh-CN" dirty="0"/>
              <a:t>6</a:t>
            </a:r>
            <a:r>
              <a:rPr lang="zh-CN" altLang="zh-CN" dirty="0"/>
              <a:t>版中项目管理核心精髓的延伸，是对第</a:t>
            </a:r>
            <a:r>
              <a:rPr lang="en-US" altLang="zh-CN" dirty="0"/>
              <a:t>6</a:t>
            </a:r>
            <a:r>
              <a:rPr lang="zh-CN" altLang="zh-CN" dirty="0"/>
              <a:t>版知识领域与过程组高层次、高维度的承接，再度续写下个项目管理标准构架的辉煌</a:t>
            </a:r>
            <a:endParaRPr lang="zh-CN" altLang="en-US" dirty="0"/>
          </a:p>
          <a:p>
            <a:r>
              <a:rPr lang="zh-CN" altLang="zh-CN" dirty="0"/>
              <a:t>与第</a:t>
            </a:r>
            <a:r>
              <a:rPr lang="en-US" altLang="zh-CN" dirty="0"/>
              <a:t>6</a:t>
            </a:r>
            <a:r>
              <a:rPr lang="zh-CN" altLang="zh-CN" dirty="0"/>
              <a:t>版</a:t>
            </a:r>
            <a:r>
              <a:rPr lang="zh-CN" altLang="en-US" dirty="0"/>
              <a:t>长期</a:t>
            </a:r>
            <a:r>
              <a:rPr lang="zh-CN" altLang="zh-CN" dirty="0"/>
              <a:t>共存</a:t>
            </a:r>
            <a:endParaRPr lang="en-US" altLang="zh-CN" dirty="0"/>
          </a:p>
          <a:p>
            <a:endParaRPr lang="zh-CN" altLang="en-US" dirty="0"/>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dirty="0"/>
              <a:t>3.2.1 </a:t>
            </a:r>
            <a:r>
              <a:rPr lang="zh-CN" altLang="en-US" dirty="0"/>
              <a:t>十二项原则</a:t>
            </a:r>
          </a:p>
        </p:txBody>
      </p:sp>
      <p:sp>
        <p:nvSpPr>
          <p:cNvPr id="3" name="Content Placeholder 2">
            <a:extLst>
              <a:ext uri="{FF2B5EF4-FFF2-40B4-BE49-F238E27FC236}">
                <a16:creationId xmlns:a16="http://schemas.microsoft.com/office/drawing/2014/main" id="{5864824E-CCB8-0517-41B7-D6F903A18BC3}"/>
              </a:ext>
            </a:extLst>
          </p:cNvPr>
          <p:cNvSpPr>
            <a:spLocks noGrp="1"/>
          </p:cNvSpPr>
          <p:nvPr>
            <p:ph idx="1"/>
          </p:nvPr>
        </p:nvSpPr>
        <p:spPr>
          <a:xfrm>
            <a:off x="696000" y="864000"/>
            <a:ext cx="10800000" cy="5400000"/>
          </a:xfrm>
        </p:spPr>
        <p:txBody>
          <a:bodyPr/>
          <a:lstStyle/>
          <a:p>
            <a:r>
              <a:rPr lang="zh-CN" altLang="en-US" dirty="0"/>
              <a:t>尽职、尊重和关心 </a:t>
            </a:r>
            <a:r>
              <a:rPr lang="en-US" altLang="zh-CN" dirty="0"/>
              <a:t>Stewardship</a:t>
            </a:r>
          </a:p>
          <a:p>
            <a:r>
              <a:rPr lang="zh-CN" altLang="en-US" dirty="0"/>
              <a:t>营造协作的项目团队环境 </a:t>
            </a:r>
            <a:r>
              <a:rPr lang="en-US" altLang="zh-CN" dirty="0"/>
              <a:t>Team</a:t>
            </a:r>
          </a:p>
          <a:p>
            <a:r>
              <a:rPr lang="zh-CN" altLang="en-US" dirty="0"/>
              <a:t>有效参与相关方 </a:t>
            </a:r>
            <a:r>
              <a:rPr lang="en-US" altLang="zh-CN" dirty="0"/>
              <a:t>Stakeholders</a:t>
            </a:r>
          </a:p>
          <a:p>
            <a:r>
              <a:rPr lang="zh-CN" altLang="en-US" dirty="0"/>
              <a:t>聚焦于价值 </a:t>
            </a:r>
            <a:r>
              <a:rPr lang="en-US" altLang="zh-CN" dirty="0"/>
              <a:t>Value</a:t>
            </a:r>
          </a:p>
          <a:p>
            <a:r>
              <a:rPr lang="zh-CN" altLang="en-US" dirty="0"/>
              <a:t>识别、评估和响应系统交互 </a:t>
            </a:r>
            <a:r>
              <a:rPr lang="en-US" altLang="zh-CN" dirty="0"/>
              <a:t>System Interaction</a:t>
            </a:r>
          </a:p>
          <a:p>
            <a:r>
              <a:rPr lang="zh-CN" altLang="en-US" dirty="0"/>
              <a:t>展现领导力行为 </a:t>
            </a:r>
            <a:r>
              <a:rPr lang="en-US" altLang="zh-CN" dirty="0"/>
              <a:t>Leadership</a:t>
            </a:r>
          </a:p>
          <a:p>
            <a:r>
              <a:rPr lang="zh-CN" altLang="en-US" dirty="0"/>
              <a:t>根据情境进行裁剪 </a:t>
            </a:r>
            <a:r>
              <a:rPr lang="en-US" altLang="zh-CN" dirty="0"/>
              <a:t>Tailoring</a:t>
            </a:r>
          </a:p>
          <a:p>
            <a:r>
              <a:rPr lang="zh-CN" altLang="en-US" dirty="0"/>
              <a:t>将质量融入过程和可交付成果 </a:t>
            </a:r>
            <a:r>
              <a:rPr lang="en-US" altLang="zh-CN" dirty="0"/>
              <a:t>Quality</a:t>
            </a:r>
          </a:p>
          <a:p>
            <a:r>
              <a:rPr lang="zh-CN" altLang="en-US" dirty="0"/>
              <a:t>驾驭复杂性 </a:t>
            </a:r>
            <a:r>
              <a:rPr lang="en-US" altLang="zh-CN" dirty="0"/>
              <a:t>Complexity</a:t>
            </a:r>
          </a:p>
          <a:p>
            <a:r>
              <a:rPr lang="zh-CN" altLang="en-US" dirty="0"/>
              <a:t>优化风险应对 </a:t>
            </a:r>
            <a:r>
              <a:rPr lang="en-US" altLang="zh-CN" dirty="0"/>
              <a:t>Risk</a:t>
            </a:r>
          </a:p>
          <a:p>
            <a:r>
              <a:rPr lang="zh-CN" altLang="en-US" dirty="0"/>
              <a:t>拥抱适应性和韧性 </a:t>
            </a:r>
            <a:r>
              <a:rPr lang="en-US" altLang="zh-CN" dirty="0"/>
              <a:t>Adaptability &amp; Resiliency</a:t>
            </a:r>
          </a:p>
          <a:p>
            <a:r>
              <a:rPr lang="zh-CN" altLang="en-US" dirty="0"/>
              <a:t>为实现目标而驱动变革 </a:t>
            </a:r>
            <a:r>
              <a:rPr lang="en-US" altLang="zh-CN" dirty="0"/>
              <a:t>Change</a:t>
            </a:r>
          </a:p>
          <a:p>
            <a:endParaRPr lang="zh-CN" altLang="en-US" dirty="0"/>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dirty="0"/>
              <a:t>12 Principles/PMBOK 7th</a:t>
            </a:r>
            <a:endParaRPr lang="zh-CN" altLang="en-US" dirty="0"/>
          </a:p>
        </p:txBody>
      </p:sp>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6692A73-90A8-90A7-5588-75572825511F}"/>
              </a:ext>
            </a:extLst>
          </p:cNvPr>
          <p:cNvGraphicFramePr>
            <a:graphicFrameLocks noGrp="1"/>
          </p:cNvGraphicFramePr>
          <p:nvPr>
            <p:extLst>
              <p:ext uri="{D42A27DB-BD31-4B8C-83A1-F6EECF244321}">
                <p14:modId xmlns:p14="http://schemas.microsoft.com/office/powerpoint/2010/main" val="1564157274"/>
              </p:ext>
            </p:extLst>
          </p:nvPr>
        </p:nvGraphicFramePr>
        <p:xfrm>
          <a:off x="696000" y="499562"/>
          <a:ext cx="10800000" cy="5858877"/>
        </p:xfrm>
        <a:graphic>
          <a:graphicData uri="http://schemas.openxmlformats.org/drawingml/2006/table">
            <a:tbl>
              <a:tblPr/>
              <a:tblGrid>
                <a:gridCol w="614329">
                  <a:extLst>
                    <a:ext uri="{9D8B030D-6E8A-4147-A177-3AD203B41FA5}">
                      <a16:colId xmlns:a16="http://schemas.microsoft.com/office/drawing/2014/main" val="925299126"/>
                    </a:ext>
                  </a:extLst>
                </a:gridCol>
                <a:gridCol w="3827282">
                  <a:extLst>
                    <a:ext uri="{9D8B030D-6E8A-4147-A177-3AD203B41FA5}">
                      <a16:colId xmlns:a16="http://schemas.microsoft.com/office/drawing/2014/main" val="2868495705"/>
                    </a:ext>
                  </a:extLst>
                </a:gridCol>
                <a:gridCol w="3271101">
                  <a:extLst>
                    <a:ext uri="{9D8B030D-6E8A-4147-A177-3AD203B41FA5}">
                      <a16:colId xmlns:a16="http://schemas.microsoft.com/office/drawing/2014/main" val="3988260063"/>
                    </a:ext>
                  </a:extLst>
                </a:gridCol>
                <a:gridCol w="3087288">
                  <a:extLst>
                    <a:ext uri="{9D8B030D-6E8A-4147-A177-3AD203B41FA5}">
                      <a16:colId xmlns:a16="http://schemas.microsoft.com/office/drawing/2014/main" val="3623922994"/>
                    </a:ext>
                  </a:extLst>
                </a:gridCol>
              </a:tblGrid>
              <a:tr h="360000">
                <a:tc>
                  <a:txBody>
                    <a:bodyPr/>
                    <a:lstStyle/>
                    <a:p>
                      <a:pPr algn="ctr">
                        <a:buNone/>
                      </a:pP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777749652"/>
                  </a:ext>
                </a:extLst>
              </a:tr>
              <a:tr h="477651">
                <a:tc>
                  <a:txBody>
                    <a:bodyPr/>
                    <a:lstStyle/>
                    <a:p>
                      <a:pPr algn="ctr">
                        <a:buNone/>
                      </a:pPr>
                      <a:r>
                        <a:rPr lang="en-US" altLang="zh-CN" sz="1200" dirty="0"/>
                        <a:t>1</a:t>
                      </a:r>
                    </a:p>
                  </a:txBody>
                  <a:tcPr marL="36742" marR="36742" marT="18371" marB="18371" anchor="ctr">
                    <a:lnL>
                      <a:noFill/>
                    </a:lnL>
                    <a:lnR>
                      <a:noFill/>
                    </a:lnR>
                    <a:lnT>
                      <a:noFill/>
                    </a:lnT>
                    <a:lnB>
                      <a:noFill/>
                    </a:lnB>
                    <a:noFill/>
                  </a:tcPr>
                </a:tc>
                <a:tc>
                  <a:txBody>
                    <a:bodyPr/>
                    <a:lstStyle/>
                    <a:p>
                      <a:pPr algn="l">
                        <a:buNone/>
                      </a:pPr>
                      <a:r>
                        <a:rPr lang="en-US" sz="1200" dirty="0"/>
                        <a:t>Stewardship</a:t>
                      </a:r>
                      <a:br>
                        <a:rPr lang="en-US" sz="1200" dirty="0"/>
                      </a:br>
                      <a:r>
                        <a:rPr lang="en-US" sz="1200" dirty="0"/>
                        <a:t>Be a diligent, respectful, and caring steward.</a:t>
                      </a:r>
                    </a:p>
                  </a:txBody>
                  <a:tcPr marL="36742" marR="36742" marT="18371" marB="18371" anchor="ctr">
                    <a:lnL>
                      <a:noFill/>
                    </a:lnL>
                    <a:lnR>
                      <a:noFill/>
                    </a:lnR>
                    <a:lnT>
                      <a:noFill/>
                    </a:lnT>
                    <a:lnB>
                      <a:noFill/>
                    </a:lnB>
                    <a:noFill/>
                  </a:tcPr>
                </a:tc>
                <a:tc>
                  <a:txBody>
                    <a:bodyPr/>
                    <a:lstStyle/>
                    <a:p>
                      <a:pPr algn="l">
                        <a:buNone/>
                      </a:pPr>
                      <a:r>
                        <a:rPr lang="zh-CN" altLang="en-US" sz="1200" dirty="0"/>
                        <a:t>尽职管理</a:t>
                      </a:r>
                      <a:br>
                        <a:rPr lang="zh-CN" altLang="en-US" sz="1200" dirty="0"/>
                      </a:br>
                      <a:r>
                        <a:rPr lang="zh-CN" altLang="en-US" sz="1200" dirty="0"/>
                        <a:t>做一位勤勉、尊重且关心的管家。</a:t>
                      </a:r>
                    </a:p>
                  </a:txBody>
                  <a:tcPr marL="36742" marR="36742" marT="18371" marB="18371" anchor="ctr">
                    <a:lnL>
                      <a:noFill/>
                    </a:lnL>
                    <a:lnR>
                      <a:noFill/>
                    </a:lnR>
                    <a:lnT>
                      <a:noFill/>
                    </a:lnT>
                    <a:lnB>
                      <a:noFill/>
                    </a:lnB>
                    <a:noFill/>
                  </a:tcPr>
                </a:tc>
                <a:tc>
                  <a:txBody>
                    <a:bodyPr/>
                    <a:lstStyle/>
                    <a:p>
                      <a:pPr algn="l">
                        <a:buNone/>
                      </a:pPr>
                      <a:r>
                        <a:rPr lang="zh-CN" altLang="en-US" sz="1200" dirty="0"/>
                        <a:t>以诚信、关怀和信任为基础管理资源，对结果负责。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82072623"/>
                  </a:ext>
                </a:extLst>
              </a:tr>
              <a:tr h="477651">
                <a:tc>
                  <a:txBody>
                    <a:bodyPr/>
                    <a:lstStyle/>
                    <a:p>
                      <a:pPr algn="ctr">
                        <a:buNone/>
                      </a:pPr>
                      <a:r>
                        <a:rPr lang="en-US" altLang="zh-CN" sz="1200"/>
                        <a:t>2</a:t>
                      </a:r>
                    </a:p>
                  </a:txBody>
                  <a:tcPr marL="36742" marR="36742" marT="18371" marB="18371" anchor="ctr">
                    <a:lnL>
                      <a:noFill/>
                    </a:lnL>
                    <a:lnR>
                      <a:noFill/>
                    </a:lnR>
                    <a:lnT>
                      <a:noFill/>
                    </a:lnT>
                    <a:lnB>
                      <a:noFill/>
                    </a:lnB>
                    <a:noFill/>
                  </a:tcPr>
                </a:tc>
                <a:tc>
                  <a:txBody>
                    <a:bodyPr/>
                    <a:lstStyle/>
                    <a:p>
                      <a:pPr algn="l">
                        <a:buNone/>
                      </a:pPr>
                      <a:r>
                        <a:rPr lang="en-US" sz="1200"/>
                        <a:t>Team</a:t>
                      </a:r>
                      <a:br>
                        <a:rPr lang="en-US" sz="1200"/>
                      </a:br>
                      <a:r>
                        <a:rPr lang="en-US" sz="1200"/>
                        <a:t>Create a collaborative project team environment.</a:t>
                      </a:r>
                    </a:p>
                  </a:txBody>
                  <a:tcPr marL="36742" marR="36742" marT="18371" marB="18371" anchor="ctr">
                    <a:lnL>
                      <a:noFill/>
                    </a:lnL>
                    <a:lnR>
                      <a:noFill/>
                    </a:lnR>
                    <a:lnT>
                      <a:noFill/>
                    </a:lnT>
                    <a:lnB>
                      <a:noFill/>
                    </a:lnB>
                    <a:noFill/>
                  </a:tcPr>
                </a:tc>
                <a:tc>
                  <a:txBody>
                    <a:bodyPr/>
                    <a:lstStyle/>
                    <a:p>
                      <a:pPr algn="l">
                        <a:buNone/>
                      </a:pPr>
                      <a:r>
                        <a:rPr lang="zh-CN" altLang="en-US" sz="1200"/>
                        <a:t>团队</a:t>
                      </a:r>
                      <a:br>
                        <a:rPr lang="zh-CN" altLang="en-US" sz="1200"/>
                      </a:br>
                      <a:r>
                        <a:rPr lang="zh-CN" altLang="en-US" sz="1200"/>
                        <a:t>营造协作的项目团队环境。</a:t>
                      </a:r>
                    </a:p>
                  </a:txBody>
                  <a:tcPr marL="36742" marR="36742" marT="18371" marB="18371" anchor="ctr">
                    <a:lnL>
                      <a:noFill/>
                    </a:lnL>
                    <a:lnR>
                      <a:noFill/>
                    </a:lnR>
                    <a:lnT>
                      <a:noFill/>
                    </a:lnT>
                    <a:lnB>
                      <a:noFill/>
                    </a:lnB>
                    <a:noFill/>
                  </a:tcPr>
                </a:tc>
                <a:tc>
                  <a:txBody>
                    <a:bodyPr/>
                    <a:lstStyle/>
                    <a:p>
                      <a:pPr algn="l">
                        <a:buNone/>
                      </a:pPr>
                      <a:r>
                        <a:rPr lang="zh-CN" altLang="en-US" sz="1200"/>
                        <a:t>建立包容、开放的环境，促进团队高效协作和共同成长。</a:t>
                      </a:r>
                    </a:p>
                  </a:txBody>
                  <a:tcPr marL="36742" marR="36742" marT="18371" marB="18371" anchor="ctr">
                    <a:lnL>
                      <a:noFill/>
                    </a:lnL>
                    <a:lnR>
                      <a:noFill/>
                    </a:lnR>
                    <a:lnT>
                      <a:noFill/>
                    </a:lnT>
                    <a:lnB>
                      <a:noFill/>
                    </a:lnB>
                    <a:noFill/>
                  </a:tcPr>
                </a:tc>
                <a:extLst>
                  <a:ext uri="{0D108BD9-81ED-4DB2-BD59-A6C34878D82A}">
                    <a16:rowId xmlns:a16="http://schemas.microsoft.com/office/drawing/2014/main" val="1013838864"/>
                  </a:ext>
                </a:extLst>
              </a:tr>
              <a:tr h="367424">
                <a:tc>
                  <a:txBody>
                    <a:bodyPr/>
                    <a:lstStyle/>
                    <a:p>
                      <a:pPr algn="ctr">
                        <a:buNone/>
                      </a:pPr>
                      <a:r>
                        <a:rPr lang="en-US" altLang="zh-CN" sz="1200"/>
                        <a:t>3</a:t>
                      </a:r>
                    </a:p>
                  </a:txBody>
                  <a:tcPr marL="36742" marR="36742" marT="18371" marB="18371" anchor="ctr">
                    <a:lnL>
                      <a:noFill/>
                    </a:lnL>
                    <a:lnR>
                      <a:noFill/>
                    </a:lnR>
                    <a:lnT>
                      <a:noFill/>
                    </a:lnT>
                    <a:lnB>
                      <a:noFill/>
                    </a:lnB>
                    <a:noFill/>
                  </a:tcPr>
                </a:tc>
                <a:tc>
                  <a:txBody>
                    <a:bodyPr/>
                    <a:lstStyle/>
                    <a:p>
                      <a:pPr algn="l">
                        <a:buNone/>
                      </a:pPr>
                      <a:r>
                        <a:rPr lang="en-US" sz="1200" dirty="0"/>
                        <a:t>Stakeholders</a:t>
                      </a:r>
                      <a:br>
                        <a:rPr lang="en-US" sz="1200" dirty="0"/>
                      </a:br>
                      <a:r>
                        <a:rPr lang="en-US" sz="1200" dirty="0"/>
                        <a:t>Effectively engage with stakeholders.</a:t>
                      </a:r>
                    </a:p>
                  </a:txBody>
                  <a:tcPr marL="36742" marR="36742" marT="18371" marB="18371" anchor="ctr">
                    <a:lnL>
                      <a:noFill/>
                    </a:lnL>
                    <a:lnR>
                      <a:noFill/>
                    </a:lnR>
                    <a:lnT>
                      <a:noFill/>
                    </a:lnT>
                    <a:lnB>
                      <a:noFill/>
                    </a:lnB>
                    <a:noFill/>
                  </a:tcPr>
                </a:tc>
                <a:tc>
                  <a:txBody>
                    <a:bodyPr/>
                    <a:lstStyle/>
                    <a:p>
                      <a:pPr algn="l">
                        <a:buNone/>
                      </a:pPr>
                      <a:r>
                        <a:rPr lang="zh-CN" altLang="en-US" sz="1200"/>
                        <a:t>相关方</a:t>
                      </a:r>
                      <a:br>
                        <a:rPr lang="zh-CN" altLang="en-US" sz="1200"/>
                      </a:br>
                      <a:r>
                        <a:rPr lang="zh-CN" altLang="en-US" sz="1200"/>
                        <a:t>有效地让相关方参与。</a:t>
                      </a:r>
                    </a:p>
                  </a:txBody>
                  <a:tcPr marL="36742" marR="36742" marT="18371" marB="18371" anchor="ctr">
                    <a:lnL>
                      <a:noFill/>
                    </a:lnL>
                    <a:lnR>
                      <a:noFill/>
                    </a:lnR>
                    <a:lnT>
                      <a:noFill/>
                    </a:lnT>
                    <a:lnB>
                      <a:noFill/>
                    </a:lnB>
                    <a:noFill/>
                  </a:tcPr>
                </a:tc>
                <a:tc>
                  <a:txBody>
                    <a:bodyPr/>
                    <a:lstStyle/>
                    <a:p>
                      <a:pPr algn="l">
                        <a:buNone/>
                      </a:pPr>
                      <a:r>
                        <a:rPr lang="zh-CN" altLang="en-US" sz="1200"/>
                        <a:t>识别并持续与相关方沟通，理解其需求，建立互信关系。</a:t>
                      </a:r>
                    </a:p>
                  </a:txBody>
                  <a:tcPr marL="36742" marR="36742" marT="18371" marB="18371" anchor="ctr">
                    <a:lnL>
                      <a:noFill/>
                    </a:lnL>
                    <a:lnR>
                      <a:noFill/>
                    </a:lnR>
                    <a:lnT>
                      <a:noFill/>
                    </a:lnT>
                    <a:lnB>
                      <a:noFill/>
                    </a:lnB>
                    <a:noFill/>
                  </a:tcPr>
                </a:tc>
                <a:extLst>
                  <a:ext uri="{0D108BD9-81ED-4DB2-BD59-A6C34878D82A}">
                    <a16:rowId xmlns:a16="http://schemas.microsoft.com/office/drawing/2014/main" val="1531040684"/>
                  </a:ext>
                </a:extLst>
              </a:tr>
              <a:tr h="367424">
                <a:tc>
                  <a:txBody>
                    <a:bodyPr/>
                    <a:lstStyle/>
                    <a:p>
                      <a:pPr algn="ctr">
                        <a:buNone/>
                      </a:pPr>
                      <a:r>
                        <a:rPr lang="en-US" altLang="zh-CN" sz="1200"/>
                        <a:t>4</a:t>
                      </a:r>
                    </a:p>
                  </a:txBody>
                  <a:tcPr marL="36742" marR="36742" marT="18371" marB="18371" anchor="ctr">
                    <a:lnL>
                      <a:noFill/>
                    </a:lnL>
                    <a:lnR>
                      <a:noFill/>
                    </a:lnR>
                    <a:lnT>
                      <a:noFill/>
                    </a:lnT>
                    <a:lnB>
                      <a:noFill/>
                    </a:lnB>
                    <a:noFill/>
                  </a:tcPr>
                </a:tc>
                <a:tc>
                  <a:txBody>
                    <a:bodyPr/>
                    <a:lstStyle/>
                    <a:p>
                      <a:pPr algn="l">
                        <a:buNone/>
                      </a:pPr>
                      <a:r>
                        <a:rPr lang="en-US" sz="1200"/>
                        <a:t>Value</a:t>
                      </a:r>
                      <a:br>
                        <a:rPr lang="en-US" sz="1200"/>
                      </a:br>
                      <a:r>
                        <a:rPr lang="en-US" sz="1200"/>
                        <a:t>Focus on value.</a:t>
                      </a:r>
                    </a:p>
                  </a:txBody>
                  <a:tcPr marL="36742" marR="36742" marT="18371" marB="18371" anchor="ctr">
                    <a:lnL>
                      <a:noFill/>
                    </a:lnL>
                    <a:lnR>
                      <a:noFill/>
                    </a:lnR>
                    <a:lnT>
                      <a:noFill/>
                    </a:lnT>
                    <a:lnB>
                      <a:noFill/>
                    </a:lnB>
                    <a:noFill/>
                  </a:tcPr>
                </a:tc>
                <a:tc>
                  <a:txBody>
                    <a:bodyPr/>
                    <a:lstStyle/>
                    <a:p>
                      <a:pPr algn="l">
                        <a:buNone/>
                      </a:pPr>
                      <a:r>
                        <a:rPr lang="zh-CN" altLang="en-US" sz="1200"/>
                        <a:t>价值</a:t>
                      </a:r>
                      <a:br>
                        <a:rPr lang="zh-CN" altLang="en-US" sz="1200"/>
                      </a:br>
                      <a:r>
                        <a:rPr lang="zh-CN" altLang="en-US" sz="1200"/>
                        <a:t>聚焦于价值。</a:t>
                      </a:r>
                    </a:p>
                  </a:txBody>
                  <a:tcPr marL="36742" marR="36742" marT="18371" marB="18371" anchor="ctr">
                    <a:lnL>
                      <a:noFill/>
                    </a:lnL>
                    <a:lnR>
                      <a:noFill/>
                    </a:lnR>
                    <a:lnT>
                      <a:noFill/>
                    </a:lnT>
                    <a:lnB>
                      <a:noFill/>
                    </a:lnB>
                    <a:noFill/>
                  </a:tcPr>
                </a:tc>
                <a:tc>
                  <a:txBody>
                    <a:bodyPr/>
                    <a:lstStyle/>
                    <a:p>
                      <a:pPr algn="l">
                        <a:buNone/>
                      </a:pPr>
                      <a:r>
                        <a:rPr lang="zh-CN" altLang="en-US" sz="1200"/>
                        <a:t>始终关注项目交付的商业价值和成果，而不仅仅是产出物。</a:t>
                      </a:r>
                    </a:p>
                  </a:txBody>
                  <a:tcPr marL="36742" marR="36742" marT="18371" marB="18371" anchor="ctr">
                    <a:lnL>
                      <a:noFill/>
                    </a:lnL>
                    <a:lnR>
                      <a:noFill/>
                    </a:lnR>
                    <a:lnT>
                      <a:noFill/>
                    </a:lnT>
                    <a:lnB>
                      <a:noFill/>
                    </a:lnB>
                    <a:noFill/>
                  </a:tcPr>
                </a:tc>
                <a:extLst>
                  <a:ext uri="{0D108BD9-81ED-4DB2-BD59-A6C34878D82A}">
                    <a16:rowId xmlns:a16="http://schemas.microsoft.com/office/drawing/2014/main" val="3991160183"/>
                  </a:ext>
                </a:extLst>
              </a:tr>
              <a:tr h="477651">
                <a:tc>
                  <a:txBody>
                    <a:bodyPr/>
                    <a:lstStyle/>
                    <a:p>
                      <a:pPr algn="ctr">
                        <a:buNone/>
                      </a:pPr>
                      <a:r>
                        <a:rPr lang="en-US" altLang="zh-CN" sz="1200"/>
                        <a:t>5</a:t>
                      </a:r>
                    </a:p>
                  </a:txBody>
                  <a:tcPr marL="36742" marR="36742" marT="18371" marB="18371" anchor="ctr">
                    <a:lnL>
                      <a:noFill/>
                    </a:lnL>
                    <a:lnR>
                      <a:noFill/>
                    </a:lnR>
                    <a:lnT>
                      <a:noFill/>
                    </a:lnT>
                    <a:lnB>
                      <a:noFill/>
                    </a:lnB>
                    <a:noFill/>
                  </a:tcPr>
                </a:tc>
                <a:tc>
                  <a:txBody>
                    <a:bodyPr/>
                    <a:lstStyle/>
                    <a:p>
                      <a:pPr algn="l">
                        <a:buNone/>
                      </a:pPr>
                      <a:r>
                        <a:rPr lang="en-US" sz="1200"/>
                        <a:t>Systems Thinking</a:t>
                      </a:r>
                      <a:br>
                        <a:rPr lang="en-US" sz="1200"/>
                      </a:br>
                      <a:r>
                        <a:rPr lang="en-US" sz="1200"/>
                        <a:t>Recognize, evaluate, and respond to system interactions.</a:t>
                      </a:r>
                    </a:p>
                  </a:txBody>
                  <a:tcPr marL="36742" marR="36742" marT="18371" marB="18371" anchor="ctr">
                    <a:lnL>
                      <a:noFill/>
                    </a:lnL>
                    <a:lnR>
                      <a:noFill/>
                    </a:lnR>
                    <a:lnT>
                      <a:noFill/>
                    </a:lnT>
                    <a:lnB>
                      <a:noFill/>
                    </a:lnB>
                    <a:noFill/>
                  </a:tcPr>
                </a:tc>
                <a:tc>
                  <a:txBody>
                    <a:bodyPr/>
                    <a:lstStyle/>
                    <a:p>
                      <a:pPr algn="l">
                        <a:buNone/>
                      </a:pPr>
                      <a:r>
                        <a:rPr lang="zh-CN" altLang="en-US" sz="1200"/>
                        <a:t>系统思考</a:t>
                      </a:r>
                      <a:br>
                        <a:rPr lang="zh-CN" altLang="en-US" sz="1200"/>
                      </a:br>
                      <a:r>
                        <a:rPr lang="zh-CN" altLang="en-US" sz="1200"/>
                        <a:t>识别、评估并响应系统交互。</a:t>
                      </a:r>
                    </a:p>
                  </a:txBody>
                  <a:tcPr marL="36742" marR="36742" marT="18371" marB="18371" anchor="ctr">
                    <a:lnL>
                      <a:noFill/>
                    </a:lnL>
                    <a:lnR>
                      <a:noFill/>
                    </a:lnR>
                    <a:lnT>
                      <a:noFill/>
                    </a:lnT>
                    <a:lnB>
                      <a:noFill/>
                    </a:lnB>
                    <a:noFill/>
                  </a:tcPr>
                </a:tc>
                <a:tc>
                  <a:txBody>
                    <a:bodyPr/>
                    <a:lstStyle/>
                    <a:p>
                      <a:pPr algn="l">
                        <a:buNone/>
                      </a:pPr>
                      <a:r>
                        <a:rPr lang="zh-CN" altLang="en-US" sz="1200"/>
                        <a:t>将项目视为复杂系统的一部分，理解各要素间的相互影响。</a:t>
                      </a:r>
                    </a:p>
                  </a:txBody>
                  <a:tcPr marL="36742" marR="36742" marT="18371" marB="18371" anchor="ctr">
                    <a:lnL>
                      <a:noFill/>
                    </a:lnL>
                    <a:lnR>
                      <a:noFill/>
                    </a:lnR>
                    <a:lnT>
                      <a:noFill/>
                    </a:lnT>
                    <a:lnB>
                      <a:noFill/>
                    </a:lnB>
                    <a:noFill/>
                  </a:tcPr>
                </a:tc>
                <a:extLst>
                  <a:ext uri="{0D108BD9-81ED-4DB2-BD59-A6C34878D82A}">
                    <a16:rowId xmlns:a16="http://schemas.microsoft.com/office/drawing/2014/main" val="1432136980"/>
                  </a:ext>
                </a:extLst>
              </a:tr>
              <a:tr h="367424">
                <a:tc>
                  <a:txBody>
                    <a:bodyPr/>
                    <a:lstStyle/>
                    <a:p>
                      <a:pPr algn="ctr">
                        <a:buNone/>
                      </a:pPr>
                      <a:r>
                        <a:rPr lang="en-US" altLang="zh-CN" sz="1200"/>
                        <a:t>6</a:t>
                      </a:r>
                    </a:p>
                  </a:txBody>
                  <a:tcPr marL="36742" marR="36742" marT="18371" marB="18371" anchor="ctr">
                    <a:lnL>
                      <a:noFill/>
                    </a:lnL>
                    <a:lnR>
                      <a:noFill/>
                    </a:lnR>
                    <a:lnT>
                      <a:noFill/>
                    </a:lnT>
                    <a:lnB>
                      <a:noFill/>
                    </a:lnB>
                    <a:noFill/>
                  </a:tcPr>
                </a:tc>
                <a:tc>
                  <a:txBody>
                    <a:bodyPr/>
                    <a:lstStyle/>
                    <a:p>
                      <a:pPr algn="l">
                        <a:buNone/>
                      </a:pPr>
                      <a:r>
                        <a:rPr lang="en-US" sz="1200" dirty="0"/>
                        <a:t>Leadership</a:t>
                      </a:r>
                      <a:br>
                        <a:rPr lang="en-US" sz="1200" dirty="0"/>
                      </a:br>
                      <a:r>
                        <a:rPr lang="en-US" sz="1200" dirty="0"/>
                        <a:t>Demonstrate leadership behaviors.</a:t>
                      </a:r>
                    </a:p>
                  </a:txBody>
                  <a:tcPr marL="36742" marR="36742" marT="18371" marB="18371" anchor="ctr">
                    <a:lnL>
                      <a:noFill/>
                    </a:lnL>
                    <a:lnR>
                      <a:noFill/>
                    </a:lnR>
                    <a:lnT>
                      <a:noFill/>
                    </a:lnT>
                    <a:lnB>
                      <a:noFill/>
                    </a:lnB>
                    <a:noFill/>
                  </a:tcPr>
                </a:tc>
                <a:tc>
                  <a:txBody>
                    <a:bodyPr/>
                    <a:lstStyle/>
                    <a:p>
                      <a:pPr algn="l">
                        <a:buNone/>
                      </a:pPr>
                      <a:r>
                        <a:rPr lang="zh-CN" altLang="en-US" sz="1200"/>
                        <a:t>领导力</a:t>
                      </a:r>
                      <a:br>
                        <a:rPr lang="zh-CN" altLang="en-US" sz="1200"/>
                      </a:br>
                      <a:r>
                        <a:rPr lang="zh-CN" altLang="en-US" sz="1200"/>
                        <a:t>展现领导力行为。</a:t>
                      </a:r>
                    </a:p>
                  </a:txBody>
                  <a:tcPr marL="36742" marR="36742" marT="18371" marB="18371" anchor="ctr">
                    <a:lnL>
                      <a:noFill/>
                    </a:lnL>
                    <a:lnR>
                      <a:noFill/>
                    </a:lnR>
                    <a:lnT>
                      <a:noFill/>
                    </a:lnT>
                    <a:lnB>
                      <a:noFill/>
                    </a:lnB>
                    <a:noFill/>
                  </a:tcPr>
                </a:tc>
                <a:tc>
                  <a:txBody>
                    <a:bodyPr/>
                    <a:lstStyle/>
                    <a:p>
                      <a:pPr algn="l">
                        <a:buNone/>
                      </a:pPr>
                      <a:r>
                        <a:rPr lang="zh-CN" altLang="en-US" sz="1200"/>
                        <a:t>无论职位高低，每个人都应展现激励、指导和推动变革的领导力。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3419528014"/>
                  </a:ext>
                </a:extLst>
              </a:tr>
              <a:tr h="367424">
                <a:tc>
                  <a:txBody>
                    <a:bodyPr/>
                    <a:lstStyle/>
                    <a:p>
                      <a:pPr algn="ctr">
                        <a:buNone/>
                      </a:pPr>
                      <a:r>
                        <a:rPr lang="en-US" altLang="zh-CN" sz="1200"/>
                        <a:t>7</a:t>
                      </a:r>
                    </a:p>
                  </a:txBody>
                  <a:tcPr marL="36742" marR="36742" marT="18371" marB="18371" anchor="ctr">
                    <a:lnL>
                      <a:noFill/>
                    </a:lnL>
                    <a:lnR>
                      <a:noFill/>
                    </a:lnR>
                    <a:lnT>
                      <a:noFill/>
                    </a:lnT>
                    <a:lnB>
                      <a:noFill/>
                    </a:lnB>
                    <a:noFill/>
                  </a:tcPr>
                </a:tc>
                <a:tc>
                  <a:txBody>
                    <a:bodyPr/>
                    <a:lstStyle/>
                    <a:p>
                      <a:pPr algn="l">
                        <a:buNone/>
                      </a:pPr>
                      <a:r>
                        <a:rPr lang="en-US" sz="1200"/>
                        <a:t>Tailoring</a:t>
                      </a:r>
                      <a:br>
                        <a:rPr lang="en-US" sz="1200"/>
                      </a:br>
                      <a:r>
                        <a:rPr lang="en-US" sz="1200"/>
                        <a:t>Tailor based on context.</a:t>
                      </a:r>
                    </a:p>
                  </a:txBody>
                  <a:tcPr marL="36742" marR="36742" marT="18371" marB="18371" anchor="ctr">
                    <a:lnL>
                      <a:noFill/>
                    </a:lnL>
                    <a:lnR>
                      <a:noFill/>
                    </a:lnR>
                    <a:lnT>
                      <a:noFill/>
                    </a:lnT>
                    <a:lnB>
                      <a:noFill/>
                    </a:lnB>
                    <a:noFill/>
                  </a:tcPr>
                </a:tc>
                <a:tc>
                  <a:txBody>
                    <a:bodyPr/>
                    <a:lstStyle/>
                    <a:p>
                      <a:pPr algn="l">
                        <a:buNone/>
                      </a:pPr>
                      <a:r>
                        <a:rPr lang="zh-CN" altLang="en-US" sz="1200"/>
                        <a:t>裁剪</a:t>
                      </a:r>
                      <a:br>
                        <a:rPr lang="zh-CN" altLang="en-US" sz="1200"/>
                      </a:br>
                      <a:r>
                        <a:rPr lang="zh-CN" altLang="en-US" sz="1200"/>
                        <a:t>根据情境进行裁剪。</a:t>
                      </a:r>
                    </a:p>
                  </a:txBody>
                  <a:tcPr marL="36742" marR="36742" marT="18371" marB="18371" anchor="ctr">
                    <a:lnL>
                      <a:noFill/>
                    </a:lnL>
                    <a:lnR>
                      <a:noFill/>
                    </a:lnR>
                    <a:lnT>
                      <a:noFill/>
                    </a:lnT>
                    <a:lnB>
                      <a:noFill/>
                    </a:lnB>
                    <a:noFill/>
                  </a:tcPr>
                </a:tc>
                <a:tc>
                  <a:txBody>
                    <a:bodyPr/>
                    <a:lstStyle/>
                    <a:p>
                      <a:pPr algn="l">
                        <a:buNone/>
                      </a:pPr>
                      <a:r>
                        <a:rPr lang="zh-CN" altLang="en-US" sz="1200"/>
                        <a:t>没有万能的方法，需根据项目具体环境调整方法、流程和工件。</a:t>
                      </a:r>
                    </a:p>
                  </a:txBody>
                  <a:tcPr marL="36742" marR="36742" marT="18371" marB="18371" anchor="ctr">
                    <a:lnL>
                      <a:noFill/>
                    </a:lnL>
                    <a:lnR>
                      <a:noFill/>
                    </a:lnR>
                    <a:lnT>
                      <a:noFill/>
                    </a:lnT>
                    <a:lnB>
                      <a:noFill/>
                    </a:lnB>
                    <a:noFill/>
                  </a:tcPr>
                </a:tc>
                <a:extLst>
                  <a:ext uri="{0D108BD9-81ED-4DB2-BD59-A6C34878D82A}">
                    <a16:rowId xmlns:a16="http://schemas.microsoft.com/office/drawing/2014/main" val="243581718"/>
                  </a:ext>
                </a:extLst>
              </a:tr>
              <a:tr h="477651">
                <a:tc>
                  <a:txBody>
                    <a:bodyPr/>
                    <a:lstStyle/>
                    <a:p>
                      <a:pPr algn="ctr">
                        <a:buNone/>
                      </a:pPr>
                      <a:r>
                        <a:rPr lang="en-US" altLang="zh-CN" sz="1200"/>
                        <a:t>8</a:t>
                      </a:r>
                    </a:p>
                  </a:txBody>
                  <a:tcPr marL="36742" marR="36742" marT="18371" marB="18371" anchor="ctr">
                    <a:lnL>
                      <a:noFill/>
                    </a:lnL>
                    <a:lnR>
                      <a:noFill/>
                    </a:lnR>
                    <a:lnT>
                      <a:noFill/>
                    </a:lnT>
                    <a:lnB>
                      <a:noFill/>
                    </a:lnB>
                    <a:noFill/>
                  </a:tcPr>
                </a:tc>
                <a:tc>
                  <a:txBody>
                    <a:bodyPr/>
                    <a:lstStyle/>
                    <a:p>
                      <a:pPr algn="l">
                        <a:buNone/>
                      </a:pPr>
                      <a:r>
                        <a:rPr lang="en-US" sz="1200" dirty="0"/>
                        <a:t>Quality</a:t>
                      </a:r>
                      <a:br>
                        <a:rPr lang="en-US" sz="1200" dirty="0"/>
                      </a:br>
                      <a:r>
                        <a:rPr lang="en-US" sz="1200" dirty="0"/>
                        <a:t>Build quality into processes and deliverables.</a:t>
                      </a:r>
                    </a:p>
                  </a:txBody>
                  <a:tcPr marL="36742" marR="36742" marT="18371" marB="18371" anchor="ctr">
                    <a:lnL>
                      <a:noFill/>
                    </a:lnL>
                    <a:lnR>
                      <a:noFill/>
                    </a:lnR>
                    <a:lnT>
                      <a:noFill/>
                    </a:lnT>
                    <a:lnB>
                      <a:noFill/>
                    </a:lnB>
                    <a:noFill/>
                  </a:tcPr>
                </a:tc>
                <a:tc>
                  <a:txBody>
                    <a:bodyPr/>
                    <a:lstStyle/>
                    <a:p>
                      <a:pPr algn="l">
                        <a:buNone/>
                      </a:pPr>
                      <a:r>
                        <a:rPr lang="zh-CN" altLang="en-US" sz="1200"/>
                        <a:t>质量</a:t>
                      </a:r>
                      <a:br>
                        <a:rPr lang="zh-CN" altLang="en-US" sz="1200"/>
                      </a:br>
                      <a:r>
                        <a:rPr lang="zh-CN" altLang="en-US" sz="1200"/>
                        <a:t>将质量融入过程和可交付成果。</a:t>
                      </a:r>
                    </a:p>
                  </a:txBody>
                  <a:tcPr marL="36742" marR="36742" marT="18371" marB="18371" anchor="ctr">
                    <a:lnL>
                      <a:noFill/>
                    </a:lnL>
                    <a:lnR>
                      <a:noFill/>
                    </a:lnR>
                    <a:lnT>
                      <a:noFill/>
                    </a:lnT>
                    <a:lnB>
                      <a:noFill/>
                    </a:lnB>
                    <a:noFill/>
                  </a:tcPr>
                </a:tc>
                <a:tc>
                  <a:txBody>
                    <a:bodyPr/>
                    <a:lstStyle/>
                    <a:p>
                      <a:pPr algn="l">
                        <a:buNone/>
                      </a:pPr>
                      <a:r>
                        <a:rPr lang="zh-CN" altLang="en-US" sz="1200"/>
                        <a:t>质量是规划出来的，不是检查出来的；需贯穿全过程。</a:t>
                      </a:r>
                    </a:p>
                  </a:txBody>
                  <a:tcPr marL="36742" marR="36742" marT="18371" marB="18371" anchor="ctr">
                    <a:lnL>
                      <a:noFill/>
                    </a:lnL>
                    <a:lnR>
                      <a:noFill/>
                    </a:lnR>
                    <a:lnT>
                      <a:noFill/>
                    </a:lnT>
                    <a:lnB>
                      <a:noFill/>
                    </a:lnB>
                    <a:noFill/>
                  </a:tcPr>
                </a:tc>
                <a:extLst>
                  <a:ext uri="{0D108BD9-81ED-4DB2-BD59-A6C34878D82A}">
                    <a16:rowId xmlns:a16="http://schemas.microsoft.com/office/drawing/2014/main" val="3133752140"/>
                  </a:ext>
                </a:extLst>
              </a:tr>
              <a:tr h="367424">
                <a:tc>
                  <a:txBody>
                    <a:bodyPr/>
                    <a:lstStyle/>
                    <a:p>
                      <a:pPr algn="ctr">
                        <a:buNone/>
                      </a:pPr>
                      <a:r>
                        <a:rPr lang="en-US" altLang="zh-CN" sz="1200"/>
                        <a:t>9</a:t>
                      </a:r>
                    </a:p>
                  </a:txBody>
                  <a:tcPr marL="36742" marR="36742" marT="18371" marB="18371" anchor="ctr">
                    <a:lnL>
                      <a:noFill/>
                    </a:lnL>
                    <a:lnR>
                      <a:noFill/>
                    </a:lnR>
                    <a:lnT>
                      <a:noFill/>
                    </a:lnT>
                    <a:lnB>
                      <a:noFill/>
                    </a:lnB>
                    <a:noFill/>
                  </a:tcPr>
                </a:tc>
                <a:tc>
                  <a:txBody>
                    <a:bodyPr/>
                    <a:lstStyle/>
                    <a:p>
                      <a:pPr algn="l">
                        <a:buNone/>
                      </a:pPr>
                      <a:r>
                        <a:rPr lang="en-US" sz="1200" dirty="0"/>
                        <a:t>Complexity</a:t>
                      </a:r>
                      <a:br>
                        <a:rPr lang="en-US" sz="1200" dirty="0"/>
                      </a:br>
                      <a:r>
                        <a:rPr lang="en-US" sz="1200" dirty="0"/>
                        <a:t>Navigate complexity.</a:t>
                      </a:r>
                    </a:p>
                  </a:txBody>
                  <a:tcPr marL="36742" marR="36742" marT="18371" marB="18371" anchor="ctr">
                    <a:lnL>
                      <a:noFill/>
                    </a:lnL>
                    <a:lnR>
                      <a:noFill/>
                    </a:lnR>
                    <a:lnT>
                      <a:noFill/>
                    </a:lnT>
                    <a:lnB>
                      <a:noFill/>
                    </a:lnB>
                    <a:noFill/>
                  </a:tcPr>
                </a:tc>
                <a:tc>
                  <a:txBody>
                    <a:bodyPr/>
                    <a:lstStyle/>
                    <a:p>
                      <a:pPr algn="l">
                        <a:buNone/>
                      </a:pPr>
                      <a:r>
                        <a:rPr lang="zh-CN" altLang="en-US" sz="1200"/>
                        <a:t>复杂性</a:t>
                      </a:r>
                      <a:br>
                        <a:rPr lang="zh-CN" altLang="en-US" sz="1200"/>
                      </a:br>
                      <a:r>
                        <a:rPr lang="zh-CN" altLang="en-US" sz="1200"/>
                        <a:t>驾驭复杂性。</a:t>
                      </a:r>
                    </a:p>
                  </a:txBody>
                  <a:tcPr marL="36742" marR="36742" marT="18371" marB="18371" anchor="ctr">
                    <a:lnL>
                      <a:noFill/>
                    </a:lnL>
                    <a:lnR>
                      <a:noFill/>
                    </a:lnR>
                    <a:lnT>
                      <a:noFill/>
                    </a:lnT>
                    <a:lnB>
                      <a:noFill/>
                    </a:lnB>
                    <a:noFill/>
                  </a:tcPr>
                </a:tc>
                <a:tc>
                  <a:txBody>
                    <a:bodyPr/>
                    <a:lstStyle/>
                    <a:p>
                      <a:pPr algn="l">
                        <a:buNone/>
                      </a:pPr>
                      <a:r>
                        <a:rPr lang="zh-CN" altLang="en-US" sz="1200"/>
                        <a:t>识别并应对由人类行为、系统交互和模糊性带来的复杂性。</a:t>
                      </a:r>
                    </a:p>
                  </a:txBody>
                  <a:tcPr marL="36742" marR="36742" marT="18371" marB="18371" anchor="ctr">
                    <a:lnL>
                      <a:noFill/>
                    </a:lnL>
                    <a:lnR>
                      <a:noFill/>
                    </a:lnR>
                    <a:lnT>
                      <a:noFill/>
                    </a:lnT>
                    <a:lnB>
                      <a:noFill/>
                    </a:lnB>
                    <a:noFill/>
                  </a:tcPr>
                </a:tc>
                <a:extLst>
                  <a:ext uri="{0D108BD9-81ED-4DB2-BD59-A6C34878D82A}">
                    <a16:rowId xmlns:a16="http://schemas.microsoft.com/office/drawing/2014/main" val="1805972127"/>
                  </a:ext>
                </a:extLst>
              </a:tr>
              <a:tr h="367424">
                <a:tc>
                  <a:txBody>
                    <a:bodyPr/>
                    <a:lstStyle/>
                    <a:p>
                      <a:pPr algn="ctr">
                        <a:buNone/>
                      </a:pPr>
                      <a:r>
                        <a:rPr lang="en-US" altLang="zh-CN" sz="1200"/>
                        <a:t>10</a:t>
                      </a:r>
                    </a:p>
                  </a:txBody>
                  <a:tcPr marL="36742" marR="36742" marT="18371" marB="18371" anchor="ctr">
                    <a:lnL>
                      <a:noFill/>
                    </a:lnL>
                    <a:lnR>
                      <a:noFill/>
                    </a:lnR>
                    <a:lnT>
                      <a:noFill/>
                    </a:lnT>
                    <a:lnB>
                      <a:noFill/>
                    </a:lnB>
                    <a:noFill/>
                  </a:tcPr>
                </a:tc>
                <a:tc>
                  <a:txBody>
                    <a:bodyPr/>
                    <a:lstStyle/>
                    <a:p>
                      <a:pPr algn="l">
                        <a:buNone/>
                      </a:pPr>
                      <a:r>
                        <a:rPr lang="en-US" sz="1200" dirty="0"/>
                        <a:t>Risk</a:t>
                      </a:r>
                      <a:br>
                        <a:rPr lang="en-US" sz="1200" dirty="0"/>
                      </a:br>
                      <a:r>
                        <a:rPr lang="en-US" sz="1200" dirty="0"/>
                        <a:t>Optimize risk responses.</a:t>
                      </a:r>
                    </a:p>
                  </a:txBody>
                  <a:tcPr marL="36742" marR="36742" marT="18371" marB="18371" anchor="ctr">
                    <a:lnL>
                      <a:noFill/>
                    </a:lnL>
                    <a:lnR>
                      <a:noFill/>
                    </a:lnR>
                    <a:lnT>
                      <a:noFill/>
                    </a:lnT>
                    <a:lnB>
                      <a:noFill/>
                    </a:lnB>
                    <a:noFill/>
                  </a:tcPr>
                </a:tc>
                <a:tc>
                  <a:txBody>
                    <a:bodyPr/>
                    <a:lstStyle/>
                    <a:p>
                      <a:pPr algn="l">
                        <a:buNone/>
                      </a:pPr>
                      <a:r>
                        <a:rPr lang="zh-CN" altLang="en-US" sz="1200"/>
                        <a:t>风险</a:t>
                      </a:r>
                      <a:br>
                        <a:rPr lang="zh-CN" altLang="en-US" sz="1200"/>
                      </a:br>
                      <a:r>
                        <a:rPr lang="zh-CN" altLang="en-US" sz="1200"/>
                        <a:t>优化风险应对。</a:t>
                      </a:r>
                    </a:p>
                  </a:txBody>
                  <a:tcPr marL="36742" marR="36742" marT="18371" marB="18371" anchor="ctr">
                    <a:lnL>
                      <a:noFill/>
                    </a:lnL>
                    <a:lnR>
                      <a:noFill/>
                    </a:lnR>
                    <a:lnT>
                      <a:noFill/>
                    </a:lnT>
                    <a:lnB>
                      <a:noFill/>
                    </a:lnB>
                    <a:noFill/>
                  </a:tcPr>
                </a:tc>
                <a:tc>
                  <a:txBody>
                    <a:bodyPr/>
                    <a:lstStyle/>
                    <a:p>
                      <a:pPr algn="l">
                        <a:buNone/>
                      </a:pPr>
                      <a:r>
                        <a:rPr lang="zh-CN" altLang="en-US" sz="1200"/>
                        <a:t>主动识别威胁和机会，采取整体策略优化风险敞口。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62410625"/>
                  </a:ext>
                </a:extLst>
              </a:tr>
              <a:tr h="477651">
                <a:tc>
                  <a:txBody>
                    <a:bodyPr/>
                    <a:lstStyle/>
                    <a:p>
                      <a:pPr algn="ctr">
                        <a:buNone/>
                      </a:pPr>
                      <a:r>
                        <a:rPr lang="en-US" altLang="zh-CN" sz="1200"/>
                        <a:t>11</a:t>
                      </a:r>
                    </a:p>
                  </a:txBody>
                  <a:tcPr marL="36742" marR="36742" marT="18371" marB="18371" anchor="ctr">
                    <a:lnL>
                      <a:noFill/>
                    </a:lnL>
                    <a:lnR>
                      <a:noFill/>
                    </a:lnR>
                    <a:lnT>
                      <a:noFill/>
                    </a:lnT>
                    <a:lnB>
                      <a:noFill/>
                    </a:lnB>
                    <a:noFill/>
                  </a:tcPr>
                </a:tc>
                <a:tc>
                  <a:txBody>
                    <a:bodyPr/>
                    <a:lstStyle/>
                    <a:p>
                      <a:pPr algn="l">
                        <a:buNone/>
                      </a:pPr>
                      <a:r>
                        <a:rPr lang="en-US" sz="1200" dirty="0"/>
                        <a:t>Adaptability &amp; Resiliency</a:t>
                      </a:r>
                      <a:br>
                        <a:rPr lang="en-US" sz="1200" dirty="0"/>
                      </a:br>
                      <a:r>
                        <a:rPr lang="en-US" sz="1200" dirty="0"/>
                        <a:t>Embrace adaptability and resiliency.</a:t>
                      </a:r>
                    </a:p>
                  </a:txBody>
                  <a:tcPr marL="36742" marR="36742" marT="18371" marB="18371" anchor="ctr">
                    <a:lnL>
                      <a:noFill/>
                    </a:lnL>
                    <a:lnR>
                      <a:noFill/>
                    </a:lnR>
                    <a:lnT>
                      <a:noFill/>
                    </a:lnT>
                    <a:lnB>
                      <a:noFill/>
                    </a:lnB>
                    <a:noFill/>
                  </a:tcPr>
                </a:tc>
                <a:tc>
                  <a:txBody>
                    <a:bodyPr/>
                    <a:lstStyle/>
                    <a:p>
                      <a:pPr algn="l">
                        <a:buNone/>
                      </a:pPr>
                      <a:r>
                        <a:rPr lang="zh-CN" altLang="en-US" sz="1200"/>
                        <a:t>适应性与韧性</a:t>
                      </a:r>
                      <a:br>
                        <a:rPr lang="zh-CN" altLang="en-US" sz="1200"/>
                      </a:br>
                      <a:r>
                        <a:rPr lang="zh-CN" altLang="en-US" sz="1200"/>
                        <a:t>拥抱适应性和韧性。</a:t>
                      </a:r>
                    </a:p>
                  </a:txBody>
                  <a:tcPr marL="36742" marR="36742" marT="18371" marB="18371" anchor="ctr">
                    <a:lnL>
                      <a:noFill/>
                    </a:lnL>
                    <a:lnR>
                      <a:noFill/>
                    </a:lnR>
                    <a:lnT>
                      <a:noFill/>
                    </a:lnT>
                    <a:lnB>
                      <a:noFill/>
                    </a:lnB>
                    <a:noFill/>
                  </a:tcPr>
                </a:tc>
                <a:tc>
                  <a:txBody>
                    <a:bodyPr/>
                    <a:lstStyle/>
                    <a:p>
                      <a:pPr algn="l">
                        <a:buNone/>
                      </a:pPr>
                      <a:r>
                        <a:rPr lang="zh-CN" altLang="en-US" sz="1200"/>
                        <a:t>在变化中保持灵活，具备从挫折中恢复并适应新环境的能力。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2904882128"/>
                  </a:ext>
                </a:extLst>
              </a:tr>
              <a:tr h="587879">
                <a:tc>
                  <a:txBody>
                    <a:bodyPr/>
                    <a:lstStyle/>
                    <a:p>
                      <a:pPr algn="ctr">
                        <a:buNone/>
                      </a:pPr>
                      <a:r>
                        <a:rPr lang="en-US" altLang="zh-CN" sz="1200" dirty="0"/>
                        <a:t>12</a:t>
                      </a:r>
                    </a:p>
                  </a:txBody>
                  <a:tcPr marL="36742" marR="36742" marT="18371" marB="18371" anchor="ctr">
                    <a:lnL>
                      <a:noFill/>
                    </a:lnL>
                    <a:lnR>
                      <a:noFill/>
                    </a:lnR>
                    <a:lnT>
                      <a:noFill/>
                    </a:lnT>
                    <a:lnB>
                      <a:noFill/>
                    </a:lnB>
                    <a:noFill/>
                  </a:tcPr>
                </a:tc>
                <a:tc>
                  <a:txBody>
                    <a:bodyPr/>
                    <a:lstStyle/>
                    <a:p>
                      <a:pPr algn="l">
                        <a:buNone/>
                      </a:pPr>
                      <a:r>
                        <a:rPr lang="en-US" sz="1200"/>
                        <a:t>Change</a:t>
                      </a:r>
                      <a:br>
                        <a:rPr lang="en-US" sz="1200"/>
                      </a:br>
                      <a:r>
                        <a:rPr lang="en-US" sz="1200"/>
                        <a:t>Enable change to achieve the envisioned future state.</a:t>
                      </a:r>
                    </a:p>
                  </a:txBody>
                  <a:tcPr marL="36742" marR="36742" marT="18371" marB="18371" anchor="ctr">
                    <a:lnL>
                      <a:noFill/>
                    </a:lnL>
                    <a:lnR>
                      <a:noFill/>
                    </a:lnR>
                    <a:lnT>
                      <a:noFill/>
                    </a:lnT>
                    <a:lnB>
                      <a:noFill/>
                    </a:lnB>
                    <a:noFill/>
                  </a:tcPr>
                </a:tc>
                <a:tc>
                  <a:txBody>
                    <a:bodyPr/>
                    <a:lstStyle/>
                    <a:p>
                      <a:pPr algn="l">
                        <a:buNone/>
                      </a:pPr>
                      <a:r>
                        <a:rPr lang="zh-CN" altLang="en-US" sz="1200"/>
                        <a:t>变革</a:t>
                      </a:r>
                      <a:br>
                        <a:rPr lang="zh-CN" altLang="en-US" sz="1200"/>
                      </a:br>
                      <a:r>
                        <a:rPr lang="zh-CN" altLang="en-US" sz="1200"/>
                        <a:t>为实现目标而驱动变革。</a:t>
                      </a:r>
                    </a:p>
                  </a:txBody>
                  <a:tcPr marL="36742" marR="36742" marT="18371" marB="18371" anchor="ctr">
                    <a:lnL>
                      <a:noFill/>
                    </a:lnL>
                    <a:lnR>
                      <a:noFill/>
                    </a:lnR>
                    <a:lnT>
                      <a:noFill/>
                    </a:lnT>
                    <a:lnB>
                      <a:noFill/>
                    </a:lnB>
                    <a:noFill/>
                  </a:tcPr>
                </a:tc>
                <a:tc>
                  <a:txBody>
                    <a:bodyPr/>
                    <a:lstStyle/>
                    <a:p>
                      <a:pPr algn="l">
                        <a:buNone/>
                      </a:pPr>
                      <a:r>
                        <a:rPr lang="zh-CN" altLang="en-US" sz="1200" dirty="0"/>
                        <a:t>管理组织变革，帮助相关方顺利过渡到新的未来状态。</a:t>
                      </a:r>
                    </a:p>
                  </a:txBody>
                  <a:tcPr marL="36742" marR="36742" marT="18371" marB="18371" anchor="ctr">
                    <a:lnL>
                      <a:noFill/>
                    </a:lnL>
                    <a:lnR>
                      <a:noFill/>
                    </a:lnR>
                    <a:lnT>
                      <a:noFill/>
                    </a:lnT>
                    <a:lnB>
                      <a:noFill/>
                    </a:lnB>
                    <a:noFill/>
                  </a:tcPr>
                </a:tc>
                <a:extLst>
                  <a:ext uri="{0D108BD9-81ED-4DB2-BD59-A6C34878D82A}">
                    <a16:rowId xmlns:a16="http://schemas.microsoft.com/office/drawing/2014/main" val="2815916767"/>
                  </a:ext>
                </a:extLst>
              </a:tr>
            </a:tbl>
          </a:graphicData>
        </a:graphic>
      </p:graphicFrame>
    </p:spTree>
    <p:extLst>
      <p:ext uri="{BB962C8B-B14F-4D97-AF65-F5344CB8AC3E}">
        <p14:creationId xmlns:p14="http://schemas.microsoft.com/office/powerpoint/2010/main" val="8998492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绩效域是一组相互关联的项目活动，对于有效交付项目成果至关重要</a:t>
            </a:r>
            <a:endParaRPr lang="en-US" altLang="zh-CN" dirty="0"/>
          </a:p>
          <a:p>
            <a:r>
              <a:rPr lang="zh-CN" altLang="en-US" dirty="0"/>
              <a:t>与第</a:t>
            </a:r>
            <a:r>
              <a:rPr lang="en-US" altLang="zh-CN" dirty="0"/>
              <a:t>6</a:t>
            </a:r>
            <a:r>
              <a:rPr lang="zh-CN" altLang="en-US" dirty="0"/>
              <a:t>版的“知识领域”不同，绩效域不是按时间顺序执行的，而是同时发生、相互交织的</a:t>
            </a:r>
            <a:endParaRPr lang="en-US" altLang="zh-CN" dirty="0"/>
          </a:p>
          <a:p>
            <a:r>
              <a:rPr lang="zh-CN" altLang="en-US" dirty="0"/>
              <a:t>绩效域 </a:t>
            </a:r>
            <a:r>
              <a:rPr lang="en-US" altLang="zh-CN" dirty="0"/>
              <a:t>Domains </a:t>
            </a:r>
            <a:r>
              <a:rPr lang="zh-CN" altLang="en-US" dirty="0"/>
              <a:t>是雷达图：告诉你需要同时关注哪些关键领域，这些领域之间是动态平衡的；例如：在关注交付的同时，不能忽视团队或不确定性</a:t>
            </a:r>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dirty="0"/>
          </a:p>
        </p:txBody>
      </p:sp>
      <p:graphicFrame>
        <p:nvGraphicFramePr>
          <p:cNvPr id="21" name="Table 20">
            <a:extLst>
              <a:ext uri="{FF2B5EF4-FFF2-40B4-BE49-F238E27FC236}">
                <a16:creationId xmlns:a16="http://schemas.microsoft.com/office/drawing/2014/main" id="{E6F49607-49FC-507C-B082-A022968765C6}"/>
              </a:ext>
            </a:extLst>
          </p:cNvPr>
          <p:cNvGraphicFramePr>
            <a:graphicFrameLocks noGrp="1"/>
          </p:cNvGraphicFramePr>
          <p:nvPr>
            <p:extLst>
              <p:ext uri="{D42A27DB-BD31-4B8C-83A1-F6EECF244321}">
                <p14:modId xmlns:p14="http://schemas.microsoft.com/office/powerpoint/2010/main" val="3099801241"/>
              </p:ext>
            </p:extLst>
          </p:nvPr>
        </p:nvGraphicFramePr>
        <p:xfrm>
          <a:off x="695325" y="2853690"/>
          <a:ext cx="10800000" cy="3337560"/>
        </p:xfrm>
        <a:graphic>
          <a:graphicData uri="http://schemas.openxmlformats.org/drawingml/2006/table">
            <a:tbl>
              <a:tblPr firstRow="1" bandRow="1">
                <a:tableStyleId>{2D5ABB26-0587-4C30-8999-92F81FD0307C}</a:tableStyleId>
              </a:tblPr>
              <a:tblGrid>
                <a:gridCol w="869524">
                  <a:extLst>
                    <a:ext uri="{9D8B030D-6E8A-4147-A177-3AD203B41FA5}">
                      <a16:colId xmlns:a16="http://schemas.microsoft.com/office/drawing/2014/main" val="4203097000"/>
                    </a:ext>
                  </a:extLst>
                </a:gridCol>
                <a:gridCol w="4826524">
                  <a:extLst>
                    <a:ext uri="{9D8B030D-6E8A-4147-A177-3AD203B41FA5}">
                      <a16:colId xmlns:a16="http://schemas.microsoft.com/office/drawing/2014/main" val="2618373586"/>
                    </a:ext>
                  </a:extLst>
                </a:gridCol>
                <a:gridCol w="5103952">
                  <a:extLst>
                    <a:ext uri="{9D8B030D-6E8A-4147-A177-3AD203B41FA5}">
                      <a16:colId xmlns:a16="http://schemas.microsoft.com/office/drawing/2014/main" val="2697708679"/>
                    </a:ext>
                  </a:extLst>
                </a:gridCol>
              </a:tblGrid>
              <a:tr h="370840">
                <a:tc>
                  <a:txBody>
                    <a:bodyPr/>
                    <a:lstStyle/>
                    <a:p>
                      <a:pPr algn="ctr"/>
                      <a:endParaRPr lang="zh-CN" altLang="en-US" sz="1600" dirty="0">
                        <a:solidFill>
                          <a:schemeClr val="bg1"/>
                        </a:solidFill>
                      </a:endParaRPr>
                    </a:p>
                  </a:txBody>
                  <a:tcPr anchor="c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Domains</a:t>
                      </a:r>
                      <a:endParaRPr lang="zh-CN" altLang="en-US" sz="1600" dirty="0">
                        <a:solidFill>
                          <a:schemeClr val="bg1"/>
                        </a:solidFill>
                      </a:endParaRPr>
                    </a:p>
                  </a:txBody>
                  <a:tcPr anchor="ctr">
                    <a:solidFill>
                      <a:schemeClr val="accent2"/>
                    </a:solidFill>
                  </a:tcPr>
                </a:tc>
                <a:tc>
                  <a:txBody>
                    <a:bodyPr/>
                    <a:lstStyle/>
                    <a:p>
                      <a:pPr algn="l"/>
                      <a:r>
                        <a:rPr lang="en-US" altLang="zh-CN" sz="1600" dirty="0">
                          <a:solidFill>
                            <a:schemeClr val="bg1"/>
                          </a:solidFill>
                        </a:rPr>
                        <a:t>Description</a:t>
                      </a:r>
                      <a:endParaRPr lang="zh-CN" altLang="en-US" sz="1600" dirty="0">
                        <a:solidFill>
                          <a:schemeClr val="bg1"/>
                        </a:solidFill>
                      </a:endParaRPr>
                    </a:p>
                  </a:txBody>
                  <a:tcPr anchor="ctr">
                    <a:solidFill>
                      <a:schemeClr val="accent2"/>
                    </a:solidFill>
                  </a:tcPr>
                </a:tc>
                <a:extLst>
                  <a:ext uri="{0D108BD9-81ED-4DB2-BD59-A6C34878D82A}">
                    <a16:rowId xmlns:a16="http://schemas.microsoft.com/office/drawing/2014/main" val="642055771"/>
                  </a:ext>
                </a:extLst>
              </a:tr>
              <a:tr h="370840">
                <a:tc>
                  <a:txBody>
                    <a:bodyPr/>
                    <a:lstStyle/>
                    <a:p>
                      <a:pPr algn="ctr"/>
                      <a:r>
                        <a:rPr lang="en-US" altLang="zh-CN" sz="1600" dirty="0"/>
                        <a:t>1</a:t>
                      </a:r>
                      <a:endParaRPr lang="zh-CN" altLang="en-US" sz="1600" dirty="0"/>
                    </a:p>
                  </a:txBody>
                  <a:tcPr anchor="ctr"/>
                </a:tc>
                <a:tc>
                  <a:txBody>
                    <a:bodyPr/>
                    <a:lstStyle/>
                    <a:p>
                      <a:pPr algn="l"/>
                      <a:r>
                        <a:rPr lang="en-US" altLang="zh-CN" sz="1600" dirty="0"/>
                        <a:t>Stakeholder</a:t>
                      </a:r>
                      <a:endParaRPr lang="zh-CN" altLang="en-US" sz="1600" dirty="0"/>
                    </a:p>
                  </a:txBody>
                  <a:tcPr anchor="ctr"/>
                </a:tc>
                <a:tc>
                  <a:txBody>
                    <a:bodyPr/>
                    <a:lstStyle/>
                    <a:p>
                      <a:pPr algn="l"/>
                      <a:r>
                        <a:rPr lang="zh-CN" altLang="en-US" sz="1600" dirty="0"/>
                        <a:t>干系人绩效域</a:t>
                      </a:r>
                    </a:p>
                  </a:txBody>
                  <a:tcPr anchor="ctr"/>
                </a:tc>
                <a:extLst>
                  <a:ext uri="{0D108BD9-81ED-4DB2-BD59-A6C34878D82A}">
                    <a16:rowId xmlns:a16="http://schemas.microsoft.com/office/drawing/2014/main" val="1979289800"/>
                  </a:ext>
                </a:extLst>
              </a:tr>
              <a:tr h="370840">
                <a:tc>
                  <a:txBody>
                    <a:bodyPr/>
                    <a:lstStyle/>
                    <a:p>
                      <a:pPr algn="ctr"/>
                      <a:r>
                        <a:rPr lang="en-US" altLang="zh-CN" sz="1600" dirty="0"/>
                        <a:t>2</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Team</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团队绩效域</a:t>
                      </a:r>
                    </a:p>
                  </a:txBody>
                  <a:tcPr anchor="ctr"/>
                </a:tc>
                <a:extLst>
                  <a:ext uri="{0D108BD9-81ED-4DB2-BD59-A6C34878D82A}">
                    <a16:rowId xmlns:a16="http://schemas.microsoft.com/office/drawing/2014/main" val="2517229787"/>
                  </a:ext>
                </a:extLst>
              </a:tr>
              <a:tr h="370840">
                <a:tc>
                  <a:txBody>
                    <a:bodyPr/>
                    <a:lstStyle/>
                    <a:p>
                      <a:pPr algn="ctr"/>
                      <a:r>
                        <a:rPr lang="en-US" altLang="zh-CN" sz="1600" dirty="0"/>
                        <a:t>3</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Development Approach and Life Cycle</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开发方法和生命周期绩效域</a:t>
                      </a:r>
                    </a:p>
                  </a:txBody>
                  <a:tcPr anchor="ctr"/>
                </a:tc>
                <a:extLst>
                  <a:ext uri="{0D108BD9-81ED-4DB2-BD59-A6C34878D82A}">
                    <a16:rowId xmlns:a16="http://schemas.microsoft.com/office/drawing/2014/main" val="3373539977"/>
                  </a:ext>
                </a:extLst>
              </a:tr>
              <a:tr h="370840">
                <a:tc>
                  <a:txBody>
                    <a:bodyPr/>
                    <a:lstStyle/>
                    <a:p>
                      <a:pPr algn="ctr"/>
                      <a:r>
                        <a:rPr lang="en-US" altLang="zh-CN" sz="1600" dirty="0"/>
                        <a:t>4</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Planning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规划绩效域</a:t>
                      </a:r>
                    </a:p>
                  </a:txBody>
                  <a:tcPr anchor="ctr"/>
                </a:tc>
                <a:extLst>
                  <a:ext uri="{0D108BD9-81ED-4DB2-BD59-A6C34878D82A}">
                    <a16:rowId xmlns:a16="http://schemas.microsoft.com/office/drawing/2014/main" val="3294401549"/>
                  </a:ext>
                </a:extLst>
              </a:tr>
              <a:tr h="370840">
                <a:tc>
                  <a:txBody>
                    <a:bodyPr/>
                    <a:lstStyle/>
                    <a:p>
                      <a:pPr algn="ctr"/>
                      <a:r>
                        <a:rPr lang="en-US" altLang="zh-CN" sz="1600" dirty="0"/>
                        <a:t>5</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Project Work</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项目工作绩效域</a:t>
                      </a:r>
                    </a:p>
                  </a:txBody>
                  <a:tcPr anchor="ctr"/>
                </a:tc>
                <a:extLst>
                  <a:ext uri="{0D108BD9-81ED-4DB2-BD59-A6C34878D82A}">
                    <a16:rowId xmlns:a16="http://schemas.microsoft.com/office/drawing/2014/main" val="3558217318"/>
                  </a:ext>
                </a:extLst>
              </a:tr>
              <a:tr h="370840">
                <a:tc>
                  <a:txBody>
                    <a:bodyPr/>
                    <a:lstStyle/>
                    <a:p>
                      <a:pPr algn="ctr"/>
                      <a:r>
                        <a:rPr lang="en-US" altLang="zh-CN" sz="1600" dirty="0"/>
                        <a:t>6</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Delivery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交付绩效域</a:t>
                      </a:r>
                    </a:p>
                  </a:txBody>
                  <a:tcPr anchor="ctr"/>
                </a:tc>
                <a:extLst>
                  <a:ext uri="{0D108BD9-81ED-4DB2-BD59-A6C34878D82A}">
                    <a16:rowId xmlns:a16="http://schemas.microsoft.com/office/drawing/2014/main" val="125829328"/>
                  </a:ext>
                </a:extLst>
              </a:tr>
              <a:tr h="370840">
                <a:tc>
                  <a:txBody>
                    <a:bodyPr/>
                    <a:lstStyle/>
                    <a:p>
                      <a:pPr algn="ctr"/>
                      <a:r>
                        <a:rPr lang="en-US" altLang="zh-CN" sz="1600" dirty="0"/>
                        <a:t>7</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Measurement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测量绩效域</a:t>
                      </a:r>
                    </a:p>
                  </a:txBody>
                  <a:tcPr anchor="ctr"/>
                </a:tc>
                <a:extLst>
                  <a:ext uri="{0D108BD9-81ED-4DB2-BD59-A6C34878D82A}">
                    <a16:rowId xmlns:a16="http://schemas.microsoft.com/office/drawing/2014/main" val="832207355"/>
                  </a:ext>
                </a:extLst>
              </a:tr>
              <a:tr h="370840">
                <a:tc>
                  <a:txBody>
                    <a:bodyPr/>
                    <a:lstStyle/>
                    <a:p>
                      <a:pPr algn="ctr"/>
                      <a:r>
                        <a:rPr lang="en-US" altLang="zh-CN" sz="1600" dirty="0"/>
                        <a:t>8</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Uncertainty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不确定性绩效域</a:t>
                      </a:r>
                    </a:p>
                  </a:txBody>
                  <a:tcPr anchor="ctr"/>
                </a:tc>
                <a:extLst>
                  <a:ext uri="{0D108BD9-81ED-4DB2-BD59-A6C34878D82A}">
                    <a16:rowId xmlns:a16="http://schemas.microsoft.com/office/drawing/2014/main" val="1086756678"/>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488168251"/>
              </p:ext>
            </p:extLst>
          </p:nvPr>
        </p:nvGraphicFramePr>
        <p:xfrm>
          <a:off x="696000" y="712024"/>
          <a:ext cx="10800000" cy="5433952"/>
        </p:xfrm>
        <a:graphic>
          <a:graphicData uri="http://schemas.openxmlformats.org/drawingml/2006/table">
            <a:tbl>
              <a:tblPr/>
              <a:tblGrid>
                <a:gridCol w="746301">
                  <a:extLst>
                    <a:ext uri="{9D8B030D-6E8A-4147-A177-3AD203B41FA5}">
                      <a16:colId xmlns:a16="http://schemas.microsoft.com/office/drawing/2014/main" val="197264077"/>
                    </a:ext>
                  </a:extLst>
                </a:gridCol>
                <a:gridCol w="4911365">
                  <a:extLst>
                    <a:ext uri="{9D8B030D-6E8A-4147-A177-3AD203B41FA5}">
                      <a16:colId xmlns:a16="http://schemas.microsoft.com/office/drawing/2014/main" val="4210001443"/>
                    </a:ext>
                  </a:extLst>
                </a:gridCol>
                <a:gridCol w="2442334">
                  <a:extLst>
                    <a:ext uri="{9D8B030D-6E8A-4147-A177-3AD203B41FA5}">
                      <a16:colId xmlns:a16="http://schemas.microsoft.com/office/drawing/2014/main" val="543007001"/>
                    </a:ext>
                  </a:extLst>
                </a:gridCol>
                <a:gridCol w="2700000">
                  <a:extLst>
                    <a:ext uri="{9D8B030D-6E8A-4147-A177-3AD203B41FA5}">
                      <a16:colId xmlns:a16="http://schemas.microsoft.com/office/drawing/2014/main" val="1459750022"/>
                    </a:ext>
                  </a:extLst>
                </a:gridCol>
              </a:tblGrid>
              <a:tr h="360000">
                <a:tc>
                  <a:txBody>
                    <a:bodyPr/>
                    <a:lstStyle/>
                    <a:p>
                      <a:pPr algn="ctr">
                        <a:buNone/>
                      </a:pPr>
                      <a:endParaRPr lang="zh-CN" altLang="en-US" sz="1200" dirty="0">
                        <a:solidFill>
                          <a:schemeClr val="bg1"/>
                        </a:solidFill>
                      </a:endParaRPr>
                    </a:p>
                  </a:txBody>
                  <a:tcPr marL="63424" marR="63424" marT="31712" marB="31712"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644523495"/>
                  </a:ext>
                </a:extLst>
              </a:tr>
              <a:tr h="634244">
                <a:tc>
                  <a:txBody>
                    <a:bodyPr/>
                    <a:lstStyle/>
                    <a:p>
                      <a:pPr algn="ctr">
                        <a:buNone/>
                      </a:pPr>
                      <a:r>
                        <a:rPr lang="en-US" altLang="zh-CN" sz="1200" dirty="0"/>
                        <a:t>1</a:t>
                      </a:r>
                    </a:p>
                  </a:txBody>
                  <a:tcPr marL="63424" marR="63424" marT="31712" marB="31712" anchor="ctr">
                    <a:lnL>
                      <a:noFill/>
                    </a:lnL>
                    <a:lnR>
                      <a:noFill/>
                    </a:lnR>
                    <a:lnT>
                      <a:noFill/>
                    </a:lnT>
                    <a:lnB>
                      <a:noFill/>
                    </a:lnB>
                    <a:noFill/>
                  </a:tcPr>
                </a:tc>
                <a:tc>
                  <a:txBody>
                    <a:bodyPr/>
                    <a:lstStyle/>
                    <a:p>
                      <a:pPr algn="l">
                        <a:buNone/>
                      </a:pPr>
                      <a:r>
                        <a:rPr lang="en-US" sz="1200" dirty="0"/>
                        <a:t>Stakeholder Performance Domain</a:t>
                      </a:r>
                    </a:p>
                  </a:txBody>
                  <a:tcPr marL="63424" marR="63424" marT="31712" marB="31712" anchor="ctr">
                    <a:lnL>
                      <a:noFill/>
                    </a:lnL>
                    <a:lnR>
                      <a:noFill/>
                    </a:lnR>
                    <a:lnT>
                      <a:noFill/>
                    </a:lnT>
                    <a:lnB>
                      <a:noFill/>
                    </a:lnB>
                    <a:noFill/>
                  </a:tcPr>
                </a:tc>
                <a:tc>
                  <a:txBody>
                    <a:bodyPr/>
                    <a:lstStyle/>
                    <a:p>
                      <a:pPr algn="l">
                        <a:buNone/>
                      </a:pPr>
                      <a:r>
                        <a:rPr lang="zh-CN" altLang="en-US" sz="1200"/>
                        <a:t>相关方绩效域</a:t>
                      </a:r>
                    </a:p>
                  </a:txBody>
                  <a:tcPr marL="63424" marR="63424" marT="31712" marB="31712" anchor="ctr">
                    <a:lnL>
                      <a:noFill/>
                    </a:lnL>
                    <a:lnR>
                      <a:noFill/>
                    </a:lnR>
                    <a:lnT>
                      <a:noFill/>
                    </a:lnT>
                    <a:lnB>
                      <a:noFill/>
                    </a:lnB>
                    <a:noFill/>
                  </a:tcPr>
                </a:tc>
                <a:tc>
                  <a:txBody>
                    <a:bodyPr/>
                    <a:lstStyle/>
                    <a:p>
                      <a:pPr algn="l">
                        <a:buNone/>
                      </a:pPr>
                      <a:r>
                        <a:rPr lang="zh-CN" altLang="en-US" sz="1200"/>
                        <a:t>管理与相关方的互动，建立共识，确保持续参与和支持。</a:t>
                      </a:r>
                    </a:p>
                  </a:txBody>
                  <a:tcPr marL="63424" marR="63424" marT="31712" marB="31712" anchor="ctr">
                    <a:lnL>
                      <a:noFill/>
                    </a:lnL>
                    <a:lnR>
                      <a:noFill/>
                    </a:lnR>
                    <a:lnT>
                      <a:noFill/>
                    </a:lnT>
                    <a:lnB>
                      <a:noFill/>
                    </a:lnB>
                    <a:noFill/>
                  </a:tcPr>
                </a:tc>
                <a:extLst>
                  <a:ext uri="{0D108BD9-81ED-4DB2-BD59-A6C34878D82A}">
                    <a16:rowId xmlns:a16="http://schemas.microsoft.com/office/drawing/2014/main" val="753655787"/>
                  </a:ext>
                </a:extLst>
              </a:tr>
              <a:tr h="443971">
                <a:tc>
                  <a:txBody>
                    <a:bodyPr/>
                    <a:lstStyle/>
                    <a:p>
                      <a:pPr algn="ctr">
                        <a:buNone/>
                      </a:pPr>
                      <a:r>
                        <a:rPr lang="en-US" altLang="zh-CN" sz="1200" dirty="0"/>
                        <a:t>2</a:t>
                      </a:r>
                    </a:p>
                  </a:txBody>
                  <a:tcPr marL="63424" marR="63424" marT="31712" marB="31712" anchor="ctr">
                    <a:lnL>
                      <a:noFill/>
                    </a:lnL>
                    <a:lnR>
                      <a:noFill/>
                    </a:lnR>
                    <a:lnT>
                      <a:noFill/>
                    </a:lnT>
                    <a:lnB>
                      <a:noFill/>
                    </a:lnB>
                    <a:noFill/>
                  </a:tcPr>
                </a:tc>
                <a:tc>
                  <a:txBody>
                    <a:bodyPr/>
                    <a:lstStyle/>
                    <a:p>
                      <a:pPr algn="l">
                        <a:buNone/>
                      </a:pPr>
                      <a:r>
                        <a:rPr lang="en-US" sz="1200"/>
                        <a:t>Team Performance Domain</a:t>
                      </a:r>
                    </a:p>
                  </a:txBody>
                  <a:tcPr marL="63424" marR="63424" marT="31712" marB="31712" anchor="ctr">
                    <a:lnL>
                      <a:noFill/>
                    </a:lnL>
                    <a:lnR>
                      <a:noFill/>
                    </a:lnR>
                    <a:lnT>
                      <a:noFill/>
                    </a:lnT>
                    <a:lnB>
                      <a:noFill/>
                    </a:lnB>
                    <a:noFill/>
                  </a:tcPr>
                </a:tc>
                <a:tc>
                  <a:txBody>
                    <a:bodyPr/>
                    <a:lstStyle/>
                    <a:p>
                      <a:pPr algn="l">
                        <a:buNone/>
                      </a:pPr>
                      <a:r>
                        <a:rPr lang="zh-CN" altLang="en-US" sz="1200"/>
                        <a:t>团队绩效域</a:t>
                      </a:r>
                    </a:p>
                  </a:txBody>
                  <a:tcPr marL="63424" marR="63424" marT="31712" marB="31712" anchor="ctr">
                    <a:lnL>
                      <a:noFill/>
                    </a:lnL>
                    <a:lnR>
                      <a:noFill/>
                    </a:lnR>
                    <a:lnT>
                      <a:noFill/>
                    </a:lnT>
                    <a:lnB>
                      <a:noFill/>
                    </a:lnB>
                    <a:noFill/>
                  </a:tcPr>
                </a:tc>
                <a:tc>
                  <a:txBody>
                    <a:bodyPr/>
                    <a:lstStyle/>
                    <a:p>
                      <a:pPr algn="l">
                        <a:buNone/>
                      </a:pPr>
                      <a:r>
                        <a:rPr lang="zh-CN" altLang="en-US" sz="1200"/>
                        <a:t>发展团队技能，促进协作，解决冲突，提升团队绩效。</a:t>
                      </a:r>
                    </a:p>
                  </a:txBody>
                  <a:tcPr marL="63424" marR="63424" marT="31712" marB="31712" anchor="ctr">
                    <a:lnL>
                      <a:noFill/>
                    </a:lnL>
                    <a:lnR>
                      <a:noFill/>
                    </a:lnR>
                    <a:lnT>
                      <a:noFill/>
                    </a:lnT>
                    <a:lnB>
                      <a:noFill/>
                    </a:lnB>
                    <a:noFill/>
                  </a:tcPr>
                </a:tc>
                <a:extLst>
                  <a:ext uri="{0D108BD9-81ED-4DB2-BD59-A6C34878D82A}">
                    <a16:rowId xmlns:a16="http://schemas.microsoft.com/office/drawing/2014/main" val="1152831730"/>
                  </a:ext>
                </a:extLst>
              </a:tr>
              <a:tr h="824517">
                <a:tc>
                  <a:txBody>
                    <a:bodyPr/>
                    <a:lstStyle/>
                    <a:p>
                      <a:pPr algn="ctr">
                        <a:buNone/>
                      </a:pPr>
                      <a:r>
                        <a:rPr lang="en-US" altLang="zh-CN" sz="1200" dirty="0"/>
                        <a:t>3</a:t>
                      </a:r>
                    </a:p>
                  </a:txBody>
                  <a:tcPr marL="63424" marR="63424" marT="31712" marB="31712" anchor="ctr">
                    <a:lnL>
                      <a:noFill/>
                    </a:lnL>
                    <a:lnR>
                      <a:noFill/>
                    </a:lnR>
                    <a:lnT>
                      <a:noFill/>
                    </a:lnT>
                    <a:lnB>
                      <a:noFill/>
                    </a:lnB>
                    <a:noFill/>
                  </a:tcPr>
                </a:tc>
                <a:tc>
                  <a:txBody>
                    <a:bodyPr/>
                    <a:lstStyle/>
                    <a:p>
                      <a:pPr algn="l">
                        <a:buNone/>
                      </a:pPr>
                      <a:r>
                        <a:rPr lang="en-US" sz="1200" dirty="0"/>
                        <a:t>Development Approach and Life Cycle Performance Domain</a:t>
                      </a:r>
                    </a:p>
                  </a:txBody>
                  <a:tcPr marL="63424" marR="63424" marT="31712" marB="31712" anchor="ctr">
                    <a:lnL>
                      <a:noFill/>
                    </a:lnL>
                    <a:lnR>
                      <a:noFill/>
                    </a:lnR>
                    <a:lnT>
                      <a:noFill/>
                    </a:lnT>
                    <a:lnB>
                      <a:noFill/>
                    </a:lnB>
                    <a:noFill/>
                  </a:tcPr>
                </a:tc>
                <a:tc>
                  <a:txBody>
                    <a:bodyPr/>
                    <a:lstStyle/>
                    <a:p>
                      <a:pPr algn="l">
                        <a:buNone/>
                      </a:pPr>
                      <a:r>
                        <a:rPr lang="zh-CN" altLang="en-US" sz="1200"/>
                        <a:t>开发方法和生命周期绩效域</a:t>
                      </a:r>
                    </a:p>
                  </a:txBody>
                  <a:tcPr marL="63424" marR="63424" marT="31712" marB="31712" anchor="ctr">
                    <a:lnL>
                      <a:noFill/>
                    </a:lnL>
                    <a:lnR>
                      <a:noFill/>
                    </a:lnR>
                    <a:lnT>
                      <a:noFill/>
                    </a:lnT>
                    <a:lnB>
                      <a:noFill/>
                    </a:lnB>
                    <a:noFill/>
                  </a:tcPr>
                </a:tc>
                <a:tc>
                  <a:txBody>
                    <a:bodyPr/>
                    <a:lstStyle/>
                    <a:p>
                      <a:pPr algn="l">
                        <a:buNone/>
                      </a:pPr>
                      <a:r>
                        <a:rPr lang="zh-CN" altLang="en-US" sz="1200"/>
                        <a:t>选择适合项目的开发方法（预测、迭代、增量、敏捷或混合）及生命周期阶段。</a:t>
                      </a:r>
                    </a:p>
                  </a:txBody>
                  <a:tcPr marL="63424" marR="63424" marT="31712" marB="31712" anchor="ctr">
                    <a:lnL>
                      <a:noFill/>
                    </a:lnL>
                    <a:lnR>
                      <a:noFill/>
                    </a:lnR>
                    <a:lnT>
                      <a:noFill/>
                    </a:lnT>
                    <a:lnB>
                      <a:noFill/>
                    </a:lnB>
                    <a:noFill/>
                  </a:tcPr>
                </a:tc>
                <a:extLst>
                  <a:ext uri="{0D108BD9-81ED-4DB2-BD59-A6C34878D82A}">
                    <a16:rowId xmlns:a16="http://schemas.microsoft.com/office/drawing/2014/main" val="1501778776"/>
                  </a:ext>
                </a:extLst>
              </a:tr>
              <a:tr h="634244">
                <a:tc>
                  <a:txBody>
                    <a:bodyPr/>
                    <a:lstStyle/>
                    <a:p>
                      <a:pPr algn="ctr">
                        <a:buNone/>
                      </a:pPr>
                      <a:r>
                        <a:rPr lang="en-US" altLang="zh-CN" sz="1200" dirty="0"/>
                        <a:t>4</a:t>
                      </a:r>
                    </a:p>
                  </a:txBody>
                  <a:tcPr marL="63424" marR="63424" marT="31712" marB="31712" anchor="ctr">
                    <a:lnL>
                      <a:noFill/>
                    </a:lnL>
                    <a:lnR>
                      <a:noFill/>
                    </a:lnR>
                    <a:lnT>
                      <a:noFill/>
                    </a:lnT>
                    <a:lnB>
                      <a:noFill/>
                    </a:lnB>
                    <a:noFill/>
                  </a:tcPr>
                </a:tc>
                <a:tc>
                  <a:txBody>
                    <a:bodyPr/>
                    <a:lstStyle/>
                    <a:p>
                      <a:pPr algn="l">
                        <a:buNone/>
                      </a:pPr>
                      <a:r>
                        <a:rPr lang="en-US" sz="1200"/>
                        <a:t>Planning Performance Domain</a:t>
                      </a:r>
                    </a:p>
                  </a:txBody>
                  <a:tcPr marL="63424" marR="63424" marT="31712" marB="31712" anchor="ctr">
                    <a:lnL>
                      <a:noFill/>
                    </a:lnL>
                    <a:lnR>
                      <a:noFill/>
                    </a:lnR>
                    <a:lnT>
                      <a:noFill/>
                    </a:lnT>
                    <a:lnB>
                      <a:noFill/>
                    </a:lnB>
                    <a:noFill/>
                  </a:tcPr>
                </a:tc>
                <a:tc>
                  <a:txBody>
                    <a:bodyPr/>
                    <a:lstStyle/>
                    <a:p>
                      <a:pPr algn="l">
                        <a:buNone/>
                      </a:pPr>
                      <a:r>
                        <a:rPr lang="zh-CN" altLang="en-US" sz="1200"/>
                        <a:t>规划绩效域</a:t>
                      </a:r>
                    </a:p>
                  </a:txBody>
                  <a:tcPr marL="63424" marR="63424" marT="31712" marB="31712" anchor="ctr">
                    <a:lnL>
                      <a:noFill/>
                    </a:lnL>
                    <a:lnR>
                      <a:noFill/>
                    </a:lnR>
                    <a:lnT>
                      <a:noFill/>
                    </a:lnT>
                    <a:lnB>
                      <a:noFill/>
                    </a:lnB>
                    <a:noFill/>
                  </a:tcPr>
                </a:tc>
                <a:tc>
                  <a:txBody>
                    <a:bodyPr/>
                    <a:lstStyle/>
                    <a:p>
                      <a:pPr algn="l">
                        <a:buNone/>
                      </a:pPr>
                      <a:r>
                        <a:rPr lang="zh-CN" altLang="en-US" sz="1200"/>
                        <a:t>制定初始及持续的计划，协调范围、进度、成本等，以指导项目执行。</a:t>
                      </a:r>
                    </a:p>
                  </a:txBody>
                  <a:tcPr marL="63424" marR="63424" marT="31712" marB="31712" anchor="ctr">
                    <a:lnL>
                      <a:noFill/>
                    </a:lnL>
                    <a:lnR>
                      <a:noFill/>
                    </a:lnR>
                    <a:lnT>
                      <a:noFill/>
                    </a:lnT>
                    <a:lnB>
                      <a:noFill/>
                    </a:lnB>
                    <a:noFill/>
                  </a:tcPr>
                </a:tc>
                <a:extLst>
                  <a:ext uri="{0D108BD9-81ED-4DB2-BD59-A6C34878D82A}">
                    <a16:rowId xmlns:a16="http://schemas.microsoft.com/office/drawing/2014/main" val="2700953972"/>
                  </a:ext>
                </a:extLst>
              </a:tr>
              <a:tr h="634244">
                <a:tc>
                  <a:txBody>
                    <a:bodyPr/>
                    <a:lstStyle/>
                    <a:p>
                      <a:pPr algn="ctr">
                        <a:buNone/>
                      </a:pPr>
                      <a:r>
                        <a:rPr lang="en-US" altLang="zh-CN" sz="1200" dirty="0"/>
                        <a:t>5</a:t>
                      </a:r>
                    </a:p>
                  </a:txBody>
                  <a:tcPr marL="63424" marR="63424" marT="31712" marB="31712" anchor="ctr">
                    <a:lnL>
                      <a:noFill/>
                    </a:lnL>
                    <a:lnR>
                      <a:noFill/>
                    </a:lnR>
                    <a:lnT>
                      <a:noFill/>
                    </a:lnT>
                    <a:lnB>
                      <a:noFill/>
                    </a:lnB>
                    <a:noFill/>
                  </a:tcPr>
                </a:tc>
                <a:tc>
                  <a:txBody>
                    <a:bodyPr/>
                    <a:lstStyle/>
                    <a:p>
                      <a:pPr algn="l">
                        <a:buNone/>
                      </a:pPr>
                      <a:r>
                        <a:rPr lang="en-US" sz="1200"/>
                        <a:t>Project Work Performance Domain</a:t>
                      </a:r>
                    </a:p>
                  </a:txBody>
                  <a:tcPr marL="63424" marR="63424" marT="31712" marB="31712" anchor="ctr">
                    <a:lnL>
                      <a:noFill/>
                    </a:lnL>
                    <a:lnR>
                      <a:noFill/>
                    </a:lnR>
                    <a:lnT>
                      <a:noFill/>
                    </a:lnT>
                    <a:lnB>
                      <a:noFill/>
                    </a:lnB>
                    <a:noFill/>
                  </a:tcPr>
                </a:tc>
                <a:tc>
                  <a:txBody>
                    <a:bodyPr/>
                    <a:lstStyle/>
                    <a:p>
                      <a:pPr algn="l">
                        <a:buNone/>
                      </a:pPr>
                      <a:r>
                        <a:rPr lang="zh-CN" altLang="en-US" sz="1200"/>
                        <a:t>项目工作绩效域</a:t>
                      </a:r>
                    </a:p>
                  </a:txBody>
                  <a:tcPr marL="63424" marR="63424" marT="31712" marB="31712" anchor="ctr">
                    <a:lnL>
                      <a:noFill/>
                    </a:lnL>
                    <a:lnR>
                      <a:noFill/>
                    </a:lnR>
                    <a:lnT>
                      <a:noFill/>
                    </a:lnT>
                    <a:lnB>
                      <a:noFill/>
                    </a:lnB>
                    <a:noFill/>
                  </a:tcPr>
                </a:tc>
                <a:tc>
                  <a:txBody>
                    <a:bodyPr/>
                    <a:lstStyle/>
                    <a:p>
                      <a:pPr algn="l">
                        <a:buNone/>
                      </a:pPr>
                      <a:r>
                        <a:rPr lang="zh-CN" altLang="en-US" sz="1200"/>
                        <a:t>管理实际的项目执行工作，包括资源分配、沟通、问题解决和知识管理。</a:t>
                      </a:r>
                    </a:p>
                  </a:txBody>
                  <a:tcPr marL="63424" marR="63424" marT="31712" marB="31712" anchor="ctr">
                    <a:lnL>
                      <a:noFill/>
                    </a:lnL>
                    <a:lnR>
                      <a:noFill/>
                    </a:lnR>
                    <a:lnT>
                      <a:noFill/>
                    </a:lnT>
                    <a:lnB>
                      <a:noFill/>
                    </a:lnB>
                    <a:noFill/>
                  </a:tcPr>
                </a:tc>
                <a:extLst>
                  <a:ext uri="{0D108BD9-81ED-4DB2-BD59-A6C34878D82A}">
                    <a16:rowId xmlns:a16="http://schemas.microsoft.com/office/drawing/2014/main" val="1436638779"/>
                  </a:ext>
                </a:extLst>
              </a:tr>
              <a:tr h="634244">
                <a:tc>
                  <a:txBody>
                    <a:bodyPr/>
                    <a:lstStyle/>
                    <a:p>
                      <a:pPr algn="ctr">
                        <a:buNone/>
                      </a:pPr>
                      <a:r>
                        <a:rPr lang="en-US" altLang="zh-CN" sz="1200" dirty="0"/>
                        <a:t>6</a:t>
                      </a:r>
                    </a:p>
                  </a:txBody>
                  <a:tcPr marL="63424" marR="63424" marT="31712" marB="31712" anchor="ctr">
                    <a:lnL>
                      <a:noFill/>
                    </a:lnL>
                    <a:lnR>
                      <a:noFill/>
                    </a:lnR>
                    <a:lnT>
                      <a:noFill/>
                    </a:lnT>
                    <a:lnB>
                      <a:noFill/>
                    </a:lnB>
                    <a:noFill/>
                  </a:tcPr>
                </a:tc>
                <a:tc>
                  <a:txBody>
                    <a:bodyPr/>
                    <a:lstStyle/>
                    <a:p>
                      <a:pPr algn="l">
                        <a:buNone/>
                      </a:pPr>
                      <a:r>
                        <a:rPr lang="en-US" sz="1200"/>
                        <a:t>Delivery Performance Domain</a:t>
                      </a:r>
                    </a:p>
                  </a:txBody>
                  <a:tcPr marL="63424" marR="63424" marT="31712" marB="31712" anchor="ctr">
                    <a:lnL>
                      <a:noFill/>
                    </a:lnL>
                    <a:lnR>
                      <a:noFill/>
                    </a:lnR>
                    <a:lnT>
                      <a:noFill/>
                    </a:lnT>
                    <a:lnB>
                      <a:noFill/>
                    </a:lnB>
                    <a:noFill/>
                  </a:tcPr>
                </a:tc>
                <a:tc>
                  <a:txBody>
                    <a:bodyPr/>
                    <a:lstStyle/>
                    <a:p>
                      <a:pPr algn="l">
                        <a:buNone/>
                      </a:pPr>
                      <a:r>
                        <a:rPr lang="zh-CN" altLang="en-US" sz="1200"/>
                        <a:t>交付绩效域</a:t>
                      </a:r>
                    </a:p>
                  </a:txBody>
                  <a:tcPr marL="63424" marR="63424" marT="31712" marB="31712" anchor="ctr">
                    <a:lnL>
                      <a:noFill/>
                    </a:lnL>
                    <a:lnR>
                      <a:noFill/>
                    </a:lnR>
                    <a:lnT>
                      <a:noFill/>
                    </a:lnT>
                    <a:lnB>
                      <a:noFill/>
                    </a:lnB>
                    <a:noFill/>
                  </a:tcPr>
                </a:tc>
                <a:tc>
                  <a:txBody>
                    <a:bodyPr/>
                    <a:lstStyle/>
                    <a:p>
                      <a:pPr algn="l">
                        <a:buNone/>
                      </a:pPr>
                      <a:r>
                        <a:rPr lang="zh-CN" altLang="en-US" sz="1200"/>
                        <a:t>确保项目产出符合预期，满足质量要求，并最终实现预期的商业价值。</a:t>
                      </a:r>
                    </a:p>
                  </a:txBody>
                  <a:tcPr marL="63424" marR="63424" marT="31712" marB="31712" anchor="ctr">
                    <a:lnL>
                      <a:noFill/>
                    </a:lnL>
                    <a:lnR>
                      <a:noFill/>
                    </a:lnR>
                    <a:lnT>
                      <a:noFill/>
                    </a:lnT>
                    <a:lnB>
                      <a:noFill/>
                    </a:lnB>
                    <a:noFill/>
                  </a:tcPr>
                </a:tc>
                <a:extLst>
                  <a:ext uri="{0D108BD9-81ED-4DB2-BD59-A6C34878D82A}">
                    <a16:rowId xmlns:a16="http://schemas.microsoft.com/office/drawing/2014/main" val="2348436765"/>
                  </a:ext>
                </a:extLst>
              </a:tr>
              <a:tr h="634244">
                <a:tc>
                  <a:txBody>
                    <a:bodyPr/>
                    <a:lstStyle/>
                    <a:p>
                      <a:pPr algn="ctr">
                        <a:buNone/>
                      </a:pPr>
                      <a:r>
                        <a:rPr lang="en-US" altLang="zh-CN" sz="1200" dirty="0"/>
                        <a:t>7</a:t>
                      </a:r>
                    </a:p>
                  </a:txBody>
                  <a:tcPr marL="63424" marR="63424" marT="31712" marB="31712" anchor="ctr">
                    <a:lnL>
                      <a:noFill/>
                    </a:lnL>
                    <a:lnR>
                      <a:noFill/>
                    </a:lnR>
                    <a:lnT>
                      <a:noFill/>
                    </a:lnT>
                    <a:lnB>
                      <a:noFill/>
                    </a:lnB>
                    <a:noFill/>
                  </a:tcPr>
                </a:tc>
                <a:tc>
                  <a:txBody>
                    <a:bodyPr/>
                    <a:lstStyle/>
                    <a:p>
                      <a:pPr algn="l">
                        <a:buNone/>
                      </a:pPr>
                      <a:r>
                        <a:rPr lang="en-US" sz="1200"/>
                        <a:t>Measurement Performance Domain</a:t>
                      </a:r>
                    </a:p>
                  </a:txBody>
                  <a:tcPr marL="63424" marR="63424" marT="31712" marB="31712" anchor="ctr">
                    <a:lnL>
                      <a:noFill/>
                    </a:lnL>
                    <a:lnR>
                      <a:noFill/>
                    </a:lnR>
                    <a:lnT>
                      <a:noFill/>
                    </a:lnT>
                    <a:lnB>
                      <a:noFill/>
                    </a:lnB>
                    <a:noFill/>
                  </a:tcPr>
                </a:tc>
                <a:tc>
                  <a:txBody>
                    <a:bodyPr/>
                    <a:lstStyle/>
                    <a:p>
                      <a:pPr algn="l">
                        <a:buNone/>
                      </a:pPr>
                      <a:r>
                        <a:rPr lang="zh-CN" altLang="en-US" sz="1200"/>
                        <a:t>测量绩效域</a:t>
                      </a:r>
                    </a:p>
                  </a:txBody>
                  <a:tcPr marL="63424" marR="63424" marT="31712" marB="31712" anchor="ctr">
                    <a:lnL>
                      <a:noFill/>
                    </a:lnL>
                    <a:lnR>
                      <a:noFill/>
                    </a:lnR>
                    <a:lnT>
                      <a:noFill/>
                    </a:lnT>
                    <a:lnB>
                      <a:noFill/>
                    </a:lnB>
                    <a:noFill/>
                  </a:tcPr>
                </a:tc>
                <a:tc>
                  <a:txBody>
                    <a:bodyPr/>
                    <a:lstStyle/>
                    <a:p>
                      <a:pPr algn="l">
                        <a:buNone/>
                      </a:pPr>
                      <a:r>
                        <a:rPr lang="zh-CN" altLang="en-US" sz="1200"/>
                        <a:t>评估项目绩效，通过指标和数据了解项目健康状况，支持决策。</a:t>
                      </a:r>
                    </a:p>
                  </a:txBody>
                  <a:tcPr marL="63424" marR="63424" marT="31712" marB="31712" anchor="ctr">
                    <a:lnL>
                      <a:noFill/>
                    </a:lnL>
                    <a:lnR>
                      <a:noFill/>
                    </a:lnR>
                    <a:lnT>
                      <a:noFill/>
                    </a:lnT>
                    <a:lnB>
                      <a:noFill/>
                    </a:lnB>
                    <a:noFill/>
                  </a:tcPr>
                </a:tc>
                <a:extLst>
                  <a:ext uri="{0D108BD9-81ED-4DB2-BD59-A6C34878D82A}">
                    <a16:rowId xmlns:a16="http://schemas.microsoft.com/office/drawing/2014/main" val="339444266"/>
                  </a:ext>
                </a:extLst>
              </a:tr>
              <a:tr h="634244">
                <a:tc>
                  <a:txBody>
                    <a:bodyPr/>
                    <a:lstStyle/>
                    <a:p>
                      <a:pPr algn="ctr">
                        <a:buNone/>
                      </a:pPr>
                      <a:r>
                        <a:rPr lang="en-US" altLang="zh-CN" sz="1200" dirty="0"/>
                        <a:t>8</a:t>
                      </a:r>
                    </a:p>
                  </a:txBody>
                  <a:tcPr marL="63424" marR="63424" marT="31712" marB="31712" anchor="ctr">
                    <a:lnL>
                      <a:noFill/>
                    </a:lnL>
                    <a:lnR>
                      <a:noFill/>
                    </a:lnR>
                    <a:lnT>
                      <a:noFill/>
                    </a:lnT>
                    <a:lnB>
                      <a:noFill/>
                    </a:lnB>
                    <a:noFill/>
                  </a:tcPr>
                </a:tc>
                <a:tc>
                  <a:txBody>
                    <a:bodyPr/>
                    <a:lstStyle/>
                    <a:p>
                      <a:pPr algn="l">
                        <a:buNone/>
                      </a:pPr>
                      <a:r>
                        <a:rPr lang="en-US" sz="1200"/>
                        <a:t>Uncertainty Performance Domain</a:t>
                      </a:r>
                    </a:p>
                  </a:txBody>
                  <a:tcPr marL="63424" marR="63424" marT="31712" marB="31712" anchor="ctr">
                    <a:lnL>
                      <a:noFill/>
                    </a:lnL>
                    <a:lnR>
                      <a:noFill/>
                    </a:lnR>
                    <a:lnT>
                      <a:noFill/>
                    </a:lnT>
                    <a:lnB>
                      <a:noFill/>
                    </a:lnB>
                    <a:noFill/>
                  </a:tcPr>
                </a:tc>
                <a:tc>
                  <a:txBody>
                    <a:bodyPr/>
                    <a:lstStyle/>
                    <a:p>
                      <a:pPr algn="l">
                        <a:buNone/>
                      </a:pPr>
                      <a:r>
                        <a:rPr lang="zh-CN" altLang="en-US" sz="1200"/>
                        <a:t>不确定性绩效域</a:t>
                      </a:r>
                    </a:p>
                  </a:txBody>
                  <a:tcPr marL="63424" marR="63424" marT="31712" marB="31712" anchor="ctr">
                    <a:lnL>
                      <a:noFill/>
                    </a:lnL>
                    <a:lnR>
                      <a:noFill/>
                    </a:lnR>
                    <a:lnT>
                      <a:noFill/>
                    </a:lnT>
                    <a:lnB>
                      <a:noFill/>
                    </a:lnB>
                    <a:noFill/>
                  </a:tcPr>
                </a:tc>
                <a:tc>
                  <a:txBody>
                    <a:bodyPr/>
                    <a:lstStyle/>
                    <a:p>
                      <a:pPr algn="l">
                        <a:buNone/>
                      </a:pPr>
                      <a:r>
                        <a:rPr lang="zh-CN" altLang="en-US" sz="1200" dirty="0"/>
                        <a:t>应对风险、模糊性、复杂性和易变性（</a:t>
                      </a:r>
                      <a:r>
                        <a:rPr lang="en-US" altLang="zh-CN" sz="1200" dirty="0"/>
                        <a:t>VUCA</a:t>
                      </a:r>
                      <a:r>
                        <a:rPr lang="zh-CN" altLang="en-US" sz="1200" dirty="0"/>
                        <a:t>），制定应对策略。</a:t>
                      </a:r>
                    </a:p>
                  </a:txBody>
                  <a:tcPr marL="63424" marR="63424" marT="31712" marB="31712" anchor="ctr">
                    <a:lnL>
                      <a:noFill/>
                    </a:lnL>
                    <a:lnR>
                      <a:noFill/>
                    </a:lnR>
                    <a:lnT>
                      <a:noFill/>
                    </a:lnT>
                    <a:lnB>
                      <a:noFill/>
                    </a:lnB>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4289065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dirty="0"/>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600" dirty="0"/>
              <a:t>干系人绩效域</a:t>
            </a:r>
            <a:endParaRPr lang="en-US" altLang="zh-CN" sz="1600" dirty="0"/>
          </a:p>
          <a:p>
            <a:pPr algn="ctr"/>
            <a:r>
              <a:rPr lang="en-US" altLang="zh-CN" sz="1600" dirty="0"/>
              <a:t>Stakeholder</a:t>
            </a:r>
            <a:endParaRPr lang="zh-CN" altLang="en-US" sz="1600" dirty="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600" dirty="0"/>
              <a:t>团队绩效域</a:t>
            </a:r>
            <a:endParaRPr lang="en-US" altLang="zh-CN" sz="1600" dirty="0"/>
          </a:p>
          <a:p>
            <a:pPr algn="ctr"/>
            <a:r>
              <a:rPr lang="en-US" altLang="zh-CN" sz="1600" dirty="0"/>
              <a:t>Team</a:t>
            </a:r>
            <a:endParaRPr lang="zh-CN" altLang="en-US" sz="1600" dirty="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600" dirty="0"/>
              <a:t>开发方法和生命周期绩效域</a:t>
            </a:r>
            <a:endParaRPr lang="en-US" altLang="zh-CN" sz="1600" dirty="0"/>
          </a:p>
          <a:p>
            <a:pPr algn="ctr"/>
            <a:r>
              <a:rPr lang="en-US" altLang="zh-CN" sz="1600" dirty="0"/>
              <a:t>Development Approach and Life Cycle</a:t>
            </a:r>
            <a:endParaRPr lang="zh-CN" altLang="en-US" sz="1600" dirty="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规划绩效域</a:t>
            </a:r>
            <a:endParaRPr lang="en-US" altLang="zh-CN" sz="1600" dirty="0"/>
          </a:p>
          <a:p>
            <a:pPr algn="ctr"/>
            <a:r>
              <a:rPr lang="en-US" altLang="zh-CN" sz="1600" dirty="0"/>
              <a:t>Planning </a:t>
            </a:r>
            <a:endParaRPr lang="zh-CN" altLang="en-US" sz="1600" dirty="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项目工作绩效域</a:t>
            </a:r>
            <a:endParaRPr lang="en-US" altLang="zh-CN" sz="1600" dirty="0"/>
          </a:p>
          <a:p>
            <a:pPr algn="ctr"/>
            <a:r>
              <a:rPr lang="en-US" altLang="zh-CN" sz="1600" dirty="0"/>
              <a:t>Project Work</a:t>
            </a:r>
            <a:endParaRPr lang="zh-CN" altLang="en-US" sz="1600" dirty="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交付绩效域</a:t>
            </a:r>
            <a:endParaRPr lang="en-US" altLang="zh-CN" sz="1600" dirty="0"/>
          </a:p>
          <a:p>
            <a:pPr algn="ctr"/>
            <a:r>
              <a:rPr lang="en-US" altLang="zh-CN" sz="1600" dirty="0"/>
              <a:t>Delivery </a:t>
            </a:r>
            <a:endParaRPr lang="zh-CN" altLang="en-US" sz="1600" dirty="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测量绩效域</a:t>
            </a:r>
            <a:endParaRPr lang="en-US" altLang="zh-CN" sz="1600" dirty="0"/>
          </a:p>
          <a:p>
            <a:pPr algn="ctr"/>
            <a:r>
              <a:rPr lang="en-US" altLang="zh-CN" sz="1600" dirty="0"/>
              <a:t>Measurement</a:t>
            </a:r>
            <a:endParaRPr lang="zh-CN" altLang="en-US" sz="1600" dirty="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600" dirty="0"/>
              <a:t>不确定性绩效域</a:t>
            </a:r>
            <a:endParaRPr lang="en-US" altLang="zh-CN" sz="1600" dirty="0"/>
          </a:p>
          <a:p>
            <a:pPr algn="ctr"/>
            <a:r>
              <a:rPr lang="en-US" altLang="zh-CN" sz="1600" dirty="0"/>
              <a:t>Uncertainty </a:t>
            </a:r>
            <a:endParaRPr lang="zh-CN" altLang="en-US" sz="1600" dirty="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dirty="0"/>
              <a:t>VUCA</a:t>
            </a:r>
            <a:endParaRPr lang="zh-CN" altLang="en-US" dirty="0"/>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lstStyle/>
          <a:p>
            <a:r>
              <a:rPr lang="zh-CN" altLang="en-US" dirty="0"/>
              <a:t>描述当今商业环境的特征</a:t>
            </a:r>
            <a:endParaRPr lang="en-US" altLang="zh-CN" dirty="0"/>
          </a:p>
          <a:p>
            <a:r>
              <a:rPr lang="en-US" altLang="zh-CN" dirty="0"/>
              <a:t>PMBOK </a:t>
            </a:r>
            <a:r>
              <a:rPr lang="zh-CN" altLang="en-US" dirty="0"/>
              <a:t>指南的演变史，就是一部对抗 </a:t>
            </a:r>
            <a:r>
              <a:rPr lang="en-US" altLang="zh-CN" dirty="0"/>
              <a:t>VUCA</a:t>
            </a:r>
            <a:r>
              <a:rPr lang="zh-CN" altLang="en-US" dirty="0"/>
              <a:t> 的历史</a:t>
            </a:r>
          </a:p>
        </p:txBody>
      </p:sp>
      <p:sp>
        <p:nvSpPr>
          <p:cNvPr id="6" name="Text Placeholder 5">
            <a:extLst>
              <a:ext uri="{FF2B5EF4-FFF2-40B4-BE49-F238E27FC236}">
                <a16:creationId xmlns:a16="http://schemas.microsoft.com/office/drawing/2014/main" id="{A00D8FF1-6D74-A156-7300-D5D45AAFBC4A}"/>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652273020"/>
              </p:ext>
            </p:extLst>
          </p:nvPr>
        </p:nvGraphicFramePr>
        <p:xfrm>
          <a:off x="695325" y="2335507"/>
          <a:ext cx="10801350" cy="3928493"/>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50000"/>
                        </a:lnSpc>
                        <a:buNone/>
                      </a:pPr>
                      <a:r>
                        <a:rPr lang="en-US" altLang="zh-CN" sz="1800" dirty="0">
                          <a:solidFill>
                            <a:schemeClr val="bg1"/>
                          </a:solidFill>
                        </a:rPr>
                        <a:t>Char</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English</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Chinese</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Description</a:t>
                      </a:r>
                      <a:endParaRPr lang="zh-CN" altLang="en-US" sz="18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598835100"/>
                  </a:ext>
                </a:extLst>
              </a:tr>
              <a:tr h="0">
                <a:tc>
                  <a:txBody>
                    <a:bodyPr/>
                    <a:lstStyle/>
                    <a:p>
                      <a:pPr algn="l">
                        <a:lnSpc>
                          <a:spcPct val="150000"/>
                        </a:lnSpc>
                        <a:buNone/>
                      </a:pPr>
                      <a:r>
                        <a:rPr lang="en-US" sz="1800" dirty="0"/>
                        <a:t>V</a:t>
                      </a:r>
                    </a:p>
                  </a:txBody>
                  <a:tcPr anchor="ctr">
                    <a:lnL>
                      <a:noFill/>
                    </a:lnL>
                    <a:lnR>
                      <a:noFill/>
                    </a:lnR>
                    <a:lnT>
                      <a:noFill/>
                    </a:lnT>
                    <a:lnB>
                      <a:noFill/>
                    </a:lnB>
                    <a:noFill/>
                  </a:tcPr>
                </a:tc>
                <a:tc>
                  <a:txBody>
                    <a:bodyPr/>
                    <a:lstStyle/>
                    <a:p>
                      <a:pPr algn="l">
                        <a:lnSpc>
                          <a:spcPct val="150000"/>
                        </a:lnSpc>
                        <a:buNone/>
                      </a:pPr>
                      <a:r>
                        <a:rPr lang="en-US" sz="1800" dirty="0"/>
                        <a:t>Volatility</a:t>
                      </a:r>
                    </a:p>
                  </a:txBody>
                  <a:tcPr anchor="ctr">
                    <a:lnL>
                      <a:noFill/>
                    </a:lnL>
                    <a:lnR>
                      <a:noFill/>
                    </a:lnR>
                    <a:lnT>
                      <a:noFill/>
                    </a:lnT>
                    <a:lnB>
                      <a:noFill/>
                    </a:lnB>
                    <a:noFill/>
                  </a:tcPr>
                </a:tc>
                <a:tc>
                  <a:txBody>
                    <a:bodyPr/>
                    <a:lstStyle/>
                    <a:p>
                      <a:pPr algn="l">
                        <a:lnSpc>
                          <a:spcPct val="150000"/>
                        </a:lnSpc>
                        <a:buNone/>
                      </a:pPr>
                      <a:r>
                        <a:rPr lang="zh-CN" altLang="en-US" sz="1800"/>
                        <a:t>易变性</a:t>
                      </a:r>
                    </a:p>
                  </a:txBody>
                  <a:tcPr anchor="ctr">
                    <a:lnL>
                      <a:noFill/>
                    </a:lnL>
                    <a:lnR>
                      <a:noFill/>
                    </a:lnR>
                    <a:lnT>
                      <a:noFill/>
                    </a:lnT>
                    <a:lnB>
                      <a:noFill/>
                    </a:lnB>
                    <a:noFill/>
                  </a:tcPr>
                </a:tc>
                <a:tc>
                  <a:txBody>
                    <a:bodyPr/>
                    <a:lstStyle/>
                    <a:p>
                      <a:pPr algn="l">
                        <a:lnSpc>
                          <a:spcPct val="150000"/>
                        </a:lnSpc>
                        <a:buNone/>
                      </a:pPr>
                      <a:r>
                        <a:rPr lang="zh-CN" altLang="en-US" sz="1800" dirty="0"/>
                        <a:t>变化发生的速度极快，幅度极大</a:t>
                      </a:r>
                      <a:endParaRPr lang="en-US" altLang="zh-CN" sz="1800" dirty="0"/>
                    </a:p>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计划赶不上变化，需求频繁变更</a:t>
                      </a:r>
                    </a:p>
                  </a:txBody>
                  <a:tcPr anchor="ctr">
                    <a:lnL>
                      <a:noFill/>
                    </a:lnL>
                    <a:lnR>
                      <a:noFill/>
                    </a:lnR>
                    <a:lnT>
                      <a:noFill/>
                    </a:lnT>
                    <a:lnB>
                      <a:noFill/>
                    </a:lnB>
                    <a:noFill/>
                  </a:tcPr>
                </a:tc>
                <a:extLst>
                  <a:ext uri="{0D108BD9-81ED-4DB2-BD59-A6C34878D82A}">
                    <a16:rowId xmlns:a16="http://schemas.microsoft.com/office/drawing/2014/main" val="2807491448"/>
                  </a:ext>
                </a:extLst>
              </a:tr>
              <a:tr h="0">
                <a:tc>
                  <a:txBody>
                    <a:bodyPr/>
                    <a:lstStyle/>
                    <a:p>
                      <a:pPr algn="l">
                        <a:lnSpc>
                          <a:spcPct val="150000"/>
                        </a:lnSpc>
                        <a:buNone/>
                      </a:pPr>
                      <a:r>
                        <a:rPr lang="en-US" sz="1800"/>
                        <a:t>U</a:t>
                      </a:r>
                    </a:p>
                  </a:txBody>
                  <a:tcPr anchor="ctr">
                    <a:lnL>
                      <a:noFill/>
                    </a:lnL>
                    <a:lnR>
                      <a:noFill/>
                    </a:lnR>
                    <a:lnT>
                      <a:noFill/>
                    </a:lnT>
                    <a:lnB>
                      <a:noFill/>
                    </a:lnB>
                    <a:noFill/>
                  </a:tcPr>
                </a:tc>
                <a:tc>
                  <a:txBody>
                    <a:bodyPr/>
                    <a:lstStyle/>
                    <a:p>
                      <a:pPr algn="l">
                        <a:lnSpc>
                          <a:spcPct val="150000"/>
                        </a:lnSpc>
                        <a:buNone/>
                      </a:pPr>
                      <a:r>
                        <a:rPr lang="en-US" sz="1800"/>
                        <a:t>Uncertainty</a:t>
                      </a:r>
                    </a:p>
                  </a:txBody>
                  <a:tcPr anchor="ctr">
                    <a:lnL>
                      <a:noFill/>
                    </a:lnL>
                    <a:lnR>
                      <a:noFill/>
                    </a:lnR>
                    <a:lnT>
                      <a:noFill/>
                    </a:lnT>
                    <a:lnB>
                      <a:noFill/>
                    </a:lnB>
                    <a:noFill/>
                  </a:tcPr>
                </a:tc>
                <a:tc>
                  <a:txBody>
                    <a:bodyPr/>
                    <a:lstStyle/>
                    <a:p>
                      <a:pPr algn="l">
                        <a:lnSpc>
                          <a:spcPct val="150000"/>
                        </a:lnSpc>
                        <a:buNone/>
                      </a:pPr>
                      <a:r>
                        <a:rPr lang="zh-CN" altLang="en-US" sz="1800"/>
                        <a:t>不确定性</a:t>
                      </a:r>
                    </a:p>
                  </a:txBody>
                  <a:tcPr anchor="ctr">
                    <a:lnL>
                      <a:noFill/>
                    </a:lnL>
                    <a:lnR>
                      <a:noFill/>
                    </a:lnR>
                    <a:lnT>
                      <a:noFill/>
                    </a:lnT>
                    <a:lnB>
                      <a:noFill/>
                    </a:lnB>
                    <a:noFill/>
                  </a:tcPr>
                </a:tc>
                <a:tc>
                  <a:txBody>
                    <a:bodyPr/>
                    <a:lstStyle/>
                    <a:p>
                      <a:pPr algn="l">
                        <a:lnSpc>
                          <a:spcPct val="150000"/>
                        </a:lnSpc>
                        <a:buNone/>
                      </a:pPr>
                      <a:r>
                        <a:rPr lang="zh-CN" altLang="en-US" sz="1800" dirty="0"/>
                        <a:t>缺乏信息，难以预测未来，因果关系不明</a:t>
                      </a:r>
                    </a:p>
                    <a:p>
                      <a:pPr algn="l">
                        <a:lnSpc>
                          <a:spcPct val="150000"/>
                        </a:lnSpc>
                        <a:buNone/>
                      </a:pPr>
                      <a:r>
                        <a:rPr lang="zh-CN" altLang="en-US" sz="1800" dirty="0"/>
                        <a:t>风险难以识别，传统预测失效</a:t>
                      </a:r>
                    </a:p>
                  </a:txBody>
                  <a:tcPr anchor="ctr">
                    <a:lnL>
                      <a:noFill/>
                    </a:lnL>
                    <a:lnR>
                      <a:noFill/>
                    </a:lnR>
                    <a:lnT>
                      <a:noFill/>
                    </a:lnT>
                    <a:lnB>
                      <a:noFill/>
                    </a:lnB>
                    <a:noFill/>
                  </a:tcPr>
                </a:tc>
                <a:extLst>
                  <a:ext uri="{0D108BD9-81ED-4DB2-BD59-A6C34878D82A}">
                    <a16:rowId xmlns:a16="http://schemas.microsoft.com/office/drawing/2014/main" val="770132012"/>
                  </a:ext>
                </a:extLst>
              </a:tr>
              <a:tr h="0">
                <a:tc>
                  <a:txBody>
                    <a:bodyPr/>
                    <a:lstStyle/>
                    <a:p>
                      <a:pPr algn="l">
                        <a:lnSpc>
                          <a:spcPct val="150000"/>
                        </a:lnSpc>
                        <a:buNone/>
                      </a:pPr>
                      <a:r>
                        <a:rPr lang="en-US" sz="1800"/>
                        <a:t>C</a:t>
                      </a:r>
                    </a:p>
                  </a:txBody>
                  <a:tcPr anchor="ctr">
                    <a:lnL>
                      <a:noFill/>
                    </a:lnL>
                    <a:lnR>
                      <a:noFill/>
                    </a:lnR>
                    <a:lnT>
                      <a:noFill/>
                    </a:lnT>
                    <a:lnB>
                      <a:noFill/>
                    </a:lnB>
                    <a:noFill/>
                  </a:tcPr>
                </a:tc>
                <a:tc>
                  <a:txBody>
                    <a:bodyPr/>
                    <a:lstStyle/>
                    <a:p>
                      <a:pPr algn="l">
                        <a:lnSpc>
                          <a:spcPct val="150000"/>
                        </a:lnSpc>
                        <a:buNone/>
                      </a:pPr>
                      <a:r>
                        <a:rPr lang="en-US" sz="1800"/>
                        <a:t>Complexity</a:t>
                      </a:r>
                    </a:p>
                  </a:txBody>
                  <a:tcPr anchor="ctr">
                    <a:lnL>
                      <a:noFill/>
                    </a:lnL>
                    <a:lnR>
                      <a:noFill/>
                    </a:lnR>
                    <a:lnT>
                      <a:noFill/>
                    </a:lnT>
                    <a:lnB>
                      <a:noFill/>
                    </a:lnB>
                    <a:noFill/>
                  </a:tcPr>
                </a:tc>
                <a:tc>
                  <a:txBody>
                    <a:bodyPr/>
                    <a:lstStyle/>
                    <a:p>
                      <a:pPr algn="l">
                        <a:lnSpc>
                          <a:spcPct val="150000"/>
                        </a:lnSpc>
                        <a:buNone/>
                      </a:pPr>
                      <a:r>
                        <a:rPr lang="zh-CN" altLang="en-US" sz="1800"/>
                        <a:t>复杂性</a:t>
                      </a:r>
                    </a:p>
                  </a:txBody>
                  <a:tcPr anchor="ctr">
                    <a:lnL>
                      <a:noFill/>
                    </a:lnL>
                    <a:lnR>
                      <a:noFill/>
                    </a:lnR>
                    <a:lnT>
                      <a:noFill/>
                    </a:lnT>
                    <a:lnB>
                      <a:noFill/>
                    </a:lnB>
                    <a:noFill/>
                  </a:tcPr>
                </a:tc>
                <a:tc>
                  <a:txBody>
                    <a:bodyPr/>
                    <a:lstStyle/>
                    <a:p>
                      <a:pPr algn="l">
                        <a:lnSpc>
                          <a:spcPct val="150000"/>
                        </a:lnSpc>
                        <a:buNone/>
                      </a:pPr>
                      <a:r>
                        <a:rPr lang="zh-CN" altLang="en-US" sz="1800" dirty="0"/>
                        <a:t>影响因素众多，相互交织，牵一发而动全身</a:t>
                      </a:r>
                    </a:p>
                    <a:p>
                      <a:pPr algn="l">
                        <a:lnSpc>
                          <a:spcPct val="150000"/>
                        </a:lnSpc>
                        <a:buNone/>
                      </a:pPr>
                      <a:r>
                        <a:rPr lang="zh-CN" altLang="en-US" sz="1800" dirty="0"/>
                        <a:t>单一解决方案无效，需要系统思考</a:t>
                      </a:r>
                    </a:p>
                  </a:txBody>
                  <a:tcPr anchor="ctr">
                    <a:lnL>
                      <a:noFill/>
                    </a:lnL>
                    <a:lnR>
                      <a:noFill/>
                    </a:lnR>
                    <a:lnT>
                      <a:noFill/>
                    </a:lnT>
                    <a:lnB>
                      <a:noFill/>
                    </a:lnB>
                    <a:noFill/>
                  </a:tcPr>
                </a:tc>
                <a:extLst>
                  <a:ext uri="{0D108BD9-81ED-4DB2-BD59-A6C34878D82A}">
                    <a16:rowId xmlns:a16="http://schemas.microsoft.com/office/drawing/2014/main" val="2329204373"/>
                  </a:ext>
                </a:extLst>
              </a:tr>
              <a:tr h="0">
                <a:tc>
                  <a:txBody>
                    <a:bodyPr/>
                    <a:lstStyle/>
                    <a:p>
                      <a:pPr algn="l">
                        <a:lnSpc>
                          <a:spcPct val="150000"/>
                        </a:lnSpc>
                        <a:buNone/>
                      </a:pPr>
                      <a:r>
                        <a:rPr lang="en-US" sz="1800"/>
                        <a:t>A</a:t>
                      </a:r>
                    </a:p>
                  </a:txBody>
                  <a:tcPr anchor="ctr">
                    <a:lnL>
                      <a:noFill/>
                    </a:lnL>
                    <a:lnR>
                      <a:noFill/>
                    </a:lnR>
                    <a:lnT>
                      <a:noFill/>
                    </a:lnT>
                    <a:lnB>
                      <a:noFill/>
                    </a:lnB>
                    <a:noFill/>
                  </a:tcPr>
                </a:tc>
                <a:tc>
                  <a:txBody>
                    <a:bodyPr/>
                    <a:lstStyle/>
                    <a:p>
                      <a:pPr algn="l">
                        <a:lnSpc>
                          <a:spcPct val="150000"/>
                        </a:lnSpc>
                        <a:buNone/>
                      </a:pPr>
                      <a:r>
                        <a:rPr lang="en-US" sz="1800"/>
                        <a:t>Ambiguity</a:t>
                      </a:r>
                    </a:p>
                  </a:txBody>
                  <a:tcPr anchor="ctr">
                    <a:lnL>
                      <a:noFill/>
                    </a:lnL>
                    <a:lnR>
                      <a:noFill/>
                    </a:lnR>
                    <a:lnT>
                      <a:noFill/>
                    </a:lnT>
                    <a:lnB>
                      <a:noFill/>
                    </a:lnB>
                    <a:noFill/>
                  </a:tcPr>
                </a:tc>
                <a:tc>
                  <a:txBody>
                    <a:bodyPr/>
                    <a:lstStyle/>
                    <a:p>
                      <a:pPr algn="l">
                        <a:lnSpc>
                          <a:spcPct val="150000"/>
                        </a:lnSpc>
                        <a:buNone/>
                      </a:pPr>
                      <a:r>
                        <a:rPr lang="zh-CN" altLang="en-US" sz="1800"/>
                        <a:t>模糊性</a:t>
                      </a:r>
                    </a:p>
                  </a:txBody>
                  <a:tcPr anchor="ctr">
                    <a:lnL>
                      <a:noFill/>
                    </a:lnL>
                    <a:lnR>
                      <a:noFill/>
                    </a:lnR>
                    <a:lnT>
                      <a:noFill/>
                    </a:lnT>
                    <a:lnB>
                      <a:noFill/>
                    </a:lnB>
                    <a:noFill/>
                  </a:tcPr>
                </a:tc>
                <a:tc>
                  <a:txBody>
                    <a:bodyPr/>
                    <a:lstStyle/>
                    <a:p>
                      <a:pPr algn="l">
                        <a:lnSpc>
                          <a:spcPct val="150000"/>
                        </a:lnSpc>
                        <a:buNone/>
                      </a:pPr>
                      <a:r>
                        <a:rPr lang="zh-CN" altLang="en-US" sz="1800" dirty="0"/>
                        <a:t>情况模棱两可，容易产生误解，没有先例可循</a:t>
                      </a:r>
                    </a:p>
                    <a:p>
                      <a:pPr algn="l">
                        <a:lnSpc>
                          <a:spcPct val="150000"/>
                        </a:lnSpc>
                        <a:buNone/>
                      </a:pPr>
                      <a:r>
                        <a:rPr lang="zh-CN" altLang="en-US" sz="1800" dirty="0"/>
                        <a:t>目标不清晰，需求难以定义</a:t>
                      </a:r>
                    </a:p>
                  </a:txBody>
                  <a:tcPr anchor="ctr">
                    <a:lnL>
                      <a:noFill/>
                    </a:lnL>
                    <a:lnR>
                      <a:noFill/>
                    </a:lnR>
                    <a:lnT>
                      <a:noFill/>
                    </a:lnT>
                    <a:lnB>
                      <a:noFill/>
                    </a:lnB>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dirty="0"/>
              <a:t>4.1 </a:t>
            </a:r>
            <a:r>
              <a:rPr lang="zh-CN" altLang="en-US" dirty="0"/>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dirty="0"/>
              <a:t>Agile Development</a:t>
            </a:r>
            <a:endParaRPr lang="zh-CN" altLang="en-US" dirty="0"/>
          </a:p>
        </p:txBody>
      </p:sp>
      <p:graphicFrame>
        <p:nvGraphicFramePr>
          <p:cNvPr id="11" name="内容占位符 3">
            <a:extLst>
              <a:ext uri="{FF2B5EF4-FFF2-40B4-BE49-F238E27FC236}">
                <a16:creationId xmlns:a16="http://schemas.microsoft.com/office/drawing/2014/main" id="{F12644EE-1C65-2AC4-8703-86F2FAA448FB}"/>
              </a:ext>
            </a:extLst>
          </p:cNvPr>
          <p:cNvGraphicFramePr>
            <a:graphicFrameLocks noChangeAspect="1"/>
          </p:cNvGraphicFramePr>
          <p:nvPr>
            <p:extLst>
              <p:ext uri="{D42A27DB-BD31-4B8C-83A1-F6EECF244321}">
                <p14:modId xmlns:p14="http://schemas.microsoft.com/office/powerpoint/2010/main" val="3490837002"/>
              </p:ext>
            </p:extLst>
          </p:nvPr>
        </p:nvGraphicFramePr>
        <p:xfrm>
          <a:off x="695324" y="1611984"/>
          <a:ext cx="10532000" cy="4579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dirty="0"/>
              <a:t>Case 1 Client </a:t>
            </a:r>
            <a:r>
              <a:rPr lang="zh-CN" altLang="en-US" sz="1400" dirty="0"/>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dirty="0"/>
              <a:t>Case 2 Client </a:t>
            </a:r>
            <a:r>
              <a:rPr lang="zh-CN" altLang="en-US" sz="1400" dirty="0"/>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dirty="0"/>
              <a:t>Case 3 Client </a:t>
            </a:r>
            <a:r>
              <a:rPr lang="zh-CN" altLang="en-US" sz="1400" dirty="0"/>
              <a:t>知道并清晰传达需求</a:t>
            </a:r>
            <a:endParaRPr lang="en-US" altLang="zh-CN" sz="1400" dirty="0"/>
          </a:p>
          <a:p>
            <a:r>
              <a:rPr lang="zh-CN" altLang="en-US" sz="1400" dirty="0"/>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dirty="0"/>
              <a:t>Case 4 </a:t>
            </a:r>
            <a:r>
              <a:rPr lang="zh-CN" altLang="en-US" sz="1400" dirty="0"/>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dirty="0"/>
              <a:t>Case 5 </a:t>
            </a:r>
            <a:r>
              <a:rPr lang="zh-CN" altLang="en-US" sz="1400" dirty="0"/>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7"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Tree>
    <p:extLst>
      <p:ext uri="{BB962C8B-B14F-4D97-AF65-F5344CB8AC3E}">
        <p14:creationId xmlns:p14="http://schemas.microsoft.com/office/powerpoint/2010/main" val="36429072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dirty="0"/>
              <a:t>4.2 </a:t>
            </a:r>
            <a:r>
              <a:rPr lang="zh-CN" altLang="en-US" dirty="0"/>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 </a:t>
            </a:r>
            <a:r>
              <a:rPr lang="en-US" altLang="zh-CN" dirty="0"/>
              <a:t> Thinking</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dirty="0"/>
              <a:t>Agile Manifesto</a:t>
            </a:r>
            <a:endParaRPr lang="zh-CN" altLang="en-US" dirty="0"/>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dirty="0"/>
              <a:t>4.2.1 </a:t>
            </a:r>
            <a:r>
              <a:rPr lang="zh-CN" altLang="en-US" dirty="0"/>
              <a:t>敏捷宣言四个核心价值</a:t>
            </a:r>
            <a:endParaRPr lang="en-US" altLang="zh-CN" dirty="0"/>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864000"/>
            <a:ext cx="10800000" cy="5400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2313" y="448846"/>
            <a:ext cx="4424362" cy="338554"/>
          </a:xfrm>
        </p:spPr>
        <p:txBody>
          <a:bodyPr/>
          <a:lstStyle/>
          <a:p>
            <a:r>
              <a:rPr lang="en-US" altLang="zh-CN" dirty="0"/>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273179"/>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273179"/>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27922"/>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27922"/>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782665"/>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782665"/>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537408"/>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537408"/>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3362206"/>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3362206"/>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4116949"/>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4116949"/>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4871692"/>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4871692"/>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5626435"/>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5626435"/>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4032588"/>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t>over</a:t>
            </a:r>
            <a:endParaRPr lang="zh-CN" altLang="en-US" dirty="0"/>
          </a:p>
        </p:txBody>
      </p:sp>
      <p:sp>
        <p:nvSpPr>
          <p:cNvPr id="6" name="椭圆 5">
            <a:extLst>
              <a:ext uri="{FF2B5EF4-FFF2-40B4-BE49-F238E27FC236}">
                <a16:creationId xmlns:a16="http://schemas.microsoft.com/office/drawing/2014/main" id="{6900F5E0-4106-1950-B85B-99633AD2659E}"/>
              </a:ext>
            </a:extLst>
          </p:cNvPr>
          <p:cNvSpPr/>
          <p:nvPr/>
        </p:nvSpPr>
        <p:spPr>
          <a:xfrm>
            <a:off x="5664000" y="3277845"/>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t>over</a:t>
            </a:r>
            <a:endParaRPr lang="zh-CN" altLang="en-US" sz="1600" dirty="0"/>
          </a:p>
        </p:txBody>
      </p:sp>
      <p:sp>
        <p:nvSpPr>
          <p:cNvPr id="7" name="椭圆 6">
            <a:extLst>
              <a:ext uri="{FF2B5EF4-FFF2-40B4-BE49-F238E27FC236}">
                <a16:creationId xmlns:a16="http://schemas.microsoft.com/office/drawing/2014/main" id="{DA023A71-64A8-65B7-D208-F51499E3C351}"/>
              </a:ext>
            </a:extLst>
          </p:cNvPr>
          <p:cNvSpPr/>
          <p:nvPr/>
        </p:nvSpPr>
        <p:spPr>
          <a:xfrm>
            <a:off x="5664000" y="4787331"/>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dirty="0"/>
              <a:t>over</a:t>
            </a:r>
            <a:endParaRPr lang="zh-CN" altLang="en-US" dirty="0"/>
          </a:p>
        </p:txBody>
      </p:sp>
      <p:sp>
        <p:nvSpPr>
          <p:cNvPr id="8" name="椭圆 7">
            <a:extLst>
              <a:ext uri="{FF2B5EF4-FFF2-40B4-BE49-F238E27FC236}">
                <a16:creationId xmlns:a16="http://schemas.microsoft.com/office/drawing/2014/main" id="{5143D818-39E5-8E6C-464D-9035C1B36C3D}"/>
              </a:ext>
            </a:extLst>
          </p:cNvPr>
          <p:cNvSpPr/>
          <p:nvPr/>
        </p:nvSpPr>
        <p:spPr>
          <a:xfrm>
            <a:off x="5664000" y="5542074"/>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t>over</a:t>
            </a:r>
            <a:endParaRPr lang="zh-CN" altLang="en-US" dirty="0"/>
          </a:p>
        </p:txBody>
      </p:sp>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dirty="0"/>
              <a:t>4.2.2 </a:t>
            </a:r>
            <a:r>
              <a:rPr lang="zh-CN" altLang="en-US" dirty="0"/>
              <a:t>敏捷宣言十二项原则</a:t>
            </a:r>
            <a:endParaRPr lang="en-US" altLang="zh-CN" dirty="0"/>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864000"/>
            <a:ext cx="10800000" cy="5400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dirty="0"/>
              <a:t>12 Principles/Agile Manifesto</a:t>
            </a:r>
          </a:p>
        </p:txBody>
      </p:sp>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366644305"/>
              </p:ext>
            </p:extLst>
          </p:nvPr>
        </p:nvGraphicFramePr>
        <p:xfrm>
          <a:off x="695325" y="1464785"/>
          <a:ext cx="10801350" cy="392843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50000"/>
                        </a:lnSpc>
                        <a:buNone/>
                      </a:pPr>
                      <a:r>
                        <a:rPr lang="zh-CN" altLang="en-US" sz="1800" dirty="0">
                          <a:solidFill>
                            <a:schemeClr val="bg1"/>
                          </a:solidFill>
                        </a:rPr>
                        <a:t>维度</a:t>
                      </a:r>
                    </a:p>
                  </a:txBody>
                  <a:tcPr anchor="ctr">
                    <a:lnL>
                      <a:noFill/>
                    </a:lnL>
                    <a:lnR>
                      <a:noFill/>
                    </a:lnR>
                    <a:lnT>
                      <a:noFill/>
                    </a:lnT>
                    <a:lnB>
                      <a:noFill/>
                    </a:lnB>
                    <a:solidFill>
                      <a:schemeClr val="accent2"/>
                    </a:solidFill>
                  </a:tcPr>
                </a:tc>
                <a:tc>
                  <a:txBody>
                    <a:bodyPr/>
                    <a:lstStyle/>
                    <a:p>
                      <a:pPr algn="l">
                        <a:lnSpc>
                          <a:spcPct val="150000"/>
                        </a:lnSpc>
                        <a:buNone/>
                      </a:pPr>
                      <a:r>
                        <a:rPr lang="zh-CN" altLang="en-US" sz="1800" dirty="0">
                          <a:solidFill>
                            <a:schemeClr val="bg1"/>
                          </a:solidFill>
                        </a:rPr>
                        <a:t>敏捷 </a:t>
                      </a:r>
                      <a:r>
                        <a:rPr lang="en-US" altLang="zh-CN" sz="1800" dirty="0">
                          <a:solidFill>
                            <a:schemeClr val="bg1"/>
                          </a:solidFill>
                        </a:rPr>
                        <a:t>12 </a:t>
                      </a:r>
                      <a:r>
                        <a:rPr lang="zh-CN" altLang="en-US" sz="1800" dirty="0">
                          <a:solidFill>
                            <a:schemeClr val="bg1"/>
                          </a:solidFill>
                        </a:rPr>
                        <a:t>原则</a:t>
                      </a:r>
                    </a:p>
                  </a:txBody>
                  <a:tcPr anchor="ctr">
                    <a:lnL>
                      <a:noFill/>
                    </a:lnL>
                    <a:lnR>
                      <a:noFill/>
                    </a:lnR>
                    <a:lnT>
                      <a:noFill/>
                    </a:lnT>
                    <a:lnB>
                      <a:noFill/>
                    </a:lnB>
                    <a:solidFill>
                      <a:schemeClr val="accent2"/>
                    </a:solidFill>
                  </a:tcPr>
                </a:tc>
                <a:tc>
                  <a:txBody>
                    <a:bodyPr/>
                    <a:lstStyle/>
                    <a:p>
                      <a:pPr algn="l">
                        <a:lnSpc>
                          <a:spcPct val="150000"/>
                        </a:lnSpc>
                        <a:buNone/>
                      </a:pPr>
                      <a:r>
                        <a:rPr lang="en-US" sz="1800" dirty="0">
                          <a:solidFill>
                            <a:schemeClr val="bg1"/>
                          </a:solidFill>
                        </a:rPr>
                        <a:t>PMBOK 7 </a:t>
                      </a:r>
                      <a:r>
                        <a:rPr lang="zh-CN" altLang="en-US" sz="1800" dirty="0">
                          <a:solidFill>
                            <a:schemeClr val="bg1"/>
                          </a:solidFill>
                        </a:rPr>
                        <a:t>的 </a:t>
                      </a:r>
                      <a:r>
                        <a:rPr lang="en-US" altLang="zh-CN" sz="1800" dirty="0">
                          <a:solidFill>
                            <a:schemeClr val="bg1"/>
                          </a:solidFill>
                        </a:rPr>
                        <a:t>12 </a:t>
                      </a:r>
                      <a:r>
                        <a:rPr lang="zh-CN" altLang="en-US" sz="1800" dirty="0">
                          <a:solidFill>
                            <a:schemeClr val="bg1"/>
                          </a:solidFill>
                        </a:rPr>
                        <a:t>原则</a:t>
                      </a:r>
                    </a:p>
                  </a:txBody>
                  <a:tcPr anchor="ctr">
                    <a:lnL>
                      <a:noFill/>
                    </a:lnL>
                    <a:lnR>
                      <a:noFill/>
                    </a:lnR>
                    <a:lnT>
                      <a:noFill/>
                    </a:lnT>
                    <a:lnB>
                      <a:noFill/>
                    </a:lnB>
                    <a:solidFill>
                      <a:schemeClr val="accent2"/>
                    </a:solidFill>
                  </a:tcPr>
                </a:tc>
                <a:extLst>
                  <a:ext uri="{0D108BD9-81ED-4DB2-BD59-A6C34878D82A}">
                    <a16:rowId xmlns:a16="http://schemas.microsoft.com/office/drawing/2014/main" val="2799584510"/>
                  </a:ext>
                </a:extLst>
              </a:tr>
              <a:tr h="0">
                <a:tc>
                  <a:txBody>
                    <a:bodyPr/>
                    <a:lstStyle/>
                    <a:p>
                      <a:pPr algn="l">
                        <a:lnSpc>
                          <a:spcPct val="150000"/>
                        </a:lnSpc>
                        <a:buNone/>
                      </a:pPr>
                      <a:r>
                        <a:rPr lang="zh-CN" altLang="en-US" sz="1800"/>
                        <a:t>适用范围</a:t>
                      </a:r>
                    </a:p>
                  </a:txBody>
                  <a:tcPr anchor="ctr">
                    <a:lnL>
                      <a:noFill/>
                    </a:lnL>
                    <a:lnR>
                      <a:noFill/>
                    </a:lnR>
                    <a:lnT>
                      <a:noFill/>
                    </a:lnT>
                    <a:lnB>
                      <a:noFill/>
                    </a:lnB>
                    <a:noFill/>
                  </a:tcPr>
                </a:tc>
                <a:tc>
                  <a:txBody>
                    <a:bodyPr/>
                    <a:lstStyle/>
                    <a:p>
                      <a:pPr algn="l">
                        <a:lnSpc>
                          <a:spcPct val="150000"/>
                        </a:lnSpc>
                        <a:buNone/>
                      </a:pPr>
                      <a:r>
                        <a:rPr lang="zh-CN" altLang="en-US" sz="1800" dirty="0"/>
                        <a:t>狭义</a:t>
                      </a:r>
                      <a:endParaRPr lang="en-US" altLang="zh-CN" sz="1800" dirty="0"/>
                    </a:p>
                    <a:p>
                      <a:pPr algn="l">
                        <a:lnSpc>
                          <a:spcPct val="150000"/>
                        </a:lnSpc>
                        <a:buNone/>
                      </a:pPr>
                      <a:r>
                        <a:rPr lang="zh-CN" altLang="en-US" sz="1800" dirty="0"/>
                        <a:t>主要针对软件开发、</a:t>
                      </a:r>
                      <a:r>
                        <a:rPr lang="en-US" altLang="zh-CN" sz="1800" dirty="0"/>
                        <a:t>IT </a:t>
                      </a:r>
                      <a:r>
                        <a:rPr lang="zh-CN" altLang="en-US" sz="1800" dirty="0"/>
                        <a:t>项目</a:t>
                      </a:r>
                    </a:p>
                  </a:txBody>
                  <a:tcPr anchor="ctr">
                    <a:lnL>
                      <a:noFill/>
                    </a:lnL>
                    <a:lnR>
                      <a:noFill/>
                    </a:lnR>
                    <a:lnT>
                      <a:noFill/>
                    </a:lnT>
                    <a:lnB>
                      <a:noFill/>
                    </a:lnB>
                    <a:noFill/>
                  </a:tcPr>
                </a:tc>
                <a:tc>
                  <a:txBody>
                    <a:bodyPr/>
                    <a:lstStyle/>
                    <a:p>
                      <a:pPr algn="l">
                        <a:lnSpc>
                          <a:spcPct val="150000"/>
                        </a:lnSpc>
                        <a:buNone/>
                      </a:pPr>
                      <a:r>
                        <a:rPr lang="zh-CN" altLang="en-US" sz="1800" dirty="0"/>
                        <a:t>广义</a:t>
                      </a:r>
                      <a:endParaRPr lang="en-US" altLang="zh-CN" sz="1800" dirty="0"/>
                    </a:p>
                    <a:p>
                      <a:pPr algn="l">
                        <a:lnSpc>
                          <a:spcPct val="150000"/>
                        </a:lnSpc>
                        <a:buNone/>
                      </a:pPr>
                      <a:r>
                        <a:rPr lang="zh-CN" altLang="en-US" sz="1800" dirty="0"/>
                        <a:t>适用于建筑、医疗、活动、软件、制造等所有行业</a:t>
                      </a:r>
                    </a:p>
                  </a:txBody>
                  <a:tcPr anchor="ctr">
                    <a:lnL>
                      <a:noFill/>
                    </a:lnL>
                    <a:lnR>
                      <a:noFill/>
                    </a:lnR>
                    <a:lnT>
                      <a:noFill/>
                    </a:lnT>
                    <a:lnB>
                      <a:noFill/>
                    </a:lnB>
                    <a:noFill/>
                  </a:tcPr>
                </a:tc>
                <a:extLst>
                  <a:ext uri="{0D108BD9-81ED-4DB2-BD59-A6C34878D82A}">
                    <a16:rowId xmlns:a16="http://schemas.microsoft.com/office/drawing/2014/main" val="2047923211"/>
                  </a:ext>
                </a:extLst>
              </a:tr>
              <a:tr h="0">
                <a:tc>
                  <a:txBody>
                    <a:bodyPr/>
                    <a:lstStyle/>
                    <a:p>
                      <a:pPr algn="l">
                        <a:lnSpc>
                          <a:spcPct val="150000"/>
                        </a:lnSpc>
                        <a:buNone/>
                      </a:pPr>
                      <a:r>
                        <a:rPr lang="zh-CN" altLang="en-US" sz="1800"/>
                        <a:t>关注点</a:t>
                      </a:r>
                    </a:p>
                  </a:txBody>
                  <a:tcPr anchor="ctr">
                    <a:lnL>
                      <a:noFill/>
                    </a:lnL>
                    <a:lnR>
                      <a:noFill/>
                    </a:lnR>
                    <a:lnT>
                      <a:noFill/>
                    </a:lnT>
                    <a:lnB>
                      <a:noFill/>
                    </a:lnB>
                    <a:noFill/>
                  </a:tcPr>
                </a:tc>
                <a:tc>
                  <a:txBody>
                    <a:bodyPr/>
                    <a:lstStyle/>
                    <a:p>
                      <a:pPr algn="l">
                        <a:lnSpc>
                          <a:spcPct val="150000"/>
                        </a:lnSpc>
                        <a:buNone/>
                      </a:pPr>
                      <a:r>
                        <a:rPr lang="zh-CN" altLang="en-US" sz="1800" dirty="0"/>
                        <a:t>怎么做软件</a:t>
                      </a:r>
                      <a:endParaRPr lang="en-US" altLang="zh-CN" sz="1800" dirty="0"/>
                    </a:p>
                    <a:p>
                      <a:pPr algn="l">
                        <a:lnSpc>
                          <a:spcPct val="150000"/>
                        </a:lnSpc>
                        <a:buNone/>
                      </a:pPr>
                      <a:r>
                        <a:rPr lang="zh-CN" altLang="en-US" sz="1800" dirty="0"/>
                        <a:t>强调迭代、代码、客户协作</a:t>
                      </a:r>
                    </a:p>
                  </a:txBody>
                  <a:tcPr anchor="ctr">
                    <a:lnL>
                      <a:noFill/>
                    </a:lnL>
                    <a:lnR>
                      <a:noFill/>
                    </a:lnR>
                    <a:lnT>
                      <a:noFill/>
                    </a:lnT>
                    <a:lnB>
                      <a:noFill/>
                    </a:lnB>
                    <a:noFill/>
                  </a:tcPr>
                </a:tc>
                <a:tc>
                  <a:txBody>
                    <a:bodyPr/>
                    <a:lstStyle/>
                    <a:p>
                      <a:pPr algn="l">
                        <a:lnSpc>
                          <a:spcPct val="150000"/>
                        </a:lnSpc>
                        <a:buNone/>
                      </a:pPr>
                      <a:r>
                        <a:rPr lang="zh-CN" altLang="en-US" sz="1800" dirty="0"/>
                        <a:t>怎么管项目</a:t>
                      </a:r>
                      <a:endParaRPr lang="en-US" altLang="zh-CN" sz="1800" dirty="0"/>
                    </a:p>
                    <a:p>
                      <a:pPr algn="l">
                        <a:lnSpc>
                          <a:spcPct val="150000"/>
                        </a:lnSpc>
                        <a:buNone/>
                      </a:pPr>
                      <a:r>
                        <a:rPr lang="zh-CN" altLang="en-US" sz="1800" dirty="0"/>
                        <a:t>强调价值、系统、道德、领导力、不确定性</a:t>
                      </a:r>
                    </a:p>
                  </a:txBody>
                  <a:tcPr anchor="ctr">
                    <a:lnL>
                      <a:noFill/>
                    </a:lnL>
                    <a:lnR>
                      <a:noFill/>
                    </a:lnR>
                    <a:lnT>
                      <a:noFill/>
                    </a:lnT>
                    <a:lnB>
                      <a:noFill/>
                    </a:lnB>
                    <a:noFill/>
                  </a:tcPr>
                </a:tc>
                <a:extLst>
                  <a:ext uri="{0D108BD9-81ED-4DB2-BD59-A6C34878D82A}">
                    <a16:rowId xmlns:a16="http://schemas.microsoft.com/office/drawing/2014/main" val="411556770"/>
                  </a:ext>
                </a:extLst>
              </a:tr>
              <a:tr h="0">
                <a:tc>
                  <a:txBody>
                    <a:bodyPr/>
                    <a:lstStyle/>
                    <a:p>
                      <a:pPr algn="l">
                        <a:lnSpc>
                          <a:spcPct val="150000"/>
                        </a:lnSpc>
                        <a:buNone/>
                      </a:pPr>
                      <a:r>
                        <a:rPr lang="zh-CN" altLang="en-US" sz="1800"/>
                        <a:t>语言风格</a:t>
                      </a:r>
                    </a:p>
                  </a:txBody>
                  <a:tcPr anchor="ctr">
                    <a:lnL>
                      <a:noFill/>
                    </a:lnL>
                    <a:lnR>
                      <a:noFill/>
                    </a:lnR>
                    <a:lnT>
                      <a:noFill/>
                    </a:lnT>
                    <a:lnB>
                      <a:noFill/>
                    </a:lnB>
                    <a:noFill/>
                  </a:tcPr>
                </a:tc>
                <a:tc>
                  <a:txBody>
                    <a:bodyPr/>
                    <a:lstStyle/>
                    <a:p>
                      <a:pPr algn="l">
                        <a:lnSpc>
                          <a:spcPct val="150000"/>
                        </a:lnSpc>
                        <a:buNone/>
                      </a:pPr>
                      <a:r>
                        <a:rPr lang="zh-CN" altLang="en-US" sz="1800" dirty="0"/>
                        <a:t>行动导向</a:t>
                      </a:r>
                      <a:endParaRPr lang="en-US" altLang="zh-CN" sz="1800" dirty="0"/>
                    </a:p>
                    <a:p>
                      <a:pPr algn="l">
                        <a:lnSpc>
                          <a:spcPct val="150000"/>
                        </a:lnSpc>
                        <a:buNone/>
                      </a:pPr>
                      <a:r>
                        <a:rPr lang="zh-CN" altLang="en-US" sz="1800" dirty="0"/>
                        <a:t>交付软件、欢迎变更、每天一起</a:t>
                      </a:r>
                    </a:p>
                  </a:txBody>
                  <a:tcPr anchor="ctr">
                    <a:lnL>
                      <a:noFill/>
                    </a:lnL>
                    <a:lnR>
                      <a:noFill/>
                    </a:lnR>
                    <a:lnT>
                      <a:noFill/>
                    </a:lnT>
                    <a:lnB>
                      <a:noFill/>
                    </a:lnB>
                    <a:noFill/>
                  </a:tcPr>
                </a:tc>
                <a:tc>
                  <a:txBody>
                    <a:bodyPr/>
                    <a:lstStyle/>
                    <a:p>
                      <a:pPr algn="l">
                        <a:lnSpc>
                          <a:spcPct val="150000"/>
                        </a:lnSpc>
                        <a:buNone/>
                      </a:pPr>
                      <a:r>
                        <a:rPr lang="zh-CN" altLang="en-US" sz="1800" dirty="0"/>
                        <a:t>思维导向</a:t>
                      </a:r>
                      <a:endParaRPr lang="en-US" altLang="zh-CN" sz="1800" dirty="0"/>
                    </a:p>
                    <a:p>
                      <a:pPr algn="l">
                        <a:lnSpc>
                          <a:spcPct val="150000"/>
                        </a:lnSpc>
                        <a:buNone/>
                      </a:pPr>
                      <a:r>
                        <a:rPr lang="zh-CN" altLang="en-US" sz="1800" dirty="0"/>
                        <a:t>聚焦价值、系统思考、驾驭复杂性</a:t>
                      </a:r>
                    </a:p>
                  </a:txBody>
                  <a:tcPr anchor="ctr">
                    <a:lnL>
                      <a:noFill/>
                    </a:lnL>
                    <a:lnR>
                      <a:noFill/>
                    </a:lnR>
                    <a:lnT>
                      <a:noFill/>
                    </a:lnT>
                    <a:lnB>
                      <a:noFill/>
                    </a:lnB>
                    <a:noFill/>
                  </a:tcPr>
                </a:tc>
                <a:extLst>
                  <a:ext uri="{0D108BD9-81ED-4DB2-BD59-A6C34878D82A}">
                    <a16:rowId xmlns:a16="http://schemas.microsoft.com/office/drawing/2014/main" val="590702870"/>
                  </a:ext>
                </a:extLst>
              </a:tr>
              <a:tr h="0">
                <a:tc>
                  <a:txBody>
                    <a:bodyPr/>
                    <a:lstStyle/>
                    <a:p>
                      <a:pPr algn="l">
                        <a:lnSpc>
                          <a:spcPct val="150000"/>
                        </a:lnSpc>
                        <a:buNone/>
                      </a:pPr>
                      <a:r>
                        <a:rPr lang="zh-CN" altLang="en-US" sz="1800"/>
                        <a:t>对瀑布的态度</a:t>
                      </a:r>
                    </a:p>
                  </a:txBody>
                  <a:tcPr anchor="ctr">
                    <a:lnL>
                      <a:noFill/>
                    </a:lnL>
                    <a:lnR>
                      <a:noFill/>
                    </a:lnR>
                    <a:lnT>
                      <a:noFill/>
                    </a:lnT>
                    <a:lnB>
                      <a:noFill/>
                    </a:lnB>
                    <a:noFill/>
                  </a:tcPr>
                </a:tc>
                <a:tc>
                  <a:txBody>
                    <a:bodyPr/>
                    <a:lstStyle/>
                    <a:p>
                      <a:pPr algn="l">
                        <a:lnSpc>
                          <a:spcPct val="150000"/>
                        </a:lnSpc>
                        <a:buNone/>
                      </a:pPr>
                      <a:r>
                        <a:rPr lang="zh-CN" altLang="en-US" sz="1800" dirty="0"/>
                        <a:t>隐含对立</a:t>
                      </a:r>
                      <a:endParaRPr lang="en-US" altLang="zh-CN" sz="1800" dirty="0"/>
                    </a:p>
                    <a:p>
                      <a:pPr algn="l">
                        <a:lnSpc>
                          <a:spcPct val="150000"/>
                        </a:lnSpc>
                        <a:buNone/>
                      </a:pPr>
                      <a:r>
                        <a:rPr lang="zh-CN" altLang="en-US" sz="1800" dirty="0"/>
                        <a:t>旨在解决瀑布的痛点</a:t>
                      </a:r>
                    </a:p>
                  </a:txBody>
                  <a:tcPr anchor="ctr">
                    <a:lnL>
                      <a:noFill/>
                    </a:lnL>
                    <a:lnR>
                      <a:noFill/>
                    </a:lnR>
                    <a:lnT>
                      <a:noFill/>
                    </a:lnT>
                    <a:lnB>
                      <a:noFill/>
                    </a:lnB>
                    <a:noFill/>
                  </a:tcPr>
                </a:tc>
                <a:tc>
                  <a:txBody>
                    <a:bodyPr/>
                    <a:lstStyle/>
                    <a:p>
                      <a:pPr algn="l">
                        <a:lnSpc>
                          <a:spcPct val="150000"/>
                        </a:lnSpc>
                        <a:buNone/>
                      </a:pPr>
                      <a:r>
                        <a:rPr lang="zh-CN" altLang="en-US" sz="1800" dirty="0"/>
                        <a:t>包容融合</a:t>
                      </a:r>
                      <a:endParaRPr lang="en-US" altLang="zh-CN" sz="1800" dirty="0"/>
                    </a:p>
                    <a:p>
                      <a:pPr algn="l">
                        <a:lnSpc>
                          <a:spcPct val="150000"/>
                        </a:lnSpc>
                        <a:buNone/>
                      </a:pPr>
                      <a:r>
                        <a:rPr lang="zh-CN" altLang="en-US" sz="1800" dirty="0"/>
                        <a:t>认为瀑布、敏捷、混合都是工具，视情况裁</a:t>
                      </a:r>
                      <a:endParaRPr lang="en-US" sz="1800" dirty="0"/>
                    </a:p>
                  </a:txBody>
                  <a:tcPr anchor="ctr">
                    <a:lnL>
                      <a:noFill/>
                    </a:lnL>
                    <a:lnR>
                      <a:noFill/>
                    </a:lnR>
                    <a:lnT>
                      <a:noFill/>
                    </a:lnT>
                    <a:lnB>
                      <a:noFill/>
                    </a:lnB>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C600F142-5D49-7E6C-236A-3C504C02009D}"/>
              </a:ext>
            </a:extLst>
          </p:cNvPr>
          <p:cNvGrpSpPr/>
          <p:nvPr/>
        </p:nvGrpSpPr>
        <p:grpSpPr>
          <a:xfrm>
            <a:off x="696000" y="1634185"/>
            <a:ext cx="10800000" cy="707886"/>
            <a:chOff x="857839" y="659874"/>
            <a:chExt cx="10800000" cy="707886"/>
          </a:xfrm>
        </p:grpSpPr>
        <p:sp>
          <p:nvSpPr>
            <p:cNvPr id="2" name="TextBox 1">
              <a:extLst>
                <a:ext uri="{FF2B5EF4-FFF2-40B4-BE49-F238E27FC236}">
                  <a16:creationId xmlns:a16="http://schemas.microsoft.com/office/drawing/2014/main" id="{B9A2579A-7991-8170-C68A-F9CEF1A76145}"/>
                </a:ext>
              </a:extLst>
            </p:cNvPr>
            <p:cNvSpPr txBox="1"/>
            <p:nvPr/>
          </p:nvSpPr>
          <p:spPr>
            <a:xfrm>
              <a:off x="5444219" y="659874"/>
              <a:ext cx="1303562" cy="369332"/>
            </a:xfrm>
            <a:prstGeom prst="rect">
              <a:avLst/>
            </a:prstGeom>
            <a:noFill/>
          </p:spPr>
          <p:txBody>
            <a:bodyPr wrap="none" rtlCol="0">
              <a:spAutoFit/>
            </a:bodyPr>
            <a:lstStyle/>
            <a:p>
              <a:pPr algn="ctr"/>
              <a:r>
                <a:rPr lang="en-US" altLang="zh-CN" dirty="0"/>
                <a:t>Drill Time</a:t>
              </a:r>
              <a:endParaRPr lang="zh-CN" altLang="en-US" dirty="0"/>
            </a:p>
          </p:txBody>
        </p:sp>
        <p:cxnSp>
          <p:nvCxnSpPr>
            <p:cNvPr id="4" name="Straight Connector 3">
              <a:extLst>
                <a:ext uri="{FF2B5EF4-FFF2-40B4-BE49-F238E27FC236}">
                  <a16:creationId xmlns:a16="http://schemas.microsoft.com/office/drawing/2014/main" id="{F281C4A3-AF05-2B8C-CDD1-6B73F4F5F1A7}"/>
                </a:ext>
              </a:extLst>
            </p:cNvPr>
            <p:cNvCxnSpPr>
              <a:cxnSpLocks/>
            </p:cNvCxnSpPr>
            <p:nvPr/>
          </p:nvCxnSpPr>
          <p:spPr>
            <a:xfrm>
              <a:off x="857839" y="1029206"/>
              <a:ext cx="10800000" cy="0"/>
            </a:xfrm>
            <a:prstGeom prst="line">
              <a:avLst/>
            </a:prstGeom>
            <a:ln w="38100">
              <a:gradFill>
                <a:gsLst>
                  <a:gs pos="70000">
                    <a:schemeClr val="accent2"/>
                  </a:gs>
                  <a:gs pos="0">
                    <a:schemeClr val="bg1"/>
                  </a:gs>
                  <a:gs pos="30000">
                    <a:schemeClr val="accent2"/>
                  </a:gs>
                  <a:gs pos="100000">
                    <a:schemeClr val="bg1"/>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61491F43-1C72-498A-92DF-DA20EF9A2E78}"/>
                </a:ext>
              </a:extLst>
            </p:cNvPr>
            <p:cNvSpPr txBox="1"/>
            <p:nvPr/>
          </p:nvSpPr>
          <p:spPr>
            <a:xfrm>
              <a:off x="5581276" y="1029206"/>
              <a:ext cx="1029449" cy="338554"/>
            </a:xfrm>
            <a:prstGeom prst="rect">
              <a:avLst/>
            </a:prstGeom>
            <a:noFill/>
          </p:spPr>
          <p:txBody>
            <a:bodyPr wrap="none" rtlCol="0">
              <a:spAutoFit/>
            </a:bodyPr>
            <a:lstStyle/>
            <a:p>
              <a:pPr algn="ctr"/>
              <a:r>
                <a:rPr lang="en-US" altLang="zh-CN" sz="1600" dirty="0"/>
                <a:t>P35-P36</a:t>
              </a:r>
              <a:endParaRPr lang="zh-CN" altLang="en-US" sz="1600" dirty="0"/>
            </a:p>
          </p:txBody>
        </p:sp>
      </p:grpSp>
    </p:spTree>
    <p:extLst>
      <p:ext uri="{BB962C8B-B14F-4D97-AF65-F5344CB8AC3E}">
        <p14:creationId xmlns:p14="http://schemas.microsoft.com/office/powerpoint/2010/main" val="29635496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732D8F67-9E6D-AD82-A5B6-6FC096E7C1C6}"/>
              </a:ext>
            </a:extLst>
          </p:cNvPr>
          <p:cNvGrpSpPr/>
          <p:nvPr/>
        </p:nvGrpSpPr>
        <p:grpSpPr>
          <a:xfrm>
            <a:off x="696000" y="1634185"/>
            <a:ext cx="10800000" cy="707886"/>
            <a:chOff x="857839" y="659874"/>
            <a:chExt cx="10800000" cy="707886"/>
          </a:xfrm>
        </p:grpSpPr>
        <p:sp>
          <p:nvSpPr>
            <p:cNvPr id="3" name="TextBox 2">
              <a:extLst>
                <a:ext uri="{FF2B5EF4-FFF2-40B4-BE49-F238E27FC236}">
                  <a16:creationId xmlns:a16="http://schemas.microsoft.com/office/drawing/2014/main" id="{AD5F130A-5A7A-C77B-A15E-E3CB82E0688C}"/>
                </a:ext>
              </a:extLst>
            </p:cNvPr>
            <p:cNvSpPr txBox="1"/>
            <p:nvPr/>
          </p:nvSpPr>
          <p:spPr>
            <a:xfrm>
              <a:off x="857839" y="659874"/>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857839" y="1029206"/>
              <a:ext cx="10800000" cy="0"/>
            </a:xfrm>
            <a:prstGeom prst="line">
              <a:avLst/>
            </a:prstGeom>
            <a:ln w="38100">
              <a:gradFill>
                <a:gsLst>
                  <a:gs pos="70000">
                    <a:schemeClr val="accent2"/>
                  </a:gs>
                  <a:gs pos="0">
                    <a:schemeClr val="accent2"/>
                  </a:gs>
                  <a:gs pos="100000">
                    <a:schemeClr val="bg1"/>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857839" y="1029206"/>
              <a:ext cx="3877986" cy="338554"/>
            </a:xfrm>
            <a:prstGeom prst="rect">
              <a:avLst/>
            </a:prstGeom>
            <a:noFill/>
          </p:spPr>
          <p:txBody>
            <a:bodyPr wrap="none" rtlCol="0">
              <a:spAutoFit/>
            </a:bodyPr>
            <a:lstStyle/>
            <a:p>
              <a:pPr algn="ctr"/>
              <a:r>
                <a:rPr lang="zh-CN" altLang="en-US" sz="1600" dirty="0"/>
                <a:t>是不是所有的项目都应该采取敏捷开发？</a:t>
              </a:r>
            </a:p>
          </p:txBody>
        </p:sp>
      </p:gr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23424" r="23424"/>
          <a:stretch/>
        </p:blipFill>
        <p:spPr>
          <a:xfrm>
            <a:off x="0" y="0"/>
            <a:ext cx="6480000"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6480000" y="1128713"/>
            <a:ext cx="4859513" cy="2300287"/>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p:txBody>
          <a:bodyPr/>
          <a:lstStyle/>
          <a:p>
            <a:r>
              <a:rPr lang="en-US" altLang="zh-CN" dirty="0"/>
              <a:t>2.1 </a:t>
            </a:r>
            <a:r>
              <a:rPr lang="zh-CN" altLang="en-US" dirty="0"/>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2D2BF096-D0B0-6BD5-CFA3-90797DD55C9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4732"/>
          </a:xfrm>
        </p:spPr>
        <p:txBody>
          <a:bodyPr>
            <a:normAutofit/>
          </a:bodyPr>
          <a:lstStyle/>
          <a:p>
            <a:r>
              <a:rPr lang="en-US" altLang="zh-CN" dirty="0"/>
              <a:t>2.2 </a:t>
            </a:r>
            <a:r>
              <a:rPr lang="zh-CN" altLang="en-US" dirty="0"/>
              <a:t>项目立项</a:t>
            </a:r>
          </a:p>
        </p:txBody>
      </p:sp>
      <p:graphicFrame>
        <p:nvGraphicFramePr>
          <p:cNvPr id="5" name="内容占位符 4">
            <a:extLst>
              <a:ext uri="{FF2B5EF4-FFF2-40B4-BE49-F238E27FC236}">
                <a16:creationId xmlns:a16="http://schemas.microsoft.com/office/drawing/2014/main" id="{12C36420-A424-77D6-621A-D04A292ACD78}"/>
              </a:ext>
            </a:extLst>
          </p:cNvPr>
          <p:cNvGraphicFramePr>
            <a:graphicFrameLocks noGrp="1"/>
          </p:cNvGraphicFramePr>
          <p:nvPr>
            <p:ph idx="1"/>
            <p:extLst>
              <p:ext uri="{D42A27DB-BD31-4B8C-83A1-F6EECF244321}">
                <p14:modId xmlns:p14="http://schemas.microsoft.com/office/powerpoint/2010/main" val="4283582900"/>
              </p:ext>
            </p:extLst>
          </p:nvPr>
        </p:nvGraphicFramePr>
        <p:xfrm>
          <a:off x="695325" y="863600"/>
          <a:ext cx="10801350" cy="5327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 Placeholder 6">
            <a:extLst>
              <a:ext uri="{FF2B5EF4-FFF2-40B4-BE49-F238E27FC236}">
                <a16:creationId xmlns:a16="http://schemas.microsoft.com/office/drawing/2014/main" id="{2B541BFA-97EF-7E8F-F013-BEA20E60A4C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808066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B7F240-D09C-F38F-0212-5644545CFE9C}"/>
              </a:ext>
            </a:extLst>
          </p:cNvPr>
          <p:cNvSpPr>
            <a:spLocks noGrp="1"/>
          </p:cNvSpPr>
          <p:nvPr>
            <p:ph type="title"/>
          </p:nvPr>
        </p:nvSpPr>
        <p:spPr>
          <a:xfrm>
            <a:off x="695998" y="360000"/>
            <a:ext cx="6375921" cy="424732"/>
          </a:xfrm>
        </p:spPr>
        <p:txBody>
          <a:bodyPr>
            <a:normAutofit/>
          </a:bodyPr>
          <a:lstStyle/>
          <a:p>
            <a:r>
              <a:rPr lang="en-US" altLang="zh-CN" dirty="0"/>
              <a:t>2.2 </a:t>
            </a:r>
            <a:r>
              <a:rPr lang="zh-CN" altLang="en-US" dirty="0"/>
              <a:t>项目立项</a:t>
            </a:r>
          </a:p>
        </p:txBody>
      </p:sp>
      <p:sp>
        <p:nvSpPr>
          <p:cNvPr id="3" name="内容占位符 2">
            <a:extLst>
              <a:ext uri="{FF2B5EF4-FFF2-40B4-BE49-F238E27FC236}">
                <a16:creationId xmlns:a16="http://schemas.microsoft.com/office/drawing/2014/main" id="{F94F7075-1E32-86B3-5040-DBDB86A6F1A6}"/>
              </a:ext>
            </a:extLst>
          </p:cNvPr>
          <p:cNvSpPr>
            <a:spLocks noGrp="1"/>
          </p:cNvSpPr>
          <p:nvPr>
            <p:ph idx="1"/>
          </p:nvPr>
        </p:nvSpPr>
        <p:spPr>
          <a:xfrm>
            <a:off x="696000" y="864000"/>
            <a:ext cx="10800000" cy="5328000"/>
          </a:xfrm>
        </p:spPr>
        <p:txBody>
          <a:bodyPr/>
          <a:lstStyle/>
          <a:p>
            <a:r>
              <a:rPr lang="zh-CN" altLang="en-US" dirty="0"/>
              <a:t>项目建议</a:t>
            </a:r>
            <a:endParaRPr lang="en-US" altLang="zh-CN" dirty="0"/>
          </a:p>
          <a:p>
            <a:pPr lvl="1"/>
            <a:r>
              <a:rPr lang="zh-CN" altLang="en-US" dirty="0"/>
              <a:t>非必须</a:t>
            </a:r>
            <a:endParaRPr lang="en-US" altLang="zh-CN" dirty="0"/>
          </a:p>
          <a:p>
            <a:r>
              <a:rPr lang="zh-CN" altLang="en-US" dirty="0"/>
              <a:t>项目可行性分析</a:t>
            </a:r>
            <a:endParaRPr lang="en-US" altLang="zh-CN" dirty="0"/>
          </a:p>
          <a:p>
            <a:pPr lvl="1"/>
            <a:r>
              <a:rPr lang="zh-CN" altLang="en-US" dirty="0"/>
              <a:t>投资</a:t>
            </a:r>
            <a:endParaRPr lang="en-US" altLang="zh-CN" dirty="0"/>
          </a:p>
          <a:p>
            <a:pPr lvl="1"/>
            <a:r>
              <a:rPr lang="zh-CN" altLang="en-US" dirty="0"/>
              <a:t>技术</a:t>
            </a:r>
            <a:endParaRPr lang="en-US" altLang="zh-CN" dirty="0"/>
          </a:p>
          <a:p>
            <a:pPr lvl="1"/>
            <a:r>
              <a:rPr lang="zh-CN" altLang="en-US" dirty="0"/>
              <a:t>财务</a:t>
            </a:r>
            <a:endParaRPr lang="en-US" altLang="zh-CN" dirty="0"/>
          </a:p>
          <a:p>
            <a:pPr lvl="1"/>
            <a:r>
              <a:rPr lang="zh-CN" altLang="en-US" dirty="0"/>
              <a:t>组织</a:t>
            </a:r>
            <a:endParaRPr lang="en-US" altLang="zh-CN" dirty="0"/>
          </a:p>
          <a:p>
            <a:pPr lvl="1"/>
            <a:r>
              <a:rPr lang="zh-CN" altLang="en-US" dirty="0"/>
              <a:t>经济</a:t>
            </a:r>
            <a:endParaRPr lang="en-US" altLang="zh-CN" dirty="0"/>
          </a:p>
          <a:p>
            <a:pPr lvl="1"/>
            <a:r>
              <a:rPr lang="zh-CN" altLang="en-US" dirty="0"/>
              <a:t>社会</a:t>
            </a:r>
            <a:endParaRPr lang="en-US" altLang="zh-CN" dirty="0"/>
          </a:p>
          <a:p>
            <a:pPr lvl="1"/>
            <a:r>
              <a:rPr lang="zh-CN" altLang="en-US" dirty="0"/>
              <a:t>风险因素及对策</a:t>
            </a:r>
            <a:endParaRPr lang="en-US" altLang="zh-CN" dirty="0"/>
          </a:p>
          <a:p>
            <a:r>
              <a:rPr lang="zh-CN" altLang="en-US" dirty="0"/>
              <a:t>项目审批</a:t>
            </a:r>
            <a:endParaRPr lang="en-US" altLang="zh-CN" dirty="0"/>
          </a:p>
          <a:p>
            <a:r>
              <a:rPr lang="zh-CN" altLang="en-US" dirty="0"/>
              <a:t>项目招投标</a:t>
            </a:r>
            <a:endParaRPr lang="en-US" altLang="zh-CN" dirty="0"/>
          </a:p>
          <a:p>
            <a:r>
              <a:rPr lang="zh-CN" altLang="en-US" dirty="0"/>
              <a:t>项目合同谈判与签订</a:t>
            </a:r>
          </a:p>
        </p:txBody>
      </p:sp>
      <p:sp>
        <p:nvSpPr>
          <p:cNvPr id="7" name="Text Placeholder 6">
            <a:extLst>
              <a:ext uri="{FF2B5EF4-FFF2-40B4-BE49-F238E27FC236}">
                <a16:creationId xmlns:a16="http://schemas.microsoft.com/office/drawing/2014/main" id="{5EB5B1BD-1F61-CF2F-E32E-63CAECBECA3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632291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p:txBody>
          <a:bodyPr/>
          <a:lstStyle/>
          <a:p>
            <a:r>
              <a:rPr lang="en-US" altLang="zh-CN" dirty="0"/>
              <a:t>2.3 </a:t>
            </a:r>
            <a:r>
              <a:rPr lang="zh-CN" altLang="en-US" dirty="0"/>
              <a:t>项目招投标</a:t>
            </a:r>
          </a:p>
        </p:txBody>
      </p:sp>
      <p:sp>
        <p:nvSpPr>
          <p:cNvPr id="3" name="Content Placeholder 2">
            <a:extLst>
              <a:ext uri="{FF2B5EF4-FFF2-40B4-BE49-F238E27FC236}">
                <a16:creationId xmlns:a16="http://schemas.microsoft.com/office/drawing/2014/main" id="{5DFC62CC-DD38-147B-460D-A8B7FEE6C157}"/>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0BEC917E-8E07-9229-BFD0-0D603F706CE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8234918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4732"/>
          </a:xfrm>
        </p:spPr>
        <p:txBody>
          <a:bodyPr>
            <a:normAutofit/>
          </a:bodyPr>
          <a:lstStyle/>
          <a:p>
            <a:r>
              <a:rPr lang="en-US" altLang="zh-CN" dirty="0"/>
              <a:t>2.4 </a:t>
            </a:r>
            <a:r>
              <a:rPr lang="zh-CN" altLang="en-US" dirty="0"/>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328000"/>
          </a:xfrm>
        </p:spPr>
        <p:txBody>
          <a:bodyPr/>
          <a:lstStyle/>
          <a:p>
            <a:r>
              <a:rPr lang="zh-CN" altLang="en-US" dirty="0"/>
              <a:t>正式批准项目启动</a:t>
            </a:r>
          </a:p>
          <a:p>
            <a:r>
              <a:rPr lang="zh-CN" altLang="en-US" dirty="0"/>
              <a:t>授权项目经理执行</a:t>
            </a:r>
          </a:p>
          <a:p>
            <a:r>
              <a:rPr lang="zh-CN" altLang="en-US" dirty="0"/>
              <a:t>明确项目目标与范围</a:t>
            </a:r>
          </a:p>
          <a:p>
            <a:r>
              <a:rPr lang="zh-CN" altLang="en-US" dirty="0"/>
              <a:t>为项目提供合法性基础</a:t>
            </a:r>
            <a:endParaRPr lang="en-US" altLang="zh-CN" dirty="0"/>
          </a:p>
          <a:p>
            <a:r>
              <a:rPr lang="zh-CN" altLang="en-US" dirty="0"/>
              <a:t>由高层签发及修改</a:t>
            </a:r>
            <a:endParaRPr lang="en-US" altLang="zh-CN" dirty="0"/>
          </a:p>
          <a:p>
            <a:pPr lvl="1"/>
            <a:r>
              <a:rPr lang="zh-CN" altLang="en-US" dirty="0"/>
              <a:t>谁签发谁修改</a:t>
            </a:r>
            <a:endParaRPr lang="en-US" altLang="zh-CN" dirty="0"/>
          </a:p>
          <a:p>
            <a:pPr lvl="1"/>
            <a:r>
              <a:rPr lang="zh-CN" altLang="en-US" dirty="0"/>
              <a:t>不是频繁修改</a:t>
            </a:r>
            <a:endParaRPr lang="en-US" altLang="zh-CN" dirty="0"/>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360001"/>
            <a:ext cx="4424080" cy="424731"/>
          </a:xfrm>
        </p:spPr>
        <p:txBody>
          <a:bodyPr/>
          <a:lstStyle/>
          <a:p>
            <a:r>
              <a:rPr lang="en-US" altLang="zh-CN" dirty="0"/>
              <a:t>Charter</a:t>
            </a:r>
            <a:endParaRPr lang="zh-CN" altLang="en-US" dirty="0"/>
          </a:p>
        </p:txBody>
      </p:sp>
    </p:spTree>
    <p:extLst>
      <p:ext uri="{BB962C8B-B14F-4D97-AF65-F5344CB8AC3E}">
        <p14:creationId xmlns:p14="http://schemas.microsoft.com/office/powerpoint/2010/main" val="254778176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FC3EDA-9768-DDBE-9C6A-8D7269605BCF}"/>
              </a:ext>
            </a:extLst>
          </p:cNvPr>
          <p:cNvSpPr>
            <a:spLocks noGrp="1"/>
          </p:cNvSpPr>
          <p:nvPr>
            <p:ph type="title"/>
          </p:nvPr>
        </p:nvSpPr>
        <p:spPr>
          <a:xfrm>
            <a:off x="695998" y="360000"/>
            <a:ext cx="7200000" cy="424732"/>
          </a:xfrm>
        </p:spPr>
        <p:txBody>
          <a:bodyPr>
            <a:normAutofit/>
          </a:bodyPr>
          <a:lstStyle/>
          <a:p>
            <a:r>
              <a:rPr lang="zh-CN" altLang="en-US" dirty="0"/>
              <a:t>项目管理计划 </a:t>
            </a:r>
            <a:r>
              <a:rPr lang="en-US" altLang="zh-CN" dirty="0"/>
              <a:t>Project Management Plan</a:t>
            </a:r>
            <a:endParaRPr lang="zh-CN" altLang="en-US" dirty="0"/>
          </a:p>
        </p:txBody>
      </p:sp>
      <p:sp>
        <p:nvSpPr>
          <p:cNvPr id="3" name="内容占位符 2">
            <a:extLst>
              <a:ext uri="{FF2B5EF4-FFF2-40B4-BE49-F238E27FC236}">
                <a16:creationId xmlns:a16="http://schemas.microsoft.com/office/drawing/2014/main" id="{2F866C10-7204-6D46-CED9-05867F119F6A}"/>
              </a:ext>
            </a:extLst>
          </p:cNvPr>
          <p:cNvSpPr>
            <a:spLocks noGrp="1"/>
          </p:cNvSpPr>
          <p:nvPr>
            <p:ph idx="1"/>
          </p:nvPr>
        </p:nvSpPr>
        <p:spPr>
          <a:xfrm>
            <a:off x="696000" y="1080000"/>
            <a:ext cx="10800000" cy="5112000"/>
          </a:xfrm>
        </p:spPr>
        <p:txBody>
          <a:bodyPr/>
          <a:lstStyle/>
          <a:p>
            <a:r>
              <a:rPr lang="zh-CN" altLang="en-US" dirty="0"/>
              <a:t>项目管理计划是整合所有子计划和基准的综合性文件，用于指导项目执行、监控与收尾</a:t>
            </a:r>
            <a:endParaRPr lang="en-US" altLang="zh-CN" dirty="0"/>
          </a:p>
          <a:p>
            <a:r>
              <a:rPr lang="zh-CN" altLang="en-US" dirty="0"/>
              <a:t>不是所有项目文件都属于项目管理计划本身</a:t>
            </a:r>
          </a:p>
          <a:p>
            <a:r>
              <a:rPr lang="zh-CN" altLang="en-US" dirty="0"/>
              <a:t>包括</a:t>
            </a:r>
            <a:endParaRPr lang="en-US" altLang="zh-CN" dirty="0"/>
          </a:p>
          <a:p>
            <a:pPr lvl="1"/>
            <a:r>
              <a:rPr lang="zh-CN" altLang="en-US" dirty="0"/>
              <a:t>范围管理计划</a:t>
            </a:r>
          </a:p>
          <a:p>
            <a:pPr lvl="1"/>
            <a:r>
              <a:rPr lang="zh-CN" altLang="en-US" dirty="0"/>
              <a:t>进度管理计划</a:t>
            </a:r>
          </a:p>
          <a:p>
            <a:pPr lvl="1"/>
            <a:r>
              <a:rPr lang="zh-CN" altLang="en-US" dirty="0"/>
              <a:t>成本管理计划</a:t>
            </a:r>
          </a:p>
          <a:p>
            <a:pPr lvl="1"/>
            <a:r>
              <a:rPr lang="zh-CN" altLang="en-US" dirty="0"/>
              <a:t>风险管理计划</a:t>
            </a:r>
          </a:p>
          <a:p>
            <a:pPr lvl="1"/>
            <a:r>
              <a:rPr lang="zh-CN" altLang="en-US" dirty="0"/>
              <a:t>沟通管理计划</a:t>
            </a:r>
          </a:p>
          <a:p>
            <a:pPr lvl="1"/>
            <a:r>
              <a:rPr lang="zh-CN" altLang="en-US" dirty="0"/>
              <a:t>变更管理计划</a:t>
            </a:r>
            <a:endParaRPr lang="en-US" altLang="zh-CN" dirty="0"/>
          </a:p>
        </p:txBody>
      </p:sp>
      <p:sp>
        <p:nvSpPr>
          <p:cNvPr id="7" name="文本占位符 6">
            <a:extLst>
              <a:ext uri="{FF2B5EF4-FFF2-40B4-BE49-F238E27FC236}">
                <a16:creationId xmlns:a16="http://schemas.microsoft.com/office/drawing/2014/main" id="{2F8A4FC0-7D9F-FE82-5FFA-1CE245CEDB7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959605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normAutofit/>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r>
              <a:rPr lang="zh-CN" altLang="en-US" dirty="0"/>
              <a:t>可以参与章程起草</a:t>
            </a:r>
            <a:endParaRPr lang="en-US" altLang="zh-CN" dirty="0"/>
          </a:p>
          <a:p>
            <a:r>
              <a:rPr lang="zh-CN" altLang="en-US" dirty="0"/>
              <a:t>是章程的实施者</a:t>
            </a:r>
          </a:p>
        </p:txBody>
      </p:sp>
    </p:spTree>
    <p:extLst>
      <p:ext uri="{BB962C8B-B14F-4D97-AF65-F5344CB8AC3E}">
        <p14:creationId xmlns:p14="http://schemas.microsoft.com/office/powerpoint/2010/main" val="15368580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normAutofit/>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normAutofit/>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19326237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p:txBody>
      </p:sp>
    </p:spTree>
    <p:extLst>
      <p:ext uri="{BB962C8B-B14F-4D97-AF65-F5344CB8AC3E}">
        <p14:creationId xmlns:p14="http://schemas.microsoft.com/office/powerpoint/2010/main" val="34110604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
        <p:nvSpPr>
          <p:cNvPr id="4" name="矩形: 圆角 3">
            <a:extLst>
              <a:ext uri="{FF2B5EF4-FFF2-40B4-BE49-F238E27FC236}">
                <a16:creationId xmlns:a16="http://schemas.microsoft.com/office/drawing/2014/main" id="{C1F13F80-BD52-CD8F-6FB6-312AA130CF10}"/>
              </a:ext>
            </a:extLst>
          </p:cNvPr>
          <p:cNvSpPr/>
          <p:nvPr/>
        </p:nvSpPr>
        <p:spPr>
          <a:xfrm>
            <a:off x="5657849" y="26860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项目管理计划</a:t>
            </a:r>
          </a:p>
        </p:txBody>
      </p:sp>
      <p:sp>
        <p:nvSpPr>
          <p:cNvPr id="5" name="矩形: 圆角 4">
            <a:extLst>
              <a:ext uri="{FF2B5EF4-FFF2-40B4-BE49-F238E27FC236}">
                <a16:creationId xmlns:a16="http://schemas.microsoft.com/office/drawing/2014/main" id="{35264D85-161C-A14D-ABC5-ED9A132694B3}"/>
              </a:ext>
            </a:extLst>
          </p:cNvPr>
          <p:cNvSpPr/>
          <p:nvPr/>
        </p:nvSpPr>
        <p:spPr>
          <a:xfrm>
            <a:off x="5657849" y="32704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项目章程</a:t>
            </a:r>
          </a:p>
        </p:txBody>
      </p:sp>
      <p:sp>
        <p:nvSpPr>
          <p:cNvPr id="6" name="矩形: 圆角 5">
            <a:extLst>
              <a:ext uri="{FF2B5EF4-FFF2-40B4-BE49-F238E27FC236}">
                <a16:creationId xmlns:a16="http://schemas.microsoft.com/office/drawing/2014/main" id="{14ED2225-9527-2A38-A53C-614ED7D64AE5}"/>
              </a:ext>
            </a:extLst>
          </p:cNvPr>
          <p:cNvSpPr/>
          <p:nvPr/>
        </p:nvSpPr>
        <p:spPr>
          <a:xfrm>
            <a:off x="5657849" y="38548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组织过程资产</a:t>
            </a:r>
          </a:p>
        </p:txBody>
      </p:sp>
      <p:sp>
        <p:nvSpPr>
          <p:cNvPr id="7" name="矩形: 圆角 6">
            <a:extLst>
              <a:ext uri="{FF2B5EF4-FFF2-40B4-BE49-F238E27FC236}">
                <a16:creationId xmlns:a16="http://schemas.microsoft.com/office/drawing/2014/main" id="{88F42267-32FB-0DBB-A7CD-B868645ED728}"/>
              </a:ext>
            </a:extLst>
          </p:cNvPr>
          <p:cNvSpPr/>
          <p:nvPr/>
        </p:nvSpPr>
        <p:spPr>
          <a:xfrm>
            <a:off x="5682750" y="44392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事业环境因素</a:t>
            </a:r>
          </a:p>
        </p:txBody>
      </p:sp>
      <p:sp>
        <p:nvSpPr>
          <p:cNvPr id="8" name="矩形: 圆角 7">
            <a:extLst>
              <a:ext uri="{FF2B5EF4-FFF2-40B4-BE49-F238E27FC236}">
                <a16:creationId xmlns:a16="http://schemas.microsoft.com/office/drawing/2014/main" id="{06107906-4706-1C3A-06CA-8479513D42B4}"/>
              </a:ext>
            </a:extLst>
          </p:cNvPr>
          <p:cNvSpPr/>
          <p:nvPr/>
        </p:nvSpPr>
        <p:spPr>
          <a:xfrm>
            <a:off x="8262599" y="3562650"/>
            <a:ext cx="2160000" cy="432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范围管理计划</a:t>
            </a:r>
          </a:p>
        </p:txBody>
      </p:sp>
      <p:cxnSp>
        <p:nvCxnSpPr>
          <p:cNvPr id="10" name="连接符: 曲线 9">
            <a:extLst>
              <a:ext uri="{FF2B5EF4-FFF2-40B4-BE49-F238E27FC236}">
                <a16:creationId xmlns:a16="http://schemas.microsoft.com/office/drawing/2014/main" id="{853B0B05-9AF1-EDAD-C4C0-8D0A6B2D7FBD}"/>
              </a:ext>
            </a:extLst>
          </p:cNvPr>
          <p:cNvCxnSpPr>
            <a:stCxn id="4" idx="3"/>
            <a:endCxn id="8" idx="1"/>
          </p:cNvCxnSpPr>
          <p:nvPr/>
        </p:nvCxnSpPr>
        <p:spPr>
          <a:xfrm>
            <a:off x="7817849" y="2902050"/>
            <a:ext cx="444750"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 name="连接符: 曲线 11">
            <a:extLst>
              <a:ext uri="{FF2B5EF4-FFF2-40B4-BE49-F238E27FC236}">
                <a16:creationId xmlns:a16="http://schemas.microsoft.com/office/drawing/2014/main" id="{2F1F21C0-FA7A-B0AE-E004-88ACD5390923}"/>
              </a:ext>
            </a:extLst>
          </p:cNvPr>
          <p:cNvCxnSpPr>
            <a:stCxn id="7" idx="3"/>
            <a:endCxn id="8" idx="1"/>
          </p:cNvCxnSpPr>
          <p:nvPr/>
        </p:nvCxnSpPr>
        <p:spPr>
          <a:xfrm flipV="1">
            <a:off x="7842750" y="3778650"/>
            <a:ext cx="419849"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574C1BD7-F42E-3148-A353-958093AF3B91}"/>
              </a:ext>
            </a:extLst>
          </p:cNvPr>
          <p:cNvSpPr/>
          <p:nvPr/>
        </p:nvSpPr>
        <p:spPr>
          <a:xfrm>
            <a:off x="8262599" y="4070850"/>
            <a:ext cx="2160000" cy="432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dirty="0"/>
              <a:t>需求管理计划</a:t>
            </a:r>
          </a:p>
        </p:txBody>
      </p:sp>
    </p:spTree>
    <p:extLst>
      <p:ext uri="{BB962C8B-B14F-4D97-AF65-F5344CB8AC3E}">
        <p14:creationId xmlns:p14="http://schemas.microsoft.com/office/powerpoint/2010/main" val="17199820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DE1EE08-E582-C13F-B487-2DC74823548F}"/>
              </a:ext>
            </a:extLst>
          </p:cNvPr>
          <p:cNvSpPr>
            <a:spLocks noGrp="1"/>
          </p:cNvSpPr>
          <p:nvPr>
            <p:ph type="body" sz="quarter" idx="10"/>
          </p:nvPr>
        </p:nvSpPr>
        <p:spPr/>
        <p:txBody>
          <a:bodyPr/>
          <a:lstStyle/>
          <a:p>
            <a:r>
              <a:rPr lang="en-US" altLang="zh-CN" dirty="0"/>
              <a:t>Drill time</a:t>
            </a:r>
            <a:endParaRPr lang="zh-CN" altLang="en-US" dirty="0"/>
          </a:p>
        </p:txBody>
      </p:sp>
    </p:spTree>
    <p:extLst>
      <p:ext uri="{BB962C8B-B14F-4D97-AF65-F5344CB8AC3E}">
        <p14:creationId xmlns:p14="http://schemas.microsoft.com/office/powerpoint/2010/main" val="13125962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normAutofit/>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normAutofit/>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normAutofit/>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BB2E2D-A13F-81D3-005D-58B95F866F3C}"/>
              </a:ext>
            </a:extLst>
          </p:cNvPr>
          <p:cNvSpPr>
            <a:spLocks noGrp="1"/>
          </p:cNvSpPr>
          <p:nvPr>
            <p:ph type="title"/>
          </p:nvPr>
        </p:nvSpPr>
        <p:spPr/>
        <p:txBody>
          <a:bodyPr/>
          <a:lstStyle/>
          <a:p>
            <a:r>
              <a:rPr lang="zh-CN" altLang="en-US" dirty="0"/>
              <a:t>产出 </a:t>
            </a:r>
            <a:r>
              <a:rPr lang="en-US" altLang="zh-CN" dirty="0"/>
              <a:t>output</a:t>
            </a:r>
            <a:endParaRPr lang="zh-CN" altLang="en-US" dirty="0"/>
          </a:p>
        </p:txBody>
      </p:sp>
      <p:sp>
        <p:nvSpPr>
          <p:cNvPr id="3" name="内容占位符 2">
            <a:extLst>
              <a:ext uri="{FF2B5EF4-FFF2-40B4-BE49-F238E27FC236}">
                <a16:creationId xmlns:a16="http://schemas.microsoft.com/office/drawing/2014/main" id="{D2ED4E94-7750-D1EF-D638-4D71A22F45CA}"/>
              </a:ext>
            </a:extLst>
          </p:cNvPr>
          <p:cNvSpPr>
            <a:spLocks noGrp="1"/>
          </p:cNvSpPr>
          <p:nvPr>
            <p:ph idx="1"/>
          </p:nvPr>
        </p:nvSpPr>
        <p:spPr/>
        <p:txBody>
          <a:bodyPr/>
          <a:lstStyle/>
          <a:p>
            <a:r>
              <a:rPr lang="zh-CN" altLang="en-US" dirty="0"/>
              <a:t>项目章程</a:t>
            </a:r>
            <a:endParaRPr lang="en-US" altLang="zh-CN" dirty="0"/>
          </a:p>
          <a:p>
            <a:r>
              <a:rPr lang="zh-CN" altLang="en-US" dirty="0"/>
              <a:t>项目管理计划 </a:t>
            </a:r>
            <a:r>
              <a:rPr lang="en-US" altLang="zh-CN" dirty="0"/>
              <a:t>– </a:t>
            </a:r>
            <a:r>
              <a:rPr lang="zh-CN" altLang="en-US" dirty="0"/>
              <a:t>项目</a:t>
            </a:r>
            <a:endParaRPr lang="en-US" altLang="zh-CN" dirty="0"/>
          </a:p>
          <a:p>
            <a:r>
              <a:rPr lang="zh-CN" altLang="en-US" dirty="0"/>
              <a:t>范围管理计划 </a:t>
            </a:r>
            <a:r>
              <a:rPr lang="en-US" altLang="zh-CN" dirty="0"/>
              <a:t>– </a:t>
            </a:r>
            <a:r>
              <a:rPr lang="zh-CN" altLang="en-US" dirty="0"/>
              <a:t>范围</a:t>
            </a:r>
            <a:endParaRPr lang="en-US" altLang="zh-CN" dirty="0"/>
          </a:p>
          <a:p>
            <a:r>
              <a:rPr lang="zh-CN" altLang="en-US" dirty="0"/>
              <a:t>需求管理计划 </a:t>
            </a:r>
            <a:r>
              <a:rPr lang="en-US" altLang="zh-CN" dirty="0"/>
              <a:t>– </a:t>
            </a:r>
            <a:r>
              <a:rPr lang="zh-CN" altLang="en-US" dirty="0"/>
              <a:t>需求</a:t>
            </a:r>
            <a:endParaRPr lang="en-US" altLang="zh-CN" dirty="0"/>
          </a:p>
          <a:p>
            <a:r>
              <a:rPr lang="zh-CN" altLang="en-US" dirty="0"/>
              <a:t>项目范围说明书</a:t>
            </a:r>
          </a:p>
        </p:txBody>
      </p:sp>
      <p:sp>
        <p:nvSpPr>
          <p:cNvPr id="4" name="文本占位符 3">
            <a:extLst>
              <a:ext uri="{FF2B5EF4-FFF2-40B4-BE49-F238E27FC236}">
                <a16:creationId xmlns:a16="http://schemas.microsoft.com/office/drawing/2014/main" id="{895A7765-D993-789E-8086-68647FCB1C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85706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dirty="0"/>
              <a:t>2.5 </a:t>
            </a:r>
            <a:r>
              <a:rPr lang="zh-CN" altLang="en-US" dirty="0"/>
              <a:t>软件项目生存期模型</a:t>
            </a:r>
          </a:p>
        </p:txBody>
      </p:sp>
      <p:sp>
        <p:nvSpPr>
          <p:cNvPr id="10" name="Content Placeholder 9">
            <a:extLst>
              <a:ext uri="{FF2B5EF4-FFF2-40B4-BE49-F238E27FC236}">
                <a16:creationId xmlns:a16="http://schemas.microsoft.com/office/drawing/2014/main" id="{AAE156BF-6B84-E3E1-D5D1-93BE76A90D3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1055662803"/>
              </p:ext>
            </p:extLst>
          </p:nvPr>
        </p:nvGraphicFramePr>
        <p:xfrm>
          <a:off x="695997" y="3063600"/>
          <a:ext cx="10785129" cy="3200400"/>
        </p:xfrm>
        <a:graphic>
          <a:graphicData uri="http://schemas.openxmlformats.org/drawingml/2006/table">
            <a:tbl>
              <a:tblPr/>
              <a:tblGrid>
                <a:gridCol w="720000">
                  <a:extLst>
                    <a:ext uri="{9D8B030D-6E8A-4147-A177-3AD203B41FA5}">
                      <a16:colId xmlns:a16="http://schemas.microsoft.com/office/drawing/2014/main" val="219718840"/>
                    </a:ext>
                  </a:extLst>
                </a:gridCol>
                <a:gridCol w="4070403">
                  <a:extLst>
                    <a:ext uri="{9D8B030D-6E8A-4147-A177-3AD203B41FA5}">
                      <a16:colId xmlns:a16="http://schemas.microsoft.com/office/drawing/2014/main" val="4038817863"/>
                    </a:ext>
                  </a:extLst>
                </a:gridCol>
                <a:gridCol w="5994726">
                  <a:extLst>
                    <a:ext uri="{9D8B030D-6E8A-4147-A177-3AD203B41FA5}">
                      <a16:colId xmlns:a16="http://schemas.microsoft.com/office/drawing/2014/main" val="1686519469"/>
                    </a:ext>
                  </a:extLst>
                </a:gridCol>
              </a:tblGrid>
              <a:tr h="0">
                <a:tc>
                  <a:txBody>
                    <a:bodyPr/>
                    <a:lstStyle/>
                    <a:p>
                      <a:pPr algn="ctr">
                        <a:buNone/>
                      </a:pP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dirty="0">
                          <a:solidFill>
                            <a:schemeClr val="bg1"/>
                          </a:solidFill>
                        </a:rPr>
                        <a:t>Life Cycle Type</a:t>
                      </a: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lgn="ctr">
                        <a:buNone/>
                      </a:pPr>
                      <a:r>
                        <a:rPr lang="en-US" dirty="0"/>
                        <a:t>1</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预测型 </a:t>
                      </a: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lgn="ctr">
                        <a:buNone/>
                      </a:pPr>
                      <a:r>
                        <a:rPr lang="en-US" dirty="0"/>
                        <a:t>2</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迭代型 </a:t>
                      </a: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refined over cycles; </a:t>
                      </a:r>
                    </a:p>
                    <a:p>
                      <a:pPr>
                        <a:buNone/>
                      </a:pPr>
                      <a:r>
                        <a:rPr lang="en-US" dirty="0"/>
                        <a:t>each iteration improves design/understanding</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lgn="ctr">
                        <a:buNone/>
                      </a:pPr>
                      <a:r>
                        <a:rPr lang="en-US" dirty="0"/>
                        <a:t>3</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增量型 </a:t>
                      </a: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delivered in usable chunks; </a:t>
                      </a:r>
                    </a:p>
                    <a:p>
                      <a:pPr>
                        <a:buNone/>
                      </a:pPr>
                      <a:r>
                        <a:rPr lang="en-US" dirty="0"/>
                        <a:t>each increment adds functionality</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lgn="ctr">
                        <a:buNone/>
                      </a:pPr>
                      <a:r>
                        <a:rPr lang="en-US" dirty="0"/>
                        <a:t>4</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dirty="0"/>
                        <a:t>适应型 </a:t>
                      </a:r>
                      <a:r>
                        <a:rPr lang="en-US" altLang="zh-CN" dirty="0"/>
                        <a:t>/ </a:t>
                      </a:r>
                      <a:r>
                        <a:rPr lang="zh-CN" altLang="en-US" dirty="0"/>
                        <a:t>敏捷型 </a:t>
                      </a: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7200000" cy="424732"/>
          </a:xfrm>
        </p:spPr>
        <p:txBody>
          <a:bodyPr>
            <a:normAutofit/>
          </a:bodyPr>
          <a:lstStyle/>
          <a:p>
            <a:r>
              <a:rPr lang="en-US" altLang="zh-CN" dirty="0"/>
              <a:t>2.5.1 </a:t>
            </a:r>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1080000"/>
            <a:ext cx="10800000" cy="5112000"/>
          </a:xfrm>
        </p:spPr>
        <p:txBody>
          <a:bodyPr/>
          <a:lstStyle/>
          <a:p>
            <a:r>
              <a:rPr lang="zh-CN" altLang="en-US" dirty="0"/>
              <a:t>瀑布模型</a:t>
            </a:r>
            <a:endParaRPr lang="en-US" altLang="zh-CN" dirty="0"/>
          </a:p>
          <a:p>
            <a:r>
              <a:rPr lang="en-US" altLang="zh-CN" dirty="0"/>
              <a:t>V</a:t>
            </a:r>
            <a:r>
              <a:rPr lang="zh-CN" altLang="en-US" dirty="0"/>
              <a:t>模型</a:t>
            </a:r>
            <a:endParaRPr lang="en-US" altLang="zh-CN" dirty="0"/>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前期确定</a:t>
            </a:r>
          </a:p>
          <a:p>
            <a:endParaRPr lang="zh-CN" altLang="en-US" dirty="0"/>
          </a:p>
          <a:p>
            <a:endParaRPr lang="zh-CN" altLang="en-US" dirty="0"/>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6702424" y="360001"/>
            <a:ext cx="4793575" cy="424731"/>
          </a:xfrm>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dirty="0"/>
              <a:t>2.5.1.1 </a:t>
            </a:r>
            <a:r>
              <a:rPr lang="zh-CN" altLang="en-US" dirty="0"/>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zh-CN" altLang="en-US" dirty="0"/>
              <a:t> </a:t>
            </a:r>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a:t>
            </a:r>
          </a:p>
          <a:p>
            <a:r>
              <a:rPr lang="zh-CN" altLang="en-US" dirty="0"/>
              <a:t>典型阶段如右图</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dirty="0"/>
              <a:t>Waterfall/Predictive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t>System design</a:t>
              </a:r>
              <a:endParaRPr lang="zh-CN" altLang="en-US" dirty="0"/>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t>Implementation</a:t>
              </a:r>
              <a:endParaRPr lang="zh-CN" altLang="en-US" dirty="0"/>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1039067" cy="369332"/>
            </a:xfrm>
            <a:prstGeom prst="rect">
              <a:avLst/>
            </a:prstGeom>
            <a:noFill/>
          </p:spPr>
          <p:txBody>
            <a:bodyPr wrap="none" rtlCol="0">
              <a:spAutoFit/>
            </a:bodyPr>
            <a:lstStyle/>
            <a:p>
              <a:r>
                <a:rPr lang="en-US" altLang="zh-CN" dirty="0"/>
                <a:t>Testing</a:t>
              </a:r>
              <a:endParaRPr lang="zh-CN" altLang="en-US" dirty="0"/>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837362" cy="369332"/>
            </a:xfrm>
            <a:prstGeom prst="rect">
              <a:avLst/>
            </a:prstGeom>
            <a:noFill/>
          </p:spPr>
          <p:txBody>
            <a:bodyPr wrap="none" rtlCol="0">
              <a:spAutoFit/>
            </a:bodyPr>
            <a:lstStyle/>
            <a:p>
              <a:r>
                <a:rPr lang="en-US" altLang="zh-CN" dirty="0"/>
                <a:t>Development</a:t>
              </a:r>
              <a:endParaRPr lang="zh-CN" altLang="en-US" dirty="0"/>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t>Maintenance</a:t>
              </a:r>
              <a:endParaRPr lang="zh-CN" altLang="en-US" dirty="0"/>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dirty="0"/>
              <a:t>2.5.1.2 V</a:t>
            </a:r>
            <a:r>
              <a:rPr lang="zh-CN" altLang="en-US" dirty="0"/>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dirty="0"/>
              <a:t>Verification and Validation Model</a:t>
            </a:r>
          </a:p>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测试计划在开发早期就制定</a:t>
            </a:r>
          </a:p>
          <a:p>
            <a:r>
              <a:rPr lang="zh-CN" altLang="en-US" dirty="0"/>
              <a:t>强调尽早测试理念</a:t>
            </a:r>
          </a:p>
          <a:p>
            <a:r>
              <a:rPr lang="zh-CN" altLang="en-US" dirty="0"/>
              <a:t>仍为线性模型，灵活性有限</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dirty="0"/>
              <a:t>V/Predictive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Acceptance</a:t>
            </a:r>
          </a:p>
          <a:p>
            <a:pPr algn="ctr"/>
            <a:r>
              <a:rPr lang="en-US" altLang="zh-CN" sz="1600" dirty="0"/>
              <a:t>test</a:t>
            </a:r>
            <a:endParaRPr lang="zh-CN" altLang="en-US" sz="1600"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design</a:t>
            </a:r>
            <a:endParaRPr lang="zh-CN" altLang="en-US" sz="1600"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test</a:t>
            </a:r>
            <a:endParaRPr lang="zh-CN" altLang="en-US" sz="1600"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Architecture design</a:t>
            </a:r>
            <a:endParaRPr lang="zh-CN" altLang="en-US" sz="1600"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Integration</a:t>
            </a:r>
          </a:p>
          <a:p>
            <a:pPr algn="ctr"/>
            <a:r>
              <a:rPr lang="en-US" altLang="zh-CN" sz="1600" dirty="0"/>
              <a:t>test</a:t>
            </a:r>
            <a:endParaRPr lang="zh-CN" altLang="en-US" sz="1600"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Modular</a:t>
            </a:r>
          </a:p>
          <a:p>
            <a:pPr algn="ctr"/>
            <a:r>
              <a:rPr lang="en-US" altLang="zh-CN" sz="1600" dirty="0"/>
              <a:t>design</a:t>
            </a:r>
            <a:endParaRPr lang="zh-CN" altLang="en-US" sz="1600"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Unit</a:t>
            </a:r>
          </a:p>
          <a:p>
            <a:pPr algn="ctr"/>
            <a:r>
              <a:rPr lang="zh-CN" altLang="en-US" sz="1600" dirty="0"/>
              <a:t> </a:t>
            </a:r>
            <a:r>
              <a:rPr lang="en-US" altLang="zh-CN" sz="1600" dirty="0"/>
              <a:t>test</a:t>
            </a:r>
            <a:endParaRPr lang="zh-CN" altLang="en-US" sz="1600"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Coding</a:t>
            </a:r>
            <a:endParaRPr lang="zh-CN" altLang="en-US" sz="1600"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8342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F52CEF-164B-70C6-9B8A-3CF809E857AE}"/>
              </a:ext>
            </a:extLst>
          </p:cNvPr>
          <p:cNvSpPr>
            <a:spLocks noGrp="1"/>
          </p:cNvSpPr>
          <p:nvPr>
            <p:ph type="title"/>
          </p:nvPr>
        </p:nvSpPr>
        <p:spPr/>
        <p:txBody>
          <a:bodyPr/>
          <a:lstStyle/>
          <a:p>
            <a:r>
              <a:rPr lang="zh-CN" altLang="en-US" dirty="0"/>
              <a:t>原型化模型 </a:t>
            </a:r>
            <a:r>
              <a:rPr lang="en-US" altLang="zh-CN" dirty="0"/>
              <a:t>Prototype</a:t>
            </a:r>
            <a:endParaRPr lang="zh-CN" altLang="en-US" dirty="0"/>
          </a:p>
        </p:txBody>
      </p:sp>
      <p:sp>
        <p:nvSpPr>
          <p:cNvPr id="3" name="内容占位符 2">
            <a:extLst>
              <a:ext uri="{FF2B5EF4-FFF2-40B4-BE49-F238E27FC236}">
                <a16:creationId xmlns:a16="http://schemas.microsoft.com/office/drawing/2014/main" id="{9C43B219-F514-B8BE-02AC-57499B086C3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6634C18-9731-B8BA-9503-D8EFAE00CB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907858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dirty="0"/>
              <a:t>2.5.2 </a:t>
            </a:r>
            <a:r>
              <a:rPr lang="zh-CN" altLang="en-US" dirty="0"/>
              <a:t>迭代型</a:t>
            </a:r>
          </a:p>
        </p:txBody>
      </p:sp>
      <p:sp>
        <p:nvSpPr>
          <p:cNvPr id="6" name="Content Placeholder 5">
            <a:extLst>
              <a:ext uri="{FF2B5EF4-FFF2-40B4-BE49-F238E27FC236}">
                <a16:creationId xmlns:a16="http://schemas.microsoft.com/office/drawing/2014/main" id="{2EE52A22-4BAF-E755-E9C5-435FD40BF07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dirty="0"/>
              <a:t>2.5.3 </a:t>
            </a:r>
            <a:r>
              <a:rPr lang="zh-CN" altLang="en-US" dirty="0"/>
              <a:t>增量型</a:t>
            </a:r>
          </a:p>
        </p:txBody>
      </p:sp>
      <p:sp>
        <p:nvSpPr>
          <p:cNvPr id="6" name="Content Placeholder 5">
            <a:extLst>
              <a:ext uri="{FF2B5EF4-FFF2-40B4-BE49-F238E27FC236}">
                <a16:creationId xmlns:a16="http://schemas.microsoft.com/office/drawing/2014/main" id="{71CAE6F8-22D6-5660-9999-8668C2D856D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dirty="0"/>
              <a:t>2.5.4 </a:t>
            </a:r>
            <a:r>
              <a:rPr lang="zh-CN" altLang="en-US" dirty="0"/>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p:txBody>
          <a:bodyPr/>
          <a:lstStyle/>
          <a:p>
            <a:r>
              <a:rPr lang="en-US" altLang="zh-CN" dirty="0"/>
              <a:t>Scrum</a:t>
            </a:r>
            <a:endParaRPr lang="zh-CN" altLang="en-US" dirty="0"/>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32971080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6375921" cy="429413"/>
          </a:xfrm>
        </p:spPr>
        <p:txBody>
          <a:bodyPr>
            <a:normAutofit/>
          </a:bodyPr>
          <a:lstStyle/>
          <a:p>
            <a:r>
              <a:rPr lang="en-US" altLang="zh-CN" dirty="0"/>
              <a:t>2.6 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864000"/>
            <a:ext cx="10800000" cy="5400000"/>
          </a:xfrm>
        </p:spPr>
        <p:txBody>
          <a:bodyPr>
            <a:normAutofit/>
          </a:bodyPr>
          <a:lstStyle/>
          <a:p>
            <a:r>
              <a:rPr lang="en-US" altLang="zh-CN" dirty="0">
                <a:hlinkClick r:id="rId2"/>
              </a:rPr>
              <a:t>https://scrumguides.org/</a:t>
            </a:r>
            <a:r>
              <a:rPr lang="en-US" altLang="zh-CN" dirty="0"/>
              <a:t> </a:t>
            </a:r>
          </a:p>
          <a:p>
            <a:endParaRPr lang="en-US" altLang="zh-CN" dirty="0"/>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7071919" y="448519"/>
            <a:ext cx="4424080" cy="338554"/>
          </a:xfrm>
        </p:spPr>
        <p:txBody>
          <a:bodyPr/>
          <a:lstStyle/>
          <a:p>
            <a:r>
              <a:rPr lang="en-US" altLang="zh-CN" dirty="0"/>
              <a:t>Scrum</a:t>
            </a:r>
            <a:endParaRPr lang="zh-CN" altLang="en-US" dirty="0"/>
          </a:p>
        </p:txBody>
      </p:sp>
    </p:spTree>
    <p:extLst>
      <p:ext uri="{BB962C8B-B14F-4D97-AF65-F5344CB8AC3E}">
        <p14:creationId xmlns:p14="http://schemas.microsoft.com/office/powerpoint/2010/main" val="198656589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dirty="0"/>
              <a:t>2.6.1 </a:t>
            </a:r>
            <a:r>
              <a:rPr lang="zh-CN" altLang="en-US" dirty="0"/>
              <a:t>敏捷理念 </a:t>
            </a:r>
            <a:r>
              <a:rPr lang="en-US" altLang="zh-CN" dirty="0"/>
              <a:t>Scrum Theory</a:t>
            </a:r>
            <a:endParaRPr lang="zh-CN" altLang="en-US" dirty="0"/>
          </a:p>
        </p:txBody>
      </p:sp>
      <p:sp>
        <p:nvSpPr>
          <p:cNvPr id="24" name="Content Placeholder 23">
            <a:extLst>
              <a:ext uri="{FF2B5EF4-FFF2-40B4-BE49-F238E27FC236}">
                <a16:creationId xmlns:a16="http://schemas.microsoft.com/office/drawing/2014/main" id="{1B8AB513-E06F-B625-8257-B3578C1DF45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4370820"/>
          </a:xfrm>
          <a:prstGeom prst="rect">
            <a:avLst/>
          </a:prstGeom>
          <a:noFill/>
          <a:ln>
            <a:solidFill>
              <a:schemeClr val="accent2"/>
            </a:solidFill>
          </a:ln>
        </p:spPr>
        <p:txBody>
          <a:bodyPr wrap="square" rtlCol="0">
            <a:noAutofit/>
          </a:bodyPr>
          <a:lstStyle/>
          <a:p>
            <a:pPr marL="285750" indent="-285750" algn="just">
              <a:buFont typeface="Arial" panose="020B0604020202020204" pitchFamily="34" charset="0"/>
              <a:buChar char="•"/>
            </a:pPr>
            <a:r>
              <a:rPr lang="zh-CN" altLang="en-US" sz="1600" dirty="0"/>
              <a:t>所有与过程、工作、进展和挑战相关的信息必须对团队和干系人清晰可见</a:t>
            </a:r>
          </a:p>
          <a:p>
            <a:pPr marL="285750" indent="-285750" algn="just">
              <a:buFont typeface="Arial" panose="020B0604020202020204" pitchFamily="34" charset="0"/>
              <a:buChar char="•"/>
            </a:pPr>
            <a:r>
              <a:rPr lang="zh-CN" altLang="en-US" sz="1600" dirty="0"/>
              <a:t>工作项（如 </a:t>
            </a:r>
            <a:r>
              <a:rPr lang="en-US" altLang="zh-CN" sz="1600" dirty="0"/>
              <a:t>Product Backlog</a:t>
            </a:r>
            <a:r>
              <a:rPr lang="zh-CN" altLang="en-US" sz="1600" dirty="0"/>
              <a:t>）的内容、状态和优先级必须公开</a:t>
            </a:r>
          </a:p>
          <a:p>
            <a:pPr marL="285750" indent="-285750" algn="just">
              <a:buFont typeface="Arial" panose="020B0604020202020204" pitchFamily="34" charset="0"/>
              <a:buChar char="•"/>
            </a:pPr>
            <a:r>
              <a:rPr lang="zh-CN" altLang="en-US" sz="1600" dirty="0"/>
              <a:t>团队使用统一的术语（如“完成”需有明确定义</a:t>
            </a:r>
            <a:r>
              <a:rPr lang="en-US" altLang="zh-CN" sz="1600" dirty="0"/>
              <a:t>——Definition of Done</a:t>
            </a:r>
            <a:r>
              <a:rPr lang="zh-CN" altLang="en-US" sz="1600" dirty="0"/>
              <a:t>）</a:t>
            </a:r>
          </a:p>
          <a:p>
            <a:pPr marL="285750" indent="-285750" algn="just">
              <a:buFont typeface="Arial" panose="020B0604020202020204" pitchFamily="34" charset="0"/>
              <a:buChar char="•"/>
            </a:pPr>
            <a:r>
              <a:rPr lang="zh-CN" altLang="en-US" sz="1600" dirty="0"/>
              <a:t>进度通过可视化工具（如 </a:t>
            </a:r>
            <a:r>
              <a:rPr lang="en-US" altLang="zh-CN" sz="1600" dirty="0"/>
              <a:t>Sprint Burndown Chart</a:t>
            </a:r>
            <a:r>
              <a:rPr lang="zh-CN" altLang="en-US" sz="1600" dirty="0"/>
              <a:t>、看板）展示</a:t>
            </a:r>
          </a:p>
          <a:p>
            <a:pPr marL="285750" indent="-285750" algn="just">
              <a:buFont typeface="Arial" panose="020B0604020202020204" pitchFamily="34" charset="0"/>
              <a:buChar char="•"/>
            </a:pPr>
            <a:r>
              <a:rPr lang="zh-CN" altLang="en-US" sz="1600" dirty="0"/>
              <a:t>目的：确保所有人基于相同事实做决策，避免误解和隐藏问题</a:t>
            </a:r>
          </a:p>
        </p:txBody>
      </p:sp>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4370820"/>
          </a:xfrm>
          <a:prstGeom prst="rect">
            <a:avLst/>
          </a:prstGeom>
          <a:noFill/>
          <a:ln>
            <a:solidFill>
              <a:schemeClr val="accent2"/>
            </a:solidFill>
          </a:ln>
        </p:spPr>
        <p:txBody>
          <a:bodyPr wrap="square" rtlCol="0">
            <a:noAutofit/>
          </a:bodyPr>
          <a:lstStyle/>
          <a:p>
            <a:pPr marL="285750" indent="-285750" algn="just">
              <a:buFont typeface="Arial" panose="020B0604020202020204" pitchFamily="34" charset="0"/>
              <a:buChar char="•"/>
            </a:pPr>
            <a:r>
              <a:rPr lang="en-US" altLang="zh-CN" sz="1600" dirty="0"/>
              <a:t>Scrum </a:t>
            </a:r>
            <a:r>
              <a:rPr lang="zh-CN" altLang="en-US" sz="1600" dirty="0"/>
              <a:t>团队定期检查产品、过程和计划，以识别偏差或改进机会</a:t>
            </a:r>
          </a:p>
          <a:p>
            <a:pPr marL="285750" indent="-285750" algn="just">
              <a:buFont typeface="Arial" panose="020B0604020202020204" pitchFamily="34" charset="0"/>
              <a:buChar char="•"/>
            </a:pPr>
            <a:r>
              <a:rPr lang="zh-CN" altLang="en-US" sz="1600" dirty="0"/>
              <a:t>在固定时间点进行：</a:t>
            </a:r>
          </a:p>
          <a:p>
            <a:pPr marL="285750" indent="-285750" algn="just">
              <a:buFont typeface="Arial" panose="020B0604020202020204" pitchFamily="34" charset="0"/>
              <a:buChar char="•"/>
            </a:pPr>
            <a:r>
              <a:rPr lang="en-US" altLang="zh-CN" sz="1600" dirty="0"/>
              <a:t>Daily Scrum</a:t>
            </a:r>
            <a:r>
              <a:rPr lang="zh-CN" altLang="en-US" sz="1600" dirty="0"/>
              <a:t>：每日检视进度与障碍</a:t>
            </a:r>
          </a:p>
          <a:p>
            <a:pPr marL="285750" indent="-285750" algn="just">
              <a:buFont typeface="Arial" panose="020B0604020202020204" pitchFamily="34" charset="0"/>
              <a:buChar char="•"/>
            </a:pPr>
            <a:r>
              <a:rPr lang="en-US" altLang="zh-CN" sz="1600" dirty="0"/>
              <a:t>Sprint Review</a:t>
            </a:r>
            <a:r>
              <a:rPr lang="zh-CN" altLang="en-US" sz="1600" dirty="0"/>
              <a:t>：检视可交付成果是否满足目标</a:t>
            </a:r>
          </a:p>
          <a:p>
            <a:pPr marL="285750" indent="-285750" algn="just">
              <a:buFont typeface="Arial" panose="020B0604020202020204" pitchFamily="34" charset="0"/>
              <a:buChar char="•"/>
            </a:pPr>
            <a:r>
              <a:rPr lang="en-US" altLang="zh-CN" sz="1600" dirty="0"/>
              <a:t>Sprint Retrospective</a:t>
            </a:r>
            <a:r>
              <a:rPr lang="zh-CN" altLang="en-US" sz="1600" dirty="0"/>
              <a:t>：检视流程与协作方式</a:t>
            </a:r>
          </a:p>
          <a:p>
            <a:pPr marL="285750" indent="-285750" algn="just">
              <a:buFont typeface="Arial" panose="020B0604020202020204" pitchFamily="34" charset="0"/>
              <a:buChar char="•"/>
            </a:pPr>
            <a:r>
              <a:rPr lang="zh-CN" altLang="en-US" sz="1600" dirty="0"/>
              <a:t>检视必须及时（不能等到项目结束），且不影响正常工作流</a:t>
            </a:r>
          </a:p>
          <a:p>
            <a:pPr marL="285750" indent="-285750" algn="just">
              <a:buFont typeface="Arial" panose="020B0604020202020204" pitchFamily="34" charset="0"/>
              <a:buChar char="•"/>
            </a:pPr>
            <a:r>
              <a:rPr lang="zh-CN" altLang="en-US" sz="1600" dirty="0"/>
              <a:t>目的：尽早发现问题，防止小偏差演变成大风险</a:t>
            </a:r>
          </a:p>
        </p:txBody>
      </p:sp>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4370820"/>
          </a:xfrm>
          <a:prstGeom prst="rect">
            <a:avLst/>
          </a:prstGeom>
          <a:noFill/>
          <a:ln>
            <a:solidFill>
              <a:schemeClr val="accent2"/>
            </a:solidFill>
          </a:ln>
        </p:spPr>
        <p:txBody>
          <a:bodyPr wrap="square" rtlCol="0">
            <a:noAutofit/>
          </a:bodyPr>
          <a:lstStyle/>
          <a:p>
            <a:pPr marL="285750" indent="-285750">
              <a:buFont typeface="Arial" panose="020B0604020202020204" pitchFamily="34" charset="0"/>
              <a:buChar char="•"/>
            </a:pPr>
            <a:r>
              <a:rPr lang="zh-CN" altLang="en-US" sz="1600" dirty="0"/>
              <a:t>基于检视结果，团队必须迅速调整行为、计划或方法</a:t>
            </a:r>
          </a:p>
          <a:p>
            <a:pPr marL="285750" indent="-285750">
              <a:buFont typeface="Arial" panose="020B0604020202020204" pitchFamily="34" charset="0"/>
              <a:buChar char="•"/>
            </a:pPr>
            <a:r>
              <a:rPr lang="zh-CN" altLang="en-US" sz="1600" dirty="0"/>
              <a:t>如果发现产品方向偏离，可在下个 </a:t>
            </a:r>
            <a:r>
              <a:rPr lang="en-US" altLang="zh-CN" sz="1600" dirty="0"/>
              <a:t>Sprint </a:t>
            </a:r>
            <a:r>
              <a:rPr lang="zh-CN" altLang="en-US" sz="1600" dirty="0"/>
              <a:t>调整 </a:t>
            </a:r>
            <a:r>
              <a:rPr lang="en-US" altLang="zh-CN" sz="1600" dirty="0"/>
              <a:t>Backlog</a:t>
            </a:r>
            <a:endParaRPr lang="zh-CN" altLang="en-US" sz="1600" dirty="0"/>
          </a:p>
          <a:p>
            <a:pPr marL="285750" indent="-285750">
              <a:buFont typeface="Arial" panose="020B0604020202020204" pitchFamily="34" charset="0"/>
              <a:buChar char="•"/>
            </a:pPr>
            <a:r>
              <a:rPr lang="zh-CN" altLang="en-US" sz="1600" dirty="0"/>
              <a:t>如果流程效率低，可在 </a:t>
            </a:r>
            <a:r>
              <a:rPr lang="en-US" altLang="zh-CN" sz="1600" dirty="0"/>
              <a:t>Retrospective </a:t>
            </a:r>
            <a:r>
              <a:rPr lang="zh-CN" altLang="en-US" sz="1600" dirty="0"/>
              <a:t>后改进工作方式</a:t>
            </a:r>
          </a:p>
          <a:p>
            <a:pPr marL="285750" indent="-285750">
              <a:buFont typeface="Arial" panose="020B0604020202020204" pitchFamily="34" charset="0"/>
              <a:buChar char="•"/>
            </a:pPr>
            <a:r>
              <a:rPr lang="zh-CN" altLang="en-US" sz="1600" dirty="0"/>
              <a:t>适应必须在“可接受的时间窗口”内发生（通常在下一个 </a:t>
            </a:r>
            <a:r>
              <a:rPr lang="en-US" altLang="zh-CN" sz="1600" dirty="0"/>
              <a:t>Sprint </a:t>
            </a:r>
            <a:r>
              <a:rPr lang="zh-CN" altLang="en-US" sz="1600" dirty="0"/>
              <a:t>开始前）</a:t>
            </a:r>
          </a:p>
          <a:p>
            <a:pPr marL="285750" indent="-285750">
              <a:buFont typeface="Arial" panose="020B0604020202020204" pitchFamily="34" charset="0"/>
              <a:buChar char="•"/>
            </a:pPr>
            <a:r>
              <a:rPr lang="zh-CN" altLang="en-US" sz="1600" dirty="0"/>
              <a:t>目的：持续优化交付价值的能力和团队效能</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t>透明性 </a:t>
            </a:r>
            <a:r>
              <a:rPr lang="en-US" altLang="zh-CN" sz="1600" dirty="0"/>
              <a:t>Transparency</a:t>
            </a:r>
            <a:endParaRPr lang="zh-CN" altLang="en-US" sz="1600" dirty="0"/>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t>适应 </a:t>
            </a:r>
            <a:r>
              <a:rPr lang="en-US" altLang="zh-CN" sz="1600" dirty="0"/>
              <a:t>Adaptation</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t>检视 </a:t>
            </a:r>
            <a:r>
              <a:rPr lang="en-US" altLang="zh-CN" sz="1600" dirty="0"/>
              <a:t>Inspection</a:t>
            </a:r>
          </a:p>
        </p:txBody>
      </p:sp>
    </p:spTree>
    <p:extLst>
      <p:ext uri="{BB962C8B-B14F-4D97-AF65-F5344CB8AC3E}">
        <p14:creationId xmlns:p14="http://schemas.microsoft.com/office/powerpoint/2010/main" val="366080112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dirty="0"/>
              <a:t>2.6.2 </a:t>
            </a:r>
            <a:r>
              <a:rPr lang="zh-CN" altLang="en-US" dirty="0"/>
              <a:t>体系</a:t>
            </a:r>
          </a:p>
        </p:txBody>
      </p:sp>
      <p:sp>
        <p:nvSpPr>
          <p:cNvPr id="11" name="Content Placeholder 10">
            <a:extLst>
              <a:ext uri="{FF2B5EF4-FFF2-40B4-BE49-F238E27FC236}">
                <a16:creationId xmlns:a16="http://schemas.microsoft.com/office/drawing/2014/main" id="{08590B76-F7BB-A869-4249-9546004CF2C0}"/>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2098089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B>
                      <a:noFill/>
                    </a:lnB>
                    <a:solidFill>
                      <a:schemeClr val="accent2"/>
                    </a:solidFill>
                  </a:tcPr>
                </a:tc>
                <a:tc>
                  <a:txBody>
                    <a:bodyPr/>
                    <a:lstStyle/>
                    <a:p>
                      <a:r>
                        <a:rPr lang="en-US" altLang="zh-CN" sz="1600" dirty="0">
                          <a:solidFill>
                            <a:schemeClr val="bg1"/>
                          </a:solidFill>
                        </a:rPr>
                        <a:t>Items</a:t>
                      </a:r>
                      <a:endParaRPr lang="zh-CN" altLang="en-US" sz="1600" dirty="0">
                        <a:solidFill>
                          <a:schemeClr val="bg1"/>
                        </a:solidFill>
                      </a:endParaRPr>
                    </a:p>
                  </a:txBody>
                  <a:tcPr>
                    <a:lnB>
                      <a:noFill/>
                    </a:lnB>
                    <a:solidFill>
                      <a:schemeClr val="accent2"/>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B>
                      <a:noFill/>
                    </a:lnB>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dirty="0"/>
                        <a:t>5</a:t>
                      </a:r>
                      <a:endParaRPr lang="zh-CN" altLang="en-US" sz="1600" dirty="0"/>
                    </a:p>
                  </a:txBody>
                  <a:tcPr anchor="ctr">
                    <a:lnL>
                      <a:noFill/>
                    </a:lnL>
                    <a:lnR>
                      <a:noFill/>
                    </a:lnR>
                    <a:lnT>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a:noFill/>
                    </a:lnL>
                    <a:lnR>
                      <a:noFill/>
                    </a:lnR>
                    <a:lnT>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a:noFill/>
                    </a:lnL>
                    <a:lnR>
                      <a:noFill/>
                    </a:lnR>
                    <a:lnT>
                      <a:noFill/>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dirty="0"/>
                        <a:t>3</a:t>
                      </a:r>
                      <a:endParaRPr lang="zh-CN" altLang="en-US" sz="1600" dirty="0"/>
                    </a:p>
                  </a:txBody>
                  <a:tcPr anchor="ct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r>
                        <a:rPr lang="zh-CN" altLang="en-US" sz="1600" dirty="0"/>
                        <a:t>团队 </a:t>
                      </a:r>
                      <a:r>
                        <a:rPr lang="en-US" altLang="zh-CN" sz="1600" dirty="0"/>
                        <a:t>Team</a:t>
                      </a:r>
                      <a:endParaRPr lang="zh-CN" altLang="en-US" sz="1600" dirty="0"/>
                    </a:p>
                  </a:txBody>
                  <a:tcPr anchor="ct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开发者 </a:t>
                      </a:r>
                      <a:r>
                        <a:rPr lang="en-US" altLang="zh-CN" sz="1600" dirty="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产品负责人 </a:t>
                      </a:r>
                      <a:r>
                        <a:rPr lang="en-US" altLang="zh-CN" sz="1600" dirty="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敏捷教练 </a:t>
                      </a:r>
                      <a:r>
                        <a:rPr lang="en-US" altLang="zh-CN" sz="1600" dirty="0"/>
                        <a:t>Scrum Master</a:t>
                      </a:r>
                      <a:endParaRPr lang="zh-CN" altLang="en-US" sz="1600" dirty="0"/>
                    </a:p>
                  </a:txBody>
                  <a:tcP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333466322"/>
                  </a:ext>
                </a:extLst>
              </a:tr>
              <a:tr h="370840">
                <a:tc>
                  <a:txBody>
                    <a:bodyPr/>
                    <a:lstStyle/>
                    <a:p>
                      <a:pPr algn="ctr"/>
                      <a:r>
                        <a:rPr lang="en-US" altLang="zh-CN" sz="1600" dirty="0"/>
                        <a:t>5</a:t>
                      </a:r>
                      <a:endParaRPr lang="zh-CN" altLang="en-US" sz="1600" dirty="0"/>
                    </a:p>
                  </a:txBody>
                  <a:tcPr anchor="ct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r>
                        <a:rPr lang="zh-CN" altLang="en-US" sz="1600" dirty="0"/>
                        <a:t>事件 </a:t>
                      </a:r>
                      <a:r>
                        <a:rPr lang="en-US" altLang="zh-CN" sz="1600" dirty="0"/>
                        <a:t>Events</a:t>
                      </a:r>
                      <a:endParaRPr lang="zh-CN" altLang="en-US" sz="1600" dirty="0"/>
                    </a:p>
                  </a:txBody>
                  <a:tcPr anchor="ct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tx1"/>
                          </a:solidFill>
                          <a:effectLst/>
                          <a:latin typeface="+mn-lt"/>
                          <a:ea typeface="+mn-ea"/>
                          <a:cs typeface="+mn-cs"/>
                        </a:rPr>
                        <a:t>冲刺 </a:t>
                      </a:r>
                      <a:r>
                        <a:rPr lang="en-US" altLang="zh-CN" sz="1600" b="0" i="0" u="none" strike="noStrike" kern="1200" dirty="0">
                          <a:solidFill>
                            <a:schemeClr val="tx1"/>
                          </a:solidFill>
                          <a:effectLst/>
                          <a:latin typeface="+mn-lt"/>
                          <a:ea typeface="+mn-ea"/>
                          <a:cs typeface="+mn-cs"/>
                        </a:rPr>
                        <a:t>The Sprint </a:t>
                      </a:r>
                      <a:endParaRPr lang="zh-CN" altLang="en-US" sz="16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tx1"/>
                          </a:solidFill>
                          <a:effectLst/>
                          <a:latin typeface="+mn-lt"/>
                          <a:ea typeface="+mn-ea"/>
                          <a:cs typeface="+mn-cs"/>
                        </a:rPr>
                        <a:t>冲刺规划 </a:t>
                      </a:r>
                      <a:r>
                        <a:rPr lang="en-US" altLang="zh-CN" sz="1600" b="0" i="0" u="none" strike="noStrike" kern="1200" dirty="0">
                          <a:solidFill>
                            <a:schemeClr val="tx1"/>
                          </a:solidFill>
                          <a:effectLst/>
                          <a:latin typeface="+mn-lt"/>
                          <a:ea typeface="+mn-ea"/>
                          <a:cs typeface="+mn-cs"/>
                        </a:rPr>
                        <a:t>Sprint Planning </a:t>
                      </a:r>
                      <a:endParaRPr lang="zh-CN" altLang="en-US" sz="16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tx1"/>
                          </a:solidFill>
                          <a:effectLst/>
                          <a:latin typeface="+mn-lt"/>
                          <a:ea typeface="+mn-ea"/>
                          <a:cs typeface="+mn-cs"/>
                        </a:rPr>
                        <a:t>每日站会 </a:t>
                      </a:r>
                      <a:r>
                        <a:rPr lang="en-US" altLang="zh-CN" sz="1600" b="0" i="0" u="none" strike="noStrike" kern="1200" dirty="0">
                          <a:solidFill>
                            <a:schemeClr val="tx1"/>
                          </a:solidFill>
                          <a:effectLst/>
                          <a:latin typeface="+mn-lt"/>
                          <a:ea typeface="+mn-ea"/>
                          <a:cs typeface="+mn-cs"/>
                        </a:rPr>
                        <a:t>Daily Scrum </a:t>
                      </a:r>
                      <a:endParaRPr lang="zh-CN" altLang="en-US" sz="16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tx1"/>
                          </a:solidFill>
                          <a:effectLst/>
                          <a:latin typeface="+mn-lt"/>
                          <a:ea typeface="+mn-ea"/>
                          <a:cs typeface="+mn-cs"/>
                        </a:rPr>
                        <a:t>冲刺评审 </a:t>
                      </a:r>
                      <a:r>
                        <a:rPr lang="en-US" altLang="zh-CN" sz="1600" b="0" i="0" u="none" strike="noStrike" kern="1200" dirty="0">
                          <a:solidFill>
                            <a:schemeClr val="tx1"/>
                          </a:solidFill>
                          <a:effectLst/>
                          <a:latin typeface="+mn-lt"/>
                          <a:ea typeface="+mn-ea"/>
                          <a:cs typeface="+mn-cs"/>
                        </a:rPr>
                        <a:t>Sprint Review </a:t>
                      </a:r>
                      <a:endParaRPr lang="zh-CN" altLang="en-US" sz="16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tx1"/>
                          </a:solidFill>
                          <a:effectLst/>
                          <a:latin typeface="+mn-lt"/>
                          <a:ea typeface="+mn-ea"/>
                          <a:cs typeface="+mn-cs"/>
                        </a:rPr>
                        <a:t>冲刺回顾 </a:t>
                      </a:r>
                      <a:r>
                        <a:rPr lang="en-US" altLang="zh-CN" sz="1600" b="0" i="0" u="none" strike="noStrike" kern="1200" dirty="0">
                          <a:solidFill>
                            <a:schemeClr val="tx1"/>
                          </a:solidFill>
                          <a:effectLst/>
                          <a:latin typeface="+mn-lt"/>
                          <a:ea typeface="+mn-ea"/>
                          <a:cs typeface="+mn-cs"/>
                        </a:rPr>
                        <a:t>Sprint Retrospective </a:t>
                      </a:r>
                      <a:endParaRPr lang="zh-CN" altLang="en-US" sz="1600" dirty="0"/>
                    </a:p>
                  </a:txBody>
                  <a:tcP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929475179"/>
                  </a:ext>
                </a:extLst>
              </a:tr>
              <a:tr h="370840">
                <a:tc>
                  <a:txBody>
                    <a:bodyPr/>
                    <a:lstStyle/>
                    <a:p>
                      <a:pPr algn="ctr"/>
                      <a:r>
                        <a:rPr lang="en-US" altLang="zh-CN" sz="1600" dirty="0"/>
                        <a:t>3</a:t>
                      </a:r>
                      <a:endParaRPr lang="zh-CN" altLang="en-US" sz="1600" dirty="0"/>
                    </a:p>
                  </a:txBody>
                  <a:tcPr anchor="ct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r>
                        <a:rPr lang="zh-CN" altLang="en-US" sz="1600" dirty="0"/>
                        <a:t>工件 </a:t>
                      </a:r>
                      <a:r>
                        <a:rPr lang="en-US" altLang="zh-CN" sz="1600" dirty="0"/>
                        <a:t>Aircrafts</a:t>
                      </a:r>
                      <a:endParaRPr lang="zh-CN" altLang="en-US" sz="1600" dirty="0"/>
                    </a:p>
                  </a:txBody>
                  <a:tcPr anchor="ct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tx1"/>
                          </a:solidFill>
                          <a:effectLst/>
                          <a:latin typeface="+mn-lt"/>
                          <a:ea typeface="+mn-ea"/>
                          <a:cs typeface="+mn-cs"/>
                        </a:rPr>
                        <a:t>产品待办事项 </a:t>
                      </a:r>
                      <a:r>
                        <a:rPr lang="en-US" altLang="zh-CN" sz="1600" b="0" i="0" u="none" strike="noStrike" kern="1200" dirty="0">
                          <a:solidFill>
                            <a:schemeClr val="tx1"/>
                          </a:solidFill>
                          <a:effectLst/>
                          <a:latin typeface="+mn-lt"/>
                          <a:ea typeface="+mn-ea"/>
                          <a:cs typeface="+mn-cs"/>
                        </a:rPr>
                        <a:t>Product Backlog </a:t>
                      </a:r>
                      <a:endParaRPr lang="zh-CN" altLang="en-US" sz="16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tx1"/>
                          </a:solidFill>
                          <a:effectLst/>
                          <a:latin typeface="+mn-lt"/>
                          <a:ea typeface="+mn-ea"/>
                          <a:cs typeface="+mn-cs"/>
                        </a:rPr>
                        <a:t>迭代待办列表 </a:t>
                      </a:r>
                      <a:r>
                        <a:rPr lang="en-US" altLang="zh-CN" sz="1600" b="0" i="0" u="none" strike="noStrike" kern="1200" dirty="0">
                          <a:solidFill>
                            <a:schemeClr val="tx1"/>
                          </a:solidFill>
                          <a:effectLst/>
                          <a:latin typeface="+mn-lt"/>
                          <a:ea typeface="+mn-ea"/>
                          <a:cs typeface="+mn-cs"/>
                        </a:rPr>
                        <a:t>Sprint Backlog </a:t>
                      </a:r>
                      <a:endParaRPr lang="zh-CN" altLang="en-US" sz="16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tx1"/>
                          </a:solidFill>
                          <a:effectLst/>
                          <a:latin typeface="+mn-lt"/>
                          <a:ea typeface="+mn-ea"/>
                          <a:cs typeface="+mn-cs"/>
                        </a:rPr>
                        <a:t>增加 </a:t>
                      </a:r>
                      <a:r>
                        <a:rPr lang="en-US" altLang="zh-CN" sz="1600" b="0" i="0" u="none" strike="noStrike" kern="1200" dirty="0">
                          <a:solidFill>
                            <a:schemeClr val="tx1"/>
                          </a:solidFill>
                          <a:effectLst/>
                          <a:latin typeface="+mn-lt"/>
                          <a:ea typeface="+mn-ea"/>
                          <a:cs typeface="+mn-cs"/>
                        </a:rPr>
                        <a:t>Increment </a:t>
                      </a:r>
                      <a:endParaRPr lang="zh-CN" altLang="en-US" sz="1600" dirty="0"/>
                    </a:p>
                  </a:txBody>
                  <a:tcP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dirty="0"/>
              <a:t>2.6.3 </a:t>
            </a:r>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dirty="0"/>
              <a:t>Successful use of Scrum depends on people becoming more proficient in living five values: Commitment, Focus, Openness, Respect, and Courage</a:t>
            </a:r>
          </a:p>
          <a:p>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2463305"/>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dirty="0"/>
                <a:t>Commitment</a:t>
              </a:r>
            </a:p>
            <a:p>
              <a:pPr algn="ctr"/>
              <a:r>
                <a:rPr lang="zh-CN" altLang="en-US" sz="1600" dirty="0"/>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1</a:t>
              </a:r>
              <a:endParaRPr lang="zh-CN" altLang="en-US" dirty="0"/>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2463305"/>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dirty="0"/>
                <a:t>Focus</a:t>
              </a:r>
            </a:p>
            <a:p>
              <a:pPr algn="ctr"/>
              <a:r>
                <a:rPr lang="zh-CN" altLang="en-US" sz="1600" dirty="0"/>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2</a:t>
              </a:r>
              <a:endParaRPr lang="zh-CN" altLang="en-US" dirty="0"/>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2463305"/>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dirty="0"/>
                <a:t>Openness</a:t>
              </a:r>
            </a:p>
            <a:p>
              <a:pPr algn="ctr"/>
              <a:r>
                <a:rPr lang="zh-CN" altLang="en-US" sz="1600" dirty="0"/>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3</a:t>
              </a:r>
              <a:endParaRPr lang="zh-CN" altLang="en-US" dirty="0"/>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2463305"/>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dirty="0"/>
                <a:t>Respect</a:t>
              </a:r>
            </a:p>
            <a:p>
              <a:pPr algn="ctr"/>
              <a:r>
                <a:rPr lang="zh-CN" altLang="en-US" sz="1600" dirty="0"/>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4</a:t>
              </a:r>
              <a:endParaRPr lang="zh-CN" altLang="en-US" dirty="0"/>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2463305"/>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dirty="0"/>
                <a:t>Courage</a:t>
              </a:r>
              <a:endParaRPr lang="zh-CN" altLang="en-US" sz="1600" dirty="0"/>
            </a:p>
            <a:p>
              <a:pPr algn="ctr"/>
              <a:r>
                <a:rPr lang="zh-CN" altLang="en-US" sz="1600" dirty="0"/>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t>5</a:t>
              </a:r>
              <a:endParaRPr lang="zh-CN" altLang="en-US" dirty="0"/>
            </a:p>
          </p:txBody>
        </p:sp>
      </p:grpSp>
    </p:spTree>
    <p:extLst>
      <p:ext uri="{BB962C8B-B14F-4D97-AF65-F5344CB8AC3E}">
        <p14:creationId xmlns:p14="http://schemas.microsoft.com/office/powerpoint/2010/main" val="46128615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dirty="0"/>
              <a:t>2.6.4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dirty="0"/>
              <a:t>3</a:t>
            </a:r>
            <a:r>
              <a:rPr lang="zh-CN" altLang="en-US" dirty="0"/>
              <a:t>个角色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9847899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9F20CF-6E7B-3D2C-69B0-A4C501C8D95C}"/>
              </a:ext>
            </a:extLst>
          </p:cNvPr>
          <p:cNvSpPr>
            <a:spLocks noGrp="1"/>
          </p:cNvSpPr>
          <p:nvPr>
            <p:ph type="title"/>
          </p:nvPr>
        </p:nvSpPr>
        <p:spPr>
          <a:xfrm>
            <a:off x="695998" y="360000"/>
            <a:ext cx="6375921" cy="429413"/>
          </a:xfrm>
        </p:spPr>
        <p:txBody>
          <a:bodyPr>
            <a:normAutofit/>
          </a:bodyPr>
          <a:lstStyle/>
          <a:p>
            <a:r>
              <a:rPr lang="en-US" altLang="zh-CN" dirty="0"/>
              <a:t>2.6.4.1 </a:t>
            </a:r>
            <a:r>
              <a:rPr lang="zh-CN" altLang="en-US" dirty="0"/>
              <a:t>开发者</a:t>
            </a:r>
          </a:p>
        </p:txBody>
      </p:sp>
      <p:sp>
        <p:nvSpPr>
          <p:cNvPr id="3" name="内容占位符 2">
            <a:extLst>
              <a:ext uri="{FF2B5EF4-FFF2-40B4-BE49-F238E27FC236}">
                <a16:creationId xmlns:a16="http://schemas.microsoft.com/office/drawing/2014/main" id="{D2A6549B-0648-CA36-3A90-E1C1A9FF80A8}"/>
              </a:ext>
            </a:extLst>
          </p:cNvPr>
          <p:cNvSpPr>
            <a:spLocks noGrp="1"/>
          </p:cNvSpPr>
          <p:nvPr>
            <p:ph idx="1"/>
          </p:nvPr>
        </p:nvSpPr>
        <p:spPr>
          <a:xfrm>
            <a:off x="696000" y="864000"/>
            <a:ext cx="10800000" cy="5400000"/>
          </a:xfrm>
        </p:spPr>
        <p:txBody>
          <a:bodyPr/>
          <a:lstStyle/>
          <a:p>
            <a:pPr lvl="0"/>
            <a:r>
              <a:rPr lang="en-US" altLang="zh-CN" dirty="0"/>
              <a:t>Developer</a:t>
            </a:r>
          </a:p>
        </p:txBody>
      </p:sp>
      <p:sp>
        <p:nvSpPr>
          <p:cNvPr id="4" name="文本占位符 3">
            <a:extLst>
              <a:ext uri="{FF2B5EF4-FFF2-40B4-BE49-F238E27FC236}">
                <a16:creationId xmlns:a16="http://schemas.microsoft.com/office/drawing/2014/main" id="{6F4CF1D4-6294-43D0-85CF-136F1720BBD3}"/>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spTree>
    <p:extLst>
      <p:ext uri="{BB962C8B-B14F-4D97-AF65-F5344CB8AC3E}">
        <p14:creationId xmlns:p14="http://schemas.microsoft.com/office/powerpoint/2010/main" val="19641227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1942B-4F9A-7DD6-2E21-AFE92E69DA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1DDB017-C8B3-F715-A7B6-46B9913D5697}"/>
              </a:ext>
            </a:extLst>
          </p:cNvPr>
          <p:cNvSpPr>
            <a:spLocks noGrp="1"/>
          </p:cNvSpPr>
          <p:nvPr>
            <p:ph type="title"/>
          </p:nvPr>
        </p:nvSpPr>
        <p:spPr>
          <a:xfrm>
            <a:off x="695998" y="360000"/>
            <a:ext cx="6375921" cy="429413"/>
          </a:xfrm>
        </p:spPr>
        <p:txBody>
          <a:bodyPr>
            <a:normAutofit/>
          </a:bodyPr>
          <a:lstStyle/>
          <a:p>
            <a:r>
              <a:rPr lang="en-US" altLang="zh-CN" dirty="0"/>
              <a:t>2.6.4.2 </a:t>
            </a:r>
            <a:r>
              <a:rPr lang="zh-CN" altLang="en-US" dirty="0"/>
              <a:t>产品负责人</a:t>
            </a:r>
          </a:p>
        </p:txBody>
      </p:sp>
      <p:sp>
        <p:nvSpPr>
          <p:cNvPr id="3" name="内容占位符 2">
            <a:extLst>
              <a:ext uri="{FF2B5EF4-FFF2-40B4-BE49-F238E27FC236}">
                <a16:creationId xmlns:a16="http://schemas.microsoft.com/office/drawing/2014/main" id="{C1FC232F-DA08-42E1-0DBA-F14EEA34F7C8}"/>
              </a:ext>
            </a:extLst>
          </p:cNvPr>
          <p:cNvSpPr>
            <a:spLocks noGrp="1"/>
          </p:cNvSpPr>
          <p:nvPr>
            <p:ph idx="1"/>
          </p:nvPr>
        </p:nvSpPr>
        <p:spPr>
          <a:xfrm>
            <a:off x="696000" y="864000"/>
            <a:ext cx="10800000" cy="5400000"/>
          </a:xfrm>
        </p:spPr>
        <p:txBody>
          <a:bodyPr/>
          <a:lstStyle/>
          <a:p>
            <a:pPr lvl="0"/>
            <a:r>
              <a:rPr lang="en-US" altLang="zh-CN" dirty="0"/>
              <a:t>Product Owner</a:t>
            </a:r>
            <a:r>
              <a:rPr lang="zh-CN" altLang="en-US" dirty="0"/>
              <a:t>，</a:t>
            </a:r>
            <a:r>
              <a:rPr lang="en-US" altLang="zh-CN" dirty="0"/>
              <a:t>PO</a:t>
            </a:r>
          </a:p>
          <a:p>
            <a:pPr lvl="0"/>
            <a:r>
              <a:rPr lang="zh-CN" altLang="en-US" dirty="0"/>
              <a:t>关注产品本身</a:t>
            </a:r>
            <a:endParaRPr lang="en-US" altLang="zh-CN" dirty="0"/>
          </a:p>
          <a:p>
            <a:pPr lvl="0"/>
            <a:r>
              <a:rPr lang="zh-CN" altLang="en-US" dirty="0"/>
              <a:t>根据价值排序</a:t>
            </a:r>
            <a:endParaRPr lang="en-US" altLang="zh-CN" dirty="0"/>
          </a:p>
          <a:p>
            <a:pPr lvl="0"/>
            <a:r>
              <a:rPr lang="zh-CN" altLang="en-US" dirty="0"/>
              <a:t>授权</a:t>
            </a:r>
          </a:p>
          <a:p>
            <a:endParaRPr lang="en-US" altLang="zh-CN" dirty="0"/>
          </a:p>
        </p:txBody>
      </p:sp>
      <p:sp>
        <p:nvSpPr>
          <p:cNvPr id="4" name="文本占位符 3">
            <a:extLst>
              <a:ext uri="{FF2B5EF4-FFF2-40B4-BE49-F238E27FC236}">
                <a16:creationId xmlns:a16="http://schemas.microsoft.com/office/drawing/2014/main" id="{F5837BB0-829B-D4CB-ACE7-02F4F6A0DDF0}"/>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spTree>
    <p:extLst>
      <p:ext uri="{BB962C8B-B14F-4D97-AF65-F5344CB8AC3E}">
        <p14:creationId xmlns:p14="http://schemas.microsoft.com/office/powerpoint/2010/main" val="381200047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1BC5B-A0F4-55FA-1BC2-FA6D5D532D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5A60651-3A76-9F6C-864D-D761F8B8B9AC}"/>
              </a:ext>
            </a:extLst>
          </p:cNvPr>
          <p:cNvSpPr>
            <a:spLocks noGrp="1"/>
          </p:cNvSpPr>
          <p:nvPr>
            <p:ph type="title"/>
          </p:nvPr>
        </p:nvSpPr>
        <p:spPr>
          <a:xfrm>
            <a:off x="695998" y="360000"/>
            <a:ext cx="6375921" cy="429413"/>
          </a:xfrm>
        </p:spPr>
        <p:txBody>
          <a:bodyPr>
            <a:normAutofit/>
          </a:bodyPr>
          <a:lstStyle/>
          <a:p>
            <a:r>
              <a:rPr lang="en-US" altLang="zh-CN" dirty="0"/>
              <a:t>2.6.4.3 </a:t>
            </a:r>
            <a:r>
              <a:rPr lang="zh-CN" altLang="en-US" dirty="0"/>
              <a:t>敏捷教练</a:t>
            </a:r>
          </a:p>
        </p:txBody>
      </p:sp>
      <p:sp>
        <p:nvSpPr>
          <p:cNvPr id="3" name="内容占位符 2">
            <a:extLst>
              <a:ext uri="{FF2B5EF4-FFF2-40B4-BE49-F238E27FC236}">
                <a16:creationId xmlns:a16="http://schemas.microsoft.com/office/drawing/2014/main" id="{15157C9B-AC6A-276C-FA13-9CC2348BC792}"/>
              </a:ext>
            </a:extLst>
          </p:cNvPr>
          <p:cNvSpPr>
            <a:spLocks noGrp="1"/>
          </p:cNvSpPr>
          <p:nvPr>
            <p:ph idx="1"/>
          </p:nvPr>
        </p:nvSpPr>
        <p:spPr>
          <a:xfrm>
            <a:off x="696000" y="864000"/>
            <a:ext cx="10800000" cy="5400000"/>
          </a:xfrm>
        </p:spPr>
        <p:txBody>
          <a:bodyPr/>
          <a:lstStyle/>
          <a:p>
            <a:pPr lvl="0"/>
            <a:r>
              <a:rPr lang="en-US" altLang="zh-CN" dirty="0"/>
              <a:t>Scrum Master</a:t>
            </a:r>
          </a:p>
          <a:p>
            <a:pPr lvl="0"/>
            <a:r>
              <a:rPr lang="zh-CN" altLang="en-US" dirty="0"/>
              <a:t>也称项目经理 </a:t>
            </a:r>
            <a:r>
              <a:rPr lang="en-US" altLang="zh-CN" dirty="0"/>
              <a:t>Project Manager</a:t>
            </a:r>
          </a:p>
          <a:p>
            <a:r>
              <a:rPr lang="zh-CN" altLang="en-US" dirty="0"/>
              <a:t>足够的知识</a:t>
            </a:r>
            <a:endParaRPr lang="en-US" altLang="zh-CN" dirty="0"/>
          </a:p>
          <a:p>
            <a:r>
              <a:rPr lang="zh-CN" altLang="en-US" dirty="0"/>
              <a:t>丰富的项目管理经验</a:t>
            </a:r>
            <a:endParaRPr lang="en-US" altLang="zh-CN" dirty="0"/>
          </a:p>
          <a:p>
            <a:r>
              <a:rPr lang="zh-CN" altLang="en-US" dirty="0"/>
              <a:t>良好的协调和沟通能力</a:t>
            </a:r>
            <a:endParaRPr lang="en-US" altLang="zh-CN" dirty="0"/>
          </a:p>
          <a:p>
            <a:r>
              <a:rPr lang="zh-CN" altLang="en-US" dirty="0"/>
              <a:t>良好的职业道德</a:t>
            </a:r>
            <a:endParaRPr lang="en-US" altLang="zh-CN" dirty="0"/>
          </a:p>
          <a:p>
            <a:r>
              <a:rPr lang="zh-CN" altLang="en-US" dirty="0"/>
              <a:t>一定的领导和管理能力</a:t>
            </a:r>
            <a:endParaRPr lang="en-US" altLang="zh-CN" dirty="0"/>
          </a:p>
          <a:p>
            <a:r>
              <a:rPr lang="zh-CN" altLang="en-US" dirty="0"/>
              <a:t>促成者 </a:t>
            </a:r>
            <a:r>
              <a:rPr lang="en-US" altLang="zh-CN" dirty="0"/>
              <a:t> Facilitator</a:t>
            </a:r>
          </a:p>
          <a:p>
            <a:r>
              <a:rPr lang="zh-CN" altLang="en-US" dirty="0"/>
              <a:t>催化剂</a:t>
            </a:r>
            <a:endParaRPr lang="en-US" altLang="zh-CN" dirty="0"/>
          </a:p>
          <a:p>
            <a:r>
              <a:rPr lang="zh-CN" altLang="en-US" dirty="0"/>
              <a:t>仆人式领导 </a:t>
            </a:r>
            <a:r>
              <a:rPr lang="en-US" altLang="zh-CN" dirty="0"/>
              <a:t>a servant-leader</a:t>
            </a:r>
          </a:p>
        </p:txBody>
      </p:sp>
      <p:sp>
        <p:nvSpPr>
          <p:cNvPr id="4" name="文本占位符 3">
            <a:extLst>
              <a:ext uri="{FF2B5EF4-FFF2-40B4-BE49-F238E27FC236}">
                <a16:creationId xmlns:a16="http://schemas.microsoft.com/office/drawing/2014/main" id="{6D74F5E7-C0DD-EC40-B307-10C7E6EAA4CE}"/>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spTree>
    <p:extLst>
      <p:ext uri="{BB962C8B-B14F-4D97-AF65-F5344CB8AC3E}">
        <p14:creationId xmlns:p14="http://schemas.microsoft.com/office/powerpoint/2010/main" val="342219481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B951D5FC-6727-0785-1A7A-64A25564BEA8}"/>
              </a:ext>
            </a:extLst>
          </p:cNvPr>
          <p:cNvSpPr txBox="1"/>
          <p:nvPr/>
        </p:nvSpPr>
        <p:spPr>
          <a:xfrm>
            <a:off x="2672198" y="3332614"/>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2672198" y="4005327"/>
            <a:ext cx="646331" cy="369332"/>
          </a:xfrm>
          <a:prstGeom prst="rect">
            <a:avLst/>
          </a:prstGeom>
          <a:noFill/>
        </p:spPr>
        <p:txBody>
          <a:bodyPr wrap="none" rtlCol="0">
            <a:spAutoFit/>
          </a:bodyPr>
          <a:lstStyle/>
          <a:p>
            <a:r>
              <a:rPr lang="zh-CN" altLang="en-US" dirty="0"/>
              <a:t>指导</a:t>
            </a:r>
          </a:p>
        </p:txBody>
      </p:sp>
      <p:sp>
        <p:nvSpPr>
          <p:cNvPr id="13" name="文本框 12">
            <a:extLst>
              <a:ext uri="{FF2B5EF4-FFF2-40B4-BE49-F238E27FC236}">
                <a16:creationId xmlns:a16="http://schemas.microsoft.com/office/drawing/2014/main" id="{204911E3-1783-5E2A-B2C1-7D684A13AAB5}"/>
              </a:ext>
            </a:extLst>
          </p:cNvPr>
          <p:cNvSpPr txBox="1"/>
          <p:nvPr/>
        </p:nvSpPr>
        <p:spPr>
          <a:xfrm>
            <a:off x="4415749" y="3332614"/>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4415749" y="4005327"/>
            <a:ext cx="646331" cy="369332"/>
          </a:xfrm>
          <a:prstGeom prst="rect">
            <a:avLst/>
          </a:prstGeom>
          <a:noFill/>
        </p:spPr>
        <p:txBody>
          <a:bodyPr wrap="none" rtlCol="0">
            <a:spAutoFit/>
          </a:bodyPr>
          <a:lstStyle/>
          <a:p>
            <a:r>
              <a:rPr lang="zh-CN" altLang="en-US" dirty="0"/>
              <a:t>教练</a:t>
            </a:r>
          </a:p>
        </p:txBody>
      </p:sp>
      <p:sp>
        <p:nvSpPr>
          <p:cNvPr id="17" name="文本框 16">
            <a:extLst>
              <a:ext uri="{FF2B5EF4-FFF2-40B4-BE49-F238E27FC236}">
                <a16:creationId xmlns:a16="http://schemas.microsoft.com/office/drawing/2014/main" id="{E043D0E5-7470-3CA7-FE38-2330E88A4427}"/>
              </a:ext>
            </a:extLst>
          </p:cNvPr>
          <p:cNvSpPr txBox="1"/>
          <p:nvPr/>
        </p:nvSpPr>
        <p:spPr>
          <a:xfrm>
            <a:off x="6159300" y="3332614"/>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6159300" y="4005327"/>
            <a:ext cx="646331" cy="369332"/>
          </a:xfrm>
          <a:prstGeom prst="rect">
            <a:avLst/>
          </a:prstGeom>
          <a:noFill/>
        </p:spPr>
        <p:txBody>
          <a:bodyPr wrap="none" rtlCol="0">
            <a:spAutoFit/>
          </a:bodyPr>
          <a:lstStyle/>
          <a:p>
            <a:r>
              <a:rPr lang="zh-CN" altLang="en-US" dirty="0"/>
              <a:t>参与</a:t>
            </a:r>
          </a:p>
        </p:txBody>
      </p:sp>
      <p:sp>
        <p:nvSpPr>
          <p:cNvPr id="21" name="文本框 20">
            <a:extLst>
              <a:ext uri="{FF2B5EF4-FFF2-40B4-BE49-F238E27FC236}">
                <a16:creationId xmlns:a16="http://schemas.microsoft.com/office/drawing/2014/main" id="{9E5BC592-D92B-FF0A-4B76-54F0B41BC81D}"/>
              </a:ext>
            </a:extLst>
          </p:cNvPr>
          <p:cNvSpPr txBox="1"/>
          <p:nvPr/>
        </p:nvSpPr>
        <p:spPr>
          <a:xfrm>
            <a:off x="7902851" y="3332614"/>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902851" y="4005327"/>
            <a:ext cx="646331" cy="369332"/>
          </a:xfrm>
          <a:prstGeom prst="rect">
            <a:avLst/>
          </a:prstGeom>
          <a:noFill/>
        </p:spPr>
        <p:txBody>
          <a:bodyPr wrap="none" rtlCol="0">
            <a:spAutoFit/>
          </a:bodyPr>
          <a:lstStyle/>
          <a:p>
            <a:r>
              <a:rPr lang="zh-CN" altLang="en-US" dirty="0"/>
              <a:t>授权</a:t>
            </a:r>
          </a:p>
        </p:txBody>
      </p:sp>
      <p:sp>
        <p:nvSpPr>
          <p:cNvPr id="25" name="文本框 24">
            <a:extLst>
              <a:ext uri="{FF2B5EF4-FFF2-40B4-BE49-F238E27FC236}">
                <a16:creationId xmlns:a16="http://schemas.microsoft.com/office/drawing/2014/main" id="{893ABB7C-855E-A57A-A9A4-8471674896A8}"/>
              </a:ext>
            </a:extLst>
          </p:cNvPr>
          <p:cNvSpPr txBox="1"/>
          <p:nvPr/>
        </p:nvSpPr>
        <p:spPr>
          <a:xfrm>
            <a:off x="9646402" y="3332614"/>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9359560" y="2128343"/>
            <a:ext cx="646331" cy="369332"/>
          </a:xfrm>
          <a:prstGeom prst="rect">
            <a:avLst/>
          </a:prstGeom>
          <a:noFill/>
        </p:spPr>
        <p:txBody>
          <a:bodyPr wrap="none" rtlCol="0">
            <a:spAutoFit/>
          </a:bodyPr>
          <a:lstStyle/>
          <a:p>
            <a:r>
              <a:rPr lang="zh-CN" altLang="en-US" dirty="0">
                <a:solidFill>
                  <a:schemeClr val="bg1"/>
                </a:solidFill>
              </a:rPr>
              <a:t>指导</a:t>
            </a:r>
          </a:p>
        </p:txBody>
      </p:sp>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01280"/>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973993"/>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Scrum Master</a:t>
            </a: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0926418" y="3668971"/>
            <a:ext cx="301657" cy="369332"/>
          </a:xfrm>
          <a:prstGeom prst="triangl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333458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dirty="0"/>
              <a:t>2.6.5 </a:t>
            </a:r>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dirty="0"/>
              <a:t>5</a:t>
            </a:r>
            <a:r>
              <a:rPr lang="zh-CN" altLang="en-US" dirty="0"/>
              <a:t>个事件</a:t>
            </a:r>
            <a:endParaRPr lang="en-US" altLang="zh-CN" dirty="0"/>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59632493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855289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4732"/>
          </a:xfrm>
        </p:spPr>
        <p:txBody>
          <a:bodyPr>
            <a:normAutofit/>
          </a:bodyPr>
          <a:lstStyle/>
          <a:p>
            <a:r>
              <a:rPr lang="en-US" altLang="zh-CN" dirty="0"/>
              <a:t>6.5.5 </a:t>
            </a:r>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328000"/>
          </a:xfrm>
        </p:spPr>
        <p:txBody>
          <a:bodyPr/>
          <a:lstStyle/>
          <a:p>
            <a:r>
              <a:rPr lang="en-US" altLang="zh-CN" dirty="0"/>
              <a:t>3</a:t>
            </a:r>
            <a:r>
              <a:rPr lang="zh-CN" altLang="en-US" dirty="0"/>
              <a:t>个工件</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538250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normAutofit/>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strike="sngStrike" dirty="0"/>
              <a:t>发明者 </a:t>
            </a:r>
            <a:r>
              <a:rPr lang="en-US" altLang="zh-CN" strike="sngStrike" dirty="0"/>
              <a:t>Kaoru Ishikawa</a:t>
            </a:r>
            <a:endParaRPr lang="zh-CN" altLang="en-US" strike="sngStrike" dirty="0"/>
          </a:p>
          <a:p>
            <a:r>
              <a:rPr lang="zh-CN" altLang="en-US" strike="sngStrike" dirty="0"/>
              <a:t>也称因果图、石川图</a:t>
            </a:r>
            <a:endParaRPr lang="en-US" altLang="zh-CN" strike="sngStrike" dirty="0"/>
          </a:p>
          <a:p>
            <a:r>
              <a:rPr lang="zh-CN" altLang="en-US" strike="sngStrike" dirty="0"/>
              <a:t>主要用于分析问题的根本原因、缺陷，进而推动质量改进</a:t>
            </a:r>
            <a:endParaRPr lang="en-US" altLang="zh-CN" strike="sngStrike" dirty="0"/>
          </a:p>
          <a:p>
            <a:r>
              <a:rPr lang="zh-CN" altLang="en-US" strike="sngStrike" dirty="0"/>
              <a:t>通过图形化的方式展示可能导致特定结果的各种因素，有助于识别问题的核心所在</a:t>
            </a:r>
            <a:endParaRPr lang="en-US" altLang="zh-CN" strike="sngStrike" dirty="0"/>
          </a:p>
          <a:p>
            <a:r>
              <a:rPr lang="zh-CN" altLang="en-US" strike="sngStrike" dirty="0"/>
              <a:t>特点：</a:t>
            </a:r>
          </a:p>
          <a:p>
            <a:pPr lvl="1" algn="l"/>
            <a:r>
              <a:rPr lang="zh-CN" altLang="en-US" strike="sngStrike" dirty="0"/>
              <a:t>图形呈现为鱼骨形状，问题或效果放在“鱼头”位置，“鱼骨”代表主要类别原因</a:t>
            </a:r>
          </a:p>
          <a:p>
            <a:pPr lvl="1"/>
            <a:r>
              <a:rPr lang="zh-CN" altLang="en-US" strike="sngStrike" dirty="0"/>
              <a:t>每个主要原因下还可以细分出多个子原因</a:t>
            </a:r>
          </a:p>
          <a:p>
            <a:pPr lvl="1"/>
            <a:r>
              <a:rPr lang="zh-CN" altLang="en-US" strike="sngStrike" dirty="0"/>
              <a:t>帮助团队系统性思考，避免遗漏重要因素</a:t>
            </a:r>
          </a:p>
        </p:txBody>
      </p:sp>
    </p:spTree>
    <p:extLst>
      <p:ext uri="{BB962C8B-B14F-4D97-AF65-F5344CB8AC3E}">
        <p14:creationId xmlns:p14="http://schemas.microsoft.com/office/powerpoint/2010/main" val="198204904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3 Project Scope</a:t>
            </a:r>
            <a:endParaRPr lang="zh-CN" altLang="en-US" dirty="0"/>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7912100" y="1128713"/>
            <a:ext cx="3427413" cy="2300287"/>
          </a:xfrm>
        </p:spPr>
        <p:txBody>
          <a:bodyPr/>
          <a:lstStyle/>
          <a:p>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pic>
        <p:nvPicPr>
          <p:cNvPr id="10" name="Picture Placeholder 9">
            <a:extLst>
              <a:ext uri="{FF2B5EF4-FFF2-40B4-BE49-F238E27FC236}">
                <a16:creationId xmlns:a16="http://schemas.microsoft.com/office/drawing/2014/main" id="{6A62A984-682F-2610-3D00-E57B86F6D214}"/>
              </a:ext>
            </a:extLst>
          </p:cNvPr>
          <p:cNvPicPr>
            <a:picLocks noGrp="1" noChangeAspect="1"/>
          </p:cNvPicPr>
          <p:nvPr>
            <p:ph type="pic" sz="quarter" idx="10"/>
          </p:nvPr>
        </p:nvPicPr>
        <p:blipFill>
          <a:blip r:embed="rId2"/>
          <a:srcRect l="9052" r="9052"/>
          <a:stretch/>
        </p:blipFill>
        <p:spPr>
          <a:xfrm>
            <a:off x="0" y="0"/>
            <a:ext cx="6480000" cy="6858000"/>
          </a:xfrm>
        </p:spPr>
      </p:pic>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4077578" y="3498981"/>
            <a:ext cx="7262228" cy="1440000"/>
          </a:xfrm>
        </p:spPr>
        <p:txBody>
          <a:bodyPr/>
          <a:lstStyle/>
          <a:p>
            <a:r>
              <a:rPr lang="zh-CN" altLang="en-US" dirty="0"/>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6480000" y="1128713"/>
            <a:ext cx="4859513" cy="2300287"/>
          </a:xfrm>
        </p:spPr>
        <p:txBody>
          <a:bodyPr/>
          <a:lstStyle/>
          <a:p>
            <a:r>
              <a:rPr lang="zh-CN" altLang="en-US" dirty="0"/>
              <a:t>概念和术语</a:t>
            </a:r>
            <a:endParaRPr lang="en-US" altLang="zh-CN" dirty="0"/>
          </a:p>
          <a:p>
            <a:r>
              <a:rPr lang="zh-CN" altLang="en-US" dirty="0"/>
              <a:t>成本管理计划</a:t>
            </a:r>
            <a:endParaRPr lang="en-US" altLang="zh-CN" dirty="0"/>
          </a:p>
          <a:p>
            <a:r>
              <a:rPr lang="zh-CN" altLang="en-US" dirty="0"/>
              <a:t>成本估算</a:t>
            </a:r>
            <a:endParaRPr lang="en-US" altLang="zh-CN" dirty="0"/>
          </a:p>
          <a:p>
            <a:r>
              <a:rPr lang="zh-CN" altLang="en-US" dirty="0"/>
              <a:t>成本预算</a:t>
            </a:r>
            <a:endParaRPr lang="en-US" altLang="zh-CN" dirty="0"/>
          </a:p>
          <a:p>
            <a:r>
              <a:rPr lang="zh-CN" altLang="en-US" dirty="0"/>
              <a:t>成本控制</a:t>
            </a:r>
          </a:p>
        </p:txBody>
      </p:sp>
    </p:spTree>
    <p:extLst>
      <p:ext uri="{BB962C8B-B14F-4D97-AF65-F5344CB8AC3E}">
        <p14:creationId xmlns:p14="http://schemas.microsoft.com/office/powerpoint/2010/main" val="182269939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dirty="0"/>
              <a:t>可变成本 </a:t>
            </a:r>
            <a:r>
              <a:rPr lang="en-US" altLang="zh-CN" dirty="0"/>
              <a:t>Variable Costs</a:t>
            </a:r>
          </a:p>
          <a:p>
            <a:r>
              <a:rPr lang="zh-CN" altLang="en-US" dirty="0"/>
              <a:t>固定成本 </a:t>
            </a:r>
            <a:r>
              <a:rPr lang="en-US" altLang="zh-CN" dirty="0"/>
              <a:t>Fixed Costs</a:t>
            </a:r>
          </a:p>
          <a:p>
            <a:r>
              <a:rPr lang="zh-CN" altLang="en-US" dirty="0"/>
              <a:t>直接成本 </a:t>
            </a:r>
            <a:r>
              <a:rPr lang="en-US" altLang="zh-CN" dirty="0"/>
              <a:t>Direct Costs</a:t>
            </a:r>
          </a:p>
          <a:p>
            <a:pPr lvl="1"/>
            <a:r>
              <a:rPr lang="zh-CN" altLang="en-US" dirty="0"/>
              <a:t>人工费、工资</a:t>
            </a:r>
            <a:endParaRPr lang="en-US" altLang="zh-CN" dirty="0"/>
          </a:p>
          <a:p>
            <a:pPr lvl="1"/>
            <a:r>
              <a:rPr lang="zh-CN" altLang="en-US" dirty="0"/>
              <a:t>差旅费（项目相关人员）</a:t>
            </a:r>
            <a:endParaRPr lang="en-US" altLang="zh-CN" dirty="0"/>
          </a:p>
          <a:p>
            <a:pPr lvl="1"/>
            <a:r>
              <a:rPr lang="zh-CN" altLang="en-US" dirty="0"/>
              <a:t>材料费</a:t>
            </a:r>
            <a:endParaRPr lang="en-US" altLang="zh-CN" dirty="0"/>
          </a:p>
          <a:p>
            <a:pPr lvl="1"/>
            <a:r>
              <a:rPr lang="zh-CN" altLang="en-US" dirty="0"/>
              <a:t>专用设备费</a:t>
            </a:r>
            <a:endParaRPr lang="en-US" altLang="zh-CN" dirty="0"/>
          </a:p>
          <a:p>
            <a:pPr lvl="1"/>
            <a:r>
              <a:rPr lang="zh-CN" altLang="en-US" dirty="0"/>
              <a:t>特定工具</a:t>
            </a:r>
            <a:endParaRPr lang="en-US" altLang="zh-CN" dirty="0"/>
          </a:p>
          <a:p>
            <a:r>
              <a:rPr lang="zh-CN" altLang="en-US" dirty="0"/>
              <a:t>间接成本 </a:t>
            </a:r>
            <a:r>
              <a:rPr lang="en-US" altLang="zh-CN" dirty="0"/>
              <a:t>Indirect Costs</a:t>
            </a:r>
          </a:p>
          <a:p>
            <a:pPr lvl="1"/>
            <a:r>
              <a:rPr lang="zh-CN" altLang="en-US" dirty="0"/>
              <a:t>管理费</a:t>
            </a:r>
            <a:endParaRPr lang="en-US" altLang="zh-CN" dirty="0"/>
          </a:p>
          <a:p>
            <a:pPr lvl="1"/>
            <a:r>
              <a:rPr lang="zh-CN" altLang="en-US" dirty="0"/>
              <a:t>办公租金、安保</a:t>
            </a:r>
            <a:endParaRPr lang="en-US" altLang="zh-CN" dirty="0"/>
          </a:p>
          <a:p>
            <a:pPr lvl="1"/>
            <a:r>
              <a:rPr lang="zh-CN" altLang="en-US" dirty="0"/>
              <a:t>行政人员工资</a:t>
            </a:r>
            <a:endParaRPr lang="en-US" altLang="zh-CN" dirty="0"/>
          </a:p>
          <a:p>
            <a:pPr lvl="1"/>
            <a:r>
              <a:rPr lang="zh-CN" altLang="en-US" dirty="0"/>
              <a:t>公司级税金</a:t>
            </a:r>
            <a:endParaRPr lang="en-US" altLang="zh-CN" dirty="0"/>
          </a:p>
          <a:p>
            <a:pPr lvl="1"/>
            <a:r>
              <a:rPr lang="zh-CN" altLang="en-US" dirty="0"/>
              <a:t>通用设备租赁</a:t>
            </a:r>
            <a:endParaRPr lang="en-US" altLang="zh-CN" dirty="0"/>
          </a:p>
          <a:p>
            <a:r>
              <a:rPr lang="zh-CN" altLang="en-US" dirty="0"/>
              <a:t>机会成本 </a:t>
            </a:r>
            <a:endParaRPr lang="en-US" altLang="zh-CN" dirty="0"/>
          </a:p>
          <a:p>
            <a:r>
              <a:rPr lang="zh-CN" altLang="en-US" dirty="0"/>
              <a:t>沉默成本</a:t>
            </a:r>
            <a:endParaRPr lang="en-US" altLang="zh-CN" dirty="0"/>
          </a:p>
          <a:p>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dirty="0"/>
              <a:t>Contingency Reserve</a:t>
            </a:r>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54008525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normAutofit/>
          </a:bodyPr>
          <a:lstStyle/>
          <a:p>
            <a:r>
              <a:rPr lang="en-US" altLang="zh-CN" dirty="0"/>
              <a:t>3. </a:t>
            </a:r>
            <a:r>
              <a:rPr lang="zh-CN" altLang="en-US" dirty="0"/>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40370057"/>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dirty="0"/>
                        <a:t>方法</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定义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t>类比估算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使用类似项目的实际数据进行估算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快速但精度低</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513466589"/>
                  </a:ext>
                </a:extLst>
              </a:tr>
              <a:tr h="0">
                <a:tc>
                  <a:txBody>
                    <a:bodyPr/>
                    <a:lstStyle/>
                    <a:p>
                      <a:pPr>
                        <a:buNone/>
                      </a:pPr>
                      <a:r>
                        <a:rPr lang="zh-CN" altLang="en-US"/>
                        <a:t>自上而下估算</a:t>
                      </a:r>
                    </a:p>
                  </a:txBody>
                  <a:tcPr anchor="ctr">
                    <a:lnL>
                      <a:noFill/>
                    </a:lnL>
                    <a:lnR>
                      <a:noFill/>
                    </a:lnR>
                    <a:lnT>
                      <a:noFill/>
                    </a:lnT>
                    <a:lnB>
                      <a:noFill/>
                    </a:lnB>
                    <a:noFill/>
                  </a:tcPr>
                </a:tc>
                <a:tc>
                  <a:txBody>
                    <a:bodyPr/>
                    <a:lstStyle/>
                    <a:p>
                      <a:pPr>
                        <a:buNone/>
                      </a:pPr>
                      <a:r>
                        <a:rPr lang="zh-CN" altLang="en-US"/>
                        <a:t>从整体项目开始，分解并分配资源</a:t>
                      </a:r>
                    </a:p>
                  </a:txBody>
                  <a:tcPr anchor="ctr">
                    <a:lnL>
                      <a:noFill/>
                    </a:lnL>
                    <a:lnR>
                      <a:noFill/>
                    </a:lnR>
                    <a:lnT>
                      <a:noFill/>
                    </a:lnT>
                    <a:lnB>
                      <a:noFill/>
                    </a:lnB>
                    <a:noFill/>
                  </a:tcPr>
                </a:tc>
                <a:tc>
                  <a:txBody>
                    <a:bodyPr/>
                    <a:lstStyle/>
                    <a:p>
                      <a:pPr>
                        <a:buNone/>
                      </a:pPr>
                      <a:r>
                        <a:rPr lang="zh-CN" altLang="en-US" dirty="0"/>
                        <a:t>通常用于初步估算，由高层向下分配</a:t>
                      </a:r>
                    </a:p>
                  </a:txBody>
                  <a:tcPr anchor="ctr">
                    <a:lnL>
                      <a:noFill/>
                    </a:lnL>
                    <a:lnR>
                      <a:noFill/>
                    </a:lnR>
                    <a:lnT>
                      <a:noFill/>
                    </a:lnT>
                    <a:lnB>
                      <a:noFill/>
                    </a:lnB>
                    <a:noFill/>
                  </a:tcPr>
                </a:tc>
                <a:extLst>
                  <a:ext uri="{0D108BD9-81ED-4DB2-BD59-A6C34878D82A}">
                    <a16:rowId xmlns:a16="http://schemas.microsoft.com/office/drawing/2014/main" val="1286852194"/>
                  </a:ext>
                </a:extLst>
              </a:tr>
              <a:tr h="0">
                <a:tc>
                  <a:txBody>
                    <a:bodyPr/>
                    <a:lstStyle/>
                    <a:p>
                      <a:pPr>
                        <a:buNone/>
                      </a:pPr>
                      <a:r>
                        <a:rPr lang="zh-CN" altLang="en-US"/>
                        <a:t>自下而上估算</a:t>
                      </a:r>
                    </a:p>
                  </a:txBody>
                  <a:tcPr anchor="ctr">
                    <a:lnL>
                      <a:noFill/>
                    </a:lnL>
                    <a:lnR>
                      <a:noFill/>
                    </a:lnR>
                    <a:lnT>
                      <a:noFill/>
                    </a:lnT>
                    <a:lnB>
                      <a:noFill/>
                    </a:lnB>
                    <a:noFill/>
                  </a:tcPr>
                </a:tc>
                <a:tc>
                  <a:txBody>
                    <a:bodyPr/>
                    <a:lstStyle/>
                    <a:p>
                      <a:pPr>
                        <a:buNone/>
                      </a:pPr>
                      <a:r>
                        <a:rPr lang="zh-CN" altLang="en-US" dirty="0"/>
                        <a:t>先估算每个工作包或活动的成本</a:t>
                      </a:r>
                      <a:r>
                        <a:rPr lang="en-US" altLang="zh-CN" dirty="0"/>
                        <a:t>/</a:t>
                      </a:r>
                      <a:r>
                        <a:rPr lang="zh-CN" altLang="en-US" dirty="0"/>
                        <a:t>工期，再</a:t>
                      </a:r>
                      <a:r>
                        <a:rPr lang="zh-CN" altLang="en-US" dirty="0">
                          <a:solidFill>
                            <a:srgbClr val="FF0000"/>
                          </a:solidFill>
                        </a:rPr>
                        <a:t>汇总</a:t>
                      </a:r>
                      <a:r>
                        <a:rPr lang="zh-CN" altLang="en-US" dirty="0"/>
                        <a:t>到更高层级</a:t>
                      </a:r>
                    </a:p>
                  </a:txBody>
                  <a:tcPr anchor="ctr">
                    <a:lnL>
                      <a:noFill/>
                    </a:lnL>
                    <a:lnR>
                      <a:noFill/>
                    </a:lnR>
                    <a:lnT>
                      <a:noFill/>
                    </a:lnT>
                    <a:lnB>
                      <a:noFill/>
                    </a:lnB>
                    <a:noFill/>
                  </a:tcPr>
                </a:tc>
                <a:tc>
                  <a:txBody>
                    <a:bodyPr/>
                    <a:lstStyle/>
                    <a:p>
                      <a:pPr>
                        <a:buNone/>
                      </a:pPr>
                      <a:r>
                        <a:rPr lang="zh-CN" altLang="en-US" dirty="0"/>
                        <a:t>精度高，基于详细信息</a:t>
                      </a:r>
                    </a:p>
                  </a:txBody>
                  <a:tcPr anchor="ctr">
                    <a:lnL>
                      <a:noFill/>
                    </a:lnL>
                    <a:lnR>
                      <a:noFill/>
                    </a:lnR>
                    <a:lnT>
                      <a:noFill/>
                    </a:lnT>
                    <a:lnB>
                      <a:noFill/>
                    </a:lnB>
                    <a:noFill/>
                  </a:tcPr>
                </a:tc>
                <a:extLst>
                  <a:ext uri="{0D108BD9-81ED-4DB2-BD59-A6C34878D82A}">
                    <a16:rowId xmlns:a16="http://schemas.microsoft.com/office/drawing/2014/main" val="2270663309"/>
                  </a:ext>
                </a:extLst>
              </a:tr>
              <a:tr h="0">
                <a:tc>
                  <a:txBody>
                    <a:bodyPr/>
                    <a:lstStyle/>
                    <a:p>
                      <a:pPr>
                        <a:buNone/>
                      </a:pPr>
                      <a:r>
                        <a:rPr lang="zh-CN" altLang="en-US"/>
                        <a:t>多方案分析估算</a:t>
                      </a:r>
                    </a:p>
                  </a:txBody>
                  <a:tcPr anchor="ctr">
                    <a:lnL>
                      <a:noFill/>
                    </a:lnL>
                    <a:lnR>
                      <a:noFill/>
                    </a:lnR>
                    <a:lnT>
                      <a:noFill/>
                    </a:lnT>
                    <a:lnB>
                      <a:noFill/>
                    </a:lnB>
                    <a:noFill/>
                  </a:tcPr>
                </a:tc>
                <a:tc>
                  <a:txBody>
                    <a:bodyPr/>
                    <a:lstStyle/>
                    <a:p>
                      <a:pPr>
                        <a:buNone/>
                      </a:pPr>
                      <a:r>
                        <a:rPr lang="zh-CN" altLang="en-US" dirty="0"/>
                        <a:t>比较多种技术或方案的成本</a:t>
                      </a:r>
                      <a:r>
                        <a:rPr lang="en-US" altLang="zh-CN" dirty="0"/>
                        <a:t>/</a:t>
                      </a:r>
                      <a:r>
                        <a:rPr lang="zh-CN" altLang="en-US" dirty="0"/>
                        <a:t>收益</a:t>
                      </a:r>
                    </a:p>
                  </a:txBody>
                  <a:tcPr anchor="ctr">
                    <a:lnL>
                      <a:noFill/>
                    </a:lnL>
                    <a:lnR>
                      <a:noFill/>
                    </a:lnR>
                    <a:lnT>
                      <a:noFill/>
                    </a:lnT>
                    <a:lnB>
                      <a:noFill/>
                    </a:lnB>
                    <a:noFill/>
                  </a:tcPr>
                </a:tc>
                <a:tc>
                  <a:txBody>
                    <a:bodyPr/>
                    <a:lstStyle/>
                    <a:p>
                      <a:pPr>
                        <a:buNone/>
                      </a:pPr>
                      <a:r>
                        <a:rPr lang="zh-CN" altLang="en-US" dirty="0"/>
                        <a:t>用于决策支持</a:t>
                      </a:r>
                    </a:p>
                  </a:txBody>
                  <a:tcPr anchor="ctr">
                    <a:lnL>
                      <a:noFill/>
                    </a:lnL>
                    <a:lnR>
                      <a:noFill/>
                    </a:lnR>
                    <a:lnT>
                      <a:noFill/>
                    </a:lnT>
                    <a:lnB>
                      <a:noFill/>
                    </a:lnB>
                    <a:noFill/>
                  </a:tcPr>
                </a:tc>
                <a:extLst>
                  <a:ext uri="{0D108BD9-81ED-4DB2-BD59-A6C34878D82A}">
                    <a16:rowId xmlns:a16="http://schemas.microsoft.com/office/drawing/2014/main" val="3820496958"/>
                  </a:ext>
                </a:extLst>
              </a:tr>
              <a:tr h="0">
                <a:tc>
                  <a:txBody>
                    <a:bodyPr/>
                    <a:lstStyle/>
                    <a:p>
                      <a:pPr>
                        <a:buNone/>
                      </a:pPr>
                      <a:r>
                        <a:rPr lang="zh-CN" altLang="en-US" dirty="0"/>
                        <a:t>参数估算</a:t>
                      </a:r>
                    </a:p>
                  </a:txBody>
                  <a:tcPr anchor="ctr">
                    <a:lnL>
                      <a:noFill/>
                    </a:lnL>
                    <a:lnR>
                      <a:noFill/>
                    </a:lnR>
                    <a:lnT>
                      <a:noFill/>
                    </a:lnT>
                    <a:lnB>
                      <a:noFill/>
                    </a:lnB>
                    <a:noFill/>
                  </a:tcPr>
                </a:tc>
                <a:tc>
                  <a:txBody>
                    <a:bodyPr/>
                    <a:lstStyle/>
                    <a:p>
                      <a:pPr>
                        <a:buNone/>
                      </a:pPr>
                      <a:r>
                        <a:rPr lang="zh-CN" altLang="en-US" dirty="0"/>
                        <a:t>基于数学模型和历史数据（如每米成本）进行估算</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4161272037"/>
                  </a:ext>
                </a:extLst>
              </a:tr>
              <a:tr h="0">
                <a:tc>
                  <a:txBody>
                    <a:bodyPr/>
                    <a:lstStyle/>
                    <a:p>
                      <a:pPr>
                        <a:buNone/>
                      </a:pPr>
                      <a:r>
                        <a:rPr lang="zh-CN" altLang="en-US" dirty="0"/>
                        <a:t>专家判断</a:t>
                      </a:r>
                    </a:p>
                  </a:txBody>
                  <a:tcPr anchor="ctr">
                    <a:lnL>
                      <a:noFill/>
                    </a:lnL>
                    <a:lnR>
                      <a:noFill/>
                    </a:lnR>
                    <a:lnT>
                      <a:noFill/>
                    </a:lnT>
                    <a:lnB>
                      <a:noFill/>
                    </a:lnB>
                    <a:noFill/>
                  </a:tcPr>
                </a:tc>
                <a:tc>
                  <a:txBody>
                    <a:bodyPr/>
                    <a:lstStyle/>
                    <a:p>
                      <a:pPr>
                        <a:buNone/>
                      </a:pPr>
                      <a:r>
                        <a:rPr lang="zh-CN" altLang="en-US"/>
                        <a:t>依靠专家经验进行判断</a:t>
                      </a:r>
                    </a:p>
                  </a:txBody>
                  <a:tcPr anchor="ctr">
                    <a:lnL>
                      <a:noFill/>
                    </a:lnL>
                    <a:lnR>
                      <a:noFill/>
                    </a:lnR>
                    <a:lnT>
                      <a:noFill/>
                    </a:lnT>
                    <a:lnB>
                      <a:noFill/>
                    </a:lnB>
                    <a:noFill/>
                  </a:tcPr>
                </a:tc>
                <a:tc>
                  <a:txBody>
                    <a:bodyPr/>
                    <a:lstStyle/>
                    <a:p>
                      <a:pPr>
                        <a:buNone/>
                      </a:pPr>
                      <a:r>
                        <a:rPr lang="zh-CN" altLang="en-US" dirty="0"/>
                        <a:t>主观，不依赖数值区间</a:t>
                      </a:r>
                    </a:p>
                  </a:txBody>
                  <a:tcPr anchor="ctr">
                    <a:lnL>
                      <a:noFill/>
                    </a:lnL>
                    <a:lnR>
                      <a:noFill/>
                    </a:lnR>
                    <a:lnT>
                      <a:noFill/>
                    </a:lnT>
                    <a:lnB>
                      <a:noFill/>
                    </a:lnB>
                    <a:noFill/>
                  </a:tcPr>
                </a:tc>
                <a:extLst>
                  <a:ext uri="{0D108BD9-81ED-4DB2-BD59-A6C34878D82A}">
                    <a16:rowId xmlns:a16="http://schemas.microsoft.com/office/drawing/2014/main" val="3542723542"/>
                  </a:ext>
                </a:extLst>
              </a:tr>
              <a:tr h="0">
                <a:tc>
                  <a:txBody>
                    <a:bodyPr/>
                    <a:lstStyle/>
                    <a:p>
                      <a:pPr>
                        <a:buNone/>
                      </a:pPr>
                      <a:r>
                        <a:rPr lang="zh-CN" altLang="en-US" dirty="0"/>
                        <a:t>三点估算</a:t>
                      </a:r>
                    </a:p>
                  </a:txBody>
                  <a:tcPr anchor="ctr">
                    <a:lnL>
                      <a:noFill/>
                    </a:lnL>
                    <a:lnR>
                      <a:noFill/>
                    </a:lnR>
                    <a:lnT>
                      <a:noFill/>
                    </a:lnT>
                    <a:lnB>
                      <a:noFill/>
                    </a:lnB>
                    <a:noFill/>
                  </a:tcPr>
                </a:tc>
                <a:tc>
                  <a:txBody>
                    <a:bodyPr/>
                    <a:lstStyle/>
                    <a:p>
                      <a:pPr>
                        <a:buNone/>
                      </a:pPr>
                      <a:r>
                        <a:rPr lang="zh-CN" altLang="en-US" dirty="0"/>
                        <a:t>使用乐观（</a:t>
                      </a:r>
                      <a:r>
                        <a:rPr lang="en-US" altLang="zh-CN" dirty="0"/>
                        <a:t>O</a:t>
                      </a:r>
                      <a:r>
                        <a:rPr lang="zh-CN" altLang="en-US" dirty="0"/>
                        <a:t>）、最可能（</a:t>
                      </a:r>
                      <a:r>
                        <a:rPr lang="en-US" altLang="zh-CN" dirty="0"/>
                        <a:t>M</a:t>
                      </a:r>
                      <a:r>
                        <a:rPr lang="zh-CN" altLang="en-US" dirty="0"/>
                        <a:t>）、悲观（</a:t>
                      </a:r>
                      <a:r>
                        <a:rPr lang="en-US" altLang="zh-CN" dirty="0"/>
                        <a:t>P</a:t>
                      </a:r>
                      <a:r>
                        <a:rPr lang="zh-CN" altLang="en-US" dirty="0"/>
                        <a:t>）三个值，计算期望工期或成本</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dirty="0"/>
              <a:t>4.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3814384083"/>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dirty="0"/>
                        <a:t>项目预算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管理储备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成本基准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控制账户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工作包成本估算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dirty="0"/>
              <a:t>5. </a:t>
            </a:r>
            <a:r>
              <a:rPr lang="zh-CN" altLang="en-US" dirty="0"/>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dirty="0"/>
              <a:t>Earned Value Management</a:t>
            </a:r>
          </a:p>
          <a:p>
            <a:r>
              <a:rPr lang="zh-CN" altLang="en-US" dirty="0"/>
              <a:t>要素</a:t>
            </a:r>
            <a:endParaRPr lang="en-US" altLang="zh-CN" dirty="0"/>
          </a:p>
          <a:p>
            <a:pPr lvl="1"/>
            <a:r>
              <a:rPr lang="zh-CN" altLang="en-US" dirty="0"/>
              <a:t>计划价值 </a:t>
            </a:r>
            <a:r>
              <a:rPr lang="en-US" altLang="zh-CN" dirty="0"/>
              <a:t>PV</a:t>
            </a:r>
          </a:p>
          <a:p>
            <a:pPr lvl="1"/>
            <a:r>
              <a:rPr lang="zh-CN" altLang="en-US" dirty="0"/>
              <a:t>挣值 </a:t>
            </a:r>
            <a:r>
              <a:rPr lang="en-US" altLang="zh-CN" dirty="0"/>
              <a:t>EV</a:t>
            </a:r>
          </a:p>
          <a:p>
            <a:pPr lvl="1"/>
            <a:r>
              <a:rPr lang="zh-CN" altLang="en-US" dirty="0"/>
              <a:t>实际成本 </a:t>
            </a:r>
            <a:r>
              <a:rPr lang="en-US" altLang="zh-CN" dirty="0"/>
              <a:t>AC</a:t>
            </a:r>
          </a:p>
          <a:p>
            <a:endParaRPr lang="zh-CN" altLang="en-US" dirty="0"/>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948536512"/>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t>Item</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en-US" altLang="zh-CN" dirty="0"/>
                        <a:t>Description</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dirty="0"/>
                        <a:t>PV</a:t>
                      </a:r>
                      <a:r>
                        <a:rPr lang="zh-CN" altLang="en-US" dirty="0"/>
                        <a:t>，</a:t>
                      </a:r>
                      <a:r>
                        <a:rPr lang="en-US" altLang="zh-CN" dirty="0"/>
                        <a:t>Planned Value</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计划工作量的预算费用，应该花多少</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212169119"/>
                  </a:ext>
                </a:extLst>
              </a:tr>
              <a:tr h="0">
                <a:tc>
                  <a:txBody>
                    <a:bodyPr/>
                    <a:lstStyle/>
                    <a:p>
                      <a:pPr>
                        <a:buNone/>
                      </a:pPr>
                      <a:r>
                        <a:rPr lang="en-US" dirty="0"/>
                        <a:t>EV</a:t>
                      </a:r>
                      <a:r>
                        <a:rPr lang="zh-CN" altLang="en-US" dirty="0"/>
                        <a:t>，</a:t>
                      </a:r>
                      <a:r>
                        <a:rPr lang="en-US" altLang="zh-CN" dirty="0"/>
                        <a:t>Earned Value</a:t>
                      </a:r>
                      <a:endParaRPr lang="en-US" dirty="0"/>
                    </a:p>
                  </a:txBody>
                  <a:tcPr anchor="ctr">
                    <a:lnL>
                      <a:noFill/>
                    </a:lnL>
                    <a:lnR>
                      <a:noFill/>
                    </a:lnR>
                    <a:lnT>
                      <a:noFill/>
                    </a:lnT>
                    <a:lnB>
                      <a:noFill/>
                    </a:lnB>
                    <a:noFill/>
                  </a:tcPr>
                </a:tc>
                <a:tc>
                  <a:txBody>
                    <a:bodyPr/>
                    <a:lstStyle/>
                    <a:p>
                      <a:pPr>
                        <a:buNone/>
                      </a:pPr>
                      <a:r>
                        <a:rPr lang="zh-CN" altLang="en-US" dirty="0"/>
                        <a:t>已完成的实际工作量预算费用</a:t>
                      </a:r>
                      <a:r>
                        <a:rPr lang="en-US" altLang="zh-CN" dirty="0"/>
                        <a:t>/</a:t>
                      </a:r>
                      <a:r>
                        <a:rPr lang="zh-CN" altLang="en-US" dirty="0"/>
                        <a:t>价值</a:t>
                      </a:r>
                    </a:p>
                  </a:txBody>
                  <a:tcPr anchor="ctr">
                    <a:lnL>
                      <a:noFill/>
                    </a:lnL>
                    <a:lnR>
                      <a:noFill/>
                    </a:lnR>
                    <a:lnT>
                      <a:noFill/>
                    </a:lnT>
                    <a:lnB>
                      <a:noFill/>
                    </a:lnB>
                    <a:noFill/>
                  </a:tcPr>
                </a:tc>
                <a:extLst>
                  <a:ext uri="{0D108BD9-81ED-4DB2-BD59-A6C34878D82A}">
                    <a16:rowId xmlns:a16="http://schemas.microsoft.com/office/drawing/2014/main" val="1536192706"/>
                  </a:ext>
                </a:extLst>
              </a:tr>
              <a:tr h="0">
                <a:tc>
                  <a:txBody>
                    <a:bodyPr/>
                    <a:lstStyle/>
                    <a:p>
                      <a:pPr>
                        <a:buNone/>
                      </a:pPr>
                      <a:r>
                        <a:rPr lang="en-US" dirty="0"/>
                        <a:t>AC</a:t>
                      </a:r>
                      <a:r>
                        <a:rPr lang="zh-CN" altLang="en-US" dirty="0"/>
                        <a:t>，</a:t>
                      </a:r>
                      <a:r>
                        <a:rPr lang="en-US" altLang="zh-CN" dirty="0"/>
                        <a:t>Actual Cost</a:t>
                      </a:r>
                      <a:endParaRPr lang="en-US" dirty="0"/>
                    </a:p>
                  </a:txBody>
                  <a:tcPr anchor="ctr">
                    <a:lnL>
                      <a:noFill/>
                    </a:lnL>
                    <a:lnR>
                      <a:noFill/>
                    </a:lnR>
                    <a:lnT>
                      <a:noFill/>
                    </a:lnT>
                    <a:lnB>
                      <a:noFill/>
                    </a:lnB>
                    <a:noFill/>
                  </a:tcPr>
                </a:tc>
                <a:tc>
                  <a:txBody>
                    <a:bodyPr/>
                    <a:lstStyle/>
                    <a:p>
                      <a:pPr>
                        <a:buNone/>
                      </a:pPr>
                      <a:r>
                        <a:rPr lang="zh-CN" altLang="en-US" dirty="0"/>
                        <a:t>已完成工作量的实际费用，实际花了多少</a:t>
                      </a:r>
                    </a:p>
                  </a:txBody>
                  <a:tcPr anchor="ctr">
                    <a:lnL>
                      <a:noFill/>
                    </a:lnL>
                    <a:lnR>
                      <a:noFill/>
                    </a:lnR>
                    <a:lnT>
                      <a:noFill/>
                    </a:lnT>
                    <a:lnB>
                      <a:noFill/>
                    </a:lnB>
                    <a:noFill/>
                  </a:tcPr>
                </a:tc>
                <a:extLst>
                  <a:ext uri="{0D108BD9-81ED-4DB2-BD59-A6C34878D82A}">
                    <a16:rowId xmlns:a16="http://schemas.microsoft.com/office/drawing/2014/main" val="482583307"/>
                  </a:ext>
                </a:extLst>
              </a:tr>
              <a:tr h="0">
                <a:tc>
                  <a:txBody>
                    <a:bodyPr/>
                    <a:lstStyle/>
                    <a:p>
                      <a:pPr>
                        <a:buNone/>
                      </a:pPr>
                      <a:r>
                        <a:rPr lang="en-US" dirty="0"/>
                        <a:t>CV</a:t>
                      </a:r>
                      <a:r>
                        <a:rPr lang="zh-CN" altLang="en-US" dirty="0"/>
                        <a:t>，</a:t>
                      </a:r>
                      <a:r>
                        <a:rPr lang="en-US" altLang="zh-CN" dirty="0"/>
                        <a:t>Cost Variance</a:t>
                      </a:r>
                      <a:endParaRPr lang="en-US" dirty="0"/>
                    </a:p>
                  </a:txBody>
                  <a:tcPr anchor="ctr">
                    <a:lnL>
                      <a:noFill/>
                    </a:lnL>
                    <a:lnR>
                      <a:noFill/>
                    </a:lnR>
                    <a:lnT>
                      <a:noFill/>
                    </a:lnT>
                    <a:lnB>
                      <a:noFill/>
                    </a:lnB>
                    <a:noFill/>
                  </a:tcPr>
                </a:tc>
                <a:tc>
                  <a:txBody>
                    <a:bodyPr/>
                    <a:lstStyle/>
                    <a:p>
                      <a:pPr>
                        <a:buNone/>
                      </a:pPr>
                      <a:r>
                        <a:rPr lang="zh-CN" altLang="en-US"/>
                        <a:t>成本偏差 </a:t>
                      </a:r>
                      <a:r>
                        <a:rPr lang="en-US"/>
                        <a:t>CV = EV - AC</a:t>
                      </a:r>
                    </a:p>
                  </a:txBody>
                  <a:tcPr anchor="ctr">
                    <a:lnL>
                      <a:noFill/>
                    </a:lnL>
                    <a:lnR>
                      <a:noFill/>
                    </a:lnR>
                    <a:lnT>
                      <a:noFill/>
                    </a:lnT>
                    <a:lnB>
                      <a:noFill/>
                    </a:lnB>
                    <a:noFill/>
                  </a:tcPr>
                </a:tc>
                <a:extLst>
                  <a:ext uri="{0D108BD9-81ED-4DB2-BD59-A6C34878D82A}">
                    <a16:rowId xmlns:a16="http://schemas.microsoft.com/office/drawing/2014/main" val="1288217352"/>
                  </a:ext>
                </a:extLst>
              </a:tr>
              <a:tr h="0">
                <a:tc>
                  <a:txBody>
                    <a:bodyPr/>
                    <a:lstStyle/>
                    <a:p>
                      <a:pPr>
                        <a:buNone/>
                      </a:pPr>
                      <a:r>
                        <a:rPr lang="en-US" dirty="0"/>
                        <a:t>SV</a:t>
                      </a:r>
                      <a:r>
                        <a:rPr lang="zh-CN" altLang="en-US" dirty="0"/>
                        <a:t>，</a:t>
                      </a:r>
                      <a:r>
                        <a:rPr lang="en-US" altLang="zh-CN" dirty="0"/>
                        <a:t>Schedule Variance</a:t>
                      </a:r>
                      <a:endParaRPr lang="en-US" dirty="0"/>
                    </a:p>
                  </a:txBody>
                  <a:tcPr anchor="ctr">
                    <a:lnL>
                      <a:noFill/>
                    </a:lnL>
                    <a:lnR>
                      <a:noFill/>
                    </a:lnR>
                    <a:lnT>
                      <a:noFill/>
                    </a:lnT>
                    <a:lnB>
                      <a:noFill/>
                    </a:lnB>
                    <a:noFill/>
                  </a:tcPr>
                </a:tc>
                <a:tc>
                  <a:txBody>
                    <a:bodyPr/>
                    <a:lstStyle/>
                    <a:p>
                      <a:pPr>
                        <a:buNone/>
                      </a:pPr>
                      <a:r>
                        <a:rPr lang="zh-CN" altLang="en-US"/>
                        <a:t>进度偏差 </a:t>
                      </a:r>
                      <a:r>
                        <a:rPr lang="en-US"/>
                        <a:t>SV = EV - PV</a:t>
                      </a:r>
                    </a:p>
                  </a:txBody>
                  <a:tcPr anchor="ctr">
                    <a:lnL>
                      <a:noFill/>
                    </a:lnL>
                    <a:lnR>
                      <a:noFill/>
                    </a:lnR>
                    <a:lnT>
                      <a:noFill/>
                    </a:lnT>
                    <a:lnB>
                      <a:noFill/>
                    </a:lnB>
                    <a:noFill/>
                  </a:tcPr>
                </a:tc>
                <a:extLst>
                  <a:ext uri="{0D108BD9-81ED-4DB2-BD59-A6C34878D82A}">
                    <a16:rowId xmlns:a16="http://schemas.microsoft.com/office/drawing/2014/main" val="2443196004"/>
                  </a:ext>
                </a:extLst>
              </a:tr>
              <a:tr h="0">
                <a:tc>
                  <a:txBody>
                    <a:bodyPr/>
                    <a:lstStyle/>
                    <a:p>
                      <a:pPr>
                        <a:buNone/>
                      </a:pPr>
                      <a:r>
                        <a:rPr lang="en-US" dirty="0"/>
                        <a:t>CPI</a:t>
                      </a:r>
                      <a:r>
                        <a:rPr lang="zh-CN" altLang="en-US" dirty="0"/>
                        <a:t>，</a:t>
                      </a:r>
                      <a:r>
                        <a:rPr lang="en-US" altLang="zh-CN" dirty="0"/>
                        <a:t>Cost Performance Index</a:t>
                      </a:r>
                      <a:endParaRPr lang="en-US" dirty="0"/>
                    </a:p>
                  </a:txBody>
                  <a:tcPr anchor="ctr">
                    <a:lnL>
                      <a:noFill/>
                    </a:lnL>
                    <a:lnR>
                      <a:noFill/>
                    </a:lnR>
                    <a:lnT>
                      <a:noFill/>
                    </a:lnT>
                    <a:lnB>
                      <a:noFill/>
                    </a:lnB>
                    <a:noFill/>
                  </a:tcPr>
                </a:tc>
                <a:tc>
                  <a:txBody>
                    <a:bodyPr/>
                    <a:lstStyle/>
                    <a:p>
                      <a:pPr>
                        <a:buNone/>
                      </a:pPr>
                      <a:r>
                        <a:rPr lang="zh-CN" altLang="en-US" dirty="0"/>
                        <a:t>成本绩效指数 </a:t>
                      </a:r>
                      <a:r>
                        <a:rPr lang="en-US" altLang="zh-CN" dirty="0"/>
                        <a:t>CPI = EV / AC</a:t>
                      </a:r>
                    </a:p>
                  </a:txBody>
                  <a:tcPr anchor="ctr">
                    <a:lnL>
                      <a:noFill/>
                    </a:lnL>
                    <a:lnR>
                      <a:noFill/>
                    </a:lnR>
                    <a:lnT>
                      <a:noFill/>
                    </a:lnT>
                    <a:lnB>
                      <a:noFill/>
                    </a:lnB>
                    <a:noFill/>
                  </a:tcPr>
                </a:tc>
                <a:extLst>
                  <a:ext uri="{0D108BD9-81ED-4DB2-BD59-A6C34878D82A}">
                    <a16:rowId xmlns:a16="http://schemas.microsoft.com/office/drawing/2014/main" val="1813460754"/>
                  </a:ext>
                </a:extLst>
              </a:tr>
              <a:tr h="0">
                <a:tc>
                  <a:txBody>
                    <a:bodyPr/>
                    <a:lstStyle/>
                    <a:p>
                      <a:pPr>
                        <a:buNone/>
                      </a:pPr>
                      <a:r>
                        <a:rPr lang="en-US" dirty="0"/>
                        <a:t>SPI</a:t>
                      </a:r>
                      <a:r>
                        <a:rPr lang="zh-CN" altLang="en-US" dirty="0"/>
                        <a:t>，</a:t>
                      </a:r>
                      <a:r>
                        <a:rPr lang="en-US" altLang="zh-CN" dirty="0"/>
                        <a:t>Schedule Performance Index</a:t>
                      </a:r>
                      <a:endParaRPr lang="en-US" dirty="0"/>
                    </a:p>
                  </a:txBody>
                  <a:tcPr anchor="ctr">
                    <a:lnL>
                      <a:noFill/>
                    </a:lnL>
                    <a:lnR>
                      <a:noFill/>
                    </a:lnR>
                    <a:lnT>
                      <a:noFill/>
                    </a:lnT>
                    <a:lnB>
                      <a:noFill/>
                    </a:lnB>
                    <a:noFill/>
                  </a:tcPr>
                </a:tc>
                <a:tc>
                  <a:txBody>
                    <a:bodyPr/>
                    <a:lstStyle/>
                    <a:p>
                      <a:pPr>
                        <a:buNone/>
                      </a:pPr>
                      <a:r>
                        <a:rPr lang="zh-CN" altLang="en-US"/>
                        <a:t>进度绩效指数 </a:t>
                      </a:r>
                      <a:r>
                        <a:rPr lang="en-US"/>
                        <a:t>SPI = EV / PV</a:t>
                      </a:r>
                    </a:p>
                  </a:txBody>
                  <a:tcPr anchor="ctr">
                    <a:lnL>
                      <a:noFill/>
                    </a:lnL>
                    <a:lnR>
                      <a:noFill/>
                    </a:lnR>
                    <a:lnT>
                      <a:noFill/>
                    </a:lnT>
                    <a:lnB>
                      <a:noFill/>
                    </a:lnB>
                    <a:noFill/>
                  </a:tcPr>
                </a:tc>
                <a:extLst>
                  <a:ext uri="{0D108BD9-81ED-4DB2-BD59-A6C34878D82A}">
                    <a16:rowId xmlns:a16="http://schemas.microsoft.com/office/drawing/2014/main" val="3578365379"/>
                  </a:ext>
                </a:extLst>
              </a:tr>
              <a:tr h="0">
                <a:tc>
                  <a:txBody>
                    <a:bodyPr/>
                    <a:lstStyle/>
                    <a:p>
                      <a:pPr>
                        <a:buNone/>
                      </a:pPr>
                      <a:r>
                        <a:rPr lang="en-US" dirty="0"/>
                        <a:t>BAC</a:t>
                      </a:r>
                      <a:r>
                        <a:rPr lang="zh-CN" altLang="en-US" dirty="0"/>
                        <a:t>，</a:t>
                      </a:r>
                      <a:r>
                        <a:rPr lang="en-US" altLang="zh-CN" dirty="0"/>
                        <a:t>Budget at Completion</a:t>
                      </a:r>
                      <a:endParaRPr lang="en-US" dirty="0"/>
                    </a:p>
                  </a:txBody>
                  <a:tcPr anchor="ctr">
                    <a:lnL>
                      <a:noFill/>
                    </a:lnL>
                    <a:lnR>
                      <a:noFill/>
                    </a:lnR>
                    <a:lnT>
                      <a:noFill/>
                    </a:lnT>
                    <a:lnB>
                      <a:noFill/>
                    </a:lnB>
                    <a:noFill/>
                  </a:tcPr>
                </a:tc>
                <a:tc>
                  <a:txBody>
                    <a:bodyPr/>
                    <a:lstStyle/>
                    <a:p>
                      <a:pPr>
                        <a:buNone/>
                      </a:pPr>
                      <a:r>
                        <a:rPr lang="zh-CN" altLang="en-US" dirty="0"/>
                        <a:t>总预算即全部的 </a:t>
                      </a:r>
                      <a:r>
                        <a:rPr lang="en-US" altLang="zh-CN" dirty="0"/>
                        <a:t>PV</a:t>
                      </a:r>
                    </a:p>
                  </a:txBody>
                  <a:tcPr anchor="ctr">
                    <a:lnL>
                      <a:noFill/>
                    </a:lnL>
                    <a:lnR>
                      <a:noFill/>
                    </a:lnR>
                    <a:lnT>
                      <a:noFill/>
                    </a:lnT>
                    <a:lnB>
                      <a:noFill/>
                    </a:lnB>
                    <a:noFill/>
                  </a:tcPr>
                </a:tc>
                <a:extLst>
                  <a:ext uri="{0D108BD9-81ED-4DB2-BD59-A6C34878D82A}">
                    <a16:rowId xmlns:a16="http://schemas.microsoft.com/office/drawing/2014/main" val="3327084754"/>
                  </a:ext>
                </a:extLst>
              </a:tr>
              <a:tr h="0">
                <a:tc>
                  <a:txBody>
                    <a:bodyPr/>
                    <a:lstStyle/>
                    <a:p>
                      <a:pPr>
                        <a:buNone/>
                      </a:pPr>
                      <a:r>
                        <a:rPr lang="en-US" dirty="0"/>
                        <a:t>ETC</a:t>
                      </a:r>
                      <a:r>
                        <a:rPr lang="zh-CN" altLang="en-US" dirty="0"/>
                        <a:t>，</a:t>
                      </a:r>
                      <a:r>
                        <a:rPr lang="en-US" altLang="zh-CN" dirty="0"/>
                        <a:t>Estimate to Complete</a:t>
                      </a:r>
                      <a:endParaRPr lang="en-US" dirty="0"/>
                    </a:p>
                  </a:txBody>
                  <a:tcPr anchor="ctr">
                    <a:lnL>
                      <a:noFill/>
                    </a:lnL>
                    <a:lnR>
                      <a:noFill/>
                    </a:lnR>
                    <a:lnT>
                      <a:noFill/>
                    </a:lnT>
                    <a:lnB>
                      <a:noFill/>
                    </a:lnB>
                    <a:noFill/>
                  </a:tcPr>
                </a:tc>
                <a:tc>
                  <a:txBody>
                    <a:bodyPr/>
                    <a:lstStyle/>
                    <a:p>
                      <a:pPr>
                        <a:buNone/>
                      </a:pPr>
                      <a:r>
                        <a:rPr lang="fr-FR"/>
                        <a:t>完工尚需估算 ETC = EAC - AC</a:t>
                      </a:r>
                    </a:p>
                  </a:txBody>
                  <a:tcPr anchor="ctr">
                    <a:lnL>
                      <a:noFill/>
                    </a:lnL>
                    <a:lnR>
                      <a:noFill/>
                    </a:lnR>
                    <a:lnT>
                      <a:noFill/>
                    </a:lnT>
                    <a:lnB>
                      <a:noFill/>
                    </a:lnB>
                    <a:noFill/>
                  </a:tcPr>
                </a:tc>
                <a:extLst>
                  <a:ext uri="{0D108BD9-81ED-4DB2-BD59-A6C34878D82A}">
                    <a16:rowId xmlns:a16="http://schemas.microsoft.com/office/drawing/2014/main" val="3888247586"/>
                  </a:ext>
                </a:extLst>
              </a:tr>
              <a:tr h="0">
                <a:tc>
                  <a:txBody>
                    <a:bodyPr/>
                    <a:lstStyle/>
                    <a:p>
                      <a:pPr>
                        <a:buNone/>
                      </a:pPr>
                      <a:r>
                        <a:rPr lang="en-US" dirty="0"/>
                        <a:t>EAC</a:t>
                      </a:r>
                      <a:r>
                        <a:rPr lang="zh-CN" altLang="en-US" dirty="0"/>
                        <a:t>，</a:t>
                      </a:r>
                      <a:r>
                        <a:rPr lang="en-US" altLang="zh-CN" dirty="0"/>
                        <a:t>Estimate at Completion</a:t>
                      </a:r>
                      <a:endParaRPr lang="en-US" dirty="0"/>
                    </a:p>
                  </a:txBody>
                  <a:tcPr anchor="ctr">
                    <a:lnL>
                      <a:noFill/>
                    </a:lnL>
                    <a:lnR>
                      <a:noFill/>
                    </a:lnR>
                    <a:lnT>
                      <a:noFill/>
                    </a:lnT>
                    <a:lnB>
                      <a:noFill/>
                    </a:lnB>
                    <a:noFill/>
                  </a:tcPr>
                </a:tc>
                <a:tc>
                  <a:txBody>
                    <a:bodyPr/>
                    <a:lstStyle/>
                    <a:p>
                      <a:pPr>
                        <a:buNone/>
                      </a:pPr>
                      <a:r>
                        <a:rPr lang="zh-CN" altLang="en-US" dirty="0"/>
                        <a:t>完工估算：</a:t>
                      </a:r>
                      <a:endParaRPr lang="en-US" altLang="zh-CN" dirty="0"/>
                    </a:p>
                    <a:p>
                      <a:pPr>
                        <a:buNone/>
                      </a:pPr>
                      <a:r>
                        <a:rPr lang="zh-CN" altLang="en-US" dirty="0"/>
                        <a:t>非典型偏差 </a:t>
                      </a:r>
                      <a:r>
                        <a:rPr lang="en-US" dirty="0"/>
                        <a:t>EAC = AC + (BAC - EV)</a:t>
                      </a:r>
                    </a:p>
                    <a:p>
                      <a:pPr>
                        <a:buNone/>
                      </a:pPr>
                      <a:r>
                        <a:rPr lang="zh-CN" altLang="en-US" dirty="0"/>
                        <a:t>典型偏差 </a:t>
                      </a:r>
                      <a:r>
                        <a:rPr lang="en-US" dirty="0"/>
                        <a:t>EAC = AC + (BAC - EV)/CPI</a:t>
                      </a:r>
                    </a:p>
                  </a:txBody>
                  <a:tcPr anchor="ctr">
                    <a:lnL>
                      <a:noFill/>
                    </a:lnL>
                    <a:lnR>
                      <a:noFill/>
                    </a:lnR>
                    <a:lnT>
                      <a:noFill/>
                    </a:lnT>
                    <a:lnB>
                      <a:noFill/>
                    </a:lnB>
                    <a:noFill/>
                  </a:tcPr>
                </a:tc>
                <a:extLst>
                  <a:ext uri="{0D108BD9-81ED-4DB2-BD59-A6C34878D82A}">
                    <a16:rowId xmlns:a16="http://schemas.microsoft.com/office/drawing/2014/main" val="574668408"/>
                  </a:ext>
                </a:extLst>
              </a:tr>
              <a:tr h="0">
                <a:tc>
                  <a:txBody>
                    <a:bodyPr/>
                    <a:lstStyle/>
                    <a:p>
                      <a:pPr>
                        <a:buNone/>
                      </a:pPr>
                      <a:r>
                        <a:rPr lang="en-US" dirty="0"/>
                        <a:t>VAC</a:t>
                      </a:r>
                      <a:r>
                        <a:rPr lang="zh-CN" altLang="en-US" dirty="0"/>
                        <a:t>，</a:t>
                      </a:r>
                      <a:r>
                        <a:rPr lang="en-US" altLang="zh-CN" dirty="0"/>
                        <a:t>Variance at Completion</a:t>
                      </a:r>
                      <a:endParaRPr lang="en-US" dirty="0"/>
                    </a:p>
                  </a:txBody>
                  <a:tcPr anchor="ctr">
                    <a:lnL>
                      <a:noFill/>
                    </a:lnL>
                    <a:lnR>
                      <a:noFill/>
                    </a:lnR>
                    <a:lnT>
                      <a:noFill/>
                    </a:lnT>
                    <a:lnB>
                      <a:noFill/>
                    </a:lnB>
                    <a:noFill/>
                  </a:tcPr>
                </a:tc>
                <a:tc>
                  <a:txBody>
                    <a:bodyPr/>
                    <a:lstStyle/>
                    <a:p>
                      <a:pPr>
                        <a:buNone/>
                      </a:pPr>
                      <a:r>
                        <a:rPr lang="zh-CN" altLang="en-US" dirty="0"/>
                        <a:t>完工偏差 </a:t>
                      </a:r>
                      <a:r>
                        <a:rPr lang="en-US" dirty="0"/>
                        <a:t>VAC = BAC - EAC</a:t>
                      </a:r>
                    </a:p>
                  </a:txBody>
                  <a:tcPr anchor="ctr">
                    <a:lnL>
                      <a:noFill/>
                    </a:lnL>
                    <a:lnR>
                      <a:noFill/>
                    </a:lnR>
                    <a:lnT>
                      <a:noFill/>
                    </a:lnT>
                    <a:lnB>
                      <a:noFill/>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p:txBody>
          <a:bodyPr>
            <a:normAutofit fontScale="92500" lnSpcReduction="10000"/>
          </a:bodyPr>
          <a:lstStyle/>
          <a:p>
            <a:pPr marL="360000" indent="-180000">
              <a:buFont typeface="+mj-lt"/>
              <a:buAutoNum type="arabicPeriod"/>
            </a:pPr>
            <a:r>
              <a:rPr lang="zh-CN" altLang="en-US" dirty="0"/>
              <a:t>规划进度</a:t>
            </a:r>
          </a:p>
          <a:p>
            <a:pPr marL="360000" indent="-180000">
              <a:buFont typeface="+mj-lt"/>
              <a:buAutoNum type="arabicPeriod"/>
            </a:pPr>
            <a:r>
              <a:rPr lang="zh-CN" altLang="en-US" dirty="0"/>
              <a:t>定义活动</a:t>
            </a:r>
          </a:p>
          <a:p>
            <a:pPr marL="360000" indent="-180000">
              <a:buFont typeface="+mj-lt"/>
              <a:buAutoNum type="arabicPeriod"/>
            </a:pPr>
            <a:r>
              <a:rPr lang="zh-CN" altLang="en-US" dirty="0"/>
              <a:t>排列活动顺序</a:t>
            </a:r>
          </a:p>
          <a:p>
            <a:pPr marL="360000" indent="-180000">
              <a:buFont typeface="+mj-lt"/>
              <a:buAutoNum type="arabicPeriod"/>
            </a:pPr>
            <a:r>
              <a:rPr lang="zh-CN" altLang="en-US" dirty="0"/>
              <a:t>估算活动资源</a:t>
            </a:r>
          </a:p>
          <a:p>
            <a:pPr marL="360000" indent="-180000">
              <a:buFont typeface="+mj-lt"/>
              <a:buAutoNum type="arabicPeriod"/>
            </a:pPr>
            <a:r>
              <a:rPr lang="zh-CN" altLang="en-US" dirty="0"/>
              <a:t>估算活动持续时间</a:t>
            </a:r>
          </a:p>
          <a:p>
            <a:pPr marL="360000" indent="-180000">
              <a:buFont typeface="+mj-lt"/>
              <a:buAutoNum type="arabicPeriod"/>
            </a:pPr>
            <a:r>
              <a:rPr lang="zh-CN" altLang="en-US" dirty="0"/>
              <a:t>制定进度计划</a:t>
            </a:r>
          </a:p>
          <a:p>
            <a:pPr marL="360000" indent="-180000">
              <a:buFont typeface="+mj-lt"/>
              <a:buAutoNum type="arabicPeriod"/>
            </a:pPr>
            <a:r>
              <a:rPr lang="zh-CN" altLang="en-US" dirty="0"/>
              <a:t>控制进度过程</a:t>
            </a:r>
          </a:p>
          <a:p>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dirty="0"/>
              <a:t>7</a:t>
            </a:r>
            <a:r>
              <a:rPr lang="zh-CN" altLang="en-US" dirty="0"/>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dirty="0"/>
              <a:t>规划进度</a:t>
            </a:r>
            <a:endParaRPr lang="en-US" altLang="zh-CN" dirty="0"/>
          </a:p>
          <a:p>
            <a:r>
              <a:rPr lang="zh-CN" altLang="en-US" dirty="0"/>
              <a:t>定义活动</a:t>
            </a:r>
            <a:endParaRPr lang="en-US" altLang="zh-CN" dirty="0"/>
          </a:p>
          <a:p>
            <a:r>
              <a:rPr lang="zh-CN" altLang="en-US" dirty="0"/>
              <a:t>排列活动顺序</a:t>
            </a:r>
            <a:endParaRPr lang="en-US" altLang="zh-CN" dirty="0"/>
          </a:p>
          <a:p>
            <a:r>
              <a:rPr lang="zh-CN" altLang="en-US" dirty="0"/>
              <a:t>估算活动资源</a:t>
            </a:r>
            <a:endParaRPr lang="en-US" altLang="zh-CN" dirty="0"/>
          </a:p>
          <a:p>
            <a:r>
              <a:rPr lang="zh-CN" altLang="en-US" dirty="0"/>
              <a:t>估算活动持续时间</a:t>
            </a:r>
            <a:endParaRPr lang="en-US" altLang="zh-CN" dirty="0"/>
          </a:p>
          <a:p>
            <a:r>
              <a:rPr lang="zh-CN" altLang="en-US" dirty="0"/>
              <a:t>制定进度计划</a:t>
            </a:r>
            <a:endParaRPr lang="en-US" altLang="zh-CN" dirty="0"/>
          </a:p>
          <a:p>
            <a:r>
              <a:rPr lang="zh-CN" altLang="en-US" dirty="0"/>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25467596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dirty="0"/>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dirty="0"/>
              <a:t>要求</a:t>
            </a:r>
            <a:endParaRPr lang="en-US" altLang="zh-CN" dirty="0"/>
          </a:p>
          <a:p>
            <a:pPr lvl="1"/>
            <a:r>
              <a:rPr lang="zh-CN" altLang="en-US" dirty="0"/>
              <a:t>正式或非正式</a:t>
            </a:r>
            <a:endParaRPr lang="en-US" altLang="zh-CN" dirty="0"/>
          </a:p>
          <a:p>
            <a:pPr lvl="1"/>
            <a:r>
              <a:rPr lang="zh-CN" altLang="en-US" dirty="0"/>
              <a:t>详细或概括</a:t>
            </a:r>
            <a:endParaRPr lang="en-US" altLang="zh-CN" dirty="0"/>
          </a:p>
          <a:p>
            <a:r>
              <a:rPr lang="zh-CN" altLang="en-US" dirty="0"/>
              <a:t>产出</a:t>
            </a:r>
            <a:endParaRPr lang="en-US" altLang="zh-CN" dirty="0"/>
          </a:p>
          <a:p>
            <a:pPr lvl="1"/>
            <a:r>
              <a:rPr lang="zh-CN" altLang="en-US" dirty="0"/>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dirty="0"/>
              <a:t>活动 </a:t>
            </a:r>
            <a:r>
              <a:rPr lang="en-US" altLang="zh-CN" dirty="0"/>
              <a:t>Activity</a:t>
            </a:r>
            <a:endParaRPr lang="zh-CN" altLang="en-US" dirty="0"/>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a:p>
            <a:r>
              <a:rPr lang="zh-CN" altLang="en-US" dirty="0"/>
              <a:t>排列活动的工具</a:t>
            </a:r>
            <a:endParaRPr lang="en-US" altLang="zh-CN" dirty="0"/>
          </a:p>
          <a:p>
            <a:pPr lvl="1"/>
            <a:r>
              <a:rPr lang="zh-CN" altLang="en-US" dirty="0"/>
              <a:t>前导图 </a:t>
            </a:r>
            <a:r>
              <a:rPr lang="en-US" altLang="zh-CN" dirty="0"/>
              <a:t>PDM</a:t>
            </a:r>
            <a:r>
              <a:rPr lang="zh-CN" altLang="en-US" dirty="0"/>
              <a:t>，</a:t>
            </a:r>
            <a:r>
              <a:rPr lang="en-US" altLang="zh-CN" dirty="0"/>
              <a:t>Precedence Diagramming Method</a:t>
            </a:r>
            <a:r>
              <a:rPr lang="zh-CN" altLang="en-US" dirty="0"/>
              <a:t>，也叫单代号网络图</a:t>
            </a:r>
            <a:endParaRPr lang="en-US" altLang="zh-CN" dirty="0"/>
          </a:p>
          <a:p>
            <a:pPr lvl="1"/>
            <a:r>
              <a:rPr lang="zh-CN" altLang="en-US" dirty="0"/>
              <a:t>箭线图 </a:t>
            </a:r>
            <a:r>
              <a:rPr lang="en-US" altLang="zh-CN" dirty="0"/>
              <a:t>ADM</a:t>
            </a:r>
            <a:r>
              <a:rPr lang="zh-CN" altLang="en-US" dirty="0"/>
              <a:t>，</a:t>
            </a:r>
            <a:r>
              <a:rPr lang="en-US" altLang="zh-CN" dirty="0"/>
              <a:t>Arrow Diagramming Method,</a:t>
            </a:r>
            <a:r>
              <a:rPr lang="zh-CN" altLang="en-US" dirty="0"/>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4732"/>
          </a:xfrm>
        </p:spPr>
        <p:txBody>
          <a:bodyPr>
            <a:normAutofit/>
          </a:bodyPr>
          <a:lstStyle/>
          <a:p>
            <a:r>
              <a:rPr lang="zh-CN" altLang="en-US"/>
              <a:t>前导图 </a:t>
            </a:r>
            <a:r>
              <a:rPr lang="en-US" altLang="zh-CN"/>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1079999"/>
            <a:ext cx="5040000" cy="5112000"/>
          </a:xfrm>
        </p:spPr>
        <p:txBody>
          <a:bodyPr>
            <a:normAutofit/>
          </a:bodyPr>
          <a:lstStyle/>
          <a:p>
            <a:r>
              <a:rPr lang="zh-CN" altLang="en-US" dirty="0"/>
              <a:t>活动：方块表示</a:t>
            </a:r>
            <a:endParaRPr lang="en-US" altLang="zh-CN" dirty="0"/>
          </a:p>
          <a:p>
            <a:r>
              <a:rPr lang="zh-CN" altLang="en-US" dirty="0"/>
              <a:t>紧前活动</a:t>
            </a:r>
            <a:endParaRPr lang="en-US" altLang="zh-CN" dirty="0"/>
          </a:p>
          <a:p>
            <a:pPr lvl="1"/>
            <a:r>
              <a:rPr lang="en-US" altLang="zh-CN" dirty="0"/>
              <a:t>H</a:t>
            </a:r>
            <a:r>
              <a:rPr lang="zh-CN" altLang="en-US" dirty="0"/>
              <a:t>是</a:t>
            </a:r>
            <a:r>
              <a:rPr lang="en-US" altLang="zh-CN" dirty="0"/>
              <a:t>I</a:t>
            </a:r>
            <a:r>
              <a:rPr lang="zh-CN" altLang="en-US" dirty="0"/>
              <a:t>的紧前活动</a:t>
            </a:r>
            <a:endParaRPr lang="en-US" altLang="zh-CN" dirty="0"/>
          </a:p>
          <a:p>
            <a:r>
              <a:rPr lang="zh-CN" altLang="en-US" dirty="0"/>
              <a:t>紧后活动</a:t>
            </a:r>
            <a:endParaRPr lang="en-US" altLang="zh-CN" dirty="0"/>
          </a:p>
          <a:p>
            <a:pPr lvl="1"/>
            <a:r>
              <a:rPr lang="en-US" altLang="zh-CN" dirty="0"/>
              <a:t>I</a:t>
            </a:r>
            <a:r>
              <a:rPr lang="zh-CN" altLang="en-US" dirty="0"/>
              <a:t>是</a:t>
            </a:r>
            <a:r>
              <a:rPr lang="en-US" altLang="zh-CN" dirty="0"/>
              <a:t>H</a:t>
            </a:r>
            <a:r>
              <a:rPr lang="zh-CN" altLang="en-US" dirty="0"/>
              <a:t>的紧后活动</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1079998"/>
            <a:ext cx="5400675" cy="5040000"/>
          </a:xfrm>
        </p:spPr>
        <p:txBody>
          <a:bodyPr/>
          <a:lstStyle/>
          <a:p>
            <a:r>
              <a:rPr lang="zh-CN" altLang="en-US" dirty="0"/>
              <a:t>结束 </a:t>
            </a:r>
            <a:r>
              <a:rPr lang="en-US" altLang="zh-CN" dirty="0"/>
              <a:t>Finish </a:t>
            </a:r>
            <a:r>
              <a:rPr lang="zh-CN" altLang="en-US" dirty="0"/>
              <a:t>→ 开始 </a:t>
            </a:r>
            <a:r>
              <a:rPr lang="en-US" altLang="zh-CN" dirty="0"/>
              <a:t>Start</a:t>
            </a:r>
            <a:endParaRPr lang="zh-CN" altLang="en-US" dirty="0"/>
          </a:p>
          <a:p>
            <a:pPr lvl="1"/>
            <a:r>
              <a:rPr lang="en-US" altLang="zh-CN" dirty="0"/>
              <a:t>FS</a:t>
            </a:r>
            <a:r>
              <a:rPr lang="zh-CN" altLang="en-US" dirty="0"/>
              <a:t>：</a:t>
            </a:r>
            <a:r>
              <a:rPr lang="en-US" altLang="zh-CN" dirty="0"/>
              <a:t>H</a:t>
            </a:r>
            <a:r>
              <a:rPr lang="zh-CN" altLang="en-US" dirty="0"/>
              <a:t>结束了，</a:t>
            </a:r>
            <a:r>
              <a:rPr lang="en-US" altLang="zh-CN" dirty="0"/>
              <a:t>I</a:t>
            </a:r>
            <a:r>
              <a:rPr lang="zh-CN" altLang="en-US" dirty="0"/>
              <a:t>才可以开始</a:t>
            </a:r>
            <a:endParaRPr lang="en-US" altLang="zh-CN" dirty="0"/>
          </a:p>
          <a:p>
            <a:r>
              <a:rPr lang="zh-CN" altLang="en-US" dirty="0"/>
              <a:t>开始 </a:t>
            </a:r>
            <a:r>
              <a:rPr lang="en-US" altLang="zh-CN" dirty="0"/>
              <a:t>Start</a:t>
            </a:r>
            <a:r>
              <a:rPr lang="zh-CN" altLang="en-US" dirty="0"/>
              <a:t> → 开始 </a:t>
            </a:r>
            <a:r>
              <a:rPr lang="en-US" altLang="zh-CN" dirty="0"/>
              <a:t>Start</a:t>
            </a:r>
          </a:p>
          <a:p>
            <a:pPr lvl="1"/>
            <a:r>
              <a:rPr lang="en-US" altLang="zh-CN" dirty="0"/>
              <a:t>SS</a:t>
            </a:r>
            <a:r>
              <a:rPr lang="zh-CN" altLang="en-US" dirty="0"/>
              <a:t>：</a:t>
            </a:r>
            <a:r>
              <a:rPr lang="en-US" altLang="zh-CN" dirty="0"/>
              <a:t>A</a:t>
            </a:r>
            <a:r>
              <a:rPr lang="zh-CN" altLang="en-US" dirty="0"/>
              <a:t>开始，</a:t>
            </a:r>
            <a:r>
              <a:rPr lang="en-US" altLang="zh-CN" dirty="0"/>
              <a:t>C</a:t>
            </a:r>
            <a:r>
              <a:rPr lang="zh-CN" altLang="en-US" dirty="0"/>
              <a:t>也开始</a:t>
            </a:r>
            <a:endParaRPr lang="en-US" altLang="zh-CN" dirty="0"/>
          </a:p>
          <a:p>
            <a:r>
              <a:rPr lang="zh-CN" altLang="en-US" dirty="0"/>
              <a:t>开始 </a:t>
            </a:r>
            <a:r>
              <a:rPr lang="en-US" altLang="zh-CN" dirty="0"/>
              <a:t>Start</a:t>
            </a:r>
            <a:r>
              <a:rPr lang="zh-CN" altLang="en-US" dirty="0"/>
              <a:t> → 结束 </a:t>
            </a:r>
            <a:r>
              <a:rPr lang="en-US" altLang="zh-CN" dirty="0"/>
              <a:t>Finish</a:t>
            </a:r>
          </a:p>
          <a:p>
            <a:r>
              <a:rPr lang="zh-CN" altLang="en-US" dirty="0"/>
              <a:t>结束 </a:t>
            </a:r>
            <a:r>
              <a:rPr lang="en-US" altLang="zh-CN" dirty="0"/>
              <a:t>Finish</a:t>
            </a:r>
            <a:r>
              <a:rPr lang="zh-CN" altLang="en-US" dirty="0"/>
              <a:t> → 结束 </a:t>
            </a:r>
            <a:r>
              <a:rPr lang="en-US" altLang="zh-CN" dirty="0"/>
              <a:t>Finish</a:t>
            </a:r>
            <a:endParaRPr lang="zh-CN" altLang="en-US" dirty="0"/>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a:t>
            </a:r>
            <a:endParaRPr lang="zh-CN" altLang="en-US" sz="1600" dirty="0">
              <a:solidFill>
                <a:schemeClr val="tx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H</a:t>
            </a:r>
            <a:endParaRPr lang="zh-CN" altLang="en-US" sz="1600" dirty="0">
              <a:solidFill>
                <a:schemeClr val="tx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4732"/>
          </a:xfrm>
        </p:spPr>
        <p:txBody>
          <a:bodyPr>
            <a:normAutofit/>
          </a:bodyPr>
          <a:lstStyle/>
          <a:p>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1079999"/>
            <a:ext cx="5040000" cy="5112000"/>
          </a:xfrm>
        </p:spPr>
        <p:txBody>
          <a:bodyPr>
            <a:normAutofit/>
          </a:bodyPr>
          <a:lstStyle/>
          <a:p>
            <a:r>
              <a:rPr lang="zh-CN" altLang="en-US" dirty="0"/>
              <a:t>提前量 </a:t>
            </a:r>
            <a:r>
              <a:rPr lang="en-US" altLang="zh-CN" dirty="0"/>
              <a:t>Lead</a:t>
            </a:r>
          </a:p>
          <a:p>
            <a:pPr lvl="1"/>
            <a:r>
              <a:rPr lang="zh-CN" altLang="en-US" dirty="0"/>
              <a:t>紧前活动还没有完成时，紧后活动可以提前开始的时间量</a:t>
            </a:r>
            <a:endParaRPr lang="en-US" altLang="zh-CN" dirty="0"/>
          </a:p>
          <a:p>
            <a:pPr lvl="1"/>
            <a:r>
              <a:rPr lang="zh-CN" altLang="en-US" dirty="0"/>
              <a:t>负值表示</a:t>
            </a:r>
            <a:endParaRPr lang="en-US" altLang="zh-CN" dirty="0"/>
          </a:p>
          <a:p>
            <a:pPr lvl="1"/>
            <a:r>
              <a:rPr lang="en-US" altLang="zh-CN" dirty="0"/>
              <a:t>FS-2</a:t>
            </a:r>
            <a:r>
              <a:rPr lang="zh-CN" altLang="en-US" dirty="0"/>
              <a:t>：完成到开始，提前</a:t>
            </a:r>
            <a:r>
              <a:rPr lang="en-US" altLang="zh-CN" dirty="0"/>
              <a:t>2</a:t>
            </a:r>
            <a:r>
              <a:rPr lang="zh-CN" altLang="en-US" dirty="0"/>
              <a:t>天，表示紧后活动可以在紧前活动完成前</a:t>
            </a:r>
            <a:r>
              <a:rPr lang="en-US" altLang="zh-CN" dirty="0"/>
              <a:t>2</a:t>
            </a:r>
            <a:r>
              <a:rPr lang="zh-CN" altLang="en-US" dirty="0"/>
              <a:t>天开始</a:t>
            </a:r>
            <a:endParaRPr lang="en-US" altLang="zh-CN" dirty="0"/>
          </a:p>
          <a:p>
            <a:pPr lvl="1"/>
            <a:r>
              <a:rPr lang="zh-CN" altLang="en-US" dirty="0"/>
              <a:t>谨慎使用</a:t>
            </a:r>
            <a:endParaRPr lang="en-US" altLang="zh-CN" dirty="0"/>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1079998"/>
            <a:ext cx="5400675" cy="5040000"/>
          </a:xfrm>
        </p:spPr>
        <p:txBody>
          <a:bodyPr/>
          <a:lstStyle/>
          <a:p>
            <a:r>
              <a:rPr lang="zh-CN" altLang="en-US" dirty="0"/>
              <a:t>滞后量 </a:t>
            </a:r>
            <a:r>
              <a:rPr lang="en-US" altLang="zh-CN" dirty="0"/>
              <a:t>Lag</a:t>
            </a:r>
          </a:p>
          <a:p>
            <a:pPr lvl="1"/>
            <a:r>
              <a:rPr lang="zh-CN" altLang="en-US" dirty="0"/>
              <a:t>紧前活动完成时，紧后活动需要推迟开始的时间量</a:t>
            </a:r>
            <a:endParaRPr lang="en-US" altLang="zh-CN" dirty="0"/>
          </a:p>
          <a:p>
            <a:pPr lvl="1"/>
            <a:r>
              <a:rPr lang="zh-CN" altLang="en-US" dirty="0"/>
              <a:t>正值表示</a:t>
            </a:r>
            <a:endParaRPr lang="en-US" altLang="zh-CN" dirty="0"/>
          </a:p>
          <a:p>
            <a:pPr lvl="1"/>
            <a:r>
              <a:rPr lang="en-US" altLang="zh-CN" dirty="0"/>
              <a:t>FS+3</a:t>
            </a:r>
            <a:r>
              <a:rPr lang="zh-CN" altLang="en-US" dirty="0"/>
              <a:t>：完成到开始，滞后</a:t>
            </a:r>
            <a:r>
              <a:rPr lang="en-US" altLang="zh-CN" dirty="0"/>
              <a:t>3</a:t>
            </a:r>
            <a:r>
              <a:rPr lang="zh-CN" altLang="en-US" dirty="0"/>
              <a:t>天，表示紧后活动必须在紧前活动完成后</a:t>
            </a:r>
            <a:r>
              <a:rPr lang="en-US" altLang="zh-CN" dirty="0"/>
              <a:t>3</a:t>
            </a:r>
            <a:r>
              <a:rPr lang="zh-CN" altLang="en-US" dirty="0"/>
              <a:t>天才开始</a:t>
            </a:r>
            <a:endParaRPr lang="en-US" altLang="zh-CN" dirty="0"/>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F</a:t>
            </a:r>
            <a:endParaRPr lang="zh-CN" altLang="en-US" sz="1600" dirty="0">
              <a:solidFill>
                <a:schemeClr val="tx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p:spPr>
        <p:txBody>
          <a:bodyPr wrap="none" rtlCol="0">
            <a:spAutoFit/>
          </a:bodyPr>
          <a:lstStyle/>
          <a:p>
            <a:r>
              <a:rPr lang="en-US" altLang="zh-CN" dirty="0"/>
              <a:t>FS+3</a:t>
            </a:r>
            <a:endParaRPr lang="zh-CN" altLang="en-US" dirty="0"/>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p:spPr>
        <p:txBody>
          <a:bodyPr wrap="none" rtlCol="0">
            <a:spAutoFit/>
          </a:bodyPr>
          <a:lstStyle/>
          <a:p>
            <a:r>
              <a:rPr lang="en-US" altLang="zh-CN" dirty="0"/>
              <a:t>FS-2</a:t>
            </a:r>
            <a:endParaRPr lang="zh-CN" altLang="en-US" dirty="0"/>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p:spPr>
        <p:txBody>
          <a:bodyPr wrap="none" rtlCol="0">
            <a:spAutoFit/>
          </a:bodyPr>
          <a:lstStyle/>
          <a:p>
            <a:r>
              <a:rPr lang="en-US" altLang="zh-CN" dirty="0"/>
              <a:t>SS+2</a:t>
            </a:r>
            <a:endParaRPr lang="zh-CN" altLang="en-US" dirty="0"/>
          </a:p>
        </p:txBody>
      </p:sp>
    </p:spTree>
    <p:extLst>
      <p:ext uri="{BB962C8B-B14F-4D97-AF65-F5344CB8AC3E}">
        <p14:creationId xmlns:p14="http://schemas.microsoft.com/office/powerpoint/2010/main" val="393700264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7200000" cy="424732"/>
          </a:xfrm>
        </p:spPr>
        <p:txBody>
          <a:bodyPr>
            <a:normAutofit/>
          </a:bodyPr>
          <a:lstStyle/>
          <a:p>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p:txBody>
          <a:bodyPr/>
          <a:lstStyle/>
          <a:p>
            <a:r>
              <a:rPr lang="zh-CN" altLang="en-US" dirty="0"/>
              <a:t>活动：以字母表示</a:t>
            </a:r>
          </a:p>
          <a:p>
            <a:r>
              <a:rPr lang="zh-CN" altLang="en-US" dirty="0"/>
              <a:t>圆圈：序号，以数值表示</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p:txBody>
          <a:bodyPr/>
          <a:lstStyle/>
          <a:p>
            <a:r>
              <a:rPr lang="en-US" altLang="zh-CN" dirty="0"/>
              <a:t>Project Progress</a:t>
            </a:r>
            <a:endParaRPr lang="zh-CN" altLang="en-US" dirty="0"/>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dirty="0"/>
              <a:t>A</a:t>
            </a:r>
            <a:endParaRPr lang="zh-CN" altLang="en-US" dirty="0"/>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dirty="0"/>
              <a:t>B</a:t>
            </a:r>
            <a:endParaRPr lang="zh-CN" altLang="en-US" dirty="0"/>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dirty="0"/>
              <a:t>C</a:t>
            </a:r>
            <a:endParaRPr lang="zh-CN" altLang="en-US" dirty="0"/>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dirty="0"/>
              <a:t>D</a:t>
            </a:r>
            <a:endParaRPr lang="zh-CN" altLang="en-US" dirty="0"/>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dirty="0"/>
              <a:t>E</a:t>
            </a:r>
            <a:endParaRPr lang="zh-CN" altLang="en-US" dirty="0"/>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dirty="0"/>
              <a:t>G</a:t>
            </a:r>
            <a:endParaRPr lang="zh-CN" altLang="en-US" dirty="0"/>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dirty="0"/>
              <a:t>H</a:t>
            </a:r>
            <a:endParaRPr lang="zh-CN" altLang="en-US" dirty="0"/>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dirty="0"/>
              <a:t>I</a:t>
            </a:r>
            <a:endParaRPr lang="zh-CN" altLang="en-US" dirty="0"/>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dirty="0"/>
              <a:t>J</a:t>
            </a:r>
            <a:endParaRPr lang="zh-CN" altLang="en-US" dirty="0"/>
          </a:p>
        </p:txBody>
      </p:sp>
    </p:spTree>
    <p:extLst>
      <p:ext uri="{BB962C8B-B14F-4D97-AF65-F5344CB8AC3E}">
        <p14:creationId xmlns:p14="http://schemas.microsoft.com/office/powerpoint/2010/main" val="26563608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dirty="0"/>
              <a:t>5. </a:t>
            </a:r>
            <a:r>
              <a:rPr lang="zh-CN" altLang="en-US" dirty="0"/>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dirty="0"/>
              <a:t>类比估算</a:t>
            </a:r>
            <a:endParaRPr lang="en-US" altLang="zh-CN" dirty="0"/>
          </a:p>
          <a:p>
            <a:r>
              <a:rPr lang="zh-CN" altLang="en-US" dirty="0"/>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311709463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dirty="0"/>
              <a:t>Program Evaluation and Review Technique</a:t>
            </a:r>
          </a:p>
          <a:p>
            <a:r>
              <a:rPr lang="zh-CN" altLang="en-US" dirty="0"/>
              <a:t>在项目时间估算中的应用用于估算活动持续时间的统计工具，适用于不确定性较高的项目</a:t>
            </a:r>
            <a:endParaRPr lang="en-US" altLang="zh-CN" dirty="0"/>
          </a:p>
          <a:p>
            <a:r>
              <a:rPr lang="zh-CN" altLang="en-US" dirty="0"/>
              <a:t>组成：任务开始时间、结束时间、完成所需时间、任务之间的先后关系</a:t>
            </a:r>
          </a:p>
          <a:p>
            <a:r>
              <a:rPr lang="zh-CN" altLang="en-US" dirty="0"/>
              <a:t>特点：不能反映任务之间的并行关系</a:t>
            </a:r>
          </a:p>
          <a:p>
            <a:r>
              <a:rPr lang="zh-CN" altLang="en-US" dirty="0"/>
              <a:t>基于三个时间估计值 </a:t>
            </a:r>
            <a:r>
              <a:rPr lang="en-US" altLang="zh-CN" dirty="0"/>
              <a:t>- </a:t>
            </a:r>
            <a:r>
              <a:rPr lang="zh-CN" altLang="en-US" dirty="0"/>
              <a:t>三点估算：</a:t>
            </a:r>
            <a:endParaRPr lang="en-US" altLang="zh-CN" dirty="0"/>
          </a:p>
          <a:p>
            <a:pPr lvl="1"/>
            <a:r>
              <a:rPr lang="zh-CN" altLang="en-US" dirty="0"/>
              <a:t>乐观时间（</a:t>
            </a:r>
            <a:r>
              <a:rPr lang="en-US" altLang="zh-CN" dirty="0"/>
              <a:t>O</a:t>
            </a:r>
            <a:r>
              <a:rPr lang="zh-CN" altLang="en-US" dirty="0"/>
              <a:t>）：最理想情况下的时间</a:t>
            </a:r>
            <a:endParaRPr lang="en-US" altLang="zh-CN" dirty="0"/>
          </a:p>
          <a:p>
            <a:pPr lvl="1"/>
            <a:r>
              <a:rPr lang="zh-CN" altLang="en-US" dirty="0"/>
              <a:t>悲观时间（</a:t>
            </a:r>
            <a:r>
              <a:rPr lang="en-US" altLang="zh-CN" dirty="0"/>
              <a:t>P</a:t>
            </a:r>
            <a:r>
              <a:rPr lang="zh-CN" altLang="en-US" dirty="0"/>
              <a:t>）：最坏情况下的时间</a:t>
            </a:r>
            <a:endParaRPr lang="en-US" altLang="zh-CN" dirty="0"/>
          </a:p>
          <a:p>
            <a:pPr lvl="1"/>
            <a:r>
              <a:rPr lang="zh-CN" altLang="en-US" dirty="0"/>
              <a:t>最可能时间（</a:t>
            </a:r>
            <a:r>
              <a:rPr lang="en-US" altLang="zh-CN" dirty="0"/>
              <a:t>M</a:t>
            </a:r>
            <a:r>
              <a:rPr lang="zh-CN" altLang="en-US" dirty="0"/>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dirty="0"/>
              <a:t>Project Progress</a:t>
            </a:r>
            <a:endParaRPr lang="zh-CN" altLang="en-US"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𝑂</m:t>
                          </m:r>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+4</m:t>
                          </m:r>
                          <m:r>
                            <a:rPr lang="en-US" altLang="zh-CN" b="0" i="1" smtClean="0">
                              <a:latin typeface="Cambria Math" panose="02040503050406030204" pitchFamily="18" charset="0"/>
                            </a:rPr>
                            <m:t>𝑀</m:t>
                          </m:r>
                        </m:num>
                        <m:den>
                          <m:r>
                            <a:rPr lang="en-US" altLang="zh-CN" b="0" i="1" smtClean="0">
                              <a:latin typeface="Cambria Math" panose="02040503050406030204" pitchFamily="18" charset="0"/>
                            </a:rPr>
                            <m:t>6</m:t>
                          </m:r>
                        </m:den>
                      </m:f>
                    </m:oMath>
                  </m:oMathPara>
                </a14:m>
                <a:endParaRPr lang="zh-CN" altLang="en-US" dirty="0"/>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dirty="0"/>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5" name="组合 4">
            <a:extLst>
              <a:ext uri="{FF2B5EF4-FFF2-40B4-BE49-F238E27FC236}">
                <a16:creationId xmlns:a16="http://schemas.microsoft.com/office/drawing/2014/main" id="{27B11B4B-4CD7-4DFC-311A-4A130A48F7D0}"/>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243AFF04-9967-3886-CA4B-F989416C6C5A}"/>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5111025" y="4313249"/>
                <a:ext cx="1516204"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C3E871AC-4854-2B8D-7B77-75430DAD77FC}"/>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6B495EA3-8356-E9DC-4B0C-EB9ED5EB352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93B9C64E-64A0-C911-11CB-2577813449B3}"/>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4D134F61-2B67-B5DC-3A81-CE2896264B58}"/>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DCB89C8F-8245-ACB5-6752-2EE69794FBAE}"/>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BE349338-EF80-5953-3000-8E9AB1A5915F}"/>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A13D22B1-56BB-0540-012D-D9BC4A6E0C22}"/>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8D7C9612-EB22-4735-63DB-62CC7B65AC0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3" name="文本框 2">
              <a:extLst>
                <a:ext uri="{FF2B5EF4-FFF2-40B4-BE49-F238E27FC236}">
                  <a16:creationId xmlns:a16="http://schemas.microsoft.com/office/drawing/2014/main" id="{55911ACE-2549-386C-656B-331816F8F87D}"/>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Tree>
    <p:extLst>
      <p:ext uri="{BB962C8B-B14F-4D97-AF65-F5344CB8AC3E}">
        <p14:creationId xmlns:p14="http://schemas.microsoft.com/office/powerpoint/2010/main" val="25408006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dirty="0"/>
              <a:t>根据各事件持续时间，推算最早开始时间</a:t>
            </a:r>
            <a:endParaRPr lang="en-US" altLang="zh-CN" dirty="0"/>
          </a:p>
          <a:p>
            <a:r>
              <a:rPr lang="zh-CN" altLang="en-US" dirty="0"/>
              <a:t>汇总事件取最大值</a:t>
            </a:r>
            <a:endParaRPr lang="en-US" altLang="zh-CN" dirty="0"/>
          </a:p>
          <a:p>
            <a:r>
              <a:rPr lang="zh-CN" altLang="en-US" dirty="0"/>
              <a:t>总工期 </a:t>
            </a:r>
            <a:r>
              <a:rPr lang="en-US" altLang="zh-CN" dirty="0"/>
              <a:t>15</a:t>
            </a:r>
          </a:p>
          <a:p>
            <a:r>
              <a:rPr lang="zh-CN" altLang="en-US" dirty="0"/>
              <a:t>最长路径 </a:t>
            </a:r>
            <a:r>
              <a:rPr lang="en-US" altLang="zh-CN" dirty="0"/>
              <a:t>1 </a:t>
            </a:r>
            <a:r>
              <a:rPr lang="zh-CN" altLang="en-US" dirty="0"/>
              <a:t>→ </a:t>
            </a:r>
            <a:r>
              <a:rPr lang="en-US" altLang="zh-CN" dirty="0"/>
              <a:t>2 </a:t>
            </a:r>
            <a:r>
              <a:rPr lang="zh-CN" altLang="en-US" dirty="0"/>
              <a:t>→ </a:t>
            </a:r>
            <a:r>
              <a:rPr lang="en-US" altLang="zh-CN" dirty="0"/>
              <a:t>5 </a:t>
            </a:r>
            <a:r>
              <a:rPr lang="zh-CN" altLang="en-US" dirty="0"/>
              <a:t>→ </a:t>
            </a:r>
            <a:r>
              <a:rPr lang="en-US" altLang="zh-CN" dirty="0"/>
              <a:t>7 </a:t>
            </a:r>
            <a:r>
              <a:rPr lang="zh-CN" altLang="en-US" dirty="0"/>
              <a:t>→ </a:t>
            </a:r>
            <a:r>
              <a:rPr lang="en-US" altLang="zh-CN" dirty="0"/>
              <a:t>9</a:t>
            </a:r>
            <a:endParaRPr lang="zh-CN" altLang="en-US" dirty="0"/>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57595FB2-1906-EA77-F914-2324512627A1}"/>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56BFA625-00FD-A7E8-2186-D7AF2CF10720}"/>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9</a:t>
                  </a:r>
                  <a:endParaRPr lang="zh-CN" altLang="en-US" sz="1400" dirty="0">
                    <a:solidFill>
                      <a:srgbClr val="FF00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5111B45B-D956-5E20-6214-2D8B839B6B4F}"/>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15</a:t>
                  </a:r>
                  <a:endParaRPr lang="zh-CN" altLang="en-US" sz="1400" dirty="0">
                    <a:solidFill>
                      <a:srgbClr val="FF00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0783AF57-B8B4-37AA-C586-43CCD1F78D01}"/>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CE2D7036-8FAD-78A0-58D2-96618871119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B02E1FC4-6729-3E38-065F-81788FB79822}"/>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9D23F614-05DB-2441-655A-52B91CCF1592}"/>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5DC1F4A2-0CAB-1581-7C02-D73077359BE0}"/>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0920D500-3A7F-D81A-106C-02DAA8584515}"/>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DACC29F8-4A83-D7E2-6F5D-A72578FCC15E}"/>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6543425A-7FF4-F1F6-8BD8-2F687E6EAE39}"/>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4A05FE09-E975-C10D-56EE-E0A31E7C21C5}"/>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3747932"/>
              <a:ext cx="303288" cy="738664"/>
            </a:xfrm>
            <a:prstGeom prst="rect">
              <a:avLst/>
            </a:prstGeom>
            <a:noFill/>
          </p:spPr>
          <p:txBody>
            <a:bodyPr wrap="none" rtlCol="0">
              <a:spAutoFit/>
            </a:bodyPr>
            <a:lstStyle/>
            <a:p>
              <a:r>
                <a:rPr lang="en-US" altLang="zh-CN" sz="1400" dirty="0">
                  <a:solidFill>
                    <a:srgbClr val="FF0000"/>
                  </a:solidFill>
                </a:rPr>
                <a:t>3</a:t>
              </a:r>
            </a:p>
            <a:p>
              <a:endParaRPr lang="en-US" altLang="zh-CN" sz="1400" dirty="0">
                <a:solidFill>
                  <a:srgbClr val="FF0000"/>
                </a:solidFill>
              </a:endParaRPr>
            </a:p>
            <a:p>
              <a:r>
                <a:rPr lang="en-US" altLang="zh-CN" sz="1400" dirty="0">
                  <a:solidFill>
                    <a:srgbClr val="FF0000"/>
                  </a:solidFill>
                </a:rPr>
                <a:t>4</a:t>
              </a:r>
              <a:endParaRPr lang="zh-CN" altLang="en-US" sz="1400" dirty="0">
                <a:solidFill>
                  <a:srgbClr val="FF00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3344192"/>
              <a:ext cx="293670" cy="738664"/>
            </a:xfrm>
            <a:prstGeom prst="rect">
              <a:avLst/>
            </a:prstGeom>
            <a:noFill/>
          </p:spPr>
          <p:txBody>
            <a:bodyPr wrap="none" rtlCol="0">
              <a:spAutoFit/>
            </a:bodyPr>
            <a:lstStyle/>
            <a:p>
              <a:r>
                <a:rPr lang="en-US" altLang="zh-CN" sz="1400" dirty="0">
                  <a:solidFill>
                    <a:srgbClr val="FF0000"/>
                  </a:solidFill>
                </a:rPr>
                <a:t>9</a:t>
              </a:r>
            </a:p>
            <a:p>
              <a:endParaRPr lang="en-US" altLang="zh-CN" sz="1400" dirty="0">
                <a:solidFill>
                  <a:srgbClr val="FF0000"/>
                </a:solidFill>
              </a:endParaRPr>
            </a:p>
            <a:p>
              <a:r>
                <a:rPr lang="en-US" altLang="zh-CN" sz="1400" dirty="0">
                  <a:solidFill>
                    <a:srgbClr val="FF0000"/>
                  </a:solidFill>
                </a:rPr>
                <a:t>5</a:t>
              </a:r>
              <a:endParaRPr lang="zh-CN" altLang="en-US" sz="1400" dirty="0">
                <a:solidFill>
                  <a:srgbClr val="FF00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2364470"/>
              <a:ext cx="349776" cy="738664"/>
            </a:xfrm>
            <a:prstGeom prst="rect">
              <a:avLst/>
            </a:prstGeom>
            <a:noFill/>
          </p:spPr>
          <p:txBody>
            <a:bodyPr wrap="none" rtlCol="0">
              <a:spAutoFit/>
            </a:bodyPr>
            <a:lstStyle/>
            <a:p>
              <a:r>
                <a:rPr lang="en-US" altLang="zh-CN" sz="1400" dirty="0">
                  <a:solidFill>
                    <a:srgbClr val="FF0000"/>
                  </a:solidFill>
                </a:rPr>
                <a:t>15</a:t>
              </a:r>
            </a:p>
            <a:p>
              <a:endParaRPr lang="en-US" altLang="zh-CN" sz="1400" dirty="0">
                <a:solidFill>
                  <a:srgbClr val="FF0000"/>
                </a:solidFill>
              </a:endParaRPr>
            </a:p>
            <a:p>
              <a:r>
                <a:rPr lang="en-US" altLang="zh-CN" sz="1400" dirty="0">
                  <a:solidFill>
                    <a:srgbClr val="FF0000"/>
                  </a:solidFill>
                </a:rPr>
                <a:t>13</a:t>
              </a:r>
              <a:endParaRPr lang="zh-CN" altLang="en-US" sz="1400" dirty="0">
                <a:solidFill>
                  <a:srgbClr val="FF0000"/>
                </a:solidFill>
              </a:endParaRPr>
            </a:p>
          </p:txBody>
        </p:sp>
      </p:grpSp>
    </p:spTree>
    <p:extLst>
      <p:ext uri="{BB962C8B-B14F-4D97-AF65-F5344CB8AC3E}">
        <p14:creationId xmlns:p14="http://schemas.microsoft.com/office/powerpoint/2010/main" val="252544875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dirty="0"/>
              <a:t>根据总工期 </a:t>
            </a:r>
            <a:r>
              <a:rPr lang="en-US" altLang="zh-CN" dirty="0"/>
              <a:t>15</a:t>
            </a:r>
            <a:r>
              <a:rPr lang="zh-CN" altLang="en-US" dirty="0"/>
              <a:t>，反推各事件最晚开始时间</a:t>
            </a:r>
            <a:endParaRPr lang="en-US" altLang="zh-CN" dirty="0"/>
          </a:p>
          <a:p>
            <a:r>
              <a:rPr lang="zh-CN" altLang="en-US" dirty="0"/>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2</a:t>
                  </a:r>
                  <a:endParaRPr lang="zh-CN" altLang="en-US" sz="1400" dirty="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6</a:t>
                  </a:r>
                  <a:endParaRPr lang="zh-CN" altLang="en-US" sz="1400" dirty="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10</a:t>
                  </a:r>
                  <a:endParaRPr lang="zh-CN" altLang="en-US" sz="1400" dirty="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11</a:t>
                  </a:r>
                  <a:endParaRPr lang="zh-CN" altLang="en-US" sz="1400" dirty="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15</a:t>
                  </a:r>
                  <a:endParaRPr lang="zh-CN" altLang="en-US" sz="1400" dirty="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rgbClr val="FF0000"/>
                </a:solidFill>
              </a:rPr>
              <a:t>4</a:t>
            </a:r>
          </a:p>
          <a:p>
            <a:endParaRPr lang="en-US" altLang="zh-CN" sz="1400" dirty="0">
              <a:solidFill>
                <a:srgbClr val="FF0000"/>
              </a:solidFill>
            </a:endParaRPr>
          </a:p>
          <a:p>
            <a:r>
              <a:rPr lang="en-US" altLang="zh-CN" sz="1400" dirty="0">
                <a:solidFill>
                  <a:srgbClr val="FF0000"/>
                </a:solidFill>
              </a:rPr>
              <a:t>6</a:t>
            </a:r>
            <a:endParaRPr lang="zh-CN" altLang="en-US" sz="1400" dirty="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rgbClr val="FF0000"/>
                </a:solidFill>
              </a:rPr>
              <a:t>2</a:t>
            </a:r>
          </a:p>
          <a:p>
            <a:endParaRPr lang="en-US" altLang="zh-CN" sz="1400" dirty="0">
              <a:solidFill>
                <a:srgbClr val="FF0000"/>
              </a:solidFill>
            </a:endParaRPr>
          </a:p>
          <a:p>
            <a:r>
              <a:rPr lang="en-US" altLang="zh-CN" sz="1400" dirty="0">
                <a:solidFill>
                  <a:srgbClr val="FF0000"/>
                </a:solidFill>
              </a:rPr>
              <a:t>7</a:t>
            </a:r>
            <a:endParaRPr lang="zh-CN" altLang="en-US" sz="1400" dirty="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dirty="0"/>
              <a:t>6. </a:t>
            </a:r>
            <a:r>
              <a:rPr lang="zh-CN" altLang="en-US" dirty="0"/>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dirty="0"/>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dirty="0"/>
              <a:t>可能不止一条</a:t>
            </a:r>
            <a:endParaRPr lang="en-US" altLang="zh-CN" dirty="0"/>
          </a:p>
          <a:p>
            <a:r>
              <a:rPr lang="zh-CN" altLang="en-US" dirty="0"/>
              <a:t>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最晚开始时间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最晚完成时间 </a:t>
            </a:r>
            <a:r>
              <a:rPr lang="en-US" altLang="zh-CN" dirty="0"/>
              <a:t>LF - Latest Finish Time</a:t>
            </a:r>
            <a:endParaRPr lang="zh-CN" altLang="en-US" dirty="0"/>
          </a:p>
          <a:p>
            <a:r>
              <a:rPr lang="zh-CN" altLang="en-US" dirty="0"/>
              <a:t>浮动时间 </a:t>
            </a:r>
            <a:r>
              <a:rPr lang="en-US" altLang="zh-CN" dirty="0"/>
              <a:t>Total Float</a:t>
            </a:r>
          </a:p>
          <a:p>
            <a:pPr lvl="1"/>
            <a:r>
              <a:rPr lang="zh-CN" altLang="en-US" dirty="0"/>
              <a:t>总时差</a:t>
            </a:r>
            <a:endParaRPr lang="en-US" altLang="zh-CN" dirty="0"/>
          </a:p>
          <a:p>
            <a:pPr lvl="1"/>
            <a:r>
              <a:rPr lang="en-US" altLang="zh-CN" dirty="0"/>
              <a:t>LS – ES = LF - EF</a:t>
            </a:r>
            <a:endParaRPr lang="zh-CN" altLang="en-US" dirty="0"/>
          </a:p>
          <a:p>
            <a:pPr lvl="1"/>
            <a:r>
              <a:rPr lang="zh-CN" altLang="en-US" dirty="0"/>
              <a:t>关键路径上的任务总浮动时间为 </a:t>
            </a:r>
            <a:r>
              <a:rPr lang="en-US" altLang="zh-CN" dirty="0"/>
              <a:t>0</a:t>
            </a:r>
            <a:endParaRPr lang="zh-CN" altLang="en-US" dirty="0"/>
          </a:p>
          <a:p>
            <a:endParaRPr lang="zh-CN" altLang="en-US" dirty="0"/>
          </a:p>
          <a:p>
            <a:endParaRPr lang="zh-CN" altLang="en-US" dirty="0"/>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958660448"/>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dirty="0"/>
                        <a:t>ES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Duration</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Event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dirty="0"/>
                        <a:t>LS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Total float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LF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79298571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dirty="0"/>
                        <a:t>工作代号</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紧前工作</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计划工作历时</a:t>
                      </a:r>
                      <a:r>
                        <a:rPr lang="en-US" altLang="zh-CN" dirty="0"/>
                        <a:t>/</a:t>
                      </a:r>
                      <a:r>
                        <a:rPr lang="zh-CN" altLang="en-US" dirty="0"/>
                        <a:t>天</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t>A</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5</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852081910"/>
                  </a:ext>
                </a:extLst>
              </a:tr>
              <a:tr h="323550">
                <a:tc>
                  <a:txBody>
                    <a:bodyPr/>
                    <a:lstStyle/>
                    <a:p>
                      <a:pPr>
                        <a:buNone/>
                      </a:pPr>
                      <a:r>
                        <a:rPr lang="en-US" dirty="0"/>
                        <a:t>B</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2</a:t>
                      </a:r>
                    </a:p>
                  </a:txBody>
                  <a:tcPr anchor="ctr">
                    <a:lnL>
                      <a:noFill/>
                    </a:lnL>
                    <a:lnR>
                      <a:noFill/>
                    </a:lnR>
                    <a:lnT>
                      <a:noFill/>
                    </a:lnT>
                    <a:lnB>
                      <a:noFill/>
                    </a:lnB>
                    <a:noFill/>
                  </a:tcPr>
                </a:tc>
                <a:extLst>
                  <a:ext uri="{0D108BD9-81ED-4DB2-BD59-A6C34878D82A}">
                    <a16:rowId xmlns:a16="http://schemas.microsoft.com/office/drawing/2014/main" val="1043277927"/>
                  </a:ext>
                </a:extLst>
              </a:tr>
              <a:tr h="323550">
                <a:tc>
                  <a:txBody>
                    <a:bodyPr/>
                    <a:lstStyle/>
                    <a:p>
                      <a:pPr>
                        <a:buNone/>
                      </a:pPr>
                      <a:r>
                        <a:rPr lang="en-US"/>
                        <a:t>C</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8</a:t>
                      </a:r>
                    </a:p>
                  </a:txBody>
                  <a:tcPr anchor="ctr">
                    <a:lnL>
                      <a:noFill/>
                    </a:lnL>
                    <a:lnR>
                      <a:noFill/>
                    </a:lnR>
                    <a:lnT>
                      <a:noFill/>
                    </a:lnT>
                    <a:lnB>
                      <a:noFill/>
                    </a:lnB>
                    <a:noFill/>
                  </a:tcPr>
                </a:tc>
                <a:extLst>
                  <a:ext uri="{0D108BD9-81ED-4DB2-BD59-A6C34878D82A}">
                    <a16:rowId xmlns:a16="http://schemas.microsoft.com/office/drawing/2014/main" val="461868069"/>
                  </a:ext>
                </a:extLst>
              </a:tr>
              <a:tr h="323550">
                <a:tc>
                  <a:txBody>
                    <a:bodyPr/>
                    <a:lstStyle/>
                    <a:p>
                      <a:pPr>
                        <a:buNone/>
                      </a:pPr>
                      <a:r>
                        <a:rPr lang="en-US"/>
                        <a:t>D</a:t>
                      </a:r>
                    </a:p>
                  </a:txBody>
                  <a:tcPr anchor="ctr">
                    <a:lnL>
                      <a:noFill/>
                    </a:lnL>
                    <a:lnR>
                      <a:noFill/>
                    </a:lnR>
                    <a:lnT>
                      <a:noFill/>
                    </a:lnT>
                    <a:lnB>
                      <a:noFill/>
                    </a:lnB>
                    <a:noFill/>
                  </a:tcPr>
                </a:tc>
                <a:tc>
                  <a:txBody>
                    <a:bodyPr/>
                    <a:lstStyle/>
                    <a:p>
                      <a:pPr>
                        <a:buNone/>
                      </a:pPr>
                      <a:r>
                        <a:rPr lang="en-US" dirty="0"/>
                        <a:t>B, C</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153292863"/>
                  </a:ext>
                </a:extLst>
              </a:tr>
              <a:tr h="323550">
                <a:tc>
                  <a:txBody>
                    <a:bodyPr/>
                    <a:lstStyle/>
                    <a:p>
                      <a:pPr>
                        <a:buNone/>
                      </a:pPr>
                      <a:r>
                        <a:rPr lang="en-US"/>
                        <a:t>E</a:t>
                      </a:r>
                    </a:p>
                  </a:txBody>
                  <a:tcPr anchor="ctr">
                    <a:lnL>
                      <a:noFill/>
                    </a:lnL>
                    <a:lnR>
                      <a:noFill/>
                    </a:lnR>
                    <a:lnT>
                      <a:noFill/>
                    </a:lnT>
                    <a:lnB>
                      <a:noFill/>
                    </a:lnB>
                    <a:noFill/>
                  </a:tcPr>
                </a:tc>
                <a:tc>
                  <a:txBody>
                    <a:bodyPr/>
                    <a:lstStyle/>
                    <a:p>
                      <a:pPr>
                        <a:buNone/>
                      </a:pPr>
                      <a:r>
                        <a:rPr lang="en-US"/>
                        <a:t>C</a:t>
                      </a:r>
                    </a:p>
                  </a:txBody>
                  <a:tcPr anchor="ctr">
                    <a:lnL>
                      <a:noFill/>
                    </a:lnL>
                    <a:lnR>
                      <a:noFill/>
                    </a:lnR>
                    <a:lnT>
                      <a:noFill/>
                    </a:lnT>
                    <a:lnB>
                      <a:noFill/>
                    </a:lnB>
                    <a:noFill/>
                  </a:tcPr>
                </a:tc>
                <a:tc>
                  <a:txBody>
                    <a:bodyPr/>
                    <a:lstStyle/>
                    <a:p>
                      <a:pPr>
                        <a:buNone/>
                      </a:pPr>
                      <a:r>
                        <a:rPr lang="en-US" altLang="zh-CN"/>
                        <a:t>5</a:t>
                      </a:r>
                    </a:p>
                  </a:txBody>
                  <a:tcPr anchor="ctr">
                    <a:lnL>
                      <a:noFill/>
                    </a:lnL>
                    <a:lnR>
                      <a:noFill/>
                    </a:lnR>
                    <a:lnT>
                      <a:noFill/>
                    </a:lnT>
                    <a:lnB>
                      <a:noFill/>
                    </a:lnB>
                    <a:noFill/>
                  </a:tcPr>
                </a:tc>
                <a:extLst>
                  <a:ext uri="{0D108BD9-81ED-4DB2-BD59-A6C34878D82A}">
                    <a16:rowId xmlns:a16="http://schemas.microsoft.com/office/drawing/2014/main" val="1348767259"/>
                  </a:ext>
                </a:extLst>
              </a:tr>
              <a:tr h="323550">
                <a:tc>
                  <a:txBody>
                    <a:bodyPr/>
                    <a:lstStyle/>
                    <a:p>
                      <a:pPr>
                        <a:buNone/>
                      </a:pPr>
                      <a:r>
                        <a:rPr lang="en-US"/>
                        <a:t>F</a:t>
                      </a:r>
                    </a:p>
                  </a:txBody>
                  <a:tcPr anchor="ctr">
                    <a:lnL>
                      <a:noFill/>
                    </a:lnL>
                    <a:lnR>
                      <a:noFill/>
                    </a:lnR>
                    <a:lnT>
                      <a:noFill/>
                    </a:lnT>
                    <a:lnB>
                      <a:noFill/>
                    </a:lnB>
                    <a:noFill/>
                  </a:tcPr>
                </a:tc>
                <a:tc>
                  <a:txBody>
                    <a:bodyPr/>
                    <a:lstStyle/>
                    <a:p>
                      <a:pPr>
                        <a:buNone/>
                      </a:pPr>
                      <a:r>
                        <a:rPr lang="en-US"/>
                        <a:t>D</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2542228622"/>
                  </a:ext>
                </a:extLst>
              </a:tr>
              <a:tr h="323550">
                <a:tc>
                  <a:txBody>
                    <a:bodyPr/>
                    <a:lstStyle/>
                    <a:p>
                      <a:pPr>
                        <a:buNone/>
                      </a:pPr>
                      <a:r>
                        <a:rPr lang="en-US"/>
                        <a:t>G</a:t>
                      </a:r>
                    </a:p>
                  </a:txBody>
                  <a:tcPr anchor="ctr">
                    <a:lnL>
                      <a:noFill/>
                    </a:lnL>
                    <a:lnR>
                      <a:noFill/>
                    </a:lnR>
                    <a:lnT>
                      <a:noFill/>
                    </a:lnT>
                    <a:lnB>
                      <a:noFill/>
                    </a:lnB>
                    <a:noFill/>
                  </a:tcPr>
                </a:tc>
                <a:tc>
                  <a:txBody>
                    <a:bodyPr/>
                    <a:lstStyle/>
                    <a:p>
                      <a:pPr>
                        <a:buNone/>
                      </a:pPr>
                      <a:r>
                        <a:rPr lang="en-US"/>
                        <a:t>D, E</a:t>
                      </a:r>
                    </a:p>
                  </a:txBody>
                  <a:tcPr anchor="ctr">
                    <a:lnL>
                      <a:noFill/>
                    </a:lnL>
                    <a:lnR>
                      <a:noFill/>
                    </a:lnR>
                    <a:lnT>
                      <a:noFill/>
                    </a:lnT>
                    <a:lnB>
                      <a:noFill/>
                    </a:lnB>
                    <a:noFill/>
                  </a:tcPr>
                </a:tc>
                <a:tc>
                  <a:txBody>
                    <a:bodyPr/>
                    <a:lstStyle/>
                    <a:p>
                      <a:pPr>
                        <a:buNone/>
                      </a:pPr>
                      <a:r>
                        <a:rPr lang="en-US" altLang="zh-CN"/>
                        <a:t>11</a:t>
                      </a:r>
                    </a:p>
                  </a:txBody>
                  <a:tcPr anchor="ctr">
                    <a:lnL>
                      <a:noFill/>
                    </a:lnL>
                    <a:lnR>
                      <a:noFill/>
                    </a:lnR>
                    <a:lnT>
                      <a:noFill/>
                    </a:lnT>
                    <a:lnB>
                      <a:noFill/>
                    </a:lnB>
                    <a:noFill/>
                  </a:tcPr>
                </a:tc>
                <a:extLst>
                  <a:ext uri="{0D108BD9-81ED-4DB2-BD59-A6C34878D82A}">
                    <a16:rowId xmlns:a16="http://schemas.microsoft.com/office/drawing/2014/main" val="2525273505"/>
                  </a:ext>
                </a:extLst>
              </a:tr>
              <a:tr h="323550">
                <a:tc>
                  <a:txBody>
                    <a:bodyPr/>
                    <a:lstStyle/>
                    <a:p>
                      <a:pPr>
                        <a:buNone/>
                      </a:pPr>
                      <a:r>
                        <a:rPr lang="en-US"/>
                        <a:t>H</a:t>
                      </a:r>
                    </a:p>
                  </a:txBody>
                  <a:tcPr anchor="ctr">
                    <a:lnL>
                      <a:noFill/>
                    </a:lnL>
                    <a:lnR>
                      <a:noFill/>
                    </a:lnR>
                    <a:lnT>
                      <a:noFill/>
                    </a:lnT>
                    <a:lnB>
                      <a:noFill/>
                    </a:lnB>
                    <a:noFill/>
                  </a:tcPr>
                </a:tc>
                <a:tc>
                  <a:txBody>
                    <a:bodyPr/>
                    <a:lstStyle/>
                    <a:p>
                      <a:pPr>
                        <a:buNone/>
                      </a:pPr>
                      <a:r>
                        <a:rPr lang="en-US"/>
                        <a:t>F, G</a:t>
                      </a:r>
                    </a:p>
                  </a:txBody>
                  <a:tcPr anchor="ctr">
                    <a:lnL>
                      <a:noFill/>
                    </a:lnL>
                    <a:lnR>
                      <a:noFill/>
                    </a:lnR>
                    <a:lnT>
                      <a:noFill/>
                    </a:lnT>
                    <a:lnB>
                      <a:noFill/>
                    </a:lnB>
                    <a:noFill/>
                  </a:tcPr>
                </a:tc>
                <a:tc>
                  <a:txBody>
                    <a:bodyPr/>
                    <a:lstStyle/>
                    <a:p>
                      <a:pPr>
                        <a:buNone/>
                      </a:pPr>
                      <a:r>
                        <a:rPr lang="en-US" altLang="zh-CN" dirty="0"/>
                        <a:t>10</a:t>
                      </a:r>
                    </a:p>
                  </a:txBody>
                  <a:tcPr anchor="ctr">
                    <a:lnL>
                      <a:noFill/>
                    </a:lnL>
                    <a:lnR>
                      <a:noFill/>
                    </a:lnR>
                    <a:lnT>
                      <a:noFill/>
                    </a:lnT>
                    <a:lnB>
                      <a:noFill/>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27954796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dirty="0"/>
              <a:t>A</a:t>
            </a:r>
            <a:endParaRPr lang="zh-CN" altLang="en-US" dirty="0"/>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dirty="0"/>
              <a:t>B</a:t>
            </a:r>
            <a:endParaRPr lang="zh-CN" altLang="en-US" dirty="0"/>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dirty="0"/>
              <a:t>C</a:t>
            </a:r>
            <a:endParaRPr lang="zh-CN" altLang="en-US" dirty="0"/>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dirty="0"/>
              <a:t>5</a:t>
            </a:r>
            <a:endParaRPr lang="zh-CN" altLang="en-US" dirty="0"/>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dirty="0"/>
              <a:t>D</a:t>
            </a:r>
            <a:endParaRPr lang="zh-CN" altLang="en-US" dirty="0"/>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dirty="0"/>
              <a:t>2</a:t>
            </a:r>
            <a:endParaRPr lang="zh-CN" altLang="en-US" dirty="0"/>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dirty="0"/>
              <a:t>8</a:t>
            </a:r>
            <a:endParaRPr lang="zh-CN" altLang="en-US" dirty="0"/>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dirty="0"/>
              <a:t>E</a:t>
            </a:r>
            <a:endParaRPr lang="zh-CN" altLang="en-US" dirty="0"/>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dirty="0"/>
              <a:t>F</a:t>
            </a:r>
            <a:endParaRPr lang="zh-CN" altLang="en-US" dirty="0"/>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dirty="0"/>
              <a:t>10</a:t>
            </a:r>
            <a:endParaRPr lang="zh-CN" altLang="en-US" dirty="0"/>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dirty="0"/>
              <a:t>5</a:t>
            </a:r>
            <a:endParaRPr lang="zh-CN" altLang="en-US" dirty="0"/>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dirty="0"/>
              <a:t>G</a:t>
            </a:r>
            <a:endParaRPr lang="zh-CN" altLang="en-US" dirty="0"/>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dirty="0"/>
              <a:t>H</a:t>
            </a:r>
            <a:endParaRPr lang="zh-CN" altLang="en-US" dirty="0"/>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dirty="0"/>
              <a:t>10</a:t>
            </a:r>
            <a:endParaRPr lang="zh-CN" altLang="en-US" dirty="0"/>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dirty="0"/>
              <a:t>11</a:t>
            </a:r>
            <a:endParaRPr lang="zh-CN" altLang="en-US" dirty="0"/>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dirty="0"/>
              <a:t>10</a:t>
            </a:r>
            <a:endParaRPr lang="zh-CN" altLang="en-US" dirty="0"/>
          </a:p>
        </p:txBody>
      </p:sp>
    </p:spTree>
    <p:extLst>
      <p:ext uri="{BB962C8B-B14F-4D97-AF65-F5344CB8AC3E}">
        <p14:creationId xmlns:p14="http://schemas.microsoft.com/office/powerpoint/2010/main" val="275894016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dirty="0"/>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dirty="0"/>
              <a:t>资源平衡</a:t>
            </a:r>
            <a:endParaRPr lang="en-US" altLang="zh-CN" dirty="0"/>
          </a:p>
          <a:p>
            <a:pPr lvl="1"/>
            <a:r>
              <a:rPr lang="zh-CN" altLang="en-US" dirty="0"/>
              <a:t>改变关键路径，通常是延长</a:t>
            </a:r>
            <a:endParaRPr lang="en-US" altLang="zh-CN" dirty="0"/>
          </a:p>
          <a:p>
            <a:r>
              <a:rPr lang="zh-CN" altLang="en-US" dirty="0"/>
              <a:t>资源平滑</a:t>
            </a:r>
            <a:endParaRPr lang="en-US" altLang="zh-CN" dirty="0"/>
          </a:p>
          <a:p>
            <a:pPr lvl="1"/>
            <a:r>
              <a:rPr lang="zh-CN" altLang="en-US" dirty="0"/>
              <a:t>不会改变关键路径</a:t>
            </a:r>
            <a:endParaRPr lang="en-US" altLang="zh-CN" dirty="0"/>
          </a:p>
          <a:p>
            <a:pPr lvl="1"/>
            <a:r>
              <a:rPr lang="zh-CN" altLang="en-US" dirty="0"/>
              <a:t>无法实现所有资源优化</a:t>
            </a:r>
            <a:endParaRPr lang="en-US" altLang="zh-CN" dirty="0"/>
          </a:p>
          <a:p>
            <a:endParaRPr lang="zh-CN" altLang="en-US" dirty="0"/>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dirty="0"/>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dirty="0"/>
              <a:t>赶工 </a:t>
            </a:r>
            <a:r>
              <a:rPr lang="en-US" altLang="zh-CN" dirty="0"/>
              <a:t>Crashing</a:t>
            </a:r>
          </a:p>
          <a:p>
            <a:pPr lvl="1"/>
            <a:r>
              <a:rPr lang="zh-CN" altLang="en-US" dirty="0"/>
              <a:t>加班</a:t>
            </a:r>
            <a:endParaRPr lang="en-US" altLang="zh-CN" dirty="0"/>
          </a:p>
          <a:p>
            <a:r>
              <a:rPr lang="zh-CN" altLang="en-US" dirty="0"/>
              <a:t>快速跟进 </a:t>
            </a:r>
            <a:r>
              <a:rPr lang="en-US" altLang="zh-CN" dirty="0"/>
              <a:t>Fast Tracking</a:t>
            </a:r>
          </a:p>
          <a:p>
            <a:pPr lvl="1"/>
            <a:r>
              <a:rPr lang="zh-CN" altLang="en-US" dirty="0"/>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dirty="0"/>
              <a:t>7. </a:t>
            </a:r>
            <a:r>
              <a:rPr lang="zh-CN" altLang="en-US" dirty="0"/>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dirty="0"/>
              <a:t>39</a:t>
            </a:r>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
        <p:nvSpPr>
          <p:cNvPr id="8" name="文本占位符 7">
            <a:extLst>
              <a:ext uri="{FF2B5EF4-FFF2-40B4-BE49-F238E27FC236}">
                <a16:creationId xmlns:a16="http://schemas.microsoft.com/office/drawing/2014/main" id="{7A5670C3-A74D-648E-93FA-A816B5AC4EB3}"/>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dirty="0"/>
              <a:t>六大质量特性 </a:t>
            </a:r>
            <a:r>
              <a:rPr lang="en-US" altLang="zh-CN" dirty="0"/>
              <a:t>Quality Characteristics</a:t>
            </a:r>
            <a:endParaRPr lang="zh-CN" altLang="en-US" dirty="0"/>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dirty="0"/>
              <a:t>功能性 </a:t>
            </a:r>
            <a:r>
              <a:rPr lang="en-US" altLang="zh-CN" dirty="0"/>
              <a:t>Functionality</a:t>
            </a:r>
            <a:endParaRPr lang="zh-CN" altLang="en-US" dirty="0"/>
          </a:p>
          <a:p>
            <a:r>
              <a:rPr lang="zh-CN" altLang="en-US" dirty="0"/>
              <a:t>可靠性 </a:t>
            </a:r>
            <a:r>
              <a:rPr lang="en-US" altLang="zh-CN" dirty="0"/>
              <a:t>Reliability</a:t>
            </a:r>
            <a:endParaRPr lang="zh-CN" altLang="en-US" dirty="0"/>
          </a:p>
          <a:p>
            <a:r>
              <a:rPr lang="zh-CN" altLang="en-US" dirty="0"/>
              <a:t>易用性 </a:t>
            </a:r>
            <a:r>
              <a:rPr lang="en-US" altLang="zh-CN" dirty="0"/>
              <a:t>Usability</a:t>
            </a:r>
            <a:endParaRPr lang="zh-CN" altLang="en-US" dirty="0"/>
          </a:p>
          <a:p>
            <a:r>
              <a:rPr lang="zh-CN" altLang="en-US" dirty="0"/>
              <a:t>效率 </a:t>
            </a:r>
            <a:r>
              <a:rPr lang="en-US" altLang="zh-CN" dirty="0"/>
              <a:t>Efficiency</a:t>
            </a:r>
            <a:endParaRPr lang="zh-CN" altLang="en-US" dirty="0"/>
          </a:p>
          <a:p>
            <a:r>
              <a:rPr lang="zh-CN" altLang="en-US" dirty="0"/>
              <a:t>可维护性 </a:t>
            </a:r>
            <a:r>
              <a:rPr lang="en-US" altLang="zh-CN" dirty="0"/>
              <a:t>Maintainability</a:t>
            </a:r>
            <a:endParaRPr lang="zh-CN" altLang="en-US" dirty="0"/>
          </a:p>
          <a:p>
            <a:r>
              <a:rPr lang="zh-CN" altLang="en-US" dirty="0"/>
              <a:t>可移植性 </a:t>
            </a:r>
            <a:r>
              <a:rPr lang="en-US" altLang="zh-CN" dirty="0"/>
              <a:t>Portability</a:t>
            </a:r>
            <a:endParaRPr lang="zh-CN" altLang="en-US" dirty="0"/>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dirty="0"/>
              <a:t>可靠性 </a:t>
            </a:r>
            <a:r>
              <a:rPr lang="en-US" altLang="zh-CN" dirty="0"/>
              <a:t>Reliability</a:t>
            </a:r>
            <a:endParaRPr lang="zh-CN" altLang="en-US" dirty="0"/>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689186405"/>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dirty="0"/>
                        <a:t>子特性</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dirty="0"/>
                        <a:t>成熟性 </a:t>
                      </a:r>
                      <a:r>
                        <a:rPr lang="en-US" dirty="0"/>
                        <a:t>Maturity</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软件避免由于错误而导致失效的能力。即软件运行稳定，不崩溃</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072620879"/>
                  </a:ext>
                </a:extLst>
              </a:tr>
              <a:tr h="0">
                <a:tc>
                  <a:txBody>
                    <a:bodyPr/>
                    <a:lstStyle/>
                    <a:p>
                      <a:pPr>
                        <a:buNone/>
                      </a:pPr>
                      <a:r>
                        <a:rPr lang="zh-CN" altLang="en-US" dirty="0"/>
                        <a:t>容错性 </a:t>
                      </a:r>
                      <a:r>
                        <a:rPr lang="en-US" dirty="0"/>
                        <a:t>Fault Tolerance</a:t>
                      </a:r>
                    </a:p>
                  </a:txBody>
                  <a:tcPr anchor="ctr">
                    <a:lnL>
                      <a:noFill/>
                    </a:lnL>
                    <a:lnR>
                      <a:noFill/>
                    </a:lnR>
                    <a:lnT>
                      <a:noFill/>
                    </a:lnT>
                    <a:lnB>
                      <a:noFill/>
                    </a:lnB>
                    <a:noFill/>
                  </a:tcPr>
                </a:tc>
                <a:tc>
                  <a:txBody>
                    <a:bodyPr/>
                    <a:lstStyle/>
                    <a:p>
                      <a:pPr>
                        <a:buNone/>
                      </a:pPr>
                      <a:r>
                        <a:rPr lang="zh-CN" altLang="en-US" dirty="0"/>
                        <a:t>软件在发生故障时，仍能保持功能或自动恢复的能力</a:t>
                      </a:r>
                    </a:p>
                  </a:txBody>
                  <a:tcPr anchor="ctr">
                    <a:lnL>
                      <a:noFill/>
                    </a:lnL>
                    <a:lnR>
                      <a:noFill/>
                    </a:lnR>
                    <a:lnT>
                      <a:noFill/>
                    </a:lnT>
                    <a:lnB>
                      <a:noFill/>
                    </a:lnB>
                    <a:noFill/>
                  </a:tcPr>
                </a:tc>
                <a:extLst>
                  <a:ext uri="{0D108BD9-81ED-4DB2-BD59-A6C34878D82A}">
                    <a16:rowId xmlns:a16="http://schemas.microsoft.com/office/drawing/2014/main" val="3110707642"/>
                  </a:ext>
                </a:extLst>
              </a:tr>
              <a:tr h="0">
                <a:tc>
                  <a:txBody>
                    <a:bodyPr/>
                    <a:lstStyle/>
                    <a:p>
                      <a:pPr>
                        <a:buNone/>
                      </a:pPr>
                      <a:r>
                        <a:rPr lang="en-US" dirty="0" err="1"/>
                        <a:t>易恢复性</a:t>
                      </a:r>
                      <a:r>
                        <a:rPr lang="en-US" dirty="0"/>
                        <a:t> Recoverability</a:t>
                      </a:r>
                    </a:p>
                  </a:txBody>
                  <a:tcPr anchor="ctr">
                    <a:lnL>
                      <a:noFill/>
                    </a:lnL>
                    <a:lnR>
                      <a:noFill/>
                    </a:lnR>
                    <a:lnT>
                      <a:noFill/>
                    </a:lnT>
                    <a:lnB>
                      <a:noFill/>
                    </a:lnB>
                    <a:noFill/>
                  </a:tcPr>
                </a:tc>
                <a:tc>
                  <a:txBody>
                    <a:bodyPr/>
                    <a:lstStyle/>
                    <a:p>
                      <a:pPr>
                        <a:buNone/>
                      </a:pPr>
                      <a:r>
                        <a:rPr lang="zh-CN" altLang="en-US" dirty="0"/>
                        <a:t>软件在发生故障后，能够快速恢复到正常状态的能力</a:t>
                      </a:r>
                    </a:p>
                  </a:txBody>
                  <a:tcPr anchor="ctr">
                    <a:lnL>
                      <a:noFill/>
                    </a:lnL>
                    <a:lnR>
                      <a:noFill/>
                    </a:lnR>
                    <a:lnT>
                      <a:noFill/>
                    </a:lnT>
                    <a:lnB>
                      <a:noFill/>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dirty="0"/>
              <a:t>在</a:t>
            </a:r>
            <a:r>
              <a:rPr lang="en-US" altLang="zh-CN" dirty="0"/>
              <a:t>ISO/IEC 9126</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dirty="0"/>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3494637641"/>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dirty="0"/>
                        <a:t>核心过程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dirty="0"/>
                        <a:t>质量规划 </a:t>
                      </a:r>
                      <a:r>
                        <a:rPr lang="en-US" dirty="0"/>
                        <a:t>Quality Planning</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确定项目质量标准，制定如何满足这些标准的策略</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61995517"/>
                  </a:ext>
                </a:extLst>
              </a:tr>
              <a:tr h="0">
                <a:tc>
                  <a:txBody>
                    <a:bodyPr/>
                    <a:lstStyle/>
                    <a:p>
                      <a:pPr>
                        <a:buNone/>
                      </a:pPr>
                      <a:r>
                        <a:rPr lang="zh-CN" altLang="en-US" dirty="0"/>
                        <a:t>质量保证 </a:t>
                      </a:r>
                      <a:r>
                        <a:rPr lang="en-US" dirty="0"/>
                        <a:t>Quality Assurance, QA</a:t>
                      </a:r>
                    </a:p>
                  </a:txBody>
                  <a:tcPr anchor="ctr">
                    <a:lnL>
                      <a:noFill/>
                    </a:lnL>
                    <a:lnR>
                      <a:noFill/>
                    </a:lnR>
                    <a:lnT>
                      <a:noFill/>
                    </a:lnT>
                    <a:lnB>
                      <a:noFill/>
                    </a:lnB>
                    <a:noFill/>
                  </a:tcPr>
                </a:tc>
                <a:tc>
                  <a:txBody>
                    <a:bodyPr/>
                    <a:lstStyle/>
                    <a:p>
                      <a:pPr>
                        <a:buNone/>
                      </a:pPr>
                      <a:r>
                        <a:rPr lang="zh-CN" altLang="en-US"/>
                        <a:t>通过审计、流程改进等手段确保质量体系有效运行</a:t>
                      </a:r>
                    </a:p>
                  </a:txBody>
                  <a:tcPr anchor="ctr">
                    <a:lnL>
                      <a:noFill/>
                    </a:lnL>
                    <a:lnR>
                      <a:noFill/>
                    </a:lnR>
                    <a:lnT>
                      <a:noFill/>
                    </a:lnT>
                    <a:lnB>
                      <a:noFill/>
                    </a:lnB>
                    <a:noFill/>
                  </a:tcPr>
                </a:tc>
                <a:extLst>
                  <a:ext uri="{0D108BD9-81ED-4DB2-BD59-A6C34878D82A}">
                    <a16:rowId xmlns:a16="http://schemas.microsoft.com/office/drawing/2014/main" val="2620162338"/>
                  </a:ext>
                </a:extLst>
              </a:tr>
              <a:tr h="0">
                <a:tc>
                  <a:txBody>
                    <a:bodyPr/>
                    <a:lstStyle/>
                    <a:p>
                      <a:pPr>
                        <a:buNone/>
                      </a:pPr>
                      <a:r>
                        <a:rPr lang="zh-CN" altLang="en-US" dirty="0"/>
                        <a:t>质量控制 </a:t>
                      </a:r>
                      <a:r>
                        <a:rPr lang="en-US" dirty="0"/>
                        <a:t>Quality Control, QC</a:t>
                      </a:r>
                    </a:p>
                  </a:txBody>
                  <a:tcPr anchor="ctr">
                    <a:lnL>
                      <a:noFill/>
                    </a:lnL>
                    <a:lnR>
                      <a:noFill/>
                    </a:lnR>
                    <a:lnT>
                      <a:noFill/>
                    </a:lnT>
                    <a:lnB>
                      <a:noFill/>
                    </a:lnB>
                    <a:noFill/>
                  </a:tcPr>
                </a:tc>
                <a:tc>
                  <a:txBody>
                    <a:bodyPr/>
                    <a:lstStyle/>
                    <a:p>
                      <a:pPr>
                        <a:buNone/>
                      </a:pPr>
                      <a:r>
                        <a:rPr lang="zh-CN" altLang="en-US"/>
                        <a:t>监控具体成果是否符合质量标准，识别缺陷并纠正</a:t>
                      </a:r>
                    </a:p>
                  </a:txBody>
                  <a:tcPr anchor="ctr">
                    <a:lnL>
                      <a:noFill/>
                    </a:lnL>
                    <a:lnR>
                      <a:noFill/>
                    </a:lnR>
                    <a:lnT>
                      <a:noFill/>
                    </a:lnT>
                    <a:lnB>
                      <a:noFill/>
                    </a:lnB>
                    <a:noFill/>
                  </a:tcPr>
                </a:tc>
                <a:extLst>
                  <a:ext uri="{0D108BD9-81ED-4DB2-BD59-A6C34878D82A}">
                    <a16:rowId xmlns:a16="http://schemas.microsoft.com/office/drawing/2014/main" val="3528719874"/>
                  </a:ext>
                </a:extLst>
              </a:tr>
              <a:tr h="0">
                <a:tc>
                  <a:txBody>
                    <a:bodyPr/>
                    <a:lstStyle/>
                    <a:p>
                      <a:pPr>
                        <a:buNone/>
                      </a:pPr>
                      <a:r>
                        <a:rPr lang="zh-CN" altLang="en-US" dirty="0"/>
                        <a:t>质量改进 </a:t>
                      </a:r>
                      <a:r>
                        <a:rPr lang="en-US" dirty="0"/>
                        <a:t>Quality Improvement</a:t>
                      </a:r>
                    </a:p>
                  </a:txBody>
                  <a:tcPr anchor="ctr">
                    <a:lnL>
                      <a:noFill/>
                    </a:lnL>
                    <a:lnR>
                      <a:noFill/>
                    </a:lnR>
                    <a:lnT>
                      <a:noFill/>
                    </a:lnT>
                    <a:lnB>
                      <a:noFill/>
                    </a:lnB>
                    <a:noFill/>
                  </a:tcPr>
                </a:tc>
                <a:tc>
                  <a:txBody>
                    <a:bodyPr/>
                    <a:lstStyle/>
                    <a:p>
                      <a:pPr>
                        <a:buNone/>
                      </a:pPr>
                      <a:r>
                        <a:rPr lang="zh-CN" altLang="en-US" dirty="0"/>
                        <a:t>持续优化流程，提高效率和质量</a:t>
                      </a:r>
                    </a:p>
                  </a:txBody>
                  <a:tcPr anchor="ctr">
                    <a:lnL>
                      <a:noFill/>
                    </a:lnL>
                    <a:lnR>
                      <a:noFill/>
                    </a:lnR>
                    <a:lnT>
                      <a:noFill/>
                    </a:lnT>
                    <a:lnB>
                      <a:noFill/>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dirty="0"/>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dirty="0"/>
              <a:t>流</a:t>
            </a:r>
            <a:endParaRPr lang="en-US" altLang="zh-CN" dirty="0"/>
          </a:p>
          <a:p>
            <a:r>
              <a:rPr lang="zh-CN" altLang="en-US" dirty="0"/>
              <a:t>因果图</a:t>
            </a:r>
            <a:endParaRPr lang="en-US" altLang="zh-CN" dirty="0"/>
          </a:p>
          <a:p>
            <a:r>
              <a:rPr lang="zh-CN" altLang="en-US" dirty="0"/>
              <a:t>直方图 </a:t>
            </a:r>
            <a:r>
              <a:rPr lang="en-US" altLang="zh-CN" dirty="0"/>
              <a:t>Histogram</a:t>
            </a:r>
          </a:p>
          <a:p>
            <a:pPr lvl="1"/>
            <a:r>
              <a:rPr lang="zh-CN" altLang="en-US" dirty="0"/>
              <a:t>数据在不同数值区间内出现的频率或次数</a:t>
            </a:r>
            <a:endParaRPr lang="en-US" altLang="zh-CN" dirty="0"/>
          </a:p>
          <a:p>
            <a:r>
              <a:rPr lang="zh-CN" altLang="en-US" dirty="0"/>
              <a:t>散点图</a:t>
            </a:r>
            <a:endParaRPr lang="en-US" altLang="zh-CN" dirty="0"/>
          </a:p>
          <a:p>
            <a:r>
              <a:rPr lang="zh-CN" altLang="en-US" dirty="0"/>
              <a:t>帕累托定律 </a:t>
            </a:r>
            <a:r>
              <a:rPr lang="en-US" altLang="zh-CN" dirty="0"/>
              <a:t>Pareto Principle</a:t>
            </a:r>
          </a:p>
          <a:p>
            <a:pPr lvl="1"/>
            <a:r>
              <a:rPr lang="zh-CN" altLang="en-US" dirty="0"/>
              <a:t>又称 </a:t>
            </a:r>
            <a:r>
              <a:rPr lang="en-US" altLang="zh-CN" dirty="0"/>
              <a:t>80/20 </a:t>
            </a:r>
            <a:r>
              <a:rPr lang="zh-CN" altLang="en-US" dirty="0"/>
              <a:t>法则：大约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控制图</a:t>
            </a:r>
            <a:endParaRPr lang="en-US" altLang="zh-CN" dirty="0"/>
          </a:p>
          <a:p>
            <a:r>
              <a:rPr lang="zh-CN" altLang="en-US" dirty="0"/>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p:txBody>
          <a:bodyPr/>
          <a:lstStyle/>
          <a:p>
            <a:r>
              <a:rPr lang="zh-CN" altLang="en-US" dirty="0"/>
              <a:t>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1080000"/>
            <a:ext cx="10800000" cy="5112000"/>
          </a:xfrm>
        </p:spPr>
        <p:txBody>
          <a:bodyPr/>
          <a:lstStyle/>
          <a:p>
            <a:r>
              <a:rPr lang="en-US" altLang="zh-CN" dirty="0"/>
              <a:t>Configuration Management - CM</a:t>
            </a:r>
          </a:p>
          <a:p>
            <a:r>
              <a:rPr lang="zh-CN" altLang="en-US" dirty="0"/>
              <a:t>是项目管理、系统工程和软件工程中的一个关键过程</a:t>
            </a:r>
            <a:endParaRPr lang="en-US" altLang="zh-CN" dirty="0"/>
          </a:p>
          <a:p>
            <a:r>
              <a:rPr lang="zh-CN" altLang="en-US" dirty="0"/>
              <a:t>旨在系统化地识别、控制、记录和审计产品、服务或系统在其生命周期内的功能特性和物理特性，以确保其性能、功能和实体属性与需求、设计和操作信息保持一致</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p:txBody>
          <a:bodyPr/>
          <a:lstStyle/>
          <a:p>
            <a:r>
              <a:rPr lang="zh-CN" altLang="en-US" dirty="0"/>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p:txBody>
          <a:bodyPr/>
          <a:lstStyle/>
          <a:p>
            <a:r>
              <a:rPr lang="zh-CN" altLang="en-US" dirty="0"/>
              <a:t>制定配置管理计划</a:t>
            </a:r>
            <a:endParaRPr lang="en-US" altLang="zh-CN" dirty="0"/>
          </a:p>
          <a:p>
            <a:r>
              <a:rPr lang="zh-CN" altLang="en-US" dirty="0"/>
              <a:t>配置标识</a:t>
            </a:r>
            <a:endParaRPr lang="en-US" altLang="zh-CN" dirty="0"/>
          </a:p>
          <a:p>
            <a:r>
              <a:rPr lang="zh-CN" altLang="en-US" dirty="0"/>
              <a:t>配置控制</a:t>
            </a:r>
            <a:endParaRPr lang="en-US" altLang="zh-CN" dirty="0"/>
          </a:p>
          <a:p>
            <a:r>
              <a:rPr lang="zh-CN" altLang="en-US" dirty="0"/>
              <a:t>配置状态报告</a:t>
            </a:r>
            <a:endParaRPr lang="en-US" altLang="zh-CN" dirty="0"/>
          </a:p>
          <a:p>
            <a:r>
              <a:rPr lang="zh-CN" altLang="en-US" dirty="0"/>
              <a:t>配置审计</a:t>
            </a:r>
            <a:endParaRPr lang="en-US" altLang="zh-CN" dirty="0"/>
          </a:p>
          <a:p>
            <a:r>
              <a:rPr lang="zh-CN" altLang="en-US" dirty="0"/>
              <a:t>发布管理和交付</a:t>
            </a:r>
          </a:p>
        </p:txBody>
      </p:sp>
      <p:sp>
        <p:nvSpPr>
          <p:cNvPr id="4" name="文本占位符 3">
            <a:extLst>
              <a:ext uri="{FF2B5EF4-FFF2-40B4-BE49-F238E27FC236}">
                <a16:creationId xmlns:a16="http://schemas.microsoft.com/office/drawing/2014/main" id="{94810505-0417-82E5-3B0F-CFF53A7B60E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810062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p:txBody>
          <a:bodyPr/>
          <a:lstStyle/>
          <a:p>
            <a:r>
              <a:rPr lang="zh-CN" altLang="en-US" dirty="0"/>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1080000"/>
            <a:ext cx="10800000" cy="5112000"/>
          </a:xfrm>
        </p:spPr>
        <p:txBody>
          <a:bodyPr/>
          <a:lstStyle/>
          <a:p>
            <a:r>
              <a:rPr lang="zh-CN" altLang="en-US" dirty="0"/>
              <a:t>主版本号 </a:t>
            </a:r>
            <a:r>
              <a:rPr lang="en-US" altLang="zh-CN" dirty="0"/>
              <a:t>Major</a:t>
            </a:r>
            <a:r>
              <a:rPr lang="zh-CN" altLang="en-US" dirty="0"/>
              <a:t>：重大变更、架构调整、不兼容升级</a:t>
            </a:r>
          </a:p>
          <a:p>
            <a:r>
              <a:rPr lang="zh-CN" altLang="en-US" dirty="0"/>
              <a:t>次版本号 </a:t>
            </a:r>
            <a:r>
              <a:rPr lang="en-US" altLang="zh-CN" dirty="0"/>
              <a:t>Minor</a:t>
            </a:r>
            <a:r>
              <a:rPr lang="zh-CN" altLang="en-US" dirty="0"/>
              <a:t>：新增功能、小幅改进</a:t>
            </a:r>
          </a:p>
          <a:p>
            <a:r>
              <a:rPr lang="zh-CN" altLang="en-US" dirty="0"/>
              <a:t>修订号 </a:t>
            </a:r>
            <a:r>
              <a:rPr lang="en-US" altLang="zh-CN" dirty="0"/>
              <a:t>Patch</a:t>
            </a:r>
            <a:r>
              <a:rPr lang="zh-CN" altLang="en-US" dirty="0"/>
              <a:t>：</a:t>
            </a:r>
            <a:r>
              <a:rPr lang="en-US" altLang="zh-CN" dirty="0"/>
              <a:t>Bug</a:t>
            </a:r>
            <a:r>
              <a:rPr lang="zh-CN" altLang="en-US" dirty="0"/>
              <a:t>修复、小调整</a:t>
            </a:r>
            <a:endParaRPr lang="en-US" altLang="zh-CN" dirty="0"/>
          </a:p>
          <a:p>
            <a:endParaRPr lang="en-US" altLang="zh-CN" dirty="0"/>
          </a:p>
        </p:txBody>
      </p:sp>
      <p:sp>
        <p:nvSpPr>
          <p:cNvPr id="4" name="文本占位符 3">
            <a:extLst>
              <a:ext uri="{FF2B5EF4-FFF2-40B4-BE49-F238E27FC236}">
                <a16:creationId xmlns:a16="http://schemas.microsoft.com/office/drawing/2014/main" id="{6D85B44E-8E15-FDA7-E070-2DCFFCC2D44C}"/>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419129082"/>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t>状态</a:t>
                      </a:r>
                    </a:p>
                  </a:txBody>
                  <a:tcPr anchor="ctr">
                    <a:lnL>
                      <a:noFill/>
                    </a:lnL>
                    <a:lnR>
                      <a:noFill/>
                    </a:lnR>
                    <a:lnT>
                      <a:noFill/>
                    </a:lnT>
                    <a:lnB>
                      <a:noFill/>
                    </a:lnB>
                    <a:noFill/>
                  </a:tcPr>
                </a:tc>
                <a:tc>
                  <a:txBody>
                    <a:bodyPr/>
                    <a:lstStyle/>
                    <a:p>
                      <a:pPr>
                        <a:buNone/>
                      </a:pPr>
                      <a:r>
                        <a:rPr lang="zh-CN" altLang="en-US"/>
                        <a:t>版本号格式</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1316052283"/>
                  </a:ext>
                </a:extLst>
              </a:tr>
              <a:tr h="0">
                <a:tc>
                  <a:txBody>
                    <a:bodyPr/>
                    <a:lstStyle/>
                    <a:p>
                      <a:pPr>
                        <a:buNone/>
                      </a:pPr>
                      <a:r>
                        <a:rPr lang="zh-CN" altLang="en-US" dirty="0"/>
                        <a:t>草稿 </a:t>
                      </a:r>
                      <a:r>
                        <a:rPr lang="en-US" dirty="0"/>
                        <a:t>Draft</a:t>
                      </a:r>
                    </a:p>
                  </a:txBody>
                  <a:tcPr anchor="ctr">
                    <a:lnL>
                      <a:noFill/>
                    </a:lnL>
                    <a:lnR>
                      <a:noFill/>
                    </a:lnR>
                    <a:lnT>
                      <a:noFill/>
                    </a:lnT>
                    <a:lnB>
                      <a:noFill/>
                    </a:lnB>
                    <a:noFill/>
                  </a:tcPr>
                </a:tc>
                <a:tc>
                  <a:txBody>
                    <a:bodyPr/>
                    <a:lstStyle/>
                    <a:p>
                      <a:pPr>
                        <a:buNone/>
                      </a:pPr>
                      <a:r>
                        <a:rPr lang="es-ES">
                          <a:latin typeface="Courier New" panose="02070309020205020404" pitchFamily="49" charset="0"/>
                        </a:rPr>
                        <a:t>0.Y</a:t>
                      </a:r>
                      <a:r>
                        <a:rPr lang="es-ES"/>
                        <a:t> 或 </a:t>
                      </a:r>
                      <a:r>
                        <a:rPr lang="es-ES">
                          <a:latin typeface="Courier New" panose="02070309020205020404" pitchFamily="49" charset="0"/>
                        </a:rPr>
                        <a:t>0.YZ</a:t>
                      </a:r>
                      <a:endParaRPr lang="es-ES"/>
                    </a:p>
                  </a:txBody>
                  <a:tcPr anchor="ctr">
                    <a:lnL>
                      <a:noFill/>
                    </a:lnL>
                    <a:lnR>
                      <a:noFill/>
                    </a:lnR>
                    <a:lnT>
                      <a:noFill/>
                    </a:lnT>
                    <a:lnB>
                      <a:noFill/>
                    </a:lnB>
                    <a:noFill/>
                  </a:tcPr>
                </a:tc>
                <a:tc>
                  <a:txBody>
                    <a:bodyPr/>
                    <a:lstStyle/>
                    <a:p>
                      <a:pPr>
                        <a:buNone/>
                      </a:pPr>
                      <a:r>
                        <a:rPr lang="zh-CN" altLang="en-US"/>
                        <a:t>初始编写阶段，尚未评审通过</a:t>
                      </a:r>
                    </a:p>
                  </a:txBody>
                  <a:tcPr anchor="ctr">
                    <a:lnL>
                      <a:noFill/>
                    </a:lnL>
                    <a:lnR>
                      <a:noFill/>
                    </a:lnR>
                    <a:lnT>
                      <a:noFill/>
                    </a:lnT>
                    <a:lnB>
                      <a:noFill/>
                    </a:lnB>
                    <a:noFill/>
                  </a:tcPr>
                </a:tc>
                <a:extLst>
                  <a:ext uri="{0D108BD9-81ED-4DB2-BD59-A6C34878D82A}">
                    <a16:rowId xmlns:a16="http://schemas.microsoft.com/office/drawing/2014/main" val="426911041"/>
                  </a:ext>
                </a:extLst>
              </a:tr>
              <a:tr h="0">
                <a:tc>
                  <a:txBody>
                    <a:bodyPr/>
                    <a:lstStyle/>
                    <a:p>
                      <a:pPr>
                        <a:buNone/>
                      </a:pPr>
                      <a:r>
                        <a:rPr lang="zh-CN" altLang="en-US" dirty="0"/>
                        <a:t>正式 </a:t>
                      </a:r>
                      <a:r>
                        <a:rPr lang="en-US" dirty="0"/>
                        <a:t>Formal</a:t>
                      </a:r>
                    </a:p>
                  </a:txBody>
                  <a:tcPr anchor="ctr">
                    <a:lnL>
                      <a:noFill/>
                    </a:lnL>
                    <a:lnR>
                      <a:noFill/>
                    </a:lnR>
                    <a:lnT>
                      <a:noFill/>
                    </a:lnT>
                    <a:lnB>
                      <a:noFill/>
                    </a:lnB>
                    <a:noFill/>
                  </a:tcPr>
                </a:tc>
                <a:tc>
                  <a:txBody>
                    <a:bodyPr/>
                    <a:lstStyle/>
                    <a:p>
                      <a:pPr>
                        <a:buNone/>
                      </a:pPr>
                      <a:r>
                        <a:rPr lang="fr-FR">
                          <a:latin typeface="Courier New" panose="02070309020205020404" pitchFamily="49" charset="0"/>
                        </a:rPr>
                        <a:t>1.X</a:t>
                      </a:r>
                      <a:r>
                        <a:rPr lang="fr-FR"/>
                        <a:t> 或 </a:t>
                      </a:r>
                      <a:r>
                        <a:rPr lang="fr-FR">
                          <a:latin typeface="Courier New" panose="02070309020205020404" pitchFamily="49" charset="0"/>
                        </a:rPr>
                        <a:t>X.Y</a:t>
                      </a:r>
                      <a:endParaRPr lang="fr-FR"/>
                    </a:p>
                  </a:txBody>
                  <a:tcPr anchor="ctr">
                    <a:lnL>
                      <a:noFill/>
                    </a:lnL>
                    <a:lnR>
                      <a:noFill/>
                    </a:lnR>
                    <a:lnT>
                      <a:noFill/>
                    </a:lnT>
                    <a:lnB>
                      <a:noFill/>
                    </a:lnB>
                    <a:noFill/>
                  </a:tcPr>
                </a:tc>
                <a:tc>
                  <a:txBody>
                    <a:bodyPr/>
                    <a:lstStyle/>
                    <a:p>
                      <a:pPr>
                        <a:buNone/>
                      </a:pPr>
                      <a:r>
                        <a:rPr lang="zh-CN" altLang="en-US"/>
                        <a:t>经过评审、批准后发布</a:t>
                      </a:r>
                    </a:p>
                  </a:txBody>
                  <a:tcPr anchor="ctr">
                    <a:lnL>
                      <a:noFill/>
                    </a:lnL>
                    <a:lnR>
                      <a:noFill/>
                    </a:lnR>
                    <a:lnT>
                      <a:noFill/>
                    </a:lnT>
                    <a:lnB>
                      <a:noFill/>
                    </a:lnB>
                    <a:noFill/>
                  </a:tcPr>
                </a:tc>
                <a:extLst>
                  <a:ext uri="{0D108BD9-81ED-4DB2-BD59-A6C34878D82A}">
                    <a16:rowId xmlns:a16="http://schemas.microsoft.com/office/drawing/2014/main" val="610376463"/>
                  </a:ext>
                </a:extLst>
              </a:tr>
              <a:tr h="0">
                <a:tc>
                  <a:txBody>
                    <a:bodyPr/>
                    <a:lstStyle/>
                    <a:p>
                      <a:pPr>
                        <a:buNone/>
                      </a:pPr>
                      <a:r>
                        <a:rPr lang="zh-CN" altLang="en-US" dirty="0"/>
                        <a:t>修改 </a:t>
                      </a:r>
                      <a:r>
                        <a:rPr lang="en-US" dirty="0"/>
                        <a:t>Modified</a:t>
                      </a:r>
                    </a:p>
                  </a:txBody>
                  <a:tcPr anchor="ctr">
                    <a:lnL>
                      <a:noFill/>
                    </a:lnL>
                    <a:lnR>
                      <a:noFill/>
                    </a:lnR>
                    <a:lnT>
                      <a:noFill/>
                    </a:lnT>
                    <a:lnB>
                      <a:noFill/>
                    </a:lnB>
                    <a:noFill/>
                  </a:tcPr>
                </a:tc>
                <a:tc>
                  <a:txBody>
                    <a:bodyPr/>
                    <a:lstStyle/>
                    <a:p>
                      <a:pPr>
                        <a:buNone/>
                      </a:pPr>
                      <a:r>
                        <a:rPr lang="zh-CN" altLang="en-US"/>
                        <a:t>在原基础上递增</a:t>
                      </a:r>
                    </a:p>
                  </a:txBody>
                  <a:tcPr anchor="ctr">
                    <a:lnL>
                      <a:noFill/>
                    </a:lnL>
                    <a:lnR>
                      <a:noFill/>
                    </a:lnR>
                    <a:lnT>
                      <a:noFill/>
                    </a:lnT>
                    <a:lnB>
                      <a:noFill/>
                    </a:lnB>
                    <a:noFill/>
                  </a:tcPr>
                </a:tc>
                <a:tc>
                  <a:txBody>
                    <a:bodyPr/>
                    <a:lstStyle/>
                    <a:p>
                      <a:pPr>
                        <a:buNone/>
                      </a:pPr>
                      <a:r>
                        <a:rPr lang="zh-CN" altLang="en-US" dirty="0"/>
                        <a:t>如从 </a:t>
                      </a:r>
                      <a:r>
                        <a:rPr lang="en-US" altLang="zh-CN" dirty="0"/>
                        <a:t>1.0 → 1.1</a:t>
                      </a:r>
                    </a:p>
                  </a:txBody>
                  <a:tcPr anchor="ctr">
                    <a:lnL>
                      <a:noFill/>
                    </a:lnL>
                    <a:lnR>
                      <a:noFill/>
                    </a:lnR>
                    <a:lnT>
                      <a:noFill/>
                    </a:lnT>
                    <a:lnB>
                      <a:noFill/>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7200000" cy="424732"/>
          </a:xfrm>
        </p:spPr>
        <p:txBody>
          <a:bodyPr>
            <a:normAutofit/>
          </a:bodyPr>
          <a:lstStyle/>
          <a:p>
            <a:r>
              <a:rPr lang="zh-CN" altLang="en-US" dirty="0"/>
              <a:t>配置库</a:t>
            </a:r>
          </a:p>
        </p:txBody>
      </p:sp>
      <p:sp>
        <p:nvSpPr>
          <p:cNvPr id="10" name="内容占位符 9">
            <a:extLst>
              <a:ext uri="{FF2B5EF4-FFF2-40B4-BE49-F238E27FC236}">
                <a16:creationId xmlns:a16="http://schemas.microsoft.com/office/drawing/2014/main" id="{3DCD1D8E-B27C-A1B7-7B1A-1D1374A13BA8}"/>
              </a:ext>
            </a:extLst>
          </p:cNvPr>
          <p:cNvSpPr>
            <a:spLocks noGrp="1"/>
          </p:cNvSpPr>
          <p:nvPr>
            <p:ph idx="1"/>
          </p:nvPr>
        </p:nvSpPr>
        <p:spPr/>
        <p:txBody>
          <a:bodyPr/>
          <a:lstStyle/>
          <a:p>
            <a:endParaRPr lang="zh-CN" altLang="en-US"/>
          </a:p>
        </p:txBody>
      </p:sp>
      <p:sp>
        <p:nvSpPr>
          <p:cNvPr id="11" name="文本占位符 10">
            <a:extLst>
              <a:ext uri="{FF2B5EF4-FFF2-40B4-BE49-F238E27FC236}">
                <a16:creationId xmlns:a16="http://schemas.microsoft.com/office/drawing/2014/main" id="{96A439B1-72D3-A74A-30B5-4C598C02D24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4201298460"/>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t>库类型</a:t>
                      </a:r>
                    </a:p>
                  </a:txBody>
                  <a:tcPr anchor="ctr">
                    <a:lnL>
                      <a:noFill/>
                    </a:lnL>
                    <a:lnR>
                      <a:noFill/>
                    </a:lnR>
                    <a:lnT>
                      <a:noFill/>
                    </a:lnT>
                    <a:lnB>
                      <a:noFill/>
                    </a:lnB>
                    <a:noFill/>
                  </a:tcPr>
                </a:tc>
                <a:tc>
                  <a:txBody>
                    <a:bodyPr/>
                    <a:lstStyle/>
                    <a:p>
                      <a:pPr>
                        <a:buNone/>
                      </a:pPr>
                      <a:r>
                        <a:rPr lang="zh-CN" altLang="en-US"/>
                        <a:t>用途</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2198119768"/>
                  </a:ext>
                </a:extLst>
              </a:tr>
              <a:tr h="0">
                <a:tc>
                  <a:txBody>
                    <a:bodyPr/>
                    <a:lstStyle/>
                    <a:p>
                      <a:pPr>
                        <a:buNone/>
                      </a:pPr>
                      <a:r>
                        <a:rPr lang="zh-CN" altLang="en-US"/>
                        <a:t>开发库（</a:t>
                      </a:r>
                      <a:r>
                        <a:rPr lang="en-US"/>
                        <a:t>Development Library）</a:t>
                      </a:r>
                    </a:p>
                  </a:txBody>
                  <a:tcPr anchor="ctr">
                    <a:lnL>
                      <a:noFill/>
                    </a:lnL>
                    <a:lnR>
                      <a:noFill/>
                    </a:lnR>
                    <a:lnT>
                      <a:noFill/>
                    </a:lnT>
                    <a:lnB>
                      <a:noFill/>
                    </a:lnB>
                    <a:noFill/>
                  </a:tcPr>
                </a:tc>
                <a:tc>
                  <a:txBody>
                    <a:bodyPr/>
                    <a:lstStyle/>
                    <a:p>
                      <a:pPr>
                        <a:buNone/>
                      </a:pPr>
                      <a:r>
                        <a:rPr lang="zh-CN" altLang="en-US"/>
                        <a:t>存放开发人员正在工作的文件</a:t>
                      </a:r>
                    </a:p>
                  </a:txBody>
                  <a:tcPr anchor="ctr">
                    <a:lnL>
                      <a:noFill/>
                    </a:lnL>
                    <a:lnR>
                      <a:noFill/>
                    </a:lnR>
                    <a:lnT>
                      <a:noFill/>
                    </a:lnT>
                    <a:lnB>
                      <a:noFill/>
                    </a:lnB>
                    <a:noFill/>
                  </a:tcPr>
                </a:tc>
                <a:tc>
                  <a:txBody>
                    <a:bodyPr/>
                    <a:lstStyle/>
                    <a:p>
                      <a:pPr>
                        <a:buNone/>
                      </a:pPr>
                      <a:r>
                        <a:rPr lang="en-US" altLang="zh-CN"/>
                        <a:t>- </a:t>
                      </a:r>
                      <a:r>
                        <a:rPr lang="zh-CN" altLang="en-US"/>
                        <a:t>个人或团队工作空间</a:t>
                      </a:r>
                      <a:br>
                        <a:rPr lang="zh-CN" altLang="en-US"/>
                      </a:br>
                      <a:r>
                        <a:rPr lang="en-US" altLang="zh-CN"/>
                        <a:t>- </a:t>
                      </a:r>
                      <a:r>
                        <a:rPr lang="zh-CN" altLang="en-US"/>
                        <a:t>无严格版本控制</a:t>
                      </a:r>
                      <a:br>
                        <a:rPr lang="zh-CN" altLang="en-US"/>
                      </a:br>
                      <a:r>
                        <a:rPr lang="en-US" altLang="zh-CN"/>
                        <a:t>- </a:t>
                      </a:r>
                      <a:r>
                        <a:rPr lang="zh-CN" altLang="en-US"/>
                        <a:t>可自由修改</a:t>
                      </a:r>
                    </a:p>
                  </a:txBody>
                  <a:tcPr anchor="ctr">
                    <a:lnL>
                      <a:noFill/>
                    </a:lnL>
                    <a:lnR>
                      <a:noFill/>
                    </a:lnR>
                    <a:lnT>
                      <a:noFill/>
                    </a:lnT>
                    <a:lnB>
                      <a:noFill/>
                    </a:lnB>
                    <a:noFill/>
                  </a:tcPr>
                </a:tc>
                <a:extLst>
                  <a:ext uri="{0D108BD9-81ED-4DB2-BD59-A6C34878D82A}">
                    <a16:rowId xmlns:a16="http://schemas.microsoft.com/office/drawing/2014/main" val="2574645017"/>
                  </a:ext>
                </a:extLst>
              </a:tr>
              <a:tr h="0">
                <a:tc>
                  <a:txBody>
                    <a:bodyPr/>
                    <a:lstStyle/>
                    <a:p>
                      <a:pPr>
                        <a:buNone/>
                      </a:pPr>
                      <a:r>
                        <a:rPr lang="zh-CN" altLang="en-US"/>
                        <a:t>受控库（</a:t>
                      </a:r>
                      <a:r>
                        <a:rPr lang="en-US"/>
                        <a:t>Controlled Library）</a:t>
                      </a:r>
                    </a:p>
                  </a:txBody>
                  <a:tcPr anchor="ctr">
                    <a:lnL>
                      <a:noFill/>
                    </a:lnL>
                    <a:lnR>
                      <a:noFill/>
                    </a:lnR>
                    <a:lnT>
                      <a:noFill/>
                    </a:lnT>
                    <a:lnB>
                      <a:noFill/>
                    </a:lnB>
                    <a:noFill/>
                  </a:tcPr>
                </a:tc>
                <a:tc>
                  <a:txBody>
                    <a:bodyPr/>
                    <a:lstStyle/>
                    <a:p>
                      <a:pPr>
                        <a:buNone/>
                      </a:pPr>
                      <a:r>
                        <a:rPr lang="zh-CN" altLang="en-US"/>
                        <a:t>存放已提交、需变更控制的配置项</a:t>
                      </a:r>
                    </a:p>
                  </a:txBody>
                  <a:tcPr anchor="ctr">
                    <a:lnL>
                      <a:noFill/>
                    </a:lnL>
                    <a:lnR>
                      <a:noFill/>
                    </a:lnR>
                    <a:lnT>
                      <a:noFill/>
                    </a:lnT>
                    <a:lnB>
                      <a:noFill/>
                    </a:lnB>
                    <a:noFill/>
                  </a:tcPr>
                </a:tc>
                <a:tc>
                  <a:txBody>
                    <a:bodyPr/>
                    <a:lstStyle/>
                    <a:p>
                      <a:pPr>
                        <a:buNone/>
                      </a:pPr>
                      <a:r>
                        <a:rPr lang="en-US" altLang="zh-CN"/>
                        <a:t>- </a:t>
                      </a:r>
                      <a:r>
                        <a:rPr lang="zh-CN" altLang="en-US"/>
                        <a:t>经审批后才能修改</a:t>
                      </a:r>
                      <a:br>
                        <a:rPr lang="zh-CN" altLang="en-US"/>
                      </a:br>
                      <a:r>
                        <a:rPr lang="en-US" altLang="zh-CN"/>
                        <a:t>- </a:t>
                      </a:r>
                      <a:r>
                        <a:rPr lang="zh-CN" altLang="en-US"/>
                        <a:t>用于集成、测试</a:t>
                      </a:r>
                      <a:br>
                        <a:rPr lang="zh-CN" altLang="en-US"/>
                      </a:br>
                      <a:r>
                        <a:rPr lang="en-US" altLang="zh-CN"/>
                        <a:t>- </a:t>
                      </a:r>
                      <a:r>
                        <a:rPr lang="zh-CN" altLang="en-US"/>
                        <a:t>实现版本控制</a:t>
                      </a:r>
                    </a:p>
                  </a:txBody>
                  <a:tcPr anchor="ctr">
                    <a:lnL>
                      <a:noFill/>
                    </a:lnL>
                    <a:lnR>
                      <a:noFill/>
                    </a:lnR>
                    <a:lnT>
                      <a:noFill/>
                    </a:lnT>
                    <a:lnB>
                      <a:noFill/>
                    </a:lnB>
                    <a:noFill/>
                  </a:tcPr>
                </a:tc>
                <a:extLst>
                  <a:ext uri="{0D108BD9-81ED-4DB2-BD59-A6C34878D82A}">
                    <a16:rowId xmlns:a16="http://schemas.microsoft.com/office/drawing/2014/main" val="2738728833"/>
                  </a:ext>
                </a:extLst>
              </a:tr>
              <a:tr h="0">
                <a:tc>
                  <a:txBody>
                    <a:bodyPr/>
                    <a:lstStyle/>
                    <a:p>
                      <a:pPr>
                        <a:buNone/>
                      </a:pPr>
                      <a:r>
                        <a:rPr lang="zh-CN" altLang="en-US"/>
                        <a:t>产品库（</a:t>
                      </a:r>
                      <a:r>
                        <a:rPr lang="en-US"/>
                        <a:t>Product Library）</a:t>
                      </a:r>
                    </a:p>
                  </a:txBody>
                  <a:tcPr anchor="ctr">
                    <a:lnL>
                      <a:noFill/>
                    </a:lnL>
                    <a:lnR>
                      <a:noFill/>
                    </a:lnR>
                    <a:lnT>
                      <a:noFill/>
                    </a:lnT>
                    <a:lnB>
                      <a:noFill/>
                    </a:lnB>
                    <a:noFill/>
                  </a:tcPr>
                </a:tc>
                <a:tc>
                  <a:txBody>
                    <a:bodyPr/>
                    <a:lstStyle/>
                    <a:p>
                      <a:pPr>
                        <a:buNone/>
                      </a:pPr>
                      <a:r>
                        <a:rPr lang="zh-CN" altLang="en-US"/>
                        <a:t>存放已发布、正式交付的产品版本</a:t>
                      </a:r>
                    </a:p>
                  </a:txBody>
                  <a:tcPr anchor="ctr">
                    <a:lnL>
                      <a:noFill/>
                    </a:lnL>
                    <a:lnR>
                      <a:noFill/>
                    </a:lnR>
                    <a:lnT>
                      <a:noFill/>
                    </a:lnT>
                    <a:lnB>
                      <a:noFill/>
                    </a:lnB>
                    <a:noFill/>
                  </a:tcPr>
                </a:tc>
                <a:tc>
                  <a:txBody>
                    <a:bodyPr/>
                    <a:lstStyle/>
                    <a:p>
                      <a:pPr>
                        <a:buNone/>
                      </a:pPr>
                      <a:r>
                        <a:rPr lang="en-US" altLang="zh-CN" dirty="0"/>
                        <a:t>- </a:t>
                      </a:r>
                      <a:r>
                        <a:rPr lang="zh-CN" altLang="en-US" dirty="0"/>
                        <a:t>最终版本</a:t>
                      </a:r>
                      <a:br>
                        <a:rPr lang="zh-CN" altLang="en-US" dirty="0"/>
                      </a:br>
                      <a:r>
                        <a:rPr lang="en-US" altLang="zh-CN" dirty="0"/>
                        <a:t>- </a:t>
                      </a:r>
                      <a:r>
                        <a:rPr lang="zh-CN" altLang="en-US" dirty="0"/>
                        <a:t>不可随意修改</a:t>
                      </a:r>
                      <a:br>
                        <a:rPr lang="zh-CN" altLang="en-US" dirty="0"/>
                      </a:br>
                      <a:r>
                        <a:rPr lang="en-US" altLang="zh-CN" dirty="0"/>
                        <a:t>- </a:t>
                      </a:r>
                      <a:r>
                        <a:rPr lang="zh-CN" altLang="en-US" dirty="0"/>
                        <a:t>供发布和交付使用</a:t>
                      </a:r>
                    </a:p>
                  </a:txBody>
                  <a:tcPr anchor="ctr">
                    <a:lnL>
                      <a:noFill/>
                    </a:lnL>
                    <a:lnR>
                      <a:noFill/>
                    </a:lnR>
                    <a:lnT>
                      <a:noFill/>
                    </a:lnT>
                    <a:lnB>
                      <a:noFill/>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7200000" cy="424732"/>
          </a:xfrm>
        </p:spPr>
        <p:txBody>
          <a:bodyPr>
            <a:normAutofit/>
          </a:bodyPr>
          <a:lstStyle/>
          <a:p>
            <a:r>
              <a:rPr lang="zh-CN" altLang="en-US" dirty="0"/>
              <a:t>发布管理和交付</a:t>
            </a:r>
          </a:p>
        </p:txBody>
      </p:sp>
      <p:sp>
        <p:nvSpPr>
          <p:cNvPr id="7" name="内容占位符 6">
            <a:extLst>
              <a:ext uri="{FF2B5EF4-FFF2-40B4-BE49-F238E27FC236}">
                <a16:creationId xmlns:a16="http://schemas.microsoft.com/office/drawing/2014/main" id="{D892140F-B850-4693-A64C-E54A18855B5E}"/>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0452B3B2-C907-0D96-A11E-32EBF2F96739}"/>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285379649"/>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t>活动</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3254290677"/>
                  </a:ext>
                </a:extLst>
              </a:tr>
              <a:tr h="0">
                <a:tc>
                  <a:txBody>
                    <a:bodyPr/>
                    <a:lstStyle/>
                    <a:p>
                      <a:pPr>
                        <a:buNone/>
                      </a:pPr>
                      <a:r>
                        <a:rPr lang="zh-CN" altLang="en-US" dirty="0"/>
                        <a:t>打包 </a:t>
                      </a:r>
                      <a:r>
                        <a:rPr lang="en-US" dirty="0"/>
                        <a:t>Packaging</a:t>
                      </a:r>
                    </a:p>
                  </a:txBody>
                  <a:tcPr anchor="ctr">
                    <a:lnL>
                      <a:noFill/>
                    </a:lnL>
                    <a:lnR>
                      <a:noFill/>
                    </a:lnR>
                    <a:lnT>
                      <a:noFill/>
                    </a:lnT>
                    <a:lnB>
                      <a:noFill/>
                    </a:lnB>
                    <a:noFill/>
                  </a:tcPr>
                </a:tc>
                <a:tc>
                  <a:txBody>
                    <a:bodyPr/>
                    <a:lstStyle/>
                    <a:p>
                      <a:pPr>
                        <a:buNone/>
                      </a:pPr>
                      <a:r>
                        <a:rPr lang="zh-CN" altLang="en-US"/>
                        <a:t>将多个配置项（如代码、文档、配置文件）组合成一个可发布的单元（如安装包、镜像）</a:t>
                      </a:r>
                    </a:p>
                  </a:txBody>
                  <a:tcPr anchor="ctr">
                    <a:lnL>
                      <a:noFill/>
                    </a:lnL>
                    <a:lnR>
                      <a:noFill/>
                    </a:lnR>
                    <a:lnT>
                      <a:noFill/>
                    </a:lnT>
                    <a:lnB>
                      <a:noFill/>
                    </a:lnB>
                    <a:noFill/>
                  </a:tcPr>
                </a:tc>
                <a:extLst>
                  <a:ext uri="{0D108BD9-81ED-4DB2-BD59-A6C34878D82A}">
                    <a16:rowId xmlns:a16="http://schemas.microsoft.com/office/drawing/2014/main" val="2836428169"/>
                  </a:ext>
                </a:extLst>
              </a:tr>
              <a:tr h="0">
                <a:tc>
                  <a:txBody>
                    <a:bodyPr/>
                    <a:lstStyle/>
                    <a:p>
                      <a:pPr>
                        <a:buNone/>
                      </a:pPr>
                      <a:r>
                        <a:rPr lang="zh-CN" altLang="en-US" dirty="0"/>
                        <a:t>复制 </a:t>
                      </a:r>
                      <a:r>
                        <a:rPr lang="en-US" dirty="0"/>
                        <a:t>Replication</a:t>
                      </a:r>
                    </a:p>
                  </a:txBody>
                  <a:tcPr anchor="ctr">
                    <a:lnL>
                      <a:noFill/>
                    </a:lnL>
                    <a:lnR>
                      <a:noFill/>
                    </a:lnR>
                    <a:lnT>
                      <a:noFill/>
                    </a:lnT>
                    <a:lnB>
                      <a:noFill/>
                    </a:lnB>
                    <a:noFill/>
                  </a:tcPr>
                </a:tc>
                <a:tc>
                  <a:txBody>
                    <a:bodyPr/>
                    <a:lstStyle/>
                    <a:p>
                      <a:pPr>
                        <a:buNone/>
                      </a:pPr>
                      <a:r>
                        <a:rPr lang="zh-CN" altLang="en-US"/>
                        <a:t>将发布版本复制到目标环境（如测试、生产、客户）</a:t>
                      </a:r>
                    </a:p>
                  </a:txBody>
                  <a:tcPr anchor="ctr">
                    <a:lnL>
                      <a:noFill/>
                    </a:lnL>
                    <a:lnR>
                      <a:noFill/>
                    </a:lnR>
                    <a:lnT>
                      <a:noFill/>
                    </a:lnT>
                    <a:lnB>
                      <a:noFill/>
                    </a:lnB>
                    <a:noFill/>
                  </a:tcPr>
                </a:tc>
                <a:extLst>
                  <a:ext uri="{0D108BD9-81ED-4DB2-BD59-A6C34878D82A}">
                    <a16:rowId xmlns:a16="http://schemas.microsoft.com/office/drawing/2014/main" val="781879113"/>
                  </a:ext>
                </a:extLst>
              </a:tr>
              <a:tr h="0">
                <a:tc>
                  <a:txBody>
                    <a:bodyPr/>
                    <a:lstStyle/>
                    <a:p>
                      <a:pPr>
                        <a:buNone/>
                      </a:pPr>
                      <a:r>
                        <a:rPr lang="zh-CN" altLang="en-US" dirty="0"/>
                        <a:t>存储 </a:t>
                      </a:r>
                      <a:r>
                        <a:rPr lang="en-US" dirty="0"/>
                        <a:t>Storage</a:t>
                      </a:r>
                    </a:p>
                  </a:txBody>
                  <a:tcPr anchor="ctr">
                    <a:lnL>
                      <a:noFill/>
                    </a:lnL>
                    <a:lnR>
                      <a:noFill/>
                    </a:lnR>
                    <a:lnT>
                      <a:noFill/>
                    </a:lnT>
                    <a:lnB>
                      <a:noFill/>
                    </a:lnB>
                    <a:noFill/>
                  </a:tcPr>
                </a:tc>
                <a:tc>
                  <a:txBody>
                    <a:bodyPr/>
                    <a:lstStyle/>
                    <a:p>
                      <a:pPr>
                        <a:buNone/>
                      </a:pPr>
                      <a:r>
                        <a:rPr lang="zh-CN" altLang="en-US"/>
                        <a:t>将发布版本存放在产品库或发布服务器中，供后续使用或回滚</a:t>
                      </a:r>
                    </a:p>
                  </a:txBody>
                  <a:tcPr anchor="ctr">
                    <a:lnL>
                      <a:noFill/>
                    </a:lnL>
                    <a:lnR>
                      <a:noFill/>
                    </a:lnR>
                    <a:lnT>
                      <a:noFill/>
                    </a:lnT>
                    <a:lnB>
                      <a:noFill/>
                    </a:lnB>
                    <a:noFill/>
                  </a:tcPr>
                </a:tc>
                <a:extLst>
                  <a:ext uri="{0D108BD9-81ED-4DB2-BD59-A6C34878D82A}">
                    <a16:rowId xmlns:a16="http://schemas.microsoft.com/office/drawing/2014/main" val="3735302203"/>
                  </a:ext>
                </a:extLst>
              </a:tr>
              <a:tr h="0">
                <a:tc>
                  <a:txBody>
                    <a:bodyPr/>
                    <a:lstStyle/>
                    <a:p>
                      <a:pPr>
                        <a:buNone/>
                      </a:pPr>
                      <a:r>
                        <a:rPr lang="zh-CN" altLang="en-US" dirty="0"/>
                        <a:t>分发 </a:t>
                      </a:r>
                      <a:r>
                        <a:rPr lang="en-US" dirty="0"/>
                        <a:t>Distribution</a:t>
                      </a:r>
                    </a:p>
                  </a:txBody>
                  <a:tcPr anchor="ctr">
                    <a:lnL>
                      <a:noFill/>
                    </a:lnL>
                    <a:lnR>
                      <a:noFill/>
                    </a:lnR>
                    <a:lnT>
                      <a:noFill/>
                    </a:lnT>
                    <a:lnB>
                      <a:noFill/>
                    </a:lnB>
                    <a:noFill/>
                  </a:tcPr>
                </a:tc>
                <a:tc>
                  <a:txBody>
                    <a:bodyPr/>
                    <a:lstStyle/>
                    <a:p>
                      <a:pPr>
                        <a:buNone/>
                      </a:pPr>
                      <a:r>
                        <a:rPr lang="zh-CN" altLang="en-US"/>
                        <a:t>向用户或运维团队提供发布包</a:t>
                      </a:r>
                    </a:p>
                  </a:txBody>
                  <a:tcPr anchor="ctr">
                    <a:lnL>
                      <a:noFill/>
                    </a:lnL>
                    <a:lnR>
                      <a:noFill/>
                    </a:lnR>
                    <a:lnT>
                      <a:noFill/>
                    </a:lnT>
                    <a:lnB>
                      <a:noFill/>
                    </a:lnB>
                    <a:noFill/>
                  </a:tcPr>
                </a:tc>
                <a:extLst>
                  <a:ext uri="{0D108BD9-81ED-4DB2-BD59-A6C34878D82A}">
                    <a16:rowId xmlns:a16="http://schemas.microsoft.com/office/drawing/2014/main" val="360829072"/>
                  </a:ext>
                </a:extLst>
              </a:tr>
              <a:tr h="0">
                <a:tc>
                  <a:txBody>
                    <a:bodyPr/>
                    <a:lstStyle/>
                    <a:p>
                      <a:pPr>
                        <a:buNone/>
                      </a:pPr>
                      <a:r>
                        <a:rPr lang="zh-CN" altLang="en-US" dirty="0"/>
                        <a:t>部署 </a:t>
                      </a:r>
                      <a:r>
                        <a:rPr lang="en-US" dirty="0"/>
                        <a:t>Deployment</a:t>
                      </a:r>
                    </a:p>
                  </a:txBody>
                  <a:tcPr anchor="ctr">
                    <a:lnL>
                      <a:noFill/>
                    </a:lnL>
                    <a:lnR>
                      <a:noFill/>
                    </a:lnR>
                    <a:lnT>
                      <a:noFill/>
                    </a:lnT>
                    <a:lnB>
                      <a:noFill/>
                    </a:lnB>
                    <a:noFill/>
                  </a:tcPr>
                </a:tc>
                <a:tc>
                  <a:txBody>
                    <a:bodyPr/>
                    <a:lstStyle/>
                    <a:p>
                      <a:pPr>
                        <a:buNone/>
                      </a:pPr>
                      <a:r>
                        <a:rPr lang="zh-CN" altLang="en-US" dirty="0"/>
                        <a:t>在目标环境中安装和运行发布包</a:t>
                      </a:r>
                    </a:p>
                  </a:txBody>
                  <a:tcPr anchor="ctr">
                    <a:lnL>
                      <a:noFill/>
                    </a:lnL>
                    <a:lnR>
                      <a:noFill/>
                    </a:lnR>
                    <a:lnT>
                      <a:noFill/>
                    </a:lnT>
                    <a:lnB>
                      <a:noFill/>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597332294"/>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dirty="0"/>
                        <a:t>Adjourning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结束期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7200000" cy="424732"/>
          </a:xfrm>
        </p:spPr>
        <p:txBody>
          <a:bodyPr>
            <a:normAutofit/>
          </a:bodyPr>
          <a:lstStyle/>
          <a:p>
            <a:r>
              <a:rPr lang="zh-CN" altLang="en-US" dirty="0"/>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1080000"/>
            <a:ext cx="10800000" cy="5112000"/>
          </a:xfrm>
        </p:spPr>
        <p:txBody>
          <a:bodyPr/>
          <a:lstStyle/>
          <a:p>
            <a:r>
              <a:rPr lang="zh-CN" altLang="en-US" dirty="0"/>
              <a:t>编制</a:t>
            </a:r>
            <a:endParaRPr lang="en-US" altLang="zh-CN" dirty="0"/>
          </a:p>
          <a:p>
            <a:r>
              <a:rPr lang="zh-CN" altLang="en-US" dirty="0"/>
              <a:t>组建</a:t>
            </a:r>
            <a:endParaRPr lang="en-US" altLang="zh-CN" dirty="0"/>
          </a:p>
          <a:p>
            <a:r>
              <a:rPr lang="zh-CN" altLang="en-US" dirty="0"/>
              <a:t>建设</a:t>
            </a:r>
            <a:endParaRPr lang="en-US" altLang="zh-CN" dirty="0"/>
          </a:p>
          <a:p>
            <a:r>
              <a:rPr lang="zh-CN" altLang="en-US" dirty="0"/>
              <a:t>管理</a:t>
            </a:r>
          </a:p>
        </p:txBody>
      </p:sp>
      <p:sp>
        <p:nvSpPr>
          <p:cNvPr id="7" name="文本占位符 6">
            <a:extLst>
              <a:ext uri="{FF2B5EF4-FFF2-40B4-BE49-F238E27FC236}">
                <a16:creationId xmlns:a16="http://schemas.microsoft.com/office/drawing/2014/main" id="{E4D80183-5D5C-9F96-1EAD-FA430280F9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7200000" cy="424732"/>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1690111738"/>
              </p:ext>
            </p:extLst>
          </p:nvPr>
        </p:nvGraphicFramePr>
        <p:xfrm>
          <a:off x="695325" y="10795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dirty="0">
                          <a:latin typeface="Montserrat" panose="00000500000000000000" pitchFamily="2" charset="0"/>
                          <a:ea typeface="微软雅黑 Light" panose="020B0502040204020203" pitchFamily="34" charset="-122"/>
                        </a:rPr>
                        <a:t>人员</a:t>
                      </a: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需求定义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张三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李四</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王五</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赵六</a:t>
                      </a:r>
                    </a:p>
                  </a:txBody>
                  <a:tcPr anchor="ctr"/>
                </a:tc>
                <a:extLst>
                  <a:ext uri="{0D108BD9-81ED-4DB2-BD59-A6C34878D82A}">
                    <a16:rowId xmlns:a16="http://schemas.microsoft.com/office/drawing/2014/main" val="3178040689"/>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系统设计</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787288823"/>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系统开发</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58659324"/>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测试</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086058177"/>
                  </a:ext>
                </a:extLst>
              </a:tr>
            </a:tbl>
          </a:graphicData>
        </a:graphic>
      </p:graphicFrame>
      <p:sp>
        <p:nvSpPr>
          <p:cNvPr id="8" name="文本占位符 7">
            <a:extLst>
              <a:ext uri="{FF2B5EF4-FFF2-40B4-BE49-F238E27FC236}">
                <a16:creationId xmlns:a16="http://schemas.microsoft.com/office/drawing/2014/main" id="{0ECC5807-08BD-2855-4C2B-1ECB4E862F2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7200000" cy="424732"/>
          </a:xfrm>
        </p:spPr>
        <p:txBody>
          <a:bodyPr>
            <a:normAutofit/>
          </a:bodyPr>
          <a:lstStyle/>
          <a:p>
            <a:r>
              <a:rPr lang="zh-CN" altLang="en-US" dirty="0"/>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448555077"/>
              </p:ext>
            </p:extLst>
          </p:nvPr>
        </p:nvGraphicFramePr>
        <p:xfrm>
          <a:off x="695325" y="10795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dirty="0"/>
                        <a:t>技术</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dirty="0"/>
                        <a:t>回避</a:t>
                      </a:r>
                      <a:r>
                        <a:rPr lang="en-US" altLang="zh-CN" dirty="0"/>
                        <a:t>/</a:t>
                      </a:r>
                      <a:r>
                        <a:rPr lang="zh-CN" altLang="en-US" dirty="0"/>
                        <a:t>撤退 </a:t>
                      </a:r>
                      <a:r>
                        <a:rPr lang="en-US" dirty="0"/>
                        <a:t>Avoiding/Withdrawal</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回避问题，不处理</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临时回避，或问题不重要时</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523555536"/>
                  </a:ext>
                </a:extLst>
              </a:tr>
              <a:tr h="0">
                <a:tc>
                  <a:txBody>
                    <a:bodyPr/>
                    <a:lstStyle/>
                    <a:p>
                      <a:pPr>
                        <a:buNone/>
                      </a:pPr>
                      <a:r>
                        <a:rPr lang="zh-CN" altLang="en-US" dirty="0"/>
                        <a:t>安抚</a:t>
                      </a:r>
                      <a:r>
                        <a:rPr lang="en-US" altLang="zh-CN" dirty="0"/>
                        <a:t>/</a:t>
                      </a:r>
                      <a:r>
                        <a:rPr lang="zh-CN" altLang="en-US" dirty="0"/>
                        <a:t>迁就 </a:t>
                      </a:r>
                      <a:r>
                        <a:rPr lang="en-US" dirty="0"/>
                        <a:t>Accommodating</a:t>
                      </a:r>
                    </a:p>
                  </a:txBody>
                  <a:tcPr anchor="ctr">
                    <a:lnL>
                      <a:noFill/>
                    </a:lnL>
                    <a:lnR>
                      <a:noFill/>
                    </a:lnR>
                    <a:lnT>
                      <a:noFill/>
                    </a:lnT>
                    <a:lnB>
                      <a:noFill/>
                    </a:lnB>
                    <a:noFill/>
                  </a:tcPr>
                </a:tc>
                <a:tc>
                  <a:txBody>
                    <a:bodyPr/>
                    <a:lstStyle/>
                    <a:p>
                      <a:pPr>
                        <a:buNone/>
                      </a:pPr>
                      <a:r>
                        <a:rPr lang="zh-CN" altLang="en-US"/>
                        <a:t>优先考虑他人需求，牺牲自己</a:t>
                      </a:r>
                    </a:p>
                  </a:txBody>
                  <a:tcPr anchor="ctr">
                    <a:lnL>
                      <a:noFill/>
                    </a:lnL>
                    <a:lnR>
                      <a:noFill/>
                    </a:lnR>
                    <a:lnT>
                      <a:noFill/>
                    </a:lnT>
                    <a:lnB>
                      <a:noFill/>
                    </a:lnB>
                    <a:noFill/>
                  </a:tcPr>
                </a:tc>
                <a:tc>
                  <a:txBody>
                    <a:bodyPr/>
                    <a:lstStyle/>
                    <a:p>
                      <a:pPr>
                        <a:buNone/>
                      </a:pPr>
                      <a:r>
                        <a:rPr lang="zh-CN" altLang="en-US"/>
                        <a:t>维护关系，暂时让步</a:t>
                      </a:r>
                    </a:p>
                  </a:txBody>
                  <a:tcPr anchor="ctr">
                    <a:lnL>
                      <a:noFill/>
                    </a:lnL>
                    <a:lnR>
                      <a:noFill/>
                    </a:lnR>
                    <a:lnT>
                      <a:noFill/>
                    </a:lnT>
                    <a:lnB>
                      <a:noFill/>
                    </a:lnB>
                    <a:noFill/>
                  </a:tcPr>
                </a:tc>
                <a:extLst>
                  <a:ext uri="{0D108BD9-81ED-4DB2-BD59-A6C34878D82A}">
                    <a16:rowId xmlns:a16="http://schemas.microsoft.com/office/drawing/2014/main" val="410821334"/>
                  </a:ext>
                </a:extLst>
              </a:tr>
              <a:tr h="0">
                <a:tc>
                  <a:txBody>
                    <a:bodyPr/>
                    <a:lstStyle/>
                    <a:p>
                      <a:pPr>
                        <a:buNone/>
                      </a:pPr>
                      <a:r>
                        <a:rPr lang="zh-CN" altLang="en-US" dirty="0"/>
                        <a:t>妥协 </a:t>
                      </a:r>
                      <a:r>
                        <a:rPr lang="en-US" dirty="0"/>
                        <a:t>Compromising</a:t>
                      </a:r>
                    </a:p>
                  </a:txBody>
                  <a:tcPr anchor="ctr">
                    <a:lnL>
                      <a:noFill/>
                    </a:lnL>
                    <a:lnR>
                      <a:noFill/>
                    </a:lnR>
                    <a:lnT>
                      <a:noFill/>
                    </a:lnT>
                    <a:lnB>
                      <a:noFill/>
                    </a:lnB>
                    <a:noFill/>
                  </a:tcPr>
                </a:tc>
                <a:tc>
                  <a:txBody>
                    <a:bodyPr/>
                    <a:lstStyle/>
                    <a:p>
                      <a:pPr>
                        <a:buNone/>
                      </a:pPr>
                      <a:r>
                        <a:rPr lang="zh-CN" altLang="en-US"/>
                        <a:t>双方各让一步，达成折中</a:t>
                      </a:r>
                    </a:p>
                  </a:txBody>
                  <a:tcPr anchor="ctr">
                    <a:lnL>
                      <a:noFill/>
                    </a:lnL>
                    <a:lnR>
                      <a:noFill/>
                    </a:lnR>
                    <a:lnT>
                      <a:noFill/>
                    </a:lnT>
                    <a:lnB>
                      <a:noFill/>
                    </a:lnB>
                    <a:noFill/>
                  </a:tcPr>
                </a:tc>
                <a:tc>
                  <a:txBody>
                    <a:bodyPr/>
                    <a:lstStyle/>
                    <a:p>
                      <a:pPr>
                        <a:buNone/>
                      </a:pPr>
                      <a:r>
                        <a:rPr lang="zh-CN" altLang="en-US"/>
                        <a:t>时间紧迫，双方都有利害</a:t>
                      </a:r>
                    </a:p>
                  </a:txBody>
                  <a:tcPr anchor="ctr">
                    <a:lnL>
                      <a:noFill/>
                    </a:lnL>
                    <a:lnR>
                      <a:noFill/>
                    </a:lnR>
                    <a:lnT>
                      <a:noFill/>
                    </a:lnT>
                    <a:lnB>
                      <a:noFill/>
                    </a:lnB>
                    <a:noFill/>
                  </a:tcPr>
                </a:tc>
                <a:extLst>
                  <a:ext uri="{0D108BD9-81ED-4DB2-BD59-A6C34878D82A}">
                    <a16:rowId xmlns:a16="http://schemas.microsoft.com/office/drawing/2014/main" val="1933499686"/>
                  </a:ext>
                </a:extLst>
              </a:tr>
              <a:tr h="0">
                <a:tc>
                  <a:txBody>
                    <a:bodyPr/>
                    <a:lstStyle/>
                    <a:p>
                      <a:pPr>
                        <a:buNone/>
                      </a:pPr>
                      <a:r>
                        <a:rPr lang="zh-CN" altLang="en-US" dirty="0"/>
                        <a:t>强制 </a:t>
                      </a:r>
                      <a:r>
                        <a:rPr lang="en-US" dirty="0"/>
                        <a:t>Forcing</a:t>
                      </a:r>
                    </a:p>
                  </a:txBody>
                  <a:tcPr anchor="ctr">
                    <a:lnL>
                      <a:noFill/>
                    </a:lnL>
                    <a:lnR>
                      <a:noFill/>
                    </a:lnR>
                    <a:lnT>
                      <a:noFill/>
                    </a:lnT>
                    <a:lnB>
                      <a:noFill/>
                    </a:lnB>
                    <a:noFill/>
                  </a:tcPr>
                </a:tc>
                <a:tc>
                  <a:txBody>
                    <a:bodyPr/>
                    <a:lstStyle/>
                    <a:p>
                      <a:pPr>
                        <a:buNone/>
                      </a:pPr>
                      <a:r>
                        <a:rPr lang="zh-CN" altLang="en-US"/>
                        <a:t>强行推动自己的观点</a:t>
                      </a:r>
                    </a:p>
                  </a:txBody>
                  <a:tcPr anchor="ctr">
                    <a:lnL>
                      <a:noFill/>
                    </a:lnL>
                    <a:lnR>
                      <a:noFill/>
                    </a:lnR>
                    <a:lnT>
                      <a:noFill/>
                    </a:lnT>
                    <a:lnB>
                      <a:noFill/>
                    </a:lnB>
                    <a:noFill/>
                  </a:tcPr>
                </a:tc>
                <a:tc>
                  <a:txBody>
                    <a:bodyPr/>
                    <a:lstStyle/>
                    <a:p>
                      <a:pPr>
                        <a:buNone/>
                      </a:pPr>
                      <a:r>
                        <a:rPr lang="zh-CN" altLang="en-US"/>
                        <a:t>权力大、必须决策时</a:t>
                      </a:r>
                    </a:p>
                  </a:txBody>
                  <a:tcPr anchor="ctr">
                    <a:lnL>
                      <a:noFill/>
                    </a:lnL>
                    <a:lnR>
                      <a:noFill/>
                    </a:lnR>
                    <a:lnT>
                      <a:noFill/>
                    </a:lnT>
                    <a:lnB>
                      <a:noFill/>
                    </a:lnB>
                    <a:noFill/>
                  </a:tcPr>
                </a:tc>
                <a:extLst>
                  <a:ext uri="{0D108BD9-81ED-4DB2-BD59-A6C34878D82A}">
                    <a16:rowId xmlns:a16="http://schemas.microsoft.com/office/drawing/2014/main" val="600407737"/>
                  </a:ext>
                </a:extLst>
              </a:tr>
              <a:tr h="0">
                <a:tc>
                  <a:txBody>
                    <a:bodyPr/>
                    <a:lstStyle/>
                    <a:p>
                      <a:pPr>
                        <a:buNone/>
                      </a:pPr>
                      <a:r>
                        <a:rPr lang="zh-CN" altLang="en-US" dirty="0"/>
                        <a:t>合作</a:t>
                      </a:r>
                      <a:r>
                        <a:rPr lang="en-US" altLang="zh-CN" dirty="0"/>
                        <a:t>/</a:t>
                      </a:r>
                      <a:r>
                        <a:rPr lang="zh-CN" altLang="en-US" dirty="0"/>
                        <a:t>解决问题 </a:t>
                      </a:r>
                      <a:r>
                        <a:rPr lang="en-US" dirty="0"/>
                        <a:t>Collaborating</a:t>
                      </a:r>
                    </a:p>
                  </a:txBody>
                  <a:tcPr anchor="ctr">
                    <a:lnL>
                      <a:noFill/>
                    </a:lnL>
                    <a:lnR>
                      <a:noFill/>
                    </a:lnR>
                    <a:lnT>
                      <a:noFill/>
                    </a:lnT>
                    <a:lnB>
                      <a:noFill/>
                    </a:lnB>
                    <a:noFill/>
                  </a:tcPr>
                </a:tc>
                <a:tc>
                  <a:txBody>
                    <a:bodyPr/>
                    <a:lstStyle/>
                    <a:p>
                      <a:pPr>
                        <a:buNone/>
                      </a:pPr>
                      <a:r>
                        <a:rPr lang="zh-CN" altLang="en-US" dirty="0"/>
                        <a:t>共同探讨，寻找双赢方案</a:t>
                      </a:r>
                    </a:p>
                  </a:txBody>
                  <a:tcPr anchor="ctr">
                    <a:lnL>
                      <a:noFill/>
                    </a:lnL>
                    <a:lnR>
                      <a:noFill/>
                    </a:lnR>
                    <a:lnT>
                      <a:noFill/>
                    </a:lnT>
                    <a:lnB>
                      <a:noFill/>
                    </a:lnB>
                    <a:noFill/>
                  </a:tcPr>
                </a:tc>
                <a:tc>
                  <a:txBody>
                    <a:bodyPr/>
                    <a:lstStyle/>
                    <a:p>
                      <a:pPr>
                        <a:buNone/>
                      </a:pPr>
                      <a:r>
                        <a:rPr lang="zh-CN" altLang="en-US" dirty="0"/>
                        <a:t>复杂问题，需要共识</a:t>
                      </a:r>
                    </a:p>
                  </a:txBody>
                  <a:tcPr anchor="ctr">
                    <a:lnL>
                      <a:noFill/>
                    </a:lnL>
                    <a:lnR>
                      <a:noFill/>
                    </a:lnR>
                    <a:lnT>
                      <a:noFill/>
                    </a:lnT>
                    <a:lnB>
                      <a:noFill/>
                    </a:lnB>
                    <a:noFill/>
                  </a:tcPr>
                </a:tc>
                <a:extLst>
                  <a:ext uri="{0D108BD9-81ED-4DB2-BD59-A6C34878D82A}">
                    <a16:rowId xmlns:a16="http://schemas.microsoft.com/office/drawing/2014/main" val="2418812145"/>
                  </a:ext>
                </a:extLst>
              </a:tr>
            </a:tbl>
          </a:graphicData>
        </a:graphic>
      </p:graphicFrame>
      <p:sp>
        <p:nvSpPr>
          <p:cNvPr id="10" name="文本占位符 9">
            <a:extLst>
              <a:ext uri="{FF2B5EF4-FFF2-40B4-BE49-F238E27FC236}">
                <a16:creationId xmlns:a16="http://schemas.microsoft.com/office/drawing/2014/main" id="{2D686AD8-7AB5-0C0F-8F5E-DEEE1EEDDDE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7200000" cy="424732"/>
          </a:xfrm>
        </p:spPr>
        <p:txBody>
          <a:bodyPr>
            <a:normAutofit/>
          </a:bodyPr>
          <a:lstStyle/>
          <a:p>
            <a:r>
              <a:rPr lang="zh-CN" altLang="en-US" dirty="0"/>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2241920159"/>
              </p:ext>
            </p:extLst>
          </p:nvPr>
        </p:nvGraphicFramePr>
        <p:xfrm>
          <a:off x="695325" y="10795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t>层次</a:t>
                      </a:r>
                    </a:p>
                  </a:txBody>
                  <a:tcPr anchor="ctr">
                    <a:lnL>
                      <a:noFill/>
                    </a:lnL>
                    <a:lnR>
                      <a:noFill/>
                    </a:lnR>
                    <a:lnT>
                      <a:noFill/>
                    </a:lnT>
                    <a:lnB>
                      <a:noFill/>
                    </a:lnB>
                    <a:noFill/>
                  </a:tcPr>
                </a:tc>
                <a:tc>
                  <a:txBody>
                    <a:bodyPr/>
                    <a:lstStyle/>
                    <a:p>
                      <a:pPr>
                        <a:buNone/>
                      </a:pPr>
                      <a:r>
                        <a:rPr lang="zh-CN" altLang="en-US"/>
                        <a:t>名称</a:t>
                      </a:r>
                    </a:p>
                  </a:txBody>
                  <a:tcPr anchor="ctr">
                    <a:lnL>
                      <a:noFill/>
                    </a:lnL>
                    <a:lnR>
                      <a:noFill/>
                    </a:lnR>
                    <a:lnT>
                      <a:noFill/>
                    </a:lnT>
                    <a:lnB>
                      <a:noFill/>
                    </a:lnB>
                    <a:noFill/>
                  </a:tcPr>
                </a:tc>
                <a:tc>
                  <a:txBody>
                    <a:bodyPr/>
                    <a:lstStyle/>
                    <a:p>
                      <a:pPr>
                        <a:buNone/>
                      </a:pPr>
                      <a:r>
                        <a:rPr lang="zh-CN" altLang="en-US"/>
                        <a:t>典型表现</a:t>
                      </a:r>
                    </a:p>
                  </a:txBody>
                  <a:tcPr anchor="ctr">
                    <a:lnL>
                      <a:noFill/>
                    </a:lnL>
                    <a:lnR>
                      <a:noFill/>
                    </a:lnR>
                    <a:lnT>
                      <a:noFill/>
                    </a:lnT>
                    <a:lnB>
                      <a:noFill/>
                    </a:lnB>
                    <a:noFill/>
                  </a:tcPr>
                </a:tc>
                <a:extLst>
                  <a:ext uri="{0D108BD9-81ED-4DB2-BD59-A6C34878D82A}">
                    <a16:rowId xmlns:a16="http://schemas.microsoft.com/office/drawing/2014/main" val="1201168794"/>
                  </a:ext>
                </a:extLst>
              </a:tr>
              <a:tr h="0">
                <a:tc>
                  <a:txBody>
                    <a:bodyPr/>
                    <a:lstStyle/>
                    <a:p>
                      <a:pPr>
                        <a:buNone/>
                      </a:pPr>
                      <a:r>
                        <a:rPr lang="en-US" altLang="zh-CN"/>
                        <a:t>1</a:t>
                      </a:r>
                    </a:p>
                  </a:txBody>
                  <a:tcPr anchor="ctr">
                    <a:lnL>
                      <a:noFill/>
                    </a:lnL>
                    <a:lnR>
                      <a:noFill/>
                    </a:lnR>
                    <a:lnT>
                      <a:noFill/>
                    </a:lnT>
                    <a:lnB>
                      <a:noFill/>
                    </a:lnB>
                    <a:noFill/>
                  </a:tcPr>
                </a:tc>
                <a:tc>
                  <a:txBody>
                    <a:bodyPr/>
                    <a:lstStyle/>
                    <a:p>
                      <a:pPr>
                        <a:buNone/>
                      </a:pPr>
                      <a:r>
                        <a:rPr lang="zh-CN" altLang="en-US" dirty="0"/>
                        <a:t>生理需求（</a:t>
                      </a:r>
                      <a:r>
                        <a:rPr lang="en-US" altLang="zh-CN" dirty="0"/>
                        <a:t>Physiological</a:t>
                      </a:r>
                      <a:r>
                        <a:rPr lang="en-US" dirty="0"/>
                        <a:t>）</a:t>
                      </a:r>
                    </a:p>
                  </a:txBody>
                  <a:tcPr anchor="ctr">
                    <a:lnL>
                      <a:noFill/>
                    </a:lnL>
                    <a:lnR>
                      <a:noFill/>
                    </a:lnR>
                    <a:lnT>
                      <a:noFill/>
                    </a:lnT>
                    <a:lnB>
                      <a:noFill/>
                    </a:lnB>
                    <a:noFill/>
                  </a:tcPr>
                </a:tc>
                <a:tc>
                  <a:txBody>
                    <a:bodyPr/>
                    <a:lstStyle/>
                    <a:p>
                      <a:pPr>
                        <a:buNone/>
                      </a:pPr>
                      <a:r>
                        <a:rPr lang="zh-CN" altLang="en-US" dirty="0"/>
                        <a:t>饮食、睡眠、休息等基本生存需求</a:t>
                      </a:r>
                    </a:p>
                  </a:txBody>
                  <a:tcPr anchor="ctr">
                    <a:lnL>
                      <a:noFill/>
                    </a:lnL>
                    <a:lnR>
                      <a:noFill/>
                    </a:lnR>
                    <a:lnT>
                      <a:noFill/>
                    </a:lnT>
                    <a:lnB>
                      <a:noFill/>
                    </a:lnB>
                    <a:noFill/>
                  </a:tcPr>
                </a:tc>
                <a:extLst>
                  <a:ext uri="{0D108BD9-81ED-4DB2-BD59-A6C34878D82A}">
                    <a16:rowId xmlns:a16="http://schemas.microsoft.com/office/drawing/2014/main" val="3990555722"/>
                  </a:ext>
                </a:extLst>
              </a:tr>
              <a:tr h="0">
                <a:tc>
                  <a:txBody>
                    <a:bodyPr/>
                    <a:lstStyle/>
                    <a:p>
                      <a:pPr>
                        <a:buNone/>
                      </a:pPr>
                      <a:r>
                        <a:rPr lang="en-US" altLang="zh-CN"/>
                        <a:t>2</a:t>
                      </a:r>
                    </a:p>
                  </a:txBody>
                  <a:tcPr anchor="ctr">
                    <a:lnL>
                      <a:noFill/>
                    </a:lnL>
                    <a:lnR>
                      <a:noFill/>
                    </a:lnR>
                    <a:lnT>
                      <a:noFill/>
                    </a:lnT>
                    <a:lnB>
                      <a:noFill/>
                    </a:lnB>
                    <a:noFill/>
                  </a:tcPr>
                </a:tc>
                <a:tc>
                  <a:txBody>
                    <a:bodyPr/>
                    <a:lstStyle/>
                    <a:p>
                      <a:pPr>
                        <a:buNone/>
                      </a:pPr>
                      <a:r>
                        <a:rPr lang="zh-CN" altLang="en-US" dirty="0"/>
                        <a:t>安全需求（</a:t>
                      </a:r>
                      <a:r>
                        <a:rPr lang="en-US" altLang="zh-CN" dirty="0"/>
                        <a:t>Safety</a:t>
                      </a:r>
                      <a:r>
                        <a:rPr lang="en-US" dirty="0"/>
                        <a:t>）</a:t>
                      </a:r>
                    </a:p>
                  </a:txBody>
                  <a:tcPr anchor="ctr">
                    <a:lnL>
                      <a:noFill/>
                    </a:lnL>
                    <a:lnR>
                      <a:noFill/>
                    </a:lnR>
                    <a:lnT>
                      <a:noFill/>
                    </a:lnT>
                    <a:lnB>
                      <a:noFill/>
                    </a:lnB>
                    <a:noFill/>
                  </a:tcPr>
                </a:tc>
                <a:tc>
                  <a:txBody>
                    <a:bodyPr/>
                    <a:lstStyle/>
                    <a:p>
                      <a:pPr>
                        <a:buNone/>
                      </a:pPr>
                      <a:r>
                        <a:rPr lang="zh-CN" altLang="en-US"/>
                        <a:t>工作稳定、健康保障、职业安全等</a:t>
                      </a:r>
                    </a:p>
                  </a:txBody>
                  <a:tcPr anchor="ctr">
                    <a:lnL>
                      <a:noFill/>
                    </a:lnL>
                    <a:lnR>
                      <a:noFill/>
                    </a:lnR>
                    <a:lnT>
                      <a:noFill/>
                    </a:lnT>
                    <a:lnB>
                      <a:noFill/>
                    </a:lnB>
                    <a:noFill/>
                  </a:tcPr>
                </a:tc>
                <a:extLst>
                  <a:ext uri="{0D108BD9-81ED-4DB2-BD59-A6C34878D82A}">
                    <a16:rowId xmlns:a16="http://schemas.microsoft.com/office/drawing/2014/main" val="931442999"/>
                  </a:ext>
                </a:extLst>
              </a:tr>
              <a:tr h="0">
                <a:tc>
                  <a:txBody>
                    <a:bodyPr/>
                    <a:lstStyle/>
                    <a:p>
                      <a:pPr>
                        <a:buNone/>
                      </a:pPr>
                      <a:r>
                        <a:rPr lang="en-US" altLang="zh-CN"/>
                        <a:t>3</a:t>
                      </a:r>
                    </a:p>
                  </a:txBody>
                  <a:tcPr anchor="ctr">
                    <a:lnL>
                      <a:noFill/>
                    </a:lnL>
                    <a:lnR>
                      <a:noFill/>
                    </a:lnR>
                    <a:lnT>
                      <a:noFill/>
                    </a:lnT>
                    <a:lnB>
                      <a:noFill/>
                    </a:lnB>
                    <a:noFill/>
                  </a:tcPr>
                </a:tc>
                <a:tc>
                  <a:txBody>
                    <a:bodyPr/>
                    <a:lstStyle/>
                    <a:p>
                      <a:pPr>
                        <a:buNone/>
                      </a:pPr>
                      <a:r>
                        <a:rPr lang="zh-CN" altLang="en-US" dirty="0"/>
                        <a:t>社会交往需求（</a:t>
                      </a:r>
                      <a:r>
                        <a:rPr lang="en-US" dirty="0"/>
                        <a:t>Love/Belonging）</a:t>
                      </a:r>
                    </a:p>
                  </a:txBody>
                  <a:tcPr anchor="ctr">
                    <a:lnL>
                      <a:noFill/>
                    </a:lnL>
                    <a:lnR>
                      <a:noFill/>
                    </a:lnR>
                    <a:lnT>
                      <a:noFill/>
                    </a:lnT>
                    <a:lnB>
                      <a:noFill/>
                    </a:lnB>
                    <a:noFill/>
                  </a:tcPr>
                </a:tc>
                <a:tc>
                  <a:txBody>
                    <a:bodyPr/>
                    <a:lstStyle/>
                    <a:p>
                      <a:pPr>
                        <a:buNone/>
                      </a:pPr>
                      <a:r>
                        <a:rPr lang="zh-CN" altLang="en-US"/>
                        <a:t>友谊、爱情、团队归属、被接纳</a:t>
                      </a:r>
                    </a:p>
                  </a:txBody>
                  <a:tcPr anchor="ctr">
                    <a:lnL>
                      <a:noFill/>
                    </a:lnL>
                    <a:lnR>
                      <a:noFill/>
                    </a:lnR>
                    <a:lnT>
                      <a:noFill/>
                    </a:lnT>
                    <a:lnB>
                      <a:noFill/>
                    </a:lnB>
                    <a:noFill/>
                  </a:tcPr>
                </a:tc>
                <a:extLst>
                  <a:ext uri="{0D108BD9-81ED-4DB2-BD59-A6C34878D82A}">
                    <a16:rowId xmlns:a16="http://schemas.microsoft.com/office/drawing/2014/main" val="703633182"/>
                  </a:ext>
                </a:extLst>
              </a:tr>
              <a:tr h="0">
                <a:tc>
                  <a:txBody>
                    <a:bodyPr/>
                    <a:lstStyle/>
                    <a:p>
                      <a:pPr>
                        <a:buNone/>
                      </a:pPr>
                      <a:r>
                        <a:rPr lang="en-US" altLang="zh-CN"/>
                        <a:t>4</a:t>
                      </a:r>
                    </a:p>
                  </a:txBody>
                  <a:tcPr anchor="ctr">
                    <a:lnL>
                      <a:noFill/>
                    </a:lnL>
                    <a:lnR>
                      <a:noFill/>
                    </a:lnR>
                    <a:lnT>
                      <a:noFill/>
                    </a:lnT>
                    <a:lnB>
                      <a:noFill/>
                    </a:lnB>
                    <a:noFill/>
                  </a:tcPr>
                </a:tc>
                <a:tc>
                  <a:txBody>
                    <a:bodyPr/>
                    <a:lstStyle/>
                    <a:p>
                      <a:pPr>
                        <a:buNone/>
                      </a:pPr>
                      <a:r>
                        <a:rPr lang="zh-CN" altLang="en-US" dirty="0"/>
                        <a:t>自尊需求（</a:t>
                      </a:r>
                      <a:r>
                        <a:rPr lang="en-US" dirty="0"/>
                        <a:t>Esteem）</a:t>
                      </a:r>
                    </a:p>
                  </a:txBody>
                  <a:tcPr anchor="ctr">
                    <a:lnL>
                      <a:noFill/>
                    </a:lnL>
                    <a:lnR>
                      <a:noFill/>
                    </a:lnR>
                    <a:lnT>
                      <a:noFill/>
                    </a:lnT>
                    <a:lnB>
                      <a:noFill/>
                    </a:lnB>
                    <a:noFill/>
                  </a:tcPr>
                </a:tc>
                <a:tc>
                  <a:txBody>
                    <a:bodyPr/>
                    <a:lstStyle/>
                    <a:p>
                      <a:pPr>
                        <a:buNone/>
                      </a:pPr>
                      <a:r>
                        <a:rPr lang="zh-CN" altLang="en-US"/>
                        <a:t>获得尊重、认可、成就感、地位</a:t>
                      </a:r>
                    </a:p>
                  </a:txBody>
                  <a:tcPr anchor="ctr">
                    <a:lnL>
                      <a:noFill/>
                    </a:lnL>
                    <a:lnR>
                      <a:noFill/>
                    </a:lnR>
                    <a:lnT>
                      <a:noFill/>
                    </a:lnT>
                    <a:lnB>
                      <a:noFill/>
                    </a:lnB>
                    <a:noFill/>
                  </a:tcPr>
                </a:tc>
                <a:extLst>
                  <a:ext uri="{0D108BD9-81ED-4DB2-BD59-A6C34878D82A}">
                    <a16:rowId xmlns:a16="http://schemas.microsoft.com/office/drawing/2014/main" val="1437657656"/>
                  </a:ext>
                </a:extLst>
              </a:tr>
              <a:tr h="0">
                <a:tc>
                  <a:txBody>
                    <a:bodyPr/>
                    <a:lstStyle/>
                    <a:p>
                      <a:pPr>
                        <a:buNone/>
                      </a:pPr>
                      <a:r>
                        <a:rPr lang="en-US" altLang="zh-CN"/>
                        <a:t>5</a:t>
                      </a:r>
                    </a:p>
                  </a:txBody>
                  <a:tcPr anchor="ctr">
                    <a:lnL>
                      <a:noFill/>
                    </a:lnL>
                    <a:lnR>
                      <a:noFill/>
                    </a:lnR>
                    <a:lnT>
                      <a:noFill/>
                    </a:lnT>
                    <a:lnB>
                      <a:noFill/>
                    </a:lnB>
                    <a:noFill/>
                  </a:tcPr>
                </a:tc>
                <a:tc>
                  <a:txBody>
                    <a:bodyPr/>
                    <a:lstStyle/>
                    <a:p>
                      <a:pPr>
                        <a:buNone/>
                      </a:pPr>
                      <a:r>
                        <a:rPr lang="zh-CN" altLang="en-US" dirty="0"/>
                        <a:t>自我实现（</a:t>
                      </a:r>
                      <a:r>
                        <a:rPr lang="en-US" dirty="0"/>
                        <a:t>Self-actualization）</a:t>
                      </a:r>
                    </a:p>
                  </a:txBody>
                  <a:tcPr anchor="ctr">
                    <a:lnL>
                      <a:noFill/>
                    </a:lnL>
                    <a:lnR>
                      <a:noFill/>
                    </a:lnR>
                    <a:lnT>
                      <a:noFill/>
                    </a:lnT>
                    <a:lnB>
                      <a:noFill/>
                    </a:lnB>
                    <a:noFill/>
                  </a:tcPr>
                </a:tc>
                <a:tc>
                  <a:txBody>
                    <a:bodyPr/>
                    <a:lstStyle/>
                    <a:p>
                      <a:pPr>
                        <a:buNone/>
                      </a:pPr>
                      <a:r>
                        <a:rPr lang="zh-CN" altLang="en-US" dirty="0"/>
                        <a:t>实现潜能、追求理想、创造性发挥</a:t>
                      </a:r>
                    </a:p>
                  </a:txBody>
                  <a:tcPr anchor="ctr">
                    <a:lnL>
                      <a:noFill/>
                    </a:lnL>
                    <a:lnR>
                      <a:noFill/>
                    </a:lnR>
                    <a:lnT>
                      <a:noFill/>
                    </a:lnT>
                    <a:lnB>
                      <a:noFill/>
                    </a:lnB>
                    <a:noFill/>
                  </a:tcPr>
                </a:tc>
                <a:extLst>
                  <a:ext uri="{0D108BD9-81ED-4DB2-BD59-A6C34878D82A}">
                    <a16:rowId xmlns:a16="http://schemas.microsoft.com/office/drawing/2014/main" val="1790960172"/>
                  </a:ext>
                </a:extLst>
              </a:tr>
            </a:tbl>
          </a:graphicData>
        </a:graphic>
      </p:graphicFrame>
      <p:sp>
        <p:nvSpPr>
          <p:cNvPr id="18" name="文本占位符 17">
            <a:extLst>
              <a:ext uri="{FF2B5EF4-FFF2-40B4-BE49-F238E27FC236}">
                <a16:creationId xmlns:a16="http://schemas.microsoft.com/office/drawing/2014/main" id="{FE8B8999-0759-901C-8C72-D99F7A6B13E8}"/>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7200000" cy="424732"/>
          </a:xfrm>
        </p:spPr>
        <p:txBody>
          <a:bodyPr>
            <a:normAutofit/>
          </a:bodyPr>
          <a:lstStyle/>
          <a:p>
            <a:r>
              <a:rPr lang="zh-CN" altLang="en-US" dirty="0"/>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1080000"/>
            <a:ext cx="10800000" cy="5112000"/>
          </a:xfrm>
        </p:spPr>
        <p:txBody>
          <a:bodyPr>
            <a:normAutofit fontScale="85000" lnSpcReduction="20000"/>
          </a:bodyPr>
          <a:lstStyle/>
          <a:p>
            <a:r>
              <a:rPr lang="en-US" altLang="zh-CN" dirty="0"/>
              <a:t>Herzberg's Motivation-Hygiene Theory</a:t>
            </a:r>
          </a:p>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solidFill>
                  <a:srgbClr val="FF0000"/>
                </a:solidFill>
              </a:rPr>
              <a:t>20</a:t>
            </a:r>
            <a:r>
              <a:rPr lang="zh-CN" altLang="en-US" dirty="0">
                <a:solidFill>
                  <a:srgbClr val="FF0000"/>
                </a:solidFill>
              </a:rPr>
              <a:t>世纪</a:t>
            </a:r>
            <a:r>
              <a:rPr lang="en-US" altLang="zh-CN" dirty="0">
                <a:solidFill>
                  <a:srgbClr val="FF0000"/>
                </a:solidFill>
              </a:rPr>
              <a:t>50</a:t>
            </a:r>
            <a:r>
              <a:rPr lang="zh-CN" altLang="en-US" dirty="0">
                <a:solidFill>
                  <a:srgbClr val="FF0000"/>
                </a:solidFill>
              </a:rPr>
              <a:t>年代末</a:t>
            </a:r>
            <a:r>
              <a:rPr lang="zh-CN" altLang="en-US" dirty="0"/>
              <a:t>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8683764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dirty="0"/>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p:txBody>
          <a:bodyPr/>
          <a:lstStyle/>
          <a:p>
            <a:r>
              <a:rPr lang="zh-CN" altLang="en-US" dirty="0"/>
              <a:t>沟通管理 </a:t>
            </a:r>
            <a:r>
              <a:rPr lang="en-US" altLang="zh-CN" dirty="0"/>
              <a:t>Communication Mgt</a:t>
            </a:r>
            <a:endParaRPr lang="zh-CN" altLang="en-US" dirty="0"/>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1080000"/>
            <a:ext cx="10800000" cy="5112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p:txBody>
          <a:bodyPr/>
          <a:lstStyle/>
          <a:p>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130552118"/>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t>类型</a:t>
                      </a:r>
                    </a:p>
                  </a:txBody>
                  <a:tcPr anchor="ctr">
                    <a:lnL>
                      <a:noFill/>
                    </a:lnL>
                    <a:lnR>
                      <a:noFill/>
                    </a:lnR>
                    <a:lnT>
                      <a:noFill/>
                    </a:lnT>
                    <a:lnB>
                      <a:noFill/>
                    </a:lnB>
                    <a:noFill/>
                  </a:tcPr>
                </a:tc>
                <a:tc>
                  <a:txBody>
                    <a:bodyPr/>
                    <a:lstStyle/>
                    <a:p>
                      <a:pPr>
                        <a:buNone/>
                      </a:pPr>
                      <a:r>
                        <a:rPr lang="zh-CN" altLang="en-US"/>
                        <a:t>定义</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894886506"/>
                  </a:ext>
                </a:extLst>
              </a:tr>
              <a:tr h="0">
                <a:tc>
                  <a:txBody>
                    <a:bodyPr/>
                    <a:lstStyle/>
                    <a:p>
                      <a:pPr>
                        <a:buNone/>
                      </a:pPr>
                      <a:r>
                        <a:rPr lang="en-US"/>
                        <a:t>A. </a:t>
                      </a:r>
                      <a:r>
                        <a:rPr lang="zh-CN" altLang="en-US"/>
                        <a:t>正式沟通</a:t>
                      </a:r>
                    </a:p>
                  </a:txBody>
                  <a:tcPr anchor="ctr">
                    <a:lnL>
                      <a:noFill/>
                    </a:lnL>
                    <a:lnR>
                      <a:noFill/>
                    </a:lnR>
                    <a:lnT>
                      <a:noFill/>
                    </a:lnT>
                    <a:lnB>
                      <a:noFill/>
                    </a:lnB>
                    <a:noFill/>
                  </a:tcPr>
                </a:tc>
                <a:tc>
                  <a:txBody>
                    <a:bodyPr/>
                    <a:lstStyle/>
                    <a:p>
                      <a:pPr>
                        <a:buNone/>
                      </a:pPr>
                      <a:r>
                        <a:rPr lang="zh-CN" altLang="en-US"/>
                        <a:t>通过组织结构、书面文件、会议等正规渠道进行</a:t>
                      </a:r>
                    </a:p>
                  </a:txBody>
                  <a:tcPr anchor="ctr">
                    <a:lnL>
                      <a:noFill/>
                    </a:lnL>
                    <a:lnR>
                      <a:noFill/>
                    </a:lnR>
                    <a:lnT>
                      <a:noFill/>
                    </a:lnT>
                    <a:lnB>
                      <a:noFill/>
                    </a:lnB>
                    <a:noFill/>
                  </a:tcPr>
                </a:tc>
                <a:tc>
                  <a:txBody>
                    <a:bodyPr/>
                    <a:lstStyle/>
                    <a:p>
                      <a:pPr>
                        <a:buNone/>
                      </a:pPr>
                      <a:r>
                        <a:rPr lang="zh-CN" altLang="en-US"/>
                        <a:t>规范、有记录、可控性强</a:t>
                      </a:r>
                    </a:p>
                  </a:txBody>
                  <a:tcPr anchor="ctr">
                    <a:lnL>
                      <a:noFill/>
                    </a:lnL>
                    <a:lnR>
                      <a:noFill/>
                    </a:lnR>
                    <a:lnT>
                      <a:noFill/>
                    </a:lnT>
                    <a:lnB>
                      <a:noFill/>
                    </a:lnB>
                    <a:noFill/>
                  </a:tcPr>
                </a:tc>
                <a:extLst>
                  <a:ext uri="{0D108BD9-81ED-4DB2-BD59-A6C34878D82A}">
                    <a16:rowId xmlns:a16="http://schemas.microsoft.com/office/drawing/2014/main" val="4195844813"/>
                  </a:ext>
                </a:extLst>
              </a:tr>
              <a:tr h="0">
                <a:tc>
                  <a:txBody>
                    <a:bodyPr/>
                    <a:lstStyle/>
                    <a:p>
                      <a:pPr>
                        <a:buNone/>
                      </a:pPr>
                      <a:r>
                        <a:rPr lang="en-US"/>
                        <a:t>B. </a:t>
                      </a:r>
                      <a:r>
                        <a:rPr lang="zh-CN" altLang="en-US"/>
                        <a:t>非正式沟通</a:t>
                      </a:r>
                    </a:p>
                  </a:txBody>
                  <a:tcPr anchor="ctr">
                    <a:lnL>
                      <a:noFill/>
                    </a:lnL>
                    <a:lnR>
                      <a:noFill/>
                    </a:lnR>
                    <a:lnT>
                      <a:noFill/>
                    </a:lnT>
                    <a:lnB>
                      <a:noFill/>
                    </a:lnB>
                    <a:noFill/>
                  </a:tcPr>
                </a:tc>
                <a:tc>
                  <a:txBody>
                    <a:bodyPr/>
                    <a:lstStyle/>
                    <a:p>
                      <a:pPr>
                        <a:buNone/>
                      </a:pPr>
                      <a:r>
                        <a:rPr lang="zh-CN" altLang="en-US"/>
                        <a:t>口头交流、闲聊、社交互动等非官方形式</a:t>
                      </a:r>
                    </a:p>
                  </a:txBody>
                  <a:tcPr anchor="ctr">
                    <a:lnL>
                      <a:noFill/>
                    </a:lnL>
                    <a:lnR>
                      <a:noFill/>
                    </a:lnR>
                    <a:lnT>
                      <a:noFill/>
                    </a:lnT>
                    <a:lnB>
                      <a:noFill/>
                    </a:lnB>
                    <a:noFill/>
                  </a:tcPr>
                </a:tc>
                <a:tc>
                  <a:txBody>
                    <a:bodyPr/>
                    <a:lstStyle/>
                    <a:p>
                      <a:pPr>
                        <a:buNone/>
                      </a:pPr>
                      <a:r>
                        <a:rPr lang="zh-CN" altLang="en-US"/>
                        <a:t>灵活、快速、但可能失真</a:t>
                      </a:r>
                    </a:p>
                  </a:txBody>
                  <a:tcPr anchor="ctr">
                    <a:lnL>
                      <a:noFill/>
                    </a:lnL>
                    <a:lnR>
                      <a:noFill/>
                    </a:lnR>
                    <a:lnT>
                      <a:noFill/>
                    </a:lnT>
                    <a:lnB>
                      <a:noFill/>
                    </a:lnB>
                    <a:noFill/>
                  </a:tcPr>
                </a:tc>
                <a:extLst>
                  <a:ext uri="{0D108BD9-81ED-4DB2-BD59-A6C34878D82A}">
                    <a16:rowId xmlns:a16="http://schemas.microsoft.com/office/drawing/2014/main" val="3965573547"/>
                  </a:ext>
                </a:extLst>
              </a:tr>
              <a:tr h="0">
                <a:tc>
                  <a:txBody>
                    <a:bodyPr/>
                    <a:lstStyle/>
                    <a:p>
                      <a:pPr>
                        <a:buNone/>
                      </a:pPr>
                      <a:r>
                        <a:rPr lang="en-US"/>
                        <a:t>C. </a:t>
                      </a:r>
                      <a:r>
                        <a:rPr lang="zh-CN" altLang="en-US"/>
                        <a:t>垂直沟通</a:t>
                      </a:r>
                    </a:p>
                  </a:txBody>
                  <a:tcPr anchor="ctr">
                    <a:lnL>
                      <a:noFill/>
                    </a:lnL>
                    <a:lnR>
                      <a:noFill/>
                    </a:lnR>
                    <a:lnT>
                      <a:noFill/>
                    </a:lnT>
                    <a:lnB>
                      <a:noFill/>
                    </a:lnB>
                    <a:noFill/>
                  </a:tcPr>
                </a:tc>
                <a:tc>
                  <a:txBody>
                    <a:bodyPr/>
                    <a:lstStyle/>
                    <a:p>
                      <a:pPr>
                        <a:buNone/>
                      </a:pPr>
                      <a:r>
                        <a:rPr lang="zh-CN" altLang="en-US"/>
                        <a:t>上下级之间的沟通（如项目经理与下属）</a:t>
                      </a:r>
                    </a:p>
                  </a:txBody>
                  <a:tcPr anchor="ctr">
                    <a:lnL>
                      <a:noFill/>
                    </a:lnL>
                    <a:lnR>
                      <a:noFill/>
                    </a:lnR>
                    <a:lnT>
                      <a:noFill/>
                    </a:lnT>
                    <a:lnB>
                      <a:noFill/>
                    </a:lnB>
                    <a:noFill/>
                  </a:tcPr>
                </a:tc>
                <a:tc>
                  <a:txBody>
                    <a:bodyPr/>
                    <a:lstStyle/>
                    <a:p>
                      <a:pPr>
                        <a:buNone/>
                      </a:pPr>
                      <a:r>
                        <a:rPr lang="zh-CN" altLang="en-US"/>
                        <a:t>权责明确，流程清晰</a:t>
                      </a:r>
                    </a:p>
                  </a:txBody>
                  <a:tcPr anchor="ctr">
                    <a:lnL>
                      <a:noFill/>
                    </a:lnL>
                    <a:lnR>
                      <a:noFill/>
                    </a:lnR>
                    <a:lnT>
                      <a:noFill/>
                    </a:lnT>
                    <a:lnB>
                      <a:noFill/>
                    </a:lnB>
                    <a:noFill/>
                  </a:tcPr>
                </a:tc>
                <a:extLst>
                  <a:ext uri="{0D108BD9-81ED-4DB2-BD59-A6C34878D82A}">
                    <a16:rowId xmlns:a16="http://schemas.microsoft.com/office/drawing/2014/main" val="67305166"/>
                  </a:ext>
                </a:extLst>
              </a:tr>
              <a:tr h="0">
                <a:tc>
                  <a:txBody>
                    <a:bodyPr/>
                    <a:lstStyle/>
                    <a:p>
                      <a:pPr>
                        <a:buNone/>
                      </a:pPr>
                      <a:r>
                        <a:rPr lang="en-US"/>
                        <a:t>D. </a:t>
                      </a:r>
                      <a:r>
                        <a:rPr lang="zh-CN" altLang="en-US"/>
                        <a:t>水平沟通</a:t>
                      </a:r>
                    </a:p>
                  </a:txBody>
                  <a:tcPr anchor="ctr">
                    <a:lnL>
                      <a:noFill/>
                    </a:lnL>
                    <a:lnR>
                      <a:noFill/>
                    </a:lnR>
                    <a:lnT>
                      <a:noFill/>
                    </a:lnT>
                    <a:lnB>
                      <a:noFill/>
                    </a:lnB>
                    <a:noFill/>
                  </a:tcPr>
                </a:tc>
                <a:tc>
                  <a:txBody>
                    <a:bodyPr/>
                    <a:lstStyle/>
                    <a:p>
                      <a:pPr>
                        <a:buNone/>
                      </a:pPr>
                      <a:r>
                        <a:rPr lang="zh-CN" altLang="en-US"/>
                        <a:t>同级之间或跨部门之间的沟通</a:t>
                      </a:r>
                    </a:p>
                  </a:txBody>
                  <a:tcPr anchor="ctr">
                    <a:lnL>
                      <a:noFill/>
                    </a:lnL>
                    <a:lnR>
                      <a:noFill/>
                    </a:lnR>
                    <a:lnT>
                      <a:noFill/>
                    </a:lnT>
                    <a:lnB>
                      <a:noFill/>
                    </a:lnB>
                    <a:noFill/>
                  </a:tcPr>
                </a:tc>
                <a:tc>
                  <a:txBody>
                    <a:bodyPr/>
                    <a:lstStyle/>
                    <a:p>
                      <a:pPr>
                        <a:buNone/>
                      </a:pPr>
                      <a:r>
                        <a:rPr lang="zh-CN" altLang="en-US" dirty="0"/>
                        <a:t>协调难度大，易受多方影响</a:t>
                      </a:r>
                    </a:p>
                  </a:txBody>
                  <a:tcPr anchor="ctr">
                    <a:lnL>
                      <a:noFill/>
                    </a:lnL>
                    <a:lnR>
                      <a:noFill/>
                    </a:lnR>
                    <a:lnT>
                      <a:noFill/>
                    </a:lnT>
                    <a:lnB>
                      <a:noFill/>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7200000" cy="424732"/>
          </a:xfrm>
        </p:spPr>
        <p:txBody>
          <a:bodyPr>
            <a:normAutofit/>
          </a:bodyPr>
          <a:lstStyle/>
          <a:p>
            <a:r>
              <a:rPr lang="zh-CN" altLang="en-US" dirty="0"/>
              <a:t>干系人管理 </a:t>
            </a:r>
            <a:r>
              <a:rPr lang="en-US" altLang="zh-CN" dirty="0"/>
              <a:t>Stakeholders Mgt</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1080000"/>
            <a:ext cx="10800000" cy="5112000"/>
          </a:xfrm>
        </p:spPr>
        <p:txBody>
          <a:bodyPr/>
          <a:lstStyle/>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对干系人分类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制定干系人管理计划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269176232"/>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dirty="0"/>
                        <a:t>输入</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说明</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dirty="0"/>
                        <a:t>项目章程</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包含高层级干系人信息，如发起人、客户等</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3299531260"/>
                  </a:ext>
                </a:extLst>
              </a:tr>
              <a:tr h="0">
                <a:tc>
                  <a:txBody>
                    <a:bodyPr/>
                    <a:lstStyle/>
                    <a:p>
                      <a:pPr>
                        <a:buNone/>
                      </a:pPr>
                      <a:r>
                        <a:rPr lang="zh-CN" altLang="en-US" dirty="0"/>
                        <a:t>采购文件</a:t>
                      </a:r>
                    </a:p>
                  </a:txBody>
                  <a:tcPr anchor="ctr">
                    <a:lnL>
                      <a:noFill/>
                    </a:lnL>
                    <a:lnR>
                      <a:noFill/>
                    </a:lnR>
                    <a:lnT>
                      <a:noFill/>
                    </a:lnT>
                    <a:lnB>
                      <a:noFill/>
                    </a:lnB>
                    <a:noFill/>
                  </a:tcPr>
                </a:tc>
                <a:tc>
                  <a:txBody>
                    <a:bodyPr/>
                    <a:lstStyle/>
                    <a:p>
                      <a:pPr>
                        <a:buNone/>
                      </a:pPr>
                      <a:r>
                        <a:rPr lang="zh-CN" altLang="en-US" dirty="0"/>
                        <a:t>如合同、招标书，涉及供应商、承包商等外部干系人</a:t>
                      </a:r>
                    </a:p>
                  </a:txBody>
                  <a:tcPr anchor="ctr">
                    <a:lnL>
                      <a:noFill/>
                    </a:lnL>
                    <a:lnR>
                      <a:noFill/>
                    </a:lnR>
                    <a:lnT>
                      <a:noFill/>
                    </a:lnT>
                    <a:lnB>
                      <a:noFill/>
                    </a:lnB>
                    <a:noFill/>
                  </a:tcPr>
                </a:tc>
                <a:extLst>
                  <a:ext uri="{0D108BD9-81ED-4DB2-BD59-A6C34878D82A}">
                    <a16:rowId xmlns:a16="http://schemas.microsoft.com/office/drawing/2014/main" val="549295670"/>
                  </a:ext>
                </a:extLst>
              </a:tr>
              <a:tr h="0">
                <a:tc>
                  <a:txBody>
                    <a:bodyPr/>
                    <a:lstStyle/>
                    <a:p>
                      <a:pPr>
                        <a:buNone/>
                      </a:pPr>
                      <a:r>
                        <a:rPr lang="zh-CN" altLang="en-US" dirty="0"/>
                        <a:t>干系人记录模板</a:t>
                      </a:r>
                    </a:p>
                  </a:txBody>
                  <a:tcPr anchor="ctr">
                    <a:lnL>
                      <a:noFill/>
                    </a:lnL>
                    <a:lnR>
                      <a:noFill/>
                    </a:lnR>
                    <a:lnT>
                      <a:noFill/>
                    </a:lnT>
                    <a:lnB>
                      <a:noFill/>
                    </a:lnB>
                    <a:noFill/>
                  </a:tcPr>
                </a:tc>
                <a:tc>
                  <a:txBody>
                    <a:bodyPr/>
                    <a:lstStyle/>
                    <a:p>
                      <a:pPr>
                        <a:buNone/>
                      </a:pPr>
                      <a:r>
                        <a:rPr lang="zh-CN" altLang="en-US"/>
                        <a:t>组织内部使用的标准化表格，用于记录干系人信息</a:t>
                      </a:r>
                    </a:p>
                  </a:txBody>
                  <a:tcPr anchor="ctr">
                    <a:lnL>
                      <a:noFill/>
                    </a:lnL>
                    <a:lnR>
                      <a:noFill/>
                    </a:lnR>
                    <a:lnT>
                      <a:noFill/>
                    </a:lnT>
                    <a:lnB>
                      <a:noFill/>
                    </a:lnB>
                    <a:noFill/>
                  </a:tcPr>
                </a:tc>
                <a:extLst>
                  <a:ext uri="{0D108BD9-81ED-4DB2-BD59-A6C34878D82A}">
                    <a16:rowId xmlns:a16="http://schemas.microsoft.com/office/drawing/2014/main" val="1774221116"/>
                  </a:ext>
                </a:extLst>
              </a:tr>
              <a:tr h="0">
                <a:tc>
                  <a:txBody>
                    <a:bodyPr/>
                    <a:lstStyle/>
                    <a:p>
                      <a:pPr>
                        <a:buNone/>
                      </a:pPr>
                      <a:r>
                        <a:rPr lang="zh-CN" altLang="en-US" dirty="0"/>
                        <a:t>组织过程资产</a:t>
                      </a:r>
                    </a:p>
                  </a:txBody>
                  <a:tcPr anchor="ctr">
                    <a:lnL>
                      <a:noFill/>
                    </a:lnL>
                    <a:lnR>
                      <a:noFill/>
                    </a:lnR>
                    <a:lnT>
                      <a:noFill/>
                    </a:lnT>
                    <a:lnB>
                      <a:noFill/>
                    </a:lnB>
                    <a:noFill/>
                  </a:tcPr>
                </a:tc>
                <a:tc>
                  <a:txBody>
                    <a:bodyPr/>
                    <a:lstStyle/>
                    <a:p>
                      <a:pPr>
                        <a:buNone/>
                      </a:pPr>
                      <a:r>
                        <a:rPr lang="zh-CN" altLang="en-US" dirty="0"/>
                        <a:t>包括以往项目的干系人清单、模板、经验教训等</a:t>
                      </a:r>
                    </a:p>
                  </a:txBody>
                  <a:tcPr anchor="ctr">
                    <a:lnL>
                      <a:noFill/>
                    </a:lnL>
                    <a:lnR>
                      <a:noFill/>
                    </a:lnR>
                    <a:lnT>
                      <a:noFill/>
                    </a:lnT>
                    <a:lnB>
                      <a:noFill/>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7200000" cy="424732"/>
          </a:xfrm>
        </p:spPr>
        <p:txBody>
          <a:bodyPr>
            <a:normAutofit/>
          </a:bodyPr>
          <a:lstStyle/>
          <a:p>
            <a:r>
              <a:rPr lang="zh-CN" altLang="en-US" dirty="0"/>
              <a:t>凸显模型 </a:t>
            </a:r>
            <a:r>
              <a:rPr lang="en-US" altLang="zh-CN" dirty="0"/>
              <a:t>Salience Model</a:t>
            </a:r>
            <a:endParaRPr lang="zh-CN" altLang="en-US" dirty="0"/>
          </a:p>
        </p:txBody>
      </p:sp>
      <p:sp>
        <p:nvSpPr>
          <p:cNvPr id="7" name="内容占位符 6">
            <a:extLst>
              <a:ext uri="{FF2B5EF4-FFF2-40B4-BE49-F238E27FC236}">
                <a16:creationId xmlns:a16="http://schemas.microsoft.com/office/drawing/2014/main" id="{D5DEF375-EABB-C052-1129-394C77F256CA}"/>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0AFE9DF8-165F-8ADF-4AA7-3991D9C773F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p:txBody>
          <a:bodyPr/>
          <a:lstStyle/>
          <a:p>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dirty="0"/>
              <a:t>利益方格 </a:t>
            </a:r>
            <a:r>
              <a:rPr lang="en-US" altLang="zh-CN" dirty="0"/>
              <a:t>Power/Interest Grid</a:t>
            </a:r>
          </a:p>
          <a:p>
            <a:pPr lvl="1"/>
            <a:r>
              <a:rPr lang="en-US" altLang="zh-CN" dirty="0"/>
              <a:t>Manage closely</a:t>
            </a:r>
            <a:endParaRPr lang="zh-CN" altLang="en-US" dirty="0"/>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3462938410"/>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dirty="0"/>
                        <a:t>权力 </a:t>
                      </a:r>
                      <a:r>
                        <a:rPr lang="en-US" dirty="0"/>
                        <a:t>Power</a:t>
                      </a:r>
                    </a:p>
                  </a:txBody>
                  <a:tcPr anchor="ctr">
                    <a:lnL>
                      <a:noFill/>
                    </a:lnL>
                    <a:lnR>
                      <a:noFill/>
                    </a:lnR>
                    <a:lnT>
                      <a:noFill/>
                    </a:lnT>
                    <a:lnB>
                      <a:noFill/>
                    </a:lnB>
                    <a:noFill/>
                  </a:tcPr>
                </a:tc>
                <a:tc>
                  <a:txBody>
                    <a:bodyPr/>
                    <a:lstStyle/>
                    <a:p>
                      <a:pPr>
                        <a:buNone/>
                      </a:pPr>
                      <a:r>
                        <a:rPr lang="zh-CN" altLang="en-US" dirty="0"/>
                        <a:t>利益 </a:t>
                      </a:r>
                      <a:r>
                        <a:rPr lang="en-US" dirty="0"/>
                        <a:t>Interest</a:t>
                      </a:r>
                    </a:p>
                  </a:txBody>
                  <a:tcPr anchor="ctr">
                    <a:lnL>
                      <a:noFill/>
                    </a:lnL>
                    <a:lnR>
                      <a:noFill/>
                    </a:lnR>
                    <a:lnT>
                      <a:noFill/>
                    </a:lnT>
                    <a:lnB>
                      <a:noFill/>
                    </a:lnB>
                    <a:noFill/>
                  </a:tcPr>
                </a:tc>
                <a:tc>
                  <a:txBody>
                    <a:bodyPr/>
                    <a:lstStyle/>
                    <a:p>
                      <a:pPr>
                        <a:buNone/>
                      </a:pPr>
                      <a:r>
                        <a:rPr lang="zh-CN" altLang="en-US" dirty="0"/>
                        <a:t>管理策略</a:t>
                      </a:r>
                    </a:p>
                  </a:txBody>
                  <a:tcPr anchor="ctr">
                    <a:lnL>
                      <a:noFill/>
                    </a:lnL>
                    <a:lnR>
                      <a:noFill/>
                    </a:lnR>
                    <a:lnT>
                      <a:noFill/>
                    </a:lnT>
                    <a:lnB>
                      <a:noFill/>
                    </a:lnB>
                    <a:noFill/>
                  </a:tcPr>
                </a:tc>
                <a:extLst>
                  <a:ext uri="{0D108BD9-81ED-4DB2-BD59-A6C34878D82A}">
                    <a16:rowId xmlns:a16="http://schemas.microsoft.com/office/drawing/2014/main" val="809978989"/>
                  </a:ext>
                </a:extLst>
              </a:tr>
              <a:tr h="0">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重点管理 </a:t>
                      </a:r>
                      <a:r>
                        <a:rPr lang="en-US" dirty="0"/>
                        <a:t>Manage closely</a:t>
                      </a:r>
                    </a:p>
                  </a:txBody>
                  <a:tcPr anchor="ctr">
                    <a:lnL>
                      <a:noFill/>
                    </a:lnL>
                    <a:lnR>
                      <a:noFill/>
                    </a:lnR>
                    <a:lnT>
                      <a:noFill/>
                    </a:lnT>
                    <a:lnB>
                      <a:noFill/>
                    </a:lnB>
                    <a:noFill/>
                  </a:tcPr>
                </a:tc>
                <a:extLst>
                  <a:ext uri="{0D108BD9-81ED-4DB2-BD59-A6C34878D82A}">
                    <a16:rowId xmlns:a16="http://schemas.microsoft.com/office/drawing/2014/main" val="1266278497"/>
                  </a:ext>
                </a:extLst>
              </a:tr>
              <a:tr h="0">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监督 </a:t>
                      </a:r>
                      <a:r>
                        <a:rPr lang="en-US" dirty="0"/>
                        <a:t>Keep satisfied</a:t>
                      </a:r>
                    </a:p>
                  </a:txBody>
                  <a:tcPr anchor="ctr">
                    <a:lnL>
                      <a:noFill/>
                    </a:lnL>
                    <a:lnR>
                      <a:noFill/>
                    </a:lnR>
                    <a:lnT>
                      <a:noFill/>
                    </a:lnT>
                    <a:lnB>
                      <a:noFill/>
                    </a:lnB>
                    <a:noFill/>
                  </a:tcPr>
                </a:tc>
                <a:extLst>
                  <a:ext uri="{0D108BD9-81ED-4DB2-BD59-A6C34878D82A}">
                    <a16:rowId xmlns:a16="http://schemas.microsoft.com/office/drawing/2014/main" val="2112310039"/>
                  </a:ext>
                </a:extLst>
              </a:tr>
              <a:tr h="0">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dirty="0"/>
                        <a:t>随时告知 </a:t>
                      </a:r>
                      <a:r>
                        <a:rPr lang="en-US" dirty="0"/>
                        <a:t>Keep informed</a:t>
                      </a:r>
                    </a:p>
                  </a:txBody>
                  <a:tcPr anchor="ctr">
                    <a:lnL>
                      <a:noFill/>
                    </a:lnL>
                    <a:lnR>
                      <a:noFill/>
                    </a:lnR>
                    <a:lnT>
                      <a:noFill/>
                    </a:lnT>
                    <a:lnB>
                      <a:noFill/>
                    </a:lnB>
                    <a:noFill/>
                  </a:tcPr>
                </a:tc>
                <a:extLst>
                  <a:ext uri="{0D108BD9-81ED-4DB2-BD59-A6C34878D82A}">
                    <a16:rowId xmlns:a16="http://schemas.microsoft.com/office/drawing/2014/main" val="2996962581"/>
                  </a:ext>
                </a:extLst>
              </a:tr>
              <a:tr h="0">
                <a:tc>
                  <a:txBody>
                    <a:bodyPr/>
                    <a:lstStyle/>
                    <a:p>
                      <a:pPr>
                        <a:buNone/>
                      </a:pPr>
                      <a:r>
                        <a:rPr lang="zh-CN" altLang="en-US" dirty="0"/>
                        <a:t>低</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令其满意 </a:t>
                      </a:r>
                      <a:r>
                        <a:rPr lang="en-US" dirty="0"/>
                        <a:t>Minimal effort</a:t>
                      </a:r>
                    </a:p>
                  </a:txBody>
                  <a:tcPr anchor="ctr">
                    <a:lnL>
                      <a:noFill/>
                    </a:lnL>
                    <a:lnR>
                      <a:noFill/>
                    </a:lnR>
                    <a:lnT>
                      <a:noFill/>
                    </a:lnT>
                    <a:lnB>
                      <a:noFill/>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dirty="0"/>
              <a:t>风险曝光度 </a:t>
            </a:r>
            <a:r>
              <a:rPr lang="en-US" altLang="zh-CN" dirty="0"/>
              <a:t>Risk Exposure</a:t>
            </a:r>
            <a:endParaRPr lang="zh-CN" altLang="en-US" dirty="0"/>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dirty="0"/>
              <a:t>风险概率*可能的损失</a:t>
            </a:r>
          </a:p>
          <a:p>
            <a:r>
              <a:rPr lang="zh-CN" altLang="en-US" dirty="0"/>
              <a:t>管理风险可能会带来新的风险</a:t>
            </a:r>
          </a:p>
          <a:p>
            <a:r>
              <a:rPr lang="zh-CN" altLang="en-US" dirty="0"/>
              <a:t>风险是客观存在的，不可能完全避免</a:t>
            </a:r>
          </a:p>
          <a:p>
            <a:r>
              <a:rPr lang="zh-CN" altLang="en-US" dirty="0"/>
              <a:t>风险管理应贯穿整个项目管理过程</a:t>
            </a:r>
          </a:p>
          <a:p>
            <a:endParaRPr lang="zh-CN" altLang="en-US" dirty="0"/>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dirty="0"/>
              <a:t>在风险管理中，通常需要进行风险监测，其目的不包括（ ）。</a:t>
            </a:r>
            <a:endParaRPr lang="en-US" altLang="zh-CN" dirty="0"/>
          </a:p>
          <a:p>
            <a:endParaRPr lang="zh-CN" altLang="en-US" dirty="0"/>
          </a:p>
          <a:p>
            <a:r>
              <a:rPr lang="en-US" altLang="zh-CN" dirty="0"/>
              <a:t>A. </a:t>
            </a:r>
            <a:r>
              <a:rPr lang="zh-CN" altLang="en-US" dirty="0"/>
              <a:t>消除风险</a:t>
            </a:r>
          </a:p>
          <a:p>
            <a:r>
              <a:rPr lang="en-US" altLang="zh-CN" dirty="0"/>
              <a:t>B. </a:t>
            </a:r>
            <a:r>
              <a:rPr lang="zh-CN" altLang="en-US" dirty="0"/>
              <a:t>评估所预测的风险是否发生</a:t>
            </a:r>
          </a:p>
          <a:p>
            <a:r>
              <a:rPr lang="en-US" altLang="zh-CN" dirty="0"/>
              <a:t>C. </a:t>
            </a:r>
            <a:r>
              <a:rPr lang="zh-CN" altLang="en-US" dirty="0"/>
              <a:t>保证正确实施了风险缓解步骤</a:t>
            </a:r>
          </a:p>
          <a:p>
            <a:r>
              <a:rPr lang="en-US" altLang="zh-CN" dirty="0"/>
              <a:t>D. </a:t>
            </a:r>
            <a:r>
              <a:rPr lang="zh-CN" altLang="en-US" dirty="0"/>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2367306395"/>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525886"/>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525886"/>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525886"/>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525886"/>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987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988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989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dirty="0"/>
              <a:t>SWOT</a:t>
            </a:r>
            <a:endParaRPr lang="zh-CN" altLang="en-US" dirty="0"/>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t>字母</a:t>
                      </a:r>
                    </a:p>
                  </a:txBody>
                  <a:tcPr anchor="ctr">
                    <a:lnL>
                      <a:noFill/>
                    </a:lnL>
                    <a:lnR>
                      <a:noFill/>
                    </a:lnR>
                    <a:lnT>
                      <a:noFill/>
                    </a:lnT>
                    <a:lnB>
                      <a:noFill/>
                    </a:lnB>
                    <a:noFill/>
                  </a:tcPr>
                </a:tc>
                <a:tc>
                  <a:txBody>
                    <a:bodyPr/>
                    <a:lstStyle/>
                    <a:p>
                      <a:pPr>
                        <a:buNone/>
                      </a:pPr>
                      <a:r>
                        <a:rPr lang="zh-CN" altLang="en-US"/>
                        <a:t>含义</a:t>
                      </a:r>
                    </a:p>
                  </a:txBody>
                  <a:tcPr anchor="ctr">
                    <a:lnL>
                      <a:noFill/>
                    </a:lnL>
                    <a:lnR>
                      <a:noFill/>
                    </a:lnR>
                    <a:lnT>
                      <a:noFill/>
                    </a:lnT>
                    <a:lnB>
                      <a:noFill/>
                    </a:lnB>
                    <a:noFill/>
                  </a:tcPr>
                </a:tc>
                <a:tc>
                  <a:txBody>
                    <a:bodyPr/>
                    <a:lstStyle/>
                    <a:p>
                      <a:pPr>
                        <a:buNone/>
                      </a:pPr>
                      <a:r>
                        <a:rPr lang="zh-CN" altLang="en-US"/>
                        <a:t>内容</a:t>
                      </a:r>
                    </a:p>
                  </a:txBody>
                  <a:tcPr anchor="ctr">
                    <a:lnL>
                      <a:noFill/>
                    </a:lnL>
                    <a:lnR>
                      <a:noFill/>
                    </a:lnR>
                    <a:lnT>
                      <a:noFill/>
                    </a:lnT>
                    <a:lnB>
                      <a:noFill/>
                    </a:lnB>
                    <a:noFill/>
                  </a:tcPr>
                </a:tc>
                <a:extLst>
                  <a:ext uri="{0D108BD9-81ED-4DB2-BD59-A6C34878D82A}">
                    <a16:rowId xmlns:a16="http://schemas.microsoft.com/office/drawing/2014/main" val="1578355106"/>
                  </a:ext>
                </a:extLst>
              </a:tr>
              <a:tr h="0">
                <a:tc>
                  <a:txBody>
                    <a:bodyPr/>
                    <a:lstStyle/>
                    <a:p>
                      <a:pPr>
                        <a:buNone/>
                      </a:pPr>
                      <a:r>
                        <a:rPr lang="en-US"/>
                        <a:t>S</a:t>
                      </a:r>
                    </a:p>
                  </a:txBody>
                  <a:tcPr anchor="ctr">
                    <a:lnL>
                      <a:noFill/>
                    </a:lnL>
                    <a:lnR>
                      <a:noFill/>
                    </a:lnR>
                    <a:lnT>
                      <a:noFill/>
                    </a:lnT>
                    <a:lnB>
                      <a:noFill/>
                    </a:lnB>
                    <a:noFill/>
                  </a:tcPr>
                </a:tc>
                <a:tc>
                  <a:txBody>
                    <a:bodyPr/>
                    <a:lstStyle/>
                    <a:p>
                      <a:pPr>
                        <a:buNone/>
                      </a:pPr>
                      <a:r>
                        <a:rPr lang="en-US"/>
                        <a:t>Strengths（</a:t>
                      </a:r>
                      <a:r>
                        <a:rPr lang="zh-CN" altLang="en-US"/>
                        <a:t>优势）</a:t>
                      </a:r>
                    </a:p>
                  </a:txBody>
                  <a:tcPr anchor="ctr">
                    <a:lnL>
                      <a:noFill/>
                    </a:lnL>
                    <a:lnR>
                      <a:noFill/>
                    </a:lnR>
                    <a:lnT>
                      <a:noFill/>
                    </a:lnT>
                    <a:lnB>
                      <a:noFill/>
                    </a:lnB>
                    <a:noFill/>
                  </a:tcPr>
                </a:tc>
                <a:tc>
                  <a:txBody>
                    <a:bodyPr/>
                    <a:lstStyle/>
                    <a:p>
                      <a:pPr>
                        <a:buNone/>
                      </a:pPr>
                      <a:r>
                        <a:rPr lang="zh-CN" altLang="en-US"/>
                        <a:t>组织内部的积极因素（如技术强、团队经验丰富）</a:t>
                      </a:r>
                    </a:p>
                  </a:txBody>
                  <a:tcPr anchor="ctr">
                    <a:lnL>
                      <a:noFill/>
                    </a:lnL>
                    <a:lnR>
                      <a:noFill/>
                    </a:lnR>
                    <a:lnT>
                      <a:noFill/>
                    </a:lnT>
                    <a:lnB>
                      <a:noFill/>
                    </a:lnB>
                    <a:noFill/>
                  </a:tcPr>
                </a:tc>
                <a:extLst>
                  <a:ext uri="{0D108BD9-81ED-4DB2-BD59-A6C34878D82A}">
                    <a16:rowId xmlns:a16="http://schemas.microsoft.com/office/drawing/2014/main" val="3466432399"/>
                  </a:ext>
                </a:extLst>
              </a:tr>
              <a:tr h="0">
                <a:tc>
                  <a:txBody>
                    <a:bodyPr/>
                    <a:lstStyle/>
                    <a:p>
                      <a:pPr>
                        <a:buNone/>
                      </a:pPr>
                      <a:r>
                        <a:rPr lang="en-US"/>
                        <a:t>W</a:t>
                      </a:r>
                    </a:p>
                  </a:txBody>
                  <a:tcPr anchor="ctr">
                    <a:lnL>
                      <a:noFill/>
                    </a:lnL>
                    <a:lnR>
                      <a:noFill/>
                    </a:lnR>
                    <a:lnT>
                      <a:noFill/>
                    </a:lnT>
                    <a:lnB>
                      <a:noFill/>
                    </a:lnB>
                    <a:noFill/>
                  </a:tcPr>
                </a:tc>
                <a:tc>
                  <a:txBody>
                    <a:bodyPr/>
                    <a:lstStyle/>
                    <a:p>
                      <a:pPr>
                        <a:buNone/>
                      </a:pPr>
                      <a:r>
                        <a:rPr lang="en-US"/>
                        <a:t>Weaknesses（</a:t>
                      </a:r>
                      <a:r>
                        <a:rPr lang="zh-CN" altLang="en-US"/>
                        <a:t>劣势）</a:t>
                      </a:r>
                    </a:p>
                  </a:txBody>
                  <a:tcPr anchor="ctr">
                    <a:lnL>
                      <a:noFill/>
                    </a:lnL>
                    <a:lnR>
                      <a:noFill/>
                    </a:lnR>
                    <a:lnT>
                      <a:noFill/>
                    </a:lnT>
                    <a:lnB>
                      <a:noFill/>
                    </a:lnB>
                    <a:noFill/>
                  </a:tcPr>
                </a:tc>
                <a:tc>
                  <a:txBody>
                    <a:bodyPr/>
                    <a:lstStyle/>
                    <a:p>
                      <a:pPr>
                        <a:buNone/>
                      </a:pPr>
                      <a:r>
                        <a:rPr lang="zh-CN" altLang="en-US"/>
                        <a:t>组织内部的消极因素（如资源不足、流程混乱）</a:t>
                      </a:r>
                    </a:p>
                  </a:txBody>
                  <a:tcPr anchor="ctr">
                    <a:lnL>
                      <a:noFill/>
                    </a:lnL>
                    <a:lnR>
                      <a:noFill/>
                    </a:lnR>
                    <a:lnT>
                      <a:noFill/>
                    </a:lnT>
                    <a:lnB>
                      <a:noFill/>
                    </a:lnB>
                    <a:noFill/>
                  </a:tcPr>
                </a:tc>
                <a:extLst>
                  <a:ext uri="{0D108BD9-81ED-4DB2-BD59-A6C34878D82A}">
                    <a16:rowId xmlns:a16="http://schemas.microsoft.com/office/drawing/2014/main" val="1920212666"/>
                  </a:ext>
                </a:extLst>
              </a:tr>
              <a:tr h="0">
                <a:tc>
                  <a:txBody>
                    <a:bodyPr/>
                    <a:lstStyle/>
                    <a:p>
                      <a:pPr>
                        <a:buNone/>
                      </a:pPr>
                      <a:r>
                        <a:rPr lang="en-US"/>
                        <a:t>O</a:t>
                      </a:r>
                    </a:p>
                  </a:txBody>
                  <a:tcPr anchor="ctr">
                    <a:lnL>
                      <a:noFill/>
                    </a:lnL>
                    <a:lnR>
                      <a:noFill/>
                    </a:lnR>
                    <a:lnT>
                      <a:noFill/>
                    </a:lnT>
                    <a:lnB>
                      <a:noFill/>
                    </a:lnB>
                    <a:noFill/>
                  </a:tcPr>
                </a:tc>
                <a:tc>
                  <a:txBody>
                    <a:bodyPr/>
                    <a:lstStyle/>
                    <a:p>
                      <a:pPr>
                        <a:buNone/>
                      </a:pPr>
                      <a:r>
                        <a:rPr lang="en-US"/>
                        <a:t>Opportunities（</a:t>
                      </a:r>
                      <a:r>
                        <a:rPr lang="zh-CN" altLang="en-US"/>
                        <a:t>机会）</a:t>
                      </a:r>
                    </a:p>
                  </a:txBody>
                  <a:tcPr anchor="ctr">
                    <a:lnL>
                      <a:noFill/>
                    </a:lnL>
                    <a:lnR>
                      <a:noFill/>
                    </a:lnR>
                    <a:lnT>
                      <a:noFill/>
                    </a:lnT>
                    <a:lnB>
                      <a:noFill/>
                    </a:lnB>
                    <a:noFill/>
                  </a:tcPr>
                </a:tc>
                <a:tc>
                  <a:txBody>
                    <a:bodyPr/>
                    <a:lstStyle/>
                    <a:p>
                      <a:pPr>
                        <a:buNone/>
                      </a:pPr>
                      <a:r>
                        <a:rPr lang="zh-CN" altLang="en-US"/>
                        <a:t>外部环境中的有利条件（如政策支持、市场需求增长）</a:t>
                      </a:r>
                    </a:p>
                  </a:txBody>
                  <a:tcPr anchor="ctr">
                    <a:lnL>
                      <a:noFill/>
                    </a:lnL>
                    <a:lnR>
                      <a:noFill/>
                    </a:lnR>
                    <a:lnT>
                      <a:noFill/>
                    </a:lnT>
                    <a:lnB>
                      <a:noFill/>
                    </a:lnB>
                    <a:noFill/>
                  </a:tcPr>
                </a:tc>
                <a:extLst>
                  <a:ext uri="{0D108BD9-81ED-4DB2-BD59-A6C34878D82A}">
                    <a16:rowId xmlns:a16="http://schemas.microsoft.com/office/drawing/2014/main" val="2296084666"/>
                  </a:ext>
                </a:extLst>
              </a:tr>
              <a:tr h="0">
                <a:tc>
                  <a:txBody>
                    <a:bodyPr/>
                    <a:lstStyle/>
                    <a:p>
                      <a:pPr>
                        <a:buNone/>
                      </a:pPr>
                      <a:r>
                        <a:rPr lang="en-US"/>
                        <a:t>T</a:t>
                      </a:r>
                    </a:p>
                  </a:txBody>
                  <a:tcPr anchor="ctr">
                    <a:lnL>
                      <a:noFill/>
                    </a:lnL>
                    <a:lnR>
                      <a:noFill/>
                    </a:lnR>
                    <a:lnT>
                      <a:noFill/>
                    </a:lnT>
                    <a:lnB>
                      <a:noFill/>
                    </a:lnB>
                    <a:noFill/>
                  </a:tcPr>
                </a:tc>
                <a:tc>
                  <a:txBody>
                    <a:bodyPr/>
                    <a:lstStyle/>
                    <a:p>
                      <a:pPr>
                        <a:buNone/>
                      </a:pPr>
                      <a:r>
                        <a:rPr lang="en-US"/>
                        <a:t>Threats（</a:t>
                      </a:r>
                      <a:r>
                        <a:rPr lang="zh-CN" altLang="en-US"/>
                        <a:t>威胁）</a:t>
                      </a:r>
                    </a:p>
                  </a:txBody>
                  <a:tcPr anchor="ctr">
                    <a:lnL>
                      <a:noFill/>
                    </a:lnL>
                    <a:lnR>
                      <a:noFill/>
                    </a:lnR>
                    <a:lnT>
                      <a:noFill/>
                    </a:lnT>
                    <a:lnB>
                      <a:noFill/>
                    </a:lnB>
                    <a:noFill/>
                  </a:tcPr>
                </a:tc>
                <a:tc>
                  <a:txBody>
                    <a:bodyPr/>
                    <a:lstStyle/>
                    <a:p>
                      <a:pPr>
                        <a:buNone/>
                      </a:pPr>
                      <a:r>
                        <a:rPr lang="zh-CN" altLang="en-US" dirty="0"/>
                        <a:t>外部环境中的不利因素（如竞争加剧、法规变化）</a:t>
                      </a:r>
                    </a:p>
                  </a:txBody>
                  <a:tcPr anchor="ctr">
                    <a:lnL>
                      <a:noFill/>
                    </a:lnL>
                    <a:lnR>
                      <a:noFill/>
                    </a:lnR>
                    <a:lnT>
                      <a:noFill/>
                    </a:lnT>
                    <a:lnB>
                      <a:noFill/>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7912100" y="1128713"/>
            <a:ext cx="3427413" cy="2300287"/>
          </a:xfrm>
        </p:spPr>
        <p:txBody>
          <a:bodyPr/>
          <a:lstStyle/>
          <a:p>
            <a:r>
              <a:rPr lang="zh-CN" altLang="en-US" dirty="0"/>
              <a:t>类型</a:t>
            </a:r>
          </a:p>
          <a:p>
            <a:r>
              <a:rPr lang="zh-CN" altLang="en-US" dirty="0"/>
              <a:t>签订</a:t>
            </a:r>
          </a:p>
          <a:p>
            <a:r>
              <a:rPr lang="zh-CN" altLang="en-US" dirty="0"/>
              <a:t>管理</a:t>
            </a:r>
          </a:p>
        </p:txBody>
      </p:sp>
    </p:spTree>
    <p:extLst>
      <p:ext uri="{BB962C8B-B14F-4D97-AF65-F5344CB8AC3E}">
        <p14:creationId xmlns:p14="http://schemas.microsoft.com/office/powerpoint/2010/main" val="91041140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dirty="0"/>
              <a:t>按范围方式</a:t>
            </a:r>
            <a:endParaRPr lang="en-US" altLang="zh-CN" dirty="0"/>
          </a:p>
          <a:p>
            <a:pPr lvl="1"/>
            <a:r>
              <a:rPr lang="zh-CN" altLang="en-US" dirty="0"/>
              <a:t>总承包合同</a:t>
            </a:r>
            <a:endParaRPr lang="en-US" altLang="zh-CN" dirty="0"/>
          </a:p>
          <a:p>
            <a:pPr lvl="1"/>
            <a:r>
              <a:rPr lang="zh-CN" altLang="en-US" dirty="0"/>
              <a:t>单项工程承包合同</a:t>
            </a:r>
            <a:endParaRPr lang="en-US" altLang="zh-CN" dirty="0"/>
          </a:p>
          <a:p>
            <a:pPr lvl="1"/>
            <a:r>
              <a:rPr lang="zh-CN" altLang="en-US" dirty="0"/>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6351607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dirty="0"/>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873720391"/>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dirty="0"/>
              <a:t>Fixed Price</a:t>
            </a:r>
          </a:p>
          <a:p>
            <a:r>
              <a:rPr lang="zh-CN" altLang="zh-CN" dirty="0"/>
              <a:t>总价合同为既定产品、服务或成果的采购设定一个总价</a:t>
            </a:r>
            <a:endParaRPr lang="en-US" altLang="zh-CN" dirty="0"/>
          </a:p>
          <a:p>
            <a:r>
              <a:rPr lang="zh-CN" altLang="en-US" dirty="0"/>
              <a:t>预算固定、成本可控</a:t>
            </a:r>
            <a:endParaRPr lang="en-US" altLang="zh-CN" dirty="0"/>
          </a:p>
          <a:p>
            <a:r>
              <a:rPr lang="zh-CN" altLang="en-US" dirty="0"/>
              <a:t>适用：需求明确，且不会出现重大范围变更。</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dirty="0"/>
              <a:t>Cost Reimbursable</a:t>
            </a:r>
          </a:p>
          <a:p>
            <a:r>
              <a:rPr lang="zh-CN" altLang="zh-CN" dirty="0"/>
              <a:t>向卖方支付为完成工作而发生的全部合法实际成本，外加一笔费用作为卖方的利润。</a:t>
            </a:r>
            <a:endParaRPr lang="en-US" altLang="zh-CN" dirty="0"/>
          </a:p>
          <a:p>
            <a:r>
              <a:rPr lang="zh-CN" altLang="en-US" dirty="0"/>
              <a:t>组成：实际成本</a:t>
            </a:r>
            <a:r>
              <a:rPr lang="en-US" altLang="zh-CN" dirty="0"/>
              <a:t>+</a:t>
            </a:r>
            <a:r>
              <a:rPr lang="zh-CN" altLang="en-US" dirty="0"/>
              <a:t>酬金</a:t>
            </a:r>
            <a:r>
              <a:rPr lang="en-US" altLang="zh-CN" dirty="0"/>
              <a:t>/</a:t>
            </a:r>
            <a:r>
              <a:rPr lang="zh-CN" altLang="en-US" dirty="0"/>
              <a:t>利润</a:t>
            </a:r>
            <a:endParaRPr lang="en-US" altLang="zh-CN" dirty="0"/>
          </a:p>
          <a:p>
            <a:r>
              <a:rPr lang="zh-CN" altLang="zh-CN" dirty="0"/>
              <a:t>适用：工作范围预计会在合同执行期间发生重大变更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工料合同</a:t>
            </a:r>
            <a:r>
              <a:rPr lang="en-US" altLang="zh-CN" dirty="0"/>
              <a:t> T&amp;M</a:t>
            </a:r>
            <a:endParaRPr lang="zh-CN" altLang="en-US" dirty="0"/>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dirty="0"/>
              <a:t>Time &amp; Material</a:t>
            </a:r>
            <a:r>
              <a:rPr lang="zh-CN" altLang="en-US" dirty="0"/>
              <a:t>，</a:t>
            </a:r>
            <a:r>
              <a:rPr lang="en-US" altLang="zh-CN" dirty="0"/>
              <a:t>T&amp;M</a:t>
            </a:r>
          </a:p>
          <a:p>
            <a:r>
              <a:rPr lang="zh-CN" altLang="en-US" dirty="0"/>
              <a:t>兼具：成本补偿合同和总价合同的特点</a:t>
            </a:r>
            <a:endParaRPr lang="en-US" altLang="zh-CN" dirty="0"/>
          </a:p>
          <a:p>
            <a:r>
              <a:rPr lang="zh-CN" altLang="en-US" dirty="0"/>
              <a:t>组成：实际成本</a:t>
            </a:r>
            <a:r>
              <a:rPr lang="en-US" altLang="zh-CN" dirty="0"/>
              <a:t>+</a:t>
            </a:r>
            <a:r>
              <a:rPr lang="zh-CN" altLang="en-US" dirty="0"/>
              <a:t>管理</a:t>
            </a:r>
            <a:endParaRPr lang="en-US" altLang="zh-CN" dirty="0"/>
          </a:p>
          <a:p>
            <a:r>
              <a:rPr lang="zh-CN" altLang="zh-CN" dirty="0"/>
              <a:t>必须为每一个单位的工作量付出一定的报酬</a:t>
            </a:r>
            <a:endParaRPr lang="en-US" altLang="zh-CN" dirty="0"/>
          </a:p>
          <a:p>
            <a:r>
              <a:rPr lang="zh-CN" altLang="en-US" dirty="0"/>
              <a:t>适用范围：宽</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57045550"/>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dirty="0"/>
                        <a:t>合同类型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dirty="0"/>
                        <a:t>总价合同</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单价或总价固定，风险由卖方承担</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范围明确、需求清晰</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756097127"/>
                  </a:ext>
                </a:extLst>
              </a:tr>
              <a:tr h="0">
                <a:tc>
                  <a:txBody>
                    <a:bodyPr/>
                    <a:lstStyle/>
                    <a:p>
                      <a:pPr>
                        <a:buNone/>
                      </a:pPr>
                      <a:r>
                        <a:rPr lang="zh-CN" altLang="en-US" dirty="0"/>
                        <a:t>成本补偿合同</a:t>
                      </a:r>
                      <a:endParaRPr lang="en-US" dirty="0"/>
                    </a:p>
                  </a:txBody>
                  <a:tcPr anchor="ctr">
                    <a:lnL>
                      <a:noFill/>
                    </a:lnL>
                    <a:lnR>
                      <a:noFill/>
                    </a:lnR>
                    <a:lnT>
                      <a:noFill/>
                    </a:lnT>
                    <a:lnB>
                      <a:noFill/>
                    </a:lnB>
                    <a:noFill/>
                  </a:tcPr>
                </a:tc>
                <a:tc>
                  <a:txBody>
                    <a:bodyPr/>
                    <a:lstStyle/>
                    <a:p>
                      <a:pPr>
                        <a:buNone/>
                      </a:pPr>
                      <a:r>
                        <a:rPr lang="zh-CN" altLang="en-US"/>
                        <a:t>支付实际成本</a:t>
                      </a:r>
                      <a:r>
                        <a:rPr lang="en-US" altLang="zh-CN"/>
                        <a:t>+</a:t>
                      </a:r>
                      <a:r>
                        <a:rPr lang="zh-CN" altLang="en-US"/>
                        <a:t>酬金，买方承担大部分风险</a:t>
                      </a:r>
                    </a:p>
                  </a:txBody>
                  <a:tcPr anchor="ctr">
                    <a:lnL>
                      <a:noFill/>
                    </a:lnL>
                    <a:lnR>
                      <a:noFill/>
                    </a:lnR>
                    <a:lnT>
                      <a:noFill/>
                    </a:lnT>
                    <a:lnB>
                      <a:noFill/>
                    </a:lnB>
                    <a:noFill/>
                  </a:tcPr>
                </a:tc>
                <a:tc>
                  <a:txBody>
                    <a:bodyPr/>
                    <a:lstStyle/>
                    <a:p>
                      <a:pPr>
                        <a:buNone/>
                      </a:pPr>
                      <a:r>
                        <a:rPr lang="zh-CN" altLang="en-US" dirty="0"/>
                        <a:t>范围不确定、需灵活调整</a:t>
                      </a:r>
                    </a:p>
                  </a:txBody>
                  <a:tcPr anchor="ctr">
                    <a:lnL>
                      <a:noFill/>
                    </a:lnL>
                    <a:lnR>
                      <a:noFill/>
                    </a:lnR>
                    <a:lnT>
                      <a:noFill/>
                    </a:lnT>
                    <a:lnB>
                      <a:noFill/>
                    </a:lnB>
                    <a:noFill/>
                  </a:tcPr>
                </a:tc>
                <a:extLst>
                  <a:ext uri="{0D108BD9-81ED-4DB2-BD59-A6C34878D82A}">
                    <a16:rowId xmlns:a16="http://schemas.microsoft.com/office/drawing/2014/main" val="594792854"/>
                  </a:ext>
                </a:extLst>
              </a:tr>
              <a:tr h="0">
                <a:tc>
                  <a:txBody>
                    <a:bodyPr/>
                    <a:lstStyle/>
                    <a:p>
                      <a:pPr>
                        <a:buNone/>
                      </a:pPr>
                      <a:r>
                        <a:rPr lang="zh-CN" altLang="en-US" dirty="0"/>
                        <a:t>工料合同</a:t>
                      </a:r>
                      <a:endParaRPr lang="en-US" dirty="0"/>
                    </a:p>
                  </a:txBody>
                  <a:tcPr anchor="ctr">
                    <a:lnL>
                      <a:noFill/>
                    </a:lnL>
                    <a:lnR>
                      <a:noFill/>
                    </a:lnR>
                    <a:lnT>
                      <a:noFill/>
                    </a:lnT>
                    <a:lnB>
                      <a:noFill/>
                    </a:lnB>
                    <a:noFill/>
                  </a:tcPr>
                </a:tc>
                <a:tc>
                  <a:txBody>
                    <a:bodyPr/>
                    <a:lstStyle/>
                    <a:p>
                      <a:pPr>
                        <a:buNone/>
                      </a:pPr>
                      <a:r>
                        <a:rPr lang="zh-CN" altLang="en-US"/>
                        <a:t>按工时和材料计费，单价固定，总量不固定</a:t>
                      </a:r>
                    </a:p>
                  </a:txBody>
                  <a:tcPr anchor="ctr">
                    <a:lnL>
                      <a:noFill/>
                    </a:lnL>
                    <a:lnR>
                      <a:noFill/>
                    </a:lnR>
                    <a:lnT>
                      <a:noFill/>
                    </a:lnT>
                    <a:lnB>
                      <a:noFill/>
                    </a:lnB>
                    <a:noFill/>
                  </a:tcPr>
                </a:tc>
                <a:tc>
                  <a:txBody>
                    <a:bodyPr/>
                    <a:lstStyle/>
                    <a:p>
                      <a:pPr>
                        <a:buNone/>
                      </a:pPr>
                      <a:r>
                        <a:rPr lang="zh-CN" altLang="en-US" dirty="0"/>
                        <a:t>范围不清但可定义工作单元</a:t>
                      </a:r>
                    </a:p>
                  </a:txBody>
                  <a:tcPr anchor="ctr">
                    <a:lnL>
                      <a:noFill/>
                    </a:lnL>
                    <a:lnR>
                      <a:noFill/>
                    </a:lnR>
                    <a:lnT>
                      <a:noFill/>
                    </a:lnT>
                    <a:lnB>
                      <a:noFill/>
                    </a:lnB>
                    <a:noFill/>
                  </a:tcPr>
                </a:tc>
                <a:extLst>
                  <a:ext uri="{0D108BD9-81ED-4DB2-BD59-A6C34878D82A}">
                    <a16:rowId xmlns:a16="http://schemas.microsoft.com/office/drawing/2014/main" val="49766670"/>
                  </a:ext>
                </a:extLst>
              </a:tr>
              <a:tr h="0">
                <a:tc>
                  <a:txBody>
                    <a:bodyPr/>
                    <a:lstStyle/>
                    <a:p>
                      <a:pPr>
                        <a:buNone/>
                      </a:pPr>
                      <a:r>
                        <a:rPr lang="zh-CN" altLang="en-US" dirty="0"/>
                        <a:t>采购单合同 </a:t>
                      </a:r>
                      <a:r>
                        <a:rPr lang="en-US" dirty="0"/>
                        <a:t>Purchase Order</a:t>
                      </a:r>
                    </a:p>
                  </a:txBody>
                  <a:tcPr anchor="ctr">
                    <a:lnL>
                      <a:noFill/>
                    </a:lnL>
                    <a:lnR>
                      <a:noFill/>
                    </a:lnR>
                    <a:lnT>
                      <a:noFill/>
                    </a:lnT>
                    <a:lnB>
                      <a:noFill/>
                    </a:lnB>
                    <a:noFill/>
                  </a:tcPr>
                </a:tc>
                <a:tc>
                  <a:txBody>
                    <a:bodyPr/>
                    <a:lstStyle/>
                    <a:p>
                      <a:pPr>
                        <a:buNone/>
                      </a:pPr>
                      <a:r>
                        <a:rPr lang="zh-CN" altLang="en-US"/>
                        <a:t>简单采购订单，用于一次性商品</a:t>
                      </a:r>
                      <a:r>
                        <a:rPr lang="en-US" altLang="zh-CN"/>
                        <a:t>/</a:t>
                      </a:r>
                      <a:r>
                        <a:rPr lang="zh-CN" altLang="en-US"/>
                        <a:t>服务</a:t>
                      </a:r>
                    </a:p>
                  </a:txBody>
                  <a:tcPr anchor="ctr">
                    <a:lnL>
                      <a:noFill/>
                    </a:lnL>
                    <a:lnR>
                      <a:noFill/>
                    </a:lnR>
                    <a:lnT>
                      <a:noFill/>
                    </a:lnT>
                    <a:lnB>
                      <a:noFill/>
                    </a:lnB>
                    <a:noFill/>
                  </a:tcPr>
                </a:tc>
                <a:tc>
                  <a:txBody>
                    <a:bodyPr/>
                    <a:lstStyle/>
                    <a:p>
                      <a:pPr>
                        <a:buNone/>
                      </a:pPr>
                      <a:r>
                        <a:rPr lang="zh-CN" altLang="en-US" dirty="0"/>
                        <a:t>小额、标准品、非复杂项目</a:t>
                      </a:r>
                    </a:p>
                  </a:txBody>
                  <a:tcPr anchor="ctr">
                    <a:lnL>
                      <a:noFill/>
                    </a:lnL>
                    <a:lnR>
                      <a:noFill/>
                    </a:lnR>
                    <a:lnT>
                      <a:noFill/>
                    </a:lnT>
                    <a:lnB>
                      <a:noFill/>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dirty="0"/>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dirty="0"/>
              <a:t>经济补偿，不是处罚</a:t>
            </a:r>
            <a:endParaRPr lang="en-US" altLang="zh-CN" dirty="0"/>
          </a:p>
          <a:p>
            <a:r>
              <a:rPr lang="zh-CN" altLang="en-US" dirty="0"/>
              <a:t>分类：</a:t>
            </a:r>
            <a:endParaRPr lang="en-US" altLang="zh-CN" dirty="0"/>
          </a:p>
          <a:p>
            <a:pPr lvl="1"/>
            <a:r>
              <a:rPr lang="zh-CN" altLang="en-US" dirty="0"/>
              <a:t>工期索赔</a:t>
            </a:r>
            <a:endParaRPr lang="en-US" altLang="zh-CN" dirty="0"/>
          </a:p>
          <a:p>
            <a:pPr lvl="1"/>
            <a:r>
              <a:rPr lang="zh-CN" altLang="en-US" dirty="0"/>
              <a:t>费用索赔</a:t>
            </a:r>
            <a:endParaRPr lang="en-US" altLang="zh-CN" dirty="0"/>
          </a:p>
          <a:p>
            <a:r>
              <a:rPr lang="zh-CN" altLang="en-US" dirty="0"/>
              <a:t>期限：每个阶段均为</a:t>
            </a:r>
            <a:r>
              <a:rPr lang="en-US" altLang="zh-CN" dirty="0"/>
              <a:t>28</a:t>
            </a:r>
            <a:r>
              <a:rPr lang="zh-CN" altLang="en-US" dirty="0"/>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dirty="0"/>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dirty="0"/>
              <a:t>合同变更是一个管理闭环过程，通常遵循以下顺序：</a:t>
            </a:r>
          </a:p>
          <a:p>
            <a:pPr lvl="1"/>
            <a:r>
              <a:rPr lang="zh-CN" altLang="en-US" dirty="0"/>
              <a:t>变更提出 </a:t>
            </a:r>
            <a:r>
              <a:rPr lang="en-US" altLang="zh-CN" dirty="0"/>
              <a:t>Change Request Submitted</a:t>
            </a:r>
            <a:r>
              <a:rPr lang="zh-CN" altLang="en-US" dirty="0"/>
              <a:t>：一方（如业主、承包商）提出变更需求</a:t>
            </a:r>
          </a:p>
          <a:p>
            <a:pPr lvl="1"/>
            <a:r>
              <a:rPr lang="zh-CN" altLang="en-US" dirty="0"/>
              <a:t>变更请求审查 </a:t>
            </a:r>
            <a:r>
              <a:rPr lang="en-US" altLang="zh-CN" dirty="0"/>
              <a:t>Review of Change Request</a:t>
            </a:r>
            <a:r>
              <a:rPr lang="zh-CN" altLang="en-US" dirty="0"/>
              <a:t>：对变更的影响进行评估（成本、工期、质量等）</a:t>
            </a:r>
          </a:p>
          <a:p>
            <a:pPr lvl="1"/>
            <a:r>
              <a:rPr lang="zh-CN" altLang="en-US" dirty="0"/>
              <a:t>变更批准 </a:t>
            </a:r>
            <a:r>
              <a:rPr lang="en-US" altLang="zh-CN" dirty="0"/>
              <a:t>Approval of Change</a:t>
            </a:r>
            <a:r>
              <a:rPr lang="zh-CN" altLang="en-US" dirty="0"/>
              <a:t>：经审批后决定是否接受变更</a:t>
            </a:r>
          </a:p>
          <a:p>
            <a:pPr lvl="1"/>
            <a:r>
              <a:rPr lang="zh-CN" altLang="en-US" dirty="0"/>
              <a:t>变更实施 </a:t>
            </a:r>
            <a:r>
              <a:rPr lang="en-US" altLang="zh-CN" dirty="0"/>
              <a:t>Implementation of Change</a:t>
            </a:r>
            <a:r>
              <a:rPr lang="zh-CN" altLang="en-US" dirty="0"/>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 &amp; Control</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ADB7F772-A5F9-D03C-DAAA-E86D13AE54A7}"/>
              </a:ext>
            </a:extLst>
          </p:cNvPr>
          <p:cNvSpPr>
            <a:spLocks noGrp="1"/>
          </p:cNvSpPr>
          <p:nvPr>
            <p:ph type="title"/>
          </p:nvPr>
        </p:nvSpPr>
        <p:spPr/>
        <p:txBody>
          <a:bodyPr>
            <a:normAutofit/>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1080000"/>
            <a:ext cx="10800000" cy="5112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7" name="文本占位符 6">
            <a:extLst>
              <a:ext uri="{FF2B5EF4-FFF2-40B4-BE49-F238E27FC236}">
                <a16:creationId xmlns:a16="http://schemas.microsoft.com/office/drawing/2014/main" id="{845A5F07-788A-C31A-362F-674C5F9659D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normAutofit/>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normAutofit/>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009911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normAutofit/>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33897981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normAutofit/>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36426272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7912100" y="1128713"/>
            <a:ext cx="3427413"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2046638863"/>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p:txBody>
          <a:bodyPr/>
          <a:lstStyle/>
          <a:p>
            <a:r>
              <a:rPr lang="zh-CN" altLang="en-US" dirty="0"/>
              <a:t>合同结束</a:t>
            </a:r>
            <a:endParaRPr lang="en-US" altLang="zh-CN" dirty="0"/>
          </a:p>
          <a:p>
            <a:r>
              <a:rPr lang="zh-CN" altLang="en-US" dirty="0"/>
              <a:t>行政结束</a:t>
            </a:r>
          </a:p>
        </p:txBody>
      </p:sp>
      <p:sp>
        <p:nvSpPr>
          <p:cNvPr id="4" name="文本占位符 3">
            <a:extLst>
              <a:ext uri="{FF2B5EF4-FFF2-40B4-BE49-F238E27FC236}">
                <a16:creationId xmlns:a16="http://schemas.microsoft.com/office/drawing/2014/main" id="{DA169B07-CA99-56AD-8094-9051474C696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p:txBody>
          <a:bodyPr/>
          <a:lstStyle/>
          <a:p>
            <a:r>
              <a:rPr lang="zh-CN" altLang="en-US" dirty="0"/>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r>
              <a:rPr lang="zh-CN" altLang="en-US" dirty="0"/>
              <a:t>项目终验</a:t>
            </a:r>
          </a:p>
        </p:txBody>
      </p:sp>
      <p:sp>
        <p:nvSpPr>
          <p:cNvPr id="4" name="文本占位符 3">
            <a:extLst>
              <a:ext uri="{FF2B5EF4-FFF2-40B4-BE49-F238E27FC236}">
                <a16:creationId xmlns:a16="http://schemas.microsoft.com/office/drawing/2014/main" id="{5F8E5D5D-B57B-F0B4-CF4C-BB4E70140CA9}"/>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p:txBody>
          <a:bodyPr/>
          <a:lstStyle/>
          <a:p>
            <a:r>
              <a:rPr lang="zh-CN" altLang="en-US" dirty="0"/>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p:txBody>
          <a:bodyPr/>
          <a:lstStyle/>
          <a:p>
            <a:r>
              <a:rPr lang="zh-CN" altLang="en-US" dirty="0"/>
              <a:t>管理收尾</a:t>
            </a:r>
            <a:r>
              <a:rPr lang="en-US" altLang="zh-CN" dirty="0"/>
              <a:t>/</a:t>
            </a:r>
            <a:r>
              <a:rPr lang="zh-CN" altLang="en-US" dirty="0"/>
              <a:t>行政收尾</a:t>
            </a:r>
          </a:p>
        </p:txBody>
      </p:sp>
      <p:sp>
        <p:nvSpPr>
          <p:cNvPr id="4" name="文本占位符 3">
            <a:extLst>
              <a:ext uri="{FF2B5EF4-FFF2-40B4-BE49-F238E27FC236}">
                <a16:creationId xmlns:a16="http://schemas.microsoft.com/office/drawing/2014/main" id="{0724531D-9286-546E-F696-3E036E572F5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p:txBody>
          <a:bodyPr/>
          <a:lstStyle/>
          <a:p>
            <a:r>
              <a:rPr lang="zh-CN" altLang="en-US" dirty="0"/>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p>
        </p:txBody>
      </p:sp>
      <p:sp>
        <p:nvSpPr>
          <p:cNvPr id="4" name="文本占位符 3">
            <a:extLst>
              <a:ext uri="{FF2B5EF4-FFF2-40B4-BE49-F238E27FC236}">
                <a16:creationId xmlns:a16="http://schemas.microsoft.com/office/drawing/2014/main" id="{4D8851A0-F65F-B533-1545-2CD63F6F6DD4}"/>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normAutofit/>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16448</TotalTime>
  <Words>10225</Words>
  <Application>Microsoft Office PowerPoint</Application>
  <PresentationFormat>Widescreen</PresentationFormat>
  <Paragraphs>2040</Paragraphs>
  <Slides>172</Slides>
  <Notes>37</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172</vt:i4>
      </vt:variant>
    </vt:vector>
  </HeadingPairs>
  <TitlesOfParts>
    <vt:vector size="182" baseType="lpstr">
      <vt:lpstr>等线</vt:lpstr>
      <vt:lpstr>黑体</vt:lpstr>
      <vt:lpstr>微软雅黑 Light</vt:lpstr>
      <vt:lpstr>Arial</vt:lpstr>
      <vt:lpstr>Cambria Math</vt:lpstr>
      <vt:lpstr>Courier New</vt:lpstr>
      <vt:lpstr>Montserrat</vt:lpstr>
      <vt:lpstr>Roboto Mono</vt:lpstr>
      <vt:lpstr>Wingdings</vt:lpstr>
      <vt:lpstr>Office 主题​​</vt:lpstr>
      <vt:lpstr>PowerPoint Presentation</vt:lpstr>
      <vt:lpstr>PowerPoint Presentation</vt:lpstr>
      <vt:lpstr>软件项目管理概述</vt:lpstr>
      <vt:lpstr>1.1 项目</vt:lpstr>
      <vt:lpstr>PowerPoint Presentation</vt:lpstr>
      <vt:lpstr>1.1 项目</vt:lpstr>
      <vt:lpstr>1.2 子项目</vt:lpstr>
      <vt:lpstr>1.3 项目集</vt:lpstr>
      <vt:lpstr>1.4 项目组合</vt:lpstr>
      <vt:lpstr>PowerPoint Presentation</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Presentation</vt:lpstr>
      <vt:lpstr>3.1 PMBOK 第6版</vt:lpstr>
      <vt:lpstr>3.1.1 五大标准过程组</vt:lpstr>
      <vt:lpstr>3.1.1 五大标准过程组</vt:lpstr>
      <vt:lpstr>3.1.2 十大知识领域</vt:lpstr>
      <vt:lpstr>3.2 PMBOK第7版</vt:lpstr>
      <vt:lpstr>3.2 PMBOK第7版</vt:lpstr>
      <vt:lpstr>3.2.1 十二项原则</vt:lpstr>
      <vt:lpstr>PowerPoint Presentation</vt:lpstr>
      <vt:lpstr>3.2.2 八大绩效域</vt:lpstr>
      <vt:lpstr>PowerPoint Presentation</vt:lpstr>
      <vt:lpstr>3.2.2 八大绩效域</vt:lpstr>
      <vt:lpstr>VUCA</vt:lpstr>
      <vt:lpstr>4.1 敏捷开发</vt:lpstr>
      <vt:lpstr>PowerPoint Presentation</vt:lpstr>
      <vt:lpstr>PowerPoint Presentation</vt:lpstr>
      <vt:lpstr>4.2 敏捷软件开发宣言</vt:lpstr>
      <vt:lpstr>4.2.1 敏捷宣言四个核心价值</vt:lpstr>
      <vt:lpstr>4.2.2 敏捷宣言十二项原则</vt:lpstr>
      <vt:lpstr>PowerPoint Presentation</vt:lpstr>
      <vt:lpstr>PowerPoint Presentation</vt:lpstr>
      <vt:lpstr>PowerPoint Presentation</vt:lpstr>
      <vt:lpstr>项目初始</vt:lpstr>
      <vt:lpstr>2.1 项目评估</vt:lpstr>
      <vt:lpstr>2.2 项目立项</vt:lpstr>
      <vt:lpstr>2.2 项目立项</vt:lpstr>
      <vt:lpstr>2.3 项目招投标</vt:lpstr>
      <vt:lpstr>2.4 项目章程</vt:lpstr>
      <vt:lpstr>项目管理计划 Project Management Plan</vt:lpstr>
      <vt:lpstr>任命项目经理 - Appoint the Project Manager</vt:lpstr>
      <vt:lpstr>批准业务案例 - Approve the business case</vt:lpstr>
      <vt:lpstr>确定项目目标 - Identify Project Objectives</vt:lpstr>
      <vt:lpstr>定义项目范围 - Define Project Scope</vt:lpstr>
      <vt:lpstr>PowerPoint Presentation</vt:lpstr>
      <vt:lpstr>PowerPoint Presentation</vt:lpstr>
      <vt:lpstr>PowerPoint Presentation</vt:lpstr>
      <vt:lpstr>定义项目范围 - Define Project Scope</vt:lpstr>
      <vt:lpstr>PowerPoint Presentation</vt:lpstr>
      <vt:lpstr>批准预算 - Approve the Budget</vt:lpstr>
      <vt:lpstr>识别初始项目风险 - Identify Initial Project Risks</vt:lpstr>
      <vt:lpstr>生产交付物清单 - Produce List of Deliverables</vt:lpstr>
      <vt:lpstr>产出 output</vt:lpstr>
      <vt:lpstr>2.5 软件项目生存期模型</vt:lpstr>
      <vt:lpstr>2.5.1 预测型</vt:lpstr>
      <vt:lpstr>2.5.1.1 瀑布模型</vt:lpstr>
      <vt:lpstr>2.5.1.2 V模型</vt:lpstr>
      <vt:lpstr>原型化模型 Prototype</vt:lpstr>
      <vt:lpstr>2.5.2 迭代型</vt:lpstr>
      <vt:lpstr>2.5.3 增量型</vt:lpstr>
      <vt:lpstr>2.5.4 敏捷型</vt:lpstr>
      <vt:lpstr>2.6 Scrum</vt:lpstr>
      <vt:lpstr>2.6.1 敏捷理念 Scrum Theory</vt:lpstr>
      <vt:lpstr>2.6.2 体系</vt:lpstr>
      <vt:lpstr>2.6.3 敏捷价值观 Scrum Values</vt:lpstr>
      <vt:lpstr>2.6.4 敏捷团队 Scrum Team</vt:lpstr>
      <vt:lpstr>2.6.4.1 开发者</vt:lpstr>
      <vt:lpstr>2.6.4.2 产品负责人</vt:lpstr>
      <vt:lpstr>2.6.4.3 敏捷教练</vt:lpstr>
      <vt:lpstr>PowerPoint Presentation</vt:lpstr>
      <vt:lpstr>2.6.5 敏捷活动 Scrum Events</vt:lpstr>
      <vt:lpstr>PowerPoint Presentation</vt:lpstr>
      <vt:lpstr>6.5.5 敏捷工件 Scrum Artifacts</vt:lpstr>
      <vt:lpstr>鱼骨图 Fishbone Diagram</vt:lpstr>
      <vt:lpstr>软件项目范围计划</vt:lpstr>
      <vt:lpstr>软件项目成本计划</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软件项目进度计划</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Presentation</vt:lpstr>
      <vt:lpstr>PowerPoint Presentation</vt:lpstr>
      <vt:lpstr>资源优化</vt:lpstr>
      <vt:lpstr>资源压缩</vt:lpstr>
      <vt:lpstr>7. 进度控制</vt:lpstr>
      <vt:lpstr>PowerPoint Presentation</vt:lpstr>
      <vt:lpstr>软件项目质量计划</vt:lpstr>
      <vt:lpstr>六大质量特性 Quality Characteristics</vt:lpstr>
      <vt:lpstr>可靠性 Reliability</vt:lpstr>
      <vt:lpstr>PowerPoint Presentation</vt:lpstr>
      <vt:lpstr>质量管理</vt:lpstr>
      <vt:lpstr>七大质量管理工具</vt:lpstr>
      <vt:lpstr>软件配置管理计划</vt:lpstr>
      <vt:lpstr>配置管理</vt:lpstr>
      <vt:lpstr>六个活动</vt:lpstr>
      <vt:lpstr>配置项版本管理</vt:lpstr>
      <vt:lpstr>配置库</vt:lpstr>
      <vt:lpstr>发布管理和交付</vt:lpstr>
      <vt:lpstr>软件项目团队计划</vt:lpstr>
      <vt:lpstr>团队发展四阶段</vt:lpstr>
      <vt:lpstr>人力资源管理</vt:lpstr>
      <vt:lpstr>责任分配矩阵</vt:lpstr>
      <vt:lpstr>冲突解决</vt:lpstr>
      <vt:lpstr>马斯洛需要层次理论</vt:lpstr>
      <vt:lpstr>赫茨伯格双因素激励理论</vt:lpstr>
      <vt:lpstr>虚拟团队</vt:lpstr>
      <vt:lpstr>PowerPoint Presentation</vt:lpstr>
      <vt:lpstr>沟通管理 Communication Mgt</vt:lpstr>
      <vt:lpstr>干系人管理 Stakeholders Mgt</vt:lpstr>
      <vt:lpstr>凸显模型 Salience Model</vt:lpstr>
      <vt:lpstr>干系人 Stakeholders</vt:lpstr>
      <vt:lpstr>干系人 Stakeholders</vt:lpstr>
      <vt:lpstr>软件项目风险计划</vt:lpstr>
      <vt:lpstr>风险定义</vt:lpstr>
      <vt:lpstr>风险曝光度 Risk Exposure</vt:lpstr>
      <vt:lpstr>PowerPoint Presentation</vt:lpstr>
      <vt:lpstr>风险类型</vt:lpstr>
      <vt:lpstr>风险3个要素</vt:lpstr>
      <vt:lpstr>风险4个过程</vt:lpstr>
      <vt:lpstr>SWOT</vt:lpstr>
      <vt:lpstr>软件项目合同计划</vt:lpstr>
      <vt:lpstr>PowerPoint Presentation</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Presentation</vt:lpstr>
      <vt:lpstr>Triple Constraint Diagram</vt:lpstr>
      <vt:lpstr>Construction project Triple Constraint Example</vt:lpstr>
      <vt:lpstr>IT project Triple Constraint Example</vt:lpstr>
      <vt:lpstr>Manufacturing Triple Constraint Example</vt:lpstr>
      <vt:lpstr>项目结束</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965</cp:revision>
  <dcterms:created xsi:type="dcterms:W3CDTF">2026-01-24T11:12:04Z</dcterms:created>
  <dcterms:modified xsi:type="dcterms:W3CDTF">2026-03-04T06:06:55Z</dcterms:modified>
</cp:coreProperties>
</file>